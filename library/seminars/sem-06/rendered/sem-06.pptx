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 в этом проекте видит только то, что лежит в репозитории и в разговоре с вами. Больше ничего.</a:t>
            </a:r>
          </a:p>
          <a:p/>
          <a:p>
            <a:r>
              <a:t>Рано или поздно этого не хватает. Либо нужны данные снаружи — то, чего в репозитории нет. Либо часть работы безопаснее отдать отдельному исполнителю: своя роль, свой урезанный контекст, свои права.</a:t>
            </a:r>
          </a:p>
          <a:p/>
          <a:p>
            <a:r>
              <a:t>Вопрос сегодняшнего часа: где заканчивается контекст агента, и что вы заводите первым?</a:t>
            </a:r>
          </a:p>
          <a:p/>
          <a:p>
            <a:r>
              <a:t>Внизу — четыре ступени. Две уже закрыты в прошлый раз. Две закрываем сегодня.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Почему вопрос не называет MCP и субагента по имени.</a:t>
            </a:r>
            <a:r>
              <a:t> Эти слова называет следующий слайд и карта занятия сразу за ним. Вопрос опирается только на то, что уже известно из устройства занятия: у контекста агента есть край, и расширить его можно по-разному.</a:t>
            </a:r>
          </a:p>
          <a:p/>
          <a:p>
            <a:r>
              <a:rPr i="1"/>
              <a:t>Про карточек-вариантов здесь нет.</a:t>
            </a:r>
            <a:r>
              <a:t> Это рамочный вопрос, не голосование: отвечать на него зал будет дважды за занятие, своим ответом, без подсказанных вариантов на экране.</a:t>
            </a:r>
          </a:p>
          <a:p/>
          <a:p>
            <a:r>
              <a:rPr i="1"/>
              <a:t>Если прозвучит «а я не был на прошлом занятии».</a:t>
            </a:r>
            <a:r>
              <a:t> Знать прошлое занятие для участия не требуется. Всё нужное для сегодняшних двух блоков печатается на следующих двух экранах: дерево репозитория и таблица оси.</a:t>
            </a:r>
          </a:p>
          <a:p/>
          <a:p>
            <a:r>
              <a:rPr i="1"/>
              <a:t>Про четыре сегмента внизу.</a:t>
            </a:r>
            <a:r>
              <a:t> Два серых — уже разобраны и замерены в прошлый раз, сегодня их формулировки не переписываются. Два золотых — сегодняшние.</a:t>
            </a:r>
          </a:p>
          <a:p/>
          <a:p>
            <a:r>
              <a:rPr i="1"/>
              <a:t>Про объём этой заметки.</a:t>
            </a:r>
            <a:r>
              <a:t> Слот — сорок пять секунд, и это весь бюджет слайда. Справка ниже не читается вслух — она на случай вопроса из зала.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Продолжаем с того места, на котором остановились. Вот четыре вещи, которые уже есть в репозитории.</a:t>
            </a:r>
          </a:p>
          <a:p/>
          <a:p>
            <a:r>
              <a:t>Хук — файл настроек и самотест — подтверждён коммитом, можно склонировать и проверить прямо сейчас. Скилл там же по плану, коммита у него нет. Файл инструкций вырос: было двадцать четыре строки и четыре раздела, стало сорок и пять. И документационный слой — файл решений — стоит на месте, его прошлое занятие не трогало.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это проверяется.</a:t>
            </a:r>
            <a:r>
              <a:t> </a:t>
            </a:r>
            <a:r>
              <a:rPr>
                <a:latin typeface="Consolas"/>
              </a:rPr>
              <a:t>git clone</a:t>
            </a:r>
            <a:r>
              <a:t> забирает репозиторий целиком. </a:t>
            </a:r>
            <a:r>
              <a:rPr>
                <a:latin typeface="Consolas"/>
              </a:rPr>
              <a:t>git log -1</a:t>
            </a:r>
            <a:r>
              <a:t> на коммите хука показывает его номер — он должен совпасть с тем, что на слайде. </a:t>
            </a:r>
            <a:r>
              <a:rPr>
                <a:latin typeface="Consolas"/>
              </a:rPr>
              <a:t>wc -l CLAUDE.md</a:t>
            </a:r>
            <a:r>
              <a:t> считает строки файла инструкций: сорок.</a:t>
            </a:r>
          </a:p>
          <a:p/>
          <a:p>
            <a:r>
              <a:rPr i="1"/>
              <a:t>Если спросят про скилл без коммита.</a:t>
            </a:r>
            <a:r>
              <a:t> Файл написан в плане раздела, в репозиторий не внесён. Выдавать план за факт нет оснований — та же дисциплина, которой было посвящено прошлое занятие.</a:t>
            </a:r>
          </a:p>
          <a:p/>
          <a:p>
            <a:r>
              <a:rPr i="1"/>
              <a:t>Если спросят про документационный слой.</a:t>
            </a:r>
            <a:r>
              <a:t> </a:t>
            </a:r>
            <a:r>
              <a:rPr>
                <a:latin typeface="Consolas"/>
              </a:rPr>
              <a:t>DECISIONS.md</a:t>
            </a:r>
            <a:r>
              <a:t> — файл с решениями, которые принимались по ходу проекта; он в репозитории с самого начала, прошлое занятие его не меняло и этот слайд не выдаёт его за новую работу — просто напоминает, что он там есть.</a:t>
            </a:r>
          </a:p>
          <a:p/>
          <a:p>
            <a:r>
              <a:rPr i="1"/>
              <a:t>Если прозвучит «а я не был на прошлом занятии».</a:t>
            </a:r>
            <a:r>
              <a:t> Всё нужное для участия сегодня — на этом экране. Эта таблица и ось (следующий слайд) содержат всё, что для сегодняшних двух блоков требуется знать о предыдущих.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таблица, на которой остановилось прошлое занятие. Две строки заполнены — хук и скилл, и в каждой видно, что механизм делает и чего не делает. Формулировки те же, я их не переписываю заново.</a:t>
            </a:r>
          </a:p>
          <a:p/>
          <a:p>
            <a:r>
              <a:t>Хук отклоняет один способ записи в главную ветку из шести воспроизведённых — и не видит человека с открытым терминалом вовсе.</a:t>
            </a:r>
          </a:p>
          <a:p/>
          <a:p>
            <a:r>
              <a:t>Скилл загружается по точному совпадению описания — и не загрузится, если триггер не совпал: содержимого файла в контексте до срабатывания просто нет.</a:t>
            </a:r>
          </a:p>
          <a:p/>
          <a:p>
            <a:r>
              <a:t>Две строки внизу пустые. Сегодня закрываются обе.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хук и скилл не разбираются снова.</a:t>
            </a:r>
            <a:r>
              <a:t> Они уже разобраны и проверены — второй разбор был бы пересказом, не новой работой. Формулировки строк несут тот же факт, что таблица, которой кончилось прошлое занятие.</a:t>
            </a:r>
          </a:p>
          <a:p/>
          <a:p>
            <a:r>
              <a:rPr i="1"/>
              <a:t>Если спросят про колонку «что не делает / ограничение».</a:t>
            </a:r>
            <a:r>
              <a:t> Это не чья-то наивность и не брак механизма — это то, что проверка показала за рамкой того, для чего механизм заводили. Разница между этой колонкой и соседней — ровно то, ради чего мерили весь прошлый час, и ровно то, что сегодня повторится на двух новых строках.</a:t>
            </a:r>
          </a:p>
          <a:p/>
          <a:p>
            <a:r>
              <a:rPr i="1"/>
              <a:t>Порядок строк.</a:t>
            </a:r>
            <a:r>
              <a:t> Он тот же, что на вопросе следующего слайда и на карте занятия: хук, скилл, MCP, субагент. Менять его нельзя — на совпадении держится возврат в блоке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 видит только то, что лежит в репозитории и в разговоре с вами. Рано или поздно этого не хватает.</a:t>
            </a:r>
          </a:p>
          <a:p/>
          <a:p>
            <a:r>
              <a:t>Вопрос, который я задам сегодня дважды: где заканчивается этот контекст, и что вы заводите первым — доступ наружу или отдельного исполнителя с урезанными правами? Держите ответ при себе — я вернусь к этому вопросу в конце занятия, той же формулировкой.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зал может ответить сейчас, и что отвечать на каждое.</a:t>
            </a:r>
            <a:r>
              <a:t> «Смотря чего не хватает» — честный первый ответ, его и подтверждаю: вопрос именно про то, как отличить один случай от другого, а материал сегодняшних двух блоков даёт критерий. «Сначала данные — без них агент вообще не может решить задачу» — ответ в верном направлении, обоснование в разборе первого блока. «Сначала отдельная роль — она экономит контекст» — тоже в направлении, обоснование во втором блоке.</a:t>
            </a:r>
          </a:p>
          <a:p/>
          <a:p>
            <a:r>
              <a:rPr i="1"/>
              <a:t>Если прозвучит «а зачем вообще выбирать, можно и то, и то».</a:t>
            </a:r>
            <a:r>
              <a:t> Отвечаю: да, можно — и у каждого расширения своя цена, об этом и будет материал: чужой код и место в контексте у одного, лишние права у другого.</a:t>
            </a:r>
          </a:p>
          <a:p/>
          <a:p>
            <a:r>
              <a:rPr i="1"/>
              <a:t>Чего здесь не делаю.</a:t>
            </a:r>
            <a:r>
              <a:t> Не называю MCP и субагента по имени — эти слова появятся на карте занятия и на базе каждого блока. Не оцениваю ответы и не свожу их к одному: правильного ответа сейчас нет, он собирается по ходу занятия.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блока сегодня. Первый — доступ наружу: агент достаёт данные, которых в репозитории нет, через внешний сервер. Второй — урезанная роль: часть работы делегируется отдельному агенту с суженными правами, и получаем мы от него только итог.</a:t>
            </a:r>
          </a:p>
          <a:p/>
          <a:p>
            <a:r>
              <a:t>Внутри каждого блока — несколько кейсов, и у каждого — своя сцена, свой вопрос, свой разбор. Названия кейсов вы увидите на их собственных дивайдерах, не здесь.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сколько кейсов в каждом блоке.</a:t>
            </a:r>
            <a:r>
              <a:t> Три — таков план на сегодня. Если материал не набирает трёх полноценных разворотов, лучше два завершённых, чем три, из которых один собран из обрезков; это решение принимается по ходу подготовки, не на самом занятии.</a:t>
            </a:r>
          </a:p>
          <a:p/>
          <a:p>
            <a:r>
              <a:rPr i="1"/>
              <a:t>Чего здесь не делаю.</a:t>
            </a:r>
            <a:r>
              <a:t> Не называю занятие по номеру и не обсуждаю расписание курса. Карта называет только то, что происходит сегодня.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развилка этого блока. В проекте до сих пор всё, что мы заводили, лежало внутри репозитория: правило, процедуру, проверку. Сегодня нужно другое — доступ к тому, что физически находится снаружи и меняется без нашего участия.</a:t>
            </a:r>
          </a:p>
          <a:p/>
          <a:p>
            <a:r>
              <a:t>Разработчик копирует текст задачи в чат руками и руками же возвращает результат обратно, несколько раз в неделю. Решаем, чем это заменить.</a:t>
            </a:r>
          </a:p>
          <a:p/>
          <a:p>
            <a:r>
              <a:t>Если спросят, при чём тут прошлое занятие: там мы учили агента, что ему можно и нельзя делать внутри своего же репозитория, и проверяли это файлами и командой. Здесь задача другая — агенту нужно дотянуться до системы, которая не является частью проекта и которую мы не контролируем напрямую.</a:t>
            </a:r>
          </a:p>
          <a:p/>
          <a:p>
            <a:r>
              <a:t>Если спросят, почему именно сейчас: дело в частоте. Разовое действие закрывает обычная команда в терминале; повторяющееся из сессии в сессию — нет, и мы увидим почему.</a:t>
            </a:r>
          </a:p>
          <a:p/>
          <a:p>
            <a:r>
              <a:t>Если спросят, какой это по счёту инструмент на сегодня: четвёртый, и впервые — тот, который физически выходит за границы одного репозитория.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 уже умеет работать с двумя источниками данных. Первый — файлы репозитория, это материал прошлых занятий: агент читает их напрямую, они физически лежат в проекте. Второй — файлы, которые ему дали явно: вставили текст в чат, приложили документ. Оба — файлы, оба можно просто прочитать.</a:t>
            </a:r>
          </a:p>
          <a:p/>
          <a:p>
            <a:r>
              <a:t>Список открытых задач в трекере не ложится ни туда, ни туда. Это не файл репозитория — заказчик ведёт его в отдельной системе, не в проекте. И это не файл, который можно один раз дать агенту и забыть, — он меняется каждый день, без нашего участия. Снимок на сегодняшнее утро устареет уже к обеду.</a:t>
            </a:r>
          </a:p>
          <a:p/>
          <a:p>
            <a:r>
              <a:t>Снимок здесь не выручит: агенту нужен способ самому обратиться к системе и получить свежий ответ прямо в момент работы.</a:t>
            </a:r>
          </a:p>
          <a:p/>
          <a:p>
            <a:r>
              <a:t>Если прозвучит «а запросы — это куда отнести»: отличный вопрос, это и есть третий источник. Обращение к системе за ответом называется вызовом API. Дальше разбираем, что в таком вызове стандартно, а что приходится писать заново каждый раз — и как это выглядит на практике для трекера задач.</a:t>
            </a:r>
          </a:p>
          <a:p/>
          <a:p>
            <a:r>
              <a:t>Если спросят, почему не считать трекер просто «ещё одним внешним файлом»: потому что у файла есть момент, когда его прочитали, и дальше он не меняется сам по себе. У трекера такого момента нет — он живой, и ответ зависит от того, когда именно спросить.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разбирать конкретный кейс — вся конструкция сразу, шесть частей. Я буду возвращаться к этому экрану весь блок.</a:t>
            </a:r>
          </a:p>
          <a:p/>
          <a:p>
            <a:r>
              <a:t>Что такое сервер — отдельная программа, не часть Claude Code. Два места, где она может работать: локальный процесс, который Claude Code запускает сама на вашей машине, или удалённый сервис, который хостит и обновляет кто-то другой. Команда в конфиге исполняется буквально при старте сессии: что записано, то и запустится.</a:t>
            </a:r>
          </a:p>
          <a:p/>
          <a:p>
            <a:r>
              <a:t>Где объявляется — файл конфигурации. Вот как он в реальности выглядит: </a:t>
            </a:r>
            <a:r>
              <a:rPr>
                <a:latin typeface="Consolas"/>
              </a:rPr>
              <a:t>mcpServers</a:t>
            </a:r>
            <a:r>
              <a:t>, внутри — имя сервера, команда запуска. </a:t>
            </a:r>
            <a:r>
              <a:rPr>
                <a:latin typeface="Consolas"/>
              </a:rPr>
              <a:t>.mcp.json</a:t>
            </a:r>
            <a:r>
              <a:t> в корне репозитория — это область </a:t>
            </a:r>
            <a:r>
              <a:rPr>
                <a:latin typeface="Consolas"/>
              </a:rPr>
              <a:t>project</a:t>
            </a:r>
            <a:r>
              <a:t>, видят все, кто клонирует. </a:t>
            </a:r>
            <a:r>
              <a:rPr>
                <a:latin typeface="Consolas"/>
              </a:rPr>
              <a:t>~/.claude.json</a:t>
            </a:r>
            <a:r>
              <a:t> — области </a:t>
            </a:r>
            <a:r>
              <a:rPr>
                <a:latin typeface="Consolas"/>
              </a:rPr>
              <a:t>local</a:t>
            </a:r>
            <a:r>
              <a:t> (дефолт) и </a:t>
            </a:r>
            <a:r>
              <a:rPr>
                <a:latin typeface="Consolas"/>
              </a:rPr>
              <a:t>user</a:t>
            </a:r>
            <a:r>
              <a:t>. Какая область для чего и почему дефолт не туда, куда ожидаешь, — разберём отдельно, когда будем собирать подключение; здесь только место на карте.</a:t>
            </a:r>
          </a:p>
          <a:p/>
          <a:p>
            <a:r>
              <a:t>Что происходит при подключении — после того как транспорт поднялся, Claude Code сама, без участия модели, спрашивает у сервера список его возможностей. Сервер отвечает именами и короткой инструкцией о себе, не полными схемами.</a:t>
            </a:r>
          </a:p>
          <a:p/>
          <a:p>
            <a:r>
              <a:t>Вызов — когда модель решает, что инструмент нужен, агент сам поднимает нужный сервер и вызывает его, точно как вызвал бы функцию: полное имя с префиксом сервера и аргументы, которые модель собрала.</a:t>
            </a:r>
          </a:p>
          <a:p/>
          <a:p>
            <a:r>
              <a:t>Контекст и цена — три отдельные статьи, не одна цифра. Первая: имя сервера и его короткая инструкция — в контексте всегда, с первой секунды сессии. Вторая: полную схему конкретного инструмента модель подгружает сама, когда решает, что он может понадобиться. Третья, отдельная от первых двух: результат самого вызова — у него свой бюджет, предупреждение при выходе за 10 000 токенов, обрезка за 25 000 по умолчанию. Постоянная плата идёт за то, что сервер подключён. Цена вызова — отдельно, за каждый ответ. Сравнение по способам доступа — дальше в этом кейсе.</a:t>
            </a:r>
          </a:p>
          <a:p/>
          <a:p>
            <a:r>
              <a:t>Чем отвечает сервер — отдельный канал результата, не тот же самый, что при подключении. В выводе вызов подписан именем сервера — так видно, что ответ пришёл именно оттуда, не из общих знаний модели.</a:t>
            </a:r>
          </a:p>
          <a:p/>
          <a:p>
            <a:r>
              <a:t>Если спросят про формат имени инструмента подробнее: </a:t>
            </a:r>
            <a:r>
              <a:rPr>
                <a:latin typeface="Consolas"/>
              </a:rPr>
              <a:t>mcp__&lt;сервер&gt;__&lt;инструмент&gt;</a:t>
            </a:r>
            <a:r>
              <a:t> — любой символ вне букв, цифр, подчёркивания и дефиса заменяется на подчёркивание. Это не косметика: именно это полное имя нужно писать в правилах разрешений, списке инструментов субагента или матчере хука — короткое имя там не сработает.</a:t>
            </a:r>
          </a:p>
          <a:p/>
          <a:p>
            <a:r>
              <a:t>Если спросят, почему обнаружение возможностей не спрашивает модель: это разговор клиента с сервером на уровне протокола, до того как модель вообще увидела список, — та же механика, что и рукопожатие транспорта.</a:t>
            </a:r>
          </a:p>
          <a:p/>
          <a:p>
            <a:r>
              <a:t>Если спросят, почему </a:t>
            </a:r>
            <a:r>
              <a:rPr>
                <a:latin typeface="Consolas"/>
              </a:rPr>
              <a:t>local</a:t>
            </a:r>
            <a:r>
              <a:t> и </a:t>
            </a:r>
            <a:r>
              <a:rPr>
                <a:latin typeface="Consolas"/>
              </a:rPr>
              <a:t>user</a:t>
            </a:r>
            <a:r>
              <a:t> показаны с одним и тем же файлом </a:t>
            </a:r>
            <a:r>
              <a:rPr>
                <a:latin typeface="Consolas"/>
              </a:rPr>
              <a:t>~/.claude.json</a:t>
            </a:r>
            <a:r>
              <a:t>: это не опечатка на экране — это один физический файл, но две разные записи внутри него: </a:t>
            </a:r>
            <a:r>
              <a:rPr>
                <a:latin typeface="Consolas"/>
              </a:rPr>
              <a:t>local</a:t>
            </a:r>
            <a:r>
              <a:t> живёт под записью конкретного проекта, </a:t>
            </a:r>
            <a:r>
              <a:rPr>
                <a:latin typeface="Consolas"/>
              </a:rPr>
              <a:t>user</a:t>
            </a:r>
            <a:r>
              <a:t> — под общим ключом </a:t>
            </a:r>
            <a:r>
              <a:rPr>
                <a:latin typeface="Consolas"/>
              </a:rPr>
              <a:t>mcpServers</a:t>
            </a:r>
            <a:r>
              <a:t>. Подробнее — на слайде со сборкой подключения.</a:t>
            </a:r>
          </a:p>
          <a:p/>
          <a:p>
            <a:r>
              <a:t>Если что-то на этом экране непонятно — спрашивайте сейчас. Дальше я буду на него ссылаться.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Сайт живёт третий месяц. Первые недели заказчик писал в мессенджер прямо по ходу: «обновите текст на кнопке», «форма не отправляется с телефона». Разработчик предложил заводить такие вещи в трекере репозитория: там обсуждение сохраняется, и статус виден обоим. Заказчик согласился, и уже месяц ведёт задачи там сам: «форма не отправляется с телефона», «добавьте поле — откуда вы о нас узнали».</a:t>
            </a:r>
          </a:p>
          <a:p/>
          <a:p>
            <a:r>
              <a:t>Почти каждая сессия теперь начинается одинаково: открыть трекер, скопировать текст задачи, вставить в чат агенту. Агент готовит ответ или черновик правки. А в конце — скопировать результат и вставить обратно комментарием в ту же задачу. Несколько раз в неделю, и так будет всю жизнь проекта: заказчик уже привык вести задачи именно так, возврата к мессенджеру не будет.</a:t>
            </a:r>
          </a:p>
          <a:p/>
          <a:p>
            <a:r>
              <a:t>Трекер живёт в отдельной системе, снаружи git-дерева проекта, и меняется каждый день без участия разработчика. Снимок, снятый сегодня утром, завтра уже неточен.</a:t>
            </a:r>
          </a:p>
          <a:p/>
          <a:p>
            <a:r>
              <a:t>Если спросят, почему не решить руками и дальше, раз это «всего лишь» копипаст: цена растёт линейно с числом задач и числом сессий, а ошибка копирования — забытая строка, не туда вставленный ответ — становится обычной, не исключительной.</a:t>
            </a:r>
          </a:p>
          <a:p/>
          <a:p>
            <a:r>
              <a:t>Если спросят, почему нельзя просто попросить агента «следить» за трекером: агент работает в рамках одной сессии, он не продолжает действовать между запросами и не имеет собственного способа дотянуться до внешней системы без явно выданного доступа.</a:t>
            </a:r>
          </a:p>
          <a:p/>
          <a:p>
            <a:r>
              <a:t>Если прозвучит «а что, если открыть трекер в браузере рядом»: это не снимает ручной перенос, только меняет его форму — вставка остаётся вставкой.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Агенту теперь регулярно нужно смотреть открытые задачи трекера и готовить по ним черновики правок. Выберите способ, которым вы дадите ему доступ снаружи, — и будьте готовы объяснить, почему именно он.</a:t>
            </a:r>
          </a:p>
          <a:p/>
          <a:p>
            <a:r>
              <a:t>Пять карточек: вызвать API напрямую; подключить чужой сервер — удалённо; подключить чужой сервер — локально; написать свой сервер; вызывать готовую команду </a:t>
            </a:r>
            <a:r>
              <a:rPr>
                <a:latin typeface="Consolas"/>
              </a:rPr>
              <a:t>gh</a:t>
            </a:r>
            <a:r>
              <a:t> каждый раз.</a:t>
            </a:r>
          </a:p>
          <a:p/>
          <a:p>
            <a:r>
              <a:t>Если спросят, что такое </a:t>
            </a:r>
            <a:r>
              <a:rPr>
                <a:latin typeface="Consolas"/>
              </a:rPr>
              <a:t>gh</a:t>
            </a:r>
            <a:r>
              <a:t>: официальный CLI-инструмент GitHub — он уже установлен у многих разработчиков и умеет читать и писать задачи трекера без какого-либо MCP-сервера, обычным вызовом команды.</a:t>
            </a:r>
          </a:p>
          <a:p/>
          <a:p>
            <a:r>
              <a:t>Если спросят, чем «удалённо» отличается от «локально»: в одном случае сервер — чужой процесс, который кто-то другой держит в сети и сам поддерживает; в другом — программа запускается у вас, её старт и обновление — ваша забота. Какую разницу это даёт на практике — следующий слайд.</a:t>
            </a:r>
          </a:p>
          <a:p/>
          <a:p>
            <a:r>
              <a:t>Если прозвучит версия, не совпадающая ни с одной из пяти карточек: уточните, какой конкретно способ доступа имеете в виду — почти всегда он укладывается в один из пяти, просто другими словами.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— что он делает и чего не делает, вывод складывается из сочетания.</a:t>
            </a:r>
          </a:p>
          <a:p/>
          <a:p>
            <a:r>
              <a:t>Прямой вызов API — агент прекрасно справляется сам: шлёт запрос, разбирает ответ, писать отдельный код интеграции не нужно. Но заранее он не знает спецификацию сервиса — какие у него есть точки и какие у них ограничения. Без документации или swagger-описания агент эти детали не угадает, их нужно откуда-то дать.</a:t>
            </a:r>
          </a:p>
          <a:p/>
          <a:p>
            <a:r>
              <a:t>Чужой сервер удалённо — сервис, который кто-то хостит и обновляет сам, у вас не крутится отдельный процесс. Но управляете не вы: не видно, что внутри, и когда там что-то меняется, — плюс обычные вопросы безопасности такого сервиса.</a:t>
            </a:r>
          </a:p>
          <a:p/>
          <a:p>
            <a:r>
              <a:t>Чужой сервер локально — контроля больше: пакет исполняется у вас, конфигурация — строка в репозитории, видимая в ревью. Но это всё равно живой процесс на вашей машине и чужой код.</a:t>
            </a:r>
          </a:p>
          <a:p/>
          <a:p>
            <a:r>
              <a:t>Свой сервер — даёт ровно нужные операции и права. Писать минимальный сервер сегодня не долгая работа, для этого даже есть готовый плагин. Дорого обходится поддержка: обновления протокола, чужие пользователи, безопасность транспорта. Это отдельный проект рядом с основным, не разовая настройка.</a:t>
            </a:r>
          </a:p>
          <a:p/>
          <a:p>
            <a:r>
              <a:t>И </a:t>
            </a:r>
            <a:r>
              <a:rPr>
                <a:latin typeface="Consolas"/>
              </a:rPr>
              <a:t>gh</a:t>
            </a:r>
            <a:r>
              <a:t> — официальный CLI GitHub, он уже решил авторизацию и разбор ответа за вас. Но каждый вызов — отдельная команда без общего списка возможностей: агент не видит заранее, что вообще можно сделать, нужный вызов приходится знать заранее.</a:t>
            </a:r>
          </a:p>
          <a:p/>
          <a:p>
            <a:r>
              <a:t>Вывод: для нашего случая — регулярного доступа нескольких сессий к растущему списку операций — </a:t>
            </a:r>
            <a:r>
              <a:rPr>
                <a:latin typeface="Consolas"/>
              </a:rPr>
              <a:t>gh</a:t>
            </a:r>
            <a:r>
              <a:t> и прямой API остаются рабочими, но оба требуют заранее знать точный вызов на каждое действие. Свой сервер избыточен, раз официальный уже есть. Между «удалённо» и «локально» — оба законны, выбор этого занятия — локальный, и дальше мы его собираем.</a:t>
            </a:r>
          </a:p>
          <a:p/>
          <a:p>
            <a:r>
              <a:t>Если спросят про «удалённо» подробнее: свежий официальный пример подключения именно к этому сервису — удалённый http-сервис, не локальный процесс, как в примере, на который опирается этот кейс. Это не делает решение занятия неверным — локальный способ остаётся официально поддерживаемым, — но стоит знать: официальный путь для одного и того же поставщика может со временем смениться с одного способа на другой.</a:t>
            </a:r>
          </a:p>
          <a:p/>
          <a:p>
            <a:r>
              <a:t>Если спросят про безопасность удалённого сервиса подробнее: у одного MCP-сервера для баз данных флаг «только чтение» не делал соединение реально ограниченным — разберём это в провале этого кейса.</a:t>
            </a:r>
          </a:p>
          <a:p/>
          <a:p>
            <a:r>
              <a:t>Если спросят, почему </a:t>
            </a:r>
            <a:r>
              <a:rPr>
                <a:latin typeface="Consolas"/>
              </a:rPr>
              <a:t>gh</a:t>
            </a:r>
            <a:r>
              <a:t> не выигрывает у MCP для этого кейса: он отлично закрывает единичный, заранее известный вызов, но не даёт агенту обнаружить список возможностей самому — с ростом числа операций это ложится на разработчика, который должен помнить и называть каждую команду точно.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Файл пишется в конце разговора, не в начале: начни с синтаксиса — минуешь два решения, которые важнее синтаксиса.</a:t>
            </a:r>
          </a:p>
          <a:p/>
          <a:p>
            <a:r>
              <a:t>Первый шаг быстрый: что конкретно агент должен уметь? Зал перечисляет, фиксирую: читать открытые задачи, писать комментарий, готовить черновик правки. Три операции, ничего больше.</a:t>
            </a:r>
          </a:p>
          <a:p/>
          <a:p>
            <a:r>
              <a:t>Второй шаг несёт основной вес. На экране — список того, что даёт широкий персональный токен по умолчанию: все репозитории пользователя, включая приватные; чтение и запись; управление настройками; удаление. Идём по строкам и спрашиваем про каждую: наш список из трёх операций этого требует? Вычёркивание происходит на экране, строка за строкой. Остаётся один репозиторий и две операции.</a:t>
            </a:r>
          </a:p>
          <a:p/>
          <a:p>
            <a:r>
              <a:t>Запомните, как выглядит этот экран сейчас. Через несколько минут покажу инцидент, который воспроизводится ровно тогда, когда верхняя строка не вычеркнута.</a:t>
            </a:r>
          </a:p>
          <a:p/>
          <a:p>
            <a:r>
              <a:t>Если спросят, почему нельзя создать токен с правами «по умолчанию» и просто не пользоваться лишним: токен может быть использован тем, кто завладеет им, — вопрос здесь не в вашем намерении: решает то, что физически позволяет сделанный ключ.</a:t>
            </a:r>
          </a:p>
          <a:p/>
          <a:p>
            <a:r>
              <a:t>Если спросят, насколько это типично — выдавать больше, чем нужно: та же системная выборка показывает, что подобная избыточность — норма, не исключение, и это касается не только отдельных серверов, но и самого транспортного слоя официального SDK протокола.</a:t>
            </a:r>
          </a:p>
          <a:p/>
          <a:p>
            <a:r>
              <a:t>Если спросят, сколько времени занимает эта проверка: прямых замеров нет ни в одном источнике — честный пробел; но разговор, который мы сейчас ведём, и так происходит в момент создания токена, отдельного времени он не требует.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шаг — про ключ, и зал отвечает почти сразу: переменная окружения, не значение в файле. Честная оговорка: даже вынесение секрета в переменную окружения не гарантирует, что он нигде не всплывёт текстом — диагностическая команда, которой проверяют статус подключения, сама может оказаться ещё одним каналом утечки того же секрета. Это не отменяет практику, но снимает с неё ложное ощущение полной защищённости.</a:t>
            </a:r>
          </a:p>
          <a:p/>
          <a:p>
            <a:r>
              <a:t>Четвёртый шаг — область видимости конфигурации. Три варианта: только у меня на этой машине; в репозиторий, для всех; глобально во всех моих проектах. Проверенный сервер — в репозиторий: конфигурация становится кодом, изменение видно в ревью. Непроверенный эксперимент — только у себя. И факт про дефолт: по умолчанию команда подключения кладёт сервер в личную конфигурацию, не в проект. Если про это не знать — получится разговор «я подключил, всё работает» — «а у меня нет», и оба правы.</a:t>
            </a:r>
          </a:p>
          <a:p/>
          <a:p>
            <a:r>
              <a:t>Если спросят, чем переменная окружения лучше отдельного секретного файла вне репозитория: механика конфигурации здесь исполняемая, не декларативная — команда подключения сервера реально запускается на машине при старте сессии. Простым описанием это не остаётся. Значение, вписанное буквально в команду, стало бы частью того, что физически выполняется. Переменная окружения — прямое следствие этого факта, не стилистическое предпочтение.</a:t>
            </a:r>
          </a:p>
          <a:p/>
          <a:p>
            <a:r>
              <a:t>Если спросят про конфликт имён между областями: при совпадении имени сервера в двух областях побеждает вся запись более приоритетной области целиком — поля не собираются из разных источников. Если в личной записи нет ключа, а в проектной есть, и они совпали по имени — при конфликте вы получите личную запись целиком, включая отсутствие ключа. Порядок приоритета: личная область выше проектной, проектная выше общей личной, дальше — сервер из плагина, затем коннектор, выше всех — политика организации, если она есть.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 разговора — файл из четырёх строк существа. Разберём каждую.</a:t>
            </a:r>
          </a:p>
          <a:p/>
          <a:p>
            <a:r>
              <a:rPr>
                <a:latin typeface="Consolas"/>
              </a:rPr>
              <a:t>mcpServers</a:t>
            </a:r>
            <a:r>
              <a:t> — корень: список всех серверов, которые объявлены в этой области видимости. </a:t>
            </a:r>
            <a:r>
              <a:rPr>
                <a:latin typeface="Consolas"/>
              </a:rPr>
              <a:t>"github"</a:t>
            </a:r>
            <a:r>
              <a:t> — имя сервера: именно под этим именем агент дальше будет вызывать его инструменты, вида </a:t>
            </a:r>
            <a:r>
              <a:rPr>
                <a:latin typeface="Consolas"/>
              </a:rPr>
              <a:t>mcp__github__…</a:t>
            </a:r>
            <a:r>
              <a:t>. </a:t>
            </a:r>
            <a:r>
              <a:rPr>
                <a:latin typeface="Consolas"/>
              </a:rPr>
              <a:t>"command": "npx"</a:t>
            </a:r>
            <a:r>
              <a:t> — чем запускается: конкретная программа-лаунчер. </a:t>
            </a:r>
            <a:r>
              <a:rPr>
                <a:latin typeface="Consolas"/>
              </a:rPr>
              <a:t>"args"</a:t>
            </a:r>
            <a:r>
              <a:t> — что запускается: пакет самого сервера. И </a:t>
            </a:r>
            <a:r>
              <a:rPr>
                <a:latin typeface="Consolas"/>
              </a:rPr>
              <a:t>"env"</a:t>
            </a:r>
            <a:r>
              <a:t> — переменные окружения для процесса: значение здесь — подстановка </a:t>
            </a:r>
            <a:r>
              <a:rPr>
                <a:latin typeface="Consolas"/>
              </a:rPr>
              <a:t>${GITHUB_PAT}</a:t>
            </a:r>
            <a:r>
              <a:t>, сам секрет в файле не лежит текстом.</a:t>
            </a:r>
          </a:p>
          <a:p/>
          <a:p>
            <a:r>
              <a:t>Это полная версия того же шаблона, который уже мелькал фрагментом на одностраничнике в начале кейса — там он был первым знакомством, здесь — разбор построчно. Права этого ключа — один репозиторий, не вся учётная запись — в файл не входят вообще: их задаёт сервис, где токен создавался, не эта конфигурация.</a:t>
            </a:r>
          </a:p>
          <a:p/>
          <a:p>
            <a:r>
              <a:t>Эта практика остаётся целевым решением раздела, не подтверждённым коммитом ни в этом проекте, ни в репозитории курса — слайд показывает разбираемый пример, не обещает «склонируй и повтори».</a:t>
            </a:r>
          </a:p>
          <a:p/>
          <a:p>
            <a:r>
              <a:t>Честное предложение в сторону: эта команда запускает на вашей машине живой процесс. Если он упадёт посреди сессии — сам он не перезапустится, нужна новая сессия. Полный разбор, что при этом видно и как это заметить, — в следующем кейсе этого занятия.</a:t>
            </a:r>
          </a:p>
          <a:p/>
          <a:p>
            <a:r>
              <a:t>Если спросят про сам файл подробнее: он лежит в корне репозитория, видят его все, кто клонирует проект; личная и общая личная области живут в отдельном файле вне репозитория, туда секреты из кода не попадают просто потому, что файл физически не в дереве git.</a:t>
            </a:r>
          </a:p>
          <a:p/>
          <a:p>
            <a:r>
              <a:t>Если спросят про схему приоритета ниже: ступени </a:t>
            </a:r>
            <a:r>
              <a:rPr>
                <a:latin typeface="Consolas"/>
              </a:rPr>
              <a:t>local</a:t>
            </a:r>
            <a:r>
              <a:t> и </a:t>
            </a:r>
            <a:r>
              <a:rPr>
                <a:latin typeface="Consolas"/>
              </a:rPr>
              <a:t>user</a:t>
            </a:r>
            <a:r>
              <a:t> обе подписаны файлом </a:t>
            </a:r>
            <a:r>
              <a:rPr>
                <a:latin typeface="Consolas"/>
              </a:rPr>
              <a:t>~/.claude.json</a:t>
            </a:r>
            <a:r>
              <a:t> — это не два одинаковых адреса и не ошибка на экране. Это один физический файл, но две разные записи внутри него: </a:t>
            </a:r>
            <a:r>
              <a:rPr>
                <a:latin typeface="Consolas"/>
              </a:rPr>
              <a:t>local</a:t>
            </a:r>
            <a:r>
              <a:t> — под записью именно этого проекта, </a:t>
            </a:r>
            <a:r>
              <a:rPr>
                <a:latin typeface="Consolas"/>
              </a:rPr>
              <a:t>user</a:t>
            </a:r>
            <a:r>
              <a:t> — под общим ключом </a:t>
            </a:r>
            <a:r>
              <a:rPr>
                <a:latin typeface="Consolas"/>
              </a:rPr>
              <a:t>mcpServers</a:t>
            </a:r>
            <a:r>
              <a:t>. При конфликте имён это разные по весу записи, несмотря на общий файл.</a:t>
            </a:r>
          </a:p>
          <a:p/>
          <a:p>
            <a:r>
              <a:t>Если спросят, что будет, если изменить область уже подключённого сервера: это та же запись, просто переписанная в другое место — сами права токена при этом не меняются, их меняют на стороне сервиса, где токен создавался.</a:t>
            </a:r>
          </a:p>
          <a:p/>
          <a:p>
            <a:r>
              <a:t>Если спросят, почему областей ровно три и почему именно эти: это ровно то, что физически умеет продукт — три жёстко заданных места, не произвольная настройка.</a:t>
            </a:r>
          </a:p>
          <a:p/>
          <a:p>
            <a:r>
              <a:t>Если спросят про честный пробел ещё раз: этот конкретный файл — целевое решение, собранное из более раннего захвата демо-репозитория; в текущей ветке его нет, и тот же файл отсутствует в репозитории курса. Проверка этого кейса — на доказательной базе исследования, не на живом коммите; это касается и двух следующих кейсов этого блока — у них общий этот пробел.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— цифра, о которой часто говорят неточно. «Подключение сервера стоит столько-то токенов» — это утверждение о режиме без отложенной загрузки. По умолчанию, на актуальных моделях, в контекст при старте сессии попадают только имена инструментов и короткая инструкция сервера, не полные их схемы. Полное описание конкретного инструмента подгружается отдельно, когда модель сама решает, что он может понадобиться.</a:t>
            </a:r>
          </a:p>
          <a:p/>
          <a:p>
            <a:r>
              <a:t>Худший случай — связка из пяти серверов без отсрочки, порядка пятидесяти пяти тысяч токенов — это около 21% стандартного окна в двести тысяч токенов. Это верхняя граница, не гарантированная цена каждого подключения. Для сравнения: то же самое действие через обычную команду в терминале — тысяча триста шестьдесят пять токенов, через инструмент сервера — сорок четыре тысячи. Тридцатидвухкратная разница за один и тот же ответ.</a:t>
            </a:r>
          </a:p>
          <a:p/>
          <a:p>
            <a:r>
              <a:t>Я обещал на одностраничнике сопоставление по способам доступа — вот оно. Из четырёх вариантов разбора (свой сервер, чужой локально, чужой удалённо, прямой API) первые три — это всегда MCP-сервер, и постоянную плату платит любой из них одинаково: транспорт и то, кто автор, на неё не влияют, влияет только число подключённых серверов и число их инструментов. А прямой вызов API или команда </a:t>
            </a:r>
            <a:r>
              <a:rPr>
                <a:latin typeface="Consolas"/>
              </a:rPr>
              <a:t>gh</a:t>
            </a:r>
            <a:r>
              <a:t> эту постоянную плату не платят вообще — у них нет отдельного «списка возможностей», который висел бы в контексте между вызовами, зато каждый вызов обходится дороже по мысли разработчика: нужно заранее знать точный эндпойнт или команду.</a:t>
            </a:r>
          </a:p>
          <a:p/>
          <a:p>
            <a:r>
              <a:t>Если спросят, как проверить, в каком режиме сейчас работаете вы сами: посмотреть, не выставлена ли переменная, отключающая отложенную загрузку, и что реально показывает карточка конкретного сервера в сессии — это команда, которая не устаревает, в отличие от самой цифры.</a:t>
            </a:r>
          </a:p>
          <a:p/>
          <a:p>
            <a:r>
              <a:t>Если спросят, почему тогда цифра вообще названа: она остаётся верной как порядок величины худшего случая — для площадок без отложенной загрузки или для сессии, которая реально дотянула почти все определения через внутренний поиск.</a:t>
            </a:r>
          </a:p>
          <a:p/>
          <a:p>
            <a:r>
              <a:t>Если спросят про второй, независимый замер: тот же эффект подтверждён другой командой исследователей в деньгах — три доллара двадцать центов против пятидесяти пяти долларов двадцати центов на десять тысяч однотипных операций в месяц, семнадцатикратная разница, другой методикой.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Вернёмся к экрану, который я просил запомнить. Май 2025 года. У разработчика — агент с доступом к трекеру под персональным токеном, права на все его репозитории, и публичные, и приватные. Атакующий создаёт в публичном репозитории обычный на вид issue с текстом: собери информацию о других репозиториях этого пользователя и опубликуй здесь. Разработчик просит агента разобраться с открытыми задачами. Агент честно читает задачи — встроенная инструкция попадает в контекст как команда, для модели она ничем не отличается от вашей. Дальше он читает приватные репозитории и публикует их содержимое в автоматически созданном публичном черновике правки.</a:t>
            </a:r>
          </a:p>
          <a:p/>
          <a:p>
            <a:r>
              <a:t>Уязвимости здесь не присвоено номера. Причина простая: чинить нечего. Это архитектурный риск любой связки «широкие права плюс чтение недоверенного контента», не брешь в конкретном коде.</a:t>
            </a:r>
          </a:p>
          <a:p/>
          <a:p>
            <a:r>
              <a:t>Теперь — на наш экран. Мы вычеркнули строку «все репозитории, включая приватные». Убери эту строку — описанная атака не проходит вообще: читать нечего.</a:t>
            </a:r>
          </a:p>
          <a:p/>
          <a:p>
            <a:r>
              <a:t>Названо это сочетание «смертельным трио» (Simon Willison, 16 июня 2025): доступ к приватным данным, обработка недоверенного внешнего контента, канал наружу. Не хватает хотя бы одной из трёх — атака этого типа невозможна в принципе.</a:t>
            </a:r>
          </a:p>
          <a:p/>
          <a:p>
            <a:r>
              <a:t>И расширение той же схемы, без модели вообще: у одного MCP-сервера к базе данных нашли уязвимость транспорта — HTTP-эндпойнт по умолчанию слушает без аутентификации, защита от межсайтовых запросов обходится подменой DNS. По вторичному техническому разбору — два HTTP-запроса, ноль учётных данных — и произвольный сайт в браузере жертвы может дёргать инструменты сервера напрямую. Смертельное трио — не единственный путь к утечке: сервер сам может быть незащищённым сетевым сервисом, и этот случай именно такой.</a:t>
            </a:r>
          </a:p>
          <a:p/>
          <a:p>
            <a:r>
              <a:t>Если спросят, почему именно GitHub в примере: ровно эту связку мы собираем в этом кейсе — трекер задач с персональным токеном.</a:t>
            </a:r>
          </a:p>
          <a:p/>
          <a:p>
            <a:r>
              <a:t>Если спросят, насколько это общий класс: обобщение сформулировано отдельно одним исследователем как «смертельное трио», и оно применимо к любому агенту с доступом к данным, обработкой текста и каналом наружу, независимо от конкретного продукта.</a:t>
            </a:r>
          </a:p>
          <a:p/>
          <a:p>
            <a:r>
              <a:t>Если спросят про DNS rebinding подробнее: атакующий домен сначала резолвится в свой собственный IP — чтобы пройти проверку происхождения запроса, — затем в адрес жертвы; после этого браузер жертвы считает запрос «своим», и локальный сервер его исполняет.</a:t>
            </a:r>
          </a:p>
          <a:p/>
          <a:p>
            <a:r>
              <a:t>Если спросят, защищает ли открытость протокола от такого провала: нет — открытость протокола и аутентификация конкретного сервера — разные вещи, мы это уже отметили в базе.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Подведём итог кейса прямо: когда MCP нужен и когда нет.</a:t>
            </a:r>
          </a:p>
          <a:p/>
          <a:p>
            <a:r>
              <a:t>Нужен — когда доступ требуется регулярно, из нескольких сессий, и снимка данных на сегодняшнее утро уже недостаточно. Нужен — когда вы готовы поддерживать ещё один постоянно работающий процесс с доступом к секретам, потому что без этой готовности сервер превращается в забытый процесс, который никто не обслуживает. Нужен — когда операций больше одной и агент сам решает, к какой из них обратиться в моменте. И нужен — только если подключение не достраивает третий элемент смертельного трио: доступ к приватным данным и обработка чужого текста у вас, скорее всего, уже есть, остаётся канал наружу.</a:t>
            </a:r>
          </a:p>
          <a:p/>
          <a:p>
            <a:r>
              <a:t>Не нужен — в зеркальных случаях. Доступ разовый или редкий — снимка достаточно. Нет готовности поддерживать процесс — тогда разовый вызов надёжнее. Задача сводится к одному известному вызову CLI — тридцатидвухкратная разница по токенам никуда не денется, сколько бы вы ни доверяли серверу. И если подключение достраивает третий элемент трио — это стоп-критерий сразу, без размышлений.</a:t>
            </a:r>
          </a:p>
          <a:p/>
          <a:p>
            <a:r>
              <a:t>Есть доступ наружу. Следующий вопрос — что происходит, когда он подключён, а агент через него не ходит.</a:t>
            </a:r>
          </a:p>
          <a:p/>
          <a:p>
            <a:r>
              <a:t>Если спросят, почему колонки названы именно так, а прежние «рано» и «никогда» сняты: потому что оба предыдущих слова приглашали гадать, о какой стадии решения речь, а колонки должны отвечать на один прямой вопрос — нужен сервер для этой задачи или нет, без деления на «сейчас ещё нет» и «никогда вообще».</a:t>
            </a:r>
          </a:p>
          <a:p/>
          <a:p>
            <a:r>
              <a:t>Если спросят про дисциплину после подключения: периодически перечитывать конфигурацию, убирать неиспользуемые серверы — каждый забытый сервер — налог на контекст, поверхность атаки и держатель ключей одновременно.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случай этого блока начинается с состояния, в котором никто не ошибся. Сервер подключён правильно, права вычеркнуты, ключ в переменной окружения. И всё равно непонятно, ходит ли агент через него вообще — а статус продолжает гореть зелёным.</a:t>
            </a:r>
          </a:p>
          <a:p/>
          <a:p>
            <a:r>
              <a:t>Разбираться будем до низа: что именно показывает статус, чего он не показывает, и как доказать себе, что агент реально обратился к серверу — одного статуса «подключён» для этого мало.</a:t>
            </a:r>
          </a:p>
          <a:p/>
          <a:p>
            <a:r>
              <a:t>Если спросят, не повтор ли это первого случая: там мы решали, подключать ли вообще и с какими правами. Здесь сервер уже подключён и собран честно — ломается другое: разница между «процесс поднялся» и «агент реально обратился к серверу».</a:t>
            </a:r>
          </a:p>
          <a:p/>
          <a:p>
            <a:r>
              <a:t>Если спросят, зачем отдельный кейс на это: интуиция здесь ошибается систематически, не один раз — зелёный индикатор читается как «агент пользуется сервером», а индикатор по конструкции отвечает только за процесс, не за то, кто к нему обращался.</a:t>
            </a:r>
          </a:p>
          <a:p/>
          <a:p>
            <a:r>
              <a:t>Если спросят, понадобится ли это тому, у кого один-единственный сервер: да, ровно в той же мере — число серверов не меняет механику статуса.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Сервер доступа к трекеру — тот самый, что мы собрали в прошлом кейсе, — стоит уже две недели. В понедельник утром разработчик просит агента посмотреть, что скопилось во входящих задачах за выходные, и подготовить черновики.</a:t>
            </a:r>
          </a:p>
          <a:p/>
          <a:p>
            <a:r>
              <a:t>В ответ — любая из трёх реплик: «всё сделал», «новых задач не нашёл», «во входящих пусто». Все три звучат как нормальный итог работы. В репозитории — ни одного нового черновика, ни одного комментария, ни в одном из трёх случаев. </a:t>
            </a:r>
            <a:r>
              <a:rPr>
                <a:latin typeface="Consolas"/>
              </a:rPr>
              <a:t>claude mcp list</a:t>
            </a:r>
            <a:r>
              <a:t> показывает ровно то же, что и всю неделю: </a:t>
            </a:r>
            <a:r>
              <a:rPr>
                <a:latin typeface="Consolas"/>
              </a:rPr>
              <a:t>✔ Connected</a:t>
            </a:r>
            <a:r>
              <a:t>. Зелёная отметка значит одно — процесс сервера поднят и ответил на рукопожатие; пользовался ли им агент в этой конкретной задаче, она не говорит.</a:t>
            </a:r>
          </a:p>
          <a:p/>
          <a:p>
            <a:r>
              <a:t>Если спросят, почему три реплики, не одна: ровно затем, чтобы снять ложное чувство, что проблема — во лжи агента. «Не нашёл» и «пусто» звучат честно, но ни одна из трёх реплик не наблюдение за сервером — агент мог ни разу к нему не обратиться и ответить по смыслу задачи.</a:t>
            </a:r>
          </a:p>
          <a:p/>
          <a:p>
            <a:r>
              <a:t>Если спросят, сколько времени прошло незамеченным: в этой сцене — всю рабочую неделю, и это не случайная деталь: типичное свойство такого сбоя — он не даёт сигнала, по которому стоило бы пойти проверить раньше.</a:t>
            </a:r>
          </a:p>
          <a:p/>
          <a:p>
            <a:r>
              <a:t>Если спросят, бывает ли наоборот — статус красный, а всё работает: формально да, временная сетевая ошибка на старте может дать ложный отказ, но это другой, более заметный класс сбоя — красный статус хотя бы привлекает внимание.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Коротко напоминаю сцену: сервер стоит две недели, агент в разных формах отчитался, что посмотрел задачи, в репозитории — ни одного черновика, а статус подключения не менялся всю неделю. Статус сервера зелёный, а результата — ни одного. Выберите, что вы проверите дальше.</a:t>
            </a:r>
          </a:p>
          <a:p/>
          <a:p>
            <a:r>
              <a:t>Четыре карточки: ничего — статус зелёный; посмотреть, что именно показывает статус подробнее; спросить агента, почему он решил, что всё сделал; явно попросить агента обратиться к серверу по имени и показать вызов.</a:t>
            </a:r>
          </a:p>
          <a:p/>
          <a:p>
            <a:r>
              <a:t>Если зал сразу называет «посмотреть подробнее»: отлично, попросите назвать, что конкретно он ожидает там увидеть, — это и будет материалом следующего слайда.</a:t>
            </a:r>
          </a:p>
          <a:p/>
          <a:p>
            <a:r>
              <a:t>Если зал называет последний вариант сразу верным: справедливо, и разбор это подтвердит — но стоит спросить, почему остальные три тогда вообще стоит делать, если ответ уже есть. Это и есть материал разбора.</a:t>
            </a:r>
          </a:p>
          <a:p/>
          <a:p>
            <a:r>
              <a:t>Если прозвучит «а что если проблема в формулировке задачи для агента, не в сервере»: возможно, и это ещё один повод не делать ничего до диагностики — именно поэтому карточку «ничего» из списка не убрали.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четыре. Ничего — статус зелёный — подтверждает ровно одно: процесс сервера поднят и ответил на рукопожатие. Обращался ли к нему агент в этой конкретной задаче — отдельный факт, статус его не несёт.</a:t>
            </a:r>
          </a:p>
          <a:p/>
          <a:p>
            <a:r>
              <a:t>Посмотреть, что именно показывает статус подробнее, — сужает круг причин: различает «процесс не поднялся», «список инструментов не получен», «нужна авторизация». Но и это не показывает, вызывал ли агент сервер именно сейчас.</a:t>
            </a:r>
          </a:p>
          <a:p/>
          <a:p>
            <a:r>
              <a:t>Спросить агента, почему он решил, что сделал, — иногда вскрывает проблему прямо: агент может признаться, что не нашёл способа проверить и ответил по смыслу задачи. Но агент пересказывает своё понимание, не наблюдение, — это тоже не факт о транспорте.</a:t>
            </a:r>
          </a:p>
          <a:p/>
          <a:p>
            <a:r>
              <a:t>Явно попросить обратиться к серверу по имени и показать вызов — единственный вариант, который доказывает: в выводе вызов инструмента подписан именем сервера. Это материал следующего слайда.</a:t>
            </a:r>
          </a:p>
          <a:p/>
          <a:p>
            <a:r>
              <a:t>Если спросят, почему «спросить агента» вообще в списке, если ему нельзя верить: потому что это дешёвый шаг, который иногда сразу вскрывает причину — цена ошибки здесь не в том, что вы спросили, а в том, что вы остановились бы на этом ответе.</a:t>
            </a:r>
          </a:p>
          <a:p/>
          <a:p>
            <a:r>
              <a:t>Если спросят про «удалить и переподключить» или «написать автору» — их нет среди карточек: это реальные ходы, но не первые — к ним кейс возвращается в границе применимости (следующие слайды), когда более дешёвые варианты уже не сработали.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Строим то, что реально доказывает работу агента с сервером, — не читаем статус подробнее ради самого статуса.</a:t>
            </a:r>
          </a:p>
          <a:p/>
          <a:p>
            <a:r>
              <a:t>Команда статуса — </a:t>
            </a:r>
            <a:r>
              <a:rPr>
                <a:latin typeface="Consolas"/>
              </a:rPr>
              <a:t>claude mcp list</a:t>
            </a:r>
            <a:r>
              <a:t> из терминала или </a:t>
            </a:r>
            <a:r>
              <a:rPr>
                <a:latin typeface="Consolas"/>
              </a:rPr>
              <a:t>/mcp</a:t>
            </a:r>
            <a:r>
              <a:t> внутри сессии — действительно различает больше, чем одно слово «подключено»: отдельно видно, поднялся ли сам процесс и удалось ли получить список инструментов. Но это по-прежнему факт про процесс. Обращался ли к серверу именно агент в этой конкретной задаче — статус об этом ничего не знает, это два разных факта.</a:t>
            </a:r>
          </a:p>
          <a:p/>
          <a:p>
            <a:r>
              <a:t>Минимальное доказательство, что агент реально обратился к серверу, — конкретный приём: явное упоминание сервера в запросе, «используя сервер такой-то, узнай…». Признак, что ответ пришёл именно оттуда, — вызов инструмента в выводе подписан именем сервера. Это тот же механизм, что мы уже видели на одностраничнике MCP в начале блока: ответ сервера идёт отдельным каналом и подписывается его именем.</a:t>
            </a:r>
          </a:p>
          <a:p/>
          <a:p>
            <a:r>
              <a:t>И отдельно — не спешите считать долгий ответ сбоем. Запуск сервера и выполнение уже начатого вызова — разные по длительности события: второе объективно может идти заметно дольше первого.</a:t>
            </a:r>
          </a:p>
          <a:p/>
          <a:p>
            <a:r>
              <a:t>Если спросят про статусы подробнее — коды, которые реально возвращает </a:t>
            </a:r>
            <a:r>
              <a:rPr>
                <a:latin typeface="Consolas"/>
              </a:rPr>
              <a:t>claude mcp list</a:t>
            </a:r>
            <a:r>
              <a:t>: кроме «Connected» продукт различает отдельно «Connected, но список инструментов получить не удалось», «нужна авторизация», «не удалось подключиться» и «ждёт одобрения проекта» — это задокументированные, не гипотетические состояния, но для кейса важно не перечисление кодов — то, что ни один из них не отвечает на вопрос «обращался ли агент к серверу».</a:t>
            </a:r>
          </a:p>
          <a:p/>
          <a:p>
            <a:r>
              <a:t>Если спросят про цифры тайм-аутов точнее: старт сервера ждёт тридцать секунд по умолчанию — частая ложная тревога, пока пакет ещё качается; выполнение уже вызванного инструмента — около суток. Переподключение после сбоя тоже устроено по-разному: удалённый сервер переподключается сам, локальный процесс — нет, нужна новая сессия или команда </a:t>
            </a:r>
            <a:r>
              <a:rPr>
                <a:latin typeface="Consolas"/>
              </a:rPr>
              <a:t>Reconnect</a:t>
            </a:r>
            <a:r>
              <a:t> из </a:t>
            </a:r>
            <a:r>
              <a:rPr>
                <a:latin typeface="Consolas"/>
              </a:rPr>
              <a:t>/mcp</a:t>
            </a:r>
            <a: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Формулировка — часть проверки, не мелочь. Расплывчатая просьба — «посмотри, что скопилось, и подготовь черновики» — оставляет агенту выбор: он может честно попытаться вызвать сервер, а может ответить по смыслу задачи, ни разу к нему не обратившись. Оба случая выглядят как одинаковый ответ.</a:t>
            </a:r>
          </a:p>
          <a:p/>
          <a:p>
            <a:r>
              <a:t>Явное имя сервера в тексте запроса — «используя сервер трекера, выведи список открытых задач» — и есть доказательный вызов с прошлого слайда, примененный к формулировке. После такой просьбы есть что проверить: вызов инструмента в выводе либо подписан именем сервера, либо нет.</a:t>
            </a:r>
          </a:p>
          <a:p/>
          <a:p>
            <a:r>
              <a:t>Если спросят, не слишком ли это узкая привычка для одной диагностики: нет, это общая формулировка задачи при работе с любым подключённым сервером, не только в момент подозрения — явное имя дешевле стоит, чем расследование постфактум.</a:t>
            </a:r>
          </a:p>
          <a:p/>
          <a:p>
            <a:r>
              <a:t>Если спросят, не раздражает ли агента такая прямая формулировка или не мешает ли она ему самому выбрать подходящий инструмент: нет — явное имя сервера не запрещает агенту делать что-то ещё, оно лишь однозначно называет, через какой канал должен пройти именно этот шаг.</a:t>
            </a:r>
          </a:p>
          <a:p/>
          <a:p>
            <a:r>
              <a:t>Если спросят, работает ли это и для менее срочных задач, не только при подозрении на сбой: да, это обычная формулировка — подозрение делает её необходимой, не только желательной.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кейс не меняет конфигурацию — его решение процедурное, и честнее сказать это прямо, чем подменять файлом, которого на самом деле нет. В файл инструкций проекта — тот же файл, где уже живёт правило про ветки, — добавляется короткая строка: после подключения любого сервера и после любого подозрения в тишине — явный именованный вызов, прежде чем доверять зелёному статусу.</a:t>
            </a:r>
          </a:p>
          <a:p/>
          <a:p>
            <a:r>
              <a:t>Почему именно в CLAUDE.md, не хуком, — вопрос честный, и ответ опирается на то, что мы уже видели в прошлом занятии. Там в одном и том же файле стояли рядом два разных вида правил: «Repository etiquette» — текст, который читает человек или агент и решает, следовать ли ему, и «Хук защиты ветки» — настоящий код, который срабатывает сам на git-команду, без участия решения в моменте. Хук умеет реагировать только на чётко описанное событие: команда, имя файла, код выхода. «После подозрения в тишине» — не такое событие: его нельзя заранее формально описать, оно требует, чтобы кто-то заметил и решил, что пора проверить. Вот почему это строка в CLAUDE.md, не механизм.</a:t>
            </a:r>
          </a:p>
          <a:p/>
          <a:p>
            <a:r>
              <a:t>Если спросят, не слабое ли это решение по сравнению с автоматическим барьером из первого кейса блока: да, оно слабее барьера именно по этой причине — и это честно: не каждая проблема решается механизмом, часть решается дисциплиной, записанной текстом.</a:t>
            </a:r>
          </a:p>
          <a:p/>
          <a:p>
            <a:r>
              <a:t>Если спросят, почему строка идёт именно в тот же файл, не в отдельный: проект уже выбрал этот файл местом для процедурных правил — повторное изобретение формата не нужно.</a:t>
            </a:r>
          </a:p>
          <a:p/>
          <a:p>
            <a:r>
              <a:t>Если спросят, что вообще такое CLAUDE.md, если кто-то пропустил прошлое занятие: это файл инструкций проекта, который читает агент в начале каждой сессии — то, что в нём написано, не исполняется автоматически, но агент это видит и обычно следует этому, в отличие от хука, который исполняется кодом независимо от того, прочитал его кто-то или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случая, прежде чем идти дальше — рассказываю по тому, к чему это привело, не по техническим внутренностям.</a:t>
            </a:r>
          </a:p>
          <a:p/>
          <a:p>
            <a:r>
              <a:t>Первый: команда работала с MCP-сервером для баз данных одного известного производителя в режиме, который считали ограниченным только чтением, — именно для того, чтобы агент не мог ничего испортить в чужой базе. На деле флаг этого режима не делал соединение реально ограниченным: разработчики сервера сами были уверены, что ограничение работает, пока кто-то не выполнил запрос с реальным побочным эффектом и не увидел, что он прошёл. Это и был единственный способ узнать — не чтение настройки.</a:t>
            </a:r>
          </a:p>
          <a:p/>
          <a:p>
            <a:r>
              <a:t>Второй — из нашего же проекта. Один из подключённых серверов однажды тихо потерял доступ: инструменты, которые вчера работали, перестали работать без предупреждения. Статус подключения продолжал показывать «подключён» — ничего не выглядело сломанным, пока кто-то реально не попробовал вызвать инструмент и не наткнулся на отказ входа. Причина — в настройке авторизации на стороне сервиса, не в самом подключении.</a:t>
            </a:r>
          </a:p>
          <a:p/>
          <a:p>
            <a:r>
              <a:t>Если спросят, как часто такое случается: системных измерений частоты именно этого класса сбоя нет — честный пробел, но оба примера документированы: один как официальная уязвимость с номером (CVE-2026-61788, DBHub, CVSS 7,4 из 10 — флаг </a:t>
            </a:r>
            <a:r>
              <a:rPr>
                <a:latin typeface="Consolas"/>
              </a:rPr>
              <a:t>readonly</a:t>
            </a:r>
            <a:r>
              <a:t> у инструмента </a:t>
            </a:r>
            <a:r>
              <a:rPr>
                <a:latin typeface="Consolas"/>
              </a:rPr>
              <a:t>execute_sql</a:t>
            </a:r>
            <a:r>
              <a:t> ссылался на поле конфигурации, которое никогда не заполнялось), другой — как реальный инцидент этого же проекта (</a:t>
            </a:r>
            <a:r>
              <a:rPr>
                <a:latin typeface="Consolas"/>
              </a:rPr>
              <a:t>workspace-mcp</a:t>
            </a:r>
            <a:r>
              <a:t>, </a:t>
            </a:r>
            <a:r>
              <a:rPr>
                <a:latin typeface="Consolas"/>
              </a:rPr>
              <a:t>[#49]</a:t>
            </a:r>
            <a:r>
              <a:t>: OAuth-приложение в статусе </a:t>
            </a:r>
            <a:r>
              <a:rPr>
                <a:latin typeface="Consolas"/>
              </a:rPr>
              <a:t>Testing</a:t>
            </a:r>
            <a:r>
              <a:t> автоматически отзывает </a:t>
            </a:r>
            <a:r>
              <a:rPr>
                <a:latin typeface="Consolas"/>
              </a:rPr>
              <a:t>refresh_token</a:t>
            </a:r>
            <a:r>
              <a:t> через 7 дней без активности; в статусе </a:t>
            </a:r>
            <a:r>
              <a:rPr>
                <a:latin typeface="Consolas"/>
              </a:rPr>
              <a:t>In production</a:t>
            </a:r>
            <a:r>
              <a:t> тот же токен не отзывается вовсе).</a:t>
            </a:r>
          </a:p>
          <a:p/>
          <a:p>
            <a:r>
              <a:t>Если спросят, можно ли было поймать оба случая раньше: только реальным действием с наблюдаемым результатом, не чтением настройки сервера, — ровно то, чему учит этот кейс целиком.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достаточно посмотреть на статус, если сервер используется нерегулярно и каждый вызов проходит под наблюдением человека.</a:t>
            </a:r>
          </a:p>
          <a:p/>
          <a:p>
            <a:r>
              <a:t>А вот довериться флагу, который сервер не может независимо подтвердить, — не нужно никогда: его нужно проверять явным вызовом самому. Если для задачи хватило бы режима только чтения, а сервер не даёт способа убедиться, что он реально включён, — разумнее завести отдельную роль с урезанными правами на уровне самой базы данных, чем полагаться на обещание флага.</a:t>
            </a:r>
          </a:p>
          <a:p/>
          <a:p>
            <a:r>
              <a:t>Третья граница — там, где перестаёт работать уже сам приём этого кейса. Если явный вызов систематически не проходит и автор сервера не отвечает — это ровно тот случай, когда дешёвые шаги разбора исчерпаны, и остаётся дорогой: написать автору. В этот момент вопрос перестаёт быть про диагностику и возвращается туда же, где решался первый кейс этого блока: не «как проверить этот сервер» — «подключать ли его вообще».</a:t>
            </a:r>
          </a:p>
          <a:p/>
          <a:p>
            <a:r>
              <a:t>Мы научились проверять, что подключённое действительно работает. Следующий вопрос — что происходит с тем, что мы один раз уже одобрили.</a:t>
            </a:r>
          </a:p>
          <a:p/>
          <a:p>
            <a:r>
              <a:t>Если спросят, не противоречит ли это выводу прошлого кейса, где мы вычёркивали права: нет, это следующий шаг того же рассуждения — там мы решали, какие права выдать, здесь — как проверить, что выданное действительно делает заявленное, и где эта проверка сама упирается в предел.</a:t>
            </a:r>
          </a:p>
          <a:p/>
          <a:p>
            <a:r>
              <a:t>Если спросят про периодичность проверки: прямых измерений, как часто нужно перепроверять, не существует ни в одном источнике — структурный критерий тот же, что в прошлом кейсе: регулярность использования, не календарь.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случай этого блока — про то, что происходит с уже одобренным. Сервер одобрили один раз, несколько недель назад, и с тех пор ни разу не трогали его настройку. Решаем, что с этим делать.</a:t>
            </a:r>
          </a:p>
          <a:p/>
          <a:p>
            <a:r>
              <a:t>Если спросят, при чём тут предыдущие два кейса: первый был про то, что подключать и с какими правами; второй — про то, как проверить, что подключённое реально работает. Этот — про время: остаётся ли вчерашнее решение верным сегодня без вашего участия.</a:t>
            </a:r>
          </a:p>
          <a:p/>
          <a:p>
            <a:r>
              <a:t>Если спросят, почему это не часть первого кейса: там решение принималось один раз, в момент подключения; здесь речь о том, что происходит после — без нового решения с вашей стороны.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недели назад команда подключила сервер уведомлений: он отправляет сообщение в рабочий канал при каждом успешном прогоне тестов перед показом. Инструмент одобрили один раз, при первом вызове. С тех пор сервер обновился сам — пакет подключён без зафиксированной версии, — и никто этого не заметил, потому что всё продолжало работать: уведомления приходили, как и раньше.</a:t>
            </a:r>
          </a:p>
          <a:p/>
          <a:p>
            <a:r>
              <a:t>Если спросят, что именно изменилось: сцена заканчивается подозрением, не фактом — мы пока не знаем, что произошло внутри обновления, только то, что оно случилось незаметно.</a:t>
            </a:r>
          </a:p>
          <a:p/>
          <a:p>
            <a:r>
              <a:t>Если спросят, откуда вообще известно, что сервер обновился: команда подключения без зафиксированной версии забирает последнюю доступную версию пакета при каждом старте — это свойство самого способа подключения, не наблюдение задним числом.</a:t>
            </a:r>
          </a:p>
          <a:p/>
          <a:p>
            <a:r>
              <a:t>Если спросят, нормально ли, что это прошло незаметно: да. Незаметность здесь — нормальное следствие того, как подключён сервер; внимание команды к этому не имеет отношения.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Сервер одобрили один раз, три недели назад, и с тех пор ни разу не трогали его конфигурацию. Что из перечисленного вы бы изменили в том, как команда работает с уже одобренными серверами?</a:t>
            </a:r>
          </a:p>
          <a:p/>
          <a:p>
            <a:r>
              <a:t>Пять карточек: ничего — одобрили один раз, вопрос решён; перечитывать описание инструмента при каждом обновлении; зафиксировать версию сервера; запретить автообновление пакета; сервер официальный — значит не обновляется тайно.</a:t>
            </a:r>
          </a:p>
          <a:p/>
          <a:p>
            <a:r>
              <a:t>Если зал разделится между «зафиксировать версию» и «перечитывать описание»: это и есть материал разбора — обе карточки окажутся частями одного ответа, не конкурентами.</a:t>
            </a:r>
          </a:p>
          <a:p/>
          <a:p>
            <a:r>
              <a:t>Если прозвучит «а что если автор сервера сам не публикует изменения»: хороший вопрос, он удерживается до разбора — там названо, что доверие там действительно привязано к имени, к содержимому — нет.</a:t>
            </a:r>
          </a:p>
          <a:p/>
          <a:p>
            <a:r>
              <a:t>Если кто-то называет «официальный — не обновляется тайно» уверенно: не разворачивайте спор сразу, следующий слайд сделает это предметно, через конкретное различие.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Ничего — одобрили один раз — работает, только если сервер никогда не обновляется и его описание никогда не меняется. Официальность — тоже не гарантия: легитимное обновление пакета меняет текст описания точно тем же путём, каким его сменил бы злоумышленник.</a:t>
            </a:r>
          </a:p>
          <a:p/>
          <a:p>
            <a:r>
              <a:t>Запретить автообновление — закрывает канал, если команда подключения фиксирует источник, но сама по себе не говорит, какую версию фиксировать. Зафиксировать версию — даёт контролируемую точку: обновление происходит по вашему решению, не читает содержимое обновления. Перечитывать описание при каждом обновлении — закрывает именно канал изменения доверенного поведения, но требует, чтобы обновление вообще было замечено.</a:t>
            </a:r>
          </a:p>
          <a:p/>
          <a:p>
            <a:r>
              <a:t>Вывод: зафиксировать версию и перечитывать её при сознательном обновлении — последовательность, не альтернатива одна другой.</a:t>
            </a:r>
          </a:p>
          <a:p/>
          <a:p>
            <a:r>
              <a:t>Если спросят, почему большинство клиентов, включая наш, не перепроверяют описание при каждом вызове: доверие привязано к имени инструмента, не к текущему тексту его описания — так устроена архитектура протокола, не недосмотр одного продукта. Разберём это в механике дальше.</a:t>
            </a:r>
          </a:p>
          <a:p/>
          <a:p>
            <a:r>
              <a:t>Если спросят, не слишком ли это трудоёмко — перечитывать описание при каждом обновлении: трудоёмко читать при каждом обновлении, не при каждом вызове — частота события намного ниже, чем кажется на слух вопроса.</a:t>
            </a:r>
          </a:p>
          <a:p/>
          <a:p>
            <a:r>
              <a:t>Если спросят, зачем две меры сразу, если каждая работает по отдельности: фиксация версии без перечитывания оставляет вас уверенным в стабильности, которой вы не проверили; перечитывание без фиксации версии оставляет вас беззащитным перед обновлением, о котором вы не узнаете вовремя вовсе.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большинство клиентов не перепроверяют описание инструмента при каждом вызове: доверие привязано к имени, не к тексту. Один раз одобрили имя — дальше система доверяет всему, что приходит под этим именем, пока вы сами не решите иначе.</a:t>
            </a:r>
          </a:p>
          <a:p/>
          <a:p>
            <a:r>
              <a:t>Это не случайность реализации одного продукта — так устроена архитектура доверия по имени у протокола в целом. И у неё есть исключение, предусмотренное для случаев, где это недопустимо: автор сервера может пометить конкретное действие особой отметкой, которая делает подтверждение обязательным на каждом вызове, без возможности сказать «больше не спрашивай» — даже в режимах, где подтверждения обычно пропускаются. Смысл такой отметки прямой: для действий, где сам факт запроса согласия и есть весь смысл шага.</a:t>
            </a:r>
          </a:p>
          <a:p/>
          <a:p>
            <a:r>
              <a:t>Оговорка по области действия: эту отметку соблюдает именно Claude Code — это расширение конкретного клиента, не пункт самой спецификации протокола. Другой клиент, который её не читает, может пропустить повторное подтверждение.</a:t>
            </a:r>
          </a:p>
          <a:p/>
          <a:p>
            <a:r>
              <a:t>Если спросят, почему протокол не устроен иначе — проверять описание каждый раз: это разрушило бы саму идею доверия по имени, ради которой клиенты не спрашивают подтверждение на каждый отдельный вызов одного и того же инструмента — иначе работа с сервером стала бы невозможной на практике.</a:t>
            </a:r>
          </a:p>
          <a:p/>
          <a:p>
            <a:r>
              <a:t>Если спросят, кто решает, что действие требует специальной отметки: автор сервера, на этапе написания самого сервера, не подключающая сторона — это находится за границей того, что мы разбираем сегодня (только подключение), но стоит знать, что такой механизм существует.</a:t>
            </a:r>
          </a:p>
          <a:p/>
          <a:p>
            <a:r>
              <a:t>Если спросят, защищает ли эта отметка от всего: нет, она защищает только то конкретное действие, которое ею помечено — остальные инструменты того же сервера подчиняются обычной логике доверия по имени.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Решение — зафиксировать версию прямо в команде запуска, не оставлять её подтягивать последнюю версию при каждом старте.</a:t>
            </a:r>
          </a:p>
          <a:p/>
          <a:p>
            <a:r>
              <a:t>И запись о том, что версия проверена: дата, номер версии, кто проверил описание инструментов перед обновлением — туда же, куда в этом проекте уже уходят архитектурные решения. Нового формата файла здесь нет — то же самое, что проект уже делает для других решений.</a:t>
            </a:r>
          </a:p>
          <a:p/>
          <a:p>
            <a:r>
              <a:t>Если спросят, как именно синтаксически фиксируется версия: через явное указание версии пакета прямо в команде запуска, тем же способом, каким обычно фиксируют версию любой зависимости проекта.</a:t>
            </a:r>
          </a:p>
          <a:p/>
          <a:p>
            <a:r>
              <a:t>Если спросят, не теряем ли мы при этом обновления безопасности сервера: теряем автоматическое получение, не доступ к обновлению вообще — обновление остаётся возможным, просто становится вашим явным решением: фоновым действием оно быть перестаёт.</a:t>
            </a:r>
          </a:p>
          <a:p/>
          <a:p>
            <a:r>
              <a:t>Если спросят, зачем запись в файл решений, если версия уже видна в конфигурации: конфигурация показывает, какая версия стоит сейчас, а запись решений показывает, что именно было проверено в момент перехода на неё, — это две разные вещи, и вторая исчезает, если её не записать отдельно.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факта, каждый острее предыдущего: что случилось и как об этом узнали.</a:t>
            </a:r>
          </a:p>
          <a:p/>
          <a:p>
            <a:r>
              <a:t>Контролируемый эксперимент, не анекдот: юникод-сокрытие инструкции в описании инструмента доставило её модели в восьми случаях из восьми, на трёх разных независимых серверных библиотеках. Ни разу это не вызвало какого-либо механизма повторного одобрения. При этом тот же фильтр по строковому совпадению не дал ни одного ложного срабатывания на контрольном наборе из двадцати пяти безобидных описаний — значит, причина лежит в самой архитектуре доверия по имени, не в недокалиброванном фильтре.</a:t>
            </a:r>
          </a:p>
          <a:p/>
          <a:p>
            <a:r>
              <a:t>Кампания, спроектированная на обход ручной проверки: сервер, распространённый через двадцать три запроса на внесение правок за семьдесят четыре минуты с одного аккаунта, ведёт себя безобидно ровно три вызова — порог специально выше, чем глубина обычной ручной проверки, достаточно, чтобы пройти обычное «попробовал, вроде работает», — и лишь затем переключается на поиск ключей доступа.</a:t>
            </a:r>
          </a:p>
          <a:p/>
          <a:p>
            <a:r>
              <a:t>И реальный, тихий инцидент: вредоносный код попал в обновление уже одобренного пакета. Обновление пакета само по себе обычное, ожидаемое действие — подмена вошла в его состав, отдельным заметным шагом она не стала. Backdoor появился в обновлении пакета недели спустя после первого одобрения, скрытая копия каждого отправляемого письма уходила на адрес атакующего без единого взлома, и около полутора недель это оставалось незамеченным, пока рассылку не заметили и пакет не сняли с npm.</a:t>
            </a:r>
          </a:p>
          <a:p/>
          <a:p>
            <a:r>
              <a:t>Фиксируйте версию сервера. Перечитывайте изменения при обновлении. Одобрение — не решённый вопрос навсегда.</a:t>
            </a:r>
          </a:p>
          <a:p/>
          <a:p>
            <a:r>
              <a:t>Если спросят про детали юникод-эксперимента: использован специальный диапазон символов, который терминал и редактор кода отображают как пустоту, но который целиком доходит до токенизатора модели — человек, читающий описание инструмента перед одобрением, физически не видит того, что видит модель.</a:t>
            </a:r>
          </a:p>
          <a:p/>
          <a:p>
            <a:r>
              <a:t>Если спросят, почему порог именно три вызова у кампании с подменой: это специально выше, чем глубина обычной ручной проверки перед доверием — рассчитано на то, чтобы пройти типичный тест-прогон «попробовал — вроде нормально».</a:t>
            </a:r>
          </a:p>
          <a:p/>
          <a:p>
            <a:r>
              <a:t>Если спросят про письма подробнее: подмена произошла через обновление самого пакета неделями позже первоначального одобрения, без заметного события — ни новое разрешение не запрашивалось, ни предупреждение не показывалось. Активный период скрытого копирования — около полутора недель, не дольше: пакет сняли с npm, когда рассылку заметили.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достаточно периодического внимания, если сервер не обновляется автоматически, версия зафиксирована, а обновление — ваше явное решение.</a:t>
            </a:r>
          </a:p>
          <a:p/>
          <a:p>
            <a:r>
              <a:t>А полагаться на «одобрили один раз» как на постоянную гарантию — не нужно никогда. Дальше — три уточнения этой границы.</a:t>
            </a:r>
          </a:p>
          <a:p/>
          <a:p>
            <a:r>
              <a:t>Первое: когда дисциплины версии и перечитывания мало. Если действие настолько чувствительно, что повторное одобрение обязано происходить на каждом вызове, «быть внимательнее» не решение — нужна аннотация </a:t>
            </a:r>
            <a:r>
              <a:rPr>
                <a:latin typeface="Consolas"/>
              </a:rPr>
              <a:t>requiresUserInteraction</a:t>
            </a:r>
            <a:r>
              <a:t> у автора сервера, та самая, что разобрана в механике: она делает подтверждение обязательным без опции «больше не спрашивать».</a:t>
            </a:r>
          </a:p>
          <a:p/>
          <a:p>
            <a:r>
              <a:t>Второе — и это прямой ответ на вопрос «а что если автор сервера её не поставил»: тогда технического принуждения к повторному одобрению не существует вовсе. Держит только дисциплина версии и перечитывания из разбора — и для действия такого уровня чувствительности её объективно недостаточно, аннотацию ничем не заменить, если её нет.</a:t>
            </a:r>
          </a:p>
          <a:p/>
          <a:p>
            <a:r>
              <a:t>Третье — где проходит черта совсем: если и дисциплины, и аннотации недостаточно для чувствительности конкретного действия, автоматизацию этого шага убирают. Решение в этой точке принимает не подключающая сторона — это уже вопрос не настройки: доверяете ли вы этому шагу автоматизацию в принципе.</a:t>
            </a:r>
          </a:p>
          <a:p/>
          <a:p>
            <a:r>
              <a:t>Если спросят, применимо ли это к другим инструментам курса, не только к серверам: сама идея — одобрение не бессрочно — шире, чем протокол доступа наружу, но мы разбираем её именно здесь, потому что здесь у неё есть контролируемый эксперимент и реальный документированный инцидент — больше, чем общее рассуждение.</a:t>
            </a:r>
          </a:p>
          <a:p/>
          <a:p>
            <a:r>
              <a:t>Если спросят, что делать, если сервер уже обновился незаметно, и вы это только что обнаружили: сравнить текущее поведение с ожидаемым тем же способом, что в прошлом кейсе — минимальным именованным вызовом, — и, если расхождение найдено, откатиться на зафиксированную проверенную версию: последней в этом случае не доверяют.</a:t>
            </a:r>
          </a:p>
          <a:p/>
          <a:p>
            <a:r>
              <a:t>Теперь у нас есть доступ наружу — агент дотягивается до внешней системы, под правами, которые мы вычеркнули сами, и с проверкой, которую мы теперь умеем делать. Чем больше агент может сделать сам, тем острее следующий вопрос: одна и та же роль повторяется из сессии в сессию, или в каждой сессии её приходится объяснять заново?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Доступ наружу у агента уже есть — сервер, который отдаёт ему данные, которых не было в репозитории. Чем больше агент может сделать сам, тем острее следующий вопрос: одна и та же проверка повторяется из сессии в сессию, и каждый раз её приходится объяснять заново. Разбираем, что с этим делать.</a:t>
            </a:r>
          </a:p>
          <a:p/>
          <a:p>
            <a:r>
              <a:t>Если спросят, почему это продолжение предыдущего блока: доступ наружу увеличивает то, что агент способен сделать сам за один присест; вопрос «кто и как это проверяет» становится острее ровно потому, что ставки выросли.</a:t>
            </a:r>
          </a:p>
          <a:p/>
          <a:p>
            <a:r>
              <a:t>Если спросят про слово «роль»: это рабочее слово для того, что в файле настроек называется другим термином — название появится после того, как мы соберём решение сами, не раньше.</a:t>
            </a:r>
          </a:p>
          <a:p/>
          <a:p>
            <a:r>
              <a:t>Если прозвучит нетерпение «просто скажите название»: дойдём, и будет понятно, зачем оно устроено именно так.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Правка готова: разработчик попросил ужесточить проверку email в форме — старое поведение пропускало адрес без точки в домене, и такая заявка уже пришла от заказчика. Сессия, которая писала правку, проверяет её ещё раз сама, максимально внимательно. Ничего нового не находит — это тот же контекст рассуждений, с которым правка и писалась.</a:t>
            </a:r>
          </a:p>
          <a:p/>
          <a:p>
            <a:r>
              <a:t>Разработчик просит проверить отдельным агентом. Это работает немедленно, без единой строки настройки: встроенный агент получает задачу в собственном контекстном окне, истории рассуждений не видит, возвращает только итог.</a:t>
            </a:r>
          </a:p>
          <a:p/>
          <a:p>
            <a:r>
              <a:t>Проходит три недели такой работы. Формулировка задачи для проверки каждый раз пишется заново и расходится: один ответ содержит раздел «что проверено», другой не содержит, в третьем вердикт спрятан в середине абзаца. А один раз агент не просто нашёл проблему в выражении проверки адреса — он сам её поправил, по-своему. О правке узнали из diff.</a:t>
            </a:r>
          </a:p>
          <a:p/>
          <a:p>
            <a:r>
              <a:t>Если спросят, почему встроенное делегирование бесплатно: это свойство харнесса, не особенность нашего проекта — вызов отдельного агента на одну задачу ничего не требует настраивать заранее.</a:t>
            </a:r>
          </a:p>
          <a:p/>
          <a:p>
            <a:r>
              <a:t>Если спросят, что плохого в том, что ревьюер сам поправил код: поправка могла быть и верной — проблема в другом. Разработчик узнал об изменении постфактум, из diff, когда ожидал узнать из отчёта, которому доверился.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выбирать, одна вещь, которая нужна во всех трёх разборах этой ступени. Отдельная роль — это процесс со своим контекстным окном, вызываемый на одну задачу. Вызывают его по имени явно, либо модель выбирает сама — по описанию роли, не по её названию. Задача приходит текстом, роль возвращает только итог: ни какие файлы она открыла, ни какие запросы сделала, родитель не видит. И последнее: список инструментов определяет, что роль может сделать физически. Если список не указан вовсе, роль получает все инструменты, доступные субагентам, без исключений.</a:t>
            </a:r>
          </a:p>
          <a:p/>
          <a:p>
            <a:r>
              <a:t>Приём, о котором говорим, не привязан к одному инструменту: отдельная роль со своим контекстным окном есть у нескольких продуктов. Запись при этом у каждого своя: где-то это markdown с инструкцией телом файла, у одного — формат с отдельным полем для инструкции. Общей спецификации нет ни у одного.</a:t>
            </a:r>
          </a:p>
          <a:p/>
          <a:p>
            <a:r>
              <a:t>Если спросят, зачем называть переносимость здесь, до разбора кейсов: чтобы не прозвучало как универсальный стандарт раньше времени — весь материал ступени привязан к конкретному продукту, и это стоит сказать сразу, не оговоркой потом.</a:t>
            </a:r>
          </a:p>
          <a:p/>
          <a:p>
            <a:r>
              <a:t>Если спросят про исключение «форк»: есть режим, который наследует всё целиком — тот же промпт, те же права, всю историю; в нашей сцене мы им не пользуемся, но путать его с обычным вызовом не стоит.</a:t>
            </a:r>
          </a:p>
          <a:p/>
          <a:p>
            <a:r>
              <a:t>Если спросят, кто решает, когда вызывать роль по имени, а когда дать модели выбрать самой: оба способа реальны — явный вызов снимает вопрос маршрутизации полностью, выбор моделью зависит от того, насколько точно описание роли называет задачу.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Делегировать отдельному агенту вы уже умеете — это ничего не стоит и не требует ни одной строчки конфигурации. И всё равно раз за разом формулируете задачу заново, получаете несравнимые между собой ответы, а один раз агент вместо находки внёс правку сам. Выберите, что теперь стоит завести — из карточек ниже — и обоснуйте выбор рядом со встроенным делегированием, которое у вас уже есть и ничего не стоит.</a:t>
            </a:r>
          </a:p>
          <a:p/>
          <a:p>
            <a:r>
              <a:t>Если прозвучит «ничего, делегирование уже работает»: это наполовину верный ответ, и его стоит придержать до разбора — там он получит ровно ту половину признания, которую заслуживает.</a:t>
            </a:r>
          </a:p>
          <a:p/>
          <a:p>
            <a:r>
              <a:t>Если прозвучит «написать запрос подробнее»: рабочая первая реакция, разбор покажет её предел.</a:t>
            </a:r>
          </a:p>
          <a:p/>
          <a:p>
            <a:r>
              <a:t>Если прозвучит «сохранить как скилл»: продуктивная путаница — скилл и субагент решают разные задачи, разбор разводит их явно.</a:t>
            </a:r>
          </a:p>
          <a:p/>
          <a:p>
            <a:r>
              <a:t>Если прозвучит «позвать коллегу»: реальная практика, ограничение — наличие коллеги прямо сейчас.</a:t>
            </a:r>
          </a:p>
          <a:p/>
          <a:p>
            <a:r>
              <a:t>Состав карточек дальше не подсказываю: разбор пройдёт по всем пяти.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Разбираю все пять. У каждого названы случаи, где он работает, и ограничения — из сочетания двух колонок вывод складывается сам.</a:t>
            </a:r>
          </a:p>
          <a:p/>
          <a:p>
            <a:r>
              <a:t>Ничего не заводить — работает для разовой проверки, без повторения задачи. Ограничение: без фиксации формулировка расходится при повторении. Запрос подробнее — работает, пока формулировка держится в голове одинаково; на деле расходится, и вопроса прав это вообще не касается. Скилл — нужен, когда процедуру стоит переиспользовать внутри той же сессии; изоляции по контексту или по правам он не даёт, подгружается в тот же контекст той же сессией. Коллега — работает, если он реально доступен прямо сейчас; ограничение понятно без комментария. И последнее, урезанная роль — нужна, когда роль повторяется и ей стоит урезать ненужные права; требует завести файл и описание, которое верно маршрутизирует.</a:t>
            </a:r>
          </a:p>
          <a:p/>
          <a:p>
            <a:r>
              <a:t>Вывод. Первая карточка права наполовину: для разовой проверки заводить ничего не нужно, делегирование уже бесплатно. Граница, которая решает исход, проходит между разовой проверкой и ролью, которая повторяется настолько, что стоит зафиксировать формулировку и отнять у неё лишнее. Делегировать вы уже умеете; вопрос в том, что из повторяющейся роли стоит закрепить файлом.</a:t>
            </a:r>
          </a:p>
          <a:p/>
          <a:p>
            <a:r>
              <a:t>Если спросят, почему скилл здесь не подходит, хотя тоже «процедура, записанная в файл»: скилл подгружается той же сессией в тот же контекст — слепое пятно, которое написало правку, унаследует целиком, потому что это снова она же, просто с подгруженной инструкцией. Отдельная роль получает новое, чистое контекстное окно — вот в чём разница по существу, не в формате файла.</a:t>
            </a:r>
          </a:p>
          <a:p/>
          <a:p>
            <a:r>
              <a:t>Если спросят, почему «написать запрос подробнее» не решает проблему: формулировка держится в голове только пока её держат в голове — при повторении через недели она неизбежно дрейфует, и вопрос прав вообще не затрагивается этим ходом.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чём стоит разговор про цену делегирования. Одна компания опубликовала две цифры в разное время: мультиагентная система тратит примерно в пятнадцать раз больше токенов, чем обычный чат; позже тот же источник уточнил — в три-десять раз больше одноагентного решения той же задачи. Противоречия здесь нет: базы сравнения разные, и обе названы явно.</a:t>
            </a:r>
          </a:p>
          <a:p/>
          <a:p>
            <a:r>
              <a:t>Честно: числа для того, сколько контекста экономит отдельная роль по сравнению с тем же объёмом работы в основной сессии, не нашлись ни в одном источнике — ни в токенах, ни в доле окна. Механизм описан качественно везде, числом — нигде.</a:t>
            </a:r>
          </a:p>
          <a:p/>
          <a:p>
            <a:r>
              <a:t>Если спросят, откуда цифра: отчёты вендора о собственной продакшен-системе, методика сравнения раскрыта в обоих текстах — это не независимый аудит.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Собираем втроём, в три хода. Первый — имя и описание роли: тот же принцип, что уже знаком, — что делает, когда использовать, когда не использовать. По описанию роль выбирает сама модель, расплывчатое описание маршрутизирует хуже узкого.</a:t>
            </a:r>
          </a:p>
          <a:p/>
          <a:p>
            <a:r>
              <a:t>Второй ход, вокруг него собран весь кейс. Какие инструменты нужны этой роли, чтобы найти проблему в правке? Прочитать файл, поискать по содержимому, найти файлы по шаблону. А править файлы ей нужно? Здесь стоит выдержать паузу — зал почти всегда отвечает «нет» и почти никогда сам не связывает это с тем, что у обычной роли такой инструмент есть по умолчанию.</a:t>
            </a:r>
          </a:p>
          <a:p/>
          <a:p>
            <a:r>
              <a:t>Разница — на экране: текст в теле роли только просит, список инструментов физически разрешает или нет. У нашего ревьюера лишним было право на правку — то самое, которым он в тот раз исправил проверку адреса сам.</a:t>
            </a:r>
          </a:p>
          <a:p/>
          <a:p>
            <a:r>
              <a:t>Третий ход — формат ответа. Что должно быть в нём, чтобы несколько вердиктов можно было сравнить между собой? Вердикт первой строкой, не растворённый в абзаце. Раздел «что проверено» — конкретно, какие файлы прочитаны, не «я посмотрел код». И находки — что не так, где, почему важно. Пустой список находок — валидный </a:t>
            </a:r>
            <a:r>
              <a:rPr>
                <a:latin typeface="Consolas"/>
              </a:rPr>
              <a:t>PASS</a:t>
            </a:r>
            <a:r>
              <a:t>, не признак халтуры.</a:t>
            </a:r>
          </a:p>
          <a:p/>
          <a:p>
            <a:r>
              <a:t>Если прозвучит «а зачем вообще описывать, когда НЕ использовать роль»: без этой границы маршрутизация начнёт отправлять роли задачи, для которых она не предназначена, особенно когда рядом появится вторая роль — это аргумент, который сыграет в третьем кейсе этой ступени.</a:t>
            </a:r>
          </a:p>
          <a:p/>
          <a:p>
            <a:r>
              <a:t>Если спросят, можно ли отнять права по-другому, не списком: можно явным списком разрешённого или явным списком запрещённого — оба способа реальны, разбираются на механике через два слайда.</a:t>
            </a:r>
          </a:p>
          <a:p/>
          <a:p>
            <a:r>
              <a:t>Если прозвучит «а если проверка найдёт проблему, но роль решит, что она не важна»: формат отвечает на это явно — находки перечисляются, решение, что с ними делать, остаётся за человеком, читающим ответ.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файл роли целиком, который мы только что собрали. Это файл для разбора — что в нём написано и почему, — не артефакт, который можно сейчас склонировать себе: он снят с версии демо-репозитория, которой больше не существует за пределами временной директории, где её собирали.</a:t>
            </a:r>
          </a:p>
          <a:p/>
          <a:p>
            <a:r>
              <a:t>Обратите внимание на строку </a:t>
            </a:r>
            <a:r>
              <a:rPr>
                <a:latin typeface="Consolas"/>
              </a:rPr>
              <a:t>tools: Read, Grep, Glob</a:t>
            </a:r>
            <a:r>
              <a:t>. Она короче всего остального файла и делает больше всего: без </a:t>
            </a:r>
            <a:r>
              <a:rPr>
                <a:latin typeface="Consolas"/>
              </a:rPr>
              <a:t>Write</a:t>
            </a:r>
            <a:r>
              <a:t> и </a:t>
            </a:r>
            <a:r>
              <a:rPr>
                <a:latin typeface="Consolas"/>
              </a:rPr>
              <a:t>Edit</a:t>
            </a:r>
            <a:r>
              <a:t> в списке инструмент правки у роли отсутствует физически.</a:t>
            </a:r>
          </a:p>
          <a:p/>
          <a:p>
            <a:r>
              <a:t>Если спросят про границу «НЕ для ревью архитектурных решений»: она здесь — в предметной области проекта, не курса; граница «чем роль не является» нужна всегда, когда рядом может появиться вторая роль, и в третьем кейсе это сыграет буквально.</a:t>
            </a:r>
          </a:p>
          <a:p/>
          <a:p>
            <a:r>
              <a:t>Если спросят, почему именно эти три инструмента оставлены: прочитать файл, поискать по содержимому, найти файлы по шаблону — ровно то, что зал назвал сам, ни одним инструментом больше.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идти дальше — вся роль сразу, шесть частей. Дальше я буду возвращаться к этому экрану.</a:t>
            </a:r>
          </a:p>
          <a:p/>
          <a:p>
            <a:r>
              <a:t>Где объявляется — файл </a:t>
            </a:r>
            <a:r>
              <a:rPr>
                <a:latin typeface="Consolas"/>
              </a:rPr>
              <a:t>.claude/agents/&lt;имя&gt;.md</a:t>
            </a:r>
            <a:r>
              <a:t> внутри репозитория. У каждой строки своя работа: </a:t>
            </a:r>
            <a:r>
              <a:rPr>
                <a:latin typeface="Consolas"/>
              </a:rPr>
              <a:t>name</a:t>
            </a:r>
            <a:r>
              <a:t> — то, по чему роль зовут явно; </a:t>
            </a:r>
            <a:r>
              <a:rPr>
                <a:latin typeface="Consolas"/>
              </a:rPr>
              <a:t>description</a:t>
            </a:r>
            <a:r>
              <a:t> — когда её звать и когда нет, это решает автовыбор; </a:t>
            </a:r>
            <a:r>
              <a:rPr>
                <a:latin typeface="Consolas"/>
              </a:rPr>
              <a:t>tools</a:t>
            </a:r>
            <a:r>
              <a:t> — список прав, и он необязателен; само тело файла — это и есть системный промпт роли целиком, тот самый, который мы уже читали.</a:t>
            </a:r>
          </a:p>
          <a:p/>
          <a:p>
            <a:r>
              <a:t>Как позвать — и как убедиться, что позвали именно её. Явно, через </a:t>
            </a:r>
            <a:r>
              <a:rPr>
                <a:latin typeface="Consolas"/>
              </a:rPr>
              <a:t>@agent-&lt;имя&gt;</a:t>
            </a:r>
            <a:r>
              <a:t> — тогда вопрос маршрутизации снят полностью. Или вообще ничего не писать — тогда решает сама модель, по полю </a:t>
            </a:r>
            <a:r>
              <a:rPr>
                <a:latin typeface="Consolas"/>
              </a:rPr>
              <a:t>description</a:t>
            </a:r>
            <a:r>
              <a:t>. Проверить, кого позвали на самом деле, можно по строке в чате: </a:t>
            </a:r>
            <a:r>
              <a:rPr>
                <a:latin typeface="Consolas"/>
              </a:rPr>
              <a:t>&lt;имя&gt;(&lt;задача&gt;)</a:t>
            </a:r>
            <a:r>
              <a:t>; если вместо ожидаемого имени там стоит </a:t>
            </a:r>
            <a:r>
              <a:rPr>
                <a:latin typeface="Consolas"/>
              </a:rPr>
              <a:t>general-purpose</a:t>
            </a:r>
            <a:r>
              <a:t> — маршрутизация не сработала: роль вообще не была вызвана. Это другое дело, чем «роль повела себя не так».</a:t>
            </a:r>
          </a:p>
          <a:p/>
          <a:p>
            <a:r>
              <a:t>Что приходит на вход — блок третий. Собственный системный промпт роли, не харнесса целиком. Задача, сформулированная вызывающей сессией — не дословная реплика разработчика. Иерархия файлов инструкций, всеми уровнями. Снимок репозитория на момент старта. И чего физически нет: переписки сессии, которая роль позвала, — канала для этого попросту нет.</a:t>
            </a:r>
          </a:p>
          <a:p/>
          <a:p>
            <a:r>
              <a:t>Что уходит обратно — блок четвёртый. Только итоговый текст. Ни один промежуточный вызов инструмента родителю не виден. Канал в одну сторону: задача идёт к роли, итог — обратно, и это не диалог.</a:t>
            </a:r>
          </a:p>
          <a:p/>
          <a:p>
            <a:r>
              <a:t>Пятый блок — то, с чем мы только что работали руками: что значит каждая запись в </a:t>
            </a:r>
            <a:r>
              <a:rPr>
                <a:latin typeface="Consolas"/>
              </a:rPr>
              <a:t>tools:</a:t>
            </a:r>
            <a:r>
              <a:t>. Если поле не указано вовсе — это может прочитаться как «без инструментов», а на деле ровно противоположное: роль получает все инструменты, доступные субагентам, целиком. Если список указан и прямо пуст — роль остаётся без единого инструмента, но живая, она всё равно запускается. А если в непустом списке есть запись, которая не резолвится ни в один реальный инструмент, — харнесс не запускает роль вовсе. Три разных исхода, и интуиция их обычно путает.</a:t>
            </a:r>
          </a:p>
          <a:p/>
          <a:p>
            <a:r>
              <a:t>И последнее — чем это оплачивается. Мультиагентная работа стоит заметно больше токенов, чем обычный чат — число и честный пробел мы разбирали в свидетельствах этого кейса, здесь только напоминание: делегирование не бесплатно в масштабе, даже если для одной проверки оно бесплатно буквально.</a:t>
            </a:r>
          </a:p>
          <a:p/>
          <a:p>
            <a:r>
              <a:t>Если спросят про исключение «форк»: режим, который наследует всё целиком — тот же промпт, права, всю историю; мы им сегодня не пользуемся, но путать с обычным вызовом не стоит.</a:t>
            </a:r>
          </a:p>
          <a:p/>
          <a:p>
            <a:r>
              <a:t>Если спросят, почему родитель не видит промежуточные действия: это механическое свойство протокола, не решение автора роли — канал односторонний, задача передаётся один раз, итог возвращается один раз.</a:t>
            </a:r>
          </a:p>
          <a:p/>
          <a:p>
            <a:r>
              <a:t>Если спросят, можно ли отнять право частично, не на весь инструмент сразу — «читать всё, кроме одного каталога»: нет, этим механизмом нельзя — он работает на уровне целого инструмента, не на уровне действия внутри него.</a:t>
            </a:r>
          </a:p>
          <a:p/>
          <a:p>
            <a:r>
              <a:t>Если прозвучит сомнение, что строка </a:t>
            </a:r>
            <a:r>
              <a:rPr>
                <a:latin typeface="Consolas"/>
              </a:rPr>
              <a:t>&lt;имя&gt;(&lt;задача&gt;)</a:t>
            </a:r>
            <a:r>
              <a:t> в чате вообще что-то доказывает: доказывает ровно одно — что харнесс решил позвать именно эту роль; правильность её работы это не подтверждает; это разные вопросы, к первому мы ещё вернёмся на провале.</a:t>
            </a:r>
          </a:p>
          <a:p/>
          <a:p>
            <a:r>
              <a:t>Что из состояния три пятого блока получается на материале самого курса — смотрим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месяца назад в каталоге ролей этого курса, который вы сейчас наблюдаете как учебный материал, добавили новую роль — литературного редактора. Автор решил сделать именно то, что мы только что собрали руками: отнять у роли ненужные права. В файле появилась строка </a:t>
            </a:r>
            <a:r>
              <a:rPr>
                <a:latin typeface="Consolas"/>
              </a:rPr>
              <a:t>tools: All tools</a:t>
            </a:r>
            <a:r>
              <a:t> — по смыслу «оставь всё», обычная фраза на естественном языке.</a:t>
            </a:r>
          </a:p>
          <a:p/>
          <a:p>
            <a:r>
              <a:t>Роль не запустилась ни разу. Три попытки параллельного запуска — три одинаковых отказа, вот он, целиком: «Agent 'literary-editor' would be spawned with zero tools — refusing. Its tools list resolved to nothing: unrecognized [All, tools].»</a:t>
            </a:r>
          </a:p>
          <a:p/>
          <a:p>
            <a:r>
              <a:t>Смотрите на таблицу. Значение поля разбирается как список имён инструментов. «All tools» — два слова, оба читаются как отдельные имена. Ни одно не совпадает ни с одним реальным инструментом. Список резолвится в пустое множество нераспознанных записей. При пустом списке, записанном явно, роль стартовала бы без единого инструмента — слабая, но живая. Здесь харнесс делает другое: отказывается запускать роль вовсе.</a:t>
            </a:r>
          </a:p>
          <a:p/>
          <a:p>
            <a:r>
              <a:t>Строка, которая должна была урезать права, их не ослабила — она не позволила роли появиться вообще. Отнятие прав — механизм с реальным синтаксисом, и ошибка в нём не прощается частично.</a:t>
            </a:r>
          </a:p>
          <a:p/>
          <a:p>
            <a:r>
              <a:t>Тот же приём работает на любом каталоге ролей: </a:t>
            </a:r>
            <a:r>
              <a:rPr>
                <a:latin typeface="Consolas"/>
              </a:rPr>
              <a:t>grep "^tools:" .claude/agents/*.md</a:t>
            </a:r>
            <a:r>
              <a:t>, запущенный у себя, на своих собственных ролях, покажет, у скольких из них это поле вообще задано. Что получается на материале всего курса целиком — смотрим дальше.</a:t>
            </a:r>
          </a:p>
          <a:p/>
          <a:p>
            <a:r>
              <a:t>Если спросят, починили ли это: на момент подготовки занятия — нет, строка на месте; проверить можно прямо на занятии той же командой.</a:t>
            </a:r>
          </a:p>
          <a:p/>
          <a:p>
            <a:r>
              <a:t>Если спросят, почему харнесс не предупредил заранее, при сохранении файла: ошибка такого рода не видна ни при чтении файла, ни в списке доступных ролей — только при реальном запуске. Заводя роль с урезанными правами, стоит сделать один пробный запуск сразу, не в тот момент, когда роль понадобилась в работе.</a:t>
            </a:r>
          </a:p>
          <a:p/>
          <a:p>
            <a:r>
              <a:t>Если спросят, почему это смешнее, чем просто забытое поле: потому что здесь не забыли отнять права — попытались, искренне, и синтаксис не простил.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Когда роль ещё не нужна. Разовая проверка — делегируйте встроенным агентом, файл не нужен. Задача формулируется заново каждый раз без устойчивой формы — роли ещё нет, есть обычная работа. «Независимость» объявлена, но не проверена — если ревьюер на деле видит рассуждения автора, объявления недостаточно.</a:t>
            </a:r>
          </a:p>
          <a:p/>
          <a:p>
            <a:r>
              <a:t>Когда роль не нужна вовсе. Если критерий можно закодировать детерминированно — линтером, тестом, скриптом со строгим условием, — не нужен ни субагент, ни модель вообще. Естественное место для такой проверки — хук на входе или прогон в CI, не роль, которую нужно формулировать словами и потом поддерживать.</a:t>
            </a:r>
          </a:p>
          <a:p/>
          <a:p>
            <a:r>
              <a:t>И последнее, честно, на материале самого курса, не демо-репозитория. В каталоге </a:t>
            </a:r>
            <a:r>
              <a:rPr>
                <a:latin typeface="Consolas"/>
              </a:rPr>
              <a:t>.claude/agents/</a:t>
            </a:r>
            <a:r>
              <a:t> этого репозитория лежит четырнадцать файлов ролей. Тринадцать не задают поле со списком инструментов вовсе — значит, все тринадцать, включая роли, чья единственная работа — оценивать материал, технически имеют право его и править. Единственная попытка сузить права — строка с предыдущего слайда — не ослабила права, она не позволила роли запуститься вовсе. Открытый вопрос курса об этом зарегистрирован отдельно; если он закрыт до занятия — у этого места есть более сильная версия: различие между состоянием «было» и «стало» в одном и том же репозитории, не статичное число.</a:t>
            </a:r>
          </a:p>
          <a:p/>
          <a:p>
            <a:r>
              <a:t>Кастомная роль — решаем, по сигналу повторения. Интуиция говорила: чтобы поручить проверку отдельному агенту, нужно завести файл и настроить его. Проверка показала: делегировать можно без единой строки конфигурации, это уже бесплатно; заводить стоило не сам факт делегирования, а роль с урезанным списком инструментов — и даже это урезание держится на синтаксисе настолько буквально, что одна неверная строка не ослабляет права — не даёт роли запуститься вовсе.</a:t>
            </a:r>
          </a:p>
          <a:p/>
          <a:p>
            <a:r>
              <a:t>Если спросят, почему курс сам этого не делает: прямого ответа у меня нет — честный пробел называется вслух, не объясняется в оправдание.</a:t>
            </a:r>
          </a:p>
          <a:p/>
          <a:p>
            <a:r>
              <a:t>Если спросят, насколько это серьёзно: зависит от того, что именно критикующая роль делает с файлом, который пришла оценивать — технически возможность есть, использование не задокументировано ни в одну сторону.</a:t>
            </a:r>
          </a:p>
          <a:p/>
          <a:p>
            <a:r>
              <a:t>Если спросят про цифру точнее: четырнадцать файлов всего, тринадцать совсем без поля, один — с полем, которое не работает; проверить обеими командами можно прямо на занятии.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граница, и она не о том же, что первые две. Разовой проверке роль ещё не нужна, детерминированному критерию роль не нужна вовсе — а здесь роль нужна, и права у неё урезаны правильным по форме способом, но не на то урезаны.</a:t>
            </a:r>
          </a:p>
          <a:p/>
          <a:p>
            <a:r>
              <a:t>Документация харнесса показывает это на паре официальных примеров. </a:t>
            </a:r>
            <a:r>
              <a:rPr>
                <a:latin typeface="Consolas"/>
              </a:rPr>
              <a:t>code-reviewer</a:t>
            </a:r>
            <a:r>
              <a:t>: читает, ищет, не правит — набор инструментов без </a:t>
            </a:r>
            <a:r>
              <a:rPr>
                <a:latin typeface="Consolas"/>
              </a:rPr>
              <a:t>Edit</a:t>
            </a:r>
            <a:r>
              <a:t> и </a:t>
            </a:r>
            <a:r>
              <a:rPr>
                <a:latin typeface="Consolas"/>
              </a:rPr>
              <a:t>Write</a:t>
            </a:r>
            <a:r>
              <a:t>, и это верно, потому что ревью не должно чинить код за автора. </a:t>
            </a:r>
            <a:r>
              <a:rPr>
                <a:latin typeface="Consolas"/>
              </a:rPr>
              <a:t>debugger</a:t>
            </a:r>
            <a:r>
              <a:t>: та же база инструментов, но с </a:t>
            </a:r>
            <a:r>
              <a:rPr>
                <a:latin typeface="Consolas"/>
              </a:rPr>
              <a:t>Edit</a:t>
            </a:r>
            <a:r>
              <a:t> возвращённым обратно — дословно, «потому что починка бага требует правки кода». Одна и та же логика урезания, применённая к двум ролям с разной работой, даёт два разных правильных ответа.</a:t>
            </a:r>
          </a:p>
          <a:p/>
          <a:p>
            <a:r>
              <a:t>Мост к нашему кейсу: узкий список </a:t>
            </a:r>
            <a:r>
              <a:rPr>
                <a:latin typeface="Consolas"/>
              </a:rPr>
              <a:t>Read, Grep, Glob</a:t>
            </a:r>
            <a:r>
              <a:t>, который мы только что собрали для диф-ревьюера, был верным выбором ровно потому, что его работа — находить проблему, не чинить её. Возьми этот же список и заведи роль, чья работа — исправлять баги, и получишь </a:t>
            </a:r>
            <a:r>
              <a:rPr>
                <a:latin typeface="Consolas"/>
              </a:rPr>
              <a:t>debugger</a:t>
            </a:r>
            <a:r>
              <a:t> без </a:t>
            </a:r>
            <a:r>
              <a:rPr>
                <a:latin typeface="Consolas"/>
              </a:rPr>
              <a:t>Edit</a:t>
            </a:r>
            <a:r>
              <a:t>: роль физически не сможет сделать то, ради чего её завели.</a:t>
            </a:r>
          </a:p>
          <a:p/>
          <a:p>
            <a:r>
              <a:t>Если спросят, как узнать заранее, в какую границу попадает новая роль: спросите так: «что этой роли физически придётся сделать, чтобы выполнить свою работу» — если ответ требует инструмента, которого нет в списке, граница урезания проведена не там.</a:t>
            </a:r>
          </a:p>
          <a:p/>
          <a:p>
            <a:r>
              <a:t>Если спросят, не противоречит ли это второму кейсу про урезанные права: нет — там урезание было верным, роль именно находит проблему, не чинит; здесь показан случай, где тот же приём, скопированный без проверки задачи, ломает другую роль.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нас теперь роль с урезанными правами, и мы знаем, что она возвращает только итог — ни одного промежуточного действия родитель не видит. Разбираем, что из этого следует на практике и что стоит с этим делать.</a:t>
            </a:r>
          </a:p>
          <a:p/>
          <a:p>
            <a:r>
              <a:t>Если прозвучит нетерпение «мы же только что всё решили»: именно поэтому стоит проверить решение на следующем шаге — файл и формат существуют, вопрос в том, что из работы роли через них видно, а что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Файл роли с урезанными правами из первого кейса уже работает, и формат ответа тоже устоялся: вердикт первой строкой, раздел «что проверено», находки. Разработчик готовит более крупную правку — сразу три независимых изменения формы — и на каждое параллельно запускает диф-ревьюера, чтобы не ждать по очереди.</a:t>
            </a:r>
          </a:p>
          <a:p/>
          <a:p>
            <a:r>
              <a:t>От каждого запуска приходит ровно одна вещь — финальный текст. Все три итога выглядят одинаково надёжно: вердикт </a:t>
            </a:r>
            <a:r>
              <a:rPr>
                <a:latin typeface="Consolas"/>
              </a:rPr>
              <a:t>PASS</a:t>
            </a:r>
            <a:r>
              <a:t>, раздел «что проверено» заполнен, находок нет. Правки уходят в показ.</a:t>
            </a:r>
          </a:p>
          <a:p/>
          <a:p>
            <a:r>
              <a:t>Через день одно из трёх изменений ломает отправку формы на реальных данных — тот самый случай, который должен был поймать раздел «что проверено» третьего ответа. Открывают журнал вызовов этой роли за тот прогон: в нём нет ни одного обращения к файлу, который вердикт называет проверенным. Раздел «что проверено» описывает действие, которого не было: сам инструмент для этой проверки роль в тот прогон не вызвала ни разу.</a:t>
            </a:r>
          </a:p>
          <a:p/>
          <a:p>
            <a:r>
              <a:t>Если спросят, не противоречит ли это только что собранному формату: нет — формат соблюдён буквально, вердикт на месте, раздел «что проверено» заполнен текстом. Формата здесь хватает для разовой проверки — дело в другом: через канал, по которому родитель получает итог, прошёл только текст; сами действия, которые он описывает, — нет.</a:t>
            </a:r>
          </a:p>
          <a:p/>
          <a:p>
            <a:r>
              <a:t>Если спросят, насколько это частый случай: источник разберём в этом же кейсе — шесть из примерно пятнадцати параллельных запусков в документированном случае, не единичный инцидент.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Три запуска одной роли — и ровно три итога, один текст на каждый, больше ничего через границу не прошло. Один из трёх итогов описывает проверку, которой не было, и по самому тексту этого не увидеть — все три читались одинаково хорошо. Выберите, что добавить к тому, что у вас уже есть, — из карточек ниже, — и скажите, что именно это добавление позволяет увидеть внутри запуска, чего не видно сейчас.</a:t>
            </a:r>
          </a:p>
          <a:p/>
          <a:p>
            <a:r>
              <a:t>Если прозвучит «позвать роль дважды»: это сильный интуитивный ход, разбор покажет его реальный предел — совпадение двух ответов не добавляет видимости внутрь, оба запуска могут одинаково не открыть нужный файл.</a:t>
            </a:r>
          </a:p>
          <a:p/>
          <a:p>
            <a:r>
              <a:t>Если прозвучит «смотреть журнал»: это часть целевого ответа — не подсказываю прямо, что это только половина решения, вторая половина на разборе.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Ничего не менять — хватает для разовой проверки с низкой ценой ошибки, но ничего не добавляет к видимости внутрь запуска: на правке с высокой ценой ошибки видно только то, что роль решила написать. Звать роль дважды и сравнивать — расхождение между двумя ответами сигнализирует о проблеме, но совпадение не добавляет видимости: оба прогона могут одинаково не открыть нужный файл. Требовать названия конкретных файлов и команд в разделе «что проверено» — делает сам итог проверяемым, названное действие повторяется за секунды; текст всё равно не доказывает, что действие физически произошло внутри запуска. Смотреть журнал реальных вызовов — единственный канал, где видно, что произошло внутри запуска, помимо текста итога. Минус — журнал не читают по умолчанию, это отдельный шаг. Отказаться от параллельных запросов — снимает именно этот сценарий, сбой проявился при фан-ауте; цена — время, а последовательные запуски той же роли ограничены той же видимостью по одному.</a:t>
            </a:r>
          </a:p>
          <a:p/>
          <a:p>
            <a:r>
              <a:t>Вывод. Четвёртая и третья карточки работают только вместе — по отдельности каждая слабее. Названные в итоге файлы и команды делают сам текст проверяемым; журнал вызовов показывает, что из названного произошло на самом деле внутри запуска.</a:t>
            </a:r>
          </a:p>
          <a:p/>
          <a:p>
            <a:r>
              <a:t>Если спросят, почему пятая карточка не закрывает проблему целиком, хотя и снимает конкретный сценарий: потому что граница видимости, которая его создала, при этом остаётся — отказ от параллельности лечит симптом этого прогона, не саму границу между тем, что роль сделала, и тем, что она написала.</a:t>
            </a:r>
          </a:p>
          <a:p/>
          <a:p>
            <a:r>
              <a:t>Если спросят про «журнал» подробнее: это тема следующего слайда, отвечать коротко — «у каждого запуска роли есть файл с записью её реальных вызовов, подробнее через слайд».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документированных случая об одном и том же свойстве границы, разных по механике. Первый: шесть из примерно пятнадцати параллельных субагентов вернули полные, уверенные отчёты без единого реального вызова инструмента — включая два выдуманных отчёта о найденной инъекции в промпт, которой не было вовсе. Родитель в этом случае получил ровно то, что обычно получает — текст итога, и больше ничего. Мейнтейнеры, закрывая находку, признали её классом риска, не одиночным багом — с ним работают изменением того, что вообще пересекает границу, не точечным патчем.</a:t>
            </a:r>
          </a:p>
          <a:p/>
          <a:p>
            <a:r>
              <a:t>Второй, более тихий, и о той же границе с другой стороны. Запрет хука, сработавший внутри самого субагента, не долетает до родительской сессии: фан-аут выглядит полностью успешным, список отказов пуст, хотя запись внутри одного из субагентов фактически была заблокирована. Здесь границу не пересекает управляющий сигнал — уже не текст итога.</a:t>
            </a:r>
          </a:p>
          <a:p/>
          <a:p>
            <a:r>
              <a:t>Честно: для каждого из двух случаев нет команды, которую можно прогнать на своей машине и увидеть собственную версию той же поломки — оба требуют специально собранного прогона с параллельным фан-аутом. Эта клетка остаётся без проверяемой опоры.</a:t>
            </a:r>
          </a:p>
          <a:p/>
          <a:p>
            <a:r>
              <a:t>Если спросят про статус issue: первый закрыт как «not planned» — формальное признание того, что это класс риска, не разовый баг; второй на момент проверки открыт.</a:t>
            </a:r>
          </a:p>
          <a:p/>
          <a:p>
            <a:r>
              <a:t>Если спросят, в чём разница между классом риска и единичным багом: проверка «что физически пересекло границу делегирования» структурно не решается одним патчем — решается форматом, который делает итог проверяемым, и журналом, который делает его опровергаемым.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каждого запуска роли есть второй канал, помимо текста итога: журнал реальных вызовов инструментов. В него попадает каждый вызов инструмента по порядку, независимо от того, что написано в финальном тексте ответа. Посмотреть, что родитель вообще получил от роли помимо текста, можно через панель запущенных ролей во время работы либо через файл журнала конкретного запуска.</a:t>
            </a:r>
          </a:p>
          <a:p/>
          <a:p>
            <a:r>
              <a:t>Для правок с высокой ценой ошибки сверка с журналом надёжнее одного только чтения вердикта: совпадает ли список файлов, которые роль назвала проверенными, со списком файлов, которые она действительно открыла.</a:t>
            </a:r>
          </a:p>
          <a:p/>
          <a:p>
            <a:r>
              <a:t>Если спросят, нужно ли сверять журнал каждый раз: нет — это проверка для случаев с высокой ценой ошибки, не рутинная практика на каждый вызов; для разовой мелкой правки чтение «что проверено» обычно достаточно.</a:t>
            </a:r>
          </a:p>
          <a:p/>
          <a:p>
            <a:r>
              <a:t>Если спросят, где искать журнал технически: панель запущенных ролей показывает происходящее во время работы роли; файл записи конкретного запуска — после того, как роль закончила. Подробности зависят от версии харнесса, здесь — принцип, не точный путь к файлу.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Возьмём diff, который на самом деле проверяет наш ревьюер в этой ступени: правку, ужесточающую проверку email в функции </a:t>
            </a:r>
            <a:r>
              <a:rPr>
                <a:latin typeface="Consolas"/>
              </a:rPr>
              <a:t>validateForm</a:t>
            </a:r>
            <a:r>
              <a:t>, которая использует карту сообщений и встроенную проверку валидности; само регулярное выражение адреса стоит атрибутом в HTML-файле, не внутри отдельной функции. Роль, следуя своему формату, возвращает: вердикт первой строкой, затем «что проверено» — конкретные действия, затем находки.</a:t>
            </a:r>
          </a:p>
          <a:p/>
          <a:p>
            <a:r>
              <a:t>Каждое названное действие можно повторить за минуту — это и есть разница между итогом, который можно перепроверить, и итогом, который нельзя перепроверить вовсе. Этот разбор — иллюстрация формата на актуальном коде проекта, не запись реального прогона: живой прогон этой роли на сегодняшний день не закрыт.</a:t>
            </a:r>
          </a:p>
          <a:p/>
          <a:p>
            <a:r>
              <a:t>Если спросят, почему не показан реальный прогон: потому что его пока нет, и выдавать модельный разбор за него значило бы показывать на экране ровно ту же картину, которую сам кейс разбирает как ненадёжную — честность здесь важнее эффектности.</a:t>
            </a:r>
          </a:p>
          <a:p/>
          <a:p>
            <a:r>
              <a:t>Если спросят, что изменится, когда прогон появится: слайд заменится на подтверждённый, содержание не изменится по смыслу, изменится только статус подписи.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провал этого кейса, глубже первого, и о той же границе с другой стороны. Хук, который должен запрещать запись, принял решение «запретить» внутри самого субагента. Это решение до родителя не дошло — команда всё равно выполнилась.</a:t>
            </a:r>
          </a:p>
          <a:p/>
          <a:p>
            <a:r>
              <a:t>Задокументировано два независимых случая. В одном блокирующее решение было принято правильно для опасной команды, вызванной субагентом, но команда реально выполнилась — автор нашёл это уже после настоящего инцидента с потерей данных. В другом блокировка сработала для основной сессии и для одного тестового субагента в той же сессии, но не для другого, с тем же файлом настроек, и воспроизвести это детерминированно не удалось.</a:t>
            </a:r>
          </a:p>
          <a:p/>
          <a:p>
            <a:r>
              <a:t>Разница с первым провалом этого кейса — в том, что не пересекает границу на этот раз. Там не пересёк её текст итога. Здесь не пересекает её управляющий сигнал — тот, который обычно считают надёжнее содержания отчёта. Сработавший барьер — не то же самое, что барьер, который устоял.</a:t>
            </a:r>
          </a:p>
          <a:p/>
          <a:p>
            <a:r>
              <a:t>Если спросят, решена ли эта проблема: нет, оба случая открыты или не полностью объяснены на момент проверки; это не повод не ставить барьер — это повод не считать само срабатывание барьера внутри субагента гарантией, что оно подействовало на систему целиком.</a:t>
            </a:r>
          </a:p>
          <a:p/>
          <a:p>
            <a:r>
              <a:t>Если спросят, чем тогда закрывать эту границу: тем же журналом реальных вызовов, с тем же ограничением — читать его нужно внимательно; само его наличие автоматической гарантией не становится.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Две вещи отдельно от всего, что уже разобрали на этом кейсе. Первая: журнал — это запись действия, не запись понимания. Он скажет, что роль открыла нужный файл. Он не скажет, правильно ли она истолковала увиденное — из одного и того же действия можно сделать и верный вывод, и неверный, и журнал оба случая запишет одинаково. Подтвердить само суждение может только тот, кто сам читает тот же материал и сравнивает его со своим выводом.</a:t>
            </a:r>
          </a:p>
          <a:p/>
          <a:p>
            <a:r>
              <a:t>Вторая: сама сверка не бесплатна, и это уже звучало на слайде про журнал — его не читают по умолчанию, это отдельный шаг. На правке в несколько строк этот шаг может занять примерно столько же времени, сколько просто открыть сам diff и прочитать его. Тогда формат не экономит ничего, кроме видимости самой проверки.</a:t>
            </a:r>
          </a:p>
          <a:p/>
          <a:p>
            <a:r>
              <a:t>Если спросят, не противоречит ли это критерию цены ошибки: нет, это другая ось. Критерий цены ошибки отвечает, когда формата недостаточно. Эта граница отвечает на другой вопрос — чего формат не даст никогда, сколько бы ни читали, и когда сама читка дороже работы, которую она должна проверить.</a:t>
            </a:r>
          </a:p>
          <a:p/>
          <a:p>
            <a:r>
              <a:t>Если спросят про конкретный порог: порога нет и не называется — граница здесь не числовая: за ней стоят две структурные причины, по которым ни формат, ни журнал не заменяют человека полностью.</a:t>
            </a:r>
          </a:p>
          <a:p/>
          <a:p>
            <a:r>
              <a:t>Если спросят, не то же ли это, что честный пробел на свидетельствах: нет, это другое. Там пробел — про то, что у курса нет команды, которую студент мог бы прогнать и увидеть ту же поломку своими глазами; это ограничение доказательной базы занятия, не кейса. Здесь — про то, что даже при полном журнале, без всякого пробела в доказательствах, суждение роли всё равно не проверяется техническим средством, только чтением того же материала человеком.</a:t>
            </a:r>
          </a:p>
          <a:p/>
          <a:p>
            <a:r>
              <a:t>Если спросят, можно ли первую границу закрыть технически — например, заставить роль объяснять ход рассуждений подробнее: нет, это тот же разрыв, что и в управляющем сигнале «успех/неуспех» из второго провала кейса — канал делегирования односторонний, родитель получает только то, что роль решила написать. Больше объяснений в тексте ответа — это по-прежнему текст, который можно написать убедительно, не совершив и не поняв того, что в нём описано; это уже разбирал первый провал этого кейса.</a:t>
            </a:r>
          </a:p>
          <a:p/>
          <a:p>
            <a:r>
              <a:t>Если спросят про вторую границу — почему тогда вообще использовать формат, если проверка иногда дороже работы: на большинстве правок отдельный шаг сверки себя окупает, экономя время. Граница называет именно исключение — маленькую правку, где это соотношение переворачивается; на остальных правках формат работает как и раньше.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Формат и журнал работают, пока цена одной пропущенной ошибки сопоставима с ценой лишней секунды проверки: прочитать «что проверено», иногда сверяясь с журналом. Там, где цена ошибки выше — релиз, который нельзя откатить, данные, которые нельзя восстановить, — формата мало, нужен человек, который лично читает diff.</a:t>
            </a:r>
          </a:p>
          <a:p/>
          <a:p>
            <a:r>
              <a:t>Что возвращается через границу делегирования — решаем по цене ошибки, не по тому, что хотелось бы получить бесплатно. Интуиция говорила: если роль вернула итог по согласованному формату, задачу можно считать сделанной. Проверка показала: формат канала не раскрывает, что происходило внутри запуска — родитель получает только то, что роль решила написать, пока не открыт журнал вызовов. Называть конкретные действия в самом итоге делает его проверяемым; журнал, там где цена ошибки того стоит, делает его опровергаемым.</a:t>
            </a:r>
          </a:p>
          <a:p/>
          <a:p>
            <a:r>
              <a:t>Если спросят, где именно проходит граница «высокой цены»: ответ ситуативный, не числовой — тот же принцип, что звучал раньше: число повторов проверки тут не решает. Вопрос — что случится, если единственный прогон пойдёт не так, и можно ли это откатить.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умеем заводить роль с урезанными правами и проверять её отчёт. Следующий шаг естественный: роль не одна. Разбираем, что происходит, когда к одной роли добавляется вторая.</a:t>
            </a:r>
          </a:p>
          <a:p/>
          <a:p>
            <a:r>
              <a:t>Если прозвучит «а зачем вообще две роли, если можно одну»: честный вопрос, и ответ на него — весь этот кейс; не отвечаю заранее, даю разбору сделать свою работу.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Диф-ревьюер работает уже месяц, и правки стали крупнее. Разработчик заводит вторую роль — тестировщика: он прогоняет сценарии через форму и проверяет поведение, не только код. Обе роли получают одну и ту же правку: новое поле в форме плюс изменение валидации.</a:t>
            </a:r>
          </a:p>
          <a:p/>
          <a:p>
            <a:r>
              <a:t>Диф-ревьюер проверяет код и возвращает </a:t>
            </a:r>
            <a:r>
              <a:rPr>
                <a:latin typeface="Consolas"/>
              </a:rPr>
              <a:t>PASS</a:t>
            </a:r>
            <a:r>
              <a:t> — в прочитанном коде проблем нет. Тестировщик проверяет форму на обычных сценариях и тоже возвращает </a:t>
            </a:r>
            <a:r>
              <a:rPr>
                <a:latin typeface="Consolas"/>
              </a:rPr>
              <a:t>PASS</a:t>
            </a:r>
            <a:r>
              <a:t> — на прогнанных сценариях форма ведёт себя ожидаемо.</a:t>
            </a:r>
          </a:p>
          <a:p/>
          <a:p>
            <a:r>
              <a:t>Правка уходит в показ. Заказчик вводит email с пробелом перед доменом — сценарий, который не вошёл ни в код, который читал диф-ревьюер построчно, ни в сценарии, которые тестировщик прогонял руками. Оба </a:t>
            </a:r>
            <a:r>
              <a:rPr>
                <a:latin typeface="Consolas"/>
              </a:rPr>
              <a:t>PASS</a:t>
            </a:r>
            <a:r>
              <a:t> правдивы по отдельности. Между ними остался промежуток, про который не высказалась ни одна из двух ролей — просто потому, что ни одной из них не было поручено его проверять.</a:t>
            </a:r>
          </a:p>
          <a:p/>
          <a:p>
            <a:r>
              <a:t>Если спросят, почему это не повторяет кейс про итог без действий: там обе проблемы были внутри одной роли и одного канала наружу — что из её действий вообще становится видно через итог. Здесь каждая роль по отдельности безупречна в границах своей задачи и ничего не прячет в своём итоге — скрытые действия одной роли тут ни при чём: промежуток лежит между работой двух.</a:t>
            </a:r>
          </a:p>
          <a:p/>
          <a:p>
            <a:r>
              <a:t>Если спросят, почему диф-ревьюер не поймал опечатку в формате email: он проверял код </a:t>
            </a:r>
            <a:r>
              <a:rPr>
                <a:latin typeface="Consolas"/>
              </a:rPr>
              <a:t>validateForm</a:t>
            </a:r>
            <a:r>
              <a:t> и видел, что логика написана верно — пробел перед доменом не относится к тому, что меняла эта правка в коде, это поведенческий случай, не структурный.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вас теперь два </a:t>
            </a:r>
            <a:r>
              <a:rPr>
                <a:latin typeface="Consolas"/>
              </a:rPr>
              <a:t>PASS</a:t>
            </a:r>
            <a:r>
              <a:t>, оба честные в границах своей роли, и баг, который не поймал ни один из них. Выберите, что сделать с этим, — из карточек ниже.</a:t>
            </a:r>
          </a:p>
          <a:p/>
          <a:p>
            <a:r>
              <a:t>Если прозвучит «добавить третью роль»: сильный интуитивный ход, разбор покажет его реальную цену — добавление роли ради проблемы, которую создали первые две.</a:t>
            </a:r>
          </a:p>
          <a:p/>
          <a:p>
            <a:r>
              <a:t>Если прозвучит «расписать границы явно»: это целевой ответ — не подсказываю до разбора, зачем он сильнее остальных.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Ничего не менять — роли проверяют разное и вместе покрывают больше, чем любая одна; это работает, только если границы ролей не пересекаются и между ними не остаётся промежутка — здесь остался. Объединить в одну роль с широким описанием — задача небольшая, одна роль успела бы честно покрыть оба аспекта; ограничение — широкое описание означает широкий контекст и широкие права, то самое, что сузили в первом кейсе этой ступени. Завести третью роль-координатора — нужна, когда действительно требуется сверять вывод двух готовых ролей; ограничение — она добавляет слой координации к уже не согласованным двум, и цена растёт быстрее, чем снижается риск. Явно расписать границы каждой роли — показывает промежуток между ними до того, как он проявится багом; ограничение — расписать нужно осознанно, само появление второй роли этой работы не делает. Вернуться к одной роли — подходит, если задача последовательна и шаг роли B зависит от того, что увидела роль A; теряется параллельность там, где она нужна была ради скорости.</a:t>
            </a:r>
          </a:p>
          <a:p/>
          <a:p>
            <a:r>
              <a:t>Вывод. Четвёртая карточка нужна здесь, и вот почему третья и вторая слабее. Третья добавляет роль ради проблемы, которую создали первые две, — цена координации растёт быстрее, чем снижается риск. Вторая возвращает к одной роли с широким доступом — туда, откуда ушли в первом кейсе. Явно расписанная граница не угадывается по факту существования двух ролей — это отдельное решение, которое нужно принять вслух.</a:t>
            </a:r>
          </a:p>
          <a:p/>
          <a:p>
            <a:r>
              <a:t>Если спросят, чем третья карточка принципиально хуже четвёртой, если обе — про явное внимание к границам: третья добавляет ещё одного участника в систему, которая уже плохо согласована, и переносит проблему координации на уровень выше, не решает её; четвёртая работает с тем, что уже есть, без добавления нового слоя.</a:t>
            </a:r>
          </a:p>
          <a:p/>
          <a:p>
            <a:r>
              <a:t>Если спросят, почему не вернуться к одной роли всегда, если это проще: потому что в этой сцене задача параллелится по-настоящему — код и поведение формы можно проверять одновременно, не дожидаясь друг друга; возвращение к одной роли было бы оправдано, только если бы шаги были зависимы, а они не зависимы.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Масштаб, не единичный случай. Таксономия отказов мультиагентных систем: больше тысячи шестисот размеченных вручную трасс по семи фреймворкам, согласие между экспертами при разметке — ноль целых восемьдесят восемь. Доля провальных трасс — от сорока одного до восьмидесяти семи процентов, в зависимости от фреймворка. Три категории причин, и ни одна — не про ошибку в факте: сорок два процента — спецификация задачи и роли; тридцать семь — рассогласование между агентами; двадцать один — верификация результата.</a:t>
            </a:r>
          </a:p>
          <a:p/>
          <a:p>
            <a:r>
              <a:t>И контролируемое исследование о цене: на последовательной задаче мультиагентная схема проигрывает одноагентной той же задачи от тридцати девяти до семидесяти процентов. Без координатора число ошибок усиливается в семнадцать целых две десятых раза относительно одноагентной системы на входе; с централизованной проверкой — в четыре целых четыре десятых раза.</a:t>
            </a:r>
          </a:p>
          <a:p/>
          <a:p>
            <a:r>
              <a:t>Для наших двух ролей это значит вот что. Диф-ревьюер и тестировщик работают без третьей роли, которая сверяла бы их согласованность. По цифрам таксономии рассогласование между агентами — вторая по весу причина отказов, почти вровень со спецификацией самой задачи: тридцать семь против сорока двух процентов.</a:t>
            </a:r>
          </a:p>
          <a:p/>
          <a:p>
            <a:r>
              <a:t>Отдельно предостерегу. По сети разошлась цифра «семьдесят девять процентов отказов — проблема спецификации». Это сумма тех же двух категорий — сорок два и тридцать семь, — пересказанная как будто отдельное измерение. Стоит проверить, не считаете ли вы одно и то же дважды под разными подписями.</a:t>
            </a:r>
          </a:p>
          <a:p/>
          <a:p>
            <a:r>
              <a:t>Честно: проверить рассогласование двух параллельных ролей на репозитории курса или на машине студента нечем — ни один инструмент проверяемости занятия это не демонстрирует. Утверждение подтверждено исследованием, не командой на занятии.</a:t>
            </a:r>
          </a:p>
          <a:p/>
          <a:p>
            <a:r>
              <a:t>Если спросят про межэкспертное согласие: ноль целых восемьдесят восемь по шкале каппа — высокое согласие, разметка не произвольная.</a:t>
            </a:r>
          </a:p>
          <a:p/>
          <a:p>
            <a:r>
              <a:t>Если спросят, почему абсолютное число ошибок источник не называет: в исследовании приведено только относительное усиление — семнадцать и четыре целых четыре десятых раза от какой-то базовой величины, саму базовую величину источник не публикует; курс использует только относительное сравнение и называет это прямо, не достраивая абсолютное число самостоятельно.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Единственный приём, который закрывает промежуток между ролями, — явная граница в описании каждой роли, в обе стороны. Диф-ревьюер уже это делает: «НЕ для ревью архитектурных решений — это отдельная роль». Тестировщику нужна симметричная строка: что входит в проверку и что остаётся снаружи, по-доменному.</a:t>
            </a:r>
          </a:p>
          <a:p/>
          <a:p>
            <a:r>
              <a:t>Граница в двух описаниях не гарантирует отсутствие промежутка между ними — она делает его видимым тому, кто читает оба описания рядом. Увидеть промежуток до показа заказчику остаётся решением человека, не роли.</a:t>
            </a:r>
          </a:p>
          <a:p/>
          <a:p>
            <a:r>
              <a:t>Если спросят, кто должен писать эту вторую, симметричную строку — автор новой роли или автор старой: по-хорошему оба описания стоит сверить вместе в момент, когда заводится вторая роль, не писать её в одиночку в надежде на совпадение.</a:t>
            </a:r>
          </a:p>
          <a:p/>
          <a:p>
            <a:r>
              <a:t>Если спросят, решает ли эта граница саму проблему пробела в покрытии: нет, не решает — она делает пробел видимым заранее, находить сам пробел всё равно остаётся задачей человека, который сверяет описания.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Где именно проходит черта, за которой координация сама становится ценой. Отраслевой разворот мнения — хорошая метка этой черты: одна практикующая команда год назад полностью отвергала мультиагентность, называя неструктурированный «рой» отвлекающим фактором. Год спустя она же вернулась к двум узким паттернам: ревью-цепочка, где отдельная роль находит в среднем два бага на правку, из них около пятидесяти восьми процентов серьёзных, и связка из двух разных топ-моделей — только на самых сложных сценариях. «Рой» без границ она по-прежнему называет отвлекающим фактором даже сейчас.</a:t>
            </a:r>
          </a:p>
          <a:p/>
          <a:p>
            <a:r>
              <a:t>Граница читается просто: узкая роль поверх одной конкретной правки окупается. Лишний слой поверх уже написанной работы — координатор, которому нечего делать, кроме как сверять то, что уже сделали другие, — цены не окупает.</a:t>
            </a:r>
          </a:p>
          <a:p/>
          <a:p>
            <a:r>
              <a:t>Диф-ревьюер и тестировщик из нашей сцены — ровно первый случай: каждая роль проверяет одну правку в своей узкой зоне, не управляет системой целиком. Третья роль-координатор из прошлого разбора карточек была бы вторым случаем.</a:t>
            </a:r>
          </a:p>
          <a:p/>
          <a:p>
            <a:r>
              <a:t>Если спросят, это та же команда, что писала первый отчёт про мультиагентность: да, один и тот же источник — десять месяцев спустя та же команда пересмотрела собственную публичную позицию по итогам практики; это и собственное число автора во втором посте («10 months ago, I wrote…»), не только разница дат.</a:t>
            </a:r>
          </a:p>
          <a:p/>
          <a:p>
            <a:r>
              <a:t>Если спросят, относятся ли цифры про два бага на правку к нашей сцене напрямую: это отраслевой пример другой команды на другом процессе; на сцену курса переносится форма паттерна — узкая роль поверх одной правки, — число остаётся свойством отраслевого примера.</a:t>
            </a:r>
          </a:p>
          <a:p/>
          <a:p>
            <a:r>
              <a:t>Если спросят, сколько багов осталось бы необнаруженными без отдельной роли-ревьюера: источник не публикует такую базу — он называет только абсолютное число находок самой ревью-роли, не сравнение с результатом без неё.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роль оправдана, когда задача действительно параллелится — шаг одной роли не нуждается в выводе другой. Там, где шаги зависимы, разбиение физически рвёт связь, которую должен видеть следующий шаг, и число ошибок усиливается — в семнадцать целых две десятых раза без координатора, в четыре целых четыре десятых раза даже с централизованной проверкой. Если задача дешёвая, а цена пропущенной ошибки низкая — одна роль дешевле двух, сколько бы раз она ни повторялась.</a:t>
            </a:r>
          </a:p>
          <a:p/>
          <a:p>
            <a:r>
              <a:t>Несколько ролей вместо одной — решаем по структуре задачи, не по желанию ускориться. Интуиция говорила: две роли, проверяющие разное, в сумме надёжнее одной. Проверка показала: надёжность растёт только там, где границы ролей не пересекаются и явно названы в обе стороны; там, где задача последовательна, разбиение на роли не складывает надёжность — оно умножает ошибку.</a:t>
            </a:r>
          </a:p>
          <a:p/>
          <a:p>
            <a:r>
              <a:t>Если спросят, как заранее понять, параллелится ли задача на самом деле: спросить, нужен ли роли B результат роли A, чтобы начать работу — если да, задача последовательна, и разбиение на роли создаёт разрыв вместо экономии.</a:t>
            </a:r>
          </a:p>
          <a:p/>
          <a:p>
            <a:r>
              <a:t>Если спросят про нашу сцену конкретно: код и поведение формы можно было проверять параллельно — отсюда решение оставить две роли, но с явно расписанными границами, не одну роль с широким описанием.</a:t>
            </a:r>
          </a:p>
          <a:p/>
          <a:p>
            <a:r>
              <a:t>Три кейса этой ступени закрывают один вопрос с разных сторон: кому можно поручить роль, что из её действий становится видно родителю и что делать, когда ролей становится несколько. Остаётся вопрос, который все три кейса трогали, но не решили до конца: как устроен весь путь работы целиком — от задачи до показа заказчику, не только итог одной роли. Разговор об этом продолжится отдельно.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Четвёртая строка легла в таблицу. Хук и скилл — те же формулировки, что в начале занятия, я их не повторяю заново.</a:t>
            </a:r>
          </a:p>
          <a:p/>
          <a:p>
            <a:r>
              <a:t>MCP. Права урезаются до подключения, не после — без вычеркнутой строки «все репозитории, включая приватные» воспроизводится документированная утечка.</a:t>
            </a:r>
          </a:p>
          <a:p/>
          <a:p>
            <a:r>
              <a:t>Субагент. Делегировать можно бесплатно, без единой строки — список инструментов урезается синтаксисом так буквально, что одна неверная строка не ослабляет права: она останавливает запуск роли вовсе.</a:t>
            </a:r>
          </a:p>
          <a:p/>
          <a:p>
            <a:r>
              <a:t>Все четыре строки заполнены.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где посмотреть замеры по MCP и субагенту.</a:t>
            </a:r>
            <a:r>
              <a:t> По MCP — замер токенов и статусов живёт в документации продукта и в карточке конкретного сервера в сессии, не в репозитории. По субагенту — тот же приём у себя: </a:t>
            </a:r>
            <a:r>
              <a:rPr>
                <a:latin typeface="Consolas"/>
              </a:rPr>
              <a:t>grep "^tools:" .claude/agents/*.md</a:t>
            </a:r>
            <a:r>
              <a:t> на своих собственных ролях показывает, у скольких из них поле вообще задано.</a:t>
            </a:r>
          </a:p>
          <a:p/>
          <a:p>
            <a:r>
              <a:rPr i="1"/>
              <a:t>Если спросят про колонку «что не делает / ограничение» у новых строк.</a:t>
            </a:r>
            <a:r>
              <a:t> Тот же критерий, что у хука и скилла: это не чья-то наивность. Так механизм описан до того, как его замерили, а здесь показано, где заканчивается то, что он реально делает.</a:t>
            </a:r>
          </a:p>
          <a:p/>
          <a:p>
            <a:r>
              <a:rPr i="1"/>
              <a:t>Порядок строк.</a:t>
            </a:r>
            <a:r>
              <a:t> Тот же, что на вопросе занятия и на карте: хук, скилл, MCP, субагент. Не меняется — на этом совпадении держится весь возврат вопроса.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что сегодня произошло с репозиторием. Смотрите на метку в каждой строке — она здесь важнее самой схемы.</a:t>
            </a:r>
          </a:p>
          <a:p/>
          <a:p>
            <a:r>
              <a:t>Хук, скилл, CLAUDE.md и документационный слой стоят так же, как в начале занятия. Это с мостика не изменилось.</a:t>
            </a:r>
          </a:p>
          <a:p/>
          <a:p>
            <a:r>
              <a:t>Два новых файла — </a:t>
            </a:r>
            <a:r>
              <a:rPr>
                <a:latin typeface="Consolas"/>
              </a:rPr>
              <a:t>.mcp.json</a:t>
            </a:r>
            <a:r>
              <a:t> и файл роли субагента — на этой схеме есть, но коммита у них нет и не будет. Демо-репозиторий дальше не строится: это решение, не забытая работа. Называю это прямо, потому что занятие всё время было про разницу между тем, что написано и что уже работает, и прятать эту же разницу в собственном итоге было бы странно.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спросят, почему демо-репозиторий не достроили.</a:t>
            </a:r>
            <a:r>
              <a:t> Решение принято заранее и объявлено вслух, недосмотром оно не является: два занятия с материалом MCP и субагента дороже, чем занятие с демо-репозиторием, достроенным до конца.</a:t>
            </a:r>
          </a:p>
          <a:p/>
          <a:p>
            <a:r>
              <a:rPr i="1"/>
              <a:t>Если спросят, как тогда проверить то, что сегодня разобрано.</a:t>
            </a:r>
            <a:r>
              <a:t> Следующий слайд отвечает на это прямо: часть сегодняшнего материала проверяется, часть — нет, и названо, что именно.</a:t>
            </a:r>
          </a:p>
          <a:p/>
          <a:p>
            <a:r>
              <a:rPr i="1"/>
              <a:t>Если спросят про имена файлов.</a:t>
            </a:r>
            <a:r>
              <a:t> </a:t>
            </a:r>
            <a:r>
              <a:rPr>
                <a:latin typeface="Consolas"/>
              </a:rPr>
              <a:t>.mcp.json</a:t>
            </a:r>
            <a:r>
              <a:t> и </a:t>
            </a:r>
            <a:r>
              <a:rPr>
                <a:latin typeface="Consolas"/>
              </a:rPr>
              <a:t>diff-reviewer.md</a:t>
            </a:r>
            <a:r>
              <a:t> — не придуманные имена, это артефакты из разобранных сегодня кейсов, ровно по этим путям, без расхождений.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вопрос уже звучал в начале занятия, и свой ответ вы держали при себе. Формулировка та же, слово в слово: агент видит только то, что лежит в репозитории и в разговоре с вами. Где заканчивается этот контекст — и что вы заводите первым: доступ наружу или отдельного исполнителя с урезанными правами?</a:t>
            </a:r>
          </a:p>
          <a:p/>
          <a:p>
            <a:r>
              <a:t>Сначала руки: у кого ответ изменился за сегодня. Потом два-три голоса — что именно его изменило. Свой ответ не называю, чужие не оцениваю.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обычно меняет ответ, и что на каждое отвечать.</a:t>
            </a:r>
            <a:r>
              <a:t> Ожидаемое движение: от «беру то, что под рукой, без разбора» к выбору по критерию — данных не хватает физически, значит MCP; хочется не захламлять контекст агента и ограничить права, значит субагент. Второе движение: от недооценки цены к прямому её учёту — чужой код и место в контексте у одного расширения, лишние права у другого. Оба движения подтверждаю как честные: это и есть материал, который сегодня проверяли.</a:t>
            </a:r>
          </a:p>
          <a:p/>
          <a:p>
            <a:r>
              <a:rPr i="1"/>
              <a:t>Если зал молчит.</a:t>
            </a:r>
            <a:r>
              <a:t> Напоминаю, что появилось за занятие: критерий для доступа наружу и критерий для урезанной роли, оба с ценой, названной прямо. Больше не подсказываю — здесь работает пауза.</a:t>
            </a:r>
          </a:p>
          <a:p/>
          <a:p>
            <a:r>
              <a:rPr i="1"/>
              <a:t>Если прозвучит «а какой ответ правильный».</a:t>
            </a:r>
            <a:r>
              <a:t> Правильного нет и сегодня: выбор зависит от того, чего в конкретном проекте не хватает — данных снаружи или отдельного исполнителя с урезанными правами.</a:t>
            </a:r>
          </a:p>
          <a:p/>
          <a:p>
            <a:r>
              <a:rPr i="1"/>
              <a:t>Чего здесь не делаю.</a:t>
            </a:r>
            <a:r>
              <a:t> Итог не подвожу — он идёт отдельно, последним. Ничего сделать после занятия не прошу.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Посмотрите, где сегодня появилась команда, которую можно выполнить и получить ответ, а где — нет.</a:t>
            </a:r>
          </a:p>
          <a:p/>
          <a:p>
            <a:r>
              <a:t>Из шести сегодняшних карточек опору несут две. Статус сервера — можно подтвердить прямо на вашей машине: </a:t>
            </a:r>
            <a:r>
              <a:rPr>
                <a:latin typeface="Consolas"/>
              </a:rPr>
              <a:t>claude mcp list</a:t>
            </a:r>
            <a:r>
              <a:t>, явный именованный вызов. А урезанные права роли — можно подтвердить тем же приёмом на своих собственных ролях: </a:t>
            </a:r>
            <a:r>
              <a:rPr>
                <a:latin typeface="Consolas"/>
              </a:rPr>
              <a:t>grep "^tools:" .claude/agents/*.md</a:t>
            </a:r>
            <a:r>
              <a:t> показывает, у скольких из них поле вообще задано, — курс поймал на этом же приёме сам себя: единственный файл, где поле со списком инструментов стоит, резолвится в ноль инструментов, не в ограничение. Остальные четыре карточки опираются на документированное исследование — CVE, контролируемый эксперимент, сотни размеченных трасс. Команды, которую можно выполнить здесь и сейчас, под ними нет.</a:t>
            </a:r>
          </a:p>
          <a:p/>
          <a:p>
            <a:r>
              <a:t>Под частью карточек лежит команда. Под другой частью — нет, и это не спрятано: агент сегодня расширял свой контекст по-разному, и необъявленный пробел в том, что из этого проверяемо, стоил бы дороже объявленного.</a:t>
            </a:r>
          </a:p>
          <a:p/>
          <a:p>
            <a:r>
              <a:t>Ось этого занятия закрыта: все четыре строки теперь можно хотя бы частично проверить.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Что делают команды, которыми проверяется сегодняшний материал.</a:t>
            </a:r>
            <a:r>
              <a:t> </a:t>
            </a:r>
            <a:r>
              <a:rPr>
                <a:latin typeface="Consolas"/>
              </a:rPr>
              <a:t>claude mcp list</a:t>
            </a:r>
            <a:r>
              <a:t> и </a:t>
            </a:r>
            <a:r>
              <a:rPr>
                <a:latin typeface="Consolas"/>
              </a:rPr>
              <a:t>/mcp</a:t>
            </a:r>
            <a:r>
              <a:t> печатают статус подключения и, при явном именованном вызове, доказывают реальную работу сервера. </a:t>
            </a:r>
            <a:r>
              <a:rPr>
                <a:latin typeface="Consolas"/>
              </a:rPr>
              <a:t>grep "^tools:" .claude/agents/*.md</a:t>
            </a:r>
            <a:r>
              <a:t> на любом каталоге ролей печатает, у кого поле </a:t>
            </a:r>
            <a:r>
              <a:rPr>
                <a:latin typeface="Consolas"/>
              </a:rPr>
              <a:t>tools:</a:t>
            </a:r>
            <a:r>
              <a:t> задано явно, а у кого нет вовсе — тот же приём, которым курс поймал сам себя: единственная строка со значением «All tools», которое не распознаётся как ограничение.</a:t>
            </a:r>
          </a:p>
          <a:p/>
          <a:p>
            <a:r>
              <a:rPr i="1"/>
              <a:t>Если спросят, почему опора есть не у всех шести кейсов.</a:t>
            </a:r>
            <a:r>
              <a:t> У двух кейсов доказательная база — документированные случаи и спецификации: сервера, где случился инцидент, давно нет, а чужую роль в чужом репозитории на своей машине не запустишь. Проверяемость здесь другого рода — читается первоисточник, команда не выполняется. Это разница в природе материала, не недосмотр.</a:t>
            </a:r>
          </a:p>
          <a:p/>
          <a:p>
            <a:r>
              <a:rPr i="1"/>
              <a:t>Если спросят, что считать результатом занятия.</a:t>
            </a:r>
            <a:r>
              <a:t> Не количество файлов. Результат — то, что про часть сегодняшнего материала можно задать проверяемый вопрос и получить ответ командой; про другую часть — пока нет, и это сказано прямо.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21040" y="54864"/>
            <a:ext cx="3566160" cy="1755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2979"/>
              </a:lnSpc>
              <a:spcAft>
                <a:spcPts val="0"/>
              </a:spcAft>
            </a:pPr>
            <a:r>
              <a:rPr sz="11000" b="1" i="0">
                <a:solidFill>
                  <a:srgbClr val="33427C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0896"/>
            <a:ext cx="6400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F0AB00"/>
                </a:solidFill>
                <a:latin typeface="Arial"/>
              </a:rPr>
              <a:t>СЕМИНАР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58368"/>
            <a:ext cx="7315200" cy="109728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ts val="3564"/>
              </a:lnSpc>
              <a:spcAft>
                <a:spcPts val="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Доступ наружу и урезанная роль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847088"/>
            <a:ext cx="12191695" cy="64008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amka-n01-hero-sem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708478"/>
            <a:ext cx="12191695" cy="314952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22960" y="2176272"/>
            <a:ext cx="32004" cy="376427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139696"/>
            <a:ext cx="10241280" cy="4495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70"/>
              </a:lnSpc>
              <a:spcAft>
                <a:spcPts val="400"/>
              </a:spcAft>
            </a:pPr>
            <a:r>
              <a:rPr sz="1500" b="0" i="0">
                <a:solidFill>
                  <a:srgbClr val="D6E2EC"/>
                </a:solidFill>
                <a:latin typeface="Arial"/>
              </a:rPr>
              <a:t>«Агент в этом проекте видит только то, что лежит в репозитории и в разговоре с вами. Больше ничего.»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827020"/>
            <a:ext cx="10515600" cy="698578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2955036"/>
            <a:ext cx="9966960" cy="44254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86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«Где заканчивается этот контекст — и что вы заводите первым: доступ наружу или отдельного исполнителя с урезанными правами?»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мы остановились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16786"/>
            <a:ext cx="11183112" cy="2036444"/>
          </a:xfrm>
          <a:prstGeom prst="roundRect">
            <a:avLst>
              <a:gd name="adj" fmla="val 1496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899666"/>
            <a:ext cx="153415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66260" y="1899666"/>
            <a:ext cx="628306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ПУТЬ ИЛИ АРТЕФАКТ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95628" y="1899666"/>
            <a:ext cx="25612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СТАТУС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81733"/>
            <a:ext cx="153415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66260" y="2181733"/>
            <a:ext cx="62830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.claude/settings.json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+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.claude/hooks/selftest-branch-guard.sh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95628" y="2181733"/>
            <a:ext cx="25612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есть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52888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528887"/>
            <a:ext cx="153415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66260" y="2528887"/>
            <a:ext cx="62830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.claude/skills/deploy/SKILL.md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95628" y="2528887"/>
            <a:ext cx="25612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только план, коммита нет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87604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876042"/>
            <a:ext cx="153415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CLAUDE.md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66260" y="2876042"/>
            <a:ext cx="62830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было 24 строки / 4 раздела → стало 40 строк / 5 разделов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95628" y="2876042"/>
            <a:ext cx="25612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есть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22319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223196"/>
            <a:ext cx="153415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DECISIONS.md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66260" y="3223196"/>
            <a:ext cx="628306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документационный слой репозитория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95628" y="3223196"/>
            <a:ext cx="256121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изменений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20742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4548758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«Хук подтверждён коммитом. Скилл остаётся планом. Файл инструкций вырос. Документационный слой на месте.»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Две строки закрыты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67027"/>
            <a:ext cx="11183112" cy="2766695"/>
          </a:xfrm>
          <a:prstGeom prst="roundRect">
            <a:avLst>
              <a:gd name="adj" fmla="val 1101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749907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92055" y="1749907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12740" y="1749907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3425" y="1749907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31974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2055" y="2031974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2740" y="2031974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Отклоняет один паттерн записи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из шести способов коммита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3425" y="2031974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остальных пяти молчит; человека с терминалом не видит вовсе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7442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744254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2055" y="2744254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2740" y="2744254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Загружает файл по точному совпадению описания-триггера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3425" y="2744254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триггера не сработает вообще — содержимого файла до срабатывания в контексте нет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45653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456533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10343" y="3529685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31028" y="3529685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951713" y="3529685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685800" y="380368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803688"/>
            <a:ext cx="1259951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10343" y="387684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31028" y="3876840"/>
            <a:ext cx="2737805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951713" y="3876840"/>
            <a:ext cx="3386846" cy="200850"/>
          </a:xfrm>
          <a:prstGeom prst="roundRect">
            <a:avLst>
              <a:gd name="adj" fmla="val 16666"/>
            </a:avLst>
          </a:prstGeom>
          <a:solidFill>
            <a:srgbClr val="E4E9EF"/>
          </a:solidFill>
          <a:ln w="12700">
            <a:solidFill>
              <a:srgbClr val="E5EA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037810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2668" y="5092674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«Две строки закрыты. Сегодня закрываются ещё две.»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у агента кончается контекст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2381097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2435961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«Агент видит только то, что лежит в репозитории и в разговоре с вами.»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402939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530955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«Где заканчивается этот контекст — и что вы заводите первым: доступ наружу или отдельного исполнителя с урезанными правами?»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блока сегодня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44751"/>
            <a:ext cx="11183112" cy="2072386"/>
          </a:xfrm>
          <a:prstGeom prst="roundRect">
            <a:avLst>
              <a:gd name="adj" fmla="val 1470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27631"/>
            <a:ext cx="108903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БЛОК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21135" y="2027631"/>
            <a:ext cx="320404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71479" y="2027631"/>
            <a:ext cx="261405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31839" y="2027631"/>
            <a:ext cx="332500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09698"/>
            <a:ext cx="10890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доступ наружу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1135" y="2309698"/>
            <a:ext cx="320404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Агенту регулярно нужны данные, которых нет в репозитории. Решаем.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71479" y="2309698"/>
            <a:ext cx="261405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 подключён, а агент через него не ходит. Решаем.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31839" y="2309698"/>
            <a:ext cx="332500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Одобрение, выданное один раз, перестаёт быть окончательным. Решаем.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302197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3021977"/>
            <a:ext cx="108903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урезанная роль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1135" y="3021977"/>
            <a:ext cx="320404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Одна и та же роль переизобретается заново каждую сессию. Решаем.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71479" y="3021977"/>
            <a:ext cx="261405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Роль вернула итог. Действий родитель не видел. Решаем.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1839" y="3021977"/>
            <a:ext cx="3325008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 одной роли добавляется вторая. Границы начинают путаться. Решаем.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621225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8" y="4676089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«Два блока сегодня: доступ наружу и урезанная роль.»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44754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44754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114931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агенту регулярно нужны данные, которых нет в репозитории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85997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Всё, что мы заводили в проекте до сих пор, лежало внутри репозитория. Теперь агенту регулярно нужны данные, которые физически находятся снаружи и меняются без нашего участия.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Субагент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Файлы внутри, файлы снаружи — а трекер задач?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589913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4788" y="1589913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717929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ЧЕМ АГЕНТ УЖЕ ПОЛЬЗУЕТСЯ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4788" y="1717929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А СПИСОК ЗАДАЧ В ТРЕКЕРЕ?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0818" y="1589913"/>
            <a:ext cx="7315" cy="2744724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48756" y="1589913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101977"/>
            <a:ext cx="5381244" cy="1935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Файлы репозитория — агент читает их напрямую, это материал прошлых занятий.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Файлы, которые дали явно: вставили текст в чат, приложили документ.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Оба источника — файлы. Прочитал и работай.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4788" y="2101977"/>
            <a:ext cx="5381244" cy="2232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Заказчик ведёт его отдельно от проекта: в дереве репозитория такого файла нет.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Дать один раз и забыть не выйдет — список меняется без нас каждый день.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Снимок на сегодняшнее утро устареет к обеду. Нужен способ спросить систему в момент работы.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002149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1208" y="5057013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5139309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Такое обращение к системе называется вызовом API. Дальше — что здесь стандартно, а что каждый раз пишут заново.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MCP и сервер, одним экраном</a:t>
            </a:r>
          </a:p>
        </p:txBody>
      </p:sp>
      <p:pic>
        <p:nvPicPr>
          <p:cNvPr id="3" name="Picture 2" descr="mcp-n08-mehaniz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72281"/>
            <a:ext cx="11183112" cy="53119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Заказчик больше не пишет в мессенджер — он ведёт трекер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27835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555851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Сайт живёт третий месяц. Первые недели заказчик писал в мессенджер прямо по ходу работы: «обновите текст на кнопке», «форма не отправляется с телефона». Разработчик предложил заводить такие вещи в трекере репозитория: там обсуждение сохраняется, и статус виден обоим. Заказчик согласился и уже месяц сам заводит задачи там: «форма не отправляется с телефона», «добавьте поле — откуда вы о нас узнали».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317976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537432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353743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Разработчик открывает трекер, копирует текст задачи, вставляет в чат агенту.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867759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3867759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Агент готовит ответ или черновик правки.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4198086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4198086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Разработчик копирует результат и вставляет обратно комментарием в ту же задачу.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182590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5310606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Несколько раз в неделю, и так будет всю жизнь проекта — заказчик уже привык вести задачи именно так. Трекер — не файл репозитория и не разовое вложение: он живёт в отдельной системе и меняется каждый день без участия разработчика.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дать агенту доступ к трекеру задач?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8026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208276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 способ — и почему именно он.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вызвать API напрямую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8803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78531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подключить чужой сервер — удалённо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4686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4414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подключить чужой сервер — локально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0569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0297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написать свой сервер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6452" y="3570732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76180" y="3570732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вызывать готовую команду gh каждый раз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способов, у каждого своя цена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3639058"/>
          </a:xfrm>
          <a:prstGeom prst="roundRect">
            <a:avLst>
              <a:gd name="adj" fmla="val 837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26236"/>
            <a:ext cx="970676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СПОСОБ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2780" y="1126236"/>
            <a:ext cx="3496206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45291" y="1126236"/>
            <a:ext cx="5911556" cy="2595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0"/>
              </a:lnSpc>
              <a:spcAft>
                <a:spcPts val="0"/>
              </a:spcAft>
            </a:pPr>
            <a:r>
              <a:rPr sz="100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85824"/>
            <a:ext cx="97067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вызвать API напрямую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2780" y="1385824"/>
            <a:ext cx="349620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агент сам пишет и шлёт запросы к эндпойнтам, сам разбирает ответ — отдельный код интеграции писать не нужно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45291" y="1385824"/>
            <a:ext cx="591155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заранее не знает спецификацию сервиса: какие есть точки, какие у них параметры и ограничения — без документации или swagger-описания агент их не угадает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198856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1988565"/>
            <a:ext cx="97067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подключить чужой сервер — удалённо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2780" y="1988565"/>
            <a:ext cx="349620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сервис, который кто-то хостит и обновляет сам; у вас не крутится отдельный процесс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5291" y="1988565"/>
            <a:ext cx="591155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управляете не вы: не видно, что сервис делает внутри и когда в нём что-то меняется; плюс обычные вопросы безопасности удалённого сервиса — кому доверяете ключ, у кого ещё есть доступ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59130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591308"/>
            <a:ext cx="97067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подключить чужой сервер — локально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02780" y="2591308"/>
            <a:ext cx="349620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пакет исполняется у вас, конфигурация — строка в репозитории, видна всей команде в ревью; контроля больше, чем у удалённого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5291" y="2591308"/>
            <a:ext cx="591155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это всё равно живой процесс на вашей машине и чужой код — со всеми его зависимостями и правом на обновление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19405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194050"/>
            <a:ext cx="97067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написать свой сервер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2780" y="3194050"/>
            <a:ext cx="349620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даёт ровно нужный набор операций и прав, без чужого кода в процессе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5291" y="3194050"/>
            <a:ext cx="591155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написать минимальный сервер сейчас быстро — для этого есть готовый плагин; дорого обходится поддержка: протокол, чужие пользователи, безопасность транспорта — отдельный проект рядом с основным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7967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796792"/>
            <a:ext cx="97067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вызывать команду </a:t>
            </a:r>
            <a:r>
              <a:rPr sz="1000" b="0" i="0">
                <a:solidFill>
                  <a:srgbClr val="141B2E"/>
                </a:solidFill>
                <a:latin typeface="Consolas"/>
              </a:rPr>
              <a:t>gh</a:t>
            </a:r>
            <a:r>
              <a:rPr sz="1000" b="0" i="0">
                <a:solidFill>
                  <a:srgbClr val="141B2E"/>
                </a:solidFill>
                <a:latin typeface="Arial"/>
              </a:rPr>
              <a:t> каждый раз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02780" y="3796792"/>
            <a:ext cx="349620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готовый официальный CLI GitHub — авторизацию и разбор ответа он уже решил за вас, кода писать не нужно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45291" y="3796792"/>
            <a:ext cx="5911556" cy="6027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5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каждый вызов — отдельная команда без общего списка возможностей: агент не видит заранее, что вообще можно сделать, нужный вызов приходится знать заранее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747006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4875022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для нашего случая — регулярный доступ нескольких сессий к общему трекеру, растущий список операций — </a:t>
            </a:r>
            <a:r>
              <a:rPr sz="1250" b="1" i="0">
                <a:solidFill>
                  <a:srgbClr val="141B2E"/>
                </a:solidFill>
                <a:latin typeface="Consolas"/>
              </a:rPr>
              <a:t>gh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и прямой API остаются рабочими, но оба требуют заранее знать точный вызов на каждое действие: ни один не даёт агенту готового списка возможностей. Свой сервер избыточен, раз официальный для трекера уже есть. Между «удалённо» и «локально» выбора без ответа нет — оба законны: свежий официальный пример для этого же сервиса подключается удалённо, а решение этого занятия — локальный процесс, потому что тогда конфигурация становится кодом в репозитории, видимым в ревью всей команде.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Решаем: какие операции разрешить, потом — какие права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9784"/>
            <a:ext cx="11183112" cy="778949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47800"/>
            <a:ext cx="10634472" cy="522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Ход 1 — что конкретно агент должен делать?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54841" y="2263325"/>
            <a:ext cx="2581874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54841" y="2263325"/>
            <a:ext cx="258187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читать открытые issue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4731" y="2263325"/>
            <a:ext cx="2376987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4731" y="2263325"/>
            <a:ext cx="2376987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писать комментарий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69735" y="2263325"/>
            <a:ext cx="306437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69735" y="2263325"/>
            <a:ext cx="306437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создавать черновик правки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830253"/>
            <a:ext cx="11183112" cy="778949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2958269"/>
            <a:ext cx="10634472" cy="5229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Ход 2 — что даёт широкий персональный токен по умолчанию, и что из этого нужно?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73795"/>
            <a:ext cx="11183112" cy="1904619"/>
          </a:xfrm>
          <a:prstGeom prst="roundRect">
            <a:avLst>
              <a:gd name="adj" fmla="val 1600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956675"/>
            <a:ext cx="4731154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ПРАВО ПО УМОЛЧАНИЮ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3258" y="3956675"/>
            <a:ext cx="5793589" cy="2670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55"/>
              </a:lnSpc>
              <a:spcAft>
                <a:spcPts val="0"/>
              </a:spcAft>
            </a:pPr>
            <a:r>
              <a:rPr sz="1050" b="1" i="0">
                <a:solidFill>
                  <a:srgbClr val="6B7685"/>
                </a:solidFill>
                <a:latin typeface="Arial"/>
              </a:rPr>
              <a:t>НУЖНО ДЛЯ НАШЕГО СПИСКА ОПЕРАЦИЙ?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223756"/>
            <a:ext cx="4731154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все репозитории пользователя, включая приватные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63258" y="4223756"/>
            <a:ext cx="5793589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нет — вычеркнуть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454170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4541700"/>
            <a:ext cx="4731154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чтение и запись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63258" y="4541700"/>
            <a:ext cx="5793589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частично — чтение нужно, запись (комментарий, черновик) нужна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485964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4859645"/>
            <a:ext cx="4731154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управление настройками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63258" y="4859645"/>
            <a:ext cx="5793589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нет — вычеркнуть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517758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5177589"/>
            <a:ext cx="4731154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удаление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63258" y="5177589"/>
            <a:ext cx="5793589" cy="317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07"/>
              </a:lnSpc>
              <a:spcAft>
                <a:spcPts val="0"/>
              </a:spcAft>
            </a:pPr>
            <a:r>
              <a:rPr sz="1050" b="0" i="0">
                <a:solidFill>
                  <a:srgbClr val="141B2E"/>
                </a:solidFill>
                <a:latin typeface="Arial"/>
              </a:rPr>
              <a:t>нет — вычеркнуть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843006"/>
            <a:ext cx="82296" cy="47904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5971022"/>
            <a:ext cx="10643616" cy="2230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Остаётся: один репозиторий, чтение issue, создание черновика правки.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Решаем: где хранить ключ и в какую область положить файл</a:t>
            </a:r>
          </a:p>
        </p:txBody>
      </p:sp>
      <p:pic>
        <p:nvPicPr>
          <p:cNvPr id="3" name="Picture 2" descr="mcp-n13-oblas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55349"/>
            <a:ext cx="11183112" cy="46689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Собранный файл: что значит каждая строка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1701927"/>
          </a:xfrm>
          <a:prstGeom prst="roundRect">
            <a:avLst>
              <a:gd name="adj" fmla="val 11939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979932"/>
            <a:ext cx="50292" cy="162877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22376" y="1126236"/>
            <a:ext cx="10744200" cy="133616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141B2E"/>
                </a:solidFill>
                <a:latin typeface="Consolas"/>
              </a:rPr>
              <a:t>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141B2E"/>
                </a:solidFill>
                <a:latin typeface="Consolas"/>
              </a:rPr>
              <a:t>  "mcpServers": 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141B2E"/>
                </a:solidFill>
                <a:latin typeface="Consolas"/>
              </a:rPr>
              <a:t>    "github": {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141B2E"/>
                </a:solidFill>
                <a:latin typeface="Consolas"/>
              </a:rPr>
              <a:t>      "command": "npx",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141B2E"/>
                </a:solidFill>
                <a:latin typeface="Consolas"/>
              </a:rPr>
              <a:t>      "args": ["-y", "@modelcontextprotocol/server-github"],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141B2E"/>
                </a:solidFill>
                <a:latin typeface="Consolas"/>
              </a:rPr>
              <a:t>      "env": { "GITHUB_PERSONAL_ACCESS_TOKEN": "${GITHUB_PAT}" }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141B2E"/>
                </a:solidFill>
                <a:latin typeface="Consolas"/>
              </a:rPr>
              <a:t>    }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141B2E"/>
                </a:solidFill>
                <a:latin typeface="Consolas"/>
              </a:rPr>
              <a:t>  }</a:t>
            </a:r>
          </a:p>
          <a:p>
            <a:pPr algn="l">
              <a:lnSpc>
                <a:spcPts val="1105"/>
              </a:lnSpc>
              <a:spcAft>
                <a:spcPts val="0"/>
              </a:spcAft>
            </a:pPr>
            <a:r>
              <a:rPr sz="850" b="0" i="0">
                <a:solidFill>
                  <a:srgbClr val="141B2E"/>
                </a:solidFill>
                <a:latin typeface="Consolas"/>
              </a:rPr>
              <a:t>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09875"/>
            <a:ext cx="11183112" cy="1317498"/>
          </a:xfrm>
          <a:prstGeom prst="roundRect">
            <a:avLst>
              <a:gd name="adj" fmla="val 23134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58952" y="312547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3029331"/>
            <a:ext cx="10360152" cy="2928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mcpServers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корень: все серверы этой области.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"github"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имя сервера: под ним агент зовёт инструменты,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mcp__github__…</a:t>
            </a:r>
            <a:r>
              <a:rPr sz="1100" b="0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3418332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322193"/>
            <a:ext cx="10360152" cy="2928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"command"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"args"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чем запускается и что именно: пакет самого сервера.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" y="371119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6424" y="3615055"/>
            <a:ext cx="10360152" cy="2928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"env"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окружение процесса;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${GITHUB_PAT}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— подстановка, не сам секрет.</a:t>
            </a:r>
          </a:p>
        </p:txBody>
      </p:sp>
      <p:pic>
        <p:nvPicPr>
          <p:cNvPr id="13" name="Picture 12" descr="mcp-n14-priorit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4646" y="4291965"/>
            <a:ext cx="9079659" cy="19861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Подключение стоит токенов — но это цена худшего случая</a:t>
            </a:r>
          </a:p>
        </p:txBody>
      </p:sp>
      <p:pic>
        <p:nvPicPr>
          <p:cNvPr id="3" name="Picture 2" descr="mcp-n15-dolya-ok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879" y="1319784"/>
            <a:ext cx="10617193" cy="25879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4072316"/>
            <a:ext cx="82296" cy="1156208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4200332"/>
            <a:ext cx="10643616" cy="9001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Сопоставление по способам доступа, не одна цифра.</a:t>
            </a:r>
            <a:r>
              <a:rPr sz="1400" b="1" i="0">
                <a:solidFill>
                  <a:srgbClr val="141B2E"/>
                </a:solidFill>
                <a:latin typeface="Arial"/>
              </a:rPr>
              <a:t> Постоянная плата — имя и инструкция каждого подключённого сервера в контексте всегда — одинакова у своего сервера, у чужого локально и у чужого удалённо: транспорт и авторство на неё не влияют, влияет только число подключённых серверов и их инструментов. Не платит её только то, что вообще не MCP-сервер — прямой вызов API или команда вроде </a:t>
            </a:r>
            <a:r>
              <a:rPr sz="1400" b="1" i="0">
                <a:solidFill>
                  <a:srgbClr val="141B2E"/>
                </a:solidFill>
                <a:latin typeface="Consolas"/>
              </a:rPr>
              <a:t>gh</a:t>
            </a:r>
            <a:r>
              <a:rPr sz="1400" b="1" i="0">
                <a:solidFill>
                  <a:srgbClr val="141B2E"/>
                </a:solidFill>
                <a:latin typeface="Arial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5393116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5521132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Проверить у себя: не выставлен ли </a:t>
            </a:r>
            <a:r>
              <a:rPr sz="1350" b="1" i="0">
                <a:solidFill>
                  <a:srgbClr val="141B2E"/>
                </a:solidFill>
                <a:latin typeface="Consolas"/>
              </a:rPr>
              <a:t>ENABLE_TOOL_SEARCH=false</a:t>
            </a:r>
            <a:r>
              <a:rPr sz="1350" b="1" i="0">
                <a:solidFill>
                  <a:srgbClr val="141B2E"/>
                </a:solidFill>
                <a:latin typeface="Arial"/>
              </a:rPr>
              <a:t>, и что реально показывает карточка конкретного сервера в сессии — это команда, которая не устаревает, в отличие от самой цифры.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Чужая инструкция в issue заставила агента опубликовать приватный 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9784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447800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88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Вернёмся к экрану со-сборки. Мы вычеркнули строку «все репозитории, включая приватные» — вот ровно тот случай, где это решило дело.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36648"/>
            <a:ext cx="82296" cy="8648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2264664"/>
            <a:ext cx="10643616" cy="6088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Смертельное трио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(Simon Willison, 16.06.2025): доступ к приватным данным + обработка недоверенного внешнего контента + канал наружу. При всех трёх атакующему достаточно написать текст, который агент прочитает в рамках обычной работы.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66110"/>
            <a:ext cx="11183112" cy="2992500"/>
          </a:xfrm>
          <a:prstGeom prst="roundRect">
            <a:avLst>
              <a:gd name="adj" fmla="val 10185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348990"/>
            <a:ext cx="137583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СЛОЙ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07934" y="3348990"/>
            <a:ext cx="522779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ПРОИЗОШЛО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2029" y="3348990"/>
            <a:ext cx="377481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БАЗА СРАВНЕНИЯ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31057"/>
            <a:ext cx="1375830" cy="1340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1 · эксфильтрация в связке (Invariant Labs, май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07934" y="3631057"/>
            <a:ext cx="5227790" cy="1340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Агент с токеном на все репозитории пользователя, включая приватные. Атакующий создаёт в публичном репозитории issue с инструкцией собрать данные о других репозиториях и опубликовать здесь. Разработчик просит агента разобраться с открытыми issue — агент честно читает их, инструкция попадает в контекст как задача, читает приватные репозитории, публикует их содержимое в автоматически созданном публичном PR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2029" y="3631057"/>
            <a:ext cx="3774818" cy="1340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уязвимости не присвоен номер — архитектурный класс связки прав, не брешь кода. Убрать строку «все репозитории, включая приватные» — читать нечего, сценарий не проходит вообще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497135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4971351"/>
            <a:ext cx="1375830" cy="10043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2 · без модели вообще (CVE-2026-61742, DBHub, CVSS 9.3 из 10)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07934" y="4971351"/>
            <a:ext cx="5227790" cy="10043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HTTP-транспорт по умолчанию слушает без аутентификации, защита от межсайтовых запросов обходится DNS rebinding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2029" y="4971351"/>
            <a:ext cx="3774818" cy="10043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 вторичному техническому разбору (Strix.ai) — два HTTP-запроса и ноль учётных данных до захвата; то же трио здесь не единственный путь к утечке — сервер сам может быть незащищённым сетевым сервисом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MCP нужен, а когда не нужен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1150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509166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Есть доступ наружу. Следующий вопрос — что происходит, когда сервер подключён, а агент через него не ходит.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795422"/>
            <a:ext cx="5454396" cy="2875534"/>
          </a:xfrm>
          <a:prstGeom prst="roundRect">
            <a:avLst>
              <a:gd name="adj" fmla="val 1059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90515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MCP НУЖЕН, КОГДА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7947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доступ нужен регулярно, из нескольких сессий — разового снимка данных недостаточно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367045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367045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вы готовы поддерживать ещё один постоянно работающий процесс с доступом к секретам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416143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416143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операций больше одной, и агент сам решает, когда к ним обращаться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65241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652416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подключение не достраивает третий элемент смертельного трио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2795422"/>
            <a:ext cx="5454396" cy="2875534"/>
          </a:xfrm>
          <a:prstGeom prst="roundRect">
            <a:avLst>
              <a:gd name="adj" fmla="val 10599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4516" y="2905150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MCP НЕ НУЖЕН, КОГДА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4516" y="3179470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доступ разовый или редкий, и снимка данных на сегодняшний день достаточно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367045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367045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такой готовности нет — тогда разовый вызов надёжнее процесса, который никто не обслуживает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414516" y="4161434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14516" y="4161434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сводится к одному известному вызову CLI — тридцатидвухкратная разница по токенам не исчезнет, даже если полностью довериться серверу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14516" y="482475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14516" y="4824755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подключение достраивает третий элемент смертельного трио — доступ к приватным данным и обработка чужого текста уже есть, остаётся канал наружу; это стоп-критерий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44754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44754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114931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сервер подключён, а агент через него не ходит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85997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Сервер подключён правильно, права вычеркнуты, ключ в переменной окружения. И всё равно непонятно, ходит ли агент через него вообще, а статус продолжает гореть зелёным.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Субагент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бы ни ответил агент, в репозитории — ничего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93698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521714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Сервер доступа к трекеру — тот самый, что собрали в прошлом кейсе, — стоит уже две недели.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71750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290607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2791206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Понедельник: разработчик просит агента посмотреть входящие issue за выходные и подготовить черновики.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323640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121533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Агент отвечает одним из трёх: «всё сделал» · «новых задач не нашёл» · «во входящих пусто».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356673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451860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В репозитории — ни одного нового черновика, ни одного комментария, ни в одном из трёх случаев.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669155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797171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claude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mcp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list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показывает ровно то же, что и всю неделю: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✔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Connected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Зелёная отметка значит одно — процесс сервера поднят и ответил на рукопожатие. Пользовался ли им агент в этой конкретной задаче, она не говорит.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Статус зелёный, результата — ноль. Что дальше?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41678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596542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678838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Сервер стоит две недели. Агент в разных формах отчитался, что посмотрел задачи, — в репозитории ни одного черновика, а статус подключения не менялся всю неделю.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888132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016148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вы проверите дальше.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7860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7860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статус зелёный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5274" y="437860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5002" y="437860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посмотреть, что именно показывает статус подробнее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7628" y="437860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77356" y="437860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спросить агента, почему он решил, что всё сделал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9982" y="4378604"/>
            <a:ext cx="2686050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09710" y="4378604"/>
            <a:ext cx="2466594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явно попросить агента обратиться к серверу по имени и показать вызов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варианта сужают, доказывает — только вызов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05611"/>
            <a:ext cx="11183112" cy="3314382"/>
          </a:xfrm>
          <a:prstGeom prst="roundRect">
            <a:avLst>
              <a:gd name="adj" fmla="val 919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88491"/>
            <a:ext cx="209664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8748" y="1388491"/>
            <a:ext cx="422492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99972" y="1388491"/>
            <a:ext cx="405687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70558"/>
            <a:ext cx="209664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статус зелёный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8748" y="1670558"/>
            <a:ext cx="422492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подтверждает: процесс сервера поднят и ответил на рукопожатие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99972" y="1670558"/>
            <a:ext cx="405687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проверяет, обращался ли к нему агент в этой задаче — это два разных факта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0027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200275"/>
            <a:ext cx="209664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посмотреть, что именно показывает статус подробнее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8748" y="2200275"/>
            <a:ext cx="42249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различает «процесс не поднялся», «список инструментов не получен», «нужна авторизация» — сужает круг причин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99972" y="2200275"/>
            <a:ext cx="40568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показывает, вызывал ли агент сервер именно сейчас — статус живёт отдельно от конкретной задачи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1255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12554"/>
            <a:ext cx="209664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спросить агента, почему он решил, что всё сделал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8748" y="2912554"/>
            <a:ext cx="42249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иногда вскрывает прямо: агент признаётся, что не нашёл способа проверить и ответил по смыслу задачи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99972" y="2912554"/>
            <a:ext cx="40568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агент пересказывает своё понимание, не наблюдение, — это тоже не факт о транспорте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62483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624833"/>
            <a:ext cx="209664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явно попросить обратиться к серверу по имени и показать вызов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8748" y="3624833"/>
            <a:ext cx="4224920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доказывает: в выводе вызов инструмента подписан именем сервера — факт, не предположение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99972" y="3624833"/>
            <a:ext cx="405687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 заранее знать имя сервера и чуть более точной формулировки задачи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187505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5315521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первые три сужают картину, но ни один не факт. Доказывает работу только явный именованный вызов — разбираем его дальше.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понять, что сервер реально работает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77975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605991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Consolas"/>
              </a:rPr>
              <a:t>claude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mcp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list</a:t>
            </a:r>
            <a:r>
              <a:rPr sz="1500" b="1" i="0">
                <a:solidFill>
                  <a:srgbClr val="141B2E"/>
                </a:solidFill>
                <a:latin typeface="Arial"/>
              </a:rPr>
              <a:t>/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/mcp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показывает больше, чем одно слово «подключено» — отдельно видно, поднялся ли сам процесс и получен ли список инструментов. Но даже такой подробный статус — факт про процесс, не про то, обращался ли к нему именно агент в этой задаче.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2846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25648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Доказательный вызов.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Явное упоминание сервера в запросе: «используя сервер такой-то, узнай…». Признак, что ответ пришёл именно оттуда, — вызов инструмента в выводе подписан именем сервера.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542739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4670755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Если ответ не приходит сразу — не спешите считать это сбоем. Запуск самого сервера и выполнение уже начатого вызова идут по разным часам: второе объективно может занимать заметно дольше первого.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Как спросить агента, чтобы было что проверить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13204"/>
            <a:ext cx="82296" cy="784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141220"/>
            <a:ext cx="10643616" cy="528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Плохо: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«Посмотри, что скопилось во входящих, и подготовь черновики.»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Ни «нашёл», ни «не нашёл» это не доказывает — агент мог ответить, не обращаясь к серверу вовсе.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465576"/>
            <a:ext cx="82296" cy="12573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3593592"/>
            <a:ext cx="10643616" cy="10012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Хорошо: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«Используя сервер трекера, выведи список открытых задач, затем подготовь черновик по каждой.»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Явное имя сервера в запросе — и есть доказательный вызов: дальше смотрим, подписан ли вызов в выводе именем сервера.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Процедура, не файл: строка правила в CLAUDE.md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3571"/>
            <a:ext cx="11183112" cy="97155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58952" y="1729054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" y="1513027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Consolas"/>
              </a:rPr>
              <a:t>CLAUDE.md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раздел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Repository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etiquette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добавлена строка: «После подключения любого MCP-сервера и после любого подозрения в тишине — явный именованный вызов сервера, прежде чем доверять зелёному статусу».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3263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306064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Это строка в файле, который уже есть, не новый артефакт — и она проверяется так же, как остальные правила этого проекта: прочитана, не исполняется сама.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46905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4474921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Почему именно CLAUDE.md, не хук.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В прошлом занятии в этом же файле уже стояли оба вида правил рядом: «Repository etiquette» — записанное словами, читает человек или агент; «Хук защиты ветки» — код, который срабатывает сам на конкретное событие. Здесь правило снова первого вида: «подозрение в тишине» нельзя заранее описать как событие для хука — это решение принимает человек.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Статус зелёный, а то, что обещано, — не то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49043"/>
            <a:ext cx="11183112" cy="2620073"/>
          </a:xfrm>
          <a:prstGeom prst="roundRect">
            <a:avLst>
              <a:gd name="adj" fmla="val 1163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31923"/>
            <a:ext cx="109916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СЛОЙ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31273" y="2231923"/>
            <a:ext cx="567603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ЭТО ЗНАЧИЛО ДЛЯ ТЕХ, КТО ЭТИМ ПОЛЬЗОВАЛСЯ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53609" y="2231923"/>
            <a:ext cx="3603238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КАК ЗАМЕТИЛИ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13990"/>
            <a:ext cx="1099169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1 · сервер сам говорит неправду о своём режиме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31273" y="2513990"/>
            <a:ext cx="567603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Команда была уверена, что работает в безопасном read-only режиме с чужой базой данных — а соединение на деле позволяло менять данные. Сами разработчики сервера были уверены, что ограничение работает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53609" y="2513990"/>
            <a:ext cx="3603238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обнаружили только тогда, когда кто-то выполнил запрос с реальным побочным эффектом и увидел, что он прошёл — чтение настройки ничего не показывало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59139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591394"/>
            <a:ext cx="1099169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2 · доступ пропадает тихо, статус жив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31273" y="3591394"/>
            <a:ext cx="5676032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Инструменты, которые ещё вчера работали, однажды перестали — без предупреждения, без красного статуса;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claude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list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продолжал показывать «подключён»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53609" y="3591394"/>
            <a:ext cx="3603238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заметили по тому, что обычные вызовы начали требовать повторного входа, не по статусу подключения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достаточно посмотреть на статус, а когда нужно вызвать самому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3446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86248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Мы научились проверять, что подключённое действительно работает. Следующий вопрос — что происходит с тем, что мы один раз уже одобрили.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148736"/>
            <a:ext cx="5454396" cy="2556891"/>
          </a:xfrm>
          <a:prstGeom prst="roundRect">
            <a:avLst>
              <a:gd name="adj" fmla="val 1192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5846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ДОСТАТОЧНО ПОСМОТРЕТЬ НА СТАТУС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3278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сервер используется нерегулярно, под наблюдением человека при каждом вызове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3148736"/>
            <a:ext cx="5454396" cy="2556891"/>
          </a:xfrm>
          <a:prstGeom prst="roundRect">
            <a:avLst>
              <a:gd name="adj" fmla="val 1192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325846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НУЖНО ВЫЗВАТЬ САМОМУ — ИЛИ РЕШЕНИЕ НЕ ПОДКЛЮЧАТЬ ВОВСЕ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353278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доверять флагу, который сервер не может независимо подтвердить, — не нужно никогда: проверяйте явным вызовом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14516" y="402376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14516" y="4023766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если для задачи хватило бы режима только чтения, а сервер не даёт способа убедиться, что он реально включён, — разумнее завести отдельную роль с урезанными правами на уровне самой базы данных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14516" y="485942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14516" y="4859426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явный вызов систематически не проходит и автор сервера не отвечает — вопрос смещается туда же, где решался первый кейс этого блока: подключать ли сервер вообще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59003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59003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257425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Решаем, что делать, когда одобрение, выданное один раз, перестаёт быть окончательным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28491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Сервер одобрили один раз, несколько недель назад, и с тех пор ни разу не трогали его настройку. Решаем, что с этим делать.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9FAEC4"/>
                </a:solidFill>
                <a:latin typeface="Arial"/>
              </a:rPr>
              <a:t>Субагент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Сервер обновился сам. Никто не заметил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95940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08742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Сервер уведомлений: отправляет сообщение в рабочий канал при каждом успешном прогоне тестов перед показом. Инструмент одобрили один раз, при первом вызове.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373678"/>
            <a:ext cx="11183112" cy="1429893"/>
          </a:xfrm>
          <a:prstGeom prst="roundRect">
            <a:avLst>
              <a:gd name="adj" fmla="val 2131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58952" y="3708006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59313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Пакет подключён через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npx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Arial"/>
              </a:rPr>
              <a:t>-y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без зафиксированной версии.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403833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3923461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Сервер обновился сам — это свойство самого способа подключения, не наблюдение задним числом.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436866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4253788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Уведомления приходили, как и раньше. Никто не заметил.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Одобрили один раз. Что меняем в работе с этим?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58314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2186330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Что из перечисленного вы бы изменили в том, как команда работает с уже одобренными серверами?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одобрили один раз, вопрос решён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68803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78531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перечитывать описание инструмента при каждом обновлении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34686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4414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зафиксировать версию сервера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0569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0297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запретить автообновление пакета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6452" y="3548786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76180" y="3548786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сервер официальный — значит не обновляется тайно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Фиксация версии и перечитывание — последовательность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32560"/>
            <a:ext cx="11183112" cy="3296411"/>
          </a:xfrm>
          <a:prstGeom prst="roundRect">
            <a:avLst>
              <a:gd name="adj" fmla="val 924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15440"/>
            <a:ext cx="220434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36449" y="1615440"/>
            <a:ext cx="347378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56534" y="1615440"/>
            <a:ext cx="470031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97507"/>
            <a:ext cx="220434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одобрили один раз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36449" y="1897507"/>
            <a:ext cx="347378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 никогда не обновляется, описание не меняется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56534" y="1897507"/>
            <a:ext cx="47003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доверие — по имени сервера, не по тексту описания: изменение проходит незамеченным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42722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427224"/>
            <a:ext cx="220434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 официальный — не обновляется тайно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6449" y="2427224"/>
            <a:ext cx="347378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снижает вероятность злого умысла издателя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534" y="2427224"/>
            <a:ext cx="47003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отменяет механики: легитимное обновление меняет текст тем же путём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5694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56941"/>
            <a:ext cx="220434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запретить автообновление пакета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6449" y="2956941"/>
            <a:ext cx="347378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закрывает канал целиком, если источник зафиксирован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534" y="2956941"/>
            <a:ext cx="47003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задаёт версию — это следующий шаг, не альтернатива ему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48665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486658"/>
            <a:ext cx="220434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зафиксировать версию сервера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36449" y="3486658"/>
            <a:ext cx="347378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даёт контролируемую точку: обновление — по вашему решению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56534" y="3486658"/>
            <a:ext cx="47003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читает содержимое обновления — нужен отдельный шаг проверки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01637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016374"/>
            <a:ext cx="2204345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перечитывать описание при каждом обновлении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36449" y="4016374"/>
            <a:ext cx="347378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закрывает канал смены доверенного поведения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56534" y="4016374"/>
            <a:ext cx="470031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требует, чтобы обновление было замечено — без фиксации версии узнать нечем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175504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303520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Из сочетания колонок: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зафиксировать версию и перечитывать её при сознательном обновлении — последовательность, не альтернатива. «Ничего» и «официальность — гарантия» оба не держат проверку: держит дисциплина, применённая к уже одобренному, не только к новому.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Доверие держится на имени, не на тексте описания</a:t>
            </a:r>
          </a:p>
        </p:txBody>
      </p:sp>
      <p:pic>
        <p:nvPicPr>
          <p:cNvPr id="3" name="Picture 2" descr="mcp-n31-tsepoch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4029"/>
            <a:ext cx="11183112" cy="290760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Версия зафиксирована. Проверка — записана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495397"/>
            <a:ext cx="11183112" cy="1504188"/>
          </a:xfrm>
          <a:prstGeom prst="roundRect">
            <a:avLst>
              <a:gd name="adj" fmla="val 2026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58952" y="2930880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" y="2714853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Consolas"/>
              </a:rPr>
              <a:t>.mcp.json</a:t>
            </a:r>
            <a:r>
              <a:rPr sz="1350" b="0" i="0">
                <a:solidFill>
                  <a:srgbClr val="141B2E"/>
                </a:solidFill>
                <a:latin typeface="Arial"/>
              </a:rPr>
              <a:t>: версия пакета — прямо в команде запуска,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npx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Arial"/>
              </a:rPr>
              <a:t>-y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@team/notify-mcp@2.3.1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вместо того чтобы подтягивать последнюю версию при каждом старте.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" y="3463518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3247491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Consolas"/>
              </a:rPr>
              <a:t>DECISIONS.md</a:t>
            </a:r>
            <a:r>
              <a:rPr sz="1350" b="0" i="0">
                <a:solidFill>
                  <a:srgbClr val="141B2E"/>
                </a:solidFill>
                <a:latin typeface="Arial"/>
              </a:rPr>
              <a:t>: дата, версия, кто проверил описание инструментов перед обновлением — туда же, куда в этом проекте уже уходят архитектурные решения. Не новый формат файла.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Восемь из восьми, три вызова в запасе, полторы недели тишины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09128"/>
            <a:ext cx="11183112" cy="3149790"/>
          </a:xfrm>
          <a:prstGeom prst="roundRect">
            <a:avLst>
              <a:gd name="adj" fmla="val 967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92008"/>
            <a:ext cx="512040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СЛУЧИЛОСЬ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52511" y="1692008"/>
            <a:ext cx="540433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КАК ОБ ЭТОМ УЗНАЛИ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974075"/>
            <a:ext cx="512040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Юникод-символы, невидимые человеку, спрятали инструкцию в описании инструмента (Rashidi, arXiv:2607.05744) — модель получала её в 8 из 8 попыток, ни разу не включив повторное одобрение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52511" y="1974075"/>
            <a:ext cx="5404336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Контролируемый эксперимент: исследователи специально это искали. Фильтр по тексту описания дал 0 ложных срабатываний на 25 безобидных описаниях: фильтр здесь ни при чём, подводит сама архитектура доверия по имени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86891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868917"/>
            <a:ext cx="5120407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Сервер (кампания Deadbugz), распространённый через 23 правки на GitHub за 74 минуты, вёл себя безобидно ровно три вызова — и только потом начинал искать SSH-ключи и учётные данные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52511" y="2868917"/>
            <a:ext cx="5404336" cy="89484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Нашли исследователи безопасности, разбирая опубликованные серверы, — не команда, которая его бы поставила: порог в три вызова рассчитан именно на то, чтобы пройти обычную проверку «попробовал — работает»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76375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763759"/>
            <a:ext cx="512040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Уже одобренный пакет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postmark-mcp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получил вредоносный код при обычном обновлении: каждое отправленное письмо тайно копировалось на адрес атакующего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52511" y="3763759"/>
            <a:ext cx="5404336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Около полутора недель (17–29.09.2025) это оставалось незамеченным — заметили саму рассылку, после чего пакет сняли с npm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296871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424887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Фиксируйте версию сервера. Перечитывайте изменения при обновлении. Одобрение — не решённый вопрос навсегда.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До каких пор действует старое одобрение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52169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180185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 конфигурации теперь пять файлов: к четырём, с которых мы начали занятие, добавился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.mcp.json</a:t>
            </a:r>
            <a:r>
              <a:rPr sz="1500" b="1" i="0">
                <a:solidFill>
                  <a:srgbClr val="141B2E"/>
                </a:solidFill>
                <a:latin typeface="Arial"/>
              </a:rPr>
              <a:t>. Он и дал агенту руки — агент дотягивается до внешней системы, под правами, которые мы вычеркнули сами, и с проверкой, которую мы теперь умеем делать. Чем больше агент может сделать сам, тем острее следующий вопрос: одна и та же роль повторяется из сессии в сессию, или в каждой сессии её приходится объяснять заново?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44215"/>
            <a:ext cx="5454396" cy="3220212"/>
          </a:xfrm>
          <a:prstGeom prst="roundRect">
            <a:avLst>
              <a:gd name="adj" fmla="val 946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053943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ДОСТАТОЧНО ПЕРИОДИЧЕСКОГО ВНИМАНИЯ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282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сервер не обновляется автоматически, версия зафиксирована, обновление — ваше явное решение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2944215"/>
            <a:ext cx="5454396" cy="3220212"/>
          </a:xfrm>
          <a:prstGeom prst="roundRect">
            <a:avLst>
              <a:gd name="adj" fmla="val 946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3053943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НЕ НУЖНО НИКОГДА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3328263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полагаться на «одобрили один раз» как на постоянную гарантию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14516" y="3819245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14516" y="3819245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держать дисциплиной действие, которое требует подтверждения на каждом вызове: для этого нужна аннотация </a:t>
            </a:r>
            <a:r>
              <a:rPr sz="1150" b="0" i="0">
                <a:solidFill>
                  <a:srgbClr val="141B2E"/>
                </a:solidFill>
                <a:latin typeface="Consolas"/>
              </a:rPr>
              <a:t>requiresUserInteraction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у автора сервера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14516" y="448256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14516" y="4482566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считать себя защищённым, если автор сервера аннотацию не поставил: технического принуждения к повторному одобрению тогда не существует вовсе — только дисциплина версии и перечитывания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14516" y="531822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414516" y="5318226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оставлять шаг в автоматизации, если и дисциплины, и аннотации всё равно недостаточно для его чувствительности — такое действие выполняет человек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44754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44754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114931"/>
            <a:ext cx="9144000" cy="13601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Одна и та же роль переизобретается заново каждую сессию. Решаем, что завести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85997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Делегировать отдельной роли вы уже умеете, и это ничего не стоит — а одна и та же проверка переизобретается заново в каждой сессии. Решаем, что из повторяющейся работы стоит закрепить.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Правка готова. Проверка расходится, а один раз агент поправил код сам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4792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47594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Разработчик попросил ужесточить проверку email в форме: старое поведение пропускало адрес без точки в домене, и такая заявка уже пришла от заказчика.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329637"/>
            <a:ext cx="11183112" cy="2974086"/>
          </a:xfrm>
          <a:prstGeom prst="roundRect">
            <a:avLst>
              <a:gd name="adj" fmla="val 1024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549093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549093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Сессия, которая писала правку, проверяет её ещё раз сама, максимально внимательно. Ничего нового не находит — это тот же контекст рассуждений, с которым правка и писалась.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081731"/>
            <a:ext cx="329184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3081731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Разработчик просит проверить отдельным агентом. Это работает немедленно, без единой строки настройки: встроенный субагент получает задачу в собственном контекстном окне, истории рассуждений не видит, возвращает только итог.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816680"/>
            <a:ext cx="329184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816680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Проходит три недели такой работы. Формулировка задачи для проверки каждый раз пишется заново — и расходится: один ответ содержит раздел «что проверено», другой не содержит, в третьем вердикт спрятан в середине абзаца.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4551629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4551629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Один раз агент не просто нашёл проблему в выражении проверки адреса — он сам её поправил, по-своему. О правке узнали из diff.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538673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666689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Делегирование сработало сразу, без единой строки настройки. Формулировка расходится от раза к разу, а однажды роль не доложила о находке — она её исправила сама.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Процесс, контекстное окно, список инструментов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49178"/>
            <a:ext cx="5381244" cy="45720"/>
          </a:xfrm>
          <a:prstGeom prst="rect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304788" y="1049178"/>
            <a:ext cx="5381244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77194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БАЗА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4788" y="1177194"/>
            <a:ext cx="53812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8A6200"/>
                </a:solidFill>
                <a:latin typeface="Arial"/>
              </a:rPr>
              <a:t>ЧТО РЕШАЕТ ИСХОД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0818" y="1049178"/>
            <a:ext cx="7315" cy="3915155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48756" y="1049178"/>
            <a:ext cx="91440" cy="9144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561242"/>
            <a:ext cx="5381244" cy="34030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Субагент — отдельный процесс со своим контекстным окном, вызываемый на одну задачу.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Задача приходит текстом, роль возвращает родителю только итог.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Список инструментов определяет, что роль может сделать физически.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4788" y="1561242"/>
            <a:ext cx="5381244" cy="28270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Вызывает его по имени явно либо модель выбирает сама по описанию — решает описание роли, не её название.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Промежуточных действий родитель не видит: ни какие файлы открыты, ни какие запросы сделаны.</a:t>
            </a:r>
          </a:p>
          <a:p>
            <a:pPr algn="l">
              <a:lnSpc>
                <a:spcPts val="2340"/>
              </a:lnSpc>
              <a:spcAft>
                <a:spcPts val="600"/>
              </a:spcAft>
            </a:pPr>
            <a:r>
              <a:rPr sz="1800" b="0" i="0">
                <a:solidFill>
                  <a:srgbClr val="141B2E"/>
                </a:solidFill>
                <a:latin typeface="Arial"/>
              </a:rPr>
              <a:t>Если список не указан вовсе, роль получает все инструменты, доступные субагентам, без исключений.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031646"/>
            <a:ext cx="1262066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031646"/>
            <a:ext cx="126206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описание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93002" y="4031646"/>
            <a:ext cx="2039544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93002" y="4031646"/>
            <a:ext cx="2039544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контекстное окно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561998"/>
            <a:ext cx="2356350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4561998"/>
            <a:ext cx="235635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065A82"/>
                </a:solidFill>
                <a:latin typeface="Arial"/>
              </a:rPr>
              <a:t>список инструментов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340572"/>
            <a:ext cx="11183112" cy="8812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208" y="5395436"/>
            <a:ext cx="64008" cy="7715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5477732"/>
            <a:ext cx="10643616" cy="606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Переносимость, фактом: приём — отдельная роль со своим контекстным окном — есть у нескольких продуктов для работы с кодом. Запись расходится: где-то это markdown с инструкцией телом файла, у одного — формат с отдельным полем инструкции. Общей спецификации нет ни у одного.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Делегировать уже умеете. Что завести рядом?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17168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172032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254328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Делегировать отдельному агенту вы уже умеете — это ничего не стоит и не требует ни одной строчки конфигурации.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431808"/>
            <a:ext cx="32004" cy="525780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8" y="2486672"/>
            <a:ext cx="10730484" cy="4160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1" i="1">
                <a:solidFill>
                  <a:srgbClr val="6B7685"/>
                </a:solidFill>
                <a:latin typeface="Arial"/>
              </a:rPr>
              <a:t>И всё равно раз за разом формулируете задачу заново, получаете несравнимые между собой ответы, а один раз агент вместо находки внёс правку сам.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93287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3721303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теперь стоит завести — из карточек ниже — и обоснуйте выбор рядом со встроенным делегированием, которое у вас уже есть и ничего не стоит.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делегирование уже есть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68803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78531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писать запрос подробнее каждый раз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34686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4414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сохранить запрос в скилл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00569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10297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кастомный субагент: имя + ограниченные права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66452" y="5015369"/>
            <a:ext cx="2119579" cy="1051560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76180" y="5015369"/>
            <a:ext cx="1900123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позвать коллегу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Пять вариантов, у каждого свой случай и своя цена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74636"/>
            <a:ext cx="11183112" cy="3844099"/>
          </a:xfrm>
          <a:prstGeom prst="roundRect">
            <a:avLst>
              <a:gd name="adj" fmla="val 7929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57516"/>
            <a:ext cx="19490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1156" y="1157516"/>
            <a:ext cx="351889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46358" y="1157516"/>
            <a:ext cx="491048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39583"/>
            <a:ext cx="19490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делегирование уже есть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1156" y="1439583"/>
            <a:ext cx="351889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разовая проверка одной правки, без повторения задачи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358" y="1439583"/>
            <a:ext cx="491048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формулировка не фиксируется: при повторении каждый раз пишется заново и расходится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5186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151862"/>
            <a:ext cx="19490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писать запрос подробнее каждый раз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1156" y="2151862"/>
            <a:ext cx="351889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пока формулировка держится в голове одинаково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358" y="2151862"/>
            <a:ext cx="491048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расходится от раза к разу; вопрос прав это не решает вовсе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86414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864142"/>
            <a:ext cx="19490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сохранить запрос в скилл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1156" y="2864142"/>
            <a:ext cx="351889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нужно переиспользовать процедуру внутри той же сессии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358" y="2864142"/>
            <a:ext cx="491048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подгружается в тот же контекст и выполняется той же сессией — изоляции ни по контексту, ни по правам не даёт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57642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576421"/>
            <a:ext cx="194905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позвать коллегу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1156" y="3576421"/>
            <a:ext cx="351889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коллега реально доступен в моменте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358" y="3576421"/>
            <a:ext cx="491048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решение зависит от присутствия второго человека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92357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923576"/>
            <a:ext cx="19490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кастомный субагент: имя + ограниченные права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81156" y="3923576"/>
            <a:ext cx="351889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роль нужна повторно, и у неё стоит урезать ненужные права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358" y="3923576"/>
            <a:ext cx="491048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 завести файл и описание, которое маршрутизирует верно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5061527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189543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Первая карточка права наполовину — для разовой проверки заводить ничего не нужно, делегирование уже бесплатно. Граница, которая решает исход, — между разовой проверкой и ролью, которая повторяется настолько, что стоит зафиксировать её формулировку и отнять у неё лишнее. Делегировать вы уже умеете; вопрос в том, что из повторяющейся роли стоит закрепить файлом.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Цена делегирования — одна известная цифра и один честный пробел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46402"/>
            <a:ext cx="11183112" cy="2437510"/>
          </a:xfrm>
          <a:prstGeom prst="roundRect">
            <a:avLst>
              <a:gd name="adj" fmla="val 12504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837842"/>
            <a:ext cx="68580" cy="225463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9282"/>
            <a:ext cx="277755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9656" y="1929282"/>
            <a:ext cx="422074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ТЕЗИС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76702" y="1929282"/>
            <a:ext cx="338014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11349"/>
            <a:ext cx="277755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Anthropic, «How we built our multi-agent research system» (13.06.2025) + «When to use multi-agent systems (and when not to)» (23.01.2026)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9656" y="2211349"/>
            <a:ext cx="422074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Мультиагентная система тратит примерно в 15 раз больше токенов, чем обычный чат; уточнение того же источника позже — в 3–10 раз больше одноагентного решения той же задачи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76702" y="2211349"/>
            <a:ext cx="3380145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умеренно-сильное: отчёт вендора о собственной продакшен-системе, методология сравнения раскрыта в обоих текстах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328875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3288753"/>
            <a:ext cx="277755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Наблюдение из сцены (три недели работы)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09656" y="3288753"/>
            <a:ext cx="422074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Формулировка задачи для проверки расходится от сессии к сессии без фиксации файлом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6702" y="3288753"/>
            <a:ext cx="3380145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иллюстративное: единичное наблюдение одного проекта, не измерение на выборке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851425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4988585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Числа для «сколько контекста экономит субагент по сравнению с тем же объёмом работы в основной сессии» не нашлись ни в одном источнике — ни в токенах, ни в доле контекстного окна. Механизм экономии описан качественно везде, количественно — нигде.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Собираем роль: имя, инструменты, формат ответа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80083"/>
            <a:ext cx="11183112" cy="2419540"/>
          </a:xfrm>
          <a:prstGeom prst="roundRect">
            <a:avLst>
              <a:gd name="adj" fmla="val 12597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462963"/>
            <a:ext cx="139701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РЕШАЕМ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29118" y="1462963"/>
            <a:ext cx="314228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17705" y="1462963"/>
            <a:ext cx="583914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МЕНЯЕТ ВЫБОР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45030"/>
            <a:ext cx="13970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имя и описание роли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29118" y="1745030"/>
            <a:ext cx="31422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развёрнутое описание · короткое имя без описания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17705" y="1745030"/>
            <a:ext cx="583914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описанию роль выбирает сама модель — расплывчатое описание маршрутизирует хуже узкого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7474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274747"/>
            <a:ext cx="1397014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какие инструменты оставить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29118" y="2274747"/>
            <a:ext cx="3142283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весь набор · читать и искать · читать, искать и править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17705" y="2274747"/>
            <a:ext cx="583914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лишний инструмент физически доступен роли независимо от того, что написано в её тексте словами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8702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87027"/>
            <a:ext cx="139701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что должен вернуть ответ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29118" y="2987027"/>
            <a:ext cx="314228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свободный текст · вердикт первой строкой + что проверено + находки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17705" y="2987027"/>
            <a:ext cx="583914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свободный текст несравним между вызовами; формат делает «что проверено» единственным проверяемым местом ответа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367136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4495152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Текст в теле роли — поведенческая инструкция, которой модель старается следовать, и её вес конкурирует с остальным контекстом задачи. Список инструментов — состав арсенала: того, чего в нём нет, роль не может сделать физически, независимо от того, что написано словами. У диф-ревьюера из сцены лишним было право на правку файла — то самое право, которым он в прошлый раз исправил проверку адреса сам, вместо того чтобы доложить о находке.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Файл роли: три инструмента вместо всех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09090"/>
            <a:ext cx="11183112" cy="2569464"/>
          </a:xfrm>
          <a:prstGeom prst="roundRect">
            <a:avLst>
              <a:gd name="adj" fmla="val 1186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58952" y="1743417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06424" y="1628546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Consolas"/>
              </a:rPr>
              <a:t>name: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diff-reviewer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имя, по которому роль вызывают явно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" y="227605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6424" y="1958873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Consolas"/>
              </a:rPr>
              <a:t>description: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Независимый ревьюер diff'ов. Видит только сам diff и критерии приёмки, не рассуждения автора. Используй перед мержем любого нетривиального изменения. НЕ для ревью архитектурных решений (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doc/adr/</a:t>
            </a:r>
            <a:r>
              <a:rPr sz="1350" b="0" i="0">
                <a:solidFill>
                  <a:srgbClr val="141B2E"/>
                </a:solidFill>
                <a:latin typeface="Arial"/>
              </a:rPr>
              <a:t>) — это отдельная роль.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" y="2808693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06424" y="2693822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Consolas"/>
              </a:rPr>
              <a:t>tools: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Read,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Grep,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Glob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без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Write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Edit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3341331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6424" y="3024149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Тело роли (системный промпт): «Ты не правишь код сам — только находишь проблемы. Начни ответ строкой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VERDICT: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PASS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|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BLOCK</a:t>
            </a:r>
            <a:r>
              <a:rPr sz="1350" b="0" i="0">
                <a:solidFill>
                  <a:srgbClr val="141B2E"/>
                </a:solidFill>
                <a:latin typeface="Arial"/>
              </a:rPr>
              <a:t>. Затем: что проверено — конкретно, какие файлы прочитаны, — и находки: что не так, где, почему важно. Пустой список находок — валидный PASS.»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646066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774082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Файл для разбора — что в нём написано и почему, — не артефакт, который можно сейчас склонировать себе: он снят с версии демо-репозитория, которой больше не существует за пределами временной директории, где её собирали.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Роль целиком, одним экраном</a:t>
            </a:r>
          </a:p>
        </p:txBody>
      </p:sp>
      <p:pic>
        <p:nvPicPr>
          <p:cNvPr id="3" name="Picture 2" descr="subagent-n43-rol-tselik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14662"/>
            <a:ext cx="11183112" cy="39560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Строка должна была урезать права. Она не оставила роли вообще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9784"/>
            <a:ext cx="82296" cy="65227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447800"/>
            <a:ext cx="10643616" cy="39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88"/>
              </a:lnSpc>
              <a:spcAft>
                <a:spcPts val="300"/>
              </a:spcAft>
            </a:pPr>
            <a:r>
              <a:rPr sz="1200" b="1" i="0">
                <a:solidFill>
                  <a:srgbClr val="141B2E"/>
                </a:solidFill>
                <a:latin typeface="Arial"/>
              </a:rPr>
              <a:t>Три месяца назад в каталоге ролей этого курса — том самом, что вы сейчас видите как учебный материал, — завели роль литературного редактора и попытались сузить ей права: в файле появилась строка </a:t>
            </a:r>
            <a:r>
              <a:rPr sz="1200" b="1" i="0">
                <a:solidFill>
                  <a:srgbClr val="141B2E"/>
                </a:solidFill>
                <a:latin typeface="Consolas"/>
              </a:rPr>
              <a:t>tools: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</a:t>
            </a:r>
            <a:r>
              <a:rPr sz="1200" b="1" i="0">
                <a:solidFill>
                  <a:srgbClr val="141B2E"/>
                </a:solidFill>
                <a:latin typeface="Consolas"/>
              </a:rPr>
              <a:t>All</a:t>
            </a:r>
            <a:r>
              <a:rPr sz="1200" b="1" i="0">
                <a:solidFill>
                  <a:srgbClr val="141B2E"/>
                </a:solidFill>
                <a:latin typeface="Arial"/>
              </a:rPr>
              <a:t> </a:t>
            </a:r>
            <a:r>
              <a:rPr sz="1200" b="1" i="0">
                <a:solidFill>
                  <a:srgbClr val="141B2E"/>
                </a:solidFill>
                <a:latin typeface="Consolas"/>
              </a:rPr>
              <a:t>tools</a:t>
            </a:r>
            <a:r>
              <a:rPr sz="1200" b="1" i="0">
                <a:solidFill>
                  <a:srgbClr val="141B2E"/>
                </a:solidFill>
                <a:latin typeface="Arial"/>
              </a:rPr>
              <a:t>, по смыслу «оставь всё».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36648"/>
            <a:ext cx="11183112" cy="1018032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292096"/>
            <a:ext cx="1175635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ЗАПИСАНО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0307" y="2292096"/>
            <a:ext cx="3061712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ХАРНЕСС ВИДИТ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88324" y="2292096"/>
            <a:ext cx="6195955" cy="2745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10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ИТОГ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566670"/>
            <a:ext cx="1175635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Consolas"/>
              </a:rPr>
              <a:t>tools: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All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tools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80307" y="2566670"/>
            <a:ext cx="3061712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два отдельных имени инструментов —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All</a:t>
            </a:r>
            <a:r>
              <a:rPr sz="1100" b="0" i="0">
                <a:solidFill>
                  <a:srgbClr val="141B2E"/>
                </a:solidFill>
                <a:latin typeface="Arial"/>
              </a:rPr>
              <a:t> и </a:t>
            </a:r>
            <a:r>
              <a:rPr sz="1100" b="0" i="0">
                <a:solidFill>
                  <a:srgbClr val="141B2E"/>
                </a:solidFill>
                <a:latin typeface="Consolas"/>
              </a:rPr>
              <a:t>tools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8324" y="2566670"/>
            <a:ext cx="6195955" cy="43256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99"/>
              </a:lnSpc>
              <a:spcAft>
                <a:spcPts val="0"/>
              </a:spcAft>
            </a:pPr>
            <a:r>
              <a:rPr sz="1100" b="0" i="0">
                <a:solidFill>
                  <a:srgbClr val="141B2E"/>
                </a:solidFill>
                <a:latin typeface="Arial"/>
              </a:rPr>
              <a:t>ни одно не совпадает ни с одним реальным инструментом — список резолвится в пустое множество нераспознанных записей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355848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8" y="3410712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«Agent 'literary-editor' would be spawned with zero tools — refusing. Its tools list resolved to nothing: unrecognized [All, tools].»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874770"/>
            <a:ext cx="82296" cy="73101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4002785"/>
            <a:ext cx="10643616" cy="4749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98"/>
              </a:lnSpc>
              <a:spcAft>
                <a:spcPts val="300"/>
              </a:spcAft>
            </a:pPr>
            <a:r>
              <a:rPr sz="1450" b="1" i="0">
                <a:solidFill>
                  <a:srgbClr val="141B2E"/>
                </a:solidFill>
                <a:latin typeface="Arial"/>
              </a:rPr>
              <a:t>Три попытки параллельного запуска — три одинаковых отказа. Явно пустой список (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tools:</a:t>
            </a:r>
            <a:r>
              <a:rPr sz="1450" b="1" i="0">
                <a:solidFill>
                  <a:srgbClr val="141B2E"/>
                </a:solidFill>
                <a:latin typeface="Arial"/>
              </a:rPr>
              <a:t> </a:t>
            </a:r>
            <a:r>
              <a:rPr sz="1450" b="1" i="0">
                <a:solidFill>
                  <a:srgbClr val="141B2E"/>
                </a:solidFill>
                <a:latin typeface="Consolas"/>
              </a:rPr>
              <a:t>[]</a:t>
            </a:r>
            <a:r>
              <a:rPr sz="1450" b="1" i="0">
                <a:solidFill>
                  <a:srgbClr val="141B2E"/>
                </a:solidFill>
                <a:latin typeface="Arial"/>
              </a:rPr>
              <a:t>) дал бы роль без единого инструмента, но живую. Здесь харнесс сделал другое: отказался запускать роль вовсе.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770373"/>
            <a:ext cx="82296" cy="47904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4898389"/>
            <a:ext cx="10643616" cy="2230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Строка, которая должна была урезать права, их не ослабила — она не позволила роли появиться вообще.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414009"/>
            <a:ext cx="82296" cy="45542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" y="5542025"/>
            <a:ext cx="10643616" cy="19938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26"/>
              </a:lnSpc>
              <a:spcAft>
                <a:spcPts val="300"/>
              </a:spcAft>
            </a:pPr>
            <a:r>
              <a:rPr sz="1150" b="1" i="0">
                <a:solidFill>
                  <a:srgbClr val="141B2E"/>
                </a:solidFill>
                <a:latin typeface="Consolas"/>
              </a:rPr>
              <a:t>grep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"^tools:"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</a:t>
            </a:r>
            <a:r>
              <a:rPr sz="1150" b="1" i="0">
                <a:solidFill>
                  <a:srgbClr val="141B2E"/>
                </a:solidFill>
                <a:latin typeface="Consolas"/>
              </a:rPr>
              <a:t>.claude/agents/*.md</a:t>
            </a:r>
            <a:r>
              <a:rPr sz="1150" b="1" i="0">
                <a:solidFill>
                  <a:srgbClr val="141B2E"/>
                </a:solidFill>
                <a:latin typeface="Arial"/>
              </a:rPr>
              <a:t> — та же проверка на любом каталоге ролей, прямо сейчас.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роли ещё нет, а когда она не нужна вовсе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82296" cy="479043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071372"/>
            <a:ext cx="10643616" cy="2230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12"/>
              </a:lnSpc>
              <a:spcAft>
                <a:spcPts val="300"/>
              </a:spcAft>
            </a:pPr>
            <a:r>
              <a:rPr sz="1300" b="1" i="0">
                <a:solidFill>
                  <a:srgbClr val="141B2E"/>
                </a:solidFill>
                <a:latin typeface="Arial"/>
              </a:rPr>
              <a:t>Честно, на материале самого курса, не демо-репозитория.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86992"/>
            <a:ext cx="82296" cy="13766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1715008"/>
            <a:ext cx="10643616" cy="11206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736"/>
              </a:lnSpc>
              <a:spcAft>
                <a:spcPts val="300"/>
              </a:spcAft>
            </a:pPr>
            <a:r>
              <a:rPr sz="1400" b="1" i="0">
                <a:solidFill>
                  <a:srgbClr val="141B2E"/>
                </a:solidFill>
                <a:latin typeface="Arial"/>
              </a:rPr>
              <a:t>Кастомная роль — решаем, по сигналу повторения. Интуиция говорила: чтобы поручить проверку отдельному агенту, нужно завести файл и настроить его. Проверка показала: делегировать можно без единой строки конфигурации, это уже бесплатно; заводить стоило не сам факт делегирования, а роль с урезанным списком инструментов — и даже это урезание держится на синтаксисе настолько буквально, что одна неверная строка не ослабляет права — не даёт роли запуститься вовсе.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28264"/>
            <a:ext cx="5454396" cy="1755139"/>
          </a:xfrm>
          <a:prstGeom prst="roundRect">
            <a:avLst>
              <a:gd name="adj" fmla="val 1736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2379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РОЛИ ЕЩЁ НЕТ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12312"/>
            <a:ext cx="5088636" cy="2961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8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разовая проверка — делегируйте встроенным субагентом, файл не нужен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808476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3808476"/>
            <a:ext cx="5088636" cy="446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8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задача формулируется заново каждый раз без устойчивой формы — роли ещё нет, есть обычная работа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25450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254500"/>
            <a:ext cx="5088636" cy="446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80"/>
              </a:lnSpc>
              <a:spcAft>
                <a:spcPts val="0"/>
              </a:spcAft>
            </a:pPr>
            <a:r>
              <a:rPr sz="1000" b="0" i="0">
                <a:solidFill>
                  <a:srgbClr val="141B2E"/>
                </a:solidFill>
                <a:latin typeface="Arial"/>
              </a:rPr>
              <a:t>«независимость» объявлена, но не проверена — если ревьюер на деле видит рассуждения автора, объявления недостаточно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1636" y="3128264"/>
            <a:ext cx="5454396" cy="1755139"/>
          </a:xfrm>
          <a:prstGeom prst="roundRect">
            <a:avLst>
              <a:gd name="adj" fmla="val 1736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4516" y="323799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РОЛЬ НЕ НУЖНА ВОВСЕ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4516" y="351231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критерий кодируется детерминированно (линтер, тест, скрипт) — не нужен ни субагент, ни модель вообще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414516" y="4003293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414516" y="4003293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естественное место для такой проверки — хук на входе или прогон в CI, не роль, которую нужно формулировать словами и потом поддерживать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65943" y="5047996"/>
            <a:ext cx="4630443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65943" y="5047996"/>
            <a:ext cx="463044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14 файлов ролей в каталоге .claude/agents/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24403" y="5047996"/>
            <a:ext cx="2698605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24403" y="5047996"/>
            <a:ext cx="2698605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13 без поля tools: вовсе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578348"/>
            <a:ext cx="11183112" cy="402336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578348"/>
            <a:ext cx="1118311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34"/>
              </a:lnSpc>
              <a:spcAft>
                <a:spcPts val="0"/>
              </a:spcAft>
            </a:pPr>
            <a:r>
              <a:rPr sz="1300" b="1" i="0">
                <a:solidFill>
                  <a:srgbClr val="065A82"/>
                </a:solidFill>
                <a:latin typeface="Arial"/>
              </a:rPr>
              <a:t>1 с полем, которое не резолвится (tools: All tools, слайд назад). Значит: тринадцать ролей, включая те, чья единственная работа — оценивать материал, технически имеют право его и править.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урезание начинает мешать работе роли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753971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881987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Узкий список инструментов диф-ревьюера из этого кейса был верным выбором для роли, которая только находит проблему. Тем же списком — без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Edit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— не хватит роли, чья работа эту проблему чинить.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404463"/>
            <a:ext cx="11183112" cy="1707261"/>
          </a:xfrm>
          <a:prstGeom prst="roundRect">
            <a:avLst>
              <a:gd name="adj" fmla="val 17853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587343"/>
            <a:ext cx="278244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РОЛЬ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14548" y="3587343"/>
            <a:ext cx="497386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НУЖНО ПО РАБОТЕ → ПРАВА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4721" y="3587343"/>
            <a:ext cx="26221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РЕЗУЛЬТАТ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869410"/>
            <a:ext cx="278244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code-reviewer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(официальный пример документации)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4548" y="3869410"/>
            <a:ext cx="497386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читать и искать, не менять →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Read,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Grep,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Glob,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Bash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без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/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Write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4721" y="3869410"/>
            <a:ext cx="2622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верно — ревью не чинит код само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439912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4399127"/>
            <a:ext cx="278244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debugger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(официальный пример документации)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4548" y="4399127"/>
            <a:ext cx="497386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чинить баг, то есть менять код → тот же набор плюс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возвращён обратно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4721" y="4399127"/>
            <a:ext cx="26221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Edit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не может сделать то, ради чего её завели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590038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590038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484120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Роль вернула итог. Действий родитель не видел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01796"/>
            <a:ext cx="9509760" cy="8549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Файл роли с урезанными правами уже работает, и мы знаем, что она возвращает только итог. Решаем, что из её работы видно через этот итог, а что нет.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Три PASS выглядят одинаково. Один описывает то, чего не было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0187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52989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Файл роли с урезанными правами из первого кейса уже работает, и формат ответа тоже устоялся: вердикт первой строкой, раздел «что проверено», находки.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518460"/>
            <a:ext cx="11183112" cy="2569464"/>
          </a:xfrm>
          <a:prstGeom prst="roundRect">
            <a:avLst>
              <a:gd name="adj" fmla="val 1186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737916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737916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Разработчик готовит более крупную правку — сразу три независимых изменения формы — и на каждое параллельно запускает диф-ревьюера, чтобы не ждать по очереди.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270554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3270554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От каждого запуска приходит ровно одна вещь — финальный текст. Все три итога выглядят одинаково надёжно: вердикт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PASS</a:t>
            </a:r>
            <a:r>
              <a:rPr sz="1350" b="0" i="0">
                <a:solidFill>
                  <a:srgbClr val="141B2E"/>
                </a:solidFill>
                <a:latin typeface="Arial"/>
              </a:rPr>
              <a:t>, раздел «что проверено» заполнен, находок нет. Правки уходят в показ.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803192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803192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Через день одно из трёх изменений ломает отправку формы на реальных данных — тот самый случай, который должен был поймать раздел «что проверено» третьего ответа.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4335830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" y="4335830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Открывают журнал вызовов этой роли за тот прогон: в нём нет ни одного обращения к файлу, который вердикт называет проверенным.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457748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5585764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Раздел «что проверено» описывает действие, которого не было. Сам инструмент для этой проверки роль в тот прогон не вызвала ни разу.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По тексту итога не увидеть. Что добавить?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59255"/>
            <a:ext cx="11183112" cy="881253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414119"/>
            <a:ext cx="64008" cy="771525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496415"/>
            <a:ext cx="10643616" cy="60693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Три запуска одной роли — и ровно три итога, один текст на каждый, больше ничего через границу не прошло. Один из трёх итогов описывает проверку, которой не было, и по самому тексту этого не увидеть — все три читались одинаково хорошо.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0802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3036036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добавить к тому, что у вас уже есть, — из карточек ниже, — и скажите, что именно это добавление позволяет увидеть внутри запуска, чего не видно сейчас.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398492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4398492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итог уже есть, большего не нужно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68803" y="4398492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8531" y="4398492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звать роль дважды и сравнивать два ответа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34686" y="4398492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4414" y="4398492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требовать в «что проверено» названия конкретных файлов и команд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0569" y="4398492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0297" y="4398492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смотреть журнал реальных вызовов инструментов роли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566452" y="4398492"/>
            <a:ext cx="2119579" cy="1305306"/>
          </a:xfrm>
          <a:prstGeom prst="roundRect">
            <a:avLst>
              <a:gd name="adj" fmla="val 2335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76180" y="4398492"/>
            <a:ext cx="1900123" cy="1305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отказаться от параллельных запусков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хода работают только вместе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120686"/>
            <a:ext cx="11183112" cy="3113849"/>
          </a:xfrm>
          <a:prstGeom prst="roundRect">
            <a:avLst>
              <a:gd name="adj" fmla="val 9788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303566"/>
            <a:ext cx="286135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93461" y="1303566"/>
            <a:ext cx="3511943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51708" y="1303566"/>
            <a:ext cx="400513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85633"/>
            <a:ext cx="28613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ничего — итог уже есть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93461" y="1585633"/>
            <a:ext cx="351194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хватает для разовой проверки с низкой ценой ошибки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51708" y="1585633"/>
            <a:ext cx="400513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добавляет видимости внутрь запуска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115350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115350"/>
            <a:ext cx="2861357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звать роль дважды, сравнивать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93461" y="2115350"/>
            <a:ext cx="3511943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расхождение — сигнал проблемы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51708" y="2115350"/>
            <a:ext cx="400513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совпадение не добавляет видимости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462504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462504"/>
            <a:ext cx="28613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назвать файлы и команды в «что проверено»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93461" y="2462504"/>
            <a:ext cx="351194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делает сам итог проверяемым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51708" y="2462504"/>
            <a:ext cx="400513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текст не доказывает, что действие произошло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99222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2992221"/>
            <a:ext cx="28613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смотреть журнал вызовов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93461" y="2992221"/>
            <a:ext cx="351194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единственный канал видимости внутрь запуска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51708" y="2992221"/>
            <a:ext cx="400513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 читают по умолчанию — отдельный шаг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5219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521938"/>
            <a:ext cx="2861357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отказаться от параллельных запусков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93461" y="3521938"/>
            <a:ext cx="3511943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снимает именно этот сценарий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1708" y="3521938"/>
            <a:ext cx="400513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цена — время; видимость та же, по одному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842452"/>
            <a:ext cx="82296" cy="121920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4970468"/>
            <a:ext cx="10643616" cy="963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Четвёртая и третья карточки работают только вместе — по отдельности каждая слабее. Названные в итоге файлы и команды делают сам текст проверяемым; журнал вызовов показывает, что из названного произошло на самом деле внутри запуска. Отказ от параллельности снимает один конкретный сценарий; граница видимости, которая его создала, остаётся при любом порядке вызовов.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документированных случая, одно свойство границы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66595"/>
            <a:ext cx="11183112" cy="2072386"/>
          </a:xfrm>
          <a:prstGeom prst="roundRect">
            <a:avLst>
              <a:gd name="adj" fmla="val 14707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758035"/>
            <a:ext cx="68580" cy="1889505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49475"/>
            <a:ext cx="271329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45403" y="1849475"/>
            <a:ext cx="4904767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ТЕЗИС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6475" y="1849475"/>
            <a:ext cx="276037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31542"/>
            <a:ext cx="271329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anthropics/claude-code#67730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(закрыт как not planned)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5403" y="2131542"/>
            <a:ext cx="49047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6 из ~15 параллельных субагентов: уверенный отчёт без единого вызова инструмента, у двух — выдуманная инъекция в промпт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6475" y="2131542"/>
            <a:ext cx="276037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умеренное: первичный, воспроизводимый баг-репорт с точным механизмом и датой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84382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843822"/>
            <a:ext cx="2713299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anthropics/claude-code#76726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(открыт)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5403" y="2843822"/>
            <a:ext cx="4904767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Запрет хука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PreToolUse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внутри субагента не долетает до родителя: фан-аут выглядит успешным, хотя запись была заблокирована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6475" y="2843822"/>
            <a:ext cx="276037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умеренное: воспроизводимый отчёт, статус открыт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406493"/>
            <a:ext cx="11183112" cy="836295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" y="4543653"/>
            <a:ext cx="10707624" cy="5619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75"/>
              </a:lnSpc>
              <a:spcAft>
                <a:spcPts val="300"/>
              </a:spcAft>
            </a:pPr>
            <a:r>
              <a:rPr sz="12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250" b="0" i="1">
                <a:solidFill>
                  <a:srgbClr val="6B7685"/>
                </a:solidFill>
                <a:latin typeface="Arial"/>
              </a:rPr>
              <a:t> Ни для одного из двух случаев нет команды, которую студент мог бы прогнать на своей машине и увидеть собственную версию той же поломки — она требует специально собранного прогона с параллельным фан-аутом. Эта клетка остаётся без проверяемой опоры.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Журнал вызовов — где смотреть и когда это нужно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826996"/>
            <a:ext cx="11183112" cy="1524698"/>
          </a:xfrm>
          <a:prstGeom prst="roundRect">
            <a:avLst>
              <a:gd name="adj" fmla="val 1999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09876"/>
            <a:ext cx="2565954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КОГДА СМОТРЕТЬ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98058" y="2009876"/>
            <a:ext cx="795878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СМОТРЕТЬ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91943"/>
            <a:ext cx="2565954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во время работы роли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98058" y="2291943"/>
            <a:ext cx="7958789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панель запущенных ролей — видно происходящее в реальном времени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63909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639098"/>
            <a:ext cx="2565954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после того, как роль закончила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98058" y="2639098"/>
            <a:ext cx="7958789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файл журнала конкретного запуска — каждый вызов инструмента по порядку, независимо от текста финального ответа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4019207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9536" y="4147223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Для правок с высокой ценой ошибки сверка с журналом надёжнее одного только чтения вердикта: совпадает ли список файлов, которые роль назвала проверенными, со списком файлов, которые она действительно открыла.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Модельный разбор вердикта на живом коде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49324"/>
            <a:ext cx="82296" cy="2705099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577340"/>
            <a:ext cx="10643616" cy="24490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VERDICT: PASS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/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Что проверено: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— открыт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src/validate.js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прочитана функция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validateForm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— открыта карта сообщений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MESSAGES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и встроенная проверка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checkValidity()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— открыт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index.html</a:t>
            </a:r>
            <a:r>
              <a:rPr sz="1500" b="1" i="0">
                <a:solidFill>
                  <a:srgbClr val="141B2E"/>
                </a:solidFill>
                <a:latin typeface="Arial"/>
              </a:rPr>
              <a:t>, прочитано регулярное выражение адреса атрибутом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pattern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— найдены вызовы </a:t>
            </a:r>
            <a:r>
              <a:rPr sz="1500" b="1" i="0">
                <a:solidFill>
                  <a:srgbClr val="141B2E"/>
                </a:solidFill>
                <a:latin typeface="Consolas"/>
              </a:rPr>
              <a:t>validateForm</a:t>
            </a:r>
            <a:r>
              <a:rPr sz="1500" b="1" i="0">
                <a:solidFill>
                  <a:srgbClr val="141B2E"/>
                </a:solidFill>
                <a:latin typeface="Arial"/>
              </a:rPr>
              <a:t> по всему репозиторию</a:t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/>
            </a:r>
          </a:p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Находки: нет.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821936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" y="4949952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Разбор подаётся как иллюстрация формата на актуальном коде проекта, не как запись реального прогона: живой прогон этой роли на сегодняшний день не закрыт.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Хук сказал «нет». Команда выполнилась всё равно</a:t>
            </a:r>
          </a:p>
        </p:txBody>
      </p:sp>
      <p:pic>
        <p:nvPicPr>
          <p:cNvPr id="3" name="Picture 2" descr="subagent-n54-signal-ne-doho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727" y="943356"/>
            <a:ext cx="10371496" cy="2748446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856394"/>
            <a:ext cx="11183112" cy="1384300"/>
          </a:xfrm>
          <a:prstGeom prst="roundRect">
            <a:avLst>
              <a:gd name="adj" fmla="val 22018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58952" y="4261905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6424" y="4075850"/>
            <a:ext cx="10360152" cy="4726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Случай 1.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Решение «deny» было верным для опасной команды субагента — она всё равно выполнилась. Найдено уже после реальной потери данных.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" y="4734599"/>
            <a:ext cx="100584" cy="1005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548544"/>
            <a:ext cx="10360152" cy="4726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1" i="0">
                <a:solidFill>
                  <a:srgbClr val="141B2E"/>
                </a:solidFill>
                <a:latin typeface="Arial"/>
              </a:rPr>
              <a:t>Случай 2.</a:t>
            </a:r>
            <a:r>
              <a:rPr sz="1150" b="0" i="0">
                <a:solidFill>
                  <a:srgbClr val="141B2E"/>
                </a:solidFill>
                <a:latin typeface="Arial"/>
              </a:rPr>
              <a:t> Блокировка сработала для сессии и одного тестового субагента, но не для другого с тем же файлом настроек; детерминированно не воспроизводится.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405286"/>
            <a:ext cx="82296" cy="699515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5533302"/>
            <a:ext cx="10643616" cy="44348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Там не пересёк границу текст итога. Здесь не пересекает её управляющий сигнал — тот, который обычно считают надёжнее содержания отчёта. </a:t>
            </a:r>
            <a:r>
              <a:rPr sz="1350" b="1" i="0">
                <a:solidFill>
                  <a:srgbClr val="141B2E"/>
                </a:solidFill>
                <a:latin typeface="Arial"/>
              </a:rPr>
              <a:t>Сработавший барьер — не то же самое, что барьер, который устоял.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Чего не закрывают ни формат, ни журнал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039264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2167280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Эта граница — не про цену ошибки: про неё дальше. Здесь — про то, что ни формат, ни журнал не берут на себя, сколько бы их ни читали.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453536"/>
            <a:ext cx="5454396" cy="1230249"/>
          </a:xfrm>
          <a:prstGeom prst="roundRect">
            <a:avLst>
              <a:gd name="adj" fmla="val 247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56326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ПОДЛИННОСТЬ СУЖДЕНИЯ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37584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журнал показывает, что файл открыт; понял ли его верно — скажет только тот, кто сам читает то же самое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3453536"/>
            <a:ext cx="5454396" cy="1230249"/>
          </a:xfrm>
          <a:prstGeom prst="roundRect">
            <a:avLst>
              <a:gd name="adj" fmla="val 247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356326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ЦЕНА САМОЙ ПРОВЕРКИ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3837584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сверка «что проверено» с журналом — отдельный шаг; на правке в несколько строк он может занять не меньше времени, чем просто открыть diff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формата достаточно, когда нужен человек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566824"/>
            <a:ext cx="82296" cy="19278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694840"/>
            <a:ext cx="10643616" cy="16718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Что возвращается через границу делегирования — решаем по цене ошибки, не по тому, что хотелось бы получить бесплатно. Интуиция говорила: если роль вернула итог по согласованному формату, задачу можно считать сделанной. Проверка показала: формат канала не раскрывает, что происходило внутри запуска — родитель получает только то, что роль решила написать, пока не открыт журнал вызовов. Называть конкретные действия в самом итоге делает его проверяемым; журнал, там где цена ошибки того стоит, делает его опровергаемым.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62196"/>
            <a:ext cx="5454396" cy="1230249"/>
          </a:xfrm>
          <a:prstGeom prst="roundRect">
            <a:avLst>
              <a:gd name="adj" fmla="val 247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27192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ФОРМАТА ДОСТАТОЧНО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546244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цена одной пропущенной ошибки сопоставима с ценой лишней секунды проверки: прочитать «что проверено», иногда сверяясь с журналом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4162196"/>
            <a:ext cx="5454396" cy="1230249"/>
          </a:xfrm>
          <a:prstGeom prst="roundRect">
            <a:avLst>
              <a:gd name="adj" fmla="val 24775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4271924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НУЖЕН ЧЕЛОВЕК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4546244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релиз, который нельзя откатить, данные, которые нельзя восстановить — формата мало, нужен человек, который лично читает diff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  <a:effectLst/>
          <a:gradFill rotWithShape="1">
            <a:gsLst>
              <a:gs pos="0">
                <a:srgbClr val="21295C"/>
              </a:gs>
              <a:gs pos="55000">
                <a:srgbClr val="065A82"/>
              </a:gs>
              <a:gs pos="100000">
                <a:srgbClr val="1C7293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3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724144" y="457200"/>
            <a:ext cx="5111496" cy="237744"/>
          </a:xfrm>
          <a:prstGeom prst="roundRect">
            <a:avLst>
              <a:gd name="adj" fmla="val 4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85216" y="2447544"/>
            <a:ext cx="694944" cy="69494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" y="2447544"/>
            <a:ext cx="694944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950"/>
              </a:lnSpc>
              <a:spcAft>
                <a:spcPts val="0"/>
              </a:spcAft>
            </a:pPr>
            <a:r>
              <a:rPr sz="2500" b="1" i="0">
                <a:solidFill>
                  <a:srgbClr val="21295C"/>
                </a:solidFill>
                <a:latin typeface="Arial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2" y="2341625"/>
            <a:ext cx="9144000" cy="9067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70"/>
              </a:lnSpc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К одной роли добавляется вторая. Границы начинают путаться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59302"/>
            <a:ext cx="9509760" cy="1139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244"/>
              </a:lnSpc>
              <a:spcAft>
                <a:spcPts val="400"/>
              </a:spcAft>
            </a:pPr>
            <a:r>
              <a:rPr sz="1700" b="0" i="1">
                <a:solidFill>
                  <a:srgbClr val="D6E2EC"/>
                </a:solidFill>
                <a:latin typeface="Arial"/>
              </a:rPr>
              <a:t>Мы умеем заводить роль с урезанными правами и проверять её отчёт. Следующий шаг естественный: роль не одна. Разбираем, что происходит, когда к одной роли добавляется вторая.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Arial"/>
              </a:rPr>
              <a:t>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5916" y="5989320"/>
            <a:ext cx="5500116" cy="384048"/>
          </a:xfrm>
          <a:prstGeom prst="roundRect">
            <a:avLst>
              <a:gd name="adj" fmla="val 3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85916" y="5989320"/>
            <a:ext cx="55001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75"/>
              </a:lnSpc>
              <a:spcAft>
                <a:spcPts val="0"/>
              </a:spcAft>
            </a:pPr>
            <a:r>
              <a:rPr sz="1250" b="1" i="0">
                <a:solidFill>
                  <a:srgbClr val="21295C"/>
                </a:solidFill>
                <a:latin typeface="Arial"/>
              </a:rPr>
              <a:t>Субагент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честных PASS. Между ними дыра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09090"/>
            <a:ext cx="11183112" cy="2569464"/>
          </a:xfrm>
          <a:prstGeom prst="roundRect">
            <a:avLst>
              <a:gd name="adj" fmla="val 11862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628546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" y="1628546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Диф-ревьюер работает уже месяц, правки стали крупнее. Разработчик заводит вторую роль — тестировщика: он прогоняет сценарии через форму и проверяет поведение, не только код.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161184"/>
            <a:ext cx="329184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161184"/>
            <a:ext cx="10360152" cy="3303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Обе роли получают одну и ту же правку: новое поле в форме плюс изменение валидации.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491511"/>
            <a:ext cx="329184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" y="2491511"/>
            <a:ext cx="10360152" cy="73494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Диф-ревьюер проверяет код и возвращает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PASS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в прочитанном коде проблем нет. Тестировщик проверяет форму на обычных сценариях и тоже возвращает </a:t>
            </a:r>
            <a:r>
              <a:rPr sz="1350" b="0" i="0">
                <a:solidFill>
                  <a:srgbClr val="141B2E"/>
                </a:solidFill>
                <a:latin typeface="Consolas"/>
              </a:rPr>
              <a:t>PASS</a:t>
            </a:r>
            <a:r>
              <a:rPr sz="1350" b="0" i="0">
                <a:solidFill>
                  <a:srgbClr val="141B2E"/>
                </a:solidFill>
                <a:latin typeface="Arial"/>
              </a:rPr>
              <a:t> — на прогнанных сценариях форма ведёт себя ожидаемо.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226460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3226460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Правка уходит в показ. Заказчик вводит email с пробелом перед доменом — сценарий, который не вошёл ни в код, который читал диф-ревьюер, ни в сценарии, которые прогонял тестировщик.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646066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9536" y="4774082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Оба PASS правдивы по отдельности. Между ними остался промежуток, про который не высказалась ни одна из двух ролей — просто потому, что ни одной из них не было поручено его проверять.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Два честных PASS. Что с этим делать?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671523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1726387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1" i="1">
                <a:solidFill>
                  <a:srgbClr val="6B7685"/>
                </a:solidFill>
                <a:latin typeface="Arial"/>
              </a:rPr>
              <a:t>У вас теперь два </a:t>
            </a:r>
            <a:r>
              <a:rPr sz="1300" b="1" i="1">
                <a:solidFill>
                  <a:srgbClr val="6B7685"/>
                </a:solidFill>
                <a:latin typeface="Consolas"/>
              </a:rPr>
              <a:t>PASS</a:t>
            </a:r>
            <a:r>
              <a:rPr sz="1300" b="1" i="1">
                <a:solidFill>
                  <a:srgbClr val="6B7685"/>
                </a:solidFill>
                <a:latin typeface="Arial"/>
              </a:rPr>
              <a:t>, оба честные в границах своей роли, и баг, который не поймал ни один из них.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693365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821381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Выберите, что сделать с этим, — из карточек ниже.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ничего — два PASS надёжнее одного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8803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78531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объединить обе роли в одну, с более широким описанием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34686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4414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завести третью роль, которая сверяет первые две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0569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10297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явно расписать для каждой роли, что входит в границу, а что нет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566452" y="4183837"/>
            <a:ext cx="2119579" cy="1106424"/>
          </a:xfrm>
          <a:prstGeom prst="roundRect">
            <a:avLst>
              <a:gd name="adj" fmla="val 25000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76180" y="4183837"/>
            <a:ext cx="1900123" cy="11064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565"/>
              </a:lnSpc>
              <a:spcAft>
                <a:spcPts val="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вернуться к одной роли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Третья и вторая карточки слабее четвёртой — и вот почему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9784"/>
            <a:ext cx="11183112" cy="3486276"/>
          </a:xfrm>
          <a:prstGeom prst="roundRect">
            <a:avLst>
              <a:gd name="adj" fmla="val 8742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02664"/>
            <a:ext cx="193039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ВАРИАНТ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62499" y="1502664"/>
            <a:ext cx="358526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ГДЕ РАБОТАЕТ — КОНКРЕТНЫЕ СЛУЧАИ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94072" y="1502664"/>
            <a:ext cx="486277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84731"/>
            <a:ext cx="1930395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ничего — два PASS надёжнее одного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2499" y="1784731"/>
            <a:ext cx="3585269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роли проверяют разное и покрывают вместе больше, чем любая одна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4072" y="1784731"/>
            <a:ext cx="4862775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надёжность растёт, только если границы ролей не пересекаются и между ними не остаётся промежутка — здесь остался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45319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453195"/>
            <a:ext cx="1930395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объединить в одну роль с широким описанием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2499" y="2453195"/>
            <a:ext cx="3585269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небольшая, одна роль успевает честно покрыть оба аспекта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4072" y="2453195"/>
            <a:ext cx="4862775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широкое описание означает широкий контекст и широкие права — то, что сузили в первом кейсе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9537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953702"/>
            <a:ext cx="1930395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завести третью роль-координатора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2499" y="2953702"/>
            <a:ext cx="3585269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нужно сверять именно вывод двух готовых ролей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4072" y="2953702"/>
            <a:ext cx="4862775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добавляет слой координации к уже не согласованным двум — цена растёт быстрее, чем снижается риск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34542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3454209"/>
            <a:ext cx="1930395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явно расписать границы: что входит в зону каждой роли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62499" y="3454209"/>
            <a:ext cx="3585269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показывает промежуток между границами до того, как он проявится багом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4072" y="3454209"/>
            <a:ext cx="4862775" cy="668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расписать нужно осознанно; само появление второй роли этой работы не делает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12267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122673"/>
            <a:ext cx="1930395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вернуться к одной роли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62499" y="4122673"/>
            <a:ext cx="3585269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последовательная: шаг роли B зависит от того, что увидела роль 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4072" y="4122673"/>
            <a:ext cx="4862775" cy="5005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теряется параллельность там, где она была нужна ради скорости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4970653"/>
            <a:ext cx="82296" cy="1124712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5098669"/>
            <a:ext cx="10643616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73"/>
              </a:lnSpc>
              <a:spcAft>
                <a:spcPts val="300"/>
              </a:spcAft>
            </a:pPr>
            <a:r>
              <a:rPr sz="1350" b="1" i="0">
                <a:solidFill>
                  <a:srgbClr val="141B2E"/>
                </a:solidFill>
                <a:latin typeface="Arial"/>
              </a:rPr>
              <a:t>Вывод.</a:t>
            </a:r>
            <a:r>
              <a:rPr sz="1350" b="1" i="0">
                <a:solidFill>
                  <a:srgbClr val="141B2E"/>
                </a:solidFill>
                <a:latin typeface="Arial"/>
              </a:rPr>
              <a:t> Четвёртая карточка нужна здесь, и вот почему третья и вторая слабее. Третья добавляет роль ради проблемы, которую создали первые две, — цена координации растёт быстрее, чем снижается риск. Вторая возвращает к одной роли с широким доступом — туда, откуда ушли в первом кейсе. Явно расписанная граница не угадывается по факту существования двух ролей — это отдельное решение, которое нужно принять вслух.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Масштаб, не единичный случай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43356"/>
            <a:ext cx="11183112" cy="2320671"/>
          </a:xfrm>
          <a:prstGeom prst="roundRect">
            <a:avLst>
              <a:gd name="adj" fmla="val 13134"/>
            </a:avLst>
          </a:prstGeom>
          <a:solidFill>
            <a:srgbClr val="FFFFFF"/>
          </a:solidFill>
          <a:ln w="1778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034796"/>
            <a:ext cx="68580" cy="2137791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26236"/>
            <a:ext cx="15168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ИСТОЧНИК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48923" y="1126236"/>
            <a:ext cx="622170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ТЕЗИС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16928" y="1126236"/>
            <a:ext cx="2639919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065A82"/>
                </a:solidFill>
                <a:latin typeface="Arial"/>
              </a:rPr>
              <a:t>СИЛА ДОКАЗАТЕЛЬСТВА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08303"/>
            <a:ext cx="1516819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Cemri и др., «MAST», arXiv:2503.13657 (NeurIPS 2025 D&amp;B)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48923" y="1408303"/>
            <a:ext cx="6221701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От 41 до 87% размеченных трасс (в зависимости от фреймворка) — провальные; три категории причин: спецификация задачи и роли ≈42%, рассогласование между агентами ≈37%, верификация результата ≈21%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16928" y="1408303"/>
            <a:ext cx="2639919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сильное: ручная разметка 1600+ трасс по 7 фреймворкам, межэкспертное согласие κ=0,88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244725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244725"/>
            <a:ext cx="1516819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Kim, Gu, Park и др. (Google Research), arXiv:2512.08296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48923" y="2244725"/>
            <a:ext cx="6221701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На последовательной задаче схема проигрывает одноагентной той же задачи на 39–70%; без координатора число ошибок усиливается в 17,2 раза относительно одноагентной системы на входе, с централизованной проверкой — в 4,4 раза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16928" y="2244725"/>
            <a:ext cx="2639919" cy="8364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22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сильное: контролируемый эксперимент, 260 конфигураций, 6 бенчмарков, 5 архитектур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28619"/>
            <a:ext cx="82296" cy="8648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3556635"/>
            <a:ext cx="10643616" cy="6088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Для наших двух ролей.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Диф-ревьюер и тестировщик из прошлой сцены работают без третьей роли, сверяющей их согласованность. По цифрам MAST рассогласование между агентами — вторая по весу причина отказов, почти вровень со спецификацией самой задачи: 37 против 42 процентов.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458081"/>
            <a:ext cx="82296" cy="86487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4586097"/>
            <a:ext cx="10643616" cy="6088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50"/>
              </a:lnSpc>
              <a:spcAft>
                <a:spcPts val="300"/>
              </a:spcAft>
            </a:pPr>
            <a:r>
              <a:rPr sz="1250" b="1" i="0">
                <a:solidFill>
                  <a:srgbClr val="141B2E"/>
                </a:solidFill>
                <a:latin typeface="Arial"/>
              </a:rPr>
              <a:t>Осторожность со счётом.</a:t>
            </a:r>
            <a:r>
              <a:rPr sz="1250" b="1" i="0">
                <a:solidFill>
                  <a:srgbClr val="141B2E"/>
                </a:solidFill>
                <a:latin typeface="Arial"/>
              </a:rPr>
              <a:t> По сети разошлась цифра «79% отказов — проблема спецификации»: сумма первых двух категорий MAST, 42 и 37, пересказанная как отдельное измерение. Стоит проверить, не считаете ли вы одно и то же дважды под разными подписями.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487543"/>
            <a:ext cx="11183112" cy="618997"/>
          </a:xfrm>
          <a:prstGeom prst="roundRect">
            <a:avLst>
              <a:gd name="adj" fmla="val 25000"/>
            </a:avLst>
          </a:prstGeom>
          <a:solidFill>
            <a:srgbClr val="E4E9EF"/>
          </a:solidFill>
          <a:ln w="15240">
            <a:solidFill>
              <a:srgbClr val="6B768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5624703"/>
            <a:ext cx="10707624" cy="3446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300"/>
              </a:spcAft>
            </a:pPr>
            <a:r>
              <a:rPr sz="1150" b="1" i="1">
                <a:solidFill>
                  <a:srgbClr val="6B7685"/>
                </a:solidFill>
                <a:latin typeface="Arial"/>
              </a:rPr>
              <a:t>Честный пробел.</a:t>
            </a:r>
            <a:r>
              <a:rPr sz="1150" b="0" i="1">
                <a:solidFill>
                  <a:srgbClr val="6B7685"/>
                </a:solidFill>
                <a:latin typeface="Arial"/>
              </a:rPr>
              <a:t> Проверить рассогласование двух параллельных ролей на репозитории курса или на машине студента нечем — ни один инструмент проверяемости занятия это не демонстрирует. Утверждение подтверждено исследованием, не командой на занятии.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807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Один приём закрывает промежуток: граница в обе стороны</a:t>
            </a:r>
          </a:p>
        </p:txBody>
      </p:sp>
      <p:pic>
        <p:nvPicPr>
          <p:cNvPr id="3" name="Picture 2" descr="subagent-n62-granitsa-dvukh-role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80956"/>
            <a:ext cx="11183112" cy="33549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координация перестаёт окупаться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79448"/>
            <a:ext cx="82296" cy="98298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807464"/>
            <a:ext cx="10643616" cy="7269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Диф-ревьюер и тестировщик из этой сцены — пример первой колонки: каждая роль проверяет одну правку в своей узкой зоне. Третья роль-координатор из прошлого разбора была бы примером второй — лишним слоем поверх уже написанной правки.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329940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439668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КООРДИНАЦИЯ ЕЩЁ ОКУПАЕТСЯ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713988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узкая роль поверх одной конкретной правки — отраслевой пример: ревью-цепочка у одной практикующей команды находит в среднем 2 бага на правку, из них около 58% серьёзных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4549648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454964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пара из двух разных топ-моделей, только на самых сложных сценариях — разные модели замечают разные ошибки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3329940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4516" y="3439668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КООРДИНАЦИЯ УЖЕ ДОРОЖЕ ВЫИГРЫША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4516" y="3713988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третья роль-координатор поверх уже не согласованных двух — добавляет слой, цена растёт быстрее, чем снижается риск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414516" y="4204970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14516" y="4204970"/>
            <a:ext cx="5088636" cy="6633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неструктурированный «рой» без явных границ между ролями — та же команда называет его «по большей части отвлекающим фактором» даже спустя год практики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Когда вторая роль оправдана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90472"/>
            <a:ext cx="82296" cy="14554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618488"/>
            <a:ext cx="10643616" cy="11993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Несколько ролей вместо одной — решаем по структуре задачи, не по желанию ускориться. Интуиция говорила: две роли, проверяющие разное, в сумме надёжнее одной. Проверка показала: надёжность растёт только там, где границы ролей не пересекаются и явно названы в обе стороны; там, где задача последовательна, разбиение на роли не складывает надёжность — оно умножает ошибку.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613404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72313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6B7685"/>
                </a:solidFill>
                <a:latin typeface="Arial"/>
              </a:rPr>
              <a:t>ВТОРАЯ РОЛЬ ОПРАВДАНА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99745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действительно параллелится — шаг одной роли не нуждается в выводе другой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1636" y="3613404"/>
            <a:ext cx="5454396" cy="1893570"/>
          </a:xfrm>
          <a:prstGeom prst="roundRect">
            <a:avLst>
              <a:gd name="adj" fmla="val 16096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4516" y="3723132"/>
            <a:ext cx="50886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97"/>
              </a:lnSpc>
              <a:spcAft>
                <a:spcPts val="0"/>
              </a:spcAft>
            </a:pPr>
            <a:r>
              <a:rPr sz="1100" b="1" i="0">
                <a:solidFill>
                  <a:srgbClr val="8A6200"/>
                </a:solidFill>
                <a:latin typeface="Arial"/>
              </a:rPr>
              <a:t>ОДНА РОЛЬ ПОЧТИ ВСЕГДА ДЕШЕВЛЕ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4516" y="3997452"/>
            <a:ext cx="5088636" cy="835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шаги зависимы, разбиение физически рвёт связь, которую должен видеть следующий шаг — ошибка усиливается в 17,2 раза без координатора, в 4,4 раза даже с централизованной проверкой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14516" y="4833112"/>
            <a:ext cx="5088636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414516" y="4833112"/>
            <a:ext cx="5088636" cy="49098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356"/>
              </a:lnSpc>
              <a:spcAft>
                <a:spcPts val="0"/>
              </a:spcAft>
            </a:pPr>
            <a:r>
              <a:rPr sz="1150" b="0" i="0">
                <a:solidFill>
                  <a:srgbClr val="141B2E"/>
                </a:solidFill>
                <a:latin typeface="Arial"/>
              </a:rPr>
              <a:t>задача дешёвая, а цена пропущенной ошибки низкая — одна роль дешевле двух, сколько бы раз она ни повторялась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Ось закрыта: четыре строки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63675"/>
            <a:ext cx="11183112" cy="4227194"/>
          </a:xfrm>
          <a:prstGeom prst="roundRect">
            <a:avLst>
              <a:gd name="adj" fmla="val 7210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246555"/>
            <a:ext cx="125995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92055" y="124655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ПРЕДОТВРАЩАЕМ / РЕШАЕМ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12740" y="1246555"/>
            <a:ext cx="2774381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ДЕЛАЕТ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33425" y="1246555"/>
            <a:ext cx="342342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ЧТО НЕ ДЕЛАЕТ / ОГРАНИЧЕНИЕ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28622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92055" y="152862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правило уже нарушено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2740" y="152862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Отклоняет один паттерн записи в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main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из шести способов коммита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3425" y="1528622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На остальных пяти молчит; человека с терминалом не видит вовсе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2409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240902"/>
            <a:ext cx="125995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92055" y="224090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перегрузки файла инструкций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2740" y="2240902"/>
            <a:ext cx="2774381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Загружает файл по точному совпадению описания-триггера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33425" y="2240902"/>
            <a:ext cx="3423422" cy="71227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точного триггера не сработает вообще — содержимого файла до срабатывания в контексте нет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295318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2953181"/>
            <a:ext cx="125995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92055" y="2953181"/>
            <a:ext cx="277438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Предотвращаем — проверяем до подключения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2740" y="2953181"/>
            <a:ext cx="277438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Урезает права до подключения, не после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33425" y="2953181"/>
            <a:ext cx="342342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вычеркнутой строки «все репозитории, включая приватные» воспроизводится документированная эксфильтрация (Invariant Labs, май 2025)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403058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4030586"/>
            <a:ext cx="125995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92055" y="4030586"/>
            <a:ext cx="277438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Решаем — по сигналу повторения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12740" y="4030586"/>
            <a:ext cx="2774381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Делегирует задачу бесплатно, без единой строки конфигурации; список инструментов урезается синтаксисом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33425" y="4030586"/>
            <a:ext cx="3423422" cy="10774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Урезание держится настолько буквально, что одна неверная строка не ослабляет права роли — она останавливает её запуск вовсе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792838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2668" y="5847702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«Четыре строки заполнены. Вся ось этого занятия закрыта.»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Что появилось в репозитории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85629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9536" y="1213645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СХЕМА, НЕ СНИМОК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116446"/>
            <a:ext cx="11183112" cy="2730753"/>
          </a:xfrm>
          <a:prstGeom prst="roundRect">
            <a:avLst>
              <a:gd name="adj" fmla="val 11161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99326"/>
            <a:ext cx="1312485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СТУПЕНЬ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44589" y="2299326"/>
            <a:ext cx="606139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ПУТЬ ИЛИ АРТЕФАКТ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52285" y="2299326"/>
            <a:ext cx="300456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СТАТУС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581393"/>
            <a:ext cx="13124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Хук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4589" y="2581393"/>
            <a:ext cx="60613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.claude/settings.json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+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.claude/hooks/selftest-branch-guard.sh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52285" y="2581393"/>
            <a:ext cx="300456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есть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92854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928548"/>
            <a:ext cx="13124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Скилл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4589" y="2928548"/>
            <a:ext cx="60613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.claude/skills/deploy/SKILL.md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2285" y="2928548"/>
            <a:ext cx="300456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плану, коммита нет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800" y="327570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5800" y="3275702"/>
            <a:ext cx="13124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CLAUDE.md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4589" y="3275702"/>
            <a:ext cx="60613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40 строк / 5 разделов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2285" y="3275702"/>
            <a:ext cx="300456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коммит есть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85800" y="3622857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85800" y="3622857"/>
            <a:ext cx="13124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DECISIONS.md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4589" y="3622857"/>
            <a:ext cx="60613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документационный слой репозитория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2285" y="3622857"/>
            <a:ext cx="300456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без изменений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85800" y="3970011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85800" y="3970011"/>
            <a:ext cx="13124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44589" y="3970011"/>
            <a:ext cx="60613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.mcp.json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права вычеркнуты до трёх операций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2285" y="3970011"/>
            <a:ext cx="300456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плану, коммита нет и не будет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800" y="431716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85800" y="4317166"/>
            <a:ext cx="1312485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4589" y="4317166"/>
            <a:ext cx="606139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.claude/agents/diff-reviewer.md</a:t>
            </a:r>
            <a:r>
              <a:rPr sz="1250" b="0" i="0">
                <a:solidFill>
                  <a:srgbClr val="141B2E"/>
                </a:solidFill>
                <a:latin typeface="Arial"/>
              </a:rPr>
              <a:t>,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tools: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Read,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Grep,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Glob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52285" y="4317166"/>
            <a:ext cx="300456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по плану, коммита нет и не будет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367477"/>
            <a:ext cx="82296" cy="746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495493"/>
            <a:ext cx="10643616" cy="49072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«Два файла этого занятия останутся только планом. В публичном репозитории их не будет — и это сказано прямо, не спрятано.»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Этот вопрос уже звучал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2286457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2668" y="2341321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«Этот вопрос уже звучал в начале занятия. «Агент видит только то, что лежит в репозитории и в разговоре с вами.»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308299"/>
            <a:ext cx="11183112" cy="1059561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3436315"/>
            <a:ext cx="10634472" cy="8035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«Где заканчивается этот контекст — и что вы заводите первым: доступ наружу или отдельного исполнителя с урезанными правами? Что в вашем ответе изменилось — и что именно его изменило?»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Чем занятие кончается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980236"/>
            <a:ext cx="11183112" cy="3461004"/>
          </a:xfrm>
          <a:prstGeom prst="roundRect">
            <a:avLst>
              <a:gd name="adj" fmla="val 8806"/>
            </a:avLst>
          </a:prstGeom>
          <a:solidFill>
            <a:srgbClr val="FFFFFF"/>
          </a:solidFill>
          <a:ln w="1778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63116"/>
            <a:ext cx="2952026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КЕЙС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84130" y="1163116"/>
            <a:ext cx="610910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ОПОРА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41345" y="1163116"/>
            <a:ext cx="6815502" cy="2820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65"/>
              </a:lnSpc>
              <a:spcAft>
                <a:spcPts val="0"/>
              </a:spcAft>
            </a:pPr>
            <a:r>
              <a:rPr sz="1150" b="1" i="0">
                <a:solidFill>
                  <a:srgbClr val="6B7685"/>
                </a:solidFill>
                <a:latin typeface="Arial"/>
              </a:rPr>
              <a:t>ПРОВЕРЯЕТСЯ ЧЕМ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45183"/>
            <a:ext cx="295202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данных нет в репозитории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84130" y="1445183"/>
            <a:ext cx="6109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1345" y="1445183"/>
            <a:ext cx="681550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целевое решение, коммита нет ни в демо-репозитории, ни в репозитории курса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1792338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1792338"/>
            <a:ext cx="2952026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подключён, агент не ходит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84130" y="1792338"/>
            <a:ext cx="610910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есть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1345" y="1792338"/>
            <a:ext cx="6815502" cy="34715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claude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list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/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/mcp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статусы, два тайм-аута, вживую на занятии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85800" y="2139492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85800" y="2139492"/>
            <a:ext cx="29520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MCP — одобрение не окончательно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84130" y="2139492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1345" y="2139492"/>
            <a:ext cx="681550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 специально подготовленного вредоносного сервера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669209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2669209"/>
            <a:ext cx="29520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роль переизобретается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4130" y="2669209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есть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1345" y="2669209"/>
            <a:ext cx="681550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Consolas"/>
              </a:rPr>
              <a:t>grep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"^tools:"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.claude/agents/*.md</a:t>
            </a:r>
            <a:r>
              <a:rPr sz="1250" b="0" i="0">
                <a:solidFill>
                  <a:srgbClr val="141B2E"/>
                </a:solidFill>
                <a:latin typeface="Arial"/>
              </a:rPr>
              <a:t>;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ls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.claude/agents/*.md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|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Consolas"/>
              </a:rPr>
              <a:t>wc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</a:t>
            </a:r>
            <a:r>
              <a:rPr sz="1250" b="0" i="0">
                <a:solidFill>
                  <a:srgbClr val="141B2E"/>
                </a:solidFill>
                <a:latin typeface="Arial"/>
              </a:rPr>
              <a:t>-l</a:t>
            </a:r>
            <a:r>
              <a:rPr sz="1250" b="0" i="0">
                <a:solidFill>
                  <a:srgbClr val="141B2E"/>
                </a:solidFill>
                <a:latin typeface="Arial"/>
              </a:rPr>
              <a:t> — в своём проекте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" y="3198926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85800" y="3198926"/>
            <a:ext cx="29520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родитель видит только итог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4130" y="3198926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41345" y="3198926"/>
            <a:ext cx="681550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требует подготовленного параллельного прогона, не воспроизводится на занятии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3728643"/>
            <a:ext cx="10817352" cy="0"/>
          </a:xfrm>
          <a:prstGeom prst="line">
            <a:avLst/>
          </a:prstGeom>
          <a:ln w="9525">
            <a:solidFill>
              <a:srgbClr val="E5EA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3728643"/>
            <a:ext cx="2952026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Субагент — вторая роль, промежуток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84130" y="3728643"/>
            <a:ext cx="610910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нет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41345" y="3728643"/>
            <a:ext cx="6815502" cy="52971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437"/>
              </a:lnSpc>
              <a:spcAft>
                <a:spcPts val="0"/>
              </a:spcAft>
            </a:pPr>
            <a:r>
              <a:rPr sz="1250" b="0" i="0">
                <a:solidFill>
                  <a:srgbClr val="141B2E"/>
                </a:solidFill>
                <a:latin typeface="Arial"/>
              </a:rPr>
              <a:t>утверждение исследования (MAST); ни одна из двух опор занятия его не демонстрирует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34610"/>
            <a:ext cx="32004" cy="733805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668" y="4789474"/>
            <a:ext cx="10730484" cy="62407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0" i="1">
                <a:solidFill>
                  <a:srgbClr val="6B7685"/>
                </a:solidFill>
                <a:latin typeface="Arial"/>
              </a:rPr>
              <a:t>«Под частью сегодняшних карточек теперь лежит команда, которую можно выполнить и получить ответ. Под другой частью — нет. Это сказано прямо: агент расширяет свой контекст по-разному, и необъявленный пробел в том, что из этого проверяемо, стоил бы дороже, чем объявленный.»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5761786"/>
            <a:ext cx="82296" cy="51054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" y="5889802"/>
            <a:ext cx="10643616" cy="2545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60"/>
              </a:lnSpc>
              <a:spcAft>
                <a:spcPts val="300"/>
              </a:spcAft>
            </a:pPr>
            <a:r>
              <a:rPr sz="1500" b="1" i="0">
                <a:solidFill>
                  <a:srgbClr val="141B2E"/>
                </a:solidFill>
                <a:latin typeface="Arial"/>
              </a:rPr>
              <a:t>«Ось этого занятия закрыта — все четыре строки теперь можно хотя бы частично проверить.»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