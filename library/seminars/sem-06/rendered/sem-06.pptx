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два его случая названы наблюдаемыми проблемами: агенту регулярно нужны данные, которых нет в репозитории; подключённые серверы занимают контекст до начала работы. Внутри первого случая стоит отдельный экран про то, чем доказывают, что агент через подключённый сервер действительно ходит.</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так он называется и дальше в занятии.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«подключённые серверы занимают контекст до начала работы» описывает, что видно со стороны, и ничего не говорит о том, чем это лечится. Ответ лежит в самом случае, вместе с разбором вариантов и ценой.</a:t>
            </a:r>
          </a:p>
          <a:p/>
          <a:p>
            <a:r>
              <a:t>Все карточки подписаны словом «решаем»: ни одна из названных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У кого агент уже ходил наружу — в трекер, в базу, в документацию? Чем это было сделано? Доступ наружу к этому занятию есть почти у каждого, кто работает с ассистентом не первый месяц, и свой способ вспоминается быстрее, чем выбирается чужой.</a:t>
            </a:r>
          </a:p>
          <a:p/>
          <a:p>
            <a:r>
              <a:t>Дальше этот свой способ надо проверить сценой. Чтобы того вторника не повторилось, агент должен сам смотреть открытые задачи трекера в момент работы и готовить по ним черновики правок — то есть ходить туда каждый день, а не однажды. Выберите свой способ из пяти карточек и скажите, выдерживает ли он такую частоту; если нет — какую из соседних карточек вы взяли бы сейчас.</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 у ключа спрашивают один раз — в момент выпуска. Сервис перечисляет действия и спрашивает, какие из них вы доверяете этому ключу. Второго такого вопроса не будет, и это делает выпуск ключа тем редким местом, где решение принимается раз и действует долго.</a:t>
            </a:r>
          </a:p>
          <a:p/>
          <a:p>
            <a:r>
              <a:t>Ход, который делается в этот момент чаще всего, автор курса описывает про себя прямо: все галочки, которые есть, прощёлкиваются подряд. Мотив у хода понятный и почти уважительный — а вдруг потом что-нибудь понадобится, перевыпускать же тогда новый ключ. Стоит признать, что это ровно то, чего делать не стоит, и стоит признать заодно, что знание об этом ходу не мешает. Разбор прав из предыдущего разговора занял несколько минут и дал список операций на четыре строки; одно движение мыши при выпуске возвращает вычеркнутое целиком.</a:t>
            </a:r>
          </a:p>
          <a:p/>
          <a:p>
            <a:r>
              <a:t>Расхождение здесь стоит назвать точно, потому что оно и есть содержание. Знать, какие права нужны, и выдать именно их — две разные работы. Первая делается головой и однажды, вторая делается руками и каждый раз заново, на чужом экране, в конце длинной формы, когда хочется уже начать работать.</a:t>
            </a:r>
          </a:p>
          <a:p/>
          <a:p>
            <a:r>
              <a:t>Второй ход того же рода — положить ключ туда, где он под рукой: в файл рядом с конфигурацией подключения. Дальше файл едет в репозиторий, в историю коммитов, в обзор правок, в любую выгрузку проекта. Переменная окружения убирает ключ из файла, об этом речь шла на предыдущем экране. Дом ключа между запусками — хранилище секретов: названная ячейка, значение которой выдаётся процессу и не показывается ни в файле, ни в обзоре, ни в журнале сборки. Понятие «секрет» в этом смысле стоит знать именно так: это значение, у которого есть имя, и только имя видно.</a:t>
            </a:r>
          </a:p>
          <a:p/>
          <a:p>
            <a:r>
              <a:t>Насколько реальна утечка, проверяется дешевле, чем кажется. Автор курса рассказывает, что из любопытства искал ключи поставщиков моделей в публичных репозиториях — и находил работающие. Счёт здесь приводить незачем: достаточно того, что находки были не единичными.</a:t>
            </a:r>
          </a:p>
          <a:p/>
          <a:p>
            <a:r>
              <a:t>Поставщики про это знают и сторожат сами. По рассказу студентов прошлого потока, один из поставщиков моделей следит за публичными репозиториями и блокирует засвеченный ключ в течение секунд. Звучит это обнадёживающе, и границу такой защиты стоит назвать сразу. Она закрывает один канал из многих — публикацию в открытом репозитории, и только у того поставщика, который сторожит. Приватную утечку, журнал сборки, снимок экрана, пересланный коллеге файл настроек такой сторож не видит вовсе. И защита эта принадлежит поставщику: он блокирует ключ тогда, когда считает нужным, не спрашивая вас.</a:t>
            </a:r>
          </a:p>
          <a:p/>
          <a:p>
            <a:r>
              <a:t>Что из этого остаётся в вашей власти после выпуска, оказывается одной строкой. Права, выданные ключу в момент создания. Узкий ключ, который утёк, стоит дешевле широкого — потому что цена утечки измеряется тем, что утёкшим ключом можно сделать. Из этого же следует привычка, которую стоит заводить вместе с первым ключом: отдельный ключ под каждую работу, с правами под эту работу, и перевыпуск вместо расширения, когда работа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со стороны и почему зелёная отметка об этом молчит — на следующем экране.</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собран, отметка зелёная. Ровно здесь начинается ловушка, в которую попадают после удачного подключения, и стоит она дороже самого подключения.</a:t>
            </a:r>
          </a:p>
          <a:p/>
          <a:p>
            <a:r>
              <a:t>Зелёная отметка говорит правду — о том, что процесс сервера поднялся, ответил клиенту на рукопожатие и отдал список своих инструментов. Это факт о программе. Обращался ли к этому серверу агент, пока выполнял вашу задачу, — факт о разговоре, и в отметке его нет. Два факта стоят в интерфейсе рядом и читаются как две стороны одного состояния; опыт от этой путаницы не защищает, и число подключённых серверов её не меняет — у кого подключён один, тот получает ту же ловушку в полном виде.</a:t>
            </a:r>
          </a:p>
          <a:p/>
          <a:p>
            <a:r>
              <a:t>Ответ на второй вопрос приходит из единственного места — из вывода той же сессии. Поэтому ход простой: назовите сервер в запросе по имени. «Используя сервер трекера, выведи список открытых задач, затем подготовь черновик по каждой» вместо «посмотри, что скопилось во входящих». После первой формулировки есть что проверить: вызов инструмента в выводе либо подписан именем сервера, либо не подписан, и правдоподобие ответа на эту проверку не влияет. После второй проверять нечего — агент мог прочитать трекер, а мог собрать ответ по смыслу задачи, и оба пути дают текст одного вида. Имя сервера берётся из той же команды статуса, угадывать его по названию сервиса не нужно: сервер доступа к трекеру может называться по имени пакета, по имени сервиса или по короткому имени того, кто его подключал.</a:t>
            </a:r>
          </a:p>
          <a:p/>
          <a:p>
            <a:r>
              <a:t>Ход стоит нескольких слов в запросе и одного взгляда в вывод, и подделать его правдоподобием нельзя: подписанная строка либо есть, либо её нет. Уверенный содержательный ответ при отсутствии такой строки — это и есть подпись потерянной работы: ответ построен без сервера и внешне выглядит лучше настоящего, потому что приходит быстрее. Если сервер назван, а подписи нет, дальше смотрят на состояние процесса: подключение могло отвалиться, авторизация истечь, список инструментов не прийти. Работает и обратный ход: если задача по смыслу не должна касаться сервера, скажите это прямо — тогда появление подписанной строки становится сигналом. Проверяемость действует в обе стороны.</a:t>
            </a:r>
          </a:p>
          <a:p/>
          <a:p>
            <a:r>
              <a:t>Шире этого экрана правило звучит так, и оно не про MCP. Наблюдение, которое ждёт ошибки, молчит в двух разных случаях: когда всё хорошо и когда сигналов не приходит вовсе. Различить их отсутствием ошибки нельзя — только наличием связи с тем, за кем следите. Один документированный случай из журнала этого курса ровно такой: подключённый сервер тихо потерял доступ, инструменты перестали работать, а команда статуса продолжала показывать «подключён» — заметили по тому, что обычные вызовы начали требовать повторного входа, не по статусу.</a:t>
            </a:r>
          </a:p>
          <a:p/>
          <a:p>
            <a:r>
              <a:t>Привычка называть сервер по имени стоит нескольких слов в запросе. Расследование постфактум — «а точно ли агент вчера смотрел трекер» — стоит на порядок дороже.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первого случая блока проходит по тому, что решается. Первый решал, что подключать, с какими правами и чем доказать, что агент через подключённое действительно ходит. Этот —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Начинается это со своих двух чисел. Сколько серверов подключено в вашем рабочем проекте — и к скольким из них вы обращались за последнюю рабочую неделю? Оба числа узнаются за минуту: список подключённых серверов открывается одной командой, а обращения за неделю человек помнит сам. Разница между этими числами и есть та часть счёта, о которой идёт весь случай, только своя, а не из сцены.</a:t>
            </a:r>
          </a:p>
          <a:p/>
          <a:p>
            <a:r>
              <a:t>Обстановка сцены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Если своих двух чисел под рукой не оказалось, их стоит добрать до разбора: список подключённых серверов открывается одной командой, обращения за неделю считаются по памяти. Пока эта разница не названа в штуках, случай читается как чужой.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a:t>
            </a:r>
          </a:p>
          <a:p/>
          <a:p>
            <a:r>
              <a:rPr b="1"/>
              <a:t>Эту историю часто пересказывают как отказ компаний от MCP — бывает, что и с именами крупных компаний. По первоисточникам это не подтверждается ни в одном случае. Подтверждается другое: описания инструментов убрали со старта контекста, а серверы оставили.</a:t>
            </a:r>
            <a:r>
              <a:t> Ни одна из команд, у которых по этой теме есть публичный первоисточник, протокол не бросила и свои серверы не сняла; у имён, которые ходят в пересказе, публичного заявления по теме не нашлось вовсе — ни подтверждающего, ни опровергающего.</a:t>
            </a:r>
          </a:p>
          <a:p/>
          <a:p>
            <a:r>
              <a:t>У самого автора протокола это сказано дословно: ход взамен — «представлять MCP-серверы кодовым интерфейсом». Серверы остаются на месте, меняется способ, которым их описания доходят до модели. Отказ во всех четырёх случаях ниже касается ровно одной практики — грузить описания всех инструментов в контекст заранее.</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первом случае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субагента.</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субагента, прочитанное без причины, запоминается как описание формата файла. Следующие два экрана отвечают на «что это такое» — чем агент отличается от субагента, из чего собран контекст каждого и как субагент устроен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субагента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субагента.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Субагент</a:t>
            </a:r>
            <a:r>
              <a:t> — отдельный исполнитель, которого агент зовёт под одну задачу. Третье слово — </a:t>
            </a:r>
            <a:r>
              <a:rPr b="1"/>
              <a:t>контекст</a:t>
            </a:r>
            <a:r>
              <a:t>: то, что агент или субагент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субагент, которого позвал агент. Контекст у него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субагентом,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субагент.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субагентом и второй сессией, и все три стоят на схеме. Итог возвращается сам, в тот контекст, где лежит работа. Поведение субагента задано файлом, поэтому второй вызов повторяет первый. И права субагента можно урезать списком — у второй сессии списка прав нет вовсе.</a:t>
            </a:r>
          </a:p>
          <a:p/>
          <a:p>
            <a:r>
              <a:t>Несколько вопросов возникают прямо здесь, и ответы на них короткие. Субагентов агент зовёт столько, сколько нужно; сам он при этом один, а предел числа субагентов разбирается во втором случае ступени. Прошлый вызов субагент не помнит: каждый вызов поднимает его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субагента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субагента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субагента: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субагента зовут явно. </a:t>
            </a:r>
            <a:r>
              <a:rPr>
                <a:latin typeface="Consolas"/>
              </a:rPr>
              <a:t>description</a:t>
            </a:r>
            <a:r>
              <a:t> говорит, когда его звать и когда нет, — это читает автовыбор. </a:t>
            </a:r>
            <a:r>
              <a:rPr>
                <a:latin typeface="Consolas"/>
              </a:rPr>
              <a:t>tools</a:t>
            </a:r>
            <a:r>
              <a:t> — список прав, поле необязательное. Тело файла — системный промпт субагента целиком, то есть всё, что он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этого субагента. Второй способ — не писать ничего, тогда выбирает модель, по описанию. Кого позвали, видно по строке в чате: имя субагента и задача в скобках. Стоит там </a:t>
            </a:r>
            <a:r>
              <a:rPr>
                <a:latin typeface="Consolas"/>
              </a:rPr>
              <a:t>general-purpose</a:t>
            </a:r>
            <a:r>
              <a:t> вместо имени — субагента не вызвали вовсе, выбор до него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этого субагента звать и когда нет». Имя она не интерпретирует, поэтому слово «ревьюер» внутри имени для автовыбора не значит ничего. Отсюда практический вывод: описание субагента пишется как список поводов его позвать. Титул должности в нём не работает.</a:t>
            </a:r>
          </a:p>
          <a:p/>
          <a:p>
            <a:r>
              <a:t>Строка в чате доказывает ровно одно: харнесс решил позвать этого субагента. Правильность его работы строка не подтверждает — это отдельный вопрос, со своей проверкой. Зато она разводит два случая, со стороны выглядящих одинаково: «субагент отработал не так» и «субагента вообще не вызывали». Без этой строки их путают и чинят не то.</a:t>
            </a:r>
          </a:p>
          <a:p/>
          <a:p>
            <a:r>
              <a:rPr b="1"/>
              <a:t>Что приходит на вход.</a:t>
            </a:r>
            <a:r>
              <a:t> Четыре вещи. Системный промпт субагента — тело его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субагента позвала, на входе нет. Нет и файлов, прочитанных агентом этой сессии, и её автопамяти. Канала для них попросту не существует, и дисциплина автора субагента тут ни при чём — это устройство. По той же причине агент не видит промежуточных действий субагента: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субагент сделал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субагент получает все инструменты, доступные субагентам, — противоположность тому, что подсказывает пустое место. Список указан и пуст: субагент не получает ни одного инструмента и при этом остаётся живым — он запускается, читает задачу и отвечает тем, что умеет сам. Запись не резолвится: харнесс не запускает субагента вовсе. Со стороны это похоже на отсутствие самого субагента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субагента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субагент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Настоящие значения у него названы там, где разбиралось объявление субагента; что даёт каждое из трёх состояний — там, где разбирались сами права.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своей правки. У кого за последний месяц была правка, в которой найти места оказалось дороже, чем их поправить, — и сколько файлов пришлось открыть, чтобы найти нужные? Такая правка есть почти у каждого, кто работал в чужом проекте, и названное число файлов дальше работает лучше любого примера.</a:t>
            </a:r>
          </a:p>
          <a:p/>
          <a:p>
            <a:r>
              <a:t>Вопрос случая на этом и стоит: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субагенту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«Субагент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субагент, потом короткий разговор с тем, кто писал эти миграции. Тогда стоит назвать, какая из двух первая и почему — порядок здесь меняет цену.</a:t>
            </a:r>
          </a:p>
          <a:p/>
          <a:p>
            <a:r>
              <a:t>Если своей такой правки не вспоминается, выбирать стоит по сцене предыдущего экрана — и тогда отдельно проверить, насколько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Субагент.</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Субагент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субагент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субагента, а этот контекст закрывается вместе с ним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субагента,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субагент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субагентов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субагентов.</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субагент прочитал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субагента,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субагента. Субагент, которого просят вернуть короткий вывод, возвращает сотни токенов; субагент, которого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субагента чище вашего и при этом не чист от всего подряд. Свой промпт и свежее начало он получает, а вместе с ними, по умолчанию, описания всех подключённых серверов целиком — включая те, которые его задаче не нужны ни одним инструментом. Это третья полоса со схемы базы: она наследуется.</a:t>
            </a:r>
          </a:p>
          <a:p/>
          <a:p>
            <a:r>
              <a:t>Дословно из документации по устранению ошибок: субагенты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субагентов.</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субагент получит их описания бесплатно: место в его контексте занято до того, как он открыл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каждого заведённого субагента. Пять субагентов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субагента и закрываются вместе с ним. Этот экран называет то, что входит в контракт дополнительно и по умолчанию, помимо желания автора субагента. Экономия остаётся, считается она с оговоркой.</a:t>
            </a:r>
          </a:p>
          <a:p/>
          <a:p>
            <a:r>
              <a:t>Что с этим делать. За подключёнными серверами следят тем же списком инструментов субагента, который стоит пятым блоком на одностраничнике: список прав субагента заодно решает, что окажется в его контексте. Есть и обратный приём той же механики: субагент умеет объявить нужный ему сервер у себя — он поднимается на его старте и отключается на его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каждом субагенте. Чем больше серверов подключено, тем дороже каждое делегирование — и дорожает оно молча, потому что ни на одном экране работы это не видно: субагент просто начинает с меньшим запасом.</a:t>
            </a:r>
          </a:p>
          <a:p/>
          <a:p>
            <a:r>
              <a:t>Порядок действий из этого получается короткий. Перед тем как заводить субагента под объёмное чтение, стоит посмотреть, что подключено в сессии, и отключить то, чем сегодня не пользуетесь: отключение действует на сессию, а значит и на всех субагентов, которых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субагента.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субагенту лишние серверы — обратно всё равно вернётся только итог, но контекст субагента окажется занят раньше и сильнее, чем нужно. Критерий это в силе оставляет и уточняет размер самой экономии.</a:t>
            </a:r>
          </a:p>
          <a:p/>
          <a:p>
            <a:r>
              <a:t>Отдельно — формат ответа субагента, который легко принять за деталь оформления. Попросить субагента вернуть пересказ прочитанного вместо вывода технически можно, и экономия на этом кончается: субагент, которому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субагента — часть критерия.</a:t>
            </a:r>
          </a:p>
          <a:p/>
          <a:p>
            <a:r>
              <a:t>И общий вид правила за пределами этого случая. Субагент — средство управлять тем, что лежит в контексте; всё, что он даёт, и всё, чего он стоит, читается из этого одного свойства. Два следующих случая ступени добавят к нему две другие причины его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субагент закрылся.</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Названия средства на развилке нет.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 Оба хода и третья строка к ним выписаны на самом экране: их читают и делают, не пересказывая.</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субагенту»,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Кто уже разгонял задачу разом, а не по очереди, — и чем именно: несколькими сессиями, субагентами, проверкой, которая гоняется сама? Названное средство дальше и проверяется на разложенной задаче: своё средство видно, на каком куске оно сработало, а на каком его просто некуда было приложить.</a:t>
            </a:r>
          </a:p>
          <a:p/>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«Субагенты» без указания куска означает «субагенты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«Субагенты,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субагентам и запустить разом.</a:t>
            </a:r>
            <a:r>
              <a:t> Одновременность даёт сам харнесс: настраивать её не нужно, у каждого субагента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два субагента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субагента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Субагент уходит в фон, основная сессия его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субагентов; попытка завести двадцать первого падает отдельной явной ошибкой — </a:t>
            </a:r>
            <a:r>
              <a:rPr>
                <a:latin typeface="Consolas"/>
              </a:rPr>
              <a:t>Concurrent subagent limit reached</a:t>
            </a:r>
            <a:r>
              <a:t>. Общего предела на то, сколько субагентов можно вызвать за всю сессию, нет вовсе: двести вызовов подряд по одному субагенту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субагентов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фоновый субагент работает, и виден его итог. Ход работы — чем он занимался, что прочитал, где сомневался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один субагент успел узнать раньше другого,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двумя разобранными ходами стоит третий, и в материалах занятия он до сих пор не появлялся. Автор курса пользуется им в работе постоянно: рядом с рабочей сессией поднимается ещё одна, которая называется оркестратором, и она запускает дочерние сессии. Дочерние — полноценные, со своим контекстом и своим терминалом; это обычный запуск того же инструмента, которым работает человек.</a:t>
            </a:r>
          </a:p>
          <a:p/>
          <a:p>
            <a:r>
              <a:t>Запрос, на который отвечает этот ход, тот же, что у субагента: делать независимые куски одновременно. Расходятся два хода по двум свойствам, и оба решают выбор.</a:t>
            </a:r>
          </a:p>
          <a:p/>
          <a:p>
            <a:r>
              <a:t>Первое свойство — доступность рукам. К субагенту прийти нельзя: разговаривать с ним умеет только позвавшая его сессия, и человек видит итог, когда субагент закончил. В дочернюю сессию прийти можно: открыть её, прочитать, что она успела, дописать задачу, развернуть на половине пути. Для куска, который обсуждают по ходу работы, это решает всё.</a:t>
            </a:r>
          </a:p>
          <a:p/>
          <a:p>
            <a:r>
              <a:t>Второе свойство — глубина. Дочерняя сессия сама запускает субагентов, потому что она обычная сессия и умеет ровно то же, что умеет ваша. Ярусов становится три: вы, оркестратор с дочерними сессиями, субагенты под каждой из них. Отсюда и смысл хода — работа берётся крупнее той, которую укладывают в один ярус: оркестратору отдают задачу верхнего уровня, он дробит её на дочерние сессии, каждая дробит свою часть на субагентов.</a:t>
            </a:r>
          </a:p>
          <a:p/>
          <a:p>
            <a:r>
              <a:t>Цена у хода названа тремя строками, и первая из них весомее остальных. Оркестратор не узнаёт об итоге дочерней сессии сам — он узнаёт тогда, когда сходит и проверит. Это переворачивает порядок работы: вместо ожидания ответа появляется обход и опрос. Из этого же следует, почему имитация через трекер задач работает плохо: оркестратор видит запись дочерней сессии, когда в очередной раз в трекер заглядывает, и скорость теряется на самих заглядываниях.</a:t>
            </a:r>
          </a:p>
          <a:p/>
          <a:p>
            <a:r>
              <a:t>Вторая строка — обвязка. Сессии рядом не поднимаются и не опрашиваются сами по себе: кто-то должен их завести, дать каждой задачу, уметь их перечислить и в них зайти. Способов три. Готовый управляющий слой, который умеет это из коробки. Имитация через трекер задач — разобрана выше и названа слабой. Оконный менеджер терминала: сессии поднимаются в его панелях, панели перечисляются и открываются, и внутрь каждой можно зайти руками.</a:t>
            </a:r>
          </a:p>
          <a:p/>
          <a:p>
            <a:r>
              <a:t>Третья строка — цена обычного запуска. У дочерней сессии свой контекст целиком, и платится он как у любой сессии: отдельным счётом за токены и отдельной памятью машины. На одном-двух ярусах это незаметно; на десятке сессий становится расходом, который считают заранее, и считают его дальше.</a:t>
            </a:r>
          </a:p>
          <a:p/>
          <a:p>
            <a:r>
              <a:t>Критерий отсюда простой, и автор называл его той же фразой на обоих занятиях: маленький кусок отдают субагенту, крупный — дочерней сессии. «Крупный» здесь имеет проверяемый признак: это кусок, за которым придётся прийти руками хотя бы раз. Если итога достаточно, субагент дешевле и ярусов не множит. Если по ходу работы понадобится посмотреть и дописать, субагент это не даст, и экономия обернётся переделкой.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предыдущего хода есть цена, которую показывает машина: в счёте за токены её не видно. Замер здесь один и принадлежит он автору курса: облачная виртуалка с шестнадцатью гигабайтами памяти, обычные сессии без тяжёлых прогонов внутри.</a:t>
            </a:r>
          </a:p>
          <a:p/>
          <a:p>
            <a:r>
              <a:t>Выглядит замер так. С двадцати одновременных сессий машина начинает спотыкаться: отзывчивость падает, запуски идут дольше. На тридцати-сорока, смотря по тому, сколько каждая сессия успела набрать, она перестаёт отвечать совсем. Отсюда порядок величины — от одного до двух гигабайт на одну сессию, и это в покое: сессия, которая сама запустила сборку или прогон тестов, съест заметно больше.</a:t>
            </a:r>
          </a:p>
          <a:p/>
          <a:p>
            <a:r>
              <a:t>Шестнадцать гигабайт названы здесь не для полноты картины: без базы вилка «1–2 ГБ» ничего не значит. Деление сходится — шестнадцать на двадцать даёт примерно восемь десятых гигабайта, то есть нижний край вилки и есть тот край, на котором машина начинает спотыкаться. Контрфакт столь же важен: одна сессия, две, три такой машине не стоят ничего заметного. Расход появляется на десятке и становится решающим ближе к двадцати.</a:t>
            </a:r>
          </a:p>
          <a:p/>
          <a:p>
            <a:r>
              <a:t>Удивление, которое автор при этом называл, стоит повторить, потому что оно сбивает многих. На вид сессия агента — тонкий клиент: гоняет текст в обе стороны, считает всё равно не она. Памяти при этом уходит столько, сколько уходит у полноценного приложения, и уходит она на то, что сессия держит в памяти свой контекст, свои открытые файлы и свои дочерние процессы. Вывод из этого автор сделал прямой: отказываться от машины с хорошей памятью рано.</a:t>
            </a:r>
          </a:p>
          <a:p/>
          <a:p>
            <a:r>
              <a:t>Разница по языку, на котором написан сам клиент агента, на таком масштабе становится видимой. Клиент, собранный на Rust, заметно легче собрата, собранного на JavaScript. Кратность здесь названа на глаз, единицы не фиксировались, и ставить её числом было бы выдумкой точности. Практический смысл у наблюдения всё равно есть: на одной-двух сессиях разница незаметна, на двадцати она решает, запустится двадцать первая или нет.</a:t>
            </a:r>
          </a:p>
          <a:p/>
          <a:p>
            <a:r>
              <a:t>Отдельно стоит развести два предела, которые легко сложить в один, тем более что оба равны двадцати. Предел в двадцать одновременных субагентов — предел инструмента, он стоит внутри одной сессии и меняется переменной окружения. Предел в двадцать сессий — предел памяти машины, и переменной он не меняется: его меняют покупкой памяти. Совпадение чисел случайное. Упереться можно в любой из двух, и спутать их дорого: подняв предел субагентов, вы ничего не узнаете о том, выдержит ли машина ещё пять сессий.</a:t>
            </a:r>
          </a:p>
          <a:p/>
          <a:p>
            <a:r>
              <a:t>Как проверить это у себя, если ход с дочерними сессиями показался полезным. Посмотрите расход памяти на одной сессии сразу после запуска и через час работы — эти два числа и дают вашу вилку. Разделите свободную память на верхнее из них, вычтите запас на то, что сессии запускают сами, и получите своё число одновременных сессий. Оно у вас будет другим: другая память, другой агент, другие задачи внутри. Замер автора курса даёт порядок величины и способ счёта, проверять его стоит на своей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Возьмём для него настройку платформы: там этот промах виден чище, чем в коде.</a:t>
            </a:r>
          </a:p>
          <a:p/>
          <a:p>
            <a:r>
              <a:t>Настраиваемая платформа: справочники, формы, права доступа, скрипты заводятся настройкой, а не программированием. Параллелить такую работу соблазнительно вдвойне — каждый кусок выглядит отдельным экраном, который можно открыть и заполнить, ни на кого не глядя. Через неделю разработчик так и делает: справочник уходит одному субагенту, форма, которая на этот справочник опирается, — второму, одновременно. Общего описания задачи он не пишет: куски же видны, что тут описывать.</a:t>
            </a:r>
          </a:p>
          <a:p/>
          <a:p>
            <a:r>
              <a:t>Оба возвращают работу, и оба правы. Справочник заведён: поля названы, состав собран, значения заполнены. Форма настроена: поля показываются, обязательность проставлена, проверка стоит. Претензий ни к одному из двоих нет — каждый сделал ровно то, что ему поручили, и сделал быстро.</a:t>
            </a:r>
          </a:p>
          <a:p/>
          <a:p>
            <a:r>
              <a:t>Вместе они не работают. Поля справочника названы и составлены по одному пониманию задачи, форма ждёт другого: часть полей не совпала именами, часть — составом, где-то обязательность разошлась. Результат — два быстрых и совершенно не связанных друг с другом куска работы, которые потом долго сводят руками. Сведение забирает больше времени, чем заняла сама настройка, и съедает ровно ту параллельность, ради которой всё затевалось.</a:t>
            </a:r>
          </a:p>
          <a:p/>
          <a:p>
            <a:r>
              <a:t>Что здесь повторено — число исполнителей. Условия под ним не было: куски не независимы, один опирается на другой. Параллельность при этом была настоящей, и харнесс дал её бесплатно; подвела не она. Подвело то, что целиком задачу не знал никто: дробление сузило контекст каждому исполнителю, и общего описания, в котором состав полей назван один раз для обоих, не существовало ни у одного.</a:t>
            </a:r>
          </a:p>
          <a:p/>
          <a:p>
            <a:r>
              <a:t>Тот же промах выглядит в коде иначе, а устроен так же. Разбить проверку на отдельные независимые прогоны — каждый зелёный, а проблема, которую видно только на задаче целиком, не находится ни одним: дробление снижает качество ровно там, где снизило контекст. В нашем лендинге пара того же вида лежит прямо в раскладке: новое поле с проверкой и карта сообщений об ошибках живут в одном файле, и ключи сообщений — это и есть справочник, на который опирается форма.</a:t>
            </a:r>
          </a:p>
          <a:p/>
          <a:p>
            <a:r>
              <a:t>Стоит отдельно снять подозрение с самих исполнителей. Ни один из двоих не ошибся и не поленился: каждый прочитал свою постановку и честно её выполнил. Отчёт у обоих верен в своих границах, и именно поэтому расхождение всплывает поздно — две зелёные работы складываются в картину готовности, которой нет. Так же устроена и пара проверяющих, если один читает код построчно, а второй прогоняет сценарии: оба отчитываются честно, а случай, попавший между их зонами, не называет ни один.</a:t>
            </a:r>
          </a:p>
          <a:p/>
          <a:p>
            <a:r>
              <a:t>Связь с пятницей здесь прямая, и она про одно слово. В раскладке условие назвали вслух: сказали, какие куски независимы и почему. Здесь его не написал никто.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Отдать оба куска одному субагенту.</a:t>
            </a:r>
            <a:r>
              <a:t> Ход честный: один исполнитель видит оба конца сразу и держит состав полей согласованным просто потому, что заводит его сам. Цена названа прямо — отдаётся параллельность, и отдаётся там, где она была настоящей и ничего не стоила. На двух кусках это терпимо; на задаче из пятнадцати кусков один исполнитель становится узким местом, и вся раскладка теряет смысл.</a:t>
            </a:r>
          </a:p>
          <a:p/>
          <a:p>
            <a:r>
              <a:rPr b="1"/>
              <a:t>Дать каждому широкий доступ — пусть сам разберётся в соседнем куске.</a:t>
            </a:r>
            <a:r>
              <a:t> Иногда срабатывает: исполнитель открывает соседнюю настройку, видит состав полей и подстраивается. Цена спрятана в слове «широкий»: широкий доступ означает широкий контекст и широкие права — ровно то, что урезанный список инструментов и ограничивает. И у хода есть второй предел, менее очевидный: прочитать соседний кусок ещё не значит понять его так же. Два исполнителя, читающие одно и то же, расходятся в толковании примерно так же легко, как расходились до чтения.</a:t>
            </a:r>
          </a:p>
          <a:p/>
          <a:p>
            <a:r>
              <a:rPr b="1"/>
              <a:t>Общее описание задачи, которое оба читают до начала.</a:t>
            </a:r>
            <a:r>
              <a:t> Этот и работает. Состав общего — имена полей, их набор, обязательность, что считается готовым — назван один раз для обоих и лежит отдельно от обоих кусков. Расхождение становится видно до работы: достаточно сверить настройку с описанием, а не две настройки между собой. Условие у хода одно — описание пишут до того, как куски разошлись, и поддерживают, пока они живут. Цену стоит назвать честно, иначе ход выглядит бесплатным: появляются циклы чтения, правки и согласования самого описания, времени они берут заметно, и платят их каждый раз, когда задача меняется.</a:t>
            </a:r>
          </a:p>
          <a:p/>
          <a:p>
            <a:r>
              <a:rPr b="1"/>
              <a:t>Завести третьего субагента-координатора.</a:t>
            </a:r>
            <a:r>
              <a:t> Выглядит как решение: он сверяет две готовые работы между собой. Цена растёт быстрее, чем снижается риск. К двум уже разошедшимся работам добавляется третий исполнитель со своим контекстом и своим пониманием задачи, а сводить расхождение всё равно придётся — просто чужими руками и на шаг позже. Проверяется ход одним вопросом: что координатор делает такого, чего нельзя записать в общее описание до начала работы.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Здесь его не написал никто, и додумать его было некому: дробление сузило контекст каждому, и целиком задачу не знал ни один из двоих. Третий ход называет условие вслух до того, как оно понадобится, — тем же движением, что и раскладка.</a:t>
            </a:r>
          </a:p>
          <a:p/>
          <a:p>
            <a:r>
              <a:t>Выглядит «написать общее описание» скромнее, чем звучит: это не проектная документация, а несколько строк про то, что у кусков общее, — имена, состав, признак готовности. Писать его целиком вперёд бессмысленно: описание, разросшееся до талмуда, перестают читать, и оно устаревает быстрее задачи. Разумный объём — тот, который исполнитель прочитывает перед работой целиком и не пропускает.</a:t>
            </a:r>
          </a:p>
          <a:p/>
          <a:p>
            <a:r>
              <a:t>Как именно такое описание пишется, чтобы его хватило на обе стороны,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двух субагентов из этой истории нет третьего, который сверял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субагентов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субагентов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одного субагента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двух субагентов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субагентах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субагентов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Расхождение закрывает одно средство — явная граница, записанная в общем описании для каждого куска, в обе стороны.</a:t>
            </a:r>
          </a:p>
          <a:p/>
          <a:p>
            <a:r>
              <a:t>Устроена она просто. У справочника появляется строка про то, где он кончается: имена и состав полей заводятся здесь; как эти поля показываются и проверяются на форме — не здесь. У формы — симметричная: поля показываются по именам из описания, состав полей форма не заводит. Две строки, и читающий описание видит не только то, что каждый кусок делает, но и то, где он останавливается. Снаружи обязано быть названо конкретное: формулировка «всё остальное» не читается как чья-то зона и потому не достаётся никому.</a:t>
            </a:r>
          </a:p>
          <a:p/>
          <a:p>
            <a:r>
              <a:t>Как такая строка выглядит записанной, проще увидеть на знакомом примере. У субагента, который читает код построчно, она звучит так: «НЕ для ревью архитектурных решений — это отдельная работа». Названо, где исполнитель останавливается, и названо конкретно; оборот «прочее» на этом месте не работает.</a:t>
            </a:r>
          </a:p>
          <a:p/>
          <a:p>
            <a:r>
              <a:t>Теперь честно о пределе приёма, потому что обещать он может больше, чем делает. Записанная граница стык между кусками не убирает. Она делает расхождение видимым тому, кто читает описание до начала работы. Прочитать его перед началом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устройство целиком. Два прямоугольника — зона справочника и зона формы, у каждого своя строка «НЕ здесь» внизу. Между прямоугольниками выделена полоса с подписью «общее, не записано никем»: имена и состав полей попадают ровно туда. Подпись под схемой говорит то же, что сказано выше словами.</a:t>
            </a:r>
          </a:p>
          <a:p/>
          <a:p>
            <a:r>
              <a:t>Кто пишет обе строки — тот, кто раскладывал задачу, до того как куски ушли исполнителям. Написать их порознь,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дать обоим исполнителям широкий доступ и закрыть вопрос. Это второй ход из предыдущего разбора, и цена его уже названа — широкий доступ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широкий доступ сказать нельзя.</a:t>
            </a:r>
          </a:p>
          <a:p/>
          <a:p>
            <a:r>
              <a:t>Стоит заметить, что этот приём не требует ни инструментов, ни настроек, ни изменений в харнессе. Он целиком лежит в тексте,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которой нет, ничем не сигналит о своём отсутствии — её отсутствие предъявляет счёт позже, когда две готовые работы приходится сводить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отдельный субагент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Субагент оправдан, когда кусков несколько и они независимы — шаг одного не нуждается в выводе другого. Справочник и форма попадают в этот случай тогда, когда общее между ними — имена, состав и обязательность полей — записано до начала работы.</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Общего между кусками никто не записал: две честные работы складываются в готовность,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расхождения он делал всё одним субагентом, по очереди, включая те куски, которые спокойно делились. Само сведение разошедшихся настроек стоило дольше, чем заняла настройка. Доверие к приёму стоило недели работы по очереди, и это вторая цена, которая здесь важнее первой. Ручное сведение — обычная плата за расхождение.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субагента.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условие: сел и написал общее описание — то самое, которое надо было написать до начала, с именами и составом полей в одном месте. Это ровно приём предыдущего экрана, применённый с опозданием на неделю. По его задаче стоит заметить отдельно: справочник и форму настраивать двумя субагентами было можно, отсюда и решение оставить двоих, добавив к ним общее описание. Ошибкой стало молчание об общем.</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самого субагента,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субагента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Субагентов в одной папке — почти всегда больше одного, и это штатное положение дел. Субагенты попадают в ту же папку по устройству: субагент работает там, где стоит позвавшая его сессия. Разница между сессией и субагентом здесь одна, и на ней стоит весь случай: сессии отдельную копию репозитория дают почти всегда, субагенту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субагентов, и у каждого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субагента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со своего случая, потому что он здесь есть почти у каждого. Было ли у вас, что два запуска дерутся за одну рабочую папку: ветка оказалась не та, правка перекрыта, сборка собралась не из того, — а странного никто при этом не делал? Если было, дальше стоит держать в голове, чем это кончилось у вас.</a:t>
            </a:r>
          </a:p>
          <a:p/>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субагенты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«Субагенты вместо второй сессии». Продуктивная путаница, и ведёт она прямо в середину случая. Субагенты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субагенты?</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субагенты в первой.</a:t>
            </a:r>
            <a:r>
              <a:t> Снимает спор о ветке: субагенты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субагентов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субагенты не получают своей копии, если сессии получают. Получить могут — одной строкой в описании субагента.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Разобранный ход — своя рабочая копия на каждую задачу — живёт одной строкой в файле инструкций проекта. Это и есть артефакт случая, и он возвращает занятие к той ступени, которую проект прошёл двумя занятиями раньше.</a:t>
            </a:r>
          </a:p>
          <a:p/>
          <a:p>
            <a:r>
              <a:t>Файл этот уже есть и уже содержит правила того же рода: раздел с порядком работы в репозитории, и в нём строка о том, что прямо в ветку по умолчанию не коммитят. Требование работать в ветке, таким образом, записано давно. Рядом с ним дописываются две строки. Первая: каждая задача ведётся в своей рабочей копии — флагом при запуске либо командой git. Вторая: закончив задачу, предложи слияние ветки и уборку копии, незакрытую копию не оставляй.</a:t>
            </a:r>
          </a:p>
          <a:p/>
          <a:p>
            <a:r>
              <a:t>Почему это пишется в файл, а держится в памяти, объясняется устройством, которое занятие уже разобрало. Файл инструкций читается при старте каждой сессии, и порядок работы с копиями достаётся каждой из них одинаково — включая ту, которую подняли наспех в пятницу вечером. Договорённость, которая живёт в памяти, достаётся тем сессиям, про которые вспомнили, и именно забытые сессии приносят столкновения.</a:t>
            </a:r>
          </a:p>
          <a:p/>
          <a:p>
            <a:r>
              <a:t>Форма здесь — записанное словами правило, которое читают и которое само не исполняется. В том же файле с прошлого занятия стоит и правило второго вида: хук защиты ветки, код, срабатывающий на событие. Порядок работы с копиями хуком не оформляют: событие «пора заводить отдельную копию» заранее не описывается, его опознаёт человек или сессия по смыслу задачи.</a:t>
            </a:r>
          </a:p>
          <a:p/>
          <a:p>
            <a:r>
              <a:t>Второй конец правила стоит заметить отдельно. Первый конец, завести копию, делается охотно: без него не начать работу. Второй конец, слить ветку и убрать копию, делается после того, как задача решена, и ровно поэтому выпадает. Соблазн выглядит безобидно: задача оказалась мелкой, в отдельной сессии её решили быстро, сессию закрыли — и ветка осталась лежать отдельно, несмерженная. Вернуться к ней уже незачем: работа сделана, результат в голове, в ветке по умолчанию его нет. Через месяц таких веток столько, что разбирать их никто не станет.</a:t>
            </a:r>
          </a:p>
          <a:p/>
          <a:p>
            <a:r>
              <a:t>Цена второго конца измеряется на машине. На рабочем компьютере автора курса нашлось больше сотни старых рабочих копий — обнаружилось это тогда, когда кончилось место на диске. Уборка сама не случается: копия остаётся на диске и в списке веток до того момента, когда её уберут руками. Сотня копий репозитория — это сотня рабочих деревьев, и для проекта с тяжёлыми файлами счёт идёт в десятки гигабайт.</a:t>
            </a:r>
          </a:p>
          <a:p/>
          <a:p>
            <a:r>
              <a:t>Формулировка строки стоит того, чтобы её выбрать аккуратно. Полезнее всего работает формулировка через полный цикл: как задача начинается и как она завершается. Сессия, которой сказано «заведи копию», заводит копию. Сессия, которой сказано «заведи копию, а в конце предложи слияние и уборку», сама доходит до конца цикла и спрашивает, сливать ли, — и решение остаётся за человеком, а напоминание приходит в тот момент, когда оно уместно.</a:t>
            </a:r>
          </a:p>
          <a:p/>
          <a:p>
            <a:r>
              <a:t>Статус этого артефакта тот же, что у двух остальных сегодняшних: по плану, коммита нет и не будет. Демонстрационный репозиторий дальше не строится, и сказано это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 каждый следующий вызов начинается там же, где начался первый. Общая папка у субагентов — штатный режим, в котором они работают почти всегда.</a:t>
            </a:r>
          </a:p>
          <a:p/>
          <a:p>
            <a:r>
              <a:t>Три факта устройства, и из каждого своя поломка.</a:t>
            </a:r>
          </a:p>
          <a:p/>
          <a:p>
            <a:r>
              <a:t>Первое: каталог у субагента тот же, что у вызвавшей его сессии, и инструмент правки есть у всякого субагента, которому его не отняли строкой в описании. Отсюда перекрытая правка: два субагента правят одни файлы, и тот, что записал позже, перекрывает работу первого. Перекрывает целиком, когда переписывает файл вместо правки участка, — тогда от правки первого не остаётся следа.</a:t>
            </a:r>
          </a:p>
          <a:p/>
          <a:p>
            <a:r>
              <a:t>Строка, о которой речь, — список инструментов в описании субагента: чего в этом списке нет, того субагент не делает. Отнять инструмент правки у читающего субагента ничего не стоит, и это первое, что проверяют, когда в папке работают несколько исполнителей.</a:t>
            </a:r>
          </a:p>
          <a:p/>
          <a:p>
            <a:r>
              <a:t>Второе: состояние репозитория субагент получает снимком на момент своего старта, и снимок по ходу работы не обновляется. Выбрать, кому его давать, нельзя: его получают все субагенты, кроме двух чисто читающих режимов. Отсюда работа по состоянию, которого в каталоге уже нет: субагент создаёт заново файл, которого «не было», или правит строку, которую рядом уже переписали. Снимок сделан таким намеренно — субагент должен понимать, в каком состоянии репозиторий был на входе, а обновляемый снимок сделал бы его поведение зависящим от чужого темпа работы. Платим за это тем, что к середине работы снимок устарел.</a:t>
            </a:r>
          </a:p>
          <a:p/>
          <a:p>
            <a:r>
              <a:t>Два субагента, запущенные в один момент, получают одинаковый снимок — и дальше каждый действует по нему, не зная о втором. Это и делает поломку тихой: оба работают по корректному для себя состоянию.</a:t>
            </a:r>
          </a:p>
          <a:p/>
          <a:p>
            <a:r>
              <a:t>Третье: вызвавшая сессия получает итог субагента;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субагент работал и что он вернул; какие записи он сделал по ходу, восстанавливают по файлам и по истории репозитория.</a:t>
            </a:r>
          </a:p>
          <a:p/>
          <a:p>
            <a:r>
              <a:t>Так и устроено, и это нормально: субагент работает там, где лежит работа, иначе итог было бы некуда возвращать. Поэтому первая защита здесь — раскладка зон.</a:t>
            </a:r>
          </a:p>
          <a:p/>
          <a:p>
            <a:r>
              <a:t>Запретить субагенту писать можно, и для читающих субагентов это и есть ответ: список инструментов — состав арсенала, и чего в нём нет, того субагент физически не сделает. Для пишущих остаётся раскладка.</a:t>
            </a:r>
          </a:p>
          <a:p/>
          <a:p>
            <a:r>
              <a:t>Ход «пусть субагенты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субагентов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субагентов лучше вообще не иметь» рабочая, и часть команд так и живёт: субагенты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субагента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субагентов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субагенту дать можно, и начинать стоит с этого, чтобы из случая не ушло неверное «так нельзя». Одна строка в описании субагента — </a:t>
            </a:r>
            <a:r>
              <a:rPr>
                <a:latin typeface="Consolas"/>
              </a:rPr>
              <a:t>isolation: worktree</a:t>
            </a:r>
            <a:r>
              <a:t> — и субагент работает во временной копии репозитория; копия убирается сама, если субагент ничего не изменил. Разово о том же просят словами: использовать для субагентов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субагента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изолированный субагент просто не видит: он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субагента, которому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субагента один: итоговый текст. Файловые правки остаются в его каталоге, на его ветке, и принести их в вашу работу приходится вам. В обычном режиме такого шага нет вовсе: субагент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субагента — появление шага, которого до неё не было.</a:t>
            </a:r>
          </a:p>
          <a:p/>
          <a:p>
            <a:r>
              <a:rPr b="1"/>
              <a:t>Цена третья — рабочее место.</a:t>
            </a:r>
            <a:r>
              <a:t> В копии оно собственное: зависимости и локальные файлы субагент получает в том виде, в каком их туда положили. Субагент, которому нужно прогнать тесты, в неподнятой копии не найдёт ничего и честно доложит об отказе.</a:t>
            </a:r>
          </a:p>
          <a:p/>
          <a:p>
            <a:r>
              <a:t>Критерий отсюда проходит по работе субагента, не по их числу.</a:t>
            </a:r>
          </a:p>
          <a:p/>
          <a:p>
            <a:r>
              <a:t>Копию дают, когда работа субагента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субагентов разом; существует он ровно потому, что для такой работы изоляция окупается.</a:t>
            </a:r>
          </a:p>
          <a:p/>
          <a:p>
            <a:r>
              <a:t>Копию не дают, когда субагент правит начатое вами: отдельная копия отрежет его от этой работы, и вернётся субагент с правкой чистого дерева. Не дают, когда правка короткая и нужна здесь же — поднять рабочее место копии дороже самой правки. И не дают читающему субагенту: ему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субагента, когда субагент закончил. Если он ничего не изменил, копию убирают сразу — это делает устройство само, без чьей-либо дисциплины. Если изменил, копия остаётся лежать до уборки вместе с веткой. Забытые копии субагентов накапливаются так же, как забытые ветки, и уборка их сама не случается.</a:t>
            </a:r>
          </a:p>
          <a:p/>
          <a:p>
            <a:r>
              <a:t>Короткий итог, который стоит унести вместо «субагентам копию не дают»: дают, под один класс работы — тот, где правка субагента целиком его собственная и принимается веткой. В остальных случаях изоляция отрезает субагента от работы, ради которой его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субагентов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субагенты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субагента, а обратно в сессию приходит итог. Чего эта строка не делает — рабочий каталог она не разводит. Субагент работает там же, где стоит вызвавшая его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субагента, у которого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урезанным правам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субагента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Седьмая строка стоит особняком от двух предыдущих, и различие стоит назвать. Два файла — это новые артефакты по новым путям. Строка правила про рабочие копии дописывается в файл, который в проекте уже есть и уже содержит правила того же рода: порядок работы в репозитории с требованием не коммитить прямо в главную ветку. Занятие добавляет туда два пункта — копия на задачу и слияние с уборкой в конце. Так и накапливается файл инструкций: по строке за занятие, каждая на месте того случая, который её потребовал.</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три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субагент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субагентов,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пяти случаев занятия опору несут два.</a:t>
            </a:r>
          </a:p>
          <a:p/>
          <a:p>
            <a:r>
              <a:t>Статус сервера — первый случай блока MCP, его последний экран.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он тоже проверяется на своей машине за минуту. Сам собранный файл подключения при этом целевой: коммита за ним нет ни в демонстрационном репозитории, ни в репозитории курса, и на экране это сказано прямо.</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тремя командой, которую можно выполнить здесь и сейчас, опоры нет, и это сказано прямо.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Три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урезанные права</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650847"/>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33727"/>
            <a:ext cx="2540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72383" y="1833727"/>
            <a:ext cx="39062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7424899" y="1833727"/>
            <a:ext cx="25412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10112432" y="1833727"/>
            <a:ext cx="12444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115794"/>
            <a:ext cx="254027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72383" y="2115794"/>
            <a:ext cx="39062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 — и проверяем, что агент через сервер правда ходит.</a:t>
            </a:r>
          </a:p>
        </p:txBody>
      </p:sp>
      <p:sp>
        <p:nvSpPr>
          <p:cNvPr id="10" name="TextBox 9"/>
          <p:cNvSpPr txBox="1"/>
          <p:nvPr/>
        </p:nvSpPr>
        <p:spPr>
          <a:xfrm>
            <a:off x="7424899" y="2115794"/>
            <a:ext cx="25412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sp>
        <p:nvSpPr>
          <p:cNvPr id="11" name="TextBox 10"/>
          <p:cNvSpPr txBox="1"/>
          <p:nvPr/>
        </p:nvSpPr>
        <p:spPr>
          <a:xfrm>
            <a:off x="10112432" y="2115794"/>
            <a:ext cx="124441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8280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28074"/>
            <a:ext cx="25402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урезанные права</a:t>
            </a:r>
          </a:p>
        </p:txBody>
      </p:sp>
      <p:sp>
        <p:nvSpPr>
          <p:cNvPr id="14" name="TextBox 13"/>
          <p:cNvSpPr txBox="1"/>
          <p:nvPr/>
        </p:nvSpPr>
        <p:spPr>
          <a:xfrm>
            <a:off x="3372383" y="2828074"/>
            <a:ext cx="390621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7424899" y="2828074"/>
            <a:ext cx="254122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10112432" y="2828074"/>
            <a:ext cx="12444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75587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8388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агент уже ходил наружу — в трекер, в базу, в документацию? Чем вы тогда дали ему доступ?</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свой способ из пяти — и скажите, выдержит ли он регулярный доступ или вы бы сейчас взяли соседнюю карточку.</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галочки прощёлкивают — и что бывает дальше</a:t>
            </a:r>
          </a:p>
        </p:txBody>
      </p:sp>
      <p:sp>
        <p:nvSpPr>
          <p:cNvPr id="3" name="Rounded Rectangle 2"/>
          <p:cNvSpPr/>
          <p:nvPr/>
        </p:nvSpPr>
        <p:spPr>
          <a:xfrm>
            <a:off x="502920" y="9691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71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Права у ключа спрашивают единственный раз — в момент выпуска: сервис перечисляет действия и спрашивает, какие из них вы этому ключу доверяете.</a:t>
            </a:r>
          </a:p>
        </p:txBody>
      </p:sp>
      <p:sp>
        <p:nvSpPr>
          <p:cNvPr id="5" name="Rounded Rectangle 4"/>
          <p:cNvSpPr/>
          <p:nvPr/>
        </p:nvSpPr>
        <p:spPr>
          <a:xfrm>
            <a:off x="502920" y="1945030"/>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27910"/>
            <a:ext cx="33168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КОТОРЫЙ ДЕЛАЮТ ПОЧТИ ВСЕ</a:t>
            </a:r>
          </a:p>
        </p:txBody>
      </p:sp>
      <p:sp>
        <p:nvSpPr>
          <p:cNvPr id="7" name="TextBox 6"/>
          <p:cNvSpPr txBox="1"/>
          <p:nvPr/>
        </p:nvSpPr>
        <p:spPr>
          <a:xfrm>
            <a:off x="4148961" y="2127910"/>
            <a:ext cx="72078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 НЁМ СТОИТ ДОРОГО</a:t>
            </a:r>
          </a:p>
        </p:txBody>
      </p:sp>
      <p:sp>
        <p:nvSpPr>
          <p:cNvPr id="8" name="TextBox 7"/>
          <p:cNvSpPr txBox="1"/>
          <p:nvPr/>
        </p:nvSpPr>
        <p:spPr>
          <a:xfrm>
            <a:off x="685800" y="2409977"/>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проставить все галочки подряд: «вдруг потом понадобится, не перевыпускать же ключ»</a:t>
            </a:r>
          </a:p>
        </p:txBody>
      </p:sp>
      <p:sp>
        <p:nvSpPr>
          <p:cNvPr id="9" name="TextBox 8"/>
          <p:cNvSpPr txBox="1"/>
          <p:nvPr/>
        </p:nvSpPr>
        <p:spPr>
          <a:xfrm>
            <a:off x="4148961" y="2409977"/>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список операций агента на четыре строки, а ключ выдан на все: вычеркнутое на разборе вернулось целиком</a:t>
            </a:r>
          </a:p>
        </p:txBody>
      </p:sp>
      <p:cxnSp>
        <p:nvCxnSpPr>
          <p:cNvPr id="10" name="Connector 9"/>
          <p:cNvCxnSpPr/>
          <p:nvPr/>
        </p:nvCxnSpPr>
        <p:spPr>
          <a:xfrm>
            <a:off x="685800" y="31222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2256"/>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положить ключ под руку — в файл рядом с конфигурацией</a:t>
            </a:r>
          </a:p>
        </p:txBody>
      </p:sp>
      <p:sp>
        <p:nvSpPr>
          <p:cNvPr id="12" name="TextBox 11"/>
          <p:cNvSpPr txBox="1"/>
          <p:nvPr/>
        </p:nvSpPr>
        <p:spPr>
          <a:xfrm>
            <a:off x="4148961" y="3122256"/>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 уезжает в репозиторий, в историю коммитов и в обзор правок. Дом ключа между запусками — хранилище секретов: видно имя, не значение</a:t>
            </a:r>
          </a:p>
        </p:txBody>
      </p:sp>
      <p:cxnSp>
        <p:nvCxnSpPr>
          <p:cNvPr id="13" name="Connector 12"/>
          <p:cNvCxnSpPr/>
          <p:nvPr/>
        </p:nvCxnSpPr>
        <p:spPr>
          <a:xfrm>
            <a:off x="685800" y="36519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51973"/>
            <a:ext cx="331685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понадеяться, что ваш ключ никто не ищет</a:t>
            </a:r>
          </a:p>
        </p:txBody>
      </p:sp>
      <p:sp>
        <p:nvSpPr>
          <p:cNvPr id="15" name="TextBox 14"/>
          <p:cNvSpPr txBox="1"/>
          <p:nvPr/>
        </p:nvSpPr>
        <p:spPr>
          <a:xfrm>
            <a:off x="4148961" y="3651973"/>
            <a:ext cx="720788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ключи в публичных репозиториях ищут и находят работающими; один из поставщиков моделей сторожит свои сам и блокирует засвеченный за секунды — по рассказу студентов прошлого потока</a:t>
            </a:r>
          </a:p>
        </p:txBody>
      </p:sp>
      <p:cxnSp>
        <p:nvCxnSpPr>
          <p:cNvPr id="16" name="Connector 15"/>
          <p:cNvCxnSpPr/>
          <p:nvPr/>
        </p:nvCxnSpPr>
        <p:spPr>
          <a:xfrm>
            <a:off x="685800" y="43642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64253"/>
            <a:ext cx="331685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вспомнить про права, когда ключ уже где-то всплыл</a:t>
            </a:r>
          </a:p>
        </p:txBody>
      </p:sp>
      <p:sp>
        <p:nvSpPr>
          <p:cNvPr id="18" name="TextBox 17"/>
          <p:cNvSpPr txBox="1"/>
          <p:nvPr/>
        </p:nvSpPr>
        <p:spPr>
          <a:xfrm>
            <a:off x="4148961" y="4364253"/>
            <a:ext cx="720788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права меняют на стороне сервиса, и задним числом они не отменяют ничего: всё, что ключ успел, он успел</a:t>
            </a:r>
          </a:p>
        </p:txBody>
      </p:sp>
      <p:sp>
        <p:nvSpPr>
          <p:cNvPr id="19" name="Rounded Rectangle 18"/>
          <p:cNvSpPr/>
          <p:nvPr/>
        </p:nvSpPr>
        <p:spPr>
          <a:xfrm>
            <a:off x="502920" y="530595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3397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Сторож поставщика закрывает один канал из многих — приватную утечку, журнал сборки и снимок экрана он не видит. Узкий ключ, который утёк, остаётся единственным, что в вашей власти после выпуска.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Подключено — не значит, что агент туда ходит</a:t>
            </a:r>
          </a:p>
        </p:txBody>
      </p:sp>
      <p:sp>
        <p:nvSpPr>
          <p:cNvPr id="3" name="Rectangle 2"/>
          <p:cNvSpPr/>
          <p:nvPr/>
        </p:nvSpPr>
        <p:spPr>
          <a:xfrm>
            <a:off x="502920" y="154061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9547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«Подключено» отвечает за процесс: поднялся, ответил на рукопожатие, отдал список своих инструментов. Про то, обращался ли к нему агент в вашей задаче, в этой отметке нет ничего.</a:t>
            </a:r>
          </a:p>
        </p:txBody>
      </p:sp>
      <p:sp>
        <p:nvSpPr>
          <p:cNvPr id="5" name="Rounded Rectangle 4"/>
          <p:cNvSpPr/>
          <p:nvPr/>
        </p:nvSpPr>
        <p:spPr>
          <a:xfrm>
            <a:off x="502920" y="2770479"/>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059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993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Доказательный вызов.</a:t>
            </a:r>
            <a:r>
              <a:rPr sz="1350" b="0" i="0">
                <a:solidFill>
                  <a:srgbClr val="141B2E"/>
                </a:solidFill>
                <a:latin typeface="Arial"/>
              </a:rPr>
              <a:t> Назвать сервер в запросе по имени: «используя сервер трекера, выведи список открытых задач, затем подготовь черновик по каждой».</a:t>
            </a:r>
          </a:p>
        </p:txBody>
      </p:sp>
      <p:sp>
        <p:nvSpPr>
          <p:cNvPr id="8" name="Rounded Rectangle 7"/>
          <p:cNvSpPr/>
          <p:nvPr/>
        </p:nvSpPr>
        <p:spPr>
          <a:xfrm>
            <a:off x="758952" y="36374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522573"/>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Признак в выводе.</a:t>
            </a:r>
            <a:r>
              <a:rPr sz="1350" b="0" i="0">
                <a:solidFill>
                  <a:srgbClr val="141B2E"/>
                </a:solidFill>
                <a:latin typeface="Arial"/>
              </a:rPr>
              <a:t> Вызов инструмента подписан именем сервера.</a:t>
            </a:r>
          </a:p>
        </p:txBody>
      </p:sp>
      <p:sp>
        <p:nvSpPr>
          <p:cNvPr id="10" name="Rounded Rectangle 9"/>
          <p:cNvSpPr/>
          <p:nvPr/>
        </p:nvSpPr>
        <p:spPr>
          <a:xfrm>
            <a:off x="502920" y="47398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8678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Отсутствия ошибок мало. Ошибки не будет и тогда, когда сигналов не приходит вовсе, — следить надо не только за тем, есть ли сбой, но и за тем, есть ли связь с тем, за кем следите.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8-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и есть чем доказать, что агент им пользуется. Следующий вопрос — во что обходится сама подключённость, пока к серверу никто не обратился.</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в рабочем проекте подключено больше трёх серверов? А к скольким вы обращались за последнюю рабочую неделю?</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оба числа — и скажите, что вы ставите первым шагом и что добавляете к этому следующим.</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субагент и контекст каждого</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целиком, одним экраном</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ounded Rectangle 2"/>
          <p:cNvSpPr/>
          <p:nvPr/>
        </p:nvSpPr>
        <p:spPr>
          <a:xfrm>
            <a:off x="502920" y="111808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4609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из вас была правка, в которой найти места стоило дороже, чем их поправить? Сколько файлов пришлось открыть?</a:t>
            </a:r>
          </a:p>
        </p:txBody>
      </p:sp>
      <p:sp>
        <p:nvSpPr>
          <p:cNvPr id="5" name="Rectangle 4"/>
          <p:cNvSpPr/>
          <p:nvPr/>
        </p:nvSpPr>
        <p:spPr>
          <a:xfrm>
            <a:off x="502920" y="257902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33891"/>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Здесь мест четыре, файлов сорок.</a:t>
            </a:r>
          </a:p>
        </p:txBody>
      </p:sp>
      <p:sp>
        <p:nvSpPr>
          <p:cNvPr id="7" name="Rounded Rectangle 6"/>
          <p:cNvSpPr/>
          <p:nvPr/>
        </p:nvSpPr>
        <p:spPr>
          <a:xfrm>
            <a:off x="502920" y="35347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627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9" name="Rounded Rectangle 8"/>
          <p:cNvSpPr/>
          <p:nvPr/>
        </p:nvSpPr>
        <p:spPr>
          <a:xfrm>
            <a:off x="502920"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11" name="Rounded Rectangle 10"/>
          <p:cNvSpPr/>
          <p:nvPr/>
        </p:nvSpPr>
        <p:spPr>
          <a:xfrm>
            <a:off x="2768803"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3" name="Rounded Rectangle 12"/>
          <p:cNvSpPr/>
          <p:nvPr/>
        </p:nvSpPr>
        <p:spPr>
          <a:xfrm>
            <a:off x="5034686"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5" name="Rounded Rectangle 14"/>
          <p:cNvSpPr/>
          <p:nvPr/>
        </p:nvSpPr>
        <p:spPr>
          <a:xfrm>
            <a:off x="7300569"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субагенту: прочитает в своём контексте и вернёт список мест</a:t>
            </a:r>
          </a:p>
        </p:txBody>
      </p:sp>
      <p:sp>
        <p:nvSpPr>
          <p:cNvPr id="17" name="Rounded Rectangle 16"/>
          <p:cNvSpPr/>
          <p:nvPr/>
        </p:nvSpPr>
        <p:spPr>
          <a:xfrm>
            <a:off x="9566452" y="4959134"/>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959134"/>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435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75633" y="1126236"/>
            <a:ext cx="36781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700091" y="1126236"/>
            <a:ext cx="5656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04352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75633" y="1408303"/>
            <a:ext cx="3678153"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700091" y="1408303"/>
            <a:ext cx="565675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75633" y="2244725"/>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700091" y="2244725"/>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75633" y="2913189"/>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700091" y="2913189"/>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04352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субагенту</a:t>
            </a:r>
          </a:p>
        </p:txBody>
      </p:sp>
      <p:sp>
        <p:nvSpPr>
          <p:cNvPr id="20" name="TextBox 19"/>
          <p:cNvSpPr txBox="1"/>
          <p:nvPr/>
        </p:nvSpPr>
        <p:spPr>
          <a:xfrm>
            <a:off x="1875633" y="3581654"/>
            <a:ext cx="367815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700091" y="3581654"/>
            <a:ext cx="565675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субагент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04352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75633" y="4250118"/>
            <a:ext cx="3678153"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700091" y="4250118"/>
            <a:ext cx="56567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субагента закрывается вместе с ним. Второе — куда возвращается список: от субагента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субагента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субагент, которому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субагента,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Пятница, вечер, это вся постановка. Форма заявки на лендинге прошлых занятий: разметка — </a:t>
            </a:r>
            <a:r>
              <a:rPr sz="1100" b="1" i="0">
                <a:solidFill>
                  <a:srgbClr val="141B2E"/>
                </a:solidFill>
                <a:latin typeface="Consolas"/>
              </a:rPr>
              <a:t>index.html</a:t>
            </a:r>
            <a:r>
              <a:rPr sz="1100" b="1" i="0">
                <a:solidFill>
                  <a:srgbClr val="141B2E"/>
                </a:solidFill>
                <a:latin typeface="Arial"/>
              </a:rPr>
              <a:t>, проверка — </a:t>
            </a:r>
            <a:r>
              <a:rPr sz="1100" b="1" i="0">
                <a:solidFill>
                  <a:srgbClr val="141B2E"/>
                </a:solidFill>
                <a:latin typeface="Consolas"/>
              </a:rPr>
              <a:t>src/validate.js</a:t>
            </a:r>
            <a:r>
              <a:rPr sz="1100" b="1" i="0">
                <a:solidFill>
                  <a:srgbClr val="141B2E"/>
                </a:solidFill>
                <a:latin typeface="Arial"/>
              </a:rPr>
              <a:t>. Спросить не у кого.</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1.</a:t>
            </a:r>
            <a:r>
              <a:rPr sz="950" b="0" i="0">
                <a:solidFill>
                  <a:srgbClr val="141B2E"/>
                </a:solidFill>
                <a:latin typeface="Arial"/>
              </a:rPr>
              <a:t> Выпишите, из каких кусков состоит эта задача.</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Ход 2.</a:t>
            </a:r>
            <a:r>
              <a:rPr sz="950" b="0" i="0">
                <a:solidFill>
                  <a:srgbClr val="141B2E"/>
                </a:solidFill>
                <a:latin typeface="Arial"/>
              </a:rPr>
              <a:t> По каждому ответьте: нужен ли ему итог другого, лезет ли он в тот же файл, повторяется ли после остальных.</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И одной строкой</a:t>
            </a:r>
            <a:r>
              <a:rPr sz="950" b="0" i="0">
                <a:solidFill>
                  <a:srgbClr val="141B2E"/>
                </a:solidFill>
                <a:latin typeface="Arial"/>
              </a:rPr>
              <a:t> — сколько исполнителей вы завели бы на эти куски.</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53833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16" name="TextBox 15"/>
          <p:cNvSpPr txBox="1"/>
          <p:nvPr/>
        </p:nvSpPr>
        <p:spPr>
          <a:xfrm>
            <a:off x="6160580" y="3771012"/>
            <a:ext cx="525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7" name="TextBox 16"/>
          <p:cNvSpPr txBox="1"/>
          <p:nvPr/>
        </p:nvSpPr>
        <p:spPr>
          <a:xfrm>
            <a:off x="630936" y="405307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поле «телефон» и проверка формата</a:t>
            </a:r>
          </a:p>
        </p:txBody>
      </p:sp>
      <p:sp>
        <p:nvSpPr>
          <p:cNvPr id="18" name="TextBox 17"/>
          <p:cNvSpPr txBox="1"/>
          <p:nvPr/>
        </p:nvSpPr>
        <p:spPr>
          <a:xfrm>
            <a:off x="6160580" y="405307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сообщения об ошибках — к одному виду</a:t>
            </a:r>
          </a:p>
        </p:txBody>
      </p:sp>
      <p:sp>
        <p:nvSpPr>
          <p:cNvPr id="21" name="TextBox 20"/>
          <p:cNvSpPr txBox="1"/>
          <p:nvPr/>
        </p:nvSpPr>
        <p:spPr>
          <a:xfrm>
            <a:off x="6160580" y="4305555"/>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тот же файл, что у поля: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текст согласия на обработку данных</a:t>
            </a:r>
          </a:p>
        </p:txBody>
      </p:sp>
      <p:sp>
        <p:nvSpPr>
          <p:cNvPr id="24" name="TextBox 23"/>
          <p:cNvSpPr txBox="1"/>
          <p:nvPr/>
        </p:nvSpPr>
        <p:spPr>
          <a:xfrm>
            <a:off x="6160580" y="4558031"/>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проверка формы на узком экране</a:t>
            </a:r>
          </a:p>
        </p:txBody>
      </p:sp>
      <p:sp>
        <p:nvSpPr>
          <p:cNvPr id="27" name="TextBox 26"/>
          <p:cNvSpPr txBox="1"/>
          <p:nvPr/>
        </p:nvSpPr>
        <p:spPr>
          <a:xfrm>
            <a:off x="6160580" y="4810507"/>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после поля: пока поля нет, проверять нечего</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прогон перед выкладкой: ветка, тесты, сборка</a:t>
            </a:r>
          </a:p>
        </p:txBody>
      </p:sp>
      <p:sp>
        <p:nvSpPr>
          <p:cNvPr id="30" name="TextBox 29"/>
          <p:cNvSpPr txBox="1"/>
          <p:nvPr/>
        </p:nvSpPr>
        <p:spPr>
          <a:xfrm>
            <a:off x="6160580" y="5062983"/>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и повторяется после каждого</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538334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письмо-подтверждение заявителю</a:t>
            </a:r>
          </a:p>
        </p:txBody>
      </p:sp>
      <p:sp>
        <p:nvSpPr>
          <p:cNvPr id="33" name="TextBox 32"/>
          <p:cNvSpPr txBox="1"/>
          <p:nvPr/>
        </p:nvSpPr>
        <p:spPr>
          <a:xfrm>
            <a:off x="6160580" y="5315459"/>
            <a:ext cx="525113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ни от чего, кода не касается</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Независимых кусков — три из шести.</a:t>
            </a:r>
            <a:r>
              <a:rPr sz="1150" b="1" i="0">
                <a:solidFill>
                  <a:srgbClr val="141B2E"/>
                </a:solidFill>
                <a:latin typeface="Arial"/>
              </a:rPr>
              <a:t> Один ждёт поля. Один лезет в тот же файл. Один повторяется после каждого из остальных.</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Кто из вас уже разгонял задачу разом, а не по очереди? Чем именно — несколькими сессиями, субагентами, проверкой, которая гоняется сама?</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Теперь то же на этой задаче: выберите карточку — и назовите кусок, на котором ваше средство работает.</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субагентам и запустить разом</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538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85987" y="1126236"/>
            <a:ext cx="35177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50088" y="1126236"/>
            <a:ext cx="51067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85987" y="1408303"/>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50088" y="1408303"/>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85987" y="1923414"/>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50088" y="1923414"/>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5388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субагентам и запустить разом</a:t>
            </a:r>
          </a:p>
        </p:txBody>
      </p:sp>
      <p:sp>
        <p:nvSpPr>
          <p:cNvPr id="16" name="TextBox 15"/>
          <p:cNvSpPr txBox="1"/>
          <p:nvPr/>
        </p:nvSpPr>
        <p:spPr>
          <a:xfrm>
            <a:off x="2585987" y="2438527"/>
            <a:ext cx="351779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каждого субагента свой контекст и короткий итог</a:t>
            </a:r>
          </a:p>
        </p:txBody>
      </p:sp>
      <p:sp>
        <p:nvSpPr>
          <p:cNvPr id="17" name="TextBox 16"/>
          <p:cNvSpPr txBox="1"/>
          <p:nvPr/>
        </p:nvSpPr>
        <p:spPr>
          <a:xfrm>
            <a:off x="6250088" y="2438527"/>
            <a:ext cx="510675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два субагента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5388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85987" y="3128899"/>
            <a:ext cx="351779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50088" y="3128899"/>
            <a:ext cx="5106759"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5388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85987" y="3994530"/>
            <a:ext cx="351779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50088" y="3994530"/>
            <a:ext cx="510675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субагенты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Фон, не очередь.</a:t>
            </a:r>
            <a:r>
              <a:rPr sz="1350" b="0" i="0">
                <a:solidFill>
                  <a:srgbClr val="141B2E"/>
                </a:solidFill>
                <a:latin typeface="Arial"/>
              </a:rPr>
              <a:t> С определённой версии харнесса параллельный режим включён по умолчанию в интерактивной сессии: субагент уходит в фон, основная сессия не ждёт его, прежде чем продолжить.</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Предел — на одновременность.</a:t>
            </a:r>
            <a:r>
              <a:rPr sz="1350" b="0" i="0">
                <a:solidFill>
                  <a:srgbClr val="141B2E"/>
                </a:solidFill>
                <a:latin typeface="Arial"/>
              </a:rPr>
              <a:t> По умолчанию одновременно может работать не больше двадцати субагентов; попытка завести двадцать первого падает отдельной, явной ошибкой. Число меняется переменной окружения.</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Общего предела на то, сколько субагентов можно вызвать за всю сессию,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Оркестратор и дочерние сессии</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4483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ДАЁТ ДОЧЕРНЯЯ СЕССИЯ</a:t>
            </a:r>
          </a:p>
        </p:txBody>
      </p:sp>
      <p:sp>
        <p:nvSpPr>
          <p:cNvPr id="6" name="TextBox 5"/>
          <p:cNvSpPr txBox="1"/>
          <p:nvPr/>
        </p:nvSpPr>
        <p:spPr>
          <a:xfrm>
            <a:off x="6280453" y="3377152"/>
            <a:ext cx="5076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ОНА СТОИТ</a:t>
            </a:r>
          </a:p>
        </p:txBody>
      </p:sp>
      <p:sp>
        <p:nvSpPr>
          <p:cNvPr id="7" name="TextBox 6"/>
          <p:cNvSpPr txBox="1"/>
          <p:nvPr/>
        </p:nvSpPr>
        <p:spPr>
          <a:xfrm>
            <a:off x="685800" y="3659219"/>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 неё можно прийти руками: посмотреть, что она успела, дописать задачу, поправить направление</a:t>
            </a:r>
          </a:p>
        </p:txBody>
      </p:sp>
      <p:sp>
        <p:nvSpPr>
          <p:cNvPr id="8" name="TextBox 7"/>
          <p:cNvSpPr txBox="1"/>
          <p:nvPr/>
        </p:nvSpPr>
        <p:spPr>
          <a:xfrm>
            <a:off x="6280453" y="3659219"/>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оркестратор не узнаёт об итоге сам — он узнаёт тогда, когда сходит и проверит</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она сама запускает субагентов: ярусов становится три, и работа берётся крупнее</a:t>
            </a:r>
          </a:p>
        </p:txBody>
      </p:sp>
      <p:sp>
        <p:nvSpPr>
          <p:cNvPr id="11" name="TextBox 10"/>
          <p:cNvSpPr txBox="1"/>
          <p:nvPr/>
        </p:nvSpPr>
        <p:spPr>
          <a:xfrm>
            <a:off x="6280453" y="4174331"/>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нужна обвязка: сессии рядом не поднимаются и не опрашиваются сами по себе</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44834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контекст у неё свой целиком, как у любого обычного запуска</a:t>
            </a:r>
          </a:p>
        </p:txBody>
      </p:sp>
      <p:sp>
        <p:nvSpPr>
          <p:cNvPr id="14" name="TextBox 13"/>
          <p:cNvSpPr txBox="1"/>
          <p:nvPr/>
        </p:nvSpPr>
        <p:spPr>
          <a:xfrm>
            <a:off x="6280453" y="4689443"/>
            <a:ext cx="5076394"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 стоит она как обычный запуск — по счёту за токены и по памяти машины</a:t>
            </a:r>
          </a:p>
        </p:txBody>
      </p:sp>
      <p:sp>
        <p:nvSpPr>
          <p:cNvPr id="15" name="Rounded Rectangle 14"/>
          <p:cNvSpPr/>
          <p:nvPr/>
        </p:nvSpPr>
        <p:spPr>
          <a:xfrm>
            <a:off x="502920" y="5552027"/>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Маленький кусок — субагенту. Крупный кусок, за которым придётся прийти руками, — дочерней сессии.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Сессии стоят памяти машины</a:t>
            </a:r>
          </a:p>
        </p:txBody>
      </p:sp>
      <p:sp>
        <p:nvSpPr>
          <p:cNvPr id="3" name="Rounded Rectangle 2"/>
          <p:cNvSpPr/>
          <p:nvPr/>
        </p:nvSpPr>
        <p:spPr>
          <a:xfrm>
            <a:off x="502920" y="98468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1269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Замер автора курса на своей машине: облачная виртуалка, 16 ГБ памяти, обычные сессии без тяжёлых прогонов внутри.</a:t>
            </a:r>
          </a:p>
        </p:txBody>
      </p:sp>
      <p:sp>
        <p:nvSpPr>
          <p:cNvPr id="5" name="Rounded Rectangle 4"/>
          <p:cNvSpPr/>
          <p:nvPr/>
        </p:nvSpPr>
        <p:spPr>
          <a:xfrm>
            <a:off x="502920" y="199934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82228"/>
            <a:ext cx="39609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ПОМЕРЕНО</a:t>
            </a:r>
          </a:p>
        </p:txBody>
      </p:sp>
      <p:sp>
        <p:nvSpPr>
          <p:cNvPr id="7" name="TextBox 6"/>
          <p:cNvSpPr txBox="1"/>
          <p:nvPr/>
        </p:nvSpPr>
        <p:spPr>
          <a:xfrm>
            <a:off x="4793077" y="2182228"/>
            <a:ext cx="65637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8" name="TextBox 7"/>
          <p:cNvSpPr txBox="1"/>
          <p:nvPr/>
        </p:nvSpPr>
        <p:spPr>
          <a:xfrm>
            <a:off x="685800" y="2464295"/>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 двадцати одновременных сессий машина начинает спотыкаться</a:t>
            </a:r>
          </a:p>
        </p:txBody>
      </p:sp>
      <p:sp>
        <p:nvSpPr>
          <p:cNvPr id="9" name="TextBox 8"/>
          <p:cNvSpPr txBox="1"/>
          <p:nvPr/>
        </p:nvSpPr>
        <p:spPr>
          <a:xfrm>
            <a:off x="4793077" y="2464295"/>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порядок величины — 1–2 ГБ на одну сессию, и это в покое, без того, что сессия запустит сама</a:t>
            </a:r>
          </a:p>
        </p:txBody>
      </p:sp>
      <p:cxnSp>
        <p:nvCxnSpPr>
          <p:cNvPr id="10" name="Connector 9"/>
          <p:cNvCxnSpPr/>
          <p:nvPr/>
        </p:nvCxnSpPr>
        <p:spPr>
          <a:xfrm>
            <a:off x="685800" y="29940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94012"/>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тридцати-сорока, смотря по объёму, она перестаёт отвечать</a:t>
            </a:r>
          </a:p>
        </p:txBody>
      </p:sp>
      <p:sp>
        <p:nvSpPr>
          <p:cNvPr id="12" name="TextBox 11"/>
          <p:cNvSpPr txBox="1"/>
          <p:nvPr/>
        </p:nvSpPr>
        <p:spPr>
          <a:xfrm>
            <a:off x="4793077" y="2994012"/>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десяток сессий на такой машине — рабочий предел, который считают до запуска</a:t>
            </a:r>
          </a:p>
        </p:txBody>
      </p:sp>
      <p:cxnSp>
        <p:nvCxnSpPr>
          <p:cNvPr id="13" name="Connector 12"/>
          <p:cNvCxnSpPr/>
          <p:nvPr/>
        </p:nvCxnSpPr>
        <p:spPr>
          <a:xfrm>
            <a:off x="685800" y="35237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23729"/>
            <a:ext cx="396097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подъём ещё одной сессии стоит столько же, сколько подъём первой</a:t>
            </a:r>
          </a:p>
        </p:txBody>
      </p:sp>
      <p:sp>
        <p:nvSpPr>
          <p:cNvPr id="15" name="TextBox 14"/>
          <p:cNvSpPr txBox="1"/>
          <p:nvPr/>
        </p:nvSpPr>
        <p:spPr>
          <a:xfrm>
            <a:off x="4793077" y="3523729"/>
            <a:ext cx="65637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предел инструмента — двадцать субагентов разом внутри одной сессии; память машины считается по числу самих сессий и может кончиться раньше</a:t>
            </a:r>
          </a:p>
        </p:txBody>
      </p:sp>
      <p:sp>
        <p:nvSpPr>
          <p:cNvPr id="16" name="Rounded Rectangle 15"/>
          <p:cNvSpPr/>
          <p:nvPr/>
        </p:nvSpPr>
        <p:spPr>
          <a:xfrm>
            <a:off x="502920" y="45042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63224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Язык, на котором написан сам агент, здесь виден: клиент, собранный на Rust, заметно легче собрата на JavaScript. Кратность автор оценил на глаз.</a:t>
            </a:r>
          </a:p>
        </p:txBody>
      </p:sp>
      <p:sp>
        <p:nvSpPr>
          <p:cNvPr id="18" name="Rounded Rectangle 17"/>
          <p:cNvSpPr/>
          <p:nvPr/>
        </p:nvSpPr>
        <p:spPr>
          <a:xfrm>
            <a:off x="502920" y="551889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4691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замер одного человека на одной конфигурации. Порядок величины стоит перемерить у себя — на своей памяти, своём числе сессий и своём агенте.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справочник и форма, настроенные порознь</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неделю — другая работа: настраиваемая платформа, та, где справочники, формы, права доступа и скрипты заводят настройкой. Параллелить там особенно соблазнительно, потому что каждый кусок выглядит самостоятельным экраном.</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Два куска уходят двум субагентам одновременно: один заводит справочник, второй настраивает форму, которая этот справочник показывает и проверяет. Общего описания задачи никто не пишет — оно кажется лишним, раз куски видны на экране.</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возвращают сделанную работу, и оба правы: справочник заведён, форма настроена. Вместе они не работают — поля в справочнике названы и составлены одним, форма ждёт другого. Сводить это приходится руками, и сведение занимает больше, чем заняла сама настройка.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которое никто не написал</a:t>
            </a:r>
          </a:p>
        </p:txBody>
      </p:sp>
      <p:sp>
        <p:nvSpPr>
          <p:cNvPr id="3" name="Rounded Rectangle 2"/>
          <p:cNvSpPr/>
          <p:nvPr/>
        </p:nvSpPr>
        <p:spPr>
          <a:xfrm>
            <a:off x="502920" y="1091311"/>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4191"/>
            <a:ext cx="21374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9587" y="1274191"/>
            <a:ext cx="29418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057712" y="1274191"/>
            <a:ext cx="52991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556258"/>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отдать оба куска одному субагенту</a:t>
            </a:r>
          </a:p>
        </p:txBody>
      </p:sp>
      <p:sp>
        <p:nvSpPr>
          <p:cNvPr id="8" name="TextBox 7"/>
          <p:cNvSpPr txBox="1"/>
          <p:nvPr/>
        </p:nvSpPr>
        <p:spPr>
          <a:xfrm>
            <a:off x="2969587" y="1556258"/>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исполнитель видит оба конца и держит состав полей согласованным сам</a:t>
            </a:r>
          </a:p>
        </p:txBody>
      </p:sp>
      <p:sp>
        <p:nvSpPr>
          <p:cNvPr id="9" name="TextBox 8"/>
          <p:cNvSpPr txBox="1"/>
          <p:nvPr/>
        </p:nvSpPr>
        <p:spPr>
          <a:xfrm>
            <a:off x="6057712" y="1556258"/>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параллельность там, где она была настоящей и бесплатной; на большой задаче один исполнитель становится узким местом</a:t>
            </a:r>
          </a:p>
        </p:txBody>
      </p:sp>
      <p:cxnSp>
        <p:nvCxnSpPr>
          <p:cNvPr id="10" name="Connector 9"/>
          <p:cNvCxnSpPr/>
          <p:nvPr/>
        </p:nvCxnSpPr>
        <p:spPr>
          <a:xfrm>
            <a:off x="685800" y="22685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68537"/>
            <a:ext cx="213748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дать каждому широкий доступ — пусть сам разберётся в соседнем куске</a:t>
            </a:r>
          </a:p>
        </p:txBody>
      </p:sp>
      <p:sp>
        <p:nvSpPr>
          <p:cNvPr id="12" name="TextBox 11"/>
          <p:cNvSpPr txBox="1"/>
          <p:nvPr/>
        </p:nvSpPr>
        <p:spPr>
          <a:xfrm>
            <a:off x="2969587" y="2268537"/>
            <a:ext cx="294182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иногда срабатывает: исполнитель находит соседнюю настройку и подстраивается</a:t>
            </a:r>
          </a:p>
        </p:txBody>
      </p:sp>
      <p:sp>
        <p:nvSpPr>
          <p:cNvPr id="13" name="TextBox 12"/>
          <p:cNvSpPr txBox="1"/>
          <p:nvPr/>
        </p:nvSpPr>
        <p:spPr>
          <a:xfrm>
            <a:off x="6057712" y="2268537"/>
            <a:ext cx="529913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широкий доступ означает широкий контекст и широкие права; прочитать соседний кусок ещё не значит понять его так же</a:t>
            </a:r>
          </a:p>
        </p:txBody>
      </p:sp>
      <p:cxnSp>
        <p:nvCxnSpPr>
          <p:cNvPr id="14" name="Connector 13"/>
          <p:cNvCxnSpPr/>
          <p:nvPr/>
        </p:nvCxnSpPr>
        <p:spPr>
          <a:xfrm>
            <a:off x="685800" y="31633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3379"/>
            <a:ext cx="21374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общее описание задачи, которое оба читают до начала</a:t>
            </a:r>
          </a:p>
        </p:txBody>
      </p:sp>
      <p:sp>
        <p:nvSpPr>
          <p:cNvPr id="16" name="TextBox 15"/>
          <p:cNvSpPr txBox="1"/>
          <p:nvPr/>
        </p:nvSpPr>
        <p:spPr>
          <a:xfrm>
            <a:off x="2969587" y="3163379"/>
            <a:ext cx="294182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состав общего назван один раз для обоих, и расхождение видно до работы</a:t>
            </a:r>
          </a:p>
        </p:txBody>
      </p:sp>
      <p:sp>
        <p:nvSpPr>
          <p:cNvPr id="17" name="TextBox 16"/>
          <p:cNvSpPr txBox="1"/>
          <p:nvPr/>
        </p:nvSpPr>
        <p:spPr>
          <a:xfrm>
            <a:off x="6057712" y="3163379"/>
            <a:ext cx="52991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 надо написать и поддерживать: появляются циклы чтения, правки и согласования, и это настоящая плата</a:t>
            </a:r>
          </a:p>
        </p:txBody>
      </p:sp>
      <p:cxnSp>
        <p:nvCxnSpPr>
          <p:cNvPr id="18" name="Connector 17"/>
          <p:cNvCxnSpPr/>
          <p:nvPr/>
        </p:nvCxnSpPr>
        <p:spPr>
          <a:xfrm>
            <a:off x="685800" y="38756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75659"/>
            <a:ext cx="21374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третьего субагента-координатора</a:t>
            </a:r>
          </a:p>
        </p:txBody>
      </p:sp>
      <p:sp>
        <p:nvSpPr>
          <p:cNvPr id="20" name="TextBox 19"/>
          <p:cNvSpPr txBox="1"/>
          <p:nvPr/>
        </p:nvSpPr>
        <p:spPr>
          <a:xfrm>
            <a:off x="2969587" y="3875659"/>
            <a:ext cx="294182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две готовые работы между собой</a:t>
            </a:r>
          </a:p>
        </p:txBody>
      </p:sp>
      <p:sp>
        <p:nvSpPr>
          <p:cNvPr id="21" name="TextBox 20"/>
          <p:cNvSpPr txBox="1"/>
          <p:nvPr/>
        </p:nvSpPr>
        <p:spPr>
          <a:xfrm>
            <a:off x="6057712" y="3875659"/>
            <a:ext cx="529913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разошедшимся; сводить всё равно придётся, просто чужими руками</a:t>
            </a:r>
          </a:p>
        </p:txBody>
      </p:sp>
      <p:sp>
        <p:nvSpPr>
          <p:cNvPr id="22" name="Rounded Rectangle 21"/>
          <p:cNvSpPr/>
          <p:nvPr/>
        </p:nvSpPr>
        <p:spPr>
          <a:xfrm>
            <a:off x="502920" y="51227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507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Здесь общего описания не написал никто, и додумать его не мог ни один из двоих — целиком задачу не знал никто.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субагентов.</a:t>
            </a:r>
            <a:r>
              <a:rPr sz="1500" b="1" i="0">
                <a:solidFill>
                  <a:srgbClr val="141B2E"/>
                </a:solidFill>
                <a:latin typeface="Arial"/>
              </a:rPr>
              <a:t> Тот, кто заводил справочник, и тот, кто настраивал форму, работают без третьего субагента, сверяющего их согласованность. Вот что об этом говорит измерение на масштабе, не на одном случае.</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561162"/>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561162"/>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843229"/>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843229"/>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843229"/>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920633"/>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920633"/>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субагентов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пишут в общем описании: границу в обе стороны</a:t>
            </a:r>
          </a:p>
        </p:txBody>
      </p:sp>
      <p:pic>
        <p:nvPicPr>
          <p:cNvPr id="3" name="Picture 2" descr="subagent-n48-granitsa-dvukh-zon.png"/>
          <p:cNvPicPr>
            <a:picLocks noChangeAspect="1"/>
          </p:cNvPicPr>
          <p:nvPr/>
        </p:nvPicPr>
        <p:blipFill>
          <a:blip r:embed="rId2"/>
          <a:stretch>
            <a:fillRect/>
          </a:stretch>
        </p:blipFill>
        <p:spPr>
          <a:xfrm>
            <a:off x="535432" y="943356"/>
            <a:ext cx="11118086" cy="3335425"/>
          </a:xfrm>
          <a:prstGeom prst="rect">
            <a:avLst/>
          </a:prstGeom>
        </p:spPr>
      </p:pic>
      <p:sp>
        <p:nvSpPr>
          <p:cNvPr id="4" name="Rounded Rectangle 3"/>
          <p:cNvSpPr/>
          <p:nvPr/>
        </p:nvSpPr>
        <p:spPr>
          <a:xfrm>
            <a:off x="502920" y="4443373"/>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71389"/>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Справочнику нужна строка про то, где он кончается: «имена и состав полей — здесь; как они показываются и проверяются на форме — не здесь». Форме — симметричная: «показываю поля по именам из описания; состав полей не завожу».</a:t>
            </a:r>
          </a:p>
        </p:txBody>
      </p:sp>
      <p:sp>
        <p:nvSpPr>
          <p:cNvPr id="6" name="Rounded Rectangle 5"/>
          <p:cNvSpPr/>
          <p:nvPr/>
        </p:nvSpPr>
        <p:spPr>
          <a:xfrm>
            <a:off x="502920" y="556732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533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Пока расхождение видно до работы, оно стоит двух строк. Прочитать описание перед началом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 — одно средство из пяти. Где он оправдан</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(отдельный субагент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Сведение разошедшихся настроек стоило дольше самой настройки; доверие к приёму стоило недели.</a:t>
            </a:r>
          </a:p>
        </p:txBody>
      </p:sp>
      <p:sp>
        <p:nvSpPr>
          <p:cNvPr id="7" name="Rounded Rectangle 6"/>
          <p:cNvSpPr/>
          <p:nvPr/>
        </p:nvSpPr>
        <p:spPr>
          <a:xfrm>
            <a:off x="502920"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СУБАГЕНТ ОПРАВДАН,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справочник и форма ровно этот случай, когда общее между ними записано до начала</a:t>
            </a:r>
          </a:p>
        </p:txBody>
      </p:sp>
      <p:sp>
        <p:nvSpPr>
          <p:cNvPr id="12" name="Rounded Rectangle 11"/>
          <p:cNvSpPr/>
          <p:nvPr/>
        </p:nvSpPr>
        <p:spPr>
          <a:xfrm>
            <a:off x="6231636" y="3734562"/>
            <a:ext cx="5454396" cy="2253615"/>
          </a:xfrm>
          <a:prstGeom prst="roundRect">
            <a:avLst>
              <a:gd name="adj" fmla="val 135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796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79620"/>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общего между кусками не записал никто: две честные работы складываются в готовность, которой нет</a:t>
            </a:r>
          </a:p>
        </p:txBody>
      </p:sp>
      <p:cxnSp>
        <p:nvCxnSpPr>
          <p:cNvPr id="17" name="Connector 16"/>
          <p:cNvCxnSpPr/>
          <p:nvPr/>
        </p:nvCxnSpPr>
        <p:spPr>
          <a:xfrm>
            <a:off x="6414516" y="50406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40629"/>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016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01639"/>
            <a:ext cx="5088636" cy="303656"/>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субагенту. Поле изоляции у субагента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Было ли у кого, что два запуска дерутся за одну папку — ветка не та, правка перекрыта, а странного никто не делал?</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Задачи независимы, обе сессии нужны разом, каталог один.</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обоснуйте её рядом с остальными четырьмя.</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субагенты в первой</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4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80266" y="1131735"/>
            <a:ext cx="42658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92412" y="1131735"/>
            <a:ext cx="43644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80266" y="1413802"/>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92412" y="1413802"/>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80266" y="212608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92412" y="212608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субагенты в первой</a:t>
            </a:r>
          </a:p>
        </p:txBody>
      </p:sp>
      <p:sp>
        <p:nvSpPr>
          <p:cNvPr id="16" name="TextBox 15"/>
          <p:cNvSpPr txBox="1"/>
          <p:nvPr/>
        </p:nvSpPr>
        <p:spPr>
          <a:xfrm>
            <a:off x="2580266" y="2838361"/>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субагенты работают в той же ветке, и задачу не нужно объяснять заново</a:t>
            </a:r>
          </a:p>
        </p:txBody>
      </p:sp>
      <p:sp>
        <p:nvSpPr>
          <p:cNvPr id="17" name="TextBox 16"/>
          <p:cNvSpPr txBox="1"/>
          <p:nvPr/>
        </p:nvSpPr>
        <p:spPr>
          <a:xfrm>
            <a:off x="6992412" y="2838361"/>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80266" y="355064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92412" y="355064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4816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80266" y="4262920"/>
            <a:ext cx="426584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92412" y="4262920"/>
            <a:ext cx="436443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работы с копиями — строкой в инструкции проекта</a:t>
            </a:r>
          </a:p>
        </p:txBody>
      </p:sp>
      <p:sp>
        <p:nvSpPr>
          <p:cNvPr id="3" name="Rounded Rectangle 2"/>
          <p:cNvSpPr/>
          <p:nvPr/>
        </p:nvSpPr>
        <p:spPr>
          <a:xfrm>
            <a:off x="502920" y="1436878"/>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7236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5633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рядом с уже стоящей там строкой «Прямо в </a:t>
            </a:r>
            <a:r>
              <a:rPr sz="1350" b="0" i="0">
                <a:solidFill>
                  <a:srgbClr val="141B2E"/>
                </a:solidFill>
                <a:latin typeface="Consolas"/>
              </a:rPr>
              <a:t>main</a:t>
            </a:r>
            <a:r>
              <a:rPr sz="1350" b="0" i="0">
                <a:solidFill>
                  <a:srgbClr val="141B2E"/>
                </a:solidFill>
                <a:latin typeface="Arial"/>
              </a:rPr>
              <a:t> не коммитим» добавляются две.</a:t>
            </a:r>
          </a:p>
        </p:txBody>
      </p:sp>
      <p:sp>
        <p:nvSpPr>
          <p:cNvPr id="6" name="Rounded Rectangle 5"/>
          <p:cNvSpPr/>
          <p:nvPr/>
        </p:nvSpPr>
        <p:spPr>
          <a:xfrm>
            <a:off x="758952" y="240499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8897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«Каждая задача ведётся в своей рабочей копии: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&lt;имя&gt;</a:t>
            </a:r>
            <a:r>
              <a:rPr sz="1350" b="0" i="0">
                <a:solidFill>
                  <a:srgbClr val="141B2E"/>
                </a:solidFill>
                <a:latin typeface="Arial"/>
              </a:rPr>
              <a:t> при запуске либо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«Закончив задачу, предложи слияние ветки и уборку копии; незакрытую копию не оставляй.»</a:t>
            </a:r>
          </a:p>
        </p:txBody>
      </p:sp>
      <p:sp>
        <p:nvSpPr>
          <p:cNvPr id="8" name="Rounded Rectangle 7"/>
          <p:cNvSpPr/>
          <p:nvPr/>
        </p:nvSpPr>
        <p:spPr>
          <a:xfrm>
            <a:off x="758952" y="28364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161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Статус тот же, что у двух остальных сегодняшних артефактов: по плану, коммита нет и не будет.</a:t>
            </a:r>
          </a:p>
        </p:txBody>
      </p:sp>
      <p:sp>
        <p:nvSpPr>
          <p:cNvPr id="10" name="Rounded Rectangle 9"/>
          <p:cNvSpPr/>
          <p:nvPr/>
        </p:nvSpPr>
        <p:spPr>
          <a:xfrm>
            <a:off x="502920" y="372872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85673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в файл.</a:t>
            </a:r>
            <a:r>
              <a:rPr sz="1500" b="1" i="0">
                <a:solidFill>
                  <a:srgbClr val="141B2E"/>
                </a:solidFill>
                <a:latin typeface="Arial"/>
              </a:rPr>
              <a:t> Инструкция проекта читается при старте каждой сессии, и порядок работы с копиями достаётся каждой из них одинаково. Договорённость, которая живёт в памяти, достаётся тем сессиям, про которые вспомнили.</a:t>
            </a:r>
          </a:p>
        </p:txBody>
      </p:sp>
      <p:sp>
        <p:nvSpPr>
          <p:cNvPr id="12" name="Rounded Rectangle 11"/>
          <p:cNvSpPr/>
          <p:nvPr/>
        </p:nvSpPr>
        <p:spPr>
          <a:xfrm>
            <a:off x="502920" y="51690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2970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с двух концов.</a:t>
            </a:r>
            <a:r>
              <a:rPr sz="1500" b="1" i="0">
                <a:solidFill>
                  <a:srgbClr val="141B2E"/>
                </a:solidFill>
                <a:latin typeface="Arial"/>
              </a:rPr>
              <a:t> Завести копию — делается охотно: без этого не начать. Слить ветку и убрать копию — делается после того, как задача решена, и поэтому забывается. На рабочей машине автора курса нашлось больше сотни старых копий; обнаружилось это, когда кончилось место на диске.</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Субагенты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Субагент стартует в том каталоге, где стоит вызвавшая его сессия, и уйти из него не может: смена каталога внутри субагента не переживает его собственных вызовов. Общая папка у субагентов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6978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529959" y="2501095"/>
            <a:ext cx="58268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субагента тот же, что у вызвавшей его сессии; инструмент правки есть у всякого субагента, которому его не отняли строкой</a:t>
            </a:r>
          </a:p>
        </p:txBody>
      </p:sp>
      <p:sp>
        <p:nvSpPr>
          <p:cNvPr id="9" name="TextBox 8"/>
          <p:cNvSpPr txBox="1"/>
          <p:nvPr/>
        </p:nvSpPr>
        <p:spPr>
          <a:xfrm>
            <a:off x="5529959" y="278316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два субагента правят одни файлы; тот, что записал позже, перекрывает работу первого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6978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субагент получает снимком на момент своего старта, и снимок по ходу работы не обновляется</a:t>
            </a:r>
          </a:p>
        </p:txBody>
      </p:sp>
      <p:sp>
        <p:nvSpPr>
          <p:cNvPr id="12" name="TextBox 11"/>
          <p:cNvSpPr txBox="1"/>
          <p:nvPr/>
        </p:nvSpPr>
        <p:spPr>
          <a:xfrm>
            <a:off x="5529959" y="3495442"/>
            <a:ext cx="582688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6978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субагента; шагов, которыми он получен, она не видит</a:t>
            </a:r>
          </a:p>
        </p:txBody>
      </p:sp>
      <p:sp>
        <p:nvSpPr>
          <p:cNvPr id="15" name="TextBox 14"/>
          <p:cNvSpPr txBox="1"/>
          <p:nvPr/>
        </p:nvSpPr>
        <p:spPr>
          <a:xfrm>
            <a:off x="5529959" y="4207721"/>
            <a:ext cx="58268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субагент работает там, где лежит работа, иначе итог было бы некуда возвращать. Поэтому первая защита здесь — раскладка зон. Изоляция у субагента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субагенту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субагенту дать можно: одна строка в его описании — и субагент работает во временной копии репозитория; она убирается сама, если субагент ничего не изменил. Поле есть, включают его редко.</a:t>
            </a:r>
          </a:p>
        </p:txBody>
      </p:sp>
      <p:sp>
        <p:nvSpPr>
          <p:cNvPr id="5" name="Rounded Rectangle 4"/>
          <p:cNvSpPr/>
          <p:nvPr/>
        </p:nvSpPr>
        <p:spPr>
          <a:xfrm>
            <a:off x="502920" y="1712324"/>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Изоляция субагента — выбор под работу. Там, где его правку нормально принять веткой, копия окупается; там, где субагент правит начатое вами, копия отрезает субагента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СУБАГЕНТУ ДАЮТ</a:t>
            </a:r>
          </a:p>
        </p:txBody>
      </p:sp>
      <p:sp>
        <p:nvSpPr>
          <p:cNvPr id="9" name="TextBox 8"/>
          <p:cNvSpPr txBox="1"/>
          <p:nvPr/>
        </p:nvSpPr>
        <p:spPr>
          <a:xfrm>
            <a:off x="685800"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субагента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97766"/>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7145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7145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субагентов разом</a:t>
            </a:r>
          </a:p>
        </p:txBody>
      </p:sp>
      <p:sp>
        <p:nvSpPr>
          <p:cNvPr id="14" name="Rounded Rectangle 13"/>
          <p:cNvSpPr/>
          <p:nvPr/>
        </p:nvSpPr>
        <p:spPr>
          <a:xfrm>
            <a:off x="6231636" y="2812652"/>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223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СУБАГЕНТУ НЕ ДАЮТ</a:t>
            </a:r>
          </a:p>
        </p:txBody>
      </p:sp>
      <p:sp>
        <p:nvSpPr>
          <p:cNvPr id="16" name="TextBox 15"/>
          <p:cNvSpPr txBox="1"/>
          <p:nvPr/>
        </p:nvSpPr>
        <p:spPr>
          <a:xfrm>
            <a:off x="6414516" y="319670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работает над тем, что вы начали в своём каталоге: отдельная копия отрежет его от этой работы</a:t>
            </a:r>
          </a:p>
        </p:txBody>
      </p:sp>
      <p:cxnSp>
        <p:nvCxnSpPr>
          <p:cNvPr id="17" name="Connector 16"/>
          <p:cNvCxnSpPr/>
          <p:nvPr/>
        </p:nvCxnSpPr>
        <p:spPr>
          <a:xfrm>
            <a:off x="6414516" y="3597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59776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39988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99883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субагент читает и возвращает итог: столкнуться ему нечем</a:t>
            </a:r>
          </a:p>
        </p:txBody>
      </p:sp>
      <p:sp>
        <p:nvSpPr>
          <p:cNvPr id="21" name="Rounded Rectangle 20"/>
          <p:cNvSpPr/>
          <p:nvPr/>
        </p:nvSpPr>
        <p:spPr>
          <a:xfrm>
            <a:off x="502920" y="4619989"/>
            <a:ext cx="11183112" cy="1534795"/>
          </a:xfrm>
          <a:prstGeom prst="roundRect">
            <a:avLst>
              <a:gd name="adj" fmla="val 1985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9955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3944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первая — ветка.</a:t>
            </a:r>
            <a:r>
              <a:rPr sz="950" b="0" i="0">
                <a:solidFill>
                  <a:srgbClr val="141B2E"/>
                </a:solidFill>
                <a:latin typeface="Arial"/>
              </a:rPr>
              <a:t> Копия субагента отрастает от ветки по умолчанию репозитория, пока отдельную настройку не поменяли. Работы, начатой в вашем каталоге, изолированный субагент просто не видит.</a:t>
            </a:r>
          </a:p>
        </p:txBody>
      </p:sp>
      <p:sp>
        <p:nvSpPr>
          <p:cNvPr id="24" name="Rounded Rectangle 23"/>
          <p:cNvSpPr/>
          <p:nvPr/>
        </p:nvSpPr>
        <p:spPr>
          <a:xfrm>
            <a:off x="758952" y="540827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52195"/>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вторая — возврат.</a:t>
            </a:r>
            <a:r>
              <a:rPr sz="950" b="0" i="0">
                <a:solidFill>
                  <a:srgbClr val="141B2E"/>
                </a:solidFill>
                <a:latin typeface="Arial"/>
              </a:rPr>
              <a:t> Канал назад у субагента один: итоговый текст. Файловые правки остаются в его каталоге, на его ветке, и принести их в вашу работу приходится вам.</a:t>
            </a:r>
          </a:p>
        </p:txBody>
      </p:sp>
      <p:sp>
        <p:nvSpPr>
          <p:cNvPr id="26" name="Rounded Rectangle 25"/>
          <p:cNvSpPr/>
          <p:nvPr/>
        </p:nvSpPr>
        <p:spPr>
          <a:xfrm>
            <a:off x="758952" y="574984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66494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Цена третья — рабочее место.</a:t>
            </a:r>
            <a:r>
              <a:rPr sz="950" b="0" i="0">
                <a:solidFill>
                  <a:srgbClr val="141B2E"/>
                </a:solidFill>
                <a:latin typeface="Arial"/>
              </a:rPr>
              <a:t> В копии оно тоже собственное: зависимости и локальные файлы субагент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субагента,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046803" y="1881733"/>
            <a:ext cx="64886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681785" y="1881733"/>
            <a:ext cx="2675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046803" y="2163800"/>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681785" y="2163800"/>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46803" y="2510955"/>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681785" y="2510955"/>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681785" y="2858109"/>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4886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681785" y="3205264"/>
            <a:ext cx="26750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681785" y="3552418"/>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046803" y="4082135"/>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681785" y="4082135"/>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Рабочие копии</a:t>
            </a:r>
          </a:p>
        </p:txBody>
      </p:sp>
      <p:sp>
        <p:nvSpPr>
          <p:cNvPr id="34" name="TextBox 33"/>
          <p:cNvSpPr txBox="1"/>
          <p:nvPr/>
        </p:nvSpPr>
        <p:spPr>
          <a:xfrm>
            <a:off x="2046803" y="4611852"/>
            <a:ext cx="64886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раздел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 две строки: копия на задачу, слияние и уборка в конце</a:t>
            </a:r>
          </a:p>
        </p:txBody>
      </p:sp>
      <p:sp>
        <p:nvSpPr>
          <p:cNvPr id="35" name="TextBox 34"/>
          <p:cNvSpPr txBox="1"/>
          <p:nvPr/>
        </p:nvSpPr>
        <p:spPr>
          <a:xfrm>
            <a:off x="8681785" y="4611852"/>
            <a:ext cx="2675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и строка правила останутся только планом. В публичном репозитории их не будет — и это сказано прямо, не спрятано.»</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38109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43596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 начале занятия ответ на него вы держали при себе. Сейчас вслух: у кого он изменился и что именно его изменило.»</a:t>
            </a:r>
          </a:p>
        </p:txBody>
      </p:sp>
      <p:sp>
        <p:nvSpPr>
          <p:cNvPr id="5" name="Rounded Rectangle 4"/>
          <p:cNvSpPr/>
          <p:nvPr/>
        </p:nvSpPr>
        <p:spPr>
          <a:xfrm>
            <a:off x="502920" y="34029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095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9250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757189" y="1181303"/>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514403" y="1181303"/>
            <a:ext cx="68424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63370"/>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757189" y="1463370"/>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9" name="TextBox 8"/>
          <p:cNvSpPr txBox="1"/>
          <p:nvPr/>
        </p:nvSpPr>
        <p:spPr>
          <a:xfrm>
            <a:off x="4514403" y="1463370"/>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и вызов, подписанный именем сервера, — у себя за минуту; сам собранный файл при этом целевой, коммита за ним нет</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2" name="TextBox 11"/>
          <p:cNvSpPr txBox="1"/>
          <p:nvPr/>
        </p:nvSpPr>
        <p:spPr>
          <a:xfrm>
            <a:off x="3757189" y="19930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3" name="TextBox 12"/>
          <p:cNvSpPr txBox="1"/>
          <p:nvPr/>
        </p:nvSpPr>
        <p:spPr>
          <a:xfrm>
            <a:off x="4514403" y="1993087"/>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исполнителя</a:t>
            </a:r>
          </a:p>
        </p:txBody>
      </p:sp>
      <p:sp>
        <p:nvSpPr>
          <p:cNvPr id="16" name="TextBox 15"/>
          <p:cNvSpPr txBox="1"/>
          <p:nvPr/>
        </p:nvSpPr>
        <p:spPr>
          <a:xfrm>
            <a:off x="3757189" y="25228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514403" y="2522804"/>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второй исполнитель, промежуток</a:t>
            </a:r>
          </a:p>
        </p:txBody>
      </p:sp>
      <p:sp>
        <p:nvSpPr>
          <p:cNvPr id="20" name="TextBox 19"/>
          <p:cNvSpPr txBox="1"/>
          <p:nvPr/>
        </p:nvSpPr>
        <p:spPr>
          <a:xfrm>
            <a:off x="3757189" y="305252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514403" y="3052521"/>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92508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4" name="TextBox 23"/>
          <p:cNvSpPr txBox="1"/>
          <p:nvPr/>
        </p:nvSpPr>
        <p:spPr>
          <a:xfrm>
            <a:off x="3757189" y="358223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5" name="TextBox 24"/>
          <p:cNvSpPr txBox="1"/>
          <p:nvPr/>
        </p:nvSpPr>
        <p:spPr>
          <a:xfrm>
            <a:off x="4514403" y="3582238"/>
            <a:ext cx="684244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