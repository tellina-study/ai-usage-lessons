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 на котором стоит занятие, — демонстрационный репозиторий курса </a:t>
            </a:r>
            <a:r>
              <a:rPr>
                <a:latin typeface="Consolas"/>
              </a:rPr>
              <a:t>signup-landing-demo</a:t>
            </a:r>
            <a:r>
              <a:t>: лендинг, который живёт третий месяц, и заказчик, который платит за работу. Человек — один и тот же разработчик, который два занятия подряд заводил здесь оснастку для агента. Сначала хук: короткий скрипт, который харнесс запускает сам на определённом событии и которым здесь отклоняется запись в главную ветку. Потом скилл: процедура выката, лежащая отдельным файлом и подгружаемая в контекст по описанию-триггеру. К началу этой недели агент знал про проект всё, что о нём можно знать: сорок строк инструкций в </a:t>
            </a:r>
            <a:r>
              <a:rPr>
                <a:latin typeface="Consolas"/>
              </a:rPr>
              <a:t>CLAUDE.md</a:t>
            </a:r>
            <a:r>
              <a:t>, хук, скилл, файл решений и сам код лендинга. Он держал это целиком и почти не промахивался — и это существенно для того, что было дальше: промах, с которого занятие начинается, случился при хорошем агенте и верных инструкциях.</a:t>
            </a:r>
          </a:p>
          <a:p/>
          <a:p>
            <a:r>
              <a:t>Схема в нижней части обложки показывает, из чего это «всё» состоит. Контекст агента — пунктирная карточка слева — складывается из двух вещей: файлов репозитория, которые агент читает сам, и разговора с вами, в котором вы что-то объяснили или приложили. Дальше агент не видит ничего. Граница эта не настраивается и не расширяется уговорами: она такая по устройству, и два предыдущих занятия заводили оснастку именно внутри неё. Пока вся работа лежала внутри — оснастки хватало.</a:t>
            </a:r>
          </a:p>
          <a:p/>
          <a:p>
            <a:r>
              <a:t>В понедельник разработчик спросил его вещь, которую спрашивают каждую неделю: что из просьб заказчика ещё не закрыто. Агент ответил уверенно и по делу — по тому, что лежит в репозитории: по коду, по истории правок, по файлу решений. Двух просьб в этом ответе не было вовсе. Заказчик завёл их не в репозитории: уже месяц он ведёт задачи в трекере — отдельной системе, куда разработчик сам его и позвал, чтобы правки не терялись в мессенджере. Одну из двух потерянных просьб ждали к понедельнику.</a:t>
            </a:r>
          </a:p>
          <a:p/>
          <a:p>
            <a:r>
              <a:t>Цена названа сразу, потому что без неё история остаётся байкой. Сорванный срок — и разговор с заказчиком, в котором приходится объяснять, почему написанное им до работы не доехало. Этого разговора могло не быть.</a:t>
            </a:r>
          </a:p>
          <a:p/>
          <a:p>
            <a:r>
              <a:t>Агент не поглупел. Он ответил ровно тем, что у него было, и внутри своих границ ответил правильно. Изменилось другое: работа перестала целиком помещаться в то, что агент видит. Два занятия подряд всё, с чем он работал, лежало внутри репозитория, и этого хватало. В понедельник часть правды оказалась снаружи, а оснастка внутри репозитория до неё не дотягивается — ни хук, ни скилл, ни сколько угодно строк инструкций.</a:t>
            </a:r>
          </a:p>
          <a:p/>
          <a:p>
            <a:r>
              <a:t>Отсюда и вопрос-загадка на обложке: если агент не поглупел, то что перестало помещаться? Ответ собирают три следующих экрана. Сначала — что уже есть в проекте и почему этого хватало: все четыре заведённые вещи лежат внутри. Потом та же мысль на оси занятия: обе закрытые ступени работают внутри репозитория, обе сегодняшние — про его край. И затем второй промах той же недели, у которого причина противоположная: там внутрь влезло всё нужное и вытеснило работу, ради которой сессию открывали. Два промаха с противоположными причинами и дают вопрос занятия, и два хода, которыми на него отвечают.</a:t>
            </a:r>
          </a:p>
          <a:p/>
          <a:p>
            <a:r>
              <a:t>Ряд из четырёх сегментов внизу обложки — лестница, по которой идут эти занятия: хук, скилл, MCP, субагент. Первые два разобраны и замерены раньше, их формулировки здесь не переписываются. Два золотых закрываются сегодня.</a:t>
            </a:r>
          </a:p>
          <a:p/>
          <a:p>
            <a:r>
              <a:t>Про достоверность сцены стоит сказать прямо. Проект настоящий, ситуация собрана из типовых: это учебная сцена, как и все сцены занятия. Проверяемые числа стоят на занятии отдельно и всегда с источником — сцены к ним не относятся. Где именно заказчик ведёт свои просьбы и как с этим живут сейчас, разбирает первый случай блока MCP; здесь сказано ровно то, что нужно: внутри репозитория их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на экране — состояние проекта на входе в занятие, и читать её стоит по двум признакам сразу: что в проекте есть и чем это подтверждено.</a:t>
            </a:r>
          </a:p>
          <a:p/>
          <a:p>
            <a:r>
              <a:t>Хук — файл настроек </a:t>
            </a:r>
            <a:r>
              <a:rPr>
                <a:latin typeface="Consolas"/>
              </a:rPr>
              <a:t>.claude/settings.json</a:t>
            </a:r>
            <a:r>
              <a:t> и самотест </a:t>
            </a:r>
            <a:r>
              <a:rPr>
                <a:latin typeface="Consolas"/>
              </a:rPr>
              <a:t>.claude/hooks/selftest-branch-guard.sh</a:t>
            </a:r>
            <a:r>
              <a:t>. У него есть коммит, </a:t>
            </a:r>
            <a:r>
              <a:rPr>
                <a:latin typeface="Consolas"/>
              </a:rPr>
              <a:t>9803643</a:t>
            </a:r>
            <a:r>
              <a:t>: репозиторий можно склонировать командой </a:t>
            </a:r>
            <a:r>
              <a:rPr>
                <a:latin typeface="Consolas"/>
              </a:rPr>
              <a:t>git clone</a:t>
            </a:r>
            <a:r>
              <a:t> и убедиться, что оба файла на месте, а </a:t>
            </a:r>
            <a:r>
              <a:rPr>
                <a:latin typeface="Consolas"/>
              </a:rPr>
              <a:t>git log -1</a:t>
            </a:r>
            <a:r>
              <a:t> на этом коммите покажет тот же номер. Скилл — </a:t>
            </a:r>
            <a:r>
              <a:rPr>
                <a:latin typeface="Consolas"/>
              </a:rPr>
              <a:t>.claude/skills/deploy/SKILL.md</a:t>
            </a:r>
            <a:r>
              <a:t> — написан в разборе прошлого занятия, но коммита у него нет, и в таблице стоит честная метка «только план». Выдавать план за факт тут нет оснований: той же дисциплине было посвящено прошлое занятие. Файл инструкций </a:t>
            </a:r>
            <a:r>
              <a:rPr>
                <a:latin typeface="Consolas"/>
              </a:rPr>
              <a:t>CLAUDE.md</a:t>
            </a:r>
            <a:r>
              <a:t> вырос: было двадцать четыре строки и четыре раздела, стало сорок и пять — тоже подтверждено коммитом, </a:t>
            </a:r>
            <a:r>
              <a:rPr>
                <a:latin typeface="Consolas"/>
              </a:rPr>
              <a:t>wc -l CLAUDE.md</a:t>
            </a:r>
            <a:r>
              <a:t> печатает сорок. </a:t>
            </a:r>
            <a:r>
              <a:rPr>
                <a:latin typeface="Consolas"/>
              </a:rPr>
              <a:t>DECISIONS.md</a:t>
            </a:r>
            <a:r>
              <a:t> — файл с решениями, которые принимались по ходу проекта. Он лежит в репозитории с более раннего занятия, прошлое его не трогало, и здесь он показан без изменений: заведённое однажды между занятиями не теряется.</a:t>
            </a:r>
          </a:p>
          <a:p/>
          <a:p>
            <a:r>
              <a:t>У этих четырёх строк есть общее, и оно объясняет промах понедельника. Все четыре лежат внутри репозитория. Правило, процедура, проверка, запись решения — всё, что заводили два занятия подряд, агент открывает сам, в любой момент, без чьего-либо участия: достаточно того, что эти файлы есть в дереве проекта. Пока вся работа жила здесь, агент держал проект целиком и отвечал по делу. Промах случился в тот день, когда часть работы оказалась за этой границей: туда ни одна из четырёх строк не дотягивается, и количество строк тут ничего не меняет.</a:t>
            </a:r>
          </a:p>
          <a:p/>
          <a:p>
            <a:r>
              <a:t>Эту же таблицу стоит приложить к своему рабочему проекту. Вопрос простой: ваш агент держит его целиком — или в каждой новой сессии вы объясняете одно и то же заново? Второй случай обычен, и означает он ровно то же, что в этой таблице: часть нужного лежит за границей того, что агент видит сам. Что с этим делать, зависит от того, какая именно часть вышла за границу. Занятие даёт на это два ответа и критерий выбора между ними.</a:t>
            </a:r>
          </a:p>
          <a:p/>
          <a:p>
            <a:r>
              <a:t>Строчка «коммит есть» заслуживает того, чтобы на ней задержаться, потому что именно она отличает заведённое от задуманного. Файл, у которого есть коммит, лежит в дереве проекта: его видит любой, кто склонировал репозиторий, и агент открывает его сам, без напоминания. Файл, разобранный на занятии и не внесённый в репозиторий, для агента не существует вовсе. Разница между этими двумя состояниями и была содержанием прошлого занятия, поэтому у каждой строки таблицы стоит своя метка: одним общим списком файлов эту разницу не передать. Чего таблица не показывает — в каком месте истории репозитория каждая строка лежит: для инженера, открывшего проект, это внутренняя деталь, и состояние проекта от неё не зависит.</a:t>
            </a:r>
          </a:p>
          <a:p/>
          <a:p>
            <a:r>
              <a:t>Знать прошлое занятие, чтобы читать дальше, не требуется. Этой таблицы и оси на следующем экране достаточно: в них есть всё, что про предыдущие две ступени нужно знать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закрыла прошлое занятие, и здесь она стоит в том же виде. Две строки заполнены, у каждой три колонки: решаем мы уже возникшее или предотвращаем будущее, что механизм делает и чего он не делает.</a:t>
            </a:r>
          </a:p>
          <a:p/>
          <a:p>
            <a:r>
              <a:t>Хук отклоняет один паттерн записи в главную ветку — из шести воспроизведённых способов сделать коммит. На остальных пяти он молчит, а человека, который сам сидит в терминале, не видит вовсе. Скилл загружается по точному совпадению описания-триггера; без совпадения он не срабатывает, и содержимого его файла до срабатывания в контексте просто нет.</a:t>
            </a:r>
          </a:p>
          <a:p/>
          <a:p>
            <a:r>
              <a:t>Короткая колонка слева — ось, по которой курс сравнивает механизмы между собой: предотвращает ли механизм проблему, которой ещё нет, или решает уже возникшую. У обеих заполненных строк здесь стоит «решаем», и в каждой названо, по какому сигналу механизм заводят. Хук заводят, когда правило уже нарушено: запись в главную ветку однажды случилась, и дальше её отклоняют. Скилл заводят по сигналу перегрузки файла инструкций: инструкции разрослись, часть из них нужна редко, и редкую часть выносят в отдельный файл с описанием-триггером. Сегодняшние две строки тоже получат такую метку, и у одной из них она окажется смешанной.</a:t>
            </a:r>
          </a:p>
          <a:p/>
          <a:p>
            <a:r>
              <a:t>Колонка «что не делает» заслуживает отдельного слова, потому что её легко прочитать как список недостатков. Это не брак механизма и не чья-то наивность: это то, что проверка показала за рамкой того, для чего механизм заводили. Хук заводили против одного конкретного способа нарушить правило — против него он и работает. Разница между этой колонкой и соседней — ровно то, ради чего эти два механизма мерили, и ровно то, что сегодня повторится на двух новых строках.</a:t>
            </a:r>
          </a:p>
          <a:p/>
          <a:p>
            <a:r>
              <a:t>Теперь признак, по которому эти две строки читают на входе в сегодняшнее занятие. Обе работают внутри репозитория, и проверяется это прямо по ним: хук — файл в </a:t>
            </a:r>
            <a:r>
              <a:rPr>
                <a:latin typeface="Consolas"/>
              </a:rPr>
              <a:t>.claude/</a:t>
            </a:r>
            <a:r>
              <a:t>, сторожащий запись в ветку этого же репозитория; скилл — файл в этом же репозитории, который подгружается в контекст. Ни один из двух никуда за пределы проекта не обращается, и ни один не выносит работу из контекста агента. Всё, чем занимались два занятия подряд, лежало у агента под рукой.</a:t>
            </a:r>
          </a:p>
          <a:p/>
          <a:p>
            <a:r>
              <a:t>Две нижние строки пустые, и обе — про край этого «под рукой». Одна про то, чего внутри нет вовсе: данные живут в чужой системе, и сколько бы контекста агенту ни дали, там они не появятся. Другая про то, что внутрь влезает и вытесняет работу: чтение помещается целиком и занимает место, в котором лежала задача. Обе закрываются сегодня.</a:t>
            </a:r>
          </a:p>
          <a:p/>
          <a:p>
            <a:r>
              <a:t>Порядок строк — хук, скилл, MCP, субагент — дальше не меняется: тот же на вопросе занятия, на карте и в закрытии. Сравнивать все четыре между собой имеет смысл потому, что выбирают их по одному признаку: чего именно не хватает в работе. Ответ на этот вопрос занятие и собирает.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оба промаха этой недели рядом, и работа этого экрана — показать их причины вместе.</a:t>
            </a:r>
          </a:p>
          <a:p/>
          <a:p>
            <a:r>
              <a:t>Понедельник уже описан: агент ответил по репозиторию, двух просьб заказчика в ответе не оказалось. Причина — внутри их нет вовсе. Контекст хоть вдвое больше: эти просьбы в нём всё равно не появятся, потому что лежат они в другой системе.</a:t>
            </a:r>
          </a:p>
          <a:p/>
          <a:p>
            <a:r>
              <a:t>Среда — другой проект того же человека: продукт, в котором он работает каждый день, тарифы, участники, два года миграций. Задача дня обычная — завести тариф «Команда», двадцать участников вместо пяти. С утра он минут пятнадцать объясняет агенту задачу: как тариф называется, кому доступен, что делать со старыми аккаунтами, какие случаи проверить. Править собираются здесь же, в этой сессии. Но сначала нужен список мест, где лимит участников проверяется: пропустишь одно — новый тариф пройдёт конфиг и упрётся в проверку, про которую никто уже не помнит. Агент находит четыре таких места, и чтобы их найти, открывает больше сорока файлов, минут двадцать чтения. Список верный. А когда дело доходит до самой правки, агент переспрашивает то, что ему объясняли утром: как называется тариф и сколько в нём участников. Полчаса ушло на то, чтобы сказать уже сказанное и вернуться туда, где остановились.</a:t>
            </a:r>
          </a:p>
          <a:p/>
          <a:p>
            <a:r>
              <a:t>Причины противоположны. В понедельник нужного не было внутри. В среду всё нужное внутрь влезло — и вытеснило то, ради чего сессию открывали. «Не помещается» означает два разных положения дел, и лечатся они встречными ходами: в одном случае внутрь приносят то, чего там нет, в другом наружу выносят то, что внутрь не помещается. На этой противоположности стоит порядок всего занятия.</a:t>
            </a:r>
          </a:p>
          <a:p/>
          <a:p>
            <a:r>
              <a:t>Отсюда вопрос: работа вышла за контекст агента — что вы заводите первым, приносите внутрь то, чего внутри нет, или выносите наружу то, что внутрь не помещается? Ответов на него обычно три, и все три честные. «Смотря чего не хватает» — верный первый ход: вопрос ровно про то, как отличить одно положение от другого, и критерий для этого собирается дальше. «Сначала данные — без них агент задачу просто не решит»: обоснование лежит в первом блоке. «Сначала отдельный исполнитель — он экономит место»: обоснование во втором.</a:t>
            </a:r>
          </a:p>
          <a:p/>
          <a:p>
            <a:r>
              <a:t>Выбирать между ходами в живом проекте не обязательно, работают оба. У каждого своя цена: чужой код и постоянное место в контексте у первого, лишние права и потерянная видимость того, что делалось, у второго. Вопрос про то, с чего начинают, когда ресурс и внимание одни.</a:t>
            </a:r>
          </a:p>
          <a:p/>
          <a:p>
            <a:r>
              <a:t>И отдельно — про догадку, которая приходит на этом экране чаще прочих: во втором случае хватило бы контекста побольше. Большой контекст отодвигает границу и сохраняет свойство, из-за которого промах произошёл: прочитанное остаётся внутри и делит место с работой. Сорок файлов влезли целиком — и именно поэтому задача оттуда ушла. К этой догадке занятие вернётся с измерением.</a:t>
            </a:r>
          </a:p>
          <a:p/>
          <a:p>
            <a:r>
              <a:t>Имена двух механизмов здесь ещё не нужны: они появляются на карте следом и разбираются каждый в своём блоке.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занятия: два блока, и это два ответа на один вопрос.</a:t>
            </a:r>
          </a:p>
          <a:p/>
          <a:p>
            <a:r>
              <a:t>Первый ход — принести внутрь то, чего внутри нет. Агент получает способ сам спросить систему, которая живёт отдельно от проекта и меняется без нас, вместо того чтобы работать по снимку, снятому руками. Так закрывается промах понедельника. Механизм называется MCP, и три его случая названы наблюдаемыми проблемами: агенту регулярно нужны данные, которых нет в репозитории; сервер подключён, а агент через него не ходит; подключённые серверы занимают контекст до начала работы.</a:t>
            </a:r>
          </a:p>
          <a:p/>
          <a:p>
            <a:r>
              <a:t>Второй ход встречный — вынести наружу то, что внутрь не помещается. Чтение уходит отдельному исполнителю со своим контекстом и урезанными правами, а в сессию, где лежит работа, возвращается только итог. Так закрывается промах среды. В документации этот исполнитель называется субагентом; дальше в занятии он называется ролью. Три его случая тоже названы проблемами: чтение, нужное для одной правки, вытесняет из контекста саму правку; задача пришла одной фразой, а срока до неё два дня; исполнителей несколько, а рабочая папка у них одна.</a:t>
            </a:r>
          </a:p>
          <a:p/>
          <a:p>
            <a:r>
              <a:t>Карточки названы симптомом, который вы заметите у себя сами; имени приёма в названии нет, и это сделано для того, чтобы в карточке было проще узнать свой случай. Ответа на карточках тоже нет: «сервер подключён, а агент через него не ходит» описывает, что видно со стороны, и ничего не говорит о том, чем это лечится. Ответ лежит в самом случае, вместе с разбором вариантов и ценой.</a:t>
            </a:r>
          </a:p>
          <a:p/>
          <a:p>
            <a:r>
              <a:t>Все шесть карточек подписаны словом «решаем»: ни одна из шести проблем не гипотетическая, каждая уже произошла — в сцене, с которой её случай и начинается.</a:t>
            </a:r>
          </a:p>
          <a:p/>
          <a:p>
            <a:r>
              <a:t>Порядок блоков не случаен.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нет нужного, смысла мало — поэтому сначала доступ, потом делегирование.</a:t>
            </a:r>
          </a:p>
          <a:p/>
          <a:p>
            <a:r>
              <a:t>Между двумя ходами есть связь, которую по карте не видно. Доступ наружу увеличивает то, что агент способен сделать сам за один присест, и вместе с объёмом работы растёт объём чтения, которое эта работа втягивает в контекст сессии. Ходы встречные, и предел у них один и тот же: чем больше первый ход даёт сделать за присест, тем скорее упираешься во второй.</a:t>
            </a:r>
          </a:p>
          <a:p/>
          <a:p>
            <a:r>
              <a:t>У обоих ходов своя цена, и занятие называет её прямо: чужой код в вашей работе и постоянное место в контексте у первого, лишние права и потерянная видимость того, что делалось, у второго. Шесть случаев устроены одинаково: сцена, в которой что-то пошло не так, вопрос, разбор вариантов, механика или собранный артефакт, документированный провал и критерий, по которому выбирают.</a:t>
            </a:r>
          </a:p>
          <a:p/>
          <a:p>
            <a:r>
              <a:t>Перенос всего этого на свой репозиторий — работа отдельного занятия. Здесь — приёмы и критерии, по которым их выбирают.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отдельной системе снаружи репозитория, которая меняется каждый день без участия разработчика. А у агента в чате лежит то, что ему скопировали руками сегодня утром. Сцена блока — вторник, в который эти два факта сошлись; весь блок занят одной задачей — чем заменить перенос руками.</a:t>
            </a:r>
          </a:p>
          <a:p/>
          <a:p>
            <a:r>
              <a:t>Трекер здесь — любая система, где заказчик или команда ведут список работ отдельно от кода: встроенный трекер репозитория, отдельный сервис задач, доска со столбцами. Общее свойство у них одно, и на нём держится весь блок: список живёт снаружи дерева проекта и меняется без участия того, кто пишет код. Как только это свойство исчезает — список переехал в файл спецификации и правится тем же коммитом, что и код, — кейс рассыпается, и правильный ответ в нём становится другим.</a:t>
            </a:r>
          </a:p>
          <a:p/>
          <a:p>
            <a:r>
              <a:t>Прошлое занятие стояло на другой задаче. Там агента учили, что ему можно и нельзя делать внутри своего же репозитория, и проверяли это файлами и командой; всё, что при этом двигалось, лежало в дереве проекта. Здесь агенту нужно дотянуться до системы, которая частью проекта не является и которую мы не контролируем напрямую. Разница — в том, где физически лежат данные, и из неё вытекает всё остальное: права, ключи, цена.</a:t>
            </a:r>
          </a:p>
          <a:p/>
          <a:p>
            <a:r>
              <a:t>Почему эта задача возникает именно сейчас, после трёх инструментов внутри репозитория, — дело в частоте. Разовое действие закрывает обычная команда в терминале: один раз вызвал, один раз получил ответ. Повторяющееся из сессии в сессию так же дёшево не закрывается, и к концу кейса будет видно почему: у постоянного доступа есть постоянная плата, которой у разовой команды нет.</a:t>
            </a:r>
          </a:p>
          <a:p/>
          <a:p>
            <a:r>
              <a:t>Инструмент этого блока — четвёртый на курсе и первый, который физически выходит за границы одного репозитория. Три предыдущих жили внутри дерева проекта и правились тем же коммитом, что и код: их можно было прочитать, сравнить версии, откатить. Этот живёт снаружи и обновляется без нашего ведома — и ровно поэтому к нему прилагаются ключ и права, которых у предыдущих трёх не было.</a:t>
            </a:r>
          </a:p>
          <a:p/>
          <a:p>
            <a:r>
              <a:t>Реплика на экране принадлежит заказчику потому, что пропажу требования заметил он: разработчик узнал о ней последним, из вопроса «а планшет?» в задаче. Цена ошибки ложится на обоих, предъявляет её тот, кто платит за работу, и такая цена понятна без объяснений.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к этому месту курса умеет работать с двумя источниками данных, и оба — файлы.</a:t>
            </a:r>
          </a:p>
          <a:p/>
          <a:p>
            <a:r>
              <a:t>Первый — файлы репозитория. Агент читает их напрямую: открывает путь, получает содержимое. Это материал прошлых занятий: на файлах репозитория стоят инструкции, спецификация, записи решений — всё, что лежит в дереве проекта и правится тем же коммитом, что и код.</a:t>
            </a:r>
          </a:p>
          <a:p/>
          <a:p>
            <a:r>
              <a:t>Второй — файлы, которые дали явно: вставили текст в чат, приложили документ. Источник другой, свойство то же: содержимое попало в контекст один раз и дальше само не меняется.</a:t>
            </a:r>
          </a:p>
          <a:p/>
          <a:p>
            <a:r>
              <a:t>Список задач в трекере не ложится ни в один из двух. Файлом репозитория он не является — заказчик ведёт его в отдельной системе, в дереве проекта такого файла нет. Приложенным файлом он тоже не становится: приложить список один раз и забыть не выйдет, потому что он меняется каждый день без нас, и снимок, снятый утром, к обеду уже неточен.</a:t>
            </a:r>
          </a:p>
          <a:p/>
          <a:p>
            <a:r>
              <a:t>Разделяет первые два источника и третий — время. У файла есть момент, когда его прочитали, и дальше он остаётся таким, каким его прочитали: ответ на вопрос «что в нём написано» от секунды не зависит. У обращения к системе такого момента нет — ответ зависит от того, в какую секунду спросили. Отсюда и требование: агенту нужен способ спросить систему в момент работы, потому что прочитанное заранее к этому моменту успевает устареть.</a:t>
            </a:r>
          </a:p>
          <a:p/>
          <a:p>
            <a:r>
              <a:t>Такое обращение по сети называется вызовом API: агент отправляет запрос и получает ответ сразу, без файла-посредника. В других курсах тот же предмет часто называют интеграцией или коннектором — слово разное, предмет один.</a:t>
            </a:r>
          </a:p>
          <a:p/>
          <a:p>
            <a:r>
              <a:t>Соблазн на этом месте — считать трекер ещё одним внешним файлом и прикладывать его перед каждым запросом. Так действительно делают, и ровно это делает разработчик в сцене этого кейса. Практика ломается в тот день, когда правка уезжает заказчику раньше, чем кто-то перечитал задачу. Пока список меняется реже, чем к нему обращаются, снимок годится: разовая выгрузка открытых задач перед планированием спринта — рабочий приём. Частота и переводит задачу из «скопируй текст» в «дай доступ».</a:t>
            </a:r>
          </a:p>
          <a:p/>
          <a:p>
            <a:r>
              <a:t>И догадка, с которой стоит войти в кейс, — та, что приходит на этом месте почти всем: за вызов придётся платить написанной интеграцией, то есть кодом, который знает адреса, формат запроса и разбор ответа. Держите её в голове: разбор пяти способов начнётся именно с неё.</a:t>
            </a:r>
          </a:p>
          <a:p/>
          <a:p>
            <a:r>
              <a:t>Первые два источника перечислены здесь по той же причине. Выбор дальше идёт между пятью способами доступа, и три из них занимают контекст постоянно именно потому, что третий источник устроен иначе, чем файл. Без этой границы пятёрка способов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стоит посмотреть, где что стоит. Нового термина на этой схеме нет ни одного — только расстановка фигур в пространстве; механика идёт следующим экраном.</a:t>
            </a:r>
          </a:p>
          <a:p/>
          <a:p>
            <a:r>
              <a:t>Точка отсчёта — ваша машина, сплошная рамка слева. На ней работает агент: тот самый, с которым вы разговариваете в сессии. Всё остальное на схеме расположено относительно этой рамки, и первое, что стоит на ней найти, — себя.</a:t>
            </a:r>
          </a:p>
          <a:p/>
          <a:p>
            <a:r>
              <a:rPr b="1"/>
              <a:t>Сервер — отдельная программа,</a:t>
            </a:r>
            <a:r>
              <a:t> живущая вне агента: её кто-то запустил, она слушает, что у неё спросят, и отвечает. Написана она может быть на чём угодно, устанавливается как любой другой пакет, падает и перезапускается как любая другая программа. Отличает её одно умение — разговаривать на MCP, том самом едином разговоре, ради которого всё это заведено.</a:t>
            </a:r>
          </a:p>
          <a:p/>
          <a:p>
            <a:r>
              <a:t>Мест у этой программы два, и спецификация протокола говорит это прямо: сервер — программа, которая отдаёт данные, независимо от того, где она работает; работать она может локально или удалённо.</a:t>
            </a:r>
          </a:p>
          <a:p/>
          <a:p>
            <a:r>
              <a:rPr b="1"/>
              <a:t>Первое место — та же машина,</a:t>
            </a:r>
            <a:r>
              <a:t> рядом с агентом. Такой сервер поднимает ваша среда при старте сессии: в конфигурации записана команда, команда исполняется, процесс живёт столько же, сколько сессия. На схеме он стоит внутри сплошной рамки, и стрелка к нему эту рамку не пересекает.</a:t>
            </a:r>
          </a:p>
          <a:p/>
          <a:p>
            <a:r>
              <a:rPr b="1"/>
              <a:t>Второе место — чужая машина.</a:t>
            </a:r>
            <a:r>
              <a:t> Сервер там уже работает, его держит и обновляет кто-то другой, а подключаются к нему по сети. На схеме он в пунктирной рамке, и стрелка к нему границу вашей машины пересекает. Пунктир против сплошной линии — вся видимая разница: сплошное — ваше, пунктирное — чужое.</a:t>
            </a:r>
          </a:p>
          <a:p/>
          <a:p>
            <a:r>
              <a:t>Разговор агента с сервером в обоих случаях один и тот же; меняется только путь до сервера — процесс рядом или сеть. Спецификация формулирует это так: транспортный слой скрывает подробности связи от слоя протокола, и один и тот же формат сообщений работает на всех способах доставки. Поэтому номера вариантов стоят на схеме на стрелках: вариант — это маршрут, а агент в обоих вариантах один и тот же и стоит на одном месте.</a:t>
            </a:r>
          </a:p>
          <a:p/>
          <a:p>
            <a:r>
              <a:t>Справа — внешняя система: трекер задач, база данных, витрина отчётов, внутренний сервис. Ходит туда сервер. Ключ от системы лежит у него; агенту он ключа не отдаёт, и обратно агент получает текст ответа, самой системы не касаясь. Эту расстановку проще всего увидеть на схеме и труднее всего восстановить из конфигурационного файла — поэтому картина идёт раньше файла.</a:t>
            </a:r>
          </a:p>
          <a:p/>
          <a:p>
            <a:r>
              <a:t>И то, ради чего схема нарисована целиком. У каждой системы свой способ, которым её спрашивают: трекер задач — по REST, базу — языком SQL, витрину отчётов — через GraphQL, внутренний сервис — по gRPC. На этих способах говорит сервер. Системы существовали до MCP и свои способы спрашивать имели давно; сервер — обёртка поверх них: внутрь принимает вызов по MCP, наружу обращается так, как умеет система. Один сервер может ходить сразу в несколько систем, в каждую её способом. Агент этих способов не знает, и знать ему не нужно: у него к любому серверу один разговор.</a:t>
            </a:r>
          </a:p>
          <a:p/>
          <a:p>
            <a:r>
              <a:t>Протокол за сервером MCP вообще не описывает — он описывает только разговор агента с сервером. Инструменты в спецификации определены как исполняемые функции, которые приложение может вызвать, чтобы что-то сделать: операции с файлами, вызовы API, запросы к базе. Отсюда и четыре знака на правой стороне схемы; стоят они как способы, которыми спрашивают сами системы.</a:t>
            </a:r>
          </a:p>
          <a:p/>
          <a:p>
            <a:r>
              <a:t>Ходить наружу сервер при этом не обязан вовсе. Сервер к файловой системе или к локальной базе никуда по сети не обращается — он просто даёт агенту операции над тем, что лежит рядом. Внешняя система стоит на схеме потому, что наш случай именно такой: трекер живёт отдельно от проекта.</a:t>
            </a:r>
          </a:p>
          <a:p/>
          <a:p>
            <a:r>
              <a:t>Один и тот же сервер нередко существует в обоих местах сразу. Официальный сервер GitHub есть удалённым — его хостит сам GitHub — и образом, который запускается на вашей машине. Операции в них одни и те же, различается место. Какой из двух вариантов брать, схема не решает: выбор разбирает сам кейс, и там же считается цена каждого.</a:t>
            </a:r>
          </a:p>
          <a:p/>
          <a:p>
            <a:r>
              <a:t>По разговору агент разницы между вариантами не видит. Увидеть, где стоит сервер, можно только по записи в конфигурации — и для прав и секретов эта разница большая: в одном случае ключ лежит в окружении процесса на вашей машине, в другом вы отдаёте его тому, кто держит сервис.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Это опорный экран блока: к нему возвращается каждый следующий разбор, и к нему стоит вернуться самому, когда дальше что-то окажется непонятным.</a:t>
            </a:r>
          </a:p>
          <a:p/>
          <a:p>
            <a:r>
              <a:rPr b="1"/>
              <a:t>Что такое сервер.</a:t>
            </a:r>
            <a:r>
              <a:t> Отдельная программа, живущая вне Claude Code. Два места, где она работает, уже знакомы с предыдущего экрана: локальный процесс, который Claude Code запускает у вас, или удалённый сервис, который держит кто-то другой. К расстановке стоит добавить одно: команда, записанная в конфигурации, исполняется буквально при старте сессии. Что записано — то и запустится. Это исполняемая запись, не декларация, и из этого факта дальше вырастет решение про ключ.</a:t>
            </a:r>
          </a:p>
          <a:p/>
          <a:p>
            <a:r>
              <a:rPr b="1"/>
              <a:t>Где объявляется.</a:t>
            </a:r>
            <a:r>
              <a:t> В файле конфигурации. </a:t>
            </a:r>
            <a:r>
              <a:rPr>
                <a:latin typeface="Consolas"/>
              </a:rPr>
              <a:t>.mcp.json</a:t>
            </a:r>
            <a:r>
              <a:t> в корне репозитория — область </a:t>
            </a:r>
            <a:r>
              <a:rPr>
                <a:latin typeface="Consolas"/>
              </a:rPr>
              <a:t>project</a:t>
            </a:r>
            <a:r>
              <a:t>: её видят все, кто клонирует проект. </a:t>
            </a:r>
            <a:r>
              <a:rPr>
                <a:latin typeface="Consolas"/>
              </a:rPr>
              <a:t>~/.claude.json</a:t>
            </a:r>
            <a:r>
              <a:t> держит две другие области, </a:t>
            </a:r>
            <a:r>
              <a:rPr>
                <a:latin typeface="Consolas"/>
              </a:rPr>
              <a:t>local</a:t>
            </a:r>
            <a:r>
              <a:t> и </a:t>
            </a:r>
            <a:r>
              <a:rPr>
                <a:latin typeface="Consolas"/>
              </a:rPr>
              <a:t>user</a:t>
            </a:r>
            <a:r>
              <a:t>. Какая из трёх для чего — разбирается при сборке подключения; здесь важно место на карте: подключение живёт в файле, файл лежит в одном из трёх мест, и от выбора места зависит, кто это подключение увидит.</a:t>
            </a:r>
          </a:p>
          <a:p/>
          <a:p>
            <a:r>
              <a:rPr b="1"/>
              <a:t>Что происходит при подключении.</a:t>
            </a:r>
            <a:r>
              <a:t> После того как транспорт поднялся, Claude Code сама спрашивает у сервера список его возможностей. Модель в этом разговоре не участвует вовсе: это разговор клиента с сервером на уровне протокола, до того как модель вообще увидела список, — та же механика, что и рукопожатие транспорта. Сервер отвечает именами инструментов и короткой инструкцией о себе; полных схем на этом шаге нет.</a:t>
            </a:r>
          </a:p>
          <a:p/>
          <a:p>
            <a:r>
              <a:rPr b="1"/>
              <a:t>Вызов.</a:t>
            </a:r>
            <a:r>
              <a:t> Когда модель решает, что инструмент нужен, агент вызывает его так же, как вызвал бы функцию: полное имя с префиксом сервера и аргументы, которые модель собрала сама. Формат полного имени —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в списке инструментов субагента или в матчере хука — короткое там не сработает, и ошибка в нём выглядит снаружи как «правило почему-то не применяется».</a:t>
            </a:r>
          </a:p>
          <a:p/>
          <a:p>
            <a:r>
              <a:rPr b="1"/>
              <a:t>Контекст и цена — три отдельные статьи.</a:t>
            </a:r>
            <a:r>
              <a:t> Первая: имя сервера и короткая инструкция о нём висят в контексте всегда, с первой секунды сессии, независимо от того, воспользуется им агент или нет. Вторая: полную схему конкретного инструмента модель подтягивает сама, когда решает, что он может понадобиться, — это отложенная загрузка, и управляется она переменной </a:t>
            </a:r>
            <a:r>
              <a:rPr>
                <a:latin typeface="Consolas"/>
              </a:rPr>
              <a:t>ENABLE_TOOL_SEARCH</a:t>
            </a:r>
            <a:r>
              <a:t>. Третья, отдельная от первых двух: результат самого вызова, у него свой бюджет — предупреждение при выходе за десять тысяч токенов, обрезка за двадцать пять тысяч по умолчанию (</a:t>
            </a:r>
            <a:r>
              <a:rPr>
                <a:latin typeface="Consolas"/>
              </a:rPr>
              <a:t>MAX_MCP_OUTPUT_TOKENS</a:t>
            </a:r>
            <a:r>
              <a:t>). Эти три статьи стоит разводить с самого начала: постоянная плата идёт за то, что сервер подключён вообще, цена вызова — за каждый ответ, и смешение их даёт странные числа в обе стороны. Сопоставление по способам доступа будет в конце кейса.</a:t>
            </a:r>
          </a:p>
          <a:p/>
          <a:p>
            <a:r>
              <a:rPr b="1"/>
              <a:t>Чем отвечает сервер.</a:t>
            </a:r>
            <a:r>
              <a:t> Результат приходит по отдельному каналу, не по тому же, по которому шло подключение. В выводе вызов подписан именем сервера — видно, что ответ пришёл именно оттуда, не из общих знаний модели. Для проверки работы это единственная доступная зацепка: по тексту ответа отличить «сервер сходил и принёс» от «модель написала похоже» нельзя.</a:t>
            </a:r>
          </a:p>
          <a:p/>
          <a:p>
            <a:r>
              <a:t>Две мелочи, на которых спотыкаются чаще прочего. </a:t>
            </a:r>
            <a:r>
              <a:rPr>
                <a:latin typeface="Consolas"/>
              </a:rPr>
              <a:t>local</a:t>
            </a:r>
            <a:r>
              <a:t> и </a:t>
            </a:r>
            <a:r>
              <a:rPr>
                <a:latin typeface="Consolas"/>
              </a:rPr>
              <a:t>user</a:t>
            </a:r>
            <a:r>
              <a:t> в карте показаны с одним и тем же файлом </a:t>
            </a:r>
            <a:r>
              <a:rPr>
                <a:latin typeface="Consolas"/>
              </a:rPr>
              <a:t>~/.claude.json</a:t>
            </a:r>
            <a:r>
              <a:t> — это не ошибка на экране: один физический файл, две разные записи внутри него, </a:t>
            </a:r>
            <a:r>
              <a:rPr>
                <a:latin typeface="Consolas"/>
              </a:rPr>
              <a:t>local</a:t>
            </a:r>
            <a:r>
              <a:t> под записью конкретного проекта, </a:t>
            </a:r>
            <a:r>
              <a:rPr>
                <a:latin typeface="Consolas"/>
              </a:rPr>
              <a:t>user</a:t>
            </a:r>
            <a:r>
              <a:t> под общим ключом </a:t>
            </a:r>
            <a:r>
              <a:rPr>
                <a:latin typeface="Consolas"/>
              </a:rPr>
              <a:t>mcpServers</a:t>
            </a:r>
            <a:r>
              <a:t>. И вопрос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будет видно, сколько это стоит.</a:t>
            </a:r>
          </a:p>
          <a:p/>
          <a:p>
            <a:r>
              <a:t>Про управление протоколом: с девятого декабря 2025 года MCP развивает отдельный направленный фонд под Linux Foundation, тем же типом управления, что у Kubernetes. Открытость протокола и честность конкретного сервера внутри него — разные вещи, и провалы этого блока будут как раз про второе.</a:t>
            </a:r>
          </a:p>
          <a:p/>
          <a:p>
            <a:r>
              <a:t>Если что-то на этом экране осталось непонятным, дальше оно понятнее не станет: весь кейс ссылается сюда.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открыл задачу, скопировал текст, вставил в чат, готовый ответ скопировал обратно в задачу. Вот где лежали те две просьбы, которых агент в понедельник не нашёл.</a:t>
            </a:r>
          </a:p>
          <a:p/>
          <a:p>
            <a:r>
              <a:t>Вторник той же недели. Утром разработчик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 час на вторую правку и письмо с объяснением, почему строка из задачи до работы не доехала. Час здесь меньшая часть. Большая в том, что заказчик теперь перепроверяет, дошло ли написанное им: привычка, которую он завёл ровно потому, что один раз не дошло. Вернуть это доверие дороже, чем переделать форму.</a:t>
            </a:r>
          </a:p>
          <a:p/>
          <a:p>
            <a:r>
              <a:t>Ошибся здесь не агент. Ошибся перенос руками: он по устройству отдаёт агенту прошлое состояние задачи, и никакая аккуратность этого свойства не меняет.</a:t>
            </a:r>
          </a:p>
          <a:p/>
          <a:p>
            <a:r>
              <a:t>Дисциплина — перечитывать задачу перед отправкой — выглядит решением и работает ровно до дня, когда задач три, а сессий пять. Цена такой дисциплины растёт линейно с числом задач и сессий, и забытая строка из исключения становится нормой. Попросить агента «следить» за трекером тоже не выйдет: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 Открытый рядом трекер в браузере меняет форму переноса, оставляя сам перенос: вставка остаётся вставкой, и утренний снимок остаётся утренним.</a:t>
            </a:r>
          </a:p>
          <a:p/>
          <a:p>
            <a:r>
              <a:t>Стоит заметить, чего в этой сцене нет. В ней нет небрежного разработчика: он предложил трекер сам, переносит задачи несколько раз в неделю и в тот вторник сделал всё, что делал всегда. В ней нет и сломанного инструмента: трекер работал, агент работал, правка уехала вовремя. Сбой дала связка между ними — единственное место, которое никто не проектировал и за которое поэтому никто не отвечает. Ровно такие места и собирают цену: у них нет владельца, и чинить их начинают после первого письма с объяснением.</a:t>
            </a:r>
          </a:p>
          <a:p/>
          <a:p>
            <a:r>
              <a:t>У этой ошибки есть обратная,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Подробность сцены нужна для выбора, который предстоит сделать дальше: он зависит от двух её свойств — от частоты переноса и от живости источника. Живым здесь называется источник, у которого ответ зависит от времени запроса. Файл спецификации в репозитории живым в этом смысле не является: он меняется коммитом, и коммит видно. Трекер меняется без коммита и без уведомления — и именно этот вторник показывает, какой из двух случаев перед нами.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кейса: чтобы того вторника не повторилось, агент должен сам смотреть открытые задачи трекера в момент работы и готовить по ним черновики правок. Какой способ дать ему доступ снаружи вы выберете — и чем остальные четыре подходят хуже именно для регулярного доступа?</a:t>
            </a:r>
          </a:p>
          <a:p/>
          <a:p>
            <a:r>
              <a:t>Пять способов: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 Выбор здесь весит меньше причины: назвать способ легко, труднее сказать, что именно он требует от вас заранее и что занимает постоянно.</a:t>
            </a:r>
          </a:p>
          <a:p/>
          <a:p>
            <a:r>
              <a:rPr>
                <a:latin typeface="Consolas"/>
              </a:rPr>
              <a:t>gh</a:t>
            </a:r>
            <a:r>
              <a:t> в этом списке — официальный CLI-инструмент GitHub. Он уже установлен у многих разработчиков и умеет читать и писать задачи трекера без какого-либо MCP-сервера, обычным вызовом команды. Разницу между «удалённо» и «локально» тоже стоит проговорить до выбора: в первом случае сервер — чужой процесс, который кто-то другой держит в сети и сам поддерживает; во втором программа запускается у вас, и её старт, обновление и падение — ваша забота.</a:t>
            </a:r>
          </a:p>
          <a:p/>
          <a:p>
            <a:r>
              <a:t>Четыре ответа на этот вопрос звучат чаще прочих, и с каждым стоит проделать одну и ту же работу.</a:t>
            </a:r>
          </a:p>
          <a:p/>
          <a:p>
            <a:r>
              <a:t>«Написать свой сервер». Проверочный вопрос один: что в вашем сервере будет такого, чего нет в официальном? Иногда ответ есть — нужного набора операций действительно нет ни у кого из готовых поставщиков, — и тогда выбор верный. Чаще ответа нет, и тогда это работа, которую за вас уже сделали.</a:t>
            </a:r>
          </a:p>
          <a:p/>
          <a:p>
            <a:r>
              <a:t>«Возьмём API, потому что так гибче». Законный выбор, и разбор его не отменяет. Уточнить стоит одно: где будет жить описание эндпойнтов, которым вы кормите агента, и кто обновит его, когда сервис поменяет версию. Это описание — такой же артефакт проекта, как конфигурация, и владелец у него должен быть назван.</a:t>
            </a:r>
          </a:p>
          <a:p/>
          <a:p>
            <a:r>
              <a:t>«А в чём вообще разница, если результат одинаковый?» Результат действительно одинаковый: во всех пяти случаях агент получает свежий список задач. Разница — в том, что каждый способ требует от вас заранее, и в том, что он занимает постоянно. Обе стороны разбираются дальше: первая на разборе пяти способов, вторая на экране с ценой.</a:t>
            </a:r>
          </a:p>
          <a:p/>
          <a:p>
            <a:r>
              <a:t>Ответ, который не совпадает ни с одним из пяти. Почти всегда он укладывается в один из пяти, просто другими словами: «напишем скрипт, который дёргает трекер» — это прямой вызов API, «попросим подключить готовый сервис» — чужой сервер удалённо. Такой ответ стоит довести до одного из пяти, и дальше он разбирается вместе с остальными.</a:t>
            </a:r>
          </a:p>
          <a:p/>
          <a:p>
            <a:r>
              <a:t>Выбрать два тоже можно, и это даже точнее: два из пяти остаются законными до самого конца разбора. Тогда называйте оба и условие, при котором берёте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 это он умеет, и умеет одинаково во всех пяти случаях. Догадка, с которой заходили в кейс, оказывается ложной, и выбор приходится делать по другому основанию.</a:t>
            </a:r>
          </a:p>
          <a:p/>
          <a:p>
            <a:r>
              <a:t>Основание такое: знает ли агент заранее, что у системы можно спросить. По нему и разбираются пять способов.</a:t>
            </a:r>
          </a:p>
          <a:p/>
          <a:p>
            <a:r>
              <a:rPr b="1"/>
              <a:t>Прямой вызов API.</a:t>
            </a:r>
            <a:r>
              <a:t> Агент сам пишет и шлёт запросы к эндпойнтам, сам разбирает ответ. Предел здесь лежит в другом месте: спецификацию сервиса агент не угадает — какие есть точки, какие у них параметры, какие ограничения. Её нужно дать: документацией, swagger-описанием, примером запроса. Пока описание свежее, способ работает, и работает гибко — доступны любые точки сервиса, включая те, которых нет ни в одном готовом сервере. Устаревает описание молча: сервис поменял версию, описание осталось прежним, агент уверенно шлёт запросы по старым адресам.</a:t>
            </a:r>
          </a:p>
          <a:p/>
          <a:p>
            <a:r>
              <a:rPr b="1"/>
              <a:t>Чужой сервер удалённо.</a:t>
            </a:r>
            <a:r>
              <a:t> Сервис, который кто-то хостит и обновляет сам; у вас не крутится отдельный процесс, нечего запускать и нечему падать. Плата за это — управление: не видно, что сервис делает внутри и когда в нём что-то поменялось. Сюда же обычные вопросы безопасности удалённого сервиса: кому вы доверяете ключ и у кого ещё есть к нему доступ. Чем это кончается в худшем случае, видно в провале следующего кейса блока: у одного MCP-сервера для баз данных флаг «только чтение» не делал соединение реально ограниченным.</a:t>
            </a:r>
          </a:p>
          <a:p/>
          <a:p>
            <a:r>
              <a:rPr b="1"/>
              <a:t>Чужой сервер локально.</a:t>
            </a:r>
            <a:r>
              <a:t> Пакет исполняется у вас, конфигурация — строка в репозитории, видна всей команде в ревью. Контроля здесь больше, чем у удалённого: версия зафиксирована вами, обновление происходит тогда, когда вы его сделали. Остаётся то, что это живой процесс на вашей машине и чужой код — со всеми его зависимостями и правом на обновление.</a:t>
            </a:r>
          </a:p>
          <a:p/>
          <a:p>
            <a:r>
              <a:rPr b="1"/>
              <a:t>Свой сервер.</a:t>
            </a:r>
            <a:r>
              <a:t> Даёт ровно нужный набор операций и прав, без чужого кода в процессе. Написать минимальный сервер сейчас быстро — для этого есть готовый плагин. Дорого обходится поддержка: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rPr b="1"/>
              <a:t>Команда `gh` каждый раз.</a:t>
            </a:r>
            <a:r>
              <a:t> Готовый официальный CLI GitHub: авторизацию и разбор ответа он уже решил за вас, кода писать не нужно. Каждый вызов при этом — отдельная команда без общего списка возможностей. Агент не видит заранее, что вообще можно сделать; нужный вызов приходится знать заранее — и знает его разработчик.</a:t>
            </a:r>
          </a:p>
          <a:p/>
          <a:p>
            <a:r>
              <a:t>Вывод складывается из сочетания, в три хода.</a:t>
            </a:r>
          </a:p>
          <a:p/>
          <a:p>
            <a:r>
              <a:t>Первый: свой сервер избыточен. Официальный сервер для трекера уже существует, и своя реализация повторила бы его работу, добавив к проекту второй проект.</a:t>
            </a:r>
          </a:p>
          <a:p/>
          <a:p>
            <a:r>
              <a:t>Второй: </a:t>
            </a:r>
            <a:r>
              <a:rPr>
                <a:latin typeface="Consolas"/>
              </a:rPr>
              <a:t>gh</a:t>
            </a:r>
            <a:r>
              <a:t> и прямой вызов API закрывают вызов, известный заранее. Это их законная область, и она широкая. Растущий список операций они перекладывают на память разработчика — и ровно на этом месте вторник из сцены повторяется, только уже с командами: нужная команда существует, но её никто не вспомнил.</a:t>
            </a:r>
          </a:p>
          <a:p/>
          <a:p>
            <a:r>
              <a:t>Третий: между «удалённо» и «локально» готового ответа нет, законны оба. Свежий официальный пример подключения к этому же сервису — удалённый http-сервис; решение этого кейса — локальный процесс, потому что тогда конфигурация становится кодом в репозитории, видимым в ревью всей команде. Локальный способ при этом остаётся официально поддерживаемым, так что от существования удалённого примера решение не портится. Знать стоит другое: официальный путь одного и того же поставщика со временем меняется, и ссылку на «официальный способ» в собственной документации приходится перепроверять.</a:t>
            </a:r>
          </a:p>
          <a:p/>
          <a:p>
            <a:r>
              <a:t>Как приложить этот разбор к своей системе — четыре вопроса по порядку. Есть ли для неё готовый сервер: если есть, свой писать незачем. Сколько операций нужно и растёт ли их число: одна известная операция закрывается командой или прямым вызовом, растущий список требует, чтобы агент видел его сам. Готовы ли вы держать ещё один живой процесс с доступом к секретам: если нет, разовый вызов надёжнее процесса, который никто не обслуживает. И только после этого — где должна лежать конфигурация: в репозитории, если подключение касается всей команды, у себя, если это эксперимент.</a:t>
            </a:r>
          </a:p>
          <a:p/>
          <a:p>
            <a:r>
              <a:t>Остаётся вопрос, который разбор оставляет открытым: за что тогда вообще платят подключением, если доступ даёт и обычная команда? Платят за список возможностей, который агент читает сам. Сколько это стоит в токенах, считается дальше в кейсе, на экране постоянной платы, и цифра там неожиданная.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этого разговора. Начать с синтаксиса — значит проскочить два решения, которые весят больше синтаксиса: какие операции агенту разрешить и какие права под них выдать.</a:t>
            </a:r>
          </a:p>
          <a:p/>
          <a:p>
            <a:r>
              <a:t>Первый ход быстрый: что конкретно агент должен делать? Для нашей задачи список короткий — читать открытые задачи, писать комментарий, готовить черновик правки. Три операции, ничего больше. Список этот составляется под задачу и не берётся у сервера: официальный сервер трекера умеет заметно больше трёх вещей, и из его полного набора нужно знать свои. Операции задают, какие права запрашивать; обратный порядок даёт ключ, заведомо более широкий, чем задача, под которую он выпускался.</a:t>
            </a:r>
          </a:p>
          <a:p/>
          <a:p>
            <a:r>
              <a:t>Второй ход несёт основной вес. Широкий персональный токен по умолчанию даёт четыре вещи: все репозитории пользователя, включая приватные; чтение и запись; управление настройками; удаление. По каждой строке задаётся один и тот же вопрос — наш список из трёх операций этого требует? Все репозитории, включая приватные: нет, работа идёт в одном. Чтение и запись: чтение нужно для задач, запись нужна для комментария и черновика — строка остаётся. Управление настройками: нет. Удаление: нет. Вычёркивание идёт строка за строкой, и остаётся один репозиторий и две операции.</a:t>
            </a:r>
          </a:p>
          <a:p/>
          <a:p>
            <a:r>
              <a:t>Порядок важен сам по себе: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экранов окажется решающей.</a:t>
            </a:r>
          </a:p>
          <a:p/>
          <a:p>
            <a:r>
              <a:t>Соблазн, который стоит разобрать до конца: создать токен с правами по умолчанию и просто не пользоваться лишним. Так нельзя, и причина лежит вне дисциплины. Токеном может воспользоваться тот, кто им завладеет, и тогда решает то, что физически позволяет сделанный ключ, безотносительно вашего намерения. Вопрос «пользуюсь ли я этим правом» к делу не относится вовсе; вопрос ровно один — есть это право в ключе или нет.</a:t>
            </a:r>
          </a:p>
          <a:p/>
          <a:p>
            <a:r>
              <a:t>Избыточность такого рода — норма, не исключение. Та же системная выборка показывает, что прав выдают больше, чем нужно, и это касается не только отдельных серверов, но и самого транспортного слоя официального SDK протокола.</a:t>
            </a:r>
          </a:p>
          <a:p/>
          <a:p>
            <a:r>
              <a:t>Сколько времени занимает такая проверка — прямых замеров нет ни в одном источнике, и это честный пробел. Сказать можно другое: разговор, разложенный здесь на ходы, и так происходит в момент создания токена, отдельного времени он не требует.</a:t>
            </a:r>
          </a:p>
          <a:p/>
          <a:p>
            <a:r>
              <a:t>Этот экран стоит запомнить. Через несколько экранов будет инцидент, который воспроизводится ровно тогда, когда верхняя строка не вычеркнута.</a:t>
            </a:r>
          </a:p>
          <a:p/>
          <a:p>
            <a:r>
              <a:t>И последнее —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ход — про ключ, и ответ на него называют почти сразу: ключ хранится в переменной окружения, значение в файл не вписывают.</a:t>
            </a:r>
          </a:p>
          <a:p/>
          <a:p>
            <a:r>
              <a:t>Причина у этого не стилистическая. Механика конфигурации здесь исполняемая: команда подключения сервера реально запускается на машине при старте сессии, простым описанием она не остаётся. Значение, вписанное буквально в команду, стало бы частью того, что физически выполняется, — и поехало бы вместе с файлом в репозиторий, в историю коммитов, в ревью, в любую выгрузку проекта. Переменная окружения — прямое следствие этого факта.</a:t>
            </a:r>
          </a:p>
          <a:p/>
          <a:p>
            <a:r>
              <a:t>Честная оговорка к практике: вынесение секрета в переменную окружения не гарантирует, что он нигде не всплывёт текстом. Диагностическая команда, которой проверяют статус подключения, сама может оказаться ещё одним каналом утечки того же секрета. Практику это не отменяет, но снимает с неё ложное ощущение полной защищённости: переменная окружения убирает секрет из файла и не убирает его из всех возможных мест.</a:t>
            </a:r>
          </a:p>
          <a:p/>
          <a:p>
            <a:r>
              <a:t>Четвёртый ход — область видимости конфигурации, и вариантов три: только у меня на этой машине; в репозиторий, для всех; глобально во всех моих проектах. Проверенный сервер идёт в репозиторий — тогда конфигурация становится кодом, и её изменение видно в ревью наравне с кодом. Новый сервер в проекте появляется с обсуждением, его видно до того, как он заработает. Непроверенный эксперимент остаётся только у себя.</a:t>
            </a:r>
          </a:p>
          <a:p/>
          <a:p>
            <a:r>
              <a:t>И факт про дефолт, который стоит знать до первого подключения: по умолчанию команда подключения кладёт сервер в личную конфигурацию, не в проект. Не зная этого, легко получить разговор «я подключил, всё работает» — «а у меня нет», в котором оба правы: запись существует, видит её один человек.</a:t>
            </a:r>
          </a:p>
          <a:p/>
          <a:p>
            <a:r>
              <a:t>Эксперимент, который прижился, переносят из личной области в проектную тем же разговором, каким вносят любую другую правку в репозиторий. Права ключа при переносе остаются прежними: их меняют на стороне сервиса, где ключ создавался.</a:t>
            </a:r>
          </a:p>
          <a:p/>
          <a:p>
            <a:r>
              <a:t>Выбор области — решение про видимость, и мерить его стоит одним вопросом: кому должно сломаться, если подключение пропадёт? Если работа команды без этого сервера встанет, запись обязана лежать в репозитории — тогда её пропажа видна в ревью и восстанавливается тем же способом, что любая другая правка файла. Если без сервера встанет только ваш личный эксперимент, запись в репозитории будет мешать остальным: они клонируют проект и получают процесс, которого не просили, вместе с требованием ключа, которого у них нет.</a:t>
            </a:r>
          </a:p>
          <a:p/>
          <a:p>
            <a:r>
              <a:t>Отдельно — что происходит при совпадении имён. Если одно и то же имя сервера объявлено в двух областях, побеждает вся запись более приоритетной области целиком; поля из разных источников не собираются. Случай, на котором это ловят: в личной записи ключа нет, в проектной есть, имена совпали — при конфликте вы получаете личную запись целиком, вместе с отсутствующим ключом, и сервер не работает по причине, которой в проектном файле не видно.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Каждая отвечает на свой вопрос.</a:t>
            </a:r>
          </a:p>
          <a:p/>
          <a:p>
            <a:r>
              <a:rPr>
                <a:latin typeface="Consolas"/>
              </a:rPr>
              <a:t>mcpServers</a:t>
            </a:r>
            <a:r>
              <a:t> — корень: список всех серверов, объявленных в этой области видимости. Один файл может держать несколько серверов, и каждый получает свою запись.</a:t>
            </a:r>
          </a:p>
          <a:p/>
          <a:p>
            <a:r>
              <a:rPr>
                <a:latin typeface="Consolas"/>
              </a:rPr>
              <a:t>"github"</a:t>
            </a:r>
            <a:r>
              <a:t> — имя сервера. Под этим именем агент будет вызывать его инструменты: </a:t>
            </a:r>
            <a:r>
              <a:rPr>
                <a:latin typeface="Consolas"/>
              </a:rPr>
              <a:t>mcp__github__…</a:t>
            </a:r>
            <a:r>
              <a:t>. Имя выбираете вы, и оно попадает во все места, где на сервер ссылаются, — в правила разрешений, в списки инструментов, в вывод вызова. Переименовать его потом значит пройти по всем этим местам.</a:t>
            </a:r>
          </a:p>
          <a:p/>
          <a:p>
            <a:r>
              <a:rPr>
                <a:latin typeface="Consolas"/>
              </a:rPr>
              <a:t>"command"</a:t>
            </a:r>
            <a:r>
              <a:t> — чем запускается: конкретная программа-лаунчер, здесь </a:t>
            </a:r>
            <a:r>
              <a:rPr>
                <a:latin typeface="Consolas"/>
              </a:rPr>
              <a:t>npx</a:t>
            </a:r>
            <a:r>
              <a:t>. </a:t>
            </a:r>
            <a:r>
              <a:rPr>
                <a:latin typeface="Consolas"/>
              </a:rPr>
              <a:t>"args"</a:t>
            </a:r>
            <a:r>
              <a:t> — что запускается: пакет самого сервера. Вместе эти две строки и есть та команда, которая исполнится при старте сессии.</a:t>
            </a:r>
          </a:p>
          <a:p/>
          <a:p>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Права этого ключа в файл не входят вообще, и это стоит держать в голове, глядя на экран. Один репозиторий вместо всей учётной записи — решение, принятое на стороне сервиса, где токен создавался; из конфигурации его не видно и в ревью по этому файлу не поймать. Файл показывает, откуда берётся ключ, и ничего не говорит о том, что этим ключом можно сделать.</a:t>
            </a:r>
          </a:p>
          <a:p/>
          <a:p>
            <a:r>
              <a:t>Про сам файл: он лежит в корне репозитория и виден всем, кто клонирует проект. Личная и общая личная области живут в отдельном файле вне репозитория — секреты из кода туда не попадают просто потому, что файл физически не в дереве git.</a:t>
            </a:r>
          </a:p>
          <a:p/>
          <a:p>
            <a:r>
              <a:t>Эта команда запускает на вашей машине живой процесс. Если он упадёт посреди сессии, сам он не перезапустится — нужна новая сессия. Что при этом видно и как это заметить, разбирается в следующем кейсе этого занятия.</a:t>
            </a:r>
          </a:p>
          <a:p/>
          <a:p>
            <a:r>
              <a:t>Схема приоритета под файлом отвечает на вопрос, который возникает, когда одно и то же имя сервера объявлено дважды. Шесть ступеней, и на каждой подписан физический файл. Ступени </a:t>
            </a:r>
            <a:r>
              <a:rPr>
                <a:latin typeface="Consolas"/>
              </a:rPr>
              <a:t>local</a:t>
            </a:r>
            <a:r>
              <a:t> и </a:t>
            </a:r>
            <a:r>
              <a:rPr>
                <a:latin typeface="Consolas"/>
              </a:rPr>
              <a:t>user</a:t>
            </a:r>
            <a:r>
              <a:t> обе подписаны файлом </a:t>
            </a:r>
            <a:r>
              <a:rPr>
                <a:latin typeface="Consolas"/>
              </a:rPr>
              <a:t>~/.claude.json</a:t>
            </a:r>
            <a:r>
              <a:t> — то же устройство и та же причина, что на одностраничнике MCP: один физический файл, две записи внутри него. При конфликте имён это разные по весу записи, несмотря на общий файл.</a:t>
            </a:r>
          </a:p>
          <a:p/>
          <a:p>
            <a:r>
              <a:t>Областей ровно три, и произвольной настройкой это число не является: три жёстко заданных места — ровно то, что умеет продукт. Изменить область уже подключённого сервера значит переписать ту же запись в другое место; права токена при этом остаются прежними, их меняют там, где токен создавался.</a:t>
            </a:r>
          </a:p>
          <a:p/>
          <a:p>
            <a:r>
              <a:t>И честный пробел, который стоит назвать прямо. Этот файл — целевое решение раздела, собранное с более раннего захвата демонстрационного репозитория. Коммита с ним в текущей ветке нет, и в репозитории курса такого файла тоже нет. Разбор опирается на доказательную базу исследования, живого коммита за ним не стоит; то же касается двух следующих кейсов этого блока — у них этот пробел общий. Экран показывает разбираемый пример и не обещает «склонируй и повтори».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утверждение о режиме без отложенной загрузки. По умолчанию при старте сессии в контекст попадают имена инструментов и короткая инструкция сервера, без полных схем.</a:t>
            </a:r>
          </a:p>
          <a:p/>
          <a:p>
            <a:r>
              <a:t>Худший случай замерен: связка из пяти серверов без отсрочки — порядка пятидесяти пяти тысяч токенов, около двадцати одного процента контекста в двести тысяч. Это верхняя граница. Для сравнения: одно и то же действие обычной командой в терминале — тысяча триста шестьдесят пять токенов, инструментом сервера — сорок четыре тысячи двадцать шесть. Тридцатидвухкратная разница за один ответ.</a:t>
            </a:r>
          </a:p>
          <a:p/>
          <a:p>
            <a:r>
              <a:t>За что именно идёт эта плата, стоит разобрать по частям — иначе числа выглядят произвольными.</a:t>
            </a:r>
          </a:p>
          <a:p/>
          <a:p>
            <a:r>
              <a:t>Постоянная плата — это имя каждого подключённого сервера и короткая инструкция о нём. Они висят в контексте всё время, с первой секунды сессии, независимо от того, воспользуется агент сервером или нет. Задают её два числа: сколько серверов подключено и сколько инструментов каждый описывает. Ни от места, где сервер работает, ни от того, кто его написал, эта плата не зависит — своё, чужое, локально, удалённо платят одинаково. Транспорт на два названных числа не влияет: удалённый сервер описывает свои инструменты теми же именами и той же инструкцией, что локальный, и в контекст попадает то же самое описание. Авторство тоже не влияет: свой сервер, написанный под три операции, платит за три описания — ровно столько, сколько платил бы чужой с тремя операциями. Платите вы за список возможностей, а список не знает, откуда он приехал.</a:t>
            </a:r>
          </a:p>
          <a:p/>
          <a:p>
            <a:r>
              <a:t>Цена вызова — отдельная статья: это каждый ответ, который сервер вернул. Сюда и относится сравнение тысячи трёхсот шестидесяти пяти токенов против сорока четырёх тысяч: одно и то же действие, одинаковый результат, тридцатидвухкратная разница в том, сколько места заняло его получение.</a:t>
            </a:r>
          </a:p>
          <a:p/>
          <a:p>
            <a:r>
              <a:t>Свободны от постоянной платы прямой вызов API и команда вроде </a:t>
            </a:r>
            <a:r>
              <a:rPr>
                <a:latin typeface="Consolas"/>
              </a:rPr>
              <a:t>gh</a:t>
            </a:r>
            <a:r>
              <a:t>. Списка возможностей, висящего в контексте между вызовами, у них нет: пока вызов не сделан, в контексте о них нет ничего.</a:t>
            </a:r>
          </a:p>
          <a:p/>
          <a:p>
            <a:r>
              <a:t>Отсюда вопрос к собственному проекту, который стоит задать себе прямо сейчас: сколько серверов подключено у вас и сколько инструментов они описывают? Эту плату вы вносите в каждой сессии — включая ту, в которой агент за день не сходил ни к одному серверу.</a:t>
            </a:r>
          </a:p>
          <a:p/>
          <a:p>
            <a:r>
              <a:t>Проверить режим у себя можно двумя действиями: посмотреть, не выставлена ли переменная </a:t>
            </a:r>
            <a:r>
              <a:rPr>
                <a:latin typeface="Consolas"/>
              </a:rPr>
              <a:t>ENABLE_TOOL_SEARCH=false</a:t>
            </a:r>
            <a:r>
              <a:t>, отключающая отложенную загрузку, и посмотреть, что реально показывает карточка конкретного сервера в сессии. Эта проверка не устаревает, в отличие от самой цифры.</a:t>
            </a:r>
          </a:p>
          <a:p/>
          <a:p>
            <a:r>
              <a:t>Почему цифра тогда названа вообще: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 Тот же эффект независимо подтверждён другой командой исследователей и в деньгах: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другая методика.</a:t>
            </a:r>
          </a:p>
          <a:p/>
          <a:p>
            <a:r>
              <a:t>Вывод из этого не «сервер подключать невыгодно». Выгодным его делает то, за что плата внесена: агент сам видит список операций и выбирает нужную. Там, где операция одна и известна заранее, платить за список незачем — и это ровно критерий, которым кейс закрывается.</a:t>
            </a:r>
          </a:p>
          <a:p/>
          <a:p>
            <a:r>
              <a:t>Остаётся объяснить, почему полная схема подтягивается не сразу.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со-сборки — тому, который стоило запомнить. Май 2025 года, разбор Invariant Labs.</a:t>
            </a:r>
          </a:p>
          <a:p/>
          <a:p>
            <a:r>
              <a:t>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этого пользователя и опубликуй здесь. Разработчик просит агента разобраться с открытыми задачами — просьба совершенно рядовая. Агент честно читает задачи; встроенная в текст инструкция попадает в контекст как задача, и от вашей она для модели неотличима. Дальше он читает приватные репозитории и публикует их содержимое в автоматически созданном публичном черновике правки.</a:t>
            </a:r>
          </a:p>
          <a:p/>
          <a:p>
            <a:r>
              <a:t>Ни одной строчки кода эксплойта в этой истории нет. Номера уязвимости тоже нет, и это не упущение: чинить нечего — это архитектурный класс, связка «широкие права плюс чужой текст», брешью в чьём-то коде он не является.</a:t>
            </a:r>
          </a:p>
          <a:p/>
          <a:p>
            <a:r>
              <a:t>Теперь на наш экран. Строку «все репозитории пользователя, включая приватные» мы вычеркнули на со-сборке. Без неё сценарий не проходит вообще: читать нечего, и первый шаг атаки упирается в права ключа.</a:t>
            </a:r>
          </a:p>
          <a:p/>
          <a:p>
            <a:r>
              <a:t>Сочетание, которое делает такую утечку возможной, названо смертельным трио (Simon Willison, 16 июня 2025): доступ к приватным данным, обработка недоверенного внешнего контента, канал наружу. При всех трёх атакующему достаточно написать текст, который агент прочитает в рамках обычной работы. Не хватает хотя бы одной ножки — атака этого типа невозможна в принципе, не «маловероятна».</a:t>
            </a:r>
          </a:p>
          <a:p/>
          <a:p>
            <a:r>
              <a:t>Обобщение здесь весит больше примера. GitHub стоит в примере потому, что ровно эту связку собирает наш кейс — трекер задач с персональным токеном. Но трио применимо к любому агенту, у которого есть доступ к данным, обработка текста и канал наружу, независимо от конкретного продукта. И читает агент тот же поток чужого текста, из которого в сцене потерялась строка требования: задачи в трекере пишет не только ваш заказчик.</a:t>
            </a:r>
          </a:p>
          <a:p/>
          <a:p>
            <a:r>
              <a:t>Второй слой того же устройства обходится без модели вообще. У MCP-сервера к базам данных нашли уязвимость транспорта: CVE-2026-61742, сервер DBHub, оценка 9,3 из 10. HTTP-транспорт по умолчанию слушает без аутентификации, а защита от межсайтовых запросов обходится подменой DNS (DNS rebinding). По вторичному техническому разбору — два HTTP-запроса и ноль учётных данных до захвата; это число взято из разбора Strix.ai, в первичной записи его нет, и называется оно с этой оговоркой.</a:t>
            </a:r>
          </a:p>
          <a:p/>
          <a:p>
            <a:r>
              <a:t>Подмена DNS работает так. DNS-имя домена атакующего сначала указывает на его собственный IP-адрес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 Произвольный сайт, открытый в браузере, дёргает инструменты сервера напрямую.</a:t>
            </a:r>
          </a:p>
          <a:p/>
          <a:p>
            <a:r>
              <a:t>Трио здесь не единственный путь к утечке: сервер сам может оказаться незащищённым сетевым сервисом, и этот случай именно такой. Открытость протокола от этого не защищает — открытость протокола и аутентификация конкретного сервера суть разные вещи, и в базе блока это уже отмечалось.</a:t>
            </a:r>
          </a:p>
          <a:p/>
          <a:p>
            <a:r>
              <a:t>Что из двух слоёв следует для собранного файла. Ключ с правами на один репозиторий закрывает первый слой целиком. Второй он не закрывает вовсе: там речь о том, как сервер слушает сеть, и решается это выбором транспорта — тем самым решением, которое принималось на со-сборке.</a:t>
            </a:r>
          </a:p>
          <a:p/>
          <a:p>
            <a:r>
              <a:t>И ответ на вопрос, зачем провал показан после того, как решение собрано. Собранное решение проверяется только попыткой его сломать. Строка, вычеркнутая без такой попытки, вычёркивается по привычке — и в день, когда привычка не сработает, вычеркнута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 По четыре строки с каждой стороны, и строки зеркальны — одна и та же величина с двух концов.</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сервер оправдан ровно тогда, когда список стоит своей цены.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данных достаточно. Готовности поддерживать живой процесс нет: разовый вызов надёжнее процесса, который никто не обслуживает. Задача сводится к одному известному вызову CLI: список возможностей здесь лишний, и тридцатидвухкратная разница по токенам никуда не денется. А если подключение достраивает трио — это стоп-критерий сразу, без размышлений.</a:t>
            </a:r>
          </a:p>
          <a:p/>
          <a:p>
            <a:r>
              <a:t>Колонки названы прямо, словами «нужен» и «не нужен», и сделано это осознанно. Формулировки вроде «ещё рано» или «не нужно вообще» приглашают гадать, о какой стадии решения речь, и прячут ответ за оттенком. Вопрос здесь один: нужен сервер для этой задачи или нет.</a:t>
            </a:r>
          </a:p>
          <a:p/>
          <a:p>
            <a:r>
              <a:t>Правая колонка относится к задаче. Приговора самому механизму в ней нет: тот же сервер для одной работы избыточен, для соседней необходим, и решается это каждый раз заново, по четырём строкам левой колонки.</a:t>
            </a:r>
          </a:p>
          <a:p/>
          <a:p>
            <a:r>
              <a:t>Зеркальность строк здесь работает как проверка: каждая правая строка получена из левой отрицанием одной величины, и ничего кроме. Первая пара меряет частоту, вторая — готовность держать процесс, третья — число операций, четвёртая — состав трио. Если ваш случай не укладывается ни в одну сторону какой-то пары, значит величина названа неточно, и разбираться надо с ней, не с выводом.</a:t>
            </a:r>
          </a:p>
          <a:p/>
          <a:p>
            <a:r>
              <a:t>Как приложить критерий к своему проекту сегодня: взять одно действие, которое вы повторяете руками каждую неделю, и пройти по четырём строкам левой колонки. Если хоть одна не выполняется, подключение подождёт. Ответ при этом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Отдельный случай — трио достроено, а доступ всё равно нужен. Тогда трио разрывают.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 и выбирают ту, которая дешевле обходится работе.</a:t>
            </a:r>
          </a:p>
          <a:p/>
          <a:p>
            <a:r>
              <a:t>И дисциплина после подключения, без которой критерий выдыхается за месяц: периодически перечитывать конфигурацию и убирать неиспользуемые серверы. Каждый забытый сервер — одновременно налог на контекст, поверхность атаки и держатель ключей.</a:t>
            </a:r>
          </a:p>
          <a:p/>
          <a:p>
            <a:r>
              <a:t>Есть доступ наружу. Следующий вопрос — что происходит, когда сервер подключён, а агент через него не ходит.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блока MCP читается в обратном порядке: сначала известен исход, потом восстанавливается неделя, которая к нему привела. Голосование в середине кейса спрашивает уже о случившемся — какой проверки человеку не хватило. Порядок выбран ради середины: развязка проста и почти обидна, а разбора стоит неделя перед ней, в которую человек проверял дважды и каждый раз получал честный ответ.</a:t>
            </a:r>
          </a:p>
          <a:p/>
          <a:p>
            <a:r>
              <a:t>Исход такой. Пять рабочих дней разработчик верил зелёной отметке подключения. Каждое утро он просил агента разобрать входящие задачи и каждое утро получал ответ, который звучал как итог работы. К пятнице выяснилось: в трекер агент не заходил ни разу.</a:t>
            </a:r>
          </a:p>
          <a:p/>
          <a:p>
            <a:r>
              <a:t>Ошибки при этом не сделал никто. Сервер собран честно — тот самый, который в предыдущем случае собирали по шагам: операции перечислены, лишние права вычеркнуты, ключ лежит в переменной окружения, файл подключения отправлен в проектную область репозитория. Проверка тоже была настоящей: команда статуса показывала зелёную отметку и говорила правду. Отвечала эта правда на другой вопрос — поднялся ли процесс сервера.</a:t>
            </a:r>
          </a:p>
          <a:p/>
          <a:p>
            <a:r>
              <a:t>Разница между двумя вопросами и есть ось случая. Первый вопрос: работает ли сервер как программа — поднялся ли процесс, ответил ли он на рукопожатие, отдал ли список своих инструментов. Второй: обращался ли к этому серверу агент, пока выполнял вашу задачу. Зелёная отметка отвечает на первый и оставляет второй открытым. Ответ на второй приходит из единственного места — из вывода той же сессии, где вызов инструмента подписан именем сервера.</a:t>
            </a:r>
          </a:p>
          <a:p/>
          <a:p>
            <a:r>
              <a:t>Интуиция здесь сбивается систематически, и опыт от этого не защищает: индикатор подключения читается как «агент пользуется сервером», хотя по конструкции он отвечает за процесс. Число подключённых серверов механику не меняет — у кого подключён один сервер, тот получает ту же ловушку в полном виде.</a:t>
            </a:r>
          </a:p>
          <a:p/>
          <a:p>
            <a:r>
              <a:t>Предыдущий случай блока решал, подключать ли сервер вообще и с какими правами. Здесь сервер уже подключён и собран аккуратно; ломается следующее звено — разрыв между «процесс поднялся» и «агент обратился». Дальше показана та неделя изнутри, а за ней четыре проверки, из которых разрыв закрывает одна.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та же неделя изнутри, с понедельника.</a:t>
            </a:r>
          </a:p>
          <a:p/>
          <a:p>
            <a:r>
              <a:t>Сервер доступа к трекеру — тот самый, что собран в предыдущем случае, — стоит в проекте две недели и успел стать частью привычки. В понедельник разработчик просит агента разобрать входящие задачи за выходные и подготовить черновики ответов. Ответ приходит быстро и звучит как итог работы.</a:t>
            </a:r>
          </a:p>
          <a:p/>
          <a:p>
            <a:r>
              <a:t>Вторник, среда, четверг — то же самое каждое утро. Формулировки разные: «всё сделал», «новых задач не нашёл», «во входящих пусто». Все три звучат честно, и он пересылает их заказчику как отчёт о продвижении.</a:t>
            </a:r>
          </a:p>
          <a:p/>
          <a:p>
            <a:r>
              <a:t>Он не сидел сложа руки. В среду посмотрел статус подключения подробнее, чем на одно слово, — всё сошлось. В четверг спросил агента напрямую, почему тот считает, что задач нет, — получил связное объяснение, и оно тоже сошлось. Две проверки за неделю, обе осмысленные, обе дали зелёный свет.</a:t>
            </a:r>
          </a:p>
          <a:p/>
          <a:p>
            <a:r>
              <a:t>В пятницу заказчик спрашивает про задачу, которую завёл во вторник. В репозитории за неделю нет ни черновика, ни комментария, ни единого следа работы по входящим.</a:t>
            </a:r>
          </a:p>
          <a:p/>
          <a:p>
            <a:r>
              <a:t>Просьба, с которой начинался каждый день, звучала одинаково: разобрать входящие и подготовить черновики. В ней не названо ни одного сервера, ни одного инструмента, ни одного места, откуда брать задачи. Выполнить её можно двумя способами — обратиться к трекеру и прочитать список либо собрать ответ из общего представления о трекерах. Оба способа дают текст одинакового вида, и различить их по самому ответу нельзя.</a:t>
            </a:r>
          </a:p>
          <a:p/>
          <a:p>
            <a:r>
              <a:t>Что показывал статус всю неделю: </a:t>
            </a:r>
            <a:r>
              <a:rPr>
                <a:latin typeface="Consolas"/>
              </a:rPr>
              <a:t>claude mcp list</a:t>
            </a:r>
            <a:r>
              <a:t> отвечал </a:t>
            </a:r>
            <a:r>
              <a:rPr>
                <a:latin typeface="Consolas"/>
              </a:rPr>
              <a:t>✔ Connected</a:t>
            </a:r>
            <a:r>
              <a:t>. Это значит, что процесс сервера поднят и ответил на рукопожатие клиенту. Про обращения агента к серверу эта строка не говорит ничего — ни в понедельник, ни в пятницу.</a:t>
            </a:r>
          </a:p>
          <a:p/>
          <a:p>
            <a:r>
              <a:t>Откуда брались ответы. Агент собирал их из общих соображений о том, что обычно лежит в трекере задач: входящие по утрам чаще пустые, после выходных новых задач мало, типовой отчёт звучит именно так. Модель умеет построить правдоподобный ответ по смыслу задачи, не выполнив её. Три разные формулировки на одну и ту же просьбу — признак того, что за ними нет наблюдения: наблюдение даёт один ответ, пока не изменились данные.</a:t>
            </a:r>
          </a:p>
          <a:p/>
          <a:p>
            <a:r>
              <a:t>Цена недели складывается из двух частей. Пять дней отчётов о работе, которой не было, и эти отчёты уже ушли заказчику. Разговор в пятницу, в котором нечего показать: задача видна в трекере, работы по ней нет, объяснить расхождение нечем.</a:t>
            </a:r>
          </a:p>
          <a:p/>
          <a:p>
            <a:r>
              <a:t>Пересылка отчётов наружу умножила цену. Пока ответы оставались в сессии, ошибка стоила времени одного человека; попав в переписку с заказчиком, она стала обещанием, за которое кто-то в пятницу отвечает словами. Ошибки такого рода дорожают по мере того, как расходятся от места, где возникли, и неделя здесь — это пять шагов расхождения.</a:t>
            </a:r>
          </a:p>
          <a:p/>
          <a:p>
            <a:r>
              <a:t>Сбой этого класса не даёт сигнала, по которому стоило бы пойти проверить раньше. Ни ошибки, ни предупреждения, ни красного индикатора; ответы связные, статус зелёный, проверки сходятся. Первым сигналом оказался внешний человек.</a:t>
            </a:r>
          </a:p>
          <a:p/>
          <a:p>
            <a:r>
              <a:t>Обратный случай — красный статус при работающем сервере — тоже бывает: временная сетевая ошибка на старте даёт ложный отказ. Этот класс сбоя заметнее и дешевле: красный статус привлекает внимание в тот же час, когда появился. Тихий сбой обходится дороже именно тем, что ничего не требует от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проверки лежат на экране рядом. Три из них разработчик за неделю сделал и остался без ответа. Задача — выбрать ту, которой ему не хватило, и сказать, чем она отличается от остальных трёх.</a:t>
            </a:r>
          </a:p>
          <a:p/>
          <a:p>
            <a:r>
              <a:t>Карточки: ничего — статус зелёный; посмотреть, что именно показывает статус подробнее; спросить агента, почему он решил, что всё сделал; явно попросить агента обратиться к серверу по имени и показать вызов.</a:t>
            </a:r>
          </a:p>
          <a:p/>
          <a:p>
            <a:r>
              <a:t>Сама карточка называется быстро, и спора здесь обычно нет: четвёртая отличается от трёх предыдущих уже по форме — она требует действия от агента, остальные три читают состояние. Вторая половина вопроса даётся труднее: чем именно этот ход отличается.</a:t>
            </a:r>
          </a:p>
          <a:p/>
          <a:p>
            <a:r>
              <a:t>Три ответа на неё приходят чаще других, и ни один из трёх не доведён до конца.</a:t>
            </a:r>
          </a:p>
          <a:p/>
          <a:p>
            <a:r>
              <a:t>«Она надёжнее» — оценка без содержания. Надёжность проверки измеряется тем, что остаётся на экране после неё; пока это не названо, слово «надёжнее» описывает только степень доверия говорящего.</a:t>
            </a:r>
          </a:p>
          <a:p/>
          <a:p>
            <a:r>
              <a:t>«Она точнее» — то же самое другими словами. Точность предполагает шкалу, а в этой четвёрке шкалы нет: три проверки отвечают на один вопрос, четвёртая на другой.</a:t>
            </a:r>
          </a:p>
          <a:p/>
          <a:p>
            <a:r>
              <a:t>«Проблема в формулировке задачи, сервер ни при чём» — мысль верная и преждевременная. Формулировка действительно решает, случится ли обращение к серверу; это разбирается дальше в кейсе, на механике вопроса к агенту, и там видно, что формулировка и проверка оказываются одним ходом.</a:t>
            </a:r>
          </a:p>
          <a:p/>
          <a:p>
            <a:r>
              <a:t>Ответ, который закрывает вопрос, звучит иначе: после четвёртой проверки в выводе сессии появляется видимый след — строка вызова инструмента, подписанная именем сервера. Три предыдущие проверки следа не оставляют. Они возвращают состояние процесса либо пересказ понимания агента, и ни то, ни другое нельзя предъявить как факт работы.</a:t>
            </a:r>
          </a:p>
          <a:p/>
          <a:p>
            <a:r>
              <a:t>Двух ходов в наборе намеренно нет. «Удалить сервер и подключить заново» и «написать автору сервера» — настоящие ходы, но не первые: они стоят времени, часто чужого, и к ним случай возвращается на границе применимости, когда дешёвые шаги уже не сработали.</a:t>
            </a:r>
          </a:p>
          <a:p/>
          <a:p>
            <a:r>
              <a:t>Отдельно стоит первая карточка. Выбор «ничего — статус зелёный» выглядит как поддавки, пока не вспомнить, что ровно это человек в сцене делал пять дней подряд. Проверка «ничего» дала ему пять зелёных отметок и ноль фактов о работе агента, и это честный её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четырём проверкам, в том же порядке, в каком они стояли в вопросе.</a:t>
            </a:r>
          </a:p>
          <a:p/>
          <a:p>
            <a:r>
              <a:t>Первая — ничего, статус зелёный. Доказала она ровно одно: процесс сервера поднят и ответил на рукопожатие клиенту. Обращался ли к нему агент в этой задаче — отдельный факт, и в зелёной отметке его нет. Статус живёт в своём времени: он описывает состояние процесса на момент опроса, без привязки к тому, что происходило в разговоре.</a:t>
            </a:r>
          </a:p>
          <a:p/>
          <a:p>
            <a:r>
              <a:t>Вторая — посмотреть статус подробнее. Она сузила круг причин, и это настоящая польза: подробный вид различает «процесс не поднялся», «процесс поднялся, список инструментов получить не удалось» и «нужна авторизация». Три разные неполадки, три разных действия в ответ. Вызывал ли агент сервер сейчас, в этой задаче, подробный вид тоже не показывает: состояние процесса и история задачи остаются разными фактами.</a:t>
            </a:r>
          </a:p>
          <a:p/>
          <a:p>
            <a:r>
              <a:t>Третья — спросить агента напрямую. Иногда она вскрывает причину одним ходом: агент отвечает, что не нашёл способа проверить входящие и собрал ответ по смыслу задачи. Такой ответ стоит одной строки и экономит расследование. Предел у него структурный: агент пересказывает своё понимание происходившего, и наблюдения за транспортом в пересказе нет. Пересказ бывает добросовестным и ошибочным одновременно.</a:t>
            </a:r>
          </a:p>
          <a:p/>
          <a:p>
            <a:r>
              <a:t>Четвёртая — попросить агента обратиться к серверу по имени и показать вызов. Она даёт видимый факт: вызов инструмента в выводе подписан именем сервера. Этот след виден в той же сессии, без дополнительных команд. Цена у неё тоже есть: нужно заранее знать имя сервера и сформулировать задачу чуть точнее обычного.</a:t>
            </a:r>
          </a:p>
          <a:p/>
          <a:p>
            <a:r>
              <a:t>Поворот случая складывается из колонок. Ни одна из трёх сделанных проверок не соврала. Каждая сказала правду о своём — о процессе, о круге причин, о понимании агента. Ни одна не сказала ничего о том, ради чего её делали. Работу агента с сервером доказывает четвёртая проверка, и за неделю её не сделали ни разу. Пять дней человек проверял и проверял не то — вот и вся механика потерянной недели.</a:t>
            </a:r>
          </a:p>
          <a:p/>
          <a:p>
            <a:r>
              <a:t>Форма таблицы здесь работает как инструмент, и её стоит перенести на свои проверки. Левая колонка — что проверка доказала; правая — чего она не доказала. Пока правая колонка пуста, проверка выглядит исчерпывающей; этой полнотой она обязана пустой графе. Заполненная правая колонка показывает, какой вопрос остался открытым, и сразу видно, отвечает ли на него следующий ход.</a:t>
            </a:r>
          </a:p>
          <a:p/>
          <a:p>
            <a:r>
              <a:t>Подробный вид статуса при этом остаётся полезным и после разбора. Он различает три неполадки, каждая из которых лечится иначе: процесс не поднялся — проверить команду запуска и путь к исполняемому файлу; список инструментов не получен — проверить версию и совместимость; нужна авторизация — пройти вход заново. Проверка остаётся осмысленной, пока от неё ждут ответа на её собственный вопрос.</a:t>
            </a:r>
          </a:p>
          <a:p/>
          <a:p>
            <a:r>
              <a:t>Третья проверка остаётся в списке именно как дешёвый первый шаг. Цена ошибки здесь — в готовности на её ответе остановиться: «агент сказал, что задач нет» закрывает вопрос ровно до момента, когда появляется внешний наблюдатель с другим мнением.</a:t>
            </a:r>
          </a:p>
          <a:p/>
          <a:p>
            <a:r>
              <a:t>Последняя строка слайда прикладывает случай к вам, и приложить её стоит буквально. Подключён ли у вас прямо сейчас хотя бы один сервер — ответ обычно да. Появлялось ли имя этого сервера в выводе агента за последнюю неделю — ответ обычно «нет» либо «не помню». Расстояние между этими двумя ответами и есть содержание случая; у человека в сцене оно равнялось пяти рабочим дням.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сам приём. Начать стоит с того, что умеет штатная проверка, потому что умеет она больше, чем одно слово «подключено».</a:t>
            </a:r>
          </a:p>
          <a:p/>
          <a:p>
            <a:r>
              <a:t>Команда статуса существует в двух видах: </a:t>
            </a:r>
            <a:r>
              <a:rPr>
                <a:latin typeface="Consolas"/>
              </a:rPr>
              <a:t>claude mcp list</a:t>
            </a:r>
            <a:r>
              <a:t> из терминала и </a:t>
            </a:r>
            <a:r>
              <a:rPr>
                <a:latin typeface="Consolas"/>
              </a:rPr>
              <a:t>/mcp</a:t>
            </a:r>
            <a:r>
              <a:t> внутри открытой сессии. Оба вида различают несколько состояний, и состояния эти задокументированы — их перечисляет сам продукт. Кроме «подключён» продукт отдельно показывает «подключён, но список инструментов получить не удалось», «нужна авторизация», «не удалось подключиться» и «ждёт одобрения проекта». Каждое из них указывает на свою неполадку и на своё действие в ответ: разобраться с совместимостью версий, пройти вход, проверить команду запуска, подтвердить доверие к файлу подключения в этом проекте.</a:t>
            </a:r>
          </a:p>
          <a:p/>
          <a:p>
            <a:r>
              <a:t>Общее у всех пяти состояний одно: ни одно не отвечает на вопрос, обращался ли агент к серверу в вашей задаче. Статус описывает процесс — поднялся ли он, отвечает ли, отдал ли список своих инструментов. Это факт о программе. Обращение агента — факт о разговоре. Их путают постоянно, в том числе люди с большим опытом, потому что в интерфейсе они стоят рядом и выглядят как две стороны одного состояния.</a:t>
            </a:r>
          </a:p>
          <a:p/>
          <a:p>
            <a:r>
              <a:t>Доказательство второго факта добывается одним ходом. В запросе явно называется сервер: «используя сервер такой-то, узнай…». Признак, что ответ пришёл именно оттуда, — вызов инструмента в выводе, подписанный именем сервера. Это тот же механизм, который разбирался на одностраничнике MCP в начале блока: ответ сервера идёт отдельным каналом и приходит подписанным, поэтому его видно в выводе сессии без дополнительных команд и без чтения логов.</a:t>
            </a:r>
          </a:p>
          <a:p/>
          <a:p>
            <a:r>
              <a:t>Ход дешёвый. Он стоит нескольких слов в запросе и одного взгляда в вывод, и его результат нельзя подделать правдоподобием: либо подписанная строка есть, либо её нет.</a:t>
            </a:r>
          </a:p>
          <a:p/>
          <a:p>
            <a:r>
              <a:t>Читать вывод стоит именно так: ищется строка вызова инструмента с именем сервера в ней. Имя видно в том же статусе, поэтому искать его заранее не нужно — достаточно сверить то, что названо в запросе, с тем, что появилось в выводе. Уверенный содержательный ответ при отсутствии такой строки — это и есть подпись потерянной недели: агент построил ответ, не обращаясь к серверу, и внешне такой ответ выглядит лучше настоящего, потому что приходит быстрее.</a:t>
            </a:r>
          </a:p>
          <a:p/>
          <a:p>
            <a:r>
              <a:t>Отдельно — про долгий ответ, который часто принимают за сбой. Запуск сервера и выполнение уже начатого вызова идут по разным часам, и часы эти различаются на порядки. Старт ждёт тридцать секунд по умолчанию — обычная причина ложной тревоги, когда пакет сервера ещё скачивается и установка не успела завершиться. Выполнение уже вызванного инструмента ждёт около суток: предел здесь выставлен с огромным запасом, чтобы долгая выгрузка данных не обрывалась на середине. Вывод практический: молчание в первые полминуты после подключения и молчание на тридцатой минуте работающего вызова означают разные вещи.</a:t>
            </a:r>
          </a:p>
          <a:p/>
          <a:p>
            <a:r>
              <a:t>Переподключение после сбоя тоже устроено по-разному, и это стоит знать заранее. Удалённый сервер переподключается сам. Локальный процесс сам не поднимается: нужна либо новая сессия, либо команда переподключения из </a:t>
            </a:r>
            <a:r>
              <a:rPr>
                <a:latin typeface="Consolas"/>
              </a:rPr>
              <a:t>/mcp</a:t>
            </a:r>
            <a:r>
              <a:t>. Знание этой асимметрии экономит самую частую лишнюю работу — перезапуск всего окружения там, где хватило бы одной команды.</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задачи — часть проверки, и это прямое следствие предыдущего экрана.</a:t>
            </a:r>
          </a:p>
          <a:p/>
          <a:p>
            <a:r>
              <a:t>Вернитесь к понедельнику той недели. «Посмотри, что скопилось во входящих, и подготовь черновики» — просьба, после которой проверять нечего. Она оставляет агенту выбор, о котором человек не знает: агент может обратиться к серверу трекера и прочитать список, а может собрать ответ по смыслу задачи, ни разу к серверу не обратившись. Оба пути дают текст одного вида. Ни «нашёл», ни «не нашёл» в таком тексте не являются фактами о трекере — это фактические утверждения неизвестного происхождения.</a:t>
            </a:r>
          </a:p>
          <a:p/>
          <a:p>
            <a:r>
              <a:t>Явное имя сервера в тексте запроса меняет ситуацию целиком: «используя сервер трекера, выведи список открытых задач, затем подготовь черновик по каждой». Это тот же доказательный вызов с прошлого экрана, приложенный к формулировке задачи. После такой просьбы есть что проверить: вызов инструмента в выводе либо подписан именем сервера, либо не подписан. Третьего состояния нет, и правдоподобие ответа на эту проверку не влияет.</a:t>
            </a:r>
          </a:p>
          <a:p/>
          <a:p>
            <a:r>
              <a:t>Имя сервера берётся из статуса подключения — там оно стоит в том виде, в котором его понимает клиент. Угадывать его по названию сервиса не нужно и вредно: сервер доступа к трекеру может называться по имени пакета, по имени сервиса или по короткому имени, которое придумал тот, кто его подключал. Один взгляд в список снимает вопрос на всё время работы с этим проектом.</a:t>
            </a:r>
          </a:p>
          <a:p/>
          <a:p>
            <a:r>
              <a:t>Если после явно названного сервера подписанной строки в выводе нет, ответ агента на этом месте перестаёт быть результатом и становится предметом разбирательства. Дальше смотрят статус подробнее: подключение могло отвалиться, авторизация могла истечь, список инструментов мог не прийти. Порядок действий получается коротким и не требует догадок: назвать сервер, посмотреть на подпись, при её отсутствии посмотреть на состояние процесса.</a:t>
            </a:r>
          </a:p>
          <a:p/>
          <a:p>
            <a:r>
              <a:t>Привычка называть сервер по имени стоит дешевле, чем кажется, и полезна шире, чем диагностика. Она ничего не запрещает агенту: явное имя называет канал для конкретного шага и оставляет свободу во всём остальном — как разбирать задачи, в каком порядке, что писать в черновиках. Она не мешает агенту выбирать инструменты внутри самого сервера. И она не требует точного знания состава инструментов: достаточно имени сервера, которое видно в том же статусе.</a:t>
            </a:r>
          </a:p>
          <a:p/>
          <a:p>
            <a:r>
              <a:t>Поэтому разумный режим работы — называть сервер всегда, когда задача по смыслу должна пройти через него. Подозрение на тишину делает такую формулировку обязательной; в обычной работе она просто оставляет след, по которому потом можно восстановить, что происходило. Расследование постфактум — «а точно ли агент вчера смотрел трекер» — стоит на порядок дороже, чем несколько слов, сказанных заранее.</a:t>
            </a:r>
          </a:p>
          <a:p/>
          <a:p>
            <a:r>
              <a:t>Обратный ход тоже существует и тоже полезен. Если задача по смыслу не должна касаться сервера, об этом стоит сказать прямо, и тогда появление подписанной строки в выводе становится сигналом. Проверяемость работает в обе стороны: именованный вызов даёт ожидаемый след, а явный запрет даёт ожидаемое его отсутствие.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этого случая процедурное, и сказать это стоит прямо, не выдавая процедуру за файл конфигурации, которого здесь нет.</a:t>
            </a:r>
          </a:p>
          <a:p/>
          <a:p>
            <a:r>
              <a:t>В файл инструкций проекта — тот же </a:t>
            </a:r>
            <a:r>
              <a:rPr>
                <a:latin typeface="Consolas"/>
              </a:rPr>
              <a:t>CLAUDE.md</a:t>
            </a:r>
            <a:r>
              <a:t>, где уже живёт правило про ветки, — добавляется короткая строка: после подключения любого сервера и после любого подозрения в тишине выполнять явный именованный вызов, прежде чем доверять зелёному статусу. Это строка в файле, который уже есть; нового артефакта в репозитории не появляется. Проверяется она так же, как остальные правила этого проекта: её читают, она не исполняется сама. Это ровно та строка, которой не хватало в начале потерянной недели.</a:t>
            </a:r>
          </a:p>
          <a:p/>
          <a:p>
            <a:r>
              <a:t>Почему правило кладётся в файл инструкций и почему его не оформили хуком — вопрос законный, и ответ опирается на материал предыдущего занятия. Там в одном и том же файле стояли рядом два разных вида правил. «Repository etiquette» — текст, который читает человек или агент и решает, следовать ли ему. «Хук защиты ветки» — настоящий код, который срабатывает сам на git-команду, без участия решения в моменте.</a:t>
            </a:r>
          </a:p>
          <a:p/>
          <a:p>
            <a:r>
              <a:t>Разница между ними проходит по тому, на что они умеют реагировать. Хук запускается по событию, которое можно описать заранее: выполнена такая-то команда, изменён такой-то файл, процесс вернул такой-то код выхода. «После подозрения в тишине» таким событием не является. Тишина — это отсутствие события: ничего не упало, ничего не изменилось, никакая команда не выполнена. Заметить её и решить, что пора проверять, может только человек. Правило, срабатывание которого зависит от человеческого решения, живёт в тексте, который человек читает.</a:t>
            </a:r>
          </a:p>
          <a:p/>
          <a:p>
            <a:r>
              <a:t>Половину этого правила, впрочем, автоматизировать можно, и стоит это различить. «После подключения любого сервера» — настоящее событие: файл подключения изменён, и хук на изменение файла поставить реально. «После подозрения в тишине» — нет. Правило записано одной строкой потому, что срабатывать оно должно в обоих случаях, а механизм есть только для одного.</a:t>
            </a:r>
          </a:p>
          <a:p/>
          <a:p>
            <a:r>
              <a:t>Решение получается слабее автоматического барьера предыдущего занятия, и это честная его оценка. Барьер останавливает действие независимо от того, помнит ли о нём кто-нибудь; записанное правило работает, пока его читают и пока договорённость держится. Признавать разницу полезнее, чем изобретать механизм там, где его нет: часть задач закрывается кодом, часть — дисциплиной, записанной текстом, и подмена одного другим даёт ложное чувство защиты.</a:t>
            </a:r>
          </a:p>
          <a:p/>
          <a:p>
            <a:r>
              <a:t>Строка идёт именно в этот файл по простой причине: проект уже выбрал его местом для процедурных правил, и второй формат для той же цели заводить незачем. Сам </a:t>
            </a:r>
            <a:r>
              <a:rPr>
                <a:latin typeface="Consolas"/>
              </a:rPr>
              <a:t>CLAUDE.md</a:t>
            </a:r>
            <a:r>
              <a:t> — файл инструкций проекта, который агент читает в начале каждой сессии; написанное в нём не исполняется автоматически, но агент это видит и обычно следует этому.</a:t>
            </a:r>
          </a:p>
          <a:p/>
          <a:p>
            <a:r>
              <a:t>Пользу от такой строки получают сразу двое. Человек, читающий файл при входе в проект, узнаёт принятый здесь порядок проверки, и ему не приходится выводить его из чужой переписки. Агент, читающий тот же файл в начале сессии, получает повод назвать сервер по имени сам, без отдельной просьбы, — и тогда подписанная строка появляется в выводе без участия человека. Ни то, ни другое не гарантировано записанным правилом, и в этом его отличие от механизма; но стоит правило одну строку, а работает на обе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документированных случая, прежде чем идти дальше. Оба рассказаны по тому, к чему они привели, и по тому, как их заметили.</a:t>
            </a:r>
          </a:p>
          <a:p/>
          <a:p>
            <a:r>
              <a:t>Первый. Команда работала с сервером доступа к базам данных одного известного производителя в режиме, который считали ограниченным только чтением. Режим выбирали осознанно и ровно затем, зачем его обычно выбирают: чтобы агент не мог ничего испортить в чужой базе. На деле флаг этого режима не делал соединение ограниченным. Запросы с побочными эффектами проходили. Разработчики самого сервера были уверены, что ограничение работает, — узнали иначе только тогда, когда кто-то выполнил такой запрос и увидел, что он прошёл.</a:t>
            </a:r>
          </a:p>
          <a:p/>
          <a:p>
            <a:r>
              <a:t>Техническая причина проста до обидного: флаг </a:t>
            </a:r>
            <a:r>
              <a:rPr>
                <a:latin typeface="Consolas"/>
              </a:rPr>
              <a:t>readonly</a:t>
            </a:r>
            <a:r>
              <a:t> у инструмента выполнения запросов ссылался на поле конфигурации, которое никогда не заполнялось. Случай зарегистрирован как уязвимость с номером CVE-2026-61788 (сервер DBHub, оценка серьёзности 7,4 из 10). Чтение настройки показывало ровно то, что в ней написано: режим включён. Поведение соединения этому не соответствовало.</a:t>
            </a:r>
          </a:p>
          <a:p/>
          <a:p>
            <a:r>
              <a:t>Второй случай — из репозитория самого курса. Один из подключённых серверов однажды тихо потерял доступ: инструменты, которые работали вчера, перестали работать без предупреждения. Статус подключения продолжал показывать «подключён». Ничего не выглядело сломанным, пока кто-то не попробовал вызвать инструмент и не наткнулся на отказ входа. Заметили это по тому, что обычные вызовы начали требовать повторной авторизации. Статус о происходящем молчал.</a:t>
            </a:r>
          </a:p>
          <a:p/>
          <a:p>
            <a:r>
              <a:t>Причина лежала в настройке публикации приложения на стороне сервиса. Инцидент зафиксирован в журнале ограничений этого проекта под номером </a:t>
            </a:r>
            <a:r>
              <a:rPr>
                <a:latin typeface="Consolas"/>
              </a:rPr>
              <a:t>[#49]</a:t>
            </a:r>
            <a:r>
              <a:t>: приложение авторизации сервера </a:t>
            </a:r>
            <a:r>
              <a:rPr>
                <a:latin typeface="Consolas"/>
              </a:rPr>
              <a:t>workspace-mcp</a:t>
            </a:r>
            <a:r>
              <a:t> стояло в статусе </a:t>
            </a:r>
            <a:r>
              <a:rPr>
                <a:latin typeface="Consolas"/>
              </a:rPr>
              <a:t>Testing</a:t>
            </a:r>
            <a:r>
              <a:t>, а в этом статусе токен обновления автоматически отзывается через 7 дней без активности. То же приложение в статусе </a:t>
            </a:r>
            <a:r>
              <a:rPr>
                <a:latin typeface="Consolas"/>
              </a:rPr>
              <a:t>In production</a:t>
            </a:r>
            <a:r>
              <a:t> токен не отзывает вовсе. Разница между «раз в неделю всё отваливается» и «не отваливается никогда» здесь целиком следствие одной невыбранной настройки, и в статусе подключения она не отражается ничем.</a:t>
            </a:r>
          </a:p>
          <a:p/>
          <a:p>
            <a:r>
              <a:t>Общее у двух слоёв — способ обнаружения. Оба раскрылись реальным действием с наблюдаемым результатом: кто-то выполнил запрос, кто-то вызвал инструмент. Чтение настройки в обоих случаях показывало ожидаемое и ничего не сообщало о поведении. Это и есть содержание случая целиком: статус подключения и текст настройки говорят, каким соединение должно быть; что оно делает, показывает только действие.</a:t>
            </a:r>
          </a:p>
          <a:p/>
          <a:p>
            <a:r>
              <a:t>Под обоими слоями лежит одна граница доверия. Флаг режима и строка статуса исполняются на стороне сервера и сервиса — там, где ваши решения не действуют. Вы читаете их обещание, исполнение остаётся за чужим кодом и чужими настройками. Поэтому любое утверждение, которое обходится дорого, если окажется ложным, проверяется действием на вашей стороне: выполнить запрос и посмотреть результат, вызвать инструмент и увидеть подпись в выводе.</a:t>
            </a:r>
          </a:p>
          <a:p/>
          <a:p>
            <a:r>
              <a:t>Честный пробел стоит назвать здесь же. Системных измерений того, как часто встречается этот класс сбоя, нет. Оба примера документированы — один как официальная уязвимость с номером и оценкой, другой как зафиксированный инцидент проекта с описанной причиной, — но из двух документированных случаев частота не выводится. Вывод из них структурный, не статистический: ни один из двух сбоев нельзя было заметить чтением конфигурации, и это свойство самого способа проверки, которое от частоты не зависит.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Обобщение случая держится на двух конкретных действиях: посмотреть на статус и вызвать сервер самому. Границы между ними три, и они разные.</a:t>
            </a:r>
          </a:p>
          <a:p/>
          <a:p>
            <a:r>
              <a:t>Посмотреть на статус достаточно при двух условиях одновременно. Сервер используется нерегулярно — от случая к случаю, без встроенности в ежедневную работу. И каждый вызов проходит под наблюдением человека, который видит результат сразу и заметил бы подмену правдоподобным ответом. Тихая неделя из этого случая стала возможной потому, что второе условие нарушилось незаметно: человек смотрел на ответы агента и до результата работы в трекере не доходил.</a:t>
            </a:r>
          </a:p>
          <a:p/>
          <a:p>
            <a:r>
              <a:t>Второе условие стоит разобрать подробнее, потому что нарушается оно тихо. Наблюдение означает, что человек видит результат работы. Отчёт о работе наблюдением не является. Если задача была «создать три задачи в трекере», наблюдением будет открытый трекер с тремя новыми задачами. Если задача была «разобрать входящие», наблюдением будет список входящих, который человек видел своими глазами. Пересказ агента в обоих случаях наблюдением не является, каким бы связным он ни выглядел, и ровно в этом месте условие перестало выполняться у человека из сцены.</a:t>
            </a:r>
          </a:p>
          <a:p/>
          <a:p>
            <a:r>
              <a:t>Вызвать сервер самому нужно всегда, когда вы собираетесь довериться флагу, который сервер не может независимо подтвердить. Режим только чтения — пример ровно такой. Обещание флага держится на честности сервера и на отсутствии ошибки в его коде; проверяется оно одним способом — попыткой выполнить действие и наблюдением результата.</a:t>
            </a:r>
          </a:p>
          <a:p/>
          <a:p>
            <a:r>
              <a:t>Из этого следует ход, который лучше флага. Если задаче хватило бы режима только чтения, а сервер не даёт способа убедиться, что режим включён, разумнее завести отдельную роль базы данных — отдельную учётную запись с урезанными правами на уровне самой базы. Права, выданные базой, держатся силой базы: их не отменяет ни ошибка в сервере, ни невыбранная настройка, ни чужая правка файла подключения. Это та же логика, по которой в первом случае блока права вычёркивались при выдаче: ограничение, выданное на стороне, которой вы управляете, надёжнее обещания, выданного стороной, которой вы не управляете.</a:t>
            </a:r>
          </a:p>
          <a:p/>
          <a:p>
            <a:r>
              <a:t>Третья граница проходит там, где перестаёт работать сам приём этого случая. Если явный именованный вызов систематически не проходит и автор сервера молчит на обращения, дешёвые шаги исчерпаны. Вопрос смещается туда же, где решался первый случай блока: подключать ли этот сервер вообще, и чем заменить то, что он должен был делать. Удаление и повторное подключение, обращение к автору, замена сервера на прямой вызов по сетевому протоколу — всё это стоит времени и потому встаёт в очередь после именованного вызова.</a:t>
            </a:r>
          </a:p>
          <a:p/>
          <a:p>
            <a:r>
              <a:t>Выводу первого случая это не противоречит и продолжает его. Там решалось, какие права выдать. Здесь — как убедиться, что выданное делает заявленное, и где эта проверка упирается в собственный предел. Периодичность перепроверки прямыми измерениями не описана ни в одном источнике, и структурный критерий остаётся тем же, что в первом случае: регулярность использования. Сервер, к которому обращаются каждый день, проверяется именованным вызовом при каждом подозрении; сервер, к которому обращаются раз в месяц, проверяется в тот раз, когда к нему обращаются.</a:t>
            </a:r>
          </a:p>
          <a:p/>
          <a:p>
            <a:r>
              <a:t>Проверять, что подключённое работает, теперь умеем. Следующий вопрос — чего стоит само присутствие сервера в проекте, пока к нему никто не обращается.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блока начинается в момент, когда ещё ничего не произошло. Сессия открыта, ни одного вопроса агенту не задано — и часть контекста уже занята.</a:t>
            </a:r>
          </a:p>
          <a:p/>
          <a:p>
            <a:r>
              <a:t>Занята она не разговором: разговора пока нет. И не файлами проекта, хотя они тоже там лежат. Четыре подключённых сервера описали себя при старте — так устроено подключение, которое собирали в первом случае блока. Клиент при запуске спрашивает каждый сервер, что тот умеет, и полученное кладёт в контекст, до первого вопроса человека и независимо от него.</a:t>
            </a:r>
          </a:p>
          <a:p/>
          <a:p>
            <a:r>
              <a:t>За всю задачу этот человек обратится к одному серверу из четырёх. Плата внесена за все четыре.</a:t>
            </a:r>
          </a:p>
          <a:p/>
          <a:p>
            <a:r>
              <a:t>Поворот случая стоит назвать сразу, потому что он прямо спорит с распространённой интуицией. Интуиция говорит: «я плачу за то, чем пользуюсь; сервер, к которому агент не обращался, ничего мне не стоит». Проверка говорит обратное: плату вносит подключённость. Сервер, к которому за сессию не обратились ни разу, стоит столько же, сколько рабочий. И платится это заново в каждой сессии — каждое утро, при каждом открытии.</a:t>
            </a:r>
          </a:p>
          <a:p/>
          <a:p>
            <a:r>
              <a:t>Отличие от двух предыдущих случаев блока проходит по тому, что решается. Первый случай решал, что подключать и с какими правами. Второй — как убедиться, что подключённое действительно работает. Третий про счёт: во что обходится само присутствие сервера в проекте, пока к нему никто не обращается, и чем эту плату уменьшают, не отключая нужное.</a:t>
            </a:r>
          </a:p>
          <a:p/>
          <a:p>
            <a:r>
              <a:t>От слайда о постоянной плате из первого случая этот случай отличается масштабом и составом. Там плата названа и измерена на одном сервере — как цена решения подключить. Здесь серверов несколько, половину в проект добавил другой человек, и вопрос стоит иначе: что с этим делать, когда отключить нельзя и когда выбор был не ваш.</a:t>
            </a:r>
          </a:p>
          <a:p/>
          <a:p>
            <a:r>
              <a:t>Возражение «так контекст же большой» появляется здесь почти всегда и разбирается дальше в кейсе предметно: сколько именно занимают описания в измеренном случае и в какой момент большого контекста перестаёт хватать.</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подключения — его собственный, из первого случая блока. Он его собирал: перечислял операции, вычёркивал лишние права, прятал ключ в переменную окружения, выбирал проектную область, чтобы подключение приехало вместе с репозиторием ко всей команде.</a:t>
            </a:r>
          </a:p>
          <a:p/>
          <a:p>
            <a:r>
              <a:t>Ещё три сервера дописал в тот же файл коллега под свою работу: сервер управления браузером, сервер доступа к базе данных, сервер документации. Область проектная — значит эти три подключились и у него, в тот же момент, когда он в очередной раз открыл сессию в своём репозитории. Свойство, за которое платили осознанно, вернулось другой стороной: подключение едет вместе с репозиторием в обе стороны.</a:t>
            </a:r>
          </a:p>
          <a:p/>
          <a:p>
            <a:r>
              <a:t>Что он заметил. На длинной правке агент сжал разговор заметно раньше, чем на такой же задаче неделей раньше, и после сжатия переспросил то, о чём они договорились в начале. Сжатие — штатная вещь: когда контекст заполняется, разговор уплотняется, и часть подробностей заменяется их пересказом. Заметен здесь был сдвиг момента: уплотнение пришло раньше привычного.</a:t>
            </a:r>
          </a:p>
          <a:p/>
          <a:p>
            <a:r>
              <a:t>Из чего набрано. Он посмотрел, что лежит в контексте до его первого вопроса: системная часть от клиента, файлы инструкций проекта, описания инструментов четырёх серверов. В чужих строках файла подключения нашлось поле </a:t>
            </a:r>
            <a:r>
              <a:rPr>
                <a:latin typeface="Consolas"/>
              </a:rPr>
              <a:t>alwaysLoad: true</a:t>
            </a:r>
            <a:r>
              <a:t> у двух серверов. Оно отменяет отложенную загрузку описаний: все инструменты этих серверов описываются при старте целиком. Коллега поставил флаг по понятной причине — чтобы инструменты не терялись и были доступны сразу.</a:t>
            </a:r>
          </a:p>
          <a:p/>
          <a:p>
            <a:r>
              <a:t>Цена. Час на то, чтобы заново проговорить решения, потерянные при сжатии: что уже согласовано, что отменено, какой из двух вариантов выбран. Одна правка успела уехать в ветку по решению, которое он к тому моменту уже отменил, — её пришлось откатывать отдельно.</a:t>
            </a:r>
          </a:p>
          <a:p/>
          <a:p>
            <a:r>
              <a:t>Счёт. За всю задачу он обратился к одному серверу из четырёх. Плата внесена за четыре.</a:t>
            </a:r>
          </a:p>
          <a:p/>
          <a:p>
            <a:r>
              <a:t>Сцена учебная, как и все сцены занятия: проект настоящий, ситуация собрана из типовых. Доли контекста в ней намеренно не названы — измеренные числа идут дальше в кейсе и всегда с источником, потому что учебная оценка, выданная за замер, обошлась бы дороже отсутствия числа. Поле </a:t>
            </a:r>
            <a:r>
              <a:rPr>
                <a:latin typeface="Consolas"/>
              </a:rPr>
              <a:t>alwaysLoad: true</a:t>
            </a:r>
            <a:r>
              <a:t> при этом не придумано для сцены: оно есть в документации, и документация прямо называет его цену — каждый описанный вперёд инструмент занимает место, которое иначе досталось бы разговору.</a:t>
            </a:r>
          </a:p>
          <a:p/>
          <a:p>
            <a:r>
              <a:t>Утверждать, что сжатие пришло именно из-за серверов, по одному наблюдению нельзя, и сцена этого не утверждает. Сжатие приходит, когда контекст заполнен; описания инструментов — одна из статей заполнения, занятая до начала работы. Доля каждой статьи у каждого своя и проверяется тем же способом, которым он и посмотрел.</a:t>
            </a:r>
          </a:p>
          <a:p/>
          <a:p>
            <a:r>
              <a:t>Право коллеги дописывать в этот файл вопросов не вызывает: файл один, лежит в репозитории под общим управлением версиями, и правка в нём — обычный коммит. Проектная область на то и проектная. Выбирая её в первом случае, покупали ровно это свойство: подключение приезжает вместе с репозиторием, и собирать его заново никому не нужно. Побочный его эффект виден здесь — платит контекстом каждый, кто открывает сессию, включая тех, кому эти серверы не нужны ни в одной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Обстановка предъявлена целиком на двух предыдущих экранах: четыре сервера подключены проектным файлом, два из них грузят описания принудительно, за задачу понадобился один. Вопрос не вводит ни одного нового обстоятельства и спрашивает про два шага — что ставится первым и что добавляется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Двухшаговая форма вопроса выбрана потому, что ответ здесь — последовательность. Карточки выглядят как взаимоисключающие варианты, и при одиночном выборе разговор вырождается в спор о том, какая лучше.</a:t>
            </a:r>
          </a:p>
          <a:p/>
          <a:p>
            <a:r>
              <a:t>Ответы распределяются предсказуемо, и каждое распределение означает своё.</a:t>
            </a:r>
          </a:p>
          <a:p/>
          <a:p>
            <a:r>
              <a:t>Чаще других называют «отключить лишние» и «получать описания по требованию» — примерно поровну. Это рабочее деление: обе меры действуют, и стоят они разного. Одна требует заранее знать, что понадобится в этой сессии; вторая не требует ничего и часто уже включена по умолчанию. Разбор показывает, что это два шага одной последовательности с разной ценой, и ставит их в порядок.</a:t>
            </a:r>
          </a:p>
          <a:p/>
          <a:p>
            <a:r>
              <a:t>«Чаще сжимать разговор» звучит почти всегда и ошибается в механике. Сжатие работает с историей разговора; описания инструментов приходят в каждый новый контекст заново, отдельно от истории, и сжатием не уходят.</a:t>
            </a:r>
          </a:p>
          <a:p/>
          <a:p>
            <a:r>
              <a:t>«Пусть коллега уберёт свои серверы» — ход законный и хрупкий. Серверы коллеге нужны ровно так же, как первому человеку нужен трекер, а проектный файл один на всех. Этот ход приводит ровно к четвёртой карточке: набор серверов разводится по областям, и спор о чужих строках становится ненужным.</a:t>
            </a:r>
          </a:p>
          <a:p/>
          <a:p>
            <a:r>
              <a:t>«Ничего — контекст большой» выбирают редко, и назвать это стоит вслух: именно «ничего» происходит по умолчанию у каждого, кто ни разу не смотрел, из чего набран контекст его сессии до первого вопроса. Невыбранный вариант оказывается самым распространённым на практике.</a:t>
            </a:r>
          </a:p>
          <a:p/>
          <a:p>
            <a:r>
              <a:t>Счёт со сцены полезно держать в голове всё время разбора: обращение за задачу было к одному серверу, плата внесена за четыре.</a:t>
            </a:r>
          </a:p>
          <a:p/>
          <a:p>
            <a:r>
              <a:t>Проверить своё распределение несложно: откройте список подключённых серверов в своём рабочем проекте и отметьте, к скольким из них вы обращались за последнюю рабочую неделю. Разница между двумя числами и есть та часть счёта, которую этот случай предлагает убрать.</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разбор стоит с мысли, вынесенной в поворот кейса тремя экранами раньше: платит сама подключённость. Она относится ко всем пяти вариантам сразу, и поэтому вопрос «кто чем пользовался» счёт не уменьшает — он уменьшает только ощущение вины за чужие строки.</a:t>
            </a:r>
          </a:p>
          <a:p/>
          <a:p>
            <a:r>
              <a:t>«Ничего — контекст большой» на короткой задаче незаметно, и это правда: пока разговор короткий, запаса хватает. Плата при этом уже внесена и держится весь сеанс. На длинной задаче она превращается в сдвиг момента сжатия: разговор уплотняется раньше, и часть принятых решений уходит в пересказ. Расплачивается за это середина работы, когда возвращаться к началу дороже всего.</a:t>
            </a:r>
          </a:p>
          <a:p/>
          <a:p>
            <a:r>
              <a:t>«Отключить серверы, которыми не пользуетесь» снимает плату целиком, и это сильный ход: у неподключённого сервера в контексте нет ни имён инструментов, ни инструкции о себе. Цена в том, что нужно заранее знать, что понадобится. Отключённый нужный сервер возвращает ту самую работу руками, с которой начинался первый случай блока: открыть трекер в браузере, скопировать, перенести, пересказать агенту.</a:t>
            </a:r>
          </a:p>
          <a:p/>
          <a:p>
            <a:r>
              <a:t>«Получать описания по требованию» оставляет при старте имена инструментов и короткую инструкцию сервера о себе; полную схему инструмента модель подтягивает, когда решила, что он понадобился. Это поведение по умолчанию на актуальных моделях — значит действие здесь проверочное: смотрят, не отменил ли отсрочку флаг у отдельного сервера или переменная окружения. Проверка стоит минуты и ничего не ломает.</a:t>
            </a:r>
          </a:p>
          <a:p/>
          <a:p>
            <a:r>
              <a:t>«Держать набор серверов под задачу» работает через области подключения: личная область даёт набор под вашу работу, общий проектный файл при этом остаётся командным. Цена — вторая запись о том, что подключено: расхождение личного и проектного набора придётся держать в голове и помнить при разборе чужой неполадки.</a:t>
            </a:r>
          </a:p>
          <a:p/>
          <a:p>
            <a:r>
              <a:t>«Чаще сжимать разговор» освобождает место, занятое историей, и к описаниям инструментов не относится вовсе: они приходят заново в каждый контекст, отдельно от истории. Мера полезная, но на эту статью расхода она не действует.</a:t>
            </a:r>
          </a:p>
          <a:p/>
          <a:p>
            <a:r>
              <a:t>Отсюда порядок, и он важнее выбора одной карточки. Сначала проверить режим загрузки описаний: это ничего не стоит, не требует согласования с командой и не требует знать, что понадобится в следующей задаче, — и закрывает половину счёта сразу. Потом разобрать набор серверов по областям: это настоящая работа, её делают один раз, и она требует и согласования, и представления о своих задачах.</a:t>
            </a:r>
          </a:p>
          <a:p/>
          <a:p>
            <a:r>
              <a:t>Вычистить чужие серверы из проектного файла можно, и иногда это правильное решение — но решение командное. Коллеге они нужны так же, как первому человеку трекер. Личная область закрывает тот же вопрос, никому ничего не ломая, и потому стоит раньше в порядке действий.</a:t>
            </a:r>
          </a:p>
          <a:p/>
          <a:p>
            <a:r>
              <a:t>Отключить вообще всё и подключать по необходимости —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окружение заново и чтобы состав подключённого был одинаковым у всех, кто разбирает одну неполадку.</a:t>
            </a:r>
          </a:p>
          <a:p/>
          <a:p>
            <a:r>
              <a:t>Стоит заметить, что две работающие меры действуют на разные части счёта и потому складываются. Проверка режима уменьшает то, сколько занимает описание каждого подключённого сервера. Разбор набора уменьшает число подключённых серверов. Сделанные вместе, они дают результат, которого ни одна из них по отдельности не даёт: короткое описание у небольшого числа нужных серверов.</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Причина сжатия находится до начала разговора. Вот что лежит в контексте к моменту, когда вы ещё ничего не спросили, и откуда каждая статья приходит.</a:t>
            </a:r>
          </a:p>
          <a:p/>
          <a:p>
            <a:r>
              <a:t>Системная часть — от клиента. Его собственные инструкции и описания его собственных инструментов: чтение файлов, правка, поиск, запуск команд. Эта статья есть всегда и от подключённых серверов не зависит.</a:t>
            </a:r>
          </a:p>
          <a:p/>
          <a:p>
            <a:r>
              <a:t>Файлы инструкций проекта — из репозитория. Их состав собран за три предыдущих занятия, и разбирать его повторно незачем; здесь они нужны как соседняя статья расхода, которая занимает место в том же контексте.</a:t>
            </a:r>
          </a:p>
          <a:p/>
          <a:p>
            <a:r>
              <a:t>От каждого подключённого сервера приходят две вещи. Первая — имена всех его инструментов. Вторая — инструкция сервера о себе: короткий текст, который сервер присылает целиком, один на весь сервер. Обе статьи приходят по факту подключения, без всякой связи с тем, обращался к серверу кто-нибудь или нет. Длина обеих ограничена: клиент обрезает и описание каждого инструмента, и инструкцию каждого сервера по 2 048 символов, предел меняется переменной </a:t>
            </a:r>
            <a:r>
              <a:rPr>
                <a:latin typeface="Consolas"/>
              </a:rPr>
              <a:t>CLAUDE_CODE_MAX_MCP_DESCRIPTION_LENGTH</a:t>
            </a:r>
            <a:r>
              <a:t>. Ограничение здесь неслучайное: без него один разговорчивый сервер занял бы контекст в одиночку.</a:t>
            </a:r>
          </a:p>
          <a:p/>
          <a:p>
            <a:r>
              <a:t>Полные схемы инструментов при старте не приходят. Документация описывает это прямо: отложенная загрузка держит расход на MCP низким, откладывая определения инструментов до момента, когда они понадобятся; при старте сессии загружаются только имена инструментов и инструкции серверов. Схему конкретного инструмента модель подтягивает отдельным ходом, когда решила, что он может понадобиться. Это поведение по умолчанию на актуальных моделях, и именно оно делает четвёртый подключённый сервер терпимым.</a:t>
            </a:r>
          </a:p>
          <a:p/>
          <a:p>
            <a:r>
              <a:t>Отсрочку отменяют два механизма, и оба стоит знать по именам.</a:t>
            </a:r>
          </a:p>
          <a:p/>
          <a:p>
            <a:r>
              <a:t>Поле </a:t>
            </a:r>
            <a:r>
              <a:rPr>
                <a:latin typeface="Consolas"/>
              </a:rPr>
              <a:t>alwaysLoad: true</a:t>
            </a:r>
            <a:r>
              <a:t> у отдельного сервера в файле подключения грузит все его схемы сразу, независимо от общего режима. Тот самый флаг, который нашёлся в чужих строках. Документация называет его цену прямо: каждый описанный вперёд инструмент занимает место, которое иначе досталось бы разговору.</a:t>
            </a:r>
          </a:p>
          <a:p/>
          <a:p>
            <a:r>
              <a:t>Переменная окружения </a:t>
            </a:r>
            <a:r>
              <a:rPr>
                <a:latin typeface="Consolas"/>
              </a:rPr>
              <a:t>ENABLE_TOOL_SEARCH</a:t>
            </a:r>
            <a:r>
              <a:t> управляет режимом целиком. Незаданная, она означает отсрочку — поведение по умолчанию. Значение </a:t>
            </a:r>
            <a:r>
              <a:rPr>
                <a:latin typeface="Consolas"/>
              </a:rPr>
              <a:t>false</a:t>
            </a:r>
            <a:r>
              <a:t> отменяет отсрочку полностью: все определения грузятся сразу. Значение </a:t>
            </a:r>
            <a:r>
              <a:rPr>
                <a:latin typeface="Consolas"/>
              </a:rPr>
              <a:t>auto</a:t>
            </a:r>
            <a:r>
              <a:t> включает пороговый режим: определения грузятся сразу, пока занимают меньше десяти процентов контекста, и откладываются при достижении порога; форма </a:t>
            </a:r>
            <a:r>
              <a:rPr>
                <a:latin typeface="Consolas"/>
              </a:rPr>
              <a:t>auto:N</a:t>
            </a:r>
            <a:r>
              <a:t> задаёт свой процент вместо десяти.</a:t>
            </a:r>
          </a:p>
          <a:p/>
          <a:p>
            <a:r>
              <a:t>Когда отсрочки нет, счёт идёт по полным схемам, и измеренный порядок величины известен: 93 определения инструментов — от 42 000 до 55 000 токенов, около 21 процента контекста размером 200 000 токенов. Та же цифра стоит в первом случае блока как цена подключения. Здесь видно, в каком режиме она набирается, и это важная оговорка: 42–55 тысяч — верхняя граница для режима без отсрочки. По умолчанию сессия обходится дешевле, и насколько именно — зависит от того, сколько инструментов за эту сессию реально понадобилось.</a:t>
            </a:r>
          </a:p>
          <a:p/>
          <a:p>
            <a:r>
              <a:t>Проверить это у себя можно двумя взглядами. Список подключённых серверов и их состояние даёт команда статуса; карточка сервера внутри сессии показывает, что именно он о себе описал. Значение переменной проверяется там же, где вы смотрите остальное окружение проекта. Точного счёта токенов по каждому серверу эти два взгляда не дают — величину приходится брать из внешнего замера, и названа она выше именно как порядок величины.</a:t>
            </a:r>
          </a:p>
          <a:p/>
          <a:p>
            <a:r>
              <a:t>Отдельная ось расхода, которую полезно не путать с этой: размер результата вызова. Описание инструмента — плата за подключённость; ответ инструмента — плата за одно обращение. Статьи разные, растут независимо, и меры против них разные.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строки решения, и первые две — проверка; настройки они не меняют.</a:t>
            </a:r>
          </a:p>
          <a:p/>
          <a:p>
            <a:r>
              <a:t>Первая. В файле подключения </a:t>
            </a:r>
            <a:r>
              <a:rPr>
                <a:latin typeface="Consolas"/>
              </a:rPr>
              <a:t>.mcp.json</a:t>
            </a:r>
            <a:r>
              <a:t> у двух серверов снят </a:t>
            </a:r>
            <a:r>
              <a:rPr>
                <a:latin typeface="Consolas"/>
              </a:rPr>
              <a:t>alwaysLoad: true</a:t>
            </a:r>
            <a:r>
              <a:t>: описания их инструментов снова приходят по требованию. Флаг имеет законное применение, и совсем его запрещать неразумно — инструмент, который нужен буквально на каждом шаге, дешевле описать один раз при старте, чем подтягивать его схему перед каждым обращением. Поэтому флаг оставляют одному такому инструменту и рядом записывают, какому и почему. Исключение без записанной причины через месяц неотличимо от случайной строки, и следующий человек либо снесёт его вслепую, либо побоится тронуть.</a:t>
            </a:r>
          </a:p>
          <a:p/>
          <a:p>
            <a:r>
              <a:t>Вторая. В окружении проекта </a:t>
            </a:r>
            <a:r>
              <a:rPr>
                <a:latin typeface="Consolas"/>
              </a:rPr>
              <a:t>ENABLE_TOOL_SEARCH</a:t>
            </a:r>
            <a:r>
              <a:t> не выставлен в </a:t>
            </a:r>
            <a:r>
              <a:rPr>
                <a:latin typeface="Consolas"/>
              </a:rPr>
              <a:t>false</a:t>
            </a:r>
            <a:r>
              <a:t>. Это проверка одного значения, и она стоит минуты. Пороговое значение вида </a:t>
            </a:r>
            <a:r>
              <a:rPr>
                <a:latin typeface="Consolas"/>
              </a:rPr>
              <a:t>auto:10</a:t>
            </a:r>
            <a:r>
              <a:t> — осмысленный компромисс для тех, кому важна скорость первого обращения: пока определения занимают меньше названной доли контекста, они грузятся сразу, а при достижении порога уходят в отсрочку.</a:t>
            </a:r>
          </a:p>
          <a:p/>
          <a:p>
            <a:r>
              <a:t>Третья строка живёт на стороне самого сервера. В команде запуска передаются только нужные наборы инструментов: </a:t>
            </a:r>
            <a:r>
              <a:rPr>
                <a:latin typeface="Consolas"/>
              </a:rPr>
              <a:t>--toolsets repos,issues</a:t>
            </a:r>
            <a:r>
              <a:t> вместо полного набора. Официальный сервер GitHub объясняет назначение этого флага своими словами: включение только нужных наборов помогает модели с выбором инструмента и уменьшает размер контекста. Сервер, который умеет отдавать свои инструменты наборами, снимает часть платы раньше, чем она дойдёт до клиента.</a:t>
            </a:r>
          </a:p>
          <a:p/>
          <a:p>
            <a:r>
              <a:t>Здесь же — оговорка о свежести флагов, и это проверенный случай с номером запроса правок и датой. У того же сервера GitHub существовал режим выдачи наборов по требованию: флаг </a:t>
            </a:r>
            <a:r>
              <a:rPr>
                <a:latin typeface="Consolas"/>
              </a:rPr>
              <a:t>--dynamic-toolsets</a:t>
            </a:r>
            <a:r>
              <a:t>, переменная окружения </a:t>
            </a:r>
            <a:r>
              <a:rPr>
                <a:latin typeface="Consolas"/>
              </a:rPr>
              <a:t>GITHUB_DYNAMIC_TOOLSETS</a:t>
            </a:r>
            <a:r>
              <a:t> и три служебных инструмента для перечисления и включения наборов. В описании версии 1.0.0 слово </a:t>
            </a:r>
            <a:r>
              <a:rPr>
                <a:latin typeface="Consolas"/>
              </a:rPr>
              <a:t>dynamic</a:t>
            </a:r>
            <a:r>
              <a:t> встречается одиннадцать раз; начиная с версии 1.1.0 — ни разу, и в коде его тоже нет. Удалён режим одним запросом на внесение правок в мае 2026 года: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удалённый сервер его никогда не предлагал. Вывода «идея не работает» в запросе нет, и приписывать его нельзя.</a:t>
            </a:r>
          </a:p>
          <a:p/>
          <a:p>
            <a:r>
              <a:t>Урок из этой оговорки общий, и он про обычную судьбу флага. Поиск по-прежнему выдаёт страницу прежней версии, она читается как действующая инструкция, и отличить её от действующей по виду невозможно. Проверяется это одним способом: открыть описание текущей версии сервера и найти флаг там.</a:t>
            </a:r>
          </a:p>
          <a:p/>
          <a:p>
            <a:r>
              <a:t>Четвёртая строка — единственная, которая требует работы. Серверы под свою личную работу переносятся в личную область подключения: тот же файл настроек пользователя, который разбирался, когда выбирали, куда положить ключ. Проектный файл остаётся командным, и чужие серверы из него никто не выбрасывает. Держать всё в проектном файле проще, пока наборы у всех совпадают; как только работа расходится, общий файл берёт с каждого плату за все работы сразу — ровно то, что произошло в сцене.</a:t>
            </a:r>
          </a:p>
          <a:p/>
          <a:p>
            <a:r>
              <a:t>В сцене всё было устроено наоборот: флаг стоял, поставил его один человек, а платил каждый, кто открывал сессию.</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за пределами этого проекта, с источниками. Четыре случая, каждый прочитан по первоисточнику.</a:t>
            </a:r>
          </a:p>
          <a:p/>
          <a:p>
            <a:r>
              <a:t>Начать стоит с того, чего в этих источниках нет. Ни одна из четырёх команд не отказалась от протокола MCP и не сняла свои серверы. Отказ во всех четырёх случаях касается одной практики — грузить описания всех инструментов в контекст заранее. Формулировка «компании отказываются от MCP» ни одним проверенным источником не подтверждается, и держать её в голове при чтении дальнейшего не нужно.</a:t>
            </a:r>
          </a:p>
          <a:p/>
          <a:p>
            <a:r>
              <a:t>Первый случай: проблему назвал сам автор протокола. «Определения инструментов перегружают контекст» — так открывается его собственный разбор в инженерном блоге, опубликованный 4 ноября 2025 года. Ход взамен предложен такой: представлять серверы кодовым интерфейсом, который агент читает по требованию с файловой системы, вместо прямого перечисления инструментов. В разобранном в статье примере расход падает со 150 000 токенов до 2 000. Пример конкретный — два названных сервера, — и методика замера на странице не раскрыта, поэтому как порядок величины он полезен, а как отраслевая норма не читается. Серверы в этом ходе остаются на месте: меняется способ, которым описания доходят до модели.</a:t>
            </a:r>
          </a:p>
          <a:p/>
          <a:p>
            <a:r>
              <a:t>Второй случай: счёт на пяти серверах, из документации того же производителя. Набор из GitHub, Slack, Sentry, Grafana и Splunk занимает около 55 000 токенов определений до начала работы. Отложенная загрузка снимает больше 85 процентов этого расхода, подтягивая 3–5 инструментов, которые нужны конкретному запросу. Это независимое подтверждение цифры, которая стоит в первом случае блока как цена подключения, — теперь из второго источника. Там же названа вторая, неденежная граница: точность выбора инструмента падает, когда доступных инструментов становится больше 30–50.</a:t>
            </a:r>
          </a:p>
          <a:p/>
          <a:p>
            <a:r>
              <a:t>Третий случай: команда сократила собственный набор. Встроенных инструментов было 40, оставили 13 основных — и замерили результат на двух наборах задач с двумя моделями: успешность выросла на 2–5 процентных пунктов. Там же стоит жёсткий предел площадки: не больше 128 инструментов на один запрос, при превышении запрос отклоняется. Публикация датирована 19 ноября 2025 года.</a:t>
            </a:r>
          </a:p>
          <a:p/>
          <a:p>
            <a:r>
              <a:t>Четвёртый случай обратный, и стоит он последним намеренно. Другая команда попробовала подгружать инструменты по требованию и отказалась от этого. Причины названы две. Определения инструментов лежат в начале контекста, поэтому любое изменение набора посреди работы обнуляет кэш для всего, что идёт дальше. И модель путается, когда прошлые шаги ссылаются на инструмент, которого в текущем наборе уже нет. Ход взамен — маскировать лишние инструменты, оставляя их определения на месте.</a:t>
            </a:r>
          </a:p>
          <a:p/>
          <a:p>
            <a:r>
              <a:t>Отсюда практический вывод, и он скромнее, чем хочется. Одинакового ответа у отрасли нет: четвёртая строка прямо обратна трём первым, и обе позиции подкреплены работающей практикой. Что остаётся делать в такой ситуации — посмотреть, в каком режиме описания грузятся у вас, и держать набор под задачу. Это те два действия, которые работают при любом из четырёх подходов.</a:t>
            </a:r>
          </a:p>
          <a:p/>
          <a:p>
            <a:r>
              <a:t>Граница «30–50 инструментов» заслуживает отдельного внимания, потому что она дороже денежной. Переполнение контекста стоит токенов, и это видно в счёте. Падение точности выбора означает, что агент берёт неподходящий инструмент, — это видно по результату работы, а счёт при этом молчит. Ошибка без строки в счёте находится дольше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Прямой ответ на вопрос, сколько серверов держать подключёнными, состоит из трёх условий и четырёх запретов.</a:t>
            </a:r>
          </a:p>
          <a:p/>
          <a:p>
            <a:r>
              <a:t>Держать сервер подключённым в проектном файле стоит, когда он нужен в большинстве сессий этого проекта и им пользуется команда. Когда описания его инструментов приходят по требованию, и это проверено. И когда наборов инструментов у него столько, сколько нужно задаче, а остальное сервер держит выключенным.</a:t>
            </a:r>
          </a:p>
          <a:p/>
          <a:p>
            <a:r>
              <a:t>Четыре вещи не стоит делать никогда.</a:t>
            </a:r>
          </a:p>
          <a:p/>
          <a:p>
            <a:r>
              <a:t>Держать в общем проектном файле то, что нужно одному человеку. Для этого есть личная область подключения, и она решает тот же вопрос, не беря плату с остальных.</a:t>
            </a:r>
          </a:p>
          <a:p/>
          <a:p>
            <a:r>
              <a:t>Ставить флаг принудительной загрузки описаний, не записав рядом причину. Через месяц это чужая строка без объяснения, и следующий человек либо снесёт её вслепую, либо не тронет из осторожности. Ни то, ни другое не решение.</a:t>
            </a:r>
          </a:p>
          <a:p/>
          <a:p>
            <a:r>
              <a:t>Полагаться на флаг, найденный поиском. Флаги появляются и исчезают; страница прежней версии читается как действующая инструкция и по виду от неё не отличается. Проверяется это по описанию текущей версии сервера.</a:t>
            </a:r>
          </a:p>
          <a:p/>
          <a:p>
            <a:r>
              <a:t>И четвёртое, которое стоит остальных вместе: считать, что большой контекст снимает вопрос. Точность выбора инструмента падает, когда доступных инструментов больше 30–50, и переполнение здесь ни при чём. Переполнение стоит токенов и видно в счёте; неподходящий выбранный инструмент виден только по результату работы, и счёт при этом молчит.</a:t>
            </a:r>
          </a:p>
          <a:p/>
          <a:p>
            <a:r>
              <a:t>Предел 30–50 относится к инструментам, не к серверам, и это расхождение стоит держать в голове. Один сервер приносит и десять инструментов, и сорок. Счёт поэтому ведут по инструментам, а решения принимают по серверам — подключить, отключить, перенести в личную область. В зазоре между двумя единицами счёта легко недосчитаться: четыре сервера звучат скромно, а инструментов за ними может стоять полторы сотни.</a:t>
            </a:r>
          </a:p>
          <a:p/>
          <a:p>
            <a:r>
              <a:t>Пересматривать набор стоит по событию: когда добавляется новый сервер и когда меняется задача проекта. Тот же структурный критерий работал в двух предыдущих случаях блока. Сервер, который нужен редко, но по-настоящему, живёт в личной области и подключается на время работы с ним: плата идёт за подключённость, значит отключённый он не стоит ничего.</a:t>
            </a:r>
          </a:p>
          <a:p/>
          <a:p>
            <a:r>
              <a:t>Чем кончилось у разработчика из сцены: два флага принудительной загрузки сняты, свои серверы он перенёс в личную область, в проектном файле осталось то, что нужно всей команде. Сжатие на следующей длинной задаче пришло позже — единственное, что он замерил, и выдуманного процента здесь не будет.</a:t>
            </a:r>
          </a:p>
          <a:p/>
          <a:p>
            <a:r>
              <a:t>В конфигурации проекта теперь пять файлов: к четырём, с которых начиналось занятие, добавился </a:t>
            </a:r>
            <a:r>
              <a:rPr>
                <a:latin typeface="Consolas"/>
              </a:rPr>
              <a:t>.mcp.json</a:t>
            </a:r>
            <a:r>
              <a:t>. Он дал агенту руки — под правами, которые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расхода. Следующий вопрос — что в этот контекст всё равно не помещается, когда работы становится больше.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 часть работы уходит отдельному исполнителю со своим контекстом, и стоит это ноль строчек настройки.</a:t>
            </a:r>
          </a:p>
          <a:p/>
          <a:p>
            <a:r>
              <a:t>Связь с предыдущим блоком тут прямая, хотя ходы направлены в разные стороны. Доступ наружу увеличивает то, что агент способен сделать сам за один присест: он сам смотрит открытые задачи, сам читает документацию, сам проверяет состояние внешней системы. Вместе с объёмом работы растёт объём чтения, которое эта работа втягивает в контекст сессии. Предел у двух ходов общий — место в контексте; первый ход расходует его быстрее, чем расходовал бы агент, запертый в репозитории.</a:t>
            </a:r>
          </a:p>
          <a:p/>
          <a:p>
            <a:r>
              <a:t>Первая развилка ступени — цена поиска, который нужен, чтобы продолжить работу здесь же. Пропорция в заголовке описывает её целиком: открыть надо сорок файлов, нужных мест среди них четыре. Числа не подогнаны под вывод — они из рабочей ситуации, которая разбирается через три экрана: обычный продукт, где одно правило разъехалось по кодовой базе за два года, и разработчик, которому перед правкой нужен список мест, где это правило проверяется.</a:t>
            </a:r>
          </a:p>
          <a:p/>
          <a:p>
            <a:r>
              <a:t>Пара чисел в заголовке измеряет одну вещь, которую легко не заметить: объём чтения не связан с размером вывода. Вывод здесь — четыре адреса, его можно записать в одну строку; чтобы его получить, надо открыть сорок файлов. Эта несвязанность и делает развилку развилкой: если бы объём чтения был пропорционален размеру ответа, вопрос «куда девать это чтение» не возникал бы вовсе — читать пришлось бы ровно столько, сколько весит результат. Дорожка внизу экрана показывает, что это первый из трёх разборов ступени; два следующих стоят на других причинах заводить роль.</a:t>
            </a:r>
          </a:p>
          <a:p/>
          <a:p>
            <a:r>
              <a:t>И здесь же стоит назвать догадку, которая приходит на этом месте почти каждому: отдельный исполнитель просто прочитает эти сорок файлов быстрее. Запомните её. Разбор проверит её счётом файлов, и она не подтвердится — поворот этого случая держится именно на ней, и работает он только если догадка произнесена до разбора. Задавленная догадка возвращается через неделю целой, поэтому проговорить её стоит вслух.</a:t>
            </a:r>
          </a:p>
          <a:p/>
          <a:p>
            <a:r>
              <a:t>Вопрос «зачем» задан раньше вопроса «что это такое» намеренно: устройство роли, прочитанное без причины, запоминается как описание формата файла. Следующие два экрана отвечают на «что это такое» — чем агент отличается от роли, из чего собран контекст каждого и как роль устроена по частям. Сцена, вопрос и разбор идут после них.</a:t>
            </a:r>
          </a:p>
          <a:p/>
          <a:p>
            <a:r>
              <a:t>Про цену самого хода стоит сказать заранее, чтобы «ноль строчек настройки» не читалось как «ноль цены». Завести роль действительно стоит нуля настроек: один файл в репозитории, и он уже работает. Платится масштабом — мультиагентная работа обходится дороже обычного чата, и цифра для неё стоит шестым блоком на одностраничнике роли.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слова дальше всё время стоят рядом, и развести их стоит сразу. </a:t>
            </a:r>
            <a:r>
              <a:rPr b="1"/>
              <a:t>Агент</a:t>
            </a:r>
            <a:r>
              <a:t> — то, что работает в вашей сессии и с чем вы разговариваете. </a:t>
            </a:r>
            <a:r>
              <a:rPr b="1"/>
              <a:t>Роль</a:t>
            </a:r>
            <a:r>
              <a:t> (в документации — субагент) — отдельный исполнитель, которого агент зовёт под одну задачу. Третье слово — </a:t>
            </a:r>
            <a:r>
              <a:rPr b="1"/>
              <a:t>контекст</a:t>
            </a:r>
            <a:r>
              <a:t>: то, что агент или роль держит при себе, пока работает.</a:t>
            </a:r>
          </a:p>
          <a:p/>
          <a:p>
            <a:r>
              <a:t>Верхний ярус схемы отвечает на вопрос, с которого начинается весь счёт: что попадает в контекст при запуске и откуда. Источников четыре.</a:t>
            </a:r>
          </a:p>
          <a:p/>
          <a:p>
            <a:r>
              <a:t>Первый приносит харнесс — среда, в которой агент работает: системную часть, где сказано, какие инструменты есть, как отвечать и что делать запрещено. Второй приносит репозиторий: файлы инструкций проекта, </a:t>
            </a:r>
            <a:r>
              <a:rPr>
                <a:latin typeface="Consolas"/>
              </a:rPr>
              <a:t>CLAUDE.md</a:t>
            </a:r>
            <a:r>
              <a:t> и </a:t>
            </a:r>
            <a:r>
              <a:rPr>
                <a:latin typeface="Consolas"/>
              </a:rPr>
              <a:t>AGENTS.md</a:t>
            </a:r>
            <a:r>
              <a:t>, всеми уровнями — от корня до папки, в которой идёт работа. Третий приносят подключённые серверы: описание каждого инструмента целиком, по всем серверам, ещё до вашего первого вопроса. Это та самая постоянная плата, которую предыдущий блок занятия измерил в токенах. Четвёртый источник — разговор: задача, ответы агента и содержимое каждого прочитанного файла.</a:t>
            </a:r>
          </a:p>
          <a:p/>
          <a:p>
            <a:r>
              <a:t>Три источника из четырёх приходят до вашей первой строки. Вы их не писали и не выбирали; место они уже заняли. Растёт из четырёх только последний — с каждым файлом, который агент открыл. Отсюда свойство, которое в работе выглядит странно: контекст кончается раньше, чем кажется по длине разговора.</a:t>
            </a:r>
          </a:p>
          <a:p/>
          <a:p>
            <a:r>
              <a:t>Полосы четырёх источников нарисованы одинаковой ширины, и это решение, не оформление. Измеренной доли каждого у занятия нет: постоянная плата за подключённые серверы измерена в токенах и в доле контекста, остальные три источника на выборке никто не мерил. Шкала с пропорциями, расставленными на глаз, читалась бы как измерение, которого не было.</a:t>
            </a:r>
          </a:p>
          <a:p/>
          <a:p>
            <a:r>
              <a:t>Нижний ярус — кто этот контекст держит. Здесь три коробки, и сравнение между ними несёт весь разбор.</a:t>
            </a:r>
          </a:p>
          <a:p/>
          <a:p>
            <a:r>
              <a:t>Слева сессия, в которой лежит работа: тот самый агент, с которым вы разговариваете, и его контекст — все четыре полосы сверху. Здесь лежит правка, и сюда же нужен результат чтения: иначе правку нечем продолжить. Прочитаете сорок файлов здесь — четвёртая полоса вытеснит задачу, которую вы агенту объяснили.</a:t>
            </a:r>
          </a:p>
          <a:p/>
          <a:p>
            <a:r>
              <a:t>В середине роль, которую позвал агент. Контекст у неё свой: те же три верхние полосы, а вместо разговора — одна задача, присланная текстом. Вашей переписки там нет. Сорок файлов ложатся туда и закрываются вместе с ролью, обратно уходит только итог — и уходит без вашего участия, в ту же сессию, где лежит правка. Это сплошная золотая стрелка на схеме.</a:t>
            </a:r>
          </a:p>
          <a:p/>
          <a:p>
            <a:r>
              <a:t>Справа вторая сессия, которую открыли вы: свой агент, свой контекст. Сорок файлов ложатся туда, рабочий контекст остаётся чистым — ровно то же, что даёт роль. Но ответ остаётся там: канала в рабочую сессию нет. Переносите его вы, руками и своим пересказом, и агент, который правит, видит только этот пересказ. Поэтому обратный путь нарисован пунктиром и ведёт через вас. Вторая сессия освобождает контекст и останавливается на этом: работу она не продолжает.</a:t>
            </a:r>
          </a:p>
          <a:p/>
          <a:p>
            <a:r>
              <a:t>Отсюда три различия между ролью и второй сессией, и все три стоят на схеме. Итог возвращается сам, в тот контекст, где лежит работа. Поведение роли задано файлом, поэтому второй вызов повторяет первый. И права роли можно урезать списком — у второй сессии списка прав нет вовсе.</a:t>
            </a:r>
          </a:p>
          <a:p/>
          <a:p>
            <a:r>
              <a:t>Несколько вопросов возникают прямо здесь, и ответы на них короткие. Ролей агент зовёт столько, сколько нужно; сам он при этом один, а предел числа ролей разбирается во втором случае ступени. Прошлый вызов роль не помнит: каждый вызов поднимает её контекст с нуля, между вызовами не переносится ничего. Это то же свойство, прочитанное с другой стороны: контекст одноразовый и потому чистый, и первый случай ступени берёт свою пользу именно из этого. Как роль позвать — по имени или дать модели выбрать самой — занимает следующий экран целиком.</a:t>
            </a:r>
          </a:p>
          <a:p/>
          <a:p>
            <a:r>
              <a:t>Нижняя строка полотна — про переносимость приёма: отдельный исполнитель со своим контекстом есть у нескольких продуктов для работы с кодом, запись у каждого своя, общей спецификации нет ни у одного. Переносится умение, не синтаксис.</a:t>
            </a:r>
          </a:p>
          <a:p/>
          <a:p>
            <a:r>
              <a:t>Из всей схемы счёт следующего разбора держится на золотой стрелке: итог возвращается сам, туда, где лежит работа.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частей роли одним экраном. К этому экрану возвращаются все три случая ступени, поэтому проще разобрать его целиком один раз.</a:t>
            </a:r>
          </a:p>
          <a:p/>
          <a:p>
            <a:r>
              <a:rPr b="1"/>
              <a:t>Где объявляется.</a:t>
            </a:r>
            <a:r>
              <a:t> Файл </a:t>
            </a:r>
            <a:r>
              <a:rPr>
                <a:latin typeface="Consolas"/>
              </a:rPr>
              <a:t>.claude/agents/&lt;имя&gt;.md</a:t>
            </a:r>
            <a:r>
              <a:t> в репозитории. В светлой карточке стоит выдержка из настоящего файла роли: </a:t>
            </a:r>
            <a:r>
              <a:rPr>
                <a:latin typeface="Consolas"/>
              </a:rPr>
              <a:t>name: diff-reviewer</a:t>
            </a:r>
            <a:r>
              <a:t>, </a:t>
            </a:r>
            <a:r>
              <a:rPr>
                <a:latin typeface="Consolas"/>
              </a:rPr>
              <a:t>tools: Read, Grep, Glob</a:t>
            </a:r>
            <a:r>
              <a:t> — три инструмента вместо всех доступных. По полю </a:t>
            </a:r>
            <a:r>
              <a:rPr>
                <a:latin typeface="Consolas"/>
              </a:rPr>
              <a:t>name</a:t>
            </a:r>
            <a:r>
              <a:t> роль зовут явно. </a:t>
            </a:r>
            <a:r>
              <a:rPr>
                <a:latin typeface="Consolas"/>
              </a:rPr>
              <a:t>description</a:t>
            </a:r>
            <a:r>
              <a:t> говорит, когда её звать и когда нет, — это читает автовыбор. </a:t>
            </a:r>
            <a:r>
              <a:rPr>
                <a:latin typeface="Consolas"/>
              </a:rPr>
              <a:t>tools</a:t>
            </a:r>
            <a:r>
              <a:t> — список прав, поле необязательное. Тело файла — системный промпт роли целиком, то есть всё, что она про свою работу знает.</a:t>
            </a:r>
          </a:p>
          <a:p/>
          <a:p>
            <a:r>
              <a:rPr b="1"/>
              <a:t>Как позвать и кого позвали на самом деле.</a:t>
            </a:r>
            <a:r>
              <a:t> Явный вызов — </a:t>
            </a:r>
            <a:r>
              <a:rPr>
                <a:latin typeface="Consolas"/>
              </a:rPr>
              <a:t>@agent-&lt;имя&gt;</a:t>
            </a:r>
            <a:r>
              <a:t>: он гарантирует именно эту роль. Второй способ — не писать ничего, тогда выбирает модель, по описанию. Кого позвали, видно по строке в чате: имя роли и задача в скобках. Стоит там </a:t>
            </a:r>
            <a:r>
              <a:rPr>
                <a:latin typeface="Consolas"/>
              </a:rPr>
              <a:t>general-purpose</a:t>
            </a:r>
            <a:r>
              <a:t> вместо имени — роль не вызвали вовсе, выбор до неё не долетел.</a:t>
            </a:r>
          </a:p>
          <a:p/>
          <a:p>
            <a:r>
              <a:t>Маршрутизацию решает описание, и читать это стоит буквально: модель смотрит на </a:t>
            </a:r>
            <a:r>
              <a:rPr>
                <a:latin typeface="Consolas"/>
              </a:rPr>
              <a:t>description</a:t>
            </a:r>
            <a:r>
              <a:t> как на условие «когда эту роль звать и когда нет». Имя она не интерпретирует, поэтому слово «ревьюер» внутри имени для автовыбора не значит ничего. Отсюда практический вывод: описание роли пишется как список поводов её позвать. Титул должности в нём не работает.</a:t>
            </a:r>
          </a:p>
          <a:p/>
          <a:p>
            <a:r>
              <a:t>Строка в чате доказывает ровно одно: харнесс решил позвать эту роль. Правильность её работы строка не подтверждает — это отдельный вопрос, со своей проверкой. Зато она разводит два случая, со стороны выглядящих одинаково: «роль отработала не так» и «роль вообще не вызывали». Без этой строки их путают и чинят не то.</a:t>
            </a:r>
          </a:p>
          <a:p/>
          <a:p>
            <a:r>
              <a:rPr b="1"/>
              <a:t>Что приходит на вход.</a:t>
            </a:r>
            <a:r>
              <a:t> Четыре вещи. Системный промпт роли — тело её файла, не промпт харнесса целиком. Задача, сформулированная вызывающей сессией своими словами: дословно ваша реплика туда не попадает. Иерархия файлов инструкций — </a:t>
            </a:r>
            <a:r>
              <a:rPr>
                <a:latin typeface="Consolas"/>
              </a:rPr>
              <a:t>CLAUDE.md</a:t>
            </a:r>
            <a:r>
              <a:t> и </a:t>
            </a:r>
            <a:r>
              <a:rPr>
                <a:latin typeface="Consolas"/>
              </a:rPr>
              <a:t>AGENTS.md</a:t>
            </a:r>
            <a:r>
              <a:t> всех уровней. И снимок репозитория на момент старта.</a:t>
            </a:r>
          </a:p>
          <a:p/>
          <a:p>
            <a:r>
              <a:t>Переписки сессии, которая роль позвала, на входе нет. Нет и файлов, прочитанных агентом этой сессии, и её автопамяти. Канала для них попросту не существует, и дисциплина автора роли тут ни при чём — это устройство. По той же причине агент не видит промежуточных действий роли: задача передаётся один раз, итог возвращается один раз, диалога между этими двумя событиями не бывает.</a:t>
            </a:r>
          </a:p>
          <a:p/>
          <a:p>
            <a:r>
              <a:rPr b="1"/>
              <a:t>Что уходит обратно.</a:t>
            </a:r>
            <a:r>
              <a:t> Только итог — финальный текст. Вызовы инструментов, которые роль сделала по дороге, вызвавшей сессии не видны ни один. Канал односторонний.</a:t>
            </a:r>
          </a:p>
          <a:p/>
          <a:p>
            <a:r>
              <a:rPr b="1"/>
              <a:t>Права — три состояния записи `tools`.</a:t>
            </a:r>
            <a:r>
              <a:t> Интуиция эти три исхода обычно путает, поэтому держать их стоит рядом. Поля нет вовсе: роль получает все инструменты, доступные ролям, — противоположность тому, что подсказывает пустое место. Список указан и пуст: роль не получает ни одного инструмента и при этом остаётся живой — она запускается, читает задачу и отвечает тем, что умеет сама. Запись не резолвится: харнесс не запускает роль вовсе. Со стороны это похоже на отсутствие самой роли — права тут уже ни при чём.</a:t>
            </a:r>
          </a:p>
          <a:p/>
          <a:p>
            <a:r>
              <a:t>Отнять право частично этим механизмом нельзя. «Читать всё, кроме одного каталога» так не записывается: список работает на уровне целого инструмента, не отдельного действия внутри него. Если нужна именно такая граница, её держат другим механизмом.</a:t>
            </a:r>
          </a:p>
          <a:p/>
          <a:p>
            <a:r>
              <a:t>Стоит знать и про исключение, которое легко спутать с обычным вызовом. Есть режим, наследующий всё целиком — тот же промпт, те же права, всю историю; в документации он называется форком. Изоляции контекста у него нет, поэтому экономия, ради которой роль заводят, в этом режиме не возникает вовсе. На занятии он не используется.</a:t>
            </a:r>
          </a:p>
          <a:p/>
          <a:p>
            <a:r>
              <a:rPr b="1"/>
              <a:t>Чем оплачивается.</a:t>
            </a:r>
            <a:r>
              <a:t> Мультиагентная работа обходится примерно в пятнадцать раз дороже обычного чата — это оценка поставщика харнесса, и на экране она стоит с такой подписью. Измерения на выборке за ней нет, поэтому пользоваться ей стоит как порядком величины: роль — ход, который платит токенами за освобождённый контекст.</a:t>
            </a:r>
          </a:p>
          <a:p/>
          <a:p>
            <a:r>
              <a:t>Само поле прав на этом занятии не собирается: три разбора ступени идут по другим развилкам. Поле стоит здесь, в первом блоке, с настоящими значениями, а что даёт каждое из трёх его состояний — в пятом.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что два занятия подряд заводил здесь хук и скилл. Сцена другая: продукт, в котором он работает каждый день — тарифы, участники, два года миграций. Задача дня обычная: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 же — на этом держится весь дальнейший счёт.</a:t>
            </a:r>
          </a:p>
          <a:p/>
          <a:p>
            <a:r>
              <a:t>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и находит четыре места: middleware при добавлении участника, конфиг тарифов, отдельная миграция для аккаунтов, заведённых до смены тарифной сетки, и клиентский компонент с той же проверкой на случай недоступности сервера. Миграций за два года пятнадцать, лимит менялся в трёх — листать приходится все пятнадцать. Открытых файлов больше сорока, чтения —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Стоит рассмотреть, за что здесь заплачено. Список верный, чтение шло быстро, ошибки не было ни одной. Сорок файлов влезли в контекст целиком и вытеснили задачу, ради которой сессию открывали. Это второй промах из начала занятия, предъявленный целиком: нужное влезло внутрь и вытеснило работу.</a:t>
            </a:r>
          </a:p>
          <a:p/>
          <a:p>
            <a:r>
              <a:t>Цена — полчаса, хотя чтения было двадцать минут, и разница между этими числами существенна. Двадцать минут потрачены на дело: список был нужен, без него правка выходит неполной. Полчаса ушли на то, чтобы заново сказать уже сказанное и вернуться в прерванную работу. Это единственная часть дня, которую можно было не тратить.</a:t>
            </a:r>
          </a:p>
          <a:p/>
          <a:p>
            <a:r>
              <a:t>Дальше возражение, которое возникает здесь первым: почему он не открыл вторую сессию и не спросил там? Ответ держится на том, где лежит правка. Править будет эта сессия, и список нужен агенту, который правит. Вторая сессия ответ даст и оставит его у себя: канала в рабочую сессию у неё нет. Перенос делаете вы, своим пересказом, и агент правит по этому пересказу. Условие про старые аккаунты выпадает из пересказа первым — оно длинное, скучное и в момент переноса выглядит второстепенным. Полностью этот вариант разбирается через два экрана, вместе с четырьмя другими.</a:t>
            </a:r>
          </a:p>
          <a:p/>
          <a:p>
            <a:r>
              <a:t>Второе возражение: тогда перенести во вторую сессию всю работу целиком? Это тот же счёт, оплаченный заранее. Задача объяснена здесь — те самые пятнадцать минут; объяснять её второй раз в новой сессии значит заплатить ровно ту потерю, которую мы считаем. Переезд не экономит, он переносит расход на начало.</a:t>
            </a:r>
          </a:p>
          <a:p/>
          <a:p>
            <a:r>
              <a:t>Третье: нельзя ли было сразу знать, где искать? В продукте, где правило менялось годами мелкими правками, — нельзя. Документации, которая держала бы все четыре точки в одном месте, здесь никогда не было. Завести её задним числом стоит дороже, чем один раз прочитать сорок файлов.</a:t>
            </a:r>
          </a:p>
          <a:p/>
          <a:p>
            <a:r>
              <a:t>Остаётся сказать, почему сцена идёт не в демо-репозитории занятия. В нём файлов меньше десятка, и сцена на сорок файлов там была бы подогнана под вывод; вернее вывод от этого не стал бы. Герой тот же, проект другой, и на экране это сказано первой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случая: что править — известно, где править — лежит в сорока файлах, из которых нужны четыре. Карточек пять: прочитать все сорок файлов самому, в этой же сессии; открыть вторую сессию, спросить там и перенести список руками; позвать коллегу, который давно работает с тарифами; поручить роли — прочитает в своём контексте и вернёт список мест; править по памяти, без поиска.</a:t>
            </a:r>
          </a:p>
          <a:p/>
          <a:p>
            <a:r>
              <a:t>Выбрать карточку — половина работы. Вторая половина — назвать, за счёт чего она выигрывает у остальных четырёх. Основание здесь весит больше выбора: на следующем экране счёт файлов проверяет именно причину, по которой карточку взяли.</a:t>
            </a:r>
          </a:p>
          <a:p/>
          <a:p>
            <a:r>
              <a:t>Ответов на такой вопрос звучит немного, и разобрать стоит каждый.</a:t>
            </a:r>
          </a:p>
          <a:p/>
          <a:p>
            <a:r>
              <a:rPr b="1"/>
              <a:t>«Роль — потому что быстрее».</a:t>
            </a:r>
            <a:r>
              <a:t> Обычная первая догадка, и приходит она почти всем. Произнесите её про себя полностью — «отдельный исполнитель прочитает сорок файлов быстрее, чем я» — и держите наготове. Следующий экран проверяет её счётом, и проверку она не проходит. Разбор, прочитанный без произнесённой догадки, остаётся сообщением о факте; с ней он меняет картину, и держится этот случай именно на ней.</a:t>
            </a:r>
          </a:p>
          <a:p/>
          <a:p>
            <a:r>
              <a:rPr b="1"/>
              <a:t>«Вторая сессия».</a:t>
            </a:r>
            <a:r>
              <a:t> Вариант, который первым приходит любому, кто работает в двух вкладках; принимать его стоит всерьёз. Добавить к нему надо одно: что произойдёт после того, как ответ получен. Ответ на это почти всегда один — «перенесу». Вот это слово и разбирается дальше: перенос делает человек, и стоит он времени и точности.</a:t>
            </a:r>
          </a:p>
          <a:p/>
          <a:p>
            <a:r>
              <a:rPr b="1"/>
              <a:t>«Коллега».</a:t>
            </a:r>
            <a:r>
              <a:t> Единственный вариант, способный ответить за минуту, если коллега свеж в теме, и единственный, который зависит от чужого расписания. В списке он стоит не для полноты: в живой работе это частый и часто верный ход.</a:t>
            </a:r>
          </a:p>
          <a:p/>
          <a:p>
            <a:r>
              <a:rPr b="1"/>
              <a:t>Ответ, которого на карточках нет</a:t>
            </a:r>
            <a:r>
              <a:t> — «спросить того, кто это писал», «посмотреть в истории коммитов», «записать вопрос скиллом на будущее». Такие ответы законны: карточки задают поле выбора, границей его они не являются. История коммитов, к примеру, сузит поиск, если правило менялось явными правками с внятными сообщениями, и не поможет, если оно расползалось по рефакторингам.</a:t>
            </a:r>
          </a:p>
          <a:p/>
          <a:p>
            <a:r>
              <a:t>Выбрать две карточки тоже можно, и в живой работе так и делают: сначала роль, потом короткий разговор с тем, кто писал эти миграции. Тогда стоит назвать, какая из двух первая и почему — порядок здесь меняет цену.</a:t>
            </a:r>
          </a:p>
          <a:p/>
          <a:p>
            <a:r>
              <a:t>Проверку на себе можно провести прямо сейчас, до разбора. Вспомните последний месяц: случалось ли просить агента найти, где в проекте живёт одно-единственное правило? Если да — у вас уже есть своя сцена, и карточку вы выберете по ней. Если нет — выбирайте по сцене предыдущего экрана, и тогда стоит отдельно проверить, насколько ваш выбор зависит от того, что правка и поиск лежат в одной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того, что прозвучало. «Быстрее» — проверяется счётом, по строкам.</a:t>
            </a:r>
          </a:p>
          <a:p/>
          <a:p>
            <a:r>
              <a:rPr b="1"/>
              <a:t>Прочитать самому, в этой же сессии.</a:t>
            </a:r>
            <a:r>
              <a:t> Что даёт: полный контроль над тем, что и в каком порядке читается. Чего стоит: контекст сессии занимает содержимое сорока файлов, из которых для правки нужны четыре; остальные тридцать шесть лежат в нём мёртвым весом до конца сессии.</a:t>
            </a:r>
          </a:p>
          <a:p/>
          <a:p>
            <a:r>
              <a:rPr b="1"/>
              <a:t>Вторая сессия.</a:t>
            </a:r>
            <a:r>
              <a:t> Что даёт: рабочий контекст остаётся чистым, сорок файлов ложатся в чужой. Чего стоит: список придётся переносить руками, и править агент будет по вашему пересказу. Условие про старые аккаунты выпадает из пересказа первым.</a:t>
            </a:r>
          </a:p>
          <a:p/>
          <a:p>
            <a:r>
              <a:rPr b="1"/>
              <a:t>Коллега.</a:t>
            </a:r>
            <a:r>
              <a:t> Что даёт: единственный вариант, который может ответить за минуту, если человек свеж в теме. Чего стоит: единственный вариант, который зависит от чужого расписания — решает, свободен ли он прямо сейчас.</a:t>
            </a:r>
          </a:p>
          <a:p/>
          <a:p>
            <a:r>
              <a:rPr b="1"/>
              <a:t>Роль.</a:t>
            </a:r>
            <a:r>
              <a:t> Что даёт: сорок файлов открываются и закрываются в отдельном, одноразовом контексте, а список приходит обратно сам, в ту же сессию. Чего стоит: быстрее не становится.</a:t>
            </a:r>
          </a:p>
          <a:p/>
          <a:p>
            <a:r>
              <a:rPr b="1"/>
              <a:t>Править по памяти.</a:t>
            </a:r>
            <a:r>
              <a:t> Что даёт: мгновенно. Чего стоит: четвёртое место, клиентскую проверку, помнит не всякий из тех, кто её писал.</a:t>
            </a:r>
          </a:p>
          <a:p/>
          <a:p>
            <a:r>
              <a:t>Теперь про «быстрее» — здесь поворот всего случая. Роль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 Сорок файлов — это сорок файлов, где бы их ни читали.</a:t>
            </a:r>
          </a:p>
          <a:p/>
          <a:p>
            <a:r>
              <a:t>Доведём это до конца, потому что здесь и ломается догадка. Пока роль читает сорок файлов, вы ждёте — те же двадцать минут, что ждали бы, читая их в своей сессии. Делегирование не сокращает ожидание и не обещало его сокращать: оно меняет место, где лежит прочитанное. Ровно поэтому проверка догадки — счёт файлов, не измерение скорости: скорость чтения одинакова у обоих вариантов по построению, и спорить тут не о чем.</a:t>
            </a:r>
          </a:p>
          <a:p/>
          <a:p>
            <a:r>
              <a:t>Выигрыш лежит в двух других местах, и назвать их стоит точно. Первое: чтение остаётся в контексте роли, а этот контекст закрывается вместе с ней — в рабочей сессии от сорока файлов не остаётся ничего, кроме четырёх адресов. Второе: список возвращается туда, где лежит правка, сам, без вашего пересказа. Вторая сессия даёт первое из двух и оставляет второе вам.</a:t>
            </a:r>
          </a:p>
          <a:p/>
          <a:p>
            <a:r>
              <a:t>Отсюда ответ на вопрос «зачем тогда вообще заводить роль, если время то же».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роль именно их. Экономия считается в том, что осталось в контексте после ответа; минуты чтения в этот счёт не входят вовсе.</a:t>
            </a:r>
          </a:p>
          <a:p/>
          <a:p>
            <a:r>
              <a:t>Возражение «пересказ — ерунда, я просто скопирую ответ целиком» снимается арифметикой. Скопируете целиком — в рабочий контекст приедет ровно то, от чего уходили, плюс ваше время на передачу. Чем короче то, что вы переносите, тем больше в нём потеряно; чем длиннее — тем меньше смысла было уносить чтение. Середины в этом счёте не предусмотрено.</a:t>
            </a:r>
          </a:p>
          <a:p/>
          <a:p>
            <a:r>
              <a:t>Возражение «а если запустить несколько ролей разом, тогда быстрее?» — да, и это второй случай ступени целиком.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ролей.</a:t>
            </a:r>
          </a:p>
          <a:p/>
          <a:p>
            <a:r>
              <a:t>И про коллегу, вынесенного в отдельную строку, хотя инструментом он не является. В жизни он первый кандидат и часто правильный, а строка нужна, чтобы это было сказано прямо: иначе вариант выглядит забытым, и выбор между четырьмя машинными способами начинает казаться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роль прочитала 6100 токенов файлов, вы получили итог в 420 токенов — это и есть экономия контекста. Разница на порядок, и направление то же, что мы получили счётом: сорок файлов остаются в контексте роли, в сессию приходит только итог.</a:t>
            </a:r>
          </a:p>
          <a:p/>
          <a:p>
            <a:r>
              <a:t>Природу этого числа стоит назвать прямо. Это один показательный сценарий, придуманный автором документации, чтобы объяснить механизм. Измерением по множеству прогонов он не является, и выборки реальных сессий за ним не стоит.</a:t>
            </a:r>
          </a:p>
          <a:p/>
          <a:p>
            <a:r>
              <a:t>Рядом стоит честный пробел, и занятие называет его прямо. Сколько контекста реально экономит делегирование по сравнению с той же работой в основной сессии, по измерению на выборке сессий, не нашлось ни у одного источника. Пример этот пробел не закрывает — он его иллюстрирует числом.</a:t>
            </a:r>
          </a:p>
          <a:p/>
          <a:p>
            <a:r>
              <a:t>Зачем тогда показывать иллюстрацию. Направление и порядок величины реальны и держатся механикой предыдущего экрана: сорок файлов остаются там, где их читали, обратно уходит короткий список. Нечестным было бы подать иллюстрацию за статистику молча; названная своим именем, она работает ориентиром. Доказательством она не работает.</a:t>
            </a:r>
          </a:p>
          <a:p/>
          <a:p>
            <a:r>
              <a:t>В нашей сцене соотношение то же по смыслу: сорок файлов на входе, четыре адреса на выходе, и в контексте рабочей сессии остаются только адреса. Числа документации говорят о том же устройстве, только на своём примере.</a:t>
            </a:r>
          </a:p>
          <a:p/>
          <a:p>
            <a:r>
              <a:t>Отдельно стоит сказать, как такое число живёт дальше. Из документации его вынимают в пересказ, в пересказе теряется подпись «пример автора», и через два шага оно звучит как измеренная экономия. Встретив «делегирование экономит контекст на порядок» без указания на то, где это мерили, вы, скорее всего, держите в руках пересказ пересказа именно этого примера. Проверка простая: у измерения есть выборка, методика и разброс; у иллюстрации есть одно число.</a:t>
            </a:r>
          </a:p>
          <a:p/>
          <a:p>
            <a:r>
              <a:t>Что считалось бы честным измерением, стоит сказать точно — это та работа, которую любой из вас может проделать на своём проекте. Один и тот же вопрос, прогнанный в двух режимах на выборке настоящих сессий: чтение в рабочей сессии против делегирования, с замером занятой доли контекста в обоих. Такой работы в открытых источниках нет, и это ровно та цифра, которой курсу не хватает.</a:t>
            </a:r>
          </a:p>
          <a:p/>
          <a:p>
            <a:r>
              <a:t>Про удобство самих чисел. Соотношение 6100 к 420 подобрано автором под иллюстрацию, и подпись на экране об этом говорит. Доверять стоит порядку величины — разнице в десятки раз; вторая значащая цифра здесь не значит ничего, и спорить о ней смысла нет.</a:t>
            </a:r>
          </a:p>
          <a:p/>
          <a:p>
            <a:r>
              <a:t>И зависимость, которая делает число управляемым. Экономия прямо зависит от размера ответа роли. Роль, которую просят вернуть короткий вывод, возвращает сотни токенов; роль, которую просят пересказать прочитанное, вернёт тысячи, и экономия съедается форматом ответа. Из этого же соображения вырастает критерий, которым случай закрывается: смотреть надо на то, что останется в контексте после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роли чище вашего и при этом не чист от всего подряд. Свой промпт и свежее начало она получает, а вместе с ними, по умолчанию, описания всех подключённых серверов целиком — включая те, которые её задаче не нужны ни одним инструментом. Это третья полоса со схемы базы: она наследуется.</a:t>
            </a:r>
          </a:p>
          <a:p/>
          <a:p>
            <a:r>
              <a:t>Дословно из документации по устранению ошибок: роли наследуют каждое описание инструмента сервера из вызвавшей сессии, и это может заполнить их контекст ещё до первого шага; отключайте серверы, которыми не пользуетесь, прежде чем заводить роли.</a:t>
            </a:r>
          </a:p>
          <a:p/>
          <a:p>
            <a:r>
              <a:t>Приложим это к сцене. Герой ищет места, где проверяется лимит участников, — работа целиком внутри репозитория, ни одного обращения наружу. Если в его сессии подключены трекер задач и сервер документации из предыдущего блока занятия, роль получит их описания бесплатно: место в её контексте занято до того, как она открыла первый файл.</a:t>
            </a:r>
          </a:p>
          <a:p/>
          <a:p>
            <a:r>
              <a:t>Сколько это стоит, занятие уже измерило: постоянная плата за подключённые серверы названа в токенах и в доле контекста в предыдущем блоке. Здесь существенно другое: эта плата вносится ещё раз, отдельно, в контекст каждой заведённой роли. Пять ролей — пять раз.</a:t>
            </a:r>
          </a:p>
          <a:p/>
          <a:p>
            <a:r>
              <a:t>Противоречия с предыдущими двумя экранами здесь нет, оба утверждения про один контракт. Фокус работает для содержимого репозитория: сорок файлов действительно остаются в контексте роли и закрываются вместе с ней. Этот экран называет то, что входит в контракт дополнительно и по умолчанию, помимо желания автора роли. Экономия остаётся, считается она с оговоркой.</a:t>
            </a:r>
          </a:p>
          <a:p/>
          <a:p>
            <a:r>
              <a:t>Что с этим делать. За подключёнными серверами следят тем же списком инструментов роли, который стоит пятым блоком на одностраничнике: список прав роли заодно решает, что окажется в её контексте. Есть и обратный приём той же механики: роль умеет объявить нужный ей сервер у себя — он поднимается на её старте и отключается на её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Здесь сходятся два хода занятия, и сходятся они не в пользу беспечности. Доступ наружу расширяет то, что агент умеет; плата за это расширение внесена в каждой сессии и теперь ещё и в каждой роли. Чем больше серверов подключено, тем дороже каждое делегирование — и дорожает оно молча, потому что ни на одном экране работы это не видно: роль просто начинает с меньшим запасом.</a:t>
            </a:r>
          </a:p>
          <a:p/>
          <a:p>
            <a:r>
              <a:t>Порядок действий из этого получается короткий. Перед тем как заводить роль под объёмное чтение, стоит посмотреть, что подключено в сессии, и отключить то, чем сегодня не пользуетесь: отключение действует на сессию, а значит и на все роли, которые она позовёт.</a:t>
            </a:r>
          </a:p>
          <a:p/>
          <a:p>
            <a:r>
              <a:t>Механика хуков и скиллов здесь своя, и занятие её не разбирает. Достаточно одного: отключение ненужных серверов — осознанный ход перед заведением роли. Разовая уборка в начале дня его не заменяет, потому что сессия обрастает серверами по ходу работы, и к середине дня подключено обычно больше, чем помнишь.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с этим содержимым дальше работать вам.</a:t>
            </a:r>
          </a:p>
          <a:p/>
          <a:p>
            <a:r>
              <a:t>Граница между двумя положениями проходит по одному вопросу: нужен ли вам дальше весь материал или адреса внутри него. Герою понадобились четыре места из сорока файлов, и содержимое остальных тридцати шести не пригодилось бы ему больше никогда. Рефакторинг тех же сорока — другое дело: там содержимое и есть предмет работы, короткого вывода из него не бывает.</a:t>
            </a:r>
          </a:p>
          <a:p/>
          <a:p>
            <a:r>
              <a:t>Правило, в которое это сворачивается: что мы заводим ради контекста — решаем по тому, что останется в контексте после ответа. Число открытых файлов на это решение не влияет.</a:t>
            </a:r>
          </a:p>
          <a:p/>
          <a:p>
            <a:r>
              <a:t>И строка оси, ради которой случай стоял.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Вопрос к себе, и проделать его стоит до конца. Назовите место в своём проекте, где перед правкой приходится искать по десяткам файлов, а находятся три-четыре строки. Назвали — это первый кандидат на делегирование. Теперь проверьте его вторым пунктом: править вы будете эти же десятки файлов или найденные строки? Если первое — кандидат отпадает, и отпадает он по делу.</a:t>
            </a:r>
          </a:p>
          <a:p/>
          <a:p>
            <a:r>
              <a:t>Про границу с предыдущего экрана: тот же принцип применяется и к ней. Подключили роли лишние серверы — обратно всё равно вернётся только итог, но контекст роли окажется занят раньше и сильнее, чем нужно. Критерий это в силе оставляет и уточняет размер самой экономии.</a:t>
            </a:r>
          </a:p>
          <a:p/>
          <a:p>
            <a:r>
              <a:t>Отдельно — формат ответа роли, который легко принять за деталь оформления. Попросить роль вернуть пересказ прочитанного вместо вывода технически можно, и экономия на этом кончается: роль, которой велели пересказать сорок файлов, вернёт в ваш контекст те же сорок файлов, только своими словами. Ровно та же арифметика, что со второй сессией: чем длиннее то, что возвращается, тем меньше смысла было уносить чтение. Формат ответа роли — часть критерия.</a:t>
            </a:r>
          </a:p>
          <a:p/>
          <a:p>
            <a:r>
              <a:t>И общий вид правила за пределами этого случая. Роль — средство управлять тем, что лежит в контексте; всё, что она даёт, и всё, чего она стоит, читается из этого одного свойства. Два следующих случая ступени добавят к нему две другие причины её заводить — работу в несколько потоков и разведение исполнителей по своим зонам, — и каждая из них считается тем же способом: по тому, что остаётся в контексте, когда роль закрылась.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 практика. Задача будет настоящая, с одним сроком и без уточнений, и раскладывать её придётся самостоятельно: сначала на куски, потом по зависимостям между ними. Решение, чем её ускорять, тоже остаётся за вами — на следующих двух экранах оно принимается, и только потом проверяется.</a:t>
            </a:r>
          </a:p>
          <a:p/>
          <a:p>
            <a:r>
              <a:t>Форма постановки здесь обычная до скуки: одна фраза и один срок. Уточнений не последует, разбивки на этапы никто не приложил, приоритетов внутри задачи не расставил. Именно в таком виде работа приходит чаще всего, и раскладывать её достаётся исполнителю: тот, кто ставил задачу, этого за него уже не сделает.</a:t>
            </a:r>
          </a:p>
          <a:p/>
          <a:p>
            <a:r>
              <a:t>Средств ускорить такую задачу больше одного. Одно из них — то, о котором идёт ступень: отдельный исполнитель, которого агент зовёт под кусок работы. Остальные четыре старше его и на многих задачах дешевле. Весь случай о том, как между пятью средствами выбирают, и выбирает здесь сама задача. Увидеть её выбор можно только после того, как она разложена.</a:t>
            </a:r>
          </a:p>
          <a:p/>
          <a:p>
            <a:r>
              <a:t>Отсюда понятно, зачем раскладка идёт первой — вопрос, который возникает у каждого, кто торопится начать. Задача, взятая целиком, допускает один порядок работы: от начала к концу, кусок за куском, в том порядке, в каком они попадаются под руку. Разложенная допускает несколько порядков, и среди них бывает заметно короче. Пока куски не названы и зависимости между ними не проверены, короткий порядок не виден вовсе — его нечем увидеть.</a:t>
            </a:r>
          </a:p>
          <a:p/>
          <a:p>
            <a:r>
              <a:t>Развилка задана вопросом намеренно. Ответ на него есть почти у каждого, и он наполовину верный: ускорить получится, средство придёт с другой стороны, чем его ждут. Готовое утверждение на этом месте отняло бы у практики её работу: прочитав вывод, разложить задачу своими руками уже нельзя — остаётся только согласиться с чужой раскладкой. Поэтому здесь стоит вопрос, и ответ на него собирается по ходу.</a:t>
            </a:r>
          </a:p>
          <a:p/>
          <a:p>
            <a:r>
              <a:t>Предыдущий случай ступени отвечал на другой вопрос: что делать, когда чтения под один ответ столько, что оно не помещается в контекст сессии. Ответом там был отдельный исполнитель, который читает в своём контексте и возвращает короткий итог. Здесь вопрос звучит иначе: задача одна, срок у неё — понедельник. Общее у двух случаев одно — отдельный исполнитель как один из возможных ходов; причины его завести разные, и границы у этих причин тоже разные. То, что выручает на длинном чтении, на короткой зависимой работе начинает мешать, и дальше будет видно, где именно.</a:t>
            </a:r>
          </a:p>
          <a:p/>
          <a:p>
            <a:r>
              <a:t>Слова «роль» на развилке нет, и названия средства тоже. Развилка называет наблюдаемую проблему и оставляет решение самому случаю — то же соглашение действует на остальных пяти развилках занятия. Если слово «субагент» пришло в голову раньше, чем вы дошли до карточек, поправлять нечего: это одна карточка из пяти, и к ней мы придём.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чате появляется одна фраза: «К понедельнику форма должна быть готова к рекламе». Это вся постановка. Уточнений не будет — автор фразы уехал на выходные, и до утра понедельника спросить его не у кого.</a:t>
            </a:r>
          </a:p>
          <a:p/>
          <a:p>
            <a:r>
              <a:t>Форма — это форма заявки на лендинге из того же проекта, что и два предыдущих занятия: проверка полей живёт в </a:t>
            </a:r>
            <a:r>
              <a:rPr>
                <a:latin typeface="Consolas"/>
              </a:rPr>
              <a:t>src/validate.js</a:t>
            </a:r>
            <a:r>
              <a:t>, функция называется </a:t>
            </a:r>
            <a:r>
              <a:rPr>
                <a:latin typeface="Consolas"/>
              </a:rPr>
              <a:t>validateForm</a:t>
            </a:r>
            <a:r>
              <a:t>, разметка — в </a:t>
            </a:r>
            <a:r>
              <a:rPr>
                <a:latin typeface="Consolas"/>
              </a:rPr>
              <a:t>index.html</a:t>
            </a:r>
            <a:r>
              <a:t>. Что именно значит «готова к рекламе», в постановке не сказано, и это часть задачи.</a:t>
            </a:r>
          </a:p>
          <a:p/>
          <a:p>
            <a:r>
              <a:t>Дальше стоит остановиться. Экран ниже держит уже разложенную задачу, но раскладка — та самая работа, ради которой этот случай и собран, и прочитанный ответ её не заменяет. Возьмите лист или пустой файл и сделайте два хода сами — они окупаются прямо на следующем экране.</a:t>
            </a:r>
          </a:p>
          <a:p/>
          <a:p>
            <a:r>
              <a:rPr b="1"/>
              <a:t>Ход первый.</a:t>
            </a:r>
            <a:r>
              <a:t> Что в этой задаче лежит? Выпишите кусками — такими, которые можно взять и сделать. На трёх останавливаться рано: из одной фразы их обычно выходит больше, чем кажется.</a:t>
            </a:r>
          </a:p>
          <a:p/>
          <a:p>
            <a:r>
              <a:rPr b="1"/>
              <a:t>Ход второй, и он весит больше первого.</a:t>
            </a:r>
            <a:r>
              <a:t> Против каждого куска ответьте на три вопроса. Нужен ли ему итог другого куска. Лезет ли он в тот же файл, что сосед. Повторяется ли он после других кусков.</a:t>
            </a:r>
          </a:p>
          <a:p/>
          <a:p>
            <a:r>
              <a:rPr b="1"/>
              <a:t>И третье, одной строкой.</a:t>
            </a:r>
            <a:r>
              <a:t> Напишите число: сколько исполнителей вы завели бы на эти куски. Первое, что просится, без обдумывания. Это число понадобится через два экрана, и записанное оно держится крепче задуманного: задуманное задним числом поправляет каждый.</a:t>
            </a:r>
          </a:p>
          <a:p/>
          <a:p>
            <a:r>
              <a:t>Сверяемся.</a:t>
            </a:r>
          </a:p>
          <a:p/>
          <a:p>
            <a:r>
              <a:t>Кусков выходит шесть. Поле «телефон» с проверкой формата ни от чего не зависит: это новое поле в разметке и новое правило в </a:t>
            </a:r>
            <a:r>
              <a:rPr>
                <a:latin typeface="Consolas"/>
              </a:rPr>
              <a:t>validateForm</a:t>
            </a:r>
            <a:r>
              <a:t>. Сообщения об ошибках, которые надо привести к одному виду, живут картой </a:t>
            </a:r>
            <a:r>
              <a:rPr>
                <a:latin typeface="Consolas"/>
              </a:rPr>
              <a:t>MESSAGES</a:t>
            </a:r>
            <a:r>
              <a:t> в том же </a:t>
            </a:r>
            <a:r>
              <a:rPr>
                <a:latin typeface="Consolas"/>
              </a:rPr>
              <a:t>src/validate.js</a:t>
            </a:r>
            <a:r>
              <a:t>. Итога другого куска они не требуют; файл у них общий с полем. Текст согласия на обработку данных не зависит ни от чего и кода проверки не касается вовсе. Проверка формы на узком экране идёт после поля: пока поля нет, проверять нечего. Прогон перед выкладкой — ветка, тесты, сборка — ни от чего не зависит и повторяется после каждого из остальных кусков. Письмо-подтверждение заявителю ни от чего не зависит и кода формы не касается.</a:t>
            </a:r>
          </a:p>
          <a:p/>
          <a:p>
            <a:r>
              <a:t>Считаем независимые. Их три из шести. Один кусок ждёт, пока появится поле. Один лезет в тот же файл, что поле. Один повторяется после каждого из остальных — то есть в задаче он стоит пять раз, и это его отличие от соседей важнее его размера.</a:t>
            </a:r>
          </a:p>
          <a:p/>
          <a:p>
            <a:r>
              <a:t>Если ваш список получился другим — это нормально и даже полезнее. Раскладка у каждого своя, она зависит от того, как в этом проекте принято резать работу, и спорить о её составе полезнее, чем о числе кусков. Держать нужно одно: чтобы по каждому названному куску прозвучал ответ на вопрос второго хода. Шесть строк на экране стоят опорой; списывать с них нечего. Если ваших кусков восемь и зависимости по ним проверены, раскладка сделана.</a:t>
            </a:r>
          </a:p>
          <a:p/>
          <a:p>
            <a:r>
              <a:t>Прогон перед выкладкой заслуживает отдельного слова, потому что его часто забывают считать работой. Работа есть: ветку создать, тесты прогнать, сборку собрать, глазами посмотреть. Время она занимает. Отличается она от соседей повторяемостью: пять остальных кусков делаются по одному разу, этот — после каждого из них. На этом отличии держится одна из пяти карточек следующего экрана, и без него она выглядела бы лишней.</a:t>
            </a:r>
          </a:p>
          <a:p/>
          <a:p>
            <a:r>
              <a:t>Если список не идёт, заходить стоит с конца: что обязано быть сделано к понедельнику, чтобы рекламу можно было запустить. Два куска из шести называются сразу, остальные подтягиваются за ними, и попутно обнаруживается, что к рекламе требуется далеко не всё из списка.</a:t>
            </a:r>
          </a:p>
          <a:p/>
          <a:p>
            <a:r>
              <a:t>Если вместо куска в список попало средство — «поручу это роли», «запущу вторую сессию», — запишите его отдельно и вернитесь к ходу. Средство выбирается на следующем экране; здесь договариваются только о том, из чего задача состоит. При обратном порядке средство уезжает вперёд раскладки, а решает его именно раскладка.</a:t>
            </a:r>
          </a:p>
          <a:p/>
          <a:p>
            <a:r>
              <a:t>Числа времени ни у одного куска не стоят намеренно: сколько занимает каждая из этих работ, ни один источник ступени не мерил, и правдоподобная оценка подменила бы раскладку ощущением. Независимость кусков от длительности не зависит — она проверяется по файлам и по итогам, и этого для выбора средства 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разложена. Чем её ускоряем?</a:t>
            </a:r>
          </a:p>
          <a:p/>
          <a:p>
            <a:r>
              <a:t>Выбор устроен так: одна карточка — и кусок, на котором выбранное средство работает. Карточка без куска не считается, потому что весь выбор лежит ровно в этой паре. «Роли» без указания куска означает «роли везде», а экран раскладки только что показал, что везде не выходит ни у одного из пяти средств.</a:t>
            </a:r>
          </a:p>
          <a:p/>
          <a:p>
            <a:r>
              <a:t>Пять средств на экране. Отдельный исполнитель, о котором идёт ступень, — одно из них, третья карточка слева. Остальные четыре старше его, и каждое на каком-то из шести кусков дешевле. Прежде чем читать дальше, стоит выбрать карточку и назвать кусок, и назвать причину: за счёт чего выбранное средство на этом куске выигрывает. Причина — половина ценности выбора, потому что ошибка здесь почти всегда лежит не в карточке, и видна она только через причину.</a:t>
            </a:r>
          </a:p>
          <a:p/>
          <a:p>
            <a:r>
              <a:t>Какие ответы на этот вопрос звучат чаще прочих, и что с каждым из них.</a:t>
            </a:r>
          </a:p>
          <a:p/>
          <a:p>
            <a:r>
              <a:rPr b="1"/>
              <a:t>«Роли, и на все куски сразу».</a:t>
            </a:r>
            <a:r>
              <a:t> Ответ сильный и честный, и звучит он чаще прочих. Спорить с ним преждевременно: ровно его и проверит разбор. Если он пришёл в голову первым — это хорошая отправная точка, потому что ошибка в нём лежит не там, где её обычно ищут.</a:t>
            </a:r>
          </a:p>
          <a:p/>
          <a:p>
            <a:r>
              <a:rPr b="1"/>
              <a:t>«Сузить задачу».</a:t>
            </a:r>
            <a:r>
              <a:t> Ход недооценённый, и он единственный из пяти, который убирает работу совсем, вместо того чтобы её ускорять. У него есть своё условие: сузить может тот, кто отвечает за срок. В большинстве случаев это не исполнитель, и тогда ход превращается в разговор с тем, кто ставил задачу. Разговор этот стоит дешевле двух рабочих выходных, поэтому ход заслуживает того, чтобы стоять в списке первым.</a:t>
            </a:r>
          </a:p>
          <a:p/>
          <a:p>
            <a:r>
              <a:rPr b="1"/>
              <a:t>«Делать куски по очереди».</a:t>
            </a:r>
            <a:r>
              <a:t> Защитимо, и у этого ответа есть реальное достоинство: порядок один и предсказуемый, столкнуться друг с другом куски не могут физически. Проверочный вопрос к нему один — на каком числе кусков он начнёт проигрывать. Ответ в самой арифметике: ожидания складываются, и чем больше в задаче независимых кусков, тем дороже обходится очередь.</a:t>
            </a:r>
          </a:p>
          <a:p/>
          <a:p>
            <a:r>
              <a:rPr b="1"/>
              <a:t>«Вести куски в нескольких сессиях».</a:t>
            </a:r>
            <a:r>
              <a:t> Ход рабочий, и у него есть точное место, где он спотыкается: что произойдёт, когда две сессии дойдут до поля и до сообщений об ошибках. Оба куска живут в одном файле. Это отдельная развилка со своей ценой и своими приёмами защиты, и она разбирается дальше в занятии; здесь достаточно заметить, что пересечение по файлу есть и что оно решает выбор между этой карточкой и соседней.</a:t>
            </a:r>
          </a:p>
          <a:p/>
          <a:p>
            <a:r>
              <a:rPr b="1"/>
              <a:t>«Вынести повторяемое в проверку, которая гоняется сама».</a:t>
            </a:r>
            <a:r>
              <a:t> Ответ, который приходит реже и попадает точно: прогон перед выкладкой стоит в задаче пять раз, и человеку там делать нечего. Условие у хода тоже есть, и разбор его назовёт.</a:t>
            </a:r>
          </a:p>
          <a:p/>
          <a:p>
            <a:r>
              <a:t>Выбрать две карточки нельзя, и это ограничение намеренное. Карточка плюс кусок — уже полный ответ, а две карточки означают два куска, то есть две раскладки сразу, и выбор перестаёт что-либо значить: при двух ходах в запасе всегда найдётся кусок, на котором хоть один из них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средств и шесть кусков. Пройдём по каждому средству: что оно делает и где перестаёт работать.</a:t>
            </a:r>
          </a:p>
          <a:p/>
          <a:p>
            <a:r>
              <a:rPr b="1"/>
              <a:t>Делать куски по очереди.</a:t>
            </a:r>
            <a:r>
              <a:t> Порядок один и предсказуемый, столкнуться куски не могут. Цена — три независимых куска ждут друг друга без всякой причины, и ожидания складываются. На шести кусках очередь обходится дороже любого другого порядка, и она же единственная, которая никогда не ломается.</a:t>
            </a:r>
          </a:p>
          <a:p/>
          <a:p>
            <a:r>
              <a:rPr b="1"/>
              <a:t>Вести куски в нескольких сессиях.</a:t>
            </a:r>
            <a:r>
              <a:t> Куски идут одновременно, у каждой сессии свой контекст и свой разговор. Спотыкается ход на том же месте, которое нашла раскладка: поле и сообщения об ошибках живут в одном файле </a:t>
            </a:r>
            <a:r>
              <a:rPr>
                <a:latin typeface="Consolas"/>
              </a:rPr>
              <a:t>src/validate.js</a:t>
            </a:r>
            <a:r>
              <a:t>, и две сессии в одной папке дойдут до него обе. Чем это чинится — отдельная развилка дальше в занятии; здесь важен сам факт пересечения, потому что он решает выбор между этой карточкой и соседней.</a:t>
            </a:r>
          </a:p>
          <a:p/>
          <a:p>
            <a:r>
              <a:rPr b="1"/>
              <a:t>Раздать куски ролям и запустить разом.</a:t>
            </a:r>
            <a:r>
              <a:t> Одновременность даёт сам харнесс: настраивать её не нужно, у каждой роли свой контекст и короткий итог на выходе. Работает это средство там, где параллельность в задаче уже есть — на трёх независимых кусках. На куске, который лезет в чужой файл, две роли увидят разные версии одного </a:t>
            </a:r>
            <a:r>
              <a:rPr>
                <a:latin typeface="Consolas"/>
              </a:rPr>
              <a:t>src/validate.js</a:t>
            </a:r>
            <a:r>
              <a:t>; на куске, который стоит в очереди, второй исполнитель будет ждать первого и при этом занимать место.</a:t>
            </a:r>
          </a:p>
          <a:p/>
          <a:p>
            <a:r>
              <a:rPr b="1"/>
              <a:t>Вынести повторяемое в проверку, которая гоняется сама.</a:t>
            </a:r>
            <a:r>
              <a:t> Прогон перед выкладкой уходит из очереди совсем: его делает не человек, и повторяется он без участия исполнителя сколько угодно раз. Условие у хода жёсткое: писать такую проверку надо заранее и один раз. В пятницу, когда задача уже пришла, она ускорит только следующую такую задачу — на этой её писать поздно, и это честная цена того, что ход вообще существует.</a:t>
            </a:r>
          </a:p>
          <a:p/>
          <a:p>
            <a:r>
              <a:rPr b="1"/>
              <a:t>Сузить задачу.</a:t>
            </a:r>
            <a:r>
              <a:t> Для рекламы нужны поле и согласие — два куска из шести. Остальные четыре к понедельнику можно не делать вовсе, и это дешевле любого ускорения. Решает это тот, кто отвечает за срок, поэтому ход требует разговора с ним.</a:t>
            </a:r>
          </a:p>
          <a:p/>
          <a:p>
            <a:r>
              <a:t>Теперь поворот, ради которого случай и собран. Ни одно из пяти средств не ускоряет все шесть кусков. Параллельность лежит в задаче, и в этой её ровно на три куска: роли берут её там, где она есть, и умножают ошибку там, где её нет — на куске, который лезет в чужой файл, и на куске, который стоит в очереди за другим.</a:t>
            </a:r>
          </a:p>
          <a:p/>
          <a:p>
            <a:r>
              <a:t>Здесь и пригодится число, записанное на практике. Поставьте его рядом с тройкой независимых кусков. Чаще всего записанное число равно шести — по куску на исполнителя, — и расхождение с тройкой показывает, из чего обычно считают: из количества работы, которую хочется раздать. Считать надо из свойства задачи.</a:t>
            </a:r>
          </a:p>
          <a:p/>
          <a:p>
            <a:r>
              <a:t>Проверять независимость можно дёшево и по-инженерному, без всякой теории. Два вопроса: пересекаются ли куски по файлам и нужен ли одному итог другого. Разные файлы и ни одной общей зависимости — куски независимы. Один и тот же файл, общий модуль, «сначала переименуем, потом поправим вызовы» — зависимы, и читать их дальше стоит уже как одну работу.</a:t>
            </a:r>
          </a:p>
          <a:p/>
          <a:p>
            <a:r>
              <a:t>Число исполнителей при этом не оказывается ни при чём — оно стоит вторым номером. Потолок выигрыша задаёт оно, а сам выигрыш дают независимые куски. Где независимости нет, рост числа исполнителей меняет знак и начинает работать против: вместо одной работы появляются две плюс стык между ними. Держать проще всего в таком порядке: сначала считаем в задаче независимые куски, потом заводим исполнителей — ровно столько, сколько кусков насчитали.</a:t>
            </a:r>
          </a:p>
          <a:p/>
          <a:p>
            <a:r>
              <a:t>Откуда берётся «умножают ошибку» — из измерения, оно будет дальше в кейсе вместе с источником и условиями эксперимента. Пока достаточно направления: зависимые шаги, разведённые по разным исполнителям, теряют связь, которую следующий шаг должен был увидеть.</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и оно меняет то, как читается цена решения.</a:t>
            </a:r>
          </a:p>
          <a:p/>
          <a:p>
            <a:r>
              <a:t>Три роли на три независимых куска пошли бы одновременно. Это механика харнесса, и настраивать её не нужно: с определённой версии параллельный режим включён в интерактивной сессии по умолчанию. Роль уходит в фон, основная сессия её не ждёт и продолжает работать. Никакой очереди, никакого флага, никакой отдельной настройки в конфигурации — поведение такое из коробки.</a:t>
            </a:r>
          </a:p>
          <a:p/>
          <a:p>
            <a:r>
              <a:t>Предел есть, и стоит он на одновременности. По умолчанию одновременно могут работать не больше двадцати ролей; попытка завести двадцать первую падает отдельной явной ошибкой — </a:t>
            </a:r>
            <a:r>
              <a:rPr>
                <a:latin typeface="Consolas"/>
              </a:rPr>
              <a:t>Concurrent subagent limit reached</a:t>
            </a:r>
            <a:r>
              <a:t>. Общего предела на то, сколько ролей можно вызвать за всю сессию, нет вовсе: двести вызовов подряд по одной роли упрутся только во время и в деньги.</a:t>
            </a:r>
          </a:p>
          <a:p/>
          <a:p>
            <a:r>
              <a:t>Из этого следует вывод, который стоит держать при себе всю ступень: одновременность бесплатна. Харнесс даёт её сам, и значит, вся цена решения приходится на раскладку. Ошибиться можно только в том, сколько в задаче независимых кусков, — и если ошиблись, одновременность старательно умножит эту ошибку, потому что мешать ей нечего.</a:t>
            </a:r>
          </a:p>
          <a:p/>
          <a:p>
            <a:r>
              <a:t>Двадцать первая задача при пределе двадцать не потеряется и не подождёт своей очереди сама. Харнесс откажет явной ошибкой, и запускать её придётся руками, когда освободится место. Молчаливой очереди здесь нет, и это удачное устройство: иначе двадцать первый кусок тихо ждал бы своего часа, пока его считают проверенным.</a:t>
            </a:r>
          </a:p>
          <a:p/>
          <a:p>
            <a:r>
              <a:t>Версия и переменная, если понадобится точность. Параллельный режим по умолчанию появился в интерактивной сессии начиная с версии 2.1.232; предел задаётся переменной окружения </a:t>
            </a:r>
            <a:r>
              <a:rPr>
                <a:latin typeface="Consolas"/>
              </a:rPr>
              <a:t>CLAUDE_CODE_MAX_CONCURRENT_SUBAGENTS</a:t>
            </a:r>
            <a:r>
              <a:t>. Номер версии на экран намеренно не вынесен — он устаревает быстрее, чем сам факт, и к моменту чтения, скорее всего, успел смениться.</a:t>
            </a:r>
          </a:p>
          <a:p/>
          <a:p>
            <a:r>
              <a:t>Поднимать предел сразу после того, как о нём узнали, смысла мало. Двадцать одновременно работающих ролей — это двадцать контекстов и двадцать счетов за токены, и упереться в двадцать на обычной работе трудно. Если упёрлись, первое разумное действие — перечитать раскладку и проверить, точно ли там двадцать независимых кусков. Чаще оказывается, что их пять, а остальные пятнадцать — куски, нарезанные по строчкам задачи, которые друг от друга зависят.</a:t>
            </a:r>
          </a:p>
          <a:p/>
          <a:p>
            <a:r>
              <a:t>Про видимость стоит сказать отдельно, потому что это цена, которую одновременность всё-таки берёт. Видно, что фоновая роль работает, и виден её итог. Ход работы — чем она занималась, что прочитала, где сомневалась — не виден.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и сам по себе. На зависимых мешает сильно — именно там нужно было бы видеть, что одна роль успела узнать раньше другой, и именно этого увидеть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вывод на отрицательном примере, и на том самом куске, который раскладка признала неделимым.</a:t>
            </a:r>
          </a:p>
          <a:p/>
          <a:p>
            <a:r>
              <a:t>Через неделю разработчик берётся за новое поле и изменение проверки формы. Исполнителей он берёт по числу, которое просилось в пятницу само, — больше одного. Диф-ревьюер — та самая роль, чей файл разбирали на одностраничнике ступени; он зовёт второго: тестировщика, который прогоняет сценарии через форму и смотрит на поведение, не ограничиваясь чтением кода. Обе роли получают один и тот же кусок.</a:t>
            </a:r>
          </a:p>
          <a:p/>
          <a:p>
            <a:r>
              <a:t>Диф-ревьюер читает код, видит, что проверка написана верно, и возвращает </a:t>
            </a:r>
            <a:r>
              <a:rPr>
                <a:latin typeface="Consolas"/>
              </a:rPr>
              <a:t>PASS</a:t>
            </a:r>
            <a:r>
              <a:t>. Отчёт честный: в том коде, который он читал, проблем нет. Тестировщик прогоняет через форму обычные сценарии, ничего не находит и тоже возвращает </a:t>
            </a:r>
            <a:r>
              <a:rPr>
                <a:latin typeface="Consolas"/>
              </a:rPr>
              <a:t>PASS</a:t>
            </a:r>
            <a:r>
              <a:t>. Этот отчёт тоже честный: форма ведёт себя ожидаемо на тех сценариях, которые он прогнал.</a:t>
            </a:r>
          </a:p>
          <a:p/>
          <a:p>
            <a:r>
              <a:t>Правка уходит в показ. Заказчик вводит адрес с пробелом перед доменом — случай, который не вошёл ни в код, прочитанный построчно, ни в список прогнанных сценариев. Оба </a:t>
            </a:r>
            <a:r>
              <a:rPr>
                <a:latin typeface="Consolas"/>
              </a:rPr>
              <a:t>PASS</a:t>
            </a:r>
            <a:r>
              <a:t> правдивы по отдельности. Картина, которую разработчик из них собрал, — «кусок проверен» — не описывает ничего: между двумя зонами остался промежуток, про который не высказалась ни одна роль.</a:t>
            </a:r>
          </a:p>
          <a:p/>
          <a:p>
            <a:r>
              <a:t>Стоит заметить, что здесь повторено. Число исполнителей. Условия под ним не было: кусок был один и неделимый, и две роли его не распараллелили — они его разрезали. Разрез кому-то нужно держать, и этого разработчик не поручил никому.</a:t>
            </a:r>
          </a:p>
          <a:p/>
          <a:p>
            <a:r>
              <a:t>Почему диф-ревьюер не поймал пробел в адресе — вопрос, который возникает первым, и ответ на него снимает подозрение с роли. Он проверял код </a:t>
            </a:r>
            <a:r>
              <a:rPr>
                <a:latin typeface="Consolas"/>
              </a:rPr>
              <a:t>validateForm</a:t>
            </a:r>
            <a:r>
              <a:t> и видел, что логика там написана верно. Пробел перед доменом не относится к тому, что этот кусок менял в коде: случай поведенческий, не структурный. Роль отработала ровно по своему описанию, и претензий к ней нет.</a:t>
            </a:r>
          </a:p>
          <a:p/>
          <a:p>
            <a:r>
              <a:t>Чем это отличается от трёх независимых кусков, где роли сработали бы. Там между кусками зазора не было вовсе — они лежали врозь сами, и каждый закрывался целиком одним исполнителем. Здесь две разные роли делят один кусок на стороны, и граница между сторонами оказалась никому не поручена. Разница ровно в том, было ли что делить.</a:t>
            </a:r>
          </a:p>
          <a:p/>
          <a:p>
            <a:r>
              <a:t>Тестировщик в этой истории не виноват, и смазывать это не стоит: он прогнал те сценарии, которые ему поручили, и честно о них отчитался. Подвела здесь не роль и не формулировка </a:t>
            </a:r>
            <a:r>
              <a:rPr>
                <a:latin typeface="Consolas"/>
              </a:rPr>
              <a:t>PASS</a:t>
            </a:r>
            <a:r>
              <a:t>. Подвело то, что никто не записал, где кончается зона каждого из двоих.</a:t>
            </a:r>
          </a:p>
          <a:p/>
          <a:p>
            <a:r>
              <a:t>Поймал ли бы промежуток человек, работающий без ролей? Не обязательно. Но человек, читающий кусок целиком, по крайней мере имел шанс споткнуться о пробел в адресе; два отчёта, каждый верный в своих границах, этот шанс забирают — именно потому, что оба зелёные. Проверка, которая закрывает часть поля и молчит про остальное, опаснее отсутствия проверки ровно настолько, насколько ей верят.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и работает один. Разберём все четыре, потому что три неработающих выглядят убедительно.</a:t>
            </a:r>
          </a:p>
          <a:p/>
          <a:p>
            <a:r>
              <a:rPr b="1"/>
              <a:t>Вернуться к одной роли на этом куске.</a:t>
            </a:r>
            <a:r>
              <a:t> Ход честный: кусок неделимый, и один исполнитель видит его целиком, со стыком внутри своей зоны. Цена названа прямо — одновременность на тех трёх кусках, где она была, придётся отдать, если это правило распространить на всю задачу. На одном куске ход часто проще и дешевле остальных четырёх; ошибкой он становится там, где кусков несколько и они независимы.</a:t>
            </a:r>
          </a:p>
          <a:p/>
          <a:p>
            <a:r>
              <a:rPr b="1"/>
              <a:t>Одна роль с широким описанием на обе стороны.</a:t>
            </a:r>
            <a:r>
              <a:t> Кусок небольшой, одна роль успела бы честно покрыть и код, и поведение. Цена спрятана в слове «широкое»: широкое описание означает широкий контекст и широкие права — ровно то, что урезанный список инструментов и ограничивает. Ступень от этого отказалась в предыдущем случае, и возвращаться к этому ради одного стыка дорого.</a:t>
            </a:r>
          </a:p>
          <a:p/>
          <a:p>
            <a:r>
              <a:rPr b="1"/>
              <a:t>Расписать границы каждой роли в обе стороны.</a:t>
            </a:r>
            <a:r>
              <a:t> Этот и работает. Промежуток между двумя зонами становится виден до того, как проявится багом у заказчика: достаточно прочитать два описания рядом. Условие у хода одно — расписать нужно осознанно, в тот момент, когда появляется вторая роль. От самого факта её появления эта работа не делается.</a:t>
            </a:r>
          </a:p>
          <a:p/>
          <a:p>
            <a:r>
              <a:rPr b="1"/>
              <a:t>Завести третью роль-координатора.</a:t>
            </a:r>
            <a:r>
              <a:t> Выглядит как решение и сверяет вывод двух готовых ролей. Цена растёт быстрее, чем снижается риск: к двум уже не согласованным ролям добавляется слой координации, у которого есть свои границы, свой контекст и свой стык с каждой из двух. Оправдан координатор тогда, когда сверка вывода двух ролей — отдельная, названная заранее работа, заведённая до того, как появилась несогласованность. Проверяется это одним вопросом: что координатор делает такого, чего обе роли не могут записать себе в описание. Нет ответа — это заплатка.</a:t>
            </a:r>
          </a:p>
          <a:p/>
          <a:p>
            <a:r>
              <a:t>Теперь о том, чем третий ход работает, — и здесь он сходится с раскладкой. В пятницу условие назвали вслух: сказали, какие куски независимы и почему. На разрезе одного куска его не назвал никто — разрез появился, владельца у него не завели. Работает третий ход, и работает он тем же, чем работала раскладка: он называет условие вслух, до того как оно понадобится.</a:t>
            </a:r>
          </a:p>
          <a:p/>
          <a:p>
            <a:r>
              <a:t>Выглядит «расписать границы» скромно: одна строка в описании каждой роли, по-доменному. Что входит в её проверку и что остаётся снаружи. Как именно это пишется — дальше в кейсе, на механике границы, на тех же двух ролях. Одно правило при письме стоит знать заранее: границу пишут парой и обе строки сверяют рядом. Написанные независимо, два описания либо опишут один участок дважды, либо не опишут ни разу, и шансы тут примерно равные.</a:t>
            </a:r>
          </a:p>
          <a:p/>
          <a:p>
            <a:r>
              <a:t>Второго выбора карточками на этом месте нет намеренно. Решение случая — чем ускорять и на каком куске — уже принято раньше в кейсе — вопросом и разбором. Это итог того же разговора, доведённый до разреза одного куска; отдельный выбор по соседнему вопросу размыл бы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диф-ревьюера и тестировщика из этой истории нет третьей роли, которая сверяла бы их согласованность. Случай выглядит частным — пока не посмотреть, что говорит об этом измерение на масштабе.</a:t>
            </a:r>
          </a:p>
          <a:p/>
          <a:p>
            <a:r>
              <a:t>Первый источник — таксономия отказов систем из нескольких агентов, Cemri и другие, работа «MAST», arXiv:2503.13657, принята на NeurIPS 2025 в трек Datasets and Benchmarks. Размечено вручную больше тысячи шестисот трасс по семи разным фреймворкам, согласие между экспертами по шкале каппа — ноль целых восемьдесят восемь. Провальных трасс от сорока одного до восьмидесяти семи процентов в зависимости от фреймворка. Причины делятся на три категории: спецификация задачи и роли держит около сорока двух процентов, рассогласование между агентами — около тридцати семи, верификация результата — около двадцати одного. Рассогласование между агентами стоит второй причиной по весу, почти вровень с описанием самой задачи. Это и есть промежуток из нашей истории, посчитанный на выборке.</a:t>
            </a:r>
          </a:p>
          <a:p/>
          <a:p>
            <a:r>
              <a:t>Второй источник — контролируемый эксперимент о цене, Kim, Gu, Park и другие, Google Research, arXiv:2512.08296. Двести шестьдесят конфигураций, шесть наборов задач, пять архитектур. На последовательной задаче схема из нескольких ролей проигрывает одноагентной на той же задаче от тридцати девяти до семидесяти процентов, а число ошибок усиливается в семнадцать целых две десятых раза относительно одноагентной системы на входе. С централизованной проверкой усиление падает до четырёх целых четырёх десятых — падает, но остаётся усилением. Вот цифра под поворотом этого случая: там, где шаги зависимы, разбиение на роли стоит дороже всего, что параллельность могла бы сэкономить.</a:t>
            </a:r>
          </a:p>
          <a:p/>
          <a:p>
            <a:r>
              <a:t>Про межэкспертное согласие стоит сказать, почему на эту цифру вообще смотрят. Ноль целых восемьдесят восемь по шкале каппа означает высокое согласие: категории различали разные люди и сходились между собой. Это и делает таксономию пригодной для ссылки — разметка здесь не произвольная.</a:t>
            </a:r>
          </a:p>
          <a:p/>
          <a:p>
            <a:r>
              <a:t>Абсолютного числа ошибок второй источник не публикует, и это честно назвать прямо. Приведено только относительное усиление — во сколько раз больше, чем у одной роли на той же задаче. «В семнадцать раз больше» без базовой величины говорит о направлении, о размере не говорит, и подставлять базу самостоятельно нельзя.</a:t>
            </a:r>
          </a:p>
          <a:p/>
          <a:p>
            <a:r>
              <a:t>Разброс «от сорока одного до восьмидесяти семи процентов» выглядит так широко, что его хочется отбросить, и делать этого не стоит. Разброс идёт по фреймворкам: разные системы падают по-разному. Важно в нём одно — доля провальных трасс нигде не оказалась малой.</a:t>
            </a:r>
          </a:p>
          <a:p/>
          <a:p>
            <a:r>
              <a:t>Отдельно про цифру «семьдесят девять процентов отказов — проблема спецификации», которая разошлась по сети и попадается в пересказах этой работы. Это сумма первых двух категорий MAST, сорока двух и тридцати семи, пересказанная как будто отдельное измерение. Встретив её, стоит проверить, не считается ли одно и то же дважды под разными подписями.</a:t>
            </a:r>
          </a:p>
          <a:p/>
          <a:p>
            <a:r>
              <a:t>Переносятся ли эти цифры на две роли напрямую. Нет, и это важно сказать прежде, чем кто-то вооружится семнадцатикратным усилением в разговоре о паре исполнителей. Оба исследования мерили системы из многих агентов; направление переносится, порядок величины — не переносится. На двух ролях честнее говорить о риске промежутка, который измерен как вторая причина отказов по весу.</a:t>
            </a:r>
          </a:p>
          <a:p/>
          <a:p>
            <a:r>
              <a:t>И честный пробел, потому что на занятии его называют прямо. Проверить рассогласование двух параллельных ролей на репозитории курса или на вашей машине нечем: ни один из инструментов проверяемости этого занятия такого не демонстрирует. Утверждение стоит на исследовании, не на команде, которую можно набрать в терминале. Остальные опоры занятия проверяются руками; эта — нет.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Промежуток закрывает одно средство — явная граница в описании каждой роли, прописанная в обе стороны.</a:t>
            </a:r>
          </a:p>
          <a:p/>
          <a:p>
            <a:r>
              <a:t>Диф-ревьюер с одностраничника этой ступени так уже устроен: в его описании стоит строка «НЕ для ревью архитектурных решений — это отдельная роль». Читающий описание видит не только то, что роль делает, но и то, где она останавливается. Тестировщику нужна симметричная строка: что входит в его проверку и что остаётся снаружи, по-доменному. Например: «проверяю поведение формы на перечисленных сценариях; форматы ввода за пределами списка и структуру кода не проверяю». Снаружи обязано быть названо конкретное — формулировка «всё остальное» не читается как чья-то зона и потому не проверяется никем.</a:t>
            </a:r>
          </a:p>
          <a:p/>
          <a:p>
            <a:r>
              <a:t>Теперь честно о пределе приёма, потому что обещать он может больше, чем делает. Записанная в двух описаниях граница промежутка не убирает. Она делает его видимым тому, кто читает оба описания рядом. Увидеть промежуток до показа заказчику остаётся работой человека — ровно той работой, которую на трёх независимых кусках делать было не нужно: они лежали врозь сами, и стыков между ними не возникало. Приём честен ровно настолько, насколько он скромен.</a:t>
            </a:r>
          </a:p>
          <a:p/>
          <a:p>
            <a:r>
              <a:t>Схема на экране показывает это устройство целиком. Два прямоугольника — зона диф-ревьюера и зона тестировщика, у каждого своя строка «НЕ для…» внизу. Между прямоугольниками выделена узкая полоса с подписью «промежуток, не поручен ни одной роли»: пробел перед доменом попадает ровно туда. Подпись под схемой говорит то же, что сказано выше словами, — граница делает промежуток видимым и не убирает его.</a:t>
            </a:r>
          </a:p>
          <a:p/>
          <a:p>
            <a:r>
              <a:t>Кто пишет вторую, симметричную строку — автор новой роли или автор старой. По-хорошему оба описания сверяют вместе, в тот момент, когда заводится вторая роль. Написать её в одиночку, в надежде что зоны совпадут, — то же самое, что не писать: два автора независимо либо опишут один участок дважды, либо не опишут его вовсе, и предсказать, какой из двух случаев выпадет, нельзя.</a:t>
            </a:r>
          </a:p>
          <a:p/>
          <a:p>
            <a:r>
              <a:t>Есть соблазн пойти другим путём: один раз написать большое общее описание на обе роли и закрыть вопрос. Это второй ход из предыдущего разбора, и цена его уже названа — широкое описание возвращает широкий контекст и широкие права. Граница обходится дешевле: две строки против расширенного доступа. Проверяется она к тому же глазами за минуту, чего про широкое описание сказать нельзя.</a:t>
            </a:r>
          </a:p>
          <a:p/>
          <a:p>
            <a:r>
              <a:t>Стоит заметить, что этот приём не требует ни инструментов, ни настроек, ни изменений в харнессе. Он целиком лежит в тексте описания роли, и это ставит его в тот же ряд, что и строка правила в файле инструкций, разобранная в предыдущем блоке занятия. Приёмы такого рода дёшевы и ровно поэтому легко пропускаются: у них нет момента, в который их пропуск заметен. Строка в описании роли, которой нет, ничем не сигналит о своём отсутствии — её отсутствие предъявляет заказчик, вводя адрес с пробелом перед доменом.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Метку этой черты поставила отрасль, и поставила дважды в одну сторону.</a:t>
            </a:r>
          </a:p>
          <a:p/>
          <a:p>
            <a:r>
              <a:t>Одна команда год назад полностью отвергала работу несколькими агентами, называя неструктурированный «рой» отвлекающим фактором и публично объясняя почему. Десять месяцев спустя она же вернулась к этой работе — к двум узким схемам. Первая: цепочка ревью, где отдельная роль находит в среднем два бага на правку, и около пятидесяти восьми процентов из них серьёзные. Вторая: связка из двух разных сильных моделей на сложных сценариях. «Рой» без границ эта же команда по-прежнему называет отвлекающим фактором. Разворот ценен именно тем, кто его сделал: люди, заплатившие за обе позиции практикой, вернулись к двум узким схемам, оставив общий случай отвергнутым.</a:t>
            </a:r>
          </a:p>
          <a:p/>
          <a:p>
            <a:r>
              <a:t>Критерий из этого складывается такой. Роль оправдана, когда кусков несколько и они независимы — шаг одного не нуждается в выводе другого. Диф-ревьюер и тестировщик попадают в этот случай, когда кусков у них два и у каждого своя узкая зона с коротким итогом.</a:t>
            </a:r>
          </a:p>
          <a:p/>
          <a:p>
            <a:r>
              <a:t>Дешевле другое средство в четырёх положениях, и каждое из них встречалось в разложенной задаче. Шаги зависимы: разбиение умножает ошибку — в семнадцать целых две десятых раза без координатора и в четыре целых четыре десятых даже при централизованной проверке. Кусок один и неделимый: разрез между ролями никому не поручен, и два честных </a:t>
            </a:r>
            <a:r>
              <a:rPr>
                <a:latin typeface="Consolas"/>
              </a:rPr>
              <a:t>PASS</a:t>
            </a:r>
            <a:r>
              <a:t> складываются в картину, которой нет. Кусок повторяется после каждого из остальных: его место в проверке, которая гоняется сама. Кусок к сроку не нужен вовсе: такой сужают, и ускорять в нём нечего.</a:t>
            </a:r>
          </a:p>
          <a:p/>
          <a:p>
            <a:r>
              <a:t>Чем кончилось у разработчика из этой истории. Неделю после бага он делал всё в одну роль, по очереди, включая те куски, которые спокойно делились. Баг у заказчика стоил часа. Доверие к приёму стоило недели работы по очереди, и это вторая цена, которая здесь важнее первой. Час на исправление пропущенного бага — обычная плата за пропущенный баг. Неделя отказа от работающего приёма — плата за неверный счёт, снятый с этого приёма.</a:t>
            </a:r>
          </a:p>
          <a:p/>
          <a:p>
            <a:r>
              <a:t>Разница между двумя этими провалами стоит того, чтобы её разделить. Провал приёма чинится одной строкой в описании роли. Провал счёта, снятого с приёма, чинится только тем, что кто-то заново называет условие вслух — и до этого момента работающее средство лежит без дела. Счёт исполнителей разработчик запомнил; условие под ним — нет, и неделя ушла на это.</a:t>
            </a:r>
          </a:p>
          <a:p/>
          <a:p>
            <a:r>
              <a:t>Как он в итоге нашёл границу: сел и перечитал оба описания рядом, впервые. Это ровно приём предыдущего экрана, применённый с опозданием на неделю. По его куску стоит заметить отдельно: код и поведение формы проверять двумя ролями было можно, отсюда и решение оставить две роли с явно расписанными границами. Ошибкой стало молчание о разрезе между ними.</a:t>
            </a:r>
          </a:p>
          <a:p/>
          <a:p>
            <a:r>
              <a:t>Две причины заводить отдельного исполнителя к этому моменту разобраны: чужой контекст под длинное чтение и одновременная работа на независимых кусках. Третья причина — про саму роль, и она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роль занятие уже разобрало: чтение, которое в контекст не помещается, и задачи, которые стоят в очереди зря. Третий случай — про то, что происходит, когда исполнителей становится больше одного, а каталог файлов у них общий.</a:t>
            </a:r>
          </a:p>
          <a:p/>
          <a:p>
            <a:r>
              <a:t>Предыдущие два случая решали про работу: куда её отдать и сколько таких отдач вести разом. Здесь решается про место. Один каталог на нескольких исполнителей — и вопрос, что именно в нём ломается.</a:t>
            </a:r>
          </a:p>
          <a:p/>
          <a:p>
            <a:r>
              <a:t>Сессий у того, кто работает с агентом каждый день, обычно больше одной: первая занята, пришла вторая задача, открывается вторая сессия. Ролей в одной папке — почти всегда больше одной, и это штатное положение дел. Роли попадают в ту же папку по устройству: роль работает там, где стоит позвавшая её сессия. Разница между сессией и ролью здесь одна, и на ней стоит весь случай: сессии отдельную копию репозитория дают почти всегда, роли — почти никогда, и у этого есть названная причина. К ней дальше и идём.</a:t>
            </a:r>
          </a:p>
          <a:p/>
          <a:p>
            <a:r>
              <a:t>Механизм, который ломается, старше агентов. Рабочая копия репозитория стоит на одной ветке для всех, кто в ней работает, и так было задолго до того, как в каталоге появился первый агент. Изменилась частота. Раньше в каталоге работал один человек своими руками и сам знал, что в файлах лежит. Теперь в нём стоят две сессии и десяток ролей, и у каждой своё представление о состоянии файлов.</a:t>
            </a:r>
          </a:p>
          <a:p/>
          <a:p>
            <a:r>
              <a:t>Проверить это у себя можно по памяти, не открывая ничего: сколько сессий вы держите открытыми на одном репозитории и сколько раз за последний месяц переключали ветку, пока рядом шла чужая работа. Если ответ «такого не было» — к концу случая будет виден признак, по которому столкновение опознаётся, и он не в том, что работа сломалась заметно.</a:t>
            </a:r>
          </a:p>
          <a:p/>
          <a:p>
            <a:r>
              <a:t>Числа столкновений ниже взяты из журнала этого курса. Курс собран тем самым способом, о котором идёт речь, — несколькими сессиями в одной рабочей копии, — и трижды поймал ровно то, что разбирается дальше.</a:t>
            </a:r>
          </a:p>
          <a:p/>
          <a:p>
            <a:r>
              <a:t>К концу случая решается одно: где разводить копиями и где только зонами. Ответ для сессии и для роли получится разным.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проверки адреса — та самая, после бага на показе: пробел перед доменом форма приняла. На ветке </a:t>
            </a:r>
            <a:r>
              <a:rPr>
                <a:latin typeface="Consolas"/>
              </a:rPr>
              <a:t>fix/email-pattern</a:t>
            </a:r>
            <a:r>
              <a:t> работа начата и не закоммичена: регулярное выражение в </a:t>
            </a:r>
            <a:r>
              <a:rPr>
                <a:latin typeface="Consolas"/>
              </a:rPr>
              <a:t>index.html</a:t>
            </a:r>
            <a:r>
              <a:t> поправлено, сообщение об ошибке в </a:t>
            </a:r>
            <a:r>
              <a:rPr>
                <a:latin typeface="Consolas"/>
              </a:rPr>
              <a:t>src/validate.js</a:t>
            </a:r>
            <a:r>
              <a:t> — ещё нет.</a:t>
            </a:r>
          </a:p>
          <a:p/>
          <a:p>
            <a: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нечем — задачи независимы, а сессия занята; это и есть обычный повод открыть вторую. Разработчик открывает её в том же каталоге, на том же репозитории.</a:t>
            </a:r>
          </a:p>
          <a:p/>
          <a:p>
            <a:r>
              <a:t>Вторая сессия начинает с собственной ветки: </a:t>
            </a:r>
            <a:r>
              <a:rPr>
                <a:latin typeface="Consolas"/>
              </a:rPr>
              <a:t>git checkout -b chore/bump-deps</a:t>
            </a:r>
            <a:r>
              <a:t>. Здесь всё и решается. Каталог один, ветка в нём одна на всех, кто в этом каталоге работает, и незакоммиченная правка адреса переезжает на новую ветку вместе с файлами.</a:t>
            </a:r>
          </a:p>
          <a:p/>
          <a:p>
            <a:r>
              <a:t>Git этого не остановил, и останавливать было нечего: новая ветка заводится от текущего состояния каталога и незакоммиченные правки переносит с собой. Это штатное поведение, на которое и рассчитывают, когда обнаружили, что начали работу не на той ветке. Отказ приходит в другом случае — когда переключение затронуло бы те самые строки, которые вы правите. Здесь файлы были разные, и всё прошло тихо.</a:t>
            </a:r>
          </a:p>
          <a:p/>
          <a:p>
            <a:r>
              <a:t>Вторая сессия доделывает своё и забирает в коммит всё, что видит в каталоге: </a:t>
            </a:r>
            <a:r>
              <a:rPr>
                <a:latin typeface="Consolas"/>
              </a:rPr>
              <a:t>git add -A</a:t>
            </a:r>
            <a:r>
              <a:t> берёт изменённые файлы целиком, без разбора, чьи они. Недоделанная проверка адреса для этой сессии — часть состояния файлов. Отличить «моё» от «чужого» по состоянию нельзя: в состоянии не записано, кто его сделал.</a:t>
            </a:r>
          </a:p>
          <a:p/>
          <a:p>
            <a:r>
              <a:t>Первая сессия продолжает по тому, что прочитала раньше: дописывает сообщение об ошибке, прогоняет тесты, докладывает, что правка готова. Своей ветки под ней уже нет — каталог стоит на ветке зависимостей.</a:t>
            </a:r>
          </a:p>
          <a:p/>
          <a:p>
            <a:r>
              <a:t>Обе сессии доложили об успехе, и каждая была права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a:p/>
          <a:p>
            <a:r>
              <a:t>У этой истории есть свойство, которое стоит заметить отдельно: задачи не делят ни одного файла. Правка адреса трогает разметку и скрипт проверки, подъём зависимости — файл со списком пакетов. Ответ «не берите пересекающиеся задачи» здесь не работает, потому что их и не брали. Ломает сама общая рабочая копия, при любом выборе работы.</a:t>
            </a:r>
          </a:p>
          <a:p/>
          <a:p>
            <a:r>
              <a:t>Увидеть происходящее можно было и раньше: имя текущей ветки у обеих сессий одно и то же, и оно на виду. Смотреть в это место никто не ходит — у каждой сессии своя задача, и обе на вид идут нормально.</a:t>
            </a:r>
          </a:p>
          <a:p/>
          <a:p>
            <a:r>
              <a:t>Возражение «мой агент сам ветку не переключает» стоит проверить, прежде чем на него опираться: переключение ветки — обычный первый шаг при новой задаче, и инструкция проекта чаще его требует, чем запрещает. Коммит перед запуском второй сессии эту историю спас бы: вернуть было бы к чему. Одну ветку на каталог он при этом не отменяет, и следующая пара задач столкнётся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 Спрашивать поэтому стоит про устройство — что здесь заводят или меняют, чтобы это не повторилось.</a:t>
            </a:r>
          </a:p>
          <a:p/>
          <a:p>
            <a:r>
              <a:t>Пять ходов: коммитить перед каждым переключением; работать по очереди, в одной сессии; вместо второй сессии — роли в первой; каждой сессии — свою копию репозитория; развести по файлам и договориться. Выбирать стоит вместе с обоснованием рядом с остальными четырьмя: у каждого из пяти есть случай, где он работает, и предел, за которым он перестаёт работать.</a:t>
            </a:r>
          </a:p>
          <a:p/>
          <a:p>
            <a:r>
              <a:t>Ответов, которые на такой вопрос звучат чаще прочих, пять, и с каждым полезно проделать одну работу — спросить, что он делает с веткой и что с файлом.</a:t>
            </a:r>
          </a:p>
          <a:p/>
          <a:p>
            <a:r>
              <a:t>«Коммитить перед переключением». Его называют первым, и он рабочий. Проверочный вопрос: что он делает с ветками? Вернуть потерянное он позволяет — есть к чему вернуться. Одну ветку на каталог он не отменяет, и значит, историю вроде разобранной он делает восстановимой, не предотвращая её.</a:t>
            </a:r>
          </a:p>
          <a:p/>
          <a:p>
            <a:r>
              <a:t>«По очереди». Честный ответ, и защитить его стоит прямо: столкновений не будет вовсе — одна работа в каталоге, одна ветка, один исполнитель. Проверочный вопрос про цену: что происходит, когда вторая задача не может ждать столько, сколько идёт первая.</a:t>
            </a:r>
          </a:p>
          <a:p/>
          <a:p>
            <a:r>
              <a:t>«Роли вместо второй сессии». Продуктивная путаница, и ведёт она прямо в середину случая. Роли действительно заменяют вторую сессию: задачу объяснять заново не нужно, итог приходит туда, где лежит работа. Проверочный вопрос: в каком каталоге работают эти роли?</a:t>
            </a:r>
          </a:p>
          <a:p/>
          <a:p>
            <a:r>
              <a:t>«Своя копия каждой сессии». Проверочный вопрос, на который целиком отвечают редко: что в этой копии своё и что общее с основной? Ответ понадобится на механике копии, и от него зависит, окупается копия или нет.</a:t>
            </a:r>
          </a:p>
          <a:p/>
          <a:p>
            <a:r>
              <a:t>«Развести по файлам и договориться». Проверочный вопрос: где эта договорённость держится на устройстве и где только на памяти участников?</a:t>
            </a:r>
          </a:p>
          <a:p/>
          <a:p>
            <a:r>
              <a:t>Отдельно стоит разобрать ответ «пусть исполнители сами разберутся». Разобраться они могут по состоянию файлов, а в состоянии не записано, кто его сделал, — это уже видно из сцены.</a:t>
            </a:r>
          </a:p>
          <a:p/>
          <a:p>
            <a:r>
              <a:t>Шестой ход, которого на карточках нет, приносят часто, и чаще прочего это очередь на общий файл или назначенный владелец каталога. Оба пригодятся в конце случая: они отвечают на вопрос, который пять карточек не закрывают.</a:t>
            </a:r>
          </a:p>
          <a:p/>
          <a:p>
            <a:r>
              <a:t>И последнее, если ответ кажется единственным и очевидным. Проверьте, посчитали ли вы рабочее место: что придётся сделать, прежде чем в новой копии получится запустить сборку. Уверенность здесь обычно держится на том, что эту часть не считали.</a:t>
            </a:r>
          </a:p>
          <a:p/>
          <a:p>
            <a:r>
              <a:t>Ещё одно наблюдение про сам набор карточек. Четыре хода из пяти — про дисциплину: коммитить вовремя, работать по очереди, делить файлы, договариваться. Дисциплина отменяема одним забывчивым утром. Пятый ход — про устройство: он меняет то, что физически видят два исполнителя. Разбор начнётся с этого различия, потому что оно сортирует все пять.</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пяти ходам. У каждого названо, что он делает и где его предел; из сочетания двух колонок вывод складывается сам.</a:t>
            </a:r>
          </a:p>
          <a:p/>
          <a:p>
            <a:r>
              <a:rPr b="1"/>
              <a:t>Коммитить перед каждым переключением.</a:t>
            </a:r>
            <a:r>
              <a:t> Возвращает потерянное: есть к чему вернуться, и чужой коммит виден в истории. Ветка в каталоге при этом остаётся одна на всех, и о столкновении вы узнаёте после него. Законный выбор там, где столкновения редки и восстановление дёшево.</a:t>
            </a:r>
          </a:p>
          <a:p/>
          <a:p>
            <a:r>
              <a:t>Выглядит это в истории репозитория так: чужой коммит стоит на месте, в нём лежат файлы, которых автор коммита не трогал, и разбираться, что откуда, приходится по именам файлов. Восстановить можно всё; потратить придётся время того, кто разбирается.</a:t>
            </a:r>
          </a:p>
          <a:p/>
          <a:p>
            <a:r>
              <a:rPr b="1"/>
              <a:t>Работать по очереди, в одной сессии.</a:t>
            </a:r>
            <a:r>
              <a:t> Снимает столкновение целиком: одна работа в каталоге, одна ветка, один исполнитель. Платите временем — вторая задача стоит, пока идёт первая, и это та самая очередь, от которой уходил предыдущий случай. Законный выбор, когда вторая задача действительно может подождать.</a:t>
            </a:r>
          </a:p>
          <a:p/>
          <a:p>
            <a:r>
              <a:rPr b="1"/>
              <a:t>Вместо второй сессии — роли в первой.</a:t>
            </a:r>
            <a:r>
              <a:t> Снимает спор о ветке: роли работают в той же ветке, что сессия, и задачу не нужно объяснять заново. Каталог у них общий по устройству, поэтому спор о файле остаётся на месте. Это половина ответа, и её механику разбирает экран про роли в одной папке.</a:t>
            </a:r>
          </a:p>
          <a:p/>
          <a:p>
            <a:r>
              <a:rPr b="1"/>
              <a:t>Каждой сессии — свою копию репозитория.</a:t>
            </a:r>
            <a:r>
              <a:t> Даёт каждой свои файлы и свою ветку при общей истории: переключение ветки у одной под руками другой ничего не меняет. Копию нужно поднять как рабочее место — зависимости, файлы, которых нет в версиях; сводить работу всё равно веткой. Поэтому у хода «тогда всегда своя копия» есть цена: на тридцатисекундной правке опечатки поднять копию дороже самой правки.</a:t>
            </a:r>
          </a:p>
          <a:p/>
          <a:p>
            <a:r>
              <a:rPr b="1"/>
              <a:t>Развести по файлам и договориться.</a:t>
            </a:r>
            <a:r>
              <a:t> Работает там, где копий не бывает: внутри одной сессии, между её исполнителями. Держится на том, что зоны действительно не пересекаются, и один общий файл отменяет договорённость целиком. Такой файл почти всегда есть — в этом случае он сыграет на экране провала.</a:t>
            </a:r>
          </a:p>
          <a:p/>
          <a:p>
            <a:r>
              <a:t>Вывод складывается из четвёртой и пятой строк.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случае оба.</a:t>
            </a:r>
          </a:p>
          <a:p/>
          <a:p>
            <a:r>
              <a:t>Вопрос, который здесь возникает сразу: почему роли не получают своей копии, если сессии получают. Получить могут — одной строкой в описании роли. Делают это редко, и причина разбирается в конце случая, там, где видна цена. Пока достаточно знать, что запрета здесь нет.</a:t>
            </a:r>
          </a:p>
          <a:p/>
          <a:p>
            <a:r>
              <a:t>Два хода из пяти друг друга не отменяют. Копия на сессию плюс раскладка зон внутри каждой — так чаще всего и работают, потому что эти ходы отвечают на разные вопросы: первый про то, что видят две сессии, второй про то, что видят исполнители одной сессии.</a:t>
            </a:r>
          </a:p>
          <a:p/>
          <a:p>
            <a:r>
              <a:t>Строка «по очереди» предыдущему случаю не противоречит. Там выяснялось, что параллельность лежит в самой задаче: если работа делится, очередь — трата без выигрыша. Здесь названа цена параллельности, которую за неё платят местом. Обе строки описывают одно решение с разных сторон.</a:t>
            </a:r>
          </a:p>
          <a:p/>
          <a:p>
            <a:r>
              <a:t>Правая колонка таблицы — условие применения каждого хода. Ход, у которого названо, чего он не закрывает, остаётся рабочим: вы просто знаете, где он кончается. Ход без такой строки выглядит обещанием безопасности, и именно на таких обещаниях ломаются параллельные сборки — это видно на экране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Отдельная рабочая копия — свой каталог файлов и своя ветка; история и удалённый репозиторий те же, что у основной копии. В git это называется worktree.</a:t>
            </a:r>
          </a:p>
          <a:p/>
          <a:p>
            <a:r>
              <a:t>Выглядит это как второй каталог рядом с основным: внутри то же дерево проекта, те же пути файлов, другая ветка. Два каталога, один репозиторий.</a:t>
            </a:r>
          </a:p>
          <a:p/>
          <a:p>
            <a:r>
              <a:t>Заводится она одним флагом запуска: </a:t>
            </a:r>
            <a:r>
              <a:rPr>
                <a:latin typeface="Consolas"/>
              </a:rPr>
              <a:t>--worktree</a:t>
            </a:r>
            <a:r>
              <a:t> с именем создаёт копию под </a:t>
            </a:r>
            <a:r>
              <a:rPr>
                <a:latin typeface="Consolas"/>
              </a:rPr>
              <a:t>.claude/worktrees/имя/</a:t>
            </a:r>
            <a:r>
              <a:t> на новой ветке </a:t>
            </a:r>
            <a:r>
              <a:rPr>
                <a:latin typeface="Consolas"/>
              </a:rPr>
              <a:t>worktree-имя</a:t>
            </a:r>
            <a:r>
              <a:t>. Тот же запуск с другим именем в другом терминале поднимает вторую изолированную сессию — это и есть штатный способ вести две задачи разом. Руками то же делает </a:t>
            </a:r>
            <a:r>
              <a:rPr>
                <a:latin typeface="Consolas"/>
              </a:rPr>
              <a:t>git worktree add ../проект-правка -b правка</a:t>
            </a:r>
            <a:r>
              <a:t>.</a:t>
            </a:r>
          </a:p>
          <a:p/>
          <a:p>
            <a:r>
              <a:t>Своё у каждой копии — три вещи. Файлы в каталоге: переключение ветки в одной копии не меняет файлы в другой, и ровно это ломалось в сцене. Ветка и незакоммиченное состояние. И рабочее место: зависимости и всё, чего нет в версиях, в копии поднимают отдельно.</a:t>
            </a:r>
          </a:p>
          <a:p/>
          <a:p>
            <a:r>
              <a:t>Общего с основной копией больше, чем кажется, и первое из общего решает всё остальное — служебный каталог репозитория. Команды из копии пишут в общую историю, поэтому коммит, сделанный в копии, виден из основного каталога сразу, и работу из копии никуда не нужно переносить. Отсюда и разница со вторым клоном репозитория: клон — отдельный репозиторий со своей историей, и работу из него переносят между репозиториями; копия историю делит, поэтому ветка из копии забирается обычным слиянием. Для параллельной работы над одним проектом это свойство и решает.</a:t>
            </a:r>
          </a:p>
          <a:p/>
          <a:p>
            <a:r>
              <a:t>Второе общее — плагины, установленные на уровне проекта. Третье стоит запомнить отдельно: разрешение, выданное один раз ответом «больше не спрашивать», сохраняется в настройки основной копии и действует во всех. Удобство очевидно — подтверждать одно и то же в каждой новой копии никто не хочет. Обратная сторона: выданное внутри копии разрешение продолжает действовать после того, как сама копия убрана.</a:t>
            </a:r>
          </a:p>
          <a:p/>
          <a:p>
            <a:r>
              <a:t>Свежая копия приходит без того, чего нет в версиях: зависимости в ней не установлены, локальных файлов настроек в ней нет. Это обычная причина, по которой первая попытка собрать проект в новой копии падает. Какие из таких файлов переносить в каждую новую копию, задают отдельным списком — он лежит в репозитории и читается при создании копии.</a:t>
            </a:r>
          </a:p>
          <a:p/>
          <a:p>
            <a:r>
              <a:t>По месту на диске: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 — копия поднимается долго и занимает столько же, сколько рабочее дерево.</a:t>
            </a:r>
          </a:p>
          <a:p/>
          <a:p>
            <a:r>
              <a:t>Убирают копию,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которая сама не случается.</a:t>
            </a:r>
          </a:p>
          <a:p/>
          <a:p>
            <a:r>
              <a:t>Посмотреть, что у вас есть, можно одной командой: </a:t>
            </a:r>
            <a:r>
              <a:rPr>
                <a:latin typeface="Consolas"/>
              </a:rPr>
              <a:t>git worktree list</a:t>
            </a:r>
            <a:r>
              <a:t> печатает каталог и ветку каждой копии, включая основную. Это же команда, с которой стоит начать разбор, когда непонятно, в каком каталоге сейчас идёт работа.</a:t>
            </a:r>
          </a:p>
          <a:p/>
          <a:p>
            <a:r>
              <a:t>Что копия изменила бы в разобранной сцене. Вторая сессия, запущенная в своей копии, заводит ветку в своём каталоге; файлы первой остаются там, где лежали, с незакоммиченной правкой на её ветке. Коммит второй сессии виден из основного каталога сразу, потому что история общая. Сводить две работы по-прежнему приходится веткой — это копия не отменяет и не обещает.</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a:t>
            </a:r>
          </a:p>
          <a:p/>
          <a:p>
            <a:r>
              <a:t>Роль стартует в том каталоге, где стоит вызвавшая её сессия, и уйти из него не может: смена каталога внутри роли не переживает её собственных вызовов — каждый следующий вызов начинается там же, где начался первый. Общая папка у ролей — штатный режим, в котором они работают почти всегда.</a:t>
            </a:r>
          </a:p>
          <a:p/>
          <a:p>
            <a:r>
              <a:t>Три факта устройства, и из каждого своя поломка.</a:t>
            </a:r>
          </a:p>
          <a:p/>
          <a:p>
            <a:r>
              <a:t>Первое: каталог у роли тот же, что у вызвавшей её сессии, и инструмент правки есть у всякой роли, которой его не отняли строкой в описании. Отсюда перекрытая правка: две роли правят одни файлы, и та, что записала позже, перекрывает работу первой. Перекрывает целиком, когда переписывает файл вместо правки участка, — тогда от правки первой не остаётся следа.</a:t>
            </a:r>
          </a:p>
          <a:p/>
          <a:p>
            <a:r>
              <a:t>Строка, о которой речь, — список инструментов в описании роли: чего в этом списке нет, того роль не делает. Отнять инструмент правки у читающей роли ничего не стоит, и это первое, что проверяют, когда в папке работают несколько исполнителей.</a:t>
            </a:r>
          </a:p>
          <a:p/>
          <a:p>
            <a:r>
              <a:t>Второе: состояние репозитория роль получает снимком на момент своего старта, и снимок по ходу работы не обновляется. Выбрать, кому его давать, нельзя: его получают все роли, кроме двух чисто читающих режимов. Отсюда работа по состоянию, которого в каталоге уже нет: роль создаёт заново файл, которого «не было», или правит строку, которую рядом уже переписали. Снимок сделан таким намеренно — роль должна понимать, в каком состоянии репозиторий был на входе, а обновляемый снимок сделал бы её поведение зависящим от чужого темпа работы. Платим за это тем, что к середине работы снимок устарел.</a:t>
            </a:r>
          </a:p>
          <a:p/>
          <a:p>
            <a:r>
              <a:t>Две роли, запущенные в один момент, получают одинаковый снимок — и дальше каждая действует по нему, не зная о второй. Это и делает поломку тихой: обе работают по корректному для себя состоянию.</a:t>
            </a:r>
          </a:p>
          <a:p/>
          <a:p>
            <a:r>
              <a:t>Третье: вызвавшая сессия получает итог роли; шагов, которыми он получен, она не видит. Отсюда два успешных отчёта, по которым столкновения не видно вовсе — видно его в самих файлах. В переписке остаётся, что роль работала и что она вернула; какие записи она сделала по ходу, восстанавливают по файлам и по истории репозитория.</a:t>
            </a:r>
          </a:p>
          <a:p/>
          <a:p>
            <a:r>
              <a:t>Так и устроено, и это нормально: роль работает там, где лежит работа, иначе итог было бы некуда возвращать. Поэтому первая защита здесь — раскладка зон.</a:t>
            </a:r>
          </a:p>
          <a:p/>
          <a:p>
            <a:r>
              <a:t>Запретить роли писать можно, и для читающих ролей это и есть ответ: список инструментов — состав арсенала, и чего в нём нет, того роль физически не сделает. Для пишущих остаётся раскладка.</a:t>
            </a:r>
          </a:p>
          <a:p/>
          <a:p>
            <a:r>
              <a:t>Ход «пусть роли читают файл прямо перед записью» правильный, он разбирается следующим экраном, и предел у него есть: между чтением и записью остаётся промежуток, и он не нулевой.</a:t>
            </a:r>
          </a:p>
          <a:p/>
          <a:p>
            <a:r>
              <a:t>Сколько ролей одна папка выдерживает — вопрос с двумя разными ответами. Устройство допускает двадцать разом. Сколько выдерживает папка, зависит от того, на сколько непересекающихся зон её удалось разложить, и этот вопрос закрывает обсуждение в конце случая.</a:t>
            </a:r>
          </a:p>
          <a:p/>
          <a:p>
            <a:r>
              <a:t>Позиция «пишущих ролей лучше вообще не иметь» рабочая, и часть команд так и живёт: роли читают и докладывают, пишет сессия. Цена названа честно — всё написанное пишется в одном темпе, последовательно.</a:t>
            </a:r>
          </a:p>
          <a:p/>
          <a:p>
            <a:r>
              <a:t>Обнаруживают перекрытую правку по тем же двум признакам, которые работают во всём этом случае: перечитать файл после работы и посмотреть время его последней правки. Переписка роли на этот вопрос не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приёмов, которыми столкновения в общей папке нивелируют. У каждого названо, чего он не закрывает, — поэтому список не читается обещанием безопасности.</a:t>
            </a:r>
          </a:p>
          <a:p/>
          <a:p>
            <a:r>
              <a:rPr b="1"/>
              <a:t>Развести зоны до запуска: у каждого исполнителя свой набор файлов.</a:t>
            </a:r>
            <a:r>
              <a:t> Документация харнесса предписывает это прямым текстом там, где копий не дают вовсе, — напарникам в команде агентов: работу делят так, чтобы каждому принадлежал свой набор файлов. Не закрывает приём общий файл, нужный двоим: он остаётся отдельной работой, и чьей именно — решают заранее.</a:t>
            </a:r>
          </a:p>
          <a:p/>
          <a:p>
            <a:r>
              <a:t>Раскладывает зоны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свою задачу и чужих файлов из неё не видит.</a:t>
            </a:r>
          </a:p>
          <a:p/>
          <a:p>
            <a:r>
              <a:t>В постановке это выглядит одной строкой: «твоя зона — такие-то файлы; в соседние не заходи, перед правкой общего перечитай его». Строка короткая, и без неё исполнитель трогает всё, что считает относящимся к задаче.</a:t>
            </a:r>
          </a:p>
          <a:p/>
          <a:p>
            <a:r>
              <a:rPr b="1"/>
              <a:t>Читать файл прямо перед записью, не опираясь на прочитанное в начале работы.</a:t>
            </a:r>
            <a:r>
              <a:t> Это прямое следствие устаревающего снимка. Не закрывает приём промежуток между чтением и записью: он короткий и не нулевой, и этого достаточно, чтобы чужая запись легла между ними. Частоту столкновений приём снижает; обещать он ничего не может.</a:t>
            </a:r>
          </a:p>
          <a:p/>
          <a:p>
            <a:r>
              <a:rPr b="1"/>
              <a:t>Править участок, не переписывая файл целиком.</a:t>
            </a:r>
            <a:r>
              <a:t> Разница видна на любом общем файле: правка участка оставляет соседние строки чужими, и чужая работа выживает; переписывание приносит ваше представление о файле целиком. Второе удобнее и дороже. Не закрывает приём структурную переделку файла — там правка и есть «целиком», и такую работу в общей папке двое разом не делают.</a:t>
            </a:r>
          </a:p>
          <a:p/>
          <a:p>
            <a:r>
              <a:rPr b="1"/>
              <a:t>Давать непересекающиеся задачи, а сведение результатов вести отдельным проходом.</a:t>
            </a:r>
            <a:r>
              <a:t> Приём работает ровно до того места, где этот проход должен случиться: сам он не случается, его кто-то делает, и это видимая работа, которую надо запланировать.</a:t>
            </a:r>
          </a:p>
          <a:p/>
          <a:p>
            <a:r>
              <a:rPr b="1"/>
              <a:t>Признак успеха брать из самого файла: перечитать результат, сверить время правки.</a:t>
            </a:r>
            <a:r>
              <a:t> Называть обычную проверку отдельным приёмом приходится потому, что при параллельной работе привычные признаки успеха сходятся все разом, и каждый из них говорит правду о чём-то другом. Что это значит на деле, показывает следующий экран. Заранее этот приём не закрывает ничего: он ловит столкновение, которое уже случилось.</a:t>
            </a:r>
          </a:p>
          <a:p/>
          <a:p>
            <a:r>
              <a:t>Третий и пятый приёмы — обобщение обходов, которые пришлось завести в этом же репозитории; откуда они взялись, видно на следующем экране.</a:t>
            </a:r>
          </a:p>
          <a:p/>
          <a:p>
            <a: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a:p/>
          <a:p>
            <a:r>
              <a:t>Пяти хватает на то, что встречается чаще всего. Ни один из них не обещает, что столкновения не будет, и это сказано у каждого. Вопрос, кому принадлежит общий файл — названному владельцу, очереди или отдельному проходу сведения, — остаётся открытым и уходит в обсуждение.</a:t>
            </a:r>
          </a:p>
          <a:p/>
          <a:p>
            <a:r>
              <a:t>Шестой ход, который приходит сам и приёмом не является, — надежда на то, что исполнители случайно не сойдутся в одном файле. На двух исполнителях она оправдывается часто, на шести перестаёт: чем больше исполнителей, тем вероятнее, что кому-то понадобится файл, который уже кто-то 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ниже записаны в журнале того самого репозитория, который открыт перед вами, и каждый из трёх показывает свою поломку из разобранных.</a:t>
            </a:r>
          </a:p>
          <a:p/>
          <a:p>
            <a:r>
              <a:rPr b="1"/>
              <a:t>Случай первый: пустой PDF при коде возврата ноль.</a:t>
            </a:r>
            <a:r>
              <a:t> Шесть сессий правили одну деку в одном каталоге. Сборка читает файл презентации и конвертирует его в PDF; соседняя сессия запустила свою сборку и переписала этот входной файл в тот момент, когда его читал конвертер.</a:t>
            </a:r>
          </a:p>
          <a:p/>
          <a:p>
            <a:r>
              <a:t>Признаки успеха сошлись все. Код возврата ноль. Построчно напечатано «отрисован слайд 44», «отрисован слайд 45» и так до пятидесятого. Напечатано «PDF скопирован». Число страниц в получившемся файле верное — пятьдесят четыре. И все пятьдесят четыре страницы из пятидесяти четырёх пустые.</a:t>
            </a:r>
          </a:p>
          <a:p/>
          <a:p>
            <a:r>
              <a:t>Пройти стоит по каждому признаку отдельно, потому что набор типовой и встречается далеко за пределами сборки слайдов.</a:t>
            </a:r>
          </a:p>
          <a:p/>
          <a:p>
            <a:r>
              <a:t>Код возврата ноль означает, что конвертер не упал. Он сообщает о собственном выполнении и ничего не говорит о содержимом результата: прочитал то, что получил из файла, довёл работу до конца, вышел штатно. Файл, который переписывают под чтением, чтение ошибкой не делает — он делает прочитанное другим.</a:t>
            </a:r>
          </a:p>
          <a:p/>
          <a:p>
            <a:r>
              <a:t>Построчные «отрисован слайд» с номером печатает сам сборщик, обходя страницы. Строка говорит, что шаг был запущен, и молчит о том, что на странице оказалось.</a:t>
            </a:r>
          </a:p>
          <a:p/>
          <a:p>
            <a:r>
              <a:t>«PDF скопирован» — отчёт о копировании файла. Файл существовал и скопировался. В содержимое эта проверка не смотрит вовсе.</a:t>
            </a:r>
          </a:p>
          <a:p/>
          <a:p>
            <a:r>
              <a:t>Верное число страниц обманывает сильнее прочих признаков, потому что выглядит содержательным: пятьдесят четыре ожидали, пятьдесят четыре и получили. Структура документа уцелела — страницы пересчитаны и расставлены. Чернил на них нет. Число страниц получается дёшево и о содержимом не говорит.</a:t>
            </a:r>
          </a:p>
          <a:p/>
          <a:p>
            <a:r>
              <a:t>Единственный видимый след лежал в размере: файл похудел с 6,67 до 2,69 МБ. На размеры никто не смотрел, и это понятно — отдельного признака в размере нет, пока его не с чем сравнить.</a:t>
            </a:r>
          </a:p>
          <a:p/>
          <a:p>
            <a:r>
              <a:t>Поймали другим способом — сравнением времён. У входного файла время правки оказалось позже, чем у выходного; значит, выход собран из чего-то другого, и собранному верить нельзя. Это и есть проверка, которая здесь работает: сверить время входа и выхода и перечитать сам результат. Вопрос к сборке — из того ли входа собран её выход; то, что она прошла, на этот вопрос не отвечает.</a:t>
            </a:r>
          </a:p>
          <a:p/>
          <a:p>
            <a:r>
              <a:t>Почему пустые страницы не нашли раньше: искали поломку в своих слайдах. Страницы белые — значит, сломал тот, кто правил последним, и каждый шёл проверять своё содержимое. Признак, по которому это опознаётся, в содержимом не лежит вовсе: он лежит во времени правки входного файла.</a:t>
            </a:r>
          </a:p>
          <a:p/>
          <a:p>
            <a:r>
              <a:rPr b="1"/>
              <a:t>Случай второй: ошибка, которой не было.</a:t>
            </a:r>
            <a:r>
              <a:t> Две сессии правили один файл сборки, и чтение файла попало в середину чужой записи. Сборка упала с жалобой на имя, которого «нет», — строка объявления в файле была, её видно глазами. Через полминуты та же сборка прошла без единой правки с чьей-либо стороны.</a:t>
            </a:r>
          </a:p>
          <a:p/>
          <a:p>
            <a:r>
              <a:t>По знаку этот случай обратен первому: там успешный отчёт при сломанном результате, здесь отказ при целом файле. Причина у обоих одна — читали состояние, которое кто-то в этот момент менял. Признак запомнить стоит: ошибка, исчезающая сама, без правок, — признак чтения меняющегося состояния. Искать дефект в коде в такой ситуации бесполезно, потому что дефекта там нет.</a:t>
            </a:r>
          </a:p>
          <a:p/>
          <a:p>
            <a:r>
              <a:rPr b="1"/>
              <a:t>Случай третий: две лекции в одной копии.</a:t>
            </a:r>
            <a:r>
              <a:t> Лекцию собирали параллельно с другой в одной рабочей копии, и ветку переключали из обеих сессий. Каждая сессия видела свою ветку на месте — в тот момент, когда смотрела. Переключений за одну сессию набралось больше семи, и около двух часов ушло на восстановление.</a:t>
            </a:r>
          </a:p>
          <a:p/>
          <a:p>
            <a:r>
              <a:t>Рядом с этим случаем стоит обратный, и он весит больше самой поломки. После перехода на отдельные копии ту же работу вели параллельно дальше: сначала три лекции разом, затем четыре — и столкновений не было ни одного. Параллельная работа, значит, осталась и расширилась. Запретить пришлось общий каталог под ней.</a:t>
            </a:r>
          </a:p>
          <a:p/>
          <a:p>
            <a:r>
              <a:t>Что следует из трёх случаев вместе. Все привычные признаки успеха сошлись, и ни одна сессия по отдельности не сделала ничего неверного: каждая выполнила свою работу и честно о ней доложила. Правду показали две вещи — сам результат, перечитанный после сборки, и время правки файлов. Отсюда и пятый приём предыдущего экрана, который без этих трёх случаев выглядел бы банальностью.</a:t>
            </a:r>
          </a:p>
          <a:p/>
          <a:p>
            <a:r>
              <a:t>В правилах курса это кончилось двумя записями. Отдельная копия на сессию стала обязательной, и причина записана рядом с требованием. Второй обход — общий файл сборки не трогать вовсе: собирать свой набор страниц в своём каталоге, и тогда чужая сборка ваш вход переписать не может.</a:t>
            </a:r>
          </a:p>
          <a:p/>
          <a:p>
            <a:r>
              <a:t>Во всех трёх случаях работали сессии. Для ролей разница одна: своей копии у них по умолчанию нет, поэтому выбор между копией и зонами там не возникает — остаются зоны. Ломается общий каталог, и ему безразлично, кто в нём работает.</a:t>
            </a:r>
          </a:p>
          <a:p/>
          <a:p>
            <a:r>
              <a:t>Проверка у себя: </a:t>
            </a:r>
            <a:r>
              <a:rPr>
                <a:latin typeface="Consolas"/>
              </a:rPr>
              <a:t>git worktree list</a:t>
            </a:r>
            <a:r>
              <a:t> покажет, есть ли у вас хоть одна отдельная копия и сколько сессий сейчас стоят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Копию роли дать можно, и начинать стоит с этого, чтобы из случая не ушло неверное «так нельзя». Одна строка в описании роли — </a:t>
            </a:r>
            <a:r>
              <a:rPr>
                <a:latin typeface="Consolas"/>
              </a:rPr>
              <a:t>isolation: worktree</a:t>
            </a:r>
            <a:r>
              <a:t> — и роль работает во временной копии репозитория; копия убирается сама, если роль ничего не изменила. Разово о том же просят словами: использовать для ролей отдельные копии. Поле существует и описано. Включают его редко, и редкость эта — решение, которое складывается из трёх цен.</a:t>
            </a:r>
          </a:p>
          <a:p/>
          <a:p>
            <a:r>
              <a:rPr b="1"/>
              <a:t>Цена первая — ветка.</a:t>
            </a:r>
            <a:r>
              <a:t> Копия роли отрастает от ветки по умолчанию репозитория. От состояния, на котором стоит ваша сессия, она не отрастает, и значит, работы, начатой в вашем каталоге, изолированная роль просто не видит: она получает чистое дерево на ветке по умолчанию и делает свою правку поверх него. Переключить это можно — базу ветки задают отдельной настройкой, и документация прямо называет случай, для которого настройка сделана: изолируем роль, которой нужно работать по незавершённому. Знать про настройку стоит, иначе цена выглядит непреодолимой. Она настраиваемая, и перенастройка — отдельное решение, которое кто-то принимает осознанно.</a:t>
            </a:r>
          </a:p>
          <a:p/>
          <a:p>
            <a:r>
              <a:rPr b="1"/>
              <a:t>Цена вторая — возврат.</a:t>
            </a:r>
            <a:r>
              <a:t> Канал назад у роли один: итоговый текст. Файловые правки остаются в её каталоге, на её ветке, и принести их в вашу работу приходится вам. В обычном режиме такого шага нет вовсе: роль правит там, где лежит работа, и правка уже на месте. Изоляция меняет это на «правка готова и лежит в стороне», и дальше её кто-то вносит руками или забирает слиянием ветки. На этом держится весь ответ: цена изоляции роли — появление шага, которого до неё не было.</a:t>
            </a:r>
          </a:p>
          <a:p/>
          <a:p>
            <a:r>
              <a:rPr b="1"/>
              <a:t>Цена третья — рабочее место.</a:t>
            </a:r>
            <a:r>
              <a:t> В копии оно собственное: зависимости и локальные файлы роль получает в том виде, в каком их туда положили. Роль, которой нужно прогнать тесты, в неподнятой копии не найдёт ничего и честно доложит об отказе.</a:t>
            </a:r>
          </a:p>
          <a:p/>
          <a:p>
            <a:r>
              <a:t>Критерий отсюда проходит по работе роли, не по их числу.</a:t>
            </a:r>
          </a:p>
          <a:p/>
          <a:p>
            <a:r>
              <a:t>Копию дают, когда работа роли — цельное изменение, которое нормально принять веткой: механический перебор по многим файлам, одно соглашение, применённое ко всему дереву. Дают, когда изменений много и проверять их удобнее отдельно от вашей собственной правки. И есть готовый приём, который делит одно крупное изменение на десятки изолированных ролей разом; существует он ровно потому, что для такой работы изоляция окупается.</a:t>
            </a:r>
          </a:p>
          <a:p/>
          <a:p>
            <a:r>
              <a:t>Копию не дают, когда роль правит начатое вами: отдельная копия отрежет её от этой работы, и вернётся роль с правкой чистого дерева. Не дают, когда правка короткая и нужна здесь же — поднять рабочее место копии дороже самой правки. И не дают читающей роли: ей нечем столкнуться, изолировать нечего.</a:t>
            </a:r>
          </a:p>
          <a:p/>
          <a:p>
            <a:r>
              <a:t>Напарникам в команде агентов копий не дают вовсе — такие команды работают в одном каталоге по устройству, и предписание для них то же: развести работу по файлам. Это и есть ответ на вопрос, где класс работы под изоляцию кончается. Он кончается там, где исполнители ведут одну общую задачу и смотрят в одни файлы.</a:t>
            </a:r>
          </a:p>
          <a:p/>
          <a:p>
            <a:r>
              <a:t>Что станет с копией роли, когда роль закончила. Если она ничего не изменила, копию убирают сразу — это делает устройство само, без чьей-либо дисциплины. Если изменила, копия остаётся лежать до уборки вместе с веткой. Забытые копии ролей накапливаются так же, как забытые ветки, и уборка их сама не случается.</a:t>
            </a:r>
          </a:p>
          <a:p/>
          <a:p>
            <a:r>
              <a:t>Короткий итог, который стоит унести вместо «ролям копию не дают»: дают, под один класс работы — тот, где правка роли целиком её собственная и принимается веткой. В остальных случаях изоляция отрезает роль от работы, ради которой её позвали.</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Готового ответа у двух вопросов ниже нет, и причину этого можно назвать прямо: ответ упирается в обстоятельства, которые у разных команд разные — как дорого поднимается рабочее место копии, как часто трогают общий файл, кто сводит результаты и сколько у него на это времени. Поэтому вопрос ставится вместе с требованием назвать условие, при котором ответ меняется: названное условие переносится на другой инструмент, привычка — нет.</a:t>
            </a:r>
          </a:p>
          <a:p/>
          <a:p>
            <a:r>
              <a:rPr b="1"/>
              <a:t>Первый вопрос: что должно быть верно про две работы, чтобы вы согласились вести их в одной папке, и по какому признаку заводите отдельную копию вместо работы по очереди.</a:t>
            </a:r>
          </a:p>
          <a:p/>
          <a:p>
            <a:r>
              <a:t>Сильных позиций у него две, и обе законные.</a:t>
            </a:r>
          </a:p>
          <a:p/>
          <a:p>
            <a:r>
              <a:t>«Всегда отдельная копия, без исключений.» Столкновения при этом физически невозможны: у каждой работы свои файлы и своя ветка. Цена видна на двух случаях. Правка опечатки в тексте занимает тридцать секунд, а подъём рабочего места копии — минуты, и на такой работе копия дороже самой правки. Репозиторий с тяжёлыми файлами копируется долго и занимает столько же места, сколько рабочее дерево. К этому прибавляются брошенные копии, которые накапливаются, и разрешение, выданное внутри копии и переживающее её.</a:t>
            </a:r>
          </a:p>
          <a:p/>
          <a:p>
            <a:r>
              <a:t>«По очереди надёжнее.» Тоже честно: одна работа в каталоге, одна ветка, один исполнитель, сталкиваться нечему. Цена — время, и проверяется позиция одним вопросом: что происходит, когда очередь длиннее рабочего дня. Предыдущий случай занятия показал, что параллельность лежит в самой задаче: если работа делится, очередь становится потерей без выигрыша.</a:t>
            </a:r>
          </a:p>
          <a:p/>
          <a:p>
            <a:r>
              <a:t>Между этими позициями лежит то, как работают чаще всего: копия на сессию плюс раскладка зон внутри каждой. Условие, от которого зависит выбор, формулируется тогда по общему файлу. Если две работы не трогают ни одного общего файла — одной папки с раскладкой зон достаточно. Если трогают редко — хватает очереди на этот файл. Если трогают постоянно — нужна или копия, или один исполнитель на обе работы.</a:t>
            </a:r>
          </a:p>
          <a:p/>
          <a:p>
            <a:r>
              <a:t>Признак «копия вместо очереди» сводится к одному вопросу: может ли вторая работа ждать столько, сколько идёт первая. Если может — очередь дешевле, и считать больше нечего. Если не может — платите за копию, и в счёт входит подъём рабочего места.</a:t>
            </a:r>
          </a:p>
          <a:p/>
          <a:p>
            <a:r>
              <a:rPr b="1"/>
              <a:t>Второй вопрос: сколько исполнителей с правом записи вы готовы держать в одной папке разом. Число и признак, по которому остановитесь.</a:t>
            </a:r>
          </a:p>
          <a:p/>
          <a:p>
            <a:r>
              <a:t>Устройство допускает двадцать ролей одновременно, и упираются обычно не в этот предел. Упираются в человека, который читает результаты: сведение работы десяти исполнителей — отдельная работа, и чем больше исполнителей, тем она дольше. Число больше десяти поэтому стоит проверять вопросом «кто сводит и сколько это занимает», а возможности инструмента здесь мало что решают.</a:t>
            </a:r>
          </a:p>
          <a:p/>
          <a:p>
            <a:r>
              <a:t>Признак, по которому останавливаются, называется через зоны: сколько непересекающихся наборов файлов вы можете назвать заранее. Удалось назвать шесть — шесть исполнителей и работают. Седьмой, которому своей зоны не досталось, берёт чужую, и выигрыш от него съедает столкновение.</a:t>
            </a:r>
          </a:p>
          <a:p/>
          <a:p>
            <a:r>
              <a:t>Второй признак — общий файл. Если есть один файл, нужный всем, потолок по нему — один пишущий, независимо от общего числа исполнителей. Читающие роли в это число не входят вовсе: им нечем столкнуться, и ограничение относится к праву записи.</a:t>
            </a:r>
          </a:p>
          <a:p/>
          <a:p>
            <a:r>
              <a:rPr b="1"/>
              <a:t>Третий вопрос, если первые два закрылись быстро:</a:t>
            </a:r>
            <a:r>
              <a:t> кому принадлежит файл, нужный двоим — названному владельцу, очереди или отдельному проходу сведения. Ответ зависит от частоты. Файл, который трогают раз в неделю, закрывается очередью. Файл, который трогают постоянно, просит владельца. Файл, который собирается из кусков, просит отдельного прохода — и проход этот кто-то делает, сам он не случается.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начинается с того же человека, с которого занятие началось.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лимит участников мог проверяться, собрал верный список из четырёх мест — и переспросил то, что ему объясняли утром: чтение съело место, в котором лежала сама работа. Третья и четвёртая строки этой таблицы — ровно то, что встало на место этих двух промахов.</a:t>
            </a:r>
          </a:p>
          <a:p/>
          <a:p>
            <a:r>
              <a:t>Третья строка, понедельник. MCP даёт агенту доступ к системе снаружи, и права на этом доступе урезают до подключения, не после. Порядок здесь имеет цену, и она документирована: в случае, разобранном в блоке (Invariant Labs, май 2025), агент работал с токеном на все репозитории пользователя, включая приватные; в публичном репозитории лежал обычный на вид issue с инструкцией собрать данные о других репозиториях и опубликовать их здесь же; разработчик попросил агента разобраться с открытыми issue, агент честно их прочитал, инструкция попала в контекст как задача, и содержимое приватных репозиториев уехало в автоматически созданный публичный PR. Вычеркнутая на сборке строка «все репозитории, включая приватные» закрывает этот сценарий целиком: читать нечего. Колонка «предотвращаем или решаем» у этой строки смешанная — на входе блок предотвращает, дальше решает уже возникшее: как проверить то, что подключено, и что делать с тем, что уже одобрили.</a:t>
            </a:r>
          </a:p>
          <a:p/>
          <a:p>
            <a:r>
              <a:t>Четвёртая строка, среда. Делегировать задачу отдельному исполнителю можно бесплатно, без единой строки конфигурации: чтение уходит в контекст роли, а обратно в сессию приходит итог. Чего эта строка не делает — рабочий каталог она не разводит. Роль работает там же, где стоит вызвавшая её сессия, и несколько исполнителей правят одни и те же файлы; столкновения убирают раскладкой зон, само делегирование их не снимает.</a:t>
            </a:r>
          </a:p>
          <a:p/>
          <a:p>
            <a:r>
              <a:t>Почему понедельник закрывает MCP, а среда — субагента, следует из того, чего не хватало. В понедельник нужного не было внутри вовсе, и контекст любого размера этого не меняет: помогает доступ к системе, которая живёт отдельно от проекта. В среду всё нужное внутрь влезло и вытеснило работу: помогает чужой контекст, в котором читают за нас и возвращают итог.</a:t>
            </a:r>
          </a:p>
          <a:p/>
          <a:p>
            <a:r>
              <a:t>Колонку «что не делает» у новых строк читают по тому же критерию, что у хука и скилла. Так механизм описан до того, как его замерили; здесь показано, где заканчивается то, что он делает на самом деле. И по тому же критерию обе сегодняшние строки стоят рядом с двумя прежними: хук и скилл перенесены с начала занятия без изменений, порядок ступеней тот же — хук, скилл, MCP, субагент. Четыре строки заполнены, и это вся ось занятия.</a:t>
            </a:r>
          </a:p>
          <a:p/>
          <a:p>
            <a:r>
              <a:t>Замеры, на которых стоят две новые строки, лежат в разных местах. По MCP — в документации продукта и в карточке конкретного сервера внутри сессии; в репозитории их нет. По субагенту — у вас самих: </a:t>
            </a:r>
            <a:r>
              <a:rPr>
                <a:latin typeface="Consolas"/>
              </a:rPr>
              <a:t>git worktree list</a:t>
            </a:r>
            <a:r>
              <a:t> печатает, есть ли хоть одна отдельная копия репозитория и сколько сессий стоят сейчас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Пометка «схема, не снимок» в верхней строке — часть содержания. Шесть строк ниже показывают, что в проекте есть и чем это подтверждено, и у двух последних подтверждения нет.</a:t>
            </a:r>
          </a:p>
          <a:p/>
          <a:p>
            <a:r>
              <a:t>Верхние четыре строки стоят так же, как в начале занятия: хук с коммитом, скилл по плану, </a:t>
            </a:r>
            <a:r>
              <a:rPr>
                <a:latin typeface="Consolas"/>
              </a:rPr>
              <a:t>CLAUDE.md</a:t>
            </a:r>
            <a:r>
              <a:t> на сорока строках и пяти разделах, документационный слой </a:t>
            </a:r>
            <a:r>
              <a:rPr>
                <a:latin typeface="Consolas"/>
              </a:rPr>
              <a:t>DECISIONS.md</a:t>
            </a:r>
            <a:r>
              <a:t> без изменений. Две новые строки — сегодняшние. </a:t>
            </a:r>
            <a:r>
              <a:rPr>
                <a:latin typeface="Consolas"/>
              </a:rPr>
              <a:t>.mcp.json</a:t>
            </a:r>
            <a:r>
              <a:t>, файл подключения, в котором права вычеркнуты до трёх операций: читать открытые задачи, писать комментарий, создавать черновик правки. И </a:t>
            </a:r>
            <a:r>
              <a:rPr>
                <a:latin typeface="Consolas"/>
              </a:rPr>
              <a:t>.claude/agents/diff-reviewer.md</a:t>
            </a:r>
            <a:r>
              <a:t>, файл роли, у которой в поле </a:t>
            </a:r>
            <a:r>
              <a:rPr>
                <a:latin typeface="Consolas"/>
              </a:rPr>
              <a:t>tools</a:t>
            </a:r>
            <a:r>
              <a:t> стоят три инструмента — </a:t>
            </a:r>
            <a:r>
              <a:rPr>
                <a:latin typeface="Consolas"/>
              </a:rPr>
              <a:t>Read</a:t>
            </a:r>
            <a:r>
              <a:t>, </a:t>
            </a:r>
            <a:r>
              <a:rPr>
                <a:latin typeface="Consolas"/>
              </a:rPr>
              <a:t>Grep</a:t>
            </a:r>
            <a:r>
              <a:t>, </a:t>
            </a:r>
            <a:r>
              <a:rPr>
                <a:latin typeface="Consolas"/>
              </a:rPr>
              <a:t>Glob</a:t>
            </a:r>
            <a:r>
              <a:t> — вместо всех доступных.</a:t>
            </a:r>
          </a:p>
          <a:p/>
          <a:p>
            <a:r>
              <a:t>Три операции в файле подключения остались от четырёх прав, которые широкий персональный токен даёт по умолчанию. Доступ ко всем репозиториям пользователя, включая приватные, вычеркнут: для списка операций он не нужен. Управление настройками вычеркнуто, удаление вычеркнуто. Из чтения и записи осталось и то и другое — читать задачи и писать комментарий с черновиком правки без этого нельзя. Остался один репозиторий, чтение задач и создание черновика; вся работа по урезанию прав сделана до подключения.</a:t>
            </a:r>
          </a:p>
          <a:p/>
          <a:p>
            <a:r>
              <a:t>У обоих стоит метка «по плану, коммита нет и не будет». Демонстрационный репозиторий дальше не строится: это решение, принятое заранее и объявленное прямо. Два занятия с разобранным материалом по доступу наружу и по урезанной роли дороже, чем одно занятие с демонстрационным репозиторием, достроенным до конца. Сказано это прямо по той же причине, по которой занятие весь час держалось на разнице между написанным и уже работающим: прятать ту же разницу в собственном итоге было бы странно.</a:t>
            </a:r>
          </a:p>
          <a:p/>
          <a:p>
            <a:r>
              <a:t>Имена файлов не придуманы под схему. Оба собирались на занятии построчно: файл подключения — в первом случае блока MCP, вместе с порядком разрешения конфликта имён между областями конфигурации; файл роли — на одностраничнике ступени субагента, где разобраны все шесть его частей. Пути те же, без расхождений. У каждого из двух на своём экране названо, какая строка за что отвечает, и названо то, чего в файле нет: у файла подключения права ключа лежат вне файла, в переменной окружения, и урезаются отдельно от него. Схема здесь показывает только статус каждой строки.</a:t>
            </a:r>
          </a:p>
          <a:p/>
          <a:p>
            <a:r>
              <a:t>Стоит заметить,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Метку «по плану, коммита нет» поставило ещё прошлое занятие, и по той же причине: хук был заведён и проверен на живом репозитории, скилл разобран по частям, но до коммита не дошёл. Сегодня к ней добавились ещё две того же рода. Чем тогда проверяется разобранное, разбирает последний экран: часть сегодняшнего материала проверяется командой, часть — нет, и названо, что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 тот же, что стоял в начале занятия,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У него два законных ответа, и это свойство самого вопроса. «Работа не помещается» описывает два разных положения дел. В первом нужного внутри нет вовсе: данные живут в системе, которая меняется без вас, и никакой размер контекста их туда не принесёт — дотянуться можно только доступом. Во втором всё нужное внутрь входит и занимает место, в котором лежала работа: здесь помогает чужой контекст, где прочитают за вас и вернут короткий итог. Какой ответ верен, определяется тем, какое из двух положений у вас, и критерий для этого занятие собирало весь час.</a:t>
            </a:r>
          </a:p>
          <a:p/>
          <a:p>
            <a:r>
              <a:t>Что обычно меняется в ответе за это время. Первое движение — от «беру то, что под рукой» к выбору по признаку: данных не хватает физически, значит доступ наружу; чтение съедает место и повторяется из сессии в сессию, значит отдельный исполнитель. Второе движение — к цене. До разбора оба хода выглядят бесплатными: подключение — одна команда, роль — один файл. Разобранный материал ставит рядом с каждым его счёт. У доступа наружу это чужой код в вашей работе, права, которые приходится урезать руками до подключения, и постоянное место в контексте за каждый подключённый сервер — за тот, которым за сессию не воспользовались ни разу, платится столько же, сколько за рабочий. У отдельного исполнителя это описания всех подключённых серверов, которые его контекст наследует целиком, промежуток между зонами двух ролей, которого ни один их отчёт не показывает, и общий рабочий каталог, в котором исполнители перекрывают друг другу правки.</a:t>
            </a:r>
          </a:p>
          <a:p/>
          <a:p>
            <a:r>
              <a:t>Отдельно стоит разобрать ответ «а зачем выбирать, можно завести и то, и то». В живом проекте так и бывает, работают оба. Вопрос про первый ход: ресурс и внимание одни, и первым заводят то, что закрывает нехватку, которая у вас уже есть. Завести доступ к системе, данные которой нужны раз в месяц, и получить за это постоянное место в контексте каждой сессии — обычная ошибка порядка, и стоит она ровно столько, сколько стоит занятое место.</a:t>
            </a:r>
          </a:p>
          <a:p/>
          <a:p>
            <a:r>
              <a:t>Бывает и так, что ответ не меняется вовсе. Это честный исход: человек, который и до занятия выбирал по тому, чего не хватает, выбирал правильно. Меняется у него обычно другое — представление о том, чего каждый из двух ходов стоит.</a:t>
            </a:r>
          </a:p>
          <a:p/>
          <a:p>
            <a:r>
              <a:t>Правильного ответа у вопроса нет и в конце. Он зависит от того, чего в конкретном проекте не хватает: того, чего внутри нет вовсе, или места, занятого чтением. За занятие появились два критерия и две цены, названные прямо; выбор остаётся за тем, кто смотрит на свой проект.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экран занятия делает две вещи: честно разделяет сегодняшний материал по тому, чем его можно проверить, и отдаёт вопрос, которым выбирают ход у себя.</a:t>
            </a:r>
          </a:p>
          <a:p/>
          <a:p>
            <a:r>
              <a:t>Из шести случаев занятия опору несут два.</a:t>
            </a:r>
          </a:p>
          <a:p/>
          <a:p>
            <a:r>
              <a:t>Статус сервера — второй случай блока MCP. Проверяется прямо на вашей машине: </a:t>
            </a:r>
            <a:r>
              <a:rPr>
                <a:latin typeface="Consolas"/>
              </a:rPr>
              <a:t>claude mcp list</a:t>
            </a:r>
            <a:r>
              <a:t> печатает список подключённых серверов и их состояние, </a:t>
            </a:r>
            <a:r>
              <a:rPr>
                <a:latin typeface="Consolas"/>
              </a:rPr>
              <a:t>/mcp</a:t>
            </a:r>
            <a:r>
              <a:t> показывает то же изнутри сессии, и там видно, что «подключён» отвечает за поднятый процесс и ни за что больше. Доказательством реальной работы сервера остаётся явный именованный вызов, видимый в выводе. Два тайм-аута из этого разбора смотрятся вживую, на занятии.</a:t>
            </a:r>
          </a:p>
          <a:p/>
          <a:p>
            <a:r>
              <a:t>Исполнители в одной папке — третий случай блока субагента. </a:t>
            </a:r>
            <a:r>
              <a:rPr>
                <a:latin typeface="Consolas"/>
              </a:rPr>
              <a:t>git worktree list</a:t>
            </a:r>
            <a:r>
              <a:t> печатает, сколько отдельных копий репозитория у вас есть и на каком каталоге стоит каждая; отсюда и видно, сколько сессий делят один каталог. На этом же счёте курс поймал сам себя: его собирают несколькими сессиями в одной рабочей копии, и в журнале записаны три столкновения — пустой PDF при коде возврата ноль, ошибка сборки от чтения посреди чужой записи и около двух часов на восстановление ветки. Во всех трёх привычные признаки успеха сошлись. Журнал, в котором эти случаи записаны, открыт.</a:t>
            </a:r>
          </a:p>
          <a:p/>
          <a:p>
            <a:r>
              <a:t>Под остальными четырьмя командой, которую можно выполнить здесь и сейчас, опоры нет, и это сказано прямо. У первого случая блока MCP решение целевое, коммита у него нет ни в демонстрационном репозитории, ни в репозитории курса. Числа по занятому контексту взяты из документации протокола и инженерных блогов — замера на занятии не делаем. Выигрыш делегированного чтения требует подготовленного параллельного прогона, который в аудитории не поставишь. Рассогласование между исполнителями держится на измерении по 1600+ трассам мультиагентных систем, где оно отвечает за 37% провалов, и ни одна из двух опор занятия этого не демонстрирует. Проверяемость здесь другого рода: читается первоисточник, команда не выполняется. Четыре клетки без команды — разница в природе материала, и недосмотра за ней нет.</a:t>
            </a:r>
          </a:p>
          <a:p/>
          <a:p>
            <a:r>
              <a:t>Результат занятия измеряется не количеством файлов. Результат — вопрос, которым выбирают ход, и цена, названная у каждого из двух. Проверяемость — половина этого результата: про часть материала можно задать вопрос и получить ответ командой, про другую часть пока нет, и необъявленный пробел стоил бы дороже объявленного.</a:t>
            </a:r>
          </a:p>
          <a:p/>
          <a:p>
            <a:r>
              <a:t>И последнее, то, ради чего всё шло. Два механизма разобраны; с собой стоит унести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Первое приносят внутрь, второе выносят наружу. Разработчик, с чьих двух промахов занятие начиналось, различает эти случаи сам — и это весь ответ на вопрос, прозвучавший второй раз экраном раньше.</a:t>
            </a:r>
          </a:p>
          <a:p/>
          <a:p>
            <a:r>
              <a:t>Это вопрос, и заданием он не становится. Отвечать на него никому не нужно, присылать ответ некуда, на следующем занятии он не спрашивается: перенос на свой репозиторий — работа отдельного занятия, и начинать её с невыполненного задания было бы нечестно.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урезанная роль</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94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26344" y="1927834"/>
            <a:ext cx="4030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94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26344" y="2209901"/>
            <a:ext cx="4030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94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26344" y="2739618"/>
            <a:ext cx="4030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796897"/>
            <a:ext cx="11183112" cy="2072386"/>
          </a:xfrm>
          <a:prstGeom prst="roundRect">
            <a:avLst>
              <a:gd name="adj" fmla="val 147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79777"/>
            <a:ext cx="25264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58504" y="1979777"/>
            <a:ext cx="29030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6407821" y="1979777"/>
            <a:ext cx="22832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8837335" y="1979777"/>
            <a:ext cx="25195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261844"/>
            <a:ext cx="25264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58504" y="2261844"/>
            <a:ext cx="29030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a:t>
            </a:r>
          </a:p>
        </p:txBody>
      </p:sp>
      <p:sp>
        <p:nvSpPr>
          <p:cNvPr id="10" name="TextBox 9"/>
          <p:cNvSpPr txBox="1"/>
          <p:nvPr/>
        </p:nvSpPr>
        <p:spPr>
          <a:xfrm>
            <a:off x="6407821" y="2261844"/>
            <a:ext cx="22832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Сервер подключён, а агент через него не ходит. Решаем.</a:t>
            </a:r>
          </a:p>
        </p:txBody>
      </p:sp>
      <p:sp>
        <p:nvSpPr>
          <p:cNvPr id="11" name="TextBox 10"/>
          <p:cNvSpPr txBox="1"/>
          <p:nvPr/>
        </p:nvSpPr>
        <p:spPr>
          <a:xfrm>
            <a:off x="8837335" y="2261844"/>
            <a:ext cx="25195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cxnSp>
        <p:nvCxnSpPr>
          <p:cNvPr id="12" name="Connector 11"/>
          <p:cNvCxnSpPr/>
          <p:nvPr/>
        </p:nvCxnSpPr>
        <p:spPr>
          <a:xfrm>
            <a:off x="685800" y="29741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74124"/>
            <a:ext cx="25264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урезанная роль</a:t>
            </a:r>
          </a:p>
        </p:txBody>
      </p:sp>
      <p:sp>
        <p:nvSpPr>
          <p:cNvPr id="14" name="TextBox 13"/>
          <p:cNvSpPr txBox="1"/>
          <p:nvPr/>
        </p:nvSpPr>
        <p:spPr>
          <a:xfrm>
            <a:off x="3358504" y="2974124"/>
            <a:ext cx="29030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6407821" y="2974124"/>
            <a:ext cx="22832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8837335" y="2974124"/>
            <a:ext cx="25195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53679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66481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208026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0827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способ — и объясните, чем остальные четыре подходят хуже для регулярного доступа.</a:t>
            </a:r>
          </a:p>
        </p:txBody>
      </p:sp>
      <p:sp>
        <p:nvSpPr>
          <p:cNvPr id="5" name="Rounded Rectangle 4"/>
          <p:cNvSpPr/>
          <p:nvPr/>
        </p:nvSpPr>
        <p:spPr>
          <a:xfrm>
            <a:off x="502920"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7" name="Rounded Rectangle 6"/>
          <p:cNvSpPr/>
          <p:nvPr/>
        </p:nvSpPr>
        <p:spPr>
          <a:xfrm>
            <a:off x="2768803"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9" name="Rounded Rectangle 8"/>
          <p:cNvSpPr/>
          <p:nvPr/>
        </p:nvSpPr>
        <p:spPr>
          <a:xfrm>
            <a:off x="5034686"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1" name="Rounded Rectangle 10"/>
          <p:cNvSpPr/>
          <p:nvPr/>
        </p:nvSpPr>
        <p:spPr>
          <a:xfrm>
            <a:off x="7300569"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3" name="Rounded Rectangle 12"/>
          <p:cNvSpPr/>
          <p:nvPr/>
        </p:nvSpPr>
        <p:spPr>
          <a:xfrm>
            <a:off x="9566452"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5-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6-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Имя и короткая инструкция каждого подключённого сервера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Следующий вопрос — что происходит, когда сервер подключён, а агент через него не ходит.</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341625"/>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Пять дней он верил зелёной галочке</a:t>
            </a:r>
          </a:p>
        </p:txBody>
      </p:sp>
      <p:sp>
        <p:nvSpPr>
          <p:cNvPr id="8" name="TextBox 7"/>
          <p:cNvSpPr txBox="1"/>
          <p:nvPr/>
        </p:nvSpPr>
        <p:spPr>
          <a:xfrm>
            <a:off x="822960" y="3559302"/>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Пять рабочих дней разработчик верил зелёной отметке подключения. Проверка была настоящей и говорила правду — о том, что процесс поднят. За эти пять дней агент ни разу не заглянул в трекер.</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Неделя, в которой ничего не сломалось</a:t>
            </a:r>
          </a:p>
        </p:txBody>
      </p:sp>
      <p:sp>
        <p:nvSpPr>
          <p:cNvPr id="3" name="Rounded Rectangle 2"/>
          <p:cNvSpPr/>
          <p:nvPr/>
        </p:nvSpPr>
        <p:spPr>
          <a:xfrm>
            <a:off x="502920" y="1044143"/>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2159"/>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самый сервер доступа к трекеру, что собрали в прошлом кейсе. Стоит две недели.</a:t>
            </a:r>
          </a:p>
        </p:txBody>
      </p:sp>
      <p:sp>
        <p:nvSpPr>
          <p:cNvPr id="5" name="Rounded Rectangle 4"/>
          <p:cNvSpPr/>
          <p:nvPr/>
        </p:nvSpPr>
        <p:spPr>
          <a:xfrm>
            <a:off x="502920" y="1971243"/>
            <a:ext cx="11183112" cy="2569464"/>
          </a:xfrm>
          <a:prstGeom prst="roundRect">
            <a:avLst>
              <a:gd name="adj" fmla="val 118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40672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90699"/>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Понедельник.</a:t>
            </a:r>
            <a:r>
              <a:rPr sz="1350" b="0" i="0">
                <a:solidFill>
                  <a:srgbClr val="141B2E"/>
                </a:solidFill>
                <a:latin typeface="Arial"/>
              </a:rPr>
              <a:t> Разработчик просит агента разобрать входящие задачи за выходные и подготовить черновики. Ответ звучит как итог работы.</a:t>
            </a:r>
          </a:p>
        </p:txBody>
      </p:sp>
      <p:sp>
        <p:nvSpPr>
          <p:cNvPr id="8" name="Rounded Rectangle 7"/>
          <p:cNvSpPr/>
          <p:nvPr/>
        </p:nvSpPr>
        <p:spPr>
          <a:xfrm>
            <a:off x="758952" y="29393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333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Вторник — четверг.</a:t>
            </a:r>
            <a:r>
              <a:rPr sz="1350" b="0" i="0">
                <a:solidFill>
                  <a:srgbClr val="141B2E"/>
                </a:solidFill>
                <a:latin typeface="Arial"/>
              </a:rPr>
              <a:t> То же самое каждое утро: «всё сделал» · «новых задач не нашёл» · «во входящих пусто». Он пересылает это заказчику.</a:t>
            </a:r>
          </a:p>
        </p:txBody>
      </p:sp>
      <p:sp>
        <p:nvSpPr>
          <p:cNvPr id="10" name="Rounded Rectangle 9"/>
          <p:cNvSpPr/>
          <p:nvPr/>
        </p:nvSpPr>
        <p:spPr>
          <a:xfrm>
            <a:off x="758952" y="347200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5597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Среда и четверг.</a:t>
            </a:r>
            <a:r>
              <a:rPr sz="1350" b="0" i="0">
                <a:solidFill>
                  <a:srgbClr val="141B2E"/>
                </a:solidFill>
                <a:latin typeface="Arial"/>
              </a:rPr>
              <a:t> Смотрит статус подробнее, потом спрашивает агента напрямую, почему тот считает, что задач нет. Всё сходится.</a:t>
            </a:r>
          </a:p>
        </p:txBody>
      </p:sp>
      <p:sp>
        <p:nvSpPr>
          <p:cNvPr id="12" name="Rounded Rectangle 11"/>
          <p:cNvSpPr/>
          <p:nvPr/>
        </p:nvSpPr>
        <p:spPr>
          <a:xfrm>
            <a:off x="758952" y="400464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8861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Пятница.</a:t>
            </a:r>
            <a:r>
              <a:rPr sz="1350" b="0" i="0">
                <a:solidFill>
                  <a:srgbClr val="141B2E"/>
                </a:solidFill>
                <a:latin typeface="Arial"/>
              </a:rPr>
              <a:t> Заказчик спрашивает про задачу, которую завёл во вторник. В репозитории за неделю — ни черновика, ни комментария.</a:t>
            </a:r>
          </a:p>
        </p:txBody>
      </p:sp>
      <p:sp>
        <p:nvSpPr>
          <p:cNvPr id="14" name="Rounded Rectangle 13"/>
          <p:cNvSpPr/>
          <p:nvPr/>
        </p:nvSpPr>
        <p:spPr>
          <a:xfrm>
            <a:off x="502920" y="495726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8528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Всю неделю </a:t>
            </a: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 показывал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Connected</a:t>
            </a:r>
            <a:r>
              <a:rPr sz="1500" b="1" i="0">
                <a:solidFill>
                  <a:srgbClr val="141B2E"/>
                </a:solidFill>
                <a:latin typeface="Arial"/>
              </a:rPr>
              <a:t>: процесс сервера поднят и ответил на рукопожатие. Ответы агент собирал из общих соображений о том, что обычно лежит в трекере. Цена недели: пять дней отчётов о работе, которой не было, и разговор с заказчиком, в котором нечего показать.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он сделал. Какой не хватило?</a:t>
            </a:r>
          </a:p>
        </p:txBody>
      </p:sp>
      <p:sp>
        <p:nvSpPr>
          <p:cNvPr id="3" name="Rounded Rectangle 2"/>
          <p:cNvSpPr/>
          <p:nvPr/>
        </p:nvSpPr>
        <p:spPr>
          <a:xfrm>
            <a:off x="502920" y="162260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7746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5976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За неделю он сделал три из этих четырёх проверок — и остался без ответа.</a:t>
            </a:r>
          </a:p>
        </p:txBody>
      </p:sp>
      <p:sp>
        <p:nvSpPr>
          <p:cNvPr id="6" name="Rounded Rectangle 5"/>
          <p:cNvSpPr/>
          <p:nvPr/>
        </p:nvSpPr>
        <p:spPr>
          <a:xfrm>
            <a:off x="502920" y="276674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476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ту, которой ему не хватило, и скажите, чем она отличается от остальных трёх.</a:t>
            </a:r>
          </a:p>
        </p:txBody>
      </p:sp>
      <p:sp>
        <p:nvSpPr>
          <p:cNvPr id="8" name="Rounded Rectangle 7"/>
          <p:cNvSpPr/>
          <p:nvPr/>
        </p:nvSpPr>
        <p:spPr>
          <a:xfrm>
            <a:off x="502920"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статус зелёный</a:t>
            </a:r>
          </a:p>
        </p:txBody>
      </p:sp>
      <p:sp>
        <p:nvSpPr>
          <p:cNvPr id="10" name="Rounded Rectangle 9"/>
          <p:cNvSpPr/>
          <p:nvPr/>
        </p:nvSpPr>
        <p:spPr>
          <a:xfrm>
            <a:off x="3335274"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002"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посмотреть, что именно показывает статус подробнее</a:t>
            </a:r>
          </a:p>
        </p:txBody>
      </p:sp>
      <p:sp>
        <p:nvSpPr>
          <p:cNvPr id="12" name="Rounded Rectangle 11"/>
          <p:cNvSpPr/>
          <p:nvPr/>
        </p:nvSpPr>
        <p:spPr>
          <a:xfrm>
            <a:off x="6167628"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7356"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спросить агента, почему он решил, что всё сделал</a:t>
            </a:r>
          </a:p>
        </p:txBody>
      </p:sp>
      <p:sp>
        <p:nvSpPr>
          <p:cNvPr id="14" name="Rounded Rectangle 13"/>
          <p:cNvSpPr/>
          <p:nvPr/>
        </p:nvSpPr>
        <p:spPr>
          <a:xfrm>
            <a:off x="8999982"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09710"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явно попросить агента обратиться к серверу по имени и показать вызов</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 правда. Правда о другом</a:t>
            </a:r>
          </a:p>
        </p:txBody>
      </p:sp>
      <p:sp>
        <p:nvSpPr>
          <p:cNvPr id="3" name="Rounded Rectangle 2"/>
          <p:cNvSpPr/>
          <p:nvPr/>
        </p:nvSpPr>
        <p:spPr>
          <a:xfrm>
            <a:off x="502920" y="943356"/>
            <a:ext cx="11183112" cy="3234055"/>
          </a:xfrm>
          <a:prstGeom prst="roundRect">
            <a:avLst>
              <a:gd name="adj" fmla="val 94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194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ПРОВЕРКА</a:t>
            </a:r>
          </a:p>
        </p:txBody>
      </p:sp>
      <p:sp>
        <p:nvSpPr>
          <p:cNvPr id="5" name="TextBox 4"/>
          <p:cNvSpPr txBox="1"/>
          <p:nvPr/>
        </p:nvSpPr>
        <p:spPr>
          <a:xfrm>
            <a:off x="2351562" y="1126236"/>
            <a:ext cx="46983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ДОКАЗАЛА</a:t>
            </a:r>
          </a:p>
        </p:txBody>
      </p:sp>
      <p:sp>
        <p:nvSpPr>
          <p:cNvPr id="6" name="TextBox 5"/>
          <p:cNvSpPr txBox="1"/>
          <p:nvPr/>
        </p:nvSpPr>
        <p:spPr>
          <a:xfrm>
            <a:off x="7196256" y="1126236"/>
            <a:ext cx="41605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ДОКАЗАЛА</a:t>
            </a:r>
          </a:p>
        </p:txBody>
      </p:sp>
      <p:sp>
        <p:nvSpPr>
          <p:cNvPr id="7" name="TextBox 6"/>
          <p:cNvSpPr txBox="1"/>
          <p:nvPr/>
        </p:nvSpPr>
        <p:spPr>
          <a:xfrm>
            <a:off x="685800" y="1408303"/>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ничего — статус зелёный</a:t>
            </a:r>
          </a:p>
        </p:txBody>
      </p:sp>
      <p:sp>
        <p:nvSpPr>
          <p:cNvPr id="8" name="TextBox 7"/>
          <p:cNvSpPr txBox="1"/>
          <p:nvPr/>
        </p:nvSpPr>
        <p:spPr>
          <a:xfrm>
            <a:off x="2351562" y="1408303"/>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процесс сервера поднят и ответил на рукопожатие</a:t>
            </a:r>
          </a:p>
        </p:txBody>
      </p:sp>
      <p:sp>
        <p:nvSpPr>
          <p:cNvPr id="9" name="TextBox 8"/>
          <p:cNvSpPr txBox="1"/>
          <p:nvPr/>
        </p:nvSpPr>
        <p:spPr>
          <a:xfrm>
            <a:off x="7196256" y="1408303"/>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что агент обращался к нему в этой задаче — это отдельный факт</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51945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статус подробнее</a:t>
            </a:r>
          </a:p>
        </p:txBody>
      </p:sp>
      <p:sp>
        <p:nvSpPr>
          <p:cNvPr id="12" name="TextBox 11"/>
          <p:cNvSpPr txBox="1"/>
          <p:nvPr/>
        </p:nvSpPr>
        <p:spPr>
          <a:xfrm>
            <a:off x="2351562" y="1923414"/>
            <a:ext cx="469839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различает «процесс не поднялся», «список инструментов не получен», «нужна авторизация» — круг причин сужается</a:t>
            </a:r>
          </a:p>
        </p:txBody>
      </p:sp>
      <p:sp>
        <p:nvSpPr>
          <p:cNvPr id="13" name="TextBox 12"/>
          <p:cNvSpPr txBox="1"/>
          <p:nvPr/>
        </p:nvSpPr>
        <p:spPr>
          <a:xfrm>
            <a:off x="7196256" y="1923414"/>
            <a:ext cx="416059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вызывал ли агент сервер именно сейчас: статус живёт отдельно от конкретной задачи</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спросить агента</a:t>
            </a:r>
          </a:p>
        </p:txBody>
      </p:sp>
      <p:sp>
        <p:nvSpPr>
          <p:cNvPr id="16" name="TextBox 15"/>
          <p:cNvSpPr txBox="1"/>
          <p:nvPr/>
        </p:nvSpPr>
        <p:spPr>
          <a:xfrm>
            <a:off x="2351562" y="2613786"/>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иногда вскрывает причину сразу: агент признаётся, что не нашёл способа проверить и ответил по смыслу задачи</a:t>
            </a:r>
          </a:p>
        </p:txBody>
      </p:sp>
      <p:sp>
        <p:nvSpPr>
          <p:cNvPr id="17" name="TextBox 16"/>
          <p:cNvSpPr txBox="1"/>
          <p:nvPr/>
        </p:nvSpPr>
        <p:spPr>
          <a:xfrm>
            <a:off x="7196256" y="2613786"/>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агент пересказывает своё понимание; наблюдения за транспортом в пересказе нет</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519458"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попросить обратиться к серверу по имени и показать вызов</a:t>
            </a:r>
          </a:p>
        </p:txBody>
      </p:sp>
      <p:sp>
        <p:nvSpPr>
          <p:cNvPr id="20" name="TextBox 19"/>
          <p:cNvSpPr txBox="1"/>
          <p:nvPr/>
        </p:nvSpPr>
        <p:spPr>
          <a:xfrm>
            <a:off x="2351562" y="3128899"/>
            <a:ext cx="469839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вызов инструмента в выводе подписан именем сервера — это видимый факт</a:t>
            </a:r>
          </a:p>
        </p:txBody>
      </p:sp>
      <p:sp>
        <p:nvSpPr>
          <p:cNvPr id="21" name="TextBox 20"/>
          <p:cNvSpPr txBox="1"/>
          <p:nvPr/>
        </p:nvSpPr>
        <p:spPr>
          <a:xfrm>
            <a:off x="7196256" y="3128899"/>
            <a:ext cx="4160591"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требует заранее знать имя сервера и чуть более точной формулировки задачи</a:t>
            </a:r>
          </a:p>
        </p:txBody>
      </p:sp>
      <p:sp>
        <p:nvSpPr>
          <p:cNvPr id="22" name="Rounded Rectangle 21"/>
          <p:cNvSpPr/>
          <p:nvPr/>
        </p:nvSpPr>
        <p:spPr>
          <a:xfrm>
            <a:off x="502920" y="434200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47001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Статус говорил правду — о том, что процесс поднят.</a:t>
            </a:r>
            <a:r>
              <a:rPr sz="1450" b="1" i="0">
                <a:solidFill>
                  <a:srgbClr val="141B2E"/>
                </a:solidFill>
                <a:latin typeface="Arial"/>
              </a:rPr>
              <a:t> Работу агента доказывает одно: вызов, подписанный именем сервера. Три честные проверки за неделю дали ноль фактов об этом.</a:t>
            </a:r>
          </a:p>
        </p:txBody>
      </p:sp>
      <p:sp>
        <p:nvSpPr>
          <p:cNvPr id="24" name="Rounded Rectangle 23"/>
          <p:cNvSpPr/>
          <p:nvPr/>
        </p:nvSpPr>
        <p:spPr>
          <a:xfrm>
            <a:off x="502920" y="5237607"/>
            <a:ext cx="11183112" cy="82108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365623"/>
            <a:ext cx="10634472" cy="565050"/>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прямо сейчас подключён хоть один сервер — и когда вы последний раз видели его имя в выводе агента?</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понять, что сервер реально работает</a:t>
            </a:r>
          </a:p>
        </p:txBody>
      </p:sp>
      <p:sp>
        <p:nvSpPr>
          <p:cNvPr id="3" name="Rounded Rectangle 2"/>
          <p:cNvSpPr/>
          <p:nvPr/>
        </p:nvSpPr>
        <p:spPr>
          <a:xfrm>
            <a:off x="502920" y="14779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59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a:t>
            </a:r>
            <a:r>
              <a:rPr sz="1500" b="1" i="0">
                <a:solidFill>
                  <a:srgbClr val="141B2E"/>
                </a:solidFill>
                <a:latin typeface="Consolas"/>
              </a:rPr>
              <a:t>/mcp</a:t>
            </a:r>
            <a:r>
              <a:rPr sz="1500" b="1" i="0">
                <a:solidFill>
                  <a:srgbClr val="141B2E"/>
                </a:solidFill>
                <a:latin typeface="Arial"/>
              </a:rPr>
              <a:t> показывает больше, чем одно слово «подключено» — отдельно видно, поднялся ли сам процесс и получен ли список инструментов. Но даже такой подробный статус — факт про процесс, не про то, обращался ли к нему именно агент в этой задаче.</a:t>
            </a:r>
          </a:p>
        </p:txBody>
      </p:sp>
      <p:sp>
        <p:nvSpPr>
          <p:cNvPr id="5" name="Rounded Rectangle 4"/>
          <p:cNvSpPr/>
          <p:nvPr/>
        </p:nvSpPr>
        <p:spPr>
          <a:xfrm>
            <a:off x="502920" y="31284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2564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Доказательный вызов.</a:t>
            </a:r>
            <a:r>
              <a:rPr sz="1500" b="1" i="0">
                <a:solidFill>
                  <a:srgbClr val="141B2E"/>
                </a:solidFill>
                <a:latin typeface="Arial"/>
              </a:rPr>
              <a:t>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a:t>
            </a:r>
          </a:p>
        </p:txBody>
      </p:sp>
      <p:sp>
        <p:nvSpPr>
          <p:cNvPr id="7" name="Rounded Rectangle 6"/>
          <p:cNvSpPr/>
          <p:nvPr/>
        </p:nvSpPr>
        <p:spPr>
          <a:xfrm>
            <a:off x="502920" y="45427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7075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Если ответ не приходит сразу — не спешите считать это сбоем. Запуск самого сервера и выполнение уже начатого вызова идут по разным часам: второе объективно может занимать заметно дольше первого.</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спросить агента, чтобы было что проверить</a:t>
            </a:r>
          </a:p>
        </p:txBody>
      </p:sp>
      <p:sp>
        <p:nvSpPr>
          <p:cNvPr id="3" name="Rounded Rectangle 2"/>
          <p:cNvSpPr/>
          <p:nvPr/>
        </p:nvSpPr>
        <p:spPr>
          <a:xfrm>
            <a:off x="502920" y="2013204"/>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41220"/>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Плохо:</a:t>
            </a:r>
            <a:r>
              <a:rPr sz="1500" b="1" i="0">
                <a:solidFill>
                  <a:srgbClr val="141B2E"/>
                </a:solidFill>
                <a:latin typeface="Arial"/>
              </a:rPr>
              <a:t> «Посмотри, что скопилось во входящих, и подготовь черновики.»</a:t>
            </a:r>
          </a:p>
          <a:p>
            <a:pPr algn="l">
              <a:lnSpc>
                <a:spcPts val="1860"/>
              </a:lnSpc>
              <a:spcAft>
                <a:spcPts val="300"/>
              </a:spcAft>
            </a:pPr>
            <a:r>
              <a:rPr sz="1500" b="1" i="0">
                <a:solidFill>
                  <a:srgbClr val="141B2E"/>
                </a:solidFill>
                <a:latin typeface="Arial"/>
              </a:rPr>
              <a:t>Ни «нашёл», ни «не нашёл» это не доказывает — агент мог ответить, не обращаясь к серверу вовсе.</a:t>
            </a:r>
          </a:p>
        </p:txBody>
      </p:sp>
      <p:sp>
        <p:nvSpPr>
          <p:cNvPr id="5" name="Rounded Rectangle 4"/>
          <p:cNvSpPr/>
          <p:nvPr/>
        </p:nvSpPr>
        <p:spPr>
          <a:xfrm>
            <a:off x="502920" y="3465576"/>
            <a:ext cx="82296" cy="12573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93592"/>
            <a:ext cx="10643616" cy="10012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Хорошо:</a:t>
            </a:r>
            <a:r>
              <a:rPr sz="1500" b="1" i="0">
                <a:solidFill>
                  <a:srgbClr val="141B2E"/>
                </a:solidFill>
                <a:latin typeface="Arial"/>
              </a:rPr>
              <a:t> «Используя сервер трекера, выведи список открытых задач, затем подготовь черновик по каждой.»</a:t>
            </a:r>
          </a:p>
          <a:p>
            <a:pPr algn="l">
              <a:lnSpc>
                <a:spcPts val="1860"/>
              </a:lnSpc>
              <a:spcAft>
                <a:spcPts val="300"/>
              </a:spcAft>
            </a:pPr>
            <a:r>
              <a:rPr sz="1500" b="1" i="0">
                <a:solidFill>
                  <a:srgbClr val="141B2E"/>
                </a:solidFill>
                <a:latin typeface="Arial"/>
              </a:rPr>
              <a:t>Явное имя сервера в запросе — и есть доказательный вызов: дальше смотрим, подписан ли вызов в выводе именем сервера.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Процедура, не файл: строка правила в CLAUDE.md</a:t>
            </a:r>
          </a:p>
        </p:txBody>
      </p:sp>
      <p:sp>
        <p:nvSpPr>
          <p:cNvPr id="3" name="Rounded Rectangle 2"/>
          <p:cNvSpPr/>
          <p:nvPr/>
        </p:nvSpPr>
        <p:spPr>
          <a:xfrm>
            <a:off x="502920" y="1293571"/>
            <a:ext cx="11183112" cy="97155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72905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513027"/>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добавлена строка: «После подключения любого MCP-сервера и после любого подозрения в тишине — явный именованный вызов сервера, прежде чем доверять зелёному статусу».</a:t>
            </a:r>
          </a:p>
        </p:txBody>
      </p:sp>
      <p:sp>
        <p:nvSpPr>
          <p:cNvPr id="6" name="Rounded Rectangle 5"/>
          <p:cNvSpPr/>
          <p:nvPr/>
        </p:nvSpPr>
        <p:spPr>
          <a:xfrm>
            <a:off x="502920" y="29326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30606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строка в файле, который уже есть, не новый артефакт — и она проверяется так же, как остальные правила этого проекта: прочитана, не исполняется сама.</a:t>
            </a:r>
          </a:p>
        </p:txBody>
      </p:sp>
      <p:sp>
        <p:nvSpPr>
          <p:cNvPr id="8" name="Rounded Rectangle 7"/>
          <p:cNvSpPr/>
          <p:nvPr/>
        </p:nvSpPr>
        <p:spPr>
          <a:xfrm>
            <a:off x="502920" y="434690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47492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именно CLAUDE.md, не хук.</a:t>
            </a:r>
            <a:r>
              <a:rPr sz="1500" b="1" i="0">
                <a:solidFill>
                  <a:srgbClr val="141B2E"/>
                </a:solidFill>
                <a:latin typeface="Arial"/>
              </a:rPr>
              <a:t> В прошлом занятии в этом же файле уже стояли оба вида правил рядом: «Repository etiquette» — записанное словами, читает человек или агент; «Хук защиты ветки» — код, который срабатывает сам на конкретное событие. Здесь правило снова первого вида: «подозрение в тишине» нельзя заранее описать как событие для хука — это решение принимает человек.</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Статус зелёный, а то, что обещано, — не то</a:t>
            </a:r>
          </a:p>
        </p:txBody>
      </p:sp>
      <p:sp>
        <p:nvSpPr>
          <p:cNvPr id="3" name="Rounded Rectangle 2"/>
          <p:cNvSpPr/>
          <p:nvPr/>
        </p:nvSpPr>
        <p:spPr>
          <a:xfrm>
            <a:off x="502920" y="1483334"/>
            <a:ext cx="11183112" cy="2620073"/>
          </a:xfrm>
          <a:prstGeom prst="roundRect">
            <a:avLst>
              <a:gd name="adj" fmla="val 116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6214"/>
            <a:ext cx="10907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5" name="TextBox 4"/>
          <p:cNvSpPr txBox="1"/>
          <p:nvPr/>
        </p:nvSpPr>
        <p:spPr>
          <a:xfrm>
            <a:off x="1922896" y="1666214"/>
            <a:ext cx="57096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 ЗНАЧИЛО ДЛЯ ТЕХ, КТО ЭТИМ ПОЛЬЗОВАЛСЯ</a:t>
            </a:r>
          </a:p>
        </p:txBody>
      </p:sp>
      <p:sp>
        <p:nvSpPr>
          <p:cNvPr id="6" name="TextBox 5"/>
          <p:cNvSpPr txBox="1"/>
          <p:nvPr/>
        </p:nvSpPr>
        <p:spPr>
          <a:xfrm>
            <a:off x="7778825" y="1666214"/>
            <a:ext cx="35780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ЗАМЕТИЛИ</a:t>
            </a:r>
          </a:p>
        </p:txBody>
      </p:sp>
      <p:sp>
        <p:nvSpPr>
          <p:cNvPr id="7" name="TextBox 6"/>
          <p:cNvSpPr txBox="1"/>
          <p:nvPr/>
        </p:nvSpPr>
        <p:spPr>
          <a:xfrm>
            <a:off x="685800" y="1948281"/>
            <a:ext cx="109079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 сервер сам говорит неправду о своём режиме</a:t>
            </a:r>
          </a:p>
        </p:txBody>
      </p:sp>
      <p:sp>
        <p:nvSpPr>
          <p:cNvPr id="8" name="TextBox 7"/>
          <p:cNvSpPr txBox="1"/>
          <p:nvPr/>
        </p:nvSpPr>
        <p:spPr>
          <a:xfrm>
            <a:off x="1922896" y="1948281"/>
            <a:ext cx="570962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Команда была уверена, что работает с чужой базой данных в безопасном режиме только чтения — а соединение на деле позволяло менять данные. Сами разработчики сервера были уверены, что ограничение работает</a:t>
            </a:r>
          </a:p>
        </p:txBody>
      </p:sp>
      <p:sp>
        <p:nvSpPr>
          <p:cNvPr id="9" name="TextBox 8"/>
          <p:cNvSpPr txBox="1"/>
          <p:nvPr/>
        </p:nvSpPr>
        <p:spPr>
          <a:xfrm>
            <a:off x="7778825" y="1948281"/>
            <a:ext cx="35780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обнаружили только тогда, когда кто-то выполнил запрос с реальным побочным эффектом и увидел, что он прошёл — чтение настройки ничего не показывало</a:t>
            </a:r>
          </a:p>
        </p:txBody>
      </p:sp>
      <p:cxnSp>
        <p:nvCxnSpPr>
          <p:cNvPr id="10" name="Connector 9"/>
          <p:cNvCxnSpPr/>
          <p:nvPr/>
        </p:nvCxnSpPr>
        <p:spPr>
          <a:xfrm>
            <a:off x="685800" y="30256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25686"/>
            <a:ext cx="109079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 доступ пропадает тихо, статус жив</a:t>
            </a:r>
          </a:p>
        </p:txBody>
      </p:sp>
      <p:sp>
        <p:nvSpPr>
          <p:cNvPr id="12" name="TextBox 11"/>
          <p:cNvSpPr txBox="1"/>
          <p:nvPr/>
        </p:nvSpPr>
        <p:spPr>
          <a:xfrm>
            <a:off x="1922896" y="3025686"/>
            <a:ext cx="570962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Инструменты, которые ещё вчера работали, однажды перестали — без предупреждения, без красного статуса; </a:t>
            </a: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продолжал показывать «подключён»</a:t>
            </a:r>
          </a:p>
        </p:txBody>
      </p:sp>
      <p:sp>
        <p:nvSpPr>
          <p:cNvPr id="13" name="TextBox 12"/>
          <p:cNvSpPr txBox="1"/>
          <p:nvPr/>
        </p:nvSpPr>
        <p:spPr>
          <a:xfrm>
            <a:off x="7778825" y="3025686"/>
            <a:ext cx="357802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заметили по тому, что обычные вызовы начали требовать повторного входа, не по статусу подключения</a:t>
            </a:r>
          </a:p>
        </p:txBody>
      </p:sp>
      <p:sp>
        <p:nvSpPr>
          <p:cNvPr id="14" name="Rounded Rectangle 13"/>
          <p:cNvSpPr/>
          <p:nvPr/>
        </p:nvSpPr>
        <p:spPr>
          <a:xfrm>
            <a:off x="502920" y="4770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898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Статус подключения и текст настройки говорят, каким соединение должно быть. Что оно делает на самом деле, показывает только реальное действие с наблюдаемым результатом.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достаточно посмотреть на статус, а когда нужно вызвать самому</a:t>
            </a:r>
          </a:p>
        </p:txBody>
      </p:sp>
      <p:sp>
        <p:nvSpPr>
          <p:cNvPr id="3" name="Rounded Rectangle 2"/>
          <p:cNvSpPr/>
          <p:nvPr/>
        </p:nvSpPr>
        <p:spPr>
          <a:xfrm>
            <a:off x="502920" y="1734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624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Мы научились проверять, что подключённое действительно работает. Следующий вопрос — чего стоит само присутствие сервера в проекте, пока к нему никто не обращается.</a:t>
            </a:r>
          </a:p>
        </p:txBody>
      </p:sp>
      <p:sp>
        <p:nvSpPr>
          <p:cNvPr id="5" name="Rounded Rectangle 4"/>
          <p:cNvSpPr/>
          <p:nvPr/>
        </p:nvSpPr>
        <p:spPr>
          <a:xfrm>
            <a:off x="502920"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ДОСТАТОЧНО ПОСМОТРЕТЬ НА СТАТУС</a:t>
            </a:r>
          </a:p>
        </p:txBody>
      </p:sp>
      <p:sp>
        <p:nvSpPr>
          <p:cNvPr id="7" name="TextBox 6"/>
          <p:cNvSpPr txBox="1"/>
          <p:nvPr/>
        </p:nvSpPr>
        <p:spPr>
          <a:xfrm>
            <a:off x="685800" y="353278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используется нерегулярно</a:t>
            </a:r>
          </a:p>
        </p:txBody>
      </p:sp>
      <p:cxnSp>
        <p:nvCxnSpPr>
          <p:cNvPr id="8" name="Connector 7"/>
          <p:cNvCxnSpPr/>
          <p:nvPr/>
        </p:nvCxnSpPr>
        <p:spPr>
          <a:xfrm>
            <a:off x="685800" y="38514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5142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 под наблюдением человека</a:t>
            </a:r>
          </a:p>
        </p:txBody>
      </p:sp>
      <p:sp>
        <p:nvSpPr>
          <p:cNvPr id="10" name="Rounded Rectangle 9"/>
          <p:cNvSpPr/>
          <p:nvPr/>
        </p:nvSpPr>
        <p:spPr>
          <a:xfrm>
            <a:off x="6231636"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НУЖНО ВЫЗВАТЬ САМОМУ — ИЛИ РЕШЕНИЕ НЕ ПОДКЛЮЧАТЬ ВОВСЕ</a:t>
            </a:r>
          </a:p>
        </p:txBody>
      </p:sp>
      <p:sp>
        <p:nvSpPr>
          <p:cNvPr id="12" name="TextBox 11"/>
          <p:cNvSpPr txBox="1"/>
          <p:nvPr/>
        </p:nvSpPr>
        <p:spPr>
          <a:xfrm>
            <a:off x="6414516" y="353278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доверять флагу, который сервер не может независимо подтвердить, — не нужно никогда: проверяйте явным вызовом</a:t>
            </a:r>
          </a:p>
        </p:txBody>
      </p:sp>
      <p:cxnSp>
        <p:nvCxnSpPr>
          <p:cNvPr id="13" name="Connector 12"/>
          <p:cNvCxnSpPr/>
          <p:nvPr/>
        </p:nvCxnSpPr>
        <p:spPr>
          <a:xfrm>
            <a:off x="6414516" y="4023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2376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для задачи хватило бы режима только чтения, а сервер не даёт способа убедиться, что он реально включён, — разумнее завести отдельную роль с урезанными правами на уровне самой базы данных</a:t>
            </a:r>
          </a:p>
        </p:txBody>
      </p:sp>
      <p:cxnSp>
        <p:nvCxnSpPr>
          <p:cNvPr id="15" name="Connector 14"/>
          <p:cNvCxnSpPr/>
          <p:nvPr/>
        </p:nvCxnSpPr>
        <p:spPr>
          <a:xfrm>
            <a:off x="6414516" y="48594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85942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явный вызов систематически не проходит и автор сервера не отвечает — вопрос смещается туда же, где решался первый кейс этого блока: подключать ли сервер вообще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20583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8633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вы ставите первым шагом — и что добавляете к этому следующим?</a:t>
            </a:r>
          </a:p>
        </p:txBody>
      </p:sp>
      <p:sp>
        <p:nvSpPr>
          <p:cNvPr id="5" name="Rounded Rectangle 4"/>
          <p:cNvSpPr/>
          <p:nvPr/>
        </p:nvSpPr>
        <p:spPr>
          <a:xfrm>
            <a:off x="502920"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7" name="Rounded Rectangle 6"/>
          <p:cNvSpPr/>
          <p:nvPr/>
        </p:nvSpPr>
        <p:spPr>
          <a:xfrm>
            <a:off x="2768803"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9" name="Rounded Rectangle 8"/>
          <p:cNvSpPr/>
          <p:nvPr/>
        </p:nvSpPr>
        <p:spPr>
          <a:xfrm>
            <a:off x="5034686"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1" name="Rounded Rectangle 10"/>
          <p:cNvSpPr/>
          <p:nvPr/>
        </p:nvSpPr>
        <p:spPr>
          <a:xfrm>
            <a:off x="7300569"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3" name="Rounded Rectangle 12"/>
          <p:cNvSpPr/>
          <p:nvPr/>
        </p:nvSpPr>
        <p:spPr>
          <a:xfrm>
            <a:off x="9566452"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172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3827" y="1126236"/>
            <a:ext cx="373581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5944" y="1126236"/>
            <a:ext cx="534090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3827" y="1400810"/>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5944" y="1400810"/>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172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3827" y="2047367"/>
            <a:ext cx="373581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5944" y="2047367"/>
            <a:ext cx="534090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3827" y="2854579"/>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5944" y="2854579"/>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3827" y="3501136"/>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5944" y="3501136"/>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172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3827" y="4147693"/>
            <a:ext cx="373581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5944" y="4147693"/>
            <a:ext cx="534090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32-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роль и контекст каждого</a:t>
            </a:r>
          </a:p>
        </p:txBody>
      </p:sp>
      <p:pic>
        <p:nvPicPr>
          <p:cNvPr id="3" name="Picture 2" descr="subagent-n37-kontekst-i-roli.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Роль целиком, одним экраном</a:t>
            </a:r>
          </a:p>
        </p:txBody>
      </p:sp>
      <p:pic>
        <p:nvPicPr>
          <p:cNvPr id="3" name="Picture 2" descr="subagent-n38-rol-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ectangle 2"/>
          <p:cNvSpPr/>
          <p:nvPr/>
        </p:nvSpPr>
        <p:spPr>
          <a:xfrm>
            <a:off x="502920" y="1671523"/>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26387"/>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«Что править — известно. Где править — лежит в сорока файлах, из которых нужны четыре.»</a:t>
            </a:r>
          </a:p>
        </p:txBody>
      </p:sp>
      <p:sp>
        <p:nvSpPr>
          <p:cNvPr id="5" name="Rounded Rectangle 4"/>
          <p:cNvSpPr/>
          <p:nvPr/>
        </p:nvSpPr>
        <p:spPr>
          <a:xfrm>
            <a:off x="502920" y="26933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213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7" name="Rounded Rectangle 6"/>
          <p:cNvSpPr/>
          <p:nvPr/>
        </p:nvSpPr>
        <p:spPr>
          <a:xfrm>
            <a:off x="502920"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9" name="Rounded Rectangle 8"/>
          <p:cNvSpPr/>
          <p:nvPr/>
        </p:nvSpPr>
        <p:spPr>
          <a:xfrm>
            <a:off x="2768803"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1" name="Rounded Rectangle 10"/>
          <p:cNvSpPr/>
          <p:nvPr/>
        </p:nvSpPr>
        <p:spPr>
          <a:xfrm>
            <a:off x="5034686"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3" name="Rounded Rectangle 12"/>
          <p:cNvSpPr/>
          <p:nvPr/>
        </p:nvSpPr>
        <p:spPr>
          <a:xfrm>
            <a:off x="7300569"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роли: прочитает в своём контексте и вернёт список мест</a:t>
            </a:r>
          </a:p>
        </p:txBody>
      </p:sp>
      <p:sp>
        <p:nvSpPr>
          <p:cNvPr id="15" name="Rounded Rectangle 14"/>
          <p:cNvSpPr/>
          <p:nvPr/>
        </p:nvSpPr>
        <p:spPr>
          <a:xfrm>
            <a:off x="9566452"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990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31128" y="1126236"/>
            <a:ext cx="37137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91158" y="1126236"/>
            <a:ext cx="56656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999024"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31128" y="1408303"/>
            <a:ext cx="371372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691158" y="1408303"/>
            <a:ext cx="566568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31128" y="2244725"/>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691158" y="2244725"/>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31128" y="2913189"/>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691158" y="2913189"/>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роли</a:t>
            </a:r>
          </a:p>
        </p:txBody>
      </p:sp>
      <p:sp>
        <p:nvSpPr>
          <p:cNvPr id="20" name="TextBox 19"/>
          <p:cNvSpPr txBox="1"/>
          <p:nvPr/>
        </p:nvSpPr>
        <p:spPr>
          <a:xfrm>
            <a:off x="1831128" y="3581654"/>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691158" y="3581654"/>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роль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99902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31128" y="4250118"/>
            <a:ext cx="371372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691158" y="4250118"/>
            <a:ext cx="566568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роли закрывается вместе с ней. Второе — куда возвращается список: от роли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роли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роль, которой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роли,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103108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8595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67789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0591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Пятница, вечер. Это вся постановка.</a:t>
            </a:r>
          </a:p>
        </p:txBody>
      </p:sp>
      <p:sp>
        <p:nvSpPr>
          <p:cNvPr id="7" name="Rounded Rectangle 6"/>
          <p:cNvSpPr/>
          <p:nvPr/>
        </p:nvSpPr>
        <p:spPr>
          <a:xfrm>
            <a:off x="502920" y="2480919"/>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3799"/>
            <a:ext cx="53342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9" name="TextBox 8"/>
          <p:cNvSpPr txBox="1"/>
          <p:nvPr/>
        </p:nvSpPr>
        <p:spPr>
          <a:xfrm>
            <a:off x="6166384" y="2663799"/>
            <a:ext cx="51904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0" name="TextBox 9"/>
          <p:cNvSpPr txBox="1"/>
          <p:nvPr/>
        </p:nvSpPr>
        <p:spPr>
          <a:xfrm>
            <a:off x="685800" y="2945866"/>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«телефон» и проверка формата</a:t>
            </a:r>
          </a:p>
        </p:txBody>
      </p:sp>
      <p:sp>
        <p:nvSpPr>
          <p:cNvPr id="11" name="TextBox 10"/>
          <p:cNvSpPr txBox="1"/>
          <p:nvPr/>
        </p:nvSpPr>
        <p:spPr>
          <a:xfrm>
            <a:off x="6166384" y="2945866"/>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a:t>
            </a:r>
          </a:p>
        </p:txBody>
      </p:sp>
      <p:cxnSp>
        <p:nvCxnSpPr>
          <p:cNvPr id="12" name="Connector 11"/>
          <p:cNvCxnSpPr/>
          <p:nvPr/>
        </p:nvCxnSpPr>
        <p:spPr>
          <a:xfrm>
            <a:off x="685800" y="32930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93021"/>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сообщения об ошибках — к одному виду</a:t>
            </a:r>
          </a:p>
        </p:txBody>
      </p:sp>
      <p:sp>
        <p:nvSpPr>
          <p:cNvPr id="14" name="TextBox 13"/>
          <p:cNvSpPr txBox="1"/>
          <p:nvPr/>
        </p:nvSpPr>
        <p:spPr>
          <a:xfrm>
            <a:off x="6166384" y="3293021"/>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файл, что у поля: </a:t>
            </a:r>
            <a:r>
              <a:rPr sz="1250" b="0" i="0">
                <a:solidFill>
                  <a:srgbClr val="141B2E"/>
                </a:solidFill>
                <a:latin typeface="Consolas"/>
              </a:rPr>
              <a:t>src/validate.js</a:t>
            </a:r>
          </a:p>
        </p:txBody>
      </p:sp>
      <p:cxnSp>
        <p:nvCxnSpPr>
          <p:cNvPr id="15" name="Connector 14"/>
          <p:cNvCxnSpPr/>
          <p:nvPr/>
        </p:nvCxnSpPr>
        <p:spPr>
          <a:xfrm>
            <a:off x="685800" y="3640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640175"/>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согласия на обработку данных</a:t>
            </a:r>
          </a:p>
        </p:txBody>
      </p:sp>
      <p:sp>
        <p:nvSpPr>
          <p:cNvPr id="17" name="TextBox 16"/>
          <p:cNvSpPr txBox="1"/>
          <p:nvPr/>
        </p:nvSpPr>
        <p:spPr>
          <a:xfrm>
            <a:off x="6166384" y="3640175"/>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a:t>
            </a:r>
          </a:p>
        </p:txBody>
      </p:sp>
      <p:cxnSp>
        <p:nvCxnSpPr>
          <p:cNvPr id="18" name="Connector 17"/>
          <p:cNvCxnSpPr/>
          <p:nvPr/>
        </p:nvCxnSpPr>
        <p:spPr>
          <a:xfrm>
            <a:off x="685800" y="39873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7330"/>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формы на узком экране</a:t>
            </a:r>
          </a:p>
        </p:txBody>
      </p:sp>
      <p:sp>
        <p:nvSpPr>
          <p:cNvPr id="20" name="TextBox 19"/>
          <p:cNvSpPr txBox="1"/>
          <p:nvPr/>
        </p:nvSpPr>
        <p:spPr>
          <a:xfrm>
            <a:off x="6166384" y="3987330"/>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 поля: пока поля нет, проверять нечего</a:t>
            </a:r>
          </a:p>
        </p:txBody>
      </p:sp>
      <p:cxnSp>
        <p:nvCxnSpPr>
          <p:cNvPr id="21" name="Connector 20"/>
          <p:cNvCxnSpPr/>
          <p:nvPr/>
        </p:nvCxnSpPr>
        <p:spPr>
          <a:xfrm>
            <a:off x="685800" y="4334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334484"/>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прогон перед выкладкой: ветка, тесты, сборка</a:t>
            </a:r>
          </a:p>
        </p:txBody>
      </p:sp>
      <p:sp>
        <p:nvSpPr>
          <p:cNvPr id="23" name="TextBox 22"/>
          <p:cNvSpPr txBox="1"/>
          <p:nvPr/>
        </p:nvSpPr>
        <p:spPr>
          <a:xfrm>
            <a:off x="6166384" y="4334484"/>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 и повторяется после каждого</a:t>
            </a:r>
          </a:p>
        </p:txBody>
      </p:sp>
      <p:cxnSp>
        <p:nvCxnSpPr>
          <p:cNvPr id="24" name="Connector 23"/>
          <p:cNvCxnSpPr/>
          <p:nvPr/>
        </p:nvCxnSpPr>
        <p:spPr>
          <a:xfrm>
            <a:off x="685800" y="46816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681639"/>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письмо-подтверждение заявителю</a:t>
            </a:r>
          </a:p>
        </p:txBody>
      </p:sp>
      <p:sp>
        <p:nvSpPr>
          <p:cNvPr id="26" name="TextBox 25"/>
          <p:cNvSpPr txBox="1"/>
          <p:nvPr/>
        </p:nvSpPr>
        <p:spPr>
          <a:xfrm>
            <a:off x="6166384" y="4681639"/>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 кода не касается</a:t>
            </a:r>
          </a:p>
        </p:txBody>
      </p:sp>
      <p:sp>
        <p:nvSpPr>
          <p:cNvPr id="27" name="Rounded Rectangle 26"/>
          <p:cNvSpPr/>
          <p:nvPr/>
        </p:nvSpPr>
        <p:spPr>
          <a:xfrm>
            <a:off x="502920" y="550415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217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Независимых кусков — три из шести.</a:t>
            </a:r>
            <a:r>
              <a:rPr sz="1500" b="1" i="0">
                <a:solidFill>
                  <a:srgbClr val="141B2E"/>
                </a:solidFill>
                <a:latin typeface="Arial"/>
              </a:rPr>
              <a:t> Один ждёт поля. Один лезет в тот же файл. Один повторяется после каждого из остальных.</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20583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8633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«Чем ускоряем эту задачу? Выберите карточку — и назовите кусок, на котором ваше средство работает.»</a:t>
            </a:r>
          </a:p>
        </p:txBody>
      </p:sp>
      <p:sp>
        <p:nvSpPr>
          <p:cNvPr id="5" name="Rounded Rectangle 4"/>
          <p:cNvSpPr/>
          <p:nvPr/>
        </p:nvSpPr>
        <p:spPr>
          <a:xfrm>
            <a:off x="502920"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7" name="Rounded Rectangle 6"/>
          <p:cNvSpPr/>
          <p:nvPr/>
        </p:nvSpPr>
        <p:spPr>
          <a:xfrm>
            <a:off x="2768803"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9" name="Rounded Rectangle 8"/>
          <p:cNvSpPr/>
          <p:nvPr/>
        </p:nvSpPr>
        <p:spPr>
          <a:xfrm>
            <a:off x="5034686"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ролям и запустить разом</a:t>
            </a:r>
          </a:p>
        </p:txBody>
      </p:sp>
      <p:sp>
        <p:nvSpPr>
          <p:cNvPr id="11" name="Rounded Rectangle 10"/>
          <p:cNvSpPr/>
          <p:nvPr/>
        </p:nvSpPr>
        <p:spPr>
          <a:xfrm>
            <a:off x="7300569"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3" name="Rounded Rectangle 12"/>
          <p:cNvSpPr/>
          <p:nvPr/>
        </p:nvSpPr>
        <p:spPr>
          <a:xfrm>
            <a:off x="9566452"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302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62396" y="1126236"/>
            <a:ext cx="35130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21730" y="1126236"/>
            <a:ext cx="51351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62396" y="1408303"/>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21730" y="1408303"/>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62396" y="1923414"/>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21730" y="1923414"/>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3029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ролям и запустить разом</a:t>
            </a:r>
          </a:p>
        </p:txBody>
      </p:sp>
      <p:sp>
        <p:nvSpPr>
          <p:cNvPr id="16" name="TextBox 15"/>
          <p:cNvSpPr txBox="1"/>
          <p:nvPr/>
        </p:nvSpPr>
        <p:spPr>
          <a:xfrm>
            <a:off x="2562396" y="2438527"/>
            <a:ext cx="351303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каждой роли свой контекст и короткий итог</a:t>
            </a:r>
          </a:p>
        </p:txBody>
      </p:sp>
      <p:sp>
        <p:nvSpPr>
          <p:cNvPr id="17" name="TextBox 16"/>
          <p:cNvSpPr txBox="1"/>
          <p:nvPr/>
        </p:nvSpPr>
        <p:spPr>
          <a:xfrm>
            <a:off x="6221730" y="2438527"/>
            <a:ext cx="513511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две роли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3029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62396" y="3128899"/>
            <a:ext cx="351303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21730" y="3128899"/>
            <a:ext cx="5135117"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62396" y="3994530"/>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21730" y="3994530"/>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роли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42041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4843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Фон, не очередь.</a:t>
            </a:r>
            <a:r>
              <a:rPr sz="1500" b="1" i="0">
                <a:solidFill>
                  <a:srgbClr val="141B2E"/>
                </a:solidFill>
                <a:latin typeface="Arial"/>
              </a:rPr>
              <a:t> С определённой версии харнесса параллельный режим включён по умолчанию в интерактивной сессии: роль уходит в фон, основная сессия не ждёт её, прежде чем продолжить. </a:t>
            </a:r>
            <a:r>
              <a:rPr sz="1500" b="1" i="0">
                <a:solidFill>
                  <a:srgbClr val="141B2E"/>
                </a:solidFill>
                <a:latin typeface="Arial"/>
              </a:rPr>
              <a:t>Предел — на одновременность, не на количество за сессию.</a:t>
            </a:r>
            <a:r>
              <a:rPr sz="1500" b="1" i="0">
                <a:solidFill>
                  <a:srgbClr val="141B2E"/>
                </a:solidFill>
                <a:latin typeface="Arial"/>
              </a:rPr>
              <a:t> По умолчанию одновременно может работать не больше двадцати ролей; попытка завести двадцать первую падает отдельной, явной ошибкой. Число меняется переменной окружения. Общего предела на то, сколько ролей можно вызвать за всю сессию, — нет.</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один кусок, две роли</a:t>
            </a:r>
          </a:p>
        </p:txBody>
      </p:sp>
      <p:sp>
        <p:nvSpPr>
          <p:cNvPr id="3" name="Rounded Rectangle 2"/>
          <p:cNvSpPr/>
          <p:nvPr/>
        </p:nvSpPr>
        <p:spPr>
          <a:xfrm>
            <a:off x="502920" y="1571244"/>
            <a:ext cx="82296" cy="1927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9260"/>
            <a:ext cx="10643616" cy="1671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Через неделю разработчик берётся за кусок, который в раскладке стоял неделимым: новое поле и изменение проверки формы. Исполнителей берёт по числу, которое просилось в пятницу, — больше одного, — и зовёт второго: тестировщика, который прогоняет сценарии через форму и проверяет поведение, не только код. Обе роли получают один и тот же кусок. Диф-ревьюер проверяет код, находит, что проверка написана верно, и возвращает </a:t>
            </a:r>
            <a:r>
              <a:rPr sz="1500" b="1" i="0">
                <a:solidFill>
                  <a:srgbClr val="141B2E"/>
                </a:solidFill>
                <a:latin typeface="Consolas"/>
              </a:rPr>
              <a:t>PASS</a:t>
            </a:r>
            <a:r>
              <a:rPr sz="1500" b="1" i="0">
                <a:solidFill>
                  <a:srgbClr val="141B2E"/>
                </a:solidFill>
                <a:latin typeface="Arial"/>
              </a:rPr>
              <a:t>: в коде, который он читал, проблем нет. Тестировщик прогоняет обычные сценарии через форму, проблем не находит и тоже возвращает </a:t>
            </a:r>
            <a:r>
              <a:rPr sz="1500" b="1" i="0">
                <a:solidFill>
                  <a:srgbClr val="141B2E"/>
                </a:solidFill>
                <a:latin typeface="Consolas"/>
              </a:rPr>
              <a:t>PASS</a:t>
            </a:r>
            <a:r>
              <a:rPr sz="1500" b="1" i="0">
                <a:solidFill>
                  <a:srgbClr val="141B2E"/>
                </a:solidFill>
                <a:latin typeface="Arial"/>
              </a:rPr>
              <a:t>: форма ведёт себя ожидаемо на тех сценариях, которые он прогнал.</a:t>
            </a:r>
          </a:p>
        </p:txBody>
      </p:sp>
      <p:sp>
        <p:nvSpPr>
          <p:cNvPr id="5" name="Rounded Rectangle 4"/>
          <p:cNvSpPr/>
          <p:nvPr/>
        </p:nvSpPr>
        <p:spPr>
          <a:xfrm>
            <a:off x="502920" y="416661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9463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Правка уходит в показ. Заказчик вводит адрес с пробелом перед доменом — сценарий, который не вошёл ни в код, прочитанный построчно, ни в список прогнанных сценариев. Оба </a:t>
            </a:r>
            <a:r>
              <a:rPr sz="1500" b="1" i="0">
                <a:solidFill>
                  <a:srgbClr val="141B2E"/>
                </a:solidFill>
                <a:latin typeface="Consolas"/>
              </a:rPr>
              <a:t>PASS</a:t>
            </a:r>
            <a:r>
              <a:rPr sz="1500" b="1" i="0">
                <a:solidFill>
                  <a:srgbClr val="141B2E"/>
                </a:solidFill>
                <a:latin typeface="Arial"/>
              </a:rPr>
              <a:t> правдивы по отдельности. Картина, которую разработчик из них собрал, — «кусок проверен» — не описывает ничего: между двумя зонами остался промежуток, про который не высказалась ни одна роль.</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Промежуток: условие, которое никто не назвал вслух</a:t>
            </a:r>
          </a:p>
        </p:txBody>
      </p:sp>
      <p:sp>
        <p:nvSpPr>
          <p:cNvPr id="3" name="Rounded Rectangle 2"/>
          <p:cNvSpPr/>
          <p:nvPr/>
        </p:nvSpPr>
        <p:spPr>
          <a:xfrm>
            <a:off x="502920" y="1184148"/>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67028"/>
            <a:ext cx="21323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4429" y="1367028"/>
            <a:ext cx="30307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141453" y="1367028"/>
            <a:ext cx="52153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649095"/>
            <a:ext cx="21323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вернуться к одной роли на этом куске</a:t>
            </a:r>
          </a:p>
        </p:txBody>
      </p:sp>
      <p:sp>
        <p:nvSpPr>
          <p:cNvPr id="8" name="TextBox 7"/>
          <p:cNvSpPr txBox="1"/>
          <p:nvPr/>
        </p:nvSpPr>
        <p:spPr>
          <a:xfrm>
            <a:off x="2964429" y="1649095"/>
            <a:ext cx="3030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кусок неделимый, и один исполнитель видит его целиком</a:t>
            </a:r>
          </a:p>
        </p:txBody>
      </p:sp>
      <p:sp>
        <p:nvSpPr>
          <p:cNvPr id="9" name="TextBox 8"/>
          <p:cNvSpPr txBox="1"/>
          <p:nvPr/>
        </p:nvSpPr>
        <p:spPr>
          <a:xfrm>
            <a:off x="6141453" y="1649095"/>
            <a:ext cx="52153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одновременность на тех трёх кусках, где она была</a:t>
            </a:r>
          </a:p>
        </p:txBody>
      </p:sp>
      <p:cxnSp>
        <p:nvCxnSpPr>
          <p:cNvPr id="10" name="Connector 9"/>
          <p:cNvCxnSpPr/>
          <p:nvPr/>
        </p:nvCxnSpPr>
        <p:spPr>
          <a:xfrm>
            <a:off x="685800" y="217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8812"/>
            <a:ext cx="213232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роль с широким описанием на обе стороны</a:t>
            </a:r>
          </a:p>
        </p:txBody>
      </p:sp>
      <p:sp>
        <p:nvSpPr>
          <p:cNvPr id="12" name="TextBox 11"/>
          <p:cNvSpPr txBox="1"/>
          <p:nvPr/>
        </p:nvSpPr>
        <p:spPr>
          <a:xfrm>
            <a:off x="2964429" y="2178812"/>
            <a:ext cx="30307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кусок небольшой, одна роль успевает честно покрыть обе стороны</a:t>
            </a:r>
          </a:p>
        </p:txBody>
      </p:sp>
      <p:sp>
        <p:nvSpPr>
          <p:cNvPr id="13" name="TextBox 12"/>
          <p:cNvSpPr txBox="1"/>
          <p:nvPr/>
        </p:nvSpPr>
        <p:spPr>
          <a:xfrm>
            <a:off x="6141453" y="2178812"/>
            <a:ext cx="52153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широкое описание означает широкий контекст и широкие права — то самое, что урезанный список инструментов и ограничивает</a:t>
            </a:r>
          </a:p>
        </p:txBody>
      </p:sp>
      <p:cxnSp>
        <p:nvCxnSpPr>
          <p:cNvPr id="14" name="Connector 13"/>
          <p:cNvCxnSpPr/>
          <p:nvPr/>
        </p:nvCxnSpPr>
        <p:spPr>
          <a:xfrm>
            <a:off x="685800" y="28910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91091"/>
            <a:ext cx="213232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расписать границы каждой роли в обе стороны</a:t>
            </a:r>
          </a:p>
        </p:txBody>
      </p:sp>
      <p:sp>
        <p:nvSpPr>
          <p:cNvPr id="16" name="TextBox 15"/>
          <p:cNvSpPr txBox="1"/>
          <p:nvPr/>
        </p:nvSpPr>
        <p:spPr>
          <a:xfrm>
            <a:off x="2964429" y="2891091"/>
            <a:ext cx="30307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показывает промежуток между ними до того, как он проявится багом</a:t>
            </a:r>
          </a:p>
        </p:txBody>
      </p:sp>
      <p:sp>
        <p:nvSpPr>
          <p:cNvPr id="17" name="TextBox 16"/>
          <p:cNvSpPr txBox="1"/>
          <p:nvPr/>
        </p:nvSpPr>
        <p:spPr>
          <a:xfrm>
            <a:off x="6141453" y="2891091"/>
            <a:ext cx="52153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расписать нужно осознанно: от появления второй роли эта работа сама не делается</a:t>
            </a:r>
          </a:p>
        </p:txBody>
      </p:sp>
      <p:cxnSp>
        <p:nvCxnSpPr>
          <p:cNvPr id="18" name="Connector 17"/>
          <p:cNvCxnSpPr/>
          <p:nvPr/>
        </p:nvCxnSpPr>
        <p:spPr>
          <a:xfrm>
            <a:off x="685800" y="36033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603370"/>
            <a:ext cx="21323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третью роль-координатора</a:t>
            </a:r>
          </a:p>
        </p:txBody>
      </p:sp>
      <p:sp>
        <p:nvSpPr>
          <p:cNvPr id="20" name="TextBox 19"/>
          <p:cNvSpPr txBox="1"/>
          <p:nvPr/>
        </p:nvSpPr>
        <p:spPr>
          <a:xfrm>
            <a:off x="2964429" y="3603370"/>
            <a:ext cx="3030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вывод двух готовых ролей</a:t>
            </a:r>
          </a:p>
        </p:txBody>
      </p:sp>
      <p:sp>
        <p:nvSpPr>
          <p:cNvPr id="21" name="TextBox 20"/>
          <p:cNvSpPr txBox="1"/>
          <p:nvPr/>
        </p:nvSpPr>
        <p:spPr>
          <a:xfrm>
            <a:off x="6141453" y="3603370"/>
            <a:ext cx="52153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не согласованным — цена растёт быстрее, чем снижается риск</a:t>
            </a:r>
          </a:p>
        </p:txBody>
      </p:sp>
      <p:sp>
        <p:nvSpPr>
          <p:cNvPr id="22" name="Rounded Rectangle 21"/>
          <p:cNvSpPr/>
          <p:nvPr/>
        </p:nvSpPr>
        <p:spPr>
          <a:xfrm>
            <a:off x="502920" y="498347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11149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На разрезе одного куска его не назвал никто — разрез появился, владельца у него не завели.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5695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496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ролей.</a:t>
            </a:r>
            <a:r>
              <a:rPr sz="1500" b="1" i="0">
                <a:solidFill>
                  <a:srgbClr val="141B2E"/>
                </a:solidFill>
                <a:latin typeface="Arial"/>
              </a:rPr>
              <a:t> Диф-ревьюер и тестировщик из прошлой сцены работают без третьей роли, сверяющей их согласованность. Вот что об этом говорит измерение на масштабе, не на одном случае.</a:t>
            </a:r>
          </a:p>
        </p:txBody>
      </p:sp>
      <p:sp>
        <p:nvSpPr>
          <p:cNvPr id="5" name="Rounded Rectangle 4"/>
          <p:cNvSpPr/>
          <p:nvPr/>
        </p:nvSpPr>
        <p:spPr>
          <a:xfrm>
            <a:off x="502920" y="2252298"/>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343738"/>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35178"/>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435178"/>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435178"/>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717245"/>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717245"/>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717245"/>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794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794649"/>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794649"/>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794649"/>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20957"/>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458117"/>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ролей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приём закрывает промежуток: граница в обе стороны</a:t>
            </a:r>
          </a:p>
        </p:txBody>
      </p:sp>
      <p:pic>
        <p:nvPicPr>
          <p:cNvPr id="3" name="Picture 2" descr="subagent-n53-granitsa-dvukh-rolei.png"/>
          <p:cNvPicPr>
            <a:picLocks noChangeAspect="1"/>
          </p:cNvPicPr>
          <p:nvPr/>
        </p:nvPicPr>
        <p:blipFill>
          <a:blip r:embed="rId2"/>
          <a:stretch>
            <a:fillRect/>
          </a:stretch>
        </p:blipFill>
        <p:spPr>
          <a:xfrm>
            <a:off x="1177801" y="1319784"/>
            <a:ext cx="9833348" cy="2950004"/>
          </a:xfrm>
          <a:prstGeom prst="rect">
            <a:avLst/>
          </a:prstGeom>
        </p:spPr>
      </p:pic>
      <p:sp>
        <p:nvSpPr>
          <p:cNvPr id="4" name="Rounded Rectangle 3"/>
          <p:cNvSpPr/>
          <p:nvPr/>
        </p:nvSpPr>
        <p:spPr>
          <a:xfrm>
            <a:off x="502920" y="443438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6239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Диф-ревьюер с одностраничника этой ступени уже это делает: «НЕ для ревью архитектурных решений — это отдельная роль». Тестировщику нужна симметричная строка: что входит в его проверку и что остаётся снаружи, по-доменному, не абстрактно.</a:t>
            </a:r>
          </a:p>
        </p:txBody>
      </p:sp>
      <p:sp>
        <p:nvSpPr>
          <p:cNvPr id="6" name="Rounded Rectangle 5"/>
          <p:cNvSpPr/>
          <p:nvPr/>
        </p:nvSpPr>
        <p:spPr>
          <a:xfrm>
            <a:off x="502920" y="52512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792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Граница, записанная в двух описаниях, промежутка не убирает — она делает его видимым тому, кто читает оба описания рядом. Увидеть промежуток до показа заказчику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Роль — одно средство из пяти. Где она оправдана</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(отдельная роль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Баг у заказчика стоил часа; доверие к приёму стоило недели.</a:t>
            </a:r>
          </a:p>
        </p:txBody>
      </p:sp>
      <p:sp>
        <p:nvSpPr>
          <p:cNvPr id="7" name="Rounded Rectangle 6"/>
          <p:cNvSpPr/>
          <p:nvPr/>
        </p:nvSpPr>
        <p:spPr>
          <a:xfrm>
            <a:off x="502920" y="3734562"/>
            <a:ext cx="5454396" cy="2470912"/>
          </a:xfrm>
          <a:prstGeom prst="roundRect">
            <a:avLst>
              <a:gd name="adj" fmla="val 123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РОЛЬ ОПРАВДАНА,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диф-ревьюер и тестировщик ровно этот случай, когда кусков два</a:t>
            </a:r>
          </a:p>
        </p:txBody>
      </p:sp>
      <p:sp>
        <p:nvSpPr>
          <p:cNvPr id="12" name="Rounded Rectangle 11"/>
          <p:cNvSpPr/>
          <p:nvPr/>
        </p:nvSpPr>
        <p:spPr>
          <a:xfrm>
            <a:off x="6231636" y="3734562"/>
            <a:ext cx="5454396" cy="2470912"/>
          </a:xfrm>
          <a:prstGeom prst="roundRect">
            <a:avLst>
              <a:gd name="adj" fmla="val 123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946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94605"/>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один и неделимый: разрез между ролями никому не поручен, и два честных </a:t>
            </a:r>
            <a:r>
              <a:rPr sz="1100" b="0" i="0">
                <a:solidFill>
                  <a:srgbClr val="141B2E"/>
                </a:solidFill>
                <a:latin typeface="Consolas"/>
              </a:rPr>
              <a:t>PASS</a:t>
            </a:r>
            <a:r>
              <a:rPr sz="1100" b="0" i="0">
                <a:solidFill>
                  <a:srgbClr val="141B2E"/>
                </a:solidFill>
                <a:latin typeface="Arial"/>
              </a:rPr>
              <a:t> складываются в картину, которой нет</a:t>
            </a:r>
          </a:p>
        </p:txBody>
      </p:sp>
      <p:cxnSp>
        <p:nvCxnSpPr>
          <p:cNvPr id="17" name="Connector 16"/>
          <p:cNvCxnSpPr/>
          <p:nvPr/>
        </p:nvCxnSpPr>
        <p:spPr>
          <a:xfrm>
            <a:off x="6414516" y="50706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70601"/>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46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46597"/>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6</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роли. Поле изоляции у роли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62260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7746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5976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Задачи друг от друга не зависят, обе сессии нужны разом, каталог у них один.</a:t>
            </a:r>
          </a:p>
        </p:txBody>
      </p:sp>
      <p:sp>
        <p:nvSpPr>
          <p:cNvPr id="6" name="Rounded Rectangle 5"/>
          <p:cNvSpPr/>
          <p:nvPr/>
        </p:nvSpPr>
        <p:spPr>
          <a:xfrm>
            <a:off x="502920" y="276674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476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здесь заводят или меняют, чтобы это не повторилось, — и обоснуйте выбор рядом с остальными четырьмя. Состав верного ответа до разбора не называю.</a:t>
            </a:r>
          </a:p>
        </p:txBody>
      </p:sp>
      <p:sp>
        <p:nvSpPr>
          <p:cNvPr id="8" name="Rounded Rectangle 7"/>
          <p:cNvSpPr/>
          <p:nvPr/>
        </p:nvSpPr>
        <p:spPr>
          <a:xfrm>
            <a:off x="502920"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0" name="Rounded Rectangle 9"/>
          <p:cNvSpPr/>
          <p:nvPr/>
        </p:nvSpPr>
        <p:spPr>
          <a:xfrm>
            <a:off x="2768803"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2" name="Rounded Rectangle 11"/>
          <p:cNvSpPr/>
          <p:nvPr/>
        </p:nvSpPr>
        <p:spPr>
          <a:xfrm>
            <a:off x="5034686"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роли в первой</a:t>
            </a:r>
          </a:p>
        </p:txBody>
      </p:sp>
      <p:sp>
        <p:nvSpPr>
          <p:cNvPr id="14" name="Rounded Rectangle 13"/>
          <p:cNvSpPr/>
          <p:nvPr/>
        </p:nvSpPr>
        <p:spPr>
          <a:xfrm>
            <a:off x="7300569"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6" name="Rounded Rectangle 15"/>
          <p:cNvSpPr/>
          <p:nvPr/>
        </p:nvSpPr>
        <p:spPr>
          <a:xfrm>
            <a:off x="9566452"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144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46533" y="1131735"/>
            <a:ext cx="42562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49113" y="1131735"/>
            <a:ext cx="44077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46533" y="1413802"/>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49113" y="1413802"/>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46533" y="2126081"/>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49113" y="2126081"/>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роли в первой</a:t>
            </a:r>
          </a:p>
        </p:txBody>
      </p:sp>
      <p:sp>
        <p:nvSpPr>
          <p:cNvPr id="16" name="TextBox 15"/>
          <p:cNvSpPr txBox="1"/>
          <p:nvPr/>
        </p:nvSpPr>
        <p:spPr>
          <a:xfrm>
            <a:off x="2546533" y="2838361"/>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роли работают в той же ветке, и задачу не нужно объяснять заново</a:t>
            </a:r>
          </a:p>
        </p:txBody>
      </p:sp>
      <p:sp>
        <p:nvSpPr>
          <p:cNvPr id="17" name="TextBox 16"/>
          <p:cNvSpPr txBox="1"/>
          <p:nvPr/>
        </p:nvSpPr>
        <p:spPr>
          <a:xfrm>
            <a:off x="6949113" y="2838361"/>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46533" y="3550640"/>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49113" y="3550640"/>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46533" y="4262920"/>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49113" y="4262920"/>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6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8607" y="2923455"/>
            <a:ext cx="6368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6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8607" y="3205522"/>
            <a:ext cx="6368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65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8607" y="3917801"/>
            <a:ext cx="63682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6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8607" y="4264956"/>
            <a:ext cx="6368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Роли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Роль стартует в том каталоге, где стоит вызвавшая её сессия, и уйти из него не может: смена каталога внутри роли не переживает её собственных вызовов. Общая папка у ролей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5813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413418" y="2501095"/>
            <a:ext cx="59434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5813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роли тот же, что у вызвавшей её сессии; инструмент правки есть у всякой роли, которой его не отняли строкой</a:t>
            </a:r>
          </a:p>
        </p:txBody>
      </p:sp>
      <p:sp>
        <p:nvSpPr>
          <p:cNvPr id="9" name="TextBox 8"/>
          <p:cNvSpPr txBox="1"/>
          <p:nvPr/>
        </p:nvSpPr>
        <p:spPr>
          <a:xfrm>
            <a:off x="5413418" y="2783162"/>
            <a:ext cx="5943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две роли правят одни файлы; та, что записала позже, перекрывает работу первой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5813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роль получает снимком на момент своего старта, и снимок по ходу работы не обновляется</a:t>
            </a:r>
          </a:p>
        </p:txBody>
      </p:sp>
      <p:sp>
        <p:nvSpPr>
          <p:cNvPr id="12" name="TextBox 11"/>
          <p:cNvSpPr txBox="1"/>
          <p:nvPr/>
        </p:nvSpPr>
        <p:spPr>
          <a:xfrm>
            <a:off x="5413418" y="3495442"/>
            <a:ext cx="5943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роль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5813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роли; шагов, которыми он получен, она не видит</a:t>
            </a:r>
          </a:p>
        </p:txBody>
      </p:sp>
      <p:sp>
        <p:nvSpPr>
          <p:cNvPr id="15" name="TextBox 14"/>
          <p:cNvSpPr txBox="1"/>
          <p:nvPr/>
        </p:nvSpPr>
        <p:spPr>
          <a:xfrm>
            <a:off x="5413418" y="4207721"/>
            <a:ext cx="594342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роль работает там, где лежит работа, иначе итог было бы некуда возвращать. Поэтому первая защита здесь — раскладка зон. Изоляция у роли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20373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35835" y="1927352"/>
            <a:ext cx="251527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7414" y="1927352"/>
            <a:ext cx="46594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35835" y="2186940"/>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7414" y="2186940"/>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20373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35835" y="2789682"/>
            <a:ext cx="251527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7414" y="2789682"/>
            <a:ext cx="465943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35835" y="3246374"/>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7414" y="3246374"/>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роли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роли дать можно: одна строка в её описании — и роль работает во временной копии репозитория; она убирается сама, если роль ничего не изменила. Поле есть, включают его редко.</a:t>
            </a:r>
          </a:p>
        </p:txBody>
      </p:sp>
      <p:sp>
        <p:nvSpPr>
          <p:cNvPr id="5" name="Rounded Rectangle 4"/>
          <p:cNvSpPr/>
          <p:nvPr/>
        </p:nvSpPr>
        <p:spPr>
          <a:xfrm>
            <a:off x="502920" y="1712324"/>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Изоляция роли — выбор под работу. Там, где её правку нормально принять веткой, копия окупается; там, где роль правит начатое вами, копия отрезает роль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36274"/>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4600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РОЛИ ДАЮТ</a:t>
            </a:r>
          </a:p>
        </p:txBody>
      </p:sp>
      <p:sp>
        <p:nvSpPr>
          <p:cNvPr id="9" name="TextBox 8"/>
          <p:cNvSpPr txBox="1"/>
          <p:nvPr/>
        </p:nvSpPr>
        <p:spPr>
          <a:xfrm>
            <a:off x="685800" y="322032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роли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6213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62138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9507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95073"/>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ролей разом</a:t>
            </a:r>
          </a:p>
        </p:txBody>
      </p:sp>
      <p:sp>
        <p:nvSpPr>
          <p:cNvPr id="14" name="Rounded Rectangle 13"/>
          <p:cNvSpPr/>
          <p:nvPr/>
        </p:nvSpPr>
        <p:spPr>
          <a:xfrm>
            <a:off x="6231636" y="2836274"/>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4600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РОЛИ НЕ ДАЮТ</a:t>
            </a:r>
          </a:p>
        </p:txBody>
      </p:sp>
      <p:sp>
        <p:nvSpPr>
          <p:cNvPr id="16" name="TextBox 15"/>
          <p:cNvSpPr txBox="1"/>
          <p:nvPr/>
        </p:nvSpPr>
        <p:spPr>
          <a:xfrm>
            <a:off x="6414516" y="322032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роль работает над тем, что вы начали в своём каталоге: отдельная копия отрежет её от этой работы</a:t>
            </a:r>
          </a:p>
        </p:txBody>
      </p:sp>
      <p:cxnSp>
        <p:nvCxnSpPr>
          <p:cNvPr id="17" name="Connector 16"/>
          <p:cNvCxnSpPr/>
          <p:nvPr/>
        </p:nvCxnSpPr>
        <p:spPr>
          <a:xfrm>
            <a:off x="6414516" y="36213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2138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402245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2245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роль читает и возвращает итог: столкнуться ей нечем</a:t>
            </a:r>
          </a:p>
        </p:txBody>
      </p:sp>
      <p:sp>
        <p:nvSpPr>
          <p:cNvPr id="21" name="Rounded Rectangle 20"/>
          <p:cNvSpPr/>
          <p:nvPr/>
        </p:nvSpPr>
        <p:spPr>
          <a:xfrm>
            <a:off x="502920" y="4643611"/>
            <a:ext cx="11183112" cy="1572260"/>
          </a:xfrm>
          <a:prstGeom prst="roundRect">
            <a:avLst>
              <a:gd name="adj" fmla="val 193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02664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63067"/>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первая — ветка.</a:t>
            </a:r>
            <a:r>
              <a:rPr sz="1000" b="0" i="0">
                <a:solidFill>
                  <a:srgbClr val="141B2E"/>
                </a:solidFill>
                <a:latin typeface="Arial"/>
              </a:rPr>
              <a:t> Копия роли отрастает от ветки по умолчанию репозитория, пока отдельную настройку не поменяли. Работы, начатой в вашем каталоге, изолированная роль просто не видит.</a:t>
            </a:r>
          </a:p>
        </p:txBody>
      </p:sp>
      <p:sp>
        <p:nvSpPr>
          <p:cNvPr id="24" name="Rounded Rectangle 23"/>
          <p:cNvSpPr/>
          <p:nvPr/>
        </p:nvSpPr>
        <p:spPr>
          <a:xfrm>
            <a:off x="758952" y="545437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90803"/>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вторая — возврат.</a:t>
            </a:r>
            <a:r>
              <a:rPr sz="1000" b="0" i="0">
                <a:solidFill>
                  <a:srgbClr val="141B2E"/>
                </a:solidFill>
                <a:latin typeface="Arial"/>
              </a:rPr>
              <a:t> Канал назад у роли один: итоговый текст. Файловые правки остаются в её каталоге, на её ветке, и принести их в вашу работу приходится вам.</a:t>
            </a:r>
          </a:p>
        </p:txBody>
      </p:sp>
      <p:sp>
        <p:nvSpPr>
          <p:cNvPr id="26" name="Rounded Rectangle 25"/>
          <p:cNvSpPr/>
          <p:nvPr/>
        </p:nvSpPr>
        <p:spPr>
          <a:xfrm>
            <a:off x="758952" y="580718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718539"/>
            <a:ext cx="10360152" cy="277876"/>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третья — рабочее место.</a:t>
            </a:r>
            <a:r>
              <a:rPr sz="1000" b="0" i="0">
                <a:solidFill>
                  <a:srgbClr val="141B2E"/>
                </a:solidFill>
                <a:latin typeface="Arial"/>
              </a:rPr>
              <a:t> В копии оно тоже собственное: зависимости и локальные файлы роль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роли,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1085629"/>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13645"/>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211644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99326"/>
            <a:ext cx="13124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144589" y="2299326"/>
            <a:ext cx="60613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352285" y="2299326"/>
            <a:ext cx="30045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581393"/>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144589" y="2581393"/>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352285" y="2581393"/>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9285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28548"/>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144589" y="2928548"/>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352285" y="2928548"/>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327570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75702"/>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144589" y="3275702"/>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352285" y="3275702"/>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622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22857"/>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144589" y="3622857"/>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352285" y="3622857"/>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970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970011"/>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144589" y="3970011"/>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352285" y="3970011"/>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3171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317166"/>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144589" y="4317166"/>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352285" y="4317166"/>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2" name="Rounded Rectangle 31"/>
          <p:cNvSpPr/>
          <p:nvPr/>
        </p:nvSpPr>
        <p:spPr>
          <a:xfrm>
            <a:off x="502920" y="53674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4954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останутся только планом. В публичном репозитории их не будет — и это сказано прямо, не спрятано.»</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29788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5275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и ответ вы держали при себе. Сейчас вслух: у кого он изменился и что именно его изменило.»</a:t>
            </a:r>
          </a:p>
        </p:txBody>
      </p:sp>
      <p:sp>
        <p:nvSpPr>
          <p:cNvPr id="5" name="Rounded Rectangle 4"/>
          <p:cNvSpPr/>
          <p:nvPr/>
        </p:nvSpPr>
        <p:spPr>
          <a:xfrm>
            <a:off x="502920" y="352775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65577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52135"/>
            <a:ext cx="11183112" cy="3643566"/>
          </a:xfrm>
          <a:prstGeom prst="roundRect">
            <a:avLst>
              <a:gd name="adj" fmla="val 836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5015"/>
            <a:ext cx="30812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913309" y="1135015"/>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670523" y="1135015"/>
            <a:ext cx="66863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17082"/>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913309" y="1417082"/>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9" name="TextBox 8"/>
          <p:cNvSpPr txBox="1"/>
          <p:nvPr/>
        </p:nvSpPr>
        <p:spPr>
          <a:xfrm>
            <a:off x="4670523" y="1417082"/>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целевое решение, коммита нет ни в демо-репозитории, ни в репозитории курса</a:t>
            </a:r>
          </a:p>
        </p:txBody>
      </p:sp>
      <p:cxnSp>
        <p:nvCxnSpPr>
          <p:cNvPr id="10" name="Connector 9"/>
          <p:cNvCxnSpPr/>
          <p:nvPr/>
        </p:nvCxnSpPr>
        <p:spPr>
          <a:xfrm>
            <a:off x="685800" y="19467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46799"/>
            <a:ext cx="3081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подключён, агент не ходит</a:t>
            </a:r>
          </a:p>
        </p:txBody>
      </p:sp>
      <p:sp>
        <p:nvSpPr>
          <p:cNvPr id="12" name="TextBox 11"/>
          <p:cNvSpPr txBox="1"/>
          <p:nvPr/>
        </p:nvSpPr>
        <p:spPr>
          <a:xfrm>
            <a:off x="3913309" y="1946799"/>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13" name="TextBox 12"/>
          <p:cNvSpPr txBox="1"/>
          <p:nvPr/>
        </p:nvSpPr>
        <p:spPr>
          <a:xfrm>
            <a:off x="4670523" y="1946799"/>
            <a:ext cx="66863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 статусы, два тайм-аута, вживую на занятии</a:t>
            </a:r>
          </a:p>
        </p:txBody>
      </p:sp>
      <p:cxnSp>
        <p:nvCxnSpPr>
          <p:cNvPr id="14" name="Connector 13"/>
          <p:cNvCxnSpPr/>
          <p:nvPr/>
        </p:nvCxnSpPr>
        <p:spPr>
          <a:xfrm>
            <a:off x="685800" y="2293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3954"/>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6" name="TextBox 15"/>
          <p:cNvSpPr txBox="1"/>
          <p:nvPr/>
        </p:nvSpPr>
        <p:spPr>
          <a:xfrm>
            <a:off x="3913309" y="229395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670523" y="2293954"/>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8" name="Connector 17"/>
          <p:cNvCxnSpPr/>
          <p:nvPr/>
        </p:nvCxnSpPr>
        <p:spPr>
          <a:xfrm>
            <a:off x="685800" y="28236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23671"/>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роли</a:t>
            </a:r>
          </a:p>
        </p:txBody>
      </p:sp>
      <p:sp>
        <p:nvSpPr>
          <p:cNvPr id="20" name="TextBox 19"/>
          <p:cNvSpPr txBox="1"/>
          <p:nvPr/>
        </p:nvSpPr>
        <p:spPr>
          <a:xfrm>
            <a:off x="3913309" y="282367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670523" y="2823671"/>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22" name="Connector 21"/>
          <p:cNvCxnSpPr/>
          <p:nvPr/>
        </p:nvCxnSpPr>
        <p:spPr>
          <a:xfrm>
            <a:off x="685800" y="33533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353388"/>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вторая роль, промежуток</a:t>
            </a:r>
          </a:p>
        </p:txBody>
      </p:sp>
      <p:sp>
        <p:nvSpPr>
          <p:cNvPr id="24" name="TextBox 23"/>
          <p:cNvSpPr txBox="1"/>
          <p:nvPr/>
        </p:nvSpPr>
        <p:spPr>
          <a:xfrm>
            <a:off x="3913309" y="335338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5" name="TextBox 24"/>
          <p:cNvSpPr txBox="1"/>
          <p:nvPr/>
        </p:nvSpPr>
        <p:spPr>
          <a:xfrm>
            <a:off x="4670523" y="3353388"/>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6" name="Connector 25"/>
          <p:cNvCxnSpPr/>
          <p:nvPr/>
        </p:nvCxnSpPr>
        <p:spPr>
          <a:xfrm>
            <a:off x="685800" y="38831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883105"/>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8" name="TextBox 27"/>
          <p:cNvSpPr txBox="1"/>
          <p:nvPr/>
        </p:nvSpPr>
        <p:spPr>
          <a:xfrm>
            <a:off x="3913309" y="3883105"/>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9" name="TextBox 28"/>
          <p:cNvSpPr txBox="1"/>
          <p:nvPr/>
        </p:nvSpPr>
        <p:spPr>
          <a:xfrm>
            <a:off x="4670523" y="3883105"/>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30" name="Rectangle 29"/>
          <p:cNvSpPr/>
          <p:nvPr/>
        </p:nvSpPr>
        <p:spPr>
          <a:xfrm>
            <a:off x="502920" y="481882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8" y="4873684"/>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32" name="Rounded Rectangle 31"/>
          <p:cNvSpPr/>
          <p:nvPr/>
        </p:nvSpPr>
        <p:spPr>
          <a:xfrm>
            <a:off x="502920" y="55677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6957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