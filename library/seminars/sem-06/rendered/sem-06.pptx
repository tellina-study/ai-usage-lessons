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 на котором стоит занятие, — демонстрационный репозиторий курса </a:t>
            </a:r>
            <a:r>
              <a:rPr>
                <a:latin typeface="Consolas"/>
              </a:rPr>
              <a:t>signup-landing-demo</a:t>
            </a:r>
            <a:r>
              <a:t>: лендинг, который живёт третий месяц, и заказчик, который платит за работу. Человек — один и тот же разработчик, который два занятия подряд заводил здесь оснастку для агента. Сначала хук: короткий скрипт, который харнесс запускает сам на определённом событии и которым здесь отклоняется запись в главную ветку. Потом скилл: процедура выката, лежащая отдельным файлом и подгружаемая в контекст по описанию-триггеру. К началу этой недели агент знал про проект всё, что о нём можно знать: сорок строк инструкций в </a:t>
            </a:r>
            <a:r>
              <a:rPr>
                <a:latin typeface="Consolas"/>
              </a:rPr>
              <a:t>CLAUDE.md</a:t>
            </a:r>
            <a:r>
              <a:t>, хук, скилл, файл решений и сам код лендинга. Он держал это целиком и почти не промахивался — и это существенно для того, что было дальше: промах, с которого занятие начинается, случился при хорошем агенте и верных инструкциях.</a:t>
            </a:r>
          </a:p>
          <a:p/>
          <a:p>
            <a:r>
              <a:t>Схема в нижней части обложки показывает, из чего это «всё» состоит. Контекст агента — пунктирная карточка слева — складывается из двух вещей: файлов репозитория, которые агент читает сам, и разговора с вами, в котором вы что-то объяснили или приложили. Дальше агент не видит ничего. Граница эта не настраивается и не расширяется уговорами: она такая по устройству, и два предыдущих занятия заводили оснастку именно внутри неё. Пока вся работа лежала внутри — оснастки хватало.</a:t>
            </a:r>
          </a:p>
          <a:p/>
          <a:p>
            <a:r>
              <a:t>В понедельник разработчик спросил его вещь, которую спрашивают каждую неделю: что из просьб заказчика ещё не закрыто. Агент ответил уверенно и по делу — по тому, что лежит в репозитории: по коду, по истории правок, по файлу решений. Двух просьб в этом ответе не было вовсе. Заказчик завёл их не в репозитории: уже месяц он ведёт задачи в трекере — отдельной системе, куда разработчик сам его и позвал, чтобы правки не терялись в мессенджере. Одну из двух потерянных просьб ждали к понедельнику.</a:t>
            </a:r>
          </a:p>
          <a:p/>
          <a:p>
            <a:r>
              <a:t>Цена названа сразу, потому что без неё история остаётся байкой. Сорванный срок — и разговор с заказчиком, в котором приходится объяснять, почему написанное им до работы не доехало. Этого разговора могло не быть.</a:t>
            </a:r>
          </a:p>
          <a:p/>
          <a:p>
            <a:r>
              <a:t>Агент не поглупел. Он ответил ровно тем, что у него было, и внутри своих границ ответил правильно. Изменилось другое: работа перестала целиком помещаться в то, что агент видит. Два занятия подряд всё, с чем он работал, лежало внутри репозитория, и этого хватало. В понедельник часть правды оказалась снаружи, а оснастка внутри репозитория до неё не дотягивается — ни хук, ни скилл, ни сколько угодно строк инструкций.</a:t>
            </a:r>
          </a:p>
          <a:p/>
          <a:p>
            <a:r>
              <a:t>Отсюда и вопрос-загадка на обложке: если агент не поглупел, то что перестало помещаться? Ответ собирают три следующих экрана. Сначала — что уже есть в проекте и почему этого хватало: все четыре заведённые вещи лежат внутри. Потом та же мысль на оси занятия: обе закрытые ступени работают внутри репозитория, обе сегодняшние — про его край. И затем второй промах той же недели, у которого причина противоположная: там внутрь влезло всё нужное и вытеснило работу, ради которой сессию открывали. Два промаха с противоположными причинами и дают вопрос занятия, и два хода, которыми на него отвечают.</a:t>
            </a:r>
          </a:p>
          <a:p/>
          <a:p>
            <a:r>
              <a:t>Ряд из четырёх сегментов внизу обложки — лестница, по которой идут эти занятия: хук, скилл, MCP, субагент. Первые два разобраны и замерены раньше, их формулировки здесь не переписываются. Два золотых закрываются сегодня.</a:t>
            </a:r>
          </a:p>
          <a:p/>
          <a:p>
            <a:r>
              <a:t>Про достоверность сцены стоит сказать прямо. Проект настоящий, ситуация собрана из типовых: это учебная сцена, как и все сцены занятия. Проверяемые числа стоят на занятии отдельно и всегда с источником — сцены к ним не относятся. Где именно заказчик ведёт свои просьбы и как с этим живут сейчас, разбирает первый случай блока MCP; здесь сказано ровно то, что нужно: внутри репозитория их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на экране — состояние проекта на входе в занятие, и читать её стоит по двум признакам сразу: что в проекте есть и чем это подтверждено.</a:t>
            </a:r>
          </a:p>
          <a:p/>
          <a:p>
            <a:r>
              <a:t>Хук — файл настроек </a:t>
            </a:r>
            <a:r>
              <a:rPr>
                <a:latin typeface="Consolas"/>
              </a:rPr>
              <a:t>.claude/settings.json</a:t>
            </a:r>
            <a:r>
              <a:t> и самотест </a:t>
            </a:r>
            <a:r>
              <a:rPr>
                <a:latin typeface="Consolas"/>
              </a:rPr>
              <a:t>.claude/hooks/selftest-branch-guard.sh</a:t>
            </a:r>
            <a:r>
              <a:t>. У него есть коммит, </a:t>
            </a:r>
            <a:r>
              <a:rPr>
                <a:latin typeface="Consolas"/>
              </a:rPr>
              <a:t>9803643</a:t>
            </a:r>
            <a:r>
              <a:t>: репозиторий можно склонировать командой </a:t>
            </a:r>
            <a:r>
              <a:rPr>
                <a:latin typeface="Consolas"/>
              </a:rPr>
              <a:t>git clone</a:t>
            </a:r>
            <a:r>
              <a:t> и убедиться, что оба файла на месте, а </a:t>
            </a:r>
            <a:r>
              <a:rPr>
                <a:latin typeface="Consolas"/>
              </a:rPr>
              <a:t>git log -1</a:t>
            </a:r>
            <a:r>
              <a:t> на этом коммите покажет тот же номер. Скилл — </a:t>
            </a:r>
            <a:r>
              <a:rPr>
                <a:latin typeface="Consolas"/>
              </a:rPr>
              <a:t>.claude/skills/deploy/SKILL.md</a:t>
            </a:r>
            <a:r>
              <a:t> — написан в разборе прошлого занятия, но коммита у него нет, и в таблице стоит честная метка «только план». Выдавать план за факт тут нет оснований: той же дисциплине было посвящено прошлое занятие. Файл инструкций </a:t>
            </a:r>
            <a:r>
              <a:rPr>
                <a:latin typeface="Consolas"/>
              </a:rPr>
              <a:t>CLAUDE.md</a:t>
            </a:r>
            <a:r>
              <a:t> вырос: было двадцать четыре строки и четыре раздела, стало сорок и пять — тоже подтверждено коммитом, </a:t>
            </a:r>
            <a:r>
              <a:rPr>
                <a:latin typeface="Consolas"/>
              </a:rPr>
              <a:t>wc -l CLAUDE.md</a:t>
            </a:r>
            <a:r>
              <a:t> печатает сорок. </a:t>
            </a:r>
            <a:r>
              <a:rPr>
                <a:latin typeface="Consolas"/>
              </a:rPr>
              <a:t>DECISIONS.md</a:t>
            </a:r>
            <a:r>
              <a:t> — файл с решениями, которые принимались по ходу проекта. Он лежит в репозитории с более раннего занятия, прошлое его не трогало, и здесь он показан без изменений: заведённое однажды между занятиями не теряется.</a:t>
            </a:r>
          </a:p>
          <a:p/>
          <a:p>
            <a:r>
              <a:t>У этих четырёх строк есть общее, и оно объясняет промах понедельника. Все четыре лежат внутри репозитория. Правило, процедура, проверка, запись решения — всё, что заводили два занятия подряд, агент открывает сам, в любой момент, без чьего-либо участия: достаточно того, что эти файлы есть в дереве проекта. Пока вся работа жила здесь, агент держал проект целиком и отвечал по делу. Промах случился в тот день, когда часть работы оказалась за этой границей: туда ни одна из четырёх строк не дотягивается, и количество строк тут ничего не меняет.</a:t>
            </a:r>
          </a:p>
          <a:p/>
          <a:p>
            <a:r>
              <a:t>Эту же таблицу стоит приложить к своему рабочему проекту. Вопрос простой: ваш агент держит его целиком — или в каждой новой сессии вы объясняете одно и то же заново? Второй случай обычен, и означает он ровно то же, что в этой таблице: часть нужного лежит за границей того, что агент видит сам. Что с этим делать, зависит от того, какая именно часть вышла за границу. Занятие даёт на это два ответа и критерий выбора между ними.</a:t>
            </a:r>
          </a:p>
          <a:p/>
          <a:p>
            <a:r>
              <a:t>Строчка «коммит есть» заслуживает того, чтобы на ней задержаться, потому что именно она отличает заведённое от задуманного. Файл, у которого есть коммит, лежит в дереве проекта: его видит любой, кто склонировал репозиторий, и агент открывает его сам, без напоминания. Файл, разобранный на занятии и не внесённый в репозиторий, для агента не существует вовсе. Разница между этими двумя состояниями и была содержанием прошлого занятия, поэтому у каждой строки таблицы стоит своя метка: одним общим списком файлов эту разницу не передать. Чего таблица не показывает — в каком месте истории репозитория каждая строка лежит: для инженера, открывшего проект, это внутренняя деталь, и состояние проекта от неё не зависит.</a:t>
            </a:r>
          </a:p>
          <a:p/>
          <a:p>
            <a:r>
              <a:t>Знать прошлое занятие, чтобы читать дальше, не требуется. Этой таблицы и оси на следующем экране достаточно: в них есть всё, что про предыдущие две ступени нужно знать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закрыла прошлое занятие, и здесь она стоит в том же виде. Две строки заполнены, у каждой три колонки: решаем мы уже возникшее или предотвращаем будущее, что механизм делает и чего он не делает.</a:t>
            </a:r>
          </a:p>
          <a:p/>
          <a:p>
            <a:r>
              <a:t>Хук отклоняет один паттерн записи в главную ветку — из шести воспроизведённых способов сделать коммит. На остальных пяти он молчит, а человека, который сам сидит в терминале, не видит вовсе. Скилл загружается по точному совпадению описания-триггера; без совпадения он не срабатывает, и содержимого его файла до срабатывания в контексте просто нет.</a:t>
            </a:r>
          </a:p>
          <a:p/>
          <a:p>
            <a:r>
              <a:t>Короткая колонка слева — ось, по которой курс сравнивает механизмы между собой: предотвращает ли механизм проблему, которой ещё нет, или решает уже возникшую. У обеих заполненных строк здесь стоит «решаем», и в каждой названо, по какому сигналу механизм заводят. Хук заводят, когда правило уже нарушено: запись в главную ветку однажды случилась, и дальше её отклоняют. Скилл заводят по сигналу перегрузки файла инструкций: инструкции разрослись, часть из них нужна редко, и редкую часть выносят в отдельный файл с описанием-триггером. Сегодняшние две строки тоже получат такую метку, и у одной из них она окажется смешанной.</a:t>
            </a:r>
          </a:p>
          <a:p/>
          <a:p>
            <a:r>
              <a:t>Колонка «что не делает» заслуживает отдельного слова, потому что её легко прочитать как список недостатков. Это не брак механизма и не чья-то наивность: это то, что проверка показала за рамкой того, для чего механизм заводили. Хук заводили против одного конкретного способа нарушить правило — против него он и работает. Разница между этой колонкой и соседней — ровно то, ради чего эти два механизма мерили, и ровно то, что сегодня повторится на двух новых строках.</a:t>
            </a:r>
          </a:p>
          <a:p/>
          <a:p>
            <a:r>
              <a:t>Теперь признак, по которому эти две строки читают на входе в сегодняшнее занятие. Обе работают внутри репозитория, и проверяется это прямо по ним: хук — файл в </a:t>
            </a:r>
            <a:r>
              <a:rPr>
                <a:latin typeface="Consolas"/>
              </a:rPr>
              <a:t>.claude/</a:t>
            </a:r>
            <a:r>
              <a:t>, сторожащий запись в ветку этого же репозитория; скилл — файл в этом же репозитории, который подгружается в контекст. Ни один из двух никуда за пределы проекта не обращается, и ни один не выносит работу из контекста агента. Всё, чем занимались два занятия подряд, лежало у агента под рукой.</a:t>
            </a:r>
          </a:p>
          <a:p/>
          <a:p>
            <a:r>
              <a:t>Две нижние строки пустые, и обе — про край этого «под рукой». Одна про то, чего внутри нет вовсе: данные живут в чужой системе, и сколько бы контекста агенту ни дали, там они не появятся. Другая про то, что внутрь влезает и вытесняет работу: чтение помещается целиком и занимает место, в котором лежала задача. Обе закрываются сегодня.</a:t>
            </a:r>
          </a:p>
          <a:p/>
          <a:p>
            <a:r>
              <a:t>Порядок строк — хук, скилл, MCP, субагент — дальше не меняется: тот же на вопросе занятия, на карте и в закрытии. Сравнивать все четыре между собой имеет смысл потому, что выбирают их по одному признаку: чего именно не хватает в работе. Ответ на этот вопрос занятие и собирает.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оба промаха этой недели рядом, и работа этого экрана — показать их причины вместе.</a:t>
            </a:r>
          </a:p>
          <a:p/>
          <a:p>
            <a:r>
              <a:t>Понедельник уже описан: агент ответил по репозиторию, двух просьб заказчика в ответе не оказалось. Причина — внутри их нет вовсе. Контекст хоть вдвое больше: эти просьбы в нём всё равно не появятся, потому что лежат они в другой системе.</a:t>
            </a:r>
          </a:p>
          <a:p/>
          <a:p>
            <a:r>
              <a:t>Среда — другой проект того же человека: продукт, в котором он работает каждый день, тарифы, участники, два года миграций. Задача дня обычная — завести тариф «Команда», двадцать участников вместо пяти. С утра он минут пятнадцать объясняет агенту задачу: как тариф называется, кому доступен, что делать со старыми аккаунтами, какие случаи проверить. Править собираются здесь же, в этой сессии. Но сначала нужен список мест, где лимит участников проверяется: пропустишь одно — новый тариф пройдёт конфиг и упрётся в проверку, про которую никто уже не помнит. Агент находит четыре таких места, и чтобы их найти, открывает больше сорока файлов, минут двадцать чтения. Список верный. А когда дело доходит до самой правки, агент переспрашивает то, что ему объясняли утром: как называется тариф и сколько в нём участников. Полчаса ушло на то, чтобы сказать уже сказанное и вернуться туда, где остановились.</a:t>
            </a:r>
          </a:p>
          <a:p/>
          <a:p>
            <a:r>
              <a:t>Причины противоположны. В понедельник нужного не было внутри. В среду всё нужное внутрь влезло — и вытеснило то, ради чего сессию открывали. «Не помещается» означает два разных положения дел, и лечатся они встречными ходами: в одном случае внутрь приносят то, чего там нет, в другом наружу выносят то, что внутрь не помещается. На этой противоположности стоит порядок всего занятия.</a:t>
            </a:r>
          </a:p>
          <a:p/>
          <a:p>
            <a:r>
              <a:t>Отсюда вопрос: работа вышла за контекст агента — что вы заводите первым, приносите внутрь то, чего внутри нет, или выносите наружу то, что внутрь не помещается? Ответов на него обычно три, и все три честные. «Смотря чего не хватает» — верный первый ход: вопрос ровно про то, как отличить одно положение от другого, и критерий для этого собирается дальше. «Сначала данные — без них агент задачу просто не решит»: обоснование лежит в первом блоке. «Сначала отдельный исполнитель — он экономит место»: обоснование во втором.</a:t>
            </a:r>
          </a:p>
          <a:p/>
          <a:p>
            <a:r>
              <a:t>Выбирать между ходами в живом проекте не обязательно, работают оба. У каждого своя цена: чужой код и постоянное место в контексте у первого, лишние права и потерянная видимость того, что делалось, у второго. Вопрос про то, с чего начинают, когда ресурс и внимание одни.</a:t>
            </a:r>
          </a:p>
          <a:p/>
          <a:p>
            <a:r>
              <a:t>И отдельно — про догадку, которая приходит на этом экране чаще прочих: во втором случае хватило бы контекста побольше. Большой контекст отодвигает границу и сохраняет свойство, из-за которого промах произошёл: прочитанное остаётся внутри и делит место с работой. Сорок файлов влезли целиком — и именно поэтому задача оттуда ушла. К этой догадке занятие вернётся с измерением.</a:t>
            </a:r>
          </a:p>
          <a:p/>
          <a:p>
            <a:r>
              <a:t>Имена двух механизмов здесь ещё не нужны: они появляются на карте следом и разбираются каждый в своём блоке.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занятия: два блока, и это два ответа на один вопрос.</a:t>
            </a:r>
          </a:p>
          <a:p/>
          <a:p>
            <a:r>
              <a:t>Первый ход — принести внутрь то, чего внутри нет. Агент получает способ сам спросить систему, которая живёт отдельно от проекта и меняется без нас, вместо того чтобы работать по снимку, снятому руками. Так закрывается промах понедельника. Механизм называется MCP, и два его случая названы наблюдаемыми проблемами: агенту регулярно нужны данные, которых нет в репозитории; подключённые серверы занимают контекст до начала работы. Внутри первого случая стоит отдельный экран про то, чем доказывают, что агент через подключённый сервер действительно ходит.</a:t>
            </a:r>
          </a:p>
          <a:p/>
          <a:p>
            <a:r>
              <a:t>Второй ход встречный — вынести наружу то, что внутрь не помещается. Чтение уходит отдельному исполнителю со своим контекстом и урезанными правами, а в сессию, где лежит работа, возвращается только итог. Так закрывается промах среды. В документации этот исполнитель называется субагентом; так он называется и дальше в занятии. Три его случая тоже названы проблемами: чтение, нужное для одной правки, вытесняет из контекста саму правку; задача пришла одной фразой, а срока до неё два дня; исполнителей несколько, а рабочая папка у них одна.</a:t>
            </a:r>
          </a:p>
          <a:p/>
          <a:p>
            <a:r>
              <a:t>Карточки названы симптомом, который вы заметите у себя сами; имени приёма в названии нет, и это сделано для того, чтобы в карточке было проще узнать свой случай. Ответа на карточках тоже нет: «подключённые серверы занимают контекст до начала работы» описывает, что видно со стороны, и ничего не говорит о том, чем это лечится. Ответ лежит в самом случае, вместе с разбором вариантов и ценой.</a:t>
            </a:r>
          </a:p>
          <a:p/>
          <a:p>
            <a:r>
              <a:t>Все карточки подписаны словом «решаем»: ни одна из названных проблем не гипотетическая, каждая уже произошла — в сцене, с которой её случай и начинается.</a:t>
            </a:r>
          </a:p>
          <a:p/>
          <a:p>
            <a:r>
              <a:t>Порядок блоков не случаен. Первый ход возвращает агенту то, чего у него не было никогда; второй разгружает то, что у него уже есть. Начинать с разгрузки контекста, в котором всё равно нет нужного, смысла мало — поэтому сначала доступ, потом делегирование.</a:t>
            </a:r>
          </a:p>
          <a:p/>
          <a:p>
            <a:r>
              <a:t>Между двумя ходами есть связь, которую по карте не видно. Доступ наружу увеличивает то, что агент способен сделать сам за один присест, и вместе с объёмом работы растёт объём чтения, которое эта работа втягивает в контекст сессии. Ходы встречные, и предел у них один и тот же: чем больше первый ход даёт сделать за присест, тем скорее упираешься во второй.</a:t>
            </a:r>
          </a:p>
          <a:p/>
          <a:p>
            <a:r>
              <a:t>У обоих ходов своя цена, и занятие называет её прямо: чужой код в вашей работе и постоянное место в контексте у первого, лишние права и потерянная видимость того, что делалось, у второго. Шесть случаев устроены одинаково: сцена, в которой что-то пошло не так, вопрос, разбор вариантов, механика или собранный артефакт, документированный провал и критерий, по которому выбирают.</a:t>
            </a:r>
          </a:p>
          <a:p/>
          <a:p>
            <a:r>
              <a:t>Перенос всего этого на свой репозиторий — работа отдельного занятия. Здесь — приёмы и критерии, по которым их выбирают.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отдельной системе снаружи репозитория, которая меняется каждый день без участия разработчика. А у агента в чате лежит то, что ему скопировали руками сегодня утром. Сцена блока — вторник, в который эти два факта сошлись; весь блок занят одной задачей — чем заменить перенос руками.</a:t>
            </a:r>
          </a:p>
          <a:p/>
          <a:p>
            <a:r>
              <a:t>Трекер здесь — любая система, где заказчик или команда ведут список работ отдельно от кода: встроенный трекер репозитория, отдельный сервис задач, доска со столбцами. Общее свойство у них одно, и на нём держится весь блок: список живёт снаружи дерева проекта и меняется без участия того, кто пишет код. Как только это свойство исчезает — список переехал в файл спецификации и правится тем же коммитом, что и код, — кейс рассыпается, и правильный ответ в нём становится другим.</a:t>
            </a:r>
          </a:p>
          <a:p/>
          <a:p>
            <a:r>
              <a:t>Прошлое занятие стояло на другой задаче. Там агента учили, что ему можно и нельзя делать внутри своего же репозитория, и проверяли это файлами и командой; всё, что при этом двигалось, лежало в дереве проекта. Здесь агенту нужно дотянуться до системы, которая частью проекта не является и которую мы не контролируем напрямую. Разница — в том, где физически лежат данные, и из неё вытекает всё остальное: права, ключи, цена.</a:t>
            </a:r>
          </a:p>
          <a:p/>
          <a:p>
            <a:r>
              <a:t>Почему эта задача возникает именно сейчас, после трёх инструментов внутри репозитория, — дело в частоте. Разовое действие закрывает обычная команда в терминале: один раз вызвал, один раз получил ответ. Повторяющееся из сессии в сессию так же дёшево не закрывается, и к концу кейса будет видно почему: у постоянного доступа есть постоянная плата, которой у разовой команды нет.</a:t>
            </a:r>
          </a:p>
          <a:p/>
          <a:p>
            <a:r>
              <a:t>Инструмент этого блока — четвёртый на курсе и первый, который физически выходит за границы одного репозитория. Три предыдущих жили внутри дерева проекта и правились тем же коммитом, что и код: их можно было прочитать, сравнить версии, откатить. Этот живёт снаружи и обновляется без нашего ведома — и ровно поэтому к нему прилагаются ключ и права, которых у предыдущих трёх не было.</a:t>
            </a:r>
          </a:p>
          <a:p/>
          <a:p>
            <a:r>
              <a:t>Реплика на экране принадлежит заказчику потому, что пропажу требования заметил он: разработчик узнал о ней последним, из вопроса «а планшет?» в задаче. Цена ошибки ложится на обоих, предъявляет её тот, кто платит за работу, и такая цена понятна без объяснений.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к этому месту курса умеет работать с двумя источниками данных, и оба — файлы.</a:t>
            </a:r>
          </a:p>
          <a:p/>
          <a:p>
            <a:r>
              <a:t>Первый — файлы репозитория. Агент читает их напрямую: открывает путь, получает содержимое. Это материал прошлых занятий: на файлах репозитория стоят инструкции, спецификация, записи решений — всё, что лежит в дереве проекта и правится тем же коммитом, что и код.</a:t>
            </a:r>
          </a:p>
          <a:p/>
          <a:p>
            <a:r>
              <a:t>Второй — файлы, которые дали явно: вставили текст в чат, приложили документ. Источник другой, свойство то же: содержимое попало в контекст один раз и дальше само не меняется.</a:t>
            </a:r>
          </a:p>
          <a:p/>
          <a:p>
            <a:r>
              <a:t>Список задач в трекере не ложится ни в один из двух. Файлом репозитория он не является — заказчик ведёт его в отдельной системе, в дереве проекта такого файла нет. Приложенным файлом он тоже не становится: приложить список один раз и забыть не выйдет, потому что он меняется каждый день без нас, и снимок, снятый утром, к обеду уже неточен.</a:t>
            </a:r>
          </a:p>
          <a:p/>
          <a:p>
            <a:r>
              <a:t>Разделяет первые два источника и третий — время. У файла есть момент, когда его прочитали, и дальше он остаётся таким, каким его прочитали: ответ на вопрос «что в нём написано» от секунды не зависит. У обращения к системе такого момента нет — ответ зависит от того, в какую секунду спросили. Отсюда и требование: агенту нужен способ спросить систему в момент работы, потому что прочитанное заранее к этому моменту успевает устареть.</a:t>
            </a:r>
          </a:p>
          <a:p/>
          <a:p>
            <a:r>
              <a:t>Такое обращение по сети называется вызовом API: агент отправляет запрос и получает ответ сразу, без файла-посредника. В других курсах тот же предмет часто называют интеграцией или коннектором — слово разное, предмет один.</a:t>
            </a:r>
          </a:p>
          <a:p/>
          <a:p>
            <a:r>
              <a:t>Соблазн на этом месте — считать трекер ещё одним внешним файлом и прикладывать его перед каждым запросом. Так действительно делают, и ровно это делает разработчик в сцене этого кейса. Практика ломается в тот день, когда правка уезжает заказчику раньше, чем кто-то перечитал задачу. Пока список меняется реже, чем к нему обращаются, снимок годится: разовая выгрузка открытых задач перед планированием спринта — рабочий приём. Частота и переводит задачу из «скопируй текст» в «дай доступ».</a:t>
            </a:r>
          </a:p>
          <a:p/>
          <a:p>
            <a:r>
              <a:t>И догадка, с которой стоит войти в кейс, — та, что приходит на этом месте почти всем: за вызов придётся платить написанной интеграцией, то есть кодом, который знает адреса, формат запроса и разбор ответа. Держите её в голове: разбор пяти способов начнётся именно с неё.</a:t>
            </a:r>
          </a:p>
          <a:p/>
          <a:p>
            <a:r>
              <a:t>Первые два источника перечислены здесь по той же причине. Выбор дальше идёт между пятью способами доступа, и три из них занимают контекст постоянно именно потому, что третий источник устроен иначе, чем файл. Без этой границы пятёрка способов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устройство по частям, стоит посмотреть, где что стоит. Нового термина на этой схеме нет ни одного — только расстановка фигур в пространстве; механика идёт следующим экраном.</a:t>
            </a:r>
          </a:p>
          <a:p/>
          <a:p>
            <a:r>
              <a:t>Точка отсчёта — ваша машина, сплошная рамка слева. На ней работает агент: тот самый, с которым вы разговариваете в сессии. Всё остальное на схеме расположено относительно этой рамки, и первое, что стоит на ней найти, — себя.</a:t>
            </a:r>
          </a:p>
          <a:p/>
          <a:p>
            <a:r>
              <a:rPr b="1"/>
              <a:t>Сервер — отдельная программа,</a:t>
            </a:r>
            <a:r>
              <a:t> живущая вне агента: её кто-то запустил, она слушает, что у неё спросят, и отвечает. Написана она может быть на чём угодно, устанавливается как любой другой пакет, падает и перезапускается как любая другая программа. Отличает её одно умение — разговаривать на MCP, том самом едином разговоре, ради которого всё это заведено.</a:t>
            </a:r>
          </a:p>
          <a:p/>
          <a:p>
            <a:r>
              <a:t>Мест у этой программы два, и спецификация протокола говорит это прямо: сервер — программа, которая отдаёт данные, независимо от того, где она работает; работать она может локально или удалённо.</a:t>
            </a:r>
          </a:p>
          <a:p/>
          <a:p>
            <a:r>
              <a:rPr b="1"/>
              <a:t>Первое место — та же машина,</a:t>
            </a:r>
            <a:r>
              <a:t> рядом с агентом. Такой сервер поднимает ваша среда при старте сессии: в конфигурации записана команда, команда исполняется, процесс живёт столько же, сколько сессия. На схеме он стоит внутри сплошной рамки, и стрелка к нему эту рамку не пересекает.</a:t>
            </a:r>
          </a:p>
          <a:p/>
          <a:p>
            <a:r>
              <a:rPr b="1"/>
              <a:t>Второе место — чужая машина.</a:t>
            </a:r>
            <a:r>
              <a:t> Сервер там уже работает, его держит и обновляет кто-то другой, а подключаются к нему по сети. На схеме он в пунктирной рамке, и стрелка к нему границу вашей машины пересекает. Пунктир против сплошной линии — вся видимая разница: сплошное — ваше, пунктирное — чужое.</a:t>
            </a:r>
          </a:p>
          <a:p/>
          <a:p>
            <a:r>
              <a:t>Разговор агента с сервером в обоих случаях один и тот же; меняется только путь до сервера — процесс рядом или сеть. Спецификация формулирует это так: транспортный слой скрывает подробности связи от слоя протокола, и один и тот же формат сообщений работает на всех способах доставки. Поэтому номера вариантов стоят на схеме на стрелках: вариант — это маршрут, а агент в обоих вариантах один и тот же и стоит на одном месте.</a:t>
            </a:r>
          </a:p>
          <a:p/>
          <a:p>
            <a:r>
              <a:t>Справа — внешняя система: трекер задач, база данных, витрина отчётов, внутренний сервис. Ходит туда сервер. Ключ от системы лежит у него; агенту он ключа не отдаёт, и обратно агент получает текст ответа, самой системы не касаясь. Эту расстановку проще всего увидеть на схеме и труднее всего восстановить из конфигурационного файла — поэтому картина идёт раньше файла.</a:t>
            </a:r>
          </a:p>
          <a:p/>
          <a:p>
            <a:r>
              <a:t>И то, ради чего схема нарисована целиком. У каждой системы свой способ, которым её спрашивают: трекер задач — по REST, базу — языком SQL, витрину отчётов — через GraphQL, внутренний сервис — по gRPC. На этих способах говорит сервер. Системы существовали до MCP и свои способы спрашивать имели давно; сервер — обёртка поверх них: внутрь принимает вызов по MCP, наружу обращается так, как умеет система. Один сервер может ходить сразу в несколько систем, в каждую её способом. Агент этих способов не знает, и знать ему не нужно: у него к любому серверу один разговор.</a:t>
            </a:r>
          </a:p>
          <a:p/>
          <a:p>
            <a:r>
              <a:t>Протокол за сервером MCP вообще не описывает — он описывает только разговор агента с сервером. Инструменты в спецификации определены как исполняемые функции, которые приложение может вызвать, чтобы что-то сделать: операции с файлами, вызовы API, запросы к базе. Отсюда и четыре знака на правой стороне схемы; стоят они как способы, которыми спрашивают сами системы.</a:t>
            </a:r>
          </a:p>
          <a:p/>
          <a:p>
            <a:r>
              <a:t>Ходить наружу сервер при этом не обязан вовсе. Сервер к файловой системе или к локальной базе никуда по сети не обращается — он просто даёт агенту операции над тем, что лежит рядом. Внешняя система стоит на схеме потому, что наш случай именно такой: трекер живёт отдельно от проекта.</a:t>
            </a:r>
          </a:p>
          <a:p/>
          <a:p>
            <a:r>
              <a:t>Один и тот же сервер нередко существует в обоих местах сразу. Официальный сервер GitHub есть удалённым — его хостит сам GitHub — и образом, который запускается на вашей машине. Операции в них одни и те же, различается место. Какой из двух вариантов брать, схема не решает: выбор разбирает сам кейс, и там же считается цена каждого.</a:t>
            </a:r>
          </a:p>
          <a:p/>
          <a:p>
            <a:r>
              <a:t>По разговору агент разницы между вариантами не видит. Увидеть, где стоит сервер, можно только по записи в конфигурации — и для прав и секретов эта разница большая: в одном случае ключ лежит в окружении процесса на вашей машине, в другом вы отдаёте его тому, кто держит сервис.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Это опорный экран блока: к нему возвращается каждый следующий разбор, и к нему стоит вернуться самому, когда дальше что-то окажется непонятным.</a:t>
            </a:r>
          </a:p>
          <a:p/>
          <a:p>
            <a:r>
              <a:rPr b="1"/>
              <a:t>Что такое сервер.</a:t>
            </a:r>
            <a:r>
              <a:t> Отдельная программа, живущая вне Claude Code. Два места, где она работает, уже знакомы с предыдущего экрана: локальный процесс, который Claude Code запускает у вас, или удалённый сервис, который держит кто-то другой. К расстановке стоит добавить одно: команда, записанная в конфигурации, исполняется буквально при старте сессии. Что записано — то и запустится. Это исполняемая запись, не декларация, и из этого факта дальше вырастет решение про ключ.</a:t>
            </a:r>
          </a:p>
          <a:p/>
          <a:p>
            <a:r>
              <a:rPr b="1"/>
              <a:t>Где объявляется.</a:t>
            </a:r>
            <a:r>
              <a:t> В файле конфигурации. </a:t>
            </a:r>
            <a:r>
              <a:rPr>
                <a:latin typeface="Consolas"/>
              </a:rPr>
              <a:t>.mcp.json</a:t>
            </a:r>
            <a:r>
              <a:t> в корне репозитория — область </a:t>
            </a:r>
            <a:r>
              <a:rPr>
                <a:latin typeface="Consolas"/>
              </a:rPr>
              <a:t>project</a:t>
            </a:r>
            <a:r>
              <a:t>: её видят все, кто клонирует проект. </a:t>
            </a:r>
            <a:r>
              <a:rPr>
                <a:latin typeface="Consolas"/>
              </a:rPr>
              <a:t>~/.claude.json</a:t>
            </a:r>
            <a:r>
              <a:t> держит две другие области, </a:t>
            </a:r>
            <a:r>
              <a:rPr>
                <a:latin typeface="Consolas"/>
              </a:rPr>
              <a:t>local</a:t>
            </a:r>
            <a:r>
              <a:t> и </a:t>
            </a:r>
            <a:r>
              <a:rPr>
                <a:latin typeface="Consolas"/>
              </a:rPr>
              <a:t>user</a:t>
            </a:r>
            <a:r>
              <a:t>. Какая из трёх для чего — разбирается при сборке подключения; здесь важно место на карте: подключение живёт в файле, файл лежит в одном из трёх мест, и от выбора места зависит, кто это подключение увидит.</a:t>
            </a:r>
          </a:p>
          <a:p/>
          <a:p>
            <a:r>
              <a:rPr b="1"/>
              <a:t>Что происходит при подключении.</a:t>
            </a:r>
            <a:r>
              <a:t> После того как транспорт поднялся, Claude Code сама спрашивает у сервера список его возможностей. Модель в этом разговоре не участвует вовсе: это разговор клиента с сервером на уровне протокола, до того как модель вообще увидела список, — та же механика, что и рукопожатие транспорта. По умолчанию в контекст из этого ответа ложатся только имена инструментов и инструкция сервера о себе; полных схем при старте нет — схему конкретного инструмента модель подтягивает позже, когда решила, что он понадобится. Отсрочку отменяют две вещи: поле </a:t>
            </a:r>
            <a:r>
              <a:rPr>
                <a:latin typeface="Consolas"/>
              </a:rPr>
              <a:t>alwaysLoad</a:t>
            </a:r>
            <a:r>
              <a:t> у отдельного сервера грузит все его схемы при старте независимо от общего режима, а </a:t>
            </a:r>
            <a:r>
              <a:rPr>
                <a:latin typeface="Consolas"/>
              </a:rPr>
              <a:t>ENABLE_TOOL_SEARCH=false</a:t>
            </a:r>
            <a:r>
              <a:t> снимает отсрочку во всём окружении. Именно в таком режиме и набирается цифра худшего случая, которую блок назовёт дальше.</a:t>
            </a:r>
          </a:p>
          <a:p/>
          <a:p>
            <a:r>
              <a:rPr b="1"/>
              <a:t>Вызов.</a:t>
            </a:r>
            <a:r>
              <a:t> Когда модель решает, что инструмент нужен, агент вызывает его так же, как вызвал бы функцию: полное имя с префиксом сервера и аргументы, которые модель собрала сама. Формат полного имени —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в списке инструментов субагента или в матчере хука — короткое там не сработает, и ошибка в нём выглядит снаружи как «правило почему-то не применяется».</a:t>
            </a:r>
          </a:p>
          <a:p/>
          <a:p>
            <a:r>
              <a:rPr b="1"/>
              <a:t>Контекст и цена — три отдельные статьи.</a:t>
            </a:r>
            <a:r>
              <a:t> Первая: имена всех инструментов сервера и его короткая инструкция о себе висят в контексте всегда, с первой секунды сессии, независимо от того, воспользуется им агент или нет. Вторая: полную схему конкретного инструмента модель подтягивает сама, когда решает, что он может понадобиться, — это отложенная загрузка, поведение по умолчанию, и управляется она переменной </a:t>
            </a:r>
            <a:r>
              <a:rPr>
                <a:latin typeface="Consolas"/>
              </a:rPr>
              <a:t>ENABLE_TOOL_SEARCH</a:t>
            </a:r>
            <a:r>
              <a:t>. Третья, отдельная от первых двух: результат самого вызова, у него свой бюджет — предупреждение при выходе за десять тысяч токенов, обрезка за двадцать пять тысяч по умолчанию (</a:t>
            </a:r>
            <a:r>
              <a:rPr>
                <a:latin typeface="Consolas"/>
              </a:rPr>
              <a:t>MAX_MCP_OUTPUT_TOKENS</a:t>
            </a:r>
            <a:r>
              <a:t>). Эти три статьи стоит разводить с самого начала: постоянная плата идёт за то, что сервер подключён вообще, цена вызова — за каждый ответ, и смешение их даёт странные числа в обе стороны. Сопоставление по способам доступа будет в конце кейса.</a:t>
            </a:r>
          </a:p>
          <a:p/>
          <a:p>
            <a:r>
              <a:rPr b="1"/>
              <a:t>Чем отвечает сервер.</a:t>
            </a:r>
            <a:r>
              <a:t> Результат приходит по отдельному каналу, не по тому же, по которому шло подключение. В выводе вызов подписан именем сервера — видно, что ответ пришёл именно оттуда, не из общих знаний модели. Для проверки работы это единственная доступная зацепка: по тексту ответа отличить «сервер сходил и принёс» от «модель написала похоже» нельзя.</a:t>
            </a:r>
          </a:p>
          <a:p/>
          <a:p>
            <a:r>
              <a:t>Две мелочи, на которых спотыкаются чаще прочего. </a:t>
            </a:r>
            <a:r>
              <a:rPr>
                <a:latin typeface="Consolas"/>
              </a:rPr>
              <a:t>local</a:t>
            </a:r>
            <a:r>
              <a:t> и </a:t>
            </a:r>
            <a:r>
              <a:rPr>
                <a:latin typeface="Consolas"/>
              </a:rPr>
              <a:t>user</a:t>
            </a:r>
            <a:r>
              <a:t> в карте показаны с одним и тем же файлом </a:t>
            </a:r>
            <a:r>
              <a:rPr>
                <a:latin typeface="Consolas"/>
              </a:rPr>
              <a:t>~/.claude.json</a:t>
            </a:r>
            <a:r>
              <a:t> — это не ошибка на экране: один физический файл, две разные записи внутри него, </a:t>
            </a:r>
            <a:r>
              <a:rPr>
                <a:latin typeface="Consolas"/>
              </a:rPr>
              <a:t>local</a:t>
            </a:r>
            <a:r>
              <a:t> под записью конкретного проекта, </a:t>
            </a:r>
            <a:r>
              <a:rPr>
                <a:latin typeface="Consolas"/>
              </a:rPr>
              <a:t>user</a:t>
            </a:r>
            <a:r>
              <a:t> под общим ключом </a:t>
            </a:r>
            <a:r>
              <a:rPr>
                <a:latin typeface="Consolas"/>
              </a:rPr>
              <a:t>mcpServers</a:t>
            </a:r>
            <a:r>
              <a:t>. И вопрос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будет видно, сколько это стоит.</a:t>
            </a:r>
          </a:p>
          <a:p/>
          <a:p>
            <a:r>
              <a:t>Про управление протоколом: с девятого декабря 2025 года MCP развивает отдельный направленный фонд под Linux Foundation, тем же типом управления, что у Kubernetes. Открытость протокола и честность конкретного сервера внутри него — разные вещи, и провалы этого блока будут как раз про второе.</a:t>
            </a:r>
          </a:p>
          <a:p/>
          <a:p>
            <a:r>
              <a:t>Если что-то на этом экране осталось непонятным, дальше оно понятнее не станет: весь кейс ссылается сюда.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открыл задачу, скопировал текст, вставил в чат, готовый ответ скопировал обратно в задачу. Вот где лежали те две просьбы, которых агент в понедельник не нашёл.</a:t>
            </a:r>
          </a:p>
          <a:p/>
          <a:p>
            <a:r>
              <a:t>Вторник той же недели. Утром разработчик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 час на вторую правку и письмо с объяснением, почему строка из задачи до работы не доехала. Час здесь меньшая часть. Большая в том, что заказчик теперь перепроверяет, дошло ли написанное им: привычка, которую он завёл ровно потому, что один раз не дошло. Вернуть это доверие дороже, чем переделать форму.</a:t>
            </a:r>
          </a:p>
          <a:p/>
          <a:p>
            <a:r>
              <a:t>Ошибся здесь не агент. Ошибся перенос руками: он по устройству отдаёт агенту прошлое состояние задачи, и никакая аккуратность этого свойства не меняет.</a:t>
            </a:r>
          </a:p>
          <a:p/>
          <a:p>
            <a:r>
              <a:t>Дисциплина — перечитывать задачу перед отправкой — выглядит решением и работает ровно до дня, когда задач три, а сессий пять. Цена такой дисциплины растёт линейно с числом задач и сессий, и забытая строка из исключения становится нормой. Попросить агента «следить» за трекером тоже не выйдет: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 Открытый рядом трекер в браузере меняет форму переноса, оставляя сам перенос: вставка остаётся вставкой, и утренний снимок остаётся утренним.</a:t>
            </a:r>
          </a:p>
          <a:p/>
          <a:p>
            <a:r>
              <a:t>Стоит заметить, чего в этой сцене нет. В ней нет небрежного разработчика: он предложил трекер сам, переносит задачи несколько раз в неделю и в тот вторник сделал всё, что делал всегда. В ней нет и сломанного инструмента: трекер работал, агент работал, правка уехала вовремя. Сбой дала связка между ними — единственное место, которое никто не проектировал и за которое поэтому никто не отвечает. Ровно такие места и собирают цену: у них нет владельца, и чинить их начинают после первого письма с объяснением.</a:t>
            </a:r>
          </a:p>
          <a:p/>
          <a:p>
            <a:r>
              <a:t>У этой ошибки есть обратная,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Подробность сцены нужна для выбора, который предстоит сделать дальше: он зависит от двух её свойств — от частоты переноса и от живости источника. Живым здесь называется источник, у которого ответ зависит от времени запроса. Файл спецификации в репозитории живым в этом смысле не является: он меняется коммитом, и коммит видно. Трекер меняется без коммита и без уведомления — и именно этот вторник показывает, какой из двух случаев перед нами.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У кого агент уже ходил наружу — в трекер, в базу, в документацию? Чем это было сделано? Доступ наружу к этому занятию есть почти у каждого, кто работает с ассистентом не первый месяц, и свой способ вспоминается быстрее, чем выбирается чужой.</a:t>
            </a:r>
          </a:p>
          <a:p/>
          <a:p>
            <a:r>
              <a:t>Дальше этот свой способ надо проверить сценой. Чтобы того вторника не повторилось, агент должен сам смотреть открытые задачи трекера в момент работы и готовить по ним черновики правок — то есть ходить туда каждый день, а не однажды. Выберите свой способ из пяти карточек и скажите, выдерживает ли он такую частоту; если нет — какую из соседних карточек вы взяли бы сейчас.</a:t>
            </a:r>
          </a:p>
          <a:p/>
          <a:p>
            <a:r>
              <a:t>Пять способов: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 Выбор здесь весит меньше причины: назвать способ легко, труднее сказать, что именно он требует от вас заранее и что занимает постоянно.</a:t>
            </a:r>
          </a:p>
          <a:p/>
          <a:p>
            <a:r>
              <a:rPr>
                <a:latin typeface="Consolas"/>
              </a:rPr>
              <a:t>gh</a:t>
            </a:r>
            <a:r>
              <a:t> в этом списке — официальный CLI-инструмент GitHub. Он уже установлен у многих разработчиков и умеет читать и писать задачи трекера без какого-либо MCP-сервера, обычным вызовом команды. Разницу между «удалённо» и «локально» тоже стоит проговорить до выбора: в первом случае сервер — чужой процесс, который кто-то другой держит в сети и сам поддерживает; во втором программа запускается у вас, и её старт, обновление и падение — ваша забота.</a:t>
            </a:r>
          </a:p>
          <a:p/>
          <a:p>
            <a:r>
              <a:t>Четыре ответа на этот вопрос звучат чаще прочих, и с каждым стоит проделать одну и ту же работу.</a:t>
            </a:r>
          </a:p>
          <a:p/>
          <a:p>
            <a:r>
              <a:t>«Написать свой сервер». Проверочный вопрос один: что в вашем сервере будет такого, чего нет в официальном? Иногда ответ есть — нужного набора операций действительно нет ни у кого из готовых поставщиков, — и тогда выбор верный. Чаще ответа нет, и тогда это работа, которую за вас уже сделали.</a:t>
            </a:r>
          </a:p>
          <a:p/>
          <a:p>
            <a:r>
              <a:t>«Возьмём API, потому что так гибче». Законный выбор, и разбор его не отменяет. Уточнить стоит одно: где будет жить описание эндпойнтов, которым вы кормите агента, и кто обновит его, когда сервис поменяет версию. Это описание — такой же артефакт проекта, как конфигурация, и владелец у него должен быть назван.</a:t>
            </a:r>
          </a:p>
          <a:p/>
          <a:p>
            <a:r>
              <a:t>«А в чём вообще разница, если результат одинаковый?» Результат действительно одинаковый: во всех пяти случаях агент получает свежий список задач. Разница — в том, что каждый способ требует от вас заранее, и в том, что он занимает постоянно. Обе стороны разбираются дальше: первая на разборе пяти способов, вторая на экране с ценой.</a:t>
            </a:r>
          </a:p>
          <a:p/>
          <a:p>
            <a:r>
              <a:t>Ответ, который не совпадает ни с одним из пяти. Почти всегда он укладывается в один из пяти, просто другими словами: «напишем скрипт, который дёргает трекер» — это прямой вызов API, «попросим подключить готовый сервис» — чужой сервер удалённо. Такой ответ стоит довести до одного из пяти, и дальше он разбирается вместе с остальными.</a:t>
            </a:r>
          </a:p>
          <a:p/>
          <a:p>
            <a:r>
              <a:t>Выбрать два тоже можно, и это даже точнее: два из пяти остаются законными до самого конца разбора. Тогда называйте оба и условие, при котором берёте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 это он умеет, и умеет одинаково во всех пяти случаях. Догадка, с которой заходили в кейс, оказывается ложной, и выбор приходится делать по другому основанию.</a:t>
            </a:r>
          </a:p>
          <a:p/>
          <a:p>
            <a:r>
              <a:t>Основание такое: знает ли агент заранее, что у системы можно спросить. По нему и разбираются пять способов.</a:t>
            </a:r>
          </a:p>
          <a:p/>
          <a:p>
            <a:r>
              <a:rPr b="1"/>
              <a:t>Прямой вызов API.</a:t>
            </a:r>
            <a:r>
              <a:t> Агент сам пишет и шлёт запросы к эндпойнтам, сам разбирает ответ. Предел здесь лежит в другом месте: спецификацию сервиса агент не угадает — какие есть точки, какие у них параметры, какие ограничения. Её нужно дать: документацией, swagger-описанием, примером запроса. Пока описание свежее, способ работает, и работает гибко — доступны любые точки сервиса, включая те, которых нет ни в одном готовом сервере. Устаревает описание молча: сервис поменял версию, описание осталось прежним, агент уверенно шлёт запросы по старым адресам.</a:t>
            </a:r>
          </a:p>
          <a:p/>
          <a:p>
            <a:r>
              <a:rPr b="1"/>
              <a:t>Чужой сервер удалённо.</a:t>
            </a:r>
            <a:r>
              <a:t> Сервис, который кто-то хостит и обновляет сам; у вас не крутится отдельный процесс, нечего запускать и нечему падать. Плата за это — управление: не видно, что сервис делает внутри и когда в нём что-то поменялось. Сюда же обычные вопросы безопасности удалённого сервиса: кому вы доверяете ключ и у кого ещё есть к нему доступ. Чем это кончается в худшем случае, видно в провале следующего кейса блока: у одного MCP-сервера для баз данных флаг «только чтение» не делал соединение реально ограниченным.</a:t>
            </a:r>
          </a:p>
          <a:p/>
          <a:p>
            <a:r>
              <a:rPr b="1"/>
              <a:t>Чужой сервер локально.</a:t>
            </a:r>
            <a:r>
              <a:t> Пакет исполняется у вас, конфигурация — строка в репозитории, видна всей команде в ревью. Контроля здесь больше, чем у удалённого: версия зафиксирована вами, обновление происходит тогда, когда вы его сделали. Остаётся то, что это живой процесс на вашей машине и чужой код — со всеми его зависимостями и правом на обновление.</a:t>
            </a:r>
          </a:p>
          <a:p/>
          <a:p>
            <a:r>
              <a:rPr b="1"/>
              <a:t>Свой сервер.</a:t>
            </a:r>
            <a:r>
              <a:t> Даёт ровно нужный набор операций и прав, без чужого кода в процессе. Написать минимальный сервер сейчас быстро — для этого есть готовый плагин. Дорого обходится поддержка: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rPr b="1"/>
              <a:t>Команда `gh` каждый раз.</a:t>
            </a:r>
            <a:r>
              <a:t> Готовый официальный CLI GitHub: авторизацию и разбор ответа он уже решил за вас, кода писать не нужно. Каждый вызов при этом — отдельная команда без общего списка возможностей. Агент не видит заранее, что вообще можно сделать; нужный вызов приходится знать заранее — и знает его разработчик.</a:t>
            </a:r>
          </a:p>
          <a:p/>
          <a:p>
            <a:r>
              <a:t>Вывод складывается из сочетания, в три хода.</a:t>
            </a:r>
          </a:p>
          <a:p/>
          <a:p>
            <a:r>
              <a:t>Первый: свой сервер избыточен. Официальный сервер для трекера уже существует, и своя реализация повторила бы его работу, добавив к проекту второй проект.</a:t>
            </a:r>
          </a:p>
          <a:p/>
          <a:p>
            <a:r>
              <a:t>Второй: </a:t>
            </a:r>
            <a:r>
              <a:rPr>
                <a:latin typeface="Consolas"/>
              </a:rPr>
              <a:t>gh</a:t>
            </a:r>
            <a:r>
              <a:t> и прямой вызов API закрывают вызов, известный заранее. Это их законная область, и она широкая. Растущий список операций они перекладывают на память разработчика — и ровно на этом месте вторник из сцены повторяется, только уже с командами: нужная команда существует, но её никто не вспомнил.</a:t>
            </a:r>
          </a:p>
          <a:p/>
          <a:p>
            <a:r>
              <a:t>Третий: между «удалённо» и «локально» готового ответа нет, законны оба. Свежий официальный пример подключения к этому же сервису — удалённый http-сервис; решение этого кейса — локальный процесс, потому что тогда конфигурация становится кодом в репозитории, видимым в ревью всей команде. Локальный способ при этом остаётся официально поддерживаемым, так что от существования удалённого примера решение не портится. Знать стоит другое: официальный путь одного и того же поставщика со временем меняется, и ссылку на «официальный способ» в собственной документации приходится перепроверять.</a:t>
            </a:r>
          </a:p>
          <a:p/>
          <a:p>
            <a:r>
              <a:t>Как приложить этот разбор к своей системе — четыре вопроса по порядку. Есть ли для неё готовый сервер: если есть, свой писать незачем. Сколько операций нужно и растёт ли их число: одна известная операция закрывается командой или прямым вызовом, растущий список требует, чтобы агент видел его сам. Готовы ли вы держать ещё один живой процесс с доступом к секретам: если нет, разовый вызов надёжнее процесса, который никто не обслуживает. И только после этого — где должна лежать конфигурация: в репозитории, если подключение касается всей команды, у себя, если это эксперимент.</a:t>
            </a:r>
          </a:p>
          <a:p/>
          <a:p>
            <a:r>
              <a:t>Остаётся вопрос, который разбор оставляет открытым: за что тогда вообще платят подключением, если доступ даёт и обычная команда? Платят за список возможностей, который агент читает сам. Сколько это стоит в токенах, считается дальше в кейсе, на экране постоянной платы, и цифра там неожиданная.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этого разговора. Начать с синтаксиса — значит проскочить два решения, которые весят больше синтаксиса: какие операции агенту разрешить и какие права под них выдать.</a:t>
            </a:r>
          </a:p>
          <a:p/>
          <a:p>
            <a:r>
              <a:t>Первый ход быстрый: что конкретно агент должен делать? Для нашей задачи список короткий — читать открытые задачи, писать комментарий, готовить черновик правки. Три операции, ничего больше. Список этот составляется под задачу и не берётся у сервера: официальный сервер трекера умеет заметно больше трёх вещей, и из его полного набора нужно знать свои. Операции задают, какие права запрашивать; обратный порядок даёт ключ, заведомо более широкий, чем задача, под которую он выпускался.</a:t>
            </a:r>
          </a:p>
          <a:p/>
          <a:p>
            <a:r>
              <a:t>Второй ход несёт основной вес. Широкий персональный токен по умолчанию даёт четыре вещи: все репозитории пользователя, включая приватные; чтение и запись; управление настройками; удаление. По каждой строке задаётся один и тот же вопрос — наш список из трёх операций этого требует? Все репозитории, включая приватные: нет, работа идёт в одном. Чтение и запись: чтение нужно для задач, запись нужна для комментария и черновика — строка остаётся. Управление настройками: нет. Удаление: нет. Вычёркивание идёт строка за строкой, и остаётся один репозиторий и две операции.</a:t>
            </a:r>
          </a:p>
          <a:p/>
          <a:p>
            <a:r>
              <a:t>Порядок важен сам по себе: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экранов окажется решающей.</a:t>
            </a:r>
          </a:p>
          <a:p/>
          <a:p>
            <a:r>
              <a:t>Соблазн, который стоит разобрать до конца: создать токен с правами по умолчанию и просто не пользоваться лишним. Так нельзя, и причина лежит вне дисциплины. Токеном может воспользоваться тот, кто им завладеет, и тогда решает то, что физически позволяет сделанный ключ, безотносительно вашего намерения. Вопрос «пользуюсь ли я этим правом» к делу не относится вовсе; вопрос ровно один — есть это право в ключе или нет.</a:t>
            </a:r>
          </a:p>
          <a:p/>
          <a:p>
            <a:r>
              <a:t>Избыточность такого рода — норма, не исключение. Та же системная выборка показывает, что прав выдают больше, чем нужно, и это касается не только отдельных серверов, но и самого транспортного слоя официального SDK протокола.</a:t>
            </a:r>
          </a:p>
          <a:p/>
          <a:p>
            <a:r>
              <a:t>Сколько времени занимает такая проверка — прямых замеров нет ни в одном источнике, и это честный пробел. Сказать можно другое: разговор, разложенный здесь на ходы, и так происходит в момент создания токена, отдельного времени он не требует.</a:t>
            </a:r>
          </a:p>
          <a:p/>
          <a:p>
            <a:r>
              <a:t>Этот экран стоит запомнить. Через несколько экранов будет инцидент, который воспроизводится ровно тогда, когда верхняя строка не вычеркнута.</a:t>
            </a:r>
          </a:p>
          <a:p/>
          <a:p>
            <a:r>
              <a:t>И последнее —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ход — про ключ, и ответ на него называют почти сразу: ключ хранится в переменной окружения, значение в файл не вписывают.</a:t>
            </a:r>
          </a:p>
          <a:p/>
          <a:p>
            <a:r>
              <a:t>Причина у этого не стилистическая. Механика конфигурации здесь исполняемая: команда подключения сервера реально запускается на машине при старте сессии, простым описанием она не остаётся. Значение, вписанное буквально в команду, стало бы частью того, что физически выполняется, — и поехало бы вместе с файлом в репозиторий, в историю коммитов, в ревью, в любую выгрузку проекта. Переменная окружения — прямое следствие этого факта.</a:t>
            </a:r>
          </a:p>
          <a:p/>
          <a:p>
            <a:r>
              <a:t>Честная оговорка к практике: вынесение секрета в переменную окружения не гарантирует, что он нигде не всплывёт текстом. Диагностическая команда, которой проверяют статус подключения, сама может оказаться ещё одним каналом утечки того же секрета. Практику это не отменяет, но снимает с неё ложное ощущение полной защищённости: переменная окружения убирает секрет из файла и не убирает его из всех возможных мест.</a:t>
            </a:r>
          </a:p>
          <a:p/>
          <a:p>
            <a:r>
              <a:t>Четвёртый ход — область видимости конфигурации, и вариантов три: только у меня на этой машине; в репозиторий, для всех; глобально во всех моих проектах. Проверенный сервер идёт в репозиторий — тогда конфигурация становится кодом, и её изменение видно в ревью наравне с кодом. Новый сервер в проекте появляется с обсуждением, его видно до того, как он заработает. Непроверенный эксперимент остаётся только у себя.</a:t>
            </a:r>
          </a:p>
          <a:p/>
          <a:p>
            <a:r>
              <a:t>И факт про дефолт, который стоит знать до первого подключения: по умолчанию команда подключения кладёт сервер в личную конфигурацию, не в проект. Не зная этого, легко получить разговор «я подключил, всё работает» — «а у меня нет», в котором оба правы: запись существует, видит её один человек.</a:t>
            </a:r>
          </a:p>
          <a:p/>
          <a:p>
            <a:r>
              <a:t>Эксперимент, который прижился, переносят из личной области в проектную тем же разговором, каким вносят любую другую правку в репозиторий. Права ключа при переносе остаются прежними: их меняют на стороне сервиса, где ключ создавался.</a:t>
            </a:r>
          </a:p>
          <a:p/>
          <a:p>
            <a:r>
              <a:t>Выбор области — решение про видимость, и мерить его стоит одним вопросом: кому должно сломаться, если подключение пропадёт? Если работа команды без этого сервера встанет, запись обязана лежать в репозитории — тогда её пропажа видна в ревью и восстанавливается тем же способом, что любая другая правка файла. Если без сервера встанет только ваш личный эксперимент, запись в репозитории будет мешать остальным: они клонируют проект и получают процесс, которого не просили, вместе с требованием ключа, которого у них нет.</a:t>
            </a:r>
          </a:p>
          <a:p/>
          <a:p>
            <a:r>
              <a:t>Отдельно — что происходит при совпадении имён. Если одно и то же имя сервера объявлено в двух областях, побеждает вся запись более приоритетной области целиком; поля из разных источников не собираются. Случай, на котором это ловят: в личной записи ключа нет, в проектной есть, имена совпали — при конфликте вы получаете личную запись целиком, вместе с отсутствующим ключом, и сервер не работает по причине, которой в проектном файле не видно.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 у ключа спрашивают один раз — в момент выпуска. Сервис перечисляет действия и спрашивает, какие из них вы доверяете этому ключу. Второго такого вопроса не будет, и это делает выпуск ключа тем редким местом, где решение принимается раз и действует долго.</a:t>
            </a:r>
          </a:p>
          <a:p/>
          <a:p>
            <a:r>
              <a:t>Ход, который делается в этот момент чаще всего, автор курса описывает про себя прямо: все галочки, которые есть, прощёлкиваются подряд. Мотив у хода понятный и почти уважительный — а вдруг потом что-нибудь понадобится, перевыпускать же тогда новый ключ. Стоит признать, что это ровно то, чего делать не стоит, и стоит признать заодно, что знание об этом ходу не мешает. Разбор прав из предыдущего разговора занял несколько минут и дал список операций на четыре строки; одно движение мыши при выпуске возвращает вычеркнутое целиком.</a:t>
            </a:r>
          </a:p>
          <a:p/>
          <a:p>
            <a:r>
              <a:t>Расхождение здесь стоит назвать точно, потому что оно и есть содержание. Знать, какие права нужны, и выдать именно их — две разные работы. Первая делается головой и однажды, вторая делается руками и каждый раз заново, на чужом экране, в конце длинной формы, когда хочется уже начать работать.</a:t>
            </a:r>
          </a:p>
          <a:p/>
          <a:p>
            <a:r>
              <a:t>Второй ход того же рода — положить ключ туда, где он под рукой: в файл рядом с конфигурацией подключения. Дальше файл едет в репозиторий, в историю коммитов, в обзор правок, в любую выгрузку проекта. Переменная окружения убирает ключ из файла, об этом речь шла на предыдущем экране. Дом ключа между запусками — хранилище секретов: названная ячейка, значение которой выдаётся процессу и не показывается ни в файле, ни в обзоре, ни в журнале сборки. Понятие «секрет» в этом смысле стоит знать именно так: это значение, у которого есть имя, и только имя видно.</a:t>
            </a:r>
          </a:p>
          <a:p/>
          <a:p>
            <a:r>
              <a:t>Насколько реальна утечка, проверяется дешевле, чем кажется. Автор курса рассказывает, что из любопытства искал ключи поставщиков моделей в публичных репозиториях — и находил работающие. Счёт здесь приводить незачем: достаточно того, что находки были не единичными.</a:t>
            </a:r>
          </a:p>
          <a:p/>
          <a:p>
            <a:r>
              <a:t>Поставщики про это знают и сторожат сами. По рассказу студентов прошлого потока, один из поставщиков моделей следит за публичными репозиториями и блокирует засвеченный ключ в течение секунд. Звучит это обнадёживающе, и границу такой защиты стоит назвать сразу. Она закрывает один канал из многих — публикацию в открытом репозитории, и только у того поставщика, который сторожит. Приватную утечку, журнал сборки, снимок экрана, пересланный коллеге файл настроек такой сторож не видит вовсе. И защита эта принадлежит поставщику: он блокирует ключ тогда, когда считает нужным, не спрашивая вас.</a:t>
            </a:r>
          </a:p>
          <a:p/>
          <a:p>
            <a:r>
              <a:t>Что из этого остаётся в вашей власти после выпуска, оказывается одной строкой. Права, выданные ключу в момент создания. Узкий ключ, который утёк, стоит дешевле широкого — потому что цена утечки измеряется тем, что утёкшим ключом можно сделать. Из этого же следует привычка, которую стоит заводить вместе с первым ключом: отдельный ключ под каждую работу, с правами под эту работу, и перевыпуск вместо расширения, когда работа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Каждая отвечает на свой вопрос.</a:t>
            </a:r>
          </a:p>
          <a:p/>
          <a:p>
            <a:r>
              <a:rPr>
                <a:latin typeface="Consolas"/>
              </a:rPr>
              <a:t>mcpServers</a:t>
            </a:r>
            <a:r>
              <a:t> — корень: список всех серверов, объявленных в этой области видимости. Один файл может держать несколько серверов, и каждый получает свою запись.</a:t>
            </a:r>
          </a:p>
          <a:p/>
          <a:p>
            <a:r>
              <a:rPr>
                <a:latin typeface="Consolas"/>
              </a:rPr>
              <a:t>"github"</a:t>
            </a:r>
            <a:r>
              <a:t> — имя сервера. Под этим именем агент будет вызывать его инструменты: </a:t>
            </a:r>
            <a:r>
              <a:rPr>
                <a:latin typeface="Consolas"/>
              </a:rPr>
              <a:t>mcp__github__…</a:t>
            </a:r>
            <a:r>
              <a:t>. Имя выбираете вы, и оно попадает во все места, где на сервер ссылаются, — в правила разрешений, в списки инструментов, в вывод вызова. Переименовать его потом значит пройти по всем этим местам.</a:t>
            </a:r>
          </a:p>
          <a:p/>
          <a:p>
            <a:r>
              <a:rPr>
                <a:latin typeface="Consolas"/>
              </a:rPr>
              <a:t>"command"</a:t>
            </a:r>
            <a:r>
              <a:t> — чем запускается: конкретная программа-лаунчер, здесь </a:t>
            </a:r>
            <a:r>
              <a:rPr>
                <a:latin typeface="Consolas"/>
              </a:rPr>
              <a:t>npx</a:t>
            </a:r>
            <a:r>
              <a:t>. </a:t>
            </a:r>
            <a:r>
              <a:rPr>
                <a:latin typeface="Consolas"/>
              </a:rPr>
              <a:t>"args"</a:t>
            </a:r>
            <a:r>
              <a:t> — что запускается: пакет самого сервера. Вместе эти две строки и есть та команда, которая исполнится при старте сессии.</a:t>
            </a:r>
          </a:p>
          <a:p/>
          <a:p>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Права этого ключа в файл не входят вообще, и это стоит держать в голове, глядя на экран. Один репозиторий вместо всей учётной записи — решение, принятое на стороне сервиса, где токен создавался; из конфигурации его не видно и в ревью по этому файлу не поймать. Файл показывает, откуда берётся ключ, и ничего не говорит о том, что этим ключом можно сделать.</a:t>
            </a:r>
          </a:p>
          <a:p/>
          <a:p>
            <a:r>
              <a:t>Про сам файл: он лежит в корне репозитория и виден всем, кто клонирует проект. Личная и общая личная области живут в отдельном файле вне репозитория — секреты из кода туда не попадают просто потому, что файл физически не в дереве git.</a:t>
            </a:r>
          </a:p>
          <a:p/>
          <a:p>
            <a:r>
              <a:t>Эта команда запускает на вашей машине живой процесс. Если он упадёт посреди сессии, сам он не перезапустится — нужна новая сессия. Что при этом видно со стороны и почему зелёная отметка об этом молчит — на следующем экране.</a:t>
            </a:r>
          </a:p>
          <a:p/>
          <a:p>
            <a:r>
              <a:t>Схема приоритета под файлом отвечает на вопрос, который возникает, когда одно и то же имя сервера объявлено дважды. Шесть ступеней, и на каждой подписан физический файл. Ступени </a:t>
            </a:r>
            <a:r>
              <a:rPr>
                <a:latin typeface="Consolas"/>
              </a:rPr>
              <a:t>local</a:t>
            </a:r>
            <a:r>
              <a:t> и </a:t>
            </a:r>
            <a:r>
              <a:rPr>
                <a:latin typeface="Consolas"/>
              </a:rPr>
              <a:t>user</a:t>
            </a:r>
            <a:r>
              <a:t> обе подписаны файлом </a:t>
            </a:r>
            <a:r>
              <a:rPr>
                <a:latin typeface="Consolas"/>
              </a:rPr>
              <a:t>~/.claude.json</a:t>
            </a:r>
            <a:r>
              <a:t> — то же устройство и та же причина, что на одностраничнике MCP: один физический файл, две записи внутри него. При конфликте имён это разные по весу записи, несмотря на общий файл.</a:t>
            </a:r>
          </a:p>
          <a:p/>
          <a:p>
            <a:r>
              <a:t>Областей ровно три, и произвольной настройкой это число не является: три жёстко заданных места — ровно то, что умеет продукт. Изменить область уже подключённого сервера значит переписать ту же запись в другое место; права токена при этом остаются прежними, их меняют там, где токен создавался.</a:t>
            </a:r>
          </a:p>
          <a:p/>
          <a:p>
            <a:r>
              <a:t>И честный пробел, который стоит назвать прямо. Этот файл — целевое решение раздела, собранное с более раннего захвата демонстрационного репозитория. Коммита с ним в текущей ветке нет, и в репозитории курса такого файла тоже нет. Разбор опирается на доказательную базу исследования, живого коммита за ним не стоит; то же касается двух следующих кейсов этого блока — у них этот пробел общий. Экран показывает разбираемый пример и не обещает «склонируй и повтори».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собран, отметка зелёная. Ровно здесь начинается ловушка, в которую попадают после удачного подключения, и стоит она дороже самого подключения.</a:t>
            </a:r>
          </a:p>
          <a:p/>
          <a:p>
            <a:r>
              <a:t>Зелёная отметка говорит правду — о том, что процесс сервера поднялся, ответил клиенту на рукопожатие и отдал список своих инструментов. Это факт о программе. Обращался ли к этому серверу агент, пока выполнял вашу задачу, — факт о разговоре, и в отметке его нет. Два факта стоят в интерфейсе рядом и читаются как две стороны одного состояния; опыт от этой путаницы не защищает, и число подключённых серверов её не меняет — у кого подключён один, тот получает ту же ловушку в полном виде.</a:t>
            </a:r>
          </a:p>
          <a:p/>
          <a:p>
            <a:r>
              <a:t>Ответ на второй вопрос приходит из единственного места — из вывода той же сессии. Поэтому ход простой: назовите сервер в запросе по имени. «Используя сервер трекера, выведи список открытых задач, затем подготовь черновик по каждой» вместо «посмотри, что скопилось во входящих». После первой формулировки есть что проверить: вызов инструмента в выводе либо подписан именем сервера, либо не подписан, и правдоподобие ответа на эту проверку не влияет. После второй проверять нечего — агент мог прочитать трекер, а мог собрать ответ по смыслу задачи, и оба пути дают текст одного вида. Имя сервера берётся из той же команды статуса, угадывать его по названию сервиса не нужно: сервер доступа к трекеру может называться по имени пакета, по имени сервиса или по короткому имени того, кто его подключал.</a:t>
            </a:r>
          </a:p>
          <a:p/>
          <a:p>
            <a:r>
              <a:t>Ход стоит нескольких слов в запросе и одного взгляда в вывод, и подделать его правдоподобием нельзя: подписанная строка либо есть, либо её нет. Уверенный содержательный ответ при отсутствии такой строки — это и есть подпись потерянной работы: ответ построен без сервера и внешне выглядит лучше настоящего, потому что приходит быстрее. Если сервер назван, а подписи нет, дальше смотрят на состояние процесса: подключение могло отвалиться, авторизация истечь, список инструментов не прийти. Работает и обратный ход: если задача по смыслу не должна касаться сервера, скажите это прямо — тогда появление подписанной строки становится сигналом. Проверяемость действует в обе стороны.</a:t>
            </a:r>
          </a:p>
          <a:p/>
          <a:p>
            <a:r>
              <a:t>Шире этого экрана правило звучит так, и оно не про MCP. Наблюдение, которое ждёт ошибки, молчит в двух разных случаях: когда всё хорошо и когда сигналов не приходит вовсе. Различить их отсутствием ошибки нельзя — только наличием связи с тем, за кем следите. Один документированный случай из журнала этого курса ровно такой: подключённый сервер тихо потерял доступ, инструменты перестали работать, а команда статуса продолжала показывать «подключён» — заметили по тому, что обычные вызовы начали требовать повторного входа, не по статусу.</a:t>
            </a:r>
          </a:p>
          <a:p/>
          <a:p>
            <a:r>
              <a:t>Привычка называть сервер по имени стоит нескольких слов в запросе. Расследование постфактум — «а точно ли агент вчера смотрел трекер» — стоит на порядок дороже.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утверждение о режиме без отложенной загрузки. По умолчанию при старте сессии в контекст попадают имена инструментов и короткая инструкция сервера, без полных схем.</a:t>
            </a:r>
          </a:p>
          <a:p/>
          <a:p>
            <a:r>
              <a:t>Худший случай замерен: связка из пяти серверов без отсрочки — порядка пятидесяти пяти тысяч токенов, около двадцати одного процента контекста в двести тысяч. Это верхняя граница. Для сравнения: одно и то же действие обычной командой в терминале — тысяча триста шестьдесят пять токенов, инструментом сервера — сорок четыре тысячи двадцать шесть. Тридцатидвухкратная разница за один ответ.</a:t>
            </a:r>
          </a:p>
          <a:p/>
          <a:p>
            <a:r>
              <a:t>За что именно идёт эта плата, стоит разобрать по частям — иначе числа выглядят произвольными.</a:t>
            </a:r>
          </a:p>
          <a:p/>
          <a:p>
            <a:r>
              <a:t>Постоянная плата — это имена всех инструментов каждого подключённого сервера и короткая инструкция сервера о себе: то, что при отложенной загрузке ложится в контекст при старте. Они висят в контексте всё время, с первой секунды сессии, независимо от того, воспользуется агент сервером или нет. Задают её два числа: сколько серверов подключено и сколько инструментов каждый описывает. Ни от места, где сервер работает, ни от того, кто его написал, эта плата не зависит — своё, чужое, локально, удалённо платят одинаково. Транспорт на два названных числа не влияет: удалённый сервер описывает свои инструменты теми же именами и той же инструкцией, что локальный, и в контекст попадает то же самое описание. Авторство тоже не влияет: свой сервер, написанный под три операции, платит за три описания — ровно столько, сколько платил бы чужой с тремя операциями. Платите вы за список возможностей, а список не знает, откуда он приехал.</a:t>
            </a:r>
          </a:p>
          <a:p/>
          <a:p>
            <a:r>
              <a:t>Цена вызова — отдельная статья: это каждый ответ, который сервер вернул. Сюда и относится сравнение тысячи трёхсот шестидесяти пяти токенов против сорока четырёх тысяч: одно и то же действие, одинаковый результат, тридцатидвухкратная разница в том, сколько места заняло его получение.</a:t>
            </a:r>
          </a:p>
          <a:p/>
          <a:p>
            <a:r>
              <a:t>Свободны от постоянной платы прямой вызов API и команда вроде </a:t>
            </a:r>
            <a:r>
              <a:rPr>
                <a:latin typeface="Consolas"/>
              </a:rPr>
              <a:t>gh</a:t>
            </a:r>
            <a:r>
              <a:t>. Списка возможностей, висящего в контексте между вызовами, у них нет: пока вызов не сделан, в контексте о них нет ничего.</a:t>
            </a:r>
          </a:p>
          <a:p/>
          <a:p>
            <a:r>
              <a:t>Отсюда вопрос к собственному проекту, который стоит задать себе прямо сейчас: сколько серверов подключено у вас и сколько инструментов они описывают? Эту плату вы вносите в каждой сессии — включая ту, в которой агент за день не сходил ни к одному серверу.</a:t>
            </a:r>
          </a:p>
          <a:p/>
          <a:p>
            <a:r>
              <a:t>Проверить режим у себя можно двумя действиями: посмотреть, не выставлена ли переменная </a:t>
            </a:r>
            <a:r>
              <a:rPr>
                <a:latin typeface="Consolas"/>
              </a:rPr>
              <a:t>ENABLE_TOOL_SEARCH=false</a:t>
            </a:r>
            <a:r>
              <a:t>, отключающая отложенную загрузку, и посмотреть, что реально показывает карточка конкретного сервера в сессии. Эта проверка не устаревает, в отличие от самой цифры.</a:t>
            </a:r>
          </a:p>
          <a:p/>
          <a:p>
            <a:r>
              <a:t>Почему цифра тогда названа вообще: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 Тот же эффект независимо подтверждён другой командой исследователей и в деньгах: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другая методика.</a:t>
            </a:r>
          </a:p>
          <a:p/>
          <a:p>
            <a:r>
              <a:t>Вывод из этого не «сервер подключать невыгодно». Выгодным его делает то, за что плата внесена: агент сам видит список операций и выбирает нужную. Там, где операция одна и известна заранее, платить за список незачем — и это ровно критерий, которым кейс закрывается.</a:t>
            </a:r>
          </a:p>
          <a:p/>
          <a:p>
            <a:r>
              <a:t>Остаётся объяснить, почему полная схема подтягивается не сразу.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со-сборки — тому, который стоило запомнить. Май 2025 года, разбор Invariant Labs.</a:t>
            </a:r>
          </a:p>
          <a:p/>
          <a:p>
            <a:r>
              <a:t>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этого пользователя и опубликуй здесь. Разработчик просит агента разобраться с открытыми задачами — просьба совершенно рядовая. Агент честно читает задачи; встроенная в текст инструкция попадает в контекст как задача, и от вашей она для модели неотличима. Дальше он читает приватные репозитории и публикует их содержимое в автоматически созданном публичном черновике правки.</a:t>
            </a:r>
          </a:p>
          <a:p/>
          <a:p>
            <a:r>
              <a:t>Ни одной строчки кода эксплойта в этой истории нет. Номера уязвимости тоже нет, и это не упущение: чинить нечего — это архитектурный класс, связка «широкие права плюс чужой текст», брешью в чьём-то коде он не является.</a:t>
            </a:r>
          </a:p>
          <a:p/>
          <a:p>
            <a:r>
              <a:t>Теперь на наш экран. Строку «все репозитории пользователя, включая приватные» мы вычеркнули на со-сборке. Без неё сценарий не проходит вообще: читать нечего, и первый шаг атаки упирается в права ключа.</a:t>
            </a:r>
          </a:p>
          <a:p/>
          <a:p>
            <a:r>
              <a:t>Сочетание, которое делает такую утечку возможной, названо смертельным трио (Simon Willison, 16 июня 2025): доступ к приватным данным, обработка недоверенного внешнего контента, канал наружу. При всех трёх атакующему достаточно написать текст, который агент прочитает в рамках обычной работы. Не хватает хотя бы одной ножки — атака этого типа невозможна в принципе, не «маловероятна».</a:t>
            </a:r>
          </a:p>
          <a:p/>
          <a:p>
            <a:r>
              <a:t>Обобщение здесь весит больше примера. GitHub стоит в примере потому, что ровно эту связку собирает наш кейс — трекер задач с персональным токеном. Но трио применимо к любому агенту, у которого есть доступ к данным, обработка текста и канал наружу, независимо от конкретного продукта. И читает агент тот же поток чужого текста, из которого в сцене потерялась строка требования: задачи в трекере пишет не только ваш заказчик.</a:t>
            </a:r>
          </a:p>
          <a:p/>
          <a:p>
            <a:r>
              <a:t>Второй слой того же устройства обходится без модели вообще. У MCP-сервера к базам данных нашли уязвимость транспорта: CVE-2026-61742, сервер DBHub, оценка 9,3 из 10. HTTP-транспорт по умолчанию слушает без аутентификации, а защита от межсайтовых запросов обходится подменой DNS (DNS rebinding). По вторичному техническому разбору — два HTTP-запроса и ноль учётных данных до захвата; это число взято из разбора Strix.ai, в первичной записи его нет, и называется оно с этой оговоркой.</a:t>
            </a:r>
          </a:p>
          <a:p/>
          <a:p>
            <a:r>
              <a:t>Подмена DNS работает так. DNS-имя домена атакующего сначала указывает на его собственный IP-адрес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 Произвольный сайт, открытый в браузере, дёргает инструменты сервера напрямую.</a:t>
            </a:r>
          </a:p>
          <a:p/>
          <a:p>
            <a:r>
              <a:t>Трио здесь не единственный путь к утечке: сервер сам может оказаться незащищённым сетевым сервисом, и этот случай именно такой. Открытость протокола от этого не защищает — открытость протокола и аутентификация конкретного сервера суть разные вещи, и в базе блока это уже отмечалось.</a:t>
            </a:r>
          </a:p>
          <a:p/>
          <a:p>
            <a:r>
              <a:t>Что из двух слоёв следует для собранного файла. Ключ с правами на один репозиторий закрывает первый слой целиком. Второй он не закрывает вовсе: там речь о том, как сервер слушает сеть, и решается это выбором транспорта — тем самым решением, которое принималось на со-сборке.</a:t>
            </a:r>
          </a:p>
          <a:p/>
          <a:p>
            <a:r>
              <a:t>И ответ на вопрос, зачем провал показан после того, как решение собрано. Собранное решение проверяется только попыткой его сломать. Строка, вычеркнутая без такой попытки, вычёркивается по привычке — и в день, когда привычка не сработает, вычеркнута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 По четыре строки с каждой стороны, и строки зеркальны — одна и та же величина с двух концов.</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сервер оправдан ровно тогда, когда список стоит своей цены.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данных достаточно. Готовности поддерживать живой процесс нет: разовый вызов надёжнее процесса, который никто не обслуживает. Задача сводится к одному известному вызову CLI: список возможностей здесь лишний, и тридцатидвухкратная разница по токенам никуда не денется. А если подключение достраивает трио — это стоп-критерий сразу, без размышлений.</a:t>
            </a:r>
          </a:p>
          <a:p/>
          <a:p>
            <a:r>
              <a:t>Колонки названы прямо, словами «нужен» и «не нужен», и сделано это осознанно. Формулировки вроде «ещё рано» или «не нужно вообще» приглашают гадать, о какой стадии решения речь, и прячут ответ за оттенком. Вопрос здесь один: нужен сервер для этой задачи или нет.</a:t>
            </a:r>
          </a:p>
          <a:p/>
          <a:p>
            <a:r>
              <a:t>Правая колонка относится к задаче. Приговора самому механизму в ней нет: тот же сервер для одной работы избыточен, для соседней необходим, и решается это каждый раз заново, по четырём строкам левой колонки.</a:t>
            </a:r>
          </a:p>
          <a:p/>
          <a:p>
            <a:r>
              <a:t>Зеркальность строк здесь работает как проверка: каждая правая строка получена из левой отрицанием одной величины, и ничего кроме. Первая пара меряет частоту, вторая — готовность держать процесс, третья — число операций, четвёртая — состав трио. Если ваш случай не укладывается ни в одну сторону какой-то пары, значит величина названа неточно, и разбираться надо с ней, не с выводом.</a:t>
            </a:r>
          </a:p>
          <a:p/>
          <a:p>
            <a:r>
              <a:t>Как приложить критерий к своему проекту сегодня: взять одно действие, которое вы повторяете руками каждую неделю, и пройти по четырём строкам левой колонки. Если хоть одна не выполняется, подключение подождёт. Ответ при этом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Отдельный случай — трио достроено, а доступ всё равно нужен. Тогда трио разрывают.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 и выбирают ту, которая дешевле обходится работе.</a:t>
            </a:r>
          </a:p>
          <a:p/>
          <a:p>
            <a:r>
              <a:t>И дисциплина после подключения, без которой критерий выдыхается за месяц: периодически перечитывать конфигурацию и убирать неиспользуемые серверы. Каждый забытый сервер — одновременно налог на контекст, поверхность атаки и держатель ключей.</a:t>
            </a:r>
          </a:p>
          <a:p/>
          <a:p>
            <a: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блока начинается в момент, когда ещё ничего не произошло. Сессия открыта, ни одного вопроса агенту не задано — и часть контекста уже занята.</a:t>
            </a:r>
          </a:p>
          <a:p/>
          <a:p>
            <a:r>
              <a:t>Занята она не разговором: разговора пока нет. И не файлами проекта, хотя они тоже там лежат. Четыре подключённых сервера описали себя при старте — так устроено подключение, которое собирали в первом случае блока. Клиент при запуске спрашивает каждый сервер, что тот умеет, и полученное кладёт в контекст, до первого вопроса человека и независимо от него.</a:t>
            </a:r>
          </a:p>
          <a:p/>
          <a:p>
            <a:r>
              <a:t>За всю задачу этот человек обратится к одному серверу из четырёх. Плата внесена за все четыре.</a:t>
            </a:r>
          </a:p>
          <a:p/>
          <a:p>
            <a:r>
              <a:t>Поворот случая стоит назвать сразу, потому что он прямо спорит с распространённой интуицией. Интуиция говорит: «я плачу за то, чем пользуюсь; сервер, к которому агент не обращался, ничего мне не стоит». Проверка говорит обратное: плату вносит подключённость. Сервер, к которому за сессию не обратились ни разу, стоит столько же, сколько рабочий. И платится это заново в каждой сессии — каждое утро, при каждом открытии.</a:t>
            </a:r>
          </a:p>
          <a:p/>
          <a:p>
            <a:r>
              <a:t>Отличие от первого случая блока проходит по тому, что решается. Первый решал, что подключать, с какими правами и чем доказать, что агент через подключённое действительно ходит. Этот — про счёт: во что обходится само присутствие сервера в проекте, пока к нему никто не обращается, и чем эту плату уменьшают, не отключая нужное.</a:t>
            </a:r>
          </a:p>
          <a:p/>
          <a:p>
            <a:r>
              <a:t>От слайда о постоянной плате из первого случая этот случай отличается масштабом и составом. Там плата названа и измерена на одном сервере — как цена решения подключить. Здесь серверов несколько, половину в проект добавил другой человек, и вопрос стоит иначе: что с этим делать, когда отключить нельзя и когда выбор был не ваш.</a:t>
            </a:r>
          </a:p>
          <a:p/>
          <a:p>
            <a:r>
              <a:t>Возражение «так контекст же большой» появляется здесь почти всегда и разбирается дальше в кейсе предметно: сколько именно занимают описания в измеренном случае и в какой момент большого контекста перестаёт хватать.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Трекер задач в проектном файле подключения — его собственный, из первого случая блока. Он его собирал: перечислял операции, вычёркивал лишние права, прятал ключ в переменную окружения, выбирал проектную область, чтобы подключение приехало вместе с репозиторием ко всей команде.</a:t>
            </a:r>
          </a:p>
          <a:p/>
          <a:p>
            <a:r>
              <a:t>Ещё три сервера дописал в тот же файл коллега под свою работу: сервер управления браузером, сервер доступа к базе данных, сервер документации. Область проектная — значит эти три подключились и у него, в тот же момент, когда он в очередной раз открыл сессию в своём репозитории. Свойство, за которое платили осознанно, вернулось другой стороной: подключение едет вместе с репозиторием в обе стороны.</a:t>
            </a:r>
          </a:p>
          <a:p/>
          <a:p>
            <a:r>
              <a:t>Что он заметил. На длинной правке агент сжал разговор заметно раньше, чем на такой же задаче неделей раньше, и после сжатия переспросил то, о чём они договорились в начале. Сжатие — штатная вещь: когда контекст заполняется, разговор уплотняется, и часть подробностей заменяется их пересказом. Заметен здесь был сдвиг момента: уплотнение пришло раньше привычного.</a:t>
            </a:r>
          </a:p>
          <a:p/>
          <a:p>
            <a:r>
              <a:t>Из чего набрано. Он посмотрел, что лежит в контексте до его первого вопроса: системная часть от клиента, файлы инструкций проекта, описания инструментов четырёх серверов. В чужих строках файла подключения нашлось поле </a:t>
            </a:r>
            <a:r>
              <a:rPr>
                <a:latin typeface="Consolas"/>
              </a:rPr>
              <a:t>alwaysLoad: true</a:t>
            </a:r>
            <a:r>
              <a:t> у двух серверов. Оно отменяет отложенную загрузку описаний: все инструменты этих серверов описываются при старте целиком. Коллега поставил флаг по понятной причине — чтобы инструменты не терялись и были доступны сразу.</a:t>
            </a:r>
          </a:p>
          <a:p/>
          <a:p>
            <a:r>
              <a:t>Цена. Час на то, чтобы заново проговорить решения, потерянные при сжатии: что уже согласовано, что отменено, какой из двух вариантов выбран. Одна правка успела уехать в ветку по решению, которое он к тому моменту уже отменил, — её пришлось откатывать отдельно.</a:t>
            </a:r>
          </a:p>
          <a:p/>
          <a:p>
            <a:r>
              <a:t>Счёт. За всю задачу он обратился к одному серверу из четырёх. Плата внесена за четыре.</a:t>
            </a:r>
          </a:p>
          <a:p/>
          <a:p>
            <a:r>
              <a:t>Сцена учебная, как и все сцены занятия: проект настоящий, ситуация собрана из типовых. Доли контекста в ней намеренно не названы — измеренные числа идут дальше в кейсе и всегда с источником, потому что учебная оценка, выданная за замер, обошлась бы дороже отсутствия числа. Поле </a:t>
            </a:r>
            <a:r>
              <a:rPr>
                <a:latin typeface="Consolas"/>
              </a:rPr>
              <a:t>alwaysLoad: true</a:t>
            </a:r>
            <a:r>
              <a:t> при этом не придумано для сцены: оно есть в документации, и документация прямо называет его цену — каждый описанный вперёд инструмент занимает место, которое иначе досталось бы разговору.</a:t>
            </a:r>
          </a:p>
          <a:p/>
          <a:p>
            <a:r>
              <a:t>Утверждать, что сжатие пришло именно из-за серверов, по одному наблюдению нельзя, и сцена этого не утверждает. Сжатие приходит, когда контекст заполнен; описания инструментов — одна из статей заполнения, занятая до начала работы. Доля каждой статьи у каждого своя и проверяется тем же способом, которым он и посмотрел.</a:t>
            </a:r>
          </a:p>
          <a:p/>
          <a:p>
            <a:r>
              <a:t>Право коллеги дописывать в этот файл вопросов не вызывает: файл один, лежит в репозитории под общим управлением версиями, и правка в нём — обычный коммит. Проектная область на то и проектная. Выбирая её в первом случае, покупали ровно это свойство: подключение приезжает вместе с репозиторием, и собирать его заново никому не нужно. Побочный его эффект виден здесь — платит контекстом каждый, кто открывает сессию, включая тех, кому эти серверы не нужны ни в одной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Начинается это со своих двух чисел. Сколько серверов подключено в вашем рабочем проекте — и к скольким из них вы обращались за последнюю рабочую неделю? Оба числа узнаются за минуту: список подключённых серверов открывается одной командой, а обращения за неделю человек помнит сам. Разница между этими числами и есть та часть счёта, о которой идёт весь случай, только своя, а не из сцены.</a:t>
            </a:r>
          </a:p>
          <a:p/>
          <a:p>
            <a:r>
              <a:t>Обстановка сцены предъявлена целиком на двух предыдущих экранах: четыре сервера подключены проектным файлом, два из них грузят описания принудительно, за задачу понадобился один. Вопрос не вводит ни одного нового обстоятельства и спрашивает про два шага — что ставится первым и что добавляется к этому следующим.</a:t>
            </a:r>
          </a:p>
          <a:p/>
          <a:p>
            <a:r>
              <a:t>Пять карточек: ничего — контекст большой, хватит; отключить серверы, которыми не пользуетесь; оставить подключёнными, но получать описания по требованию; держать набор серверов под задачу, не общий проектный; чаще сжимать разговор.</a:t>
            </a:r>
          </a:p>
          <a:p/>
          <a:p>
            <a:r>
              <a:t>Двухшаговая форма вопроса выбрана потому, что ответ здесь — последовательность. Карточки выглядят как взаимоисключающие варианты, и при одиночном выборе разговор вырождается в спор о том, какая лучше.</a:t>
            </a:r>
          </a:p>
          <a:p/>
          <a:p>
            <a:r>
              <a:t>Ответы распределяются предсказуемо, и каждое распределение означает своё.</a:t>
            </a:r>
          </a:p>
          <a:p/>
          <a:p>
            <a:r>
              <a:t>Чаще других называют «отключить лишние» и «получать описания по требованию» — примерно поровну. Это рабочее деление: обе меры действуют, и стоят они разного. Одна требует заранее знать, что понадобится в этой сессии; вторая не требует ничего и часто уже включена по умолчанию. Разбор показывает, что это два шага одной последовательности с разной ценой, и ставит их в порядок.</a:t>
            </a:r>
          </a:p>
          <a:p/>
          <a:p>
            <a:r>
              <a:t>«Чаще сжимать разговор» звучит почти всегда и ошибается в механике. Сжатие работает с историей разговора; описания инструментов приходят в каждый новый контекст заново, отдельно от истории, и сжатием не уходят.</a:t>
            </a:r>
          </a:p>
          <a:p/>
          <a:p>
            <a:r>
              <a:t>«Пусть коллега уберёт свои серверы» — ход законный и хрупкий. Серверы коллеге нужны ровно так же, как первому человеку нужен трекер, а проектный файл один на всех. Этот ход приводит ровно к четвёртой карточке: набор серверов разводится по областям, и спор о чужих строках становится ненужным.</a:t>
            </a:r>
          </a:p>
          <a:p/>
          <a:p>
            <a:r>
              <a:t>«Ничего — контекст большой» выбирают редко, и назвать это стоит вслух: именно «ничего» происходит по умолчанию у каждого, кто ни разу не смотрел, из чего набран контекст его сессии до первого вопроса. Невыбранный вариант оказывается самым распространённым на практике.</a:t>
            </a:r>
          </a:p>
          <a:p/>
          <a:p>
            <a:r>
              <a:t>Счёт со сцены полезно держать в голове всё время разбора: обращение за задачу было к одному серверу, плата внесена за четыре.</a:t>
            </a:r>
          </a:p>
          <a:p/>
          <a:p>
            <a:r>
              <a:t>Если своих двух чисел под рукой не оказалось, их стоит добрать до разбора: список подключённых серверов открывается одной командой, обращения за неделю считаются по памяти. Пока эта разница не названа в штуках, случай читается как чужой.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разбор стоит с мысли, вынесенной в поворот кейса тремя экранами раньше: платит сама подключённость. Она относится ко всем пяти вариантам сразу, и поэтому вопрос «кто чем пользовался» счёт не уменьшает — он уменьшает только ощущение вины за чужие строки.</a:t>
            </a:r>
          </a:p>
          <a:p/>
          <a:p>
            <a:r>
              <a:t>«Ничего — контекст большой» на короткой задаче незаметно, и это правда: пока разговор короткий, запаса хватает. Плата при этом уже внесена и держится весь сеанс. На длинной задаче она превращается в сдвиг момента сжатия: разговор уплотняется раньше, и часть принятых решений уходит в пересказ. Расплачивается за это середина работы, когда возвращаться к началу дороже всего.</a:t>
            </a:r>
          </a:p>
          <a:p/>
          <a:p>
            <a:r>
              <a:t>«Отключить серверы, которыми не пользуетесь» снимает плату целиком, и это сильный ход: у неподключённого сервера в контексте нет ни имён инструментов, ни инструкции о себе. Цена в том, что нужно заранее знать, что понадобится. Отключённый нужный сервер возвращает ту самую работу руками, с которой начинался первый случай блока: открыть трекер в браузере, скопировать, перенести, пересказать агенту.</a:t>
            </a:r>
          </a:p>
          <a:p/>
          <a:p>
            <a:r>
              <a:t>«Получать описания по требованию» оставляет при старте имена инструментов и короткую инструкцию сервера о себе; полную схему инструмента модель подтягивает, когда решила, что он понадобился. Это поведение по умолчанию на актуальных моделях — значит действие здесь проверочное: смотрят, не отменил ли отсрочку флаг у отдельного сервера или переменная окружения. Проверка стоит минуты и ничего не ломает.</a:t>
            </a:r>
          </a:p>
          <a:p/>
          <a:p>
            <a:r>
              <a:t>«Держать набор серверов под задачу» работает через области подключения: личная область даёт набор под вашу работу, общий проектный файл при этом остаётся командным. Цена — вторая запись о том, что подключено: расхождение личного и проектного набора придётся держать в голове и помнить при разборе чужой неполадки.</a:t>
            </a:r>
          </a:p>
          <a:p/>
          <a:p>
            <a:r>
              <a:t>«Чаще сжимать разговор» освобождает место, занятое историей, и к описаниям инструментов не относится вовсе: они приходят заново в каждый контекст, отдельно от истории. Мера полезная, но на эту статью расхода она не действует.</a:t>
            </a:r>
          </a:p>
          <a:p/>
          <a:p>
            <a:r>
              <a:t>Отсюда порядок, и он важнее выбора одной карточки. Сначала проверить режим загрузки описаний: это ничего не стоит, не требует согласования с командой и не требует знать, что понадобится в следующей задаче, — и закрывает половину счёта сразу. Потом разобрать набор серверов по областям: это настоящая работа, её делают один раз, и она требует и согласования, и представления о своих задачах.</a:t>
            </a:r>
          </a:p>
          <a:p/>
          <a:p>
            <a:r>
              <a:t>Вычистить чужие серверы из проектного файла можно, и иногда это правильное решение — но решение командное. Коллеге они нужны так же, как первому человеку трекер. Личная область закрывает тот же вопрос, никому ничего не ломая, и потому стоит раньше в порядке действий.</a:t>
            </a:r>
          </a:p>
          <a:p/>
          <a:p>
            <a:r>
              <a:t>Отключить вообще всё и подключать по необходимости — рабочий режим для одиночной работы и плохой для общей. Подключение из проектного файла приезжает вместе с репозиторием именно затем, чтобы каждый не собирал окружение заново и чтобы состав подключённого был одинаковым у всех, кто разбирает одну неполадку.</a:t>
            </a:r>
          </a:p>
          <a:p/>
          <a:p>
            <a:r>
              <a:t>Стоит заметить, что две работающие меры действуют на разные части счёта и потому складываются. Проверка режима уменьшает то, сколько занимает описание каждого подключённого сервера. Разбор набора уменьшает число подключённых серверов. Сделанные вместе, они дают результат, которого ни одна из них по отдельности не даёт: короткое описание у небольшого числа нужных серверов.</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Причина сжатия находится до начала разговора. Вот что лежит в контексте к моменту, когда вы ещё ничего не спросили, и откуда каждая статья приходит.</a:t>
            </a:r>
          </a:p>
          <a:p/>
          <a:p>
            <a:r>
              <a:t>Системная часть — от клиента. Его собственные инструкции и описания его собственных инструментов: чтение файлов, правка, поиск, запуск команд. Эта статья есть всегда и от подключённых серверов не зависит.</a:t>
            </a:r>
          </a:p>
          <a:p/>
          <a:p>
            <a:r>
              <a:t>Файлы инструкций проекта — из репозитория. Их состав собран за три предыдущих занятия, и разбирать его повторно незачем; здесь они нужны как соседняя статья расхода, которая занимает место в том же контексте.</a:t>
            </a:r>
          </a:p>
          <a:p/>
          <a:p>
            <a:r>
              <a:t>От каждого подключённого сервера приходят две вещи. Первая — имена всех его инструментов. Вторая — инструкция сервера о себе: короткий текст, который сервер присылает целиком, один на весь сервер. Обе статьи приходят по факту подключения, без всякой связи с тем, обращался к серверу кто-нибудь или нет. Длина обеих ограничена: клиент обрезает и описание каждого инструмента, и инструкцию каждого сервера по 2 048 символов, предел меняется переменной </a:t>
            </a:r>
            <a:r>
              <a:rPr>
                <a:latin typeface="Consolas"/>
              </a:rPr>
              <a:t>CLAUDE_CODE_MAX_MCP_DESCRIPTION_LENGTH</a:t>
            </a:r>
            <a:r>
              <a:t>. Ограничение здесь неслучайное: без него один разговорчивый сервер занял бы контекст в одиночку.</a:t>
            </a:r>
          </a:p>
          <a:p/>
          <a:p>
            <a:r>
              <a:t>Полные схемы инструментов при старте не приходят. Документация описывает это прямо: отложенная загрузка держит расход на MCP низким, откладывая определения инструментов до момента, когда они понадобятся; при старте сессии загружаются только имена инструментов и инструкции серверов. Схему конкретного инструмента модель подтягивает отдельным ходом, когда решила, что он может понадобиться. Это поведение по умолчанию на актуальных моделях, и именно оно делает четвёртый подключённый сервер терпимым.</a:t>
            </a:r>
          </a:p>
          <a:p/>
          <a:p>
            <a:r>
              <a:t>Отсрочку отменяют два механизма, и оба стоит знать по именам.</a:t>
            </a:r>
          </a:p>
          <a:p/>
          <a:p>
            <a:r>
              <a:t>Поле </a:t>
            </a:r>
            <a:r>
              <a:rPr>
                <a:latin typeface="Consolas"/>
              </a:rPr>
              <a:t>alwaysLoad: true</a:t>
            </a:r>
            <a:r>
              <a:t> у отдельного сервера в файле подключения грузит все его схемы сразу, независимо от общего режима. Тот самый флаг, который нашёлся в чужих строках. Документация называет его цену прямо: каждый описанный вперёд инструмент занимает место, которое иначе досталось бы разговору.</a:t>
            </a:r>
          </a:p>
          <a:p/>
          <a:p>
            <a:r>
              <a:t>Переменная окружения </a:t>
            </a:r>
            <a:r>
              <a:rPr>
                <a:latin typeface="Consolas"/>
              </a:rPr>
              <a:t>ENABLE_TOOL_SEARCH</a:t>
            </a:r>
            <a:r>
              <a:t> управляет режимом целиком. Незаданная, она означает отсрочку — поведение по умолчанию. Значение </a:t>
            </a:r>
            <a:r>
              <a:rPr>
                <a:latin typeface="Consolas"/>
              </a:rPr>
              <a:t>false</a:t>
            </a:r>
            <a:r>
              <a:t> отменяет отсрочку полностью: все определения грузятся сразу. Значение </a:t>
            </a:r>
            <a:r>
              <a:rPr>
                <a:latin typeface="Consolas"/>
              </a:rPr>
              <a:t>auto</a:t>
            </a:r>
            <a:r>
              <a:t> включает пороговый режим: определения грузятся сразу, пока занимают меньше десяти процентов контекста, и откладываются при достижении порога; форма </a:t>
            </a:r>
            <a:r>
              <a:rPr>
                <a:latin typeface="Consolas"/>
              </a:rPr>
              <a:t>auto:N</a:t>
            </a:r>
            <a:r>
              <a:t> задаёт свой процент вместо десяти.</a:t>
            </a:r>
          </a:p>
          <a:p/>
          <a:p>
            <a:r>
              <a:t>Когда отсрочки нет, счёт идёт по полным схемам, и измеренный порядок величины известен: 93 определения инструментов — от 42 000 до 55 000 токенов, около 21 процента контекста размером 200 000 токенов. Та же цифра стоит в первом случае блока как цена подключения. Здесь видно, в каком режиме она набирается, и это важная оговорка: 42–55 тысяч — верхняя граница для режима без отсрочки. По умолчанию сессия обходится дешевле, и насколько именно — зависит от того, сколько инструментов за эту сессию реально понадобилось.</a:t>
            </a:r>
          </a:p>
          <a:p/>
          <a:p>
            <a:r>
              <a:t>Проверить это у себя можно двумя взглядами. Список подключённых серверов и их состояние даёт команда статуса; карточка сервера внутри сессии показывает, что именно он о себе описал. Значение переменной проверяется там же, где вы смотрите остальное окружение проекта. Точного счёта токенов по каждому серверу эти два взгляда не дают — величину приходится брать из внешнего замера, и названа она выше именно как порядок величины.</a:t>
            </a:r>
          </a:p>
          <a:p/>
          <a:p>
            <a:r>
              <a:t>Отдельная ось расхода, которую полезно не путать с этой: размер результата вызова. Описание инструмента — плата за подключённость; ответ инструмента — плата за одно обращение. Статьи разные, растут независимо, и меры против них разные.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строки решения, и первые две — проверка; настройки они не меняют.</a:t>
            </a:r>
          </a:p>
          <a:p/>
          <a:p>
            <a:r>
              <a:t>Первая. В файле подключения </a:t>
            </a:r>
            <a:r>
              <a:rPr>
                <a:latin typeface="Consolas"/>
              </a:rPr>
              <a:t>.mcp.json</a:t>
            </a:r>
            <a:r>
              <a:t> у двух серверов снят </a:t>
            </a:r>
            <a:r>
              <a:rPr>
                <a:latin typeface="Consolas"/>
              </a:rPr>
              <a:t>alwaysLoad: true</a:t>
            </a:r>
            <a:r>
              <a:t>: описания их инструментов снова приходят по требованию. Флаг имеет законное применение, и совсем его запрещать неразумно — инструмент, который нужен буквально на каждом шаге, дешевле описать один раз при старте, чем подтягивать его схему перед каждым обращением. Поэтому флаг оставляют одному такому инструменту и рядом записывают, какому и почему. Исключение без записанной причины через месяц неотличимо от случайной строки, и следующий человек либо снесёт его вслепую, либо побоится тронуть.</a:t>
            </a:r>
          </a:p>
          <a:p/>
          <a:p>
            <a:r>
              <a:t>Вторая. В окружении проекта </a:t>
            </a:r>
            <a:r>
              <a:rPr>
                <a:latin typeface="Consolas"/>
              </a:rPr>
              <a:t>ENABLE_TOOL_SEARCH</a:t>
            </a:r>
            <a:r>
              <a:t> не выставлен в </a:t>
            </a:r>
            <a:r>
              <a:rPr>
                <a:latin typeface="Consolas"/>
              </a:rPr>
              <a:t>false</a:t>
            </a:r>
            <a:r>
              <a:t>. Это проверка одного значения, и она стоит минуты. Пороговое значение вида </a:t>
            </a:r>
            <a:r>
              <a:rPr>
                <a:latin typeface="Consolas"/>
              </a:rPr>
              <a:t>auto:10</a:t>
            </a:r>
            <a:r>
              <a:t> — осмысленный компромисс для тех, кому важна скорость первого обращения: пока определения занимают меньше названной доли контекста, они грузятся сразу, а при достижении порога уходят в отсрочку.</a:t>
            </a:r>
          </a:p>
          <a:p/>
          <a:p>
            <a:r>
              <a:t>Третья строка живёт на стороне самого сервера. В команде запуска передаются только нужные наборы инструментов: </a:t>
            </a:r>
            <a:r>
              <a:rPr>
                <a:latin typeface="Consolas"/>
              </a:rPr>
              <a:t>--toolsets repos,issues</a:t>
            </a:r>
            <a:r>
              <a:t> вместо полного набора. Официальный сервер GitHub объясняет назначение этого флага своими словами: включение только нужных наборов помогает модели с выбором инструмента и уменьшает размер контекста. Сервер, который умеет отдавать свои инструменты наборами, снимает часть платы раньше, чем она дойдёт до клиента.</a:t>
            </a:r>
          </a:p>
          <a:p/>
          <a:p>
            <a:r>
              <a:t>Здесь же — оговорка о свежести флагов, и это проверенный случай с номером запроса правок и датой. У того же сервера GitHub существовал режим выдачи наборов по требованию: флаг </a:t>
            </a:r>
            <a:r>
              <a:rPr>
                <a:latin typeface="Consolas"/>
              </a:rPr>
              <a:t>--dynamic-toolsets</a:t>
            </a:r>
            <a:r>
              <a:t>, переменная окружения </a:t>
            </a:r>
            <a:r>
              <a:rPr>
                <a:latin typeface="Consolas"/>
              </a:rPr>
              <a:t>GITHUB_DYNAMIC_TOOLSETS</a:t>
            </a:r>
            <a:r>
              <a:t> и три служебных инструмента для перечисления и включения наборов. В описании версии 1.0.0 слово </a:t>
            </a:r>
            <a:r>
              <a:rPr>
                <a:latin typeface="Consolas"/>
              </a:rPr>
              <a:t>dynamic</a:t>
            </a:r>
            <a:r>
              <a:t> встречается одиннадцать раз; начиная с версии 1.1.0 — ни разу, и в коде его тоже нет. Удалён режим одним запросом на внесение правок в мае 2026 года: двадцать четыре файла, пятьдесят одна строка добавлена, девятьсот сорок две удалены. Причина, названная автором, — долг по поддержке и то, что режим работал только локально, удалённый сервер его никогда не предлагал. Вывода «идея не работает» в запросе нет, и приписывать его нельзя.</a:t>
            </a:r>
          </a:p>
          <a:p/>
          <a:p>
            <a:r>
              <a:t>Урок из этой оговорки общий, и он про обычную судьбу флага. Поиск по-прежнему выдаёт страницу прежней версии, она читается как действующая инструкция, и отличить её от действующей по виду невозможно. Проверяется это одним способом: открыть описание текущей версии сервера и найти флаг там.</a:t>
            </a:r>
          </a:p>
          <a:p/>
          <a:p>
            <a:r>
              <a:t>Четвёртая строка — единственная, которая требует работы. Серверы под свою личную работу переносятся в личную область подключения: тот же файл настроек пользователя, который разбирался, когда выбирали, куда положить ключ. Проектный файл остаётся командным, и чужие серверы из него никто не выбрасывает. Держать всё в проектном файле проще, пока наборы у всех совпадают; как только работа расходится, общий файл берёт с каждого плату за все работы сразу — ровно то, что произошло в сцене.</a:t>
            </a:r>
          </a:p>
          <a:p/>
          <a:p>
            <a:r>
              <a:t>В сцене всё было устроено наоборот: флаг стоял, поставил его один человек, а платил каждый, кто открывал сессию.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за пределами этого проекта, с источниками. Четыре случая, каждый прочитан по первоисточнику.</a:t>
            </a:r>
          </a:p>
          <a:p/>
          <a:p>
            <a:r>
              <a:t>Начать стоит с того, чего в этих источниках нет.</a:t>
            </a:r>
          </a:p>
          <a:p/>
          <a:p>
            <a:r>
              <a:rPr b="1"/>
              <a:t>Эту историю часто пересказывают как отказ компаний от MCP — бывает, что и с именами крупных компаний. По первоисточникам это не подтверждается ни в одном случае. Подтверждается другое: описания инструментов убрали со старта контекста, а серверы оставили.</a:t>
            </a:r>
            <a:r>
              <a:t> Ни одна из команд, у которых по этой теме есть публичный первоисточник, протокол не бросила и свои серверы не сняла; у имён, которые ходят в пересказе, публичного заявления по теме не нашлось вовсе — ни подтверждающего, ни опровергающего.</a:t>
            </a:r>
          </a:p>
          <a:p/>
          <a:p>
            <a:r>
              <a:t>У самого автора протокола это сказано дословно: ход взамен — «представлять MCP-серверы кодовым интерфейсом». Серверы остаются на месте, меняется способ, которым их описания доходят до модели. Отказ во всех четырёх случаях ниже касается ровно одной практики — грузить описания всех инструментов в контекст заранее.</a:t>
            </a:r>
          </a:p>
          <a:p/>
          <a:p>
            <a:r>
              <a:t>Первый случай: проблему назвал сам автор протокола. «Определения инструментов перегружают контекст» — так открывается его собственный разбор в инженерном блоге, опубликованный 4 ноября 2025 года. Ход взамен предложен такой: представлять серверы кодовым интерфейсом, который агент читает по требованию с файловой системы, вместо прямого перечисления инструментов. В разобранном в статье примере расход падает со 150 000 токенов до 2 000. Пример конкретный — два названных сервера, — и методика замера на странице не раскрыта, поэтому как порядок величины он полезен, а как отраслевая норма не читается. Серверы в этом ходе остаются на месте: меняется способ, которым описания доходят до модели.</a:t>
            </a:r>
          </a:p>
          <a:p/>
          <a:p>
            <a:r>
              <a:t>Второй случай: счёт на пяти серверах, из документации того же производителя. Набор из GitHub, Slack, Sentry, Grafana и Splunk занимает около 55 000 токенов определений до начала работы. Отложенная загрузка снимает больше 85 процентов этого расхода, подтягивая 3–5 инструментов, которые нужны конкретному запросу. Это независимое подтверждение цифры, которая стоит в первом случае блока как цена подключения, — теперь из второго источника. Там же названа вторая, неденежная граница: точность выбора инструмента падает, когда доступных инструментов становится больше 30–50.</a:t>
            </a:r>
          </a:p>
          <a:p/>
          <a:p>
            <a:r>
              <a:t>Третий случай: команда сократила собственный набор. Встроенных инструментов было 40, оставили 13 основных — и замерили результат на двух наборах задач с двумя моделями: успешность выросла на 2–5 процентных пунктов. Там же стоит жёсткий предел площадки: не больше 128 инструментов на один запрос, при превышении запрос отклоняется. Публикация датирована 19 ноября 2025 года.</a:t>
            </a:r>
          </a:p>
          <a:p/>
          <a:p>
            <a:r>
              <a:t>Четвёртый случай обратный, и стоит он последним намеренно. Другая команда попробовала подгружать инструменты по требованию и отказалась от этого. Причины названы две. Определения инструментов лежат в начале контекста, поэтому любое изменение набора посреди работы обнуляет кэш для всего, что идёт дальше. И модель путается, когда прошлые шаги ссылаются на инструмент, которого в текущем наборе уже нет. Ход взамен — маскировать лишние инструменты, оставляя их определения на месте.</a:t>
            </a:r>
          </a:p>
          <a:p/>
          <a:p>
            <a:r>
              <a:t>Отсюда практический вывод, и он скромнее, чем хочется. Одинакового ответа у отрасли нет: четвёртая строка прямо обратна трём первым, и обе позиции подкреплены работающей практикой. Что остаётся делать в такой ситуации — посмотреть, в каком режиме описания грузятся у вас, и держать набор под задачу. Это те два действия, которые работают при любом из четырёх подходов.</a:t>
            </a:r>
          </a:p>
          <a:p/>
          <a:p>
            <a:r>
              <a:t>Граница «30–50 инструментов» заслуживает отдельного внимания, потому что она дороже денежной. Переполнение контекста стоит токенов, и это видно в счёте. Падение точности выбора означает, что агент берёт неподходящий инструмент, — это видно по результату работы, а счёт при этом молчит. Ошибка без строки в счёте находится дольше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Прямой ответ на вопрос, сколько серверов держать подключёнными, состоит из трёх условий и четырёх запретов.</a:t>
            </a:r>
          </a:p>
          <a:p/>
          <a:p>
            <a:r>
              <a:t>Держать сервер подключённым в проектном файле стоит, когда он нужен в большинстве сессий этого проекта и им пользуется команда. Когда описания его инструментов приходят по требованию, и это проверено. И когда наборов инструментов у него столько, сколько нужно задаче, а остальное сервер держит выключенным.</a:t>
            </a:r>
          </a:p>
          <a:p/>
          <a:p>
            <a:r>
              <a:t>Четыре вещи не стоит делать никогда.</a:t>
            </a:r>
          </a:p>
          <a:p/>
          <a:p>
            <a:r>
              <a:t>Держать в общем проектном файле то, что нужно одному человеку. Для этого есть личная область подключения, и она решает тот же вопрос, не беря плату с остальных.</a:t>
            </a:r>
          </a:p>
          <a:p/>
          <a:p>
            <a:r>
              <a:t>Ставить флаг принудительной загрузки описаний, не записав рядом причину. Через месяц это чужая строка без объяснения, и следующий человек либо снесёт её вслепую, либо не тронет из осторожности. Ни то, ни другое не решение.</a:t>
            </a:r>
          </a:p>
          <a:p/>
          <a:p>
            <a:r>
              <a:t>Полагаться на флаг, найденный поиском. Флаги появляются и исчезают; страница прежней версии читается как действующая инструкция и по виду от неё не отличается. Проверяется это по описанию текущей версии сервера.</a:t>
            </a:r>
          </a:p>
          <a:p/>
          <a:p>
            <a:r>
              <a:t>И четвёртое, которое стоит остальных вместе: считать, что большой контекст снимает вопрос. Точность выбора инструмента падает, когда доступных инструментов больше 30–50, и переполнение здесь ни при чём. Переполнение стоит токенов и видно в счёте; неподходящий выбранный инструмент виден только по результату работы, и счёт при этом молчит.</a:t>
            </a:r>
          </a:p>
          <a:p/>
          <a:p>
            <a:r>
              <a:t>Предел 30–50 относится к инструментам, не к серверам, и это расхождение стоит держать в голове. Один сервер приносит и десять инструментов, и сорок. Счёт поэтому ведут по инструментам, а решения принимают по серверам — подключить, отключить, перенести в личную область. В зазоре между двумя единицами счёта легко недосчитаться: четыре сервера звучат скромно, а инструментов за ними может стоять полторы сотни.</a:t>
            </a:r>
          </a:p>
          <a:p/>
          <a:p>
            <a:r>
              <a:t>Пересматривать набор стоит по событию: когда добавляется новый сервер и когда меняется задача проекта. Тот же структурный критерий работал в первом случае блока. Сервер, который нужен редко, но по-настоящему, живёт в личной области и подключается на время работы с ним: плата идёт за подключённость, значит отключённый он не стоит ничего.</a:t>
            </a:r>
          </a:p>
          <a:p/>
          <a:p>
            <a:r>
              <a:t>Чем кончилось у разработчика из сцены: два флага принудительной загрузки сняты, свои серверы он перенёс в личную область, в проектном файле осталось то, что нужно всей команде. Сжатие на следующей длинной задаче пришло позже — единственное, что он замерил, и выдуманного процента здесь не будет.</a:t>
            </a:r>
          </a:p>
          <a:p/>
          <a:p>
            <a:r>
              <a:t>В конфигурации проекта теперь пять файлов: к четырём, с которых начиналось занятие, добавился </a:t>
            </a:r>
            <a:r>
              <a:rPr>
                <a:latin typeface="Consolas"/>
              </a:rPr>
              <a:t>.mcp.json</a:t>
            </a:r>
            <a:r>
              <a:t>. Он дал агенту руки — под правами, которые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расхода. Следующий вопрос — что в этот контекст всё равно не помещается, когда работы становится больше.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 часть работы уходит отдельному исполнителю со своим контекстом, и стоит это ноль строчек настройки.</a:t>
            </a:r>
          </a:p>
          <a:p/>
          <a:p>
            <a:r>
              <a:t>Связь с предыдущим блоком тут прямая, хотя ходы направлены в разные стороны. Доступ наружу увеличивает то, что агент способен сделать сам за один присест: он сам смотрит открытые задачи, сам читает документацию, сам проверяет состояние внешней системы. Вместе с объёмом работы растёт объём чтения, которое эта работа втягивает в контекст сессии. Предел у двух ходов общий — место в контексте; первый ход расходует его быстрее, чем расходовал бы агент, запертый в репозитории.</a:t>
            </a:r>
          </a:p>
          <a:p/>
          <a:p>
            <a:r>
              <a:t>Первая развилка ступени — цена поиска, который нужен, чтобы продолжить работу здесь же. Пропорция в заголовке описывает её целиком: открыть надо сорок файлов, нужных мест среди них четыре. Числа не подогнаны под вывод — они из рабочей ситуации, которая разбирается через три экрана: обычный продукт, где одно правило разъехалось по кодовой базе за два года, и разработчик, которому перед правкой нужен список мест, где это правило проверяется.</a:t>
            </a:r>
          </a:p>
          <a:p/>
          <a:p>
            <a:r>
              <a:t>Пара чисел в заголовке измеряет одну вещь, которую легко не заметить: объём чтения не связан с размером вывода. Вывод здесь — четыре адреса, его можно записать в одну строку; чтобы его получить, надо открыть сорок файлов. Эта несвязанность и делает развилку развилкой: если бы объём чтения был пропорционален размеру ответа, вопрос «куда девать это чтение» не возникал бы вовсе — читать пришлось бы ровно столько, сколько весит результат. Дорожка внизу экрана показывает, что это первый из трёх разборов ступени; два следующих стоят на других причинах заводить субагента.</a:t>
            </a:r>
          </a:p>
          <a:p/>
          <a:p>
            <a:r>
              <a:t>И здесь же стоит назвать догадку, которая приходит на этом месте почти каждому: отдельный исполнитель просто прочитает эти сорок файлов быстрее. Запомните её. Разбор проверит её счётом файлов, и она не подтвердится — поворот этого случая держится именно на ней, и работает он только если догадка произнесена до разбора. Задавленная догадка возвращается через неделю целой, поэтому проговорить её стоит вслух.</a:t>
            </a:r>
          </a:p>
          <a:p/>
          <a:p>
            <a:r>
              <a:t>Вопрос «зачем» задан раньше вопроса «что это такое» намеренно: устройство субагента, прочитанное без причины, запоминается как описание формата файла. Следующие два экрана отвечают на «что это такое» — чем агент отличается от субагента, из чего собран контекст каждого и как субагент устроен по частям. Сцена, вопрос и разбор идут после них.</a:t>
            </a:r>
          </a:p>
          <a:p/>
          <a:p>
            <a:r>
              <a:t>Про цену самого хода стоит сказать заранее, чтобы «ноль строчек настройки» не читалось как «ноль цены». Завести субагента действительно стоит нуля настроек: один файл в репозитории, и он уже работает. Платится масштабом — мультиагентная работа обходится дороже обычного чата, и цифра для неё стоит шестым блоком на одностраничнике субагента.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слова дальше всё время стоят рядом, и развести их стоит сразу. </a:t>
            </a:r>
            <a:r>
              <a:rPr b="1"/>
              <a:t>Агент</a:t>
            </a:r>
            <a:r>
              <a:t> — то, что работает в вашей сессии и с чем вы разговариваете. </a:t>
            </a:r>
            <a:r>
              <a:rPr b="1"/>
              <a:t>Субагент</a:t>
            </a:r>
            <a:r>
              <a:t> — отдельный исполнитель, которого агент зовёт под одну задачу. Третье слово — </a:t>
            </a:r>
            <a:r>
              <a:rPr b="1"/>
              <a:t>контекст</a:t>
            </a:r>
            <a:r>
              <a:t>: то, что агент или субагент держит при себе, пока работает.</a:t>
            </a:r>
          </a:p>
          <a:p/>
          <a:p>
            <a:r>
              <a:t>Верхний ярус схемы отвечает на вопрос, с которого начинается весь счёт: что попадает в контекст при запуске и откуда. Источников четыре.</a:t>
            </a:r>
          </a:p>
          <a:p/>
          <a:p>
            <a:r>
              <a:t>Первый приносит харнесс — среда, в которой агент работает: системную часть, где сказано, какие инструменты есть, как отвечать и что делать запрещено. Второй приносит репозиторий: файлы инструкций проекта, </a:t>
            </a:r>
            <a:r>
              <a:rPr>
                <a:latin typeface="Consolas"/>
              </a:rPr>
              <a:t>CLAUDE.md</a:t>
            </a:r>
            <a:r>
              <a:t> и </a:t>
            </a:r>
            <a:r>
              <a:rPr>
                <a:latin typeface="Consolas"/>
              </a:rPr>
              <a:t>AGENTS.md</a:t>
            </a:r>
            <a:r>
              <a:t>, всеми уровнями — от корня до папки, в которой идёт работа. Третий приносят подключённые серверы: имена инструментов и инструкция сервера, по всем серверам, ещё до вашего первого вопроса. Это та самая постоянная плата, которую предыдущий блок занятия измерил в токенах. Четвёртый источник — разговор: задача, ответы агента и содержимое каждого прочитанного файла.</a:t>
            </a:r>
          </a:p>
          <a:p/>
          <a:p>
            <a:r>
              <a:t>Три источника из четырёх приходят до вашей первой строки. Вы их не писали и не выбирали; место они уже заняли. Растёт из четырёх только последний — с каждым файлом, который агент открыл. Отсюда свойство, которое в работе выглядит странно: контекст кончается раньше, чем кажется по длине разговора.</a:t>
            </a:r>
          </a:p>
          <a:p/>
          <a:p>
            <a:r>
              <a:t>Полосы четырёх источников нарисованы одинаковой ширины, и это решение, не оформление. Измеренной доли каждого у занятия нет: постоянная плата за подключённые серверы измерена в токенах и в доле контекста, остальные три источника на выборке никто не мерил. Шкала с пропорциями, расставленными на глаз, читалась бы как измерение, которого не было.</a:t>
            </a:r>
          </a:p>
          <a:p/>
          <a:p>
            <a:r>
              <a:t>Нижний ярус — кто этот контекст держит. Здесь три коробки, и сравнение между ними несёт весь разбор.</a:t>
            </a:r>
          </a:p>
          <a:p/>
          <a:p>
            <a:r>
              <a:t>Слева сессия, в которой лежит работа: тот самый агент, с которым вы разговариваете, и его контекст — все четыре полосы сверху. Здесь лежит правка, и сюда же нужен результат чтения: иначе правку нечем продолжить. Прочитаете сорок файлов здесь — четвёртая полоса вытеснит задачу, которую вы агенту объяснили.</a:t>
            </a:r>
          </a:p>
          <a:p/>
          <a:p>
            <a:r>
              <a:t>В середине субагент, которого позвал агент. Контекст у него свой: те же три верхние полосы, а вместо разговора — одна задача, присланная текстом. Вашей переписки там нет. Сорок файлов ложатся туда и закрываются вместе с субагентом, обратно уходит только итог — и уходит без вашего участия, в ту же сессию, где лежит правка. Это сплошная золотая стрелка на схеме.</a:t>
            </a:r>
          </a:p>
          <a:p/>
          <a:p>
            <a:r>
              <a:t>Справа вторая сессия, которую открыли вы: свой агент, свой контекст. Сорок файлов ложатся туда, рабочий контекст остаётся чистым — ровно то же, что даёт субагент. Но ответ остаётся там: канала в рабочую сессию нет. Переносите его вы, руками и своим пересказом, и агент, который правит, видит только этот пересказ. Поэтому обратный путь нарисован пунктиром и ведёт через вас. Вторая сессия освобождает контекст и останавливается на этом: работу она не продолжает.</a:t>
            </a:r>
          </a:p>
          <a:p/>
          <a:p>
            <a:r>
              <a:t>Отсюда три различия между субагентом и второй сессией, и все три стоят на схеме. Итог возвращается сам, в тот контекст, где лежит работа. Поведение субагента задано файлом, поэтому второй вызов повторяет первый. И права субагента можно урезать списком — у второй сессии списка прав нет вовсе.</a:t>
            </a:r>
          </a:p>
          <a:p/>
          <a:p>
            <a:r>
              <a:t>Несколько вопросов возникают прямо здесь, и ответы на них короткие. Субагентов агент зовёт столько, сколько нужно; сам он при этом один, а предел числа субагентов разбирается во втором случае ступени. Прошлый вызов субагент не помнит: каждый вызов поднимает его контекст с нуля, между вызовами не переносится ничего. Это то же свойство, прочитанное с другой стороны: контекст одноразовый и потому чистый, и первый случай ступени берёт свою пользу именно из этого. Как субагента позвать — по имени или дать модели выбрать самой — занимает следующий экран целиком.</a:t>
            </a:r>
          </a:p>
          <a:p/>
          <a:p>
            <a:r>
              <a:t>Нижняя строка полотна — про переносимость приёма: отдельный исполнитель со своим контекстом есть у нескольких продуктов для работы с кодом, запись у каждого своя, общей спецификации нет ни у одного. Переносится умение, не синтаксис.</a:t>
            </a:r>
          </a:p>
          <a:p/>
          <a:p>
            <a:r>
              <a:t>Из всей схемы счёт следующего разбора держится на золотой стрелке: итог возвращается сам, туда, где лежит работа.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частей субагента одним экраном. К этому экрану возвращаются все три случая ступени, поэтому проще разобрать его целиком один раз.</a:t>
            </a:r>
          </a:p>
          <a:p/>
          <a:p>
            <a:r>
              <a:rPr b="1"/>
              <a:t>Где объявляется.</a:t>
            </a:r>
            <a:r>
              <a:t> Файл </a:t>
            </a:r>
            <a:r>
              <a:rPr>
                <a:latin typeface="Consolas"/>
              </a:rPr>
              <a:t>.claude/agents/&lt;имя&gt;.md</a:t>
            </a:r>
            <a:r>
              <a:t> в репозитории. В светлой карточке стоит выдержка из настоящего файла субагента: </a:t>
            </a:r>
            <a:r>
              <a:rPr>
                <a:latin typeface="Consolas"/>
              </a:rPr>
              <a:t>name: diff-reviewer</a:t>
            </a:r>
            <a:r>
              <a:t>, </a:t>
            </a:r>
            <a:r>
              <a:rPr>
                <a:latin typeface="Consolas"/>
              </a:rPr>
              <a:t>tools: Read, Grep, Glob</a:t>
            </a:r>
            <a:r>
              <a:t> — три инструмента вместо всех доступных. По полю </a:t>
            </a:r>
            <a:r>
              <a:rPr>
                <a:latin typeface="Consolas"/>
              </a:rPr>
              <a:t>name</a:t>
            </a:r>
            <a:r>
              <a:t> субагента зовут явно. </a:t>
            </a:r>
            <a:r>
              <a:rPr>
                <a:latin typeface="Consolas"/>
              </a:rPr>
              <a:t>description</a:t>
            </a:r>
            <a:r>
              <a:t> говорит, когда его звать и когда нет, — это читает автовыбор. </a:t>
            </a:r>
            <a:r>
              <a:rPr>
                <a:latin typeface="Consolas"/>
              </a:rPr>
              <a:t>tools</a:t>
            </a:r>
            <a:r>
              <a:t> — список прав, поле необязательное. Тело файла — системный промпт субагента целиком, то есть всё, что он про свою работу знает.</a:t>
            </a:r>
          </a:p>
          <a:p/>
          <a:p>
            <a:r>
              <a:rPr b="1"/>
              <a:t>Как позвать и кого позвали на самом деле.</a:t>
            </a:r>
            <a:r>
              <a:t> Явный вызов — </a:t>
            </a:r>
            <a:r>
              <a:rPr>
                <a:latin typeface="Consolas"/>
              </a:rPr>
              <a:t>@agent-&lt;имя&gt;</a:t>
            </a:r>
            <a:r>
              <a:t>: он гарантирует именно этого субагента. Второй способ — не писать ничего, тогда выбирает модель, по описанию. Кого позвали, видно по строке в чате: имя субагента и задача в скобках. Стоит там </a:t>
            </a:r>
            <a:r>
              <a:rPr>
                <a:latin typeface="Consolas"/>
              </a:rPr>
              <a:t>general-purpose</a:t>
            </a:r>
            <a:r>
              <a:t> вместо имени — субагента не вызвали вовсе, выбор до него не долетел.</a:t>
            </a:r>
          </a:p>
          <a:p/>
          <a:p>
            <a:r>
              <a:t>Маршрутизацию решает описание, и читать это стоит буквально: модель смотрит на </a:t>
            </a:r>
            <a:r>
              <a:rPr>
                <a:latin typeface="Consolas"/>
              </a:rPr>
              <a:t>description</a:t>
            </a:r>
            <a:r>
              <a:t> как на условие «когда этого субагента звать и когда нет». Имя она не интерпретирует, поэтому слово «ревьюер» внутри имени для автовыбора не значит ничего. Отсюда практический вывод: описание субагента пишется как список поводов его позвать. Титул должности в нём не работает.</a:t>
            </a:r>
          </a:p>
          <a:p/>
          <a:p>
            <a:r>
              <a:t>Строка в чате доказывает ровно одно: харнесс решил позвать этого субагента. Правильность его работы строка не подтверждает — это отдельный вопрос, со своей проверкой. Зато она разводит два случая, со стороны выглядящих одинаково: «субагент отработал не так» и «субагента вообще не вызывали». Без этой строки их путают и чинят не то.</a:t>
            </a:r>
          </a:p>
          <a:p/>
          <a:p>
            <a:r>
              <a:rPr b="1"/>
              <a:t>Что приходит на вход.</a:t>
            </a:r>
            <a:r>
              <a:t> Четыре вещи. Системный промпт субагента — тело его файла, не промпт харнесса целиком. Задача, сформулированная вызывающей сессией своими словами: дословно ваша реплика туда не попадает. Иерархия файлов инструкций — </a:t>
            </a:r>
            <a:r>
              <a:rPr>
                <a:latin typeface="Consolas"/>
              </a:rPr>
              <a:t>CLAUDE.md</a:t>
            </a:r>
            <a:r>
              <a:t> и </a:t>
            </a:r>
            <a:r>
              <a:rPr>
                <a:latin typeface="Consolas"/>
              </a:rPr>
              <a:t>AGENTS.md</a:t>
            </a:r>
            <a:r>
              <a:t> всех уровней. И снимок репозитория на момент старта.</a:t>
            </a:r>
          </a:p>
          <a:p/>
          <a:p>
            <a:r>
              <a:t>Переписки сессии, которая субагента позвала, на входе нет. Нет и файлов, прочитанных агентом этой сессии, и её автопамяти. Канала для них попросту не существует, и дисциплина автора субагента тут ни при чём — это устройство. По той же причине агент не видит промежуточных действий субагента: задача передаётся один раз, итог возвращается один раз, диалога между этими двумя событиями не бывает.</a:t>
            </a:r>
          </a:p>
          <a:p/>
          <a:p>
            <a:r>
              <a:rPr b="1"/>
              <a:t>Что уходит обратно.</a:t>
            </a:r>
            <a:r>
              <a:t> Только итог — финальный текст. Вызовы инструментов, которые субагент сделал по дороге, вызвавшей сессии не видны ни один. Канал односторонний.</a:t>
            </a:r>
          </a:p>
          <a:p/>
          <a:p>
            <a:r>
              <a:rPr b="1"/>
              <a:t>Права — три состояния записи `tools`.</a:t>
            </a:r>
            <a:r>
              <a:t> Интуиция эти три исхода обычно путает, поэтому держать их стоит рядом. Поля нет вовсе: субагент получает все инструменты, доступные субагентам, — противоположность тому, что подсказывает пустое место. Список указан и пуст: субагент не получает ни одного инструмента и при этом остаётся живым — он запускается, читает задачу и отвечает тем, что умеет сам. Запись не резолвится: харнесс не запускает субагента вовсе. Со стороны это похоже на отсутствие самого субагента — права тут уже ни при чём.</a:t>
            </a:r>
          </a:p>
          <a:p/>
          <a:p>
            <a:r>
              <a:t>Отнять право частично этим механизмом нельзя. «Читать всё, кроме одного каталога» так не записывается: список работает на уровне целого инструмента, не отдельного действия внутри него. Если нужна именно такая граница, её держат другим механизмом.</a:t>
            </a:r>
          </a:p>
          <a:p/>
          <a:p>
            <a:r>
              <a:t>Стоит знать и про исключение, которое легко спутать с обычным вызовом. Есть режим, наследующий всё целиком — тот же промпт, те же права, всю историю; в документации он называется форком. Изоляции контекста у него нет, поэтому экономия, ради которой субагента заводят, в этом режиме не возникает вовсе. На занятии он не используется.</a:t>
            </a:r>
          </a:p>
          <a:p/>
          <a:p>
            <a:r>
              <a:rPr b="1"/>
              <a:t>Чем оплачивается.</a:t>
            </a:r>
            <a:r>
              <a:t> Мультиагентная работа обходится примерно в пятнадцать раз дороже обычного чата — это оценка поставщика харнесса, и на экране она стоит с такой подписью. Измерения на выборке за ней нет, поэтому пользоваться ей стоит как порядком величины: субагент — ход, который платит токенами за освобождённый контекст.</a:t>
            </a:r>
          </a:p>
          <a:p/>
          <a:p>
            <a:r>
              <a:t>Само поле прав на этом занятии не собирается: три разбора ступени идут по другим развилкам. Поле стоит здесь, в первом блоке, с настоящими значениями, а что даёт каждое из трёх его состояний — в пятом.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что два занятия подряд заводил здесь хук и скилл. Сцена другая: продукт, в котором он работает каждый день — тарифы, участники, два года миграций. Задача дня обычная: завести тариф «Команда», двадцать участников вместо пяти.</a:t>
            </a:r>
          </a:p>
          <a:p/>
          <a:p>
            <a:r>
              <a:t>Утром он открывает сессию и минут пятнадцать объясняет задачу: как тариф называется, кому доступен, что делать со старыми аккаунтами, какие случаи проверить. Править они будут здесь же — на этом держится весь дальнейший счёт.</a:t>
            </a:r>
          </a:p>
          <a:p/>
          <a:p>
            <a:r>
              <a:t>Прежде чем править, нужен список: где лимит участников вообще проверяется. Пропустишь одно место — новый тариф пройдёт конфиг и упрётся в проверку, про которую никто уже не помнит.</a:t>
            </a:r>
          </a:p>
          <a:p/>
          <a:p>
            <a:r>
              <a:t>Агент ищет и находит четыре места: middleware при добавлении участника, конфиг тарифов, отдельная миграция для аккаунтов, заведённых до смены тарифной сетки, и клиентский компонент с той же проверкой на случай недоступности сервера. Миграций за два года пятнадцать, лимит менялся в трёх — листать приходится все пятнадцать. Открытых файлов больше сорока, чтения — минут двадцать.</a:t>
            </a:r>
          </a:p>
          <a:p/>
          <a:p>
            <a:r>
              <a:t>Он говорит: теперь правь по этому списку. И агент переспрашивает то, что ему объясняли утром: как называется тариф и сколько в нём участников.</a:t>
            </a:r>
          </a:p>
          <a:p/>
          <a:p>
            <a:r>
              <a:t>Стоит рассмотреть, за что здесь заплачено. Список верный, чтение шло быстро, ошибки не было ни одной. Сорок файлов влезли в контекст целиком и вытеснили задачу, ради которой сессию открывали. Это второй промах из начала занятия, предъявленный целиком: нужное влезло внутрь и вытеснило работу.</a:t>
            </a:r>
          </a:p>
          <a:p/>
          <a:p>
            <a:r>
              <a:t>Цена — полчаса, хотя чтения было двадцать минут, и разница между этими числами существенна. Двадцать минут потрачены на дело: список был нужен, без него правка выходит неполной. Полчаса ушли на то, чтобы заново сказать уже сказанное и вернуться в прерванную работу. Это единственная часть дня, которую можно было не тратить.</a:t>
            </a:r>
          </a:p>
          <a:p/>
          <a:p>
            <a:r>
              <a:t>Дальше возражение, которое возникает здесь первым: почему он не открыл вторую сессию и не спросил там? Ответ держится на том, где лежит правка. Править будет эта сессия, и список нужен агенту, который правит. Вторая сессия ответ даст и оставит его у себя: канала в рабочую сессию у неё нет. Перенос делаете вы, своим пересказом, и агент правит по этому пересказу. Условие про старые аккаунты выпадает из пересказа первым — оно длинное, скучное и в момент переноса выглядит второстепенным. Полностью этот вариант разбирается через два экрана, вместе с четырьмя другими.</a:t>
            </a:r>
          </a:p>
          <a:p/>
          <a:p>
            <a:r>
              <a:t>Второе возражение: тогда перенести во вторую сессию всю работу целиком? Это тот же счёт, оплаченный заранее. Задача объяснена здесь — те самые пятнадцать минут; объяснять её второй раз в новой сессии значит заплатить ровно ту потерю, которую мы считаем. Переезд не экономит, он переносит расход на начало.</a:t>
            </a:r>
          </a:p>
          <a:p/>
          <a:p>
            <a:r>
              <a:t>Третье: нельзя ли было сразу знать, где искать? В продукте, где правило менялось годами мелкими правками, — нельзя. Документации, которая держала бы все четыре точки в одном месте, здесь никогда не было. Завести её задним числом стоит дороже, чем один раз прочитать сорок файлов.</a:t>
            </a:r>
          </a:p>
          <a:p/>
          <a:p>
            <a:r>
              <a:t>Остаётся сказать, почему сцена идёт не в демо-репозитории занятия. В нём файлов меньше десятка, и сцена на сорок файлов там была бы подогнана под вывод; вернее вывод от этого не стал бы. Герой тот же, проект другой, и на экране это сказано первой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своей правки. У кого за последний месяц была правка, в которой найти места оказалось дороже, чем их поправить, — и сколько файлов пришлось открыть, чтобы найти нужные? Такая правка есть почти у каждого, кто работал в чужом проекте, и названное число файлов дальше работает лучше любого примера.</a:t>
            </a:r>
          </a:p>
          <a:p/>
          <a:p>
            <a:r>
              <a:t>Вопрос случая на этом и стоит: что править — известно, где править — лежит в сорока файлах, из которых нужны четыре. Карточек пять: прочитать все сорок файлов самому, в этой же сессии; открыть вторую сессию, спросить там и перенести список руками; позвать коллегу, который давно работает с тарифами; поручить субагенту — прочитает в своём контексте и вернёт список мест; править по памяти, без поиска.</a:t>
            </a:r>
          </a:p>
          <a:p/>
          <a:p>
            <a:r>
              <a:t>Выбрать карточку — половина работы. Вторая половина — назвать, за счёт чего она выигрывает у остальных четырёх. Основание здесь весит больше выбора: на следующем экране счёт файлов проверяет именно причину, по которой карточку взяли.</a:t>
            </a:r>
          </a:p>
          <a:p/>
          <a:p>
            <a:r>
              <a:t>Ответов на такой вопрос звучит немного, и разобрать стоит каждый.</a:t>
            </a:r>
          </a:p>
          <a:p/>
          <a:p>
            <a:r>
              <a:rPr b="1"/>
              <a:t>«Субагент — потому что быстрее».</a:t>
            </a:r>
            <a:r>
              <a:t> Обычная первая догадка, и приходит она почти всем. Произнесите её про себя полностью — «отдельный исполнитель прочитает сорок файлов быстрее, чем я» — и держите наготове. Следующий экран проверяет её счётом, и проверку она не проходит. Разбор, прочитанный без произнесённой догадки, остаётся сообщением о факте; с ней он меняет картину, и держится этот случай именно на ней.</a:t>
            </a:r>
          </a:p>
          <a:p/>
          <a:p>
            <a:r>
              <a:rPr b="1"/>
              <a:t>«Вторая сессия».</a:t>
            </a:r>
            <a:r>
              <a:t> Вариант, который первым приходит любому, кто работает в двух вкладках; принимать его стоит всерьёз. Добавить к нему надо одно: что произойдёт после того, как ответ получен. Ответ на это почти всегда один — «перенесу». Вот это слово и разбирается дальше: перенос делает человек, и стоит он времени и точности.</a:t>
            </a:r>
          </a:p>
          <a:p/>
          <a:p>
            <a:r>
              <a:rPr b="1"/>
              <a:t>«Коллега».</a:t>
            </a:r>
            <a:r>
              <a:t> Единственный вариант, способный ответить за минуту, если коллега свеж в теме, и единственный, который зависит от чужого расписания. В списке он стоит не для полноты: в живой работе это частый и часто верный ход.</a:t>
            </a:r>
          </a:p>
          <a:p/>
          <a:p>
            <a:r>
              <a:rPr b="1"/>
              <a:t>Ответ, которого на карточках нет</a:t>
            </a:r>
            <a:r>
              <a:t> — «спросить того, кто это писал», «посмотреть в истории коммитов», «записать вопрос скиллом на будущее». Такие ответы законны: карточки задают поле выбора, границей его они не являются. История коммитов, к примеру, сузит поиск, если правило менялось явными правками с внятными сообщениями, и не поможет, если оно расползалось по рефакторингам.</a:t>
            </a:r>
          </a:p>
          <a:p/>
          <a:p>
            <a:r>
              <a:t>Выбрать две карточки тоже можно, и в живой работе так и делают: сначала субагент, потом короткий разговор с тем, кто писал эти миграции. Тогда стоит назвать, какая из двух первая и почему — порядок здесь меняет цену.</a:t>
            </a:r>
          </a:p>
          <a:p/>
          <a:p>
            <a:r>
              <a:t>Если своей такой правки не вспоминается, выбирать стоит по сцене предыдущего экрана — и тогда отдельно проверить, насколько выбор зависит от того, что правка и поиск лежат в одной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того, что прозвучало. «Быстрее» — проверяется счётом, по строкам.</a:t>
            </a:r>
          </a:p>
          <a:p/>
          <a:p>
            <a:r>
              <a:rPr b="1"/>
              <a:t>Прочитать самому, в этой же сессии.</a:t>
            </a:r>
            <a:r>
              <a:t> Что даёт: полный контроль над тем, что и в каком порядке читается. Чего стоит: контекст сессии занимает содержимое сорока файлов, из которых для правки нужны четыре; остальные тридцать шесть лежат в нём мёртвым весом до конца сессии.</a:t>
            </a:r>
          </a:p>
          <a:p/>
          <a:p>
            <a:r>
              <a:rPr b="1"/>
              <a:t>Вторая сессия.</a:t>
            </a:r>
            <a:r>
              <a:t> Что даёт: рабочий контекст остаётся чистым, сорок файлов ложатся в чужой. Чего стоит: список придётся переносить руками, и править агент будет по вашему пересказу. Условие про старые аккаунты выпадает из пересказа первым.</a:t>
            </a:r>
          </a:p>
          <a:p/>
          <a:p>
            <a:r>
              <a:rPr b="1"/>
              <a:t>Коллега.</a:t>
            </a:r>
            <a:r>
              <a:t> Что даёт: единственный вариант, который может ответить за минуту, если человек свеж в теме. Чего стоит: единственный вариант, который зависит от чужого расписания — решает, свободен ли он прямо сейчас.</a:t>
            </a:r>
          </a:p>
          <a:p/>
          <a:p>
            <a:r>
              <a:rPr b="1"/>
              <a:t>Субагент.</a:t>
            </a:r>
            <a:r>
              <a:t> Что даёт: сорок файлов открываются и закрываются в отдельном, одноразовом контексте, а список приходит обратно сам, в ту же сессию. Чего стоит: быстрее не становится.</a:t>
            </a:r>
          </a:p>
          <a:p/>
          <a:p>
            <a:r>
              <a:rPr b="1"/>
              <a:t>Править по памяти.</a:t>
            </a:r>
            <a:r>
              <a:t> Что даёт: мгновенно. Чего стоит: четвёртое место, клиентскую проверку, помнит не всякий из тех, кто её писал.</a:t>
            </a:r>
          </a:p>
          <a:p/>
          <a:p>
            <a:r>
              <a:t>Теперь про «быстрее» — здесь поворот всего случая. Субагент открывает все сорок файлов и читает их целиком. Двадцать минут чтения из сцены остаются двадцатью минутами: ни одна строчка не читается быстрее оттого, что её читает другой процесс. Сорок файлов — это сорок файлов, где бы их ни читали.</a:t>
            </a:r>
          </a:p>
          <a:p/>
          <a:p>
            <a:r>
              <a:t>Доведём это до конца, потому что здесь и ломается догадка. Пока субагент читает сорок файлов, вы ждёте — те же двадцать минут, что ждали бы, читая их в своей сессии. Делегирование не сокращает ожидание и не обещало его сокращать: оно меняет место, где лежит прочитанное. Ровно поэтому проверка догадки — счёт файлов, не измерение скорости: скорость чтения одинакова у обоих вариантов по построению, и спорить тут не о чем.</a:t>
            </a:r>
          </a:p>
          <a:p/>
          <a:p>
            <a:r>
              <a:t>Выигрыш лежит в двух других местах, и назвать их стоит точно. Первое: чтение остаётся в контексте субагента, а этот контекст закрывается вместе с ним — в рабочей сессии от сорока файлов не остаётся ничего, кроме четырёх адресов. Второе: список возвращается туда, где лежит правка, сам, без вашего пересказа. Вторая сессия даёт первое из двух и оставляет второе вам.</a:t>
            </a:r>
          </a:p>
          <a:p/>
          <a:p>
            <a:r>
              <a:t>Отсюда ответ на вопрос «зачем тогда вообще заводить субагента, если время то же». Ради того, что останется доступно дальше в этой же сессии. Двадцать минут чтения ушли на дело — список был нужен. Полчаса на повторное объяснение можно было не тратить вовсе, и экономит субагент именно их. Экономия считается в том, что осталось в контексте после ответа; минуты чтения в этот счёт не входят вовсе.</a:t>
            </a:r>
          </a:p>
          <a:p/>
          <a:p>
            <a:r>
              <a:t>Возражение «пересказ — ерунда, я просто скопирую ответ целиком» снимается арифметикой. Скопируете целиком — в рабочий контекст приедет ровно то, от чего уходили, плюс ваше время на передачу. Чем короче то, что вы переносите, тем больше в нём потеряно; чем длиннее — тем меньше смысла было уносить чтение. Середины в этом счёте не предусмотрено.</a:t>
            </a:r>
          </a:p>
          <a:p/>
          <a:p>
            <a:r>
              <a:t>Возражение «а если запустить несколько субагентов разом, тогда быстрее?» — да, и это второй случай ступени целиком. Быстрее там становится очередь из нескольких независимых задач; чтение одного вопроса остаётся тем же. Для одного поиска по сорока файлам выигрыша по времени нет ни при каком числе субагентов.</a:t>
            </a:r>
          </a:p>
          <a:p/>
          <a:p>
            <a:r>
              <a:t>И про коллегу, вынесенного в отдельную строку, хотя инструментом он не является. В жизни он первый кандидат и часто правильный, а строка нужна, чтобы это было сказано прямо: иначе вариант выглядит забытым, и выбор между четырьмя машинными способами начинает казаться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контекста приводит свой пример: субагент прочитал 6100 токенов файлов, вы получили итог в 420 токенов — это и есть экономия контекста. Разница на порядок, и направление то же, что мы получили счётом: сорок файлов остаются в контексте субагента, в сессию приходит только итог.</a:t>
            </a:r>
          </a:p>
          <a:p/>
          <a:p>
            <a:r>
              <a:t>Природу этого числа стоит назвать прямо. Это один показательный сценарий, придуманный автором документации, чтобы объяснить механизм. Измерением по множеству прогонов он не является, и выборки реальных сессий за ним не стоит.</a:t>
            </a:r>
          </a:p>
          <a:p/>
          <a:p>
            <a:r>
              <a:t>Рядом стоит честный пробел, и занятие называет его прямо. Сколько контекста реально экономит делегирование по сравнению с той же работой в основной сессии, по измерению на выборке сессий, не нашлось ни у одного источника. Пример этот пробел не закрывает — он его иллюстрирует числом.</a:t>
            </a:r>
          </a:p>
          <a:p/>
          <a:p>
            <a:r>
              <a:t>Зачем тогда показывать иллюстрацию. Направление и порядок величины реальны и держатся механикой предыдущего экрана: сорок файлов остаются там, где их читали, обратно уходит короткий список. Нечестным было бы подать иллюстрацию за статистику молча; названная своим именем, она работает ориентиром. Доказательством она не работает.</a:t>
            </a:r>
          </a:p>
          <a:p/>
          <a:p>
            <a:r>
              <a:t>В нашей сцене соотношение то же по смыслу: сорок файлов на входе, четыре адреса на выходе, и в контексте рабочей сессии остаются только адреса. Числа документации говорят о том же устройстве, только на своём примере.</a:t>
            </a:r>
          </a:p>
          <a:p/>
          <a:p>
            <a:r>
              <a:t>Отдельно стоит сказать, как такое число живёт дальше. Из документации его вынимают в пересказ, в пересказе теряется подпись «пример автора», и через два шага оно звучит как измеренная экономия. Встретив «делегирование экономит контекст на порядок» без указания на то, где это мерили, вы, скорее всего, держите в руках пересказ пересказа именно этого примера. Проверка простая: у измерения есть выборка, методика и разброс; у иллюстрации есть одно число.</a:t>
            </a:r>
          </a:p>
          <a:p/>
          <a:p>
            <a:r>
              <a:t>Что считалось бы честным измерением, стоит сказать точно — это та работа, которую любой из вас может проделать на своём проекте. Один и тот же вопрос, прогнанный в двух режимах на выборке настоящих сессий: чтение в рабочей сессии против делегирования, с замером занятой доли контекста в обоих. Такой работы в открытых источниках нет, и это ровно та цифра, которой курсу не хватает.</a:t>
            </a:r>
          </a:p>
          <a:p/>
          <a:p>
            <a:r>
              <a:t>Про удобство самих чисел. Соотношение 6100 к 420 подобрано автором под иллюстрацию, и подпись на экране об этом говорит. Доверять стоит порядку величины — разнице в десятки раз; вторая значащая цифра здесь не значит ничего, и спорить о ней смысла нет.</a:t>
            </a:r>
          </a:p>
          <a:p/>
          <a:p>
            <a:r>
              <a:t>И зависимость, которая делает число управляемым. Экономия прямо зависит от размера ответа субагента. Субагент, которого просят вернуть короткий вывод, возвращает сотни токенов; субагент, которого просят пересказать прочитанное, вернёт тысячи, и экономия съедается форматом ответа. Из этого же соображения вырастает критерий, которым случай закрывается: смотреть надо на то, что останется в контексте после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Контекст субагента чище вашего и при этом не чист от всего подряд. Свой промпт и свежее начало он получает, а вместе с ними, по умолчанию, описания всех подключённых серверов целиком — включая те, которые его задаче не нужны ни одним инструментом. Это третья полоса со схемы базы: она наследуется.</a:t>
            </a:r>
          </a:p>
          <a:p/>
          <a:p>
            <a:r>
              <a:t>Дословно из документации по устранению ошибок: субагенты наследуют каждое описание инструмента сервера из вызвавшей сессии, и это может заполнить их контекст ещё до первого шага; отключайте серверы, которыми не пользуетесь, прежде чем заводить субагентов.</a:t>
            </a:r>
          </a:p>
          <a:p/>
          <a:p>
            <a:r>
              <a:t>Приложим это к сцене. Герой ищет места, где проверяется лимит участников, — работа целиком внутри репозитория, ни одного обращения наружу. Если в его сессии подключены трекер задач и сервер документации из предыдущего блока занятия, субагент получит их описания бесплатно: место в его контексте занято до того, как он открыл первый файл.</a:t>
            </a:r>
          </a:p>
          <a:p/>
          <a:p>
            <a:r>
              <a:t>Сколько это стоит, занятие уже измерило: постоянная плата за подключённые серверы названа в токенах и в доле контекста в предыдущем блоке. Здесь существенно другое: эта плата вносится ещё раз, отдельно, в контекст каждого заведённого субагента. Пять субагентов — пять раз.</a:t>
            </a:r>
          </a:p>
          <a:p/>
          <a:p>
            <a:r>
              <a:t>Противоречия с предыдущими двумя экранами здесь нет, оба утверждения про один контракт. Фокус работает для содержимого репозитория: сорок файлов действительно остаются в контексте субагента и закрываются вместе с ним. Этот экран называет то, что входит в контракт дополнительно и по умолчанию, помимо желания автора субагента. Экономия остаётся, считается она с оговоркой.</a:t>
            </a:r>
          </a:p>
          <a:p/>
          <a:p>
            <a:r>
              <a:t>Что с этим делать. За подключёнными серверами следят тем же списком инструментов субагента, который стоит пятым блоком на одностраничнике: список прав субагента заодно решает, что окажется в его контексте. Есть и обратный приём той же механики: субагент умеет объявить нужный ему сервер у себя — он поднимается на его старте и отключается на его завершении, а контекст вызвавшей сессии его описаний не видит вовсе. Для тяжёлого сервера, нужного одной задаче, это дешевле, чем держать его подключённым всю сессию.</a:t>
            </a:r>
          </a:p>
          <a:p/>
          <a:p>
            <a:r>
              <a:t>Здесь сходятся два хода занятия, и сходятся они не в пользу беспечности. Доступ наружу расширяет то, что агент умеет; плата за это расширение внесена в каждой сессии и теперь ещё и в каждом субагенте. Чем больше серверов подключено, тем дороже каждое делегирование — и дорожает оно молча, потому что ни на одном экране работы это не видно: субагент просто начинает с меньшим запасом.</a:t>
            </a:r>
          </a:p>
          <a:p/>
          <a:p>
            <a:r>
              <a:t>Порядок действий из этого получается короткий. Перед тем как заводить субагента под объёмное чтение, стоит посмотреть, что подключено в сессии, и отключить то, чем сегодня не пользуетесь: отключение действует на сессию, а значит и на всех субагентов, которых она позовёт.</a:t>
            </a:r>
          </a:p>
          <a:p/>
          <a:p>
            <a:r>
              <a:t>Механика хуков и скиллов здесь своя, и занятие её не разбирает. Достаточно одного: отключение ненужных серверов — осознанный ход перед заведением субагента. Разовая уборка в начале дня его не заменяет, потому что сессия обрастает серверами по ходу работы, и к середине дня подключено обычно больше, чем помнишь.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факт, да или нет, список мест в несколько строк, по которому дальше и работают. Сорок файлов поиска и четыре файла правки — ровно этот случай.</a:t>
            </a:r>
          </a:p>
          <a:p/>
          <a:p>
            <a:r>
              <a:t>Если дальше работать придётся со всем прочитанным объёмом — рефакторинг, который трогает те же сорок файлов, — читать их придётся в любом случае, и делать это в своём контексте тогда входит в саму работу: с этим содержимым дальше работать вам.</a:t>
            </a:r>
          </a:p>
          <a:p/>
          <a:p>
            <a:r>
              <a:t>Граница между двумя положениями проходит по одному вопросу: нужен ли вам дальше весь материал или адреса внутри него. Герою понадобились четыре места из сорока файлов, и содержимое остальных тридцати шести не пригодилось бы ему больше никогда. Рефакторинг тех же сорока — другое дело: там содержимое и есть предмет работы, короткого вывода из него не бывает.</a:t>
            </a:r>
          </a:p>
          <a:p/>
          <a:p>
            <a:r>
              <a:t>Правило, в которое это сворачивается: что мы заводим ради контекста — решаем по тому, что останется в контексте после ответа. Число открытых файлов на это решение не влияет.</a:t>
            </a:r>
          </a:p>
          <a:p/>
          <a:p>
            <a:r>
              <a:t>И строка оси, ради которой случай стоял.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a:p/>
          <a:p>
            <a:r>
              <a:t>Вопрос к себе, и проделать его стоит до конца. Назовите место в своём проекте, где перед правкой приходится искать по десяткам файлов, а находятся три-четыре строки. Назвали — это первый кандидат на делегирование. Теперь проверьте его вторым пунктом: править вы будете эти же десятки файлов или найденные строки? Если первое — кандидат отпадает, и отпадает он по делу.</a:t>
            </a:r>
          </a:p>
          <a:p/>
          <a:p>
            <a:r>
              <a:t>Про границу с предыдущего экрана: тот же принцип применяется и к ней. Подключили субагенту лишние серверы — обратно всё равно вернётся только итог, но контекст субагента окажется занят раньше и сильнее, чем нужно. Критерий это в силе оставляет и уточняет размер самой экономии.</a:t>
            </a:r>
          </a:p>
          <a:p/>
          <a:p>
            <a:r>
              <a:t>Отдельно — формат ответа субагента, который легко принять за деталь оформления. Попросить субагента вернуть пересказ прочитанного вместо вывода технически можно, и экономия на этом кончается: субагент, которому велели пересказать сорок файлов, вернёт в ваш контекст те же сорок файлов, только своими словами. Ровно та же арифметика, что со второй сессией: чем длиннее то, что возвращается, тем меньше смысла было уносить чтение. Формат ответа субагента — часть критерия.</a:t>
            </a:r>
          </a:p>
          <a:p/>
          <a:p>
            <a:r>
              <a:t>И общий вид правила за пределами этого случая. Субагент — средство управлять тем, что лежит в контексте; всё, что он даёт, и всё, чего он стоит, читается из этого одного свойства. Два следующих случая ступени добавят к нему две другие причины его заводить — работу в несколько потоков и разведение исполнителей по своим зонам, — и каждая из них считается тем же способом: по тому, что остаётся в контексте, когда субагент закрылся.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 практика. Задача будет настоящая, с одним сроком и без уточнений, и раскладывать её придётся самостоятельно: сначала на куски, потом по зависимостям между ними. Решение, чем её ускорять, тоже остаётся за вами — на следующих двух экранах оно принимается, и только потом проверяется.</a:t>
            </a:r>
          </a:p>
          <a:p/>
          <a:p>
            <a:r>
              <a:t>Форма постановки здесь обычная до скуки: одна фраза и один срок. Уточнений не последует, разбивки на этапы никто не приложил, приоритетов внутри задачи не расставил. Именно в таком виде работа приходит чаще всего, и раскладывать её достаётся исполнителю: тот, кто ставил задачу, этого за него уже не сделает.</a:t>
            </a:r>
          </a:p>
          <a:p/>
          <a:p>
            <a:r>
              <a:t>Средств ускорить такую задачу больше одного. Одно из них — то, о котором идёт ступень: отдельный исполнитель, которого агент зовёт под кусок работы. Остальные четыре старше его и на многих задачах дешевле. Весь случай о том, как между пятью средствами выбирают, и выбирает здесь сама задача. Увидеть её выбор можно только после того, как она разложена.</a:t>
            </a:r>
          </a:p>
          <a:p/>
          <a:p>
            <a:r>
              <a:t>Отсюда понятно, зачем раскладка идёт первой — вопрос, который возникает у каждого, кто торопится начать. Задача, взятая целиком, допускает один порядок работы: от начала к концу, кусок за куском, в том порядке, в каком они попадаются под руку. Разложенная допускает несколько порядков, и среди них бывает заметно короче. Пока куски не названы и зависимости между ними не проверены, короткий порядок не виден вовсе — его нечем увидеть.</a:t>
            </a:r>
          </a:p>
          <a:p/>
          <a:p>
            <a:r>
              <a:t>Развилка задана вопросом намеренно. Ответ на него есть почти у каждого, и он наполовину верный: ускорить получится, средство придёт с другой стороны, чем его ждут. Готовое утверждение на этом месте отняло бы у практики её работу: прочитав вывод, разложить задачу своими руками уже нельзя — остаётся только согласиться с чужой раскладкой. Поэтому здесь стоит вопрос, и ответ на него собирается по ходу.</a:t>
            </a:r>
          </a:p>
          <a:p/>
          <a:p>
            <a:r>
              <a:t>Предыдущий случай ступени отвечал на другой вопрос: что делать, когда чтения под один ответ столько, что оно не помещается в контекст сессии. Ответом там был отдельный исполнитель, который читает в своём контексте и возвращает короткий итог. Здесь вопрос звучит иначе: задача одна, срок у неё — понедельник. Общее у двух случаев одно — отдельный исполнитель как один из возможных ходов; причины его завести разные, и границы у этих причин тоже разные. То, что выручает на длинном чтении, на короткой зависимой работе начинает мешать, и дальше будет видно, где именно.</a:t>
            </a:r>
          </a:p>
          <a:p/>
          <a:p>
            <a:r>
              <a:t>Названия средства на развилке нет. Развилка называет наблюдаемую проблему и оставляет решение самому случаю — то же соглашение действует на остальных пяти развилках занятия. Если слово «субагент» пришло в голову раньше, чем вы дошли до карточек, поправлять нечего: это одна карточка из пяти, и к ней мы придём.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Пятница, без двадцати шесть. В чате появляется одна фраза: «К понедельнику форма должна быть готова к рекламе». Это вся постановка. Уточнений не будет — автор фразы уехал на выходные, и до утра понедельника спросить его не у кого.</a:t>
            </a:r>
          </a:p>
          <a:p/>
          <a:p>
            <a:r>
              <a:t>Форма — это форма заявки на лендинге из того же проекта, что и два предыдущих занятия: проверка полей живёт в </a:t>
            </a:r>
            <a:r>
              <a:rPr>
                <a:latin typeface="Consolas"/>
              </a:rPr>
              <a:t>src/validate.js</a:t>
            </a:r>
            <a:r>
              <a:t>, функция называется </a:t>
            </a:r>
            <a:r>
              <a:rPr>
                <a:latin typeface="Consolas"/>
              </a:rPr>
              <a:t>validateForm</a:t>
            </a:r>
            <a:r>
              <a:t>, разметка — в </a:t>
            </a:r>
            <a:r>
              <a:rPr>
                <a:latin typeface="Consolas"/>
              </a:rPr>
              <a:t>index.html</a:t>
            </a:r>
            <a:r>
              <a:t>. Что именно значит «готова к рекламе», в постановке не сказано, и это часть задачи.</a:t>
            </a:r>
          </a:p>
          <a:p/>
          <a:p>
            <a:r>
              <a:t>Дальше стоит остановиться. Экран ниже держит уже разложенную задачу, но раскладка — та самая работа, ради которой этот случай и собран, и прочитанный ответ её не заменяет. Возьмите лист или пустой файл и сделайте два хода сами — они окупаются прямо на следующем экране. Оба хода и третья строка к ним выписаны на самом экране: их читают и делают, не пересказывая.</a:t>
            </a:r>
          </a:p>
          <a:p/>
          <a:p>
            <a:r>
              <a:rPr b="1"/>
              <a:t>Ход первый.</a:t>
            </a:r>
            <a:r>
              <a:t> Что в этой задаче лежит? Выпишите кусками — такими, которые можно взять и сделать. На трёх останавливаться рано: из одной фразы их обычно выходит больше, чем кажется.</a:t>
            </a:r>
          </a:p>
          <a:p/>
          <a:p>
            <a:r>
              <a:rPr b="1"/>
              <a:t>Ход второй, и он весит больше первого.</a:t>
            </a:r>
            <a:r>
              <a:t> Против каждого куска ответьте на три вопроса. Нужен ли ему итог другого куска. Лезет ли он в тот же файл, что сосед. Повторяется ли он после других кусков.</a:t>
            </a:r>
          </a:p>
          <a:p/>
          <a:p>
            <a:r>
              <a:rPr b="1"/>
              <a:t>И третье, одной строкой.</a:t>
            </a:r>
            <a:r>
              <a:t> Напишите число: сколько исполнителей вы завели бы на эти куски. Первое, что просится, без обдумывания. Это число понадобится через два экрана, и записанное оно держится крепче задуманного: задуманное задним числом поправляет каждый.</a:t>
            </a:r>
          </a:p>
          <a:p/>
          <a:p>
            <a:r>
              <a:t>Сверяемся.</a:t>
            </a:r>
          </a:p>
          <a:p/>
          <a:p>
            <a:r>
              <a:t>Кусков выходит шесть. Поле «телефон» с проверкой формата ни от чего не зависит: это новое поле в разметке и новое правило в </a:t>
            </a:r>
            <a:r>
              <a:rPr>
                <a:latin typeface="Consolas"/>
              </a:rPr>
              <a:t>validateForm</a:t>
            </a:r>
            <a:r>
              <a:t>. Сообщения об ошибках, которые надо привести к одному виду, живут картой </a:t>
            </a:r>
            <a:r>
              <a:rPr>
                <a:latin typeface="Consolas"/>
              </a:rPr>
              <a:t>MESSAGES</a:t>
            </a:r>
            <a:r>
              <a:t> в том же </a:t>
            </a:r>
            <a:r>
              <a:rPr>
                <a:latin typeface="Consolas"/>
              </a:rPr>
              <a:t>src/validate.js</a:t>
            </a:r>
            <a:r>
              <a:t>. Итога другого куска они не требуют; файл у них общий с полем. Текст согласия на обработку данных не зависит ни от чего и кода проверки не касается вовсе. Проверка формы на узком экране идёт после поля: пока поля нет, проверять нечего. Прогон перед выкладкой — ветка, тесты, сборка — ни от чего не зависит и повторяется после каждого из остальных кусков. Письмо-подтверждение заявителю ни от чего не зависит и кода формы не касается.</a:t>
            </a:r>
          </a:p>
          <a:p/>
          <a:p>
            <a:r>
              <a:t>Считаем независимые. Их три из шести. Один кусок ждёт, пока появится поле. Один лезет в тот же файл, что поле. Один повторяется после каждого из остальных — то есть в задаче он стоит пять раз, и это его отличие от соседей важнее его размера.</a:t>
            </a:r>
          </a:p>
          <a:p/>
          <a:p>
            <a:r>
              <a:t>Если ваш список получился другим — это нормально и даже полезнее. Раскладка у каждого своя, она зависит от того, как в этом проекте принято резать работу, и спорить о её составе полезнее, чем о числе кусков. Держать нужно одно: чтобы по каждому названному куску прозвучал ответ на вопрос второго хода. Шесть строк на экране стоят опорой; списывать с них нечего. Если ваших кусков восемь и зависимости по ним проверены, раскладка сделана.</a:t>
            </a:r>
          </a:p>
          <a:p/>
          <a:p>
            <a:r>
              <a:t>Прогон перед выкладкой заслуживает отдельного слова, потому что его часто забывают считать работой. Работа есть: ветку создать, тесты прогнать, сборку собрать, глазами посмотреть. Время она занимает. Отличается она от соседей повторяемостью: пять остальных кусков делаются по одному разу, этот — после каждого из них. На этом отличии держится одна из пяти карточек следующего экрана, и без него она выглядела бы лишней.</a:t>
            </a:r>
          </a:p>
          <a:p/>
          <a:p>
            <a:r>
              <a:t>Если список не идёт, заходить стоит с конца: что обязано быть сделано к понедельнику, чтобы рекламу можно было запустить. Два куска из шести называются сразу, остальные подтягиваются за ними, и попутно обнаруживается, что к рекламе требуется далеко не всё из списка.</a:t>
            </a:r>
          </a:p>
          <a:p/>
          <a:p>
            <a:r>
              <a:t>Если вместо куска в список попало средство — «поручу это субагенту», «запущу вторую сессию», — запишите его отдельно и вернитесь к ходу. Средство выбирается на следующем экране; здесь договариваются только о том, из чего задача состоит. При обратном порядке средство уезжает вперёд раскладки, а решает его именно раскладка.</a:t>
            </a:r>
          </a:p>
          <a:p/>
          <a:p>
            <a:r>
              <a:t>Числа времени ни у одного куска не стоят намеренно: сколько занимает каждая из этих работ, ни один источник ступени не мерил, и правдоподобная оценка подменила бы раскладку ощущением. Независимость кусков от длительности не зависит — она проверяется по файлам и по итогам, и этого для выбора средства 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Кто уже разгонял задачу разом, а не по очереди, — и чем именно: несколькими сессиями, субагентами, проверкой, которая гоняется сама? Названное средство дальше и проверяется на разложенной задаче: своё средство видно, на каком куске оно сработало, а на каком его просто некуда было приложить.</a:t>
            </a:r>
          </a:p>
          <a:p/>
          <a:p>
            <a:r>
              <a:t>Задача разложена. Чем её ускоряем?</a:t>
            </a:r>
          </a:p>
          <a:p/>
          <a:p>
            <a:r>
              <a:t>Выбор устроен так: одна карточка — и кусок, на котором выбранное средство работает. Карточка без куска не считается, потому что весь выбор лежит ровно в этой паре. «Субагенты» без указания куска означает «субагенты везде», а экран раскладки только что показал, что везде не выходит ни у одного из пяти средств.</a:t>
            </a:r>
          </a:p>
          <a:p/>
          <a:p>
            <a:r>
              <a:t>Пять средств на экране. Отдельный исполнитель, о котором идёт ступень, — одно из них, третья карточка слева. Остальные четыре старше его, и каждое на каком-то из шести кусков дешевле. Прежде чем читать дальше, стоит выбрать карточку и назвать кусок, и назвать причину: за счёт чего выбранное средство на этом куске выигрывает. Причина — половина ценности выбора, потому что ошибка здесь почти всегда лежит не в карточке, и видна она только через причину.</a:t>
            </a:r>
          </a:p>
          <a:p/>
          <a:p>
            <a:r>
              <a:t>Какие ответы на этот вопрос звучат чаще прочих, и что с каждым из них.</a:t>
            </a:r>
          </a:p>
          <a:p/>
          <a:p>
            <a:r>
              <a:rPr b="1"/>
              <a:t>«Субагенты, и на все куски сразу».</a:t>
            </a:r>
            <a:r>
              <a:t> Ответ сильный и честный, и звучит он чаще прочих. Спорить с ним преждевременно: ровно его и проверит разбор. Если он пришёл в голову первым — это хорошая отправная точка, потому что ошибка в нём лежит не там, где её обычно ищут.</a:t>
            </a:r>
          </a:p>
          <a:p/>
          <a:p>
            <a:r>
              <a:rPr b="1"/>
              <a:t>«Сузить задачу».</a:t>
            </a:r>
            <a:r>
              <a:t> Ход недооценённый, и он единственный из пяти, который убирает работу совсем, вместо того чтобы её ускорять. У него есть своё условие: сузить может тот, кто отвечает за срок. В большинстве случаев это не исполнитель, и тогда ход превращается в разговор с тем, кто ставил задачу. Разговор этот стоит дешевле двух рабочих выходных, поэтому ход заслуживает того, чтобы стоять в списке первым.</a:t>
            </a:r>
          </a:p>
          <a:p/>
          <a:p>
            <a:r>
              <a:rPr b="1"/>
              <a:t>«Делать куски по очереди».</a:t>
            </a:r>
            <a:r>
              <a:t> Защитимо, и у этого ответа есть реальное достоинство: порядок один и предсказуемый, столкнуться друг с другом куски не могут физически. Проверочный вопрос к нему один — на каком числе кусков он начнёт проигрывать. Ответ в самой арифметике: ожидания складываются, и чем больше в задаче независимых кусков, тем дороже обходится очередь.</a:t>
            </a:r>
          </a:p>
          <a:p/>
          <a:p>
            <a:r>
              <a:rPr b="1"/>
              <a:t>«Вести куски в нескольких сессиях».</a:t>
            </a:r>
            <a:r>
              <a:t> Ход рабочий, и у него есть точное место, где он спотыкается: что произойдёт, когда две сессии дойдут до поля и до сообщений об ошибках. Оба куска живут в одном файле. Это отдельная развилка со своей ценой и своими приёмами защиты, и она разбирается дальше в занятии; здесь достаточно заметить, что пересечение по файлу есть и что оно решает выбор между этой карточкой и соседней.</a:t>
            </a:r>
          </a:p>
          <a:p/>
          <a:p>
            <a:r>
              <a:rPr b="1"/>
              <a:t>«Вынести повторяемое в проверку, которая гоняется сама».</a:t>
            </a:r>
            <a:r>
              <a:t> Ответ, который приходит реже и попадает точно: прогон перед выкладкой стоит в задаче пять раз, и человеку там делать нечего. Условие у хода тоже есть, и разбор его назовёт.</a:t>
            </a:r>
          </a:p>
          <a:p/>
          <a:p>
            <a:r>
              <a:t>Выбрать две карточки нельзя, и это ограничение намеренное. Карточка плюс кусок — уже полный ответ, а две карточки означают два куска, то есть две раскладки сразу, и выбор перестаёт что-либо значить: при двух ходах в запасе всегда найдётся кусок, на котором хоть один из них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средств и шесть кусков. Пройдём по каждому средству: что оно делает и где перестаёт работать.</a:t>
            </a:r>
          </a:p>
          <a:p/>
          <a:p>
            <a:r>
              <a:rPr b="1"/>
              <a:t>Делать куски по очереди.</a:t>
            </a:r>
            <a:r>
              <a:t> Порядок один и предсказуемый, столкнуться куски не могут. Цена — три независимых куска ждут друг друга без всякой причины, и ожидания складываются. На шести кусках очередь обходится дороже любого другого порядка, и она же единственная, которая никогда не ломается.</a:t>
            </a:r>
          </a:p>
          <a:p/>
          <a:p>
            <a:r>
              <a:rPr b="1"/>
              <a:t>Вести куски в нескольких сессиях.</a:t>
            </a:r>
            <a:r>
              <a:t> Куски идут одновременно, у каждой сессии свой контекст и свой разговор. Спотыкается ход на том же месте, которое нашла раскладка: поле и сообщения об ошибках живут в одном файле </a:t>
            </a:r>
            <a:r>
              <a:rPr>
                <a:latin typeface="Consolas"/>
              </a:rPr>
              <a:t>src/validate.js</a:t>
            </a:r>
            <a:r>
              <a:t>, и две сессии в одной папке дойдут до него обе. Чем это чинится — отдельная развилка дальше в занятии; здесь важен сам факт пересечения, потому что он решает выбор между этой карточкой и соседней.</a:t>
            </a:r>
          </a:p>
          <a:p/>
          <a:p>
            <a:r>
              <a:rPr b="1"/>
              <a:t>Раздать куски субагентам и запустить разом.</a:t>
            </a:r>
            <a:r>
              <a:t> Одновременность даёт сам харнесс: настраивать её не нужно, у каждого субагента свой контекст и короткий итог на выходе. Работает это средство там, где параллельность в задаче уже есть — на трёх независимых кусках. На куске, который лезет в чужой файл, два субагента увидят разные версии одного </a:t>
            </a:r>
            <a:r>
              <a:rPr>
                <a:latin typeface="Consolas"/>
              </a:rPr>
              <a:t>src/validate.js</a:t>
            </a:r>
            <a:r>
              <a:t>; на куске, который стоит в очереди, второй исполнитель будет ждать первого и при этом занимать место.</a:t>
            </a:r>
          </a:p>
          <a:p/>
          <a:p>
            <a:r>
              <a:rPr b="1"/>
              <a:t>Вынести повторяемое в проверку, которая гоняется сама.</a:t>
            </a:r>
            <a:r>
              <a:t> Прогон перед выкладкой уходит из очереди совсем: его делает не человек, и повторяется он без участия исполнителя сколько угодно раз. Условие у хода жёсткое: писать такую проверку надо заранее и один раз. В пятницу, когда задача уже пришла, она ускорит только следующую такую задачу — на этой её писать поздно, и это честная цена того, что ход вообще существует.</a:t>
            </a:r>
          </a:p>
          <a:p/>
          <a:p>
            <a:r>
              <a:rPr b="1"/>
              <a:t>Сузить задачу.</a:t>
            </a:r>
            <a:r>
              <a:t> Для рекламы нужны поле и согласие — два куска из шести. Остальные четыре к понедельнику можно не делать вовсе, и это дешевле любого ускорения. Решает это тот, кто отвечает за срок, поэтому ход требует разговора с ним.</a:t>
            </a:r>
          </a:p>
          <a:p/>
          <a:p>
            <a:r>
              <a:t>Теперь поворот, ради которого случай и собран.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за другим.</a:t>
            </a:r>
          </a:p>
          <a:p/>
          <a:p>
            <a:r>
              <a:t>Здесь и пригодится число, записанное на практике. Поставьте его рядом с тройкой независимых кусков. Чаще всего записанное число равно шести — по куску на исполнителя, — и расхождение с тройкой показывает, из чего обычно считают: из количества работы, которую хочется раздать. Считать надо из свойства задачи.</a:t>
            </a:r>
          </a:p>
          <a:p/>
          <a:p>
            <a:r>
              <a:t>Проверять независимость можно дёшево и по-инженерному, без всякой теории. Два вопроса: пересекаются ли куски по файлам и нужен ли одному итог другого. Разные файлы и ни одной общей зависимости — куски независимы. Один и тот же файл, общий модуль, «сначала переименуем, потом поправим вызовы» — зависимы, и читать их дальше стоит уже как одну работу.</a:t>
            </a:r>
          </a:p>
          <a:p/>
          <a:p>
            <a:r>
              <a:t>Число исполнителей при этом не оказывается ни при чём — оно стоит вторым номером. Потолок выигрыша задаёт оно, а сам выигрыш дают независимые куски. Где независимости нет, рост числа исполнителей меняет знак и начинает работать против: вместо одной работы появляются две плюс стык между ними. Держать проще всего в таком порядке: сначала считаем в задаче независимые куски, потом заводим исполнителей — ровно столько, сколько кусков насчитали.</a:t>
            </a:r>
          </a:p>
          <a:p/>
          <a:p>
            <a:r>
              <a:t>Откуда берётся «умножают ошибку» — из измерения, оно будет дальше в кейсе вместе с источником и условиями эксперимента. Пока достаточно направления: зависимые шаги, разведённые по разным исполнителям, теряют связь, которую следующий шаг должен был увидеть.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и оно меняет то, как читается цена решения.</a:t>
            </a:r>
          </a:p>
          <a:p/>
          <a:p>
            <a:r>
              <a:t>Три субагента на три независимых куска пошли бы одновременно. Это механика харнесса, и настраивать её не нужно: с определённой версии параллельный режим включён в интерактивной сессии по умолчанию. Субагент уходит в фон, основная сессия его не ждёт и продолжает работать. Никакой очереди, никакого флага, никакой отдельной настройки в конфигурации — поведение такое из коробки.</a:t>
            </a:r>
          </a:p>
          <a:p/>
          <a:p>
            <a:r>
              <a:t>Предел есть, и стоит он на одновременности. По умолчанию одновременно могут работать не больше двадцати субагентов; попытка завести двадцать первого падает отдельной явной ошибкой — </a:t>
            </a:r>
            <a:r>
              <a:rPr>
                <a:latin typeface="Consolas"/>
              </a:rPr>
              <a:t>Concurrent subagent limit reached</a:t>
            </a:r>
            <a:r>
              <a:t>. Общего предела на то, сколько субагентов можно вызвать за всю сессию, нет вовсе: двести вызовов подряд по одному субагенту упрутся только во время и в деньги.</a:t>
            </a:r>
          </a:p>
          <a:p/>
          <a:p>
            <a:r>
              <a:t>Из этого следует вывод, который стоит держать при себе всю ступень: одновременность бесплатна. Харнесс даёт её сам, и значит, вся цена решения приходится на раскладку. Ошибиться можно только в том, сколько в задаче независимых кусков, — и если ошиблись, одновременность старательно умножит эту ошибку, потому что мешать ей нечего.</a:t>
            </a:r>
          </a:p>
          <a:p/>
          <a:p>
            <a:r>
              <a:t>Двадцать первая задача при пределе двадцать не потеряется и не подождёт своей очереди сама. Харнесс откажет явной ошибкой, и запускать её придётся руками, когда освободится место. Молчаливой очереди здесь нет, и это удачное устройство: иначе двадцать первый кусок тихо ждал бы своего часа, пока его считают проверенным.</a:t>
            </a:r>
          </a:p>
          <a:p/>
          <a:p>
            <a:r>
              <a:t>Версия и переменная, если понадобится точность. Параллельный режим по умолчанию появился в интерактивной сессии начиная с версии 2.1.232; предел задаётся переменной окружения </a:t>
            </a:r>
            <a:r>
              <a:rPr>
                <a:latin typeface="Consolas"/>
              </a:rPr>
              <a:t>CLAUDE_CODE_MAX_CONCURRENT_SUBAGENTS</a:t>
            </a:r>
            <a:r>
              <a:t>. Номер версии на экран намеренно не вынесен — он устаревает быстрее, чем сам факт, и к моменту чтения, скорее всего, успел смениться.</a:t>
            </a:r>
          </a:p>
          <a:p/>
          <a:p>
            <a:r>
              <a:t>Поднимать предел сразу после того, как о нём узнали, смысла мало. Двадцать одновременно работающих субагентов — это двадцать контекстов и двадцать счетов за токены, и упереться в двадцать на обычной работе трудно. Если упёрлись, первое разумное действие — перечитать раскладку и проверить, точно ли там двадцать независимых кусков. Чаще оказывается, что их пять, а остальные пятнадцать — куски, нарезанные по строчкам задачи, которые друг от друга зависят.</a:t>
            </a:r>
          </a:p>
          <a:p/>
          <a:p>
            <a:r>
              <a:t>Про видимость стоит сказать отдельно, потому что это цена, которую одновременность всё-таки берёт. Видно, что фоновый субагент работает, и виден его итог. Ход работы — чем он занимался, что прочитал, где сомневался — не виден. Это та самая потерянная видимость, которую ступень называет ценой делегирования. На трёх независимых кусках она почти не мешает: итог каждого проверяется отдельно и сам по себе. На зависимых мешает сильно — именно там нужно было бы видеть, что один субагент успел узнать раньше другого, и именно этого увидеть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двумя разобранными ходами стоит третий, и в материалах занятия он до сих пор не появлялся. Автор курса пользуется им в работе постоянно: рядом с рабочей сессией поднимается ещё одна, которая называется оркестратором, и она запускает дочерние сессии. Дочерние — полноценные, со своим контекстом и своим терминалом; это обычный запуск того же инструмента, которым работает человек.</a:t>
            </a:r>
          </a:p>
          <a:p/>
          <a:p>
            <a:r>
              <a:t>Запрос, на который отвечает этот ход, тот же, что у субагента: делать независимые куски одновременно. Расходятся два хода по двум свойствам, и оба решают выбор.</a:t>
            </a:r>
          </a:p>
          <a:p/>
          <a:p>
            <a:r>
              <a:t>Первое свойство — доступность рукам. К субагенту прийти нельзя: разговаривать с ним умеет только позвавшая его сессия, и человек видит итог, когда субагент закончил. В дочернюю сессию прийти можно: открыть её, прочитать, что она успела, дописать задачу, развернуть на половине пути. Для куска, который обсуждают по ходу работы, это решает всё.</a:t>
            </a:r>
          </a:p>
          <a:p/>
          <a:p>
            <a:r>
              <a:t>Второе свойство — глубина. Дочерняя сессия сама запускает субагентов, потому что она обычная сессия и умеет ровно то же, что умеет ваша. Ярусов становится три: вы, оркестратор с дочерними сессиями, субагенты под каждой из них. Отсюда и смысл хода — работа берётся крупнее той, которую укладывают в один ярус: оркестратору отдают задачу верхнего уровня, он дробит её на дочерние сессии, каждая дробит свою часть на субагентов.</a:t>
            </a:r>
          </a:p>
          <a:p/>
          <a:p>
            <a:r>
              <a:t>Цена у хода названа тремя строками, и первая из них весомее остальных. Оркестратор не узнаёт об итоге дочерней сессии сам — он узнаёт тогда, когда сходит и проверит. Это переворачивает порядок работы: вместо ожидания ответа появляется обход и опрос. Из этого же следует, почему имитация через трекер задач работает плохо: оркестратор видит запись дочерней сессии, когда в очередной раз в трекер заглядывает, и скорость теряется на самих заглядываниях.</a:t>
            </a:r>
          </a:p>
          <a:p/>
          <a:p>
            <a:r>
              <a:t>Вторая строка — обвязка. Сессии рядом не поднимаются и не опрашиваются сами по себе: кто-то должен их завести, дать каждой задачу, уметь их перечислить и в них зайти. Способов три. Готовый управляющий слой, который умеет это из коробки. Имитация через трекер задач — разобрана выше и названа слабой. Оконный менеджер терминала: сессии поднимаются в его панелях, панели перечисляются и открываются, и внутрь каждой можно зайти руками.</a:t>
            </a:r>
          </a:p>
          <a:p/>
          <a:p>
            <a:r>
              <a:t>Третья строка — цена обычного запуска. У дочерней сессии свой контекст целиком, и платится он как у любой сессии: отдельным счётом за токены и отдельной памятью машины. На одном-двух ярусах это незаметно; на десятке сессий становится расходом, который считают заранее, и считают его дальше.</a:t>
            </a:r>
          </a:p>
          <a:p/>
          <a:p>
            <a:r>
              <a:t>Критерий отсюда простой, и автор называл его той же фразой на обоих занятиях: маленький кусок отдают субагенту, крупный — дочерней сессии. «Крупный» здесь имеет проверяемый признак: это кусок, за которым придётся прийти руками хотя бы раз. Если итога достаточно, субагент дешевле и ярусов не множит. Если по ходу работы понадобится посмотреть и дописать, субагент это не даст, и экономия обернётся переделкой.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предыдущего хода есть цена, которую показывает машина: в счёте за токены её не видно. Замер здесь один и принадлежит он автору курса: облачная виртуалка с шестнадцатью гигабайтами памяти, обычные сессии без тяжёлых прогонов внутри.</a:t>
            </a:r>
          </a:p>
          <a:p/>
          <a:p>
            <a:r>
              <a:t>Выглядит замер так. С двадцати одновременных сессий машина начинает спотыкаться: отзывчивость падает, запуски идут дольше. На тридцати-сорока, смотря по тому, сколько каждая сессия успела набрать, она перестаёт отвечать совсем. Отсюда порядок величины — от одного до двух гигабайт на одну сессию, и это в покое: сессия, которая сама запустила сборку или прогон тестов, съест заметно больше.</a:t>
            </a:r>
          </a:p>
          <a:p/>
          <a:p>
            <a:r>
              <a:t>Шестнадцать гигабайт названы здесь не для полноты картины: без базы вилка «1–2 ГБ» ничего не значит. Деление сходится — шестнадцать на двадцать даёт примерно восемь десятых гигабайта, то есть нижний край вилки и есть тот край, на котором машина начинает спотыкаться. Контрфакт столь же важен: одна сессия, две, три такой машине не стоят ничего заметного. Расход появляется на десятке и становится решающим ближе к двадцати.</a:t>
            </a:r>
          </a:p>
          <a:p/>
          <a:p>
            <a:r>
              <a:t>Удивление, которое автор при этом называл, стоит повторить, потому что оно сбивает многих. На вид сессия агента — тонкий клиент: гоняет текст в обе стороны, считает всё равно не она. Памяти при этом уходит столько, сколько уходит у полноценного приложения, и уходит она на то, что сессия держит в памяти свой контекст, свои открытые файлы и свои дочерние процессы. Вывод из этого автор сделал прямой: отказываться от машины с хорошей памятью рано.</a:t>
            </a:r>
          </a:p>
          <a:p/>
          <a:p>
            <a:r>
              <a:t>Разница по языку, на котором написан сам клиент агента, на таком масштабе становится видимой. Клиент, собранный на Rust, заметно легче собрата, собранного на JavaScript. Кратность здесь названа на глаз, единицы не фиксировались, и ставить её числом было бы выдумкой точности. Практический смысл у наблюдения всё равно есть: на одной-двух сессиях разница незаметна, на двадцати она решает, запустится двадцать первая или нет.</a:t>
            </a:r>
          </a:p>
          <a:p/>
          <a:p>
            <a:r>
              <a:t>Отдельно стоит развести два предела, которые легко сложить в один, тем более что оба равны двадцати. Предел в двадцать одновременных субагентов — предел инструмента, он стоит внутри одной сессии и меняется переменной окружения. Предел в двадцать сессий — предел памяти машины, и переменной он не меняется: его меняют покупкой памяти. Совпадение чисел случайное. Упереться можно в любой из двух, и спутать их дорого: подняв предел субагентов, вы ничего не узнаете о том, выдержит ли машина ещё пять сессий.</a:t>
            </a:r>
          </a:p>
          <a:p/>
          <a:p>
            <a:r>
              <a:t>Как проверить это у себя, если ход с дочерними сессиями показался полезным. Посмотрите расход памяти на одной сессии сразу после запуска и через час работы — эти два числа и дают вашу вилку. Разделите свободную память на верхнее из них, вычтите запас на то, что сессии запускают сами, и получите своё число одновременных сессий. Оно у вас будет другим: другая память, другой агент, другие задачи внутри. Замер автора курса даёт порядок величины и способ счёта, проверять его стоит на своей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вывод на отрицательном примере. Возьмём для него настройку платформы: там этот промах виден чище, чем в коде.</a:t>
            </a:r>
          </a:p>
          <a:p/>
          <a:p>
            <a:r>
              <a:t>Настраиваемая платформа: справочники, формы, права доступа, скрипты заводятся настройкой, а не программированием. Параллелить такую работу соблазнительно вдвойне — каждый кусок выглядит отдельным экраном, который можно открыть и заполнить, ни на кого не глядя. Через неделю разработчик так и делает: справочник уходит одному субагенту, форма, которая на этот справочник опирается, — второму, одновременно. Общего описания задачи он не пишет: куски же видны, что тут описывать.</a:t>
            </a:r>
          </a:p>
          <a:p/>
          <a:p>
            <a:r>
              <a:t>Оба возвращают работу, и оба правы. Справочник заведён: поля названы, состав собран, значения заполнены. Форма настроена: поля показываются, обязательность проставлена, проверка стоит. Претензий ни к одному из двоих нет — каждый сделал ровно то, что ему поручили, и сделал быстро.</a:t>
            </a:r>
          </a:p>
          <a:p/>
          <a:p>
            <a:r>
              <a:t>Вместе они не работают. Поля справочника названы и составлены по одному пониманию задачи, форма ждёт другого: часть полей не совпала именами, часть — составом, где-то обязательность разошлась. Результат — два быстрых и совершенно не связанных друг с другом куска работы, которые потом долго сводят руками. Сведение забирает больше времени, чем заняла сама настройка, и съедает ровно ту параллельность, ради которой всё затевалось.</a:t>
            </a:r>
          </a:p>
          <a:p/>
          <a:p>
            <a:r>
              <a:t>Что здесь повторено — число исполнителей. Условия под ним не было: куски не независимы, один опирается на другой. Параллельность при этом была настоящей, и харнесс дал её бесплатно; подвела не она. Подвело то, что целиком задачу не знал никто: дробление сузило контекст каждому исполнителю, и общего описания, в котором состав полей назван один раз для обоих, не существовало ни у одного.</a:t>
            </a:r>
          </a:p>
          <a:p/>
          <a:p>
            <a:r>
              <a:t>Тот же промах выглядит в коде иначе, а устроен так же. Разбить проверку на отдельные независимые прогоны — каждый зелёный, а проблема, которую видно только на задаче целиком, не находится ни одним: дробление снижает качество ровно там, где снизило контекст. В нашем лендинге пара того же вида лежит прямо в раскладке: новое поле с проверкой и карта сообщений об ошибках живут в одном файле, и ключи сообщений — это и есть справочник, на который опирается форма.</a:t>
            </a:r>
          </a:p>
          <a:p/>
          <a:p>
            <a:r>
              <a:t>Стоит отдельно снять подозрение с самих исполнителей. Ни один из двоих не ошибся и не поленился: каждый прочитал свою постановку и честно её выполнил. Отчёт у обоих верен в своих границах, и именно поэтому расхождение всплывает поздно — две зелёные работы складываются в картину готовности, которой нет. Так же устроена и пара проверяющих, если один читает код построчно, а второй прогоняет сценарии: оба отчитываются честно, а случай, попавший между их зонами, не называет ни один.</a:t>
            </a:r>
          </a:p>
          <a:p/>
          <a:p>
            <a:r>
              <a:t>Связь с пятницей здесь прямая, и она про одно слово. В раскладке условие назвали вслух: сказали, какие куски независимы и почему. Здесь его не написал никто.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хода, и работает один. Разберём все четыре, потому что три неработающих выглядят убедительно.</a:t>
            </a:r>
          </a:p>
          <a:p/>
          <a:p>
            <a:r>
              <a:rPr b="1"/>
              <a:t>Отдать оба куска одному субагенту.</a:t>
            </a:r>
            <a:r>
              <a:t> Ход честный: один исполнитель видит оба конца сразу и держит состав полей согласованным просто потому, что заводит его сам. Цена названа прямо — отдаётся параллельность, и отдаётся там, где она была настоящей и ничего не стоила. На двух кусках это терпимо; на задаче из пятнадцати кусков один исполнитель становится узким местом, и вся раскладка теряет смысл.</a:t>
            </a:r>
          </a:p>
          <a:p/>
          <a:p>
            <a:r>
              <a:rPr b="1"/>
              <a:t>Дать каждому широкий доступ — пусть сам разберётся в соседнем куске.</a:t>
            </a:r>
            <a:r>
              <a:t> Иногда срабатывает: исполнитель открывает соседнюю настройку, видит состав полей и подстраивается. Цена спрятана в слове «широкий»: широкий доступ означает широкий контекст и широкие права — ровно то, что урезанный список инструментов и ограничивает. И у хода есть второй предел, менее очевидный: прочитать соседний кусок ещё не значит понять его так же. Два исполнителя, читающие одно и то же, расходятся в толковании примерно так же легко, как расходились до чтения.</a:t>
            </a:r>
          </a:p>
          <a:p/>
          <a:p>
            <a:r>
              <a:rPr b="1"/>
              <a:t>Общее описание задачи, которое оба читают до начала.</a:t>
            </a:r>
            <a:r>
              <a:t> Этот и работает. Состав общего — имена полей, их набор, обязательность, что считается готовым — назван один раз для обоих и лежит отдельно от обоих кусков. Расхождение становится видно до работы: достаточно сверить настройку с описанием, а не две настройки между собой. Условие у хода одно — описание пишут до того, как куски разошлись, и поддерживают, пока они живут. Цену стоит назвать честно, иначе ход выглядит бесплатным: появляются циклы чтения, правки и согласования самого описания, времени они берут заметно, и платят их каждый раз, когда задача меняется.</a:t>
            </a:r>
          </a:p>
          <a:p/>
          <a:p>
            <a:r>
              <a:rPr b="1"/>
              <a:t>Завести третьего субагента-координатора.</a:t>
            </a:r>
            <a:r>
              <a:t> Выглядит как решение: он сверяет две готовые работы между собой. Цена растёт быстрее, чем снижается риск. К двум уже разошедшимся работам добавляется третий исполнитель со своим контекстом и своим пониманием задачи, а сводить расхождение всё равно придётся — просто чужими руками и на шаг позже. Проверяется ход одним вопросом: что координатор делает такого, чего нельзя записать в общее описание до начала работы. Нет ответа — это заплатка.</a:t>
            </a:r>
          </a:p>
          <a:p/>
          <a:p>
            <a:r>
              <a:t>Теперь о том, чем третий ход работает, — и здесь он сходится с раскладкой. В пятницу условие назвали вслух: сказали, какие куски независимы и почему. Здесь его не написал никто, и додумать его было некому: дробление сузило контекст каждому, и целиком задачу не знал ни один из двоих. Третий ход называет условие вслух до того, как оно понадобится, — тем же движением, что и раскладка.</a:t>
            </a:r>
          </a:p>
          <a:p/>
          <a:p>
            <a:r>
              <a:t>Выглядит «написать общее описание» скромнее, чем звучит: это не проектная документация, а несколько строк про то, что у кусков общее, — имена, состав, признак готовности. Писать его целиком вперёд бессмысленно: описание, разросшееся до талмуда, перестают читать, и оно устаревает быстрее задачи. Разумный объём — тот, который исполнитель прочитывает перед работой целиком и не пропускает.</a:t>
            </a:r>
          </a:p>
          <a:p/>
          <a:p>
            <a:r>
              <a:t>Как именно такое описание пишется, чтобы его хватило на обе стороны,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двух субагентов из этой истории нет третьего, который сверял бы их согласованность. Случай выглядит частным — пока не посмотреть, что говорит об этом измерение на масштабе.</a:t>
            </a:r>
          </a:p>
          <a:p/>
          <a:p>
            <a:r>
              <a:t>Первый источник — таксономия отказов систем из нескольких агентов, Cemri и другие, работа «MAST», arXiv:2503.13657, принята на NeurIPS 2025 в трек Datasets and Benchmarks. Размечено вручную больше тысячи шестисот трасс по семи разным фреймворкам, согласие между экспертами по шкале каппа — ноль целых восемьдесят восемь. Провальных трасс от сорока одного до восьмидесяти семи процентов в зависимости от фреймворка. Причины делятся на три категории: спецификация задачи и роли держит около сорока двух процентов, рассогласование между агентами — около тридцати семи, верификация результата — около двадцати одного. Рассогласование между агентами стоит второй причиной по весу, почти вровень с описанием самой задачи. Это и есть промежуток из нашей истории, посчитанный на выборке.</a:t>
            </a:r>
          </a:p>
          <a:p/>
          <a:p>
            <a:r>
              <a:t>Второй источник — контролируемый эксперимент о цене, Kim, Gu, Park и другие, Google Research, arXiv:2512.08296. Двести шестьдесят конфигураций, шесть наборов задач, пять архитектур. На последовательной задаче схема из нескольких субагентов проигрывает одноагентной на той же задаче от тридцати девяти до семидесяти процентов, а число ошибок усиливается в семнадцать целых две десятых раза относительно одноагентной системы на входе. С централизованной проверкой усиление падает до четырёх целых четырёх десятых — падает, но остаётся усилением. Вот цифра под поворотом этого случая: там, где шаги зависимы, разбиение на субагентов стоит дороже всего, что параллельность могла бы сэкономить.</a:t>
            </a:r>
          </a:p>
          <a:p/>
          <a:p>
            <a:r>
              <a:t>Про межэкспертное согласие стоит сказать, почему на эту цифру вообще смотрят. Ноль целых восемьдесят восемь по шкале каппа означает высокое согласие: категории различали разные люди и сходились между собой. Это и делает таксономию пригодной для ссылки — разметка здесь не произвольная.</a:t>
            </a:r>
          </a:p>
          <a:p/>
          <a:p>
            <a:r>
              <a:t>Абсолютного числа ошибок второй источник не публикует, и это честно назвать прямо. Приведено только относительное усиление — во сколько раз больше, чем у одного субагента на той же задаче. «В семнадцать раз больше» без базовой величины говорит о направлении, о размере не говорит, и подставлять базу самостоятельно нельзя.</a:t>
            </a:r>
          </a:p>
          <a:p/>
          <a:p>
            <a:r>
              <a:t>Разброс «от сорока одного до восьмидесяти семи процентов» выглядит так широко, что его хочется отбросить, и делать этого не стоит. Разброс идёт по фреймворкам: разные системы падают по-разному. Важно в нём одно — доля провальных трасс нигде не оказалась малой.</a:t>
            </a:r>
          </a:p>
          <a:p/>
          <a:p>
            <a:r>
              <a:t>Отдельно про цифру «семьдесят девять процентов отказов — проблема спецификации», которая разошлась по сети и попадается в пересказах этой работы. Это сумма первых двух категорий MAST, сорока двух и тридцати семи, пересказанная как будто отдельное измерение. Встретив её, стоит проверить, не считается ли одно и то же дважды под разными подписями.</a:t>
            </a:r>
          </a:p>
          <a:p/>
          <a:p>
            <a:r>
              <a:t>Переносятся ли эти цифры на двух субагентов напрямую. Нет, и это важно сказать прежде, чем кто-то вооружится семнадцатикратным усилением в разговоре о паре исполнителей. Оба исследования мерили системы из многих агентов; направление переносится, порядок величины — не переносится. На двух субагентах честнее говорить о риске промежутка, который измерен как вторая причина отказов по весу.</a:t>
            </a:r>
          </a:p>
          <a:p/>
          <a:p>
            <a:r>
              <a:t>И честный пробел, потому что на занятии его называют прямо. Проверить рассогласование двух параллельных субагентов на репозитории курса или на вашей машине нечем: ни один из инструментов проверяемости этого занятия такого не демонстрирует. Утверждение стоит на исследовании, не на команде, которую можно набрать в терминале. Остальные опоры занятия проверяются руками; эта — нет.</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Расхождение закрывает одно средство — явная граница, записанная в общем описании для каждого куска, в обе стороны.</a:t>
            </a:r>
          </a:p>
          <a:p/>
          <a:p>
            <a:r>
              <a:t>Устроена она просто. У справочника появляется строка про то, где он кончается: имена и состав полей заводятся здесь; как эти поля показываются и проверяются на форме — не здесь. У формы — симметричная: поля показываются по именам из описания, состав полей форма не заводит. Две строки, и читающий описание видит не только то, что каждый кусок делает, но и то, где он останавливается. Снаружи обязано быть названо конкретное: формулировка «всё остальное» не читается как чья-то зона и потому не достаётся никому.</a:t>
            </a:r>
          </a:p>
          <a:p/>
          <a:p>
            <a:r>
              <a:t>Как такая строка выглядит записанной, проще увидеть на знакомом примере. У субагента, который читает код построчно, она звучит так: «НЕ для ревью архитектурных решений — это отдельная работа». Названо, где исполнитель останавливается, и названо конкретно; оборот «прочее» на этом месте не работает.</a:t>
            </a:r>
          </a:p>
          <a:p/>
          <a:p>
            <a:r>
              <a:t>Теперь честно о пределе приёма, потому что обещать он может больше, чем делает. Записанная граница стык между кусками не убирает. Она делает расхождение видимым тому, кто читает описание до начала работы. Прочитать его перед началом остаётся работой человека — ровно той работой, которую на трёх независимых кусках делать было не нужно: они лежали врозь сами, и стыков между ними не возникало. Приём честен ровно настолько, насколько он скромен.</a:t>
            </a:r>
          </a:p>
          <a:p/>
          <a:p>
            <a:r>
              <a:t>Схема на экране показывает устройство целиком. Два прямоугольника — зона справочника и зона формы, у каждого своя строка «НЕ здесь» внизу. Между прямоугольниками выделена полоса с подписью «общее, не записано никем»: имена и состав полей попадают ровно туда. Подпись под схемой говорит то же, что сказано выше словами.</a:t>
            </a:r>
          </a:p>
          <a:p/>
          <a:p>
            <a:r>
              <a:t>Кто пишет обе строки — тот, кто раскладывал задачу, до того как куски ушли исполнителям. Написать их порознь, в надежде что зоны совпадут, — то же самое, что не писать: два автора независимо либо опишут один участок дважды, либо не опишут его вовсе, и предсказать, какой из двух случаев выпадет, нельзя.</a:t>
            </a:r>
          </a:p>
          <a:p/>
          <a:p>
            <a:r>
              <a:t>Есть соблазн пойти другим путём: дать обоим исполнителям широкий доступ и закрыть вопрос. Это второй ход из предыдущего разбора, и цена его уже названа — широкий доступ возвращает широкий контекст и широкие права. Граница обходится дешевле: две строки против расширенного доступа. Проверяется она к тому же глазами за минуту, чего про широкий доступ сказать нельзя.</a:t>
            </a:r>
          </a:p>
          <a:p/>
          <a:p>
            <a:r>
              <a:t>Стоит заметить, что этот приём не требует ни инструментов, ни настроек, ни изменений в харнессе. Он целиком лежит в тексте, и это ставит его в тот же ряд, что и строка правила в файле инструкций, разобранная в предыдущем блоке занятия. Приёмы такого рода дёшевы и ровно поэтому легко пропускаются: у них нет момента, в который их пропуск заметен. Строка, которой нет, ничем не сигналит о своём отсутствии — её отсутствие предъявляет счёт позже, когда две готовые работы приходится сводить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проходит черта, за которой координация сама становится ценой. Метку этой черты поставила отрасль, и поставила дважды в одну сторону.</a:t>
            </a:r>
          </a:p>
          <a:p/>
          <a:p>
            <a:r>
              <a:t>Одна команда год назад полностью отвергала работу несколькими агентами, называя неструктурированный «рой» отвлекающим фактором и публично объясняя почему. Десять месяцев спустя она же вернулась к этой работе — к двум узким схемам. Первая: цепочка ревью, где отдельный субагент находит в среднем два бага на правку, и около пятидесяти восьми процентов из них серьёзные. Вторая: связка из двух разных сильных моделей на сложных сценариях. «Рой» без границ эта же команда по-прежнему называет отвлекающим фактором. Разворот ценен именно тем, кто его сделал: люди, заплатившие за обе позиции практикой, вернулись к двум узким схемам, оставив общий случай отвергнутым.</a:t>
            </a:r>
          </a:p>
          <a:p/>
          <a:p>
            <a:r>
              <a:t>Критерий из этого складывается такой. Субагент оправдан, когда кусков несколько и они независимы — шаг одного не нуждается в выводе другого. Справочник и форма попадают в этот случай тогда, когда общее между ними — имена, состав и обязательность полей — записано до начала работы.</a:t>
            </a:r>
          </a:p>
          <a:p/>
          <a:p>
            <a:r>
              <a:t>Дешевле другое средство в четырёх положениях, и каждое из них встречалось в разложенной задаче. Шаги зависимы: разбиение умножает ошибку — в семнадцать целых две десятых раза без координатора и в четыре целых четыре десятых даже при централизованной проверке. Общего между кусками никто не записал: две честные работы складываются в готовность, которой нет. Кусок повторяется после каждого из остальных: его место в проверке, которая гоняется сама. Кусок к сроку не нужен вовсе: такой сужают, и ускорять в нём нечего.</a:t>
            </a:r>
          </a:p>
          <a:p/>
          <a:p>
            <a:r>
              <a:t>Чем кончилось у разработчика из этой истории. Неделю после расхождения он делал всё одним субагентом, по очереди, включая те куски, которые спокойно делились. Само сведение разошедшихся настроек стоило дольше, чем заняла настройка. Доверие к приёму стоило недели работы по очереди, и это вторая цена, которая здесь важнее первой. Ручное сведение — обычная плата за расхождение. Неделя отказа от работающего приёма — плата за неверный счёт, снятый с этого приёма.</a:t>
            </a:r>
          </a:p>
          <a:p/>
          <a:p>
            <a:r>
              <a:t>Разница между двумя этими провалами стоит того, чтобы её разделить. Провал приёма чинится одной строкой в описании субагента. Провал счёта, снятого с приёма, чинится только тем, что кто-то заново называет условие вслух — и до этого момента работающее средство лежит без дела. Счёт исполнителей разработчик запомнил; условие под ним — нет, и неделя ушла на это.</a:t>
            </a:r>
          </a:p>
          <a:p/>
          <a:p>
            <a:r>
              <a:t>Как он в итоге нашёл условие: сел и написал общее описание — то самое, которое надо было написать до начала, с именами и составом полей в одном месте. Это ровно приём предыдущего экрана, применённый с опозданием на неделю. По его задаче стоит заметить отдельно: справочник и форму настраивать двумя субагентами было можно, отсюда и решение оставить двоих, добавив к ним общее описание. Ошибкой стало молчание об общем.</a:t>
            </a:r>
          </a:p>
          <a:p/>
          <a:p>
            <a:r>
              <a:t>Две причины заводить отдельного исполнителя к этому моменту разобраны: чужой контекст под длинное чтение и одновременная работа на независимых кусках. Третья причина — про самого субагента, и она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субагента занятие уже разобрало: чтение, которое в контекст не помещается, и задачи, которые стоят в очереди зря. Третий случай — про то, что происходит, когда исполнителей становится больше одного, а каталог файлов у них общий.</a:t>
            </a:r>
          </a:p>
          <a:p/>
          <a:p>
            <a:r>
              <a:t>Предыдущие два случая решали про работу: куда её отдать и сколько таких отдач вести разом. Здесь решается про место. Один каталог на нескольких исполнителей — и вопрос, что именно в нём ломается.</a:t>
            </a:r>
          </a:p>
          <a:p/>
          <a:p>
            <a:r>
              <a:t>Сессий у того, кто работает с агентом каждый день, обычно больше одной: первая занята, пришла вторая задача, открывается вторая сессия. Субагентов в одной папке — почти всегда больше одного, и это штатное положение дел. Субагенты попадают в ту же папку по устройству: субагент работает там, где стоит позвавшая его сессия. Разница между сессией и субагентом здесь одна, и на ней стоит весь случай: сессии отдельную копию репозитория дают почти всегда, субагенту — почти никогда, и у этого есть названная причина. К ней дальше и идём.</a:t>
            </a:r>
          </a:p>
          <a:p/>
          <a:p>
            <a:r>
              <a:t>Механизм, который ломается, старше агентов. Рабочая копия репозитория стоит на одной ветке для всех, кто в ней работает, и так было задолго до того, как в каталоге появился первый агент. Изменилась частота. Раньше в каталоге работал один человек своими руками и сам знал, что в файлах лежит. Теперь в нём стоят две сессии и десяток субагентов, и у каждого своё представление о состоянии файлов.</a:t>
            </a:r>
          </a:p>
          <a:p/>
          <a:p>
            <a:r>
              <a:t>Проверить это у себя можно по памяти, не открывая ничего: сколько сессий вы держите открытыми на одном репозитории и сколько раз за последний месяц переключали ветку, пока рядом шла чужая работа. Если ответ «такого не было» — к концу случая будет виден признак, по которому столкновение опознаётся, и он не в том, что работа сломалась заметно.</a:t>
            </a:r>
          </a:p>
          <a:p/>
          <a:p>
            <a:r>
              <a:t>Числа столкновений ниже взяты из журнала этого курса. Курс собран тем самым способом, о котором идёт речь, — несколькими сессиями в одной рабочей копии, — и трижды поймал ровно то, что разбирается дальше.</a:t>
            </a:r>
          </a:p>
          <a:p/>
          <a:p>
            <a:r>
              <a:t>К концу случая решается одно: где разводить копиями и где только зонами. Ответ для сессии и для субагента получится разным.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проверки адреса — та самая, после бага на показе: пробел перед доменом форма приняла. На ветке </a:t>
            </a:r>
            <a:r>
              <a:rPr>
                <a:latin typeface="Consolas"/>
              </a:rPr>
              <a:t>fix/email-pattern</a:t>
            </a:r>
            <a:r>
              <a:t> работа начата и не закоммичена: регулярное выражение в </a:t>
            </a:r>
            <a:r>
              <a:rPr>
                <a:latin typeface="Consolas"/>
              </a:rPr>
              <a:t>index.html</a:t>
            </a:r>
            <a:r>
              <a:t> поправлено, сообщение об ошибке в </a:t>
            </a:r>
            <a:r>
              <a:rPr>
                <a:latin typeface="Consolas"/>
              </a:rPr>
              <a:t>src/validate.js</a:t>
            </a:r>
            <a:r>
              <a:t> — ещё нет.</a:t>
            </a:r>
          </a:p>
          <a:p/>
          <a:p>
            <a: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нечем — задачи независимы, а сессия занята; это и есть обычный повод открыть вторую. Разработчик открывает её в том же каталоге, на том же репозитории.</a:t>
            </a:r>
          </a:p>
          <a:p/>
          <a:p>
            <a:r>
              <a:t>Вторая сессия начинает с собственной ветки: </a:t>
            </a:r>
            <a:r>
              <a:rPr>
                <a:latin typeface="Consolas"/>
              </a:rPr>
              <a:t>git checkout -b chore/bump-deps</a:t>
            </a:r>
            <a:r>
              <a:t>. Здесь всё и решается. Каталог один, ветка в нём одна на всех, кто в этом каталоге работает, и незакоммиченная правка адреса переезжает на новую ветку вместе с файлами.</a:t>
            </a:r>
          </a:p>
          <a:p/>
          <a:p>
            <a:r>
              <a:t>Git этого не остановил, и останавливать было нечего: новая ветка заводится от текущего состояния каталога и незакоммиченные правки переносит с собой. Это штатное поведение, на которое и рассчитывают, когда обнаружили, что начали работу не на той ветке. Отказ приходит в другом случае — когда переключение затронуло бы те самые строки, которые вы правите. Здесь файлы были разные, и всё прошло тихо.</a:t>
            </a:r>
          </a:p>
          <a:p/>
          <a:p>
            <a:r>
              <a:t>Вторая сессия доделывает своё и забирает в коммит всё, что видит в каталоге: </a:t>
            </a:r>
            <a:r>
              <a:rPr>
                <a:latin typeface="Consolas"/>
              </a:rPr>
              <a:t>git add -A</a:t>
            </a:r>
            <a:r>
              <a:t> берёт изменённые файлы целиком, без разбора, чьи они. Недоделанная проверка адреса для этой сессии — часть состояния файлов. Отличить «моё» от «чужого» по состоянию нельзя: в состоянии не записано, кто его сделал.</a:t>
            </a:r>
          </a:p>
          <a:p/>
          <a:p>
            <a:r>
              <a:t>Первая сессия продолжает по тому, что прочитала раньше: дописывает сообщение об ошибке, прогоняет тесты, докладывает, что правка готова. Своей ветки под ней уже нет — каталог стоит на ветке зависимостей.</a:t>
            </a:r>
          </a:p>
          <a:p/>
          <a:p>
            <a:r>
              <a:t>Обе сессии доложили об успехе, и каждая была права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a:p/>
          <a:p>
            <a:r>
              <a:t>У этой истории есть свойство, которое стоит заметить отдельно: задачи не делят ни одного файла. Правка адреса трогает разметку и скрипт проверки, подъём зависимости — файл со списком пакетов. Ответ «не берите пересекающиеся задачи» здесь не работает, потому что их и не брали. Ломает сама общая рабочая копия, при любом выборе работы.</a:t>
            </a:r>
          </a:p>
          <a:p/>
          <a:p>
            <a:r>
              <a:t>Увидеть происходящее можно было и раньше: имя текущей ветки у обеих сессий одно и то же, и оно на виду. Смотреть в это место никто не ходит — у каждой сессии своя задача, и обе на вид идут нормально.</a:t>
            </a:r>
          </a:p>
          <a:p/>
          <a:p>
            <a:r>
              <a:t>Возражение «мой агент сам ветку не переключает» стоит проверить, прежде чем на него опираться: переключение ветки — обычный первый шаг при новой задаче, и инструкция проекта чаще его требует, чем запрещает. Коммит перед запуском второй сессии эту историю спас бы: вернуть было бы к чему. Одну ветку на каталог он при этом не отменяет, и следующая пара задач столкнётся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потому что он здесь есть почти у каждого. Было ли у вас, что два запуска дерутся за одну рабочую папку: ветка оказалась не та, правка перекрыта, сборка собралась не из того, — а странного никто при этом не делал? Если было, дальше стоит держать в голове, чем это кончилось у вас.</a:t>
            </a:r>
          </a:p>
          <a:p/>
          <a:p>
            <a:r>
              <a:t>Задачи друг от друга не зависят, обе сессии нужны разом, каталог у них один. Ни одна из сессий в этой истории не сделала ничего странного: одна начала с ветки, другая продолжила по прочитанному. Спрашивать поэтому стоит про устройство — что здесь заводят или меняют, чтобы это не повторилось.</a:t>
            </a:r>
          </a:p>
          <a:p/>
          <a:p>
            <a:r>
              <a:t>Пять ходов: коммитить перед каждым переключением; работать по очереди, в одной сессии; вместо второй сессии — субагенты в первой; каждой сессии — свою копию репозитория; развести по файлам и договориться. Выбирать стоит вместе с обоснованием рядом с остальными четырьмя: у каждого из пяти есть случай, где он работает, и предел, за которым он перестаёт работать.</a:t>
            </a:r>
          </a:p>
          <a:p/>
          <a:p>
            <a:r>
              <a:t>Ответов, которые на такой вопрос звучат чаще прочих, пять, и с каждым полезно проделать одну работу — спросить, что он делает с веткой и что с файлом.</a:t>
            </a:r>
          </a:p>
          <a:p/>
          <a:p>
            <a:r>
              <a:t>«Коммитить перед переключением». Его называют первым, и он рабочий. Проверочный вопрос: что он делает с ветками? Вернуть потерянное он позволяет — есть к чему вернуться. Одну ветку на каталог он не отменяет, и значит, историю вроде разобранной он делает восстановимой, не предотвращая её.</a:t>
            </a:r>
          </a:p>
          <a:p/>
          <a:p>
            <a:r>
              <a:t>«По очереди». Честный ответ, и защитить его стоит прямо: столкновений не будет вовсе — одна работа в каталоге, одна ветка, один исполнитель. Проверочный вопрос про цену: что происходит, когда вторая задача не может ждать столько, сколько идёт первая.</a:t>
            </a:r>
          </a:p>
          <a:p/>
          <a:p>
            <a:r>
              <a:t>«Субагенты вместо второй сессии». Продуктивная путаница, и ведёт она прямо в середину случая. Субагенты действительно заменяют вторую сессию: задачу объяснять заново не нужно, итог приходит туда, где лежит работа. Проверочный вопрос: в каком каталоге работают эти субагенты?</a:t>
            </a:r>
          </a:p>
          <a:p/>
          <a:p>
            <a:r>
              <a:t>«Своя копия каждой сессии». Проверочный вопрос, на который целиком отвечают редко: что в этой копии своё и что общее с основной? Ответ понадобится на механике копии, и от него зависит, окупается копия или нет.</a:t>
            </a:r>
          </a:p>
          <a:p/>
          <a:p>
            <a:r>
              <a:t>«Развести по файлам и договориться». Проверочный вопрос: где эта договорённость держится на устройстве и где только на памяти участников?</a:t>
            </a:r>
          </a:p>
          <a:p/>
          <a:p>
            <a:r>
              <a:t>Отдельно стоит разобрать ответ «пусть исполнители сами разберутся». Разобраться они могут по состоянию файлов, а в состоянии не записано, кто его сделал, — это уже видно из сцены.</a:t>
            </a:r>
          </a:p>
          <a:p/>
          <a:p>
            <a:r>
              <a:t>Шестой ход, которого на карточках нет, приносят часто, и чаще прочего это очередь на общий файл или назначенный владелец каталога. Оба пригодятся в конце случая: они отвечают на вопрос, который пять карточек не закрывают.</a:t>
            </a:r>
          </a:p>
          <a:p/>
          <a:p>
            <a:r>
              <a:t>И последнее, если ответ кажется единственным и очевидным. Проверьте, посчитали ли вы рабочее место: что придётся сделать, прежде чем в новой копии получится запустить сборку. Уверенность здесь обычно держится на том, что эту часть не считали.</a:t>
            </a:r>
          </a:p>
          <a:p/>
          <a:p>
            <a:r>
              <a:t>Ещё одно наблюдение про сам набор карточек. Четыре хода из пяти — про дисциплину: коммитить вовремя, работать по очереди, делить файлы, договариваться. Дисциплина отменяема одним забывчивым утром. Пятый ход — про устройство: он меняет то, что физически видят два исполнителя. Разбор начнётся с этого различия, потому что оно сортирует все пять.</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пяти ходам. У каждого названо, что он делает и где его предел; из сочетания двух колонок вывод складывается сам.</a:t>
            </a:r>
          </a:p>
          <a:p/>
          <a:p>
            <a:r>
              <a:rPr b="1"/>
              <a:t>Коммитить перед каждым переключением.</a:t>
            </a:r>
            <a:r>
              <a:t> Возвращает потерянное: есть к чему вернуться, и чужой коммит виден в истории. Ветка в каталоге при этом остаётся одна на всех, и о столкновении вы узнаёте после него. Законный выбор там, где столкновения редки и восстановление дёшево.</a:t>
            </a:r>
          </a:p>
          <a:p/>
          <a:p>
            <a:r>
              <a:t>Выглядит это в истории репозитория так: чужой коммит стоит на месте, в нём лежат файлы, которых автор коммита не трогал, и разбираться, что откуда, приходится по именам файлов. Восстановить можно всё; потратить придётся время того, кто разбирается.</a:t>
            </a:r>
          </a:p>
          <a:p/>
          <a:p>
            <a:r>
              <a:rPr b="1"/>
              <a:t>Работать по очереди, в одной сессии.</a:t>
            </a:r>
            <a:r>
              <a:t> Снимает столкновение целиком: одна работа в каталоге, одна ветка, один исполнитель. Платите временем — вторая задача стоит, пока идёт первая, и это та самая очередь, от которой уходил предыдущий случай. Законный выбор, когда вторая задача действительно может подождать.</a:t>
            </a:r>
          </a:p>
          <a:p/>
          <a:p>
            <a:r>
              <a:rPr b="1"/>
              <a:t>Вместо второй сессии — субагенты в первой.</a:t>
            </a:r>
            <a:r>
              <a:t> Снимает спор о ветке: субагенты работают в той же ветке, что сессия, и задачу не нужно объяснять заново. Каталог у них общий по устройству, поэтому спор о файле остаётся на месте. Это половина ответа, и её механику разбирает экран про субагентов в одной папке.</a:t>
            </a:r>
          </a:p>
          <a:p/>
          <a:p>
            <a:r>
              <a:rPr b="1"/>
              <a:t>Каждой сессии — свою копию репозитория.</a:t>
            </a:r>
            <a:r>
              <a:t> Даёт каждой свои файлы и свою ветку при общей истории: переключение ветки у одной под руками другой ничего не меняет. Копию нужно поднять как рабочее место — зависимости, файлы, которых нет в версиях; сводить работу всё равно веткой. Поэтому у хода «тогда всегда своя копия» есть цена: на тридцатисекундной правке опечатки поднять копию дороже самой правки.</a:t>
            </a:r>
          </a:p>
          <a:p/>
          <a:p>
            <a:r>
              <a:rPr b="1"/>
              <a:t>Развести по файлам и договориться.</a:t>
            </a:r>
            <a:r>
              <a:t> Работает там, где копий не бывает: внутри одной сессии, между её исполнителями. Держится на том, что зоны действительно не пересекаются, и один общий файл отменяет договорённость целиком. Такой файл почти всегда есть — в этом случае он сыграет на экране провала.</a:t>
            </a:r>
          </a:p>
          <a:p/>
          <a:p>
            <a:r>
              <a:t>Вывод складывается из четвёртой и пятой строк.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случае оба.</a:t>
            </a:r>
          </a:p>
          <a:p/>
          <a:p>
            <a:r>
              <a:t>Вопрос, который здесь возникает сразу: почему субагенты не получают своей копии, если сессии получают. Получить могут — одной строкой в описании субагента. Делают это редко, и причина разбирается в конце случая, там, где видна цена. Пока достаточно знать, что запрета здесь нет.</a:t>
            </a:r>
          </a:p>
          <a:p/>
          <a:p>
            <a:r>
              <a:t>Два хода из пяти друг друга не отменяют. Копия на сессию плюс раскладка зон внутри каждой — так чаще всего и работают, потому что эти ходы отвечают на разные вопросы: первый про то, что видят две сессии, второй про то, что видят исполнители одной сессии.</a:t>
            </a:r>
          </a:p>
          <a:p/>
          <a:p>
            <a:r>
              <a:t>Строка «по очереди» предыдущему случаю не противоречит. Там выяснялось, что параллельность лежит в самой задаче: если работа делится, очередь — трата без выигрыша. Здесь названа цена параллельности, которую за неё платят местом. Обе строки описывают одно решение с разных сторон.</a:t>
            </a:r>
          </a:p>
          <a:p/>
          <a:p>
            <a:r>
              <a:t>Правая колонка таблицы — условие применения каждого хода. Ход, у которого названо, чего он не закрывает, остаётся рабочим: вы просто знаете, где он кончается. Ход без такой строки выглядит обещанием безопасности, и именно на таких обещаниях ломаются параллельные сборки — это видно на экране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Отдельная рабочая копия — свой каталог файлов и своя ветка; история и удалённый репозиторий те же, что у основной копии. В git это называется worktree.</a:t>
            </a:r>
          </a:p>
          <a:p/>
          <a:p>
            <a:r>
              <a:t>Выглядит это как второй каталог рядом с основным: внутри то же дерево проекта, те же пути файлов, другая ветка. Два каталога, один репозиторий.</a:t>
            </a:r>
          </a:p>
          <a:p/>
          <a:p>
            <a:r>
              <a:t>Заводится она одним флагом запуска: </a:t>
            </a:r>
            <a:r>
              <a:rPr>
                <a:latin typeface="Consolas"/>
              </a:rPr>
              <a:t>--worktree</a:t>
            </a:r>
            <a:r>
              <a:t> с именем создаёт копию под </a:t>
            </a:r>
            <a:r>
              <a:rPr>
                <a:latin typeface="Consolas"/>
              </a:rPr>
              <a:t>.claude/worktrees/имя/</a:t>
            </a:r>
            <a:r>
              <a:t> на новой ветке </a:t>
            </a:r>
            <a:r>
              <a:rPr>
                <a:latin typeface="Consolas"/>
              </a:rPr>
              <a:t>worktree-имя</a:t>
            </a:r>
            <a:r>
              <a:t>. Тот же запуск с другим именем в другом терминале поднимает вторую изолированную сессию — это и есть штатный способ вести две задачи разом. Руками то же делает </a:t>
            </a:r>
            <a:r>
              <a:rPr>
                <a:latin typeface="Consolas"/>
              </a:rPr>
              <a:t>git worktree add ../проект-правка -b правка</a:t>
            </a:r>
            <a:r>
              <a:t>.</a:t>
            </a:r>
          </a:p>
          <a:p/>
          <a:p>
            <a:r>
              <a:t>Своё у каждой копии — три вещи. Файлы в каталоге: переключение ветки в одной копии не меняет файлы в другой, и ровно это ломалось в сцене. Ветка и незакоммиченное состояние. И рабочее место: зависимости и всё, чего нет в версиях, в копии поднимают отдельно.</a:t>
            </a:r>
          </a:p>
          <a:p/>
          <a:p>
            <a:r>
              <a:t>Общего с основной копией больше, чем кажется, и первое из общего решает всё остальное — служебный каталог репозитория. Команды из копии пишут в общую историю, поэтому коммит, сделанный в копии, виден из основного каталога сразу, и работу из копии никуда не нужно переносить. Отсюда и разница со вторым клоном репозитория: клон — отдельный репозиторий со своей историей, и работу из него переносят между репозиториями; копия историю делит, поэтому ветка из копии забирается обычным слиянием. Для параллельной работы над одним проектом это свойство и решает.</a:t>
            </a:r>
          </a:p>
          <a:p/>
          <a:p>
            <a:r>
              <a:t>Второе общее — плагины, установленные на уровне проекта. Третье стоит запомнить отдельно: разрешение, выданное один раз ответом «больше не спрашивать», сохраняется в настройки основной копии и действует во всех. Удобство очевидно — подтверждать одно и то же в каждой новой копии никто не хочет. Обратная сторона: выданное внутри копии разрешение продолжает действовать после того, как сама копия убрана.</a:t>
            </a:r>
          </a:p>
          <a:p/>
          <a:p>
            <a:r>
              <a:t>Свежая копия приходит без того, чего нет в версиях: зависимости в ней не установлены, локальных файлов настроек в ней нет. Это обычная причина, по которой первая попытка собрать проект в новой копии падает. Какие из таких файлов переносить в каждую новую копию, задают отдельным списком — он лежит в репозитории и читается при создании копии.</a:t>
            </a:r>
          </a:p>
          <a:p/>
          <a:p>
            <a:r>
              <a:t>По месту на диске: файлы проекта в каждой копии свои, служебный каталог общий. Для репозитория исходников это обычно немного; для репозитория с тяжёлыми бинарниками стоит посчитать заранее — копия поднимается долго и занимает столько же, сколько рабочее дерево.</a:t>
            </a:r>
          </a:p>
          <a:p/>
          <a:p>
            <a:r>
              <a:t>Убирают копию, когда работа слита; если в ней осталось незакоммиченное, об этом спросят при выходе. Брошенные копии копятся на диске и в списке веток — это обычная уборка, которая сама не случается.</a:t>
            </a:r>
          </a:p>
          <a:p/>
          <a:p>
            <a:r>
              <a:t>Посмотреть, что у вас есть, можно одной командой: </a:t>
            </a:r>
            <a:r>
              <a:rPr>
                <a:latin typeface="Consolas"/>
              </a:rPr>
              <a:t>git worktree list</a:t>
            </a:r>
            <a:r>
              <a:t> печатает каталог и ветку каждой копии, включая основную. Это же команда, с которой стоит начать разбор, когда непонятно, в каком каталоге сейчас идёт работа.</a:t>
            </a:r>
          </a:p>
          <a:p/>
          <a:p>
            <a:r>
              <a:t>Что копия изменила бы в разобранной сцене. Вторая сессия, запущенная в своей копии, заводит ветку в своём каталоге; файлы первой остаются там, где лежали, с незакоммиченной правкой на её ветке. Коммит второй сессии виден из основного каталога сразу, потому что история общая. Сводить две работы по-прежнему приходится веткой — это копия не отменяет и не обещает.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Разобранный ход — своя рабочая копия на каждую задачу — живёт одной строкой в файле инструкций проекта. Это и есть артефакт случая, и он возвращает занятие к той ступени, которую проект прошёл двумя занятиями раньше.</a:t>
            </a:r>
          </a:p>
          <a:p/>
          <a:p>
            <a:r>
              <a:t>Файл этот уже есть и уже содержит правила того же рода: раздел с порядком работы в репозитории, и в нём строка о том, что прямо в ветку по умолчанию не коммитят. Требование работать в ветке, таким образом, записано давно. Рядом с ним дописываются две строки. Первая: каждая задача ведётся в своей рабочей копии — флагом при запуске либо командой git. Вторая: закончив задачу, предложи слияние ветки и уборку копии, незакрытую копию не оставляй.</a:t>
            </a:r>
          </a:p>
          <a:p/>
          <a:p>
            <a:r>
              <a:t>Почему это пишется в файл, а держится в памяти, объясняется устройством, которое занятие уже разобрало. Файл инструкций читается при старте каждой сессии, и порядок работы с копиями достаётся каждой из них одинаково — включая ту, которую подняли наспех в пятницу вечером. Договорённость, которая живёт в памяти, достаётся тем сессиям, про которые вспомнили, и именно забытые сессии приносят столкновения.</a:t>
            </a:r>
          </a:p>
          <a:p/>
          <a:p>
            <a:r>
              <a:t>Форма здесь — записанное словами правило, которое читают и которое само не исполняется. В том же файле с прошлого занятия стоит и правило второго вида: хук защиты ветки, код, срабатывающий на событие. Порядок работы с копиями хуком не оформляют: событие «пора заводить отдельную копию» заранее не описывается, его опознаёт человек или сессия по смыслу задачи.</a:t>
            </a:r>
          </a:p>
          <a:p/>
          <a:p>
            <a:r>
              <a:t>Второй конец правила стоит заметить отдельно. Первый конец, завести копию, делается охотно: без него не начать работу. Второй конец, слить ветку и убрать копию, делается после того, как задача решена, и ровно поэтому выпадает. Соблазн выглядит безобидно: задача оказалась мелкой, в отдельной сессии её решили быстро, сессию закрыли — и ветка осталась лежать отдельно, несмерженная. Вернуться к ней уже незачем: работа сделана, результат в голове, в ветке по умолчанию его нет. Через месяц таких веток столько, что разбирать их никто не станет.</a:t>
            </a:r>
          </a:p>
          <a:p/>
          <a:p>
            <a:r>
              <a:t>Цена второго конца измеряется на машине. На рабочем компьютере автора курса нашлось больше сотни старых рабочих копий — обнаружилось это тогда, когда кончилось место на диске. Уборка сама не случается: копия остаётся на диске и в списке веток до того момента, когда её уберут руками. Сотня копий репозитория — это сотня рабочих деревьев, и для проекта с тяжёлыми файлами счёт идёт в десятки гигабайт.</a:t>
            </a:r>
          </a:p>
          <a:p/>
          <a:p>
            <a:r>
              <a:t>Формулировка строки стоит того, чтобы её выбрать аккуратно. Полезнее всего работает формулировка через полный цикл: как задача начинается и как она завершается. Сессия, которой сказано «заведи копию», заводит копию. Сессия, которой сказано «заведи копию, а в конце предложи слияние и уборку», сама доходит до конца цикла и спрашивает, сливать ли, — и решение остаётся за человеком, а напоминание приходит в тот момент, когда оно уместно.</a:t>
            </a:r>
          </a:p>
          <a:p/>
          <a:p>
            <a:r>
              <a:t>Статус этого артефакта тот же, что у двух остальных сегодняшних: по плану, коммита нет и не будет. Демонстрационный репозиторий дальше не строится, и сказано это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внутрь одной сессии, где копий не бывает.</a:t>
            </a:r>
          </a:p>
          <a:p/>
          <a:p>
            <a: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 каждый следующий вызов начинается там же, где начался первый. Общая папка у субагентов — штатный режим, в котором они работают почти всегда.</a:t>
            </a:r>
          </a:p>
          <a:p/>
          <a:p>
            <a:r>
              <a:t>Три факта устройства, и из каждого своя поломка.</a:t>
            </a:r>
          </a:p>
          <a:p/>
          <a:p>
            <a:r>
              <a:t>Первое: каталог у субагента тот же, что у вызвавшей его сессии, и инструмент правки есть у всякого субагента, которому его не отняли строкой в описании. Отсюда перекрытая правка: два субагента правят одни файлы, и тот, что записал позже, перекрывает работу первого. Перекрывает целиком, когда переписывает файл вместо правки участка, — тогда от правки первого не остаётся следа.</a:t>
            </a:r>
          </a:p>
          <a:p/>
          <a:p>
            <a:r>
              <a:t>Строка, о которой речь, — список инструментов в описании субагента: чего в этом списке нет, того субагент не делает. Отнять инструмент правки у читающего субагента ничего не стоит, и это первое, что проверяют, когда в папке работают несколько исполнителей.</a:t>
            </a:r>
          </a:p>
          <a:p/>
          <a:p>
            <a:r>
              <a:t>Второе: состояние репозитория субагент получает снимком на момент своего старта, и снимок по ходу работы не обновляется. Выбрать, кому его давать, нельзя: его получают все субагенты, кроме двух чисто читающих режимов. Отсюда работа по состоянию, которого в каталоге уже нет: субагент создаёт заново файл, которого «не было», или правит строку, которую рядом уже переписали. Снимок сделан таким намеренно — субагент должен понимать, в каком состоянии репозиторий был на входе, а обновляемый снимок сделал бы его поведение зависящим от чужого темпа работы. Платим за это тем, что к середине работы снимок устарел.</a:t>
            </a:r>
          </a:p>
          <a:p/>
          <a:p>
            <a:r>
              <a:t>Два субагента, запущенные в один момент, получают одинаковый снимок — и дальше каждый действует по нему, не зная о втором. Это и делает поломку тихой: оба работают по корректному для себя состоянию.</a:t>
            </a:r>
          </a:p>
          <a:p/>
          <a:p>
            <a:r>
              <a:t>Третье: вызвавшая сессия получает итог субагента; шагов, которыми он получен, она не видит. Отсюда два успешных отчёта, по которым столкновения не видно вовсе — видно его в самих файлах. В переписке остаётся, что субагент работал и что он вернул; какие записи он сделал по ходу, восстанавливают по файлам и по истории репозитория.</a:t>
            </a:r>
          </a:p>
          <a:p/>
          <a:p>
            <a:r>
              <a:t>Так и устроено, и это нормально: субагент работает там, где лежит работа, иначе итог было бы некуда возвращать. Поэтому первая защита здесь — раскладка зон.</a:t>
            </a:r>
          </a:p>
          <a:p/>
          <a:p>
            <a:r>
              <a:t>Запретить субагенту писать можно, и для читающих субагентов это и есть ответ: список инструментов — состав арсенала, и чего в нём нет, того субагент физически не сделает. Для пишущих остаётся раскладка.</a:t>
            </a:r>
          </a:p>
          <a:p/>
          <a:p>
            <a:r>
              <a:t>Ход «пусть субагенты читают файл прямо перед записью» правильный, он разбирается следующим экраном, и предел у него есть: между чтением и записью остаётся промежуток, и он не нулевой.</a:t>
            </a:r>
          </a:p>
          <a:p/>
          <a:p>
            <a:r>
              <a:t>Сколько субагентов одна папка выдерживает — вопрос с двумя разными ответами. Устройство допускает двадцать разом. Сколько выдерживает папка, зависит от того, на сколько непересекающихся зон её удалось разложить, и этот вопрос закрывает обсуждение в конце случая.</a:t>
            </a:r>
          </a:p>
          <a:p/>
          <a:p>
            <a:r>
              <a:t>Позиция «пишущих субагентов лучше вообще не иметь» рабочая, и часть команд так и живёт: субагенты читают и докладывают, пишет сессия. Цена названа честно — всё написанное пишется в одном темпе, последовательно.</a:t>
            </a:r>
          </a:p>
          <a:p/>
          <a:p>
            <a:r>
              <a:t>Обнаруживают перекрытую правку по тем же двум признакам, которые работают во всём этом случае: перечитать файл после работы и посмотреть время его последней правки. Переписка субагента на этот вопрос не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приёмов, которыми столкновения в общей папке нивелируют. У каждого названо, чего он не закрывает, — поэтому список не читается обещанием безопасности.</a:t>
            </a:r>
          </a:p>
          <a:p/>
          <a:p>
            <a:r>
              <a:rPr b="1"/>
              <a:t>Развести зоны до запуска: у каждого исполнителя свой набор файлов.</a:t>
            </a:r>
            <a:r>
              <a:t> Документация харнесса предписывает это прямым текстом там, где копий не дают вовсе, — напарникам в команде агентов: работу делят так, чтобы каждому принадлежал свой набор файлов. Не закрывает приём общий файл, нужный двоим: он остаётся отдельной работой, и чьей именно — решают заранее.</a:t>
            </a:r>
          </a:p>
          <a:p/>
          <a:p>
            <a:r>
              <a:t>Раскладывает зоны человек, выдавая задачи: зоны называются в самой постановке, по именам файлов или каталогов. Отданное на усмотрение исполнителей разъезжается, потому что каждый видит свою задачу и чужих файлов из неё не видит.</a:t>
            </a:r>
          </a:p>
          <a:p/>
          <a:p>
            <a:r>
              <a:t>В постановке это выглядит одной строкой: «твоя зона — такие-то файлы; в соседние не заходи, перед правкой общего перечитай его». Строка короткая, и без неё исполнитель трогает всё, что считает относящимся к задаче.</a:t>
            </a:r>
          </a:p>
          <a:p/>
          <a:p>
            <a:r>
              <a:rPr b="1"/>
              <a:t>Читать файл прямо перед записью, не опираясь на прочитанное в начале работы.</a:t>
            </a:r>
            <a:r>
              <a:t> Это прямое следствие устаревающего снимка. Не закрывает приём промежуток между чтением и записью: он короткий и не нулевой, и этого достаточно, чтобы чужая запись легла между ними. Частоту столкновений приём снижает; обещать он ничего не может.</a:t>
            </a:r>
          </a:p>
          <a:p/>
          <a:p>
            <a:r>
              <a:rPr b="1"/>
              <a:t>Править участок, не переписывая файл целиком.</a:t>
            </a:r>
            <a:r>
              <a:t> Разница видна на любом общем файле: правка участка оставляет соседние строки чужими, и чужая работа выживает; переписывание приносит ваше представление о файле целиком. Второе удобнее и дороже. Не закрывает приём структурную переделку файла — там правка и есть «целиком», и такую работу в общей папке двое разом не делают.</a:t>
            </a:r>
          </a:p>
          <a:p/>
          <a:p>
            <a:r>
              <a:rPr b="1"/>
              <a:t>Давать непересекающиеся задачи, а сведение результатов вести отдельным проходом.</a:t>
            </a:r>
            <a:r>
              <a:t> Приём работает ровно до того места, где этот проход должен случиться: сам он не случается, его кто-то делает, и это видимая работа, которую надо запланировать.</a:t>
            </a:r>
          </a:p>
          <a:p/>
          <a:p>
            <a:r>
              <a:rPr b="1"/>
              <a:t>Признак успеха брать из самого файла: перечитать результат, сверить время правки.</a:t>
            </a:r>
            <a:r>
              <a:t> Называть обычную проверку отдельным приёмом приходится потому, что при параллельной работе привычные признаки успеха сходятся все разом, и каждый из них говорит правду о чём-то другом. Что это значит на деле, показывает следующий экран. Заранее этот приём не закрывает ничего: он ловит столкновение, которое уже случилось.</a:t>
            </a:r>
          </a:p>
          <a:p/>
          <a:p>
            <a:r>
              <a:t>Третий и пятый приёмы — обобщение обходов, которые пришлось завести в этом же репозитории; откуда они взялись, видно на следующем экране.</a:t>
            </a:r>
          </a:p>
          <a:p/>
          <a:p>
            <a: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a:p/>
          <a:p>
            <a:r>
              <a:t>Пяти хватает на то, что встречается чаще всего. Ни один из них не обещает, что столкновения не будет, и это сказано у каждого. Вопрос, кому принадлежит общий файл — названному владельцу, очереди или отдельному проходу сведения, — остаётся открытым и уходит в обсуждение.</a:t>
            </a:r>
          </a:p>
          <a:p/>
          <a:p>
            <a:r>
              <a:t>Шестой ход, который приходит сам и приёмом не является, — надежда на то, что исполнители случайно не сойдутся в одном файле. На двух исполнителях она оправдывается часто, на шести перестаёт: чем больше исполнителей, тем вероятнее, что кому-то понадобится файл, который уже кто-то 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курс собирают так же — несколькими сессиями разом, в одной рабочей копии. Три случая ниже записаны в журнале того самого репозитория, который открыт перед вами, и каждый из трёх показывает свою поломку из разобранных.</a:t>
            </a:r>
          </a:p>
          <a:p/>
          <a:p>
            <a:r>
              <a:rPr b="1"/>
              <a:t>Случай первый: пустой PDF при коде возврата ноль.</a:t>
            </a:r>
            <a:r>
              <a:t> Шесть сессий правили одну деку в одном каталоге. Сборка читает файл презентации и конвертирует его в PDF; соседняя сессия запустила свою сборку и переписала этот входной файл в тот момент, когда его читал конвертер.</a:t>
            </a:r>
          </a:p>
          <a:p/>
          <a:p>
            <a:r>
              <a:t>Признаки успеха сошлись все. Код возврата ноль. Построчно напечатано «отрисован слайд 44», «отрисован слайд 45» и так до пятидесятого. Напечатано «PDF скопирован». Число страниц в получившемся файле верное — пятьдесят четыре. И все пятьдесят четыре страницы из пятидесяти четырёх пустые.</a:t>
            </a:r>
          </a:p>
          <a:p/>
          <a:p>
            <a:r>
              <a:t>Пройти стоит по каждому признаку отдельно, потому что набор типовой и встречается далеко за пределами сборки слайдов.</a:t>
            </a:r>
          </a:p>
          <a:p/>
          <a:p>
            <a:r>
              <a:t>Код возврата ноль означает, что конвертер не упал. Он сообщает о собственном выполнении и ничего не говорит о содержимом результата: прочитал то, что получил из файла, довёл работу до конца, вышел штатно. Файл, который переписывают под чтением, чтение ошибкой не делает — он делает прочитанное другим.</a:t>
            </a:r>
          </a:p>
          <a:p/>
          <a:p>
            <a:r>
              <a:t>Построчные «отрисован слайд» с номером печатает сам сборщик, обходя страницы. Строка говорит, что шаг был запущен, и молчит о том, что на странице оказалось.</a:t>
            </a:r>
          </a:p>
          <a:p/>
          <a:p>
            <a:r>
              <a:t>«PDF скопирован» — отчёт о копировании файла. Файл существовал и скопировался. В содержимое эта проверка не смотрит вовсе.</a:t>
            </a:r>
          </a:p>
          <a:p/>
          <a:p>
            <a:r>
              <a:t>Верное число страниц обманывает сильнее прочих признаков, потому что выглядит содержательным: пятьдесят четыре ожидали, пятьдесят четыре и получили. Структура документа уцелела — страницы пересчитаны и расставлены. Чернил на них нет. Число страниц получается дёшево и о содержимом не говорит.</a:t>
            </a:r>
          </a:p>
          <a:p/>
          <a:p>
            <a:r>
              <a:t>Единственный видимый след лежал в размере: файл похудел с 6,67 до 2,69 МБ. На размеры никто не смотрел, и это понятно — отдельного признака в размере нет, пока его не с чем сравнить.</a:t>
            </a:r>
          </a:p>
          <a:p/>
          <a:p>
            <a:r>
              <a:t>Поймали другим способом — сравнением времён. У входного файла время правки оказалось позже, чем у выходного; значит, выход собран из чего-то другого, и собранному верить нельзя. Это и есть проверка, которая здесь работает: сверить время входа и выхода и перечитать сам результат. Вопрос к сборке — из того ли входа собран её выход; то, что она прошла, на этот вопрос не отвечает.</a:t>
            </a:r>
          </a:p>
          <a:p/>
          <a:p>
            <a:r>
              <a:t>Почему пустые страницы не нашли раньше: искали поломку в своих слайдах. Страницы белые — значит, сломал тот, кто правил последним, и каждый шёл проверять своё содержимое. Признак, по которому это опознаётся, в содержимом не лежит вовсе: он лежит во времени правки входного файла.</a:t>
            </a:r>
          </a:p>
          <a:p/>
          <a:p>
            <a:r>
              <a:rPr b="1"/>
              <a:t>Случай второй: ошибка, которой не было.</a:t>
            </a:r>
            <a:r>
              <a:t> Две сессии правили один файл сборки, и чтение файла попало в середину чужой записи. Сборка упала с жалобой на имя, которого «нет», — строка объявления в файле была, её видно глазами. Через полминуты та же сборка прошла без единой правки с чьей-либо стороны.</a:t>
            </a:r>
          </a:p>
          <a:p/>
          <a:p>
            <a:r>
              <a:t>По знаку этот случай обратен первому: там успешный отчёт при сломанном результате, здесь отказ при целом файле. Причина у обоих одна — читали состояние, которое кто-то в этот момент менял. Признак запомнить стоит: ошибка, исчезающая сама, без правок, — признак чтения меняющегося состояния. Искать дефект в коде в такой ситуации бесполезно, потому что дефекта там нет.</a:t>
            </a:r>
          </a:p>
          <a:p/>
          <a:p>
            <a:r>
              <a:rPr b="1"/>
              <a:t>Случай третий: две лекции в одной копии.</a:t>
            </a:r>
            <a:r>
              <a:t> Лекцию собирали параллельно с другой в одной рабочей копии, и ветку переключали из обеих сессий. Каждая сессия видела свою ветку на месте — в тот момент, когда смотрела. Переключений за одну сессию набралось больше семи, и около двух часов ушло на восстановление.</a:t>
            </a:r>
          </a:p>
          <a:p/>
          <a:p>
            <a:r>
              <a:t>Рядом с этим случаем стоит обратный, и он весит больше самой поломки. После перехода на отдельные копии ту же работу вели параллельно дальше: сначала три лекции разом, затем четыре — и столкновений не было ни одного. Параллельная работа, значит, осталась и расширилась. Запретить пришлось общий каталог под ней.</a:t>
            </a:r>
          </a:p>
          <a:p/>
          <a:p>
            <a:r>
              <a:t>Что следует из трёх случаев вместе. Все привычные признаки успеха сошлись, и ни одна сессия по отдельности не сделала ничего неверного: каждая выполнила свою работу и честно о ней доложила. Правду показали две вещи — сам результат, перечитанный после сборки, и время правки файлов. Отсюда и пятый приём предыдущего экрана, который без этих трёх случаев выглядел бы банальностью.</a:t>
            </a:r>
          </a:p>
          <a:p/>
          <a:p>
            <a:r>
              <a:t>В правилах курса это кончилось двумя записями. Отдельная копия на сессию стала обязательной, и причина записана рядом с требованием. Второй обход — общий файл сборки не трогать вовсе: собирать свой набор страниц в своём каталоге, и тогда чужая сборка ваш вход переписать не может.</a:t>
            </a:r>
          </a:p>
          <a:p/>
          <a:p>
            <a:r>
              <a:t>Во всех трёх случаях работали сессии. Для субагентов разница одна: своей копии у них по умолчанию нет, поэтому выбор между копией и зонами там не возникает — остаются зоны. Ломается общий каталог, и ему безразлично, кто в нём работает.</a:t>
            </a:r>
          </a:p>
          <a:p/>
          <a:p>
            <a:r>
              <a:t>Проверка у себя: </a:t>
            </a:r>
            <a:r>
              <a:rPr>
                <a:latin typeface="Consolas"/>
              </a:rPr>
              <a:t>git worktree list</a:t>
            </a:r>
            <a:r>
              <a:t> покажет, есть ли у вас хоть одна отдельная копия и сколько сессий сейчас стоят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Копию субагенту дать можно, и начинать стоит с этого, чтобы из случая не ушло неверное «так нельзя». Одна строка в описании субагента — </a:t>
            </a:r>
            <a:r>
              <a:rPr>
                <a:latin typeface="Consolas"/>
              </a:rPr>
              <a:t>isolation: worktree</a:t>
            </a:r>
            <a:r>
              <a:t> — и субагент работает во временной копии репозитория; копия убирается сама, если субагент ничего не изменил. Разово о том же просят словами: использовать для субагентов отдельные копии. Поле существует и описано. Включают его редко, и редкость эта — решение, которое складывается из трёх цен.</a:t>
            </a:r>
          </a:p>
          <a:p/>
          <a:p>
            <a:r>
              <a:rPr b="1"/>
              <a:t>Цена первая — ветка.</a:t>
            </a:r>
            <a:r>
              <a:t> Копия субагента отрастает от ветки по умолчанию репозитория. От состояния, на котором стоит ваша сессия, она не отрастает, и значит, работы, начатой в вашем каталоге, изолированный субагент просто не видит: он получает чистое дерево на ветке по умолчанию и делает свою правку поверх него. Переключить это можно — базу ветки задают отдельной настройкой, и документация прямо называет случай, для которого настройка сделана: изолируем субагента, которому нужно работать по незавершённому. Знать про настройку стоит, иначе цена выглядит непреодолимой. Она настраиваемая, и перенастройка — отдельное решение, которое кто-то принимает осознанно.</a:t>
            </a:r>
          </a:p>
          <a:p/>
          <a:p>
            <a:r>
              <a:rPr b="1"/>
              <a:t>Цена вторая — возврат.</a:t>
            </a:r>
            <a:r>
              <a:t> Канал назад у субагента один: итоговый текст. Файловые правки остаются в его каталоге, на его ветке, и принести их в вашу работу приходится вам. В обычном режиме такого шага нет вовсе: субагент правит там, где лежит работа, и правка уже на месте. Изоляция меняет это на «правка готова и лежит в стороне», и дальше её кто-то вносит руками или забирает слиянием ветки. На этом держится весь ответ: цена изоляции субагента — появление шага, которого до неё не было.</a:t>
            </a:r>
          </a:p>
          <a:p/>
          <a:p>
            <a:r>
              <a:rPr b="1"/>
              <a:t>Цена третья — рабочее место.</a:t>
            </a:r>
            <a:r>
              <a:t> В копии оно собственное: зависимости и локальные файлы субагент получает в том виде, в каком их туда положили. Субагент, которому нужно прогнать тесты, в неподнятой копии не найдёт ничего и честно доложит об отказе.</a:t>
            </a:r>
          </a:p>
          <a:p/>
          <a:p>
            <a:r>
              <a:t>Критерий отсюда проходит по работе субагента, не по их числу.</a:t>
            </a:r>
          </a:p>
          <a:p/>
          <a:p>
            <a:r>
              <a:t>Копию дают, когда работа субагента — цельное изменение, которое нормально принять веткой: механический перебор по многим файлам, одно соглашение, применённое ко всему дереву. Дают, когда изменений много и проверять их удобнее отдельно от вашей собственной правки. И есть готовый приём, который делит одно крупное изменение на десятки изолированных субагентов разом; существует он ровно потому, что для такой работы изоляция окупается.</a:t>
            </a:r>
          </a:p>
          <a:p/>
          <a:p>
            <a:r>
              <a:t>Копию не дают, когда субагент правит начатое вами: отдельная копия отрежет его от этой работы, и вернётся субагент с правкой чистого дерева. Не дают, когда правка короткая и нужна здесь же — поднять рабочее место копии дороже самой правки. И не дают читающему субагенту: ему нечем столкнуться, изолировать нечего.</a:t>
            </a:r>
          </a:p>
          <a:p/>
          <a:p>
            <a:r>
              <a:t>Напарникам в команде агентов копий не дают вовсе — такие команды работают в одном каталоге по устройству, и предписание для них то же: развести работу по файлам. Это и есть ответ на вопрос, где класс работы под изоляцию кончается. Он кончается там, где исполнители ведут одну общую задачу и смотрят в одни файлы.</a:t>
            </a:r>
          </a:p>
          <a:p/>
          <a:p>
            <a:r>
              <a:t>Что станет с копией субагента, когда субагент закончил. Если он ничего не изменил, копию убирают сразу — это делает устройство само, без чьей-либо дисциплины. Если изменил, копия остаётся лежать до уборки вместе с веткой. Забытые копии субагентов накапливаются так же, как забытые ветки, и уборка их сама не случается.</a:t>
            </a:r>
          </a:p>
          <a:p/>
          <a:p>
            <a:r>
              <a:t>Короткий итог, который стоит унести вместо «субагентам копию не дают»: дают, под один класс работы — тот, где правка субагента целиком его собственная и принимается веткой. В остальных случаях изоляция отрезает субагента от работы, ради которой его позвали.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Копия разводит сессии, зоны разводят исполнителей внутри сессии. Где кончается одно и начинается другое, каждая команда решает сама. Готового ответа у двух вопросов ниже нет, и причину этого можно назвать прямо: ответ упирается в обстоятельства, которые у разных команд разные — как дорого поднимается рабочее место копии, как часто трогают общий файл, кто сводит результаты и сколько у него на это времени. Поэтому вопрос ставится вместе с требованием назвать условие, при котором ответ меняется: названное условие переносится на другой инструмент, привычка — нет.</a:t>
            </a:r>
          </a:p>
          <a:p/>
          <a:p>
            <a:r>
              <a:rPr b="1"/>
              <a:t>Первый вопрос: что должно быть верно про две работы, чтобы вы согласились вести их в одной папке, и по какому признаку заводите отдельную копию вместо работы по очереди.</a:t>
            </a:r>
          </a:p>
          <a:p/>
          <a:p>
            <a:r>
              <a:t>Сильных позиций у него две, и обе законные.</a:t>
            </a:r>
          </a:p>
          <a:p/>
          <a:p>
            <a:r>
              <a:t>«Всегда отдельная копия, без исключений.» Столкновения при этом физически невозможны: у каждой работы свои файлы и своя ветка. Цена видна на двух случаях. Правка опечатки в тексте занимает тридцать секунд, а подъём рабочего места копии — минуты, и на такой работе копия дороже самой правки. Репозиторий с тяжёлыми файлами копируется долго и занимает столько же места, сколько рабочее дерево. К этому прибавляются брошенные копии, которые накапливаются, и разрешение, выданное внутри копии и переживающее её.</a:t>
            </a:r>
          </a:p>
          <a:p/>
          <a:p>
            <a:r>
              <a:t>«По очереди надёжнее.» Тоже честно: одна работа в каталоге, одна ветка, один исполнитель, сталкиваться нечему. Цена — время, и проверяется позиция одним вопросом: что происходит, когда очередь длиннее рабочего дня. Предыдущий случай занятия показал, что параллельность лежит в самой задаче: если работа делится, очередь становится потерей без выигрыша.</a:t>
            </a:r>
          </a:p>
          <a:p/>
          <a:p>
            <a:r>
              <a:t>Между этими позициями лежит то, как работают чаще всего: копия на сессию плюс раскладка зон внутри каждой. Условие, от которого зависит выбор, формулируется тогда по общему файлу. Если две работы не трогают ни одного общего файла — одной папки с раскладкой зон достаточно. Если трогают редко — хватает очереди на этот файл. Если трогают постоянно — нужна или копия, или один исполнитель на обе работы.</a:t>
            </a:r>
          </a:p>
          <a:p/>
          <a:p>
            <a:r>
              <a:t>Признак «копия вместо очереди» сводится к одному вопросу: может ли вторая работа ждать столько, сколько идёт первая. Если может — очередь дешевле, и считать больше нечего. Если не может — платите за копию, и в счёт входит подъём рабочего места.</a:t>
            </a:r>
          </a:p>
          <a:p/>
          <a:p>
            <a:r>
              <a:rPr b="1"/>
              <a:t>Второй вопрос: сколько исполнителей с правом записи вы готовы держать в одной папке разом. Число и признак, по которому остановитесь.</a:t>
            </a:r>
          </a:p>
          <a:p/>
          <a:p>
            <a:r>
              <a:t>Устройство допускает двадцать субагентов одновременно, и упираются обычно не в этот предел. Упираются в человека, который читает результаты: сведение работы десяти исполнителей — отдельная работа, и чем больше исполнителей, тем она дольше. Число больше десяти поэтому стоит проверять вопросом «кто сводит и сколько это занимает», а возможности инструмента здесь мало что решают.</a:t>
            </a:r>
          </a:p>
          <a:p/>
          <a:p>
            <a:r>
              <a:t>Признак, по которому останавливаются, называется через зоны: сколько непересекающихся наборов файлов вы можете назвать заранее. Удалось назвать шесть — шесть исполнителей и работают. Седьмой, которому своей зоны не досталось, берёт чужую, и выигрыш от него съедает столкновение.</a:t>
            </a:r>
          </a:p>
          <a:p/>
          <a:p>
            <a:r>
              <a:t>Второй признак — общий файл. Если есть один файл, нужный всем, потолок по нему — один пишущий, независимо от общего числа исполнителей. Читающие субагенты в это число не входят вовсе: им нечем столкнуться, и ограничение относится к праву записи.</a:t>
            </a:r>
          </a:p>
          <a:p/>
          <a:p>
            <a:r>
              <a:rPr b="1"/>
              <a:t>Третий вопрос, если первые два закрылись быстро:</a:t>
            </a:r>
            <a:r>
              <a:t> кому принадлежит файл, нужный двоим — названному владельцу, очереди или отдельному проходу сведения. Ответ зависит от частоты. Файл, который трогают раз в неделю, закрывается очередью. Файл, который трогают постоянно, просит владельца. Файл, который собирается из кусков, просит отдельного прохода — и проход этот кто-то делает, сам он не случается.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начинается с того же человека, с которого занятие началось.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лимит участников мог проверяться, собрал верный список из четырёх мест — и переспросил то, что ему объясняли утром: чтение съело место, в котором лежала сама работа. Третья и четвёртая строки этой таблицы — ровно то, что встало на место этих двух промахов.</a:t>
            </a:r>
          </a:p>
          <a:p/>
          <a:p>
            <a:r>
              <a:t>Третья строка, понедельник. MCP даёт агенту доступ к системе снаружи, и права на этом доступе урезают до подключения, не после. Порядок здесь имеет цену, и она документирована: в случае, разобранном в блоке (Invariant Labs, май 2025), агент работал с токеном на все репозитории пользователя, включая приватные; в публичном репозитории лежал обычный на вид issue с инструкцией собрать данные о других репозиториях и опубликовать их здесь же; разработчик попросил агента разобраться с открытыми issue, агент честно их прочитал, инструкция попала в контекст как задача, и содержимое приватных репозиториев уехало в автоматически созданный публичный PR. Вычеркнутая на сборке строка «все репозитории, включая приватные» закрывает этот сценарий целиком: читать нечего. Колонка «предотвращаем или решаем» у этой строки смешанная — на входе блок предотвращает, дальше решает уже возникшее: как проверить то, что подключено, и что делать с тем, что уже одобрили.</a:t>
            </a:r>
          </a:p>
          <a:p/>
          <a:p>
            <a:r>
              <a:t>Четвёртая строка, среда. Делегировать задачу отдельному исполнителю можно бесплатно, без единой строки конфигурации: чтение уходит в контекст субагента, а обратно в сессию приходит итог. Чего эта строка не делает — рабочий каталог она не разводит. Субагент работает там же, где стоит вызвавшая его сессия, и несколько исполнителей правят одни и те же файлы; столкновения убирают раскладкой зон, само делегирование их не снимает.</a:t>
            </a:r>
          </a:p>
          <a:p/>
          <a:p>
            <a:r>
              <a:t>Почему понедельник закрывает MCP, а среда — субагента, следует из того, чего не хватало. В понедельник нужного не было внутри вовсе, и контекст любого размера этого не меняет: помогает доступ к системе, которая живёт отдельно от проекта. В среду всё нужное внутрь влезло и вытеснило работу: помогает чужой контекст, в котором читают за нас и возвращают итог.</a:t>
            </a:r>
          </a:p>
          <a:p/>
          <a:p>
            <a:r>
              <a:t>Колонку «что не делает» у новых строк читают по тому же критерию, что у хука и скилла. Так механизм описан до того, как его замерили; здесь показано, где заканчивается то, что он делает на самом деле. И по тому же критерию обе сегодняшние строки стоят рядом с двумя прежними: хук и скилл перенесены с начала занятия без изменений, порядок ступеней тот же — хук, скилл, MCP, субагент. Четыре строки заполнены, и это вся ось занятия.</a:t>
            </a:r>
          </a:p>
          <a:p/>
          <a:p>
            <a:r>
              <a:t>Замеры, на которых стоят две новые строки, лежат в разных местах. По MCP — в документации продукта и в карточке конкретного сервера внутри сессии; в репозитории их нет. По субагенту — у вас самих: </a:t>
            </a:r>
            <a:r>
              <a:rPr>
                <a:latin typeface="Consolas"/>
              </a:rPr>
              <a:t>git worktree list</a:t>
            </a:r>
            <a:r>
              <a:t> печатает, есть ли хоть одна отдельная копия репозитория и сколько сессий стоят сейчас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Пометка «схема, не снимок» в верхней строке — часть содержания. Шесть строк ниже показывают, что в проекте есть и чем это подтверждено, и у двух последних подтверждения нет.</a:t>
            </a:r>
          </a:p>
          <a:p/>
          <a:p>
            <a:r>
              <a:t>Верхние четыре строки стоят так же, как в начале занятия: хук с коммитом, скилл по плану, </a:t>
            </a:r>
            <a:r>
              <a:rPr>
                <a:latin typeface="Consolas"/>
              </a:rPr>
              <a:t>CLAUDE.md</a:t>
            </a:r>
            <a:r>
              <a:t> на сорока строках и пяти разделах, документационный слой </a:t>
            </a:r>
            <a:r>
              <a:rPr>
                <a:latin typeface="Consolas"/>
              </a:rPr>
              <a:t>DECISIONS.md</a:t>
            </a:r>
            <a:r>
              <a:t> без изменений. Две новые строки — сегодняшние. </a:t>
            </a:r>
            <a:r>
              <a:rPr>
                <a:latin typeface="Consolas"/>
              </a:rPr>
              <a:t>.mcp.json</a:t>
            </a:r>
            <a:r>
              <a:t>, файл подключения, в котором права вычеркнуты до трёх операций: читать открытые задачи, писать комментарий, создавать черновик правки. И </a:t>
            </a:r>
            <a:r>
              <a:rPr>
                <a:latin typeface="Consolas"/>
              </a:rPr>
              <a:t>.claude/agents/diff-reviewer.md</a:t>
            </a:r>
            <a:r>
              <a:t>, файл субагента, у которого в поле </a:t>
            </a:r>
            <a:r>
              <a:rPr>
                <a:latin typeface="Consolas"/>
              </a:rPr>
              <a:t>tools</a:t>
            </a:r>
            <a:r>
              <a:t> стоят три инструмента — </a:t>
            </a:r>
            <a:r>
              <a:rPr>
                <a:latin typeface="Consolas"/>
              </a:rPr>
              <a:t>Read</a:t>
            </a:r>
            <a:r>
              <a:t>, </a:t>
            </a:r>
            <a:r>
              <a:rPr>
                <a:latin typeface="Consolas"/>
              </a:rPr>
              <a:t>Grep</a:t>
            </a:r>
            <a:r>
              <a:t>, </a:t>
            </a:r>
            <a:r>
              <a:rPr>
                <a:latin typeface="Consolas"/>
              </a:rPr>
              <a:t>Glob</a:t>
            </a:r>
            <a:r>
              <a:t> — вместо всех доступных.</a:t>
            </a:r>
          </a:p>
          <a:p/>
          <a:p>
            <a:r>
              <a:t>Три операции в файле подключения остались от четырёх прав, которые широкий персональный токен даёт по умолчанию. Доступ ко всем репозиториям пользователя, включая приватные, вычеркнут: для списка операций он не нужен. Управление настройками вычеркнуто, удаление вычеркнуто. Из чтения и записи осталось и то и другое — читать задачи и писать комментарий с черновиком правки без этого нельзя. Остался один репозиторий, чтение задач и создание черновика; вся работа по урезанию прав сделана до подключения.</a:t>
            </a:r>
          </a:p>
          <a:p/>
          <a:p>
            <a:r>
              <a:t>У обоих стоит метка «по плану, коммита нет и не будет». Демонстрационный репозиторий дальше не строится: это решение, принятое заранее и объявленное прямо. Два занятия с разобранным материалом по доступу наружу и по урезанным правам дороже, чем одно занятие с демонстрационным репозиторием, достроенным до конца. Сказано это прямо по той же причине, по которой занятие весь час держалось на разнице между написанным и уже работающим: прятать ту же разницу в собственном итоге было бы странно.</a:t>
            </a:r>
          </a:p>
          <a:p/>
          <a:p>
            <a:r>
              <a:t>Имена файлов не придуманы под схему. Оба собирались на занятии построчно: файл подключения — в первом случае блока MCP, вместе с порядком разрешения конфликта имён между областями конфигурации; файл субагента — на одностраничнике ступени субагента, где разобраны все шесть его частей. Пути те же, без расхождений. У каждого из двух на своём экране названо, какая строка за что отвечает, и названо то, чего в файле нет: у файла подключения права ключа лежат вне файла, в переменной окружения, и урезаются отдельно от него. Схема здесь показывает только статус каждой строки.</a:t>
            </a:r>
          </a:p>
          <a:p/>
          <a:p>
            <a:r>
              <a:t>Стоит заметить,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Седьмая строка стоит особняком от двух предыдущих, и различие стоит назвать. Два файла — это новые артефакты по новым путям. Строка правила про рабочие копии дописывается в файл, который в проекте уже есть и уже содержит правила того же рода: порядок работы в репозитории с требованием не коммитить прямо в главную ветку. Занятие добавляет туда два пункта — копия на задачу и слияние с уборкой в конце. Так и накапливается файл инструкций: по строке за занятие, каждая на месте того случая, который её потребовал.</a:t>
            </a:r>
          </a:p>
          <a:p/>
          <a:p>
            <a:r>
              <a:t>Метку «по плану, коммита нет» поставило ещё прошлое занятие, и по той же причине: хук был заведён и проверен на живом репозитории, скилл разобран по частям, но до коммита не дошёл. Сегодня к ней добавились ещё три того же рода. Чем тогда проверяется разобранное, разбирает последний экран: часть сегодняшнего материала проверяется командой, часть — нет, и названо, что именно.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 тот же, что стоял в начале занятия,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У него два законных ответа, и это свойство самого вопроса. «Работа не помещается» описывает два разных положения дел. В первом нужного внутри нет вовсе: данные живут в системе, которая меняется без вас, и никакой размер контекста их туда не принесёт — дотянуться можно только доступом. Во втором всё нужное внутрь входит и занимает место, в котором лежала работа: здесь помогает чужой контекст, где прочитают за вас и вернут короткий итог. Какой ответ верен, определяется тем, какое из двух положений у вас, и критерий для этого занятие собирало весь час.</a:t>
            </a:r>
          </a:p>
          <a:p/>
          <a:p>
            <a:r>
              <a:t>Что обычно меняется в ответе за это время. Первое движение — от «беру то, что под рукой» к выбору по признаку: данных не хватает физически, значит доступ наружу; чтение съедает место и повторяется из сессии в сессию, значит отдельный исполнитель. Второе движение — к цене. До разбора оба хода выглядят бесплатными: подключение — одна команда, субагент — один файл. Разобранный материал ставит рядом с каждым его счёт. У доступа наружу это чужой код в вашей работе, права, которые приходится урезать руками до подключения, и постоянное место в контексте за каждый подключённый сервер — за тот, которым за сессию не воспользовались ни разу, платится столько же, сколько за рабочий. У отдельного исполнителя это описания всех подключённых серверов, которые его контекст наследует целиком, промежуток между зонами двух субагентов, которого ни один их отчёт не показывает, и общий рабочий каталог, в котором исполнители перекрывают друг другу правки.</a:t>
            </a:r>
          </a:p>
          <a:p/>
          <a:p>
            <a:r>
              <a:t>Отдельно стоит разобрать ответ «а зачем выбирать, можно завести и то, и то». В живом проекте так и бывает, работают оба. Вопрос про первый ход: ресурс и внимание одни, и первым заводят то, что закрывает нехватку, которая у вас уже есть. Завести доступ к системе, данные которой нужны раз в месяц, и получить за это постоянное место в контексте каждой сессии — обычная ошибка порядка, и стоит она ровно столько, сколько стоит занятое место.</a:t>
            </a:r>
          </a:p>
          <a:p/>
          <a:p>
            <a:r>
              <a:t>Бывает и так, что ответ не меняется вовсе. Это честный исход: человек, который и до занятия выбирал по тому, чего не хватает, выбирал правильно. Меняется у него обычно другое — представление о том, чего каждый из двух ходов стоит.</a:t>
            </a:r>
          </a:p>
          <a:p/>
          <a:p>
            <a:r>
              <a:t>Правильного ответа у вопроса нет и в конце. Он зависит от того, чего в конкретном проекте не хватает: того, чего внутри нет вовсе, или места, занятого чтением. За занятие появились два критерия и две цены, названные прямо; выбор остаётся за тем, кто смотрит на свой проект.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экран занятия делает две вещи: честно разделяет сегодняшний материал по тому, чем его можно проверить, и отдаёт вопрос, которым выбирают ход у себя.</a:t>
            </a:r>
          </a:p>
          <a:p/>
          <a:p>
            <a:r>
              <a:t>Из пяти случаев занятия опору несут два.</a:t>
            </a:r>
          </a:p>
          <a:p/>
          <a:p>
            <a:r>
              <a:t>Статус сервера — первый случай блока MCP, его последний экран. Проверяется прямо на вашей машине: </a:t>
            </a:r>
            <a:r>
              <a:rPr>
                <a:latin typeface="Consolas"/>
              </a:rPr>
              <a:t>claude mcp list</a:t>
            </a:r>
            <a:r>
              <a:t> печатает список подключённых серверов и их состояние, </a:t>
            </a:r>
            <a:r>
              <a:rPr>
                <a:latin typeface="Consolas"/>
              </a:rPr>
              <a:t>/mcp</a:t>
            </a:r>
            <a:r>
              <a:t> показывает то же изнутри сессии, и там видно, что «подключён» отвечает за поднятый процесс и ни за что больше. Доказательством реальной работы сервера остаётся явный именованный вызов, видимый в выводе; он тоже проверяется на своей машине за минуту. Сам собранный файл подключения при этом целевой: коммита за ним нет ни в демонстрационном репозитории, ни в репозитории курса, и на экране это сказано прямо.</a:t>
            </a:r>
          </a:p>
          <a:p/>
          <a:p>
            <a:r>
              <a:t>Исполнители в одной папке — третий случай блока субагента. </a:t>
            </a:r>
            <a:r>
              <a:rPr>
                <a:latin typeface="Consolas"/>
              </a:rPr>
              <a:t>git worktree list</a:t>
            </a:r>
            <a:r>
              <a:t> печатает, сколько отдельных копий репозитория у вас есть и на каком каталоге стоит каждая; отсюда и видно, сколько сессий делят один каталог. На этом же счёте курс поймал сам себя: его собирают несколькими сессиями в одной рабочей копии, и в журнале записаны три столкновения — пустой PDF при коде возврата ноль, ошибка сборки от чтения посреди чужой записи и около двух часов на восстановление ветки. Во всех трёх привычные признаки успеха сошлись. Журнал, в котором эти случаи записаны, открыт.</a:t>
            </a:r>
          </a:p>
          <a:p/>
          <a:p>
            <a:r>
              <a:t>Под остальными тремя командой, которую можно выполнить здесь и сейчас, опоры нет, и это сказано прямо. Числа по занятому контексту взяты из документации протокола и инженерных блогов — замера на занятии не делаем. Выигрыш делегированного чтения требует подготовленного параллельного прогона, который в аудитории не поставишь. Рассогласование между исполнителями держится на измерении по 1600+ трассам мультиагентных систем, где оно отвечает за 37% провалов, и ни одна из двух опор занятия этого не демонстрирует. Проверяемость здесь другого рода: читается первоисточник, команда не выполняется. Три клетки без команды — разница в природе материала, и недосмотра за ней нет.</a:t>
            </a:r>
          </a:p>
          <a:p/>
          <a:p>
            <a:r>
              <a:t>Результат занятия измеряется не количеством файлов. Результат — вопрос, которым выбирают ход, и цена, названная у каждого из двух. Проверяемость — половина этого результата: про часть материала можно задать вопрос и получить ответ командой, про другую часть пока нет, и необъявленный пробел стоил бы дороже объявленного.</a:t>
            </a:r>
          </a:p>
          <a:p/>
          <a:p>
            <a:r>
              <a:t>И последнее, то, ради чего всё шло. Два механизма разобраны; с собой стоит унести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Первое приносят внутрь, второе выносят наружу. Разработчик, с чьих двух промахов занятие начиналось, различает эти случаи сам — и это весь ответ на вопрос, прозвучавший второй раз экраном раньше.</a:t>
            </a:r>
          </a:p>
          <a:p/>
          <a:p>
            <a:r>
              <a:t>Это вопрос, и заданием он не становится. Отвечать на него никому не нужно, присылать ответ некуда, на следующем занятии он не спрашивается: перенос на свой репозиторий — работа отдельного занятия, и начинать её с невыполненного задания было бы нечестно.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Доступ наружу и урезанные права</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8" name="Rounded Rectangle 7"/>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94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326344" y="1927834"/>
            <a:ext cx="4030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494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326344" y="2209901"/>
            <a:ext cx="4030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Контекст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94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правило могло проверяться, собрал верный список — и начал переспрашивать то, что объясняли в начале сессии. Полчаса.</a:t>
            </a:r>
          </a:p>
        </p:txBody>
      </p:sp>
      <p:sp>
        <p:nvSpPr>
          <p:cNvPr id="10" name="TextBox 9"/>
          <p:cNvSpPr txBox="1"/>
          <p:nvPr/>
        </p:nvSpPr>
        <p:spPr>
          <a:xfrm>
            <a:off x="7326344" y="2739618"/>
            <a:ext cx="4030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650847"/>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33727"/>
            <a:ext cx="2540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72383" y="1833727"/>
            <a:ext cx="39062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7424899" y="1833727"/>
            <a:ext cx="25412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10112432" y="1833727"/>
            <a:ext cx="12444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115794"/>
            <a:ext cx="254027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72383" y="2115794"/>
            <a:ext cx="39062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 — и проверяем, что агент через сервер правда ходит.</a:t>
            </a:r>
          </a:p>
        </p:txBody>
      </p:sp>
      <p:sp>
        <p:nvSpPr>
          <p:cNvPr id="10" name="TextBox 9"/>
          <p:cNvSpPr txBox="1"/>
          <p:nvPr/>
        </p:nvSpPr>
        <p:spPr>
          <a:xfrm>
            <a:off x="7424899" y="2115794"/>
            <a:ext cx="25412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Подключённые серверы занимают контекст до начала работы. Решаем.</a:t>
            </a:r>
          </a:p>
        </p:txBody>
      </p:sp>
      <p:sp>
        <p:nvSpPr>
          <p:cNvPr id="11" name="TextBox 10"/>
          <p:cNvSpPr txBox="1"/>
          <p:nvPr/>
        </p:nvSpPr>
        <p:spPr>
          <a:xfrm>
            <a:off x="10112432" y="2115794"/>
            <a:ext cx="12444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2" name="Connector 11"/>
          <p:cNvCxnSpPr/>
          <p:nvPr/>
        </p:nvCxnSpPr>
        <p:spPr>
          <a:xfrm>
            <a:off x="685800" y="28280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28074"/>
            <a:ext cx="25402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урезанные права</a:t>
            </a:r>
          </a:p>
        </p:txBody>
      </p:sp>
      <p:sp>
        <p:nvSpPr>
          <p:cNvPr id="14" name="TextBox 13"/>
          <p:cNvSpPr txBox="1"/>
          <p:nvPr/>
        </p:nvSpPr>
        <p:spPr>
          <a:xfrm>
            <a:off x="3372383" y="2828074"/>
            <a:ext cx="390621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одной правки, вытесняет из контекста саму правку. Решаем.</a:t>
            </a:r>
          </a:p>
        </p:txBody>
      </p:sp>
      <p:sp>
        <p:nvSpPr>
          <p:cNvPr id="15" name="TextBox 14"/>
          <p:cNvSpPr txBox="1"/>
          <p:nvPr/>
        </p:nvSpPr>
        <p:spPr>
          <a:xfrm>
            <a:off x="7424899" y="2828074"/>
            <a:ext cx="254122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пришла одной фразой, а сроку до неё два дня. Решаем.</a:t>
            </a:r>
          </a:p>
        </p:txBody>
      </p:sp>
      <p:sp>
        <p:nvSpPr>
          <p:cNvPr id="16" name="TextBox 15"/>
          <p:cNvSpPr txBox="1"/>
          <p:nvPr/>
        </p:nvSpPr>
        <p:spPr>
          <a:xfrm>
            <a:off x="10112432" y="2828074"/>
            <a:ext cx="12444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Исполнителей несколько, рабочая папка у них одна. Решаем.</a:t>
            </a:r>
          </a:p>
        </p:txBody>
      </p:sp>
      <p:sp>
        <p:nvSpPr>
          <p:cNvPr id="17" name="Rounded Rectangle 16"/>
          <p:cNvSpPr/>
          <p:nvPr/>
        </p:nvSpPr>
        <p:spPr>
          <a:xfrm>
            <a:off x="502920" y="475587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88388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 у вас или снаружи, разговор один и тот же</a:t>
            </a:r>
          </a:p>
        </p:txBody>
      </p:sp>
      <p:pic>
        <p:nvPicPr>
          <p:cNvPr id="3" name="Picture 2" descr="mcp-n08-gde-chto-stoit.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148407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1208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агент уже ходил наружу — в трекер, в базу, в документацию? Чем вы тогда дали ему доступ?</a:t>
            </a:r>
          </a:p>
        </p:txBody>
      </p:sp>
      <p:sp>
        <p:nvSpPr>
          <p:cNvPr id="5" name="Rounded Rectangle 4"/>
          <p:cNvSpPr/>
          <p:nvPr/>
        </p:nvSpPr>
        <p:spPr>
          <a:xfrm>
            <a:off x="502920" y="297454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0255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свой способ из пяти — и скажите, выдержит ли он регулярный доступ или вы бы сейчас взяли соседнюю карточку.</a:t>
            </a:r>
          </a:p>
        </p:txBody>
      </p:sp>
      <p:sp>
        <p:nvSpPr>
          <p:cNvPr id="7" name="Rounded Rectangle 6"/>
          <p:cNvSpPr/>
          <p:nvPr/>
        </p:nvSpPr>
        <p:spPr>
          <a:xfrm>
            <a:off x="502920"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9" name="Rounded Rectangle 8"/>
          <p:cNvSpPr/>
          <p:nvPr/>
        </p:nvSpPr>
        <p:spPr>
          <a:xfrm>
            <a:off x="2768803"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11" name="Rounded Rectangle 10"/>
          <p:cNvSpPr/>
          <p:nvPr/>
        </p:nvSpPr>
        <p:spPr>
          <a:xfrm>
            <a:off x="5034686"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3" name="Rounded Rectangle 12"/>
          <p:cNvSpPr/>
          <p:nvPr/>
        </p:nvSpPr>
        <p:spPr>
          <a:xfrm>
            <a:off x="7300569"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5" name="Rounded Rectangle 14"/>
          <p:cNvSpPr/>
          <p:nvPr/>
        </p:nvSpPr>
        <p:spPr>
          <a:xfrm>
            <a:off x="9566452"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068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2789" y="1126236"/>
            <a:ext cx="34961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291" y="1126236"/>
            <a:ext cx="591155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2789" y="1378331"/>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291" y="1378331"/>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2789" y="1959165"/>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291" y="1959165"/>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2789" y="2540000"/>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291" y="2540000"/>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2789" y="3120834"/>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291" y="3120834"/>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2789" y="3701669"/>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291" y="3701669"/>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галочки прощёлкивают — и что бывает дальше</a:t>
            </a:r>
          </a:p>
        </p:txBody>
      </p:sp>
      <p:sp>
        <p:nvSpPr>
          <p:cNvPr id="3" name="Rounded Rectangle 2"/>
          <p:cNvSpPr/>
          <p:nvPr/>
        </p:nvSpPr>
        <p:spPr>
          <a:xfrm>
            <a:off x="502920" y="9691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71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Права у ключа спрашивают единственный раз — в момент выпуска: сервис перечисляет действия и спрашивает, какие из них вы этому ключу доверяете.</a:t>
            </a:r>
          </a:p>
        </p:txBody>
      </p:sp>
      <p:sp>
        <p:nvSpPr>
          <p:cNvPr id="5" name="Rounded Rectangle 4"/>
          <p:cNvSpPr/>
          <p:nvPr/>
        </p:nvSpPr>
        <p:spPr>
          <a:xfrm>
            <a:off x="502920" y="1945030"/>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27910"/>
            <a:ext cx="33168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КОТОРЫЙ ДЕЛАЮТ ПОЧТИ ВСЕ</a:t>
            </a:r>
          </a:p>
        </p:txBody>
      </p:sp>
      <p:sp>
        <p:nvSpPr>
          <p:cNvPr id="7" name="TextBox 6"/>
          <p:cNvSpPr txBox="1"/>
          <p:nvPr/>
        </p:nvSpPr>
        <p:spPr>
          <a:xfrm>
            <a:off x="4148961" y="2127910"/>
            <a:ext cx="72078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 НЁМ СТОИТ ДОРОГО</a:t>
            </a:r>
          </a:p>
        </p:txBody>
      </p:sp>
      <p:sp>
        <p:nvSpPr>
          <p:cNvPr id="8" name="TextBox 7"/>
          <p:cNvSpPr txBox="1"/>
          <p:nvPr/>
        </p:nvSpPr>
        <p:spPr>
          <a:xfrm>
            <a:off x="685800" y="2409977"/>
            <a:ext cx="331685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проставить все галочки подряд: «вдруг потом понадобится, не перевыпускать же ключ»</a:t>
            </a:r>
          </a:p>
        </p:txBody>
      </p:sp>
      <p:sp>
        <p:nvSpPr>
          <p:cNvPr id="9" name="TextBox 8"/>
          <p:cNvSpPr txBox="1"/>
          <p:nvPr/>
        </p:nvSpPr>
        <p:spPr>
          <a:xfrm>
            <a:off x="4148961" y="2409977"/>
            <a:ext cx="720788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список операций агента на четыре строки, а ключ выдан на все: вычеркнутое на разборе вернулось целиком</a:t>
            </a:r>
          </a:p>
        </p:txBody>
      </p:sp>
      <p:cxnSp>
        <p:nvCxnSpPr>
          <p:cNvPr id="10" name="Connector 9"/>
          <p:cNvCxnSpPr/>
          <p:nvPr/>
        </p:nvCxnSpPr>
        <p:spPr>
          <a:xfrm>
            <a:off x="685800" y="31222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2256"/>
            <a:ext cx="331685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положить ключ под руку — в файл рядом с конфигурацией</a:t>
            </a:r>
          </a:p>
        </p:txBody>
      </p:sp>
      <p:sp>
        <p:nvSpPr>
          <p:cNvPr id="12" name="TextBox 11"/>
          <p:cNvSpPr txBox="1"/>
          <p:nvPr/>
        </p:nvSpPr>
        <p:spPr>
          <a:xfrm>
            <a:off x="4148961" y="3122256"/>
            <a:ext cx="72078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 уезжает в репозиторий, в историю коммитов и в обзор правок. Дом ключа между запусками — хранилище секретов: видно имя, не значение</a:t>
            </a:r>
          </a:p>
        </p:txBody>
      </p:sp>
      <p:cxnSp>
        <p:nvCxnSpPr>
          <p:cNvPr id="13" name="Connector 12"/>
          <p:cNvCxnSpPr/>
          <p:nvPr/>
        </p:nvCxnSpPr>
        <p:spPr>
          <a:xfrm>
            <a:off x="685800" y="36519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51973"/>
            <a:ext cx="331685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понадеяться, что ваш ключ никто не ищет</a:t>
            </a:r>
          </a:p>
        </p:txBody>
      </p:sp>
      <p:sp>
        <p:nvSpPr>
          <p:cNvPr id="15" name="TextBox 14"/>
          <p:cNvSpPr txBox="1"/>
          <p:nvPr/>
        </p:nvSpPr>
        <p:spPr>
          <a:xfrm>
            <a:off x="4148961" y="3651973"/>
            <a:ext cx="720788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ключи в публичных репозиториях ищут и находят работающими; один из поставщиков моделей сторожит свои сам и блокирует засвеченный за секунды — по рассказу студентов прошлого потока</a:t>
            </a:r>
          </a:p>
        </p:txBody>
      </p:sp>
      <p:cxnSp>
        <p:nvCxnSpPr>
          <p:cNvPr id="16" name="Connector 15"/>
          <p:cNvCxnSpPr/>
          <p:nvPr/>
        </p:nvCxnSpPr>
        <p:spPr>
          <a:xfrm>
            <a:off x="685800" y="43642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64253"/>
            <a:ext cx="331685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вспомнить про права, когда ключ уже где-то всплыл</a:t>
            </a:r>
          </a:p>
        </p:txBody>
      </p:sp>
      <p:sp>
        <p:nvSpPr>
          <p:cNvPr id="18" name="TextBox 17"/>
          <p:cNvSpPr txBox="1"/>
          <p:nvPr/>
        </p:nvSpPr>
        <p:spPr>
          <a:xfrm>
            <a:off x="4148961" y="4364253"/>
            <a:ext cx="72078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права меняют на стороне сервиса, и задним числом они не отменяют ничего: всё, что ключ успел, он успел</a:t>
            </a:r>
          </a:p>
        </p:txBody>
      </p:sp>
      <p:sp>
        <p:nvSpPr>
          <p:cNvPr id="19" name="Rounded Rectangle 18"/>
          <p:cNvSpPr/>
          <p:nvPr/>
        </p:nvSpPr>
        <p:spPr>
          <a:xfrm>
            <a:off x="502920" y="530595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3397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Сторож поставщика закрывает один канал из многих — приватную утечку, журнал сборки и снимок экрана он не видит. Узкий ключ, который утёк, остаётся единственным, что в вашей власти после выпуска.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6-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Подключено — не значит, что агент туда ходит</a:t>
            </a:r>
          </a:p>
        </p:txBody>
      </p:sp>
      <p:sp>
        <p:nvSpPr>
          <p:cNvPr id="3" name="Rectangle 2"/>
          <p:cNvSpPr/>
          <p:nvPr/>
        </p:nvSpPr>
        <p:spPr>
          <a:xfrm>
            <a:off x="502920" y="166817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23034"/>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«Подключено» отвечает за процесс: поднялся, ответил на рукопожатие, отдал список своих инструментов. Про то, обращался ли к нему агент в вашей задаче, в этой отметке нет ничего.</a:t>
            </a:r>
          </a:p>
        </p:txBody>
      </p:sp>
      <p:sp>
        <p:nvSpPr>
          <p:cNvPr id="5" name="Rounded Rectangle 4"/>
          <p:cNvSpPr/>
          <p:nvPr/>
        </p:nvSpPr>
        <p:spPr>
          <a:xfrm>
            <a:off x="502920" y="289803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2605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Доказательный вызов.</a:t>
            </a:r>
            <a:r>
              <a:rPr sz="1500" b="1" i="0">
                <a:solidFill>
                  <a:srgbClr val="141B2E"/>
                </a:solidFill>
                <a:latin typeface="Arial"/>
              </a:rPr>
              <a:t> Назвать сервер в запросе по имени: «используя сервер трекера, выведи список открытых задач, затем подготовь черновик по каждой». Признак — вызов инструмента в выводе подписан именем сервера.</a:t>
            </a:r>
          </a:p>
        </p:txBody>
      </p:sp>
      <p:sp>
        <p:nvSpPr>
          <p:cNvPr id="7" name="Rounded Rectangle 6"/>
          <p:cNvSpPr/>
          <p:nvPr/>
        </p:nvSpPr>
        <p:spPr>
          <a:xfrm>
            <a:off x="502920" y="454853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7654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Отсутствия ошибок мало. Ошибки не будет и тогда, когда сигналов не приходит вовсе, — следить надо не только за тем, есть ли сбой, но и за тем, есть ли связь с тем, за кем следите.</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8-dolya-kontekst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Имена инструментов каждого сервера и инструкция о нём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7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2029" y="3348990"/>
            <a:ext cx="37748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79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2029" y="3631057"/>
            <a:ext cx="3774818"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79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2029" y="4971351"/>
            <a:ext cx="377481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Он открыл сессию в своём репозитории и ещё ничего не спросил</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Сессия открыта, ни одного вопроса агенту он ещё не задал. Часть контекста уже занята: четыре сервера из проектного файла описали себя при старте, и за всю задачу понадобится один.</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сервер его. Ещё три дописал коллега</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подключения: трекер задач — его собственный; браузер, база данных, сервер документации — коллеги, под свою работу. Область проектная, её видит каждый, кто работает с репозиторием.</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заметил.</a:t>
            </a:r>
            <a:r>
              <a:rPr sz="1350" b="0" i="0">
                <a:solidFill>
                  <a:srgbClr val="141B2E"/>
                </a:solidFill>
                <a:latin typeface="Arial"/>
              </a:rPr>
              <a:t> На длинной правке агент сжал разговор заметно раньше обычного и переспросил то, о чём они договорились в начале.</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Из чего набрано.</a:t>
            </a:r>
            <a:r>
              <a:rPr sz="1350" b="0" i="0">
                <a:solidFill>
                  <a:srgbClr val="141B2E"/>
                </a:solidFill>
                <a:latin typeface="Arial"/>
              </a:rPr>
              <a:t> Он посмотрел, что лежит в контексте до его первого вопроса: системная часть, файлы инструкций проекта, описания инструментов четырёх серверов.</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нашлось в чужих строках.</a:t>
            </a:r>
            <a:r>
              <a:rPr sz="1350" b="0" i="0">
                <a:solidFill>
                  <a:srgbClr val="141B2E"/>
                </a:solidFill>
                <a:latin typeface="Arial"/>
              </a:rPr>
              <a:t> У двух серверов стоит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отложенная загрузка описаний для них отменена, все их инструменты описываются при старте. Коллега поставил флаг, чтобы «инструменты не терялись».</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Час на то, чтобы заново проговорить решения, потерянные при сжатии. Одна правка успела уехать в ветку по решению, которое он к тому моменту уже отменил.</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всю задачу он обратился к одному серверу из четырёх. Плата внесена за четыре.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сервера, понадобился один. Что меняем?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в рабочем проекте подключено больше трёх серверов? А к скольким вы обращались за последнюю рабочую неделю?</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оба числа — и скажите, что вы ставите первым шагом и что добавляете к этому следующим.</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контекст большой, хватит</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отключить серверы, которыми не пользуетесь</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подключёнными, но получать описания по требованию</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держать набор серверов под задачу, не общий проектный</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чаще сжимать разговор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которым не воспользовались, стоит столько же</a:t>
            </a:r>
          </a:p>
        </p:txBody>
      </p:sp>
      <p:sp>
        <p:nvSpPr>
          <p:cNvPr id="3" name="Rounded Rectangle 2"/>
          <p:cNvSpPr/>
          <p:nvPr/>
        </p:nvSpPr>
        <p:spPr>
          <a:xfrm>
            <a:off x="502920" y="943356"/>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30172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ВАРИАНТ</a:t>
            </a:r>
          </a:p>
        </p:txBody>
      </p:sp>
      <p:sp>
        <p:nvSpPr>
          <p:cNvPr id="5" name="TextBox 4"/>
          <p:cNvSpPr txBox="1"/>
          <p:nvPr/>
        </p:nvSpPr>
        <p:spPr>
          <a:xfrm>
            <a:off x="2133827" y="1126236"/>
            <a:ext cx="373581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6015944" y="1126236"/>
            <a:ext cx="534090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 контекст большой</a:t>
            </a:r>
          </a:p>
        </p:txBody>
      </p:sp>
      <p:sp>
        <p:nvSpPr>
          <p:cNvPr id="8" name="TextBox 7"/>
          <p:cNvSpPr txBox="1"/>
          <p:nvPr/>
        </p:nvSpPr>
        <p:spPr>
          <a:xfrm>
            <a:off x="2133827" y="1400810"/>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всё как есть: на короткой задаче этого и не заметно</a:t>
            </a:r>
          </a:p>
        </p:txBody>
      </p:sp>
      <p:sp>
        <p:nvSpPr>
          <p:cNvPr id="9" name="TextBox 8"/>
          <p:cNvSpPr txBox="1"/>
          <p:nvPr/>
        </p:nvSpPr>
        <p:spPr>
          <a:xfrm>
            <a:off x="6015944" y="1400810"/>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плату вы уже внесли, и она держится весь сеанс: на длинной задаче сжатие приходит раньше, и часть принятых решений уходит в пересказ</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30172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отключить серверы, которыми не пользуетесь</a:t>
            </a:r>
          </a:p>
        </p:txBody>
      </p:sp>
      <p:sp>
        <p:nvSpPr>
          <p:cNvPr id="12" name="TextBox 11"/>
          <p:cNvSpPr txBox="1"/>
          <p:nvPr/>
        </p:nvSpPr>
        <p:spPr>
          <a:xfrm>
            <a:off x="2133827" y="2047367"/>
            <a:ext cx="373581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снимает плату целиком: у неподключённого сервера в контексте нет ни имён, ни инструкции о себе</a:t>
            </a:r>
          </a:p>
        </p:txBody>
      </p:sp>
      <p:sp>
        <p:nvSpPr>
          <p:cNvPr id="13" name="TextBox 12"/>
          <p:cNvSpPr txBox="1"/>
          <p:nvPr/>
        </p:nvSpPr>
        <p:spPr>
          <a:xfrm>
            <a:off x="6015944" y="2047367"/>
            <a:ext cx="534090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требует знать заранее, что понадобится; отключённый нужный возвращает ту работу руками, с которой начинался первый случай блока</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получать описания по требованию</a:t>
            </a:r>
          </a:p>
        </p:txBody>
      </p:sp>
      <p:sp>
        <p:nvSpPr>
          <p:cNvPr id="16" name="TextBox 15"/>
          <p:cNvSpPr txBox="1"/>
          <p:nvPr/>
        </p:nvSpPr>
        <p:spPr>
          <a:xfrm>
            <a:off x="2133827" y="2854579"/>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при старте имена инструментов и инструкцию сервера; полную схему модель подтягивает, когда инструмент ей понадобился</a:t>
            </a:r>
          </a:p>
        </p:txBody>
      </p:sp>
      <p:sp>
        <p:nvSpPr>
          <p:cNvPr id="17" name="TextBox 16"/>
          <p:cNvSpPr txBox="1"/>
          <p:nvPr/>
        </p:nvSpPr>
        <p:spPr>
          <a:xfrm>
            <a:off x="6015944" y="2854579"/>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это поведение по умолчанию — значит ваше действие здесь проверочное: не отменил ли его флаг у сервера или переменная окружения</a:t>
            </a:r>
          </a:p>
        </p:txBody>
      </p:sp>
      <p:cxnSp>
        <p:nvCxnSpPr>
          <p:cNvPr id="18" name="Connector 17"/>
          <p:cNvCxnSpPr/>
          <p:nvPr/>
        </p:nvCxnSpPr>
        <p:spPr>
          <a:xfrm>
            <a:off x="685800" y="3501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01136"/>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держать набор серверов под задачу</a:t>
            </a:r>
          </a:p>
        </p:txBody>
      </p:sp>
      <p:sp>
        <p:nvSpPr>
          <p:cNvPr id="20" name="TextBox 19"/>
          <p:cNvSpPr txBox="1"/>
          <p:nvPr/>
        </p:nvSpPr>
        <p:spPr>
          <a:xfrm>
            <a:off x="2133827" y="3501136"/>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личная область подключения даёт набор под вашу работу, общий проектный файл при этом остаётся командным</a:t>
            </a:r>
          </a:p>
        </p:txBody>
      </p:sp>
      <p:sp>
        <p:nvSpPr>
          <p:cNvPr id="21" name="TextBox 20"/>
          <p:cNvSpPr txBox="1"/>
          <p:nvPr/>
        </p:nvSpPr>
        <p:spPr>
          <a:xfrm>
            <a:off x="6015944" y="3501136"/>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заводит вторую запись о том, что подключено: расхождение личного и проектного набора придётся держать в голове</a:t>
            </a:r>
          </a:p>
        </p:txBody>
      </p:sp>
      <p:cxnSp>
        <p:nvCxnSpPr>
          <p:cNvPr id="22" name="Connector 21"/>
          <p:cNvCxnSpPr/>
          <p:nvPr/>
        </p:nvCxnSpPr>
        <p:spPr>
          <a:xfrm>
            <a:off x="685800" y="41476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47693"/>
            <a:ext cx="130172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чаще сжимать разговор</a:t>
            </a:r>
          </a:p>
        </p:txBody>
      </p:sp>
      <p:sp>
        <p:nvSpPr>
          <p:cNvPr id="24" name="TextBox 23"/>
          <p:cNvSpPr txBox="1"/>
          <p:nvPr/>
        </p:nvSpPr>
        <p:spPr>
          <a:xfrm>
            <a:off x="2133827" y="4147693"/>
            <a:ext cx="373581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освобождает место, занятое историей разговора</a:t>
            </a:r>
          </a:p>
        </p:txBody>
      </p:sp>
      <p:sp>
        <p:nvSpPr>
          <p:cNvPr id="25" name="TextBox 24"/>
          <p:cNvSpPr txBox="1"/>
          <p:nvPr/>
        </p:nvSpPr>
        <p:spPr>
          <a:xfrm>
            <a:off x="6015944" y="4147693"/>
            <a:ext cx="534090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описания инструментов сжатием не уходят: они приходят заново в каждый контекст, отдельно от истории</a:t>
            </a:r>
          </a:p>
        </p:txBody>
      </p:sp>
      <p:sp>
        <p:nvSpPr>
          <p:cNvPr id="26" name="Rounded Rectangle 25"/>
          <p:cNvSpPr/>
          <p:nvPr/>
        </p:nvSpPr>
        <p:spPr>
          <a:xfrm>
            <a:off x="502920" y="4981066"/>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09082"/>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плата идёт за подключённость — сервер, к которому за сессию не обратились ни разу, стоит столько же, сколько рабочий. Поэтому работают две меры, и в таком порядке: сначала проверить, что описания приходят по требованию, — это ничего не стоит и часто уже включено; потом разобрать набор серверов под задачу — это работа, и её делают один раз.</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лежит в контексте до вашего первого вопроса</a:t>
            </a:r>
          </a:p>
        </p:txBody>
      </p:sp>
      <p:pic>
        <p:nvPicPr>
          <p:cNvPr id="3" name="Picture 2" descr="mcp-n25-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 по требованию. Набор — под задачу</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у сервера снят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описания его инструментов приходят по требованию. Флаг оставляют одному инструменту, который нужен на каждом шаге, и записывают рядом, почему.</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Окружение проекта: </a:t>
            </a:r>
            <a:r>
              <a:rPr sz="1350" b="0" i="0">
                <a:solidFill>
                  <a:srgbClr val="141B2E"/>
                </a:solidFill>
                <a:latin typeface="Consolas"/>
              </a:rPr>
              <a:t>ENABLE_TOOL_SEARCH</a:t>
            </a:r>
            <a:r>
              <a:rPr sz="1350" b="0" i="0">
                <a:solidFill>
                  <a:srgbClr val="141B2E"/>
                </a:solidFill>
                <a:latin typeface="Arial"/>
              </a:rPr>
              <a:t> не выставлен в </a:t>
            </a:r>
            <a:r>
              <a:rPr sz="1350" b="0" i="0">
                <a:solidFill>
                  <a:srgbClr val="141B2E"/>
                </a:solidFill>
                <a:latin typeface="Consolas"/>
              </a:rPr>
              <a:t>false</a:t>
            </a:r>
            <a:r>
              <a:rPr sz="1350" b="0" i="0">
                <a:solidFill>
                  <a:srgbClr val="141B2E"/>
                </a:solidFill>
                <a:latin typeface="Arial"/>
              </a:rPr>
              <a:t>. Пороговое значение вида </a:t>
            </a:r>
            <a:r>
              <a:rPr sz="1350" b="0" i="0">
                <a:solidFill>
                  <a:srgbClr val="141B2E"/>
                </a:solidFill>
                <a:latin typeface="Consolas"/>
              </a:rPr>
              <a:t>auto:10</a:t>
            </a:r>
            <a:r>
              <a:rPr sz="1350" b="0" i="0">
                <a:solidFill>
                  <a:srgbClr val="141B2E"/>
                </a:solidFill>
                <a:latin typeface="Arial"/>
              </a:rPr>
              <a:t> — компромисс: пока определения занимают меньше названной доли контекста, они грузятся сразу.</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Команда запуска сервера: только нужные наборы инструментов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вместо полного набора. Проверяйте флаги по текущей версии сервера: у официального сервера GitHub режим выдачи наборов по требованию был и снят в мае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Личная область подключения: серверы под свою работу — там. Общий проектный файл остаётся командным, и чужие три сервера из него никто не выбрасывает.</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говорит, что подключено у всех. Личная область — что подключено у вас. Режим загрузки описаний решает, во что это обходится до первого вопроса.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убрали со старта. Серверы оставили</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Автор протокола назвал это проблемой.</a:t>
            </a:r>
            <a:r>
              <a:rPr sz="1350" b="0" i="0">
                <a:solidFill>
                  <a:srgbClr val="141B2E"/>
                </a:solidFill>
                <a:latin typeface="Arial"/>
              </a:rPr>
              <a:t> «Определения инструментов перегружают контекст» — так открывается его собственный разбор. Ход взамен: представлять серверы кодовым интерфейсом, который агент читает по требованию; в разобранном в статье примере — 150 000 токенов против 2 000. Серверы остались на месте (Anthropic, инженерный блог,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Счёт на пяти серверах.</a:t>
            </a:r>
            <a:r>
              <a:rPr sz="1350" b="0" i="0">
                <a:solidFill>
                  <a:srgbClr val="141B2E"/>
                </a:solidFill>
                <a:latin typeface="Arial"/>
              </a:rPr>
              <a:t> Набор GitHub, Slack, Sentry, Grafana, Splunk занимает около 55 000 токенов определений до начала работы; загрузка по требованию снимает больше 85%, подтягивая 3–5 нужных инструментов. Там же: точность выбора падает, когда доступных инструментов больше 30–50 (документация того же производителя, обращение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Сократили собственный набор.</a:t>
            </a:r>
            <a:r>
              <a:rPr sz="1350" b="0" i="0">
                <a:solidFill>
                  <a:srgbClr val="141B2E"/>
                </a:solidFill>
                <a:latin typeface="Arial"/>
              </a:rPr>
              <a:t> Встроенных инструментов было 40, оставили 13 основных — и замерили: успешность на двух наборах задач выросла на 2–5 процентных пунктов. Предел площадки — 128 инструментов на запрос (GitHub, инженерный блог,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Попробовали и отказались.</a:t>
            </a:r>
            <a:r>
              <a:rPr sz="1350" b="0" i="0">
                <a:solidFill>
                  <a:srgbClr val="141B2E"/>
                </a:solidFill>
                <a:latin typeface="Arial"/>
              </a:rPr>
              <a:t> Подгружать инструменты по требованию пробовали и отказались: смена набора посреди работы обнуляет кэш и путает модель на прошлых шагах. Ход взамен — маскировать лишние, оставляя определения на месте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Посмотрите, в каком режиме описания грузятся у вас, и держите набор под задачу. Одинакового ответа у отрасли нет: последняя строка прямо обратна трём предыдущим.</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серверов держать подключёнными</a:t>
            </a:r>
          </a:p>
        </p:txBody>
      </p:sp>
      <p:sp>
        <p:nvSpPr>
          <p:cNvPr id="3" name="Rounded Rectangle 2"/>
          <p:cNvSpPr/>
          <p:nvPr/>
        </p:nvSpPr>
        <p:spPr>
          <a:xfrm>
            <a:off x="502920" y="116662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9463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дал агенту руки — под правами, которые мы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Следующий вопрос — что в этот контекст всё равно не помещается, когда работы становится больше.</a:t>
            </a:r>
          </a:p>
        </p:txBody>
      </p:sp>
      <p:sp>
        <p:nvSpPr>
          <p:cNvPr id="5" name="Rounded Rectangle 4"/>
          <p:cNvSpPr/>
          <p:nvPr/>
        </p:nvSpPr>
        <p:spPr>
          <a:xfrm>
            <a:off x="502920"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ДЕРЖАТЬ ПОДКЛЮЧЁННЫМ В ПРОЕКТНОМ ФАЙЛЕ</a:t>
            </a:r>
          </a:p>
        </p:txBody>
      </p:sp>
      <p:sp>
        <p:nvSpPr>
          <p:cNvPr id="7" name="TextBox 6"/>
          <p:cNvSpPr txBox="1"/>
          <p:nvPr/>
        </p:nvSpPr>
        <p:spPr>
          <a:xfrm>
            <a:off x="685800"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нужен в большинстве сессий этого проекта: им пользуется команда</a:t>
            </a:r>
          </a:p>
        </p:txBody>
      </p:sp>
      <p:cxnSp>
        <p:nvCxnSpPr>
          <p:cNvPr id="8" name="Connector 7"/>
          <p:cNvCxnSpPr/>
          <p:nvPr/>
        </p:nvCxnSpPr>
        <p:spPr>
          <a:xfrm>
            <a:off x="685800"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описания его инструментов приходят по требованию, и это проверено</a:t>
            </a:r>
          </a:p>
        </p:txBody>
      </p:sp>
      <p:cxnSp>
        <p:nvCxnSpPr>
          <p:cNvPr id="10" name="Connector 9"/>
          <p:cNvCxnSpPr/>
          <p:nvPr/>
        </p:nvCxnSpPr>
        <p:spPr>
          <a:xfrm>
            <a:off x="685800"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555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наборов инструментов у него столько, сколько нужно задаче; остальное сервер держит выключенным</a:t>
            </a:r>
          </a:p>
        </p:txBody>
      </p:sp>
      <p:sp>
        <p:nvSpPr>
          <p:cNvPr id="12" name="Rounded Rectangle 11"/>
          <p:cNvSpPr/>
          <p:nvPr/>
        </p:nvSpPr>
        <p:spPr>
          <a:xfrm>
            <a:off x="6231636"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в общем проектном файле то, что нужно одному человеку: для этого есть личная область</a:t>
            </a:r>
          </a:p>
        </p:txBody>
      </p:sp>
      <p:cxnSp>
        <p:nvCxnSpPr>
          <p:cNvPr id="15" name="Connector 14"/>
          <p:cNvCxnSpPr/>
          <p:nvPr/>
        </p:nvCxnSpPr>
        <p:spPr>
          <a:xfrm>
            <a:off x="6414516"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ставить флаг принудительной загрузки описаний, не записав рядом причину: через месяц это чужая строка без объяснения</a:t>
            </a:r>
          </a:p>
        </p:txBody>
      </p:sp>
      <p:cxnSp>
        <p:nvCxnSpPr>
          <p:cNvPr id="17" name="Connector 16"/>
          <p:cNvCxnSpPr/>
          <p:nvPr/>
        </p:nvCxnSpPr>
        <p:spPr>
          <a:xfrm>
            <a:off x="6414516"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65556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что большой контекст снимает вопрос: точность выбора инструмента падает после 30–50 доступных, и видно это по результату: счёт молчит</a:t>
            </a:r>
          </a:p>
        </p:txBody>
      </p:sp>
      <p:cxnSp>
        <p:nvCxnSpPr>
          <p:cNvPr id="19" name="Connector 18"/>
          <p:cNvCxnSpPr/>
          <p:nvPr/>
        </p:nvCxnSpPr>
        <p:spPr>
          <a:xfrm>
            <a:off x="6414516" y="53188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8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флаг, найденный поиском: у сервера его могли снять — проверяется по описанию текущей версии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четырёх нужных мест</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Что править — известно. Где править — лежит в сорока файлах, и прочитать их надо туда же, где эта правка уже объяснена.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Агент, субагент и контекст каждого</a:t>
            </a:r>
          </a:p>
        </p:txBody>
      </p:sp>
      <p:pic>
        <p:nvPicPr>
          <p:cNvPr id="3" name="Picture 2" descr="subagent-n30-kontekst-i-subagenty.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целиком, одним экраном</a:t>
            </a:r>
          </a:p>
        </p:txBody>
      </p:sp>
      <p:pic>
        <p:nvPicPr>
          <p:cNvPr id="3" name="Picture 2" descr="subagent-n31-subagent-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Нашёл все четыре места. Правку начал заново</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Задача дня — завести тариф «Команда»: двадцать участников вместо пяти.</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открыта с утра. Минут пятнадцать он объясняет агенту задачу: как тариф называется, кому доступен, что делать со старыми аккаунтами, какие случаи проверить. Правку они делают здесь же.</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Прежде чем править, нужен список мест, где лимит участников вообще проверяется. Пропустишь одно — новый тариф пройдёт конфиг и упрётся в проверку, про которую никто уже не помнит.</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ищет и находит четыре: middleware при добавлении участника, конфиг тарифов, отдельная миграция для аккаунтов до смены тарифной сетки, клиентский компонент с той же проверкой на случай недоступности сервера. Миграций за два года пятнадцать, лимит менялся в трёх — листать приходится все. Открытых файлов больше сорока, чтения — минут двадцать.</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«Теперь правь по этому списку» — и агент переспрашивает то, что ему объясняли утром: как называется тариф и сколько в нём участников. Объяснять приходится второй раз.</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Полчаса ушло на то, чтобы сказать уже сказанное и вернуться туда, где он остановился. Список при этом верный, и чтение шло быстро: нужное влезло в контекст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ounded Rectangle 2"/>
          <p:cNvSpPr/>
          <p:nvPr/>
        </p:nvSpPr>
        <p:spPr>
          <a:xfrm>
            <a:off x="502920" y="111808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4609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была правка, в которой найти места стоило дороже, чем их поправить? Сколько файлов пришлось открыть?</a:t>
            </a:r>
          </a:p>
        </p:txBody>
      </p:sp>
      <p:sp>
        <p:nvSpPr>
          <p:cNvPr id="5" name="Rectangle 4"/>
          <p:cNvSpPr/>
          <p:nvPr/>
        </p:nvSpPr>
        <p:spPr>
          <a:xfrm>
            <a:off x="502920" y="257902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33891"/>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Здесь мест четыре, файлов сорок.</a:t>
            </a:r>
          </a:p>
        </p:txBody>
      </p:sp>
      <p:sp>
        <p:nvSpPr>
          <p:cNvPr id="7" name="Rounded Rectangle 6"/>
          <p:cNvSpPr/>
          <p:nvPr/>
        </p:nvSpPr>
        <p:spPr>
          <a:xfrm>
            <a:off x="502920" y="35347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627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9" name="Rounded Rectangle 8"/>
          <p:cNvSpPr/>
          <p:nvPr/>
        </p:nvSpPr>
        <p:spPr>
          <a:xfrm>
            <a:off x="502920"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сорок файлов самому, в этой же сессии</a:t>
            </a:r>
          </a:p>
        </p:txBody>
      </p:sp>
      <p:sp>
        <p:nvSpPr>
          <p:cNvPr id="11" name="Rounded Rectangle 10"/>
          <p:cNvSpPr/>
          <p:nvPr/>
        </p:nvSpPr>
        <p:spPr>
          <a:xfrm>
            <a:off x="2768803"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открыть вторую сессию, спросить там и перенести список руками</a:t>
            </a:r>
          </a:p>
        </p:txBody>
      </p:sp>
      <p:sp>
        <p:nvSpPr>
          <p:cNvPr id="13" name="Rounded Rectangle 12"/>
          <p:cNvSpPr/>
          <p:nvPr/>
        </p:nvSpPr>
        <p:spPr>
          <a:xfrm>
            <a:off x="5034686"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5" name="Rounded Rectangle 14"/>
          <p:cNvSpPr/>
          <p:nvPr/>
        </p:nvSpPr>
        <p:spPr>
          <a:xfrm>
            <a:off x="7300569"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поручить субагенту: прочитает в своём контексте и вернёт список мест</a:t>
            </a:r>
          </a:p>
        </p:txBody>
      </p:sp>
      <p:sp>
        <p:nvSpPr>
          <p:cNvPr id="17" name="Rounded Rectangle 16"/>
          <p:cNvSpPr/>
          <p:nvPr/>
        </p:nvSpPr>
        <p:spPr>
          <a:xfrm>
            <a:off x="9566452"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править по памяти, без поиска</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435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875633" y="1126236"/>
            <a:ext cx="36781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700091" y="1126236"/>
            <a:ext cx="56567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04352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прочитать самому, в этой же сессии</a:t>
            </a:r>
          </a:p>
        </p:txBody>
      </p:sp>
      <p:sp>
        <p:nvSpPr>
          <p:cNvPr id="8" name="TextBox 7"/>
          <p:cNvSpPr txBox="1"/>
          <p:nvPr/>
        </p:nvSpPr>
        <p:spPr>
          <a:xfrm>
            <a:off x="1875633" y="1408303"/>
            <a:ext cx="3678153"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700091" y="1408303"/>
            <a:ext cx="565675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контекст сессии занимает содержимое сорока файлов, из которых для правки нужны четыре</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вторая сессия</a:t>
            </a:r>
          </a:p>
        </p:txBody>
      </p:sp>
      <p:sp>
        <p:nvSpPr>
          <p:cNvPr id="12" name="TextBox 11"/>
          <p:cNvSpPr txBox="1"/>
          <p:nvPr/>
        </p:nvSpPr>
        <p:spPr>
          <a:xfrm>
            <a:off x="1875633" y="2244725"/>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рабочий контекст остаётся чистым: сорок файлов ложатся в чужой</a:t>
            </a:r>
          </a:p>
        </p:txBody>
      </p:sp>
      <p:sp>
        <p:nvSpPr>
          <p:cNvPr id="13" name="TextBox 12"/>
          <p:cNvSpPr txBox="1"/>
          <p:nvPr/>
        </p:nvSpPr>
        <p:spPr>
          <a:xfrm>
            <a:off x="5700091" y="2244725"/>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список придётся переносить руками, и править агент будет по вашему пересказу — условие про старые аккаунты выпадает из пересказа первым</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16" name="TextBox 15"/>
          <p:cNvSpPr txBox="1"/>
          <p:nvPr/>
        </p:nvSpPr>
        <p:spPr>
          <a:xfrm>
            <a:off x="1875633" y="2913189"/>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может ответить за минуту — если коллега свеж в теме</a:t>
            </a:r>
          </a:p>
        </p:txBody>
      </p:sp>
      <p:sp>
        <p:nvSpPr>
          <p:cNvPr id="17" name="TextBox 16"/>
          <p:cNvSpPr txBox="1"/>
          <p:nvPr/>
        </p:nvSpPr>
        <p:spPr>
          <a:xfrm>
            <a:off x="5700091" y="2913189"/>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поручить субагенту</a:t>
            </a:r>
          </a:p>
        </p:txBody>
      </p:sp>
      <p:sp>
        <p:nvSpPr>
          <p:cNvPr id="20" name="TextBox 19"/>
          <p:cNvSpPr txBox="1"/>
          <p:nvPr/>
        </p:nvSpPr>
        <p:spPr>
          <a:xfrm>
            <a:off x="1875633" y="3581654"/>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сорок файлов открываются и закрываются в отдельном, одноразовом контексте; список приходит обратно сам, в ту же сессию</a:t>
            </a:r>
          </a:p>
        </p:txBody>
      </p:sp>
      <p:sp>
        <p:nvSpPr>
          <p:cNvPr id="21" name="TextBox 20"/>
          <p:cNvSpPr txBox="1"/>
          <p:nvPr/>
        </p:nvSpPr>
        <p:spPr>
          <a:xfrm>
            <a:off x="5700091" y="3581654"/>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быстрее не становится: субагент открывает и читает все сорок файлов, время чтения то же</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04352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править по памяти</a:t>
            </a:r>
          </a:p>
        </p:txBody>
      </p:sp>
      <p:sp>
        <p:nvSpPr>
          <p:cNvPr id="24" name="TextBox 23"/>
          <p:cNvSpPr txBox="1"/>
          <p:nvPr/>
        </p:nvSpPr>
        <p:spPr>
          <a:xfrm>
            <a:off x="1875633" y="4250118"/>
            <a:ext cx="3678153"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мгновенно</a:t>
            </a:r>
          </a:p>
        </p:txBody>
      </p:sp>
      <p:sp>
        <p:nvSpPr>
          <p:cNvPr id="25" name="TextBox 24"/>
          <p:cNvSpPr txBox="1"/>
          <p:nvPr/>
        </p:nvSpPr>
        <p:spPr>
          <a:xfrm>
            <a:off x="5700091" y="4250118"/>
            <a:ext cx="56567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четвёртое место — клиентскую проверку — помнит не всякий из тех, кто её писал</a:t>
            </a:r>
          </a:p>
        </p:txBody>
      </p:sp>
      <p:sp>
        <p:nvSpPr>
          <p:cNvPr id="26" name="Rounded Rectangle 25"/>
          <p:cNvSpPr/>
          <p:nvPr/>
        </p:nvSpPr>
        <p:spPr>
          <a:xfrm>
            <a:off x="502920" y="509809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Вывод.</a:t>
            </a:r>
            <a:r>
              <a:rPr sz="13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Меняются двое. Первое — чей контекст их держит: контекст субагента закрывается вместе с ним. Второе — куда возвращается список: от субагента он приходит сам, в ту сессию, где лежит правка, из второй сессии его переносите вы.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контекста,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Чистый контекст — не от всего подряд</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третья полоса со схемы базы — «описания подключённых серверов». В контекст субагента она переезжает целиком. Для нашего поиска по лимиту участников: если в сессии подключены трекер задач и сервер документации из прошлого раздела занятия, субагент, которому нужно прочитать сорок файлов кода, получает их описания бесплатно.</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За тем, что подключено серверами, следят отдельно: тем же списком инструментов субагента, который стоит пятым блоком на одностраничнике ступени.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контексте после ответа</a:t>
            </a:r>
          </a:p>
        </p:txBody>
      </p:sp>
      <p:sp>
        <p:nvSpPr>
          <p:cNvPr id="3" name="Rounded Rectangle 2"/>
          <p:cNvSpPr/>
          <p:nvPr/>
        </p:nvSpPr>
        <p:spPr>
          <a:xfrm>
            <a:off x="502920" y="10590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70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p:txBody>
      </p:sp>
      <p:sp>
        <p:nvSpPr>
          <p:cNvPr id="5" name="Rounded Rectangle 4"/>
          <p:cNvSpPr/>
          <p:nvPr/>
        </p:nvSpPr>
        <p:spPr>
          <a:xfrm>
            <a:off x="502920" y="273199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86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5145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из десятков файлов нужно вынести короткий вывод: факт, да/нет, список мест в несколько строк, по которому дальше и работают. Сорок файлов поиска, четыре файла правки — ровно этот случай.</a:t>
            </a:r>
          </a:p>
        </p:txBody>
      </p:sp>
      <p:sp>
        <p:nvSpPr>
          <p:cNvPr id="8" name="Rounded Rectangle 7"/>
          <p:cNvSpPr/>
          <p:nvPr/>
        </p:nvSpPr>
        <p:spPr>
          <a:xfrm>
            <a:off x="758952" y="40035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68640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дальше работать придётся со всем прочитанным объёмом — рефакторинг тех же сорока файлов, — читать их придётся в любом случае; делать это в своём контексте тогда входит в саму работу, потому что с этим содержимым дальше работать вам.</a:t>
            </a:r>
          </a:p>
        </p:txBody>
      </p:sp>
      <p:sp>
        <p:nvSpPr>
          <p:cNvPr id="10" name="Rounded Rectangle 9"/>
          <p:cNvSpPr/>
          <p:nvPr/>
        </p:nvSpPr>
        <p:spPr>
          <a:xfrm>
            <a:off x="502920" y="5094579"/>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222595"/>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Если править вы будете все эти же десятки файлов,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Задача пришла одной фразой. Чем ускоряем?</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Одна фраза, один срок. Средств ускорить больше одного, и выбирает между ними сама задача.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к понедельнику. Раскладываем вместе</a:t>
            </a:r>
          </a:p>
        </p:txBody>
      </p:sp>
      <p:sp>
        <p:nvSpPr>
          <p:cNvPr id="3" name="Rectangle 2"/>
          <p:cNvSpPr/>
          <p:nvPr/>
        </p:nvSpPr>
        <p:spPr>
          <a:xfrm>
            <a:off x="502920" y="979932"/>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34796"/>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 понедельнику форма должна быть готова к рекламе.»</a:t>
            </a:r>
          </a:p>
        </p:txBody>
      </p:sp>
      <p:sp>
        <p:nvSpPr>
          <p:cNvPr id="5" name="Rounded Rectangle 4"/>
          <p:cNvSpPr/>
          <p:nvPr/>
        </p:nvSpPr>
        <p:spPr>
          <a:xfrm>
            <a:off x="502920" y="1498854"/>
            <a:ext cx="82296" cy="56489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626870"/>
            <a:ext cx="10643616" cy="30886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Пятница, вечер, это вся постановка. Форма заявки на лендинге прошлых занятий: разметка — </a:t>
            </a:r>
            <a:r>
              <a:rPr sz="1100" b="1" i="0">
                <a:solidFill>
                  <a:srgbClr val="141B2E"/>
                </a:solidFill>
                <a:latin typeface="Consolas"/>
              </a:rPr>
              <a:t>index.html</a:t>
            </a:r>
            <a:r>
              <a:rPr sz="1100" b="1" i="0">
                <a:solidFill>
                  <a:srgbClr val="141B2E"/>
                </a:solidFill>
                <a:latin typeface="Arial"/>
              </a:rPr>
              <a:t>, проверка — </a:t>
            </a:r>
            <a:r>
              <a:rPr sz="1100" b="1" i="0">
                <a:solidFill>
                  <a:srgbClr val="141B2E"/>
                </a:solidFill>
                <a:latin typeface="Consolas"/>
              </a:rPr>
              <a:t>src/validate.js</a:t>
            </a:r>
            <a:r>
              <a:rPr sz="1100" b="1" i="0">
                <a:solidFill>
                  <a:srgbClr val="141B2E"/>
                </a:solidFill>
                <a:latin typeface="Arial"/>
              </a:rPr>
              <a:t>. Спросить не у кого.</a:t>
            </a:r>
          </a:p>
        </p:txBody>
      </p:sp>
      <p:sp>
        <p:nvSpPr>
          <p:cNvPr id="7" name="Rounded Rectangle 6"/>
          <p:cNvSpPr/>
          <p:nvPr/>
        </p:nvSpPr>
        <p:spPr>
          <a:xfrm>
            <a:off x="502920" y="2228343"/>
            <a:ext cx="11183112" cy="1250061"/>
          </a:xfrm>
          <a:prstGeom prst="roundRect">
            <a:avLst>
              <a:gd name="adj" fmla="val 243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253269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447799"/>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1.</a:t>
            </a:r>
            <a:r>
              <a:rPr sz="950" b="0" i="0">
                <a:solidFill>
                  <a:srgbClr val="141B2E"/>
                </a:solidFill>
                <a:latin typeface="Arial"/>
              </a:rPr>
              <a:t> Выпишите, из каких кусков состоит эта задача.</a:t>
            </a:r>
          </a:p>
        </p:txBody>
      </p:sp>
      <p:sp>
        <p:nvSpPr>
          <p:cNvPr id="10" name="Rounded Rectangle 9"/>
          <p:cNvSpPr/>
          <p:nvPr/>
        </p:nvSpPr>
        <p:spPr>
          <a:xfrm>
            <a:off x="758952" y="28030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271818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2.</a:t>
            </a:r>
            <a:r>
              <a:rPr sz="950" b="0" i="0">
                <a:solidFill>
                  <a:srgbClr val="141B2E"/>
                </a:solidFill>
                <a:latin typeface="Arial"/>
              </a:rPr>
              <a:t> По каждому ответьте: нужен ли ему итог другого, лезет ли он в тот же файл, повторяется ли после остальных.</a:t>
            </a:r>
          </a:p>
        </p:txBody>
      </p:sp>
      <p:sp>
        <p:nvSpPr>
          <p:cNvPr id="12" name="Rounded Rectangle 11"/>
          <p:cNvSpPr/>
          <p:nvPr/>
        </p:nvSpPr>
        <p:spPr>
          <a:xfrm>
            <a:off x="758952" y="30734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298856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И одной строкой</a:t>
            </a:r>
            <a:r>
              <a:rPr sz="950" b="0" i="0">
                <a:solidFill>
                  <a:srgbClr val="141B2E"/>
                </a:solidFill>
                <a:latin typeface="Arial"/>
              </a:rPr>
              <a:t> — сколько исполнителей вы завели бы на эти куски.</a:t>
            </a:r>
          </a:p>
        </p:txBody>
      </p:sp>
      <p:sp>
        <p:nvSpPr>
          <p:cNvPr id="14" name="Rounded Rectangle 13"/>
          <p:cNvSpPr/>
          <p:nvPr/>
        </p:nvSpPr>
        <p:spPr>
          <a:xfrm>
            <a:off x="502920" y="3642996"/>
            <a:ext cx="11183112" cy="2052955"/>
          </a:xfrm>
          <a:prstGeom prst="roundRect">
            <a:avLst>
              <a:gd name="adj" fmla="val 148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3771012"/>
            <a:ext cx="53833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1 · ЧТО В ЗАДАЧЕ ЛЕЖИТ</a:t>
            </a:r>
          </a:p>
        </p:txBody>
      </p:sp>
      <p:sp>
        <p:nvSpPr>
          <p:cNvPr id="16" name="TextBox 15"/>
          <p:cNvSpPr txBox="1"/>
          <p:nvPr/>
        </p:nvSpPr>
        <p:spPr>
          <a:xfrm>
            <a:off x="6160580" y="3771012"/>
            <a:ext cx="525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2 · ОТ ЧЕГО ЭТО ЗАВИСИТ</a:t>
            </a:r>
          </a:p>
        </p:txBody>
      </p:sp>
      <p:sp>
        <p:nvSpPr>
          <p:cNvPr id="17" name="TextBox 16"/>
          <p:cNvSpPr txBox="1"/>
          <p:nvPr/>
        </p:nvSpPr>
        <p:spPr>
          <a:xfrm>
            <a:off x="630936" y="405307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поле «телефон» и проверка формата</a:t>
            </a:r>
          </a:p>
        </p:txBody>
      </p:sp>
      <p:sp>
        <p:nvSpPr>
          <p:cNvPr id="18" name="TextBox 17"/>
          <p:cNvSpPr txBox="1"/>
          <p:nvPr/>
        </p:nvSpPr>
        <p:spPr>
          <a:xfrm>
            <a:off x="6160580" y="405307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19" name="Connector 18"/>
          <p:cNvCxnSpPr/>
          <p:nvPr/>
        </p:nvCxnSpPr>
        <p:spPr>
          <a:xfrm>
            <a:off x="630936" y="430555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4305555"/>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сообщения об ошибках — к одному виду</a:t>
            </a:r>
          </a:p>
        </p:txBody>
      </p:sp>
      <p:sp>
        <p:nvSpPr>
          <p:cNvPr id="21" name="TextBox 20"/>
          <p:cNvSpPr txBox="1"/>
          <p:nvPr/>
        </p:nvSpPr>
        <p:spPr>
          <a:xfrm>
            <a:off x="6160580" y="4305555"/>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тот же файл, что у поля: </a:t>
            </a:r>
            <a:r>
              <a:rPr sz="1150" b="0" i="0">
                <a:solidFill>
                  <a:srgbClr val="141B2E"/>
                </a:solidFill>
                <a:latin typeface="Consolas"/>
              </a:rPr>
              <a:t>src/validate.js</a:t>
            </a:r>
          </a:p>
        </p:txBody>
      </p:sp>
      <p:cxnSp>
        <p:nvCxnSpPr>
          <p:cNvPr id="22" name="Connector 21"/>
          <p:cNvCxnSpPr/>
          <p:nvPr/>
        </p:nvCxnSpPr>
        <p:spPr>
          <a:xfrm>
            <a:off x="630936" y="45580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4558031"/>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текст согласия на обработку данных</a:t>
            </a:r>
          </a:p>
        </p:txBody>
      </p:sp>
      <p:sp>
        <p:nvSpPr>
          <p:cNvPr id="24" name="TextBox 23"/>
          <p:cNvSpPr txBox="1"/>
          <p:nvPr/>
        </p:nvSpPr>
        <p:spPr>
          <a:xfrm>
            <a:off x="6160580" y="4558031"/>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25" name="Connector 24"/>
          <p:cNvCxnSpPr/>
          <p:nvPr/>
        </p:nvCxnSpPr>
        <p:spPr>
          <a:xfrm>
            <a:off x="630936" y="481050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0936" y="4810507"/>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проверка формы на узком экране</a:t>
            </a:r>
          </a:p>
        </p:txBody>
      </p:sp>
      <p:sp>
        <p:nvSpPr>
          <p:cNvPr id="27" name="TextBox 26"/>
          <p:cNvSpPr txBox="1"/>
          <p:nvPr/>
        </p:nvSpPr>
        <p:spPr>
          <a:xfrm>
            <a:off x="6160580" y="4810507"/>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после поля: пока поля нет, проверять нечего</a:t>
            </a:r>
          </a:p>
        </p:txBody>
      </p:sp>
      <p:cxnSp>
        <p:nvCxnSpPr>
          <p:cNvPr id="28" name="Connector 27"/>
          <p:cNvCxnSpPr/>
          <p:nvPr/>
        </p:nvCxnSpPr>
        <p:spPr>
          <a:xfrm>
            <a:off x="630936" y="506298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0936" y="5062983"/>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прогон перед выкладкой: ветка, тесты, сборка</a:t>
            </a:r>
          </a:p>
        </p:txBody>
      </p:sp>
      <p:sp>
        <p:nvSpPr>
          <p:cNvPr id="30" name="TextBox 29"/>
          <p:cNvSpPr txBox="1"/>
          <p:nvPr/>
        </p:nvSpPr>
        <p:spPr>
          <a:xfrm>
            <a:off x="6160580" y="5062983"/>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и повторяется после каждого</a:t>
            </a:r>
          </a:p>
        </p:txBody>
      </p:sp>
      <p:cxnSp>
        <p:nvCxnSpPr>
          <p:cNvPr id="31" name="Connector 30"/>
          <p:cNvCxnSpPr/>
          <p:nvPr/>
        </p:nvCxnSpPr>
        <p:spPr>
          <a:xfrm>
            <a:off x="630936" y="531545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0936" y="531545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письмо-подтверждение заявителю</a:t>
            </a:r>
          </a:p>
        </p:txBody>
      </p:sp>
      <p:sp>
        <p:nvSpPr>
          <p:cNvPr id="33" name="TextBox 32"/>
          <p:cNvSpPr txBox="1"/>
          <p:nvPr/>
        </p:nvSpPr>
        <p:spPr>
          <a:xfrm>
            <a:off x="6160580" y="531545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кода не касается</a:t>
            </a:r>
          </a:p>
        </p:txBody>
      </p:sp>
      <p:sp>
        <p:nvSpPr>
          <p:cNvPr id="34" name="Rounded Rectangle 33"/>
          <p:cNvSpPr/>
          <p:nvPr/>
        </p:nvSpPr>
        <p:spPr>
          <a:xfrm>
            <a:off x="502920" y="586054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98855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Независимых кусков — три из шести.</a:t>
            </a:r>
            <a:r>
              <a:rPr sz="1150" b="1" i="0">
                <a:solidFill>
                  <a:srgbClr val="141B2E"/>
                </a:solidFill>
                <a:latin typeface="Arial"/>
              </a:rPr>
              <a:t> Один ждёт поля. Один лезет в тот же файл. Один повторяется после каждого из остальных.</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ускоряем?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Кто из вас уже разгонял задачу разом, а не по очереди? Чем именно — несколькими сессиями, субагентами, проверкой, которая гоняется сама?</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Теперь то же на этой задаче: выберите карточку — и назовите кусок, на котором ваше средство работает.</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разложить и делать куски по очереди</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вести куски в нескольких сессиях</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раздать куски субагентам и запустить разом</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повторяемое в проверку, которая гоняется сама</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задачу — к понедельнику нужно не всё</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538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СРЕДСТВО</a:t>
            </a:r>
          </a:p>
        </p:txBody>
      </p:sp>
      <p:sp>
        <p:nvSpPr>
          <p:cNvPr id="5" name="TextBox 4"/>
          <p:cNvSpPr txBox="1"/>
          <p:nvPr/>
        </p:nvSpPr>
        <p:spPr>
          <a:xfrm>
            <a:off x="2585987" y="1126236"/>
            <a:ext cx="35177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250088" y="1126236"/>
            <a:ext cx="51067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разложить и делать куски по очереди</a:t>
            </a:r>
          </a:p>
        </p:txBody>
      </p:sp>
      <p:sp>
        <p:nvSpPr>
          <p:cNvPr id="8" name="TextBox 7"/>
          <p:cNvSpPr txBox="1"/>
          <p:nvPr/>
        </p:nvSpPr>
        <p:spPr>
          <a:xfrm>
            <a:off x="2585987" y="1408303"/>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предсказуемый порядок, ничего ни с чем не сталкивается</a:t>
            </a:r>
          </a:p>
        </p:txBody>
      </p:sp>
      <p:sp>
        <p:nvSpPr>
          <p:cNvPr id="9" name="TextBox 8"/>
          <p:cNvSpPr txBox="1"/>
          <p:nvPr/>
        </p:nvSpPr>
        <p:spPr>
          <a:xfrm>
            <a:off x="6250088" y="1408303"/>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три независимых куска ждут друг друга без причины: ожидания складываются</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вести куски в нескольких сессиях</a:t>
            </a:r>
          </a:p>
        </p:txBody>
      </p:sp>
      <p:sp>
        <p:nvSpPr>
          <p:cNvPr id="12" name="TextBox 11"/>
          <p:cNvSpPr txBox="1"/>
          <p:nvPr/>
        </p:nvSpPr>
        <p:spPr>
          <a:xfrm>
            <a:off x="2585987" y="1923414"/>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куски идут одновременно, у каждой сессии свой контекст</a:t>
            </a:r>
          </a:p>
        </p:txBody>
      </p:sp>
      <p:sp>
        <p:nvSpPr>
          <p:cNvPr id="13" name="TextBox 12"/>
          <p:cNvSpPr txBox="1"/>
          <p:nvPr/>
        </p:nvSpPr>
        <p:spPr>
          <a:xfrm>
            <a:off x="6250088" y="1923414"/>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две сессии в одной папке правят одни и те же файлы — у нас это поле и сообщения об ошибках, один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5388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раздать куски субагентам и запустить разом</a:t>
            </a:r>
          </a:p>
        </p:txBody>
      </p:sp>
      <p:sp>
        <p:nvSpPr>
          <p:cNvPr id="16" name="TextBox 15"/>
          <p:cNvSpPr txBox="1"/>
          <p:nvPr/>
        </p:nvSpPr>
        <p:spPr>
          <a:xfrm>
            <a:off x="2585987" y="2438527"/>
            <a:ext cx="3517796"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одновременность даёт харнесс, настраивать её не нужно; у каждого субагента свой контекст и короткий итог</a:t>
            </a:r>
          </a:p>
        </p:txBody>
      </p:sp>
      <p:sp>
        <p:nvSpPr>
          <p:cNvPr id="17" name="TextBox 16"/>
          <p:cNvSpPr txBox="1"/>
          <p:nvPr/>
        </p:nvSpPr>
        <p:spPr>
          <a:xfrm>
            <a:off x="6250088" y="2438527"/>
            <a:ext cx="510675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берёт параллельность там, где она есть: на поле и сообщениях два субагента увидят разные версии одного файла</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753883"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вынести повторяемое в проверку, которая гоняется сама</a:t>
            </a:r>
          </a:p>
        </p:txBody>
      </p:sp>
      <p:sp>
        <p:nvSpPr>
          <p:cNvPr id="20" name="TextBox 19"/>
          <p:cNvSpPr txBox="1"/>
          <p:nvPr/>
        </p:nvSpPr>
        <p:spPr>
          <a:xfrm>
            <a:off x="2585987" y="3128899"/>
            <a:ext cx="3517796"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прогон перед выкладкой уходит из очереди совсем — его делает не человек</a:t>
            </a:r>
          </a:p>
        </p:txBody>
      </p:sp>
      <p:sp>
        <p:nvSpPr>
          <p:cNvPr id="21" name="TextBox 20"/>
          <p:cNvSpPr txBox="1"/>
          <p:nvPr/>
        </p:nvSpPr>
        <p:spPr>
          <a:xfrm>
            <a:off x="6250088" y="3128899"/>
            <a:ext cx="5106759"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писать проверку надо заранее и один раз; в пятницу, когда задача уже пришла, она ускорит только следующую такую задачу</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сузить задачу</a:t>
            </a:r>
          </a:p>
        </p:txBody>
      </p:sp>
      <p:sp>
        <p:nvSpPr>
          <p:cNvPr id="24" name="TextBox 23"/>
          <p:cNvSpPr txBox="1"/>
          <p:nvPr/>
        </p:nvSpPr>
        <p:spPr>
          <a:xfrm>
            <a:off x="2585987" y="3994530"/>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для рекламы нужны поле и согласие — два куска из шести</a:t>
            </a:r>
          </a:p>
        </p:txBody>
      </p:sp>
      <p:sp>
        <p:nvSpPr>
          <p:cNvPr id="25" name="TextBox 24"/>
          <p:cNvSpPr txBox="1"/>
          <p:nvPr/>
        </p:nvSpPr>
        <p:spPr>
          <a:xfrm>
            <a:off x="6250088" y="3994530"/>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решает это не исполнитель: сузить может тот, кто отвечает за срок</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Поворот.</a:t>
            </a:r>
            <a:r>
              <a:rPr sz="1450" b="1" i="0">
                <a:solidFill>
                  <a:srgbClr val="141B2E"/>
                </a:solidFill>
                <a:latin typeface="Arial"/>
              </a:rPr>
              <a:t>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Поставьте рядом два числа: исполнителей, которое вы назвали вслух, и независимых кусков, которое вышло из раскладки.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420416"/>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48432"/>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Фон, не очередь.</a:t>
            </a:r>
            <a:r>
              <a:rPr sz="1500" b="1" i="0">
                <a:solidFill>
                  <a:srgbClr val="141B2E"/>
                </a:solidFill>
                <a:latin typeface="Arial"/>
              </a:rPr>
              <a:t> С определённой версии харнесса параллельный режим включён по умолчанию в интерактивной сессии: субагент уходит в фон, основная сессия не ждёт его, прежде чем продолжить. </a:t>
            </a:r>
            <a:r>
              <a:rPr sz="1500" b="1" i="0">
                <a:solidFill>
                  <a:srgbClr val="141B2E"/>
                </a:solidFill>
                <a:latin typeface="Arial"/>
              </a:rPr>
              <a:t>Предел — на одновременность, не на количество за сессию.</a:t>
            </a:r>
            <a:r>
              <a:rPr sz="1500" b="1" i="0">
                <a:solidFill>
                  <a:srgbClr val="141B2E"/>
                </a:solidFill>
                <a:latin typeface="Arial"/>
              </a:rPr>
              <a:t> По умолчанию одновременно может работать не больше двадцати субагентов; попытка завести двадцать первого падает отдельной, явной ошибкой. Число меняется переменной окружения. Общего предела на то, сколько субагентов можно вызвать за всю сессию, — нет.</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Оркестратор и дочерние сессии</a:t>
            </a:r>
          </a:p>
        </p:txBody>
      </p:sp>
      <p:pic>
        <p:nvPicPr>
          <p:cNvPr id="3" name="Picture 2" descr="subagent-n43-tri-yarusa.png"/>
          <p:cNvPicPr>
            <a:picLocks noChangeAspect="1"/>
          </p:cNvPicPr>
          <p:nvPr/>
        </p:nvPicPr>
        <p:blipFill>
          <a:blip r:embed="rId2"/>
          <a:stretch>
            <a:fillRect/>
          </a:stretch>
        </p:blipFill>
        <p:spPr>
          <a:xfrm>
            <a:off x="530944" y="943356"/>
            <a:ext cx="11127062" cy="2086324"/>
          </a:xfrm>
          <a:prstGeom prst="rect">
            <a:avLst/>
          </a:prstGeom>
        </p:spPr>
      </p:pic>
      <p:sp>
        <p:nvSpPr>
          <p:cNvPr id="4" name="Rounded Rectangle 3"/>
          <p:cNvSpPr/>
          <p:nvPr/>
        </p:nvSpPr>
        <p:spPr>
          <a:xfrm>
            <a:off x="502920" y="3194272"/>
            <a:ext cx="11183112" cy="2193162"/>
          </a:xfrm>
          <a:prstGeom prst="roundRect">
            <a:avLst>
              <a:gd name="adj" fmla="val 138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377152"/>
            <a:ext cx="544834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 ДОЧЕРНЯЯ СЕССИЯ</a:t>
            </a:r>
          </a:p>
        </p:txBody>
      </p:sp>
      <p:sp>
        <p:nvSpPr>
          <p:cNvPr id="6" name="TextBox 5"/>
          <p:cNvSpPr txBox="1"/>
          <p:nvPr/>
        </p:nvSpPr>
        <p:spPr>
          <a:xfrm>
            <a:off x="6280453" y="3377152"/>
            <a:ext cx="50763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ОНА СТОИТ</a:t>
            </a:r>
          </a:p>
        </p:txBody>
      </p:sp>
      <p:sp>
        <p:nvSpPr>
          <p:cNvPr id="7" name="TextBox 6"/>
          <p:cNvSpPr txBox="1"/>
          <p:nvPr/>
        </p:nvSpPr>
        <p:spPr>
          <a:xfrm>
            <a:off x="685800" y="3659219"/>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 неё можно прийти руками: посмотреть, что она успела, дописать задачу, поправить направление</a:t>
            </a:r>
          </a:p>
        </p:txBody>
      </p:sp>
      <p:sp>
        <p:nvSpPr>
          <p:cNvPr id="8" name="TextBox 7"/>
          <p:cNvSpPr txBox="1"/>
          <p:nvPr/>
        </p:nvSpPr>
        <p:spPr>
          <a:xfrm>
            <a:off x="6280453" y="3659219"/>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оркестратор не узнаёт об итоге сам — он узнаёт тогда, когда сходит и проверит</a:t>
            </a:r>
          </a:p>
        </p:txBody>
      </p:sp>
      <p:cxnSp>
        <p:nvCxnSpPr>
          <p:cNvPr id="9" name="Connector 8"/>
          <p:cNvCxnSpPr/>
          <p:nvPr/>
        </p:nvCxnSpPr>
        <p:spPr>
          <a:xfrm>
            <a:off x="685800" y="41743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174331"/>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она сама запускает субагентов: ярусов становится три, и работа берётся крупнее</a:t>
            </a:r>
          </a:p>
        </p:txBody>
      </p:sp>
      <p:sp>
        <p:nvSpPr>
          <p:cNvPr id="11" name="TextBox 10"/>
          <p:cNvSpPr txBox="1"/>
          <p:nvPr/>
        </p:nvSpPr>
        <p:spPr>
          <a:xfrm>
            <a:off x="6280453" y="4174331"/>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нужна обвязка: сессии рядом не поднимаются и не опрашиваются сами по себе</a:t>
            </a:r>
          </a:p>
        </p:txBody>
      </p:sp>
      <p:cxnSp>
        <p:nvCxnSpPr>
          <p:cNvPr id="12" name="Connector 11"/>
          <p:cNvCxnSpPr/>
          <p:nvPr/>
        </p:nvCxnSpPr>
        <p:spPr>
          <a:xfrm>
            <a:off x="685800" y="46894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689443"/>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контекст у неё свой целиком, как у любого обычного запуска</a:t>
            </a:r>
          </a:p>
        </p:txBody>
      </p:sp>
      <p:sp>
        <p:nvSpPr>
          <p:cNvPr id="14" name="TextBox 13"/>
          <p:cNvSpPr txBox="1"/>
          <p:nvPr/>
        </p:nvSpPr>
        <p:spPr>
          <a:xfrm>
            <a:off x="6280453" y="4689443"/>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 стоит она как обычный запуск — по счёту за токены и по памяти машины</a:t>
            </a:r>
          </a:p>
        </p:txBody>
      </p:sp>
      <p:sp>
        <p:nvSpPr>
          <p:cNvPr id="15" name="Rounded Rectangle 14"/>
          <p:cNvSpPr/>
          <p:nvPr/>
        </p:nvSpPr>
        <p:spPr>
          <a:xfrm>
            <a:off x="502920" y="5552027"/>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680043"/>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Маленький кусок — субагенту. Крупный кусок, за которым придётся прийти руками, — дочерней сессии.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в железе</a:t>
            </a:r>
          </a:p>
        </p:txBody>
      </p:sp>
      <p:sp>
        <p:nvSpPr>
          <p:cNvPr id="3" name="Rounded Rectangle 2"/>
          <p:cNvSpPr/>
          <p:nvPr/>
        </p:nvSpPr>
        <p:spPr>
          <a:xfrm>
            <a:off x="502920" y="98468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269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Замер автора курса на своей машине: облачная виртуалка, 16 ГБ памяти, обычные сессии без тяжёлых прогонов внутри.</a:t>
            </a:r>
          </a:p>
        </p:txBody>
      </p:sp>
      <p:sp>
        <p:nvSpPr>
          <p:cNvPr id="5" name="Rounded Rectangle 4"/>
          <p:cNvSpPr/>
          <p:nvPr/>
        </p:nvSpPr>
        <p:spPr>
          <a:xfrm>
            <a:off x="502920" y="1999348"/>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82228"/>
            <a:ext cx="39609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ПОМЕРЕНО</a:t>
            </a:r>
          </a:p>
        </p:txBody>
      </p:sp>
      <p:sp>
        <p:nvSpPr>
          <p:cNvPr id="7" name="TextBox 6"/>
          <p:cNvSpPr txBox="1"/>
          <p:nvPr/>
        </p:nvSpPr>
        <p:spPr>
          <a:xfrm>
            <a:off x="4793077" y="2182228"/>
            <a:ext cx="65637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8" name="TextBox 7"/>
          <p:cNvSpPr txBox="1"/>
          <p:nvPr/>
        </p:nvSpPr>
        <p:spPr>
          <a:xfrm>
            <a:off x="685800" y="2464295"/>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 двадцати одновременных сессий машина начинает спотыкаться</a:t>
            </a:r>
          </a:p>
        </p:txBody>
      </p:sp>
      <p:sp>
        <p:nvSpPr>
          <p:cNvPr id="9" name="TextBox 8"/>
          <p:cNvSpPr txBox="1"/>
          <p:nvPr/>
        </p:nvSpPr>
        <p:spPr>
          <a:xfrm>
            <a:off x="4793077" y="2464295"/>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порядок величины — 1–2 ГБ на одну сессию, и это в покое, без того, что сессия запустит сама</a:t>
            </a:r>
          </a:p>
        </p:txBody>
      </p:sp>
      <p:cxnSp>
        <p:nvCxnSpPr>
          <p:cNvPr id="10" name="Connector 9"/>
          <p:cNvCxnSpPr/>
          <p:nvPr/>
        </p:nvCxnSpPr>
        <p:spPr>
          <a:xfrm>
            <a:off x="685800" y="29940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94012"/>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тридцати-сорока, смотря по объёму, она перестаёт отвечать</a:t>
            </a:r>
          </a:p>
        </p:txBody>
      </p:sp>
      <p:sp>
        <p:nvSpPr>
          <p:cNvPr id="12" name="TextBox 11"/>
          <p:cNvSpPr txBox="1"/>
          <p:nvPr/>
        </p:nvSpPr>
        <p:spPr>
          <a:xfrm>
            <a:off x="4793077" y="2994012"/>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десяток сессий на такой машине — рабочий предел, который считают до запуска</a:t>
            </a:r>
          </a:p>
        </p:txBody>
      </p:sp>
      <p:cxnSp>
        <p:nvCxnSpPr>
          <p:cNvPr id="13" name="Connector 12"/>
          <p:cNvCxnSpPr/>
          <p:nvPr/>
        </p:nvCxnSpPr>
        <p:spPr>
          <a:xfrm>
            <a:off x="685800" y="35237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23729"/>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подъём ещё одной сессии стоит столько же, сколько подъём первой</a:t>
            </a:r>
          </a:p>
        </p:txBody>
      </p:sp>
      <p:sp>
        <p:nvSpPr>
          <p:cNvPr id="15" name="TextBox 14"/>
          <p:cNvSpPr txBox="1"/>
          <p:nvPr/>
        </p:nvSpPr>
        <p:spPr>
          <a:xfrm>
            <a:off x="4793077" y="3523729"/>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предел инструмента — двадцать субагентов разом внутри одной сессии; память машины считается по числу самих сессий и может кончиться раньше</a:t>
            </a:r>
          </a:p>
        </p:txBody>
      </p:sp>
      <p:sp>
        <p:nvSpPr>
          <p:cNvPr id="16" name="Rounded Rectangle 15"/>
          <p:cNvSpPr/>
          <p:nvPr/>
        </p:nvSpPr>
        <p:spPr>
          <a:xfrm>
            <a:off x="502920" y="45042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63224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Язык, на котором написан сам агент, здесь виден: клиент, собранный на Rust, заметно легче собрата на JavaScript. Кратность автор оценил на глаз.</a:t>
            </a:r>
          </a:p>
        </p:txBody>
      </p:sp>
      <p:sp>
        <p:nvSpPr>
          <p:cNvPr id="18" name="Rounded Rectangle 17"/>
          <p:cNvSpPr/>
          <p:nvPr/>
        </p:nvSpPr>
        <p:spPr>
          <a:xfrm>
            <a:off x="502920" y="551889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4691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замер одного человека на одной конфигурации. Порядок величины стоит перемерить у себя — на своей памяти, своём числе сессий и своём агенте.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справочник и форма, настроенные порознь</a:t>
            </a:r>
          </a:p>
        </p:txBody>
      </p:sp>
      <p:sp>
        <p:nvSpPr>
          <p:cNvPr id="3" name="Rounded Rectangle 2"/>
          <p:cNvSpPr/>
          <p:nvPr/>
        </p:nvSpPr>
        <p:spPr>
          <a:xfrm>
            <a:off x="502920" y="2080564"/>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208580"/>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Через неделю — другая работа: настраиваемая платформа, та, где справочники, формы, права доступа и скрипты заводят настройкой. Параллелить там особенно соблазнительно, потому что каждый кусок выглядит самостоятельным экраном. Два куска уходят двум субагентам одновременно: один заводит справочник, второй настраивает форму, которая этот справочник показывает и проверяет. Общего описания задачи никто не пишет — оно кажется лишним, раз куски видны на экране.</a:t>
            </a:r>
          </a:p>
        </p:txBody>
      </p:sp>
      <p:sp>
        <p:nvSpPr>
          <p:cNvPr id="5" name="Rounded Rectangle 4"/>
          <p:cNvSpPr/>
          <p:nvPr/>
        </p:nvSpPr>
        <p:spPr>
          <a:xfrm>
            <a:off x="502920" y="42034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3315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Оба возвращают сделанную работу, и оба правы: справочник заведён, форма настроена. Вместе они не работают — поля в справочнике названы и составлены одним, форма ждёт другого. Сводить это приходится руками, и сведение занимает больше, чем заняла сама настройка.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которое никто не написал</a:t>
            </a:r>
          </a:p>
        </p:txBody>
      </p:sp>
      <p:sp>
        <p:nvSpPr>
          <p:cNvPr id="3" name="Rounded Rectangle 2"/>
          <p:cNvSpPr/>
          <p:nvPr/>
        </p:nvSpPr>
        <p:spPr>
          <a:xfrm>
            <a:off x="502920" y="1091311"/>
            <a:ext cx="11183112" cy="3496944"/>
          </a:xfrm>
          <a:prstGeom prst="roundRect">
            <a:avLst>
              <a:gd name="adj" fmla="val 87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4191"/>
            <a:ext cx="21374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969587" y="1274191"/>
            <a:ext cx="29418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057712" y="1274191"/>
            <a:ext cx="52991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556258"/>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отдать оба куска одному субагенту</a:t>
            </a:r>
          </a:p>
        </p:txBody>
      </p:sp>
      <p:sp>
        <p:nvSpPr>
          <p:cNvPr id="8" name="TextBox 7"/>
          <p:cNvSpPr txBox="1"/>
          <p:nvPr/>
        </p:nvSpPr>
        <p:spPr>
          <a:xfrm>
            <a:off x="2969587" y="1556258"/>
            <a:ext cx="294182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исполнитель видит оба конца и держит состав полей согласованным сам</a:t>
            </a:r>
          </a:p>
        </p:txBody>
      </p:sp>
      <p:sp>
        <p:nvSpPr>
          <p:cNvPr id="9" name="TextBox 8"/>
          <p:cNvSpPr txBox="1"/>
          <p:nvPr/>
        </p:nvSpPr>
        <p:spPr>
          <a:xfrm>
            <a:off x="6057712" y="1556258"/>
            <a:ext cx="52991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отдаёт параллельность там, где она была настоящей и бесплатной; на большой задаче один исполнитель становится узким местом</a:t>
            </a:r>
          </a:p>
        </p:txBody>
      </p:sp>
      <p:cxnSp>
        <p:nvCxnSpPr>
          <p:cNvPr id="10" name="Connector 9"/>
          <p:cNvCxnSpPr/>
          <p:nvPr/>
        </p:nvCxnSpPr>
        <p:spPr>
          <a:xfrm>
            <a:off x="685800" y="22685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68537"/>
            <a:ext cx="213748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дать каждому широкий доступ — пусть сам разберётся в соседнем куске</a:t>
            </a:r>
          </a:p>
        </p:txBody>
      </p:sp>
      <p:sp>
        <p:nvSpPr>
          <p:cNvPr id="12" name="TextBox 11"/>
          <p:cNvSpPr txBox="1"/>
          <p:nvPr/>
        </p:nvSpPr>
        <p:spPr>
          <a:xfrm>
            <a:off x="2969587" y="2268537"/>
            <a:ext cx="294182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иногда срабатывает: исполнитель находит соседнюю настройку и подстраивается</a:t>
            </a:r>
          </a:p>
        </p:txBody>
      </p:sp>
      <p:sp>
        <p:nvSpPr>
          <p:cNvPr id="13" name="TextBox 12"/>
          <p:cNvSpPr txBox="1"/>
          <p:nvPr/>
        </p:nvSpPr>
        <p:spPr>
          <a:xfrm>
            <a:off x="6057712" y="2268537"/>
            <a:ext cx="529913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широкий доступ означает широкий контекст и широкие права; прочитать соседний кусок ещё не значит понять его так же</a:t>
            </a:r>
          </a:p>
        </p:txBody>
      </p:sp>
      <p:cxnSp>
        <p:nvCxnSpPr>
          <p:cNvPr id="14" name="Connector 13"/>
          <p:cNvCxnSpPr/>
          <p:nvPr/>
        </p:nvCxnSpPr>
        <p:spPr>
          <a:xfrm>
            <a:off x="685800" y="31633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63379"/>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общее описание задачи, которое оба читают до начала</a:t>
            </a:r>
          </a:p>
        </p:txBody>
      </p:sp>
      <p:sp>
        <p:nvSpPr>
          <p:cNvPr id="16" name="TextBox 15"/>
          <p:cNvSpPr txBox="1"/>
          <p:nvPr/>
        </p:nvSpPr>
        <p:spPr>
          <a:xfrm>
            <a:off x="2969587" y="3163379"/>
            <a:ext cx="294182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состав общего назван один раз для обоих, и расхождение видно до работы</a:t>
            </a:r>
          </a:p>
        </p:txBody>
      </p:sp>
      <p:sp>
        <p:nvSpPr>
          <p:cNvPr id="17" name="TextBox 16"/>
          <p:cNvSpPr txBox="1"/>
          <p:nvPr/>
        </p:nvSpPr>
        <p:spPr>
          <a:xfrm>
            <a:off x="6057712" y="3163379"/>
            <a:ext cx="52991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 надо написать и поддерживать: появляются циклы чтения, правки и согласования, и это настоящая плата</a:t>
            </a:r>
          </a:p>
        </p:txBody>
      </p:sp>
      <p:cxnSp>
        <p:nvCxnSpPr>
          <p:cNvPr id="18" name="Connector 17"/>
          <p:cNvCxnSpPr/>
          <p:nvPr/>
        </p:nvCxnSpPr>
        <p:spPr>
          <a:xfrm>
            <a:off x="685800" y="38756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875659"/>
            <a:ext cx="21374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третьего субагента-координатора</a:t>
            </a:r>
          </a:p>
        </p:txBody>
      </p:sp>
      <p:sp>
        <p:nvSpPr>
          <p:cNvPr id="20" name="TextBox 19"/>
          <p:cNvSpPr txBox="1"/>
          <p:nvPr/>
        </p:nvSpPr>
        <p:spPr>
          <a:xfrm>
            <a:off x="2969587" y="3875659"/>
            <a:ext cx="294182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сверяет две готовые работы между собой</a:t>
            </a:r>
          </a:p>
        </p:txBody>
      </p:sp>
      <p:sp>
        <p:nvSpPr>
          <p:cNvPr id="21" name="TextBox 20"/>
          <p:cNvSpPr txBox="1"/>
          <p:nvPr/>
        </p:nvSpPr>
        <p:spPr>
          <a:xfrm>
            <a:off x="6057712" y="3875659"/>
            <a:ext cx="529913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двум уже разошедшимся; сводить всё равно придётся, просто чужими руками</a:t>
            </a:r>
          </a:p>
        </p:txBody>
      </p:sp>
      <p:sp>
        <p:nvSpPr>
          <p:cNvPr id="22" name="Rounded Rectangle 21"/>
          <p:cNvSpPr/>
          <p:nvPr/>
        </p:nvSpPr>
        <p:spPr>
          <a:xfrm>
            <a:off x="502920" y="51227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2507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В раскладке условие назвали вслух: сказали, какие куски независимы и почему. Здесь общего описания не написал никто, и додумать его не мог ни один из двоих — целиком задачу не знал никто. Работает третий ход, и работает он тем же, чем работала раскладка.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254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534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субагентов.</a:t>
            </a:r>
            <a:r>
              <a:rPr sz="1500" b="1" i="0">
                <a:solidFill>
                  <a:srgbClr val="141B2E"/>
                </a:solidFill>
                <a:latin typeface="Arial"/>
              </a:rPr>
              <a:t> Тот, кто заводил справочник, и тот, кто настраивал форму, работают без третьего субагента, сверяющего их согласованность. Вот что об этом говорит измерение на масштабе, не на одном случае.</a:t>
            </a:r>
          </a:p>
        </p:txBody>
      </p:sp>
      <p:sp>
        <p:nvSpPr>
          <p:cNvPr id="5" name="Rounded Rectangle 4"/>
          <p:cNvSpPr/>
          <p:nvPr/>
        </p:nvSpPr>
        <p:spPr>
          <a:xfrm>
            <a:off x="502920" y="2378282"/>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469722"/>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61162"/>
            <a:ext cx="15167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48885" y="2561162"/>
            <a:ext cx="62217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6968" y="2561162"/>
            <a:ext cx="26398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843229"/>
            <a:ext cx="15167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48885" y="2843229"/>
            <a:ext cx="62217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6968" y="2843229"/>
            <a:ext cx="26398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9206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20633"/>
            <a:ext cx="15167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48885" y="3920633"/>
            <a:ext cx="62217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6968" y="3920633"/>
            <a:ext cx="26398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68201"/>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505361"/>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субагентов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пишут в общем описании: границу в обе стороны</a:t>
            </a:r>
          </a:p>
        </p:txBody>
      </p:sp>
      <p:pic>
        <p:nvPicPr>
          <p:cNvPr id="3" name="Picture 2" descr="subagent-n48-granitsa-dvukh-zon.png"/>
          <p:cNvPicPr>
            <a:picLocks noChangeAspect="1"/>
          </p:cNvPicPr>
          <p:nvPr/>
        </p:nvPicPr>
        <p:blipFill>
          <a:blip r:embed="rId2"/>
          <a:stretch>
            <a:fillRect/>
          </a:stretch>
        </p:blipFill>
        <p:spPr>
          <a:xfrm>
            <a:off x="782225" y="943356"/>
            <a:ext cx="10624500" cy="3187350"/>
          </a:xfrm>
          <a:prstGeom prst="rect">
            <a:avLst/>
          </a:prstGeom>
        </p:spPr>
      </p:pic>
      <p:sp>
        <p:nvSpPr>
          <p:cNvPr id="4" name="Rounded Rectangle 3"/>
          <p:cNvSpPr/>
          <p:nvPr/>
        </p:nvSpPr>
        <p:spPr>
          <a:xfrm>
            <a:off x="502920" y="4295298"/>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23314"/>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Справочнику нужна строка про то, где он кончается: «имена и состав полей — здесь; как они показываются и проверяются на форме — не здесь». Форме — симметричная: «показываю поля по именам из описания; состав полей не завожу».</a:t>
            </a:r>
          </a:p>
        </p:txBody>
      </p:sp>
      <p:sp>
        <p:nvSpPr>
          <p:cNvPr id="6" name="Rounded Rectangle 5"/>
          <p:cNvSpPr/>
          <p:nvPr/>
        </p:nvSpPr>
        <p:spPr>
          <a:xfrm>
            <a:off x="502920" y="5372004"/>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00020"/>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Граница, записанная для обеих сторон, стык между кусками не убирает. Она делает расхождение видимым до работы — пока оно стоит двух строк. Прочитать описание перед началом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 одно средство из пяти. Где он оправдан</a:t>
            </a:r>
          </a:p>
        </p:txBody>
      </p:sp>
      <p:sp>
        <p:nvSpPr>
          <p:cNvPr id="3" name="Rounded Rectangle 2"/>
          <p:cNvSpPr/>
          <p:nvPr/>
        </p:nvSpPr>
        <p:spPr>
          <a:xfrm>
            <a:off x="502920" y="943356"/>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Отраслевой разворот, как метка границы.</a:t>
            </a:r>
            <a:r>
              <a:rPr sz="13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(отдельный субагент находит в среднем два бага на правку, из них около 58% серьёзных) и связка из двух разных топ-моделей на сложных сценариях. «Рой» без границ она по-прежнему называет отвлекающим фактором.</a:t>
            </a:r>
          </a:p>
        </p:txBody>
      </p:sp>
      <p:sp>
        <p:nvSpPr>
          <p:cNvPr id="5" name="Rounded Rectangle 4"/>
          <p:cNvSpPr/>
          <p:nvPr/>
        </p:nvSpPr>
        <p:spPr>
          <a:xfrm>
            <a:off x="502920" y="244525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73274"/>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Параллельность лежит в задаче.</a:t>
            </a:r>
            <a:r>
              <a:rPr sz="1350" b="1" i="0">
                <a:solidFill>
                  <a:srgbClr val="141B2E"/>
                </a:solidFill>
                <a:latin typeface="Arial"/>
              </a:rPr>
              <a:t> Догадка считала исполнителей: шесть кусков — шесть исполнителей. Раскладка назвала условие: независимых кусков три, и каждому из остальных нужно своё средство. Нашему разработчику неверный счёт стоил недели работы по очереди — включая те куски, которые спокойно делились. Сведение разошедшихся настроек стоило дольше самой настройки; доверие к приёму стоило недели.</a:t>
            </a:r>
          </a:p>
        </p:txBody>
      </p:sp>
      <p:sp>
        <p:nvSpPr>
          <p:cNvPr id="7" name="Rounded Rectangle 6"/>
          <p:cNvSpPr/>
          <p:nvPr/>
        </p:nvSpPr>
        <p:spPr>
          <a:xfrm>
            <a:off x="502920"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СУБАГЕНТ ОПРАВДАН, КОГДА</a:t>
            </a:r>
          </a:p>
        </p:txBody>
      </p:sp>
      <p:sp>
        <p:nvSpPr>
          <p:cNvPr id="9" name="TextBox 8"/>
          <p:cNvSpPr txBox="1"/>
          <p:nvPr/>
        </p:nvSpPr>
        <p:spPr>
          <a:xfrm>
            <a:off x="685800" y="41186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кусков несколько и они независимы — шаг одного не нуждается в выводе другого</a:t>
            </a:r>
          </a:p>
        </p:txBody>
      </p:sp>
      <p:cxnSp>
        <p:nvCxnSpPr>
          <p:cNvPr id="10" name="Connector 9"/>
          <p:cNvCxnSpPr/>
          <p:nvPr/>
        </p:nvCxnSpPr>
        <p:spPr>
          <a:xfrm>
            <a:off x="685800" y="460959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0959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каждого куска своя узкая зона и короткий итог — справочник и форма ровно этот случай, когда общее между ними записано до начала</a:t>
            </a:r>
          </a:p>
        </p:txBody>
      </p:sp>
      <p:sp>
        <p:nvSpPr>
          <p:cNvPr id="12" name="Rounded Rectangle 11"/>
          <p:cNvSpPr/>
          <p:nvPr/>
        </p:nvSpPr>
        <p:spPr>
          <a:xfrm>
            <a:off x="6231636"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ДЕШЕВЛЕ ДРУГОЕ СРЕДСТВО, КОГДА</a:t>
            </a:r>
          </a:p>
        </p:txBody>
      </p:sp>
      <p:sp>
        <p:nvSpPr>
          <p:cNvPr id="14" name="TextBox 13"/>
          <p:cNvSpPr txBox="1"/>
          <p:nvPr/>
        </p:nvSpPr>
        <p:spPr>
          <a:xfrm>
            <a:off x="6414516" y="411861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шаги зависимы: разбиение умножает ошибку — в 17,2 раза без координатора, в 4,4 даже при централизованной проверке</a:t>
            </a:r>
          </a:p>
        </p:txBody>
      </p:sp>
      <p:cxnSp>
        <p:nvCxnSpPr>
          <p:cNvPr id="15" name="Connector 14"/>
          <p:cNvCxnSpPr/>
          <p:nvPr/>
        </p:nvCxnSpPr>
        <p:spPr>
          <a:xfrm>
            <a:off x="6414516" y="457962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7962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общего между кусками не записал никто: две честные работы складываются в готовность, которой нет</a:t>
            </a:r>
          </a:p>
        </p:txBody>
      </p:sp>
      <p:cxnSp>
        <p:nvCxnSpPr>
          <p:cNvPr id="17" name="Connector 16"/>
          <p:cNvCxnSpPr/>
          <p:nvPr/>
        </p:nvCxnSpPr>
        <p:spPr>
          <a:xfrm>
            <a:off x="6414516" y="50406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040629"/>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повторяется после каждого из остальных: его место в проверке, которая гоняется сама</a:t>
            </a:r>
          </a:p>
        </p:txBody>
      </p:sp>
      <p:cxnSp>
        <p:nvCxnSpPr>
          <p:cNvPr id="19" name="Connector 18"/>
          <p:cNvCxnSpPr/>
          <p:nvPr/>
        </p:nvCxnSpPr>
        <p:spPr>
          <a:xfrm>
            <a:off x="6414516" y="55016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501639"/>
            <a:ext cx="5088636" cy="303656"/>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к сроку не нужен вовсе: такой сужают, а ускорять в нём нечего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05049"/>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05049"/>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199132"/>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Две сессии в одной папке. Обе отчитались успехом</a:t>
            </a:r>
          </a:p>
        </p:txBody>
      </p:sp>
      <p:sp>
        <p:nvSpPr>
          <p:cNvPr id="8" name="TextBox 7"/>
          <p:cNvSpPr txBox="1"/>
          <p:nvPr/>
        </p:nvSpPr>
        <p:spPr>
          <a:xfrm>
            <a:off x="822960" y="3416807"/>
            <a:ext cx="9509760" cy="1424940"/>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Сессий у вас уже несколько, а исполнителей в одной папке почти всегда больше одного — и это нормально. Отдельную копию репозитория вы дадите сессии сразу и захотите дать субагенту. Поле изоляции у субагента есть, включают его редко, и это решение. Решаем, где разводить копиями и где только зонами.</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Вторая сессия завела ветку. Первая этого не заметила</a:t>
            </a:r>
          </a:p>
        </p:txBody>
      </p:sp>
      <p:sp>
        <p:nvSpPr>
          <p:cNvPr id="3" name="Rounded Rectangle 2"/>
          <p:cNvSpPr/>
          <p:nvPr/>
        </p:nvSpPr>
        <p:spPr>
          <a:xfrm>
            <a:off x="502920" y="10171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51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ветке </a:t>
            </a:r>
            <a:r>
              <a:rPr sz="1500" b="1" i="0">
                <a:solidFill>
                  <a:srgbClr val="141B2E"/>
                </a:solidFill>
                <a:latin typeface="Consolas"/>
              </a:rPr>
              <a:t>fix/email-pattern</a:t>
            </a:r>
            <a:r>
              <a:rPr sz="1500" b="1" i="0">
                <a:solidFill>
                  <a:srgbClr val="141B2E"/>
                </a:solidFill>
                <a:latin typeface="Arial"/>
              </a:rPr>
              <a:t> лежит начатая правка: регулярное выражение адреса в </a:t>
            </a:r>
            <a:r>
              <a:rPr sz="1500" b="1" i="0">
                <a:solidFill>
                  <a:srgbClr val="141B2E"/>
                </a:solidFill>
                <a:latin typeface="Consolas"/>
              </a:rPr>
              <a:t>index.html</a:t>
            </a:r>
            <a:r>
              <a:rPr sz="1500" b="1" i="0">
                <a:solidFill>
                  <a:srgbClr val="141B2E"/>
                </a:solidFill>
                <a:latin typeface="Arial"/>
              </a:rPr>
              <a:t> поправлено, сообщение в </a:t>
            </a:r>
            <a:r>
              <a:rPr sz="1500" b="1" i="0">
                <a:solidFill>
                  <a:srgbClr val="141B2E"/>
                </a:solidFill>
                <a:latin typeface="Consolas"/>
              </a:rPr>
              <a:t>src/validate.js</a:t>
            </a:r>
            <a:r>
              <a:rPr sz="1500" b="1" i="0">
                <a:solidFill>
                  <a:srgbClr val="141B2E"/>
                </a:solidFill>
                <a:latin typeface="Arial"/>
              </a:rPr>
              <a:t> — ещё нет. Коммита пока нет.</a:t>
            </a:r>
          </a:p>
        </p:txBody>
      </p:sp>
      <p:sp>
        <p:nvSpPr>
          <p:cNvPr id="5" name="Rounded Rectangle 4"/>
          <p:cNvSpPr/>
          <p:nvPr/>
        </p:nvSpPr>
        <p:spPr>
          <a:xfrm>
            <a:off x="502920" y="2113051"/>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325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33250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незачем, и разработчик открывает вторую — в том же каталоге, на том же репозитории.</a:t>
            </a:r>
          </a:p>
        </p:txBody>
      </p:sp>
      <p:sp>
        <p:nvSpPr>
          <p:cNvPr id="8" name="TextBox 7"/>
          <p:cNvSpPr txBox="1"/>
          <p:nvPr/>
        </p:nvSpPr>
        <p:spPr>
          <a:xfrm>
            <a:off x="722376" y="306745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6745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начинает с собственной ветки: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checkout</a:t>
            </a:r>
            <a:r>
              <a:rPr sz="1350" b="0" i="0">
                <a:solidFill>
                  <a:srgbClr val="141B2E"/>
                </a:solidFill>
                <a:latin typeface="Arial"/>
              </a:rPr>
              <a:t> </a:t>
            </a:r>
            <a:r>
              <a:rPr sz="1350" b="0" i="0">
                <a:solidFill>
                  <a:srgbClr val="141B2E"/>
                </a:solidFill>
                <a:latin typeface="Arial"/>
              </a:rPr>
              <a:t>-b</a:t>
            </a:r>
            <a:r>
              <a:rPr sz="1350" b="0" i="0">
                <a:solidFill>
                  <a:srgbClr val="141B2E"/>
                </a:solidFill>
                <a:latin typeface="Arial"/>
              </a:rPr>
              <a:t> </a:t>
            </a:r>
            <a:r>
              <a:rPr sz="1350" b="0" i="0">
                <a:solidFill>
                  <a:srgbClr val="141B2E"/>
                </a:solidFill>
                <a:latin typeface="Consolas"/>
              </a:rPr>
              <a:t>chore/bump-deps</a:t>
            </a:r>
            <a:r>
              <a:rPr sz="1350" b="0" i="0">
                <a:solidFill>
                  <a:srgbClr val="141B2E"/>
                </a:solidFill>
                <a:latin typeface="Arial"/>
              </a:rPr>
              <a:t>. Каталог один, ветка в нём одна на всех — и незакоммиченная правка адреса переезжает на новую ветку вместе с каталогом.</a:t>
            </a:r>
          </a:p>
        </p:txBody>
      </p:sp>
      <p:sp>
        <p:nvSpPr>
          <p:cNvPr id="10" name="TextBox 9"/>
          <p:cNvSpPr txBox="1"/>
          <p:nvPr/>
        </p:nvSpPr>
        <p:spPr>
          <a:xfrm>
            <a:off x="722376" y="360009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009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заканчивает работу и забирает в коммит всё, что видит в каталоге. В коммит с зависимостью попадает недоделанная проверка адреса — для этой сессии она просто часть состояния файлов.</a:t>
            </a:r>
          </a:p>
        </p:txBody>
      </p:sp>
      <p:sp>
        <p:nvSpPr>
          <p:cNvPr id="12" name="TextBox 11"/>
          <p:cNvSpPr txBox="1"/>
          <p:nvPr/>
        </p:nvSpPr>
        <p:spPr>
          <a:xfrm>
            <a:off x="722376" y="413273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13273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Первая сессия продолжает по тому, что прочитала раньше: дописывает сообщение, прогоняет тесты, докладывает, что правка готова. Её ветки под ней больше нет — каталог стоит на ветке зависимостей.</a:t>
            </a:r>
          </a:p>
        </p:txBody>
      </p:sp>
      <p:sp>
        <p:nvSpPr>
          <p:cNvPr id="14" name="Rounded Rectangle 13"/>
          <p:cNvSpPr/>
          <p:nvPr/>
        </p:nvSpPr>
        <p:spPr>
          <a:xfrm>
            <a:off x="502920" y="52339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619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 сессии доложили об успехе, и обе были правы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Обе задачи нужны. Что здесь меняют?</a:t>
            </a:r>
          </a:p>
        </p:txBody>
      </p:sp>
      <p:sp>
        <p:nvSpPr>
          <p:cNvPr id="3" name="Rounded Rectangle 2"/>
          <p:cNvSpPr/>
          <p:nvPr/>
        </p:nvSpPr>
        <p:spPr>
          <a:xfrm>
            <a:off x="502920" y="11235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515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Было ли у кого, что два запуска дерутся за одну папку — ветка не та, правка перекрыта, а странного никто не делал?</a:t>
            </a:r>
          </a:p>
        </p:txBody>
      </p:sp>
      <p:sp>
        <p:nvSpPr>
          <p:cNvPr id="5" name="Rectangle 4"/>
          <p:cNvSpPr/>
          <p:nvPr/>
        </p:nvSpPr>
        <p:spPr>
          <a:xfrm>
            <a:off x="502920" y="259822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53093"/>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Задачи друг от друга не зависят, обе сессии нужны разом, каталог у них один.</a:t>
            </a:r>
          </a:p>
        </p:txBody>
      </p:sp>
      <p:sp>
        <p:nvSpPr>
          <p:cNvPr id="7" name="Rounded Rectangle 6"/>
          <p:cNvSpPr/>
          <p:nvPr/>
        </p:nvSpPr>
        <p:spPr>
          <a:xfrm>
            <a:off x="502920" y="356768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9569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здесь заводят или меняют, чтобы это не повторилось, — и обоснуйте выбор рядом с остальными четырьмя. Состав верного ответа до разбора не называю.</a:t>
            </a:r>
          </a:p>
        </p:txBody>
      </p:sp>
      <p:sp>
        <p:nvSpPr>
          <p:cNvPr id="9" name="Rounded Rectangle 8"/>
          <p:cNvSpPr/>
          <p:nvPr/>
        </p:nvSpPr>
        <p:spPr>
          <a:xfrm>
            <a:off x="502920"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коммитить перед каждым переключением</a:t>
            </a:r>
          </a:p>
        </p:txBody>
      </p:sp>
      <p:sp>
        <p:nvSpPr>
          <p:cNvPr id="11" name="Rounded Rectangle 10"/>
          <p:cNvSpPr/>
          <p:nvPr/>
        </p:nvSpPr>
        <p:spPr>
          <a:xfrm>
            <a:off x="2768803"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работать по очереди, в одной сессии</a:t>
            </a:r>
          </a:p>
        </p:txBody>
      </p:sp>
      <p:sp>
        <p:nvSpPr>
          <p:cNvPr id="13" name="Rounded Rectangle 12"/>
          <p:cNvSpPr/>
          <p:nvPr/>
        </p:nvSpPr>
        <p:spPr>
          <a:xfrm>
            <a:off x="5034686"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вместо второй сессии — субагенты в первой</a:t>
            </a:r>
          </a:p>
        </p:txBody>
      </p:sp>
      <p:sp>
        <p:nvSpPr>
          <p:cNvPr id="15" name="Rounded Rectangle 14"/>
          <p:cNvSpPr/>
          <p:nvPr/>
        </p:nvSpPr>
        <p:spPr>
          <a:xfrm>
            <a:off x="7300569"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каждой сессии — свою копию репозитория</a:t>
            </a:r>
          </a:p>
        </p:txBody>
      </p:sp>
      <p:sp>
        <p:nvSpPr>
          <p:cNvPr id="17" name="Rounded Rectangle 16"/>
          <p:cNvSpPr/>
          <p:nvPr/>
        </p:nvSpPr>
        <p:spPr>
          <a:xfrm>
            <a:off x="9566452"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развести по файлам и договориться</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Копия разводит сессии. Внутри сессии разводят зоны</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17481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580266" y="1131735"/>
            <a:ext cx="42658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992412" y="1131735"/>
            <a:ext cx="43644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13802"/>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коммитить перед каждым переключением</a:t>
            </a:r>
          </a:p>
        </p:txBody>
      </p:sp>
      <p:sp>
        <p:nvSpPr>
          <p:cNvPr id="8" name="TextBox 7"/>
          <p:cNvSpPr txBox="1"/>
          <p:nvPr/>
        </p:nvSpPr>
        <p:spPr>
          <a:xfrm>
            <a:off x="2580266" y="1413802"/>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потерянное: есть к чему вернуться, и чужой коммит виден в истории</a:t>
            </a:r>
          </a:p>
        </p:txBody>
      </p:sp>
      <p:sp>
        <p:nvSpPr>
          <p:cNvPr id="9" name="TextBox 8"/>
          <p:cNvSpPr txBox="1"/>
          <p:nvPr/>
        </p:nvSpPr>
        <p:spPr>
          <a:xfrm>
            <a:off x="6992412" y="1413802"/>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в каталоге остаётся одна на всех; о столкновении узнаёте после него</a:t>
            </a:r>
          </a:p>
        </p:txBody>
      </p:sp>
      <p:cxnSp>
        <p:nvCxnSpPr>
          <p:cNvPr id="10" name="Connector 9"/>
          <p:cNvCxnSpPr/>
          <p:nvPr/>
        </p:nvCxnSpPr>
        <p:spPr>
          <a:xfrm>
            <a:off x="685800" y="21260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6081"/>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работать по очереди, в одной сессии</a:t>
            </a:r>
          </a:p>
        </p:txBody>
      </p:sp>
      <p:sp>
        <p:nvSpPr>
          <p:cNvPr id="12" name="TextBox 11"/>
          <p:cNvSpPr txBox="1"/>
          <p:nvPr/>
        </p:nvSpPr>
        <p:spPr>
          <a:xfrm>
            <a:off x="2580266" y="2126081"/>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столкновение целиком: одна работа в каталоге, одна ветка, один исполнитель</a:t>
            </a:r>
          </a:p>
        </p:txBody>
      </p:sp>
      <p:sp>
        <p:nvSpPr>
          <p:cNvPr id="13" name="TextBox 12"/>
          <p:cNvSpPr txBox="1"/>
          <p:nvPr/>
        </p:nvSpPr>
        <p:spPr>
          <a:xfrm>
            <a:off x="6992412" y="2126081"/>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задача стоит, пока идёт первая — та самая очередь, от которой ушёл прошлый кейс</a:t>
            </a:r>
          </a:p>
        </p:txBody>
      </p:sp>
      <p:cxnSp>
        <p:nvCxnSpPr>
          <p:cNvPr id="14" name="Connector 13"/>
          <p:cNvCxnSpPr/>
          <p:nvPr/>
        </p:nvCxnSpPr>
        <p:spPr>
          <a:xfrm>
            <a:off x="685800" y="28383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38361"/>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вместо второй сессии — субагенты в первой</a:t>
            </a:r>
          </a:p>
        </p:txBody>
      </p:sp>
      <p:sp>
        <p:nvSpPr>
          <p:cNvPr id="16" name="TextBox 15"/>
          <p:cNvSpPr txBox="1"/>
          <p:nvPr/>
        </p:nvSpPr>
        <p:spPr>
          <a:xfrm>
            <a:off x="2580266" y="2838361"/>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спор о ветке: субагенты работают в той же ветке, и задачу не нужно объяснять заново</a:t>
            </a:r>
          </a:p>
        </p:txBody>
      </p:sp>
      <p:sp>
        <p:nvSpPr>
          <p:cNvPr id="17" name="TextBox 16"/>
          <p:cNvSpPr txBox="1"/>
          <p:nvPr/>
        </p:nvSpPr>
        <p:spPr>
          <a:xfrm>
            <a:off x="6992412" y="2838361"/>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них общий по устройству, поэтому спор о файле остаётся на месте</a:t>
            </a:r>
          </a:p>
        </p:txBody>
      </p:sp>
      <p:cxnSp>
        <p:nvCxnSpPr>
          <p:cNvPr id="18" name="Connector 17"/>
          <p:cNvCxnSpPr/>
          <p:nvPr/>
        </p:nvCxnSpPr>
        <p:spPr>
          <a:xfrm>
            <a:off x="685800" y="3550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50640"/>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каждой сессии — свою копию репозитория</a:t>
            </a:r>
          </a:p>
        </p:txBody>
      </p:sp>
      <p:sp>
        <p:nvSpPr>
          <p:cNvPr id="20" name="TextBox 19"/>
          <p:cNvSpPr txBox="1"/>
          <p:nvPr/>
        </p:nvSpPr>
        <p:spPr>
          <a:xfrm>
            <a:off x="2580266" y="3550640"/>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даёт каждой свои файлы и свою ветку при общей истории: переключение у одной под руками другой ничего не меняет</a:t>
            </a:r>
          </a:p>
        </p:txBody>
      </p:sp>
      <p:sp>
        <p:nvSpPr>
          <p:cNvPr id="21" name="TextBox 20"/>
          <p:cNvSpPr txBox="1"/>
          <p:nvPr/>
        </p:nvSpPr>
        <p:spPr>
          <a:xfrm>
            <a:off x="6992412" y="3550640"/>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копию нужно поднять как рабочее место — зависимости, файлы вне версий; сводить работу всё равно веткой</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развести по файлам и договориться</a:t>
            </a:r>
          </a:p>
        </p:txBody>
      </p:sp>
      <p:sp>
        <p:nvSpPr>
          <p:cNvPr id="24" name="TextBox 23"/>
          <p:cNvSpPr txBox="1"/>
          <p:nvPr/>
        </p:nvSpPr>
        <p:spPr>
          <a:xfrm>
            <a:off x="2580266" y="4262920"/>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там, где копий не бывает: внутри одной сессии, между её исполнителями</a:t>
            </a:r>
          </a:p>
        </p:txBody>
      </p:sp>
      <p:sp>
        <p:nvSpPr>
          <p:cNvPr id="25" name="TextBox 24"/>
          <p:cNvSpPr txBox="1"/>
          <p:nvPr/>
        </p:nvSpPr>
        <p:spPr>
          <a:xfrm>
            <a:off x="6992412" y="4262920"/>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том, что зоны действительно не пересекаются — один общий файл отменяет договорённость</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Своя копия: что в ней своё и что общее</a:t>
            </a:r>
          </a:p>
        </p:txBody>
      </p:sp>
      <p:sp>
        <p:nvSpPr>
          <p:cNvPr id="3" name="Rounded Rectangle 2"/>
          <p:cNvSpPr/>
          <p:nvPr/>
        </p:nvSpPr>
        <p:spPr>
          <a:xfrm>
            <a:off x="502920" y="99398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200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Отдельная рабочая копия — свой каталог файлов и своя ветка; история и удалённый репозиторий те же, что у основной копии. В git это </a:t>
            </a:r>
            <a:r>
              <a:rPr sz="1500" b="1" i="0">
                <a:solidFill>
                  <a:srgbClr val="141B2E"/>
                </a:solidFill>
                <a:latin typeface="Consolas"/>
              </a:rPr>
              <a:t>worktree</a:t>
            </a:r>
            <a:r>
              <a:rPr sz="1500" b="1" i="0">
                <a:solidFill>
                  <a:srgbClr val="141B2E"/>
                </a:solidFill>
                <a:latin typeface="Arial"/>
              </a:rPr>
              <a:t>. Запуск с флагом </a:t>
            </a:r>
            <a:r>
              <a:rPr sz="1500" b="1" i="0">
                <a:solidFill>
                  <a:srgbClr val="141B2E"/>
                </a:solidFill>
                <a:latin typeface="Arial"/>
              </a:rPr>
              <a:t>--worktree</a:t>
            </a:r>
            <a:r>
              <a:rPr sz="1500" b="1" i="0">
                <a:solidFill>
                  <a:srgbClr val="141B2E"/>
                </a:solidFill>
                <a:latin typeface="Arial"/>
              </a:rPr>
              <a:t> и именем создаёт её под </a:t>
            </a:r>
            <a:r>
              <a:rPr sz="1500" b="1" i="0">
                <a:solidFill>
                  <a:srgbClr val="141B2E"/>
                </a:solidFill>
                <a:latin typeface="Consolas"/>
              </a:rPr>
              <a:t>.claude/worktrees/имя/</a:t>
            </a:r>
            <a:r>
              <a:rPr sz="1500" b="1" i="0">
                <a:solidFill>
                  <a:srgbClr val="141B2E"/>
                </a:solidFill>
                <a:latin typeface="Arial"/>
              </a:rPr>
              <a:t> на ветке </a:t>
            </a:r>
            <a:r>
              <a:rPr sz="1500" b="1" i="0">
                <a:solidFill>
                  <a:srgbClr val="141B2E"/>
                </a:solidFill>
                <a:latin typeface="Consolas"/>
              </a:rPr>
              <a:t>worktree-имя</a:t>
            </a:r>
            <a:r>
              <a:rPr sz="1500" b="1" i="0">
                <a:solidFill>
                  <a:srgbClr val="141B2E"/>
                </a:solidFill>
                <a:latin typeface="Arial"/>
              </a:rPr>
              <a:t>; тот же запуск с другим именем в другом терминале поднимает вторую изолированную сессию. Руками то же делает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../проект-правка</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правка</a:t>
            </a:r>
            <a:r>
              <a:rPr sz="1500" b="1" i="0">
                <a:solidFill>
                  <a:srgbClr val="141B2E"/>
                </a:solidFill>
                <a:latin typeface="Arial"/>
              </a:rPr>
              <a:t>.</a:t>
            </a:r>
          </a:p>
        </p:txBody>
      </p:sp>
      <p:sp>
        <p:nvSpPr>
          <p:cNvPr id="5" name="Rounded Rectangle 4"/>
          <p:cNvSpPr/>
          <p:nvPr/>
        </p:nvSpPr>
        <p:spPr>
          <a:xfrm>
            <a:off x="502920" y="2740575"/>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23455"/>
            <a:ext cx="4156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СВОЁ У КАЖДОЙ КОПИИ</a:t>
            </a:r>
          </a:p>
        </p:txBody>
      </p:sp>
      <p:sp>
        <p:nvSpPr>
          <p:cNvPr id="7" name="TextBox 6"/>
          <p:cNvSpPr txBox="1"/>
          <p:nvPr/>
        </p:nvSpPr>
        <p:spPr>
          <a:xfrm>
            <a:off x="4988607" y="2923455"/>
            <a:ext cx="6368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ОБЩЕЕ С ОСНОВНОЙ КОПИЕЙ</a:t>
            </a:r>
          </a:p>
        </p:txBody>
      </p:sp>
      <p:sp>
        <p:nvSpPr>
          <p:cNvPr id="8" name="TextBox 7"/>
          <p:cNvSpPr txBox="1"/>
          <p:nvPr/>
        </p:nvSpPr>
        <p:spPr>
          <a:xfrm>
            <a:off x="685800" y="3205522"/>
            <a:ext cx="4156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файлы в каталоге — переключение ветки в одной копии не меняет файлы в другой</a:t>
            </a:r>
          </a:p>
        </p:txBody>
      </p:sp>
      <p:sp>
        <p:nvSpPr>
          <p:cNvPr id="9" name="TextBox 8"/>
          <p:cNvSpPr txBox="1"/>
          <p:nvPr/>
        </p:nvSpPr>
        <p:spPr>
          <a:xfrm>
            <a:off x="4988607" y="3205522"/>
            <a:ext cx="6368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служебный каталог репозитория: команды из копии пишут в общую историю, поэтому коммит из копии виден везде и переносить работу никуда не нужно</a:t>
            </a:r>
          </a:p>
        </p:txBody>
      </p:sp>
      <p:cxnSp>
        <p:nvCxnSpPr>
          <p:cNvPr id="10" name="Connector 9"/>
          <p:cNvCxnSpPr/>
          <p:nvPr/>
        </p:nvCxnSpPr>
        <p:spPr>
          <a:xfrm>
            <a:off x="685800" y="39178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17801"/>
            <a:ext cx="41565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и незакоммиченное состояние</a:t>
            </a:r>
          </a:p>
        </p:txBody>
      </p:sp>
      <p:sp>
        <p:nvSpPr>
          <p:cNvPr id="12" name="TextBox 11"/>
          <p:cNvSpPr txBox="1"/>
          <p:nvPr/>
        </p:nvSpPr>
        <p:spPr>
          <a:xfrm>
            <a:off x="4988607" y="3917801"/>
            <a:ext cx="63682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плагины, установленные на уровне проекта</a:t>
            </a:r>
          </a:p>
        </p:txBody>
      </p:sp>
      <p:cxnSp>
        <p:nvCxnSpPr>
          <p:cNvPr id="13" name="Connector 12"/>
          <p:cNvCxnSpPr/>
          <p:nvPr/>
        </p:nvCxnSpPr>
        <p:spPr>
          <a:xfrm>
            <a:off x="685800" y="42649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64956"/>
            <a:ext cx="4156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своё рабочее место: зависимости и всё, чего нет в версиях, в копии поднимают отдельно</a:t>
            </a:r>
          </a:p>
        </p:txBody>
      </p:sp>
      <p:sp>
        <p:nvSpPr>
          <p:cNvPr id="15" name="TextBox 14"/>
          <p:cNvSpPr txBox="1"/>
          <p:nvPr/>
        </p:nvSpPr>
        <p:spPr>
          <a:xfrm>
            <a:off x="4988607" y="4264956"/>
            <a:ext cx="6368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разрешение, выданное один раз ответом «больше не спрашивать»: оно сохраняется в основную копию и действует во всех</a:t>
            </a:r>
          </a:p>
        </p:txBody>
      </p:sp>
      <p:sp>
        <p:nvSpPr>
          <p:cNvPr id="16" name="Rounded Rectangle 15"/>
          <p:cNvSpPr/>
          <p:nvPr/>
        </p:nvSpPr>
        <p:spPr>
          <a:xfrm>
            <a:off x="502920" y="52687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967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Свежая копия приходит без того, чего нет в версиях: зависимости в ней не установлены, локальных файлов настроек в ней нет. Какие из них переносить в каждую новую копию, задают отдельным списком.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работы с копиями — строкой в инструкции проекта</a:t>
            </a:r>
          </a:p>
        </p:txBody>
      </p:sp>
      <p:sp>
        <p:nvSpPr>
          <p:cNvPr id="3" name="Rounded Rectangle 2"/>
          <p:cNvSpPr/>
          <p:nvPr/>
        </p:nvSpPr>
        <p:spPr>
          <a:xfrm>
            <a:off x="502920" y="1436878"/>
            <a:ext cx="11183112" cy="1834515"/>
          </a:xfrm>
          <a:prstGeom prst="roundRect">
            <a:avLst>
              <a:gd name="adj" fmla="val 1661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7236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5633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рядом с уже стоящей там строкой «Прямо в </a:t>
            </a:r>
            <a:r>
              <a:rPr sz="1350" b="0" i="0">
                <a:solidFill>
                  <a:srgbClr val="141B2E"/>
                </a:solidFill>
                <a:latin typeface="Consolas"/>
              </a:rPr>
              <a:t>main</a:t>
            </a:r>
            <a:r>
              <a:rPr sz="1350" b="0" i="0">
                <a:solidFill>
                  <a:srgbClr val="141B2E"/>
                </a:solidFill>
                <a:latin typeface="Arial"/>
              </a:rPr>
              <a:t> не коммитим» добавляются две.</a:t>
            </a:r>
          </a:p>
        </p:txBody>
      </p:sp>
      <p:sp>
        <p:nvSpPr>
          <p:cNvPr id="6" name="Rounded Rectangle 5"/>
          <p:cNvSpPr/>
          <p:nvPr/>
        </p:nvSpPr>
        <p:spPr>
          <a:xfrm>
            <a:off x="758952" y="240499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8897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«Каждая задача ведётся в своей рабочей копии: </a:t>
            </a:r>
            <a:r>
              <a:rPr sz="1350" b="0" i="0">
                <a:solidFill>
                  <a:srgbClr val="141B2E"/>
                </a:solidFill>
                <a:latin typeface="Arial"/>
              </a:rPr>
              <a:t>--worktree</a:t>
            </a:r>
            <a:r>
              <a:rPr sz="1350" b="0" i="0">
                <a:solidFill>
                  <a:srgbClr val="141B2E"/>
                </a:solidFill>
                <a:latin typeface="Arial"/>
              </a:rPr>
              <a:t> </a:t>
            </a:r>
            <a:r>
              <a:rPr sz="1350" b="0" i="0">
                <a:solidFill>
                  <a:srgbClr val="141B2E"/>
                </a:solidFill>
                <a:latin typeface="Consolas"/>
              </a:rPr>
              <a:t>&lt;имя&gt;</a:t>
            </a:r>
            <a:r>
              <a:rPr sz="1350" b="0" i="0">
                <a:solidFill>
                  <a:srgbClr val="141B2E"/>
                </a:solidFill>
                <a:latin typeface="Arial"/>
              </a:rPr>
              <a:t> при запуске либо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worktree</a:t>
            </a:r>
            <a:r>
              <a:rPr sz="1350" b="0" i="0">
                <a:solidFill>
                  <a:srgbClr val="141B2E"/>
                </a:solidFill>
                <a:latin typeface="Arial"/>
              </a:rPr>
              <a:t> </a:t>
            </a:r>
            <a:r>
              <a:rPr sz="1350" b="0" i="0">
                <a:solidFill>
                  <a:srgbClr val="141B2E"/>
                </a:solidFill>
                <a:latin typeface="Consolas"/>
              </a:rPr>
              <a:t>add</a:t>
            </a:r>
            <a:r>
              <a:rPr sz="1350" b="0" i="0">
                <a:solidFill>
                  <a:srgbClr val="141B2E"/>
                </a:solidFill>
                <a:latin typeface="Arial"/>
              </a:rPr>
              <a:t>.» · «Закончив задачу, предложи слияние ветки и уборку копии; незакрытую копию не оставляй.»</a:t>
            </a:r>
          </a:p>
        </p:txBody>
      </p:sp>
      <p:sp>
        <p:nvSpPr>
          <p:cNvPr id="8" name="Rounded Rectangle 7"/>
          <p:cNvSpPr/>
          <p:nvPr/>
        </p:nvSpPr>
        <p:spPr>
          <a:xfrm>
            <a:off x="758952" y="28364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1610"/>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Статус тот же, что у двух остальных сегодняшних артефактов: по плану, коммита нет и не будет.</a:t>
            </a:r>
          </a:p>
        </p:txBody>
      </p:sp>
      <p:sp>
        <p:nvSpPr>
          <p:cNvPr id="10" name="Rounded Rectangle 9"/>
          <p:cNvSpPr/>
          <p:nvPr/>
        </p:nvSpPr>
        <p:spPr>
          <a:xfrm>
            <a:off x="502920" y="372872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85673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в файл.</a:t>
            </a:r>
            <a:r>
              <a:rPr sz="1500" b="1" i="0">
                <a:solidFill>
                  <a:srgbClr val="141B2E"/>
                </a:solidFill>
                <a:latin typeface="Arial"/>
              </a:rPr>
              <a:t> Инструкция проекта читается при старте каждой сессии, и порядок работы с копиями достаётся каждой из них одинаково. Договорённость, которая живёт в памяти, достаётся тем сессиям, про которые вспомнили.</a:t>
            </a:r>
          </a:p>
        </p:txBody>
      </p:sp>
      <p:sp>
        <p:nvSpPr>
          <p:cNvPr id="12" name="Rounded Rectangle 11"/>
          <p:cNvSpPr/>
          <p:nvPr/>
        </p:nvSpPr>
        <p:spPr>
          <a:xfrm>
            <a:off x="502920" y="516902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29704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с двух концов.</a:t>
            </a:r>
            <a:r>
              <a:rPr sz="1500" b="1" i="0">
                <a:solidFill>
                  <a:srgbClr val="141B2E"/>
                </a:solidFill>
                <a:latin typeface="Arial"/>
              </a:rPr>
              <a:t> Завести копию — делается охотно: без этого не начать. Слить ветку и убрать копию — делается после того, как задача решена, и поэтому забывается. На рабочей машине автора курса нашлось больше сотни старых копий; обнаружилось это, когда кончилось место на диске.</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Субагенты в одной папке: что здесь ломается</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Общая папка у субагентов — штатный режим, в котором они работают почти всегда.</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6978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УСТРОЕНО</a:t>
            </a:r>
          </a:p>
        </p:txBody>
      </p:sp>
      <p:sp>
        <p:nvSpPr>
          <p:cNvPr id="7" name="TextBox 6"/>
          <p:cNvSpPr txBox="1"/>
          <p:nvPr/>
        </p:nvSpPr>
        <p:spPr>
          <a:xfrm>
            <a:off x="5529959" y="2501095"/>
            <a:ext cx="58268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ЛОМАЕТСЯ</a:t>
            </a:r>
          </a:p>
        </p:txBody>
      </p:sp>
      <p:sp>
        <p:nvSpPr>
          <p:cNvPr id="8" name="TextBox 7"/>
          <p:cNvSpPr txBox="1"/>
          <p:nvPr/>
        </p:nvSpPr>
        <p:spPr>
          <a:xfrm>
            <a:off x="685800" y="2783162"/>
            <a:ext cx="46978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субагента тот же, что у вызвавшей его сессии; инструмент правки есть у всякого субагента, которому его не отняли строкой</a:t>
            </a:r>
          </a:p>
        </p:txBody>
      </p:sp>
      <p:sp>
        <p:nvSpPr>
          <p:cNvPr id="9" name="TextBox 8"/>
          <p:cNvSpPr txBox="1"/>
          <p:nvPr/>
        </p:nvSpPr>
        <p:spPr>
          <a:xfrm>
            <a:off x="5529959" y="2783162"/>
            <a:ext cx="58268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два субагента правят одни файлы; тот, что записал позже, перекрывает работу первого — и перекрывает целиком, когда переписывает файл вместо правки участка</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6978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состояние репозитория субагент получает снимком на момент своего старта, и снимок по ходу работы не обновляется</a:t>
            </a:r>
          </a:p>
        </p:txBody>
      </p:sp>
      <p:sp>
        <p:nvSpPr>
          <p:cNvPr id="12" name="TextBox 11"/>
          <p:cNvSpPr txBox="1"/>
          <p:nvPr/>
        </p:nvSpPr>
        <p:spPr>
          <a:xfrm>
            <a:off x="5529959" y="3495442"/>
            <a:ext cx="58268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пишет по состоянию, которого в каталоге уже нет: создаёт заново файл, которого «не было», или правит строку, которую рядом уже переписали</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6978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вызвавшая сессия получает итог субагента; шагов, которыми он получен, она не видит</a:t>
            </a:r>
          </a:p>
        </p:txBody>
      </p:sp>
      <p:sp>
        <p:nvSpPr>
          <p:cNvPr id="15" name="TextBox 14"/>
          <p:cNvSpPr txBox="1"/>
          <p:nvPr/>
        </p:nvSpPr>
        <p:spPr>
          <a:xfrm>
            <a:off x="5529959" y="4207721"/>
            <a:ext cx="58268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оба итога приходят успешными, и по ним столкновение не видно — видно его в самих файлах</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и устроено, и это нормально: субагент работает там, где лежит работа, иначе итог было бы некуда возвращать. Поэтому первая защита здесь — раскладка зон. Изоляция у субагента тоже бывает, и её цена разбирается дальше в кейсе.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это нивелируют</a:t>
            </a:r>
          </a:p>
        </p:txBody>
      </p:sp>
      <p:sp>
        <p:nvSpPr>
          <p:cNvPr id="3" name="Rounded Rectangle 2"/>
          <p:cNvSpPr/>
          <p:nvPr/>
        </p:nvSpPr>
        <p:spPr>
          <a:xfrm>
            <a:off x="502920" y="13226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06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p:txBody>
      </p:sp>
      <p:sp>
        <p:nvSpPr>
          <p:cNvPr id="5" name="Rounded Rectangle 4"/>
          <p:cNvSpPr/>
          <p:nvPr/>
        </p:nvSpPr>
        <p:spPr>
          <a:xfrm>
            <a:off x="502920"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ПРИЁМ</a:t>
            </a:r>
          </a:p>
        </p:txBody>
      </p:sp>
      <p:sp>
        <p:nvSpPr>
          <p:cNvPr id="7" name="TextBox 6"/>
          <p:cNvSpPr txBox="1"/>
          <p:nvPr/>
        </p:nvSpPr>
        <p:spPr>
          <a:xfrm>
            <a:off x="685800"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развести зоны до запуска: у каждого исполнителя свой набор файлов</a:t>
            </a:r>
          </a:p>
        </p:txBody>
      </p:sp>
      <p:cxnSp>
        <p:nvCxnSpPr>
          <p:cNvPr id="8" name="Connector 7"/>
          <p:cNvCxnSpPr/>
          <p:nvPr/>
        </p:nvCxnSpPr>
        <p:spPr>
          <a:xfrm>
            <a:off x="685800"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читать файл прямо перед записью, не опираться на прочитанное в начале работы</a:t>
            </a:r>
          </a:p>
        </p:txBody>
      </p:sp>
      <p:cxnSp>
        <p:nvCxnSpPr>
          <p:cNvPr id="10" name="Connector 9"/>
          <p:cNvCxnSpPr/>
          <p:nvPr/>
        </p:nvCxnSpPr>
        <p:spPr>
          <a:xfrm>
            <a:off x="685800"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0291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править участок, не переписывать файл целиком</a:t>
            </a:r>
          </a:p>
        </p:txBody>
      </p:sp>
      <p:cxnSp>
        <p:nvCxnSpPr>
          <p:cNvPr id="12" name="Connector 11"/>
          <p:cNvCxnSpPr/>
          <p:nvPr/>
        </p:nvCxnSpPr>
        <p:spPr>
          <a:xfrm>
            <a:off x="685800" y="44215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215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давать непересекающиеся задачи, а сведение результатов вести отдельным проходом</a:t>
            </a:r>
          </a:p>
        </p:txBody>
      </p:sp>
      <p:cxnSp>
        <p:nvCxnSpPr>
          <p:cNvPr id="14" name="Connector 13"/>
          <p:cNvCxnSpPr/>
          <p:nvPr/>
        </p:nvCxnSpPr>
        <p:spPr>
          <a:xfrm>
            <a:off x="685800" y="49125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125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признак успеха брать из самого файла: перечитать результат, сверить время правки</a:t>
            </a:r>
          </a:p>
        </p:txBody>
      </p:sp>
      <p:sp>
        <p:nvSpPr>
          <p:cNvPr id="16" name="Rounded Rectangle 15"/>
          <p:cNvSpPr/>
          <p:nvPr/>
        </p:nvSpPr>
        <p:spPr>
          <a:xfrm>
            <a:off x="6231636"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ЧЕГО ОН НЕ ЗАКРЫВАЕТ</a:t>
            </a:r>
          </a:p>
        </p:txBody>
      </p:sp>
      <p:sp>
        <p:nvSpPr>
          <p:cNvPr id="18" name="TextBox 17"/>
          <p:cNvSpPr txBox="1"/>
          <p:nvPr/>
        </p:nvSpPr>
        <p:spPr>
          <a:xfrm>
            <a:off x="6414516"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общий файл, нужный двоим; он остаётся отдельной работой, и чьей именно — решают заранее</a:t>
            </a:r>
          </a:p>
        </p:txBody>
      </p:sp>
      <p:cxnSp>
        <p:nvCxnSpPr>
          <p:cNvPr id="19" name="Connector 18"/>
          <p:cNvCxnSpPr/>
          <p:nvPr/>
        </p:nvCxnSpPr>
        <p:spPr>
          <a:xfrm>
            <a:off x="6414516"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промежуток между чтением и записью остаётся, и он не нулевой</a:t>
            </a:r>
          </a:p>
        </p:txBody>
      </p:sp>
      <p:cxnSp>
        <p:nvCxnSpPr>
          <p:cNvPr id="21" name="Connector 20"/>
          <p:cNvCxnSpPr/>
          <p:nvPr/>
        </p:nvCxnSpPr>
        <p:spPr>
          <a:xfrm>
            <a:off x="6414516"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0291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структурную переделку файла так не сделать — там правка и есть «целиком»</a:t>
            </a:r>
          </a:p>
        </p:txBody>
      </p:sp>
      <p:cxnSp>
        <p:nvCxnSpPr>
          <p:cNvPr id="23" name="Connector 22"/>
          <p:cNvCxnSpPr/>
          <p:nvPr/>
        </p:nvCxnSpPr>
        <p:spPr>
          <a:xfrm>
            <a:off x="6414516" y="459389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5938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этот проход не случается: его кто-то делает, и это видимая работа</a:t>
            </a:r>
          </a:p>
        </p:txBody>
      </p:sp>
      <p:cxnSp>
        <p:nvCxnSpPr>
          <p:cNvPr id="25" name="Connector 24"/>
          <p:cNvCxnSpPr/>
          <p:nvPr/>
        </p:nvCxnSpPr>
        <p:spPr>
          <a:xfrm>
            <a:off x="6414516" y="50848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0848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ловит столкновение, которое уже случилось, и ничего не предотвращает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Все признаки успеха сошлись</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Этот курс собирают так же — несколькими сессиями разом, в одной рабочей копии. Три случая из его собственного журнала, все три записаны в репозитории, открытом перед вами.</a:t>
            </a:r>
          </a:p>
        </p:txBody>
      </p:sp>
      <p:sp>
        <p:nvSpPr>
          <p:cNvPr id="5" name="Rounded Rectangle 4"/>
          <p:cNvSpPr/>
          <p:nvPr/>
        </p:nvSpPr>
        <p:spPr>
          <a:xfrm>
            <a:off x="502920" y="1744472"/>
            <a:ext cx="11183112" cy="2287524"/>
          </a:xfrm>
          <a:prstGeom prst="roundRect">
            <a:avLst>
              <a:gd name="adj" fmla="val 13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20373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СЛУЧАЙ</a:t>
            </a:r>
          </a:p>
        </p:txBody>
      </p:sp>
      <p:sp>
        <p:nvSpPr>
          <p:cNvPr id="7" name="TextBox 6"/>
          <p:cNvSpPr txBox="1"/>
          <p:nvPr/>
        </p:nvSpPr>
        <p:spPr>
          <a:xfrm>
            <a:off x="4035835" y="1927352"/>
            <a:ext cx="251527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ПРИЗНАКИ УСПЕХА</a:t>
            </a:r>
          </a:p>
        </p:txBody>
      </p:sp>
      <p:sp>
        <p:nvSpPr>
          <p:cNvPr id="8" name="TextBox 7"/>
          <p:cNvSpPr txBox="1"/>
          <p:nvPr/>
        </p:nvSpPr>
        <p:spPr>
          <a:xfrm>
            <a:off x="6697414" y="1927352"/>
            <a:ext cx="46594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БЫЛО НА САМОМ ДЕЛЕ</a:t>
            </a:r>
          </a:p>
        </p:txBody>
      </p:sp>
      <p:sp>
        <p:nvSpPr>
          <p:cNvPr id="9" name="TextBox 8"/>
          <p:cNvSpPr txBox="1"/>
          <p:nvPr/>
        </p:nvSpPr>
        <p:spPr>
          <a:xfrm>
            <a:off x="685800" y="2186940"/>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шесть сессий правили одну деку в одном каталоге; соседняя сборка переписала входной файл, пока его читал конвертер</a:t>
            </a:r>
          </a:p>
        </p:txBody>
      </p:sp>
      <p:sp>
        <p:nvSpPr>
          <p:cNvPr id="10" name="TextBox 9"/>
          <p:cNvSpPr txBox="1"/>
          <p:nvPr/>
        </p:nvSpPr>
        <p:spPr>
          <a:xfrm>
            <a:off x="4035835" y="2186940"/>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возврата ноль, построчно «отрисован слайд 44 … 50», «PDF скопирован», верное число страниц</a:t>
            </a:r>
          </a:p>
        </p:txBody>
      </p:sp>
      <p:sp>
        <p:nvSpPr>
          <p:cNvPr id="11" name="TextBox 10"/>
          <p:cNvSpPr txBox="1"/>
          <p:nvPr/>
        </p:nvSpPr>
        <p:spPr>
          <a:xfrm>
            <a:off x="6697414" y="2186940"/>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54 страницы из 54 пустые, файл похудел с 6,67 до 2,69 МБ. Поймано сравнением времён: вход оказался новее выхода</a:t>
            </a:r>
          </a:p>
        </p:txBody>
      </p:sp>
      <p:cxnSp>
        <p:nvCxnSpPr>
          <p:cNvPr id="12" name="Connector 11"/>
          <p:cNvCxnSpPr/>
          <p:nvPr/>
        </p:nvCxnSpPr>
        <p:spPr>
          <a:xfrm>
            <a:off x="685800" y="2789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9682"/>
            <a:ext cx="320373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две сессии правили один файл сборки; чтение файла попало в середину чужой записи</a:t>
            </a:r>
          </a:p>
        </p:txBody>
      </p:sp>
      <p:sp>
        <p:nvSpPr>
          <p:cNvPr id="14" name="TextBox 13"/>
          <p:cNvSpPr txBox="1"/>
          <p:nvPr/>
        </p:nvSpPr>
        <p:spPr>
          <a:xfrm>
            <a:off x="4035835" y="2789682"/>
            <a:ext cx="251527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упала, и ошибка указывала на имя, которого «нет»</a:t>
            </a:r>
          </a:p>
        </p:txBody>
      </p:sp>
      <p:sp>
        <p:nvSpPr>
          <p:cNvPr id="15" name="TextBox 14"/>
          <p:cNvSpPr txBox="1"/>
          <p:nvPr/>
        </p:nvSpPr>
        <p:spPr>
          <a:xfrm>
            <a:off x="6697414" y="2789682"/>
            <a:ext cx="465943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объявления в файле была; через полминуты та же сборка прошла без единой правки с чьей-либо стороны</a:t>
            </a:r>
          </a:p>
        </p:txBody>
      </p:sp>
      <p:cxnSp>
        <p:nvCxnSpPr>
          <p:cNvPr id="16" name="Connector 15"/>
          <p:cNvCxnSpPr/>
          <p:nvPr/>
        </p:nvCxnSpPr>
        <p:spPr>
          <a:xfrm>
            <a:off x="685800" y="3246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46374"/>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лекцию собирали параллельно с другой в одной рабочей копии, ветку переключали из обеих сессий</a:t>
            </a:r>
          </a:p>
        </p:txBody>
      </p:sp>
      <p:sp>
        <p:nvSpPr>
          <p:cNvPr id="18" name="TextBox 17"/>
          <p:cNvSpPr txBox="1"/>
          <p:nvPr/>
        </p:nvSpPr>
        <p:spPr>
          <a:xfrm>
            <a:off x="4035835" y="3246374"/>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каждая сессия видела свою ветку на месте — в тот момент, когда смотрела</a:t>
            </a:r>
          </a:p>
        </p:txBody>
      </p:sp>
      <p:sp>
        <p:nvSpPr>
          <p:cNvPr id="19" name="TextBox 18"/>
          <p:cNvSpPr txBox="1"/>
          <p:nvPr/>
        </p:nvSpPr>
        <p:spPr>
          <a:xfrm>
            <a:off x="6697414" y="3246374"/>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больше семи переключений ветки за одну сессию и около двух часов на восстановление. С переходом на отдельные копии — три, затем четыре параллельные сборки без единого столкновения</a:t>
            </a:r>
          </a:p>
        </p:txBody>
      </p:sp>
      <p:sp>
        <p:nvSpPr>
          <p:cNvPr id="20" name="Rounded Rectangle 19"/>
          <p:cNvSpPr/>
          <p:nvPr/>
        </p:nvSpPr>
        <p:spPr>
          <a:xfrm>
            <a:off x="502920" y="419658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32460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Код возврата, число страниц, свежесть файлов — все привычные признаки сошлись, и ни одна сессия по отдельности не сделала ничего неверного. Единственное, что показало правду, — сам результат и время правки.</a:t>
            </a:r>
          </a:p>
        </p:txBody>
      </p:sp>
      <p:sp>
        <p:nvSpPr>
          <p:cNvPr id="22" name="Rounded Rectangle 21"/>
          <p:cNvSpPr/>
          <p:nvPr/>
        </p:nvSpPr>
        <p:spPr>
          <a:xfrm>
            <a:off x="502920" y="5029200"/>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57216"/>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у себя: есть ли у вас хоть одна отдельная копия и сколько сессий сейчас стоят на одном каталоге?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копию субагенту дают редко</a:t>
            </a:r>
          </a:p>
        </p:txBody>
      </p:sp>
      <p:sp>
        <p:nvSpPr>
          <p:cNvPr id="3" name="Rounded Rectangle 2"/>
          <p:cNvSpPr/>
          <p:nvPr/>
        </p:nvSpPr>
        <p:spPr>
          <a:xfrm>
            <a:off x="502920" y="943356"/>
            <a:ext cx="82296" cy="60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4834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Копию субагенту дать можно: одна строка в его описании — и субагент работает во временной копии репозитория; она убирается сама, если субагент ничего не изменил. Поле есть, включают его редко.</a:t>
            </a:r>
          </a:p>
        </p:txBody>
      </p:sp>
      <p:sp>
        <p:nvSpPr>
          <p:cNvPr id="5" name="Rounded Rectangle 4"/>
          <p:cNvSpPr/>
          <p:nvPr/>
        </p:nvSpPr>
        <p:spPr>
          <a:xfrm>
            <a:off x="502920" y="1712324"/>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0340"/>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Изоляция субагента — выбор под работу. Там, где его правку нормально принять веткой, копия окупается; там, где субагент правит начатое вами, копия отрезает субагента от работы. Напарникам в команде агентов копий не дают вовсе, и предписание для них то же: развести работу по файлам.</a:t>
            </a:r>
          </a:p>
        </p:txBody>
      </p:sp>
      <p:sp>
        <p:nvSpPr>
          <p:cNvPr id="7" name="Rounded Rectangle 6"/>
          <p:cNvSpPr/>
          <p:nvPr/>
        </p:nvSpPr>
        <p:spPr>
          <a:xfrm>
            <a:off x="502920"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КОПИЮ СУБАГЕНТУ ДАЮТ</a:t>
            </a:r>
          </a:p>
        </p:txBody>
      </p:sp>
      <p:sp>
        <p:nvSpPr>
          <p:cNvPr id="9" name="TextBox 8"/>
          <p:cNvSpPr txBox="1"/>
          <p:nvPr/>
        </p:nvSpPr>
        <p:spPr>
          <a:xfrm>
            <a:off x="685800"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работа субагента — цельное изменение, которое нормально принять веткой: механический перебор по многим файлам</a:t>
            </a:r>
          </a:p>
        </p:txBody>
      </p:sp>
      <p:cxnSp>
        <p:nvCxnSpPr>
          <p:cNvPr id="10" name="Connector 9"/>
          <p:cNvCxnSpPr/>
          <p:nvPr/>
        </p:nvCxnSpPr>
        <p:spPr>
          <a:xfrm>
            <a:off x="685800"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97766"/>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изменений много, и проверять их удобнее отдельно от вашей собственной правки</a:t>
            </a:r>
          </a:p>
        </p:txBody>
      </p:sp>
      <p:cxnSp>
        <p:nvCxnSpPr>
          <p:cNvPr id="12" name="Connector 11"/>
          <p:cNvCxnSpPr/>
          <p:nvPr/>
        </p:nvCxnSpPr>
        <p:spPr>
          <a:xfrm>
            <a:off x="685800" y="387145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7145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приём делит одно крупное изменение на десятки изолированных субагентов разом</a:t>
            </a:r>
          </a:p>
        </p:txBody>
      </p:sp>
      <p:sp>
        <p:nvSpPr>
          <p:cNvPr id="14" name="Rounded Rectangle 13"/>
          <p:cNvSpPr/>
          <p:nvPr/>
        </p:nvSpPr>
        <p:spPr>
          <a:xfrm>
            <a:off x="6231636"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КОПИЮ СУБАГЕНТУ НЕ ДАЮТ</a:t>
            </a:r>
          </a:p>
        </p:txBody>
      </p:sp>
      <p:sp>
        <p:nvSpPr>
          <p:cNvPr id="16" name="TextBox 15"/>
          <p:cNvSpPr txBox="1"/>
          <p:nvPr/>
        </p:nvSpPr>
        <p:spPr>
          <a:xfrm>
            <a:off x="6414516"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работает над тем, что вы начали в своём каталоге: отдельная копия отрежет его от этой работы</a:t>
            </a:r>
          </a:p>
        </p:txBody>
      </p:sp>
      <p:cxnSp>
        <p:nvCxnSpPr>
          <p:cNvPr id="17" name="Connector 16"/>
          <p:cNvCxnSpPr/>
          <p:nvPr/>
        </p:nvCxnSpPr>
        <p:spPr>
          <a:xfrm>
            <a:off x="6414516"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59776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правка короткая и нужна здесь же — поднять рабочее место копии дороже самой правки</a:t>
            </a:r>
          </a:p>
        </p:txBody>
      </p:sp>
      <p:cxnSp>
        <p:nvCxnSpPr>
          <p:cNvPr id="19" name="Connector 18"/>
          <p:cNvCxnSpPr/>
          <p:nvPr/>
        </p:nvCxnSpPr>
        <p:spPr>
          <a:xfrm>
            <a:off x="6414516" y="399883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99883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читает и возвращает итог: столкнуться ему нечем</a:t>
            </a:r>
          </a:p>
        </p:txBody>
      </p:sp>
      <p:sp>
        <p:nvSpPr>
          <p:cNvPr id="21" name="Rounded Rectangle 20"/>
          <p:cNvSpPr/>
          <p:nvPr/>
        </p:nvSpPr>
        <p:spPr>
          <a:xfrm>
            <a:off x="502920" y="4619989"/>
            <a:ext cx="11183112" cy="1534795"/>
          </a:xfrm>
          <a:prstGeom prst="roundRect">
            <a:avLst>
              <a:gd name="adj" fmla="val 1985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9955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83944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первая — ветка.</a:t>
            </a:r>
            <a:r>
              <a:rPr sz="950" b="0" i="0">
                <a:solidFill>
                  <a:srgbClr val="141B2E"/>
                </a:solidFill>
                <a:latin typeface="Arial"/>
              </a:rPr>
              <a:t> Копия субагента отрастает от ветки по умолчанию репозитория, пока отдельную настройку не поменяли. Работы, начатой в вашем каталоге, изолированный субагент просто не видит.</a:t>
            </a:r>
          </a:p>
        </p:txBody>
      </p:sp>
      <p:sp>
        <p:nvSpPr>
          <p:cNvPr id="24" name="Rounded Rectangle 23"/>
          <p:cNvSpPr/>
          <p:nvPr/>
        </p:nvSpPr>
        <p:spPr>
          <a:xfrm>
            <a:off x="758952" y="540827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25219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вторая — возврат.</a:t>
            </a:r>
            <a:r>
              <a:rPr sz="950" b="0" i="0">
                <a:solidFill>
                  <a:srgbClr val="141B2E"/>
                </a:solidFill>
                <a:latin typeface="Arial"/>
              </a:rPr>
              <a:t> Канал назад у субагента один: итоговый текст. Файловые правки остаются в его каталоге, на его ветке, и принести их в вашу работу приходится вам.</a:t>
            </a:r>
          </a:p>
        </p:txBody>
      </p:sp>
      <p:sp>
        <p:nvSpPr>
          <p:cNvPr id="26" name="Rounded Rectangle 25"/>
          <p:cNvSpPr/>
          <p:nvPr/>
        </p:nvSpPr>
        <p:spPr>
          <a:xfrm>
            <a:off x="758952" y="574984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66494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третья — рабочее место.</a:t>
            </a:r>
            <a:r>
              <a:rPr sz="950" b="0" i="0">
                <a:solidFill>
                  <a:srgbClr val="141B2E"/>
                </a:solidFill>
                <a:latin typeface="Arial"/>
              </a:rPr>
              <a:t> В копии оно тоже собственное: зависимости и локальные файлы субагент получает в том виде, в каком их туда положили.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 вас проходит граница</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Копия разводит сессии, зоны разводят исполнителей внутри сессии. Где кончается одно и начинается другое — у каждой команды по-своему.</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Два вопроса, и готового ответа у них нет.</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свой — и назовите условие, при котором он меняется.</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Что должно быть верно про две работы, чтобы вы согласились вести их в одной папке? И по какому признаку вы заводите отдельную копию вместо работы по очереди?</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Сколько исполнителей с правом записи вы готовы держать в одной папке разом? Назовите число и признак, по которому остановитесь.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вытеснения работы чтением</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чтение уходит в контекст субагента, обратно приходит итог</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Рабочий каталог не разводит: исполнители правят там, где лежит работа, и столкновения убирают раскладкой зон</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966317"/>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4333"/>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1698853"/>
            <a:ext cx="11183112" cy="3625596"/>
          </a:xfrm>
          <a:prstGeom prst="roundRect">
            <a:avLst>
              <a:gd name="adj" fmla="val 84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1733"/>
            <a:ext cx="12146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046803" y="1881733"/>
            <a:ext cx="64886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681785" y="1881733"/>
            <a:ext cx="26750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163800"/>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046803" y="2163800"/>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681785" y="2163800"/>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510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955"/>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46803" y="2510955"/>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681785" y="2510955"/>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2858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858109"/>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046803" y="2858109"/>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681785" y="2858109"/>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205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05264"/>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046803" y="3205264"/>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681785" y="3205264"/>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552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552418"/>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046803" y="3552418"/>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681785" y="3552418"/>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0821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082135"/>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046803" y="4082135"/>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681785" y="4082135"/>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32" name="Connector 31"/>
          <p:cNvCxnSpPr/>
          <p:nvPr/>
        </p:nvCxnSpPr>
        <p:spPr>
          <a:xfrm>
            <a:off x="685800" y="46118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611852"/>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Рабочие копии</a:t>
            </a:r>
          </a:p>
        </p:txBody>
      </p:sp>
      <p:sp>
        <p:nvSpPr>
          <p:cNvPr id="34" name="TextBox 33"/>
          <p:cNvSpPr txBox="1"/>
          <p:nvPr/>
        </p:nvSpPr>
        <p:spPr>
          <a:xfrm>
            <a:off x="2046803" y="4611852"/>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раздел </a:t>
            </a:r>
            <a:r>
              <a:rPr sz="1250" b="0" i="0">
                <a:solidFill>
                  <a:srgbClr val="141B2E"/>
                </a:solidFill>
                <a:latin typeface="Consolas"/>
              </a:rPr>
              <a:t>Repository</a:t>
            </a:r>
            <a:r>
              <a:rPr sz="1250" b="0" i="0">
                <a:solidFill>
                  <a:srgbClr val="141B2E"/>
                </a:solidFill>
                <a:latin typeface="Arial"/>
              </a:rPr>
              <a:t> </a:t>
            </a:r>
            <a:r>
              <a:rPr sz="1250" b="0" i="0">
                <a:solidFill>
                  <a:srgbClr val="141B2E"/>
                </a:solidFill>
                <a:latin typeface="Consolas"/>
              </a:rPr>
              <a:t>etiquette</a:t>
            </a:r>
            <a:r>
              <a:rPr sz="1250" b="0" i="0">
                <a:solidFill>
                  <a:srgbClr val="141B2E"/>
                </a:solidFill>
                <a:latin typeface="Arial"/>
              </a:rPr>
              <a:t> — две строки: копия на задачу, слияние и уборка в конце</a:t>
            </a:r>
          </a:p>
        </p:txBody>
      </p:sp>
      <p:sp>
        <p:nvSpPr>
          <p:cNvPr id="35" name="TextBox 34"/>
          <p:cNvSpPr txBox="1"/>
          <p:nvPr/>
        </p:nvSpPr>
        <p:spPr>
          <a:xfrm>
            <a:off x="8681785" y="4611852"/>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6" name="Rounded Rectangle 35"/>
          <p:cNvSpPr/>
          <p:nvPr/>
        </p:nvSpPr>
        <p:spPr>
          <a:xfrm>
            <a:off x="502920" y="55464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56744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и строка правила останутся только планом. В публичном репозитории их не будет — и это сказано прямо, не спрятано.»</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29788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35275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и ответ вы держали при себе. Сейчас вслух: у кого он изменился и что именно его изменило.»</a:t>
            </a:r>
          </a:p>
        </p:txBody>
      </p:sp>
      <p:sp>
        <p:nvSpPr>
          <p:cNvPr id="5" name="Rounded Rectangle 4"/>
          <p:cNvSpPr/>
          <p:nvPr/>
        </p:nvSpPr>
        <p:spPr>
          <a:xfrm>
            <a:off x="502920" y="352775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65577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98423"/>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1303"/>
            <a:ext cx="29250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757189" y="1181303"/>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514403" y="1181303"/>
            <a:ext cx="68424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63370"/>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757189" y="1463370"/>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9" name="TextBox 8"/>
          <p:cNvSpPr txBox="1"/>
          <p:nvPr/>
        </p:nvSpPr>
        <p:spPr>
          <a:xfrm>
            <a:off x="4514403" y="1463370"/>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и вызов, подписанный именем сервера, — у себя за минуту; сам собранный файл при этом целевой, коммита за ним нет</a:t>
            </a:r>
          </a:p>
        </p:txBody>
      </p:sp>
      <p:cxnSp>
        <p:nvCxnSpPr>
          <p:cNvPr id="10" name="Connector 9"/>
          <p:cNvCxnSpPr/>
          <p:nvPr/>
        </p:nvCxnSpPr>
        <p:spPr>
          <a:xfrm>
            <a:off x="685800" y="19930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93087"/>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описания инструментов занимают контекст</a:t>
            </a:r>
          </a:p>
        </p:txBody>
      </p:sp>
      <p:sp>
        <p:nvSpPr>
          <p:cNvPr id="12" name="TextBox 11"/>
          <p:cNvSpPr txBox="1"/>
          <p:nvPr/>
        </p:nvSpPr>
        <p:spPr>
          <a:xfrm>
            <a:off x="3757189" y="1993087"/>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3" name="TextBox 12"/>
          <p:cNvSpPr txBox="1"/>
          <p:nvPr/>
        </p:nvSpPr>
        <p:spPr>
          <a:xfrm>
            <a:off x="4514403" y="1993087"/>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числа документации и инженерных блогов; замера на занятии не делаем</a:t>
            </a:r>
          </a:p>
        </p:txBody>
      </p:sp>
      <p:cxnSp>
        <p:nvCxnSpPr>
          <p:cNvPr id="14" name="Connector 13"/>
          <p:cNvCxnSpPr/>
          <p:nvPr/>
        </p:nvCxnSpPr>
        <p:spPr>
          <a:xfrm>
            <a:off x="685800" y="25228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22804"/>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чтение уходит в контекст исполнителя</a:t>
            </a:r>
          </a:p>
        </p:txBody>
      </p:sp>
      <p:sp>
        <p:nvSpPr>
          <p:cNvPr id="16" name="TextBox 15"/>
          <p:cNvSpPr txBox="1"/>
          <p:nvPr/>
        </p:nvSpPr>
        <p:spPr>
          <a:xfrm>
            <a:off x="3757189" y="252280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514403" y="2522804"/>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18" name="Connector 17"/>
          <p:cNvCxnSpPr/>
          <p:nvPr/>
        </p:nvCxnSpPr>
        <p:spPr>
          <a:xfrm>
            <a:off x="685800" y="30525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52521"/>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второй исполнитель, промежуток</a:t>
            </a:r>
          </a:p>
        </p:txBody>
      </p:sp>
      <p:sp>
        <p:nvSpPr>
          <p:cNvPr id="20" name="TextBox 19"/>
          <p:cNvSpPr txBox="1"/>
          <p:nvPr/>
        </p:nvSpPr>
        <p:spPr>
          <a:xfrm>
            <a:off x="3757189" y="3052521"/>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514403" y="3052521"/>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2" name="Connector 21"/>
          <p:cNvCxnSpPr/>
          <p:nvPr/>
        </p:nvCxnSpPr>
        <p:spPr>
          <a:xfrm>
            <a:off x="685800" y="3582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82238"/>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исполнители в одной папке</a:t>
            </a:r>
          </a:p>
        </p:txBody>
      </p:sp>
      <p:sp>
        <p:nvSpPr>
          <p:cNvPr id="24" name="TextBox 23"/>
          <p:cNvSpPr txBox="1"/>
          <p:nvPr/>
        </p:nvSpPr>
        <p:spPr>
          <a:xfrm>
            <a:off x="3757189" y="358223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5" name="TextBox 24"/>
          <p:cNvSpPr txBox="1"/>
          <p:nvPr/>
        </p:nvSpPr>
        <p:spPr>
          <a:xfrm>
            <a:off x="4514403" y="3582238"/>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у себя; и три столкновения в журнале репозитория, открытого на занятии</a:t>
            </a:r>
          </a:p>
        </p:txBody>
      </p:sp>
      <p:sp>
        <p:nvSpPr>
          <p:cNvPr id="26" name="Rectangle 25"/>
          <p:cNvSpPr/>
          <p:nvPr/>
        </p:nvSpPr>
        <p:spPr>
          <a:xfrm>
            <a:off x="502920" y="46336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 y="468853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28" name="Rounded Rectangle 27"/>
          <p:cNvSpPr/>
          <p:nvPr/>
        </p:nvSpPr>
        <p:spPr>
          <a:xfrm>
            <a:off x="502920" y="54982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2630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