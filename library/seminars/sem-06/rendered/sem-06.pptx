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недели назад этот агент знал про проект всё: сорок строк инструкций, хук, скилл, файл решений и сам лендинг — он держал это целиком и почти не промахивался.</a:t>
            </a:r>
          </a:p>
          <a:p/>
          <a:p>
            <a:r>
              <a:t>В понедельник разработчик спросил его, что из просьб заказчика ещё не закрыто. Агент ответил уверенно — по тому, что лежит в репозитории. Двух просьб в его ответе не было вовсе: заказчик завёл их не в репозитории. Одну ждали к понедельнику.</a:t>
            </a:r>
          </a:p>
          <a:p/>
          <a:p>
            <a:r>
              <a:t>Цена — сорванный срок и разговор с заказчиком, которого могло не быть. Агент не поглупел.</a:t>
            </a:r>
          </a:p>
          <a:p/>
          <a:p>
            <a:r>
              <a:t>Внизу — четыре ступени: две закрыты в прошлый раз, две закрываем сегодня.</a:t>
            </a:r>
          </a:p>
          <a:p/>
          <a:p>
            <a:r>
              <a:t>---</a:t>
            </a:r>
          </a:p>
          <a:p/>
          <a:p>
            <a:r>
              <a:rPr b="1"/>
              <a:t>Справка.</a:t>
            </a:r>
          </a:p>
          <a:p/>
          <a:p>
            <a:r>
              <a:rPr i="1"/>
              <a:t>Почему на обложке нет вопроса занятия.</a:t>
            </a:r>
            <a:r>
              <a:t> Он стоит на четвёртом экране, после второго промаха. Вопрос, заданный раньше нехватки, звучит отвлечённо, и зал отвечает на него вежливо. Здесь вместо него загадка, на которую ближайшие три экрана и отвечают.</a:t>
            </a:r>
          </a:p>
          <a:p/>
          <a:p>
            <a:r>
              <a:rPr i="1"/>
              <a:t>Если спросят, где именно заказчик завёл эти просьбы.</a:t>
            </a:r>
            <a:r>
              <a:t> Отвечаю коротко: не в репозитории. Где именно и как с этим живут сейчас — сцена первого кейса, через несколько минут; забегать вперёд здесь нечего.</a:t>
            </a:r>
          </a:p>
          <a:p/>
          <a:p>
            <a:r>
              <a:rPr i="1"/>
              <a:t>Если спросят, не выдумка ли этот промах.</a:t>
            </a:r>
            <a:r>
              <a:t> Сцена учебная, как и все сцены занятия: проект настоящий, ситуация собрана из типовых. Проверяемые числа на занятии стоят отдельно и всегда с источником — это не они.</a:t>
            </a:r>
          </a:p>
          <a:p/>
          <a:p>
            <a:r>
              <a:rPr i="1"/>
              <a:t>Если прозвучит «а я не был на прошлом занятии».</a:t>
            </a:r>
            <a:r>
              <a:t> Знать прошлое занятие для участия не требуется: всё нужное печатается на следующих двух экранах — состояние репозитория и таблица оси.</a:t>
            </a:r>
          </a:p>
          <a:p/>
          <a:p>
            <a:r>
              <a:rPr i="1"/>
              <a:t>Про четыре сегмента внизу.</a:t>
            </a:r>
            <a:r>
              <a:t> Два серых — разобраны и замерены в прошлый раз, сегодня их формулировки не переписываются. Два золотых — сегодняшние.</a:t>
            </a:r>
          </a:p>
          <a:p/>
          <a:p>
            <a:r>
              <a:rPr i="1"/>
              <a:t>Если спросят, при чём тут вообще прошлое занятие.</a:t>
            </a:r>
            <a:r>
              <a:t> Там разбирали, что агенту можно и нельзя делать внутри репозитория. Сегодня край другой: часть работы вышла за его границу.</a:t>
            </a:r>
          </a:p>
          <a:p/>
          <a:p>
            <a:r>
              <a:rPr i="1"/>
              <a:t>Про объём речи.</a:t>
            </a:r>
            <a:r>
              <a:t> Слот — сорок пять секунд, и это весь бюджет слайда. Справка вслух не читается, она на случай вопроса из зала.</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почему две недели агент не промахивался. Четыре вещи, которые уже есть в репозитории.</a:t>
            </a:r>
          </a:p>
          <a:p/>
          <a:p>
            <a:r>
              <a:t>Хук — файл настроек и самотест — подтверждён коммитом, можно склонировать и проверить прямо сейчас. Скилл там же по плану, коммита у него нет. Файл инструкций вырос: было двадцать четыре строки и четыре раздела, стало сорок и пять. И файл решений стоит на месте, его прошлое занятие не трогало.</a:t>
            </a:r>
          </a:p>
          <a:p/>
          <a:p>
            <a:r>
              <a:t>Все четыре — внутри репозитория. Правило, процедура, проверка, запись решения: всё, что мы заводили два занятия подряд, агент открывает сам, в любой момент, без чьего-либо участия. Пока вся работа лежала здесь, он держал проект целиком и отвечал по делу.</a:t>
            </a:r>
          </a:p>
          <a:p/>
          <a:p>
            <a:r>
              <a:t>Прикиньте это на свой рабочий проект. Ваш агент держит его целиком — или вы уже ловите себя на том, что в каждой новой сессии объясняете ему одно и то же заново? Просто отметьте ответ для себя.</a:t>
            </a:r>
          </a:p>
          <a:p/>
          <a:p>
            <a:r>
              <a:t>---</a:t>
            </a:r>
          </a:p>
          <a:p/>
          <a:p>
            <a:r>
              <a:rPr b="1"/>
              <a:t>Справка.</a:t>
            </a:r>
          </a:p>
          <a:p/>
          <a:p>
            <a:r>
              <a:rPr i="1"/>
              <a:t>Что делают команды, которыми это проверяется.</a:t>
            </a:r>
            <a:r>
              <a:t> </a:t>
            </a:r>
            <a:r>
              <a:rPr>
                <a:latin typeface="Consolas"/>
              </a:rPr>
              <a:t>git clone</a:t>
            </a:r>
            <a:r>
              <a:t> забирает репозиторий целиком. </a:t>
            </a:r>
            <a:r>
              <a:rPr>
                <a:latin typeface="Consolas"/>
              </a:rPr>
              <a:t>git log -1</a:t>
            </a:r>
            <a:r>
              <a:t> на коммите хука показывает его номер — он должен совпасть с тем, что на слайде. </a:t>
            </a:r>
            <a:r>
              <a:rPr>
                <a:latin typeface="Consolas"/>
              </a:rPr>
              <a:t>wc -l CLAUDE.md</a:t>
            </a:r>
            <a:r>
              <a:t> считает строки файла инструкций: сорок.</a:t>
            </a:r>
          </a:p>
          <a:p/>
          <a:p>
            <a:r>
              <a:rPr i="1"/>
              <a:t>Если спросят про скилл без коммита.</a:t>
            </a:r>
            <a:r>
              <a:t> Файл написан в плане раздела, в репозиторий не внесён. Выдавать план за факт нет оснований — та же дисциплина, которой было посвящено прошлое занятие.</a:t>
            </a:r>
          </a:p>
          <a:p/>
          <a:p>
            <a:r>
              <a:rPr i="1"/>
              <a:t>Если спросят про документационный слой.</a:t>
            </a:r>
            <a:r>
              <a:t> </a:t>
            </a:r>
            <a:r>
              <a:rPr>
                <a:latin typeface="Consolas"/>
              </a:rPr>
              <a:t>DECISIONS.md</a:t>
            </a:r>
            <a:r>
              <a:t> — файл с решениями, которые принимались по ходу проекта; он в репозитории с самого начала, прошлое занятие его не меняло и этот слайд не выдаёт его за новую работу — просто напоминает, что он там есть.</a:t>
            </a:r>
          </a:p>
          <a:p/>
          <a:p>
            <a:r>
              <a:rPr i="1"/>
              <a:t>Если прозвучит «а я не был на прошлом занятии».</a:t>
            </a:r>
            <a:r>
              <a:t> Всё нужное для участия сегодня — на этом экране. Эта таблица и ось (следующий слайд) содержат всё, что для сегодняшних двух блоков требуется знать о предыдущих.</a:t>
            </a:r>
          </a:p>
          <a:p/>
          <a:p>
            <a:r>
              <a:rPr i="1"/>
              <a:t>Если на вопрос «к себе» ответят вслух.</a:t>
            </a:r>
            <a:r>
              <a:t> Принимаю любой ответ и не разбираю его сейчас: вопрос поставлен, чтобы зал дальше мерил материал своим проектом. Разбор того, чем мерить, идёт всё оставшееся занятие.</a:t>
            </a:r>
          </a:p>
          <a:p/>
          <a:p>
            <a:r>
              <a:rPr i="1"/>
              <a:t>Если спросят, почему промах с обложки случился именно теперь.</a:t>
            </a:r>
            <a:r>
              <a:t> Потому что часть работы перестала жить в репозитории: заказчик ведёт свои просьбы отдельно, а в рабочем продукте разработчика одно правило разъехалось по десяткам файлов. Оба случая разбираются сегодня.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таблица, на которой остановилось прошлое занятие. Две строки заполнены — хук и скилл, и в каждой видно, что механизм делает и чего не делает. Формулировки те же, я их не переписываю заново.</a:t>
            </a:r>
          </a:p>
          <a:p/>
          <a:p>
            <a:r>
              <a:t>Хук отклоняет один способ записи в главную ветку из шести воспроизведённых — и не видит человека с открытым терминалом вовсе.</a:t>
            </a:r>
          </a:p>
          <a:p/>
          <a:p>
            <a:r>
              <a:t>Скилл загружается по точному совпадению описания — и не загрузится, если триггер не совпал: содержимого файла в контексте до срабатывания просто нет.</a:t>
            </a:r>
          </a:p>
          <a:p/>
          <a:p>
            <a:r>
              <a:t>А теперь посмотрите на эти две строки ещё раз, по другому признаку. Обе работают внутри репозитория: хук сторожит запись в его ветку, скилл подгружает его же файл. Всё, чем мы занимались два занятия подряд, лежало под рукой у агента.</a:t>
            </a:r>
          </a:p>
          <a:p/>
          <a:p>
            <a:r>
              <a:t>Две строки внизу пустые, и обе — про край. Одна про то, чего внутри нет вовсе. Другая про то, что внутрь не влезает. Сегодня закрываем обе.</a:t>
            </a:r>
          </a:p>
          <a:p/>
          <a:p>
            <a:r>
              <a:t>---</a:t>
            </a:r>
          </a:p>
          <a:p/>
          <a:p>
            <a:r>
              <a:rPr b="1"/>
              <a:t>Справка.</a:t>
            </a:r>
          </a:p>
          <a:p/>
          <a:p>
            <a:r>
              <a:rPr i="1"/>
              <a:t>Если спросят, почему хук и скилл не разбираются снова.</a:t>
            </a:r>
            <a:r>
              <a:t> Они уже разобраны и проверены — второй разбор был бы пересказом, не новой работой. Формулировки строк несут тот же факт, что таблица, которой кончилось прошлое занятие.</a:t>
            </a:r>
          </a:p>
          <a:p/>
          <a:p>
            <a:r>
              <a:rPr i="1"/>
              <a:t>Если спросят про колонку «что не делает / ограничение».</a:t>
            </a:r>
            <a:r>
              <a:t> Это не чья-то наивность и не брак механизма — это то, что проверка показала за рамкой того, для чего механизм заводили. Разница между этой колонкой и соседней — ровно то, ради чего мерили весь прошлый час, и ровно то, что сегодня повторится на двух новых строках.</a:t>
            </a:r>
          </a:p>
          <a:p/>
          <a:p>
            <a:r>
              <a:rPr i="1"/>
              <a:t>Порядок строк.</a:t>
            </a:r>
            <a:r>
              <a:t> Он тот же, что на вопросе следующего слайда и на карте занятия: хук, скилл, MCP, субагент. Менять его нельзя — на совпадении держится возврат в блоке 3.</a:t>
            </a:r>
          </a:p>
          <a:p/>
          <a:p>
            <a:r>
              <a:rPr i="1"/>
              <a:t>Если спросят, не натянут ли признак «внутри».</a:t>
            </a:r>
            <a:r>
              <a:t> Проверяется прямо по строкам: хук — файл в </a:t>
            </a:r>
            <a:r>
              <a:rPr>
                <a:latin typeface="Consolas"/>
              </a:rPr>
              <a:t>.claude/</a:t>
            </a:r>
            <a:r>
              <a:t>, который сторожит запись в ветку этого же репозитория; скилл — файл в этом же репозитории, который подгружается в контекст. Ни один из двух не обращается никуда за его пределы и ни один не выносит работу из контекста агента. Обе сегодняшние строки делают ровно одно из этих двух.</a:t>
            </a:r>
          </a:p>
          <a:p/>
          <a:p>
            <a:r>
              <a:rPr i="1"/>
              <a:t>Если спросят, почему тогда их вообще сравнивают с сегодняшними.</a:t>
            </a:r>
            <a:r>
              <a:t> Потому что признак, по которому выбирают инструмент, у всех четырёх один: чего именно не хватает в работе. Ответ на этот вопрос и собирается сегодня.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промаха за одну неделю, и причины у них прямо противоположные.</a:t>
            </a:r>
          </a:p>
          <a:p/>
          <a:p>
            <a:r>
              <a:t>В понедельник агент ответил по репозиторию — двух просьб заказчика в ответе не оказалось. Внутри их нет вовсе, и размер контекста тут ни при чём.</a:t>
            </a:r>
          </a:p>
          <a:p/>
          <a:p>
            <a:r>
              <a:t>В среду наоборот, уже в его рабочем продукте: всё нужное внутрь влезло. Агент прочитал всё, где правило могло проверяться, собрал верный список — и начал переспрашивать то, что ему объясняли в начале сессии. Место, которое занимала сама задача, ушло под чтение. Объяснять пришлось второй раз, полчаса.</a:t>
            </a:r>
          </a:p>
          <a:p/>
          <a:p>
            <a:r>
              <a:t>Отсюда вопрос занятия. Он на экране, и сегодня я задам его второй раз, той же формулировкой. Ответ держите при себе.</a:t>
            </a:r>
          </a:p>
          <a:p/>
          <a:p>
            <a:r>
              <a:t>---</a:t>
            </a:r>
          </a:p>
          <a:p/>
          <a:p>
            <a:r>
              <a:rPr b="1"/>
              <a:t>Справка.</a:t>
            </a:r>
          </a:p>
          <a:p/>
          <a:p>
            <a:r>
              <a:rPr i="1"/>
              <a:t>Что зал может ответить сейчас, и что отвечать на каждое.</a:t>
            </a:r>
            <a:r>
              <a:t> «Смотря чего не хватает» — честный первый ответ, его и подтверждаю: вопрос именно про то, как отличить один случай от другого, а материал двух блоков даёт критерий. «Сначала данные — без них агент вообще не может решить задачу» — в верном направлении, обоснование в первом блоке. «Сначала отдельная роль — она экономит место» — тоже в направлении, обоснование во втором.</a:t>
            </a:r>
          </a:p>
          <a:p/>
          <a:p>
            <a:r>
              <a:rPr i="1"/>
              <a:t>Если прозвучит «а зачем выбирать, можно и то, и то».</a:t>
            </a:r>
            <a:r>
              <a:t> Отвечаю: можно — и у каждого расширения своя цена, об этом и будет материал: чужой код и место в контексте у одного, лишние права у другого. Вопрос про то, с чего начинают, когда ресурс один.</a:t>
            </a:r>
          </a:p>
          <a:p/>
          <a:p>
            <a:r>
              <a:rPr i="1"/>
              <a:t>Если прозвучит «во втором случае хватило бы контекста побольше».</a:t>
            </a:r>
            <a:r>
              <a:t> Это и есть место, где интуиция подводит, и мы к нему вернёмся с измерением. Большой контекст отодвигает границу, но сохраняет свойство: прочитанное остаётся в нём и делит место с работой.</a:t>
            </a:r>
          </a:p>
          <a:p/>
          <a:p>
            <a:r>
              <a:rPr i="1"/>
              <a:t>Чего здесь не делаю.</a:t>
            </a:r>
            <a:r>
              <a:t> Не называю MCP и субагента по имени — эти слова появятся на карте занятия следом и на базе каждого блока. Не оцениваю ответы и не свожу их к одному: правильного ответа сейчас нет, он собирается по ходу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блока, и это два ответа на один вопрос.</a:t>
            </a:r>
          </a:p>
          <a:p/>
          <a:p>
            <a:r>
              <a:t>Первый — принести внутрь то, чего внутри нет: агент получает способ сам спросить систему, которая живёт отдельно от проекта и меняется без нас. Так закрывается промах понедельника.</a:t>
            </a:r>
          </a:p>
          <a:p/>
          <a:p>
            <a:r>
              <a:t>Второй — вынести наружу то, что внутрь не помещается: чтение уходит отдельному исполнителю со своим контекстом и урезанными правами, а к нам возвращается только итог. Так закрывается промах среды.</a:t>
            </a:r>
          </a:p>
          <a:p/>
          <a:p>
            <a:r>
              <a:t>Ходы встречные, и порядок не случаен: сначала то, чего нет вовсе, потом то, что не влезает. У обоих своя цена, и мы её назовём прямо — в одном случае это чужой код и постоянное место в контексте, в другом лишние права и потерянная видимость того, что делалось.</a:t>
            </a:r>
          </a:p>
          <a:p/>
          <a:p>
            <a:r>
              <a:t>Внутри каждого блока три кейса, у каждого своя сцена, свой вопрос, свой разбор. Названия вы увидите на их собственных развилках, не здесь.</a:t>
            </a:r>
          </a:p>
          <a:p/>
          <a:p>
            <a:r>
              <a:t>---</a:t>
            </a:r>
          </a:p>
          <a:p/>
          <a:p>
            <a:r>
              <a:rPr b="1"/>
              <a:t>Справка.</a:t>
            </a:r>
          </a:p>
          <a:p/>
          <a:p>
            <a:r>
              <a:rPr i="1"/>
              <a:t>Если спросят, сколько кейсов в каждом блоке.</a:t>
            </a:r>
            <a:r>
              <a:t> Три — таков план на сегодня. Если материал не набирает трёх полноценных разворотов, лучше два завершённых, чем три, из которых один собран из обрезков; это решение принимается по ходу подготовки, не на самом занятии.</a:t>
            </a:r>
          </a:p>
          <a:p/>
          <a:p>
            <a:r>
              <a:rPr i="1"/>
              <a:t>Чего здесь не делаю.</a:t>
            </a:r>
            <a:r>
              <a:t> Не называю занятие по номеру и не обсуждаю расписание курса. Карта называет только то, что происходит сегодня.</a:t>
            </a:r>
          </a:p>
          <a:p/>
          <a:p>
            <a:r>
              <a:rPr i="1"/>
              <a:t>Если спросят, почему именно такой порядок блоков.</a:t>
            </a:r>
            <a:r>
              <a:t> Первый ход возвращает агенту то, чего у него не было никогда; второй разгружает то, что у него уже есть. Начинать с разгрузки контекста, в котором всё равно не хватает нужного, смысла мало — поэтому сначала доступ, потом делегирование.</a:t>
            </a:r>
          </a:p>
          <a:p/>
          <a:p>
            <a:r>
              <a:rPr i="1"/>
              <a:t>Если спросят, обязательно ли выбирать между ними.</a:t>
            </a:r>
            <a:r>
              <a:t> Нет: в живом проекте работают оба. Вопрос занятия — про то, с чего начинают, когда ресурс и внимание одни, и про то, какую цену платят за каждый ход.</a:t>
            </a:r>
          </a:p>
          <a:p/>
          <a:p>
            <a:r>
              <a:rPr i="1"/>
              <a:t>Если спросят, будут ли эти шесть кейсов на их собственном проекте.</a:t>
            </a:r>
            <a:r>
              <a:t> Перенос на свой репозиторий — работа следующего занятия. Сегодня — приём и критерий, по которому его выбирают.</a:t>
            </a:r>
          </a:p>
          <a:p/>
          <a:p>
            <a:r>
              <a:rPr i="1"/>
              <a:t>Если спросят, почему кейсов именно три в каждом блоке.</a:t>
            </a:r>
            <a:r>
              <a:t> Столько набралось материала, у которого есть и рабочий ход, и проверенная граница. Там, где материал не набирает полного разворота, лучше два завершённых кейса, чем три из обрезков.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с которой начинается этот блок, принадлежит заказчику. Задачи он ведёт в трекере — это отдельная система, снаружи репозитория, и она меняется каждый день без нашего участия. А у агента в чате лежит то, что ему скопировали руками сегодня утром. Через минуту я покажу вторник, в который эти два факта сошлись. Решаем, чем заменить перенос руками.</a:t>
            </a:r>
          </a:p>
          <a:p/>
          <a:p>
            <a:r>
              <a:t>Если спросят, при чём тут прошлое занятие: там мы учили агента, что ему можно и нельзя делать внутри своего же репозитория, и проверяли это файлами и командой. Здесь задача другая — агенту нужно дотянуться до системы, которая не является частью проекта и которую мы не контролируем напрямую. Разница здесь в том, где физически лежат данные.</a:t>
            </a:r>
          </a:p>
          <a:p/>
          <a:p>
            <a:r>
              <a:t>Если спросят, почему именно сейчас: дело в частоте. Разовое действие закрывает обычная команда в терминале; повторяющееся из сессии в сессию — нет, и мы увидим почему, когда будем считать цену.</a:t>
            </a:r>
          </a:p>
          <a:p/>
          <a:p>
            <a:r>
              <a:t>Если спросят, какой это по счёту инструмент на сегодня: четвёртый, и впервые — тот, который физически выходит за границы одного репозитория. Три предыдущих жили внутри дерева проекта и правились тем же коммитом, что и код; этот живёт снаружи и обновляется без нашего ведома.</a:t>
            </a:r>
          </a:p>
          <a:p/>
          <a:p>
            <a:r>
              <a:t>Если спросят, почему реплика принадлежит заказчику: потому что пропажу требования заметил именно он, и объяснять пришлось ему. Цена ошибки в этом кейсе ложится на обоих, предъявляет её тот, кто платит за работу, — и это ровно та цена, которую зал чувствует без перевода.</a:t>
            </a:r>
          </a:p>
          <a:p/>
          <a:p>
            <a:r>
              <a:t>Если спросят, что считается трекером: любая система, где заказчик или команда ведут список работ отдельно от кода — встроенный трекер репозитория, отдельный сервис задач, доска. Для этого кейса важно одно общее свойство: список живёт снаружи дерева проекта и меняется без участия того, кто пишет код.</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Агент умеет работать с двумя источниками данных. Первый — файлы репозитория: он читает их напрямую, это материал прошлых занятий. Второй — файлы, которые ему дали явно: вставили текст в чат, приложили документ. Оба можно прочитать один раз и работать дальше.</a:t>
            </a:r>
          </a:p>
          <a:p/>
          <a:p>
            <a:r>
              <a:t>Список задач в трекере не ложится ни туда, ни туда. Трекер живёт в отдельной системе, и список меняется каждый день без нас: снимок на утро к обеду уже неточен. Агенту нужен способ самому спросить систему в момент работы. Такое обращение называется вызовом API — и здесь обычно думают, что за него придётся платить написанной интеграцией. Проверим это на пяти способах.</a:t>
            </a:r>
          </a:p>
          <a:p/>
          <a:p>
            <a:r>
              <a:t>Если спросят «а запросы — это куда отнести»: это и есть третий источник, и он отличается от первых двух по времени. У файла есть момент, когда его прочитали, и дальше он сам не меняется. У вызова такого момента нет — ответ зависит от того, в какую секунду спросили.</a:t>
            </a:r>
          </a:p>
          <a:p/>
          <a:p>
            <a:r>
              <a:t>Если спросят, почему не считать трекер просто ещё одним внешним файлом: потому что файл можно приложить один раз, а трекер придётся прикладывать заново перед каждым запросом. Именно эта частота и переводит задачу из «скопируй текст» в «дай доступ».</a:t>
            </a:r>
          </a:p>
          <a:p/>
          <a:p>
            <a:r>
              <a:t>Если спросят, почему снимок иногда всё-таки годится: когда список меняется реже, чем вы к нему обращаетесь. Разовая выгрузка открытых задач перед планированием спринта — рабочая практика; она ломается ровно тогда, когда правка уезжает заказчику раньше, чем вы перечитали задачу.</a:t>
            </a:r>
          </a:p>
          <a:p/>
          <a:p>
            <a:r>
              <a:t>Если спросят про третий источник в других курсах: там его часто называют интеграцией или коннектором. Слово разное, предмет один — обращение по сети за свежим ответом вместо чтения файла.</a:t>
            </a:r>
          </a:p>
          <a:p/>
          <a:p>
            <a:r>
              <a:t>Если спросят, почему первые два источника вообще перечислены, раз они знакомы: потому что выбор дальше идёт между пятью способами, и три из них стоят денег только потому, что третий источник устроен иначе, чем файл. Без этой границы пятёрка карточек читается как пять названий одного и того же, и выбрать можно только по узнаванию.</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устройство по частям, посмотрим, где что стоит.</a:t>
            </a:r>
          </a:p>
          <a:p/>
          <a:p>
            <a:r>
              <a:t>Слева ваша машина. На ней работает агент — тот самый, с которым вы разговариваете в сессии. Сервер — отдельная программа, и мест у неё два. Первое: та же самая машина, рядом с агентом; ваша среда поднимает его при старте сессии. Второе: чужая машина — сервер уже работает у кого-то другого, и к нему подключаются по сети.</a:t>
            </a:r>
          </a:p>
          <a:p/>
          <a:p>
            <a:r>
              <a:t>Разговор агента с сервером в обоих случаях один и тот же. Меняется путь до сервера: процесс рядом или сеть.</a:t>
            </a:r>
          </a:p>
          <a:p/>
          <a:p>
            <a:r>
              <a:t>Справа внешняя система — трекер задач, база, витрина отчётов. Ходит туда сервер. Ключ от системы лежит у него, агенту он его не отдаёт; обратно агент получает текст ответа.</a:t>
            </a:r>
          </a:p>
          <a:p/>
          <a:p>
            <a:r>
              <a:t>И последнее, ради чего схема нарисована целиком. У каждой системы свой способ, которым её спрашивают: REST, gRPC, GraphQL, SQL. На этих способах говорит сервер, и ходить он может сразу в несколько систем. Агент их не знает, и знать ему не нужно: у него к любому серверу один разговор — MCP.</a:t>
            </a:r>
          </a:p>
          <a:p/>
          <a:p>
            <a:r>
              <a:t>Если спросят, обязан ли сервер вообще куда-то ходить наружу: нет. Сервер к файловой системе или к локальной базе никуда по сети не обращается — он просто даёт агенту операции над тем, что лежит рядом. Внешняя система на схеме стоит потому, что наш случай именно такой: трекер живёт отдельно от проекта.</a:t>
            </a:r>
          </a:p>
          <a:p/>
          <a:p>
            <a:r>
              <a:t>Если спросят, бывает ли один и тот же сервер в обоих местах: бывает, и это обычное дело. Официальный сервер GitHub существует и удалённым — его хостит сам GitHub, — и образом, который запускается у вас. Операции в обоих одни и те же, различается место.</a:t>
            </a:r>
          </a:p>
          <a:p/>
          <a:p>
            <a:r>
              <a:t>Если спросят, какой из двух вариантов выбирают: готового ответа тут нет, выбор разбираем в самом кейсе и там же считаем цену каждого.</a:t>
            </a:r>
          </a:p>
          <a:p/>
          <a:p>
            <a:r>
              <a:t>Если спросят, откуда вообще взялись REST и GraphQL, раз речь про MCP: оттуда, что системы существовали до MCP и свои способы спрашивать имели давно. Сервер — это обёртка поверх них: внутрь он принимает вызов по MCP, наружу обращается так, как умеет система.</a:t>
            </a:r>
          </a:p>
          <a:p/>
          <a:p>
            <a:r>
              <a:t>Если спросят, видит ли агент разницу между вариантами: по разговору — нет. Увидеть, где сервер стоит, можно только по записи в конфигурации, и для прав и секретов разница большая — это разбираем дальше по ходу кейса.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конструкция сразу, шесть частей. К этому экрану я буду возвращаться весь блок.</a:t>
            </a:r>
          </a:p>
          <a:p/>
          <a:p>
            <a:r>
              <a:t>Сервер — отдельная программа, живущая вне Claude Code: либо локальный процесс, который Claude Code запускает у вас, либо удалённый сервис, который держит кто-то другой.</a:t>
            </a:r>
          </a:p>
          <a:p/>
          <a:p>
            <a:r>
              <a:t>Объявляется подключение в файле конфигурации. </a:t>
            </a:r>
            <a:r>
              <a:rPr>
                <a:latin typeface="Consolas"/>
              </a:rPr>
              <a:t>.mcp.json</a:t>
            </a:r>
            <a:r>
              <a:t> в корне репозитория — область </a:t>
            </a:r>
            <a:r>
              <a:rPr>
                <a:latin typeface="Consolas"/>
              </a:rPr>
              <a:t>project</a:t>
            </a:r>
            <a:r>
              <a:t>, её видят все, кто клонирует. </a:t>
            </a:r>
            <a:r>
              <a:rPr>
                <a:latin typeface="Consolas"/>
              </a:rPr>
              <a:t>~/.claude.json</a:t>
            </a:r>
            <a:r>
              <a:t> — области </a:t>
            </a:r>
            <a:r>
              <a:rPr>
                <a:latin typeface="Consolas"/>
              </a:rPr>
              <a:t>local</a:t>
            </a:r>
            <a:r>
              <a:t> и </a:t>
            </a:r>
            <a:r>
              <a:rPr>
                <a:latin typeface="Consolas"/>
              </a:rPr>
              <a:t>user</a:t>
            </a:r>
            <a:r>
              <a:t>. Какая для чего — на сборке; здесь место на карте.</a:t>
            </a:r>
          </a:p>
          <a:p/>
          <a:p>
            <a:r>
              <a:t>При подключении Claude Code сама, без участия модели, спрашивает у сервера список возможностей. Сервер отвечает именами и короткой инструкцией о себе, без полных схем.</a:t>
            </a:r>
          </a:p>
          <a:p/>
          <a:p>
            <a:r>
              <a:t>Вызов: агент зовёт инструмент как функцию — полное имя с префиксом сервера и собранные моделью аргументы.</a:t>
            </a:r>
          </a:p>
          <a:p/>
          <a:p>
            <a:r>
              <a:t>Контекст и цена — три отдельные статьи. Имя сервера и короткая инструкция висят в контексте всегда, с первой секунды. Полную схему инструмента модель подтягивает сама, когда он ей понадобился. У результата свой бюджет: предупреждение за десять тысяч токенов, обрезка за двадцать пять. Постоянная плата идёт за подключённый сервер; цена вызова — за каждый ответ. Сопоставление по способам доступа — в конце кейса.</a:t>
            </a:r>
          </a:p>
          <a:p/>
          <a:p>
            <a:r>
              <a:t>Отвечает сервер по отдельному каналу; вызов в выводе подписан именем сервера — видно, откуда ответ.</a:t>
            </a:r>
          </a:p>
          <a:p/>
          <a:p>
            <a:r>
              <a:t>Если спросят про формат имени инструмента подробнее: </a:t>
            </a:r>
            <a:r>
              <a:rPr>
                <a:latin typeface="Consolas"/>
              </a:rPr>
              <a:t>mcp__&lt;сервер&gt;__&lt;инструмент&gt;</a:t>
            </a:r>
            <a:r>
              <a:t>, где любой символ вне букв, цифр, подчёркивания и дефиса заменяется на подчёркивание. Это не косметика: именно полное имя пишут в правилах разрешений, списке инструментов субагента или матчере хука — короткое там не сработает.</a:t>
            </a:r>
          </a:p>
          <a:p/>
          <a:p>
            <a:r>
              <a:t>Если спросят, почему обнаружение возможностей не спрашивает модель: это разговор клиента с сервером на уровне протокола, до того как модель вообще увидела список, — та же механика, что и рукопожатие транспорта.</a:t>
            </a:r>
          </a:p>
          <a:p/>
          <a:p>
            <a:r>
              <a:t>Если спросят, почему </a:t>
            </a:r>
            <a:r>
              <a:rPr>
                <a:latin typeface="Consolas"/>
              </a:rPr>
              <a:t>local</a:t>
            </a:r>
            <a:r>
              <a:t> и </a:t>
            </a:r>
            <a:r>
              <a:rPr>
                <a:latin typeface="Consolas"/>
              </a:rPr>
              <a:t>user</a:t>
            </a:r>
            <a:r>
              <a:t> показаны с одним и тем же файлом </a:t>
            </a:r>
            <a:r>
              <a:rPr>
                <a:latin typeface="Consolas"/>
              </a:rPr>
              <a:t>~/.claude.json</a:t>
            </a:r>
            <a:r>
              <a:t>: это не опечатка на экране. Один физический файл, две разные записи внутри него: </a:t>
            </a:r>
            <a:r>
              <a:rPr>
                <a:latin typeface="Consolas"/>
              </a:rPr>
              <a:t>local</a:t>
            </a:r>
            <a:r>
              <a:t> живёт под записью конкретного проекта, </a:t>
            </a:r>
            <a:r>
              <a:rPr>
                <a:latin typeface="Consolas"/>
              </a:rPr>
              <a:t>user</a:t>
            </a:r>
            <a:r>
              <a:t> — под общим ключом </a:t>
            </a:r>
            <a:r>
              <a:rPr>
                <a:latin typeface="Consolas"/>
              </a:rPr>
              <a:t>mcpServers</a:t>
            </a:r>
            <a:r>
              <a:t>. Подробнее — на слайде со сборкой подключения.</a:t>
            </a:r>
          </a:p>
          <a:p/>
          <a:p>
            <a:r>
              <a:t>Если спросят, зачем вообще протокол, когда есть обычный вызов по сети: затем, что все серверы описывают свои возможности одинаково, и агент читает их описание одним способом. Это и покупают подключением — дальше в кейсе посчитаем, сколько это стоит.</a:t>
            </a:r>
          </a:p>
          <a:p/>
          <a:p>
            <a:r>
              <a:t>Если спросят, кем протокол управляется: с девятого декабря 2025 года — отдельным направленным фондом под Linux Foundation, тем же типом управления, что у Kubernetes. Открытость протокола и честность конкретного сервера внутри него — разные вещи; провалы в этом кейсе будут как раз про второе.</a:t>
            </a:r>
          </a:p>
          <a:p/>
          <a:p>
            <a:r>
              <a:t>Если что-то на этом экране непонятно — спрашивайте сейчас, дальше я буду на него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Сайт живёт третий месяц. Заказчик уже месяц ведёт задачи в трекере — это разработчик ему и предложил, чтобы правки не терялись в переписке. Перенос между трекером и чатом агента разработчик делает руками, несколько раз в неделю. Вот где лежали те две просьбы, которых агент в понедельник не нашёл.</a:t>
            </a:r>
          </a:p>
          <a:p/>
          <a:p>
            <a:r>
              <a:t>Вторник той же недели. Утром он открывает задачу «форма не отправляется с телефона», копирует текст в чат агенту и уходит делать правку. Днём заказчик дописывает в эту же задачу одну строку: «и с планшета тоже». Разработчик её не видит: у него в чате лежит утренний снимок задачи, и снимок обновиться сам не умеет. Вечером правка уезжает заказчику. Утром в задаче появляется вопрос: «а планшет?».</a:t>
            </a:r>
          </a:p>
          <a:p/>
          <a:p>
            <a:r>
              <a:t>Цена: час на вторую правку и письмо с объяснением, почему строка из задачи до работы не доехала. Час — меньшая часть. Большая в том, что заказчик теперь перепроверяет, дошло ли написанное им: привычка, которую он завёл ровно потому, что один раз не дошло.</a:t>
            </a:r>
          </a:p>
          <a:p/>
          <a:p>
            <a:r>
              <a:t>Ошибся здесь не агент. Ошибся перенос руками — он по устройству отдаёт агенту прошлое состояние задачи.</a:t>
            </a:r>
          </a:p>
          <a:p/>
          <a:p>
            <a:r>
              <a:t>Если спросят, почему не решить это дисциплиной — перечитывать задачу перед отправкой: это работает ровно до дня, когда задач три, а сессий пять. Цена растёт линейно с числом задач и сессий, и забытая строка из исключения становится нормой.</a:t>
            </a:r>
          </a:p>
          <a:p/>
          <a:p>
            <a:r>
              <a:t>Если спросят, почему нельзя попросить агента «следить» за трекером: агент работает в рамках одной сессии, между запросами он не продолжает действовать и своего способа дотянуться до внешней системы без выданного доступа не имеет.</a:t>
            </a:r>
          </a:p>
          <a:p/>
          <a:p>
            <a:r>
              <a:t>Если прозвучит «а что, если открыть трекер в браузере рядом»: это меняет форму переноса, оставляя сам перенос. Вставка остаётся вставкой, и утренний снимок остаётся утренним.</a:t>
            </a:r>
          </a:p>
          <a:p/>
          <a:p>
            <a:r>
              <a:t>Если спросят, бывает ли обратная ошибка: бывает, и она дороже. Разработчик вставляет в задачу ответ агента по другой задаче — заказчик читает чужое требование как своё и планирует работу, которой не просил.</a:t>
            </a:r>
          </a:p>
          <a:p/>
          <a:p>
            <a:r>
              <a:t>Если спросят, зачем сцена так подробна: потому что выбор, который зал будет делать на следующем экране, зависит от частоты и от живости источника. Разовый доступ и постоянный решаются разными способами, и именно этот вторник показывает, какой из двух случаев перед нами.</a:t>
            </a:r>
          </a:p>
          <a:p/>
          <a:p>
            <a:r>
              <a:t>Если спросят, что считать «живым» источником: тот, у которого ответ зависит от времени запроса. Файл спецификации в репозитории живым в этом смысле не является — он меняется коммитом, который виден. Трекер меняется без коммита и без уведомления.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того вторника не повторилось, агент должен сам смотреть открытые задачи трекера в момент работы и готовить по ним черновики правок. Выберите способ, которым вы дадите ему доступ снаружи, — и объясните, чем остальные четыре подходят хуже именно для регулярного доступа.</a:t>
            </a:r>
          </a:p>
          <a:p/>
          <a:p>
            <a:r>
              <a:t>Пять карточек: вызвать API напрямую; подключить чужой сервер — удалённо; подключить чужой сервер — локально; написать свой сервер; вызывать готовую команду </a:t>
            </a:r>
            <a:r>
              <a:rPr>
                <a:latin typeface="Consolas"/>
              </a:rPr>
              <a:t>gh</a:t>
            </a:r>
            <a:r>
              <a:t> каждый раз.</a:t>
            </a:r>
          </a:p>
          <a:p/>
          <a:p>
            <a:r>
              <a:t>Называйте вслух и способ, и причину: причина здесь весит больше выбора.</a:t>
            </a:r>
          </a:p>
          <a:p/>
          <a:p>
            <a:r>
              <a:t>Если спросят, что такое </a:t>
            </a:r>
            <a:r>
              <a:rPr>
                <a:latin typeface="Consolas"/>
              </a:rPr>
              <a:t>gh</a:t>
            </a:r>
            <a:r>
              <a:t>: официальный CLI-инструмент GitHub — он уже установлен у многих разработчиков и умеет читать и писать задачи трекера без какого-либо MCP-сервера, обычным вызовом команды.</a:t>
            </a:r>
          </a:p>
          <a:p/>
          <a:p>
            <a:r>
              <a:t>Если спросят, чем «удалённо» отличается от «локально»: в одном случае сервер — чужой процесс, который кто-то другой держит в сети и сам поддерживает; в другом — программа запускается у вас, её старт и обновление — ваша забота. Какую разницу это даёт на практике — следующий слайд.</a:t>
            </a:r>
          </a:p>
          <a:p/>
          <a:p>
            <a:r>
              <a:t>Если прозвучит версия, не совпадающая ни с одной из пяти карточек: уточните, какой конкретно способ доступа имеете в виду — почти всегда он укладывается в один из пяти, просто другими словами.</a:t>
            </a:r>
          </a:p>
          <a:p/>
          <a:p>
            <a:r>
              <a:t>Если спросят, можно ли выбрать два: можно, и дальше мы увидим, что два из пяти остаются законными до самого конца разбора. Назовите тогда оба и условие, при котором берёте первый.</a:t>
            </a:r>
          </a:p>
          <a:p/>
          <a:p>
            <a:r>
              <a:t>Если зал выберет «написать свой сервер» большинством: спросите, что в этом сервере будет такого, чего нет в официальном. Вопрос честный — иногда ответ есть, и тогда выбор верный.</a:t>
            </a:r>
          </a:p>
          <a:p/>
          <a:p>
            <a:r>
              <a:t>Если прозвучит «а в чём вообще разница, если результат одинаковый»: отвечать на него стоит прямо здесь. Результат действительно одинаковый; разница в том, что каждый способ требует от вас заранее, и в том, что он занимает постоянно. Обе стороны разберём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 что разбор опровергает. Кода интеграции не придётся писать ни в одном из пяти способов: агент сам соберёт запрос и сам разберёт ответ, это он умеет. Значит, выбор идёт по другому основанию.</a:t>
            </a:r>
          </a:p>
          <a:p/>
          <a:p>
            <a:r>
              <a:t>Разделяет пятёрку одно: знает ли агент заранее, что у системы можно спросить. Прямой вызов API — спецификацию сервиса агент не угадает, её нужно дать документацией или swagger-описанием. </a:t>
            </a:r>
            <a:r>
              <a:rPr>
                <a:latin typeface="Consolas"/>
              </a:rPr>
              <a:t>gh</a:t>
            </a:r>
            <a:r>
              <a:t> — официальный CLI GitHub, авторизация и разбор ответа уже решены за вас, но общего списка возможностей он не даёт: нужную команду помните вы.</a:t>
            </a:r>
          </a:p>
          <a:p/>
          <a:p>
            <a:r>
              <a:t>Три средних карточки этот список дают. Чужой сервер удалённо — его держит и обновляет кто-то другой, у вас не крутится процесс; зато не видно, что внутри и когда оно поменялось. Чужой сервер локально — пакет исполняется у вас, конфигурация лежит строкой в репозитории и видна в ревью; это по-прежнему живой чужой код на вашей машине. Свой сервер даёт ровно нужные операции и права; минимальный пишется быстро, для этого есть плагин, дорого обходится поддержка.</a:t>
            </a:r>
          </a:p>
          <a:p/>
          <a:p>
            <a:r>
              <a:t>Вывод складывается из сочетания. Свой сервер избыточен, раз официальный есть. Между «удалённо» и «локально» законны оба; берём локальный — ради конфигурации, видимой в ревью.</a:t>
            </a:r>
          </a:p>
          <a:p/>
          <a:p>
            <a:r>
              <a:t>Если спросят, почему тогда вообще платят за сервер, раз доступ даёт и команда: платят за список возможностей, который агент читает сам. Сколько именно это стоит, посчитаем через два экрана — цифра там неожиданная.</a:t>
            </a:r>
          </a:p>
          <a:p/>
          <a:p>
            <a:r>
              <a:t>Если спросят про «удалённо» подробнее: свежий официальный пример подключения именно к этому сервису — удалённый http-сервис, в отличие от примера, на который опирается кейс. Решение занятия от этого неверным не становится: локальный способ остаётся официально поддерживаемым. Знать стоит другое — официальный путь одного и того же поставщика со временем меняется.</a:t>
            </a:r>
          </a:p>
          <a:p/>
          <a:p>
            <a:r>
              <a:t>Если спросят про безопасность удалённого сервиса подробнее: у одного MCP-сервера для баз данных флаг «только чтение» не делал соединение реально ограниченным — разберём это в провале кейса.</a:t>
            </a:r>
          </a:p>
          <a:p/>
          <a:p>
            <a:r>
              <a:t>Если спросят, почему </a:t>
            </a:r>
            <a:r>
              <a:rPr>
                <a:latin typeface="Consolas"/>
              </a:rPr>
              <a:t>gh</a:t>
            </a:r>
            <a:r>
              <a:t> не выигрывает: он отлично закрывает единичный, заранее известный вызов. С ростом числа операций помнить и называть каждую команду точно приходится разработчику — и ровно на этом месте вторник из сцены повторяется, только уже с командами.</a:t>
            </a:r>
          </a:p>
          <a:p/>
          <a:p>
            <a:r>
              <a:t>Если спросят про поддержку своего сервера подробнее: обновления протокола, чужие пользователи, безопасность транспорта. Это отдельный проект рядом с основным, и заводить его стоит тогда, когда нужного набора операций нет ни у кого из готовых поставщиков.</a:t>
            </a:r>
          </a:p>
          <a:p/>
          <a:p>
            <a:r>
              <a:t>Если прозвучит «мы возьмём API, потому что так гибче»: это законный выбор, и он не отменяется этим разбором. Спросите только, где будет жить описание эндпойнтов, которым вы кормите агента, и кто обновит его, когда сервис поменяет версию.</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пишется в конце разговора, не в начале: начни с синтаксиса — минуешь два решения, которые важнее синтаксиса.</a:t>
            </a:r>
          </a:p>
          <a:p/>
          <a:p>
            <a:r>
              <a:t>Первый шаг быстрый: что конкретно агент должен уметь? Зал перечисляет, фиксирую: читать открытые задачи, писать комментарий, готовить черновик правки. Три операции, ничего больше.</a:t>
            </a:r>
          </a:p>
          <a:p/>
          <a:p>
            <a:r>
              <a:t>Второй шаг несёт основной вес. На экране — список того, что даёт широкий персональный токен по умолчанию: все репозитории пользователя, включая приватные; чтение и запись; управление настройками; удаление. Идём по строкам и спрашиваем про каждую: наш список из трёх операций этого требует? Вычёркивание происходит на экране, строка за строкой. Остаётся один репозиторий и две операции.</a:t>
            </a:r>
          </a:p>
          <a:p/>
          <a:p>
            <a:r>
              <a:t>Важен и порядок: сначала операции, потом права. Обратный порядок — взять токен, какой есть, и посмотреть, что получится — оставляет в ключе ровно ту строку, которая через несколько минут окажется решающей.</a:t>
            </a:r>
          </a:p>
          <a:p/>
          <a:p>
            <a:r>
              <a:t>Запомните, как выглядит этот экран сейчас. Через несколько минут покажу инцидент, который воспроизводится ровно тогда, когда верхняя строка не вычеркнута.</a:t>
            </a:r>
          </a:p>
          <a:p/>
          <a:p>
            <a:r>
              <a:t>Если спросят, почему нельзя создать токен с правами «по умолчанию» и просто не пользоваться лишним: токен может быть использован тем, кто завладеет им, — вопрос здесь не в вашем намерении: решает то, что физически позволяет сделанный ключ.</a:t>
            </a:r>
          </a:p>
          <a:p/>
          <a:p>
            <a:r>
              <a:t>Если спросят, насколько это типично — выдавать больше, чем нужно: та же системная выборка показывает, что подобная избыточность — норма, не исключение, и это касается не только отдельных серверов, но и самого транспортного слоя официального SDK протокола.</a:t>
            </a:r>
          </a:p>
          <a:p/>
          <a:p>
            <a:r>
              <a:t>Если спросят, сколько времени занимает эта проверка: прямых замеров нет ни в одном источнике — честный пробел; но разговор, который мы сейчас ведём, и так происходит в момент создания токена, отдельного времени он не требует.</a:t>
            </a:r>
          </a:p>
          <a:p/>
          <a:p>
            <a:r>
              <a:t>Если спросят, почему операции перечисляет зал: официальный сервер трекера умеет заметно больше трёх вещей, и из его полного набора вам нужно знать свои. Список операций задаёт, какие права запрашивать; обратный порядок даёт ключ заведомо шире задачи, под которую он выпускался.</a:t>
            </a:r>
          </a:p>
          <a:p/>
          <a:p>
            <a:r>
              <a:t>Если спросят, что делать, когда операция понадобится четвёртая: вернуться к этому же разговору и выпустить ключ заново. Дописать право в существующий токен дешевле, и ровно поэтому список прав со временем расползается далеко за пределы задачи, под которую он заводился.</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шаг — про ключ, и зал отвечает почти сразу: переменная окружения, не значение в файле. Честная оговорка: даже вынесение секрета в переменную окружения не гарантирует, что он нигде не всплывёт текстом — диагностическая команда, которой проверяют статус подключения, сама может оказаться ещё одним каналом утечки того же секрета. Это не отменяет практику, но снимает с неё ложное ощущение полной защищённости.</a:t>
            </a:r>
          </a:p>
          <a:p/>
          <a:p>
            <a:r>
              <a:t>Четвёртый шаг — область видимости конфигурации. Три варианта: только у меня на этой машине; в репозиторий, для всех; глобально во всех моих проектах. Проверенный сервер — в репозиторий: конфигурация становится кодом, изменение видно в ревью. Непроверенный эксперимент — только у себя. И факт про дефолт: по умолчанию команда подключения кладёт сервер в личную конфигурацию, не в проект. Если про это не знать — получится разговор «я подключил, всё работает» — «а у меня нет», и оба правы.</a:t>
            </a:r>
          </a:p>
          <a:p/>
          <a:p>
            <a:r>
              <a:t>Если спросят, чем переменная окружения лучше отдельного секретного файла вне репозитория: механика конфигурации здесь исполняемая, не декларативная — команда подключения сервера реально запускается на машине при старте сессии. Простым описанием это не остаётся. Значение, вписанное буквально в команду, стало бы частью того, что физически выполняется. Переменная окружения — прямое следствие этого факта, не стилистическое предпочтение.</a:t>
            </a:r>
          </a:p>
          <a:p/>
          <a:p>
            <a:r>
              <a:t>Если спросят про конфликт имён между областями: при совпадении имени сервера в двух областях побеждает вся запись более приоритетной области целиком — поля не собираются из разных источников. Если в личной записи нет ключа, а в проектной есть, и они совпали по имени — при конфликте вы получите личную запись целиком, включая отсутствие ключа. Порядок приоритета: личная область выше проектной, проектная выше общей личной, дальше — сервер из плагина, затем коннектор, выше всех — политика организации, если она есть.</a:t>
            </a:r>
          </a:p>
          <a:p/>
          <a:p>
            <a:r>
              <a:t>Если спросят, зачем вообще класть конфигурацию в репозиторий, раз у каждого своя машина: затем, что подключение становится видимым в ревью наравне с кодом. Новый сервер в проекте тогда появляется с обсуждением — его видно до того, как он заработает.</a:t>
            </a:r>
          </a:p>
          <a:p/>
          <a:p>
            <a:r>
              <a:t>Если спросят, что делать с уже подключённым экспериментом, который прижился: перенести запись из личной области в проектную тем же разговором, каким вносят любую правку в репозиторий. Права ключа при переносе не меняются — их меняют на стороне сервиса.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разговора — файл из четырёх строк существа. Разберём каждую.</a:t>
            </a:r>
          </a:p>
          <a:p/>
          <a:p>
            <a:r>
              <a:rPr>
                <a:latin typeface="Consolas"/>
              </a:rPr>
              <a:t>mcpServers</a:t>
            </a:r>
            <a:r>
              <a:t> — корень: список всех серверов, которые объявлены в этой области видимости. </a:t>
            </a:r>
            <a:r>
              <a:rPr>
                <a:latin typeface="Consolas"/>
              </a:rPr>
              <a:t>"github"</a:t>
            </a:r>
            <a:r>
              <a:t> — имя сервера: именно под этим именем агент дальше будет вызывать его инструменты, вида </a:t>
            </a:r>
            <a:r>
              <a:rPr>
                <a:latin typeface="Consolas"/>
              </a:rPr>
              <a:t>mcp__github__…</a:t>
            </a:r>
            <a:r>
              <a:t>. </a:t>
            </a:r>
            <a:r>
              <a:rPr>
                <a:latin typeface="Consolas"/>
              </a:rPr>
              <a:t>"command": "npx"</a:t>
            </a:r>
            <a:r>
              <a:t> — чем запускается: конкретная программа-лаунчер. </a:t>
            </a:r>
            <a:r>
              <a:rPr>
                <a:latin typeface="Consolas"/>
              </a:rPr>
              <a:t>"args"</a:t>
            </a:r>
            <a:r>
              <a:t> — что запускается: пакет самого сервера. И </a:t>
            </a:r>
            <a:r>
              <a:rPr>
                <a:latin typeface="Consolas"/>
              </a:rPr>
              <a:t>"env"</a:t>
            </a:r>
            <a:r>
              <a:t> — переменные окружения для процесса: значение здесь — подстановка </a:t>
            </a:r>
            <a:r>
              <a:rPr>
                <a:latin typeface="Consolas"/>
              </a:rPr>
              <a:t>${GITHUB_PAT}</a:t>
            </a:r>
            <a:r>
              <a:t>, сам секрет в файле не лежит текстом.</a:t>
            </a:r>
          </a:p>
          <a:p/>
          <a:p>
            <a:r>
              <a:t>Это полная версия того же шаблона, который уже мелькал фрагментом на одностраничнике в начале кейса — там он был первым знакомством, здесь — разбор построчно. Права этого ключа — один репозиторий, не вся учётная запись — в файл не входят вообще: их задаёт сервис, где токен создавался, не эта конфигурация.</a:t>
            </a:r>
          </a:p>
          <a:p/>
          <a:p>
            <a:r>
              <a:t>Эта практика остаётся целевым решением раздела, не подтверждённым коммитом ни в этом проекте, ни в репозитории курса — слайд показывает разбираемый пример, не обещает «склонируй и повтори».</a:t>
            </a:r>
          </a:p>
          <a:p/>
          <a:p>
            <a:r>
              <a:t>Честное предложение в сторону: эта команда запускает на вашей машине живой процесс. Если он упадёт посреди сессии — сам он не перезапустится, нужна новая сессия. Полный разбор, что при этом видно и как это заметить, — в следующем кейсе этого занятия.</a:t>
            </a:r>
          </a:p>
          <a:p/>
          <a:p>
            <a:r>
              <a:t>Если спросят про сам файл подробнее: он лежит в корне репозитория, видят его все, кто клонирует проект; личная и общая личная области живут в отдельном файле вне репозитория, туда секреты из кода не попадают просто потому, что файл физически не в дереве git.</a:t>
            </a:r>
          </a:p>
          <a:p/>
          <a:p>
            <a:r>
              <a:t>Если спросят про схему приоритета ниже: ступени </a:t>
            </a:r>
            <a:r>
              <a:rPr>
                <a:latin typeface="Consolas"/>
              </a:rPr>
              <a:t>local</a:t>
            </a:r>
            <a:r>
              <a:t> и </a:t>
            </a:r>
            <a:r>
              <a:rPr>
                <a:latin typeface="Consolas"/>
              </a:rPr>
              <a:t>user</a:t>
            </a:r>
            <a:r>
              <a:t> обе подписаны файлом </a:t>
            </a:r>
            <a:r>
              <a:rPr>
                <a:latin typeface="Consolas"/>
              </a:rPr>
              <a:t>~/.claude.json</a:t>
            </a:r>
            <a:r>
              <a:t> — это не два одинаковых адреса и не ошибка на экране. Это один физический файл, но две разные записи внутри него: </a:t>
            </a:r>
            <a:r>
              <a:rPr>
                <a:latin typeface="Consolas"/>
              </a:rPr>
              <a:t>local</a:t>
            </a:r>
            <a:r>
              <a:t> — под записью именно этого проекта, </a:t>
            </a:r>
            <a:r>
              <a:rPr>
                <a:latin typeface="Consolas"/>
              </a:rPr>
              <a:t>user</a:t>
            </a:r>
            <a:r>
              <a:t> — под общим ключом </a:t>
            </a:r>
            <a:r>
              <a:rPr>
                <a:latin typeface="Consolas"/>
              </a:rPr>
              <a:t>mcpServers</a:t>
            </a:r>
            <a:r>
              <a:t>. При конфликте имён это разные по весу записи, несмотря на общий файл.</a:t>
            </a:r>
          </a:p>
          <a:p/>
          <a:p>
            <a:r>
              <a:t>Если спросят, что будет, если изменить область уже подключённого сервера: это та же запись, просто переписанная в другое место — сами права токена при этом не меняются, их меняют на стороне сервиса, где токен создавался.</a:t>
            </a:r>
          </a:p>
          <a:p/>
          <a:p>
            <a:r>
              <a:t>Если спросят, почему областей ровно три и почему именно эти: это ровно то, что физически умеет продукт — три жёстко заданных места, не произвольная настройка.</a:t>
            </a:r>
          </a:p>
          <a:p/>
          <a:p>
            <a:r>
              <a:t>Если спросят про честный пробел ещё раз: этот конкретный файл — целевое решение, собранное из более раннего захвата демо-репозитория; в текущей ветке его нет, и тот же файл отсутствует в репозитории курса. Проверка этого кейса — на доказательной базе исследования, не на живом коммите; это касается и двух следующих кейсов этого блока — у них общий этот пробел.</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цифра, о которой часто говорят неточно. «Подключение стоит столько-то токенов» — это утверждение о режиме без отложенной загрузки. По умолчанию в контекст при старте попадают имена инструментов и короткая инструкция, без полных схем.</a:t>
            </a:r>
          </a:p>
          <a:p/>
          <a:p>
            <a:r>
              <a:t>Худший случай — пять серверов без отсрочки, порядка пятидесяти пяти тысяч токенов, около двадцати одного процента контекста в двести тысяч. Это верхняя граница. Для сравнения: то же действие обычной командой в терминале — тысяча триста шестьдесят пять токенов, инструментом сервера — сорок четыре тысячи. Тридцатидвухкратная разница за один ответ.</a:t>
            </a:r>
          </a:p>
          <a:p/>
          <a:p>
            <a:r>
              <a:t>И обещанное сопоставление. Постоянную плату задаёт число подключённых серверов и число их инструментов. Свой сервер, чужой локально, чужой удалённо платят её одинаково: транспорт и авторство значения не имеют. Прямой вызов API и </a:t>
            </a:r>
            <a:r>
              <a:rPr>
                <a:latin typeface="Consolas"/>
              </a:rPr>
              <a:t>gh</a:t>
            </a:r>
            <a:r>
              <a:t> не платят вовсе — у них нет списка возможностей, висящего в контексте между вызовами.</a:t>
            </a:r>
          </a:p>
          <a:p/>
          <a:p>
            <a:r>
              <a:t>Теперь к себе. Сколько серверов подключено у вас прямо сейчас и сколько инструментов они описывают? Эту плату вы вносите в каждой сессии — даже там, где агент не сходил ни к одному.</a:t>
            </a:r>
          </a:p>
          <a:p/>
          <a:p>
            <a:r>
              <a:t>Если спросят, как проверить режим у себя: посмотреть, не выставлена ли переменная, отключающая отложенную загрузку, и что реально показывает карточка конкретного сервера в сессии. Эта проверка не устаревает, в отличие от самой цифры.</a:t>
            </a:r>
          </a:p>
          <a:p/>
          <a:p>
            <a:r>
              <a:t>Если спросят, почему тогда цифра вообще названа: она остаётся верной как порядок величины худшего случая — для площадок без отложенной загрузки или для сессии, которая реально дотянула почти все определения через внутренний поиск.</a:t>
            </a:r>
          </a:p>
          <a:p/>
          <a:p>
            <a:r>
              <a:t>Если спросят про второй, независимый замер: тот же эффект подтверждён другой командой исследователей в деньгах — три доллара двадцать центов против пятидесяти пяти долларов двадцати центов на десять тысяч однотипных операций в месяц, семнадцатикратная разница, другой методикой.</a:t>
            </a:r>
          </a:p>
          <a:p/>
          <a:p>
            <a:r>
              <a:t>Если спросят, значит ли это, что сервер подключать невыгодно: нет. Выгодным его делает то, за что эта плата внесена, — агент сам видит список операций и выбирает нужную. Там, где операция одна и известна заранее, платить за список незачем, и это ровно критерий следующего экрана.</a:t>
            </a:r>
          </a:p>
          <a:p/>
          <a:p>
            <a:r>
              <a:t>Если спросят, почему полная схема подтягивается не сразу: потому что схем много, а понадобится из них единицы. Отложенная загрузка — поведение по умолчанию на актуальных моделях; выключается она переменной окружения, и выключенной её иногда находят в чужих готовых настройках.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экрану, который я просил запомнить. Май 2025 года. У разработчика агент ходит в трекер под персональным токеном с правами на все репозитории, включая приватные. Атакующий заводит в публичном репозитории обычный на вид issue: собери данные о других репозиториях пользователя и опубликуй здесь. Разработчик просит агента разобраться с открытыми задачами. Агент честно читает — встроенная инструкция попадает в контекст как команда, от вашей она для модели неотличима. Дальше он читает приватные репозитории и публикует их содержимое в публичном черновике правки.</a:t>
            </a:r>
          </a:p>
          <a:p/>
          <a:p>
            <a:r>
              <a:t>Номера уязвимости здесь нет: чинить нечего. Это архитектурный риск связки «широкие права плюс чужой текст».</a:t>
            </a:r>
          </a:p>
          <a:p/>
          <a:p>
            <a:r>
              <a:t>Теперь на наш экран. Строку «все репозитории» мы вычеркнули — без неё атака не проходит: читать нечего.</a:t>
            </a:r>
          </a:p>
          <a:p/>
          <a:p>
            <a:r>
              <a:t>Сочетание названо «смертельным трио» (Simon Willison, 16 июня 2025): приватные данные, недоверенный внешний текст, канал наружу. Не хватает одной ножки — атака этого типа невозможна в принципе.</a:t>
            </a:r>
          </a:p>
          <a:p/>
          <a:p>
            <a:r>
              <a:t>Расширение той же схемы, без модели вообще: у MCP-сервера к базе данных нашли уязвимость транспорта — HTTP-эндпойнт по умолчанию слушает без аутентификации, защита от межсайтовых запросов обходится подменой DNS. По вторичному разбору — два запроса, ноль учётных данных, и произвольный сайт в браузере жертвы дёргает инструменты сервера напрямую.</a:t>
            </a:r>
          </a:p>
          <a:p/>
          <a:p>
            <a:r>
              <a:t>Если спросят, почему именно GitHub в примере: ровно эту связку мы собираем в этом кейсе — трекер задач с персональным токеном. И читает агент тот же поток чужого текста, из которого в сцене потерялась одна строка: задачи в трекере пишет не только ваш заказчик.</a:t>
            </a:r>
          </a:p>
          <a:p/>
          <a:p>
            <a:r>
              <a:t>Если спросят, насколько это общий класс: обобщение сформулировано отдельно одним исследователем как «смертельное трио», и оно применимо к любому агенту с доступом к данным, обработкой текста и каналом наружу, независимо от конкретного продукта.</a:t>
            </a:r>
          </a:p>
          <a:p/>
          <a:p>
            <a:r>
              <a:t>Если спросят про DNS rebinding подробнее: DNS-имя атакующего домена сначала указывает на его собственный IP — чтобы пройти проверку происхождения запроса, — затем переключается на адрес жертвы; после этого браузер жертвы считает запрос «своим», и локальный сервер его исполняет.</a:t>
            </a:r>
          </a:p>
          <a:p/>
          <a:p>
            <a:r>
              <a:t>Если спросят, защищает ли открытость протокола от такого провала: нет. Открытость протокола и аутентификация конкретного сервера — разные вещи, мы это отметили в базе.</a:t>
            </a:r>
          </a:p>
          <a:p/>
          <a:p>
            <a:r>
              <a:t>Если спросят, что из этого следует для нашего собранного файла: ключ с правами на один репозиторий закрывает первый слой. Второй слой он не закрывает вовсе — там речь о том, как сервер слушает сеть, и решается это выбором транспорта, который мы сделали на сборке.</a:t>
            </a:r>
          </a:p>
          <a:p/>
          <a:p>
            <a:r>
              <a:t>Если спросят, зачем показывать провал после того, как решение собрано: затем, что собранное решение проверяется только попыткой его сломать. Строка, вычеркнутая без такой попытки, вычёркивается по привычке.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кейса прямо: когда MCP нужен и когда нет.</a:t>
            </a:r>
          </a:p>
          <a:p/>
          <a:p>
            <a:r>
              <a:t>Нужен — когда доступ требуется регулярно, из нескольких сессий, и снимка на сегодняшнее утро уже недостаточно. Нужен — когда вы готовы поддерживать ещё один постоянно работающий процесс с доступом к секретам. Нужен — когда операций больше одной, список их растёт, и агент сам решает, к какой обратиться в моменте: именно за этот список вносится постоянная плата. И нужен — только если подключение не достраивает третий элемент смертельного трио.</a:t>
            </a:r>
          </a:p>
          <a:p/>
          <a:p>
            <a:r>
              <a:t>Не нужен — в зеркальных случаях. Доступ разовый или редкий: снимка достаточно. Готовности поддерживать процесс нет: разовый вызов надёжнее. Задача сводится к одному известному вызову CLI: платить контекстом за список возможностей незачем. А если подключение достраивает трио — это стоп-критерий сразу, без размышлений.</a:t>
            </a:r>
          </a:p>
          <a:p/>
          <a:p>
            <a:r>
              <a:t>Есть доступ наружу. Следующий вопрос — что происходит, когда он подключён, а агент через него не ходит.</a:t>
            </a:r>
          </a:p>
          <a:p/>
          <a:p>
            <a:r>
              <a:t>Если спросят, почему колонки названы именно так, а прежние «рано» и «никогда» сняты: оба прежних слова приглашали гадать, о какой стадии решения речь. Колонки отвечают на один прямой вопрос — нужен сервер для этой задачи или нет.</a:t>
            </a:r>
          </a:p>
          <a:p/>
          <a:p>
            <a:r>
              <a:t>Если спросят про дисциплину после подключения: периодически перечитывать конфигурацию и убирать неиспользуемые серверы. Каждый забытый сервер — налог на контекст, поверхность атаки и держатель ключей одновременно.</a:t>
            </a:r>
          </a:p>
          <a:p/>
          <a:p>
            <a:r>
              <a:t>Если спросят, как применить это к своему проекту прямо сегодня: взять одно действие, которое вы повторяете руками каждую неделю, и ответить по четырём строкам левой колонки. Если хоть одна не выполняется, подключение подождёт.</a:t>
            </a:r>
          </a:p>
          <a:p/>
          <a:p>
            <a:r>
              <a:t>Если спросят, меняется ли ответ со временем: меняется, и чаще в сторону «нужен». Разовое действие становится регулярным незаметно — ровно так, как в нашей сцене перенос задачи из трекера стал привычкой за месяц.</a:t>
            </a:r>
          </a:p>
          <a:p/>
          <a:p>
            <a:r>
              <a:t>Если спросят, что делать, когда трио достроено, а доступ всё равно нужен: разрывать трио. Сузить права до одного репозитория, убрать канал наружу, вынести чтение чужого текста в отдельную сессию без доступа к приватным данным — хватает любой одной из трёх ножек.</a:t>
            </a:r>
          </a:p>
          <a:p/>
          <a:p>
            <a:r>
              <a:t>Если спросят, относится ли правая колонка к MCP вообще или к конкретной задаче: к задаче. Тот же сервер для одной работы избыточен, для соседней необходим, и решается это каждый раз заново, по четырём строкам левой колонки.</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этого блока начинаем с конца — с того, чем он кончился.</a:t>
            </a:r>
          </a:p>
          <a:p/>
          <a:p>
            <a:r>
              <a:t>Пять рабочих дней разработчик верил зелёной отметке подключения. Каждое утро он просил агента разобрать входящие задачи и каждое утро получал ответ, который звучал как итог работы. К пятнице выяснилось: в трекер агент не заходил ни разу.</a:t>
            </a:r>
          </a:p>
          <a:p/>
          <a:p>
            <a:r>
              <a:t>При этом никто не ошибся. Сервер собран честно, права вычеркнуты, ключ лежит в переменной окружения. Проверка тоже была настоящей: статус горел зелёным и говорил правду. Отвечал он на другой вопрос — поднялся ли процесс.</a:t>
            </a:r>
          </a:p>
          <a:p/>
          <a:p>
            <a:r>
              <a:t>Дальше смотрим, как неделя дошла до пятницы и чем её стоило проверять.</a:t>
            </a:r>
          </a:p>
          <a:p/>
          <a:p>
            <a:r>
              <a:t>Если спросят, не повтор ли это первого случая: там мы решали, подключать ли вообще и с какими правами. Здесь сервер уже подключён и собран честно — ломается другое: разница между «процесс поднялся» и «агент обратился к серверу».</a:t>
            </a:r>
          </a:p>
          <a:p/>
          <a:p>
            <a:r>
              <a:t>Если спросят, зачем отдельный кейс на это: интуиция здесь ошибается систематически — зелёный индикатор читается как «агент пользуется сервером», а индикатор по конструкции отвечает только за процесс.</a:t>
            </a:r>
          </a:p>
          <a:p/>
          <a:p>
            <a:r>
              <a:t>Если спросят, понадобится ли это тому, у кого один-единственный сервер: да, ровно в той же мере — число серверов не меняет механику статуса.</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та же неделя изнутри, с понедельника.</a:t>
            </a:r>
          </a:p>
          <a:p/>
          <a:p>
            <a:r>
              <a:t>Сервер доступа к трекеру — тот самый, что мы собрали в прошлом кейсе, — стоит две недели. В понедельник разработчик просит агента разобрать входящие задачи за выходные и подготовить черновики. Ответ звучит как итог работы.</a:t>
            </a:r>
          </a:p>
          <a:p/>
          <a:p>
            <a:r>
              <a:t>Вторник, среда, четверг — то же самое каждое утро. Ответы разные: «всё сделал», «новых задач не нашёл», «во входящих пусто». Все три звучат честно, и он пересылает их заказчику.</a:t>
            </a:r>
          </a:p>
          <a:p/>
          <a:p>
            <a:r>
              <a:t>Он не сидел сложа руки. В среду посмотрел статус подробнее, в четверг спросил агента напрямую, почему тот считает, что задач нет. Всё сошлось.</a:t>
            </a:r>
          </a:p>
          <a:p/>
          <a:p>
            <a:r>
              <a:t>В пятницу заказчик спрашивает про задачу, которую завёл во вторник. В репозитории за неделю — ни черновика, ни комментария. Пять дней ответов, собранных из общих соображений о том, что обычно лежит в трекере.</a:t>
            </a:r>
          </a:p>
          <a:p/>
          <a:p>
            <a:r>
              <a:t>Если спросят, почему три реплики: чтобы снять ложное чувство, что проблема во лжи агента. «Не нашёл» и «пусто» звучат честно, но ни одна из трёх реплик не наблюдение за сервером — агент мог ни разу к нему не обратиться и ответить по смыслу задачи.</a:t>
            </a:r>
          </a:p>
          <a:p/>
          <a:p>
            <a:r>
              <a:t>Если спросят, почему неделя прошла незамеченной: такой сбой не даёт сигнала, по которому стоило бы пойти проверить раньше. Первым сигналом оказался заказчик.</a:t>
            </a:r>
          </a:p>
          <a:p/>
          <a:p>
            <a:r>
              <a:t>Если спросят, бывает ли наоборот — статус красный, а всё работает: формально да, временная сетевая ошибка на старте даёт ложный отказ. Это другой, более заметный класс сбоя: красный статус хотя бы привлекает внимание.</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из этих четырёх проверок он за неделю сделал — и остался без ответа. Выберите ту, которой ему не хватило, и скажите, чем она отличается от остальных трёх.</a:t>
            </a:r>
          </a:p>
          <a:p/>
          <a:p>
            <a:r>
              <a:t>Четыре карточки: ничего — статус зелёный; посмотреть, что именно показывает статус подробнее; спросить агента, почему он решил, что всё сделал; явно попросить агента обратиться к серверу по имени и показать вызов.</a:t>
            </a:r>
          </a:p>
          <a:p/>
          <a:p>
            <a:r>
              <a:t>Карточку назовут быстро. Важнее вторая половина вопроса: что эта проверка даёт такого, чего не дают три остальные?</a:t>
            </a:r>
          </a:p>
          <a:p/>
          <a:p>
            <a:r>
              <a:t>Если спросят, почему среди карточек нет «удалить и подключить заново» и «написать автору»: это реальные ходы, но не первые — к ним кейс возвращается в границе применимости, когда более дешёвые варианты уже не сработали.</a:t>
            </a:r>
          </a:p>
          <a:p/>
          <a:p>
            <a:r>
              <a:t>Если зал говорит «она надёжнее» или «она точнее»: попросите сказать конкретно, что именно появится на экране после неё, — ответ про видимый след и есть материал разбора.</a:t>
            </a:r>
          </a:p>
          <a:p/>
          <a:p>
            <a:r>
              <a:t>Если прозвучит «проблема в формулировке задачи, а сервер ни при чём»: придержите эту мысль — ровно это разбирается через слайд, и там видно, что одно от другого не отделяется.</a:t>
            </a:r>
          </a:p>
          <a:p/>
          <a:p>
            <a:r>
              <a:t>Если кто-то всерьёз выберет «ничего — статус зелёный»: это и есть то, что человек в сцене делал пять дней подряд; спросите, что он за эти пять дней получил.</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четыре. Ничего — статус зелёный — доказало ровно одно: процесс сервера поднят и ответил на рукопожатие. Обращался ли к нему агент в этой задаче — отдельный факт, статус его не несёт.</a:t>
            </a:r>
          </a:p>
          <a:p/>
          <a:p>
            <a:r>
              <a:t>Статус подробнее — сузил круг причин: различает «процесс не поднялся», «список инструментов не получен», «нужна авторизация». Вызывал ли агент сервер именно сейчас, и это не показывает.</a:t>
            </a:r>
          </a:p>
          <a:p/>
          <a:p>
            <a:r>
              <a:t>Вопрос агенту — иногда вскрывает причину сразу: агент признаётся, что не нашёл способа проверить и ответил по смыслу задачи. Но в ответ приходит пересказ его собственного понимания, наблюдения за транспортом в этом пересказе нет.</a:t>
            </a:r>
          </a:p>
          <a:p/>
          <a:p>
            <a:r>
              <a:t>Ни одна из трёх проверок не соврала. Каждая сказала правду о своём, и ни одна — о том, ради чего её делали. Работу агента с сервером доказывает четвёртая: вызов инструмента в выводе подписан именем сервера. Пять дней человек проверял — и проверял не то.</a:t>
            </a:r>
          </a:p>
          <a:p/>
          <a:p>
            <a:r>
              <a:t>А теперь про вас. Поднимите руку, у кого прямо сейчас подключён хоть один сервер. Теперь — у кого за последнюю неделю имя этого сервера появлялось в выводе агента. Разница между двумя руками и есть этот кейс.</a:t>
            </a:r>
          </a:p>
          <a:p/>
          <a:p>
            <a:r>
              <a:t>Если спросят, почему «спросить агента» вообще в списке, если ему нельзя верить: это дешёвый шаг, который иногда сразу вскрывает причину. Цена ошибки здесь в готовности остановиться на таком ответе.</a:t>
            </a:r>
          </a:p>
          <a:p/>
          <a:p>
            <a:r>
              <a:t>Если спросят, что считать «видимым следом»: строку вызова инструмента, подписанную именем сервера, в выводе той же сессии — её видно без дополнительных команд.</a:t>
            </a:r>
          </a:p>
          <a:p/>
          <a:p>
            <a:r>
              <a:t>Если спросят, почему тогда не проверять именованным вызовом всё подряд: он стоит одной строки в запросе, и при подозрении на тишину его стоит делать всегда; общая привычка называть сервер по имени разбирается на следующих двух слайдах.</a:t>
            </a:r>
          </a:p>
          <a:p/>
          <a:p>
            <a:r>
              <a:t>Если спросят, можно ли было заметить раньше без всякой проверки: заказчик и оказался тем, кто заметил, — пять дней это единственный сигнал, который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сам приём. Команда статуса — </a:t>
            </a:r>
            <a:r>
              <a:rPr>
                <a:latin typeface="Consolas"/>
              </a:rPr>
              <a:t>claude mcp list</a:t>
            </a:r>
            <a:r>
              <a:t> из терминала или </a:t>
            </a:r>
            <a:r>
              <a:rPr>
                <a:latin typeface="Consolas"/>
              </a:rPr>
              <a:t>/mcp</a:t>
            </a:r>
            <a:r>
              <a:t> внутри сессии — различает больше, чем одно слово «подключено»: отдельно видно, поднялся ли сам процесс и удалось ли получить список инструментов. Это по-прежнему факт про процесс. Обращался ли к серверу агент в конкретной задаче — статус об этом не знает. Это два разных факта, и путают их постоянно, в том числе люди опытные.</a:t>
            </a:r>
          </a:p>
          <a:p/>
          <a:p>
            <a:r>
              <a:t>Минимальное доказательство — явное упоминание сервера в запросе: «используя сервер такой-то, узнай…». Признак, что ответ пришёл именно оттуда, — вызов инструмента в выводе подписан именем сервера. Тот же механизм мы видели на одностраничнике MCP в начале блока: ответ сервера идёт отдельным каналом и подписывается его именем.</a:t>
            </a:r>
          </a:p>
          <a:p/>
          <a:p>
            <a:r>
              <a:t>И отдельно: долгий ответ не всегда сбой. Запуск сервера и выполнение уже начатого вызова идут по разным часам, второе объективно дольше.</a:t>
            </a:r>
          </a:p>
          <a:p/>
          <a:p>
            <a:r>
              <a:t>Если спросят про статусы подробнее — коды, которые реально возвращает </a:t>
            </a:r>
            <a:r>
              <a:rPr>
                <a:latin typeface="Consolas"/>
              </a:rPr>
              <a:t>claude mcp list</a:t>
            </a:r>
            <a:r>
              <a:t>: кроме «Connected» продукт различает отдельно «Connected, но список инструментов получить не удалось», «нужна авторизация», «не удалось подключиться» и «ждёт одобрения проекта» — это задокументированные, не гипотетические состояния, но для кейса важно не перечисление кодов — то, что ни один из них не отвечает на вопрос «обращался ли агент к серверу».</a:t>
            </a:r>
          </a:p>
          <a:p/>
          <a:p>
            <a:r>
              <a:t>Если спросят про цифры тайм-аутов точнее: старт сервера ждёт тридцать секунд по умолчанию — частая ложная тревога, пока пакет ещё качается; выполнение уже вызванного инструмента — около суток. Переподключение после сбоя тоже устроено по-разному: удалённый сервер переподключается сам, локальный процесс — нет, нужна новая сессия или команда </a:t>
            </a:r>
            <a:r>
              <a:rPr>
                <a:latin typeface="Consolas"/>
              </a:rPr>
              <a:t>Reconnect</a:t>
            </a:r>
            <a:r>
              <a:t> из </a:t>
            </a:r>
            <a:r>
              <a:rPr>
                <a:latin typeface="Consolas"/>
              </a:rPr>
              <a:t>/mcp</a:t>
            </a:r>
            <a:r>
              <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 часть проверки. Вернитесь к понедельнику той мёртвой недели: «посмотри, что скопилось, и подготовь черновики» — ровно та просьба, после которой проверять нечего. Она оставляет агенту выбор: он может честно попытаться вызвать сервер, а может ответить по смыслу задачи, ни разу к нему не обратившись. Оба случая выглядят как одинаковый ответ.</a:t>
            </a:r>
          </a:p>
          <a:p/>
          <a:p>
            <a:r>
              <a:t>Явное имя сервера в тексте запроса — «используя сервер трекера, выведи список открытых задач» — и есть доказательный вызов с прошлого слайда, применённый к формулировке. После такой просьбы есть что проверить: вызов инструмента в выводе либо подписан именем сервера, либо нет.</a:t>
            </a:r>
          </a:p>
          <a:p/>
          <a:p>
            <a:r>
              <a:t>Если спросят, не слишком ли это узкая привычка для одной диагностики: нет, это общая формулировка задачи при работе с любым подключённым сервером, не только в момент подозрения — явное имя дешевле стоит, чем расследование постфактум.</a:t>
            </a:r>
          </a:p>
          <a:p/>
          <a:p>
            <a:r>
              <a:t>Если спросят, не раздражает ли агента такая прямая формулировка или не мешает ли она ему самому выбрать подходящий инструмент: нет — явное имя сервера не запрещает агенту делать что-то ещё, оно лишь однозначно называет, через какой канал должен пройти именно этот шаг.</a:t>
            </a:r>
          </a:p>
          <a:p/>
          <a:p>
            <a:r>
              <a:t>Если спросят, работает ли это и для менее срочных задач, не только при подозрении на сбой: да, это обычная формулировка — подозрение делает её необходимой, не только желательной.</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кейс не меняет конфигурацию: его решение процедурное, и честнее сказать это прямо. В тот же файл инструкций проекта, где уже живёт правило про ветки, добавляется короткая строка: после подключения любого сервера и после любого подозрения в тишине — явный именованный вызов, прежде чем доверять зелёному статусу. Та самая строка, которой не хватало в начале той недели.</a:t>
            </a:r>
          </a:p>
          <a:p/>
          <a:p>
            <a:r>
              <a:t>Почему именно в CLAUDE.md, не хуком, — вопрос честный, и ответ опирается на то, что мы уже видели в прошлом занятии. Там в одном и том же файле стояли рядом два разных вида правил: «Repository etiquette» — текст, который читает человек или агент и решает, следовать ли ему, и «Хук защиты ветки» — настоящий код, который срабатывает сам на git-команду, без участия решения в моменте. Хук умеет реагировать только на чётко описанное событие: команда, имя файла, код выхода. «После подозрения в тишине» — не такое событие: его нельзя заранее формально описать, оно требует, чтобы кто-то заметил и решил, что пора проверить. Вот почему это строка в CLAUDE.md, не механизм.</a:t>
            </a:r>
          </a:p>
          <a:p/>
          <a:p>
            <a:r>
              <a:t>Если спросят, не слабое ли это решение по сравнению с автоматическим барьером из первого кейса блока: да, оно слабее барьера именно по этой причине — и это честно: не каждая проблема решается механизмом, часть решается дисциплиной, записанной текстом.</a:t>
            </a:r>
          </a:p>
          <a:p/>
          <a:p>
            <a:r>
              <a:t>Если спросят, почему строка идёт именно в тот же файл, не в отдельный: проект уже выбрал этот файл местом для процедурных правил — повторное изобретение формата не нужно.</a:t>
            </a:r>
          </a:p>
          <a:p/>
          <a:p>
            <a:r>
              <a:t>Если спросят, что вообще такое CLAUDE.md, если кто-то пропустил прошлое занятие: это файл инструкций проекта, который читает агент в начале каждой сессии — то, что в нём написано, не исполняется автоматически, но агент это видит и обычно следует этому, в отличие от хука, который исполняется кодом независимо от того, прочитал его кто-то или нет.</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прежде чем идти дальше, — рассказываю по тому, к чему это привело, не по техническим внутренностям.</a:t>
            </a:r>
          </a:p>
          <a:p/>
          <a:p>
            <a:r>
              <a:t>Первый: команда работала с MCP-сервером для баз данных одного известного производителя в режиме, который считали ограниченным только чтением, — именно для того, чтобы агент не мог ничего испортить в чужой базе. На деле флаг этого режима не делал соединение реально ограниченным: разработчики сервера сами были уверены, что ограничение работает, пока кто-то не выполнил запрос с реальным побочным эффектом и не увидел, что он прошёл. Это и был единственный способ узнать — не чтение настройки.</a:t>
            </a:r>
          </a:p>
          <a:p/>
          <a:p>
            <a:r>
              <a:t>Второй — из нашего же проекта. Один из подключённых серверов однажды тихо потерял доступ: инструменты, которые вчера работали, перестали работать без предупреждения. Статус подключения продолжал показывать «подключён» — ничего не выглядело сломанным, пока кто-то реально не попробовал вызвать инструмент и не наткнулся на отказ входа. Причина — в настройке авторизации на стороне сервиса, не в самом подключении.</a:t>
            </a:r>
          </a:p>
          <a:p/>
          <a:p>
            <a:r>
              <a:t>Оба случая раскрылись одинаково — реальным действием с наблюдаемым результатом, не чтением настройки сервера.</a:t>
            </a:r>
          </a:p>
          <a:p/>
          <a:p>
            <a:r>
              <a:t>Если спросят, как часто такое случается: системных измерений частоты именно этого класса сбоя нет — честный пробел, но оба примера документированы: один как официальная уязвимость с номером (CVE-2026-61788, DBHub, CVSS 7,4 из 10 — флаг </a:t>
            </a:r>
            <a:r>
              <a:rPr>
                <a:latin typeface="Consolas"/>
              </a:rPr>
              <a:t>readonly</a:t>
            </a:r>
            <a:r>
              <a:t> у инструмента </a:t>
            </a:r>
            <a:r>
              <a:rPr>
                <a:latin typeface="Consolas"/>
              </a:rPr>
              <a:t>execute_sql</a:t>
            </a:r>
            <a:r>
              <a:t> ссылался на поле конфигурации, которое никогда не заполнялось), другой — как реальный инцидент этого же проекта (</a:t>
            </a:r>
            <a:r>
              <a:rPr>
                <a:latin typeface="Consolas"/>
              </a:rPr>
              <a:t>workspace-mcp</a:t>
            </a:r>
            <a:r>
              <a:t>, </a:t>
            </a:r>
            <a:r>
              <a:rPr>
                <a:latin typeface="Consolas"/>
              </a:rPr>
              <a:t>[#49]</a:t>
            </a:r>
            <a:r>
              <a:t>: OAuth-приложение в статусе </a:t>
            </a:r>
            <a:r>
              <a:rPr>
                <a:latin typeface="Consolas"/>
              </a:rPr>
              <a:t>Testing</a:t>
            </a:r>
            <a:r>
              <a:t> автоматически отзывает </a:t>
            </a:r>
            <a:r>
              <a:rPr>
                <a:latin typeface="Consolas"/>
              </a:rPr>
              <a:t>refresh_token</a:t>
            </a:r>
            <a:r>
              <a:t> через 7 дней без активности; в статусе </a:t>
            </a:r>
            <a:r>
              <a:rPr>
                <a:latin typeface="Consolas"/>
              </a:rPr>
              <a:t>In production</a:t>
            </a:r>
            <a:r>
              <a:t> тот же токен не отзывается вовсе).</a:t>
            </a:r>
          </a:p>
          <a:p/>
          <a:p>
            <a:r>
              <a:t>Если спросят, можно ли было поймать оба случая раньше: только реальным действием с наблюдаемым результатом, не чтением настройки сервера, — ровно то, чему учит этот кейс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Достаточно посмотреть на статус, если сервер используется нерегулярно и каждый вызов проходит под наблюдением человека.</a:t>
            </a:r>
          </a:p>
          <a:p/>
          <a:p>
            <a:r>
              <a:t>Довериться флагу, который сервер не может независимо подтвердить, не стоит никогда: его проверяют явным вызовом. Если задаче хватило бы режима только чтения, а сервер не даёт способа убедиться, что режим включён, — разумнее завести отдельную роль с урезанными правами на уровне самой базы данных. Права, выданные самой базой, держатся сами; обещание флага держится на честности сервера.</a:t>
            </a:r>
          </a:p>
          <a:p/>
          <a:p>
            <a:r>
              <a:t>Третья граница — там, где перестаёт работать сам приём этого кейса. Если явный вызов систематически не проходит и автор сервера молчит, дешёвые шаги исчерпаны: вопрос возвращается туда же, где решался первый кейс блока, — подключать ли сервер вообще.</a:t>
            </a:r>
          </a:p>
          <a:p/>
          <a:p>
            <a:r>
              <a:t>Мы научились проверять, что подключённое действительно работает. Следующий вопрос — чего стоит само присутствие сервера в проекте, пока к нему никто не обращается.</a:t>
            </a:r>
          </a:p>
          <a:p/>
          <a:p>
            <a:r>
              <a:t>Если спросят, не противоречит ли это выводу прошлого кейса, где мы вычёркивали права: нет, это следующий шаг того же рассуждения — там мы решали, какие права выдать, здесь — как проверить, что выданное действительно делает заявленное, и где эта проверка сама упирается в предел.</a:t>
            </a:r>
          </a:p>
          <a:p/>
          <a:p>
            <a:r>
              <a:t>Если спросят про периодичность проверки: прямых измерений, как часто нужно перепроверять, не существует ни в одном источнике — структурный критерий тот же, что в прошлом кейсе: регулярность использования, не календарь.</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случай этого блока. Сессия только открыта, он ещё ничего не спросил — и часть контекста уже занята.</a:t>
            </a:r>
          </a:p>
          <a:p/>
          <a:p>
            <a:r>
              <a:t>Занята она не разговором и не файлами проекта. Четыре подключённых сервера описали себя при старте: так устроено подключение, которое мы собрали в первом случае.</a:t>
            </a:r>
          </a:p>
          <a:p/>
          <a:p>
            <a:r>
              <a:t>За всю задачу он обратится к одному из четырёх. Плата внесена за все четыре. Разбираем, что с этим делать.</a:t>
            </a:r>
          </a:p>
          <a:p/>
          <a:p>
            <a:r>
              <a:t>---</a:t>
            </a:r>
          </a:p>
          <a:p/>
          <a:p>
            <a:r>
              <a:rPr b="1"/>
              <a:t>Справка.</a:t>
            </a:r>
          </a:p>
          <a:p/>
          <a:p>
            <a:r>
              <a:rPr i="1"/>
              <a:t>При чём тут предыдущие два случая.</a:t>
            </a:r>
            <a:r>
              <a:t> Первый был про то, что подключать и с какими правами. Второй — про то, как убедиться, что подключённое работает. Этот про счёт: во что обходится само присутствие сервера в проекте, пока к нему никто не обращается.</a:t>
            </a:r>
          </a:p>
          <a:p/>
          <a:p>
            <a:r>
              <a:rPr i="1"/>
              <a:t>Почему это не повтор слайда о постоянной плате.</a:t>
            </a:r>
            <a:r>
              <a:t> Там плата названа и измерена на одном сервере. Здесь серверов несколько, половину из них в проект добавил не он, и вопрос стоит иначе: чем эту плату уменьшают, не отключая нужное.</a:t>
            </a:r>
          </a:p>
          <a:p/>
          <a:p>
            <a:r>
              <a:rPr i="1"/>
              <a:t>Если прозвучит «так контекст же большой».</a:t>
            </a:r>
            <a:r>
              <a:t> Это и есть первая карточка вопроса через два экрана. Разбор показывает, в какой момент большого контекста перестаёт хватать и что именно съедает запас до начала работы.</a:t>
            </a:r>
          </a:p>
          <a:p/>
          <a:p>
            <a:r>
              <a:rPr i="1"/>
              <a:t>Если спросят, при чём тут вообще он, если серверы добавил коллега.</a:t>
            </a:r>
            <a:r>
              <a:t> Проектная область файла подключения — общая: её видит каждый, кто клонирует репозиторий. Мы это разбирали, когда выбирали, куда положить файл; здесь это свойство возвращается с другой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Трекер задач в проектном файле — его, из первого случая. Ещё три сервера дописал туда коллега под свою работу: браузер, база данных, сервер документации. Область проектная, значит эти три подключились и у него.</a:t>
            </a:r>
          </a:p>
          <a:p/>
          <a:p>
            <a:r>
              <a:t>Что он заметил: на длинной правке агент сжал разговор заметно раньше, чем на такой же задаче неделей раньше, и переспросил то, о чём договорились в начале.</a:t>
            </a:r>
          </a:p>
          <a:p/>
          <a:p>
            <a:r>
              <a:t>Он посмотрел, из чего набран контекст до его первого вопроса. Системная часть, файлы инструкций проекта, описания инструментов четырёх серверов. И в чужих строках — флаг </a:t>
            </a:r>
            <a:r>
              <a:rPr>
                <a:latin typeface="Consolas"/>
              </a:rPr>
              <a:t>alwaysLoad</a:t>
            </a:r>
            <a:r>
              <a:t> у двух серверов: отложенная загрузка описаний для них отменена, все их инструменты описываются при старте. Коллега поставил его, чтобы инструменты не терялись.</a:t>
            </a:r>
          </a:p>
          <a:p/>
          <a:p>
            <a:r>
              <a:t>Цена: час на то, чтобы заново проговорить решения, потерянные при сжатии. Одна правка успела уехать в ветку по решению, которое он уже отменил.</a:t>
            </a:r>
          </a:p>
          <a:p/>
          <a:p>
            <a:r>
              <a:t>И счёт: за всю задачу он обратился к одному серверу из четырёх.</a:t>
            </a:r>
          </a:p>
          <a:p/>
          <a:p>
            <a:r>
              <a:t>---</a:t>
            </a:r>
          </a:p>
          <a:p/>
          <a:p>
            <a:r>
              <a:rPr b="1"/>
              <a:t>Справка.</a:t>
            </a:r>
          </a:p>
          <a:p/>
          <a:p>
            <a:r>
              <a:rPr i="1"/>
              <a:t>Если спросят, не выдумка ли это.</a:t>
            </a:r>
            <a:r>
              <a:t> Сцена учебная, как и все сцены занятия: проект настоящий, ситуация собрана из типовых. Доли контекста здесь намеренно не названы — измеренные числа идут через два экрана, с источником.</a:t>
            </a:r>
          </a:p>
          <a:p/>
          <a:p>
            <a:r>
              <a:rPr i="1"/>
              <a:t>Если спросят, откуда у коллеги право дописывать в его файл.</a:t>
            </a:r>
            <a:r>
              <a:t> Это один файл проекта под общим управлением версиями. Проектная область на то и проектная: выбирая её в первом случае, мы покупали ровно это свойство — подключение едет вместе с репозиторием.</a:t>
            </a:r>
          </a:p>
          <a:p/>
          <a:p>
            <a:r>
              <a:rPr i="1"/>
              <a:t>Если спросят, точно ли сжатие пришло из-за серверов.</a:t>
            </a:r>
            <a:r>
              <a:t> Сжатие приходит, когда контекст заполнен, и описания инструментов — одна из статей заполнения, занятая до начала работы. Доля каждой статьи у каждого своя; проверяется она тем же способом, которым он и посмотрел.</a:t>
            </a:r>
          </a:p>
          <a:p/>
          <a:p>
            <a:r>
              <a:rPr i="1"/>
              <a:t>Если спросят, зачем вообще нужен флаг `alwaysLoad`.</a:t>
            </a:r>
            <a:r>
              <a:t> У него есть законное применение: инструмент, который нужен буквально на каждом шаге, дешевле описать один раз при старте, чем подтягивать по требованию. Документация при этом прямо называет цену — каждый описанный вперёд инструмент занимает место, которое иначе досталось бы разговору.</a:t>
            </a:r>
          </a:p>
          <a:p/>
          <a:p>
            <a:r>
              <a:rPr i="1"/>
              <a:t>Если спросят, что было бы без чужих трёх серверов.</a:t>
            </a:r>
            <a:r>
              <a:t> Один сервер тоже вносит плату, и первый случай её измерил. Разница в том, что на четырёх она перестаёт быть незаметной, а половину из них в проект добавил не тот человек, который за них платит контекстом.</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сервера подключены проектным файлом, за задачу понадобился один. Что вы ставите первым шагом — и что добавляете к этому следующим?</a:t>
            </a:r>
          </a:p>
          <a:p/>
          <a:p>
            <a:r>
              <a:t>Пять карточек: ничего — контекст большой, хватит; отключить серверы, которыми не пользуетесь; оставить подключёнными, но получать описания по требованию; держать набор серверов под задачу, не общий проектный; чаще сжимать разговор.</a:t>
            </a:r>
          </a:p>
          <a:p/>
          <a:p>
            <a:r>
              <a:t>Держите в голове счёт со сцены: обращение за всю задачу было к одному серверу, плата внесена за четыре.</a:t>
            </a:r>
          </a:p>
          <a:p/>
          <a:p>
            <a:r>
              <a:t>---</a:t>
            </a:r>
          </a:p>
          <a:p/>
          <a:p>
            <a:r>
              <a:rPr b="1"/>
              <a:t>Справка.</a:t>
            </a:r>
          </a:p>
          <a:p/>
          <a:p>
            <a:r>
              <a:rPr i="1"/>
              <a:t>Если зал разделится между «отключить лишние» и «описания по требованию».</a:t>
            </a:r>
            <a:r>
              <a:t> Это и есть материал разбора: обе карточки работают, но стоят разного — одна требует заранее знать, что понадобится, вторая не требует ничего и часто уже включена. Деление принимаю, спор не развожу.</a:t>
            </a:r>
          </a:p>
          <a:p/>
          <a:p>
            <a:r>
              <a:rPr i="1"/>
              <a:t>Если прозвучит «сжимать чаще».</a:t>
            </a:r>
            <a:r>
              <a:t> Держу до разбора: там видно, что описания инструментов сжатием не уходят — они приходят в каждый новый контекст заново, отдельно от истории разговора.</a:t>
            </a:r>
          </a:p>
          <a:p/>
          <a:p>
            <a:r>
              <a:rPr i="1"/>
              <a:t>Если кто-то назовёт «ничего, контекст большой».</a:t>
            </a:r>
            <a:r>
              <a:t> Не спорьте сразу. Разбор делает это предметно: называет, сколько занимают описания в измеренном случае и в какой момент большого контекста перестаёт хватать.</a:t>
            </a:r>
          </a:p>
          <a:p/>
          <a:p>
            <a:r>
              <a:rPr i="1"/>
              <a:t>Если прозвучит «пусть коллега уберёт свои серверы».</a:t>
            </a:r>
            <a:r>
              <a:t> Законный ход, и он же хрупкий: серверы коллеге нужны, а проектный файл один. Разбор приводит его к четвёртой карточке — к набору под задачу.</a:t>
            </a:r>
          </a:p>
          <a:p/>
          <a:p>
            <a:r>
              <a:rPr i="1"/>
              <a:t>Если никто не выберет «ничего».</a:t>
            </a:r>
            <a:r>
              <a:t> Стоит назвать вслух: именно «ничего» и происходит по умолчанию у всех, кто ни разу не смотрел, из чего набран контекст его сессии до первого вопроса.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Сразу общее по всем пяти: платит подключённость. Сервер, к которому за сессию не обратились ни разу, стоит столько же, сколько рабочий. Поэтому вопрос «кто чем пользовался» счёт не уменьшает.</a:t>
            </a:r>
          </a:p>
          <a:p/>
          <a:p>
            <a:r>
              <a:t>«Ничего» на короткой задаче незаметно. Плата при этом внесена и держится весь сеанс: на длинной задаче сжатие приходит раньше, и часть решений уходит в пересказ.</a:t>
            </a:r>
          </a:p>
          <a:p/>
          <a:p>
            <a:r>
              <a:t>Отключить лишнее — снимает плату целиком, и это дороже, чем кажется: нужно заранее знать, что понадобится, а отключённый нужный сервер возвращает работу руками.</a:t>
            </a:r>
          </a:p>
          <a:p/>
          <a:p>
            <a:r>
              <a:t>Описания по требованию: при старте остаются имена и инструкция сервера, полную схему модель подтягивает, когда инструмент ей нужен. Это уже поведение по умолчанию, поэтому ваше действие здесь проверочное.</a:t>
            </a:r>
          </a:p>
          <a:p/>
          <a:p>
            <a:r>
              <a:t>Набор под задачу: личная область даёт свой набор, общий файл остаётся командным. Цена — вторая запись о том, что подключено.</a:t>
            </a:r>
          </a:p>
          <a:p/>
          <a:p>
            <a:r>
              <a:t>Сжатие описания инструментов не затрагивает: они приходят заново в каждый контекст.</a:t>
            </a:r>
          </a:p>
          <a:p/>
          <a:p>
            <a:r>
              <a:t>Отсюда порядок: сначала проверить режим, потом разобрать набор.</a:t>
            </a:r>
          </a:p>
          <a:p/>
          <a:p>
            <a:r>
              <a:t>---</a:t>
            </a:r>
          </a:p>
          <a:p/>
          <a:p>
            <a:r>
              <a:rPr b="1"/>
              <a:t>Справка.</a:t>
            </a:r>
          </a:p>
          <a:p/>
          <a:p>
            <a:r>
              <a:t>Если спросят, почему проверка стоит первой, а разбор набора — второй: проверка не требует ни согласования с командой, ни знания о том, что понадобится в следующей задаче, и закрывает половину счёта сразу. Разбор набора требует и того, и другого.</a:t>
            </a:r>
          </a:p>
          <a:p/>
          <a:p>
            <a:r>
              <a:t>Если спросят, нельзя ли просто вычистить чужие серверы из проектного файла: можно, но это решение команды: коллеге они нужны ровно так же, как вам трекер. Личная область решает то же самое, никому ничего не ломая.</a:t>
            </a:r>
          </a:p>
          <a:p/>
          <a:p>
            <a:r>
              <a:t>Если спросят, насколько велика экономия от получения описаний по требованию: измеренный порядок величины на следующем экране, вместе с источником. Там же названо, что остаётся в контексте даже после неё.</a:t>
            </a:r>
          </a:p>
          <a:p/>
          <a:p>
            <a:r>
              <a:t>Если спросят, не проще ли отключить вообще всё и подключать по необходимости: это рабочий режим для одиночной работы и плохой для общей: подключение из проектного файла приезжает вместе с репозиторием именно затем, чтобы каждый не собирал его заново.</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причина сжатия. Вот что лежит в контексте до вашего первого вопроса.</a:t>
            </a:r>
          </a:p>
          <a:p/>
          <a:p>
            <a:r>
              <a:t>Системная часть — от клиента: его инструкции и описания его собственных инструментов. Файлы инструкций проекта — из репозитория; их состав вы собрали сами за три занятия. И от каждого подключённого сервера две вещи: имена всех его инструментов и его инструкция о себе, обрезанная по две тысячи с небольшим символов.</a:t>
            </a:r>
          </a:p>
          <a:p/>
          <a:p>
            <a:r>
              <a:t>Полные схемы инструментов при старте не приходят: модель подтягивает схему, когда решает, что инструмент ей может понадобиться. Это поведение по умолчанию, и именно оно делает четвёртый подключённый сервер терпимым.</a:t>
            </a:r>
          </a:p>
          <a:p/>
          <a:p>
            <a:r>
              <a:t>Отменяется отсрочка двумя способами. Флаг </a:t>
            </a:r>
            <a:r>
              <a:rPr>
                <a:latin typeface="Consolas"/>
              </a:rPr>
              <a:t>alwaysLoad</a:t>
            </a:r>
            <a:r>
              <a:t> у отдельного сервера грузит все его схемы сразу — тот самый, который нашёлся в чужих строках. И переменная окружения, выключающая отложенную загрузку целиком.</a:t>
            </a:r>
          </a:p>
          <a:p/>
          <a:p>
            <a:r>
              <a:t>Когда отсрочки нет, счёт идёт по полным схемам: в замере — девяносто три определения, от сорока двух до пятидесяти пяти тысяч токенов, около двадцати одного процента контекста в двести тысяч. Та же цифра, которую мы назвали ценой подключения.</a:t>
            </a:r>
          </a:p>
          <a:p/>
          <a:p>
            <a:r>
              <a:t>---</a:t>
            </a:r>
          </a:p>
          <a:p/>
          <a:p>
            <a:r>
              <a:rPr b="1"/>
              <a:t>Справка.</a:t>
            </a:r>
          </a:p>
          <a:p/>
          <a:p>
            <a:r>
              <a:t>Если спросят, кто запрашивает у сервера этот список: клиент, сам, на уровне протокола, до того как модель вообще что-то увидела. Это та же механика, которую мы разбирали на одностраничнике.</a:t>
            </a:r>
          </a:p>
          <a:p/>
          <a:p>
            <a:r>
              <a:t>Если спросят, зачем обрезка по две тысячи символов: сервер может прислать инструкцию о себе любой длины, и без ограничения один разговорчивый сервер занял бы контекст в одиночку. Предел настраивается переменной, по умолчанию он есть.</a:t>
            </a:r>
          </a:p>
          <a:p/>
          <a:p>
            <a:r>
              <a:t>Если спросят, почему тогда вообще существует флаг </a:t>
            </a:r>
            <a:r>
              <a:rPr>
                <a:latin typeface="Consolas"/>
              </a:rPr>
              <a:t>alwaysLoad</a:t>
            </a:r>
            <a:r>
              <a:t>: для инструмента, который нужен буквально на каждом шаге, подтягивание схемы по требованию само стоит вызова. Документация называет цену прямо: каждый описанный вперёд инструмент занимает место, которое иначе досталось бы разговору.</a:t>
            </a:r>
          </a:p>
          <a:p/>
          <a:p>
            <a:r>
              <a:t>Если спросят, откуда цифра двадцать один процент: внешний разбор состава контекста на девяноста трёх определениях инструментов, 2026 год, тот же источник, что на слайде цены подключения. Это верхняя граница для режима без отсрочки, не цена каждой сессии, — так она и названа в обоих местах.</a:t>
            </a:r>
          </a:p>
          <a:p/>
          <a:p>
            <a:r>
              <a:t>Если спросят, как посмотреть это у себя: карточка сервера в сессии показывает, что он описал, а переменная окружения проверяется там же, где вы смотрите остальное окружение проекта.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он завёл в тот же день. Четыре строки, и первые две — проверка, не настройка.</a:t>
            </a:r>
          </a:p>
          <a:p/>
          <a:p>
            <a:r>
              <a:t>В проектном файле у двух серверов снят флаг принудительной загрузки описаний: теперь их схемы приходят по требованию. Переменная, выключающая отложенную загрузку, в окружении не выставлена; у неё есть и пороговое значение — пока определения занимают меньше названной доли контекста, они грузятся сразу.</a:t>
            </a:r>
          </a:p>
          <a:p/>
          <a:p>
            <a:r>
              <a:t>Третья строка — на стороне самого сервера: в команде запуска передаются только нужные наборы инструментов. Официальный сервер GitHub так и объясняет этот флаг — он снижает объём контекста. И сразу оговорка: флаги проверяйте по текущей версии. У того же сервера режим выдачи наборов по требованию существовал и был снят в мае прошлого года — поиск вам его ещё покажет.</a:t>
            </a:r>
          </a:p>
          <a:p/>
          <a:p>
            <a:r>
              <a:t>Четвёртая, единственная, которая требует работы: серверы под свою работу он перенёс в личную область. Проектный файл остался командным, чужие серверы из него никто не выбросил.</a:t>
            </a:r>
          </a:p>
          <a:p/>
          <a:p>
            <a:r>
              <a:t>В сцене было наоборот: флаг стоял, поставил его другой человек, а платил каждый, кто открывал сессию.</a:t>
            </a:r>
          </a:p>
          <a:p/>
          <a:p>
            <a:r>
              <a:t>---</a:t>
            </a:r>
          </a:p>
          <a:p/>
          <a:p>
            <a:r>
              <a:rPr b="1"/>
              <a:t>Справка.</a:t>
            </a:r>
          </a:p>
          <a:p/>
          <a:p>
            <a:r>
              <a:t>Если спросят про снятый режим подробнее: у официального сервера GitHub были флаг и переменная окружения, включавшие выдачу наборов по запросу модели, плюс три служебных инструмента для этого. Удалены одним запросом на внесение правок в мае 2026: двадцать четыре файла, пятьдесят одна строка добавлена, девятьсот сорок две удалены. Причина, названная автором, — долг по поддержке и то, что режим работал только локально. Вывода «так делать не нужно» там нет.</a:t>
            </a:r>
          </a:p>
          <a:p/>
          <a:p>
            <a:r>
              <a:t>Если спросят, зачем тогда об этом говорить: затем, что это обычная судьба флага. Поиск выдаёт страницу прежней версии, она читается как действующая инструкция, и проверить это можно одним способом — открыть описание текущей версии сервера.</a:t>
            </a:r>
          </a:p>
          <a:p/>
          <a:p>
            <a:r>
              <a:t>Если спросят, где лежит личная область: в том же файле настроек пользователя, который мы разбирали, выбирая, куда положить ключ.</a:t>
            </a:r>
          </a:p>
          <a:p/>
          <a:p>
            <a:r>
              <a:t>Если спросят, не проще ли держать всё в проектном файле: проще, пока наборы у всех совпадают. Как только работа разная, общий файл берёт с каждого плату за все работы сразу — это мы и увидели в сцене.</a:t>
            </a:r>
          </a:p>
          <a:p/>
          <a:p>
            <a:r>
              <a:t>Если спросят, что записывать рядом с оставленным флагом: какой инструмент требует загрузки при старте и почему его схема нужна на каждом шаге. Исключение без причины через месяц неотличимо от случайной строки.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то же самое, но не у нас и с источниками. Четыре случая, все прочитаны по первоисточнику.</a:t>
            </a:r>
          </a:p>
          <a:p/>
          <a:p>
            <a:r>
              <a:t>Первый: проблему назвал сам автор протокола. Определения инструментов перегружают контекст — так открывается его разбор. Взамен предложено представлять серверы кодовым интерфейсом, который агент читает по требованию; в разобранном примере — сто пятьдесят тысяч токенов против двух. Серверы при этом остались подключёнными.</a:t>
            </a:r>
          </a:p>
          <a:p/>
          <a:p>
            <a:r>
              <a:t>Второй, из документации того же производителя: набор из пяти известных серверов занимает около пятидесяти пяти тысяч токенов определений до начала работы. Та же цифра, которую мы называли ценой подключения, — теперь из второго независимого источника. Загрузка по требованию снимает больше восьмидесяти пяти процентов. И отдельно: точность выбора падает, когда инструментов больше тридцати-пятидесяти.</a:t>
            </a:r>
          </a:p>
          <a:p/>
          <a:p>
            <a:r>
              <a:t>Третий: команда сократила свой набор встроенных инструментов с сорока до тринадцати основных и замерила прирост — два-пять процентных пунктов.</a:t>
            </a:r>
          </a:p>
          <a:p/>
          <a:p>
            <a:r>
              <a:t>Четвёртый, обратный: другая команда попробовала подгружать инструменты по требованию и отказалась — смена набора на ходу обнуляет кэш и путает модель. Они маскируют лишние, оставляя определения на месте.</a:t>
            </a:r>
          </a:p>
          <a:p/>
          <a:p>
            <a:r>
              <a:t>Одинакового ответа у отрасли нет. Посмотрите, в каком режиме грузится у вас.</a:t>
            </a:r>
          </a:p>
          <a:p/>
          <a:p>
            <a:r>
              <a:t>---</a:t>
            </a:r>
          </a:p>
          <a:p/>
          <a:p>
            <a:r>
              <a:rPr b="1"/>
              <a:t>Справка.</a:t>
            </a:r>
          </a:p>
          <a:p/>
          <a:p>
            <a:r>
              <a:t>Если спросят, значит ли это, что от самого протокола отказываются: нет, и это стоит сказать прямо. Ни один из четырёх первоисточников серверы не снимает: речь всюду о том, в каком виде описания попадают в контекст. Формулировку «компании отказываются от MCP» ни один проверенный источник не подтверждает.</a:t>
            </a:r>
          </a:p>
          <a:p/>
          <a:p>
            <a:r>
              <a:t>Если спросят про пример со ста пятьюдесятью тысячами токенов: это конкретный разобранный в статье случай с двумя серверами, методика замера на странице не раскрыта. Как порядок величины он полезен, как отраслевая норма — нет, и статья этого не обещает.</a:t>
            </a:r>
          </a:p>
          <a:p/>
          <a:p>
            <a:r>
              <a:t>Если спросят, почему предел тридцать-пятьдесят инструментов важнее цены: потому что это уже не про деньги. Переполнение контекста стоит токенов, а падение точности выбора означает, что агент берёт неподходящий инструмент — и это заметно по результату, счёт тут молчит.</a:t>
            </a:r>
          </a:p>
          <a:p/>
          <a:p>
            <a:r>
              <a:t>Если спросят про четвёртый случай подробнее: причины названы две — определения инструментов лежат в начале контекста, поэтому любое изменение набора обнуляет кэш для всего, что идёт дальше; и модель путается, когда прошлые шаги ссылаются на инструмент, которого в текущем наборе уже нет.</a:t>
            </a:r>
          </a:p>
          <a:p/>
          <a:p>
            <a:r>
              <a:t>Если спросят, где это всё можно прочитать: ссылки и дословные цитаты собраны в материалах занятия, каждая с датой чтения страницы.</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Прямо: что держать подключённым. Сервер нужен в большинстве сессий проекта. Описания его инструментов приходят по требованию, и это проверено. Наборов у него столько, сколько нужно задаче.</a:t>
            </a:r>
          </a:p>
          <a:p/>
          <a:p>
            <a:r>
              <a:t>Справа — чего не делать никогда. Держать в общем проектном файле то, что нужно одному человеку: для этого есть личная область. Ставить флаг принудительной загрузки, не записав причину рядом. Полагаться на флаг, найденный поиском: его могли снять, и проверяется это по описанию текущей версии.</a:t>
            </a:r>
          </a:p>
          <a:p/>
          <a:p>
            <a:r>
              <a:t>И четвёртое, важнее остальных. Считать, что большой контекст снимает вопрос, не стоит: точность выбора инструмента падает, когда доступных больше тридцати-пятидесяти. Переполнение стоит токенов, а это стоит неподходящего инструмента — и видно по результату, где счёт молчит.</a:t>
            </a:r>
          </a:p>
          <a:p/>
          <a:p>
            <a:r>
              <a:t>Теперь в конфигурации пять файлов. Пятый дал агенту руки: под правами, которые мы вычеркнули сами, с проверкой, которую умеем делать, и по цене, которую теперь видим. Контекст у агента один и конечный. Следующий вопрос — что в него всё равно не помещается, когда работы становится больше.</a:t>
            </a:r>
          </a:p>
          <a:p/>
          <a:p>
            <a:r>
              <a:t>---</a:t>
            </a:r>
          </a:p>
          <a:p/>
          <a:p>
            <a:r>
              <a:rPr b="1"/>
              <a:t>Справка.</a:t>
            </a:r>
          </a:p>
          <a:p/>
          <a:p>
            <a:r>
              <a:t>Если спросят, как часто пересматривать набор серверов: по событию, не по календарю — когда добавляется новый сервер и когда задача проекта меняется. Тот же структурный критерий, что в двух предыдущих случаях блока.</a:t>
            </a:r>
          </a:p>
          <a:p/>
          <a:p>
            <a:r>
              <a:t>Если спросят, что делать с сервером, который нужен редко, но по-настоящему: держать его в личной области и подключать на время работы с ним. Плата идёт за подключённость, значит отключённый он не стоит ничего.</a:t>
            </a:r>
          </a:p>
          <a:p/>
          <a:p>
            <a:r>
              <a:t>Если спросят, чем кончилось у разработчика: два флага сняты, свои серверы он перенёс в личную область, в проектном файле осталось то, что нужно всей команде. Сжатие на следующей длинной задаче пришло позже, и это единственное, что он замерил, — так и стоит сказать, без выдуманного процента.</a:t>
            </a:r>
          </a:p>
          <a:p/>
          <a:p>
            <a:r>
              <a:t>Если спросят, относится ли предел тридцать-пятьдесят к серверам или к инструментам: к инструментам. Один сервер приносит и десять, и сорок инструментов, поэтому счёт ведут по инструментам, а решения принимают по серверам — и в этом расхождении легко недосчитаться.</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Доступ наружу у агента уже есть: сервер отдаёт ему то, чего в репозитории не было. Второй ход встречный: часть работы уходит отдельному исполнителю со своим контекстом, и стоит это ноль строчек настройки.</a:t>
            </a:r>
          </a:p>
          <a:p/>
          <a:p>
            <a:r>
              <a:t>Первая развилка ступени — цена поиска, который нужен, чтобы продолжить работу здесь же. Что с ней делать, спрошу через несколько экранов. Догадку, которая придёт вам сейчас, запомните: мы её проверим.</a:t>
            </a:r>
          </a:p>
          <a:p/>
          <a:p>
            <a:r>
              <a:t>Если спросят, при чём тут предыдущий блок: доступ наружу увеличивает то, что агент способен сделать сам за один присест, и вместе с объёмом работы растёт объём чтения, который эта работа втягивает в контекст сессии. Два хода встречные, а предел у них один и тот же.</a:t>
            </a:r>
          </a:p>
          <a:p/>
          <a:p>
            <a:r>
              <a:t>Если прозвучит «так ведь отдельный исполнитель просто прочитает быстрее» — не спорить и не подтверждать. Это та самая догадка, которую я прошу запомнить: записываю её вслух как версию зала и возвращаюсь к ней на разборе. Там её проверяет счёт файлов, и этого достаточно.</a:t>
            </a:r>
          </a:p>
          <a:p/>
          <a:p>
            <a:r>
              <a:t>Если спросят, почему развилка стоит раньше устройства роли: потому что следующие два экрана отвечают на вопрос «что это такое», а развилка задаёт вопрос «зачем». Устройство без причины запоминается как описание формата файла, и ровно на это указал владелец кругом раньше.</a:t>
            </a:r>
          </a:p>
          <a:p/>
          <a:p>
            <a:r>
              <a:t>Если спросят, сколько стоит само делегирование: заведение роли — ноль строчек настройки, это правда. Масштаб стоит иначе, и цифра для него стоит шестым блоком на одностраничнике, а подробности и честный пробел — в свидетельствах второго кейса ступени.</a:t>
            </a:r>
          </a:p>
          <a:p/>
          <a:p>
            <a:r>
              <a:t>Если спросят, откуда взялись сорок файлов: это сцена через три экрана, обычный продуктовый случай, где одно правило разъехалось по кодовой базе за два года. Число названо там и держится всем кейсом.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Сразу разведём два слова, которые дальше всё время стоят рядом.</a:t>
            </a:r>
          </a:p>
          <a:p/>
          <a:p>
            <a:r>
              <a:t>Агент — то, что работает в вашей сессии и с чем вы разговариваете. Роль (в документации — субагент) — отдельный исполнитель, которого агент зовёт под одну задачу.</a:t>
            </a:r>
          </a:p>
          <a:p/>
          <a:p>
            <a:r>
              <a:t>Верхний ярус вы уже считали в прошлом блоке — те же источники, здесь только сведённые по тому, кто</a:t>
            </a:r>
          </a:p>
          <a:p>
            <a:r>
              <a:t>их приносит. Системная часть от харнесса, файлы инструкций проекта, описания всех подключённых серверов целиком и четвёртое — разговор: задача, ответы агента и содержимое каждого прочитанного файла. Первые три вы не выбирали; четвёртое растёт с каждым открытым файлом. Здесь он нужен затем, чтобы сравнить два контекста.</a:t>
            </a:r>
          </a:p>
          <a:p/>
          <a:p>
            <a:r>
              <a:t>Нижний ярус — кто этот контекст держит. Слева ваша рабочая сессия: здесь лежит правка, сюда же нужен результат чтения. В середине роль: контекст свой, те же три верхние полосы, а вместо разговора — задача текстом. Сорок файлов лягут туда и закроются вместе с ролью, обратно уйдёт только итог — сам, без вашего участия.</a:t>
            </a:r>
          </a:p>
          <a:p/>
          <a:p>
            <a:r>
              <a:t>Справа — вторая сессия. Контекст у неё тоже свой, и рабочий остаётся чистым. Но обратного канала нет: ответ переносите вы, руками и своим пересказом.</a:t>
            </a:r>
          </a:p>
          <a:p/>
          <a:p>
            <a:r>
              <a:t>Если спросят, сколько ролей можно позвать: агент один, ролей он зовёт столько, сколько нужно; предел — в кейсе параллелизма.</a:t>
            </a:r>
          </a:p>
          <a:p/>
          <a:p>
            <a:r>
              <a:t>Если спросят, чем роль отличается от второй сессии по существу: тремя вещами, и все три на схеме. Итог возвращается сам, в тот контекст, где лежит работа. Поведение роли задано файлом, поэтому второй вызов повторяет первый. И права роли можно урезать списком — у второй сессии списка прав нет.</a:t>
            </a:r>
          </a:p>
          <a:p/>
          <a:p>
            <a:r>
              <a:t>Если спросят, зачем повторять верхний ярус, если его считали в блоке MCP: затем, что следующий ярус читается только рядом с ним — контекст роли собран из тех же статей, и видно это, только когда обе картинки стоят на одном экране.</a:t>
            </a:r>
          </a:p>
          <a:p/>
          <a:p>
            <a:r>
              <a:t>Если спросят, почему полосы верхнего яруса одинаковой ширины: потому что измеренной доли у нас нет. Постоянную плату за подключённые серверы занятие измерило в прошлом блоке, в токенах; остальные три источника на выборке никто не мерил. Нарисовать шкалу с долями было бы проще и было бы враньём.</a:t>
            </a:r>
          </a:p>
          <a:p/>
          <a:p>
            <a:r>
              <a:t>Если спросят, кто решает, звать роль по имени или дать модели выбрать самой: оба способа реальны, и устройство вызова — следующий экран целиком. Явный вызов снимает вопрос маршрутизации; выбор моделью зависит от того, насколько точно описание роли называет задачу.</a:t>
            </a:r>
          </a:p>
          <a:p/>
          <a:p>
            <a:r>
              <a:t>Если спросят, помнит ли роль прошлый вызов: не помнит. Каждый вызов поднимает контекст с нуля, между вызовами не переносится ничего. Это то же свойство, из которого первый кейс получает свою пользу, прочитанное с другой стороны: контекст одноразовый и потому чистый.</a:t>
            </a:r>
          </a:p>
          <a:p/>
          <a:p>
            <a:r>
              <a:t>Если спросят, какая часть схемы важнее для сегодняшнего кейса: золотая стрелка. Именно из «итог возвращается сам, туда, где лежит работа» следует всё, что мы будем считать через три экрана.</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кейсы — вся роль сразу, шесть частей. К этому экрану я возвращаюсь всю ступень.</a:t>
            </a:r>
          </a:p>
          <a:p/>
          <a:p>
            <a:r>
              <a:t>Где объявляется — файл </a:t>
            </a:r>
            <a:r>
              <a:rPr>
                <a:latin typeface="Consolas"/>
              </a:rPr>
              <a:t>.claude/agents/&lt;имя&gt;.md</a:t>
            </a:r>
            <a:r>
              <a:t> в репозитории. </a:t>
            </a:r>
            <a:r>
              <a:rPr>
                <a:latin typeface="Consolas"/>
              </a:rPr>
              <a:t>name</a:t>
            </a:r>
            <a:r>
              <a:t> — по нему роль зовут явно. </a:t>
            </a:r>
            <a:r>
              <a:rPr>
                <a:latin typeface="Consolas"/>
              </a:rPr>
              <a:t>description</a:t>
            </a:r>
            <a:r>
              <a:t> — когда её звать и когда нет, это читает автовыбор. </a:t>
            </a:r>
            <a:r>
              <a:rPr>
                <a:latin typeface="Consolas"/>
              </a:rPr>
              <a:t>tools</a:t>
            </a:r>
            <a:r>
              <a:t> — список прав, необязательный. Тело файла — системный промпт роли целиком.</a:t>
            </a:r>
          </a:p>
          <a:p/>
          <a:p>
            <a:r>
              <a:t>Как позвать: явно, через </a:t>
            </a:r>
            <a:r>
              <a:rPr>
                <a:latin typeface="Consolas"/>
              </a:rPr>
              <a:t>@agent-&lt;имя&gt;</a:t>
            </a:r>
            <a:r>
              <a:t>, либо не писать ничего — тогда выбирает модель, по описанию. Кого позвали на самом деле, видно по строке в чате: имя роли и задача в скобках. Стоит </a:t>
            </a:r>
            <a:r>
              <a:rPr>
                <a:latin typeface="Consolas"/>
              </a:rPr>
              <a:t>general-purpose</a:t>
            </a:r>
            <a:r>
              <a:t> — роль не вызвали вовсе.</a:t>
            </a:r>
          </a:p>
          <a:p/>
          <a:p>
            <a:r>
              <a:t>Вход, блок третий: собственный промпт роли, задача от вызывающей сессии, иерархия файлов инструкций, снимок репозитория. Переписки сессии там нет — канала для неё не существует.</a:t>
            </a:r>
          </a:p>
          <a:p/>
          <a:p>
            <a:r>
              <a:t>Выход, блок четвёртый: только итог. Промежуточные вызовы вызвавшей сессии не видны, канал односторонний.</a:t>
            </a:r>
          </a:p>
          <a:p/>
          <a:p>
            <a:r>
              <a:t>Пятый — три состояния списка прав. Поля нет вовсе: роль получает все инструменты. Список указан и пуст: ни одного, но роль живая. Запись не резолвится: роль не запускается. Интуиция эти три исхода обычно путает.</a:t>
            </a:r>
          </a:p>
          <a:p/>
          <a:p>
            <a:r>
              <a:t>Шестой — чем оплачивается. Делегирование стоит токенов заметно больше обычного чата; число и честный пробел — в свидетельствах второго кейса ступени.</a:t>
            </a:r>
          </a:p>
          <a:p/>
          <a:p>
            <a:r>
              <a:t>Если спросят, почему маршрутизацию решает описание: модель читает его как условие «когда эту роль звать и когда нет». Название она не интерпретирует вовсе, поэтому слово «ревьюер» в имени роли для автовыбора не значит ничего.</a:t>
            </a:r>
          </a:p>
          <a:p/>
          <a:p>
            <a:r>
              <a:t>Если спросят, что именно доказывает строка в чате: ровно одно — харнесс решил позвать эту роль. Правильность её работы строка не подтверждает; это разные вопросы, и ко второму мы вернёмся на провале третьего кейса. Зато она разводит два разных случая: «роль отработала не так» и «роль вообще не вызывали».</a:t>
            </a:r>
          </a:p>
          <a:p/>
          <a:p>
            <a:r>
              <a:t>Если спросят, чего физически нет на входе: истории переписки, файлов, которые уже прочитал агент вызвавшей сессии, и её автопамяти. Это свойство устройства, не дисциплина автора роли — канала для них попросту нет. По той же причине агент не видит промежуточных действий роли: задача передаётся один раз, итог возвращается один раз, диалога между ними не бывает.</a:t>
            </a:r>
          </a:p>
          <a:p/>
          <a:p>
            <a:r>
              <a:t>Если спросят про исключение «форк»: есть режим, который наследует всё целиком — тот же промпт, те же права, всю историю. Мы им сегодня не пользуемся, но путать его с обычным вызовом не стоит: изоляции контекста у форка нет вовсе.</a:t>
            </a:r>
          </a:p>
          <a:p/>
          <a:p>
            <a:r>
              <a:t>Если спросят, можно ли отнять право частично — «читать всё, кроме одного каталога»: этим механизмом нельзя. Он работает на уровне целого инструмента, не действия внутри него.</a:t>
            </a:r>
          </a:p>
          <a:p/>
          <a:p>
            <a:r>
              <a:t>Если спросят, где поле прав заполняют на практике: сегодня мы его не собираем — ступень разбирает три другие развилки. Само поле стоит здесь, в первом блоке экрана, с настоящими значениями; что даёт каждое из трёх его состояний — в пятом.</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Герой тот же — разработчик, который два занятия подряд заводил здесь хук и скилл. Продукт, в котором он работает каждый день: тарифы, участники, два года миграций. Задача дня обычная — завести тариф «Команда», двадцать участников вместо пяти.</a:t>
            </a:r>
          </a:p>
          <a:p/>
          <a:p>
            <a:r>
              <a:t>Утром он открывает сессию и минут пятнадцать объясняет задачу: как тариф называется, кому доступен, что делать со старыми аккаунтами, какие случаи проверить. Править они будут здесь.</a:t>
            </a:r>
          </a:p>
          <a:p/>
          <a:p>
            <a:r>
              <a:t>Но прежде чем править, нужен список: где лимит участников вообще проверяется. Пропустишь одно место — новый тариф пройдёт конфиг и упрётся в проверку, про которую никто уже не помнит.</a:t>
            </a:r>
          </a:p>
          <a:p/>
          <a:p>
            <a:r>
              <a:t>Агент ищет. Находит четыре места: middleware, конфиг тарифов, отдельная миграция для старых аккаунтов, клиентская проверка. Миграций пятнадцать, лимит менялся в трёх — листать приходится все. Сорок с лишним файлов, минут двадцать.</a:t>
            </a:r>
          </a:p>
          <a:p/>
          <a:p>
            <a:r>
              <a:t>Он говорит: теперь правь по этому списку. И агент переспрашивает то, что ему объясняли утром: как называется тариф и сколько в нём участников.</a:t>
            </a:r>
          </a:p>
          <a:p/>
          <a:p>
            <a:r>
              <a:t>Заметьте, за что он заплатил. Список верный, чтение быстрое. Сорок файлов влезли в контекст целиком и вытеснили задачу, ради которой сессию открывали. Это второй промах из начала занятия — вот он целиком.</a:t>
            </a:r>
          </a:p>
          <a:p/>
          <a:p>
            <a:r>
              <a:t>Если спросят прямо сейчас, почему он не открыл вторую сессию и не спросил там: потому что править будет эта. Вторая сессия ответ даст — и оставит его у себя; в рабочую вы переносите его руками и своим пересказом. Полностью разбираем через два экрана, вместе с четырьмя другими вариантами.</a:t>
            </a:r>
          </a:p>
          <a:p/>
          <a:p>
            <a:r>
              <a:t>Если спросят, почему тогда не перенести во вторую сессию всю работу целиком: потому что задача объяснена здесь, и объяснять её второй раз — ровно та потеря, которую мы считаем. Переезд не экономит, он платит ту же цену заранее.</a:t>
            </a:r>
          </a:p>
          <a:p/>
          <a:p>
            <a:r>
              <a:t>Если спросят, почему нельзя было сразу знать, где искать: потому что это обычная ситуация любого продукта, где правило менялось годами, мелкими правками. Документации, которая держала бы все четыре точки в одном месте, здесь никогда не было, и завести её задним числом стоит дороже, чем один раз прочитать сорок файлов.</a:t>
            </a:r>
          </a:p>
          <a:p/>
          <a:p>
            <a:r>
              <a:t>Если спросят, почему сцена не на демо-репозитории занятия: в нём файлов меньше десятка. Сцена на сорок файлов там была бы подогнана под вывод, а вывод от этого не стал бы вернее. Герой тот же, проект другой — и это сказано на экране прямо.</a:t>
            </a:r>
          </a:p>
          <a:p/>
          <a:p>
            <a:r>
              <a:t>Если спросят, почему цена — полчаса, когда чтения было двадцать минут: двадцать минут он потратил на дело, список был нужен. Полчаса ушло на то, чтобы заново сказать уже сказанное и вернуться в прерванную работу. Это единственная часть дня, которую можно было не тратить.</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править — известно. Где править — лежит в сорока файлах, из которых нужны четыре. Выберите карточку. И сразу вторым ходом: назовите вслух, за счёт чего она выигрывает.</a:t>
            </a:r>
          </a:p>
          <a:p/>
          <a:p>
            <a:r>
              <a:t>Вот это второе и есть моя просьба. Карточку мне покажут руки, а основание выбора я хочу услышать словами: что именно ваш вариант выигрывает у остальных четырёх. На следующем экране мы это основание проверим счётом файлов.</a:t>
            </a:r>
          </a:p>
          <a:p/>
          <a:p>
            <a:r>
              <a:t>---</a:t>
            </a:r>
          </a:p>
          <a:p/>
          <a:p>
            <a:r>
              <a:rPr b="1"/>
              <a:t>Справка.</a:t>
            </a:r>
          </a:p>
          <a:p/>
          <a:p>
            <a:r>
              <a:rPr i="1"/>
              <a:t>Если прозвучит «быстрее».</a:t>
            </a:r>
            <a:r>
              <a:t> А оно прозвучит — это самая обычная догадка на этом месте. Повторяю её вслух как версию зала и записываю на виду. Не спорю, не поправляю, не намекаю: весь следующий слайд ровно об этом, и без произнесённого «быстрее» ему нечего опровергать. Задавленная догадка возвращается через неделю целой.</a:t>
            </a:r>
          </a:p>
          <a:p/>
          <a:p>
            <a:r>
              <a:rPr i="1"/>
              <a:t>Если выберут вторую сессию.</a:t>
            </a:r>
            <a:r>
              <a:t> Принимаю всерьёз и благодарю: это первое, что приходит в голову любому, кто работает в двух вкладках. Прошу только добавить вслух, что произойдёт дальше, когда ответ получен, — ответ почти всегда приходит сам: «перенесу». Вот это слово и разбираем следующим экраном.</a:t>
            </a:r>
          </a:p>
          <a:p/>
          <a:p>
            <a:r>
              <a:rPr i="1"/>
              <a:t>Если выберут коллегу.</a:t>
            </a:r>
            <a:r>
              <a:t> Принимаю наравне с четвёртой карточкой: у обеих есть своя правда, и она разобрана на следующем экране построчно. Стоит сказать отдельно, что коллега — единственный вариант, способный ответить за минуту, и единственный, который зависит от чужого расписания.</a:t>
            </a:r>
          </a:p>
          <a:p/>
          <a:p>
            <a:r>
              <a:rPr i="1"/>
              <a:t>Если зал молчит и карточки не выбирает.</a:t>
            </a:r>
            <a:r>
              <a:t> Спрашиваю иначе: кто за последний месяц ловил себя на том, что просит агента найти, где в проекте живёт одно-единственное правило? Руки поднимаются, и после них карточка выбирается сама.</a:t>
            </a:r>
          </a:p>
          <a:p/>
          <a:p>
            <a:r>
              <a:rPr i="1"/>
              <a:t>Если спросят, можно ли выбрать две.</a:t>
            </a:r>
            <a:r>
              <a:t> Можно, и это честный ответ: в живой работе четвёртую совмещают с третьей — сначала роль, потом короткий разговор с тем, кто эти миграции писал. Прошу тогда назвать, какая из двух первая и почему.</a:t>
            </a:r>
          </a:p>
          <a:p/>
          <a:p>
            <a:r>
              <a:rPr i="1"/>
              <a:t>Если прозвучит ответ, которого нет на карточках</a:t>
            </a:r>
            <a:r>
              <a:t> — «спросить того, кто это писал», «посмотреть в истории коммитов», «записать вопрос скиллом на будущее»: записываю шестым вариантом и возвращаю на разборе. Карточки задают поле выбора; границей этого поля они не являются.</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того, что прозвучало. «Быстрее» — проверяем счётом, по строкам.</a:t>
            </a:r>
          </a:p>
          <a:p/>
          <a:p>
            <a:r>
              <a:t>Прочитать самому: полный контроль над порядком чтения, но контекст сессии занимает содержимое сорока файлов, из которых для правки нужны четыре. Вторая сессия: рабочий контекст остаётся чистым, и это правда — но список придётся переносить руками, а править агент будет по вашему пересказу. Условие про старые аккаунты выпадает из пересказа первым. Коллега: единственный вариант, способный ответить за минуту, и единственный, который зависит от чужого расписания. Роль: сорок файлов открываются и закрываются в её контексте, список приходит обратно сам. По памяти: мгновенно, но четвёртое место помнит не всякий из тех, кто его писал.</a:t>
            </a:r>
          </a:p>
          <a:p/>
          <a:p>
            <a:r>
              <a:t>Теперь про «быстрее». Роль открывает все сорок файлов и читает их целиком. Двадцать минут чтения остаются двадцатью минутами: ни одна строчка не читается быстрее оттого, что её читает другой процесс.</a:t>
            </a:r>
          </a:p>
          <a:p/>
          <a:p>
            <a:r>
              <a:t>Выигрыш лежит в двух других местах. Чтение остаётся в контексте роли, и этот контекст закрывается вместе с ней. А список возвращается туда, где лежит правка, — сам, без вашего пересказа. Вторая сессия даёт только первое из двух.</a:t>
            </a:r>
          </a:p>
          <a:p/>
          <a:p>
            <a:r>
              <a:t>Если спросят, зачем тогда вообще заводить роль, если время то же самое: ради того, что останется доступно дальше в этой же сессии. Двадцать минут чтения ушли на дело — список был нужен. Полчаса на повторное объяснение можно было не тратить вовсе, и экономит роль именно их. Механика разделения — на схеме базы ступени и на одностраничнике «Роль целиком», блоки третий и четвёртый.</a:t>
            </a:r>
          </a:p>
          <a:p/>
          <a:p>
            <a:r>
              <a:t>Если прозвучит «пересказ — ерунда, я просто скопирую ответ целиком»: тогда вы скопируете в рабочий контекст ровно то, от чего уходили, плюс потратите своё время на передачу. Чем короче то, что вы переносите, тем больше в нём потеряно; чем длиннее — тем меньше смысла было уносить чтение.</a:t>
            </a:r>
          </a:p>
          <a:p/>
          <a:p>
            <a:r>
              <a:t>Если прозвучит «а если запустить несколько ролей разом, тогда быстрее?»: тогда да, и это следующий кейс ступени целиком. Но быстрее там становится очередь из нескольких независимых задач; чтение одного вопроса остаётся тем же. Для одного поиска по сорока файлам выигрыша по времени нет ни при каком числе ролей.</a:t>
            </a:r>
          </a:p>
          <a:p/>
          <a:p>
            <a:r>
              <a:t>Если спросят, почему коллега вынесен в отдельную строку, если это не инструмент: потому что в жизни он первый кандидат и часто правильный. Строка нужна, чтобы это было сказано вслух: иначе вариант выглядит забытым.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Документация харнесса об устройстве контекста приводит свой пример: роль прочитала 6100 токенов файлов, вы получили итог в 420 токенов — это и есть экономия контекста. Разница на порядок, и направление то же самое, что мы сейчас получили счётом: сорок файлов остаются в контексте роли, в сессию приходит только итог.</a:t>
            </a:r>
          </a:p>
          <a:p/>
          <a:p>
            <a:r>
              <a:t>Но это один показательный сценарий автора документации, не измерение по множеству прогонов. И здесь же честный пробел: сколько контекста экономит делегирование по сравнению с той же работой в основной сессии, по измерению на выборке, не нашлось ни у одного источника. Пример его не закрывает — он его иллюстрирует числом.</a:t>
            </a:r>
          </a:p>
          <a:p/>
          <a:p>
            <a:r>
              <a:t>Если спросят, почему тогда вообще его показывать, если это не измерение: потому что направление и порядок величины реальны и подтверждены механикой предыдущего слайда. Нечестным было бы подать иллюстрацию за статистику молча; здесь её природа названа прямо, и этого достаточно, чтобы пользоваться числом как ориентиром. Доказательством оно не работает.</a:t>
            </a:r>
          </a:p>
          <a:p/>
          <a:p>
            <a:r>
              <a:t>Если спросят, что именно считалось бы честным измерением: один и тот же вопрос, прогнанный в двух режимах на выборке настоящих сессий — чтение в рабочей сессии против делегирования, — с замером занятой доли контекста в обоих. Такой работы в открытых источниках нет; если кто-то из вас её сделает на своём проекте, это ровно та цифра, которой курсу не хватает.</a:t>
            </a:r>
          </a:p>
          <a:p/>
          <a:p>
            <a:r>
              <a:t>Если спросят, не слишком ли удобно число 6100 к 420: оно и подобрано автором документации под иллюстрацию, об этом и подпись на экране. Доверять стоит порядку величины — разнице в десятки раз. Вторая значащая цифра здесь ничего не значит, и спорить о ней смысла нет.</a:t>
            </a:r>
          </a:p>
          <a:p/>
          <a:p>
            <a:r>
              <a:t>Если спросят, зависит ли экономия от размера ответа роли: зависит прямо. Роль, которую просят вернуть короткий вывод, возвращает сотни токенов; роль, которую просят пересказать прочитанное, вернёт тысячи, и экономия съедается форматом ответа. Это же соображение стоит за критерием через два экрана.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Контекст роли чище вашего, но не чист от всего подряд. Свой промпт и свежее начало она получает — и вместе с ними, по умолчанию, описания всех подключённых серверов целиком, даже тех, что её задаче не нужны. Это третья полоса нашей схемы — она наследуется.</a:t>
            </a:r>
          </a:p>
          <a:p/>
          <a:p>
            <a:r>
              <a:t>Дословно из документации по устранению ошибок: роли наследуют каждое описание инструмента из вызвавшей сессии, и это может заполнить их контекст ещё до первого шага — отключайте серверы, которыми не пользуетесь, прежде чем заводить роли.</a:t>
            </a:r>
          </a:p>
          <a:p/>
          <a:p>
            <a:r>
              <a:t>Фокус работает для содержимого репозитория. За подключёнными серверами следят отдельно — тем же списком прав, который стоит пятым блоком на одностраничнике.</a:t>
            </a:r>
          </a:p>
          <a:p/>
          <a:p>
            <a:r>
              <a:t>Если спросят, почему это не противоречит прошлым слайдам: не противоречит, оба про один контракт. Этот называет то, что входит в контракт дополнительно и по умолчанию, помимо желания автора роли. Экономия контекста остаётся, просто считается с этой оговоркой.</a:t>
            </a:r>
          </a:p>
          <a:p/>
          <a:p>
            <a:r>
              <a:t>Если спросят, сколько это стоит: цифру зал уже видел в прошлом блоке занятия, там постоянная плата за подключённые серверы измерена в токенах и в доле контекста. Здесь важно другое: эта плата вносится ещё раз, отдельно, в контекст каждой заведённой роли.</a:t>
            </a:r>
          </a:p>
          <a:p/>
          <a:p>
            <a:r>
              <a:t>Если спросят, можно ли подключить сервер только роли, не трогая сессию: можно, и это обратный приём той же механики. Роль умеет объявить нужный ей сервер у себя — он поднимается на её старте и отключается на её завершении, а контекст вызвавшей сессии его описаний не видит вовсе. Для тяжёлого сервера, нужного одной задаче, это дешевле, чем держать его подключённым всю сессию.</a:t>
            </a:r>
          </a:p>
          <a:p/>
          <a:p>
            <a:r>
              <a:t>Если спросят, относится ли то же к хукам и скиллам: механика у них своя, и сегодня мы её не разбираем. Здесь достаточно одного: отключение ненужных серверов — осознанный ход перед заведением роли. Разовая уборка в начале дня его не заменяет, потому что сессия обрастает серверами по ходу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Делегировать чтение имеет смысл, когда из десятков файлов нужно вынести короткий вывод: список мест в несколько строк, по которому дальше и работают. Сорок файлов поиска и четыре файла правки — ровно этот случай.</a:t>
            </a:r>
          </a:p>
          <a:p/>
          <a:p>
            <a:r>
              <a:t>Если дальше работать придётся со всем прочитанным объёмом — рефакторинг, который трогает те же сорок файлов, — читать их придётся в любом случае, и делать это в своём контексте тогда входит в саму работу: дальше с содержимым работать вам.</a:t>
            </a:r>
          </a:p>
          <a:p/>
          <a:p>
            <a:r>
              <a:t>Что мы заводим ради контекста — решаем по тому, что останется в контексте после ответа, и не по тому, сколько файлов пришлось открыть.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a:p/>
          <a:p>
            <a:r>
              <a:t>И к себе. Назовите про себя место в своём проекте, где перед правкой приходится искать по десяткам файлов, а находятся три-четыре строки. Назвали — вот первый кандидат на делегирование. А если править вы будете все эти же десятки файлов, кандидат не он.</a:t>
            </a:r>
          </a:p>
          <a:p/>
          <a:p>
            <a:r>
              <a:t>Если спросят про границу из прошлого слайда: тот же принцип применяется и к ней. Подключили роли лишние серверы — обратно всё равно вернётся только итог, но контекст роли будет занят раньше и сильнее, чем нужно. Экономия считается с этой оговоркой; критерий она оставляет в силе и уточняет только размер самой экономии.</a:t>
            </a:r>
          </a:p>
          <a:p/>
          <a:p>
            <a:r>
              <a:t>Если спросят, где именно проходит граница между «коротким выводом» и «работой со всем объёмом»: по тому, нужен ли вам дальше весь материал или адреса внутри него. Герою понадобились четыре места из сорока файлов; содержимое остальных тридцати шести не пригодилось бы ему больше никогда. Рефакторинг тех же сорока — другое дело: там содержимое и есть предмет работы.</a:t>
            </a:r>
          </a:p>
          <a:p/>
          <a:p>
            <a:r>
              <a:t>Если спросят, можно ли попросить роль вернуть пересказ прочитанного вместо вывода: технически можно, и экономия на этом кончается. Роль, которой велели пересказать сорок файлов, вернёт в ваш контекст те же сорок файлов, только своими словами. Формат ответа роли — часть критерия, не деталь оформления. Ровно та же арифметика, что со второй сессией: чем длиннее то, что возвращается, тем меньше смысла было уносить чтение.</a:t>
            </a:r>
          </a:p>
          <a:p/>
          <a:p>
            <a:r>
              <a:t>Если на вопрос «к себе» ответят вслух и спросят разбор: беру один пример, не больше, и проверяю его двумя пунктами критерия вслух. Остальные прошу держать при себе до следующего занятия — перенос на свои репозитории там и будет работой.</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Следующая развилка — практика. Задачу принесу я, раскладывать будем вместе, а решение, чем её ускорять, принимает зал.</a:t>
            </a:r>
          </a:p>
          <a:p/>
          <a:p>
            <a:r>
              <a:t>Средств для этого больше одного, и одно из них — то, о котором ступень: отдельный исполнитель. Остальные старше его и часто дешевле. Весь кейс о том, как между ними выбирают. Выбор этот делает сама задача, и увидеть его можно только разложив её.</a:t>
            </a:r>
          </a:p>
          <a:p/>
          <a:p>
            <a:r>
              <a:t>---</a:t>
            </a:r>
          </a:p>
          <a:p/>
          <a:p>
            <a:r>
              <a:rPr b="1"/>
              <a:t>Справка.</a:t>
            </a:r>
          </a:p>
          <a:p/>
          <a:p>
            <a:r>
              <a:rPr i="1"/>
              <a:t>Если прозвучит «а зачем раскладывать, если можно просто начать делать».</a:t>
            </a:r>
            <a:r>
              <a:t> Честный вопрос, и практика — развёрнутый ответ на него. Задача, взятая целиком, допускает один порядок работы: от начала к концу. Разложенная допускает несколько, и среди них бывает заметно короче. Увидеть это можно только после раскладки, поэтому она идёт первой.</a:t>
            </a:r>
          </a:p>
          <a:p/>
          <a:p>
            <a:r>
              <a:rPr i="1"/>
              <a:t>Если спросят, почему развилка задана вопросом.</a:t>
            </a:r>
            <a:r>
              <a:t> Потому что ответ на него у зала уже есть, и он наполовину верный. Ускорить получится, но средство придёт не с той стороны, с которой его ждут. Утверждение на развилке отняло бы у практики её работу; вопрос её оставляет.</a:t>
            </a:r>
          </a:p>
          <a:p/>
          <a:p>
            <a:r>
              <a:rPr i="1"/>
              <a:t>Если спросят, не повтор ли это прошлого кейса.</a:t>
            </a:r>
            <a:r>
              <a:t> Прошлый отвечал на вопрос «что делать, когда чтение под один ответ не помещается в контекст сессии»: исполнитель читает в своём контексте. Этот отвечает на другой: «что делать, когда задача одна, а срок у неё — понедельник». Общее у них одно — отдельный исполнитель как один из ходов; причины его завести разные, и границы у этих причин тоже разные.</a:t>
            </a:r>
          </a:p>
          <a:p/>
          <a:p>
            <a:r>
              <a:rPr i="1"/>
              <a:t>Чего на развилке нет.</a:t>
            </a:r>
            <a:r>
              <a:t> Нет слова «роль» и нет названия средства: развилка называет наблюдаемую проблему и не называет решения — то же соглашение, что на пяти остальных развилках занятия. Если кто-то уже произнёс слово «субагент» вслух, поправлять не нужно: к нему мы придём, просто это одна карточка из пяти.</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Пятница, без двадцати шесть. В чат приходит одна фраза: к понедельнику форма должна быть готова к рекламе. Это вся постановка, другой не будет.</a:t>
            </a:r>
          </a:p>
          <a:p/>
          <a:p>
            <a:r>
              <a:t>Первый ход за вами. Что в этой задаче лежит? Называйте кусками, я записываю на экран.</a:t>
            </a:r>
          </a:p>
          <a:p/>
          <a:p>
            <a:r>
              <a:t>Шесть. Теперь второй ход, и он весит больше первого: по каждому куску — от чего он зависит. Нужен ли ему итог другого куска. Лезет ли он в тот же файл, что сосед.</a:t>
            </a:r>
          </a:p>
          <a:p/>
          <a:p>
            <a:r>
              <a:t>И пока идёт второй ход, назовите вслух первое, что просится: сколько исполнителей вы бы завели на эти шесть кусков. Своё число запомните — через два экрана мы его проверим.</a:t>
            </a:r>
          </a:p>
          <a:p/>
          <a:p>
            <a:r>
              <a:t>Считаем, что вышло. Независимых кусков три из шести. Один ждёт, пока появится поле, — на узком экране нечего проверять, пока проверять не на чем. Один лезет в тот же файл, что и поле. Один повторяется после каждого из остальных.</a:t>
            </a:r>
          </a:p>
          <a:p/>
          <a:p>
            <a:r>
              <a:t>---</a:t>
            </a:r>
          </a:p>
          <a:p/>
          <a:p>
            <a:r>
              <a:rPr b="1"/>
              <a:t>Справка.</a:t>
            </a:r>
          </a:p>
          <a:p/>
          <a:p>
            <a:r>
              <a:rPr i="1"/>
              <a:t>Если зал назовёт другие куски.</a:t>
            </a:r>
            <a:r>
              <a:t> Это нормально и даже лучше: раскладка у каждого своя, и спорить о её составе полезнее, чем о числе. Держать нужно одно — чтобы по каждому названному куску прозвучал ответ на вопрос второго хода. Шесть строк на экране — опора на случай, если зал встанет; списывать с них нечего.</a:t>
            </a:r>
          </a:p>
          <a:p/>
          <a:p>
            <a:r>
              <a:rPr i="1"/>
              <a:t>Если спросят, почему прогон перед выкладкой попал в куски.</a:t>
            </a:r>
            <a:r>
              <a:t> Потому что его называют почти всегда, и это точный ответ: работа есть, время она занимает. Отличается он от соседей другим — он повторяется после каждого из них, то есть в задаче он стоит пять раз. На этом отличии держится одна из карточек следующего экрана.</a:t>
            </a:r>
          </a:p>
          <a:p/>
          <a:p>
            <a:r>
              <a:rPr i="1"/>
              <a:t>Если зал сразу назовёт средство вместо куска.</a:t>
            </a:r>
            <a:r>
              <a:t> Записать и вернуть к ходу: средство выбираем на следующем экране, здесь договариваемся, из чего задача состоит. Иначе выбор средства уедет вперёд раскладки, а именно раскладка его и решает.</a:t>
            </a:r>
          </a:p>
          <a:p/>
          <a:p>
            <a:r>
              <a:rPr i="1"/>
              <a:t>Если спросят, зачем называть число исполнителей вслух.</a:t>
            </a:r>
            <a:r>
              <a:t> Чтобы его было с чем сверить. Названное про себя число легко задним числом поправить; названное вслух остаётся. Через два экрана рядом с ним встанет число независимых кусков, и сверять будет что.</a:t>
            </a:r>
          </a:p>
          <a:p/>
          <a:p>
            <a:r>
              <a:rPr i="1"/>
              <a:t>Если зал молчит.</a:t>
            </a:r>
            <a:r>
              <a:t> Начать с конца: спросить, что обязано быть сделано к понедельнику, чтобы рекламу можно было запускать. Два куска из шести называются сразу, остальные подтягиваются за ними.</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разложена. Чем ускоряем? Выберите карточку — и назовите кусок, на котором ваше средство работает. Карточка без куска не считается: ровно в этой паре и лежит весь выбор.</a:t>
            </a:r>
          </a:p>
          <a:p/>
          <a:p>
            <a:r>
              <a:t>Пять средств. Отдельный исполнитель, о котором ступень, — одно из них, третья карточка слева. Остальные четыре старше его, и каждое из них на каком-то из наших шести кусков дешевле.</a:t>
            </a:r>
          </a:p>
          <a:p/>
          <a:p>
            <a:r>
              <a:t>Обоснование обязательно: назовите кусок и назовите, за счёт чего ваше средство на нём выигрывает.</a:t>
            </a:r>
          </a:p>
          <a:p/>
          <a:p>
            <a:r>
              <a:t>---</a:t>
            </a:r>
          </a:p>
          <a:p/>
          <a:p>
            <a:r>
              <a:rPr b="1"/>
              <a:t>Справка.</a:t>
            </a:r>
          </a:p>
          <a:p/>
          <a:p>
            <a:r>
              <a:rPr i="1"/>
              <a:t>Если прозвучит «роли, и на все куски сразу».</a:t>
            </a:r>
            <a:r>
              <a:t> Сильный ответ и честный — его называют чаще остальных, и ровно его через экран проверит разбор. Спорить сейчас не нужно. Если так ответили многие, тем лучше: зал и наш разработчик ошибутся одинаково, и дальше будет интереснее.</a:t>
            </a:r>
          </a:p>
          <a:p/>
          <a:p>
            <a:r>
              <a:rPr i="1"/>
              <a:t>Если прозвучит «сузить задачу».</a:t>
            </a:r>
            <a:r>
              <a:t> Недооценённый ход, и он единственный, который убирает работу вовсе. Стоит спросить у отвечающего, кто в его проекте имеет право сузить: чаще это не исполнитель, и тогда ход становится разговором о сроке.</a:t>
            </a:r>
          </a:p>
          <a:p/>
          <a:p>
            <a:r>
              <a:rPr i="1"/>
              <a:t>Если прозвучит «по очереди».</a:t>
            </a:r>
            <a:r>
              <a:t> Защитимо: порядок один и предсказуемый, ничего не сталкивается. Пусть отвечающий назовёт, на каком числе кусков его ответ начнёт проигрывать.</a:t>
            </a:r>
          </a:p>
          <a:p/>
          <a:p>
            <a:r>
              <a:rPr i="1"/>
              <a:t>Если прозвучит «несколько сессий».</a:t>
            </a:r>
            <a:r>
              <a:t> Спросить, что будет, когда две сессии дойдут до поля и до сообщений об ошибках: оба куска живут в одном файле. Это та развилка, про которую будет отдельный разговор дальше в занятии.</a:t>
            </a:r>
          </a:p>
          <a:p/>
          <a:p>
            <a:r>
              <a:rPr i="1"/>
              <a:t>Если зал выбирает молча.</a:t>
            </a:r>
            <a:r>
              <a:t> Просить обоснование нужно до разбора, не после: половина ценности голосования в том, что кусок и условие проговариваются вслух раньше, чем их назовёт разбор.</a:t>
            </a:r>
          </a:p>
          <a:p/>
          <a:p>
            <a:r>
              <a:rPr i="1"/>
              <a:t>Если спросят, можно ли выбрать две карточки.</a:t>
            </a:r>
            <a:r>
              <a:t> Нельзя, и это намеренно: карточка плюс кусок — уже полный ответ. Две карточки означают два куска, то есть две раскладки, и выбор перестаёт что-либо значить.</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Таблицу читать вслух я не буду, пройдём по решению.</a:t>
            </a:r>
          </a:p>
          <a:p/>
          <a:p>
            <a:r>
              <a:t>По очереди: порядок предсказуемый, но три независимых куска ждут друг друга без причины — ожидания складываются. Несколько сессий: куски идут одновременно, только поле и сообщения живут в одном файле, и две сессии в одной папке дойдут до него обе. Повторяемое в проверку: прогон перед выкладкой уходит из очереди совсем, писать её надо заранее и один раз. Сузить: для рекламы нужны поле и согласие, два куска из шести — и решает это тот, кто отвечает за срок.</a:t>
            </a:r>
          </a:p>
          <a:p/>
          <a:p>
            <a:r>
              <a:t>Роли работают на трёх независимых. А теперь поворот, ради которого кейс и собран. Ни одно из пяти средств не ускоряет все шесть кусков. Параллельность лежит в задаче, и в этой её ровно на три куска: роли берут её там, где она есть, и умножают ошибку там, где её нет.</a:t>
            </a:r>
          </a:p>
          <a:p/>
          <a:p>
            <a:r>
              <a:t>Поставьте рядом два числа. Исполнителей, которое вы назвали вслух. И независимых кусков — три.</a:t>
            </a:r>
          </a:p>
          <a:p/>
          <a:p>
            <a:r>
              <a:t>---</a:t>
            </a:r>
          </a:p>
          <a:p/>
          <a:p>
            <a:r>
              <a:rPr b="1"/>
              <a:t>Справка.</a:t>
            </a:r>
          </a:p>
          <a:p/>
          <a:p>
            <a:r>
              <a:rPr i="1"/>
              <a:t>Если спросят, как проверять независимость быстрее, чем мы это сделали.</a:t>
            </a:r>
            <a:r>
              <a:t> По-инженерному и дёшево: смотрим, пересекаются ли куски по файлам и нужен ли одному итог другого. Разные файлы и ни одной общей зависимости — независимы. Один и тот же файл, общий модуль или «сначала переименуем, потом поправим вызовы» — зависимы, и читать их дальше стоит уже не как параллельную работу.</a:t>
            </a:r>
          </a:p>
          <a:p/>
          <a:p>
            <a:r>
              <a:rPr i="1"/>
              <a:t>Если спросят, выходит ли, что число исполнителей вообще ни при чём.</a:t>
            </a:r>
            <a:r>
              <a:t> При чём, но вторым номером: число исполнителей задаёт потолок выигрыша, а дают выигрыш независимые куски. Там, где независимости нет, рост числа исполнителей меняет знак и начинает работать против. Держать проще всего так: сначала считаем в задаче независимые куски, потом заводим под них исполнителей — ровно столько, сколько кусков насчитали.</a:t>
            </a:r>
          </a:p>
          <a:p/>
          <a:p>
            <a:r>
              <a:rPr i="1"/>
              <a:t>Если спросят, откуда берётся «умножают ошибку».</a:t>
            </a:r>
            <a:r>
              <a:t> Из измерения, оно будет через два экрана, вместе с источником и условиями эксперимента. Сейчас достаточно направления: зависимые шаги, разведённые по исполнителям, теряют связь, которую следующий шаг должен был увидеть.</a:t>
            </a:r>
          </a:p>
          <a:p/>
          <a:p>
            <a:r>
              <a:rPr i="1"/>
              <a:t>Если спросят про несколько сессий подробнее.</a:t>
            </a:r>
            <a:r>
              <a:t> Папка, которую две сессии правят одновременно, — отдельная развилка со своей ценой и своей защитой, и она разбирается дальше в занятии. Здесь достаточно факта: на наших кусках такое пересечение есть, и оно решает выбор между этой карточкой и соседней.</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уточнение под поворот. Три роли на три независимых куска пошли бы одновременно: это механика харнесса, настраивать её не нужно. Роль уходит в фон, основная сессия её не ждёт.</a:t>
            </a:r>
          </a:p>
          <a:p/>
          <a:p>
            <a:r>
              <a:t>Предел — на одновременность, двадцать по умолчанию; двадцать первая падает явной ошибкой и в очередь не встаёт. Общего предела на число ролей за сессию нет.</a:t>
            </a:r>
          </a:p>
          <a:p/>
          <a:p>
            <a:r>
              <a:t>Отсюда следует: одновременность бесплатна, и вся цена решения лежит на раскладке.</a:t>
            </a:r>
          </a:p>
          <a:p/>
          <a:p>
            <a:r>
              <a:t>---</a:t>
            </a:r>
          </a:p>
          <a:p/>
          <a:p>
            <a:r>
              <a:rPr b="1"/>
              <a:t>Справка.</a:t>
            </a:r>
          </a:p>
          <a:p/>
          <a:p>
            <a:r>
              <a:rPr i="1"/>
              <a:t>Если спросят, что будет на двадцать первой задаче при пределе двадцать.</a:t>
            </a:r>
            <a:r>
              <a:t> Она не потеряется и не подождёт своей очереди сама: харнесс откажет явной ошибкой, и запустить её нужно будет руками, когда освободится место. Молчаливой очереди здесь нет, и это к лучшему — иначе двадцать первый кусок тихо ждал бы, пока его считают проверенным.</a:t>
            </a:r>
          </a:p>
          <a:p/>
          <a:p>
            <a:r>
              <a:rPr i="1"/>
              <a:t>Если спросят про версию и переменную.</a:t>
            </a:r>
            <a:r>
              <a:t> Параллельный режим по умолчанию появился в интерактивной сессии начиная с версии 2.1.232; предел задаётся переменной окружения CLAUDE_CODE_MAX_CONCURRENT_SUBAGENTS, ошибка на превышении — «Concurrent subagent limit reached». Номер версии на экран намеренно не вынесен: он устаревает быстрее, чем сам факт.</a:t>
            </a:r>
          </a:p>
          <a:p/>
          <a:p>
            <a:r>
              <a:rPr i="1"/>
              <a:t>Если спросят, не стоит ли сразу поднять предел.</a:t>
            </a:r>
            <a:r>
              <a:t> Двадцать одновременных ролей — это двадцать контекстов и двадцать счетов за токены. Упереться в двадцать на обычной работе трудно; если упёрлись, стоит сначала перечитать, точно ли там двадцать независимых кусков, и только потом трогать переменную.</a:t>
            </a:r>
          </a:p>
          <a:p/>
          <a:p>
            <a:r>
              <a:rPr i="1"/>
              <a:t>Если спросят, видно ли, чем занята фоновая роль.</a:t>
            </a:r>
            <a:r>
              <a:t> Видно, что она работает, и виден её итог. Ход работы — нет, и это та самая потерянная видимость, которую ступень называет ценой делегирования. На трёх независимых кусках она почти не мешает: итог каждого проверяется отдельно. На зависимых мешает сильно — именно там нужно было бы видеть, что одна роль успела узнать раньше другой.</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Через неделю он берётся за тот кусок, который мы в раскладке поставили неделимым: новое поле и изменение проверки формы. Исполнителей берёт по числу, которое в пятницу просилось само, — больше одного. Зовёт второго: тестировщика, который прогоняет сценарии через форму и проверяет поведение, не только код. Обе роли получают один и тот же кусок.</a:t>
            </a:r>
          </a:p>
          <a:p/>
          <a:p>
            <a:r>
              <a:t>Диф-ревьюер проверяет код, видит, что проверка написана верно, возвращает </a:t>
            </a:r>
            <a:r>
              <a:rPr>
                <a:latin typeface="Consolas"/>
              </a:rPr>
              <a:t>PASS</a:t>
            </a:r>
            <a:r>
              <a:t>. Тестировщик прогоняет обычные сценарии, проблем не находит, тоже возвращает </a:t>
            </a:r>
            <a:r>
              <a:rPr>
                <a:latin typeface="Consolas"/>
              </a:rPr>
              <a:t>PASS</a:t>
            </a:r>
            <a:r>
              <a:t>. Правка уходит в показ. Заказчик вводит адрес с пробелом перед доменом — случай, который не вошёл ни в код, который читали построчно, ни в сценарии, которые прогоняли руками.</a:t>
            </a:r>
          </a:p>
          <a:p/>
          <a:p>
            <a:r>
              <a:t>Оба ответа честные. Картина, которую он из них собрал, — «кусок проверен» — не описывает ничего.</a:t>
            </a:r>
          </a:p>
          <a:p/>
          <a:p>
            <a:r>
              <a:t>И обратите внимание, что он здесь повторил. Число исполнителей. Условия под ним не было: кусок был один и неделимый, и две роли его не распараллелили — они его разрезали. Разрез кому-то нужно держать, и этого он не поручил никому.</a:t>
            </a:r>
          </a:p>
          <a:p/>
          <a:p>
            <a:r>
              <a:t>---</a:t>
            </a:r>
          </a:p>
          <a:p/>
          <a:p>
            <a:r>
              <a:rPr b="1"/>
              <a:t>Справка.</a:t>
            </a:r>
          </a:p>
          <a:p/>
          <a:p>
            <a:r>
              <a:rPr i="1"/>
              <a:t>Если спросят, почему диф-ревьюер не поймал пробел в адресе.</a:t>
            </a:r>
            <a:r>
              <a:t> Он проверял код </a:t>
            </a:r>
            <a:r>
              <a:rPr>
                <a:latin typeface="Consolas"/>
              </a:rPr>
              <a:t>validateForm</a:t>
            </a:r>
            <a:r>
              <a:t> и видел, что логика написана верно. Пробел перед доменом не относится к тому, что этот кусок менял в коде: случай поведенческий, не структурный. Роль отработала ровно по своему описанию.</a:t>
            </a:r>
          </a:p>
          <a:p/>
          <a:p>
            <a:r>
              <a:rPr i="1"/>
              <a:t>Если спросят, чем это отличается от трёх независимых кусков.</a:t>
            </a:r>
            <a:r>
              <a:t> Там между кусками зазора не было — они и так лежали врозь, и каждый закрывался целиком. Здесь две разные роли делят один кусок на стороны, и граница между сторонами оказалась никому не поручена. Разница ровно в том, было ли что делить.</a:t>
            </a:r>
          </a:p>
          <a:p/>
          <a:p>
            <a:r>
              <a:rPr i="1"/>
              <a:t>Если спросят, виноват ли тестировщик.</a:t>
            </a:r>
            <a:r>
              <a:t> Нет, и это важно не смазать: он прогнал те сценарии, которые ему поручили, и честно о них отчитался. Подвела здесь не роль и не формулировка </a:t>
            </a:r>
            <a:r>
              <a:rPr>
                <a:latin typeface="Consolas"/>
              </a:rPr>
              <a:t>PASS</a:t>
            </a:r>
            <a:r>
              <a:t>. Подвело то, что никто не записал, где кончается зона каждого.</a:t>
            </a:r>
          </a:p>
          <a:p/>
          <a:p>
            <a:r>
              <a:rPr i="1"/>
              <a:t>Если спросят, поймал ли бы промежуток человек без ролей.</a:t>
            </a:r>
            <a:r>
              <a:t> Не обязательно. Но человек, читающий кусок целиком, по крайней мере имел шанс споткнуться о пробел; два отчёта, каждый верный в своих границах, этот шанс забирают — именно потому, что оба зелёные. Проверка, которая закрывает часть поля и молчит про остальное, опаснее отсутствия проверки ровно настолько, насколько ей верят.</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хода, один работает. Вернуться к одной роли на этом куске — честно, и цена названа: одновременность на трёх независимых кусках придётся отдать. Одна роль с широким описанием — возврат к широкому контексту и широким правам, от которых ступень отказалась в прошлом кейсе. Координатор — слой поверх двух уже не согласованных, цена растёт быстрее, чем снижается риск.</a:t>
            </a:r>
          </a:p>
          <a:p/>
          <a:p>
            <a:r>
              <a:t>Работает третий: расписать границы каждой роли явно, в обе стороны. И работает он тем же, чем работала раскладка в пятницу, — он называет условие вслух. Там мы сказали, какие куски независимы и почему. Здесь никто не сказал, где кончается зона каждой роли.</a:t>
            </a:r>
          </a:p>
          <a:p/>
          <a:p>
            <a:r>
              <a:t>---</a:t>
            </a:r>
          </a:p>
          <a:p/>
          <a:p>
            <a:r>
              <a:rPr b="1"/>
              <a:t>Справка.</a:t>
            </a:r>
          </a:p>
          <a:p/>
          <a:p>
            <a:r>
              <a:rPr i="1"/>
              <a:t>Если спросят, почему здесь не повторяется голосование карточками.</a:t>
            </a:r>
            <a:r>
              <a:t> Решение кейса — чем ускорять и на каком куске — уже прошло голосованием. Это итог того же спора, доведённый до разреза одного куска; второе голосование по соседнему вопросу размыло бы первое.</a:t>
            </a:r>
          </a:p>
          <a:p/>
          <a:p>
            <a:r>
              <a:rPr i="1"/>
              <a:t>Если спросят, когда координатор всё-таки оправдан.</a:t>
            </a:r>
            <a:r>
              <a:t> Когда сверять вывод двух готовых ролей — отдельная, названная заранее работа, заведённая до того, как появилась несогласованность. Разница проверяется одним вопросом: что координатор делает такого, чего обе роли не могут записать себе в описание. Если ответа нет, это заплатка.</a:t>
            </a:r>
          </a:p>
          <a:p/>
          <a:p>
            <a:r>
              <a:rPr i="1"/>
              <a:t>Если спросят, не проще ли всегда возвращаться к одной роли.</a:t>
            </a:r>
            <a:r>
              <a:t> На одном куске — часто проще и честнее. Первый ход не ошибочный, у него просто своя цена: там, где кусков несколько и они независимы, возврат к одной роли отдаёт ровно тот выигрыш, ради которого роли и заводили.</a:t>
            </a:r>
          </a:p>
          <a:p/>
          <a:p>
            <a:r>
              <a:rPr i="1"/>
              <a:t>Если спросят, как выглядит «расписать границы» на практике.</a:t>
            </a:r>
            <a:r>
              <a:t> Одна строка в описании каждой роли, по-доменному: что входит в её проверку и что остаётся снаружи. Как именно — через экран, на наших же двух ролях. Полезное правило при написании: границу пишут парой, обе строки сверяют рядом и вслух, иначе два автора независимо опишут один и тот же участок дважды или не опишут ни разу.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Диф-ревьюер и тестировщик работают без третьей роли, которая сверяла бы их согласованность. Вот что говорит измерение на масштабе.</a:t>
            </a:r>
          </a:p>
          <a:p/>
          <a:p>
            <a:r>
              <a:t>Таксономия отказов мультиагентных систем: больше тысячи шестисот трасс, размеченных вручную, семь фреймворков, согласие между экспертами — ноль целых восемьдесят восемь. Провальных трасс от сорока одного до восьмидесяти семи процентов, по фреймворкам. Причины делятся на три: сорок два процента — спецификация задачи и роли, тридцать семь — рассогласование между агентами, двадцать один — верификация результата. Рассогласование — вторая причина по весу.</a:t>
            </a:r>
          </a:p>
          <a:p/>
          <a:p>
            <a:r>
              <a:t>И контролируемое исследование о цене. На последовательной задаче схема из нескольких ролей проигрывает одноагентной от тридцати девяти до семидесяти процентов, а число ошибок усиливается в семнадцать целых две десятых раза без координатора и в четыре целых четыре десятых даже с централизованной проверкой. Вот цифра под нашим поворотом: там, где шаги зависимы, разбиение на роли стоит дороже всего, что параллельность могла бы сэкономить.</a:t>
            </a:r>
          </a:p>
          <a:p/>
          <a:p>
            <a:r>
              <a:t>Честно: проверить рассогласование двух параллельных ролей ни на репозитории курса, ни на машине студента нечем. Утверждение стоит на исследовании, не на команде, которую мы запустим.</a:t>
            </a:r>
          </a:p>
          <a:p/>
          <a:p>
            <a:r>
              <a:t>---</a:t>
            </a:r>
          </a:p>
          <a:p/>
          <a:p>
            <a:r>
              <a:rPr b="1"/>
              <a:t>Справка.</a:t>
            </a:r>
          </a:p>
          <a:p/>
          <a:p>
            <a:r>
              <a:rPr i="1"/>
              <a:t>Про цифру «79%», которая разошлась по сети.</a:t>
            </a:r>
            <a:r>
              <a:t> Её стоит произнести устно, отдельной рамки на экране она не держит: «семьдесят девять процентов отказов — проблема спецификации» — это сумма первых двух категорий MAST, сорока двух и тридцати семи, пересказанная как будто отдельное измерение. Стоит проверить, не считаете ли вы одно и то же дважды под разными подписями.</a:t>
            </a:r>
          </a:p>
          <a:p/>
          <a:p>
            <a:r>
              <a:rPr i="1"/>
              <a:t>Если спросят про межэкспертное согласие.</a:t>
            </a:r>
            <a:r>
              <a:t> Ноль целых восемьдесят восемь по шкале каппа — высокое согласие, разметка не произвольная. Это и делает таксономию пригодной для ссылки: категории различали разные люди и сходились.</a:t>
            </a:r>
          </a:p>
          <a:p/>
          <a:p>
            <a:r>
              <a:rPr i="1"/>
              <a:t>Если спросят, почему абсолютное число ошибок источник не называет.</a:t>
            </a:r>
            <a:r>
              <a:t> В исследовании приведено только относительное усиление — во сколько раз больше, чем у одной роли на той же задаче. Базовой величины источник не публикует, и это честно назвать вслух: «в семнадцать раз больше» без базы говорит о направлении, не о размере.</a:t>
            </a:r>
          </a:p>
          <a:p/>
          <a:p>
            <a:r>
              <a:rPr i="1"/>
              <a:t>Если спросят, как разброс «от 41 до 87 процентов» вообще может что-то значить.</a:t>
            </a:r>
            <a:r>
              <a:t> Разброс по фреймворкам, не по измерению: разные системы падают по-разному. Важно здесь одно: доля провальных трасс нигде не оказалась малой.</a:t>
            </a:r>
          </a:p>
          <a:p/>
          <a:p>
            <a:r>
              <a:rPr i="1"/>
              <a:t>Если спросят, относятся ли эти цифры к двум ролям.</a:t>
            </a:r>
            <a:r>
              <a:t> Прямо — нет: исследования мерили системы из многих агентов. Направление переносится, порядок величины — нет, и на двух ролях честнее говорить о риске промежутка, чем о семнадцатикратном усилении.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Промежуток закрывает одно — явная граница в описании каждой роли, в обе стороны. Диф-ревьюер это уже умеет: «НЕ для ревью архитектурных решений — это отдельная роль». Тестировщику нужна симметричная строка: что входит в его проверку и что остаётся снаружи, по-доменному.</a:t>
            </a:r>
          </a:p>
          <a:p/>
          <a:p>
            <a:r>
              <a:t>И сразу честно о пределе приёма. Записанная в двух описаниях граница промежутка не убирает. Она делает его видимым тому, кто читает оба описания рядом. Увидеть его до показа заказчику остаётся работой человека — ровно той, которую на трёх независимых кусках делать было не нужно: они лежали врозь сами.</a:t>
            </a:r>
          </a:p>
          <a:p/>
          <a:p>
            <a:r>
              <a:t>---</a:t>
            </a:r>
          </a:p>
          <a:p/>
          <a:p>
            <a:r>
              <a:rPr b="1"/>
              <a:t>Справка.</a:t>
            </a:r>
          </a:p>
          <a:p/>
          <a:p>
            <a:r>
              <a:rPr i="1"/>
              <a:t>Если спросят, кто пишет вторую, симметричную строку — автор новой роли или автор старой.</a:t>
            </a:r>
            <a:r>
              <a:t> По-хорошему оба описания сверяют вместе в тот момент, когда заводится вторая роль. Написать её в одиночку, в надежде что зоны совпадут, — то же самое, что не писать: два автора независимо опишут один участок дважды или не опишут ни разу.</a:t>
            </a:r>
          </a:p>
          <a:p/>
          <a:p>
            <a:r>
              <a:rPr i="1"/>
              <a:t>Если спросят, решает ли граница саму проблему пробела в покрытии.</a:t>
            </a:r>
            <a:r>
              <a:t> Нет. Она делает пробел видимым заранее; находить его всё равно остаётся задачей человека, который читает оба описания рядом. Приём честный ровно настолько, насколько он скромный.</a:t>
            </a:r>
          </a:p>
          <a:p/>
          <a:p>
            <a:r>
              <a:rPr i="1"/>
              <a:t>Если спросят, как эта строка выглядит для тестировщика.</a:t>
            </a:r>
            <a:r>
              <a:t> По-доменному, например: «проверяю поведение формы на перечисленных сценариях; форматы ввода за пределами списка и структуру кода не проверяю». Важно, чтобы снаружи было названо конкретное: «всё остальное» не читается как чья-то зона и потому не проверяется никем.</a:t>
            </a:r>
          </a:p>
          <a:p/>
          <a:p>
            <a:r>
              <a:rPr i="1"/>
              <a:t>Если спросят, не дешевле ли один раз написать большое общее описание на обе роли.</a:t>
            </a:r>
            <a:r>
              <a:t> Это второй вариант из разбора, и его цена уже названа: широкое описание возвращает широкий контекст и широкие права. Граница дешевле: две строки против расширенного доступа. И проверяется она глазами за минуту, чего про широкое описание сказать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черта, за которой координация сама становится ценой. Метка — отраслевой разворот: команда, год назад отвергавшая мультиагентность целиком и называвшая «рой» отвлекающим фактором, десять месяцев спустя вернулась к двум узким паттернам. Ревью-цепочка, где отдельная роль находит в среднем два бага на правку, около пятидесяти восьми процентов серьёзные, и связка двух разных топ-моделей. «Рой» без границ она называет отвлекающим фактором и сейчас.</a:t>
            </a:r>
          </a:p>
          <a:p/>
          <a:p>
            <a:r>
              <a:t>Критерий — в таблице. Роль оправдана, когда кусков несколько и шаг одного не нуждается в выводе другого. Где шаги зависимы — семнадцать целых две десятых и четыре целых четыре десятых. Где кусок повторяется — его место в проверке, которая гоняется сама. Где он к сроку не нужен — его сужают.</a:t>
            </a:r>
          </a:p>
          <a:p/>
          <a:p>
            <a:r>
              <a:t>Чем кончилось у нашего разработчика. Неделю он делал всё в одну роль, по очереди, включая куски, которые спокойно делились. Баг у заказчика стоил часа, недоверие к приёму — недели. Счёт исполнителей он запомнил, условие под ним — нет.</a:t>
            </a:r>
          </a:p>
          <a:p/>
          <a:p>
            <a:r>
              <a:t>Две причины заводить роль разобраны: чужой контекст под чтение и одновременная работа на независимых кусках. Третья — про саму роль.</a:t>
            </a:r>
          </a:p>
          <a:p/>
          <a:p>
            <a:r>
              <a:t>---</a:t>
            </a:r>
          </a:p>
          <a:p/>
          <a:p>
            <a:r>
              <a:rPr b="1"/>
              <a:t>Справка.</a:t>
            </a:r>
          </a:p>
          <a:p/>
          <a:p>
            <a:r>
              <a:rPr i="1"/>
              <a:t>Если спросят, та ли это команда, что писала первый отчёт про мультиагентность.</a:t>
            </a:r>
            <a:r>
              <a:t> Да, источник один и тот же: десять месяцев спустя та же команда публично пересмотрела собственную позицию по итогам практики. Разворот ценен именно этим — он сделан людьми, которые платили за обе позиции.</a:t>
            </a:r>
          </a:p>
          <a:p/>
          <a:p>
            <a:r>
              <a:rPr i="1"/>
              <a:t>Если спросят про наш кусок конкретно.</a:t>
            </a:r>
            <a:r>
              <a:t> Код и поведение формы проверять параллельно было можно — отсюда решение оставить две роли, но с явно расписанными границами, вместо одной роли с широким описанием. Ошибкой стало молчание о разрезе между ними: разрез появился, а владельца у него не завели.</a:t>
            </a:r>
          </a:p>
          <a:p/>
          <a:p>
            <a:r>
              <a:rPr i="1"/>
              <a:t>Если спросят, как разработчик понял, где была граница.</a:t>
            </a:r>
            <a:r>
              <a:t> Не из отчёта и не от ролей: он сел и перечитал оба описания рядом, впервые. Ровно это и есть приём предыдущего экрана, применённый с опозданием на неделю.</a:t>
            </a:r>
          </a:p>
          <a:p/>
          <a:p>
            <a:r>
              <a:rPr i="1"/>
              <a:t>Если спросят, чему учит потерянная неделя.</a:t>
            </a:r>
            <a:r>
              <a:t> Тому, что провал приёма и провал счёта, снятого с приёма, — разные вещи, и дороже обходится второй. Приём чинится одной строкой в описании роли; отказ от работающего приёма чинится только тем, что кто-то заново называет условие вслух.</a:t>
            </a:r>
          </a:p>
          <a:p/>
          <a:p>
            <a:r>
              <a:rPr i="1"/>
              <a:t>Третья развилка ступени</a:t>
            </a:r>
            <a:r>
              <a:t> — что делать, когда одна и та же работа повторяется из сессии в сессию и каждый раз формулируется заново.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причины заводить роль уже разобраны: чтение, которое не помещается, и задачи, которые стоят в очереди зря. Третий кейс — про то, что происходит, когда исполнителей становится больше одного и каталог у них общий.</a:t>
            </a:r>
          </a:p>
          <a:p/>
          <a:p>
            <a:r>
              <a:t>Сессий у вас уже несколько. Ролей в одной папке — почти всегда больше одной, и это нормально. К концу кейса решим, где разводить копиями и где только зонами.</a:t>
            </a:r>
          </a:p>
          <a:p/>
          <a:p>
            <a:r>
              <a:t>---</a:t>
            </a:r>
          </a:p>
          <a:p/>
          <a:p>
            <a:r>
              <a:rPr b="1"/>
              <a:t>Справка.</a:t>
            </a:r>
          </a:p>
          <a:p/>
          <a:p>
            <a:r>
              <a:rPr i="1"/>
              <a:t>Если спросят, чем это отличается от двух прошлых кейсов.</a:t>
            </a:r>
            <a:r>
              <a:t> Там решение принималось про работу: куда её отдать и сколько таких отдач вести разом. Здесь решение принимается про место: один каталог файлов на нескольких исполнителей, и что в нём ломается.</a:t>
            </a:r>
          </a:p>
          <a:p/>
          <a:p>
            <a:r>
              <a:rPr i="1"/>
              <a:t>Если прозвучит «так это же про git, при чём тут агенты».</a:t>
            </a:r>
            <a:r>
              <a:t> Про оба сразу. Механизм общий и старше агентов, а вот частота столкновений выросла: раньше в каталоге работал один человек своими руками, теперь — две сессии и десяток ролей, каждая со своим представлением о том, что в файлах лежит.</a:t>
            </a:r>
          </a:p>
          <a:p/>
          <a:p>
            <a:r>
              <a:rPr i="1"/>
              <a:t>Если прозвучит «у нас такого не было».</a:t>
            </a:r>
            <a:r>
              <a:t> Хороший повод к концу кейса сверить две вещи: сколько сессий вы держите открытыми на одном репозитории и сколько раз за месяц переключали ветку, пока рядом шла чужая работа.</a:t>
            </a:r>
          </a:p>
          <a:p/>
          <a:p>
            <a:r>
              <a:rPr i="1"/>
              <a:t>Если прозвучит нетерпение «так заводить копии или нет».</a:t>
            </a:r>
            <a:r>
              <a:t> Ответ будет разным для сессии и для роли, и кейс кончится критерием, который зал проверит сам.</a:t>
            </a:r>
          </a:p>
          <a:p/>
          <a:p>
            <a:r>
              <a:rPr i="1"/>
              <a:t>Если спросят, при чём здесь роли, когда речь про сессии.</a:t>
            </a:r>
            <a:r>
              <a:t> Роли сюда входят тем же каталогом: они работают в той папке, где стоит позвавшая их сессия. Разница в том, что сессии копию дают почти всегда, а роли — почти никогда, и у этого есть названная причина. К ней кейс и идёт.</a:t>
            </a:r>
          </a:p>
          <a:p/>
          <a:p>
            <a:r>
              <a:rPr i="1"/>
              <a:t>Если прозвучит «мы работаем в одном каталоге годами и живы».</a:t>
            </a:r>
            <a:r>
              <a:t> Верно, и до появления ролей это было дешевле: один исполнитель в папке не спорит сам с собой. Числа столкновений кейс возьмёт из журнала этого курса, собранного тем самым способом, о котором идёт речь.</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Правка адреса — та самая, после бага на показе: пробел перед доменом форма приняла. На её ветке работа начата и не закоммичена — выражение в разметке поправлено, сообщение об ошибке ещё нет.</a:t>
            </a:r>
          </a:p>
          <a:p/>
          <a:p>
            <a:r>
              <a:t>Приходит вторая задача, с первой не пересекающаяся ни одним файлом: поднять зависимость, из-за которой ругается сборка. Ждать незачем, и разработчик открывает вторую сессию — в том же каталоге, на том же репозитории.</a:t>
            </a:r>
          </a:p>
          <a:p/>
          <a:p>
            <a:r>
              <a:t>Вторая начинает с собственной ветки. И вот здесь всё решается: каталог один, ветка в нём одна на всех, кто в этом каталоге работает. Незакоммиченная правка адреса переезжает на новую ветку вместе с файлами.</a:t>
            </a:r>
          </a:p>
          <a:p/>
          <a:p>
            <a:r>
              <a:t>Вторая сессия доделывает своё и забирает в коммит всё, что лежит в каталоге. Недоделанная проверка адреса для неё — просто часть состояния файлов.</a:t>
            </a:r>
          </a:p>
          <a:p/>
          <a:p>
            <a:r>
              <a:t>Первая продолжает по тому, что прочитала раньше: дописывает сообщение, гоняет тесты, докладывает, что готово. Своей ветки под ней уже нет.</a:t>
            </a:r>
          </a:p>
          <a:p/>
          <a:p>
            <a:r>
              <a:t>Обе доложили об успехе, и каждая была права по отдельности. Утром: в ветке зависимостей — чужая незаконченная правка, в ветке адреса — ничего, и полчаса на вопрос, почему тесты формы падают там, где формы никто не касался.</a:t>
            </a:r>
          </a:p>
          <a:p/>
          <a:p>
            <a:r>
              <a:t>---</a:t>
            </a:r>
          </a:p>
          <a:p/>
          <a:p>
            <a:r>
              <a:rPr b="1"/>
              <a:t>Справка.</a:t>
            </a:r>
          </a:p>
          <a:p/>
          <a:p>
            <a:r>
              <a:rPr i="1"/>
              <a:t>Если спросят, зачем он вообще открыл вторую сессию.</a:t>
            </a:r>
            <a:r>
              <a:t> Задачи независимы, и ждать первую нечем. Это и есть обычный повод: работа делится, а сессия занята.</a:t>
            </a:r>
          </a:p>
          <a:p/>
          <a:p>
            <a:r>
              <a:rPr i="1"/>
              <a:t>Если спросят, почему вторая сессия забрала чужие правки в коммит.</a:t>
            </a:r>
            <a:r>
              <a:t> Потому что она видит каталог. В нём лежат изменённые файлы, их она и забирает. Отличить «моё» от «чужого» по состоянию файлов нельзя — в состоянии не записано, кто его сделал.</a:t>
            </a:r>
          </a:p>
          <a:p/>
          <a:p>
            <a:r>
              <a:rPr i="1"/>
              <a:t>Если спросят, не спас бы ли коммит перед запуском второй сессии.</a:t>
            </a:r>
            <a:r>
              <a:t> Эту историю — да, и этот ход зал сейчас назовёт сам. Он возвращает потерянное и не отменяет того, что ветка в каталоге одна: следующая же пара задач столкнётся там же.</a:t>
            </a:r>
          </a:p>
          <a:p/>
          <a:p>
            <a:r>
              <a:rPr i="1"/>
              <a:t>Если прозвучит «у меня агент сам никогда ветку не переключает».</a:t>
            </a:r>
            <a:r>
              <a:t> Проверьте: переключение ветки — обычный первый шаг при новой задаче, и инструкция проекта его чаще требует, чем запрещает.</a:t>
            </a:r>
          </a:p>
          <a:p/>
          <a:p>
            <a:r>
              <a:rPr i="1"/>
              <a:t>Если спросят, почему git не остановил переключение.</a:t>
            </a:r>
            <a:r>
              <a:t> Потому что останавливать было нечего: новая ветка заводится от текущего состояния и незакоммиченные правки переносит с собой. Отказ приходит в другом случае — когда переключение затронуло бы те же строки, которые вы правите. Здесь файлы были разные, и всё прошло тихо.</a:t>
            </a:r>
          </a:p>
          <a:p/>
          <a:p>
            <a:r>
              <a:rPr i="1"/>
              <a:t>Если спросят, видно ли это в интерфейсе.</a:t>
            </a:r>
            <a:r>
              <a:t> Видно, если смотреть: имя текущей ветки у обеих сессий одно и то же. Проблема в том, что смотреть в это место никто не ходит — у каждой сессии своя задача, и обе на вид идут нормально.</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Задачи друг от друга не зависят, обе сессии нужны разом, каталог у них один. Ни одна из сессий в этой истории не сделала ничего странного: одна начала с ветки, другая продолжила по прочитанному.</a:t>
            </a:r>
          </a:p>
          <a:p/>
          <a:p>
            <a:r>
              <a:t>Выберите, что здесь заводят или меняют, чтобы это не повторилось, — и обоснуйте выбор рядом с остальными четырьмя. Состав верного ответа до разбора не называю: разбор пройдёт по всем пяти, и у каждого хода найдётся случай, где он работает.</a:t>
            </a:r>
          </a:p>
          <a:p/>
          <a:p>
            <a:r>
              <a:t>---</a:t>
            </a:r>
          </a:p>
          <a:p/>
          <a:p>
            <a:r>
              <a:rPr b="1"/>
              <a:t>Справка.</a:t>
            </a:r>
          </a:p>
          <a:p/>
          <a:p>
            <a:r>
              <a:rPr i="1"/>
              <a:t>Если прозвучит «коммитить перед переключением».</a:t>
            </a:r>
            <a:r>
              <a:t> Рабочий ход, его называют первым. На разборе стоит спросить, что он делает с ветками: восстановить потерянное он позволяет, одну ветку на каталог отменить — нет.</a:t>
            </a:r>
          </a:p>
          <a:p/>
          <a:p>
            <a:r>
              <a:rPr i="1"/>
              <a:t>Если прозвучит «по очереди».</a:t>
            </a:r>
            <a:r>
              <a:t> Это честный ответ, и его стоит защитить вслух: столкновений не будет вовсе. Цена названа в той же строке разбора.</a:t>
            </a:r>
          </a:p>
          <a:p/>
          <a:p>
            <a:r>
              <a:rPr i="1"/>
              <a:t>Если прозвучит «роли вместо второй сессии».</a:t>
            </a:r>
            <a:r>
              <a:t> Продуктивная путаница, и она ведёт прямо в середину кейса: роли убирают спор о ветке и оставляют спор о файле.</a:t>
            </a:r>
          </a:p>
          <a:p/>
          <a:p>
            <a:r>
              <a:rPr i="1"/>
              <a:t>Если прозвучит «своя копия каждой сессии».</a:t>
            </a:r>
            <a:r>
              <a:t> Спросить, что в этой копии своё и что общее. Ответ редко называют целиком, и он пригодится через экран.</a:t>
            </a:r>
          </a:p>
          <a:p/>
          <a:p>
            <a:r>
              <a:rPr i="1"/>
              <a:t>Если прозвучит «развести по файлам».</a:t>
            </a:r>
            <a:r>
              <a:t> Спросить, где эта договорённость держится на устройстве и где только на памяти участников.</a:t>
            </a:r>
          </a:p>
          <a:p/>
          <a:p>
            <a:r>
              <a:rPr i="1"/>
              <a:t>Если прозвучит «пусть агент сам разбирается, он умный».</a:t>
            </a:r>
            <a:r>
              <a:t> Разобраться он может только по состоянию файлов, а в состоянии не записано, кто его сделал — это уже видно из сцены.</a:t>
            </a:r>
          </a:p>
          <a:p/>
          <a:p>
            <a:r>
              <a:rPr i="1"/>
              <a:t>Если прозвучит шестой вариант, которого на карточках нет.</a:t>
            </a:r>
            <a:r>
              <a:t> Принять и записать: набор карточек закрывает ходы, которые дальше разбираются, и не закрывает все возможные. Чаще всего так приносят очередь на общий файл и назначенного владельца каталога — оба хода пригодятся в конце кейса.</a:t>
            </a:r>
          </a:p>
          <a:p/>
          <a:p>
            <a:r>
              <a:rPr i="1"/>
              <a:t>Если зал выберет дружно один ответ.</a:t>
            </a:r>
            <a:r>
              <a:t> Спросить про рабочее место: что придётся сделать, прежде чем в новой копии получится запустить сборку. Единодушие здесь обычно держится на том, что эту часть не считали.</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где он работает, и ограничение — из сочетания двух колонок вывод складывается сам.</a:t>
            </a:r>
          </a:p>
          <a:p/>
          <a:p>
            <a:r>
              <a:t>Коммитить перед переключением — возвращает потерянное, и чужой коммит видно в истории; ветка в каталоге при этом остаётся одна, и о столкновении вы узнаёте после него. По очереди — снимает столкновение целиком, и это честный ответ; платите временем. Роли вместо второй сессии — снимают спор о ветке, задачу объяснять заново не нужно; каталог у ролей тот же, поэтому спор о файле остаётся. Своя копия каждой сессии — свои файлы и своя ветка при общей истории; копию придётся поднять как рабочее место. Развести по файлам — работает там, где копий не бывает.</a:t>
            </a:r>
          </a:p>
          <a:p/>
          <a:p>
            <a:r>
              <a:t>Вывод. Копия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кейсе оба.</a:t>
            </a:r>
          </a:p>
          <a:p/>
          <a:p>
            <a:r>
              <a:t>---</a:t>
            </a:r>
          </a:p>
          <a:p/>
          <a:p>
            <a:r>
              <a:rPr b="1"/>
              <a:t>Справка.</a:t>
            </a:r>
          </a:p>
          <a:p/>
          <a:p>
            <a:r>
              <a:rPr i="1"/>
              <a:t>Если спросят, почему роли не получают своей копии, раз сессии получают.</a:t>
            </a:r>
            <a:r>
              <a:t> Это и есть поворот кейса, и он разбирается в конце кейса. Пока достаточно сказать: получить могут, одним полем; почему этого почти никто не делает — разберём там, где будет видна цена.</a:t>
            </a:r>
          </a:p>
          <a:p/>
          <a:p>
            <a:r>
              <a:rPr i="1"/>
              <a:t>Если спросят, не противоречит ли строка «по очереди» прошлому кейсу.</a:t>
            </a:r>
            <a:r>
              <a:t> Там зал выяснил, что параллельность лежит в самой задаче. Здесь названа цена параллельности, которую за неё платят местом. Обе строки про одно решение с разных сторон.</a:t>
            </a:r>
          </a:p>
          <a:p/>
          <a:p>
            <a:r>
              <a:rPr i="1"/>
              <a:t>Если прозвучит «тогда всегда своя копия, в чём вопрос».</a:t>
            </a:r>
            <a:r>
              <a:t> В том, что копия — рабочее место, и его нужно поднять: зависимости, локальные файлы, которых нет в версиях. На тридцатисекундной правке это дороже самой правки, и зал это чувствует верно.</a:t>
            </a:r>
          </a:p>
          <a:p/>
          <a:p>
            <a:r>
              <a:rPr i="1"/>
              <a:t>Если спросят про «общий файл отменяет договорённость».</a:t>
            </a:r>
            <a:r>
              <a:t> Пример у нас перед глазами: файл сборки деки, который нужен всем. Он сыграет в провале этого кейса.</a:t>
            </a:r>
          </a:p>
          <a:p/>
          <a:p>
            <a:r>
              <a:rPr i="1"/>
              <a:t>Если спросят, почему строка про роли стоит в этом разборе.</a:t>
            </a:r>
            <a:r>
              <a:t> Потому что её называют как замену второй сессии, и она действительно ей замена: задача объяснена один раз, итог приходит туда, где лежит работа. Что при этом остаётся на месте — разбирается следующими двумя экранами, и это половина кейса.</a:t>
            </a:r>
          </a:p>
          <a:p/>
          <a:p>
            <a:r>
              <a:rPr i="1"/>
              <a:t>Если прозвучит «так ведь можно и то и другое».</a:t>
            </a:r>
            <a:r>
              <a:t> Можно, и так чаще всего и работают: копия на сессию плюс раскладка зон внутри каждой. Два хода отвечают на разные вопросы и друг друга не отменяют.</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это за штука. Отдельная рабочая копия — свой каталог файлов и своя ветка, а история и удалённый репозиторий те же. В git она называется worktree. Запуск с флагом </a:t>
            </a:r>
            <a:r>
              <a:rPr>
                <a:latin typeface="Consolas"/>
              </a:rPr>
              <a:t>--worktree</a:t>
            </a:r>
            <a:r>
              <a:t> и именем создаёт её сам; тот же запуск с другим именем в другом терминале поднимает вторую изолированную сессию.</a:t>
            </a:r>
          </a:p>
          <a:p/>
          <a:p>
            <a:r>
              <a:t>Своё у копии — файлы, ветка, незакоммиченное состояние. Общий — служебный каталог репозитория: команды из копии пишут в общую историю. Отсюда и удобство: работу из копии не нужно никуда переносить, она уже в том же репозитории.</a:t>
            </a:r>
          </a:p>
          <a:p/>
          <a:p>
            <a:r>
              <a:t>И общее не кончается историей: плагины проекта и однажды выданные разрешения тоже общие.</a:t>
            </a:r>
          </a:p>
          <a:p/>
          <a:p>
            <a:r>
              <a:t>---</a:t>
            </a:r>
          </a:p>
          <a:p/>
          <a:p>
            <a:r>
              <a:rPr b="1"/>
              <a:t>Справка.</a:t>
            </a:r>
          </a:p>
          <a:p/>
          <a:p>
            <a:r>
              <a:rPr i="1"/>
              <a:t>Если спросят, чем это отличается от второго клона репозитория.</a:t>
            </a:r>
            <a:r>
              <a:t> Клон — отдельный репозиторий со своей историей, и работу из него переносят между репозиториями. Копия делит историю с основной, поэтому ветка из копии видна основной сразу, без переноса. Для параллельной работы над одним проектом это и есть разница, которая решает.</a:t>
            </a:r>
          </a:p>
          <a:p/>
          <a:p>
            <a:r>
              <a:rPr i="1"/>
              <a:t>Если спросят, куда девается копия потом.</a:t>
            </a:r>
            <a:r>
              <a:t> Её убирают, когда работа слита; если в ней осталось незакоммиченное, об этом спросят при выходе. Брошенные копии копятся на диске и в списке веток — это обычная уборка, не фоновая магия.</a:t>
            </a:r>
          </a:p>
          <a:p/>
          <a:p>
            <a:r>
              <a:rPr i="1"/>
              <a:t>Если спросят, не дороже ли это по месту.</a:t>
            </a:r>
            <a:r>
              <a:t> Файлы проекта в каждой копии свои, служебный каталог общий. Для репозитория исходников это обычно немного; для репозитория с тяжёлыми бинарниками стоит посчитать заранее.</a:t>
            </a:r>
          </a:p>
          <a:p/>
          <a:p>
            <a:r>
              <a:rPr i="1"/>
              <a:t>Если прозвучит «а разрешения-то почему общие».</a:t>
            </a:r>
            <a:r>
              <a:t> Разрешения живут в настройках основной копии, и это удобно: подтверждать одно и то же в каждой новой копии никто не хочет. Обратная сторона — выданное в копии разрешение продолжает действовать после того, как сама копия убрана.</a:t>
            </a:r>
          </a:p>
          <a:p/>
          <a:p>
            <a:r>
              <a:rPr i="1"/>
              <a:t>Если спросят, как работу из копии забирают обратно.</a:t>
            </a:r>
            <a:r>
              <a:t> Ветка из копии видна основной сразу, история общая. Поэтому забирают обычным слиянием ветки, и отдельного переноса файлов здесь нет вовсе — это и есть то, за что копию выбирают вместо второго клона.</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внутрь одной сессии, где копий не бывает. Роль стартует в том каталоге, где стоит вызвавшая её сессия, и уйти из него не может: смена каталога внутри роли не переживает её собственных вызовов. Общая папка у ролей — штатный режим, в котором они работают почти всегда.</a:t>
            </a:r>
          </a:p>
          <a:p/>
          <a:p>
            <a:r>
              <a:t>Три факта устройства и три поломки из них.</a:t>
            </a:r>
          </a:p>
          <a:p/>
          <a:p>
            <a:r>
              <a:t>Первое: каталог тот же, и право правки есть у всякой роли, которой его не отняли строкой. Отсюда перекрытая правка: кто записал позже, тот перекрыл — целиком, когда роль переписывает файл вместо правки участка.</a:t>
            </a:r>
          </a:p>
          <a:p/>
          <a:p>
            <a:r>
              <a:t>Второе: состояние репозитория роль получает снимком на момент старта, и этот снимок по ходу работы не обновляется. Отсюда работа по состоянию, которого уже нет: файл, которого «не было», создаётся заново поверх.</a:t>
            </a:r>
          </a:p>
          <a:p/>
          <a:p>
            <a:r>
              <a:t>Третье: сессия получает итог роли, её шагов она не видит. Отсюда два успешных отчёта, по которым столкновения не видно вовсе.</a:t>
            </a:r>
          </a:p>
          <a:p/>
          <a:p>
            <a:r>
              <a:t>И вывод: так и устроено, и это нормально — роль работает там, где лежит работа, иначе итог некуда возвращать.</a:t>
            </a:r>
          </a:p>
          <a:p/>
          <a:p>
            <a:r>
              <a:t>---</a:t>
            </a:r>
          </a:p>
          <a:p/>
          <a:p>
            <a:r>
              <a:rPr b="1"/>
              <a:t>Справка.</a:t>
            </a:r>
          </a:p>
          <a:p/>
          <a:p>
            <a:r>
              <a:rPr i="1"/>
              <a:t>Если спросят, можно ли роли запретить писать.</a:t>
            </a:r>
            <a:r>
              <a:t> Можно, и это разбиралось в основании ступени: список инструментов — состав арсенала, и чего в нём нет, того роль физически не сделает. Для читающих ролей это и есть ответ. Для пишущих остаётся раскладка.</a:t>
            </a:r>
          </a:p>
          <a:p/>
          <a:p>
            <a:r>
              <a:rPr i="1"/>
              <a:t>Если спросят, почему снимок не обновляют.</a:t>
            </a:r>
            <a:r>
              <a:t> Он и нужен как точка отсчёта: роль должна понимать, в каком состоянии репозиторий был на входе. Обновляемый снимок сделал бы поведение роли зависящим от чужого темпа работы. Платим за это тем, что к середине работы снимок устарел.</a:t>
            </a:r>
          </a:p>
          <a:p/>
          <a:p>
            <a:r>
              <a:rPr i="1"/>
              <a:t>Если прозвучит «пусть роли читают файл перед каждой записью».</a:t>
            </a:r>
            <a:r>
              <a:t> Это и есть правильный приём, он стоит следующим экраном. И у него есть предел: между чтением и записью остаётся промежуток, и он не нулевой.</a:t>
            </a:r>
          </a:p>
          <a:p/>
          <a:p>
            <a:r>
              <a:rPr i="1"/>
              <a:t>Если спросят, сколько ролей одновременно это выдерживает.</a:t>
            </a:r>
            <a:r>
              <a:t> Устройство допускает двадцать разом — это считалось в прошлом кейсе. Сколько выдерживает одна папка — вопрос раскладки, и он вынесен в конец кейса на обсуждение.</a:t>
            </a:r>
          </a:p>
          <a:p/>
          <a:p>
            <a:r>
              <a:rPr i="1"/>
              <a:t>Если спросят, видно ли в переписке, какая роль какой файл правила.</a:t>
            </a:r>
            <a:r>
              <a:t> Видно, что роль работала и что она вернула. Какие именно записи она сделала по ходу, в переписке не остаётся — восстанавливать это приходится по самим файлам и по истории репозитория.</a:t>
            </a:r>
          </a:p>
          <a:p/>
          <a:p>
            <a:r>
              <a:rPr i="1"/>
              <a:t>Если прозвучит «значит, пишущих ролей лучше вообще не иметь».</a:t>
            </a:r>
            <a:r>
              <a:t> Это рабочая позиция, и часть команд так и живёт: роли читают и докладывают, пишет сессия. Цена названа честно — всё написанное пишется в одном темпе, последовательно.</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с этим делают в обычной работе. Пять приёмов, у каждого названо, чего он не закрывает.</a:t>
            </a:r>
          </a:p>
          <a:p/>
          <a:p>
            <a:r>
              <a:t>Развести зоны до запуска: у каждого исполнителя свой набор файлов. Документация харнесса предписывает это прямым текстом там, где копий не дают вовсе — напарникам в команде агентов.</a:t>
            </a:r>
          </a:p>
          <a:p/>
          <a:p>
            <a:r>
              <a:t>Читать файл прямо перед записью. Править участок, не переписывая файл целиком: тогда чужая правка выживает. Давать непересекающиеся задачи, а сведение вести отдельным проходом.</a:t>
            </a:r>
          </a:p>
          <a:p/>
          <a:p>
            <a:r>
              <a:t>И пятый: признак успеха брать из самого файла — перечитать результат, сверить время правки. Он ловит то, что четыре предыдущих пропустили.</a:t>
            </a:r>
          </a:p>
          <a:p/>
          <a:p>
            <a:r>
              <a:t>---</a:t>
            </a:r>
          </a:p>
          <a:p/>
          <a:p>
            <a:r>
              <a:rPr b="1"/>
              <a:t>Справка.</a:t>
            </a:r>
          </a:p>
          <a:p/>
          <a:p>
            <a:r>
              <a:rPr i="1"/>
              <a:t>Если спросят, почему чтение перед записью не закрывает вопрос целиком.</a:t>
            </a:r>
            <a:r>
              <a:t> Между чтением и записью остаётся промежуток. Он короткий и не нулевой, и этого достаточно, чтобы чужая запись легла между ними. Приём снижает частоту, обещать он ничего не может.</a:t>
            </a:r>
          </a:p>
          <a:p/>
          <a:p>
            <a:r>
              <a:rPr i="1"/>
              <a:t>Если спросят про «править участок, не переписывать целиком».</a:t>
            </a:r>
            <a:r>
              <a:t> Разница видна на любом общем файле: правка участка оставляет соседние строки чужими, переписывание файла приносит ваше представление о нём целиком. Второе удобнее и дороже.</a:t>
            </a:r>
          </a:p>
          <a:p/>
          <a:p>
            <a:r>
              <a:rPr i="1"/>
              <a:t>Если спросят, кому принадлежит общий файл.</a:t>
            </a:r>
            <a:r>
              <a:t> Это и есть вопрос, который идёт в конец кейса на обсуждение: назначить владельца, выстроить очередь или вынести общий файл в отдельный проход — ответ зависит от того, как часто его трогают.</a:t>
            </a:r>
          </a:p>
          <a:p/>
          <a:p>
            <a:r>
              <a:rPr i="1"/>
              <a:t>Если прозвучит «пятый приём — это же обычная проверка».</a:t>
            </a:r>
            <a:r>
              <a:t> Да, и его приходится называть отдельно, потому что при параллельной работе все привычные признаки успеха сходятся. Что это значит на деле — следующий экран.</a:t>
            </a:r>
          </a:p>
          <a:p/>
          <a:p>
            <a:r>
              <a:rPr i="1"/>
              <a:t>Если спросят, кто должен раскладывать зоны — человек или сессия.</a:t>
            </a:r>
            <a:r>
              <a:t> Решает человек, выдавая задачи: зоны называются в самой постановке, по именам файлов или каталогов. Отданное на усмотрение исполнителей разъезжается, потому что каждый видит только свою задачу.</a:t>
            </a:r>
          </a:p>
          <a:p/>
          <a:p>
            <a:r>
              <a:rPr i="1"/>
              <a:t>Если спросят, достаточно ли этих пяти.</a:t>
            </a:r>
            <a:r>
              <a:t> Они закрывают то, что встречается чаще всего. Ни один из них не обещает, что столкновения не будет, и это сказано в правой колонке у каждого.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курс собирают так же — несколькими сессиями разом, в одной рабочей копии. Три случая из его журнала.</a:t>
            </a:r>
          </a:p>
          <a:p/>
          <a:p>
            <a:r>
              <a:t>Первый. Шесть сессий правили одну деку в одном каталоге. Соседняя сборка переписала входной файл в тот момент, когда его читал конвертер. Код возврата ноль, построчно «отрисован слайд сорок четыре … пятьдесят», «PDF скопирован», число страниц верное — и все пятьдесят четыре страницы из пятидесяти четырёх пустые, файл похудел с шести с лишним до двух с половиной мегабайт. Поймали сравнением времён: вход оказался новее выхода.</a:t>
            </a:r>
          </a:p>
          <a:p/>
          <a:p>
            <a:r>
              <a:t>Второй. Две сессии правили один файл сборки, и чтение попало в середину чужой записи. Сборка упала с жалобой на имя, которого «нет», — строка объявления в файле была. Через полминуты та же сборка прошла без правок.</a:t>
            </a:r>
          </a:p>
          <a:p/>
          <a:p>
            <a:r>
              <a:t>Третий. Лекцию собирали параллельно с другой в одном каталоге, и ветку переключали из обеих сессий: больше семи переключений за сессию, около двух часов на восстановление. После перехода на отдельные копии — три, затем четыре параллельные сборки без единого столкновения.</a:t>
            </a:r>
          </a:p>
          <a:p/>
          <a:p>
            <a:r>
              <a:t>Все привычные признаки успеха сошлись. Правду показал только сам результат.</a:t>
            </a:r>
          </a:p>
          <a:p/>
          <a:p>
            <a:r>
              <a:t>---</a:t>
            </a:r>
          </a:p>
          <a:p/>
          <a:p>
            <a:r>
              <a:rPr b="1"/>
              <a:t>Справка.</a:t>
            </a:r>
          </a:p>
          <a:p/>
          <a:p>
            <a:r>
              <a:rPr i="1"/>
              <a:t>Если спросят, чем это кончилось в правилах курса.</a:t>
            </a:r>
            <a:r>
              <a:t> Отдельная копия на сессию стала обязательной, и это записано в инструкции репозитория вместе с причиной. Отсюда же взялся второй обход — не трогать общий файл вовсе: собирать свой набор страниц в своём каталоге, и тогда чужая сборка ваш вход переписать не может.</a:t>
            </a:r>
          </a:p>
          <a:p/>
          <a:p>
            <a:r>
              <a:rPr i="1"/>
              <a:t>Если спросят, почему пустой PDF не поймали раньше.</a:t>
            </a:r>
            <a:r>
              <a:t> Потому что искали поломку в своих слайдах: страницы белые, значит сломал тот, кто правил последним. Признак, по которому это опознаётся, вообще не в содержимом — он во времени правки входного файла.</a:t>
            </a:r>
          </a:p>
          <a:p/>
          <a:p>
            <a:r>
              <a:rPr i="1"/>
              <a:t>Если спросят, при чём здесь роли, если во всех трёх случаях сессии.</a:t>
            </a:r>
            <a:r>
              <a:t> Ломается общий каталог, и ему безразлично, кто в нём работает. Для ролей разница одна: своей копии у них по умолчанию нет вовсе, поэтому выбора между копией и зонами там не возникает.</a:t>
            </a:r>
          </a:p>
          <a:p/>
          <a:p>
            <a:r>
              <a:rPr i="1"/>
              <a:t>Если прозвучит «значит, параллельно работать нельзя».</a:t>
            </a:r>
            <a:r>
              <a:t> Параллельно работали и продолжают: четыре сборки разом на отдельных копиях прошли без столкновений. Запретить пришлось общий каталог под ней.</a:t>
            </a:r>
          </a:p>
          <a:p/>
          <a:p>
            <a:r>
              <a:rPr i="1"/>
              <a:t>Если спросят, как вообще заметили второй случай.</a:t>
            </a:r>
            <a:r>
              <a:t> Случайно: та же сборка через полминуты прошла без правок. Ошибка, исчезающая сама, — признак того, что читали состояние, которое кто-то в этот момент менял.</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обещанный ответ. Копию роли дать можно: одна строка в её описании — и роль работает во временной копии, которая убирается сама, если роль ничего не изменила. Поле существует. Включают его редко, и цена складывается из трёх вещей.</a:t>
            </a:r>
          </a:p>
          <a:p/>
          <a:p>
            <a:r>
              <a:t>Первое: ветка такой копии отрастает от ветки по умолчанию репозитория. От того, что вы начали в своём каталоге, она не отрастает, пока отдельную настройку не поменяли. То есть работы в процессе изолированная роль просто не видит.</a:t>
            </a:r>
          </a:p>
          <a:p/>
          <a:p>
            <a:r>
              <a:t>Второе, и на нём всё держится: канал назад у роли один — итоговый текст. Правки остаются в её каталоге, на её ветке. Принести их в вашу работу приходится вам, руками.</a:t>
            </a:r>
          </a:p>
          <a:p/>
          <a:p>
            <a:r>
              <a:t>Отсюда критерий. Копию дают, когда работа роли — цельное изменение, которое нормально принять веткой: механический перебор по многим файлам. Копию не дают, когда роль правит начатое вами: изоляция отрежет её от этой работы.</a:t>
            </a:r>
          </a:p>
          <a:p/>
          <a:p>
            <a:r>
              <a:t>И последняя строка: напарникам в команде агентов копий не дают вовсе. Предписание для них то же — развести работу по файлам.</a:t>
            </a:r>
          </a:p>
          <a:p/>
          <a:p>
            <a:r>
              <a:t>---</a:t>
            </a:r>
          </a:p>
          <a:p/>
          <a:p>
            <a:r>
              <a:rPr b="1"/>
              <a:t>Справка.</a:t>
            </a:r>
          </a:p>
          <a:p/>
          <a:p>
            <a:r>
              <a:rPr i="1"/>
              <a:t>Если спросят, зачем тогда поле вообще сделали.</a:t>
            </a:r>
            <a:r>
              <a:t> Под работу, которая целиком принадлежит роли: перебрать соглашение по всему дереву, переписать десятки файлов под один шаблон. Там копия окупается, и для таких случаев есть готовый приём, который делит одно крупное изменение на десятки изолированных ролей разом.</a:t>
            </a:r>
          </a:p>
          <a:p/>
          <a:p>
            <a:r>
              <a:rPr i="1"/>
              <a:t>Если спросят, можно ли сделать так, чтобы изолированная роль видела начатую работу.</a:t>
            </a:r>
            <a:r>
              <a:t> Можно, и это отдельная настройка: базу ветки переключают с ветки по умолчанию на ваше текущее состояние. Документация прямо называет этот случай — изоляция роли, которой нужно работать по незавершённому.</a:t>
            </a:r>
          </a:p>
          <a:p/>
          <a:p>
            <a:r>
              <a:rPr i="1"/>
              <a:t>Если спросят, почему возврат такая большая цена.</a:t>
            </a:r>
            <a:r>
              <a:t> Потому что в обычном режиме его просто нет: роль правит там, где лежит работа, и правка уже на месте. Изоляция меняет это на «правка готова и лежит в стороне», и дальше её кто-то должен внести.</a:t>
            </a:r>
          </a:p>
          <a:p/>
          <a:p>
            <a:r>
              <a:rPr i="1"/>
              <a:t>Если прозвучит «значит, ролям изоляция вообще не нужна».</a:t>
            </a:r>
            <a:r>
              <a:t> Нужна ровно под один класс работы. Вопрос, где этот класс кончается, честно открыт, и с него начинается обсуждение — следующий экран.</a:t>
            </a:r>
          </a:p>
          <a:p/>
          <a:p>
            <a:r>
              <a:rPr i="1"/>
              <a:t>Если спросят, что станет с копией роли, когда роль закончила.</a:t>
            </a:r>
            <a:r>
              <a:t> Если роль ничего не изменила, копию убирают сразу. Если изменила — копия остаётся лежать до уборки, вместе с веткой. Забытые копии ролей накапливаются так же, как забытые ветки.</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Копия разводит сессии, зоны разводят исполнителей внутри сессии. Где кончается одно и начинается другое, каждая команда решает сама, и у меня готового ответа нет.</a:t>
            </a:r>
          </a:p>
          <a:p/>
          <a:p>
            <a:r>
              <a:t>Два вопроса. Первый: что должно быть верно про две работы, чтобы вы согласились вести их в одной папке, и по какому признаку заводите копию. Второй: сколько исполнителей с правом записи вы держите в одной папке разом — число и признак, по которому остановитесь.</a:t>
            </a:r>
          </a:p>
          <a:p/>
          <a:p>
            <a:r>
              <a:t>Называйте ответ вместе с условием, при котором он меняется.</a:t>
            </a:r>
          </a:p>
          <a:p/>
          <a:p>
            <a:r>
              <a:t>---</a:t>
            </a:r>
          </a:p>
          <a:p/>
          <a:p>
            <a:r>
              <a:rPr b="1"/>
              <a:t>Справка.</a:t>
            </a:r>
          </a:p>
          <a:p/>
          <a:p>
            <a:r>
              <a:rPr i="1"/>
              <a:t>Если зал молчит.</a:t>
            </a:r>
            <a:r>
              <a:t> Начать с конкретного: у кого прямо сейчас открыто больше одной сессии на одном репозитории? Дальше — к тому, кто поднял руку: что в этих сессиях лежит и переключал ли кто-нибудь из них ветку.</a:t>
            </a:r>
          </a:p>
          <a:p/>
          <a:p>
            <a:r>
              <a:rPr i="1"/>
              <a:t>Если прозвучит «всегда отдельная копия, без исключений».</a:t>
            </a:r>
            <a:r>
              <a:t> Спросить про тридцатисекундную правку опечатки в тексте и про репозиторий с тяжёлыми файлами, где копия поднимается долго. Позиция сильная, цена у неё тоже есть, и назвать её стоит вслух.</a:t>
            </a:r>
          </a:p>
          <a:p/>
          <a:p>
            <a:r>
              <a:rPr i="1"/>
              <a:t>Если прозвучит «по очереди надёжнее».</a:t>
            </a:r>
            <a:r>
              <a:t> Спросить, что происходит, когда очередь длиннее рабочего дня. Прошлый кейс показал, что параллельность лежит в самой задаче; этот добавил, чем за неё платят.</a:t>
            </a:r>
          </a:p>
          <a:p/>
          <a:p>
            <a:r>
              <a:rPr i="1"/>
              <a:t>Если прозвучит число исполнителей больше десяти.</a:t>
            </a:r>
            <a:r>
              <a:t> Спросить, кто сводит их результаты и сколько времени занимает это сведение. Числа здесь редко упираются в устройство, они упираются в чтение результатов человеком.</a:t>
            </a:r>
          </a:p>
          <a:p/>
          <a:p>
            <a:r>
              <a:rPr i="1"/>
              <a:t>Если спор уходит в сторону инструмента.</a:t>
            </a:r>
            <a:r>
              <a:t> Вернуть к признаку: нас интересует то, по чему именно вы решаете, вне зависимости от названия команды. Условие, названное вслух, переносится на другой инструмент; привычка — нет.</a:t>
            </a:r>
          </a:p>
          <a:p/>
          <a:p>
            <a:r>
              <a:rPr i="1"/>
              <a:t>Третий вопрос про запас, если первые два закрылись быстро.</a:t>
            </a:r>
            <a:r>
              <a:t> Кому принадлежит файл, который нужен двоим, — владельцу, очереди или отдельному проходу сведения?</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человек, с которого занятие начиналось. В понедельник агент ответил по репозиторию, и двух просьб заказчика в ответе не оказалось: внутри их не было вовсе. В среду, уже в рабочем продукте, он прочитал всё, где правило могло проверяться, собрал верный список — и переспросил то, что ему объясняли в начале сессии: чтение съело место, в котором лежала сама работа.</a:t>
            </a:r>
          </a:p>
          <a:p/>
          <a:p>
            <a:r>
              <a:t>Вот что стоит на месте обоих промахов. Третья строка, понедельник: права урезаются до подключения, не после, и без вычеркнутой строки «все репозитории, включая приватные» воспроизводится документированная утечка. Четвёртая строка, среда: делегировать можно бесплатно, без единой строки конфигурации, чтение уходит в контекст роли, а обратно приходит итог. Чего эта строка не делает: рабочий каталог она не разводит — исполнители правят там, где лежит работа, и столкновения там убирают раскладкой зон.</a:t>
            </a:r>
          </a:p>
          <a:p/>
          <a:p>
            <a:r>
              <a:t>Хук и скилл — те же формулировки, что в начале занятия, заново я их не читаю. Четыре строки заполнены.</a:t>
            </a:r>
          </a:p>
          <a:p/>
          <a:p>
            <a:r>
              <a:t>---</a:t>
            </a:r>
          </a:p>
          <a:p/>
          <a:p>
            <a:r>
              <a:rPr b="1"/>
              <a:t>Справка.</a:t>
            </a:r>
          </a:p>
          <a:p/>
          <a:p>
            <a:r>
              <a:rPr i="1"/>
              <a:t>Если спросят, почему понедельник закрывает именно MCP, а среда — субагент.</a:t>
            </a:r>
            <a:r>
              <a:t> По тому, чего не хватало. В понедельник нужного не было внутри вовсе, и контекст любого размера этого не меняет — помогает только доступ к системе, которая живёт отдельно. В среду всё нужное внутрь влезло и вытеснило работу — помогает чужой контекст, в котором читают за нас и возвращают итог.</a:t>
            </a:r>
          </a:p>
          <a:p/>
          <a:p>
            <a:r>
              <a:rPr i="1"/>
              <a:t>Если спросят, где посмотреть замеры по MCP и субагенту.</a:t>
            </a:r>
            <a:r>
              <a:t> По MCP — замер токенов и статусов живёт в документации продукта и в карточке конкретного сервера в сессии, не в репозитории. По субагенту — то же у себя: </a:t>
            </a:r>
            <a:r>
              <a:rPr>
                <a:latin typeface="Consolas"/>
              </a:rPr>
              <a:t>git worktree list</a:t>
            </a:r>
            <a:r>
              <a:t> показывает, есть ли у вас хоть одна отдельная копия и сколько сессий стоят сейчас на одном каталоге.</a:t>
            </a:r>
          </a:p>
          <a:p/>
          <a:p>
            <a:r>
              <a:rPr i="1"/>
              <a:t>Если спросят про колонку «что не делает / ограничение» у новых строк.</a:t>
            </a:r>
            <a:r>
              <a:t> Тот же критерий, что у хука и скилла: это не чья-то наивность. Так механизм описан до того, как его замерили, а здесь показано, где заканчивается то, что он реально делает.</a:t>
            </a:r>
          </a:p>
          <a:p/>
          <a:p>
            <a:r>
              <a:rPr i="1"/>
              <a:t>Порядок строк.</a:t>
            </a:r>
            <a:r>
              <a:t> Тот же, что на вопросе занятия и на карте: хук, скилл, MCP, субагент. Не меняется — на этом совпадении держится весь возврат вопроса.</a:t>
            </a:r>
          </a:p>
          <a:p/>
          <a:p>
            <a:r>
              <a:rPr i="1"/>
              <a:t>Если прозвучит «а эти два промаха были настоящие».</a:t>
            </a:r>
            <a:r>
              <a:t> Сцены учебные, собранные из типовых ситуаций на настоящем проекте, — так и было сказано на обложке. Проверяемые числа занятия стоят отдельно и всегда с источником.</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сегодня произошло с репозиторием. Смотрите на метку в каждой строке — она здесь важнее самой схемы.</a:t>
            </a:r>
          </a:p>
          <a:p/>
          <a:p>
            <a:r>
              <a:t>Хук, скилл, CLAUDE.md и документационный слой стоят так же, как в начале занятия. Это с мостика не изменилось.</a:t>
            </a:r>
          </a:p>
          <a:p/>
          <a:p>
            <a:r>
              <a:t>Два новых файла — </a:t>
            </a:r>
            <a:r>
              <a:rPr>
                <a:latin typeface="Consolas"/>
              </a:rPr>
              <a:t>.mcp.json</a:t>
            </a:r>
            <a:r>
              <a:t> и файл роли субагента — на этой схеме есть, но коммита у них нет и не будет. Демо-репозиторий дальше не строится: это решение, не забытая работа. Называю это прямо, потому что занятие всё время было про разницу между тем, что написано и что уже работает, и прятать эту же разницу в собственном итоге было бы странно.</a:t>
            </a:r>
          </a:p>
          <a:p/>
          <a:p>
            <a:r>
              <a:t>Обратите внимание, что это за две строки. Одна приносит внутрь то, чего внутри нет, вторая выносит наружу то, что внутрь не помещается. Два хода, которыми занятие отвечало на оба промаха, на этом проекте выглядят как два файла по известным путям — написанных, разобранных построчно и не закоммиченных.</a:t>
            </a:r>
          </a:p>
          <a:p/>
          <a:p>
            <a:r>
              <a:t>---</a:t>
            </a:r>
          </a:p>
          <a:p/>
          <a:p>
            <a:r>
              <a:rPr b="1"/>
              <a:t>Справка.</a:t>
            </a:r>
          </a:p>
          <a:p/>
          <a:p>
            <a:r>
              <a:rPr i="1"/>
              <a:t>Если спросят, почему демо-репозиторий не достроили.</a:t>
            </a:r>
            <a:r>
              <a:t> Решение принято заранее и объявлено вслух, недосмотром оно не является: два занятия с материалом MCP и субагента дороже, чем занятие с демо-репозиторием, достроенным до конца.</a:t>
            </a:r>
          </a:p>
          <a:p/>
          <a:p>
            <a:r>
              <a:rPr i="1"/>
              <a:t>Если спросят, как тогда проверить то, что сегодня разобрано.</a:t>
            </a:r>
            <a:r>
              <a:t> Следующий слайд отвечает на это прямо: часть сегодняшнего материала проверяется, часть — нет, и названо, что именно.</a:t>
            </a:r>
          </a:p>
          <a:p/>
          <a:p>
            <a:r>
              <a:rPr i="1"/>
              <a:t>Если спросят про имена файлов.</a:t>
            </a:r>
            <a:r>
              <a:t> </a:t>
            </a:r>
            <a:r>
              <a:rPr>
                <a:latin typeface="Consolas"/>
              </a:rPr>
              <a:t>.mcp.json</a:t>
            </a:r>
            <a:r>
              <a:t> и </a:t>
            </a:r>
            <a:r>
              <a:rPr>
                <a:latin typeface="Consolas"/>
              </a:rPr>
              <a:t>diff-reviewer.md</a:t>
            </a:r>
            <a:r>
              <a:t> — не придуманные имена, это артефакты с разобранных сегодня экранов: файл подключения собирали построчно в первом случае блока MCP, файл роли разбирали на одностраничнике ступени субагента. Пути те же, без расхождений.</a:t>
            </a:r>
          </a:p>
          <a:p/>
          <a:p>
            <a:r>
              <a:rPr i="1"/>
              <a:t>Если спросят, где посмотреть эти файлы целиком.</a:t>
            </a:r>
            <a:r>
              <a:t> Оба разбирались построчно сегодня, каждый на своём экране: собранный </a:t>
            </a:r>
            <a:r>
              <a:rPr>
                <a:latin typeface="Consolas"/>
              </a:rPr>
              <a:t>.mcp.json</a:t>
            </a:r>
            <a:r>
              <a:t> с порядком при конфликте имён и файл роли с тремя инструментами вместо всех. Там же названо, какая строка за что отвечает; схема здесь показывает только статус.</a:t>
            </a:r>
          </a:p>
          <a:p/>
          <a:p>
            <a:r>
              <a:rPr i="1"/>
              <a:t>Если спросят, почему у хука коммит есть, а у скилла нет.</a:t>
            </a:r>
            <a:r>
              <a:t> Эту метку поставило прошлое занятие и по той же причине: хук был заведён и проверен на живом репозитории, скилл разобран по частям, но до коммита не дошёл. С тех пор метка не менялась, и сегодня к ней добавились ещё две того же рода.</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вопрос уже звучал в начале занятия, после двух промахов, и свой ответ вы держали при себе. Формулировка та же, знак в знак: работа вышла за контекст агента — что вы заводите первым: приносите внутрь то, чего внутри нет, или выносите наружу то, что внутрь не помещается?</a:t>
            </a:r>
          </a:p>
          <a:p/>
          <a:p>
            <a:r>
              <a:t>Сначала руки: у кого ответ изменился за сегодня. Потом два-три голоса — что именно его изменило. Свой ответ не называю, чужие не оцениваю.</a:t>
            </a:r>
          </a:p>
          <a:p/>
          <a:p>
            <a:r>
              <a:t>---</a:t>
            </a:r>
          </a:p>
          <a:p/>
          <a:p>
            <a:r>
              <a:rPr b="1"/>
              <a:t>Справка.</a:t>
            </a:r>
          </a:p>
          <a:p/>
          <a:p>
            <a:r>
              <a:rPr i="1"/>
              <a:t>Что обычно меняет ответ, и что на каждое отвечать.</a:t>
            </a:r>
            <a:r>
              <a:t> Ожидаемое движение: от «беру то, что под рукой, без разбора» к выбору по критерию — данных не хватает физически, значит доступ наружу; чтение съедает место и повторяется из сессии в сессию, значит отдельный исполнитель. Второе движение: от недооценки цены к прямому её учёту — чужой код и место в контексте у одного расширения, лишние права у другого. Оба движения подтверждаю как честные: это и есть материал, который сегодня проверяли.</a:t>
            </a:r>
          </a:p>
          <a:p/>
          <a:p>
            <a:r>
              <a:rPr i="1"/>
              <a:t>Если зал молчит.</a:t>
            </a:r>
            <a:r>
              <a:t> Напоминаю, что появилось за занятие: критерий для доступа наружу и критерий для урезанной роли, оба с ценой, названной прямо. Больше не подсказываю — здесь работает пауза.</a:t>
            </a:r>
          </a:p>
          <a:p/>
          <a:p>
            <a:r>
              <a:rPr i="1"/>
              <a:t>Если прозвучит «а какой ответ правильный».</a:t>
            </a:r>
            <a:r>
              <a:t> Правильного нет и сегодня: выбор зависит от того, чего в конкретном проекте не хватает — того, чего внутри нет вовсе, или места, которое съедает чтение.</a:t>
            </a:r>
          </a:p>
          <a:p/>
          <a:p>
            <a:r>
              <a:rPr i="1"/>
              <a:t>Если ответ не изменился ни у кого.</a:t>
            </a:r>
            <a:r>
              <a:t> Это честный исход, и спорить с ним нечем: спрашиваю тогда про цену: изменилось ли представление о том, чего стоит каждый из двух ходов. Обычно меняется именно она.</a:t>
            </a:r>
          </a:p>
          <a:p/>
          <a:p>
            <a:r>
              <a:rPr i="1"/>
              <a:t>Чего здесь не делаю.</a:t>
            </a:r>
            <a:r>
              <a:t> Итог не подвожу — он идёт отдельно, последним. Ничего сделать после занятия не прошу.</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Посмотрите, где сегодня появилась команда, которую можно выполнить и получить ответ, а где её нет.</a:t>
            </a:r>
          </a:p>
          <a:p/>
          <a:p>
            <a:r>
              <a:t>Из шести сегодняшних карточек опору несут две. Статус сервера подтверждается прямо на вашей машине: </a:t>
            </a:r>
            <a:r>
              <a:rPr>
                <a:latin typeface="Consolas"/>
              </a:rPr>
              <a:t>claude mcp list</a:t>
            </a:r>
            <a:r>
              <a:t> и явный именованный вызов. Исполнители в одной папке — командой </a:t>
            </a:r>
            <a:r>
              <a:rPr>
                <a:latin typeface="Consolas"/>
              </a:rPr>
              <a:t>git worktree list</a:t>
            </a:r>
            <a:r>
              <a:t> у себя: она печатает, сколько сессий сейчас стоят на одном каталоге. На этом же курс поймал сам себя — три столкновения в собственном журнале, и журнал открыт перед вами. Остальные четыре карточки опираются на документированное исследование: CVE, контролируемый эксперимент, сотни размеченных трасс. Команды, которую можно выполнить здесь и сейчас, под ними нет, и это названо прямо.</a:t>
            </a:r>
          </a:p>
          <a:p/>
          <a:p>
            <a:r>
              <a:t>И последнее — то, ради чего всё шло. Два механизма вы сегодня видели; с собой вы уносите вопрос, которым между ними выбирают. Завтра, когда ваша работа перестанет помещаться агенту: чего ей не хватает — того, чего внутри нет вовсе, или места, занятого чтением? Первый случай приносят внутрь, второй выносят наружу. Разработчик, с чьих двух промахов занятие начиналось, теперь различает эти случаи сам — и это весь ответ на вопрос, который вы только что слышали второй раз.</a:t>
            </a:r>
          </a:p>
          <a:p/>
          <a:p>
            <a:r>
              <a:t>---</a:t>
            </a:r>
          </a:p>
          <a:p/>
          <a:p>
            <a:r>
              <a:rPr b="1"/>
              <a:t>Справка.</a:t>
            </a:r>
          </a:p>
          <a:p/>
          <a:p>
            <a:r>
              <a:rPr i="1"/>
              <a:t>Что делают команды, которыми проверяется сегодняшний материал.</a:t>
            </a:r>
            <a:r>
              <a:t> </a:t>
            </a:r>
            <a:r>
              <a:rPr>
                <a:latin typeface="Consolas"/>
              </a:rPr>
              <a:t>claude mcp list</a:t>
            </a:r>
            <a:r>
              <a:t> и </a:t>
            </a:r>
            <a:r>
              <a:rPr>
                <a:latin typeface="Consolas"/>
              </a:rPr>
              <a:t>/mcp</a:t>
            </a:r>
            <a:r>
              <a:t> печатают статус подключения и, при явном именованном вызове, доказывают реальную работу сервера. </a:t>
            </a:r>
            <a:r>
              <a:rPr>
                <a:latin typeface="Consolas"/>
              </a:rPr>
              <a:t>git worktree list</a:t>
            </a:r>
            <a:r>
              <a:t> печатает, сколько отдельных копий репозитория у вас есть и на каком каталоге стоит каждая, — отсюда и видно, сколько сессий делят один каталог. Тем же счётом курс поймал сам себя: шесть сессий в одной копии, пустой PDF при коде возврата ноль и около двух часов на восстановление ветки.</a:t>
            </a:r>
          </a:p>
          <a:p/>
          <a:p>
            <a:r>
              <a:rPr i="1"/>
              <a:t>Если спросят, почему опора есть не у всех шести кейсов.</a:t>
            </a:r>
            <a:r>
              <a:t> У четырёх кейсов доказательная база — документированное исследование, замеры в документации и инженерные блоги: контролируемого прогона на занятии не поставишь, сотни размеченных трасс не повторишь, замер контекста требует подготовленной сессии. Проверяемость здесь другого рода — читается первоисточник, команда не выполняется. Это разница в природе материала, не недосмотр.</a:t>
            </a:r>
          </a:p>
          <a:p/>
          <a:p>
            <a:r>
              <a:rPr i="1"/>
              <a:t>Если спросят, что считать результатом занятия.</a:t>
            </a:r>
            <a:r>
              <a:t> Не количество файлов. Результат — вопрос, которым выбирают ход, и цена, названная у каждого из двух. Проверяемость — половина этого результата: про часть сегодняшнего материала можно задать вопрос и получить ответ командой, про другую часть пока нет, и это сказано прямо.</a:t>
            </a:r>
          </a:p>
          <a:p/>
          <a:p>
            <a:r>
              <a:rPr i="1"/>
              <a:t>Если спросят, что делать с последним вопросом.</a:t>
            </a:r>
            <a:r>
              <a:t> Ответить себе, и всё. Домашней работы из него не делаю, присылать ответ не нужно, на следующем занятии его не спрашиваю: перенос на свой репозиторий — работа отдельного занятия, и начинать её с невыполненного задания было бы нечестно.</a:t>
            </a:r>
          </a:p>
          <a:p/>
          <a:p>
            <a:r>
              <a:rPr i="1"/>
              <a:t>Остаток себе.</a:t>
            </a:r>
            <a:r>
              <a:t> Призыва что-либо сделать не даю. Пустые клетки сетки не комментирую дольше одной фразы.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7315200" cy="1298448"/>
          </a:xfrm>
          <a:prstGeom prst="rect">
            <a:avLst/>
          </a:prstGeom>
          <a:noFill/>
        </p:spPr>
        <p:txBody>
          <a:bodyPr wrap="square" lIns="0" rIns="0" tIns="0" bIns="0" anchor="ctr">
            <a:spAutoFit/>
          </a:bodyPr>
          <a:lstStyle/>
          <a:p>
            <a:pPr algn="l">
              <a:lnSpc>
                <a:spcPts val="3564"/>
              </a:lnSpc>
              <a:spcAft>
                <a:spcPts val="0"/>
              </a:spcAft>
            </a:pPr>
            <a:r>
              <a:rPr sz="3300" b="1" i="0">
                <a:solidFill>
                  <a:srgbClr val="FFFFFF"/>
                </a:solidFill>
                <a:latin typeface="Arial"/>
              </a:rPr>
              <a:t>Доступ наружу и урезанная роль</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amka-n01-hero-sem06.png"/>
          <p:cNvPicPr>
            <a:picLocks noChangeAspect="1"/>
          </p:cNvPicPr>
          <p:nvPr/>
        </p:nvPicPr>
        <p:blipFill>
          <a:blip r:embed="rId2"/>
          <a:stretch>
            <a:fillRect/>
          </a:stretch>
        </p:blipFill>
        <p:spPr>
          <a:xfrm>
            <a:off x="0" y="3708478"/>
            <a:ext cx="12191695" cy="3149521"/>
          </a:xfrm>
          <a:prstGeom prst="rect">
            <a:avLst/>
          </a:prstGeom>
        </p:spPr>
      </p:pic>
      <p:sp>
        <p:nvSpPr>
          <p:cNvPr id="6" name="Rectangle 5"/>
          <p:cNvSpPr/>
          <p:nvPr/>
        </p:nvSpPr>
        <p:spPr>
          <a:xfrm>
            <a:off x="822960" y="2176272"/>
            <a:ext cx="32004" cy="15163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139696"/>
            <a:ext cx="10241280" cy="224790"/>
          </a:xfrm>
          <a:prstGeom prst="rect">
            <a:avLst/>
          </a:prstGeom>
          <a:noFill/>
        </p:spPr>
        <p:txBody>
          <a:bodyPr wrap="square" lIns="0" rIns="0" tIns="0" bIns="0" anchor="t">
            <a:spAutoFit/>
          </a:bodyPr>
          <a:lstStyle/>
          <a:p>
            <a:pPr algn="l">
              <a:lnSpc>
                <a:spcPts val="1770"/>
              </a:lnSpc>
              <a:spcAft>
                <a:spcPts val="400"/>
              </a:spcAft>
            </a:pPr>
            <a:r>
              <a:rPr sz="1500" b="0" i="0">
                <a:solidFill>
                  <a:srgbClr val="D6E2EC"/>
                </a:solidFill>
                <a:latin typeface="Arial"/>
              </a:rPr>
              <a:t>Две недели назад агент знал про этот проект всё. В понедельник он уверенно ответил мимо.</a:t>
            </a:r>
          </a:p>
        </p:txBody>
      </p:sp>
      <p:sp>
        <p:nvSpPr>
          <p:cNvPr id="8" name="Rounded Rectangle 7"/>
          <p:cNvSpPr/>
          <p:nvPr/>
        </p:nvSpPr>
        <p:spPr>
          <a:xfrm>
            <a:off x="822960" y="2602230"/>
            <a:ext cx="10515600"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6" y="2730246"/>
            <a:ext cx="9966960" cy="566928"/>
          </a:xfrm>
          <a:prstGeom prst="rect">
            <a:avLst/>
          </a:prstGeom>
          <a:noFill/>
        </p:spPr>
        <p:txBody>
          <a:bodyPr wrap="square" lIns="0" rIns="0" tIns="0" bIns="0" anchor="ctr">
            <a:spAutoFit/>
          </a:bodyPr>
          <a:lstStyle/>
          <a:p>
            <a:pPr algn="ctr">
              <a:lnSpc>
                <a:spcPts val="2074"/>
              </a:lnSpc>
              <a:spcAft>
                <a:spcPts val="300"/>
              </a:spcAft>
            </a:pPr>
            <a:r>
              <a:rPr sz="1700" b="1" i="0">
                <a:solidFill>
                  <a:srgbClr val="141B2E"/>
                </a:solidFill>
                <a:latin typeface="Arial"/>
              </a:rPr>
              <a:t>«Агент не поглупел — так что же перестало помещаться?»</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мы остановились</a:t>
            </a:r>
          </a:p>
        </p:txBody>
      </p:sp>
      <p:sp>
        <p:nvSpPr>
          <p:cNvPr id="3" name="Rounded Rectangle 2"/>
          <p:cNvSpPr/>
          <p:nvPr/>
        </p:nvSpPr>
        <p:spPr>
          <a:xfrm>
            <a:off x="502920" y="1716786"/>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99666"/>
            <a:ext cx="15341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366260" y="1899666"/>
            <a:ext cx="62830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6" name="TextBox 5"/>
          <p:cNvSpPr txBox="1"/>
          <p:nvPr/>
        </p:nvSpPr>
        <p:spPr>
          <a:xfrm>
            <a:off x="8795628" y="1899666"/>
            <a:ext cx="25612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7" name="TextBox 6"/>
          <p:cNvSpPr txBox="1"/>
          <p:nvPr/>
        </p:nvSpPr>
        <p:spPr>
          <a:xfrm>
            <a:off x="685800" y="2181733"/>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8" name="TextBox 7"/>
          <p:cNvSpPr txBox="1"/>
          <p:nvPr/>
        </p:nvSpPr>
        <p:spPr>
          <a:xfrm>
            <a:off x="2366260" y="2181733"/>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9" name="TextBox 8"/>
          <p:cNvSpPr txBox="1"/>
          <p:nvPr/>
        </p:nvSpPr>
        <p:spPr>
          <a:xfrm>
            <a:off x="8795628" y="2181733"/>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0" name="Connector 9"/>
          <p:cNvCxnSpPr/>
          <p:nvPr/>
        </p:nvCxnSpPr>
        <p:spPr>
          <a:xfrm>
            <a:off x="685800" y="25288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528887"/>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2" name="TextBox 11"/>
          <p:cNvSpPr txBox="1"/>
          <p:nvPr/>
        </p:nvSpPr>
        <p:spPr>
          <a:xfrm>
            <a:off x="2366260" y="2528887"/>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3" name="TextBox 12"/>
          <p:cNvSpPr txBox="1"/>
          <p:nvPr/>
        </p:nvSpPr>
        <p:spPr>
          <a:xfrm>
            <a:off x="8795628" y="2528887"/>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только план, коммита нет</a:t>
            </a:r>
          </a:p>
        </p:txBody>
      </p:sp>
      <p:cxnSp>
        <p:nvCxnSpPr>
          <p:cNvPr id="14" name="Connector 13"/>
          <p:cNvCxnSpPr/>
          <p:nvPr/>
        </p:nvCxnSpPr>
        <p:spPr>
          <a:xfrm>
            <a:off x="685800" y="28760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76042"/>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6" name="TextBox 15"/>
          <p:cNvSpPr txBox="1"/>
          <p:nvPr/>
        </p:nvSpPr>
        <p:spPr>
          <a:xfrm>
            <a:off x="2366260" y="2876042"/>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было 24 строки / 4 раздела → стало 40 строк / 5 разделов</a:t>
            </a:r>
          </a:p>
        </p:txBody>
      </p:sp>
      <p:sp>
        <p:nvSpPr>
          <p:cNvPr id="17" name="TextBox 16"/>
          <p:cNvSpPr txBox="1"/>
          <p:nvPr/>
        </p:nvSpPr>
        <p:spPr>
          <a:xfrm>
            <a:off x="8795628" y="2876042"/>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8" name="Connector 17"/>
          <p:cNvCxnSpPr/>
          <p:nvPr/>
        </p:nvCxnSpPr>
        <p:spPr>
          <a:xfrm>
            <a:off x="685800" y="3223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23196"/>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0" name="TextBox 19"/>
          <p:cNvSpPr txBox="1"/>
          <p:nvPr/>
        </p:nvSpPr>
        <p:spPr>
          <a:xfrm>
            <a:off x="2366260" y="3223196"/>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1" name="TextBox 20"/>
          <p:cNvSpPr txBox="1"/>
          <p:nvPr/>
        </p:nvSpPr>
        <p:spPr>
          <a:xfrm>
            <a:off x="8795628" y="3223196"/>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sp>
        <p:nvSpPr>
          <p:cNvPr id="22" name="Rounded Rectangle 21"/>
          <p:cNvSpPr/>
          <p:nvPr/>
        </p:nvSpPr>
        <p:spPr>
          <a:xfrm>
            <a:off x="502920" y="442074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54875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вещи, и все четыре — внутри репозитория. Пока работа была здесь, агент держал проект целиком.»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строки закрыты — обе про то, что внутри</a:t>
            </a:r>
          </a:p>
        </p:txBody>
      </p:sp>
      <p:sp>
        <p:nvSpPr>
          <p:cNvPr id="3" name="Rounded Rectangle 2"/>
          <p:cNvSpPr/>
          <p:nvPr/>
        </p:nvSpPr>
        <p:spPr>
          <a:xfrm>
            <a:off x="502920" y="1519174"/>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02054"/>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702054"/>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98412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98412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6964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96400"/>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696400"/>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34086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8680"/>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Rounded Rectangle 18"/>
          <p:cNvSpPr/>
          <p:nvPr/>
        </p:nvSpPr>
        <p:spPr>
          <a:xfrm>
            <a:off x="2110343"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31028"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951713" y="348183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685800" y="3755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55834"/>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Rounded Rectangle 23"/>
          <p:cNvSpPr/>
          <p:nvPr/>
        </p:nvSpPr>
        <p:spPr>
          <a:xfrm>
            <a:off x="2110343"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31028"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951713" y="382898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2920" y="495338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08139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Хук и скилл работают внутри репозитория. Обе сегодняшние строки — про его край.</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промаха, причины противоположные</a:t>
            </a:r>
          </a:p>
        </p:txBody>
      </p:sp>
      <p:sp>
        <p:nvSpPr>
          <p:cNvPr id="3" name="Rounded Rectangle 2"/>
          <p:cNvSpPr/>
          <p:nvPr/>
        </p:nvSpPr>
        <p:spPr>
          <a:xfrm>
            <a:off x="502920" y="1744954"/>
            <a:ext cx="11183112" cy="1889823"/>
          </a:xfrm>
          <a:prstGeom prst="roundRect">
            <a:avLst>
              <a:gd name="adj" fmla="val 161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7834"/>
            <a:ext cx="64942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КОГДА И ЧТО</a:t>
            </a:r>
          </a:p>
        </p:txBody>
      </p:sp>
      <p:sp>
        <p:nvSpPr>
          <p:cNvPr id="5" name="TextBox 4"/>
          <p:cNvSpPr txBox="1"/>
          <p:nvPr/>
        </p:nvSpPr>
        <p:spPr>
          <a:xfrm>
            <a:off x="7326344" y="1927834"/>
            <a:ext cx="40305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ПОЧЕМУ ТАК ВЫШЛО</a:t>
            </a:r>
          </a:p>
        </p:txBody>
      </p:sp>
      <p:sp>
        <p:nvSpPr>
          <p:cNvPr id="6" name="TextBox 5"/>
          <p:cNvSpPr txBox="1"/>
          <p:nvPr/>
        </p:nvSpPr>
        <p:spPr>
          <a:xfrm>
            <a:off x="685800" y="2209901"/>
            <a:ext cx="64942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Понедельник. Ответил по репозиторию — двух просьб заказчика в ответе не оказалось. Сорванный срок.</a:t>
            </a:r>
          </a:p>
        </p:txBody>
      </p:sp>
      <p:sp>
        <p:nvSpPr>
          <p:cNvPr id="7" name="TextBox 6"/>
          <p:cNvSpPr txBox="1"/>
          <p:nvPr/>
        </p:nvSpPr>
        <p:spPr>
          <a:xfrm>
            <a:off x="7326344" y="2209901"/>
            <a:ext cx="40305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Внутри их нет вовсе. Контекст хоть вдвое больше — там они всё равно не появятся.</a:t>
            </a:r>
          </a:p>
        </p:txBody>
      </p:sp>
      <p:cxnSp>
        <p:nvCxnSpPr>
          <p:cNvPr id="8" name="Connector 7"/>
          <p:cNvCxnSpPr/>
          <p:nvPr/>
        </p:nvCxnSpPr>
        <p:spPr>
          <a:xfrm>
            <a:off x="685800" y="27396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39618"/>
            <a:ext cx="649424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Среда, рабочий продукт. Прочитал всё, где правило могло проверяться, собрал верный список — и начал переспрашивать то, что объясняли в начале сессии. Полчаса.</a:t>
            </a:r>
          </a:p>
        </p:txBody>
      </p:sp>
      <p:sp>
        <p:nvSpPr>
          <p:cNvPr id="10" name="TextBox 9"/>
          <p:cNvSpPr txBox="1"/>
          <p:nvPr/>
        </p:nvSpPr>
        <p:spPr>
          <a:xfrm>
            <a:off x="7326344" y="2739618"/>
            <a:ext cx="403050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Всё нужное внутрь влезло — и вытеснило то, ради чего сессию открывали.</a:t>
            </a:r>
          </a:p>
        </p:txBody>
      </p:sp>
      <p:sp>
        <p:nvSpPr>
          <p:cNvPr id="11" name="Rounded Rectangle 10"/>
          <p:cNvSpPr/>
          <p:nvPr/>
        </p:nvSpPr>
        <p:spPr>
          <a:xfrm>
            <a:off x="502920" y="430229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3030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блока — два ответа на один вопрос</a:t>
            </a:r>
          </a:p>
        </p:txBody>
      </p:sp>
      <p:sp>
        <p:nvSpPr>
          <p:cNvPr id="3" name="Rounded Rectangle 2"/>
          <p:cNvSpPr/>
          <p:nvPr/>
        </p:nvSpPr>
        <p:spPr>
          <a:xfrm>
            <a:off x="502920" y="1796897"/>
            <a:ext cx="11183112" cy="2072386"/>
          </a:xfrm>
          <a:prstGeom prst="roundRect">
            <a:avLst>
              <a:gd name="adj" fmla="val 1470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79777"/>
            <a:ext cx="252640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БЛОК</a:t>
            </a:r>
          </a:p>
        </p:txBody>
      </p:sp>
      <p:sp>
        <p:nvSpPr>
          <p:cNvPr id="5" name="TextBox 4"/>
          <p:cNvSpPr txBox="1"/>
          <p:nvPr/>
        </p:nvSpPr>
        <p:spPr>
          <a:xfrm>
            <a:off x="3358504" y="1979777"/>
            <a:ext cx="29030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ПЕРВЫЙ</a:t>
            </a:r>
          </a:p>
        </p:txBody>
      </p:sp>
      <p:sp>
        <p:nvSpPr>
          <p:cNvPr id="6" name="TextBox 5"/>
          <p:cNvSpPr txBox="1"/>
          <p:nvPr/>
        </p:nvSpPr>
        <p:spPr>
          <a:xfrm>
            <a:off x="6407821" y="1979777"/>
            <a:ext cx="22832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ВТОРОЙ</a:t>
            </a:r>
          </a:p>
        </p:txBody>
      </p:sp>
      <p:sp>
        <p:nvSpPr>
          <p:cNvPr id="7" name="TextBox 6"/>
          <p:cNvSpPr txBox="1"/>
          <p:nvPr/>
        </p:nvSpPr>
        <p:spPr>
          <a:xfrm>
            <a:off x="8837335" y="1979777"/>
            <a:ext cx="25195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ТРЕТИЙ</a:t>
            </a:r>
          </a:p>
        </p:txBody>
      </p:sp>
      <p:sp>
        <p:nvSpPr>
          <p:cNvPr id="8" name="TextBox 7"/>
          <p:cNvSpPr txBox="1"/>
          <p:nvPr/>
        </p:nvSpPr>
        <p:spPr>
          <a:xfrm>
            <a:off x="685800" y="2261844"/>
            <a:ext cx="252640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Принести внутрь то, чего внутри нет — MCP, доступ наружу</a:t>
            </a:r>
          </a:p>
        </p:txBody>
      </p:sp>
      <p:sp>
        <p:nvSpPr>
          <p:cNvPr id="9" name="TextBox 8"/>
          <p:cNvSpPr txBox="1"/>
          <p:nvPr/>
        </p:nvSpPr>
        <p:spPr>
          <a:xfrm>
            <a:off x="3358504" y="2261844"/>
            <a:ext cx="29030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Агенту регулярно нужны данные, которых нет в репозитории. Решаем.</a:t>
            </a:r>
          </a:p>
        </p:txBody>
      </p:sp>
      <p:sp>
        <p:nvSpPr>
          <p:cNvPr id="10" name="TextBox 9"/>
          <p:cNvSpPr txBox="1"/>
          <p:nvPr/>
        </p:nvSpPr>
        <p:spPr>
          <a:xfrm>
            <a:off x="6407821" y="2261844"/>
            <a:ext cx="22832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Сервер подключён, а агент через него не ходит. Решаем.</a:t>
            </a:r>
          </a:p>
        </p:txBody>
      </p:sp>
      <p:sp>
        <p:nvSpPr>
          <p:cNvPr id="11" name="TextBox 10"/>
          <p:cNvSpPr txBox="1"/>
          <p:nvPr/>
        </p:nvSpPr>
        <p:spPr>
          <a:xfrm>
            <a:off x="8837335" y="2261844"/>
            <a:ext cx="25195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Подключённые серверы занимают контекст до начала работы. Решаем.</a:t>
            </a:r>
          </a:p>
        </p:txBody>
      </p:sp>
      <p:cxnSp>
        <p:nvCxnSpPr>
          <p:cNvPr id="12" name="Connector 11"/>
          <p:cNvCxnSpPr/>
          <p:nvPr/>
        </p:nvCxnSpPr>
        <p:spPr>
          <a:xfrm>
            <a:off x="685800" y="29741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74124"/>
            <a:ext cx="252640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Вынести наружу то, что внутрь не помещается — субагент, урезанная роль</a:t>
            </a:r>
          </a:p>
        </p:txBody>
      </p:sp>
      <p:sp>
        <p:nvSpPr>
          <p:cNvPr id="14" name="TextBox 13"/>
          <p:cNvSpPr txBox="1"/>
          <p:nvPr/>
        </p:nvSpPr>
        <p:spPr>
          <a:xfrm>
            <a:off x="3358504" y="2974124"/>
            <a:ext cx="29030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Чтение, нужное для одной правки, вытесняет из контекста саму правку. Решаем.</a:t>
            </a:r>
          </a:p>
        </p:txBody>
      </p:sp>
      <p:sp>
        <p:nvSpPr>
          <p:cNvPr id="15" name="TextBox 14"/>
          <p:cNvSpPr txBox="1"/>
          <p:nvPr/>
        </p:nvSpPr>
        <p:spPr>
          <a:xfrm>
            <a:off x="6407821" y="2974124"/>
            <a:ext cx="22832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пришла одной фразой, а сроку до неё два дня. Решаем.</a:t>
            </a:r>
          </a:p>
        </p:txBody>
      </p:sp>
      <p:sp>
        <p:nvSpPr>
          <p:cNvPr id="16" name="TextBox 15"/>
          <p:cNvSpPr txBox="1"/>
          <p:nvPr/>
        </p:nvSpPr>
        <p:spPr>
          <a:xfrm>
            <a:off x="8837335" y="2974124"/>
            <a:ext cx="25195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Исполнителей несколько, рабочая папка у них одна. Решаем.</a:t>
            </a:r>
          </a:p>
        </p:txBody>
      </p:sp>
      <p:sp>
        <p:nvSpPr>
          <p:cNvPr id="17" name="Rounded Rectangle 16"/>
          <p:cNvSpPr/>
          <p:nvPr/>
        </p:nvSpPr>
        <p:spPr>
          <a:xfrm>
            <a:off x="502920" y="453679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66481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«Один и тот же предел. Два хода навстречу друг другу.»</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7" name="TextBox 6"/>
          <p:cNvSpPr txBox="1"/>
          <p:nvPr/>
        </p:nvSpPr>
        <p:spPr>
          <a:xfrm>
            <a:off x="1536192" y="2710815"/>
            <a:ext cx="9144000" cy="45339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«Я же дописал это в задаче»</a:t>
            </a:r>
          </a:p>
        </p:txBody>
      </p:sp>
      <p:sp>
        <p:nvSpPr>
          <p:cNvPr id="8" name="TextBox 7"/>
          <p:cNvSpPr txBox="1"/>
          <p:nvPr/>
        </p:nvSpPr>
        <p:spPr>
          <a:xfrm>
            <a:off x="822960" y="347510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Задача живёт в трекере и меняется без нас. У агента в чате — снимок, снятый руками сегодня утром.</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Файлы внутри, файлы снаружи — а трекер задач?</a:t>
            </a:r>
          </a:p>
        </p:txBody>
      </p:sp>
      <p:sp>
        <p:nvSpPr>
          <p:cNvPr id="3" name="Rectangle 2"/>
          <p:cNvSpPr/>
          <p:nvPr/>
        </p:nvSpPr>
        <p:spPr>
          <a:xfrm>
            <a:off x="502920" y="1589913"/>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589913"/>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ЧЕМ АГЕНТ УЖЕ ПОЛЬЗУЕТСЯ</a:t>
            </a:r>
          </a:p>
        </p:txBody>
      </p:sp>
      <p:sp>
        <p:nvSpPr>
          <p:cNvPr id="6" name="TextBox 5"/>
          <p:cNvSpPr txBox="1"/>
          <p:nvPr/>
        </p:nvSpPr>
        <p:spPr>
          <a:xfrm>
            <a:off x="6304788"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А СПИСОК ЗАДАЧ В ТРЕКЕРЕ?</a:t>
            </a:r>
          </a:p>
        </p:txBody>
      </p:sp>
      <p:sp>
        <p:nvSpPr>
          <p:cNvPr id="7" name="Rectangle 6"/>
          <p:cNvSpPr/>
          <p:nvPr/>
        </p:nvSpPr>
        <p:spPr>
          <a:xfrm>
            <a:off x="6090818" y="1589913"/>
            <a:ext cx="7315" cy="274472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589913"/>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01977"/>
            <a:ext cx="5381244" cy="19354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Файлы репозитория — агент читает их напрямую, это материал прошлых занятий.</a:t>
            </a:r>
          </a:p>
          <a:p>
            <a:pPr algn="l">
              <a:lnSpc>
                <a:spcPts val="2340"/>
              </a:lnSpc>
              <a:spcAft>
                <a:spcPts val="600"/>
              </a:spcAft>
            </a:pPr>
            <a:r>
              <a:rPr sz="1800" b="0" i="0">
                <a:solidFill>
                  <a:srgbClr val="141B2E"/>
                </a:solidFill>
                <a:latin typeface="Arial"/>
              </a:rPr>
              <a:t>Файлы, которые дали явно: вставили текст в чат, приложили документ.</a:t>
            </a:r>
          </a:p>
          <a:p>
            <a:pPr algn="l">
              <a:lnSpc>
                <a:spcPts val="2340"/>
              </a:lnSpc>
              <a:spcAft>
                <a:spcPts val="600"/>
              </a:spcAft>
            </a:pPr>
            <a:r>
              <a:rPr sz="1800" b="0" i="0">
                <a:solidFill>
                  <a:srgbClr val="141B2E"/>
                </a:solidFill>
                <a:latin typeface="Arial"/>
              </a:rPr>
              <a:t>Оба источника — файлы. Прочитал и работай.</a:t>
            </a:r>
          </a:p>
        </p:txBody>
      </p:sp>
      <p:sp>
        <p:nvSpPr>
          <p:cNvPr id="10" name="TextBox 9"/>
          <p:cNvSpPr txBox="1"/>
          <p:nvPr/>
        </p:nvSpPr>
        <p:spPr>
          <a:xfrm>
            <a:off x="6304788" y="2101977"/>
            <a:ext cx="5381244" cy="223266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Заказчик ведёт его отдельно от проекта: в дереве репозитория такого файла нет.</a:t>
            </a:r>
          </a:p>
          <a:p>
            <a:pPr algn="l">
              <a:lnSpc>
                <a:spcPts val="2340"/>
              </a:lnSpc>
              <a:spcAft>
                <a:spcPts val="600"/>
              </a:spcAft>
            </a:pPr>
            <a:r>
              <a:rPr sz="1800" b="0" i="0">
                <a:solidFill>
                  <a:srgbClr val="141B2E"/>
                </a:solidFill>
                <a:latin typeface="Arial"/>
              </a:rPr>
              <a:t>Дать один раз и забыть не выйдет — список меняется без нас каждый день.</a:t>
            </a:r>
          </a:p>
          <a:p>
            <a:pPr algn="l">
              <a:lnSpc>
                <a:spcPts val="2340"/>
              </a:lnSpc>
              <a:spcAft>
                <a:spcPts val="600"/>
              </a:spcAft>
            </a:pPr>
            <a:r>
              <a:rPr sz="1800" b="0" i="0">
                <a:solidFill>
                  <a:srgbClr val="141B2E"/>
                </a:solidFill>
                <a:latin typeface="Arial"/>
              </a:rPr>
              <a:t>Снимок на сегодняшнее утро устареет к обеду. Нужен способ спросить систему в момент работы.</a:t>
            </a:r>
          </a:p>
        </p:txBody>
      </p:sp>
      <p:sp>
        <p:nvSpPr>
          <p:cNvPr id="11" name="Rounded Rectangle 10"/>
          <p:cNvSpPr/>
          <p:nvPr/>
        </p:nvSpPr>
        <p:spPr>
          <a:xfrm>
            <a:off x="502920" y="500214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21208" y="505701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139309"/>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Такое обращение к системе называется вызовом API. Обычная догадка на этом месте: за него придётся платить написанной интеграцией. Проверим на пяти способах.</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 у вас или снаружи, разговор один и тот же</a:t>
            </a:r>
          </a:p>
        </p:txBody>
      </p:sp>
      <p:pic>
        <p:nvPicPr>
          <p:cNvPr id="3" name="Picture 2" descr="mcp-n08-gde-chto-stoit.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MCP и сервер, одним экраном</a:t>
            </a:r>
          </a:p>
        </p:txBody>
      </p:sp>
      <p:pic>
        <p:nvPicPr>
          <p:cNvPr id="3" name="Picture 2" descr="mcp-n09-mehaniz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Вторник, в который перенос руками дал сбой</a:t>
            </a:r>
          </a:p>
        </p:txBody>
      </p:sp>
      <p:sp>
        <p:nvSpPr>
          <p:cNvPr id="3" name="Rounded Rectangle 2"/>
          <p:cNvSpPr/>
          <p:nvPr/>
        </p:nvSpPr>
        <p:spPr>
          <a:xfrm>
            <a:off x="502920" y="106659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9461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Сайт живёт третий месяц. Заказчик уже месяц ведёт задачи в трекере — разработчик сам это предложил, чтобы правки не терялись в мессенджере. Перенос между трекером и чатом агента разработчик делает руками, несколько раз в неделю.</a:t>
            </a:r>
          </a:p>
        </p:txBody>
      </p:sp>
      <p:sp>
        <p:nvSpPr>
          <p:cNvPr id="5" name="Rounded Rectangle 4"/>
          <p:cNvSpPr/>
          <p:nvPr/>
        </p:nvSpPr>
        <p:spPr>
          <a:xfrm>
            <a:off x="502920" y="2522270"/>
            <a:ext cx="11183112" cy="2164842"/>
          </a:xfrm>
          <a:prstGeom prst="roundRect">
            <a:avLst>
              <a:gd name="adj" fmla="val 1407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17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7417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 вторника: открыл задачу «форма не отправляется с телефона», скопировал текст в чат агенту, ушёл делать правку.</a:t>
            </a:r>
          </a:p>
        </p:txBody>
      </p:sp>
      <p:sp>
        <p:nvSpPr>
          <p:cNvPr id="8" name="TextBox 7"/>
          <p:cNvSpPr txBox="1"/>
          <p:nvPr/>
        </p:nvSpPr>
        <p:spPr>
          <a:xfrm>
            <a:off x="722376" y="327436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27436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Днём заказчик дописал в ту же задачу строку: «и с планшета тоже».</a:t>
            </a:r>
          </a:p>
        </p:txBody>
      </p:sp>
      <p:sp>
        <p:nvSpPr>
          <p:cNvPr id="10" name="TextBox 9"/>
          <p:cNvSpPr txBox="1"/>
          <p:nvPr/>
        </p:nvSpPr>
        <p:spPr>
          <a:xfrm>
            <a:off x="722376" y="3604691"/>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469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Разработчик её не увидел — в чате у него лежал утренний снимок. Вечером правка уехала заказчику.</a:t>
            </a:r>
          </a:p>
        </p:txBody>
      </p:sp>
      <p:sp>
        <p:nvSpPr>
          <p:cNvPr id="12" name="TextBox 11"/>
          <p:cNvSpPr txBox="1"/>
          <p:nvPr/>
        </p:nvSpPr>
        <p:spPr>
          <a:xfrm>
            <a:off x="722376" y="393501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93501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Утром в задаче: «а планшет?». Час на вторую правку и письмо с объяснением, почему требование из задачи до работы не доехало.</a:t>
            </a:r>
          </a:p>
        </p:txBody>
      </p:sp>
      <p:sp>
        <p:nvSpPr>
          <p:cNvPr id="14" name="Rounded Rectangle 13"/>
          <p:cNvSpPr/>
          <p:nvPr/>
        </p:nvSpPr>
        <p:spPr>
          <a:xfrm>
            <a:off x="502920" y="515980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8782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Потерянный час — меньшая часть цены. Большая в том, что заказчик теперь перепроверяет, дошло ли до работы написанное им. Трекер живёт в отдельной системе и меняется каждый день без разработчика: снимок, снятый утром, к вечеру уже неточен.</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дать агенту доступ к трекеру задач?</a:t>
            </a:r>
          </a:p>
        </p:txBody>
      </p:sp>
      <p:sp>
        <p:nvSpPr>
          <p:cNvPr id="3" name="Rounded Rectangle 2"/>
          <p:cNvSpPr/>
          <p:nvPr/>
        </p:nvSpPr>
        <p:spPr>
          <a:xfrm>
            <a:off x="502920" y="208026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0827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способ — и объясните, чем остальные четыре подходят хуже для регулярного доступа.</a:t>
            </a:r>
          </a:p>
        </p:txBody>
      </p:sp>
      <p:sp>
        <p:nvSpPr>
          <p:cNvPr id="5" name="Rounded Rectangle 4"/>
          <p:cNvSpPr/>
          <p:nvPr/>
        </p:nvSpPr>
        <p:spPr>
          <a:xfrm>
            <a:off x="502920"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вызвать API напрямую</a:t>
            </a:r>
          </a:p>
        </p:txBody>
      </p:sp>
      <p:sp>
        <p:nvSpPr>
          <p:cNvPr id="7" name="Rounded Rectangle 6"/>
          <p:cNvSpPr/>
          <p:nvPr/>
        </p:nvSpPr>
        <p:spPr>
          <a:xfrm>
            <a:off x="2768803"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удалённо</a:t>
            </a:r>
          </a:p>
        </p:txBody>
      </p:sp>
      <p:sp>
        <p:nvSpPr>
          <p:cNvPr id="9" name="Rounded Rectangle 8"/>
          <p:cNvSpPr/>
          <p:nvPr/>
        </p:nvSpPr>
        <p:spPr>
          <a:xfrm>
            <a:off x="5034686"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локально</a:t>
            </a:r>
          </a:p>
        </p:txBody>
      </p:sp>
      <p:sp>
        <p:nvSpPr>
          <p:cNvPr id="11" name="Rounded Rectangle 10"/>
          <p:cNvSpPr/>
          <p:nvPr/>
        </p:nvSpPr>
        <p:spPr>
          <a:xfrm>
            <a:off x="7300569"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написать свой сервер</a:t>
            </a:r>
          </a:p>
        </p:txBody>
      </p:sp>
      <p:sp>
        <p:nvSpPr>
          <p:cNvPr id="13" name="Rounded Rectangle 12"/>
          <p:cNvSpPr/>
          <p:nvPr/>
        </p:nvSpPr>
        <p:spPr>
          <a:xfrm>
            <a:off x="9566452"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вызывать готовую команду gh каждый раз</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Кода интеграции не пишет ни один из пяти</a:t>
            </a:r>
          </a:p>
        </p:txBody>
      </p:sp>
      <p:sp>
        <p:nvSpPr>
          <p:cNvPr id="3" name="Rounded Rectangle 2"/>
          <p:cNvSpPr/>
          <p:nvPr/>
        </p:nvSpPr>
        <p:spPr>
          <a:xfrm>
            <a:off x="502920" y="943356"/>
            <a:ext cx="11183112" cy="3522027"/>
          </a:xfrm>
          <a:prstGeom prst="roundRect">
            <a:avLst>
              <a:gd name="adj" fmla="val 86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7068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СПОСОБ</a:t>
            </a:r>
          </a:p>
        </p:txBody>
      </p:sp>
      <p:sp>
        <p:nvSpPr>
          <p:cNvPr id="5" name="TextBox 4"/>
          <p:cNvSpPr txBox="1"/>
          <p:nvPr/>
        </p:nvSpPr>
        <p:spPr>
          <a:xfrm>
            <a:off x="1802789" y="1126236"/>
            <a:ext cx="349619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ДЕЛАЕТ</a:t>
            </a:r>
          </a:p>
        </p:txBody>
      </p:sp>
      <p:sp>
        <p:nvSpPr>
          <p:cNvPr id="6" name="TextBox 5"/>
          <p:cNvSpPr txBox="1"/>
          <p:nvPr/>
        </p:nvSpPr>
        <p:spPr>
          <a:xfrm>
            <a:off x="5445291" y="1126236"/>
            <a:ext cx="591155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НЕ ДЕЛАЕТ / ОГРАНИЧЕНИЕ</a:t>
            </a:r>
          </a:p>
        </p:txBody>
      </p:sp>
      <p:sp>
        <p:nvSpPr>
          <p:cNvPr id="7" name="TextBox 6"/>
          <p:cNvSpPr txBox="1"/>
          <p:nvPr/>
        </p:nvSpPr>
        <p:spPr>
          <a:xfrm>
            <a:off x="685800" y="1378331"/>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вызвать API напрямую</a:t>
            </a:r>
          </a:p>
        </p:txBody>
      </p:sp>
      <p:sp>
        <p:nvSpPr>
          <p:cNvPr id="8" name="TextBox 7"/>
          <p:cNvSpPr txBox="1"/>
          <p:nvPr/>
        </p:nvSpPr>
        <p:spPr>
          <a:xfrm>
            <a:off x="1802789" y="1378331"/>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агент сам пишет и шлёт запросы к эндпойнтам, сам разбирает ответ — отдельный код интеграции писать не нужно</a:t>
            </a:r>
          </a:p>
        </p:txBody>
      </p:sp>
      <p:sp>
        <p:nvSpPr>
          <p:cNvPr id="9" name="TextBox 8"/>
          <p:cNvSpPr txBox="1"/>
          <p:nvPr/>
        </p:nvSpPr>
        <p:spPr>
          <a:xfrm>
            <a:off x="5445291" y="1378331"/>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заранее не знает спецификацию сервиса: какие есть точки, какие у них параметры и ограничения — без документации или swagger-описания агент их не угадает</a:t>
            </a:r>
          </a:p>
        </p:txBody>
      </p:sp>
      <p:cxnSp>
        <p:nvCxnSpPr>
          <p:cNvPr id="10" name="Connector 9"/>
          <p:cNvCxnSpPr/>
          <p:nvPr/>
        </p:nvCxnSpPr>
        <p:spPr>
          <a:xfrm>
            <a:off x="685800" y="19591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59165"/>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удалённо</a:t>
            </a:r>
          </a:p>
        </p:txBody>
      </p:sp>
      <p:sp>
        <p:nvSpPr>
          <p:cNvPr id="12" name="TextBox 11"/>
          <p:cNvSpPr txBox="1"/>
          <p:nvPr/>
        </p:nvSpPr>
        <p:spPr>
          <a:xfrm>
            <a:off x="1802789" y="1959165"/>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сервис, который кто-то хостит и обновляет сам; у вас не крутится отдельный процесс</a:t>
            </a:r>
          </a:p>
        </p:txBody>
      </p:sp>
      <p:sp>
        <p:nvSpPr>
          <p:cNvPr id="13" name="TextBox 12"/>
          <p:cNvSpPr txBox="1"/>
          <p:nvPr/>
        </p:nvSpPr>
        <p:spPr>
          <a:xfrm>
            <a:off x="5445291" y="1959165"/>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управляете не вы: не видно, что сервис делает внутри и когда в нём что-то меняется; плюс обычные вопросы безопасности удалённого сервиса — кому доверяете ключ, у кого ещё есть доступ</a:t>
            </a:r>
          </a:p>
        </p:txBody>
      </p:sp>
      <p:cxnSp>
        <p:nvCxnSpPr>
          <p:cNvPr id="14" name="Connector 13"/>
          <p:cNvCxnSpPr/>
          <p:nvPr/>
        </p:nvCxnSpPr>
        <p:spPr>
          <a:xfrm>
            <a:off x="685800" y="2540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40000"/>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локально</a:t>
            </a:r>
          </a:p>
        </p:txBody>
      </p:sp>
      <p:sp>
        <p:nvSpPr>
          <p:cNvPr id="16" name="TextBox 15"/>
          <p:cNvSpPr txBox="1"/>
          <p:nvPr/>
        </p:nvSpPr>
        <p:spPr>
          <a:xfrm>
            <a:off x="1802789" y="2540000"/>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пакет исполняется у вас, конфигурация — строка в репозитории, видна всей команде в ревью; контроля больше, чем у удалённого</a:t>
            </a:r>
          </a:p>
        </p:txBody>
      </p:sp>
      <p:sp>
        <p:nvSpPr>
          <p:cNvPr id="17" name="TextBox 16"/>
          <p:cNvSpPr txBox="1"/>
          <p:nvPr/>
        </p:nvSpPr>
        <p:spPr>
          <a:xfrm>
            <a:off x="5445291" y="2540000"/>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это всё равно живой процесс на вашей машине и чужой код — со всеми его зависимостями и правом на обновление</a:t>
            </a:r>
          </a:p>
        </p:txBody>
      </p:sp>
      <p:cxnSp>
        <p:nvCxnSpPr>
          <p:cNvPr id="18" name="Connector 17"/>
          <p:cNvCxnSpPr/>
          <p:nvPr/>
        </p:nvCxnSpPr>
        <p:spPr>
          <a:xfrm>
            <a:off x="685800" y="3120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0834"/>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свой сервер</a:t>
            </a:r>
          </a:p>
        </p:txBody>
      </p:sp>
      <p:sp>
        <p:nvSpPr>
          <p:cNvPr id="20" name="TextBox 19"/>
          <p:cNvSpPr txBox="1"/>
          <p:nvPr/>
        </p:nvSpPr>
        <p:spPr>
          <a:xfrm>
            <a:off x="1802789" y="3120834"/>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даёт ровно нужный набор операций и прав, без чужого кода в процессе</a:t>
            </a:r>
          </a:p>
        </p:txBody>
      </p:sp>
      <p:sp>
        <p:nvSpPr>
          <p:cNvPr id="21" name="TextBox 20"/>
          <p:cNvSpPr txBox="1"/>
          <p:nvPr/>
        </p:nvSpPr>
        <p:spPr>
          <a:xfrm>
            <a:off x="5445291" y="3120834"/>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минимальный сервер сейчас быстро — для этого есть готовый плагин; дорого обходится поддержка: протокол, чужие пользователи, безопасность транспорта — отдельный проект рядом с основным</a:t>
            </a:r>
          </a:p>
        </p:txBody>
      </p:sp>
      <p:cxnSp>
        <p:nvCxnSpPr>
          <p:cNvPr id="22" name="Connector 21"/>
          <p:cNvCxnSpPr/>
          <p:nvPr/>
        </p:nvCxnSpPr>
        <p:spPr>
          <a:xfrm>
            <a:off x="685800" y="37016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01669"/>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вызывать команду </a:t>
            </a:r>
            <a:r>
              <a:rPr sz="950" b="0" i="0">
                <a:solidFill>
                  <a:srgbClr val="141B2E"/>
                </a:solidFill>
                <a:latin typeface="Consolas"/>
              </a:rPr>
              <a:t>gh</a:t>
            </a:r>
            <a:r>
              <a:rPr sz="950" b="0" i="0">
                <a:solidFill>
                  <a:srgbClr val="141B2E"/>
                </a:solidFill>
                <a:latin typeface="Arial"/>
              </a:rPr>
              <a:t> каждый раз</a:t>
            </a:r>
          </a:p>
        </p:txBody>
      </p:sp>
      <p:sp>
        <p:nvSpPr>
          <p:cNvPr id="24" name="TextBox 23"/>
          <p:cNvSpPr txBox="1"/>
          <p:nvPr/>
        </p:nvSpPr>
        <p:spPr>
          <a:xfrm>
            <a:off x="1802789" y="3701669"/>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готовый официальный CLI GitHub — авторизацию и разбор ответа он уже решил за вас, кода писать не нужно</a:t>
            </a:r>
          </a:p>
        </p:txBody>
      </p:sp>
      <p:sp>
        <p:nvSpPr>
          <p:cNvPr id="25" name="TextBox 24"/>
          <p:cNvSpPr txBox="1"/>
          <p:nvPr/>
        </p:nvSpPr>
        <p:spPr>
          <a:xfrm>
            <a:off x="5445291" y="3701669"/>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каждый вызов — отдельная команда без общего списка возможностей: агент не видит заранее, что вообще можно сделать, нужный вызов приходится знать заранее</a:t>
            </a:r>
          </a:p>
        </p:txBody>
      </p:sp>
      <p:sp>
        <p:nvSpPr>
          <p:cNvPr id="26" name="Rounded Rectangle 25"/>
          <p:cNvSpPr/>
          <p:nvPr/>
        </p:nvSpPr>
        <p:spPr>
          <a:xfrm>
            <a:off x="502920" y="4629975"/>
            <a:ext cx="82296" cy="148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757991"/>
            <a:ext cx="10643616" cy="1228344"/>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Поворот.</a:t>
            </a:r>
            <a:r>
              <a:rPr sz="1200" b="1" i="0">
                <a:solidFill>
                  <a:srgbClr val="141B2E"/>
                </a:solidFill>
                <a:latin typeface="Arial"/>
              </a:rPr>
              <a:t> Интеграцию не пишут ни в одном из пяти способов: агент сам шлёт запрос и сам разбирает ответ. Разделяет пятёрку другое — знает ли агент заранее, что у системы можно спросить.</a:t>
            </a:r>
          </a:p>
          <a:p>
            <a:pPr algn="l">
              <a:lnSpc>
                <a:spcPts val="1488"/>
              </a:lnSpc>
              <a:spcAft>
                <a:spcPts val="300"/>
              </a:spcAft>
            </a:pPr>
            <a:r>
              <a:rPr sz="1200" b="1" i="0">
                <a:solidFill>
                  <a:srgbClr val="141B2E"/>
                </a:solidFill>
                <a:latin typeface="Arial"/>
              </a:rPr>
              <a:t>Что это оставляет.</a:t>
            </a:r>
            <a:r>
              <a:rPr sz="1200" b="1" i="0">
                <a:solidFill>
                  <a:srgbClr val="141B2E"/>
                </a:solidFill>
                <a:latin typeface="Arial"/>
              </a:rPr>
              <a:t> Свой сервер избыточен: официальный для трекера уже есть. </a:t>
            </a:r>
            <a:r>
              <a:rPr sz="1200" b="1" i="0">
                <a:solidFill>
                  <a:srgbClr val="141B2E"/>
                </a:solidFill>
                <a:latin typeface="Consolas"/>
              </a:rPr>
              <a:t>gh</a:t>
            </a:r>
            <a:r>
              <a:rPr sz="1200" b="1" i="0">
                <a:solidFill>
                  <a:srgbClr val="141B2E"/>
                </a:solidFill>
                <a:latin typeface="Arial"/>
              </a:rPr>
              <a:t> и прямой вызов API закрывают вызов, известный заранее; растущий список операций они перекладывают на память разработчика.</a:t>
            </a:r>
          </a:p>
          <a:p>
            <a:pPr algn="l">
              <a:lnSpc>
                <a:spcPts val="1488"/>
              </a:lnSpc>
              <a:spcAft>
                <a:spcPts val="300"/>
              </a:spcAft>
            </a:pPr>
            <a:r>
              <a:rPr sz="1200" b="1" i="0">
                <a:solidFill>
                  <a:srgbClr val="141B2E"/>
                </a:solidFill>
                <a:latin typeface="Arial"/>
              </a:rPr>
              <a:t>Два законных варианта.</a:t>
            </a:r>
            <a:r>
              <a:rPr sz="1200" b="1" i="0">
                <a:solidFill>
                  <a:srgbClr val="141B2E"/>
                </a:solidFill>
                <a:latin typeface="Arial"/>
              </a:rPr>
              <a:t> Между «удалённо» и «локально» готового ответа нет: свежий официальный пример подключается удалённо, решение занятия — локальный процесс, потому что конфигурация становится кодом в репозитории, видимым в ревью.</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какие операции разрешить, потом — какие права</a:t>
            </a:r>
          </a:p>
        </p:txBody>
      </p:sp>
      <p:sp>
        <p:nvSpPr>
          <p:cNvPr id="3" name="Rounded Rectangle 2"/>
          <p:cNvSpPr/>
          <p:nvPr/>
        </p:nvSpPr>
        <p:spPr>
          <a:xfrm>
            <a:off x="502920" y="1319784"/>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47800"/>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1 — что конкретно агент должен делать?</a:t>
            </a:r>
          </a:p>
        </p:txBody>
      </p:sp>
      <p:sp>
        <p:nvSpPr>
          <p:cNvPr id="5" name="Rounded Rectangle 4"/>
          <p:cNvSpPr/>
          <p:nvPr/>
        </p:nvSpPr>
        <p:spPr>
          <a:xfrm>
            <a:off x="1954841" y="2263325"/>
            <a:ext cx="2581874"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54841" y="2263325"/>
            <a:ext cx="2581874"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читать открытые issue</a:t>
            </a:r>
          </a:p>
        </p:txBody>
      </p:sp>
      <p:sp>
        <p:nvSpPr>
          <p:cNvPr id="7" name="Rounded Rectangle 6"/>
          <p:cNvSpPr/>
          <p:nvPr/>
        </p:nvSpPr>
        <p:spPr>
          <a:xfrm>
            <a:off x="4664731" y="2263325"/>
            <a:ext cx="23769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4731" y="2263325"/>
            <a:ext cx="2376987"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писать комментарий</a:t>
            </a:r>
          </a:p>
        </p:txBody>
      </p:sp>
      <p:sp>
        <p:nvSpPr>
          <p:cNvPr id="9" name="Rounded Rectangle 8"/>
          <p:cNvSpPr/>
          <p:nvPr/>
        </p:nvSpPr>
        <p:spPr>
          <a:xfrm>
            <a:off x="7169735" y="2263325"/>
            <a:ext cx="306437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9735" y="2263325"/>
            <a:ext cx="3064375"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создавать черновик правки</a:t>
            </a:r>
          </a:p>
        </p:txBody>
      </p:sp>
      <p:sp>
        <p:nvSpPr>
          <p:cNvPr id="11" name="Rounded Rectangle 10"/>
          <p:cNvSpPr/>
          <p:nvPr/>
        </p:nvSpPr>
        <p:spPr>
          <a:xfrm>
            <a:off x="502920" y="2830253"/>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2958269"/>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2 — что даёт широкий персональный токен по умолчанию, и что из этого нужно?</a:t>
            </a:r>
          </a:p>
        </p:txBody>
      </p:sp>
      <p:sp>
        <p:nvSpPr>
          <p:cNvPr id="13" name="Rounded Rectangle 12"/>
          <p:cNvSpPr/>
          <p:nvPr/>
        </p:nvSpPr>
        <p:spPr>
          <a:xfrm>
            <a:off x="502920" y="3773795"/>
            <a:ext cx="11183112" cy="1904619"/>
          </a:xfrm>
          <a:prstGeom prst="roundRect">
            <a:avLst>
              <a:gd name="adj" fmla="val 160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56675"/>
            <a:ext cx="4731154"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ПРАВО ПО УМОЛЧАНИЮ</a:t>
            </a:r>
          </a:p>
        </p:txBody>
      </p:sp>
      <p:sp>
        <p:nvSpPr>
          <p:cNvPr id="15" name="TextBox 14"/>
          <p:cNvSpPr txBox="1"/>
          <p:nvPr/>
        </p:nvSpPr>
        <p:spPr>
          <a:xfrm>
            <a:off x="5563258" y="3956675"/>
            <a:ext cx="57935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НУЖНО ДЛЯ НАШЕГО СПИСКА ОПЕРАЦИЙ?</a:t>
            </a:r>
          </a:p>
        </p:txBody>
      </p:sp>
      <p:sp>
        <p:nvSpPr>
          <p:cNvPr id="16" name="TextBox 15"/>
          <p:cNvSpPr txBox="1"/>
          <p:nvPr/>
        </p:nvSpPr>
        <p:spPr>
          <a:xfrm>
            <a:off x="685800" y="4223756"/>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все репозитории пользователя, включая приватные</a:t>
            </a:r>
          </a:p>
        </p:txBody>
      </p:sp>
      <p:sp>
        <p:nvSpPr>
          <p:cNvPr id="17" name="TextBox 16"/>
          <p:cNvSpPr txBox="1"/>
          <p:nvPr/>
        </p:nvSpPr>
        <p:spPr>
          <a:xfrm>
            <a:off x="5563258" y="4223756"/>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18" name="Connector 17"/>
          <p:cNvCxnSpPr/>
          <p:nvPr/>
        </p:nvCxnSpPr>
        <p:spPr>
          <a:xfrm>
            <a:off x="685800" y="45417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541700"/>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чтение и запись</a:t>
            </a:r>
          </a:p>
        </p:txBody>
      </p:sp>
      <p:sp>
        <p:nvSpPr>
          <p:cNvPr id="20" name="TextBox 19"/>
          <p:cNvSpPr txBox="1"/>
          <p:nvPr/>
        </p:nvSpPr>
        <p:spPr>
          <a:xfrm>
            <a:off x="5563258" y="4541700"/>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частично — чтение нужно, запись (комментарий, черновик) нужна</a:t>
            </a:r>
          </a:p>
        </p:txBody>
      </p:sp>
      <p:cxnSp>
        <p:nvCxnSpPr>
          <p:cNvPr id="21" name="Connector 20"/>
          <p:cNvCxnSpPr/>
          <p:nvPr/>
        </p:nvCxnSpPr>
        <p:spPr>
          <a:xfrm>
            <a:off x="685800" y="4859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859645"/>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управление настройками</a:t>
            </a:r>
          </a:p>
        </p:txBody>
      </p:sp>
      <p:sp>
        <p:nvSpPr>
          <p:cNvPr id="23" name="TextBox 22"/>
          <p:cNvSpPr txBox="1"/>
          <p:nvPr/>
        </p:nvSpPr>
        <p:spPr>
          <a:xfrm>
            <a:off x="5563258" y="4859645"/>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24" name="Connector 23"/>
          <p:cNvCxnSpPr/>
          <p:nvPr/>
        </p:nvCxnSpPr>
        <p:spPr>
          <a:xfrm>
            <a:off x="685800" y="51775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177589"/>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удаление</a:t>
            </a:r>
          </a:p>
        </p:txBody>
      </p:sp>
      <p:sp>
        <p:nvSpPr>
          <p:cNvPr id="26" name="TextBox 25"/>
          <p:cNvSpPr txBox="1"/>
          <p:nvPr/>
        </p:nvSpPr>
        <p:spPr>
          <a:xfrm>
            <a:off x="5563258" y="5177589"/>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sp>
        <p:nvSpPr>
          <p:cNvPr id="27" name="Rounded Rectangle 26"/>
          <p:cNvSpPr/>
          <p:nvPr/>
        </p:nvSpPr>
        <p:spPr>
          <a:xfrm>
            <a:off x="502920" y="5843006"/>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71022"/>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Остаётся: один репозиторий, чтение issue, создание черновика правки.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где хранить ключ и в какую область положить файл</a:t>
            </a:r>
          </a:p>
        </p:txBody>
      </p:sp>
      <p:pic>
        <p:nvPicPr>
          <p:cNvPr id="3" name="Picture 2" descr="mcp-n14-oblasti.png"/>
          <p:cNvPicPr>
            <a:picLocks noChangeAspect="1"/>
          </p:cNvPicPr>
          <p:nvPr/>
        </p:nvPicPr>
        <p:blipFill>
          <a:blip r:embed="rId2"/>
          <a:stretch>
            <a:fillRect/>
          </a:stretch>
        </p:blipFill>
        <p:spPr>
          <a:xfrm>
            <a:off x="502920" y="1455349"/>
            <a:ext cx="11183112" cy="4668949"/>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Собранный файл — и порядок при конфликте имён</a:t>
            </a:r>
          </a:p>
        </p:txBody>
      </p:sp>
      <p:sp>
        <p:nvSpPr>
          <p:cNvPr id="3" name="Rounded Rectangle 2"/>
          <p:cNvSpPr/>
          <p:nvPr/>
        </p:nvSpPr>
        <p:spPr>
          <a:xfrm>
            <a:off x="502920" y="943356"/>
            <a:ext cx="11183112" cy="1701927"/>
          </a:xfrm>
          <a:prstGeom prst="roundRect">
            <a:avLst>
              <a:gd name="adj" fmla="val 11939"/>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979932"/>
            <a:ext cx="50292" cy="162877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126236"/>
            <a:ext cx="10744200" cy="1336167"/>
          </a:xfrm>
          <a:prstGeom prst="rect">
            <a:avLst/>
          </a:prstGeom>
          <a:noFill/>
        </p:spPr>
        <p:txBody>
          <a:bodyPr wrap="none" lIns="0" rIns="0" tIns="0" bIns="0" anchor="t">
            <a:spAutoFit/>
          </a:bodyPr>
          <a:lstStyle/>
          <a:p>
            <a:pPr algn="l">
              <a:lnSpc>
                <a:spcPts val="1105"/>
              </a:lnSpc>
              <a:spcAft>
                <a:spcPts val="0"/>
              </a:spcAft>
            </a:pPr>
            <a:r>
              <a:rPr sz="850" b="0" i="0">
                <a:solidFill>
                  <a:srgbClr val="141B2E"/>
                </a:solidFill>
                <a:latin typeface="Consolas"/>
              </a:rPr>
              <a:t>{</a:t>
            </a:r>
          </a:p>
          <a:p>
            <a:pPr algn="l">
              <a:lnSpc>
                <a:spcPts val="1105"/>
              </a:lnSpc>
              <a:spcAft>
                <a:spcPts val="0"/>
              </a:spcAft>
            </a:pPr>
            <a:r>
              <a:rPr sz="850" b="0" i="0">
                <a:solidFill>
                  <a:srgbClr val="141B2E"/>
                </a:solidFill>
                <a:latin typeface="Consolas"/>
              </a:rPr>
              <a:t>  "mcpServers": {</a:t>
            </a:r>
          </a:p>
          <a:p>
            <a:pPr algn="l">
              <a:lnSpc>
                <a:spcPts val="1105"/>
              </a:lnSpc>
              <a:spcAft>
                <a:spcPts val="0"/>
              </a:spcAft>
            </a:pPr>
            <a:r>
              <a:rPr sz="850" b="0" i="0">
                <a:solidFill>
                  <a:srgbClr val="141B2E"/>
                </a:solidFill>
                <a:latin typeface="Consolas"/>
              </a:rPr>
              <a:t>    "github": {</a:t>
            </a:r>
          </a:p>
          <a:p>
            <a:pPr algn="l">
              <a:lnSpc>
                <a:spcPts val="1105"/>
              </a:lnSpc>
              <a:spcAft>
                <a:spcPts val="0"/>
              </a:spcAft>
            </a:pPr>
            <a:r>
              <a:rPr sz="850" b="0" i="0">
                <a:solidFill>
                  <a:srgbClr val="141B2E"/>
                </a:solidFill>
                <a:latin typeface="Consolas"/>
              </a:rPr>
              <a:t>      "command": "npx",</a:t>
            </a:r>
          </a:p>
          <a:p>
            <a:pPr algn="l">
              <a:lnSpc>
                <a:spcPts val="1105"/>
              </a:lnSpc>
              <a:spcAft>
                <a:spcPts val="0"/>
              </a:spcAft>
            </a:pPr>
            <a:r>
              <a:rPr sz="850" b="0" i="0">
                <a:solidFill>
                  <a:srgbClr val="141B2E"/>
                </a:solidFill>
                <a:latin typeface="Consolas"/>
              </a:rPr>
              <a:t>      "args": ["-y", "@modelcontextprotocol/server-github"],</a:t>
            </a:r>
          </a:p>
          <a:p>
            <a:pPr algn="l">
              <a:lnSpc>
                <a:spcPts val="1105"/>
              </a:lnSpc>
              <a:spcAft>
                <a:spcPts val="0"/>
              </a:spcAft>
            </a:pPr>
            <a:r>
              <a:rPr sz="850" b="0" i="0">
                <a:solidFill>
                  <a:srgbClr val="141B2E"/>
                </a:solidFill>
                <a:latin typeface="Consolas"/>
              </a:rPr>
              <a:t>      "env": { "GITHUB_PERSONAL_ACCESS_TOKEN": "${GITHUB_PAT}"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a:t>
            </a:r>
          </a:p>
        </p:txBody>
      </p:sp>
      <p:sp>
        <p:nvSpPr>
          <p:cNvPr id="6" name="Rounded Rectangle 5"/>
          <p:cNvSpPr/>
          <p:nvPr/>
        </p:nvSpPr>
        <p:spPr>
          <a:xfrm>
            <a:off x="502920" y="2809875"/>
            <a:ext cx="11183112" cy="1317498"/>
          </a:xfrm>
          <a:prstGeom prst="roundRect">
            <a:avLst>
              <a:gd name="adj" fmla="val 2313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58952" y="312547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6424" y="3029331"/>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mcpServers</a:t>
            </a:r>
            <a:r>
              <a:rPr sz="1100" b="0" i="0">
                <a:solidFill>
                  <a:srgbClr val="141B2E"/>
                </a:solidFill>
                <a:latin typeface="Arial"/>
              </a:rPr>
              <a:t> — корень: все серверы этой области. </a:t>
            </a:r>
            <a:r>
              <a:rPr sz="1100" b="0" i="0">
                <a:solidFill>
                  <a:srgbClr val="141B2E"/>
                </a:solidFill>
                <a:latin typeface="Consolas"/>
              </a:rPr>
              <a:t>"github"</a:t>
            </a:r>
            <a:r>
              <a:rPr sz="1100" b="0" i="0">
                <a:solidFill>
                  <a:srgbClr val="141B2E"/>
                </a:solidFill>
                <a:latin typeface="Arial"/>
              </a:rPr>
              <a:t> — имя сервера: под ним агент зовёт инструменты, </a:t>
            </a:r>
            <a:r>
              <a:rPr sz="1100" b="0" i="0">
                <a:solidFill>
                  <a:srgbClr val="141B2E"/>
                </a:solidFill>
                <a:latin typeface="Consolas"/>
              </a:rPr>
              <a:t>mcp__github__…</a:t>
            </a:r>
            <a:r>
              <a:rPr sz="1100" b="0" i="0">
                <a:solidFill>
                  <a:srgbClr val="141B2E"/>
                </a:solidFill>
                <a:latin typeface="Arial"/>
              </a:rPr>
              <a:t>.</a:t>
            </a:r>
          </a:p>
        </p:txBody>
      </p:sp>
      <p:sp>
        <p:nvSpPr>
          <p:cNvPr id="9" name="Rounded Rectangle 8"/>
          <p:cNvSpPr/>
          <p:nvPr/>
        </p:nvSpPr>
        <p:spPr>
          <a:xfrm>
            <a:off x="758952" y="341833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 y="332219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"command"</a:t>
            </a:r>
            <a:r>
              <a:rPr sz="1100" b="0" i="0">
                <a:solidFill>
                  <a:srgbClr val="141B2E"/>
                </a:solidFill>
                <a:latin typeface="Arial"/>
              </a:rPr>
              <a:t> и </a:t>
            </a:r>
            <a:r>
              <a:rPr sz="1100" b="0" i="0">
                <a:solidFill>
                  <a:srgbClr val="141B2E"/>
                </a:solidFill>
                <a:latin typeface="Consolas"/>
              </a:rPr>
              <a:t>"args"</a:t>
            </a:r>
            <a:r>
              <a:rPr sz="1100" b="0" i="0">
                <a:solidFill>
                  <a:srgbClr val="141B2E"/>
                </a:solidFill>
                <a:latin typeface="Arial"/>
              </a:rPr>
              <a:t> — чем запускается и что именно: пакет самого сервера.</a:t>
            </a:r>
          </a:p>
        </p:txBody>
      </p:sp>
      <p:sp>
        <p:nvSpPr>
          <p:cNvPr id="11" name="Rounded Rectangle 10"/>
          <p:cNvSpPr/>
          <p:nvPr/>
        </p:nvSpPr>
        <p:spPr>
          <a:xfrm>
            <a:off x="758952" y="37111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6424" y="3615055"/>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"env"</a:t>
            </a:r>
            <a:r>
              <a:rPr sz="1100" b="0" i="0">
                <a:solidFill>
                  <a:srgbClr val="141B2E"/>
                </a:solidFill>
                <a:latin typeface="Arial"/>
              </a:rPr>
              <a:t> — окружение процесса; </a:t>
            </a:r>
            <a:r>
              <a:rPr sz="1100" b="0" i="0">
                <a:solidFill>
                  <a:srgbClr val="141B2E"/>
                </a:solidFill>
                <a:latin typeface="Consolas"/>
              </a:rPr>
              <a:t>${GITHUB_PAT}</a:t>
            </a:r>
            <a:r>
              <a:rPr sz="1100" b="0" i="0">
                <a:solidFill>
                  <a:srgbClr val="141B2E"/>
                </a:solidFill>
                <a:latin typeface="Arial"/>
              </a:rPr>
              <a:t> — подстановка, не сам секрет.</a:t>
            </a:r>
          </a:p>
        </p:txBody>
      </p:sp>
      <p:pic>
        <p:nvPicPr>
          <p:cNvPr id="13" name="Picture 12" descr="mcp-n15-prioritet.png"/>
          <p:cNvPicPr>
            <a:picLocks noChangeAspect="1"/>
          </p:cNvPicPr>
          <p:nvPr/>
        </p:nvPicPr>
        <p:blipFill>
          <a:blip r:embed="rId2"/>
          <a:stretch>
            <a:fillRect/>
          </a:stretch>
        </p:blipFill>
        <p:spPr>
          <a:xfrm>
            <a:off x="1554646" y="4291965"/>
            <a:ext cx="9079659" cy="1986175"/>
          </a:xfrm>
          <a:prstGeom prst="rect">
            <a:avLst/>
          </a:prstGeom>
        </p:spPr>
      </p:pic>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Постоянная плата одинакова: своё, чужое, локально, удалённо</a:t>
            </a:r>
          </a:p>
        </p:txBody>
      </p:sp>
      <p:pic>
        <p:nvPicPr>
          <p:cNvPr id="3" name="Picture 2" descr="mcp-n16-dolya-konteksta.png"/>
          <p:cNvPicPr>
            <a:picLocks noChangeAspect="1"/>
          </p:cNvPicPr>
          <p:nvPr/>
        </p:nvPicPr>
        <p:blipFill>
          <a:blip r:embed="rId2"/>
          <a:stretch>
            <a:fillRect/>
          </a:stretch>
        </p:blipFill>
        <p:spPr>
          <a:xfrm>
            <a:off x="1453436" y="1319784"/>
            <a:ext cx="9282079" cy="2262506"/>
          </a:xfrm>
          <a:prstGeom prst="rect">
            <a:avLst/>
          </a:prstGeom>
        </p:spPr>
      </p:pic>
      <p:sp>
        <p:nvSpPr>
          <p:cNvPr id="4" name="Rounded Rectangle 3"/>
          <p:cNvSpPr/>
          <p:nvPr/>
        </p:nvSpPr>
        <p:spPr>
          <a:xfrm>
            <a:off x="502920" y="374688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7489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Постоянную плату задаёт число инструментов.</a:t>
            </a:r>
            <a:r>
              <a:rPr sz="1150" b="1" i="0">
                <a:solidFill>
                  <a:srgbClr val="141B2E"/>
                </a:solidFill>
                <a:latin typeface="Arial"/>
              </a:rPr>
              <a:t> Имя и короткая инструкция каждого подключённого сервера висят в контексте всегда. Свой сервер, чужой локально, чужой удалённо платят её одинаково: транспорт и авторство значения не имеют. Свободны от неё прямой вызов API и команда вроде </a:t>
            </a:r>
            <a:r>
              <a:rPr sz="1150" b="1" i="0">
                <a:solidFill>
                  <a:srgbClr val="141B2E"/>
                </a:solidFill>
                <a:latin typeface="Consolas"/>
              </a:rPr>
              <a:t>gh</a:t>
            </a:r>
            <a:r>
              <a:rPr sz="1150" b="1" i="0">
                <a:solidFill>
                  <a:srgbClr val="141B2E"/>
                </a:solidFill>
                <a:latin typeface="Arial"/>
              </a:rPr>
              <a:t> — у них нет списка возможностей, висящего в контексте между вызовами.</a:t>
            </a:r>
          </a:p>
        </p:txBody>
      </p:sp>
      <p:sp>
        <p:nvSpPr>
          <p:cNvPr id="6" name="Rounded Rectangle 5"/>
          <p:cNvSpPr/>
          <p:nvPr/>
        </p:nvSpPr>
        <p:spPr>
          <a:xfrm>
            <a:off x="502920" y="472910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5711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 себе.</a:t>
            </a:r>
            <a:r>
              <a:rPr sz="1100" b="1" i="0">
                <a:solidFill>
                  <a:srgbClr val="141B2E"/>
                </a:solidFill>
                <a:latin typeface="Arial"/>
              </a:rPr>
              <a:t> Сколько серверов подключено у вас прямо сейчас и сколько инструментов они описывают? Эту плату вы вносите в каждой сессии — даже в ту, где агент за день не сходил ни к одному.</a:t>
            </a:r>
          </a:p>
        </p:txBody>
      </p:sp>
      <p:sp>
        <p:nvSpPr>
          <p:cNvPr id="8" name="Rounded Rectangle 7"/>
          <p:cNvSpPr/>
          <p:nvPr/>
        </p:nvSpPr>
        <p:spPr>
          <a:xfrm>
            <a:off x="502920" y="551351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4152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Проверить у себя: не выставлен ли </a:t>
            </a:r>
            <a:r>
              <a:rPr sz="1100" b="1" i="0">
                <a:solidFill>
                  <a:srgbClr val="141B2E"/>
                </a:solidFill>
                <a:latin typeface="Consolas"/>
              </a:rPr>
              <a:t>ENABLE_TOOL_SEARCH=false</a:t>
            </a:r>
            <a:r>
              <a:rPr sz="1100" b="1" i="0">
                <a:solidFill>
                  <a:srgbClr val="141B2E"/>
                </a:solidFill>
                <a:latin typeface="Arial"/>
              </a:rPr>
              <a:t>, и что реально показывает карточка конкретного сервера в сессии — команда не устаревает, в отличие от самой цифры.</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Чужая инструкция в issue заставила агента опубликовать приватный код</a:t>
            </a:r>
          </a:p>
        </p:txBody>
      </p:sp>
      <p:sp>
        <p:nvSpPr>
          <p:cNvPr id="3" name="Rounded Rectangle 2"/>
          <p:cNvSpPr/>
          <p:nvPr/>
        </p:nvSpPr>
        <p:spPr>
          <a:xfrm>
            <a:off x="502920" y="1319784"/>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Вернёмся к экрану со-сборки. Мы вычеркнули строку «все репозитории, включая приватные» — вот ровно тот случай, где это решило дело.</a:t>
            </a:r>
          </a:p>
        </p:txBody>
      </p:sp>
      <p:sp>
        <p:nvSpPr>
          <p:cNvPr id="5" name="Rounded Rectangle 4"/>
          <p:cNvSpPr/>
          <p:nvPr/>
        </p:nvSpPr>
        <p:spPr>
          <a:xfrm>
            <a:off x="502920" y="2136648"/>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64664"/>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Смертельное трио</a:t>
            </a:r>
            <a:r>
              <a:rPr sz="1250" b="1" i="0">
                <a:solidFill>
                  <a:srgbClr val="141B2E"/>
                </a:solidFill>
                <a:latin typeface="Arial"/>
              </a:rPr>
              <a:t> (Simon Willison, 16.06.2025): доступ к приватным данным + обработка недоверенного внешнего контента + канал наружу. При всех трёх атакующему достаточно написать текст, который агент прочитает в рамках обычной работы.</a:t>
            </a:r>
          </a:p>
        </p:txBody>
      </p:sp>
      <p:sp>
        <p:nvSpPr>
          <p:cNvPr id="7" name="Rounded Rectangle 6"/>
          <p:cNvSpPr/>
          <p:nvPr/>
        </p:nvSpPr>
        <p:spPr>
          <a:xfrm>
            <a:off x="502920" y="3166110"/>
            <a:ext cx="11183112" cy="2992500"/>
          </a:xfrm>
          <a:prstGeom prst="roundRect">
            <a:avLst>
              <a:gd name="adj" fmla="val 1018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348990"/>
            <a:ext cx="13758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СЛОЙ</a:t>
            </a:r>
          </a:p>
        </p:txBody>
      </p:sp>
      <p:sp>
        <p:nvSpPr>
          <p:cNvPr id="9" name="TextBox 8"/>
          <p:cNvSpPr txBox="1"/>
          <p:nvPr/>
        </p:nvSpPr>
        <p:spPr>
          <a:xfrm>
            <a:off x="2207934" y="3348990"/>
            <a:ext cx="522779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ПРОИЗОШЛО</a:t>
            </a:r>
          </a:p>
        </p:txBody>
      </p:sp>
      <p:sp>
        <p:nvSpPr>
          <p:cNvPr id="10" name="TextBox 9"/>
          <p:cNvSpPr txBox="1"/>
          <p:nvPr/>
        </p:nvSpPr>
        <p:spPr>
          <a:xfrm>
            <a:off x="7582029" y="3348990"/>
            <a:ext cx="37748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БАЗА СРАВНЕНИЯ</a:t>
            </a:r>
          </a:p>
        </p:txBody>
      </p:sp>
      <p:sp>
        <p:nvSpPr>
          <p:cNvPr id="11" name="TextBox 10"/>
          <p:cNvSpPr txBox="1"/>
          <p:nvPr/>
        </p:nvSpPr>
        <p:spPr>
          <a:xfrm>
            <a:off x="685800" y="3631057"/>
            <a:ext cx="137583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 · эксфильтрация в связке (Invariant Labs, май 2025)</a:t>
            </a:r>
          </a:p>
        </p:txBody>
      </p:sp>
      <p:sp>
        <p:nvSpPr>
          <p:cNvPr id="12" name="TextBox 11"/>
          <p:cNvSpPr txBox="1"/>
          <p:nvPr/>
        </p:nvSpPr>
        <p:spPr>
          <a:xfrm>
            <a:off x="2207934" y="3631057"/>
            <a:ext cx="522779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Агент с токеном на все репозитории пользователя, включая приватные. Атакующий создаёт в публичном репозитории issue с инструкцией собрать данные о других репозиториях и опубликовать здесь. Разработчик просит агента разобраться с открытыми issue — агент честно читает их, инструкция попадает в контекст как задача, читает приватные репозитории, публикует их содержимое в автоматически созданном публичном PR</a:t>
            </a:r>
          </a:p>
        </p:txBody>
      </p:sp>
      <p:sp>
        <p:nvSpPr>
          <p:cNvPr id="13" name="TextBox 12"/>
          <p:cNvSpPr txBox="1"/>
          <p:nvPr/>
        </p:nvSpPr>
        <p:spPr>
          <a:xfrm>
            <a:off x="7582029" y="3631057"/>
            <a:ext cx="3774818"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уязвимости не присвоен номер — архитектурный класс связки прав, не брешь кода. Убрать строку «все репозитории, включая приватные» — читать нечего, сценарий не проходит вообще</a:t>
            </a:r>
          </a:p>
        </p:txBody>
      </p:sp>
      <p:cxnSp>
        <p:nvCxnSpPr>
          <p:cNvPr id="14" name="Connector 13"/>
          <p:cNvCxnSpPr/>
          <p:nvPr/>
        </p:nvCxnSpPr>
        <p:spPr>
          <a:xfrm>
            <a:off x="685800" y="49713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71351"/>
            <a:ext cx="137583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 · без модели вообще (CVE-2026-61742, DBHub, CVSS 9.3 из 10)</a:t>
            </a:r>
          </a:p>
        </p:txBody>
      </p:sp>
      <p:sp>
        <p:nvSpPr>
          <p:cNvPr id="16" name="TextBox 15"/>
          <p:cNvSpPr txBox="1"/>
          <p:nvPr/>
        </p:nvSpPr>
        <p:spPr>
          <a:xfrm>
            <a:off x="2207934" y="4971351"/>
            <a:ext cx="522779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HTTP-транспорт по умолчанию слушает без аутентификации, защита от межсайтовых запросов обходится DNS rebinding</a:t>
            </a:r>
          </a:p>
        </p:txBody>
      </p:sp>
      <p:sp>
        <p:nvSpPr>
          <p:cNvPr id="17" name="TextBox 16"/>
          <p:cNvSpPr txBox="1"/>
          <p:nvPr/>
        </p:nvSpPr>
        <p:spPr>
          <a:xfrm>
            <a:off x="7582029" y="4971351"/>
            <a:ext cx="3774818"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 вторичному техническому разбору (Strix.ai) — два HTTP-запроса и ноль учётных данных до захвата; то же трио здесь не единственный путь к утечке — сервер сам может быть незащищённым сетевым сервисом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MCP нужен, а когда не нужен</a:t>
            </a:r>
          </a:p>
        </p:txBody>
      </p:sp>
      <p:sp>
        <p:nvSpPr>
          <p:cNvPr id="3" name="Rounded Rectangle 2"/>
          <p:cNvSpPr/>
          <p:nvPr/>
        </p:nvSpPr>
        <p:spPr>
          <a:xfrm>
            <a:off x="502920" y="13811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0916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Есть доступ наружу. Следующий вопрос — что происходит, когда сервер подключён, а агент через него не ходит.</a:t>
            </a:r>
          </a:p>
        </p:txBody>
      </p:sp>
      <p:sp>
        <p:nvSpPr>
          <p:cNvPr id="5" name="Rounded Rectangle 4"/>
          <p:cNvSpPr/>
          <p:nvPr/>
        </p:nvSpPr>
        <p:spPr>
          <a:xfrm>
            <a:off x="502920"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MCP НУЖЕН, КОГДА</a:t>
            </a:r>
          </a:p>
        </p:txBody>
      </p:sp>
      <p:sp>
        <p:nvSpPr>
          <p:cNvPr id="7" name="TextBox 6"/>
          <p:cNvSpPr txBox="1"/>
          <p:nvPr/>
        </p:nvSpPr>
        <p:spPr>
          <a:xfrm>
            <a:off x="685800"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нужен регулярно, из нескольких сессий — разового снимка данных недостаточно</a:t>
            </a:r>
          </a:p>
        </p:txBody>
      </p:sp>
      <p:cxnSp>
        <p:nvCxnSpPr>
          <p:cNvPr id="8" name="Connector 7"/>
          <p:cNvCxnSpPr/>
          <p:nvPr/>
        </p:nvCxnSpPr>
        <p:spPr>
          <a:xfrm>
            <a:off x="685800"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 готовы поддерживать ещё один постоянно работающий процесс с доступом к секретам</a:t>
            </a:r>
          </a:p>
        </p:txBody>
      </p:sp>
      <p:cxnSp>
        <p:nvCxnSpPr>
          <p:cNvPr id="10" name="Connector 9"/>
          <p:cNvCxnSpPr/>
          <p:nvPr/>
        </p:nvCxnSpPr>
        <p:spPr>
          <a:xfrm>
            <a:off x="685800"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операций больше одной, список операций растёт, и агент сам решает, к какой обратиться — за этот список и вносится постоянная плата</a:t>
            </a:r>
          </a:p>
        </p:txBody>
      </p:sp>
      <p:cxnSp>
        <p:nvCxnSpPr>
          <p:cNvPr id="12" name="Connector 11"/>
          <p:cNvCxnSpPr/>
          <p:nvPr/>
        </p:nvCxnSpPr>
        <p:spPr>
          <a:xfrm>
            <a:off x="685800"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8247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не достраивает третий элемент смертельного трио</a:t>
            </a:r>
          </a:p>
        </p:txBody>
      </p:sp>
      <p:sp>
        <p:nvSpPr>
          <p:cNvPr id="14" name="Rounded Rectangle 13"/>
          <p:cNvSpPr/>
          <p:nvPr/>
        </p:nvSpPr>
        <p:spPr>
          <a:xfrm>
            <a:off x="6231636"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MCP НЕ НУЖЕН, КОГДА</a:t>
            </a:r>
          </a:p>
        </p:txBody>
      </p:sp>
      <p:sp>
        <p:nvSpPr>
          <p:cNvPr id="16" name="TextBox 15"/>
          <p:cNvSpPr txBox="1"/>
          <p:nvPr/>
        </p:nvSpPr>
        <p:spPr>
          <a:xfrm>
            <a:off x="6414516"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разовый или редкий, и снимка данных на сегодняшний день достаточно</a:t>
            </a:r>
          </a:p>
        </p:txBody>
      </p:sp>
      <p:cxnSp>
        <p:nvCxnSpPr>
          <p:cNvPr id="17" name="Connector 16"/>
          <p:cNvCxnSpPr/>
          <p:nvPr/>
        </p:nvCxnSpPr>
        <p:spPr>
          <a:xfrm>
            <a:off x="6414516"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такой готовности нет — тогда разовый вызов надёжнее процесса, который никто не обслуживает</a:t>
            </a:r>
          </a:p>
        </p:txBody>
      </p:sp>
      <p:cxnSp>
        <p:nvCxnSpPr>
          <p:cNvPr id="19" name="Connector 18"/>
          <p:cNvCxnSpPr/>
          <p:nvPr/>
        </p:nvCxnSpPr>
        <p:spPr>
          <a:xfrm>
            <a:off x="6414516"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задача сводится к одному известному вызову CLI: список возможностей здесь лишний, и тридцатидвухкратная разница по токенам никуда не денется</a:t>
            </a:r>
          </a:p>
        </p:txBody>
      </p:sp>
      <p:cxnSp>
        <p:nvCxnSpPr>
          <p:cNvPr id="21" name="Connector 20"/>
          <p:cNvCxnSpPr/>
          <p:nvPr/>
        </p:nvCxnSpPr>
        <p:spPr>
          <a:xfrm>
            <a:off x="6414516"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82475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достраивает третий элемент смертельного трио — доступ к приватным данным и обработка чужого текста уже есть, остаётся канал наружу; это стоп-критерий</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2</a:t>
            </a:r>
          </a:p>
        </p:txBody>
      </p:sp>
      <p:sp>
        <p:nvSpPr>
          <p:cNvPr id="7" name="TextBox 6"/>
          <p:cNvSpPr txBox="1"/>
          <p:nvPr/>
        </p:nvSpPr>
        <p:spPr>
          <a:xfrm>
            <a:off x="1536192" y="2341625"/>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Пять дней он верил зелёной галочке</a:t>
            </a:r>
          </a:p>
        </p:txBody>
      </p:sp>
      <p:sp>
        <p:nvSpPr>
          <p:cNvPr id="8" name="TextBox 7"/>
          <p:cNvSpPr txBox="1"/>
          <p:nvPr/>
        </p:nvSpPr>
        <p:spPr>
          <a:xfrm>
            <a:off x="822960" y="3559302"/>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Пять рабочих дней разработчик верил зелёной отметке подключения. Проверка была настоящей и говорила правду — о том, что процесс поднят. За эти пять дней агент ни разу не заглянул в трекер.</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Неделя, в которой ничего не сломалось</a:t>
            </a:r>
          </a:p>
        </p:txBody>
      </p:sp>
      <p:sp>
        <p:nvSpPr>
          <p:cNvPr id="3" name="Rounded Rectangle 2"/>
          <p:cNvSpPr/>
          <p:nvPr/>
        </p:nvSpPr>
        <p:spPr>
          <a:xfrm>
            <a:off x="502920" y="1044143"/>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72159"/>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самый сервер доступа к трекеру, что собрали в прошлом кейсе. Стоит две недели.</a:t>
            </a:r>
          </a:p>
        </p:txBody>
      </p:sp>
      <p:sp>
        <p:nvSpPr>
          <p:cNvPr id="5" name="Rounded Rectangle 4"/>
          <p:cNvSpPr/>
          <p:nvPr/>
        </p:nvSpPr>
        <p:spPr>
          <a:xfrm>
            <a:off x="502920" y="1971243"/>
            <a:ext cx="11183112" cy="2569464"/>
          </a:xfrm>
          <a:prstGeom prst="roundRect">
            <a:avLst>
              <a:gd name="adj" fmla="val 118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240672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90699"/>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Понедельник.</a:t>
            </a:r>
            <a:r>
              <a:rPr sz="1350" b="0" i="0">
                <a:solidFill>
                  <a:srgbClr val="141B2E"/>
                </a:solidFill>
                <a:latin typeface="Arial"/>
              </a:rPr>
              <a:t> Разработчик просит агента разобрать входящие задачи за выходные и подготовить черновики. Ответ звучит как итог работы.</a:t>
            </a:r>
          </a:p>
        </p:txBody>
      </p:sp>
      <p:sp>
        <p:nvSpPr>
          <p:cNvPr id="8" name="Rounded Rectangle 7"/>
          <p:cNvSpPr/>
          <p:nvPr/>
        </p:nvSpPr>
        <p:spPr>
          <a:xfrm>
            <a:off x="758952" y="293936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23337"/>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Вторник — четверг.</a:t>
            </a:r>
            <a:r>
              <a:rPr sz="1350" b="0" i="0">
                <a:solidFill>
                  <a:srgbClr val="141B2E"/>
                </a:solidFill>
                <a:latin typeface="Arial"/>
              </a:rPr>
              <a:t> То же самое каждое утро: «всё сделал» · «новых задач не нашёл» · «во входящих пусто». Он пересылает это заказчику.</a:t>
            </a:r>
          </a:p>
        </p:txBody>
      </p:sp>
      <p:sp>
        <p:nvSpPr>
          <p:cNvPr id="10" name="Rounded Rectangle 9"/>
          <p:cNvSpPr/>
          <p:nvPr/>
        </p:nvSpPr>
        <p:spPr>
          <a:xfrm>
            <a:off x="758952" y="347200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255975"/>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Среда и четверг.</a:t>
            </a:r>
            <a:r>
              <a:rPr sz="1350" b="0" i="0">
                <a:solidFill>
                  <a:srgbClr val="141B2E"/>
                </a:solidFill>
                <a:latin typeface="Arial"/>
              </a:rPr>
              <a:t> Смотрит статус подробнее, потом спрашивает агента напрямую, почему тот считает, что задач нет. Всё сходится.</a:t>
            </a:r>
          </a:p>
        </p:txBody>
      </p:sp>
      <p:sp>
        <p:nvSpPr>
          <p:cNvPr id="12" name="Rounded Rectangle 11"/>
          <p:cNvSpPr/>
          <p:nvPr/>
        </p:nvSpPr>
        <p:spPr>
          <a:xfrm>
            <a:off x="758952" y="400464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788613"/>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Пятница.</a:t>
            </a:r>
            <a:r>
              <a:rPr sz="1350" b="0" i="0">
                <a:solidFill>
                  <a:srgbClr val="141B2E"/>
                </a:solidFill>
                <a:latin typeface="Arial"/>
              </a:rPr>
              <a:t> Заказчик спрашивает про задачу, которую завёл во вторник. В репозитории за неделю — ни черновика, ни комментария.</a:t>
            </a:r>
          </a:p>
        </p:txBody>
      </p:sp>
      <p:sp>
        <p:nvSpPr>
          <p:cNvPr id="14" name="Rounded Rectangle 13"/>
          <p:cNvSpPr/>
          <p:nvPr/>
        </p:nvSpPr>
        <p:spPr>
          <a:xfrm>
            <a:off x="502920" y="495726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08528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Всю неделю </a:t>
            </a:r>
            <a:r>
              <a:rPr sz="1500" b="1" i="0">
                <a:solidFill>
                  <a:srgbClr val="141B2E"/>
                </a:solidFill>
                <a:latin typeface="Consolas"/>
              </a:rPr>
              <a:t>claude</a:t>
            </a:r>
            <a:r>
              <a:rPr sz="1500" b="1" i="0">
                <a:solidFill>
                  <a:srgbClr val="141B2E"/>
                </a:solidFill>
                <a:latin typeface="Arial"/>
              </a:rPr>
              <a:t> </a:t>
            </a:r>
            <a:r>
              <a:rPr sz="1500" b="1" i="0">
                <a:solidFill>
                  <a:srgbClr val="141B2E"/>
                </a:solidFill>
                <a:latin typeface="Consolas"/>
              </a:rPr>
              <a:t>mcp</a:t>
            </a:r>
            <a:r>
              <a:rPr sz="1500" b="1" i="0">
                <a:solidFill>
                  <a:srgbClr val="141B2E"/>
                </a:solidFill>
                <a:latin typeface="Arial"/>
              </a:rPr>
              <a:t> </a:t>
            </a:r>
            <a:r>
              <a:rPr sz="1500" b="1" i="0">
                <a:solidFill>
                  <a:srgbClr val="141B2E"/>
                </a:solidFill>
                <a:latin typeface="Consolas"/>
              </a:rPr>
              <a:t>list</a:t>
            </a:r>
            <a:r>
              <a:rPr sz="1500" b="1" i="0">
                <a:solidFill>
                  <a:srgbClr val="141B2E"/>
                </a:solidFill>
                <a:latin typeface="Arial"/>
              </a:rPr>
              <a:t> показывал </a:t>
            </a:r>
            <a:r>
              <a:rPr sz="1500" b="1" i="0">
                <a:solidFill>
                  <a:srgbClr val="141B2E"/>
                </a:solidFill>
                <a:latin typeface="Consolas"/>
              </a:rPr>
              <a:t>✔</a:t>
            </a:r>
            <a:r>
              <a:rPr sz="1500" b="1" i="0">
                <a:solidFill>
                  <a:srgbClr val="141B2E"/>
                </a:solidFill>
                <a:latin typeface="Arial"/>
              </a:rPr>
              <a:t> </a:t>
            </a:r>
            <a:r>
              <a:rPr sz="1500" b="1" i="0">
                <a:solidFill>
                  <a:srgbClr val="141B2E"/>
                </a:solidFill>
                <a:latin typeface="Consolas"/>
              </a:rPr>
              <a:t>Connected</a:t>
            </a:r>
            <a:r>
              <a:rPr sz="1500" b="1" i="0">
                <a:solidFill>
                  <a:srgbClr val="141B2E"/>
                </a:solidFill>
                <a:latin typeface="Arial"/>
              </a:rPr>
              <a:t>: процесс сервера поднят и ответил на рукопожатие. Ответы агент собирал из общих соображений о том, что обычно лежит в трекере. Цена недели: пять дней отчётов о работе, которой не было, и разговор с заказчиком, в котором нечего показать.</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проверки он сделал. Какой не хватило?</a:t>
            </a:r>
          </a:p>
        </p:txBody>
      </p:sp>
      <p:sp>
        <p:nvSpPr>
          <p:cNvPr id="3" name="Rounded Rectangle 2"/>
          <p:cNvSpPr/>
          <p:nvPr/>
        </p:nvSpPr>
        <p:spPr>
          <a:xfrm>
            <a:off x="502920" y="1622602"/>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77466"/>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59762"/>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За неделю он сделал три из этих четырёх проверок — и остался без ответа.</a:t>
            </a:r>
          </a:p>
        </p:txBody>
      </p:sp>
      <p:sp>
        <p:nvSpPr>
          <p:cNvPr id="6" name="Rounded Rectangle 5"/>
          <p:cNvSpPr/>
          <p:nvPr/>
        </p:nvSpPr>
        <p:spPr>
          <a:xfrm>
            <a:off x="502920" y="276674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9476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ту, которой ему не хватило, и скажите, чем она отличается от остальных трёх.</a:t>
            </a:r>
          </a:p>
        </p:txBody>
      </p:sp>
      <p:sp>
        <p:nvSpPr>
          <p:cNvPr id="8" name="Rounded Rectangle 7"/>
          <p:cNvSpPr/>
          <p:nvPr/>
        </p:nvSpPr>
        <p:spPr>
          <a:xfrm>
            <a:off x="502920"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ничего — статус зелёный</a:t>
            </a:r>
          </a:p>
        </p:txBody>
      </p:sp>
      <p:sp>
        <p:nvSpPr>
          <p:cNvPr id="10" name="Rounded Rectangle 9"/>
          <p:cNvSpPr/>
          <p:nvPr/>
        </p:nvSpPr>
        <p:spPr>
          <a:xfrm>
            <a:off x="3335274"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002"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посмотреть, что именно показывает статус подробнее</a:t>
            </a:r>
          </a:p>
        </p:txBody>
      </p:sp>
      <p:sp>
        <p:nvSpPr>
          <p:cNvPr id="12" name="Rounded Rectangle 11"/>
          <p:cNvSpPr/>
          <p:nvPr/>
        </p:nvSpPr>
        <p:spPr>
          <a:xfrm>
            <a:off x="6167628"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77356"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спросить агента, почему он решил, что всё сделал</a:t>
            </a:r>
          </a:p>
        </p:txBody>
      </p:sp>
      <p:sp>
        <p:nvSpPr>
          <p:cNvPr id="14" name="Rounded Rectangle 13"/>
          <p:cNvSpPr/>
          <p:nvPr/>
        </p:nvSpPr>
        <p:spPr>
          <a:xfrm>
            <a:off x="8999982"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09710"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явно попросить агента обратиться к серверу по имени и показать вызов</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проверки — правда. Правда о другом</a:t>
            </a:r>
          </a:p>
        </p:txBody>
      </p:sp>
      <p:sp>
        <p:nvSpPr>
          <p:cNvPr id="3" name="Rounded Rectangle 2"/>
          <p:cNvSpPr/>
          <p:nvPr/>
        </p:nvSpPr>
        <p:spPr>
          <a:xfrm>
            <a:off x="502920" y="943356"/>
            <a:ext cx="11183112" cy="3234055"/>
          </a:xfrm>
          <a:prstGeom prst="roundRect">
            <a:avLst>
              <a:gd name="adj" fmla="val 94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1945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ПРОВЕРКА</a:t>
            </a:r>
          </a:p>
        </p:txBody>
      </p:sp>
      <p:sp>
        <p:nvSpPr>
          <p:cNvPr id="5" name="TextBox 4"/>
          <p:cNvSpPr txBox="1"/>
          <p:nvPr/>
        </p:nvSpPr>
        <p:spPr>
          <a:xfrm>
            <a:off x="2351562" y="1126236"/>
            <a:ext cx="469839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ДОКАЗАЛА</a:t>
            </a:r>
          </a:p>
        </p:txBody>
      </p:sp>
      <p:sp>
        <p:nvSpPr>
          <p:cNvPr id="6" name="TextBox 5"/>
          <p:cNvSpPr txBox="1"/>
          <p:nvPr/>
        </p:nvSpPr>
        <p:spPr>
          <a:xfrm>
            <a:off x="7196256" y="1126236"/>
            <a:ext cx="416059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ДОКАЗАЛА</a:t>
            </a:r>
          </a:p>
        </p:txBody>
      </p:sp>
      <p:sp>
        <p:nvSpPr>
          <p:cNvPr id="7" name="TextBox 6"/>
          <p:cNvSpPr txBox="1"/>
          <p:nvPr/>
        </p:nvSpPr>
        <p:spPr>
          <a:xfrm>
            <a:off x="685800" y="1408303"/>
            <a:ext cx="151945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ничего — статус зелёный</a:t>
            </a:r>
          </a:p>
        </p:txBody>
      </p:sp>
      <p:sp>
        <p:nvSpPr>
          <p:cNvPr id="8" name="TextBox 7"/>
          <p:cNvSpPr txBox="1"/>
          <p:nvPr/>
        </p:nvSpPr>
        <p:spPr>
          <a:xfrm>
            <a:off x="2351562" y="1408303"/>
            <a:ext cx="469839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процесс сервера поднят и ответил на рукопожатие</a:t>
            </a:r>
          </a:p>
        </p:txBody>
      </p:sp>
      <p:sp>
        <p:nvSpPr>
          <p:cNvPr id="9" name="TextBox 8"/>
          <p:cNvSpPr txBox="1"/>
          <p:nvPr/>
        </p:nvSpPr>
        <p:spPr>
          <a:xfrm>
            <a:off x="7196256" y="1408303"/>
            <a:ext cx="416059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что агент обращался к нему в этой задаче — это отдельный факт</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151945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статус подробнее</a:t>
            </a:r>
          </a:p>
        </p:txBody>
      </p:sp>
      <p:sp>
        <p:nvSpPr>
          <p:cNvPr id="12" name="TextBox 11"/>
          <p:cNvSpPr txBox="1"/>
          <p:nvPr/>
        </p:nvSpPr>
        <p:spPr>
          <a:xfrm>
            <a:off x="2351562" y="1923414"/>
            <a:ext cx="469839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различает «процесс не поднялся», «список инструментов не получен», «нужна авторизация» — круг причин сужается</a:t>
            </a:r>
          </a:p>
        </p:txBody>
      </p:sp>
      <p:sp>
        <p:nvSpPr>
          <p:cNvPr id="13" name="TextBox 12"/>
          <p:cNvSpPr txBox="1"/>
          <p:nvPr/>
        </p:nvSpPr>
        <p:spPr>
          <a:xfrm>
            <a:off x="7196256" y="1923414"/>
            <a:ext cx="416059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вызывал ли агент сервер именно сейчас: статус живёт отдельно от конкретной задачи</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151945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спросить агента</a:t>
            </a:r>
          </a:p>
        </p:txBody>
      </p:sp>
      <p:sp>
        <p:nvSpPr>
          <p:cNvPr id="16" name="TextBox 15"/>
          <p:cNvSpPr txBox="1"/>
          <p:nvPr/>
        </p:nvSpPr>
        <p:spPr>
          <a:xfrm>
            <a:off x="2351562" y="2613786"/>
            <a:ext cx="469839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иногда вскрывает причину сразу: агент признаётся, что не нашёл способа проверить и ответил по смыслу задачи</a:t>
            </a:r>
          </a:p>
        </p:txBody>
      </p:sp>
      <p:sp>
        <p:nvSpPr>
          <p:cNvPr id="17" name="TextBox 16"/>
          <p:cNvSpPr txBox="1"/>
          <p:nvPr/>
        </p:nvSpPr>
        <p:spPr>
          <a:xfrm>
            <a:off x="7196256" y="2613786"/>
            <a:ext cx="416059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агент пересказывает своё понимание; наблюдения за транспортом в пересказе нет</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1519458"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попросить обратиться к серверу по имени и показать вызов</a:t>
            </a:r>
          </a:p>
        </p:txBody>
      </p:sp>
      <p:sp>
        <p:nvSpPr>
          <p:cNvPr id="20" name="TextBox 19"/>
          <p:cNvSpPr txBox="1"/>
          <p:nvPr/>
        </p:nvSpPr>
        <p:spPr>
          <a:xfrm>
            <a:off x="2351562" y="3128899"/>
            <a:ext cx="4698390"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вызов инструмента в выводе подписан именем сервера — это видимый факт</a:t>
            </a:r>
          </a:p>
        </p:txBody>
      </p:sp>
      <p:sp>
        <p:nvSpPr>
          <p:cNvPr id="21" name="TextBox 20"/>
          <p:cNvSpPr txBox="1"/>
          <p:nvPr/>
        </p:nvSpPr>
        <p:spPr>
          <a:xfrm>
            <a:off x="7196256" y="3128899"/>
            <a:ext cx="4160591"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требует заранее знать имя сервера и чуть более точной формулировки задачи</a:t>
            </a:r>
          </a:p>
        </p:txBody>
      </p:sp>
      <p:sp>
        <p:nvSpPr>
          <p:cNvPr id="22" name="Rounded Rectangle 21"/>
          <p:cNvSpPr/>
          <p:nvPr/>
        </p:nvSpPr>
        <p:spPr>
          <a:xfrm>
            <a:off x="502920" y="4342003"/>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470019"/>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Статус говорил правду — о том, что процесс поднят.</a:t>
            </a:r>
            <a:r>
              <a:rPr sz="1450" b="1" i="0">
                <a:solidFill>
                  <a:srgbClr val="141B2E"/>
                </a:solidFill>
                <a:latin typeface="Arial"/>
              </a:rPr>
              <a:t> Работу агента доказывает одно: вызов, подписанный именем сервера. Три честные проверки за неделю дали ноль фактов об этом.</a:t>
            </a:r>
          </a:p>
        </p:txBody>
      </p:sp>
      <p:sp>
        <p:nvSpPr>
          <p:cNvPr id="24" name="Rounded Rectangle 23"/>
          <p:cNvSpPr/>
          <p:nvPr/>
        </p:nvSpPr>
        <p:spPr>
          <a:xfrm>
            <a:off x="502920" y="5237607"/>
            <a:ext cx="11183112" cy="82108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365623"/>
            <a:ext cx="10634472" cy="565050"/>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прямо сейчас подключён хоть один сервер — и когда вы последний раз видели его имя в выводе агента?</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понять, что сервер реально работает</a:t>
            </a:r>
          </a:p>
        </p:txBody>
      </p:sp>
      <p:sp>
        <p:nvSpPr>
          <p:cNvPr id="3" name="Rounded Rectangle 2"/>
          <p:cNvSpPr/>
          <p:nvPr/>
        </p:nvSpPr>
        <p:spPr>
          <a:xfrm>
            <a:off x="502920" y="147797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599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Consolas"/>
              </a:rPr>
              <a:t>claude</a:t>
            </a:r>
            <a:r>
              <a:rPr sz="1500" b="1" i="0">
                <a:solidFill>
                  <a:srgbClr val="141B2E"/>
                </a:solidFill>
                <a:latin typeface="Arial"/>
              </a:rPr>
              <a:t> </a:t>
            </a:r>
            <a:r>
              <a:rPr sz="1500" b="1" i="0">
                <a:solidFill>
                  <a:srgbClr val="141B2E"/>
                </a:solidFill>
                <a:latin typeface="Consolas"/>
              </a:rPr>
              <a:t>mcp</a:t>
            </a:r>
            <a:r>
              <a:rPr sz="1500" b="1" i="0">
                <a:solidFill>
                  <a:srgbClr val="141B2E"/>
                </a:solidFill>
                <a:latin typeface="Arial"/>
              </a:rPr>
              <a:t> </a:t>
            </a:r>
            <a:r>
              <a:rPr sz="1500" b="1" i="0">
                <a:solidFill>
                  <a:srgbClr val="141B2E"/>
                </a:solidFill>
                <a:latin typeface="Consolas"/>
              </a:rPr>
              <a:t>list</a:t>
            </a:r>
            <a:r>
              <a:rPr sz="1500" b="1" i="0">
                <a:solidFill>
                  <a:srgbClr val="141B2E"/>
                </a:solidFill>
                <a:latin typeface="Arial"/>
              </a:rPr>
              <a:t>/</a:t>
            </a:r>
            <a:r>
              <a:rPr sz="1500" b="1" i="0">
                <a:solidFill>
                  <a:srgbClr val="141B2E"/>
                </a:solidFill>
                <a:latin typeface="Consolas"/>
              </a:rPr>
              <a:t>/mcp</a:t>
            </a:r>
            <a:r>
              <a:rPr sz="1500" b="1" i="0">
                <a:solidFill>
                  <a:srgbClr val="141B2E"/>
                </a:solidFill>
                <a:latin typeface="Arial"/>
              </a:rPr>
              <a:t> показывает больше, чем одно слово «подключено» — отдельно видно, поднялся ли сам процесс и получен ли список инструментов. Но даже такой подробный статус — факт про процесс, не про то, обращался ли к нему именно агент в этой задаче.</a:t>
            </a:r>
          </a:p>
        </p:txBody>
      </p:sp>
      <p:sp>
        <p:nvSpPr>
          <p:cNvPr id="5" name="Rounded Rectangle 4"/>
          <p:cNvSpPr/>
          <p:nvPr/>
        </p:nvSpPr>
        <p:spPr>
          <a:xfrm>
            <a:off x="502920" y="312846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25648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Доказательный вызов.</a:t>
            </a:r>
            <a:r>
              <a:rPr sz="1500" b="1" i="0">
                <a:solidFill>
                  <a:srgbClr val="141B2E"/>
                </a:solidFill>
                <a:latin typeface="Arial"/>
              </a:rPr>
              <a:t> Явное упоминание сервера в запросе: «используя сервер такой-то, узнай…». Признак, что ответ пришёл именно оттуда, — вызов инструмента в выводе подписан именем сервера.</a:t>
            </a:r>
          </a:p>
        </p:txBody>
      </p:sp>
      <p:sp>
        <p:nvSpPr>
          <p:cNvPr id="7" name="Rounded Rectangle 6"/>
          <p:cNvSpPr/>
          <p:nvPr/>
        </p:nvSpPr>
        <p:spPr>
          <a:xfrm>
            <a:off x="502920" y="454273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67075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Если ответ не приходит сразу — не спешите считать это сбоем. Запуск самого сервера и выполнение уже начатого вызова идут по разным часам: второе объективно может занимать заметно дольше первого.</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спросить агента, чтобы было что проверить</a:t>
            </a:r>
          </a:p>
        </p:txBody>
      </p:sp>
      <p:sp>
        <p:nvSpPr>
          <p:cNvPr id="3" name="Rounded Rectangle 2"/>
          <p:cNvSpPr/>
          <p:nvPr/>
        </p:nvSpPr>
        <p:spPr>
          <a:xfrm>
            <a:off x="502920" y="2013204"/>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41220"/>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Плохо:</a:t>
            </a:r>
            <a:r>
              <a:rPr sz="1500" b="1" i="0">
                <a:solidFill>
                  <a:srgbClr val="141B2E"/>
                </a:solidFill>
                <a:latin typeface="Arial"/>
              </a:rPr>
              <a:t> «Посмотри, что скопилось во входящих, и подготовь черновики.»</a:t>
            </a:r>
          </a:p>
          <a:p>
            <a:pPr algn="l">
              <a:lnSpc>
                <a:spcPts val="1860"/>
              </a:lnSpc>
              <a:spcAft>
                <a:spcPts val="300"/>
              </a:spcAft>
            </a:pPr>
            <a:r>
              <a:rPr sz="1500" b="1" i="0">
                <a:solidFill>
                  <a:srgbClr val="141B2E"/>
                </a:solidFill>
                <a:latin typeface="Arial"/>
              </a:rPr>
              <a:t>Ни «нашёл», ни «не нашёл» это не доказывает — агент мог ответить, не обращаясь к серверу вовсе.</a:t>
            </a:r>
          </a:p>
        </p:txBody>
      </p:sp>
      <p:sp>
        <p:nvSpPr>
          <p:cNvPr id="5" name="Rounded Rectangle 4"/>
          <p:cNvSpPr/>
          <p:nvPr/>
        </p:nvSpPr>
        <p:spPr>
          <a:xfrm>
            <a:off x="502920" y="3465576"/>
            <a:ext cx="82296" cy="12573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593592"/>
            <a:ext cx="10643616" cy="10012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Хорошо:</a:t>
            </a:r>
            <a:r>
              <a:rPr sz="1500" b="1" i="0">
                <a:solidFill>
                  <a:srgbClr val="141B2E"/>
                </a:solidFill>
                <a:latin typeface="Arial"/>
              </a:rPr>
              <a:t> «Используя сервер трекера, выведи список открытых задач, затем подготовь черновик по каждой.»</a:t>
            </a:r>
          </a:p>
          <a:p>
            <a:pPr algn="l">
              <a:lnSpc>
                <a:spcPts val="1860"/>
              </a:lnSpc>
              <a:spcAft>
                <a:spcPts val="300"/>
              </a:spcAft>
            </a:pPr>
            <a:r>
              <a:rPr sz="1500" b="1" i="0">
                <a:solidFill>
                  <a:srgbClr val="141B2E"/>
                </a:solidFill>
                <a:latin typeface="Arial"/>
              </a:rPr>
              <a:t>Явное имя сервера в запросе — и есть доказательный вызов: дальше смотрим, подписан ли вызов в выводе именем сервера.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Процедура, не файл: строка правила в CLAUDE.md</a:t>
            </a:r>
          </a:p>
        </p:txBody>
      </p:sp>
      <p:sp>
        <p:nvSpPr>
          <p:cNvPr id="3" name="Rounded Rectangle 2"/>
          <p:cNvSpPr/>
          <p:nvPr/>
        </p:nvSpPr>
        <p:spPr>
          <a:xfrm>
            <a:off x="502920" y="1293571"/>
            <a:ext cx="11183112" cy="97155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72905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513027"/>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CLAUDE.md</a:t>
            </a:r>
            <a:r>
              <a:rPr sz="1350" b="0" i="0">
                <a:solidFill>
                  <a:srgbClr val="141B2E"/>
                </a:solidFill>
                <a:latin typeface="Arial"/>
              </a:rPr>
              <a:t>, раздел </a:t>
            </a:r>
            <a:r>
              <a:rPr sz="1350" b="0" i="0">
                <a:solidFill>
                  <a:srgbClr val="141B2E"/>
                </a:solidFill>
                <a:latin typeface="Consolas"/>
              </a:rPr>
              <a:t>Repository</a:t>
            </a:r>
            <a:r>
              <a:rPr sz="1350" b="0" i="0">
                <a:solidFill>
                  <a:srgbClr val="141B2E"/>
                </a:solidFill>
                <a:latin typeface="Arial"/>
              </a:rPr>
              <a:t> </a:t>
            </a:r>
            <a:r>
              <a:rPr sz="1350" b="0" i="0">
                <a:solidFill>
                  <a:srgbClr val="141B2E"/>
                </a:solidFill>
                <a:latin typeface="Consolas"/>
              </a:rPr>
              <a:t>etiquette</a:t>
            </a:r>
            <a:r>
              <a:rPr sz="1350" b="0" i="0">
                <a:solidFill>
                  <a:srgbClr val="141B2E"/>
                </a:solidFill>
                <a:latin typeface="Arial"/>
              </a:rPr>
              <a:t> — добавлена строка: «После подключения любого MCP-сервера и после любого подозрения в тишине — явный именованный вызов сервера, прежде чем доверять зелёному статусу».</a:t>
            </a:r>
          </a:p>
        </p:txBody>
      </p:sp>
      <p:sp>
        <p:nvSpPr>
          <p:cNvPr id="6" name="Rounded Rectangle 5"/>
          <p:cNvSpPr/>
          <p:nvPr/>
        </p:nvSpPr>
        <p:spPr>
          <a:xfrm>
            <a:off x="502920" y="293263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306064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строка в файле, который уже есть, не новый артефакт — и она проверяется так же, как остальные правила этого проекта: прочитана, не исполняется сама.</a:t>
            </a:r>
          </a:p>
        </p:txBody>
      </p:sp>
      <p:sp>
        <p:nvSpPr>
          <p:cNvPr id="8" name="Rounded Rectangle 7"/>
          <p:cNvSpPr/>
          <p:nvPr/>
        </p:nvSpPr>
        <p:spPr>
          <a:xfrm>
            <a:off x="502920" y="434690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47492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Почему именно CLAUDE.md, не хук.</a:t>
            </a:r>
            <a:r>
              <a:rPr sz="1500" b="1" i="0">
                <a:solidFill>
                  <a:srgbClr val="141B2E"/>
                </a:solidFill>
                <a:latin typeface="Arial"/>
              </a:rPr>
              <a:t> В прошлом занятии в этом же файле уже стояли оба вида правил рядом: «Repository etiquette» — записанное словами, читает человек или агент; «Хук защиты ветки» — код, который срабатывает сам на конкретное событие. Здесь правило снова первого вида: «подозрение в тишине» нельзя заранее описать как событие для хука — это решение принимает человек.</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Статус зелёный, а то, что обещано, — не то</a:t>
            </a:r>
          </a:p>
        </p:txBody>
      </p:sp>
      <p:sp>
        <p:nvSpPr>
          <p:cNvPr id="3" name="Rounded Rectangle 2"/>
          <p:cNvSpPr/>
          <p:nvPr/>
        </p:nvSpPr>
        <p:spPr>
          <a:xfrm>
            <a:off x="502920" y="1483334"/>
            <a:ext cx="11183112" cy="2620073"/>
          </a:xfrm>
          <a:prstGeom prst="roundRect">
            <a:avLst>
              <a:gd name="adj" fmla="val 116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66214"/>
            <a:ext cx="10907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СЛОЙ</a:t>
            </a:r>
          </a:p>
        </p:txBody>
      </p:sp>
      <p:sp>
        <p:nvSpPr>
          <p:cNvPr id="5" name="TextBox 4"/>
          <p:cNvSpPr txBox="1"/>
          <p:nvPr/>
        </p:nvSpPr>
        <p:spPr>
          <a:xfrm>
            <a:off x="1922896" y="1666214"/>
            <a:ext cx="57096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ЭТО ЗНАЧИЛО ДЛЯ ТЕХ, КТО ЭТИМ ПОЛЬЗОВАЛСЯ</a:t>
            </a:r>
          </a:p>
        </p:txBody>
      </p:sp>
      <p:sp>
        <p:nvSpPr>
          <p:cNvPr id="6" name="TextBox 5"/>
          <p:cNvSpPr txBox="1"/>
          <p:nvPr/>
        </p:nvSpPr>
        <p:spPr>
          <a:xfrm>
            <a:off x="7778825" y="1666214"/>
            <a:ext cx="35780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ЗАМЕТИЛИ</a:t>
            </a:r>
          </a:p>
        </p:txBody>
      </p:sp>
      <p:sp>
        <p:nvSpPr>
          <p:cNvPr id="7" name="TextBox 6"/>
          <p:cNvSpPr txBox="1"/>
          <p:nvPr/>
        </p:nvSpPr>
        <p:spPr>
          <a:xfrm>
            <a:off x="685800" y="1948281"/>
            <a:ext cx="109079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 · сервер сам говорит неправду о своём режиме</a:t>
            </a:r>
          </a:p>
        </p:txBody>
      </p:sp>
      <p:sp>
        <p:nvSpPr>
          <p:cNvPr id="8" name="TextBox 7"/>
          <p:cNvSpPr txBox="1"/>
          <p:nvPr/>
        </p:nvSpPr>
        <p:spPr>
          <a:xfrm>
            <a:off x="1922896" y="1948281"/>
            <a:ext cx="5709624"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Команда была уверена, что работает с чужой базой данных в безопасном режиме только чтения — а соединение на деле позволяло менять данные. Сами разработчики сервера были уверены, что ограничение работает</a:t>
            </a:r>
          </a:p>
        </p:txBody>
      </p:sp>
      <p:sp>
        <p:nvSpPr>
          <p:cNvPr id="9" name="TextBox 8"/>
          <p:cNvSpPr txBox="1"/>
          <p:nvPr/>
        </p:nvSpPr>
        <p:spPr>
          <a:xfrm>
            <a:off x="7778825" y="1948281"/>
            <a:ext cx="35780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обнаружили только тогда, когда кто-то выполнил запрос с реальным побочным эффектом и увидел, что он прошёл — чтение настройки ничего не показывало</a:t>
            </a:r>
          </a:p>
        </p:txBody>
      </p:sp>
      <p:cxnSp>
        <p:nvCxnSpPr>
          <p:cNvPr id="10" name="Connector 9"/>
          <p:cNvCxnSpPr/>
          <p:nvPr/>
        </p:nvCxnSpPr>
        <p:spPr>
          <a:xfrm>
            <a:off x="685800" y="30256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025686"/>
            <a:ext cx="109079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 доступ пропадает тихо, статус жив</a:t>
            </a:r>
          </a:p>
        </p:txBody>
      </p:sp>
      <p:sp>
        <p:nvSpPr>
          <p:cNvPr id="12" name="TextBox 11"/>
          <p:cNvSpPr txBox="1"/>
          <p:nvPr/>
        </p:nvSpPr>
        <p:spPr>
          <a:xfrm>
            <a:off x="1922896" y="3025686"/>
            <a:ext cx="570962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Инструменты, которые ещё вчера работали, однажды перестали — без предупреждения, без красного статуса; </a:t>
            </a:r>
            <a:r>
              <a:rPr sz="1250" b="0" i="0">
                <a:solidFill>
                  <a:srgbClr val="141B2E"/>
                </a:solidFill>
                <a:latin typeface="Consolas"/>
              </a:rPr>
              <a:t>claude</a:t>
            </a:r>
            <a:r>
              <a:rPr sz="1250" b="0" i="0">
                <a:solidFill>
                  <a:srgbClr val="141B2E"/>
                </a:solidFill>
                <a:latin typeface="Arial"/>
              </a:rPr>
              <a:t> </a:t>
            </a:r>
            <a:r>
              <a:rPr sz="1250" b="0" i="0">
                <a:solidFill>
                  <a:srgbClr val="141B2E"/>
                </a:solidFill>
                <a:latin typeface="Consolas"/>
              </a:rPr>
              <a:t>mcp</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продолжал показывать «подключён»</a:t>
            </a:r>
          </a:p>
        </p:txBody>
      </p:sp>
      <p:sp>
        <p:nvSpPr>
          <p:cNvPr id="13" name="TextBox 12"/>
          <p:cNvSpPr txBox="1"/>
          <p:nvPr/>
        </p:nvSpPr>
        <p:spPr>
          <a:xfrm>
            <a:off x="7778825" y="3025686"/>
            <a:ext cx="357802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заметили по тому, что обычные вызовы начали требовать повторного входа, не по статусу подключения</a:t>
            </a:r>
          </a:p>
        </p:txBody>
      </p:sp>
      <p:sp>
        <p:nvSpPr>
          <p:cNvPr id="14" name="Rounded Rectangle 13"/>
          <p:cNvSpPr/>
          <p:nvPr/>
        </p:nvSpPr>
        <p:spPr>
          <a:xfrm>
            <a:off x="502920" y="4770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898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Статус подключения и текст настройки говорят, каким соединение должно быть. Что оно делает на самом деле, показывает только реальное действие с наблюдаемым результатом.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достаточно посмотреть на статус, а когда нужно вызвать самому</a:t>
            </a:r>
          </a:p>
        </p:txBody>
      </p:sp>
      <p:sp>
        <p:nvSpPr>
          <p:cNvPr id="3" name="Rounded Rectangle 2"/>
          <p:cNvSpPr/>
          <p:nvPr/>
        </p:nvSpPr>
        <p:spPr>
          <a:xfrm>
            <a:off x="502920" y="17344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624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Мы научились проверять, что подключённое действительно работает. Следующий вопрос — чего стоит само присутствие сервера в проекте, пока к нему никто не обращается.</a:t>
            </a:r>
          </a:p>
        </p:txBody>
      </p:sp>
      <p:sp>
        <p:nvSpPr>
          <p:cNvPr id="5" name="Rounded Rectangle 4"/>
          <p:cNvSpPr/>
          <p:nvPr/>
        </p:nvSpPr>
        <p:spPr>
          <a:xfrm>
            <a:off x="502920" y="3148736"/>
            <a:ext cx="5454396" cy="2556891"/>
          </a:xfrm>
          <a:prstGeom prst="roundRect">
            <a:avLst>
              <a:gd name="adj" fmla="val 1192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25846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ДОСТАТОЧНО ПОСМОТРЕТЬ НА СТАТУС</a:t>
            </a:r>
          </a:p>
        </p:txBody>
      </p:sp>
      <p:sp>
        <p:nvSpPr>
          <p:cNvPr id="7" name="TextBox 6"/>
          <p:cNvSpPr txBox="1"/>
          <p:nvPr/>
        </p:nvSpPr>
        <p:spPr>
          <a:xfrm>
            <a:off x="685800" y="3532784"/>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сервер используется нерегулярно</a:t>
            </a:r>
          </a:p>
        </p:txBody>
      </p:sp>
      <p:cxnSp>
        <p:nvCxnSpPr>
          <p:cNvPr id="8" name="Connector 7"/>
          <p:cNvCxnSpPr/>
          <p:nvPr/>
        </p:nvCxnSpPr>
        <p:spPr>
          <a:xfrm>
            <a:off x="685800" y="38514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851427"/>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вызов — под наблюдением человека</a:t>
            </a:r>
          </a:p>
        </p:txBody>
      </p:sp>
      <p:sp>
        <p:nvSpPr>
          <p:cNvPr id="10" name="Rounded Rectangle 9"/>
          <p:cNvSpPr/>
          <p:nvPr/>
        </p:nvSpPr>
        <p:spPr>
          <a:xfrm>
            <a:off x="6231636" y="3148736"/>
            <a:ext cx="5454396" cy="2556891"/>
          </a:xfrm>
          <a:prstGeom prst="roundRect">
            <a:avLst>
              <a:gd name="adj" fmla="val 1192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325846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НУЖНО ВЫЗВАТЬ САМОМУ — ИЛИ РЕШЕНИЕ НЕ ПОДКЛЮЧАТЬ ВОВСЕ</a:t>
            </a:r>
          </a:p>
        </p:txBody>
      </p:sp>
      <p:sp>
        <p:nvSpPr>
          <p:cNvPr id="12" name="TextBox 11"/>
          <p:cNvSpPr txBox="1"/>
          <p:nvPr/>
        </p:nvSpPr>
        <p:spPr>
          <a:xfrm>
            <a:off x="6414516" y="353278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доверять флагу, который сервер не может независимо подтвердить, — не нужно никогда: проверяйте явным вызовом</a:t>
            </a:r>
          </a:p>
        </p:txBody>
      </p:sp>
      <p:cxnSp>
        <p:nvCxnSpPr>
          <p:cNvPr id="13" name="Connector 12"/>
          <p:cNvCxnSpPr/>
          <p:nvPr/>
        </p:nvCxnSpPr>
        <p:spPr>
          <a:xfrm>
            <a:off x="6414516" y="402376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4023766"/>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если для задачи хватило бы режима только чтения, а сервер не даёт способа убедиться, что он реально включён, — разумнее завести отдельную роль с урезанными правами на уровне самой базы данных</a:t>
            </a:r>
          </a:p>
        </p:txBody>
      </p:sp>
      <p:cxnSp>
        <p:nvCxnSpPr>
          <p:cNvPr id="15" name="Connector 14"/>
          <p:cNvCxnSpPr/>
          <p:nvPr/>
        </p:nvCxnSpPr>
        <p:spPr>
          <a:xfrm>
            <a:off x="6414516" y="48594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85942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явный вызов систематически не проходит и автор сервера не отвечает — вопрос смещается туда же, где решался первый кейс этого блока: подключать ли сервер вообще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3</a:t>
            </a:r>
          </a:p>
        </p:txBody>
      </p:sp>
      <p:sp>
        <p:nvSpPr>
          <p:cNvPr id="7" name="TextBox 6"/>
          <p:cNvSpPr txBox="1"/>
          <p:nvPr/>
        </p:nvSpPr>
        <p:spPr>
          <a:xfrm>
            <a:off x="1536192" y="2114931"/>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Он открыл сессию в своём репозитории и ещё ничего не спросил</a:t>
            </a:r>
          </a:p>
        </p:txBody>
      </p:sp>
      <p:sp>
        <p:nvSpPr>
          <p:cNvPr id="8" name="TextBox 7"/>
          <p:cNvSpPr txBox="1"/>
          <p:nvPr/>
        </p:nvSpPr>
        <p:spPr>
          <a:xfrm>
            <a:off x="822960" y="3785997"/>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Сессия открыта, ни одного вопроса агенту он ещё не задал. Часть контекста уже занята: четыре сервера из проектного файла описали себя при старте, и за всю задачу понадобится один.</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сервер его. Ещё три дописал коллега</a:t>
            </a:r>
          </a:p>
        </p:txBody>
      </p:sp>
      <p:sp>
        <p:nvSpPr>
          <p:cNvPr id="3" name="Rounded Rectangle 2"/>
          <p:cNvSpPr/>
          <p:nvPr/>
        </p:nvSpPr>
        <p:spPr>
          <a:xfrm>
            <a:off x="502920" y="104866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7668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подключения: трекер задач — его собственный; браузер, база данных, сервер документации — коллеги, под свою работу. Область проектная, её видит каждый, кто работает с репозиторием.</a:t>
            </a:r>
          </a:p>
        </p:txBody>
      </p:sp>
      <p:sp>
        <p:nvSpPr>
          <p:cNvPr id="5" name="Rounded Rectangle 4"/>
          <p:cNvSpPr/>
          <p:nvPr/>
        </p:nvSpPr>
        <p:spPr>
          <a:xfrm>
            <a:off x="502920" y="2459507"/>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289499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678963"/>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он заметил.</a:t>
            </a:r>
            <a:r>
              <a:rPr sz="1350" b="0" i="0">
                <a:solidFill>
                  <a:srgbClr val="141B2E"/>
                </a:solidFill>
                <a:latin typeface="Arial"/>
              </a:rPr>
              <a:t> На длинной правке агент сжал разговор заметно раньше обычного и переспросил то, о чём они договорились в начале.</a:t>
            </a:r>
          </a:p>
        </p:txBody>
      </p:sp>
      <p:sp>
        <p:nvSpPr>
          <p:cNvPr id="8" name="Rounded Rectangle 7"/>
          <p:cNvSpPr/>
          <p:nvPr/>
        </p:nvSpPr>
        <p:spPr>
          <a:xfrm>
            <a:off x="758952" y="342762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211601"/>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Из чего набрано.</a:t>
            </a:r>
            <a:r>
              <a:rPr sz="1350" b="0" i="0">
                <a:solidFill>
                  <a:srgbClr val="141B2E"/>
                </a:solidFill>
                <a:latin typeface="Arial"/>
              </a:rPr>
              <a:t> Он посмотрел, что лежит в контексте до его первого вопроса: системная часть, файлы инструкций проекта, описания инструментов четырёх серверов.</a:t>
            </a:r>
          </a:p>
        </p:txBody>
      </p:sp>
      <p:sp>
        <p:nvSpPr>
          <p:cNvPr id="10" name="Rounded Rectangle 9"/>
          <p:cNvSpPr/>
          <p:nvPr/>
        </p:nvSpPr>
        <p:spPr>
          <a:xfrm>
            <a:off x="758952" y="406142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744239"/>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нашлось в чужих строках.</a:t>
            </a:r>
            <a:r>
              <a:rPr sz="1350" b="0" i="0">
                <a:solidFill>
                  <a:srgbClr val="141B2E"/>
                </a:solidFill>
                <a:latin typeface="Arial"/>
              </a:rPr>
              <a:t> У двух серверов стоит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отложенная загрузка описаний для них отменена, все их инструменты описываются при старте. Коллега поставил флаг, чтобы «инструменты не терялись».</a:t>
            </a:r>
          </a:p>
        </p:txBody>
      </p:sp>
      <p:sp>
        <p:nvSpPr>
          <p:cNvPr id="12" name="Rounded Rectangle 11"/>
          <p:cNvSpPr/>
          <p:nvPr/>
        </p:nvSpPr>
        <p:spPr>
          <a:xfrm>
            <a:off x="758952" y="469521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4479188"/>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Цена.</a:t>
            </a:r>
            <a:r>
              <a:rPr sz="1350" b="0" i="0">
                <a:solidFill>
                  <a:srgbClr val="141B2E"/>
                </a:solidFill>
                <a:latin typeface="Arial"/>
              </a:rPr>
              <a:t> Час на то, чтобы заново проговорить решения, потерянные при сжатии. Одна правка успела уехать в ветку по решению, которое он к тому моменту уже отменил.</a:t>
            </a:r>
          </a:p>
        </p:txBody>
      </p:sp>
      <p:sp>
        <p:nvSpPr>
          <p:cNvPr id="14" name="Rounded Rectangle 13"/>
          <p:cNvSpPr/>
          <p:nvPr/>
        </p:nvSpPr>
        <p:spPr>
          <a:xfrm>
            <a:off x="502920" y="565914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78716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 всю задачу он обратился к одному серверу из четырёх. Плата внесена за четыре.</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сервера, понадобился один. Что меняем?</a:t>
            </a:r>
          </a:p>
        </p:txBody>
      </p:sp>
      <p:sp>
        <p:nvSpPr>
          <p:cNvPr id="3" name="Rounded Rectangle 2"/>
          <p:cNvSpPr/>
          <p:nvPr/>
        </p:nvSpPr>
        <p:spPr>
          <a:xfrm>
            <a:off x="502920" y="205831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86330"/>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вы ставите первым шагом — и что добавляете к этому следующим?</a:t>
            </a:r>
          </a:p>
        </p:txBody>
      </p:sp>
      <p:sp>
        <p:nvSpPr>
          <p:cNvPr id="5" name="Rounded Rectangle 4"/>
          <p:cNvSpPr/>
          <p:nvPr/>
        </p:nvSpPr>
        <p:spPr>
          <a:xfrm>
            <a:off x="502920"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ничего — контекст большой, хватит</a:t>
            </a:r>
          </a:p>
        </p:txBody>
      </p:sp>
      <p:sp>
        <p:nvSpPr>
          <p:cNvPr id="7" name="Rounded Rectangle 6"/>
          <p:cNvSpPr/>
          <p:nvPr/>
        </p:nvSpPr>
        <p:spPr>
          <a:xfrm>
            <a:off x="2768803"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отключить серверы, которыми не пользуетесь</a:t>
            </a:r>
          </a:p>
        </p:txBody>
      </p:sp>
      <p:sp>
        <p:nvSpPr>
          <p:cNvPr id="9" name="Rounded Rectangle 8"/>
          <p:cNvSpPr/>
          <p:nvPr/>
        </p:nvSpPr>
        <p:spPr>
          <a:xfrm>
            <a:off x="5034686"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подключёнными, но получать описания по требованию</a:t>
            </a:r>
          </a:p>
        </p:txBody>
      </p:sp>
      <p:sp>
        <p:nvSpPr>
          <p:cNvPr id="11" name="Rounded Rectangle 10"/>
          <p:cNvSpPr/>
          <p:nvPr/>
        </p:nvSpPr>
        <p:spPr>
          <a:xfrm>
            <a:off x="7300569"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держать набор серверов под задачу, не общий проектный</a:t>
            </a:r>
          </a:p>
        </p:txBody>
      </p:sp>
      <p:sp>
        <p:nvSpPr>
          <p:cNvPr id="13" name="Rounded Rectangle 12"/>
          <p:cNvSpPr/>
          <p:nvPr/>
        </p:nvSpPr>
        <p:spPr>
          <a:xfrm>
            <a:off x="9566452"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чаще сжимать разговор</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которым не воспользовались, стоит столько же</a:t>
            </a:r>
          </a:p>
        </p:txBody>
      </p:sp>
      <p:sp>
        <p:nvSpPr>
          <p:cNvPr id="3" name="Rounded Rectangle 2"/>
          <p:cNvSpPr/>
          <p:nvPr/>
        </p:nvSpPr>
        <p:spPr>
          <a:xfrm>
            <a:off x="502920" y="943356"/>
            <a:ext cx="11183112" cy="3873119"/>
          </a:xfrm>
          <a:prstGeom prst="roundRect">
            <a:avLst>
              <a:gd name="adj" fmla="val 78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30172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ВАРИАНТ</a:t>
            </a:r>
          </a:p>
        </p:txBody>
      </p:sp>
      <p:sp>
        <p:nvSpPr>
          <p:cNvPr id="5" name="TextBox 4"/>
          <p:cNvSpPr txBox="1"/>
          <p:nvPr/>
        </p:nvSpPr>
        <p:spPr>
          <a:xfrm>
            <a:off x="2133827" y="1126236"/>
            <a:ext cx="373581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ДЕЛАЕТ</a:t>
            </a:r>
          </a:p>
        </p:txBody>
      </p:sp>
      <p:sp>
        <p:nvSpPr>
          <p:cNvPr id="6" name="TextBox 5"/>
          <p:cNvSpPr txBox="1"/>
          <p:nvPr/>
        </p:nvSpPr>
        <p:spPr>
          <a:xfrm>
            <a:off x="6015944" y="1126236"/>
            <a:ext cx="534090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НЕ ДЕЛАЕТ / ОГРАНИЧЕНИЕ</a:t>
            </a:r>
          </a:p>
        </p:txBody>
      </p:sp>
      <p:sp>
        <p:nvSpPr>
          <p:cNvPr id="7" name="TextBox 6"/>
          <p:cNvSpPr txBox="1"/>
          <p:nvPr/>
        </p:nvSpPr>
        <p:spPr>
          <a:xfrm>
            <a:off x="685800" y="1400810"/>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ничего — контекст большой</a:t>
            </a:r>
          </a:p>
        </p:txBody>
      </p:sp>
      <p:sp>
        <p:nvSpPr>
          <p:cNvPr id="8" name="TextBox 7"/>
          <p:cNvSpPr txBox="1"/>
          <p:nvPr/>
        </p:nvSpPr>
        <p:spPr>
          <a:xfrm>
            <a:off x="2133827" y="1400810"/>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всё как есть: на короткой задаче этого и не заметно</a:t>
            </a:r>
          </a:p>
        </p:txBody>
      </p:sp>
      <p:sp>
        <p:nvSpPr>
          <p:cNvPr id="9" name="TextBox 8"/>
          <p:cNvSpPr txBox="1"/>
          <p:nvPr/>
        </p:nvSpPr>
        <p:spPr>
          <a:xfrm>
            <a:off x="6015944" y="1400810"/>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плату вы уже внесли, и она держится весь сеанс: на длинной задаче сжатие приходит раньше, и часть принятых решений уходит в пересказ</a:t>
            </a:r>
          </a:p>
        </p:txBody>
      </p:sp>
      <p:cxnSp>
        <p:nvCxnSpPr>
          <p:cNvPr id="10" name="Connector 9"/>
          <p:cNvCxnSpPr/>
          <p:nvPr/>
        </p:nvCxnSpPr>
        <p:spPr>
          <a:xfrm>
            <a:off x="685800" y="2047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7367"/>
            <a:ext cx="130172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отключить серверы, которыми не пользуетесь</a:t>
            </a:r>
          </a:p>
        </p:txBody>
      </p:sp>
      <p:sp>
        <p:nvSpPr>
          <p:cNvPr id="12" name="TextBox 11"/>
          <p:cNvSpPr txBox="1"/>
          <p:nvPr/>
        </p:nvSpPr>
        <p:spPr>
          <a:xfrm>
            <a:off x="2133827" y="2047367"/>
            <a:ext cx="373581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снимает плату целиком: у неподключённого сервера в контексте нет ни имён, ни инструкции о себе</a:t>
            </a:r>
          </a:p>
        </p:txBody>
      </p:sp>
      <p:sp>
        <p:nvSpPr>
          <p:cNvPr id="13" name="TextBox 12"/>
          <p:cNvSpPr txBox="1"/>
          <p:nvPr/>
        </p:nvSpPr>
        <p:spPr>
          <a:xfrm>
            <a:off x="6015944" y="2047367"/>
            <a:ext cx="534090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требует знать заранее, что понадобится; отключённый нужный возвращает ту работу руками, с которой начинался первый случай блока</a:t>
            </a:r>
          </a:p>
        </p:txBody>
      </p:sp>
      <p:cxnSp>
        <p:nvCxnSpPr>
          <p:cNvPr id="14" name="Connector 13"/>
          <p:cNvCxnSpPr/>
          <p:nvPr/>
        </p:nvCxnSpPr>
        <p:spPr>
          <a:xfrm>
            <a:off x="685800" y="28545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54579"/>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получать описания по требованию</a:t>
            </a:r>
          </a:p>
        </p:txBody>
      </p:sp>
      <p:sp>
        <p:nvSpPr>
          <p:cNvPr id="16" name="TextBox 15"/>
          <p:cNvSpPr txBox="1"/>
          <p:nvPr/>
        </p:nvSpPr>
        <p:spPr>
          <a:xfrm>
            <a:off x="2133827" y="2854579"/>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при старте имена инструментов и инструкцию сервера; полную схему модель подтягивает, когда инструмент ей понадобился</a:t>
            </a:r>
          </a:p>
        </p:txBody>
      </p:sp>
      <p:sp>
        <p:nvSpPr>
          <p:cNvPr id="17" name="TextBox 16"/>
          <p:cNvSpPr txBox="1"/>
          <p:nvPr/>
        </p:nvSpPr>
        <p:spPr>
          <a:xfrm>
            <a:off x="6015944" y="2854579"/>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это поведение по умолчанию — значит ваше действие здесь проверочное: не отменил ли его флаг у сервера или переменная окружения</a:t>
            </a:r>
          </a:p>
        </p:txBody>
      </p:sp>
      <p:cxnSp>
        <p:nvCxnSpPr>
          <p:cNvPr id="18" name="Connector 17"/>
          <p:cNvCxnSpPr/>
          <p:nvPr/>
        </p:nvCxnSpPr>
        <p:spPr>
          <a:xfrm>
            <a:off x="685800" y="35011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01136"/>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держать набор серверов под задачу</a:t>
            </a:r>
          </a:p>
        </p:txBody>
      </p:sp>
      <p:sp>
        <p:nvSpPr>
          <p:cNvPr id="20" name="TextBox 19"/>
          <p:cNvSpPr txBox="1"/>
          <p:nvPr/>
        </p:nvSpPr>
        <p:spPr>
          <a:xfrm>
            <a:off x="2133827" y="3501136"/>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личная область подключения даёт набор под вашу работу, общий проектный файл при этом остаётся командным</a:t>
            </a:r>
          </a:p>
        </p:txBody>
      </p:sp>
      <p:sp>
        <p:nvSpPr>
          <p:cNvPr id="21" name="TextBox 20"/>
          <p:cNvSpPr txBox="1"/>
          <p:nvPr/>
        </p:nvSpPr>
        <p:spPr>
          <a:xfrm>
            <a:off x="6015944" y="3501136"/>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заводит вторую запись о том, что подключено: расхождение личного и проектного набора придётся держать в голове</a:t>
            </a:r>
          </a:p>
        </p:txBody>
      </p:sp>
      <p:cxnSp>
        <p:nvCxnSpPr>
          <p:cNvPr id="22" name="Connector 21"/>
          <p:cNvCxnSpPr/>
          <p:nvPr/>
        </p:nvCxnSpPr>
        <p:spPr>
          <a:xfrm>
            <a:off x="685800" y="41476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47693"/>
            <a:ext cx="130172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чаще сжимать разговор</a:t>
            </a:r>
          </a:p>
        </p:txBody>
      </p:sp>
      <p:sp>
        <p:nvSpPr>
          <p:cNvPr id="24" name="TextBox 23"/>
          <p:cNvSpPr txBox="1"/>
          <p:nvPr/>
        </p:nvSpPr>
        <p:spPr>
          <a:xfrm>
            <a:off x="2133827" y="4147693"/>
            <a:ext cx="373581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освобождает место, занятое историей разговора</a:t>
            </a:r>
          </a:p>
        </p:txBody>
      </p:sp>
      <p:sp>
        <p:nvSpPr>
          <p:cNvPr id="25" name="TextBox 24"/>
          <p:cNvSpPr txBox="1"/>
          <p:nvPr/>
        </p:nvSpPr>
        <p:spPr>
          <a:xfrm>
            <a:off x="6015944" y="4147693"/>
            <a:ext cx="534090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описания инструментов сжатием не уходят: они приходят заново в каждый контекст, отдельно от истории</a:t>
            </a:r>
          </a:p>
        </p:txBody>
      </p:sp>
      <p:sp>
        <p:nvSpPr>
          <p:cNvPr id="26" name="Rounded Rectangle 25"/>
          <p:cNvSpPr/>
          <p:nvPr/>
        </p:nvSpPr>
        <p:spPr>
          <a:xfrm>
            <a:off x="502920" y="4981066"/>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109082"/>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Из сочетания колонок:</a:t>
            </a:r>
            <a:r>
              <a:rPr sz="1350" b="1" i="0">
                <a:solidFill>
                  <a:srgbClr val="141B2E"/>
                </a:solidFill>
                <a:latin typeface="Arial"/>
              </a:rPr>
              <a:t> плата идёт за подключённость — сервер, к которому за сессию не обратились ни разу, стоит столько же, сколько рабочий. Поэтому работают две меры, и в таком порядке: сначала проверить, что описания приходят по требованию, — это ничего не стоит и часто уже включено; потом разобрать набор серверов под задачу — это работа, и её делают один раз.</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лежит в контексте до вашего первого вопроса</a:t>
            </a:r>
          </a:p>
        </p:txBody>
      </p:sp>
      <p:pic>
        <p:nvPicPr>
          <p:cNvPr id="3" name="Picture 2" descr="mcp-n32-chto-v-kontekste.png"/>
          <p:cNvPicPr>
            <a:picLocks noChangeAspect="1"/>
          </p:cNvPicPr>
          <p:nvPr/>
        </p:nvPicPr>
        <p:blipFill>
          <a:blip r:embed="rId2"/>
          <a:stretch>
            <a:fillRect/>
          </a:stretch>
        </p:blipFill>
        <p:spPr>
          <a:xfrm>
            <a:off x="502920" y="966689"/>
            <a:ext cx="11183112" cy="5325957"/>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 по требованию. Набор — под задачу</a:t>
            </a:r>
          </a:p>
        </p:txBody>
      </p:sp>
      <p:sp>
        <p:nvSpPr>
          <p:cNvPr id="3" name="Rounded Rectangle 2"/>
          <p:cNvSpPr/>
          <p:nvPr/>
        </p:nvSpPr>
        <p:spPr>
          <a:xfrm>
            <a:off x="502920" y="1422654"/>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581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4211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.mcp.json</a:t>
            </a:r>
            <a:r>
              <a:rPr sz="1350" b="0" i="0">
                <a:solidFill>
                  <a:srgbClr val="141B2E"/>
                </a:solidFill>
                <a:latin typeface="Arial"/>
              </a:rPr>
              <a:t>: у сервера снят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описания его инструментов приходят по требованию. Флаг оставляют одному инструменту, который нужен на каждом шаге, и записывают рядом, почему.</a:t>
            </a:r>
          </a:p>
        </p:txBody>
      </p:sp>
      <p:sp>
        <p:nvSpPr>
          <p:cNvPr id="6" name="Rounded Rectangle 5"/>
          <p:cNvSpPr/>
          <p:nvPr/>
        </p:nvSpPr>
        <p:spPr>
          <a:xfrm>
            <a:off x="758952" y="239077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7474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Окружение проекта: </a:t>
            </a:r>
            <a:r>
              <a:rPr sz="1350" b="0" i="0">
                <a:solidFill>
                  <a:srgbClr val="141B2E"/>
                </a:solidFill>
                <a:latin typeface="Consolas"/>
              </a:rPr>
              <a:t>ENABLE_TOOL_SEARCH</a:t>
            </a:r>
            <a:r>
              <a:rPr sz="1350" b="0" i="0">
                <a:solidFill>
                  <a:srgbClr val="141B2E"/>
                </a:solidFill>
                <a:latin typeface="Arial"/>
              </a:rPr>
              <a:t> не выставлен в </a:t>
            </a:r>
            <a:r>
              <a:rPr sz="1350" b="0" i="0">
                <a:solidFill>
                  <a:srgbClr val="141B2E"/>
                </a:solidFill>
                <a:latin typeface="Consolas"/>
              </a:rPr>
              <a:t>false</a:t>
            </a:r>
            <a:r>
              <a:rPr sz="1350" b="0" i="0">
                <a:solidFill>
                  <a:srgbClr val="141B2E"/>
                </a:solidFill>
                <a:latin typeface="Arial"/>
              </a:rPr>
              <a:t>. Пороговое значение вида </a:t>
            </a:r>
            <a:r>
              <a:rPr sz="1350" b="0" i="0">
                <a:solidFill>
                  <a:srgbClr val="141B2E"/>
                </a:solidFill>
                <a:latin typeface="Consolas"/>
              </a:rPr>
              <a:t>auto:10</a:t>
            </a:r>
            <a:r>
              <a:rPr sz="1350" b="0" i="0">
                <a:solidFill>
                  <a:srgbClr val="141B2E"/>
                </a:solidFill>
                <a:latin typeface="Arial"/>
              </a:rPr>
              <a:t> — компромисс: пока определения занимают меньше названной доли контекста, они грузятся сразу.</a:t>
            </a:r>
          </a:p>
        </p:txBody>
      </p:sp>
      <p:sp>
        <p:nvSpPr>
          <p:cNvPr id="8" name="Rounded Rectangle 7"/>
          <p:cNvSpPr/>
          <p:nvPr/>
        </p:nvSpPr>
        <p:spPr>
          <a:xfrm>
            <a:off x="758952" y="302456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07386"/>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Команда запуска сервера: только нужные наборы инструментов — </a:t>
            </a:r>
            <a:r>
              <a:rPr sz="1350" b="0" i="0">
                <a:solidFill>
                  <a:srgbClr val="141B2E"/>
                </a:solidFill>
                <a:latin typeface="Arial"/>
              </a:rPr>
              <a:t>--toolsets</a:t>
            </a:r>
            <a:r>
              <a:rPr sz="1350" b="0" i="0">
                <a:solidFill>
                  <a:srgbClr val="141B2E"/>
                </a:solidFill>
                <a:latin typeface="Arial"/>
              </a:rPr>
              <a:t> </a:t>
            </a:r>
            <a:r>
              <a:rPr sz="1350" b="0" i="0">
                <a:solidFill>
                  <a:srgbClr val="141B2E"/>
                </a:solidFill>
                <a:latin typeface="Consolas"/>
              </a:rPr>
              <a:t>repos,issues</a:t>
            </a:r>
            <a:r>
              <a:rPr sz="1350" b="0" i="0">
                <a:solidFill>
                  <a:srgbClr val="141B2E"/>
                </a:solidFill>
                <a:latin typeface="Arial"/>
              </a:rPr>
              <a:t> вместо полного набора. Проверяйте флаги по текущей версии сервера: у официального сервера GitHub режим выдачи наборов по требованию был и снят в мае 2026.</a:t>
            </a:r>
          </a:p>
        </p:txBody>
      </p:sp>
      <p:sp>
        <p:nvSpPr>
          <p:cNvPr id="10" name="Rounded Rectangle 9"/>
          <p:cNvSpPr/>
          <p:nvPr/>
        </p:nvSpPr>
        <p:spPr>
          <a:xfrm>
            <a:off x="758952" y="365836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442335"/>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Личная область подключения: серверы под свою работу — там. Общий проектный файл остаётся командным, и чужие три сервера из него никто не выбрасывает.</a:t>
            </a:r>
          </a:p>
        </p:txBody>
      </p:sp>
      <p:sp>
        <p:nvSpPr>
          <p:cNvPr id="12" name="Rounded Rectangle 11"/>
          <p:cNvSpPr/>
          <p:nvPr/>
        </p:nvSpPr>
        <p:spPr>
          <a:xfrm>
            <a:off x="502920" y="486194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98995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говорит, что подключено у всех. Личная область — что подключено у вас. Режим загрузки описаний решает, во что это обходится до первого вопроса.</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убрали со старта. Серверы оставили</a:t>
            </a:r>
          </a:p>
        </p:txBody>
      </p:sp>
      <p:sp>
        <p:nvSpPr>
          <p:cNvPr id="3" name="Rounded Rectangle 2"/>
          <p:cNvSpPr/>
          <p:nvPr/>
        </p:nvSpPr>
        <p:spPr>
          <a:xfrm>
            <a:off x="502920" y="1081278"/>
            <a:ext cx="11183112" cy="3783329"/>
          </a:xfrm>
          <a:prstGeom prst="roundRect">
            <a:avLst>
              <a:gd name="adj" fmla="val 805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0073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0073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Автор протокола назвал это проблемой.</a:t>
            </a:r>
            <a:r>
              <a:rPr sz="1350" b="0" i="0">
                <a:solidFill>
                  <a:srgbClr val="141B2E"/>
                </a:solidFill>
                <a:latin typeface="Arial"/>
              </a:rPr>
              <a:t> «Определения инструментов перегружают контекст» — так открывается его собственный разбор. Ход взамен: представлять серверы кодовым интерфейсом, который агент читает по требованию; в разобранном в статье примере — 150 000 токенов против 2 000. Серверы остались на месте (Anthropic, инженерный блог, 04.11.2025).</a:t>
            </a:r>
          </a:p>
        </p:txBody>
      </p:sp>
      <p:sp>
        <p:nvSpPr>
          <p:cNvPr id="6" name="TextBox 5"/>
          <p:cNvSpPr txBox="1"/>
          <p:nvPr/>
        </p:nvSpPr>
        <p:spPr>
          <a:xfrm>
            <a:off x="722376" y="223799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23799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Счёт на пяти серверах.</a:t>
            </a:r>
            <a:r>
              <a:rPr sz="1350" b="0" i="0">
                <a:solidFill>
                  <a:srgbClr val="141B2E"/>
                </a:solidFill>
                <a:latin typeface="Arial"/>
              </a:rPr>
              <a:t> Набор GitHub, Slack, Sentry, Grafana, Splunk занимает около 55 000 токенов определений до начала работы; загрузка по требованию снимает больше 85%, подтягивая 3–5 нужных инструментов. Там же: точность выбора падает, когда доступных инструментов больше 30–50 (документация того же производителя, обращение 07.10.2026).</a:t>
            </a:r>
          </a:p>
        </p:txBody>
      </p:sp>
      <p:sp>
        <p:nvSpPr>
          <p:cNvPr id="8" name="TextBox 7"/>
          <p:cNvSpPr txBox="1"/>
          <p:nvPr/>
        </p:nvSpPr>
        <p:spPr>
          <a:xfrm>
            <a:off x="722376" y="3175254"/>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175254"/>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Сократили собственный набор.</a:t>
            </a:r>
            <a:r>
              <a:rPr sz="1350" b="0" i="0">
                <a:solidFill>
                  <a:srgbClr val="141B2E"/>
                </a:solidFill>
                <a:latin typeface="Arial"/>
              </a:rPr>
              <a:t> Встроенных инструментов было 40, оставили 13 основных — и замерили: успешность на двух наборах задач выросла на 2–5 процентных пунктов. Предел площадки — 128 инструментов на запрос (GitHub, инженерный блог, 19.11.2025).</a:t>
            </a:r>
          </a:p>
        </p:txBody>
      </p:sp>
      <p:sp>
        <p:nvSpPr>
          <p:cNvPr id="10" name="TextBox 9"/>
          <p:cNvSpPr txBox="1"/>
          <p:nvPr/>
        </p:nvSpPr>
        <p:spPr>
          <a:xfrm>
            <a:off x="722376" y="391020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91020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Попробовали и отказались.</a:t>
            </a:r>
            <a:r>
              <a:rPr sz="1350" b="0" i="0">
                <a:solidFill>
                  <a:srgbClr val="141B2E"/>
                </a:solidFill>
                <a:latin typeface="Arial"/>
              </a:rPr>
              <a:t> Подгружать инструменты по требованию пробовали и отказались: смена набора посреди работы обнуляет кэш и путает модель на прошлых шагах. Ход взамен — маскировать лишние, оставляя определения на месте (Manus, 18.07.2025).</a:t>
            </a:r>
          </a:p>
        </p:txBody>
      </p:sp>
      <p:sp>
        <p:nvSpPr>
          <p:cNvPr id="12" name="Rounded Rectangle 11"/>
          <p:cNvSpPr/>
          <p:nvPr/>
        </p:nvSpPr>
        <p:spPr>
          <a:xfrm>
            <a:off x="502920" y="537400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50202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Посмотрите, в каком режиме описания грузятся у вас, и держите набор под задачу. Одинакового ответа у отрасли нет: последняя строка прямо обратна трём предыдущим.</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Сколько серверов держать подключёнными</a:t>
            </a:r>
          </a:p>
        </p:txBody>
      </p:sp>
      <p:sp>
        <p:nvSpPr>
          <p:cNvPr id="3" name="Rounded Rectangle 2"/>
          <p:cNvSpPr/>
          <p:nvPr/>
        </p:nvSpPr>
        <p:spPr>
          <a:xfrm>
            <a:off x="502920" y="1166621"/>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94637"/>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 конфигурации теперь пять файлов: к четырём, с которых мы начали занятие, добавился </a:t>
            </a:r>
            <a:r>
              <a:rPr sz="1500" b="1" i="0">
                <a:solidFill>
                  <a:srgbClr val="141B2E"/>
                </a:solidFill>
                <a:latin typeface="Consolas"/>
              </a:rPr>
              <a:t>.mcp.json</a:t>
            </a:r>
            <a:r>
              <a:rPr sz="1500" b="1" i="0">
                <a:solidFill>
                  <a:srgbClr val="141B2E"/>
                </a:solidFill>
                <a:latin typeface="Arial"/>
              </a:rPr>
              <a:t>. Он дал агенту руки — под правами, которые мы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Следующий вопрос — что в этот контекст всё равно не помещается, когда работы становится больше.</a:t>
            </a:r>
          </a:p>
        </p:txBody>
      </p:sp>
      <p:sp>
        <p:nvSpPr>
          <p:cNvPr id="5" name="Rounded Rectangle 4"/>
          <p:cNvSpPr/>
          <p:nvPr/>
        </p:nvSpPr>
        <p:spPr>
          <a:xfrm>
            <a:off x="502920"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ДЕРЖАТЬ ПОДКЛЮЧЁННЫМ В ПРОЕКТНОМ ФАЙЛЕ</a:t>
            </a:r>
          </a:p>
        </p:txBody>
      </p:sp>
      <p:sp>
        <p:nvSpPr>
          <p:cNvPr id="7" name="TextBox 6"/>
          <p:cNvSpPr txBox="1"/>
          <p:nvPr/>
        </p:nvSpPr>
        <p:spPr>
          <a:xfrm>
            <a:off x="685800"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сервер нужен в большинстве сессий этого проекта: им пользуется команда</a:t>
            </a:r>
          </a:p>
        </p:txBody>
      </p:sp>
      <p:cxnSp>
        <p:nvCxnSpPr>
          <p:cNvPr id="8" name="Connector 7"/>
          <p:cNvCxnSpPr/>
          <p:nvPr/>
        </p:nvCxnSpPr>
        <p:spPr>
          <a:xfrm>
            <a:off x="685800"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описания его инструментов приходят по требованию, и это проверено</a:t>
            </a:r>
          </a:p>
        </p:txBody>
      </p:sp>
      <p:cxnSp>
        <p:nvCxnSpPr>
          <p:cNvPr id="10" name="Connector 9"/>
          <p:cNvCxnSpPr/>
          <p:nvPr/>
        </p:nvCxnSpPr>
        <p:spPr>
          <a:xfrm>
            <a:off x="685800"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555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наборов инструментов у него столько, сколько нужно задаче; остальное сервер держит выключенным</a:t>
            </a:r>
          </a:p>
        </p:txBody>
      </p:sp>
      <p:sp>
        <p:nvSpPr>
          <p:cNvPr id="12" name="Rounded Rectangle 11"/>
          <p:cNvSpPr/>
          <p:nvPr/>
        </p:nvSpPr>
        <p:spPr>
          <a:xfrm>
            <a:off x="6231636"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НУЖНО НИКОГДА</a:t>
            </a:r>
          </a:p>
        </p:txBody>
      </p:sp>
      <p:sp>
        <p:nvSpPr>
          <p:cNvPr id="14" name="TextBox 13"/>
          <p:cNvSpPr txBox="1"/>
          <p:nvPr/>
        </p:nvSpPr>
        <p:spPr>
          <a:xfrm>
            <a:off x="6414516"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держать в общем проектном файле то, что нужно одному человеку: для этого есть личная область</a:t>
            </a:r>
          </a:p>
        </p:txBody>
      </p:sp>
      <p:cxnSp>
        <p:nvCxnSpPr>
          <p:cNvPr id="15" name="Connector 14"/>
          <p:cNvCxnSpPr/>
          <p:nvPr/>
        </p:nvCxnSpPr>
        <p:spPr>
          <a:xfrm>
            <a:off x="6414516"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ставить флаг принудительной загрузки описаний, не записав рядом причину: через месяц это чужая строка без объяснения</a:t>
            </a:r>
          </a:p>
        </p:txBody>
      </p:sp>
      <p:cxnSp>
        <p:nvCxnSpPr>
          <p:cNvPr id="17" name="Connector 16"/>
          <p:cNvCxnSpPr/>
          <p:nvPr/>
        </p:nvCxnSpPr>
        <p:spPr>
          <a:xfrm>
            <a:off x="6414516"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65556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считать, что большой контекст снимает вопрос: точность выбора инструмента падает после 30–50 доступных, и видно это по результату: счёт молчит</a:t>
            </a:r>
          </a:p>
        </p:txBody>
      </p:sp>
      <p:cxnSp>
        <p:nvCxnSpPr>
          <p:cNvPr id="19" name="Connector 18"/>
          <p:cNvCxnSpPr/>
          <p:nvPr/>
        </p:nvCxnSpPr>
        <p:spPr>
          <a:xfrm>
            <a:off x="6414516" y="53188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3188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полагаться на флаг, найденный поиском: у сервера его могли снять — проверяется по описанию текущей версии</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4</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Сорок файлов ради четырёх нужных мест</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Что править — известно. Где править — лежит в сорока файлах, и прочитать их надо туда же, где эта правка уже объяснена.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Агент, роль и контекст каждого</a:t>
            </a:r>
          </a:p>
        </p:txBody>
      </p:sp>
      <p:pic>
        <p:nvPicPr>
          <p:cNvPr id="3" name="Picture 2" descr="subagent-n37-kontekst-i-roli.png"/>
          <p:cNvPicPr>
            <a:picLocks noChangeAspect="1"/>
          </p:cNvPicPr>
          <p:nvPr/>
        </p:nvPicPr>
        <p:blipFill>
          <a:blip r:embed="rId2"/>
          <a:stretch>
            <a:fillRect/>
          </a:stretch>
        </p:blipFill>
        <p:spPr>
          <a:xfrm>
            <a:off x="572125" y="943356"/>
            <a:ext cx="11044701"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Роль целиком, одним экраном</a:t>
            </a:r>
          </a:p>
        </p:txBody>
      </p:sp>
      <p:pic>
        <p:nvPicPr>
          <p:cNvPr id="3" name="Picture 2" descr="subagent-n38-rol-tseliko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Нашёл все четыре места. Правку начал заново</a:t>
            </a:r>
          </a:p>
        </p:txBody>
      </p:sp>
      <p:sp>
        <p:nvSpPr>
          <p:cNvPr id="3" name="Rounded Rectangle 2"/>
          <p:cNvSpPr/>
          <p:nvPr/>
        </p:nvSpPr>
        <p:spPr>
          <a:xfrm>
            <a:off x="502920" y="1001649"/>
            <a:ext cx="11183112" cy="3709035"/>
          </a:xfrm>
          <a:prstGeom prst="roundRect">
            <a:avLst>
              <a:gd name="adj" fmla="val 821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110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221105"/>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Тот же разработчик, что заводил здесь хук и скилл. Сцена другая: продукт, где он работает каждый день, — тарифы, участники, два года миграций. Задача дня — завести тариф «Команда»: двадцать участников вместо пяти.</a:t>
            </a:r>
          </a:p>
        </p:txBody>
      </p:sp>
      <p:sp>
        <p:nvSpPr>
          <p:cNvPr id="6" name="TextBox 5"/>
          <p:cNvSpPr txBox="1"/>
          <p:nvPr/>
        </p:nvSpPr>
        <p:spPr>
          <a:xfrm>
            <a:off x="722376" y="195605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95605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Сессия открыта с утра. Минут пятнадцать он объясняет агенту задачу: как тариф называется, кому доступен, что делать со старыми аккаунтами, какие случаи проверить. Правку они делают здесь же.</a:t>
            </a:r>
          </a:p>
        </p:txBody>
      </p:sp>
      <p:sp>
        <p:nvSpPr>
          <p:cNvPr id="8" name="TextBox 7"/>
          <p:cNvSpPr txBox="1"/>
          <p:nvPr/>
        </p:nvSpPr>
        <p:spPr>
          <a:xfrm>
            <a:off x="722376" y="248869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8869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Прежде чем править, нужен список мест, где лимит участников вообще проверяется. Пропустишь одно — новый тариф пройдёт конфиг и упрётся в проверку, про которую никто уже не помнит.</a:t>
            </a:r>
          </a:p>
        </p:txBody>
      </p:sp>
      <p:sp>
        <p:nvSpPr>
          <p:cNvPr id="10" name="TextBox 9"/>
          <p:cNvSpPr txBox="1"/>
          <p:nvPr/>
        </p:nvSpPr>
        <p:spPr>
          <a:xfrm>
            <a:off x="722376" y="3021330"/>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021330"/>
            <a:ext cx="10360152" cy="93725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Агент ищет и находит четыре: middleware при добавлении участника, конфиг тарифов, отдельная миграция для аккаунтов до смены тарифной сетки, клиентский компонент с той же проверкой на случай недоступности сервера. Миграций за два года пятнадцать, лимит менялся в трёх — листать приходится все. Открытых файлов больше сорока, чтения — минут двадцать.</a:t>
            </a:r>
          </a:p>
        </p:txBody>
      </p:sp>
      <p:sp>
        <p:nvSpPr>
          <p:cNvPr id="12" name="TextBox 11"/>
          <p:cNvSpPr txBox="1"/>
          <p:nvPr/>
        </p:nvSpPr>
        <p:spPr>
          <a:xfrm>
            <a:off x="722376" y="395859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5</a:t>
            </a:r>
          </a:p>
        </p:txBody>
      </p:sp>
      <p:sp>
        <p:nvSpPr>
          <p:cNvPr id="13" name="TextBox 12"/>
          <p:cNvSpPr txBox="1"/>
          <p:nvPr/>
        </p:nvSpPr>
        <p:spPr>
          <a:xfrm>
            <a:off x="1106424" y="395859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«Теперь правь по этому списку» — и агент переспрашивает то, что ему объясняли утром: как называется тариф и сколько в нём участников. Объяснять приходится второй раз.</a:t>
            </a:r>
          </a:p>
        </p:txBody>
      </p:sp>
      <p:sp>
        <p:nvSpPr>
          <p:cNvPr id="14" name="Rounded Rectangle 13"/>
          <p:cNvSpPr/>
          <p:nvPr/>
        </p:nvSpPr>
        <p:spPr>
          <a:xfrm>
            <a:off x="502920" y="502100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14902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Полчаса ушло на то, чтобы сказать уже сказанное и вернуться туда, где он остановился. Список при этом верный, и чтение шло быстро: нужное влезло в контекст целиком и вытеснило работу, ради которой сессию открывали. Это второй промах из начала занятия, предъявленный целиком.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делать с этим чтением</a:t>
            </a:r>
          </a:p>
        </p:txBody>
      </p:sp>
      <p:sp>
        <p:nvSpPr>
          <p:cNvPr id="3" name="Rectangle 2"/>
          <p:cNvSpPr/>
          <p:nvPr/>
        </p:nvSpPr>
        <p:spPr>
          <a:xfrm>
            <a:off x="502920" y="1671523"/>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26387"/>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«Что править — известно. Где править — лежит в сорока файлах, из которых нужны четыре.»</a:t>
            </a:r>
          </a:p>
        </p:txBody>
      </p:sp>
      <p:sp>
        <p:nvSpPr>
          <p:cNvPr id="5" name="Rounded Rectangle 4"/>
          <p:cNvSpPr/>
          <p:nvPr/>
        </p:nvSpPr>
        <p:spPr>
          <a:xfrm>
            <a:off x="502920" y="269336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82138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карточку — и назовите вслух, за счёт чего она выигрывает.»</a:t>
            </a:r>
          </a:p>
        </p:txBody>
      </p:sp>
      <p:sp>
        <p:nvSpPr>
          <p:cNvPr id="7" name="Rounded Rectangle 6"/>
          <p:cNvSpPr/>
          <p:nvPr/>
        </p:nvSpPr>
        <p:spPr>
          <a:xfrm>
            <a:off x="502920"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прочитать все сорок файлов самому, в этой же сессии</a:t>
            </a:r>
          </a:p>
        </p:txBody>
      </p:sp>
      <p:sp>
        <p:nvSpPr>
          <p:cNvPr id="9" name="Rounded Rectangle 8"/>
          <p:cNvSpPr/>
          <p:nvPr/>
        </p:nvSpPr>
        <p:spPr>
          <a:xfrm>
            <a:off x="2768803"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открыть вторую сессию, спросить там и перенести список руками</a:t>
            </a:r>
          </a:p>
        </p:txBody>
      </p:sp>
      <p:sp>
        <p:nvSpPr>
          <p:cNvPr id="11" name="Rounded Rectangle 10"/>
          <p:cNvSpPr/>
          <p:nvPr/>
        </p:nvSpPr>
        <p:spPr>
          <a:xfrm>
            <a:off x="5034686"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позвать коллегу, который давно работает с тарифами</a:t>
            </a:r>
          </a:p>
        </p:txBody>
      </p:sp>
      <p:sp>
        <p:nvSpPr>
          <p:cNvPr id="13" name="Rounded Rectangle 12"/>
          <p:cNvSpPr/>
          <p:nvPr/>
        </p:nvSpPr>
        <p:spPr>
          <a:xfrm>
            <a:off x="7300569"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поручить роли: прочитает в своём контексте и вернёт список мест</a:t>
            </a:r>
          </a:p>
        </p:txBody>
      </p:sp>
      <p:sp>
        <p:nvSpPr>
          <p:cNvPr id="15" name="Rounded Rectangle 14"/>
          <p:cNvSpPr/>
          <p:nvPr/>
        </p:nvSpPr>
        <p:spPr>
          <a:xfrm>
            <a:off x="9566452"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править по памяти, без поиска</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Быстрее не стало — те же сорок файлов</a:t>
            </a:r>
          </a:p>
        </p:txBody>
      </p:sp>
      <p:sp>
        <p:nvSpPr>
          <p:cNvPr id="3" name="Rounded Rectangle 2"/>
          <p:cNvSpPr/>
          <p:nvPr/>
        </p:nvSpPr>
        <p:spPr>
          <a:xfrm>
            <a:off x="502920" y="943356"/>
            <a:ext cx="11183112" cy="3990149"/>
          </a:xfrm>
          <a:prstGeom prst="roundRect">
            <a:avLst>
              <a:gd name="adj" fmla="val 76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990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1831128" y="1126236"/>
            <a:ext cx="37137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691158" y="1126236"/>
            <a:ext cx="56656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999024"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прочитать самому, в этой же сессии</a:t>
            </a:r>
          </a:p>
        </p:txBody>
      </p:sp>
      <p:sp>
        <p:nvSpPr>
          <p:cNvPr id="8" name="TextBox 7"/>
          <p:cNvSpPr txBox="1"/>
          <p:nvPr/>
        </p:nvSpPr>
        <p:spPr>
          <a:xfrm>
            <a:off x="1831128" y="1408303"/>
            <a:ext cx="3713726"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полный контроль над тем, что и в каком порядке читается</a:t>
            </a:r>
          </a:p>
        </p:txBody>
      </p:sp>
      <p:sp>
        <p:nvSpPr>
          <p:cNvPr id="9" name="TextBox 8"/>
          <p:cNvSpPr txBox="1"/>
          <p:nvPr/>
        </p:nvSpPr>
        <p:spPr>
          <a:xfrm>
            <a:off x="5691158" y="1408303"/>
            <a:ext cx="5665689"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контекст сессии занимает содержимое сорока файлов, из которых для правки нужны четыре</a:t>
            </a:r>
          </a:p>
        </p:txBody>
      </p:sp>
      <p:cxnSp>
        <p:nvCxnSpPr>
          <p:cNvPr id="10" name="Connector 9"/>
          <p:cNvCxnSpPr/>
          <p:nvPr/>
        </p:nvCxnSpPr>
        <p:spPr>
          <a:xfrm>
            <a:off x="685800" y="2244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44725"/>
            <a:ext cx="99902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вторая сессия</a:t>
            </a:r>
          </a:p>
        </p:txBody>
      </p:sp>
      <p:sp>
        <p:nvSpPr>
          <p:cNvPr id="12" name="TextBox 11"/>
          <p:cNvSpPr txBox="1"/>
          <p:nvPr/>
        </p:nvSpPr>
        <p:spPr>
          <a:xfrm>
            <a:off x="1831128" y="2244725"/>
            <a:ext cx="371372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рабочий контекст остаётся чистым: сорок файлов ложатся в чужой</a:t>
            </a:r>
          </a:p>
        </p:txBody>
      </p:sp>
      <p:sp>
        <p:nvSpPr>
          <p:cNvPr id="13" name="TextBox 12"/>
          <p:cNvSpPr txBox="1"/>
          <p:nvPr/>
        </p:nvSpPr>
        <p:spPr>
          <a:xfrm>
            <a:off x="5691158" y="2244725"/>
            <a:ext cx="566568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список придётся переносить руками, и править агент будет по вашему пересказу — условие про старые аккаунты выпадает из пересказа первым</a:t>
            </a:r>
          </a:p>
        </p:txBody>
      </p:sp>
      <p:cxnSp>
        <p:nvCxnSpPr>
          <p:cNvPr id="14" name="Connector 13"/>
          <p:cNvCxnSpPr/>
          <p:nvPr/>
        </p:nvCxnSpPr>
        <p:spPr>
          <a:xfrm>
            <a:off x="685800" y="29131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13189"/>
            <a:ext cx="99902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позвать коллегу</a:t>
            </a:r>
          </a:p>
        </p:txBody>
      </p:sp>
      <p:sp>
        <p:nvSpPr>
          <p:cNvPr id="16" name="TextBox 15"/>
          <p:cNvSpPr txBox="1"/>
          <p:nvPr/>
        </p:nvSpPr>
        <p:spPr>
          <a:xfrm>
            <a:off x="1831128" y="2913189"/>
            <a:ext cx="371372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может ответить за минуту — если коллега свеж в теме</a:t>
            </a:r>
          </a:p>
        </p:txBody>
      </p:sp>
      <p:sp>
        <p:nvSpPr>
          <p:cNvPr id="17" name="TextBox 16"/>
          <p:cNvSpPr txBox="1"/>
          <p:nvPr/>
        </p:nvSpPr>
        <p:spPr>
          <a:xfrm>
            <a:off x="5691158" y="2913189"/>
            <a:ext cx="566568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зависит от чужого расписания: решает, свободен ли человек прямо сейчас</a:t>
            </a:r>
          </a:p>
        </p:txBody>
      </p:sp>
      <p:cxnSp>
        <p:nvCxnSpPr>
          <p:cNvPr id="18" name="Connector 17"/>
          <p:cNvCxnSpPr/>
          <p:nvPr/>
        </p:nvCxnSpPr>
        <p:spPr>
          <a:xfrm>
            <a:off x="685800" y="35816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81654"/>
            <a:ext cx="99902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поручить роли</a:t>
            </a:r>
          </a:p>
        </p:txBody>
      </p:sp>
      <p:sp>
        <p:nvSpPr>
          <p:cNvPr id="20" name="TextBox 19"/>
          <p:cNvSpPr txBox="1"/>
          <p:nvPr/>
        </p:nvSpPr>
        <p:spPr>
          <a:xfrm>
            <a:off x="1831128" y="3581654"/>
            <a:ext cx="371372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сорок файлов открываются и закрываются в отдельном, одноразовом контексте; список приходит обратно сам, в ту же сессию</a:t>
            </a:r>
          </a:p>
        </p:txBody>
      </p:sp>
      <p:sp>
        <p:nvSpPr>
          <p:cNvPr id="21" name="TextBox 20"/>
          <p:cNvSpPr txBox="1"/>
          <p:nvPr/>
        </p:nvSpPr>
        <p:spPr>
          <a:xfrm>
            <a:off x="5691158" y="3581654"/>
            <a:ext cx="566568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быстрее не становится: роль открывает и читает все сорок файлов, время чтения то же</a:t>
            </a:r>
          </a:p>
        </p:txBody>
      </p:sp>
      <p:cxnSp>
        <p:nvCxnSpPr>
          <p:cNvPr id="22" name="Connector 21"/>
          <p:cNvCxnSpPr/>
          <p:nvPr/>
        </p:nvCxnSpPr>
        <p:spPr>
          <a:xfrm>
            <a:off x="685800" y="42501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50118"/>
            <a:ext cx="999024"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править по памяти</a:t>
            </a:r>
          </a:p>
        </p:txBody>
      </p:sp>
      <p:sp>
        <p:nvSpPr>
          <p:cNvPr id="24" name="TextBox 23"/>
          <p:cNvSpPr txBox="1"/>
          <p:nvPr/>
        </p:nvSpPr>
        <p:spPr>
          <a:xfrm>
            <a:off x="1831128" y="4250118"/>
            <a:ext cx="371372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мгновенно</a:t>
            </a:r>
          </a:p>
        </p:txBody>
      </p:sp>
      <p:sp>
        <p:nvSpPr>
          <p:cNvPr id="25" name="TextBox 24"/>
          <p:cNvSpPr txBox="1"/>
          <p:nvPr/>
        </p:nvSpPr>
        <p:spPr>
          <a:xfrm>
            <a:off x="5691158" y="4250118"/>
            <a:ext cx="566568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четвёртое место — клиентскую проверку — помнит не всякий из тех, кто её писал</a:t>
            </a:r>
          </a:p>
        </p:txBody>
      </p:sp>
      <p:sp>
        <p:nvSpPr>
          <p:cNvPr id="26" name="Rounded Rectangle 25"/>
          <p:cNvSpPr/>
          <p:nvPr/>
        </p:nvSpPr>
        <p:spPr>
          <a:xfrm>
            <a:off x="502920" y="509809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26113"/>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Вывод.</a:t>
            </a:r>
            <a:r>
              <a:rPr sz="1350" b="1" i="0">
                <a:solidFill>
                  <a:srgbClr val="141B2E"/>
                </a:solidFill>
                <a:latin typeface="Arial"/>
              </a:rPr>
              <a:t> Двадцать минут чтения из сцены остаются двадцатью минутами: сорок файлов — это сорок файлов, где бы их ни читали. Меняются двое. Первое — чей контекст их держит: контекст роли закрывается вместе с ней. Второе — куда возвращается список: от роли он приходит сам, в ту сессию, где лежит правка, из второй сессии его переносите вы.</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Пример есть, измерения на выборке — нет</a:t>
            </a:r>
          </a:p>
        </p:txBody>
      </p:sp>
      <p:sp>
        <p:nvSpPr>
          <p:cNvPr id="3" name="Rectangle 2"/>
          <p:cNvSpPr/>
          <p:nvPr/>
        </p:nvSpPr>
        <p:spPr>
          <a:xfrm>
            <a:off x="502920" y="1726844"/>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81708"/>
            <a:ext cx="10730484" cy="416052"/>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«The subagent read 6,100 tokens of files. You got a 420-token result. That's the context savings.»</a:t>
            </a:r>
            <a:r>
              <a:rPr sz="1300" b="0" i="1">
                <a:solidFill>
                  <a:srgbClr val="6B7685"/>
                </a:solidFill>
                <a:latin typeface="Arial"/>
              </a:rPr>
              <a:t> — документация харнесса об устройстве контекста, один показательный сценарий.</a:t>
            </a:r>
          </a:p>
        </p:txBody>
      </p:sp>
      <p:sp>
        <p:nvSpPr>
          <p:cNvPr id="5" name="Rounded Rectangle 4"/>
          <p:cNvSpPr/>
          <p:nvPr/>
        </p:nvSpPr>
        <p:spPr>
          <a:xfrm>
            <a:off x="502920" y="295671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8472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Разница на порядок — но это один вымышленный пример автора документации, не статистика по множеству реальных прогонов.</a:t>
            </a:r>
          </a:p>
        </p:txBody>
      </p:sp>
      <p:sp>
        <p:nvSpPr>
          <p:cNvPr id="7" name="Rounded Rectangle 6"/>
          <p:cNvSpPr/>
          <p:nvPr/>
        </p:nvSpPr>
        <p:spPr>
          <a:xfrm>
            <a:off x="502920" y="4370984"/>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4508144"/>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Сколько контекста реально экономит делегирование по сравнению с тем же объёмом работы в основной сессии, по измерению на выборке сессий, — не нашлось ни у одного источника. Это число восполняет пробел дидактическим примером, не статистикой.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Чистый контекст — не от всего подряд</a:t>
            </a:r>
          </a:p>
        </p:txBody>
      </p:sp>
      <p:sp>
        <p:nvSpPr>
          <p:cNvPr id="3" name="Rectangle 2"/>
          <p:cNvSpPr/>
          <p:nvPr/>
        </p:nvSpPr>
        <p:spPr>
          <a:xfrm>
            <a:off x="502920" y="1395984"/>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450848"/>
            <a:ext cx="10730484" cy="624077"/>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«Subagents inherit every MCP tool definition from the parent session, which can fill their context window before the first turn. Disable MCP servers you are not using before spawning subagents.»</a:t>
            </a:r>
            <a:r>
              <a:rPr sz="1300" b="0" i="1">
                <a:solidFill>
                  <a:srgbClr val="6B7685"/>
                </a:solidFill>
                <a:latin typeface="Arial"/>
              </a:rPr>
              <a:t> — документация харнесса об устранении ошибок.</a:t>
            </a:r>
          </a:p>
        </p:txBody>
      </p:sp>
      <p:sp>
        <p:nvSpPr>
          <p:cNvPr id="5" name="Rounded Rectangle 4"/>
          <p:cNvSpPr/>
          <p:nvPr/>
        </p:nvSpPr>
        <p:spPr>
          <a:xfrm>
            <a:off x="502920" y="28338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9618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третья полоса со схемы базы — «описания подключённых серверов». В контекст роли она переезжает целиком. Для нашего поиска по лимиту участников: если в сессии подключены трекер задач и сервер документации из прошлого раздела занятия, роль, которой нужно прочитать сорок файлов кода, получает их описания бесплатно.</a:t>
            </a:r>
          </a:p>
        </p:txBody>
      </p:sp>
      <p:sp>
        <p:nvSpPr>
          <p:cNvPr id="7" name="Rounded Rectangle 6"/>
          <p:cNvSpPr/>
          <p:nvPr/>
        </p:nvSpPr>
        <p:spPr>
          <a:xfrm>
            <a:off x="502920" y="47205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84860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Фокус из прошлых двух слайдов — про содержимое репозитория. За тем, что подключено серверами, следят отдельно: тем же списком инструментов роли, который стоит пятым блоком на одностраничнике ступени.</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остаётся в контексте после ответа</a:t>
            </a:r>
          </a:p>
        </p:txBody>
      </p:sp>
      <p:sp>
        <p:nvSpPr>
          <p:cNvPr id="3" name="Rounded Rectangle 2"/>
          <p:cNvSpPr/>
          <p:nvPr/>
        </p:nvSpPr>
        <p:spPr>
          <a:xfrm>
            <a:off x="502920" y="10590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870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мы заводим ради контекста — решаем по тому, что останется в контексте после ответа, и не по тому, сколько файлов пришлось открыть.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p:txBody>
      </p:sp>
      <p:sp>
        <p:nvSpPr>
          <p:cNvPr id="5" name="Rounded Rectangle 4"/>
          <p:cNvSpPr/>
          <p:nvPr/>
        </p:nvSpPr>
        <p:spPr>
          <a:xfrm>
            <a:off x="502920" y="2731998"/>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2686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51454"/>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Делегировать чтение имеет смысл, когда из десятков файлов нужно вынести короткий вывод: факт, да/нет, список мест в несколько строк, по которому дальше и работают. Сорок файлов поиска, четыре файла правки — ровно этот случай.</a:t>
            </a:r>
          </a:p>
        </p:txBody>
      </p:sp>
      <p:sp>
        <p:nvSpPr>
          <p:cNvPr id="8" name="Rounded Rectangle 7"/>
          <p:cNvSpPr/>
          <p:nvPr/>
        </p:nvSpPr>
        <p:spPr>
          <a:xfrm>
            <a:off x="758952" y="400358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686403"/>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Если дальше работать придётся со всем прочитанным объёмом — рефакторинг тех же сорока файлов, — читать их придётся в любом случае; делать это в своём контексте тогда входит в саму работу, потому что с этим содержимым дальше работать вам.</a:t>
            </a:r>
          </a:p>
        </p:txBody>
      </p:sp>
      <p:sp>
        <p:nvSpPr>
          <p:cNvPr id="10" name="Rounded Rectangle 9"/>
          <p:cNvSpPr/>
          <p:nvPr/>
        </p:nvSpPr>
        <p:spPr>
          <a:xfrm>
            <a:off x="502920" y="5094579"/>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5222595"/>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 себе.</a:t>
            </a:r>
            <a:r>
              <a:rPr sz="1650" b="1" i="0">
                <a:solidFill>
                  <a:srgbClr val="141B2E"/>
                </a:solidFill>
                <a:latin typeface="Arial"/>
              </a:rPr>
              <a:t> Назовите про себя место в своём проекте, где перед правкой приходится искать по десяткам файлов, а находятся три-четыре строки. Назвали — вот первый кандидат на делегирование. Если править вы будете все эти же десятки файлов, кандидат не он.</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5</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Задача пришла одной фразой. Чем ускоряем?</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Одна фраза, один срок. Средств ускорить больше одного, и выбирает между ними сама задача.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Задача к понедельнику. Раскладываем вместе</a:t>
            </a:r>
          </a:p>
        </p:txBody>
      </p:sp>
      <p:sp>
        <p:nvSpPr>
          <p:cNvPr id="3" name="Rectangle 2"/>
          <p:cNvSpPr/>
          <p:nvPr/>
        </p:nvSpPr>
        <p:spPr>
          <a:xfrm>
            <a:off x="502920" y="1031087"/>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085951"/>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«К понедельнику форма должна быть готова к рекламе.»</a:t>
            </a:r>
          </a:p>
        </p:txBody>
      </p:sp>
      <p:sp>
        <p:nvSpPr>
          <p:cNvPr id="5" name="Rounded Rectangle 4"/>
          <p:cNvSpPr/>
          <p:nvPr/>
        </p:nvSpPr>
        <p:spPr>
          <a:xfrm>
            <a:off x="502920" y="1677898"/>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05914"/>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Пятница, вечер. Это вся постановка.</a:t>
            </a:r>
          </a:p>
        </p:txBody>
      </p:sp>
      <p:sp>
        <p:nvSpPr>
          <p:cNvPr id="7" name="Rounded Rectangle 6"/>
          <p:cNvSpPr/>
          <p:nvPr/>
        </p:nvSpPr>
        <p:spPr>
          <a:xfrm>
            <a:off x="502920" y="2480919"/>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63799"/>
            <a:ext cx="53342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1 · ЧТО В ЗАДАЧЕ ЛЕЖИТ</a:t>
            </a:r>
          </a:p>
        </p:txBody>
      </p:sp>
      <p:sp>
        <p:nvSpPr>
          <p:cNvPr id="9" name="TextBox 8"/>
          <p:cNvSpPr txBox="1"/>
          <p:nvPr/>
        </p:nvSpPr>
        <p:spPr>
          <a:xfrm>
            <a:off x="6166384" y="2663799"/>
            <a:ext cx="51904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2 · ОТ ЧЕГО ЭТО ЗАВИСИТ</a:t>
            </a:r>
          </a:p>
        </p:txBody>
      </p:sp>
      <p:sp>
        <p:nvSpPr>
          <p:cNvPr id="10" name="TextBox 9"/>
          <p:cNvSpPr txBox="1"/>
          <p:nvPr/>
        </p:nvSpPr>
        <p:spPr>
          <a:xfrm>
            <a:off x="685800" y="2945866"/>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«телефон» и проверка формата</a:t>
            </a:r>
          </a:p>
        </p:txBody>
      </p:sp>
      <p:sp>
        <p:nvSpPr>
          <p:cNvPr id="11" name="TextBox 10"/>
          <p:cNvSpPr txBox="1"/>
          <p:nvPr/>
        </p:nvSpPr>
        <p:spPr>
          <a:xfrm>
            <a:off x="6166384" y="2945866"/>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от чего</a:t>
            </a:r>
          </a:p>
        </p:txBody>
      </p:sp>
      <p:cxnSp>
        <p:nvCxnSpPr>
          <p:cNvPr id="12" name="Connector 11"/>
          <p:cNvCxnSpPr/>
          <p:nvPr/>
        </p:nvCxnSpPr>
        <p:spPr>
          <a:xfrm>
            <a:off x="685800" y="32930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93021"/>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сообщения об ошибках — к одному виду</a:t>
            </a:r>
          </a:p>
        </p:txBody>
      </p:sp>
      <p:sp>
        <p:nvSpPr>
          <p:cNvPr id="14" name="TextBox 13"/>
          <p:cNvSpPr txBox="1"/>
          <p:nvPr/>
        </p:nvSpPr>
        <p:spPr>
          <a:xfrm>
            <a:off x="6166384" y="3293021"/>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файл, что у поля: </a:t>
            </a:r>
            <a:r>
              <a:rPr sz="1250" b="0" i="0">
                <a:solidFill>
                  <a:srgbClr val="141B2E"/>
                </a:solidFill>
                <a:latin typeface="Consolas"/>
              </a:rPr>
              <a:t>src/validate.js</a:t>
            </a:r>
          </a:p>
        </p:txBody>
      </p:sp>
      <p:cxnSp>
        <p:nvCxnSpPr>
          <p:cNvPr id="15" name="Connector 14"/>
          <p:cNvCxnSpPr/>
          <p:nvPr/>
        </p:nvCxnSpPr>
        <p:spPr>
          <a:xfrm>
            <a:off x="685800" y="36401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640175"/>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согласия на обработку данных</a:t>
            </a:r>
          </a:p>
        </p:txBody>
      </p:sp>
      <p:sp>
        <p:nvSpPr>
          <p:cNvPr id="17" name="TextBox 16"/>
          <p:cNvSpPr txBox="1"/>
          <p:nvPr/>
        </p:nvSpPr>
        <p:spPr>
          <a:xfrm>
            <a:off x="6166384" y="3640175"/>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от чего</a:t>
            </a:r>
          </a:p>
        </p:txBody>
      </p:sp>
      <p:cxnSp>
        <p:nvCxnSpPr>
          <p:cNvPr id="18" name="Connector 17"/>
          <p:cNvCxnSpPr/>
          <p:nvPr/>
        </p:nvCxnSpPr>
        <p:spPr>
          <a:xfrm>
            <a:off x="685800" y="39873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87330"/>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формы на узком экране</a:t>
            </a:r>
          </a:p>
        </p:txBody>
      </p:sp>
      <p:sp>
        <p:nvSpPr>
          <p:cNvPr id="20" name="TextBox 19"/>
          <p:cNvSpPr txBox="1"/>
          <p:nvPr/>
        </p:nvSpPr>
        <p:spPr>
          <a:xfrm>
            <a:off x="6166384" y="3987330"/>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после поля: пока поля нет, проверять нечего</a:t>
            </a:r>
          </a:p>
        </p:txBody>
      </p:sp>
      <p:cxnSp>
        <p:nvCxnSpPr>
          <p:cNvPr id="21" name="Connector 20"/>
          <p:cNvCxnSpPr/>
          <p:nvPr/>
        </p:nvCxnSpPr>
        <p:spPr>
          <a:xfrm>
            <a:off x="685800" y="43344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334484"/>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прогон перед выкладкой: ветка, тесты, сборка</a:t>
            </a:r>
          </a:p>
        </p:txBody>
      </p:sp>
      <p:sp>
        <p:nvSpPr>
          <p:cNvPr id="23" name="TextBox 22"/>
          <p:cNvSpPr txBox="1"/>
          <p:nvPr/>
        </p:nvSpPr>
        <p:spPr>
          <a:xfrm>
            <a:off x="6166384" y="4334484"/>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от чего, и повторяется после каждого</a:t>
            </a:r>
          </a:p>
        </p:txBody>
      </p:sp>
      <p:cxnSp>
        <p:nvCxnSpPr>
          <p:cNvPr id="24" name="Connector 23"/>
          <p:cNvCxnSpPr/>
          <p:nvPr/>
        </p:nvCxnSpPr>
        <p:spPr>
          <a:xfrm>
            <a:off x="685800" y="468163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681639"/>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письмо-подтверждение заявителю</a:t>
            </a:r>
          </a:p>
        </p:txBody>
      </p:sp>
      <p:sp>
        <p:nvSpPr>
          <p:cNvPr id="26" name="TextBox 25"/>
          <p:cNvSpPr txBox="1"/>
          <p:nvPr/>
        </p:nvSpPr>
        <p:spPr>
          <a:xfrm>
            <a:off x="6166384" y="4681639"/>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от чего, кода не касается</a:t>
            </a:r>
          </a:p>
        </p:txBody>
      </p:sp>
      <p:sp>
        <p:nvSpPr>
          <p:cNvPr id="27" name="Rounded Rectangle 26"/>
          <p:cNvSpPr/>
          <p:nvPr/>
        </p:nvSpPr>
        <p:spPr>
          <a:xfrm>
            <a:off x="502920" y="550415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3217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Независимых кусков — три из шести.</a:t>
            </a:r>
            <a:r>
              <a:rPr sz="1500" b="1" i="0">
                <a:solidFill>
                  <a:srgbClr val="141B2E"/>
                </a:solidFill>
                <a:latin typeface="Arial"/>
              </a:rPr>
              <a:t> Один ждёт поля. Один лезет в тот же файл. Один повторяется после каждого из остальных.</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ускоряем?</a:t>
            </a:r>
          </a:p>
        </p:txBody>
      </p:sp>
      <p:sp>
        <p:nvSpPr>
          <p:cNvPr id="3" name="Rounded Rectangle 2"/>
          <p:cNvSpPr/>
          <p:nvPr/>
        </p:nvSpPr>
        <p:spPr>
          <a:xfrm>
            <a:off x="502920" y="205831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86330"/>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«Чем ускоряем эту задачу? Выберите карточку — и назовите кусок, на котором ваше средство работает.»</a:t>
            </a:r>
          </a:p>
        </p:txBody>
      </p:sp>
      <p:sp>
        <p:nvSpPr>
          <p:cNvPr id="5" name="Rounded Rectangle 4"/>
          <p:cNvSpPr/>
          <p:nvPr/>
        </p:nvSpPr>
        <p:spPr>
          <a:xfrm>
            <a:off x="502920"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разложить и делать куски по очереди</a:t>
            </a:r>
          </a:p>
        </p:txBody>
      </p:sp>
      <p:sp>
        <p:nvSpPr>
          <p:cNvPr id="7" name="Rounded Rectangle 6"/>
          <p:cNvSpPr/>
          <p:nvPr/>
        </p:nvSpPr>
        <p:spPr>
          <a:xfrm>
            <a:off x="2768803"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вести куски в нескольких сессиях</a:t>
            </a:r>
          </a:p>
        </p:txBody>
      </p:sp>
      <p:sp>
        <p:nvSpPr>
          <p:cNvPr id="9" name="Rounded Rectangle 8"/>
          <p:cNvSpPr/>
          <p:nvPr/>
        </p:nvSpPr>
        <p:spPr>
          <a:xfrm>
            <a:off x="5034686"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раздать куски ролям и запустить разом</a:t>
            </a:r>
          </a:p>
        </p:txBody>
      </p:sp>
      <p:sp>
        <p:nvSpPr>
          <p:cNvPr id="11" name="Rounded Rectangle 10"/>
          <p:cNvSpPr/>
          <p:nvPr/>
        </p:nvSpPr>
        <p:spPr>
          <a:xfrm>
            <a:off x="7300569"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повторяемое в проверку, которая гоняется сама</a:t>
            </a:r>
          </a:p>
        </p:txBody>
      </p:sp>
      <p:sp>
        <p:nvSpPr>
          <p:cNvPr id="13" name="Rounded Rectangle 12"/>
          <p:cNvSpPr/>
          <p:nvPr/>
        </p:nvSpPr>
        <p:spPr>
          <a:xfrm>
            <a:off x="9566452"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сузить задачу — к понедельнику нужно не всё</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Параллельность лежит в задаче</a:t>
            </a:r>
          </a:p>
        </p:txBody>
      </p:sp>
      <p:sp>
        <p:nvSpPr>
          <p:cNvPr id="3" name="Rounded Rectangle 2"/>
          <p:cNvSpPr/>
          <p:nvPr/>
        </p:nvSpPr>
        <p:spPr>
          <a:xfrm>
            <a:off x="502920" y="943356"/>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7302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СРЕДСТВО</a:t>
            </a:r>
          </a:p>
        </p:txBody>
      </p:sp>
      <p:sp>
        <p:nvSpPr>
          <p:cNvPr id="5" name="TextBox 4"/>
          <p:cNvSpPr txBox="1"/>
          <p:nvPr/>
        </p:nvSpPr>
        <p:spPr>
          <a:xfrm>
            <a:off x="2562396" y="1126236"/>
            <a:ext cx="35130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221730" y="1126236"/>
            <a:ext cx="51351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173029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разложить и делать куски по очереди</a:t>
            </a:r>
          </a:p>
        </p:txBody>
      </p:sp>
      <p:sp>
        <p:nvSpPr>
          <p:cNvPr id="8" name="TextBox 7"/>
          <p:cNvSpPr txBox="1"/>
          <p:nvPr/>
        </p:nvSpPr>
        <p:spPr>
          <a:xfrm>
            <a:off x="2562396" y="1408303"/>
            <a:ext cx="351303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один предсказуемый порядок, ничего ни с чем не сталкивается</a:t>
            </a:r>
          </a:p>
        </p:txBody>
      </p:sp>
      <p:sp>
        <p:nvSpPr>
          <p:cNvPr id="9" name="TextBox 8"/>
          <p:cNvSpPr txBox="1"/>
          <p:nvPr/>
        </p:nvSpPr>
        <p:spPr>
          <a:xfrm>
            <a:off x="6221730" y="1408303"/>
            <a:ext cx="513511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три независимых куска ждут друг друга без причины: ожидания складываются</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173029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вести куски в нескольких сессиях</a:t>
            </a:r>
          </a:p>
        </p:txBody>
      </p:sp>
      <p:sp>
        <p:nvSpPr>
          <p:cNvPr id="12" name="TextBox 11"/>
          <p:cNvSpPr txBox="1"/>
          <p:nvPr/>
        </p:nvSpPr>
        <p:spPr>
          <a:xfrm>
            <a:off x="2562396" y="1923414"/>
            <a:ext cx="351303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куски идут одновременно, у каждой сессии свой контекст</a:t>
            </a:r>
          </a:p>
        </p:txBody>
      </p:sp>
      <p:sp>
        <p:nvSpPr>
          <p:cNvPr id="13" name="TextBox 12"/>
          <p:cNvSpPr txBox="1"/>
          <p:nvPr/>
        </p:nvSpPr>
        <p:spPr>
          <a:xfrm>
            <a:off x="6221730" y="1923414"/>
            <a:ext cx="513511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две сессии в одной папке правят одни и те же файлы — у нас это поле и сообщения об ошибках, один </a:t>
            </a:r>
            <a:r>
              <a:rPr sz="1200" b="0" i="0">
                <a:solidFill>
                  <a:srgbClr val="141B2E"/>
                </a:solidFill>
                <a:latin typeface="Consolas"/>
              </a:rPr>
              <a:t>src/validate.js</a:t>
            </a:r>
          </a:p>
        </p:txBody>
      </p:sp>
      <p:cxnSp>
        <p:nvCxnSpPr>
          <p:cNvPr id="14" name="Connector 13"/>
          <p:cNvCxnSpPr/>
          <p:nvPr/>
        </p:nvCxnSpPr>
        <p:spPr>
          <a:xfrm>
            <a:off x="685800" y="24385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38527"/>
            <a:ext cx="173029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раздать куски ролям и запустить разом</a:t>
            </a:r>
          </a:p>
        </p:txBody>
      </p:sp>
      <p:sp>
        <p:nvSpPr>
          <p:cNvPr id="16" name="TextBox 15"/>
          <p:cNvSpPr txBox="1"/>
          <p:nvPr/>
        </p:nvSpPr>
        <p:spPr>
          <a:xfrm>
            <a:off x="2562396" y="2438527"/>
            <a:ext cx="351303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одновременность даёт харнесс, настраивать её не нужно; у каждой роли свой контекст и короткий итог</a:t>
            </a:r>
          </a:p>
        </p:txBody>
      </p:sp>
      <p:sp>
        <p:nvSpPr>
          <p:cNvPr id="17" name="TextBox 16"/>
          <p:cNvSpPr txBox="1"/>
          <p:nvPr/>
        </p:nvSpPr>
        <p:spPr>
          <a:xfrm>
            <a:off x="6221730" y="2438527"/>
            <a:ext cx="5135117"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берёт параллельность там, где она есть: на поле и сообщениях две роли увидят разные версии одного файла</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1730292"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вынести повторяемое в проверку, которая гоняется сама</a:t>
            </a:r>
          </a:p>
        </p:txBody>
      </p:sp>
      <p:sp>
        <p:nvSpPr>
          <p:cNvPr id="20" name="TextBox 19"/>
          <p:cNvSpPr txBox="1"/>
          <p:nvPr/>
        </p:nvSpPr>
        <p:spPr>
          <a:xfrm>
            <a:off x="2562396" y="3128899"/>
            <a:ext cx="3513030"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прогон перед выкладкой уходит из очереди совсем — его делает не человек</a:t>
            </a:r>
          </a:p>
        </p:txBody>
      </p:sp>
      <p:sp>
        <p:nvSpPr>
          <p:cNvPr id="21" name="TextBox 20"/>
          <p:cNvSpPr txBox="1"/>
          <p:nvPr/>
        </p:nvSpPr>
        <p:spPr>
          <a:xfrm>
            <a:off x="6221730" y="3128899"/>
            <a:ext cx="5135117"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писать проверку надо заранее и один раз; в пятницу, когда задача уже пришла, она ускорит только следующую такую задачу</a:t>
            </a:r>
          </a:p>
        </p:txBody>
      </p:sp>
      <p:cxnSp>
        <p:nvCxnSpPr>
          <p:cNvPr id="22" name="Connector 21"/>
          <p:cNvCxnSpPr/>
          <p:nvPr/>
        </p:nvCxnSpPr>
        <p:spPr>
          <a:xfrm>
            <a:off x="685800" y="3994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94530"/>
            <a:ext cx="173029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сузить задачу</a:t>
            </a:r>
          </a:p>
        </p:txBody>
      </p:sp>
      <p:sp>
        <p:nvSpPr>
          <p:cNvPr id="24" name="TextBox 23"/>
          <p:cNvSpPr txBox="1"/>
          <p:nvPr/>
        </p:nvSpPr>
        <p:spPr>
          <a:xfrm>
            <a:off x="2562396" y="3994530"/>
            <a:ext cx="351303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для рекламы нужны поле и согласие — два куска из шести</a:t>
            </a:r>
          </a:p>
        </p:txBody>
      </p:sp>
      <p:sp>
        <p:nvSpPr>
          <p:cNvPr id="25" name="TextBox 24"/>
          <p:cNvSpPr txBox="1"/>
          <p:nvPr/>
        </p:nvSpPr>
        <p:spPr>
          <a:xfrm>
            <a:off x="6221730" y="3994530"/>
            <a:ext cx="513511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решает это не исполнитель: сузить может тот, кто отвечает за срок</a:t>
            </a:r>
          </a:p>
        </p:txBody>
      </p:sp>
      <p:sp>
        <p:nvSpPr>
          <p:cNvPr id="26" name="Rounded Rectangle 25"/>
          <p:cNvSpPr/>
          <p:nvPr/>
        </p:nvSpPr>
        <p:spPr>
          <a:xfrm>
            <a:off x="502920" y="4857114"/>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985130"/>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Поворот.</a:t>
            </a:r>
            <a:r>
              <a:rPr sz="1450" b="1" i="0">
                <a:solidFill>
                  <a:srgbClr val="141B2E"/>
                </a:solidFill>
                <a:latin typeface="Arial"/>
              </a:rPr>
              <a:t> Ни одно из пяти средств не ускоряет все шесть кусков. Параллельность лежит в задаче, и в этой её ровно на три куска: роли берут её там, где она есть, и умножают ошибку там, где её нет — на куске, который лезет в чужой файл, и на куске, который стоит в очереди. Поставьте рядом два числа: исполнителей, которое вы назвали вслух, и независимых кусков, которое вышло из раскладки.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Фон, не очередь — и предел на двадцать разом</a:t>
            </a:r>
          </a:p>
        </p:txBody>
      </p:sp>
      <p:sp>
        <p:nvSpPr>
          <p:cNvPr id="3" name="Rounded Rectangle 2"/>
          <p:cNvSpPr/>
          <p:nvPr/>
        </p:nvSpPr>
        <p:spPr>
          <a:xfrm>
            <a:off x="502920" y="2420416"/>
            <a:ext cx="82296" cy="16916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548432"/>
            <a:ext cx="10643616" cy="14356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Фон, не очередь.</a:t>
            </a:r>
            <a:r>
              <a:rPr sz="1500" b="1" i="0">
                <a:solidFill>
                  <a:srgbClr val="141B2E"/>
                </a:solidFill>
                <a:latin typeface="Arial"/>
              </a:rPr>
              <a:t> С определённой версии харнесса параллельный режим включён по умолчанию в интерактивной сессии: роль уходит в фон, основная сессия не ждёт её, прежде чем продолжить. </a:t>
            </a:r>
            <a:r>
              <a:rPr sz="1500" b="1" i="0">
                <a:solidFill>
                  <a:srgbClr val="141B2E"/>
                </a:solidFill>
                <a:latin typeface="Arial"/>
              </a:rPr>
              <a:t>Предел — на одновременность, не на количество за сессию.</a:t>
            </a:r>
            <a:r>
              <a:rPr sz="1500" b="1" i="0">
                <a:solidFill>
                  <a:srgbClr val="141B2E"/>
                </a:solidFill>
                <a:latin typeface="Arial"/>
              </a:rPr>
              <a:t> По умолчанию одновременно может работать не больше двадцати ролей; попытка завести двадцать первую падает отдельной, явной ошибкой. Число меняется переменной окружения. Общего предела на то, сколько ролей можно вызвать за всю сессию, — нет.</a:t>
            </a:r>
          </a:p>
        </p:txBody>
      </p:sp>
      <p:sp>
        <p:nvSpPr>
          <p:cNvPr id="5" name="TextBox 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Через неделю: один кусок, две роли</a:t>
            </a:r>
          </a:p>
        </p:txBody>
      </p:sp>
      <p:sp>
        <p:nvSpPr>
          <p:cNvPr id="3" name="Rounded Rectangle 2"/>
          <p:cNvSpPr/>
          <p:nvPr/>
        </p:nvSpPr>
        <p:spPr>
          <a:xfrm>
            <a:off x="502920" y="1571244"/>
            <a:ext cx="82296" cy="1927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99260"/>
            <a:ext cx="10643616" cy="1671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Через неделю разработчик берётся за кусок, который в раскладке стоял неделимым: новое поле и изменение проверки формы. Исполнителей берёт по числу, которое просилось в пятницу, — больше одного, — и зовёт второго: тестировщика, который прогоняет сценарии через форму и проверяет поведение, не только код. Обе роли получают один и тот же кусок. Диф-ревьюер проверяет код, находит, что проверка написана верно, и возвращает </a:t>
            </a:r>
            <a:r>
              <a:rPr sz="1500" b="1" i="0">
                <a:solidFill>
                  <a:srgbClr val="141B2E"/>
                </a:solidFill>
                <a:latin typeface="Consolas"/>
              </a:rPr>
              <a:t>PASS</a:t>
            </a:r>
            <a:r>
              <a:rPr sz="1500" b="1" i="0">
                <a:solidFill>
                  <a:srgbClr val="141B2E"/>
                </a:solidFill>
                <a:latin typeface="Arial"/>
              </a:rPr>
              <a:t>: в коде, который он читал, проблем нет. Тестировщик прогоняет обычные сценарии через форму, проблем не находит и тоже возвращает </a:t>
            </a:r>
            <a:r>
              <a:rPr sz="1500" b="1" i="0">
                <a:solidFill>
                  <a:srgbClr val="141B2E"/>
                </a:solidFill>
                <a:latin typeface="Consolas"/>
              </a:rPr>
              <a:t>PASS</a:t>
            </a:r>
            <a:r>
              <a:rPr sz="1500" b="1" i="0">
                <a:solidFill>
                  <a:srgbClr val="141B2E"/>
                </a:solidFill>
                <a:latin typeface="Arial"/>
              </a:rPr>
              <a:t>: форма ведёт себя ожидаемо на тех сценариях, которые он прогнал.</a:t>
            </a:r>
          </a:p>
        </p:txBody>
      </p:sp>
      <p:sp>
        <p:nvSpPr>
          <p:cNvPr id="5" name="Rounded Rectangle 4"/>
          <p:cNvSpPr/>
          <p:nvPr/>
        </p:nvSpPr>
        <p:spPr>
          <a:xfrm>
            <a:off x="502920" y="4166616"/>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294632"/>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Правка уходит в показ. Заказчик вводит адрес с пробелом перед доменом — сценарий, который не вошёл ни в код, прочитанный построчно, ни в список прогнанных сценариев. Оба </a:t>
            </a:r>
            <a:r>
              <a:rPr sz="1500" b="1" i="0">
                <a:solidFill>
                  <a:srgbClr val="141B2E"/>
                </a:solidFill>
                <a:latin typeface="Consolas"/>
              </a:rPr>
              <a:t>PASS</a:t>
            </a:r>
            <a:r>
              <a:rPr sz="1500" b="1" i="0">
                <a:solidFill>
                  <a:srgbClr val="141B2E"/>
                </a:solidFill>
                <a:latin typeface="Arial"/>
              </a:rPr>
              <a:t> правдивы по отдельности. Картина, которую разработчик из них собрал, — «кусок проверен» — не описывает ничего: между двумя зонами остался промежуток, про который не высказалась ни одна роль.</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Промежуток: условие, которое никто не назвал вслух</a:t>
            </a:r>
          </a:p>
        </p:txBody>
      </p:sp>
      <p:sp>
        <p:nvSpPr>
          <p:cNvPr id="3" name="Rounded Rectangle 2"/>
          <p:cNvSpPr/>
          <p:nvPr/>
        </p:nvSpPr>
        <p:spPr>
          <a:xfrm>
            <a:off x="502920" y="1184148"/>
            <a:ext cx="11183112" cy="3131820"/>
          </a:xfrm>
          <a:prstGeom prst="roundRect">
            <a:avLst>
              <a:gd name="adj" fmla="val 973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67028"/>
            <a:ext cx="21323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964429" y="1367028"/>
            <a:ext cx="30307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141453" y="1367028"/>
            <a:ext cx="52153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649095"/>
            <a:ext cx="213232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вернуться к одной роли на этом куске</a:t>
            </a:r>
          </a:p>
        </p:txBody>
      </p:sp>
      <p:sp>
        <p:nvSpPr>
          <p:cNvPr id="8" name="TextBox 7"/>
          <p:cNvSpPr txBox="1"/>
          <p:nvPr/>
        </p:nvSpPr>
        <p:spPr>
          <a:xfrm>
            <a:off x="2964429" y="1649095"/>
            <a:ext cx="303071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кусок неделимый, и один исполнитель видит его целиком</a:t>
            </a:r>
          </a:p>
        </p:txBody>
      </p:sp>
      <p:sp>
        <p:nvSpPr>
          <p:cNvPr id="9" name="TextBox 8"/>
          <p:cNvSpPr txBox="1"/>
          <p:nvPr/>
        </p:nvSpPr>
        <p:spPr>
          <a:xfrm>
            <a:off x="6141453" y="1649095"/>
            <a:ext cx="521539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отдаёт одновременность на тех трёх кусках, где она была</a:t>
            </a:r>
          </a:p>
        </p:txBody>
      </p:sp>
      <p:cxnSp>
        <p:nvCxnSpPr>
          <p:cNvPr id="10" name="Connector 9"/>
          <p:cNvCxnSpPr/>
          <p:nvPr/>
        </p:nvCxnSpPr>
        <p:spPr>
          <a:xfrm>
            <a:off x="685800" y="21788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78812"/>
            <a:ext cx="213232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роль с широким описанием на обе стороны</a:t>
            </a:r>
          </a:p>
        </p:txBody>
      </p:sp>
      <p:sp>
        <p:nvSpPr>
          <p:cNvPr id="12" name="TextBox 11"/>
          <p:cNvSpPr txBox="1"/>
          <p:nvPr/>
        </p:nvSpPr>
        <p:spPr>
          <a:xfrm>
            <a:off x="2964429" y="2178812"/>
            <a:ext cx="303071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кусок небольшой, одна роль успевает честно покрыть обе стороны</a:t>
            </a:r>
          </a:p>
        </p:txBody>
      </p:sp>
      <p:sp>
        <p:nvSpPr>
          <p:cNvPr id="13" name="TextBox 12"/>
          <p:cNvSpPr txBox="1"/>
          <p:nvPr/>
        </p:nvSpPr>
        <p:spPr>
          <a:xfrm>
            <a:off x="6141453" y="2178812"/>
            <a:ext cx="521539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широкое описание означает широкий контекст и широкие права — то самое, что урезанный список инструментов и ограничивает</a:t>
            </a:r>
          </a:p>
        </p:txBody>
      </p:sp>
      <p:cxnSp>
        <p:nvCxnSpPr>
          <p:cNvPr id="14" name="Connector 13"/>
          <p:cNvCxnSpPr/>
          <p:nvPr/>
        </p:nvCxnSpPr>
        <p:spPr>
          <a:xfrm>
            <a:off x="685800" y="28910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91091"/>
            <a:ext cx="213232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расписать границы каждой роли в обе стороны</a:t>
            </a:r>
          </a:p>
        </p:txBody>
      </p:sp>
      <p:sp>
        <p:nvSpPr>
          <p:cNvPr id="16" name="TextBox 15"/>
          <p:cNvSpPr txBox="1"/>
          <p:nvPr/>
        </p:nvSpPr>
        <p:spPr>
          <a:xfrm>
            <a:off x="2964429" y="2891091"/>
            <a:ext cx="303071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показывает промежуток между ними до того, как он проявится багом</a:t>
            </a:r>
          </a:p>
        </p:txBody>
      </p:sp>
      <p:sp>
        <p:nvSpPr>
          <p:cNvPr id="17" name="TextBox 16"/>
          <p:cNvSpPr txBox="1"/>
          <p:nvPr/>
        </p:nvSpPr>
        <p:spPr>
          <a:xfrm>
            <a:off x="6141453" y="2891091"/>
            <a:ext cx="521539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расписать нужно осознанно: от появления второй роли эта работа сама не делается</a:t>
            </a:r>
          </a:p>
        </p:txBody>
      </p:sp>
      <p:cxnSp>
        <p:nvCxnSpPr>
          <p:cNvPr id="18" name="Connector 17"/>
          <p:cNvCxnSpPr/>
          <p:nvPr/>
        </p:nvCxnSpPr>
        <p:spPr>
          <a:xfrm>
            <a:off x="685800" y="36033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603370"/>
            <a:ext cx="213232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завести третью роль-координатора</a:t>
            </a:r>
          </a:p>
        </p:txBody>
      </p:sp>
      <p:sp>
        <p:nvSpPr>
          <p:cNvPr id="20" name="TextBox 19"/>
          <p:cNvSpPr txBox="1"/>
          <p:nvPr/>
        </p:nvSpPr>
        <p:spPr>
          <a:xfrm>
            <a:off x="2964429" y="3603370"/>
            <a:ext cx="303071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сверяет вывод двух готовых ролей</a:t>
            </a:r>
          </a:p>
        </p:txBody>
      </p:sp>
      <p:sp>
        <p:nvSpPr>
          <p:cNvPr id="21" name="TextBox 20"/>
          <p:cNvSpPr txBox="1"/>
          <p:nvPr/>
        </p:nvSpPr>
        <p:spPr>
          <a:xfrm>
            <a:off x="6141453" y="3603370"/>
            <a:ext cx="521539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добавляет слой координации к двум уже не согласованным — цена растёт быстрее, чем снижается риск</a:t>
            </a:r>
          </a:p>
        </p:txBody>
      </p:sp>
      <p:sp>
        <p:nvSpPr>
          <p:cNvPr id="22" name="Rounded Rectangle 21"/>
          <p:cNvSpPr/>
          <p:nvPr/>
        </p:nvSpPr>
        <p:spPr>
          <a:xfrm>
            <a:off x="502920" y="498347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11149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В раскладке условие назвали вслух: сказали, какие куски независимы и почему. На разрезе одного куска его не назвал никто — разрез появился, владельца у него не завели. Работает третий ход, и работает он тем же, чем работала раскладка.</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Масштаб, не единичный случай</a:t>
            </a:r>
          </a:p>
        </p:txBody>
      </p:sp>
      <p:sp>
        <p:nvSpPr>
          <p:cNvPr id="3" name="Rounded Rectangle 2"/>
          <p:cNvSpPr/>
          <p:nvPr/>
        </p:nvSpPr>
        <p:spPr>
          <a:xfrm>
            <a:off x="502920" y="105695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8496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наших двух ролей.</a:t>
            </a:r>
            <a:r>
              <a:rPr sz="1500" b="1" i="0">
                <a:solidFill>
                  <a:srgbClr val="141B2E"/>
                </a:solidFill>
                <a:latin typeface="Arial"/>
              </a:rPr>
              <a:t> Диф-ревьюер и тестировщик из прошлой сцены работают без третьей роли, сверяющей их согласованность. Вот что об этом говорит измерение на масштабе, не на одном случае.</a:t>
            </a:r>
          </a:p>
        </p:txBody>
      </p:sp>
      <p:sp>
        <p:nvSpPr>
          <p:cNvPr id="5" name="Rounded Rectangle 4"/>
          <p:cNvSpPr/>
          <p:nvPr/>
        </p:nvSpPr>
        <p:spPr>
          <a:xfrm>
            <a:off x="502920" y="2252298"/>
            <a:ext cx="11183112" cy="2620073"/>
          </a:xfrm>
          <a:prstGeom prst="roundRect">
            <a:avLst>
              <a:gd name="adj" fmla="val 1163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343738"/>
            <a:ext cx="68580" cy="2437193"/>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35178"/>
            <a:ext cx="1516781"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ИСТОЧНИК</a:t>
            </a:r>
          </a:p>
        </p:txBody>
      </p:sp>
      <p:sp>
        <p:nvSpPr>
          <p:cNvPr id="8" name="TextBox 7"/>
          <p:cNvSpPr txBox="1"/>
          <p:nvPr/>
        </p:nvSpPr>
        <p:spPr>
          <a:xfrm>
            <a:off x="2348885" y="2435178"/>
            <a:ext cx="62217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ТЕЗИС</a:t>
            </a:r>
          </a:p>
        </p:txBody>
      </p:sp>
      <p:sp>
        <p:nvSpPr>
          <p:cNvPr id="9" name="TextBox 8"/>
          <p:cNvSpPr txBox="1"/>
          <p:nvPr/>
        </p:nvSpPr>
        <p:spPr>
          <a:xfrm>
            <a:off x="8716968" y="2435178"/>
            <a:ext cx="26398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СИЛА ДОКАЗАТЕЛЬСТВА</a:t>
            </a:r>
          </a:p>
        </p:txBody>
      </p:sp>
      <p:sp>
        <p:nvSpPr>
          <p:cNvPr id="10" name="TextBox 9"/>
          <p:cNvSpPr txBox="1"/>
          <p:nvPr/>
        </p:nvSpPr>
        <p:spPr>
          <a:xfrm>
            <a:off x="685800" y="2717245"/>
            <a:ext cx="15167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Cemri и др., «MAST», arXiv:2503.13657 (NeurIPS 2025 D&amp;B)</a:t>
            </a:r>
          </a:p>
        </p:txBody>
      </p:sp>
      <p:sp>
        <p:nvSpPr>
          <p:cNvPr id="11" name="TextBox 10"/>
          <p:cNvSpPr txBox="1"/>
          <p:nvPr/>
        </p:nvSpPr>
        <p:spPr>
          <a:xfrm>
            <a:off x="2348885" y="2717245"/>
            <a:ext cx="62217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 41 до 87% размеченных трасс (в зависимости от фреймворка) — провальные; три категории причин: спецификация задачи и роли ≈42%, рассогласование между агентами ≈37%, верификация результата ≈21%</a:t>
            </a:r>
          </a:p>
        </p:txBody>
      </p:sp>
      <p:sp>
        <p:nvSpPr>
          <p:cNvPr id="12" name="TextBox 11"/>
          <p:cNvSpPr txBox="1"/>
          <p:nvPr/>
        </p:nvSpPr>
        <p:spPr>
          <a:xfrm>
            <a:off x="8716968" y="2717245"/>
            <a:ext cx="26398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ручная разметка 1600+ трасс по 7 фреймворкам, межэкспертное согласие κ=0,88</a:t>
            </a:r>
          </a:p>
        </p:txBody>
      </p:sp>
      <p:cxnSp>
        <p:nvCxnSpPr>
          <p:cNvPr id="13" name="Connector 12"/>
          <p:cNvCxnSpPr/>
          <p:nvPr/>
        </p:nvCxnSpPr>
        <p:spPr>
          <a:xfrm>
            <a:off x="685800" y="37946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794649"/>
            <a:ext cx="151678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Kim, Gu, Park и др. (Google Research), arXiv:2512.08296</a:t>
            </a:r>
          </a:p>
        </p:txBody>
      </p:sp>
      <p:sp>
        <p:nvSpPr>
          <p:cNvPr id="15" name="TextBox 14"/>
          <p:cNvSpPr txBox="1"/>
          <p:nvPr/>
        </p:nvSpPr>
        <p:spPr>
          <a:xfrm>
            <a:off x="2348885" y="3794649"/>
            <a:ext cx="62217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последовательной задаче схема проигрывает одноагентной той же задачи на 39–70%; без координатора число ошибок усиливается в 17,2 раза относительно одноагентной системы на входе, с централизованной проверкой — в 4,4 раза</a:t>
            </a:r>
          </a:p>
        </p:txBody>
      </p:sp>
      <p:sp>
        <p:nvSpPr>
          <p:cNvPr id="16" name="TextBox 15"/>
          <p:cNvSpPr txBox="1"/>
          <p:nvPr/>
        </p:nvSpPr>
        <p:spPr>
          <a:xfrm>
            <a:off x="8716968" y="3794649"/>
            <a:ext cx="26398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контролируемый эксперимент, 260 конфигураций, 6 бенчмарков, 5 архитектур</a:t>
            </a:r>
          </a:p>
        </p:txBody>
      </p:sp>
      <p:sp>
        <p:nvSpPr>
          <p:cNvPr id="17" name="Rounded Rectangle 16"/>
          <p:cNvSpPr/>
          <p:nvPr/>
        </p:nvSpPr>
        <p:spPr>
          <a:xfrm>
            <a:off x="502920" y="5320957"/>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5458117"/>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Проверить рассогласование двух параллельных ролей на репозитории курса или на машине студента нечем — ни один инструмент проверяемости занятия это не демонстрирует. Утверждение подтверждено исследованием, не командой на занятии.</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приём закрывает промежуток: граница в обе стороны</a:t>
            </a:r>
          </a:p>
        </p:txBody>
      </p:sp>
      <p:pic>
        <p:nvPicPr>
          <p:cNvPr id="3" name="Picture 2" descr="subagent-n53-granitsa-dvukh-rolei.png"/>
          <p:cNvPicPr>
            <a:picLocks noChangeAspect="1"/>
          </p:cNvPicPr>
          <p:nvPr/>
        </p:nvPicPr>
        <p:blipFill>
          <a:blip r:embed="rId2"/>
          <a:stretch>
            <a:fillRect/>
          </a:stretch>
        </p:blipFill>
        <p:spPr>
          <a:xfrm>
            <a:off x="1177801" y="1319784"/>
            <a:ext cx="9833348" cy="2950004"/>
          </a:xfrm>
          <a:prstGeom prst="rect">
            <a:avLst/>
          </a:prstGeom>
        </p:spPr>
      </p:pic>
      <p:sp>
        <p:nvSpPr>
          <p:cNvPr id="4" name="Rounded Rectangle 3"/>
          <p:cNvSpPr/>
          <p:nvPr/>
        </p:nvSpPr>
        <p:spPr>
          <a:xfrm>
            <a:off x="502920" y="443438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6239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Диф-ревьюер с одностраничника этой ступени уже это делает: «НЕ для ревью архитектурных решений — это отдельная роль». Тестировщику нужна симметричная строка: что входит в его проверку и что остаётся снаружи, по-доменному, не абстрактно.</a:t>
            </a:r>
          </a:p>
        </p:txBody>
      </p:sp>
      <p:sp>
        <p:nvSpPr>
          <p:cNvPr id="6" name="Rounded Rectangle 5"/>
          <p:cNvSpPr/>
          <p:nvPr/>
        </p:nvSpPr>
        <p:spPr>
          <a:xfrm>
            <a:off x="502920" y="5251244"/>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379260"/>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Граница, записанная в двух описаниях, промежутка не убирает — она делает его видимым тому, кто читает оба описания рядом. Увидеть промежуток до показа заказчику остаётся решением человека.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Роль — одно средство из пяти. Где она оправдана</a:t>
            </a:r>
          </a:p>
        </p:txBody>
      </p:sp>
      <p:sp>
        <p:nvSpPr>
          <p:cNvPr id="3" name="Rounded Rectangle 2"/>
          <p:cNvSpPr/>
          <p:nvPr/>
        </p:nvSpPr>
        <p:spPr>
          <a:xfrm>
            <a:off x="502920" y="943356"/>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Отраслевой разворот, как метка границы.</a:t>
            </a:r>
            <a:r>
              <a:rPr sz="1350" b="1" i="0">
                <a:solidFill>
                  <a:srgbClr val="141B2E"/>
                </a:solidFill>
                <a:latin typeface="Arial"/>
              </a:rPr>
              <a:t> Одна команда год назад полностью отвергала мультиагентность, называя неструктурированный «рой» отвлекающим фактором. Десять месяцев спустя она же вернулась к двум узким паттернам — ревью-цепочка (отдельная роль находит в среднем два бага на правку, из них около 58% серьёзных) и связка из двух разных топ-моделей на сложных сценариях. «Рой» без границ она по-прежнему называет отвлекающим фактором.</a:t>
            </a:r>
          </a:p>
        </p:txBody>
      </p:sp>
      <p:sp>
        <p:nvSpPr>
          <p:cNvPr id="5" name="Rounded Rectangle 4"/>
          <p:cNvSpPr/>
          <p:nvPr/>
        </p:nvSpPr>
        <p:spPr>
          <a:xfrm>
            <a:off x="502920" y="244525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73274"/>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Параллельность лежит в задаче.</a:t>
            </a:r>
            <a:r>
              <a:rPr sz="1350" b="1" i="0">
                <a:solidFill>
                  <a:srgbClr val="141B2E"/>
                </a:solidFill>
                <a:latin typeface="Arial"/>
              </a:rPr>
              <a:t> Догадка считала исполнителей: шесть кусков — шесть исполнителей. Раскладка назвала условие: независимых кусков три, и каждому из остальных нужно своё средство. Нашему разработчику неверный счёт стоил недели работы по очереди — включая те куски, которые спокойно делились. Баг у заказчика стоил часа; доверие к приёму стоило недели.</a:t>
            </a:r>
          </a:p>
        </p:txBody>
      </p:sp>
      <p:sp>
        <p:nvSpPr>
          <p:cNvPr id="7" name="Rounded Rectangle 6"/>
          <p:cNvSpPr/>
          <p:nvPr/>
        </p:nvSpPr>
        <p:spPr>
          <a:xfrm>
            <a:off x="502920" y="3734562"/>
            <a:ext cx="5454396" cy="2470912"/>
          </a:xfrm>
          <a:prstGeom prst="roundRect">
            <a:avLst>
              <a:gd name="adj" fmla="val 1233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РОЛЬ ОПРАВДАНА, КОГДА</a:t>
            </a:r>
          </a:p>
        </p:txBody>
      </p:sp>
      <p:sp>
        <p:nvSpPr>
          <p:cNvPr id="9" name="TextBox 8"/>
          <p:cNvSpPr txBox="1"/>
          <p:nvPr/>
        </p:nvSpPr>
        <p:spPr>
          <a:xfrm>
            <a:off x="685800" y="411861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кусков несколько и они независимы — шаг одного не нуждается в выводе другого</a:t>
            </a:r>
          </a:p>
        </p:txBody>
      </p:sp>
      <p:cxnSp>
        <p:nvCxnSpPr>
          <p:cNvPr id="10" name="Connector 9"/>
          <p:cNvCxnSpPr/>
          <p:nvPr/>
        </p:nvCxnSpPr>
        <p:spPr>
          <a:xfrm>
            <a:off x="685800" y="460959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09591"/>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у каждого куска своя узкая зона и короткий итог — диф-ревьюер и тестировщик ровно этот случай, когда кусков два</a:t>
            </a:r>
          </a:p>
        </p:txBody>
      </p:sp>
      <p:sp>
        <p:nvSpPr>
          <p:cNvPr id="12" name="Rounded Rectangle 11"/>
          <p:cNvSpPr/>
          <p:nvPr/>
        </p:nvSpPr>
        <p:spPr>
          <a:xfrm>
            <a:off x="6231636" y="3734562"/>
            <a:ext cx="5454396" cy="2470912"/>
          </a:xfrm>
          <a:prstGeom prst="roundRect">
            <a:avLst>
              <a:gd name="adj" fmla="val 1233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ДЕШЕВЛЕ ДРУГОЕ СРЕДСТВО, КОГДА</a:t>
            </a:r>
          </a:p>
        </p:txBody>
      </p:sp>
      <p:sp>
        <p:nvSpPr>
          <p:cNvPr id="14" name="TextBox 13"/>
          <p:cNvSpPr txBox="1"/>
          <p:nvPr/>
        </p:nvSpPr>
        <p:spPr>
          <a:xfrm>
            <a:off x="6414516" y="4118610"/>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шаги зависимы: разбиение умножает ошибку — в 17,2 раза без координатора, в 4,4 даже при централизованной проверке</a:t>
            </a:r>
          </a:p>
        </p:txBody>
      </p:sp>
      <p:cxnSp>
        <p:nvCxnSpPr>
          <p:cNvPr id="15" name="Connector 14"/>
          <p:cNvCxnSpPr/>
          <p:nvPr/>
        </p:nvCxnSpPr>
        <p:spPr>
          <a:xfrm>
            <a:off x="6414516" y="459460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594605"/>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кусок один и неделимый: разрез между ролями никому не поручен, и два честных </a:t>
            </a:r>
            <a:r>
              <a:rPr sz="1100" b="0" i="0">
                <a:solidFill>
                  <a:srgbClr val="141B2E"/>
                </a:solidFill>
                <a:latin typeface="Consolas"/>
              </a:rPr>
              <a:t>PASS</a:t>
            </a:r>
            <a:r>
              <a:rPr sz="1100" b="0" i="0">
                <a:solidFill>
                  <a:srgbClr val="141B2E"/>
                </a:solidFill>
                <a:latin typeface="Arial"/>
              </a:rPr>
              <a:t> складываются в картину, которой нет</a:t>
            </a:r>
          </a:p>
        </p:txBody>
      </p:sp>
      <p:cxnSp>
        <p:nvCxnSpPr>
          <p:cNvPr id="17" name="Connector 16"/>
          <p:cNvCxnSpPr/>
          <p:nvPr/>
        </p:nvCxnSpPr>
        <p:spPr>
          <a:xfrm>
            <a:off x="6414516" y="507060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5070601"/>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кусок повторяется после каждого из остальных: его место в проверке, которая гоняется сама</a:t>
            </a:r>
          </a:p>
        </p:txBody>
      </p:sp>
      <p:cxnSp>
        <p:nvCxnSpPr>
          <p:cNvPr id="19" name="Connector 18"/>
          <p:cNvCxnSpPr/>
          <p:nvPr/>
        </p:nvCxnSpPr>
        <p:spPr>
          <a:xfrm>
            <a:off x="6414516" y="554659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546597"/>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кусок к сроку не нужен вовсе: такой сужают, а ускорять в нём нечего</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05049"/>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05049"/>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6</a:t>
            </a:r>
          </a:p>
        </p:txBody>
      </p:sp>
      <p:sp>
        <p:nvSpPr>
          <p:cNvPr id="7" name="TextBox 6"/>
          <p:cNvSpPr txBox="1"/>
          <p:nvPr/>
        </p:nvSpPr>
        <p:spPr>
          <a:xfrm>
            <a:off x="1536192" y="2199132"/>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Две сессии в одной папке. Обе отчитались успехом</a:t>
            </a:r>
          </a:p>
        </p:txBody>
      </p:sp>
      <p:sp>
        <p:nvSpPr>
          <p:cNvPr id="8" name="TextBox 7"/>
          <p:cNvSpPr txBox="1"/>
          <p:nvPr/>
        </p:nvSpPr>
        <p:spPr>
          <a:xfrm>
            <a:off x="822960" y="3416807"/>
            <a:ext cx="9509760" cy="1424940"/>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Сессий у вас уже несколько, а исполнителей в одной папке почти всегда больше одного — и это нормально. Отдельную копию репозитория вы дадите сессии сразу и захотите дать роли. Поле изоляции у роли есть, включают его редко, и это решение. Решаем, где разводить копиями и где только зонами.</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Вторая сессия завела ветку. Первая этого не заметила</a:t>
            </a:r>
          </a:p>
        </p:txBody>
      </p:sp>
      <p:sp>
        <p:nvSpPr>
          <p:cNvPr id="3" name="Rounded Rectangle 2"/>
          <p:cNvSpPr/>
          <p:nvPr/>
        </p:nvSpPr>
        <p:spPr>
          <a:xfrm>
            <a:off x="502920" y="101716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4518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ветке </a:t>
            </a:r>
            <a:r>
              <a:rPr sz="1500" b="1" i="0">
                <a:solidFill>
                  <a:srgbClr val="141B2E"/>
                </a:solidFill>
                <a:latin typeface="Consolas"/>
              </a:rPr>
              <a:t>fix/email-pattern</a:t>
            </a:r>
            <a:r>
              <a:rPr sz="1500" b="1" i="0">
                <a:solidFill>
                  <a:srgbClr val="141B2E"/>
                </a:solidFill>
                <a:latin typeface="Arial"/>
              </a:rPr>
              <a:t> лежит начатая правка: регулярное выражение адреса в </a:t>
            </a:r>
            <a:r>
              <a:rPr sz="1500" b="1" i="0">
                <a:solidFill>
                  <a:srgbClr val="141B2E"/>
                </a:solidFill>
                <a:latin typeface="Consolas"/>
              </a:rPr>
              <a:t>index.html</a:t>
            </a:r>
            <a:r>
              <a:rPr sz="1500" b="1" i="0">
                <a:solidFill>
                  <a:srgbClr val="141B2E"/>
                </a:solidFill>
                <a:latin typeface="Arial"/>
              </a:rPr>
              <a:t> поправлено, сообщение в </a:t>
            </a:r>
            <a:r>
              <a:rPr sz="1500" b="1" i="0">
                <a:solidFill>
                  <a:srgbClr val="141B2E"/>
                </a:solidFill>
                <a:latin typeface="Consolas"/>
              </a:rPr>
              <a:t>src/validate.js</a:t>
            </a:r>
            <a:r>
              <a:rPr sz="1500" b="1" i="0">
                <a:solidFill>
                  <a:srgbClr val="141B2E"/>
                </a:solidFill>
                <a:latin typeface="Arial"/>
              </a:rPr>
              <a:t> — ещё нет. Коммита пока нет.</a:t>
            </a:r>
          </a:p>
        </p:txBody>
      </p:sp>
      <p:sp>
        <p:nvSpPr>
          <p:cNvPr id="5" name="Rounded Rectangle 4"/>
          <p:cNvSpPr/>
          <p:nvPr/>
        </p:nvSpPr>
        <p:spPr>
          <a:xfrm>
            <a:off x="502920" y="2113051"/>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33250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332507"/>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незачем, и разработчик открывает вторую — в том же каталоге, на том же репозитории.</a:t>
            </a:r>
          </a:p>
        </p:txBody>
      </p:sp>
      <p:sp>
        <p:nvSpPr>
          <p:cNvPr id="8" name="TextBox 7"/>
          <p:cNvSpPr txBox="1"/>
          <p:nvPr/>
        </p:nvSpPr>
        <p:spPr>
          <a:xfrm>
            <a:off x="722376" y="306745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06745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начинает с собственной ветки: </a:t>
            </a:r>
            <a:r>
              <a:rPr sz="1350" b="0" i="0">
                <a:solidFill>
                  <a:srgbClr val="141B2E"/>
                </a:solidFill>
                <a:latin typeface="Consolas"/>
              </a:rPr>
              <a:t>git</a:t>
            </a:r>
            <a:r>
              <a:rPr sz="1350" b="0" i="0">
                <a:solidFill>
                  <a:srgbClr val="141B2E"/>
                </a:solidFill>
                <a:latin typeface="Arial"/>
              </a:rPr>
              <a:t> </a:t>
            </a:r>
            <a:r>
              <a:rPr sz="1350" b="0" i="0">
                <a:solidFill>
                  <a:srgbClr val="141B2E"/>
                </a:solidFill>
                <a:latin typeface="Consolas"/>
              </a:rPr>
              <a:t>checkout</a:t>
            </a:r>
            <a:r>
              <a:rPr sz="1350" b="0" i="0">
                <a:solidFill>
                  <a:srgbClr val="141B2E"/>
                </a:solidFill>
                <a:latin typeface="Arial"/>
              </a:rPr>
              <a:t> </a:t>
            </a:r>
            <a:r>
              <a:rPr sz="1350" b="0" i="0">
                <a:solidFill>
                  <a:srgbClr val="141B2E"/>
                </a:solidFill>
                <a:latin typeface="Arial"/>
              </a:rPr>
              <a:t>-b</a:t>
            </a:r>
            <a:r>
              <a:rPr sz="1350" b="0" i="0">
                <a:solidFill>
                  <a:srgbClr val="141B2E"/>
                </a:solidFill>
                <a:latin typeface="Arial"/>
              </a:rPr>
              <a:t> </a:t>
            </a:r>
            <a:r>
              <a:rPr sz="1350" b="0" i="0">
                <a:solidFill>
                  <a:srgbClr val="141B2E"/>
                </a:solidFill>
                <a:latin typeface="Consolas"/>
              </a:rPr>
              <a:t>chore/bump-deps</a:t>
            </a:r>
            <a:r>
              <a:rPr sz="1350" b="0" i="0">
                <a:solidFill>
                  <a:srgbClr val="141B2E"/>
                </a:solidFill>
                <a:latin typeface="Arial"/>
              </a:rPr>
              <a:t>. Каталог один, ветка в нём одна на всех — и незакоммиченная правка адреса переезжает на новую ветку вместе с каталогом.</a:t>
            </a:r>
          </a:p>
        </p:txBody>
      </p:sp>
      <p:sp>
        <p:nvSpPr>
          <p:cNvPr id="10" name="TextBox 9"/>
          <p:cNvSpPr txBox="1"/>
          <p:nvPr/>
        </p:nvSpPr>
        <p:spPr>
          <a:xfrm>
            <a:off x="722376" y="360009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009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заканчивает работу и забирает в коммит всё, что видит в каталоге. В коммит с зависимостью попадает недоделанная проверка адреса — для этой сессии она просто часть состояния файлов.</a:t>
            </a:r>
          </a:p>
        </p:txBody>
      </p:sp>
      <p:sp>
        <p:nvSpPr>
          <p:cNvPr id="12" name="TextBox 11"/>
          <p:cNvSpPr txBox="1"/>
          <p:nvPr/>
        </p:nvSpPr>
        <p:spPr>
          <a:xfrm>
            <a:off x="722376" y="413273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13273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Первая сессия продолжает по тому, что прочитала раньше: дописывает сообщение, прогоняет тесты, докладывает, что правка готова. Её ветки под ней больше нет — каталог стоит на ветке зависимостей.</a:t>
            </a:r>
          </a:p>
        </p:txBody>
      </p:sp>
      <p:sp>
        <p:nvSpPr>
          <p:cNvPr id="14" name="Rounded Rectangle 13"/>
          <p:cNvSpPr/>
          <p:nvPr/>
        </p:nvSpPr>
        <p:spPr>
          <a:xfrm>
            <a:off x="502920" y="52339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619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Обе сессии доложили об успехе, и обе были правы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Обе задачи нужны. Что здесь меняют?</a:t>
            </a:r>
          </a:p>
        </p:txBody>
      </p:sp>
      <p:sp>
        <p:nvSpPr>
          <p:cNvPr id="3" name="Rounded Rectangle 2"/>
          <p:cNvSpPr/>
          <p:nvPr/>
        </p:nvSpPr>
        <p:spPr>
          <a:xfrm>
            <a:off x="502920" y="1622602"/>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77466"/>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59762"/>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Задачи друг от друга не зависят, обе сессии нужны разом, каталог у них один.</a:t>
            </a:r>
          </a:p>
        </p:txBody>
      </p:sp>
      <p:sp>
        <p:nvSpPr>
          <p:cNvPr id="6" name="Rounded Rectangle 5"/>
          <p:cNvSpPr/>
          <p:nvPr/>
        </p:nvSpPr>
        <p:spPr>
          <a:xfrm>
            <a:off x="502920" y="276674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9476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здесь заводят или меняют, чтобы это не повторилось, — и обоснуйте выбор рядом с остальными четырьмя. Состав верного ответа до разбора не называю.</a:t>
            </a:r>
          </a:p>
        </p:txBody>
      </p:sp>
      <p:sp>
        <p:nvSpPr>
          <p:cNvPr id="8" name="Rounded Rectangle 7"/>
          <p:cNvSpPr/>
          <p:nvPr/>
        </p:nvSpPr>
        <p:spPr>
          <a:xfrm>
            <a:off x="502920"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коммитить перед каждым переключением</a:t>
            </a:r>
          </a:p>
        </p:txBody>
      </p:sp>
      <p:sp>
        <p:nvSpPr>
          <p:cNvPr id="10" name="Rounded Rectangle 9"/>
          <p:cNvSpPr/>
          <p:nvPr/>
        </p:nvSpPr>
        <p:spPr>
          <a:xfrm>
            <a:off x="2768803"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работать по очереди, в одной сессии</a:t>
            </a:r>
          </a:p>
        </p:txBody>
      </p:sp>
      <p:sp>
        <p:nvSpPr>
          <p:cNvPr id="12" name="Rounded Rectangle 11"/>
          <p:cNvSpPr/>
          <p:nvPr/>
        </p:nvSpPr>
        <p:spPr>
          <a:xfrm>
            <a:off x="5034686"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вместо второй сессии — роли в первой</a:t>
            </a:r>
          </a:p>
        </p:txBody>
      </p:sp>
      <p:sp>
        <p:nvSpPr>
          <p:cNvPr id="14" name="Rounded Rectangle 13"/>
          <p:cNvSpPr/>
          <p:nvPr/>
        </p:nvSpPr>
        <p:spPr>
          <a:xfrm>
            <a:off x="7300569"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каждой сессии — свою копию репозитория</a:t>
            </a:r>
          </a:p>
        </p:txBody>
      </p:sp>
      <p:sp>
        <p:nvSpPr>
          <p:cNvPr id="16" name="Rounded Rectangle 15"/>
          <p:cNvSpPr/>
          <p:nvPr/>
        </p:nvSpPr>
        <p:spPr>
          <a:xfrm>
            <a:off x="9566452"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развести по файлам и договориться</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Копия разводит сессии. Внутри сессии разводят зоны</a:t>
            </a:r>
          </a:p>
        </p:txBody>
      </p:sp>
      <p:sp>
        <p:nvSpPr>
          <p:cNvPr id="3" name="Rounded Rectangle 2"/>
          <p:cNvSpPr/>
          <p:nvPr/>
        </p:nvSpPr>
        <p:spPr>
          <a:xfrm>
            <a:off x="502920" y="948855"/>
            <a:ext cx="11183112" cy="4209224"/>
          </a:xfrm>
          <a:prstGeom prst="roundRect">
            <a:avLst>
              <a:gd name="adj" fmla="val 72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31735"/>
            <a:ext cx="17144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546533" y="1131735"/>
            <a:ext cx="425627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949113" y="1131735"/>
            <a:ext cx="440773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13802"/>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коммитить перед каждым переключением</a:t>
            </a:r>
          </a:p>
        </p:txBody>
      </p:sp>
      <p:sp>
        <p:nvSpPr>
          <p:cNvPr id="8" name="TextBox 7"/>
          <p:cNvSpPr txBox="1"/>
          <p:nvPr/>
        </p:nvSpPr>
        <p:spPr>
          <a:xfrm>
            <a:off x="2546533" y="1413802"/>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потерянное: есть к чему вернуться, и чужой коммит виден в истории</a:t>
            </a:r>
          </a:p>
        </p:txBody>
      </p:sp>
      <p:sp>
        <p:nvSpPr>
          <p:cNvPr id="9" name="TextBox 8"/>
          <p:cNvSpPr txBox="1"/>
          <p:nvPr/>
        </p:nvSpPr>
        <p:spPr>
          <a:xfrm>
            <a:off x="6949113" y="1413802"/>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в каталоге остаётся одна на всех; о столкновении узнаёте после него</a:t>
            </a:r>
          </a:p>
        </p:txBody>
      </p:sp>
      <p:cxnSp>
        <p:nvCxnSpPr>
          <p:cNvPr id="10" name="Connector 9"/>
          <p:cNvCxnSpPr/>
          <p:nvPr/>
        </p:nvCxnSpPr>
        <p:spPr>
          <a:xfrm>
            <a:off x="685800" y="21260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26081"/>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работать по очереди, в одной сессии</a:t>
            </a:r>
          </a:p>
        </p:txBody>
      </p:sp>
      <p:sp>
        <p:nvSpPr>
          <p:cNvPr id="12" name="TextBox 11"/>
          <p:cNvSpPr txBox="1"/>
          <p:nvPr/>
        </p:nvSpPr>
        <p:spPr>
          <a:xfrm>
            <a:off x="2546533" y="2126081"/>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столкновение целиком: одна работа в каталоге, одна ветка, один исполнитель</a:t>
            </a:r>
          </a:p>
        </p:txBody>
      </p:sp>
      <p:sp>
        <p:nvSpPr>
          <p:cNvPr id="13" name="TextBox 12"/>
          <p:cNvSpPr txBox="1"/>
          <p:nvPr/>
        </p:nvSpPr>
        <p:spPr>
          <a:xfrm>
            <a:off x="6949113" y="2126081"/>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вторая задача стоит, пока идёт первая — та самая очередь, от которой ушёл прошлый кейс</a:t>
            </a:r>
          </a:p>
        </p:txBody>
      </p:sp>
      <p:cxnSp>
        <p:nvCxnSpPr>
          <p:cNvPr id="14" name="Connector 13"/>
          <p:cNvCxnSpPr/>
          <p:nvPr/>
        </p:nvCxnSpPr>
        <p:spPr>
          <a:xfrm>
            <a:off x="685800" y="28383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38361"/>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вместо второй сессии — роли в первой</a:t>
            </a:r>
          </a:p>
        </p:txBody>
      </p:sp>
      <p:sp>
        <p:nvSpPr>
          <p:cNvPr id="16" name="TextBox 15"/>
          <p:cNvSpPr txBox="1"/>
          <p:nvPr/>
        </p:nvSpPr>
        <p:spPr>
          <a:xfrm>
            <a:off x="2546533" y="2838361"/>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спор о ветке: роли работают в той же ветке, и задачу не нужно объяснять заново</a:t>
            </a:r>
          </a:p>
        </p:txBody>
      </p:sp>
      <p:sp>
        <p:nvSpPr>
          <p:cNvPr id="17" name="TextBox 16"/>
          <p:cNvSpPr txBox="1"/>
          <p:nvPr/>
        </p:nvSpPr>
        <p:spPr>
          <a:xfrm>
            <a:off x="6949113" y="2838361"/>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них общий по устройству, поэтому спор о файле остаётся на месте</a:t>
            </a:r>
          </a:p>
        </p:txBody>
      </p:sp>
      <p:cxnSp>
        <p:nvCxnSpPr>
          <p:cNvPr id="18" name="Connector 17"/>
          <p:cNvCxnSpPr/>
          <p:nvPr/>
        </p:nvCxnSpPr>
        <p:spPr>
          <a:xfrm>
            <a:off x="685800" y="35506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50640"/>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каждой сессии — свою копию репозитория</a:t>
            </a:r>
          </a:p>
        </p:txBody>
      </p:sp>
      <p:sp>
        <p:nvSpPr>
          <p:cNvPr id="20" name="TextBox 19"/>
          <p:cNvSpPr txBox="1"/>
          <p:nvPr/>
        </p:nvSpPr>
        <p:spPr>
          <a:xfrm>
            <a:off x="2546533" y="3550640"/>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даёт каждой свои файлы и свою ветку при общей истории: переключение у одной под руками другой ничего не меняет</a:t>
            </a:r>
          </a:p>
        </p:txBody>
      </p:sp>
      <p:sp>
        <p:nvSpPr>
          <p:cNvPr id="21" name="TextBox 20"/>
          <p:cNvSpPr txBox="1"/>
          <p:nvPr/>
        </p:nvSpPr>
        <p:spPr>
          <a:xfrm>
            <a:off x="6949113" y="3550640"/>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копию нужно поднять как рабочее место — зависимости, файлы вне версий; сводить работу всё равно веткой</a:t>
            </a:r>
          </a:p>
        </p:txBody>
      </p:sp>
      <p:cxnSp>
        <p:nvCxnSpPr>
          <p:cNvPr id="22" name="Connector 21"/>
          <p:cNvCxnSpPr/>
          <p:nvPr/>
        </p:nvCxnSpPr>
        <p:spPr>
          <a:xfrm>
            <a:off x="685800" y="4262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62920"/>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развести по файлам и договориться</a:t>
            </a:r>
          </a:p>
        </p:txBody>
      </p:sp>
      <p:sp>
        <p:nvSpPr>
          <p:cNvPr id="24" name="TextBox 23"/>
          <p:cNvSpPr txBox="1"/>
          <p:nvPr/>
        </p:nvSpPr>
        <p:spPr>
          <a:xfrm>
            <a:off x="2546533" y="4262920"/>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работает там, где копий не бывает: внутри одной сессии, между её исполнителями</a:t>
            </a:r>
          </a:p>
        </p:txBody>
      </p:sp>
      <p:sp>
        <p:nvSpPr>
          <p:cNvPr id="25" name="TextBox 24"/>
          <p:cNvSpPr txBox="1"/>
          <p:nvPr/>
        </p:nvSpPr>
        <p:spPr>
          <a:xfrm>
            <a:off x="6949113" y="4262920"/>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держится на том, что зоны действительно не пересекаются — один общий файл отменяет договорённость</a:t>
            </a:r>
          </a:p>
        </p:txBody>
      </p:sp>
      <p:sp>
        <p:nvSpPr>
          <p:cNvPr id="26" name="Rounded Rectangle 25"/>
          <p:cNvSpPr/>
          <p:nvPr/>
        </p:nvSpPr>
        <p:spPr>
          <a:xfrm>
            <a:off x="502920" y="5336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464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кейсе оба.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Своя копия: что в ней своё и что общее</a:t>
            </a:r>
          </a:p>
        </p:txBody>
      </p:sp>
      <p:sp>
        <p:nvSpPr>
          <p:cNvPr id="3" name="Rounded Rectangle 2"/>
          <p:cNvSpPr/>
          <p:nvPr/>
        </p:nvSpPr>
        <p:spPr>
          <a:xfrm>
            <a:off x="502920" y="993986"/>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22002"/>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Отдельная рабочая копия — свой каталог файлов и своя ветка; история и удалённый репозиторий те же, что у основной копии. В git это </a:t>
            </a:r>
            <a:r>
              <a:rPr sz="1500" b="1" i="0">
                <a:solidFill>
                  <a:srgbClr val="141B2E"/>
                </a:solidFill>
                <a:latin typeface="Consolas"/>
              </a:rPr>
              <a:t>worktree</a:t>
            </a:r>
            <a:r>
              <a:rPr sz="1500" b="1" i="0">
                <a:solidFill>
                  <a:srgbClr val="141B2E"/>
                </a:solidFill>
                <a:latin typeface="Arial"/>
              </a:rPr>
              <a:t>. Запуск с флагом </a:t>
            </a:r>
            <a:r>
              <a:rPr sz="1500" b="1" i="0">
                <a:solidFill>
                  <a:srgbClr val="141B2E"/>
                </a:solidFill>
                <a:latin typeface="Arial"/>
              </a:rPr>
              <a:t>--worktree</a:t>
            </a:r>
            <a:r>
              <a:rPr sz="1500" b="1" i="0">
                <a:solidFill>
                  <a:srgbClr val="141B2E"/>
                </a:solidFill>
                <a:latin typeface="Arial"/>
              </a:rPr>
              <a:t> и именем создаёт её под </a:t>
            </a:r>
            <a:r>
              <a:rPr sz="1500" b="1" i="0">
                <a:solidFill>
                  <a:srgbClr val="141B2E"/>
                </a:solidFill>
                <a:latin typeface="Consolas"/>
              </a:rPr>
              <a:t>.claude/worktrees/имя/</a:t>
            </a:r>
            <a:r>
              <a:rPr sz="1500" b="1" i="0">
                <a:solidFill>
                  <a:srgbClr val="141B2E"/>
                </a:solidFill>
                <a:latin typeface="Arial"/>
              </a:rPr>
              <a:t> на ветке </a:t>
            </a:r>
            <a:r>
              <a:rPr sz="1500" b="1" i="0">
                <a:solidFill>
                  <a:srgbClr val="141B2E"/>
                </a:solidFill>
                <a:latin typeface="Consolas"/>
              </a:rPr>
              <a:t>worktree-имя</a:t>
            </a:r>
            <a:r>
              <a:rPr sz="1500" b="1" i="0">
                <a:solidFill>
                  <a:srgbClr val="141B2E"/>
                </a:solidFill>
                <a:latin typeface="Arial"/>
              </a:rPr>
              <a:t>; тот же запуск с другим именем в другом терминале поднимает вторую изолированную сессию. Руками то же делает </a:t>
            </a:r>
            <a:r>
              <a:rPr sz="1500" b="1" i="0">
                <a:solidFill>
                  <a:srgbClr val="141B2E"/>
                </a:solidFill>
                <a:latin typeface="Consolas"/>
              </a:rPr>
              <a:t>git</a:t>
            </a:r>
            <a:r>
              <a:rPr sz="1500" b="1" i="0">
                <a:solidFill>
                  <a:srgbClr val="141B2E"/>
                </a:solidFill>
                <a:latin typeface="Arial"/>
              </a:rPr>
              <a:t> </a:t>
            </a:r>
            <a:r>
              <a:rPr sz="1500" b="1" i="0">
                <a:solidFill>
                  <a:srgbClr val="141B2E"/>
                </a:solidFill>
                <a:latin typeface="Consolas"/>
              </a:rPr>
              <a:t>worktree</a:t>
            </a:r>
            <a:r>
              <a:rPr sz="1500" b="1" i="0">
                <a:solidFill>
                  <a:srgbClr val="141B2E"/>
                </a:solidFill>
                <a:latin typeface="Arial"/>
              </a:rPr>
              <a:t> </a:t>
            </a:r>
            <a:r>
              <a:rPr sz="1500" b="1" i="0">
                <a:solidFill>
                  <a:srgbClr val="141B2E"/>
                </a:solidFill>
                <a:latin typeface="Consolas"/>
              </a:rPr>
              <a:t>add</a:t>
            </a:r>
            <a:r>
              <a:rPr sz="1500" b="1" i="0">
                <a:solidFill>
                  <a:srgbClr val="141B2E"/>
                </a:solidFill>
                <a:latin typeface="Arial"/>
              </a:rPr>
              <a:t> </a:t>
            </a:r>
            <a:r>
              <a:rPr sz="1500" b="1" i="0">
                <a:solidFill>
                  <a:srgbClr val="141B2E"/>
                </a:solidFill>
                <a:latin typeface="Consolas"/>
              </a:rPr>
              <a:t>../проект-правка</a:t>
            </a:r>
            <a:r>
              <a:rPr sz="1500" b="1" i="0">
                <a:solidFill>
                  <a:srgbClr val="141B2E"/>
                </a:solidFill>
                <a:latin typeface="Arial"/>
              </a:rPr>
              <a:t> </a:t>
            </a:r>
            <a:r>
              <a:rPr sz="1500" b="1" i="0">
                <a:solidFill>
                  <a:srgbClr val="141B2E"/>
                </a:solidFill>
                <a:latin typeface="Arial"/>
              </a:rPr>
              <a:t>-b</a:t>
            </a:r>
            <a:r>
              <a:rPr sz="1500" b="1" i="0">
                <a:solidFill>
                  <a:srgbClr val="141B2E"/>
                </a:solidFill>
                <a:latin typeface="Arial"/>
              </a:rPr>
              <a:t> </a:t>
            </a:r>
            <a:r>
              <a:rPr sz="1500" b="1" i="0">
                <a:solidFill>
                  <a:srgbClr val="141B2E"/>
                </a:solidFill>
                <a:latin typeface="Consolas"/>
              </a:rPr>
              <a:t>правка</a:t>
            </a:r>
            <a:r>
              <a:rPr sz="1500" b="1" i="0">
                <a:solidFill>
                  <a:srgbClr val="141B2E"/>
                </a:solidFill>
                <a:latin typeface="Arial"/>
              </a:rPr>
              <a:t>.</a:t>
            </a:r>
          </a:p>
        </p:txBody>
      </p:sp>
      <p:sp>
        <p:nvSpPr>
          <p:cNvPr id="5" name="Rounded Rectangle 4"/>
          <p:cNvSpPr/>
          <p:nvPr/>
        </p:nvSpPr>
        <p:spPr>
          <a:xfrm>
            <a:off x="502920" y="2740575"/>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23455"/>
            <a:ext cx="41565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СВОЁ У КАЖДОЙ КОПИИ</a:t>
            </a:r>
          </a:p>
        </p:txBody>
      </p:sp>
      <p:sp>
        <p:nvSpPr>
          <p:cNvPr id="7" name="TextBox 6"/>
          <p:cNvSpPr txBox="1"/>
          <p:nvPr/>
        </p:nvSpPr>
        <p:spPr>
          <a:xfrm>
            <a:off x="4988607" y="2923455"/>
            <a:ext cx="63682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ОБЩЕЕ С ОСНОВНОЙ КОПИЕЙ</a:t>
            </a:r>
          </a:p>
        </p:txBody>
      </p:sp>
      <p:sp>
        <p:nvSpPr>
          <p:cNvPr id="8" name="TextBox 7"/>
          <p:cNvSpPr txBox="1"/>
          <p:nvPr/>
        </p:nvSpPr>
        <p:spPr>
          <a:xfrm>
            <a:off x="685800" y="3205522"/>
            <a:ext cx="415650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файлы в каталоге — переключение ветки в одной копии не меняет файлы в другой</a:t>
            </a:r>
          </a:p>
        </p:txBody>
      </p:sp>
      <p:sp>
        <p:nvSpPr>
          <p:cNvPr id="9" name="TextBox 8"/>
          <p:cNvSpPr txBox="1"/>
          <p:nvPr/>
        </p:nvSpPr>
        <p:spPr>
          <a:xfrm>
            <a:off x="4988607" y="3205522"/>
            <a:ext cx="636824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служебный каталог репозитория: команды из копии пишут в общую историю, поэтому коммит из копии виден везде и переносить работу никуда не нужно</a:t>
            </a:r>
          </a:p>
        </p:txBody>
      </p:sp>
      <p:cxnSp>
        <p:nvCxnSpPr>
          <p:cNvPr id="10" name="Connector 9"/>
          <p:cNvCxnSpPr/>
          <p:nvPr/>
        </p:nvCxnSpPr>
        <p:spPr>
          <a:xfrm>
            <a:off x="685800" y="39178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917801"/>
            <a:ext cx="41565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и незакоммиченное состояние</a:t>
            </a:r>
          </a:p>
        </p:txBody>
      </p:sp>
      <p:sp>
        <p:nvSpPr>
          <p:cNvPr id="12" name="TextBox 11"/>
          <p:cNvSpPr txBox="1"/>
          <p:nvPr/>
        </p:nvSpPr>
        <p:spPr>
          <a:xfrm>
            <a:off x="4988607" y="3917801"/>
            <a:ext cx="63682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плагины, установленные на уровне проекта</a:t>
            </a:r>
          </a:p>
        </p:txBody>
      </p:sp>
      <p:cxnSp>
        <p:nvCxnSpPr>
          <p:cNvPr id="13" name="Connector 12"/>
          <p:cNvCxnSpPr/>
          <p:nvPr/>
        </p:nvCxnSpPr>
        <p:spPr>
          <a:xfrm>
            <a:off x="685800" y="42649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64956"/>
            <a:ext cx="41565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своё рабочее место: зависимости и всё, чего нет в версиях, в копии поднимают отдельно</a:t>
            </a:r>
          </a:p>
        </p:txBody>
      </p:sp>
      <p:sp>
        <p:nvSpPr>
          <p:cNvPr id="15" name="TextBox 14"/>
          <p:cNvSpPr txBox="1"/>
          <p:nvPr/>
        </p:nvSpPr>
        <p:spPr>
          <a:xfrm>
            <a:off x="4988607" y="4264956"/>
            <a:ext cx="63682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разрешение, выданное один раз ответом «больше не спрашивать»: оно сохраняется в основную копию и действует во всех</a:t>
            </a:r>
          </a:p>
        </p:txBody>
      </p:sp>
      <p:sp>
        <p:nvSpPr>
          <p:cNvPr id="16" name="Rounded Rectangle 15"/>
          <p:cNvSpPr/>
          <p:nvPr/>
        </p:nvSpPr>
        <p:spPr>
          <a:xfrm>
            <a:off x="502920" y="52687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967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Свежая копия приходит без того, чего нет в версиях: зависимости в ней не установлены, локальных файлов настроек в ней нет. Какие из них переносить в каждую новую копию, задают отдельным списком.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Роли в одной папке: что здесь ломается</a:t>
            </a:r>
          </a:p>
        </p:txBody>
      </p:sp>
      <p:sp>
        <p:nvSpPr>
          <p:cNvPr id="3" name="Rounded Rectangle 2"/>
          <p:cNvSpPr/>
          <p:nvPr/>
        </p:nvSpPr>
        <p:spPr>
          <a:xfrm>
            <a:off x="502920" y="10082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363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Роль стартует в том каталоге, где стоит вызвавшая её сессия, и уйти из него не может: смена каталога внутри роли не переживает её собственных вызовов. Общая папка у ролей — штатный режим, в котором они работают почти всегда.</a:t>
            </a:r>
          </a:p>
        </p:txBody>
      </p:sp>
      <p:sp>
        <p:nvSpPr>
          <p:cNvPr id="5" name="Rounded Rectangle 4"/>
          <p:cNvSpPr/>
          <p:nvPr/>
        </p:nvSpPr>
        <p:spPr>
          <a:xfrm>
            <a:off x="502920" y="2318215"/>
            <a:ext cx="11183112" cy="2602102"/>
          </a:xfrm>
          <a:prstGeom prst="roundRect">
            <a:avLst>
              <a:gd name="adj" fmla="val 1171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01095"/>
            <a:ext cx="458131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УСТРОЕНО</a:t>
            </a:r>
          </a:p>
        </p:txBody>
      </p:sp>
      <p:sp>
        <p:nvSpPr>
          <p:cNvPr id="7" name="TextBox 6"/>
          <p:cNvSpPr txBox="1"/>
          <p:nvPr/>
        </p:nvSpPr>
        <p:spPr>
          <a:xfrm>
            <a:off x="5413418" y="2501095"/>
            <a:ext cx="59434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ЛОМАЕТСЯ</a:t>
            </a:r>
          </a:p>
        </p:txBody>
      </p:sp>
      <p:sp>
        <p:nvSpPr>
          <p:cNvPr id="8" name="TextBox 7"/>
          <p:cNvSpPr txBox="1"/>
          <p:nvPr/>
        </p:nvSpPr>
        <p:spPr>
          <a:xfrm>
            <a:off x="685800" y="2783162"/>
            <a:ext cx="458131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роли тот же, что у вызвавшей её сессии; инструмент правки есть у всякой роли, которой его не отняли строкой</a:t>
            </a:r>
          </a:p>
        </p:txBody>
      </p:sp>
      <p:sp>
        <p:nvSpPr>
          <p:cNvPr id="9" name="TextBox 8"/>
          <p:cNvSpPr txBox="1"/>
          <p:nvPr/>
        </p:nvSpPr>
        <p:spPr>
          <a:xfrm>
            <a:off x="5413418" y="2783162"/>
            <a:ext cx="5943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две роли правят одни файлы; та, что записала позже, перекрывает работу первой — и перекрывает целиком, когда переписывает файл вместо правки участка</a:t>
            </a:r>
          </a:p>
        </p:txBody>
      </p:sp>
      <p:cxnSp>
        <p:nvCxnSpPr>
          <p:cNvPr id="10" name="Connector 9"/>
          <p:cNvCxnSpPr/>
          <p:nvPr/>
        </p:nvCxnSpPr>
        <p:spPr>
          <a:xfrm>
            <a:off x="685800" y="34954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495442"/>
            <a:ext cx="458131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состояние репозитория роль получает снимком на момент своего старта, и снимок по ходу работы не обновляется</a:t>
            </a:r>
          </a:p>
        </p:txBody>
      </p:sp>
      <p:sp>
        <p:nvSpPr>
          <p:cNvPr id="12" name="TextBox 11"/>
          <p:cNvSpPr txBox="1"/>
          <p:nvPr/>
        </p:nvSpPr>
        <p:spPr>
          <a:xfrm>
            <a:off x="5413418" y="3495442"/>
            <a:ext cx="5943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роль пишет по состоянию, которого в каталоге уже нет: создаёт заново файл, которого «не было», или правит строку, которую рядом уже переписали</a:t>
            </a:r>
          </a:p>
        </p:txBody>
      </p:sp>
      <p:cxnSp>
        <p:nvCxnSpPr>
          <p:cNvPr id="13" name="Connector 12"/>
          <p:cNvCxnSpPr/>
          <p:nvPr/>
        </p:nvCxnSpPr>
        <p:spPr>
          <a:xfrm>
            <a:off x="685800" y="42077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07721"/>
            <a:ext cx="458131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вызвавшая сессия получает итог роли; шагов, которыми он получен, она не видит</a:t>
            </a:r>
          </a:p>
        </p:txBody>
      </p:sp>
      <p:sp>
        <p:nvSpPr>
          <p:cNvPr id="15" name="TextBox 14"/>
          <p:cNvSpPr txBox="1"/>
          <p:nvPr/>
        </p:nvSpPr>
        <p:spPr>
          <a:xfrm>
            <a:off x="5413418" y="4207721"/>
            <a:ext cx="594342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оба итога приходят успешными, и по ним столкновение не видно — видно его в самих файлах</a:t>
            </a:r>
          </a:p>
        </p:txBody>
      </p:sp>
      <p:sp>
        <p:nvSpPr>
          <p:cNvPr id="16" name="Rounded Rectangle 15"/>
          <p:cNvSpPr/>
          <p:nvPr/>
        </p:nvSpPr>
        <p:spPr>
          <a:xfrm>
            <a:off x="502920" y="524725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7527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Так и устроено, и это нормально: роль работает там, где лежит работа, иначе итог было бы некуда возвращать. Поэтому первая защита здесь — раскладка зон. Изоляция у роли тоже бывает, и её цена разбирается дальше в кейсе.</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это нивелируют</a:t>
            </a:r>
          </a:p>
        </p:txBody>
      </p:sp>
      <p:sp>
        <p:nvSpPr>
          <p:cNvPr id="3" name="Rounded Rectangle 2"/>
          <p:cNvSpPr/>
          <p:nvPr/>
        </p:nvSpPr>
        <p:spPr>
          <a:xfrm>
            <a:off x="502920" y="13226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506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p:txBody>
      </p:sp>
      <p:sp>
        <p:nvSpPr>
          <p:cNvPr id="5" name="Rounded Rectangle 4"/>
          <p:cNvSpPr/>
          <p:nvPr/>
        </p:nvSpPr>
        <p:spPr>
          <a:xfrm>
            <a:off x="502920"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ПРИЁМ</a:t>
            </a:r>
          </a:p>
        </p:txBody>
      </p:sp>
      <p:sp>
        <p:nvSpPr>
          <p:cNvPr id="7" name="TextBox 6"/>
          <p:cNvSpPr txBox="1"/>
          <p:nvPr/>
        </p:nvSpPr>
        <p:spPr>
          <a:xfrm>
            <a:off x="685800"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развести зоны до запуска: у каждого исполнителя свой набор файлов</a:t>
            </a:r>
          </a:p>
        </p:txBody>
      </p:sp>
      <p:cxnSp>
        <p:nvCxnSpPr>
          <p:cNvPr id="8" name="Connector 7"/>
          <p:cNvCxnSpPr/>
          <p:nvPr/>
        </p:nvCxnSpPr>
        <p:spPr>
          <a:xfrm>
            <a:off x="685800"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читать файл прямо перед записью, не опираться на прочитанное в начале работы</a:t>
            </a:r>
          </a:p>
        </p:txBody>
      </p:sp>
      <p:cxnSp>
        <p:nvCxnSpPr>
          <p:cNvPr id="10" name="Connector 9"/>
          <p:cNvCxnSpPr/>
          <p:nvPr/>
        </p:nvCxnSpPr>
        <p:spPr>
          <a:xfrm>
            <a:off x="685800"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02912"/>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править участок, не переписывать файл целиком</a:t>
            </a:r>
          </a:p>
        </p:txBody>
      </p:sp>
      <p:cxnSp>
        <p:nvCxnSpPr>
          <p:cNvPr id="12" name="Connector 11"/>
          <p:cNvCxnSpPr/>
          <p:nvPr/>
        </p:nvCxnSpPr>
        <p:spPr>
          <a:xfrm>
            <a:off x="685800" y="44215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215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давать непересекающиеся задачи, а сведение результатов вести отдельным проходом</a:t>
            </a:r>
          </a:p>
        </p:txBody>
      </p:sp>
      <p:cxnSp>
        <p:nvCxnSpPr>
          <p:cNvPr id="14" name="Connector 13"/>
          <p:cNvCxnSpPr/>
          <p:nvPr/>
        </p:nvCxnSpPr>
        <p:spPr>
          <a:xfrm>
            <a:off x="685800" y="491253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1253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признак успеха брать из самого файла: перечитать результат, сверить время правки</a:t>
            </a:r>
          </a:p>
        </p:txBody>
      </p:sp>
      <p:sp>
        <p:nvSpPr>
          <p:cNvPr id="16" name="Rounded Rectangle 15"/>
          <p:cNvSpPr/>
          <p:nvPr/>
        </p:nvSpPr>
        <p:spPr>
          <a:xfrm>
            <a:off x="6231636"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4516"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ЧЕГО ОН НЕ ЗАКРЫВАЕТ</a:t>
            </a:r>
          </a:p>
        </p:txBody>
      </p:sp>
      <p:sp>
        <p:nvSpPr>
          <p:cNvPr id="18" name="TextBox 17"/>
          <p:cNvSpPr txBox="1"/>
          <p:nvPr/>
        </p:nvSpPr>
        <p:spPr>
          <a:xfrm>
            <a:off x="6414516"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общий файл, нужный двоим; он остаётся отдельной работой, и чьей именно — решают заранее</a:t>
            </a:r>
          </a:p>
        </p:txBody>
      </p:sp>
      <p:cxnSp>
        <p:nvCxnSpPr>
          <p:cNvPr id="19" name="Connector 18"/>
          <p:cNvCxnSpPr/>
          <p:nvPr/>
        </p:nvCxnSpPr>
        <p:spPr>
          <a:xfrm>
            <a:off x="6414516"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промежуток между чтением и записью остаётся, и он не нулевой</a:t>
            </a:r>
          </a:p>
        </p:txBody>
      </p:sp>
      <p:cxnSp>
        <p:nvCxnSpPr>
          <p:cNvPr id="21" name="Connector 20"/>
          <p:cNvCxnSpPr/>
          <p:nvPr/>
        </p:nvCxnSpPr>
        <p:spPr>
          <a:xfrm>
            <a:off x="6414516"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10291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структурную переделку файла так не сделать — там правка и есть «целиком»</a:t>
            </a:r>
          </a:p>
        </p:txBody>
      </p:sp>
      <p:cxnSp>
        <p:nvCxnSpPr>
          <p:cNvPr id="23" name="Connector 22"/>
          <p:cNvCxnSpPr/>
          <p:nvPr/>
        </p:nvCxnSpPr>
        <p:spPr>
          <a:xfrm>
            <a:off x="6414516" y="459389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414516" y="459389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сам этот проход не случается: его кто-то делает, и это видимая работа</a:t>
            </a:r>
          </a:p>
        </p:txBody>
      </p:sp>
      <p:cxnSp>
        <p:nvCxnSpPr>
          <p:cNvPr id="25" name="Connector 24"/>
          <p:cNvCxnSpPr/>
          <p:nvPr/>
        </p:nvCxnSpPr>
        <p:spPr>
          <a:xfrm>
            <a:off x="6414516" y="508487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14516" y="508487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ловит столкновение, которое уже случилось, и ничего не предотвращает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Все признаки успеха сошлись</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Этот курс собирают так же — несколькими сессиями разом, в одной рабочей копии. Три случая из его собственного журнала, все три записаны в репозитории, открытом перед вами.</a:t>
            </a:r>
          </a:p>
        </p:txBody>
      </p:sp>
      <p:sp>
        <p:nvSpPr>
          <p:cNvPr id="5" name="Rounded Rectangle 4"/>
          <p:cNvSpPr/>
          <p:nvPr/>
        </p:nvSpPr>
        <p:spPr>
          <a:xfrm>
            <a:off x="502920" y="1744472"/>
            <a:ext cx="11183112" cy="2287524"/>
          </a:xfrm>
          <a:prstGeom prst="roundRect">
            <a:avLst>
              <a:gd name="adj" fmla="val 133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320373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СЛУЧАЙ</a:t>
            </a:r>
          </a:p>
        </p:txBody>
      </p:sp>
      <p:sp>
        <p:nvSpPr>
          <p:cNvPr id="7" name="TextBox 6"/>
          <p:cNvSpPr txBox="1"/>
          <p:nvPr/>
        </p:nvSpPr>
        <p:spPr>
          <a:xfrm>
            <a:off x="4035835" y="1927352"/>
            <a:ext cx="251527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ПРИЗНАКИ УСПЕХА</a:t>
            </a:r>
          </a:p>
        </p:txBody>
      </p:sp>
      <p:sp>
        <p:nvSpPr>
          <p:cNvPr id="8" name="TextBox 7"/>
          <p:cNvSpPr txBox="1"/>
          <p:nvPr/>
        </p:nvSpPr>
        <p:spPr>
          <a:xfrm>
            <a:off x="6697414" y="1927352"/>
            <a:ext cx="465943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БЫЛО НА САМОМ ДЕЛЕ</a:t>
            </a:r>
          </a:p>
        </p:txBody>
      </p:sp>
      <p:sp>
        <p:nvSpPr>
          <p:cNvPr id="9" name="TextBox 8"/>
          <p:cNvSpPr txBox="1"/>
          <p:nvPr/>
        </p:nvSpPr>
        <p:spPr>
          <a:xfrm>
            <a:off x="685800" y="2186940"/>
            <a:ext cx="3203731"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шесть сессий правили одну деку в одном каталоге; соседняя сборка переписала входной файл, пока его читал конвертер</a:t>
            </a:r>
          </a:p>
        </p:txBody>
      </p:sp>
      <p:sp>
        <p:nvSpPr>
          <p:cNvPr id="10" name="TextBox 9"/>
          <p:cNvSpPr txBox="1"/>
          <p:nvPr/>
        </p:nvSpPr>
        <p:spPr>
          <a:xfrm>
            <a:off x="4035835" y="2186940"/>
            <a:ext cx="251527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возврата ноль, построчно «отрисован слайд 44 … 50», «PDF скопирован», верное число страниц</a:t>
            </a:r>
          </a:p>
        </p:txBody>
      </p:sp>
      <p:sp>
        <p:nvSpPr>
          <p:cNvPr id="11" name="TextBox 10"/>
          <p:cNvSpPr txBox="1"/>
          <p:nvPr/>
        </p:nvSpPr>
        <p:spPr>
          <a:xfrm>
            <a:off x="6697414" y="2186940"/>
            <a:ext cx="46594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все 54 страницы из 54 пустые, файл похудел с 6,67 до 2,69 МБ. Поймано сравнением времён: вход оказался новее выхода</a:t>
            </a:r>
          </a:p>
        </p:txBody>
      </p:sp>
      <p:cxnSp>
        <p:nvCxnSpPr>
          <p:cNvPr id="12" name="Connector 11"/>
          <p:cNvCxnSpPr/>
          <p:nvPr/>
        </p:nvCxnSpPr>
        <p:spPr>
          <a:xfrm>
            <a:off x="685800" y="27896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89682"/>
            <a:ext cx="320373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две сессии правили один файл сборки; чтение файла попало в середину чужой записи</a:t>
            </a:r>
          </a:p>
        </p:txBody>
      </p:sp>
      <p:sp>
        <p:nvSpPr>
          <p:cNvPr id="14" name="TextBox 13"/>
          <p:cNvSpPr txBox="1"/>
          <p:nvPr/>
        </p:nvSpPr>
        <p:spPr>
          <a:xfrm>
            <a:off x="4035835" y="2789682"/>
            <a:ext cx="251527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сборка упала, и ошибка указывала на имя, которого «нет»</a:t>
            </a:r>
          </a:p>
        </p:txBody>
      </p:sp>
      <p:sp>
        <p:nvSpPr>
          <p:cNvPr id="15" name="TextBox 14"/>
          <p:cNvSpPr txBox="1"/>
          <p:nvPr/>
        </p:nvSpPr>
        <p:spPr>
          <a:xfrm>
            <a:off x="6697414" y="2789682"/>
            <a:ext cx="465943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объявления в файле была; через полминуты та же сборка прошла без единой правки с чьей-либо стороны</a:t>
            </a:r>
          </a:p>
        </p:txBody>
      </p:sp>
      <p:cxnSp>
        <p:nvCxnSpPr>
          <p:cNvPr id="16" name="Connector 15"/>
          <p:cNvCxnSpPr/>
          <p:nvPr/>
        </p:nvCxnSpPr>
        <p:spPr>
          <a:xfrm>
            <a:off x="685800" y="32463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46374"/>
            <a:ext cx="3203731"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лекцию собирали параллельно с другой в одной рабочей копии, ветку переключали из обеих сессий</a:t>
            </a:r>
          </a:p>
        </p:txBody>
      </p:sp>
      <p:sp>
        <p:nvSpPr>
          <p:cNvPr id="18" name="TextBox 17"/>
          <p:cNvSpPr txBox="1"/>
          <p:nvPr/>
        </p:nvSpPr>
        <p:spPr>
          <a:xfrm>
            <a:off x="4035835" y="3246374"/>
            <a:ext cx="251527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каждая сессия видела свою ветку на месте — в тот момент, когда смотрела</a:t>
            </a:r>
          </a:p>
        </p:txBody>
      </p:sp>
      <p:sp>
        <p:nvSpPr>
          <p:cNvPr id="19" name="TextBox 18"/>
          <p:cNvSpPr txBox="1"/>
          <p:nvPr/>
        </p:nvSpPr>
        <p:spPr>
          <a:xfrm>
            <a:off x="6697414" y="3246374"/>
            <a:ext cx="46594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больше семи переключений ветки за одну сессию и около двух часов на восстановление. С переходом на отдельные копии — три, затем четыре параллельные сборки без единого столкновения</a:t>
            </a:r>
          </a:p>
        </p:txBody>
      </p:sp>
      <p:sp>
        <p:nvSpPr>
          <p:cNvPr id="20" name="Rounded Rectangle 19"/>
          <p:cNvSpPr/>
          <p:nvPr/>
        </p:nvSpPr>
        <p:spPr>
          <a:xfrm>
            <a:off x="502920" y="419658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324603"/>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Код возврата, число страниц, свежесть файлов — все привычные признаки сошлись, и ни одна сессия по отдельности не сделала ничего неверного. Единственное, что показало правду, — сам результат и время правки.</a:t>
            </a:r>
          </a:p>
        </p:txBody>
      </p:sp>
      <p:sp>
        <p:nvSpPr>
          <p:cNvPr id="22" name="Rounded Rectangle 21"/>
          <p:cNvSpPr/>
          <p:nvPr/>
        </p:nvSpPr>
        <p:spPr>
          <a:xfrm>
            <a:off x="502920" y="5029200"/>
            <a:ext cx="11183112" cy="7057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157216"/>
            <a:ext cx="10634472" cy="449747"/>
          </a:xfrm>
          <a:prstGeom prst="rect">
            <a:avLst/>
          </a:prstGeom>
          <a:noFill/>
        </p:spPr>
        <p:txBody>
          <a:bodyPr wrap="square" lIns="0" rIns="0" tIns="0" bIns="0" anchor="ctr">
            <a:spAutoFit/>
          </a:bodyPr>
          <a:lstStyle/>
          <a:p>
            <a:pPr algn="ctr">
              <a:lnSpc>
                <a:spcPts val="1586"/>
              </a:lnSpc>
              <a:spcAft>
                <a:spcPts val="300"/>
              </a:spcAft>
            </a:pPr>
            <a:r>
              <a:rPr sz="1300" b="1" i="0">
                <a:solidFill>
                  <a:srgbClr val="141B2E"/>
                </a:solidFill>
                <a:latin typeface="Consolas"/>
              </a:rPr>
              <a:t>git</a:t>
            </a:r>
            <a:r>
              <a:rPr sz="1300" b="1" i="0">
                <a:solidFill>
                  <a:srgbClr val="141B2E"/>
                </a:solidFill>
                <a:latin typeface="Arial"/>
              </a:rPr>
              <a:t> </a:t>
            </a:r>
            <a:r>
              <a:rPr sz="1300" b="1" i="0">
                <a:solidFill>
                  <a:srgbClr val="141B2E"/>
                </a:solidFill>
                <a:latin typeface="Consolas"/>
              </a:rPr>
              <a:t>worktree</a:t>
            </a:r>
            <a:r>
              <a:rPr sz="1300" b="1" i="0">
                <a:solidFill>
                  <a:srgbClr val="141B2E"/>
                </a:solidFill>
                <a:latin typeface="Arial"/>
              </a:rPr>
              <a:t> </a:t>
            </a:r>
            <a:r>
              <a:rPr sz="1300" b="1" i="0">
                <a:solidFill>
                  <a:srgbClr val="141B2E"/>
                </a:solidFill>
                <a:latin typeface="Consolas"/>
              </a:rPr>
              <a:t>list</a:t>
            </a:r>
            <a:r>
              <a:rPr sz="1300" b="1" i="0">
                <a:solidFill>
                  <a:srgbClr val="141B2E"/>
                </a:solidFill>
                <a:latin typeface="Arial"/>
              </a:rPr>
              <a:t> — у себя: есть ли у вас хоть одна отдельная копия и сколько сессий сейчас стоят на одном каталоге?</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копию роли дают редко</a:t>
            </a:r>
          </a:p>
        </p:txBody>
      </p:sp>
      <p:sp>
        <p:nvSpPr>
          <p:cNvPr id="3" name="Rounded Rectangle 2"/>
          <p:cNvSpPr/>
          <p:nvPr/>
        </p:nvSpPr>
        <p:spPr>
          <a:xfrm>
            <a:off x="502920" y="943356"/>
            <a:ext cx="82296" cy="60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4834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Копию роли дать можно: одна строка в её описании — и роль работает во временной копии репозитория; она убирается сама, если роль ничего не изменила. Поле есть, включают его редко.</a:t>
            </a:r>
          </a:p>
        </p:txBody>
      </p:sp>
      <p:sp>
        <p:nvSpPr>
          <p:cNvPr id="5" name="Rounded Rectangle 4"/>
          <p:cNvSpPr/>
          <p:nvPr/>
        </p:nvSpPr>
        <p:spPr>
          <a:xfrm>
            <a:off x="502920" y="1712324"/>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40340"/>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Изоляция роли — выбор под работу. Там, где её правку нормально принять веткой, копия окупается; там, где роль правит начатое вами, копия отрезает роль от работы. Напарникам в команде агентов копий не дают вовсе, и предписание для них то же: развести работу по файлам.</a:t>
            </a:r>
          </a:p>
        </p:txBody>
      </p:sp>
      <p:sp>
        <p:nvSpPr>
          <p:cNvPr id="7" name="Rounded Rectangle 6"/>
          <p:cNvSpPr/>
          <p:nvPr/>
        </p:nvSpPr>
        <p:spPr>
          <a:xfrm>
            <a:off x="502920" y="2836274"/>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94600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КОПИЮ РОЛИ ДАЮТ</a:t>
            </a:r>
          </a:p>
        </p:txBody>
      </p:sp>
      <p:sp>
        <p:nvSpPr>
          <p:cNvPr id="9" name="TextBox 8"/>
          <p:cNvSpPr txBox="1"/>
          <p:nvPr/>
        </p:nvSpPr>
        <p:spPr>
          <a:xfrm>
            <a:off x="685800" y="322032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работа роли — цельное изменение, которое нормально принять веткой: механический перебор по многим файлам</a:t>
            </a:r>
          </a:p>
        </p:txBody>
      </p:sp>
      <p:cxnSp>
        <p:nvCxnSpPr>
          <p:cNvPr id="10" name="Connector 9"/>
          <p:cNvCxnSpPr/>
          <p:nvPr/>
        </p:nvCxnSpPr>
        <p:spPr>
          <a:xfrm>
            <a:off x="685800" y="362138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62138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изменений много, и проверять их удобнее отдельно от вашей собственной правки</a:t>
            </a:r>
          </a:p>
        </p:txBody>
      </p:sp>
      <p:cxnSp>
        <p:nvCxnSpPr>
          <p:cNvPr id="12" name="Connector 11"/>
          <p:cNvCxnSpPr/>
          <p:nvPr/>
        </p:nvCxnSpPr>
        <p:spPr>
          <a:xfrm>
            <a:off x="685800" y="389507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95073"/>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готовый приём делит одно крупное изменение на десятки изолированных ролей разом</a:t>
            </a:r>
          </a:p>
        </p:txBody>
      </p:sp>
      <p:sp>
        <p:nvSpPr>
          <p:cNvPr id="14" name="Rounded Rectangle 13"/>
          <p:cNvSpPr/>
          <p:nvPr/>
        </p:nvSpPr>
        <p:spPr>
          <a:xfrm>
            <a:off x="6231636" y="2836274"/>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4600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КОПИЮ РОЛИ НЕ ДАЮТ</a:t>
            </a:r>
          </a:p>
        </p:txBody>
      </p:sp>
      <p:sp>
        <p:nvSpPr>
          <p:cNvPr id="16" name="TextBox 15"/>
          <p:cNvSpPr txBox="1"/>
          <p:nvPr/>
        </p:nvSpPr>
        <p:spPr>
          <a:xfrm>
            <a:off x="6414516" y="322032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роль работает над тем, что вы начали в своём каталоге: отдельная копия отрежет её от этой работы</a:t>
            </a:r>
          </a:p>
        </p:txBody>
      </p:sp>
      <p:cxnSp>
        <p:nvCxnSpPr>
          <p:cNvPr id="17" name="Connector 16"/>
          <p:cNvCxnSpPr/>
          <p:nvPr/>
        </p:nvCxnSpPr>
        <p:spPr>
          <a:xfrm>
            <a:off x="6414516" y="362138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2138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правка короткая и нужна здесь же — поднять рабочее место копии дороже самой правки</a:t>
            </a:r>
          </a:p>
        </p:txBody>
      </p:sp>
      <p:cxnSp>
        <p:nvCxnSpPr>
          <p:cNvPr id="19" name="Connector 18"/>
          <p:cNvCxnSpPr/>
          <p:nvPr/>
        </p:nvCxnSpPr>
        <p:spPr>
          <a:xfrm>
            <a:off x="6414516" y="402245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02245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роль читает и возвращает итог: столкнуться ей нечем</a:t>
            </a:r>
          </a:p>
        </p:txBody>
      </p:sp>
      <p:sp>
        <p:nvSpPr>
          <p:cNvPr id="21" name="Rounded Rectangle 20"/>
          <p:cNvSpPr/>
          <p:nvPr/>
        </p:nvSpPr>
        <p:spPr>
          <a:xfrm>
            <a:off x="502920" y="4643611"/>
            <a:ext cx="11183112" cy="1572260"/>
          </a:xfrm>
          <a:prstGeom prst="roundRect">
            <a:avLst>
              <a:gd name="adj" fmla="val 193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502664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863067"/>
            <a:ext cx="10360152" cy="427735"/>
          </a:xfrm>
          <a:prstGeom prst="rect">
            <a:avLst/>
          </a:prstGeom>
          <a:noFill/>
        </p:spPr>
        <p:txBody>
          <a:bodyPr wrap="square" lIns="0" rIns="0" tIns="0" bIns="0" anchor="ctr">
            <a:spAutoFit/>
          </a:bodyPr>
          <a:lstStyle/>
          <a:p>
            <a:pPr algn="l">
              <a:lnSpc>
                <a:spcPts val="1180"/>
              </a:lnSpc>
              <a:spcAft>
                <a:spcPts val="0"/>
              </a:spcAft>
            </a:pPr>
            <a:r>
              <a:rPr sz="1000" b="1" i="0">
                <a:solidFill>
                  <a:srgbClr val="141B2E"/>
                </a:solidFill>
                <a:latin typeface="Arial"/>
              </a:rPr>
              <a:t>Цена первая — ветка.</a:t>
            </a:r>
            <a:r>
              <a:rPr sz="1000" b="0" i="0">
                <a:solidFill>
                  <a:srgbClr val="141B2E"/>
                </a:solidFill>
                <a:latin typeface="Arial"/>
              </a:rPr>
              <a:t> Копия роли отрастает от ветки по умолчанию репозитория, пока отдельную настройку не поменяли. Работы, начатой в вашем каталоге, изолированная роль просто не видит.</a:t>
            </a:r>
          </a:p>
        </p:txBody>
      </p:sp>
      <p:sp>
        <p:nvSpPr>
          <p:cNvPr id="24" name="Rounded Rectangle 23"/>
          <p:cNvSpPr/>
          <p:nvPr/>
        </p:nvSpPr>
        <p:spPr>
          <a:xfrm>
            <a:off x="758952" y="545437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290803"/>
            <a:ext cx="10360152" cy="427735"/>
          </a:xfrm>
          <a:prstGeom prst="rect">
            <a:avLst/>
          </a:prstGeom>
          <a:noFill/>
        </p:spPr>
        <p:txBody>
          <a:bodyPr wrap="square" lIns="0" rIns="0" tIns="0" bIns="0" anchor="ctr">
            <a:spAutoFit/>
          </a:bodyPr>
          <a:lstStyle/>
          <a:p>
            <a:pPr algn="l">
              <a:lnSpc>
                <a:spcPts val="1180"/>
              </a:lnSpc>
              <a:spcAft>
                <a:spcPts val="0"/>
              </a:spcAft>
            </a:pPr>
            <a:r>
              <a:rPr sz="1000" b="1" i="0">
                <a:solidFill>
                  <a:srgbClr val="141B2E"/>
                </a:solidFill>
                <a:latin typeface="Arial"/>
              </a:rPr>
              <a:t>Цена вторая — возврат.</a:t>
            </a:r>
            <a:r>
              <a:rPr sz="1000" b="0" i="0">
                <a:solidFill>
                  <a:srgbClr val="141B2E"/>
                </a:solidFill>
                <a:latin typeface="Arial"/>
              </a:rPr>
              <a:t> Канал назад у роли один: итоговый текст. Файловые правки остаются в её каталоге, на её ветке, и принести их в вашу работу приходится вам.</a:t>
            </a:r>
          </a:p>
        </p:txBody>
      </p:sp>
      <p:sp>
        <p:nvSpPr>
          <p:cNvPr id="26" name="Rounded Rectangle 25"/>
          <p:cNvSpPr/>
          <p:nvPr/>
        </p:nvSpPr>
        <p:spPr>
          <a:xfrm>
            <a:off x="758952" y="580718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06424" y="5718539"/>
            <a:ext cx="10360152" cy="277876"/>
          </a:xfrm>
          <a:prstGeom prst="rect">
            <a:avLst/>
          </a:prstGeom>
          <a:noFill/>
        </p:spPr>
        <p:txBody>
          <a:bodyPr wrap="square" lIns="0" rIns="0" tIns="0" bIns="0" anchor="ctr">
            <a:spAutoFit/>
          </a:bodyPr>
          <a:lstStyle/>
          <a:p>
            <a:pPr algn="l">
              <a:lnSpc>
                <a:spcPts val="1180"/>
              </a:lnSpc>
              <a:spcAft>
                <a:spcPts val="0"/>
              </a:spcAft>
            </a:pPr>
            <a:r>
              <a:rPr sz="1000" b="1" i="0">
                <a:solidFill>
                  <a:srgbClr val="141B2E"/>
                </a:solidFill>
                <a:latin typeface="Arial"/>
              </a:rPr>
              <a:t>Цена третья — рабочее место.</a:t>
            </a:r>
            <a:r>
              <a:rPr sz="1000" b="0" i="0">
                <a:solidFill>
                  <a:srgbClr val="141B2E"/>
                </a:solidFill>
                <a:latin typeface="Arial"/>
              </a:rPr>
              <a:t> В копии оно тоже собственное: зависимости и локальные файлы роль получает в том виде, в каком их туда положили.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у вас проходит граница</a:t>
            </a:r>
          </a:p>
        </p:txBody>
      </p:sp>
      <p:sp>
        <p:nvSpPr>
          <p:cNvPr id="3" name="Rounded Rectangle 2"/>
          <p:cNvSpPr/>
          <p:nvPr/>
        </p:nvSpPr>
        <p:spPr>
          <a:xfrm>
            <a:off x="502920" y="109270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4757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29868"/>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Копия разводит сессии, зоны разводят исполнителей внутри сессии. Где кончается одно и начинается другое — у каждой команды по-своему.</a:t>
            </a:r>
          </a:p>
        </p:txBody>
      </p:sp>
      <p:sp>
        <p:nvSpPr>
          <p:cNvPr id="6" name="Rectangle 5"/>
          <p:cNvSpPr/>
          <p:nvPr/>
        </p:nvSpPr>
        <p:spPr>
          <a:xfrm>
            <a:off x="502920" y="234619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8" y="2401062"/>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Два вопроса, и готового ответа у них нет.</a:t>
            </a:r>
          </a:p>
        </p:txBody>
      </p:sp>
      <p:sp>
        <p:nvSpPr>
          <p:cNvPr id="8" name="Rounded Rectangle 7"/>
          <p:cNvSpPr/>
          <p:nvPr/>
        </p:nvSpPr>
        <p:spPr>
          <a:xfrm>
            <a:off x="502920" y="323850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336651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свой — и назовите условие, при котором он меняется.</a:t>
            </a:r>
          </a:p>
        </p:txBody>
      </p:sp>
      <p:sp>
        <p:nvSpPr>
          <p:cNvPr id="10" name="Rounded Rectangle 9"/>
          <p:cNvSpPr/>
          <p:nvPr/>
        </p:nvSpPr>
        <p:spPr>
          <a:xfrm>
            <a:off x="502920" y="4599432"/>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81888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2" name="TextBox 11"/>
          <p:cNvSpPr txBox="1"/>
          <p:nvPr/>
        </p:nvSpPr>
        <p:spPr>
          <a:xfrm>
            <a:off x="1106424" y="481888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Что должно быть верно про две работы, чтобы вы согласились вести их в одной папке? И по какому признаку вы заводите отдельную копию вместо работы по очереди?</a:t>
            </a:r>
          </a:p>
        </p:txBody>
      </p:sp>
      <p:sp>
        <p:nvSpPr>
          <p:cNvPr id="13" name="TextBox 12"/>
          <p:cNvSpPr txBox="1"/>
          <p:nvPr/>
        </p:nvSpPr>
        <p:spPr>
          <a:xfrm>
            <a:off x="722376" y="53515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4" name="TextBox 13"/>
          <p:cNvSpPr txBox="1"/>
          <p:nvPr/>
        </p:nvSpPr>
        <p:spPr>
          <a:xfrm>
            <a:off x="1106424" y="53515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Сколько исполнителей с правом записи вы готовы держать в одной папке разом? Назовите число и признак, по которому остановитесь.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встало на место двух промахов</a:t>
            </a:r>
          </a:p>
        </p:txBody>
      </p:sp>
      <p:sp>
        <p:nvSpPr>
          <p:cNvPr id="3" name="Rounded Rectangle 2"/>
          <p:cNvSpPr/>
          <p:nvPr/>
        </p:nvSpPr>
        <p:spPr>
          <a:xfrm>
            <a:off x="502920" y="992505"/>
            <a:ext cx="11183112" cy="4227194"/>
          </a:xfrm>
          <a:prstGeom prst="roundRect">
            <a:avLst>
              <a:gd name="adj" fmla="val 72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5385"/>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175385"/>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457452"/>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457452"/>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169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16973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16973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2882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82011"/>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TextBox 18"/>
          <p:cNvSpPr txBox="1"/>
          <p:nvPr/>
        </p:nvSpPr>
        <p:spPr>
          <a:xfrm>
            <a:off x="2092055"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Предотвращаем на входе, решаем после</a:t>
            </a:r>
          </a:p>
        </p:txBody>
      </p:sp>
      <p:sp>
        <p:nvSpPr>
          <p:cNvPr id="20" name="TextBox 19"/>
          <p:cNvSpPr txBox="1"/>
          <p:nvPr/>
        </p:nvSpPr>
        <p:spPr>
          <a:xfrm>
            <a:off x="5012740"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Урезает права до подключения, не после</a:t>
            </a:r>
          </a:p>
        </p:txBody>
      </p:sp>
      <p:sp>
        <p:nvSpPr>
          <p:cNvPr id="21" name="TextBox 20"/>
          <p:cNvSpPr txBox="1"/>
          <p:nvPr/>
        </p:nvSpPr>
        <p:spPr>
          <a:xfrm>
            <a:off x="7933425" y="2882011"/>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вычеркнутой строки «все репозитории, включая приватные» воспроизводится документированная эксфильтрация (Invariant Labs, май 2025)</a:t>
            </a:r>
          </a:p>
        </p:txBody>
      </p:sp>
      <p:cxnSp>
        <p:nvCxnSpPr>
          <p:cNvPr id="22" name="Connector 21"/>
          <p:cNvCxnSpPr/>
          <p:nvPr/>
        </p:nvCxnSpPr>
        <p:spPr>
          <a:xfrm>
            <a:off x="685800" y="39594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59415"/>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TextBox 23"/>
          <p:cNvSpPr txBox="1"/>
          <p:nvPr/>
        </p:nvSpPr>
        <p:spPr>
          <a:xfrm>
            <a:off x="2092055"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вытеснения работы чтением</a:t>
            </a:r>
          </a:p>
        </p:txBody>
      </p:sp>
      <p:sp>
        <p:nvSpPr>
          <p:cNvPr id="25" name="TextBox 24"/>
          <p:cNvSpPr txBox="1"/>
          <p:nvPr/>
        </p:nvSpPr>
        <p:spPr>
          <a:xfrm>
            <a:off x="5012740"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Делегирует задачу бесплатно, без единой строки конфигурации; чтение уходит в контекст роли, обратно приходит итог</a:t>
            </a:r>
          </a:p>
        </p:txBody>
      </p:sp>
      <p:sp>
        <p:nvSpPr>
          <p:cNvPr id="26" name="TextBox 25"/>
          <p:cNvSpPr txBox="1"/>
          <p:nvPr/>
        </p:nvSpPr>
        <p:spPr>
          <a:xfrm>
            <a:off x="7933425" y="3959415"/>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Рабочий каталог не разводит: исполнители правят там, где лежит работа, и столкновения убирают раскладкой зон</a:t>
            </a:r>
          </a:p>
        </p:txBody>
      </p:sp>
      <p:sp>
        <p:nvSpPr>
          <p:cNvPr id="27" name="Rounded Rectangle 26"/>
          <p:cNvSpPr/>
          <p:nvPr/>
        </p:nvSpPr>
        <p:spPr>
          <a:xfrm>
            <a:off x="502920" y="55071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351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«Понедельник закрывает третья строка, среду — четвёртая. Четыре строки заполнены, ось занятия закрыта.»</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появилось в репозитории</a:t>
            </a:r>
          </a:p>
        </p:txBody>
      </p:sp>
      <p:sp>
        <p:nvSpPr>
          <p:cNvPr id="3" name="Rounded Rectangle 2"/>
          <p:cNvSpPr/>
          <p:nvPr/>
        </p:nvSpPr>
        <p:spPr>
          <a:xfrm>
            <a:off x="502920" y="1085629"/>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13645"/>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СХЕМА, НЕ СНИМОК</a:t>
            </a:r>
          </a:p>
        </p:txBody>
      </p:sp>
      <p:sp>
        <p:nvSpPr>
          <p:cNvPr id="5" name="Rounded Rectangle 4"/>
          <p:cNvSpPr/>
          <p:nvPr/>
        </p:nvSpPr>
        <p:spPr>
          <a:xfrm>
            <a:off x="502920" y="211644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99326"/>
            <a:ext cx="131248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7" name="TextBox 6"/>
          <p:cNvSpPr txBox="1"/>
          <p:nvPr/>
        </p:nvSpPr>
        <p:spPr>
          <a:xfrm>
            <a:off x="2144589" y="2299326"/>
            <a:ext cx="60613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8" name="TextBox 7"/>
          <p:cNvSpPr txBox="1"/>
          <p:nvPr/>
        </p:nvSpPr>
        <p:spPr>
          <a:xfrm>
            <a:off x="8352285" y="2299326"/>
            <a:ext cx="30045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9" name="TextBox 8"/>
          <p:cNvSpPr txBox="1"/>
          <p:nvPr/>
        </p:nvSpPr>
        <p:spPr>
          <a:xfrm>
            <a:off x="685800" y="2581393"/>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10" name="TextBox 9"/>
          <p:cNvSpPr txBox="1"/>
          <p:nvPr/>
        </p:nvSpPr>
        <p:spPr>
          <a:xfrm>
            <a:off x="2144589" y="2581393"/>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11" name="TextBox 10"/>
          <p:cNvSpPr txBox="1"/>
          <p:nvPr/>
        </p:nvSpPr>
        <p:spPr>
          <a:xfrm>
            <a:off x="8352285" y="2581393"/>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2" name="Connector 11"/>
          <p:cNvCxnSpPr/>
          <p:nvPr/>
        </p:nvCxnSpPr>
        <p:spPr>
          <a:xfrm>
            <a:off x="685800" y="29285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28548"/>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144589" y="2928548"/>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5" name="TextBox 14"/>
          <p:cNvSpPr txBox="1"/>
          <p:nvPr/>
        </p:nvSpPr>
        <p:spPr>
          <a:xfrm>
            <a:off x="8352285" y="2928548"/>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a:t>
            </a:r>
          </a:p>
        </p:txBody>
      </p:sp>
      <p:cxnSp>
        <p:nvCxnSpPr>
          <p:cNvPr id="16" name="Connector 15"/>
          <p:cNvCxnSpPr/>
          <p:nvPr/>
        </p:nvCxnSpPr>
        <p:spPr>
          <a:xfrm>
            <a:off x="685800" y="327570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75702"/>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8" name="TextBox 17"/>
          <p:cNvSpPr txBox="1"/>
          <p:nvPr/>
        </p:nvSpPr>
        <p:spPr>
          <a:xfrm>
            <a:off x="2144589" y="3275702"/>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 строк / 5 разделов</a:t>
            </a:r>
          </a:p>
        </p:txBody>
      </p:sp>
      <p:sp>
        <p:nvSpPr>
          <p:cNvPr id="19" name="TextBox 18"/>
          <p:cNvSpPr txBox="1"/>
          <p:nvPr/>
        </p:nvSpPr>
        <p:spPr>
          <a:xfrm>
            <a:off x="8352285" y="3275702"/>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20" name="Connector 19"/>
          <p:cNvCxnSpPr/>
          <p:nvPr/>
        </p:nvCxnSpPr>
        <p:spPr>
          <a:xfrm>
            <a:off x="685800" y="36228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622857"/>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2" name="TextBox 21"/>
          <p:cNvSpPr txBox="1"/>
          <p:nvPr/>
        </p:nvSpPr>
        <p:spPr>
          <a:xfrm>
            <a:off x="2144589" y="3622857"/>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3" name="TextBox 22"/>
          <p:cNvSpPr txBox="1"/>
          <p:nvPr/>
        </p:nvSpPr>
        <p:spPr>
          <a:xfrm>
            <a:off x="8352285" y="3622857"/>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cxnSp>
        <p:nvCxnSpPr>
          <p:cNvPr id="24" name="Connector 23"/>
          <p:cNvCxnSpPr/>
          <p:nvPr/>
        </p:nvCxnSpPr>
        <p:spPr>
          <a:xfrm>
            <a:off x="685800" y="3970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970011"/>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26" name="TextBox 25"/>
          <p:cNvSpPr txBox="1"/>
          <p:nvPr/>
        </p:nvSpPr>
        <p:spPr>
          <a:xfrm>
            <a:off x="2144589" y="3970011"/>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.mcp.json</a:t>
            </a:r>
            <a:r>
              <a:rPr sz="1250" b="0" i="0">
                <a:solidFill>
                  <a:srgbClr val="141B2E"/>
                </a:solidFill>
                <a:latin typeface="Arial"/>
              </a:rPr>
              <a:t>, права вычеркнуты до трёх операций</a:t>
            </a:r>
          </a:p>
        </p:txBody>
      </p:sp>
      <p:sp>
        <p:nvSpPr>
          <p:cNvPr id="27" name="TextBox 26"/>
          <p:cNvSpPr txBox="1"/>
          <p:nvPr/>
        </p:nvSpPr>
        <p:spPr>
          <a:xfrm>
            <a:off x="8352285" y="3970011"/>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cxnSp>
        <p:nvCxnSpPr>
          <p:cNvPr id="28" name="Connector 27"/>
          <p:cNvCxnSpPr/>
          <p:nvPr/>
        </p:nvCxnSpPr>
        <p:spPr>
          <a:xfrm>
            <a:off x="685800" y="43171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317166"/>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30" name="TextBox 29"/>
          <p:cNvSpPr txBox="1"/>
          <p:nvPr/>
        </p:nvSpPr>
        <p:spPr>
          <a:xfrm>
            <a:off x="2144589" y="4317166"/>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.claude/agents/diff-reviewer.md</a:t>
            </a:r>
            <a:r>
              <a:rPr sz="1250" b="0" i="0">
                <a:solidFill>
                  <a:srgbClr val="141B2E"/>
                </a:solidFill>
                <a:latin typeface="Arial"/>
              </a:rPr>
              <a:t>, </a:t>
            </a:r>
            <a:r>
              <a:rPr sz="1250" b="0" i="0">
                <a:solidFill>
                  <a:srgbClr val="141B2E"/>
                </a:solidFill>
                <a:latin typeface="Consolas"/>
              </a:rPr>
              <a:t>tools:</a:t>
            </a:r>
            <a:r>
              <a:rPr sz="1250" b="0" i="0">
                <a:solidFill>
                  <a:srgbClr val="141B2E"/>
                </a:solidFill>
                <a:latin typeface="Arial"/>
              </a:rPr>
              <a:t> </a:t>
            </a:r>
            <a:r>
              <a:rPr sz="1250" b="0" i="0">
                <a:solidFill>
                  <a:srgbClr val="141B2E"/>
                </a:solidFill>
                <a:latin typeface="Consolas"/>
              </a:rPr>
              <a:t>Read,</a:t>
            </a:r>
            <a:r>
              <a:rPr sz="1250" b="0" i="0">
                <a:solidFill>
                  <a:srgbClr val="141B2E"/>
                </a:solidFill>
                <a:latin typeface="Arial"/>
              </a:rPr>
              <a:t> </a:t>
            </a:r>
            <a:r>
              <a:rPr sz="1250" b="0" i="0">
                <a:solidFill>
                  <a:srgbClr val="141B2E"/>
                </a:solidFill>
                <a:latin typeface="Consolas"/>
              </a:rPr>
              <a:t>Grep,</a:t>
            </a:r>
            <a:r>
              <a:rPr sz="1250" b="0" i="0">
                <a:solidFill>
                  <a:srgbClr val="141B2E"/>
                </a:solidFill>
                <a:latin typeface="Arial"/>
              </a:rPr>
              <a:t> </a:t>
            </a:r>
            <a:r>
              <a:rPr sz="1250" b="0" i="0">
                <a:solidFill>
                  <a:srgbClr val="141B2E"/>
                </a:solidFill>
                <a:latin typeface="Consolas"/>
              </a:rPr>
              <a:t>Glob</a:t>
            </a:r>
          </a:p>
        </p:txBody>
      </p:sp>
      <p:sp>
        <p:nvSpPr>
          <p:cNvPr id="31" name="TextBox 30"/>
          <p:cNvSpPr txBox="1"/>
          <p:nvPr/>
        </p:nvSpPr>
        <p:spPr>
          <a:xfrm>
            <a:off x="8352285" y="4317166"/>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sp>
        <p:nvSpPr>
          <p:cNvPr id="32" name="Rounded Rectangle 31"/>
          <p:cNvSpPr/>
          <p:nvPr/>
        </p:nvSpPr>
        <p:spPr>
          <a:xfrm>
            <a:off x="502920" y="536747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49549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файла этого занятия останутся только планом. В публичном репозитории их не будет — и это сказано прямо, не спрятано.»</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Этот вопрос уже звучал</a:t>
            </a:r>
          </a:p>
        </p:txBody>
      </p:sp>
      <p:sp>
        <p:nvSpPr>
          <p:cNvPr id="3" name="Rectangle 2"/>
          <p:cNvSpPr/>
          <p:nvPr/>
        </p:nvSpPr>
        <p:spPr>
          <a:xfrm>
            <a:off x="502920" y="2297887"/>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2352751"/>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«Этот вопрос уже звучал в начале занятия, и ответ вы держали при себе. Сейчас вслух: у кого он изменился и что именно его изменило.»</a:t>
            </a:r>
          </a:p>
        </p:txBody>
      </p:sp>
      <p:sp>
        <p:nvSpPr>
          <p:cNvPr id="5" name="Rounded Rectangle 4"/>
          <p:cNvSpPr/>
          <p:nvPr/>
        </p:nvSpPr>
        <p:spPr>
          <a:xfrm>
            <a:off x="502920" y="352775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65577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занятие кончается</a:t>
            </a:r>
          </a:p>
        </p:txBody>
      </p:sp>
      <p:sp>
        <p:nvSpPr>
          <p:cNvPr id="3" name="Rounded Rectangle 2"/>
          <p:cNvSpPr/>
          <p:nvPr/>
        </p:nvSpPr>
        <p:spPr>
          <a:xfrm>
            <a:off x="502920" y="952135"/>
            <a:ext cx="11183112" cy="3643566"/>
          </a:xfrm>
          <a:prstGeom prst="roundRect">
            <a:avLst>
              <a:gd name="adj" fmla="val 836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35015"/>
            <a:ext cx="308120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КЕЙС</a:t>
            </a:r>
          </a:p>
        </p:txBody>
      </p:sp>
      <p:sp>
        <p:nvSpPr>
          <p:cNvPr id="5" name="TextBox 4"/>
          <p:cNvSpPr txBox="1"/>
          <p:nvPr/>
        </p:nvSpPr>
        <p:spPr>
          <a:xfrm>
            <a:off x="3913309" y="1135015"/>
            <a:ext cx="6109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ОПОРА</a:t>
            </a:r>
          </a:p>
        </p:txBody>
      </p:sp>
      <p:sp>
        <p:nvSpPr>
          <p:cNvPr id="6" name="TextBox 5"/>
          <p:cNvSpPr txBox="1"/>
          <p:nvPr/>
        </p:nvSpPr>
        <p:spPr>
          <a:xfrm>
            <a:off x="4670523" y="1135015"/>
            <a:ext cx="66863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ПРОВЕРЯЕТСЯ ЧЕМ</a:t>
            </a:r>
          </a:p>
        </p:txBody>
      </p:sp>
      <p:sp>
        <p:nvSpPr>
          <p:cNvPr id="7" name="TextBox 6"/>
          <p:cNvSpPr txBox="1"/>
          <p:nvPr/>
        </p:nvSpPr>
        <p:spPr>
          <a:xfrm>
            <a:off x="685800" y="1417082"/>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данных нет в репозитории</a:t>
            </a:r>
          </a:p>
        </p:txBody>
      </p:sp>
      <p:sp>
        <p:nvSpPr>
          <p:cNvPr id="8" name="TextBox 7"/>
          <p:cNvSpPr txBox="1"/>
          <p:nvPr/>
        </p:nvSpPr>
        <p:spPr>
          <a:xfrm>
            <a:off x="3913309" y="1417082"/>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9" name="TextBox 8"/>
          <p:cNvSpPr txBox="1"/>
          <p:nvPr/>
        </p:nvSpPr>
        <p:spPr>
          <a:xfrm>
            <a:off x="4670523" y="1417082"/>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целевое решение, коммита нет ни в демо-репозитории, ни в репозитории курса</a:t>
            </a:r>
          </a:p>
        </p:txBody>
      </p:sp>
      <p:cxnSp>
        <p:nvCxnSpPr>
          <p:cNvPr id="10" name="Connector 9"/>
          <p:cNvCxnSpPr/>
          <p:nvPr/>
        </p:nvCxnSpPr>
        <p:spPr>
          <a:xfrm>
            <a:off x="685800" y="19467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46799"/>
            <a:ext cx="308120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подключён, агент не ходит</a:t>
            </a:r>
          </a:p>
        </p:txBody>
      </p:sp>
      <p:sp>
        <p:nvSpPr>
          <p:cNvPr id="12" name="TextBox 11"/>
          <p:cNvSpPr txBox="1"/>
          <p:nvPr/>
        </p:nvSpPr>
        <p:spPr>
          <a:xfrm>
            <a:off x="3913309" y="1946799"/>
            <a:ext cx="6109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13" name="TextBox 12"/>
          <p:cNvSpPr txBox="1"/>
          <p:nvPr/>
        </p:nvSpPr>
        <p:spPr>
          <a:xfrm>
            <a:off x="4670523" y="1946799"/>
            <a:ext cx="66863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t>
            </a:r>
            <a:r>
              <a:rPr sz="1250" b="0" i="0">
                <a:solidFill>
                  <a:srgbClr val="141B2E"/>
                </a:solidFill>
                <a:latin typeface="Arial"/>
              </a:rPr>
              <a:t> </a:t>
            </a:r>
            <a:r>
              <a:rPr sz="1250" b="0" i="0">
                <a:solidFill>
                  <a:srgbClr val="141B2E"/>
                </a:solidFill>
                <a:latin typeface="Consolas"/>
              </a:rPr>
              <a:t>mcp</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a:t>
            </a:r>
            <a:r>
              <a:rPr sz="1250" b="0" i="0">
                <a:solidFill>
                  <a:srgbClr val="141B2E"/>
                </a:solidFill>
                <a:latin typeface="Consolas"/>
              </a:rPr>
              <a:t>/mcp</a:t>
            </a:r>
            <a:r>
              <a:rPr sz="1250" b="0" i="0">
                <a:solidFill>
                  <a:srgbClr val="141B2E"/>
                </a:solidFill>
                <a:latin typeface="Arial"/>
              </a:rPr>
              <a:t> — статусы, два тайм-аута, вживую на занятии</a:t>
            </a:r>
          </a:p>
        </p:txBody>
      </p:sp>
      <p:cxnSp>
        <p:nvCxnSpPr>
          <p:cNvPr id="14" name="Connector 13"/>
          <p:cNvCxnSpPr/>
          <p:nvPr/>
        </p:nvCxnSpPr>
        <p:spPr>
          <a:xfrm>
            <a:off x="685800" y="22939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93954"/>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описания инструментов занимают контекст</a:t>
            </a:r>
          </a:p>
        </p:txBody>
      </p:sp>
      <p:sp>
        <p:nvSpPr>
          <p:cNvPr id="16" name="TextBox 15"/>
          <p:cNvSpPr txBox="1"/>
          <p:nvPr/>
        </p:nvSpPr>
        <p:spPr>
          <a:xfrm>
            <a:off x="3913309" y="2293954"/>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17" name="TextBox 16"/>
          <p:cNvSpPr txBox="1"/>
          <p:nvPr/>
        </p:nvSpPr>
        <p:spPr>
          <a:xfrm>
            <a:off x="4670523" y="2293954"/>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числа документации и инженерных блогов; замера на занятии не делаем</a:t>
            </a:r>
          </a:p>
        </p:txBody>
      </p:sp>
      <p:cxnSp>
        <p:nvCxnSpPr>
          <p:cNvPr id="18" name="Connector 17"/>
          <p:cNvCxnSpPr/>
          <p:nvPr/>
        </p:nvCxnSpPr>
        <p:spPr>
          <a:xfrm>
            <a:off x="685800" y="28236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823671"/>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чтение уходит в контекст роли</a:t>
            </a:r>
          </a:p>
        </p:txBody>
      </p:sp>
      <p:sp>
        <p:nvSpPr>
          <p:cNvPr id="20" name="TextBox 19"/>
          <p:cNvSpPr txBox="1"/>
          <p:nvPr/>
        </p:nvSpPr>
        <p:spPr>
          <a:xfrm>
            <a:off x="3913309" y="2823671"/>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21" name="TextBox 20"/>
          <p:cNvSpPr txBox="1"/>
          <p:nvPr/>
        </p:nvSpPr>
        <p:spPr>
          <a:xfrm>
            <a:off x="4670523" y="2823671"/>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требует подготовленного параллельного прогона, не воспроизводится на занятии</a:t>
            </a:r>
          </a:p>
        </p:txBody>
      </p:sp>
      <p:cxnSp>
        <p:nvCxnSpPr>
          <p:cNvPr id="22" name="Connector 21"/>
          <p:cNvCxnSpPr/>
          <p:nvPr/>
        </p:nvCxnSpPr>
        <p:spPr>
          <a:xfrm>
            <a:off x="685800" y="33533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353388"/>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вторая роль, промежуток</a:t>
            </a:r>
          </a:p>
        </p:txBody>
      </p:sp>
      <p:sp>
        <p:nvSpPr>
          <p:cNvPr id="24" name="TextBox 23"/>
          <p:cNvSpPr txBox="1"/>
          <p:nvPr/>
        </p:nvSpPr>
        <p:spPr>
          <a:xfrm>
            <a:off x="3913309" y="3353388"/>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25" name="TextBox 24"/>
          <p:cNvSpPr txBox="1"/>
          <p:nvPr/>
        </p:nvSpPr>
        <p:spPr>
          <a:xfrm>
            <a:off x="4670523" y="3353388"/>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утверждение исследования (MAST); ни одна из двух опор занятия его не демонстрирует</a:t>
            </a:r>
          </a:p>
        </p:txBody>
      </p:sp>
      <p:cxnSp>
        <p:nvCxnSpPr>
          <p:cNvPr id="26" name="Connector 25"/>
          <p:cNvCxnSpPr/>
          <p:nvPr/>
        </p:nvCxnSpPr>
        <p:spPr>
          <a:xfrm>
            <a:off x="685800" y="38831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883105"/>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исполнители в одной папке</a:t>
            </a:r>
          </a:p>
        </p:txBody>
      </p:sp>
      <p:sp>
        <p:nvSpPr>
          <p:cNvPr id="28" name="TextBox 27"/>
          <p:cNvSpPr txBox="1"/>
          <p:nvPr/>
        </p:nvSpPr>
        <p:spPr>
          <a:xfrm>
            <a:off x="3913309" y="3883105"/>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29" name="TextBox 28"/>
          <p:cNvSpPr txBox="1"/>
          <p:nvPr/>
        </p:nvSpPr>
        <p:spPr>
          <a:xfrm>
            <a:off x="4670523" y="3883105"/>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git</a:t>
            </a:r>
            <a:r>
              <a:rPr sz="1250" b="0" i="0">
                <a:solidFill>
                  <a:srgbClr val="141B2E"/>
                </a:solidFill>
                <a:latin typeface="Arial"/>
              </a:rPr>
              <a:t> </a:t>
            </a:r>
            <a:r>
              <a:rPr sz="1250" b="0" i="0">
                <a:solidFill>
                  <a:srgbClr val="141B2E"/>
                </a:solidFill>
                <a:latin typeface="Consolas"/>
              </a:rPr>
              <a:t>worktree</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у себя; и три столкновения в журнале репозитория, открытого на занятии</a:t>
            </a:r>
          </a:p>
        </p:txBody>
      </p:sp>
      <p:sp>
        <p:nvSpPr>
          <p:cNvPr id="30" name="Rectangle 29"/>
          <p:cNvSpPr/>
          <p:nvPr/>
        </p:nvSpPr>
        <p:spPr>
          <a:xfrm>
            <a:off x="502920" y="4818820"/>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2668" y="4873684"/>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«Под частью сегодняшних карточек лежит команда, которую можно выполнить и получить ответ. Под другой частью — нет, и это названо прямо: необъявленный пробел стоил бы дороже объявленного.»</a:t>
            </a:r>
          </a:p>
        </p:txBody>
      </p:sp>
      <p:sp>
        <p:nvSpPr>
          <p:cNvPr id="32" name="Rounded Rectangle 31"/>
          <p:cNvSpPr/>
          <p:nvPr/>
        </p:nvSpPr>
        <p:spPr>
          <a:xfrm>
            <a:off x="502920" y="556771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6957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вы уносите один вопрос к своей работе: чего ей не хватает — того, чего внутри нет вовсе, или места, занятого чтением? Первое приносят внутрь, второе выносят наружу.»</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