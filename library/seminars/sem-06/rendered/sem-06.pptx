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недели назад этот агент знал про проект всё: сорок строк инструкций, хук, скилл, файл решений и сам лендинг — он держал это целиком и почти не промахивался.</a:t>
            </a:r>
          </a:p>
          <a:p/>
          <a:p>
            <a:r>
              <a:t>В понедельник разработчик спросил его, что из просьб заказчика ещё не закрыто. Агент ответил уверенно — по тому, что лежит в репозитории. Двух просьб в его ответе не было вовсе: заказчик завёл их не в репозитории. Одну ждали к понедельнику.</a:t>
            </a:r>
          </a:p>
          <a:p/>
          <a:p>
            <a:r>
              <a:t>Цена — сорванный срок и разговор с заказчиком, которого могло не быть. Агент не поглупел.</a:t>
            </a:r>
          </a:p>
          <a:p/>
          <a:p>
            <a:r>
              <a:t>Внизу — четыре ступени: две закрыты в прошлый раз, две закрываем сегодня.</a:t>
            </a:r>
          </a:p>
          <a:p/>
          <a:p>
            <a:r>
              <a:t>---</a:t>
            </a:r>
          </a:p>
          <a:p/>
          <a:p>
            <a:r>
              <a:rPr b="1"/>
              <a:t>Справка.</a:t>
            </a:r>
          </a:p>
          <a:p/>
          <a:p>
            <a:r>
              <a:rPr i="1"/>
              <a:t>Почему на обложке нет вопроса занятия.</a:t>
            </a:r>
            <a:r>
              <a:t> Он стоит на четвёртом экране, после второго промаха. Вопрос, заданный раньше нехватки, звучит отвлечённо, и зал отвечает на него вежливо. Здесь вместо него загадка, на которую ближайшие три экрана и отвечают.</a:t>
            </a:r>
          </a:p>
          <a:p/>
          <a:p>
            <a:r>
              <a:rPr i="1"/>
              <a:t>Если спросят, где именно заказчик завёл эти просьбы.</a:t>
            </a:r>
            <a:r>
              <a:t> Отвечаю коротко: не в репозитории. Где именно и как с этим живут сейчас — сцена первого кейса, через несколько минут; забегать вперёд здесь нечего.</a:t>
            </a:r>
          </a:p>
          <a:p/>
          <a:p>
            <a:r>
              <a:rPr i="1"/>
              <a:t>Если спросят, не выдумка ли этот промах.</a:t>
            </a:r>
            <a:r>
              <a:t> Сцена учебная, как и все сцены занятия: проект настоящий, ситуация собрана из типовых. Проверяемые числа на занятии стоят отдельно и всегда с источником — это не они.</a:t>
            </a:r>
          </a:p>
          <a:p/>
          <a:p>
            <a:r>
              <a:rPr i="1"/>
              <a:t>Если прозвучит «а я не был на прошлом занятии».</a:t>
            </a:r>
            <a:r>
              <a:t> Знать прошлое занятие для участия не требуется: всё нужное печатается на следующих двух экранах — состояние репозитория и таблица оси.</a:t>
            </a:r>
          </a:p>
          <a:p/>
          <a:p>
            <a:r>
              <a:rPr i="1"/>
              <a:t>Про четыре сегмента внизу.</a:t>
            </a:r>
            <a:r>
              <a:t> Два серых — разобраны и замерены в прошлый раз, сегодня их формулировки не переписываются. Два золотых — сегодняшние.</a:t>
            </a:r>
          </a:p>
          <a:p/>
          <a:p>
            <a:r>
              <a:rPr i="1"/>
              <a:t>Если спросят, при чём тут вообще прошлое занятие.</a:t>
            </a:r>
            <a:r>
              <a:t> Там разбирали, что агенту можно и нельзя делать внутри репозитория. Сегодня край другой: часть работы вышла за его границу.</a:t>
            </a:r>
          </a:p>
          <a:p/>
          <a:p>
            <a:r>
              <a:rPr i="1"/>
              <a:t>Про объём речи.</a:t>
            </a:r>
            <a:r>
              <a:t> Слот — сорок пять секунд, и это весь бюджет слайда. Справка вслух не читается, она на случай вопроса из зала.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почему две недели агент не промахивался. Четыре вещи, которые уже есть в репозитории.</a:t>
            </a:r>
          </a:p>
          <a:p/>
          <a:p>
            <a:r>
              <a:t>Хук — файл настроек и самотест — подтверждён коммитом, можно склонировать и проверить прямо сейчас. Скилл там же по плану, коммита у него нет. Файл инструкций вырос: было двадцать четыре строки и четыре раздела, стало сорок и пять. И файл решений стоит на месте, его прошлое занятие не трогало.</a:t>
            </a:r>
          </a:p>
          <a:p/>
          <a:p>
            <a:r>
              <a:t>Все четыре — внутри репозитория. Правило, процедура, проверка, запись решения: всё, что мы заводили два занятия подряд, агент открывает сам, в любой момент, без чьего-либо участия. Пока вся работа лежала здесь, он держал проект целиком и отвечал по делу.</a:t>
            </a:r>
          </a:p>
          <a:p/>
          <a:p>
            <a:r>
              <a:t>Прикиньте это на свой рабочий проект. Ваш агент держит его целиком — или вы уже ловите себя на том, что в каждой новой сессии объясняете ему одно и то же заново? Просто отметьте ответ для себя.</a:t>
            </a:r>
          </a:p>
          <a:p/>
          <a:p>
            <a:r>
              <a:t>---</a:t>
            </a:r>
          </a:p>
          <a:p/>
          <a:p>
            <a:r>
              <a:rPr b="1"/>
              <a:t>Справка.</a:t>
            </a:r>
          </a:p>
          <a:p/>
          <a:p>
            <a:r>
              <a:rPr i="1"/>
              <a:t>Что делают команды, которыми это проверяется.</a:t>
            </a:r>
            <a:r>
              <a:t> </a:t>
            </a:r>
            <a:r>
              <a:rPr>
                <a:latin typeface="Consolas"/>
              </a:rPr>
              <a:t>git clone</a:t>
            </a:r>
            <a:r>
              <a:t> забирает репозиторий целиком. </a:t>
            </a:r>
            <a:r>
              <a:rPr>
                <a:latin typeface="Consolas"/>
              </a:rPr>
              <a:t>git log -1</a:t>
            </a:r>
            <a:r>
              <a:t> на коммите хука показывает его номер — он должен совпасть с тем, что на слайде. </a:t>
            </a:r>
            <a:r>
              <a:rPr>
                <a:latin typeface="Consolas"/>
              </a:rPr>
              <a:t>wc -l CLAUDE.md</a:t>
            </a:r>
            <a:r>
              <a:t> считает строки файла инструкций: сорок.</a:t>
            </a:r>
          </a:p>
          <a:p/>
          <a:p>
            <a:r>
              <a:rPr i="1"/>
              <a:t>Если спросят про скилл без коммита.</a:t>
            </a:r>
            <a:r>
              <a:t> Файл написан в плане раздела, в репозиторий не внесён. Выдавать план за факт нет оснований — та же дисциплина, которой было посвящено прошлое занятие.</a:t>
            </a:r>
          </a:p>
          <a:p/>
          <a:p>
            <a:r>
              <a:rPr i="1"/>
              <a:t>Если спросят про документационный слой.</a:t>
            </a:r>
            <a:r>
              <a:t> </a:t>
            </a:r>
            <a:r>
              <a:rPr>
                <a:latin typeface="Consolas"/>
              </a:rPr>
              <a:t>DECISIONS.md</a:t>
            </a:r>
            <a:r>
              <a:t> — файл с решениями, которые принимались по ходу проекта; он в репозитории с самого начала, прошлое занятие его не меняло и этот слайд не выдаёт его за новую работу — просто напоминает, что он там есть.</a:t>
            </a:r>
          </a:p>
          <a:p/>
          <a:p>
            <a:r>
              <a:rPr i="1"/>
              <a:t>Если прозвучит «а я не был на прошлом занятии».</a:t>
            </a:r>
            <a:r>
              <a:t> Всё нужное для участия сегодня — на этом экране. Эта таблица и ось (следующий слайд) содержат всё, что для сегодняшних двух блоков требуется знать о предыдущих.</a:t>
            </a:r>
          </a:p>
          <a:p/>
          <a:p>
            <a:r>
              <a:rPr i="1"/>
              <a:t>Если на вопрос «к себе» ответят вслух.</a:t>
            </a:r>
            <a:r>
              <a:t> Принимаю любой ответ и не разбираю его сейчас: вопрос поставлен, чтобы зал дальше мерил материал своим проектом. Разбор того, чем мерить, идёт весь оставшийся час.</a:t>
            </a:r>
          </a:p>
          <a:p/>
          <a:p>
            <a:r>
              <a:rPr i="1"/>
              <a:t>Если спросят, почему промах с обложки случился именно теперь.</a:t>
            </a:r>
            <a:r>
              <a:t> Потому что часть работы перестала жить в репозитории: заказчик ведёт свои просьбы отдельно, а в рабочем продукте разработчика ответ на один вопрос собирается из десятков файлов. Оба случая разбираются сегодня.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таблица, на которой остановилось прошлое занятие. Две строки заполнены — хук и скилл, и в каждой видно, что механизм делает и чего не делает. Формулировки те же, я их не переписываю заново.</a:t>
            </a:r>
          </a:p>
          <a:p/>
          <a:p>
            <a:r>
              <a:t>Хук отклоняет один способ записи в главную ветку из шести воспроизведённых — и не видит человека с открытым терминалом вовсе.</a:t>
            </a:r>
          </a:p>
          <a:p/>
          <a:p>
            <a:r>
              <a:t>Скилл загружается по точному совпадению описания — и не загрузится, если триггер не совпал: содержимого файла в контексте до срабатывания просто нет.</a:t>
            </a:r>
          </a:p>
          <a:p/>
          <a:p>
            <a:r>
              <a:t>А теперь посмотрите на эти две строки ещё раз, по другому признаку. Обе работают внутри репозитория: хук сторожит запись в его ветку, скилл подгружает его же файл. Всё, чем мы занимались два занятия подряд, лежало под рукой у агента.</a:t>
            </a:r>
          </a:p>
          <a:p/>
          <a:p>
            <a:r>
              <a:t>Две строки внизу пустые, и обе — про край. Одна про то, чего внутри нет вовсе. Другая про то, что внутрь не влезает. Сегодня закрываем обе.</a:t>
            </a:r>
          </a:p>
          <a:p/>
          <a:p>
            <a:r>
              <a:t>---</a:t>
            </a:r>
          </a:p>
          <a:p/>
          <a:p>
            <a:r>
              <a:rPr b="1"/>
              <a:t>Справка.</a:t>
            </a:r>
          </a:p>
          <a:p/>
          <a:p>
            <a:r>
              <a:rPr i="1"/>
              <a:t>Если спросят, почему хук и скилл не разбираются снова.</a:t>
            </a:r>
            <a:r>
              <a:t> Они уже разобраны и проверены — второй разбор был бы пересказом, не новой работой. Формулировки строк несут тот же факт, что таблица, которой кончилось прошлое занятие.</a:t>
            </a:r>
          </a:p>
          <a:p/>
          <a:p>
            <a:r>
              <a:rPr i="1"/>
              <a:t>Если спросят про колонку «что не делает / ограничение».</a:t>
            </a:r>
            <a:r>
              <a:t> Это не чья-то наивность и не брак механизма — это то, что проверка показала за рамкой того, для чего механизм заводили. Разница между этой колонкой и соседней — ровно то, ради чего мерили весь прошлый час, и ровно то, что сегодня повторится на двух новых строках.</a:t>
            </a:r>
          </a:p>
          <a:p/>
          <a:p>
            <a:r>
              <a:rPr i="1"/>
              <a:t>Порядок строк.</a:t>
            </a:r>
            <a:r>
              <a:t> Он тот же, что на вопросе следующего слайда и на карте занятия: хук, скилл, MCP, субагент. Менять его нельзя — на совпадении держится возврат в блоке 3.</a:t>
            </a:r>
          </a:p>
          <a:p/>
          <a:p>
            <a:r>
              <a:rPr i="1"/>
              <a:t>Если спросят, не натянут ли признак «внутри».</a:t>
            </a:r>
            <a:r>
              <a:t> Проверяется прямо по строкам: хук — файл в </a:t>
            </a:r>
            <a:r>
              <a:rPr>
                <a:latin typeface="Consolas"/>
              </a:rPr>
              <a:t>.claude/</a:t>
            </a:r>
            <a:r>
              <a:t>, который сторожит запись в ветку этого же репозитория; скилл — файл в этом же репозитории, который подгружается в контекст. Ни один из двух не обращается никуда за его пределы и ни один не выносит работу из окна агента. Обе сегодняшние строки делают ровно одно из этих двух.</a:t>
            </a:r>
          </a:p>
          <a:p/>
          <a:p>
            <a:r>
              <a:rPr i="1"/>
              <a:t>Если спросят, почему тогда их вообще сравнивают с сегодняшними.</a:t>
            </a:r>
            <a:r>
              <a:t> Потому что признак, по которому выбирают инструмент, у всех четырёх один: чего именно не хватает в работе. Ответ на этот вопрос и собирается сегодня.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промаха за одну неделю, и причины у них прямо противоположные.</a:t>
            </a:r>
          </a:p>
          <a:p/>
          <a:p>
            <a:r>
              <a:t>В понедельник агент ответил по репозиторию — двух просьб заказчика в ответе не оказалось. Внутри их нет вовсе, и размер окна тут ни при чём.</a:t>
            </a:r>
          </a:p>
          <a:p/>
          <a:p>
            <a:r>
              <a:t>В среду наоборот, уже в его рабочем продукте: всё нужное внутрь влезло. Агент прочитал всё, где мог встретиться этот текст, ответил верно — и начал переспрашивать то, что ему объясняли в начале сессии. Место, которое занимала сама задача, ушло под чтение. Сессию начали заново, час.</a:t>
            </a:r>
          </a:p>
          <a:p/>
          <a:p>
            <a:r>
              <a:t>Отсюда вопрос занятия. Он на экране, и сегодня я задам его второй раз, той же формулировкой. Ответ держите при себе.</a:t>
            </a:r>
          </a:p>
          <a:p/>
          <a:p>
            <a:r>
              <a:t>---</a:t>
            </a:r>
          </a:p>
          <a:p/>
          <a:p>
            <a:r>
              <a:rPr b="1"/>
              <a:t>Справка.</a:t>
            </a:r>
          </a:p>
          <a:p/>
          <a:p>
            <a:r>
              <a:rPr i="1"/>
              <a:t>Что зал может ответить сейчас, и что отвечать на каждое.</a:t>
            </a:r>
            <a:r>
              <a:t> «Смотря чего не хватает» — честный первый ответ, его и подтверждаю: вопрос именно про то, как отличить один случай от другого, а материал двух блоков даёт критерий. «Сначала данные — без них агент вообще не может решить задачу» — в верном направлении, обоснование в первом блоке. «Сначала отдельная роль — она экономит место» — тоже в направлении, обоснование во втором.</a:t>
            </a:r>
          </a:p>
          <a:p/>
          <a:p>
            <a:r>
              <a:rPr i="1"/>
              <a:t>Если прозвучит «а зачем выбирать, можно и то, и то».</a:t>
            </a:r>
            <a:r>
              <a:t> Отвечаю: можно — и у каждого расширения своя цена, об этом и будет материал: чужой код и место в контексте у одного, лишние права у другого. Вопрос про то, с чего начинают, когда ресурс один.</a:t>
            </a:r>
          </a:p>
          <a:p/>
          <a:p>
            <a:r>
              <a:rPr i="1"/>
              <a:t>Если прозвучит «во втором случае хватило бы окна побольше».</a:t>
            </a:r>
            <a:r>
              <a:t> Это и есть место, где интуиция подводит, и мы к нему вернёмся с измерением. Большое окно отодвигает границу, но сохраняет свойство: прочитанное остаётся в нём и делит место с работой.</a:t>
            </a:r>
          </a:p>
          <a:p/>
          <a:p>
            <a:r>
              <a:rPr i="1"/>
              <a:t>Чего здесь не делаю.</a:t>
            </a:r>
            <a:r>
              <a:t> Не называю MCP и субагента по имени — эти слова появятся на карте занятия следом и на базе каждого блока. Не оцениваю ответы и не свожу их к одному: правильного ответа сейчас нет, он собирается по ходу занятия.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блока, и это два ответа на один вопрос.</a:t>
            </a:r>
          </a:p>
          <a:p/>
          <a:p>
            <a:r>
              <a:t>Первый — принести внутрь то, чего внутри нет: агент получает способ сам спросить систему, которая живёт отдельно от проекта и меняется без нас. Так закрывается промах понедельника.</a:t>
            </a:r>
          </a:p>
          <a:p/>
          <a:p>
            <a:r>
              <a:t>Второй — вынести наружу то, что внутрь не помещается: чтение уходит отдельному исполнителю со своим окном и урезанными правами, а к нам возвращается только итог. Так закрывается промах среды.</a:t>
            </a:r>
          </a:p>
          <a:p/>
          <a:p>
            <a:r>
              <a:t>Ходы встречные, и порядок не случаен: сначала то, чего нет вовсе, потом то, что не влезает. У обоих своя цена, и мы её назовём прямо — в одном случае это чужой код и постоянное место в контексте, в другом лишние права и потерянная видимость того, что делалось.</a:t>
            </a:r>
          </a:p>
          <a:p/>
          <a:p>
            <a:r>
              <a:t>Внутри каждого блока три кейса, у каждого своя сцена, свой вопрос, свой разбор. Названия вы увидите на их собственных развилках, не здесь.</a:t>
            </a:r>
          </a:p>
          <a:p/>
          <a:p>
            <a:r>
              <a:t>---</a:t>
            </a:r>
          </a:p>
          <a:p/>
          <a:p>
            <a:r>
              <a:rPr b="1"/>
              <a:t>Справка.</a:t>
            </a:r>
          </a:p>
          <a:p/>
          <a:p>
            <a:r>
              <a:rPr i="1"/>
              <a:t>Если спросят, сколько кейсов в каждом блоке.</a:t>
            </a:r>
            <a:r>
              <a:t> Три — таков план на сегодня. Если материал не набирает трёх полноценных разворотов, лучше два завершённых, чем три, из которых один собран из обрезков; это решение принимается по ходу подготовки, не на самом занятии.</a:t>
            </a:r>
          </a:p>
          <a:p/>
          <a:p>
            <a:r>
              <a:rPr i="1"/>
              <a:t>Чего здесь не делаю.</a:t>
            </a:r>
            <a:r>
              <a:t> Не называю занятие по номеру и не обсуждаю расписание курса. Карта называет только то, что происходит сегодня.</a:t>
            </a:r>
          </a:p>
          <a:p/>
          <a:p>
            <a:r>
              <a:rPr i="1"/>
              <a:t>Если спросят, почему именно такой порядок блоков.</a:t>
            </a:r>
            <a:r>
              <a:t> Первый ход возвращает агенту то, чего у него не было никогда; второй разгружает то, что у него уже есть. Начинать с разгрузки окна, в котором всё равно не хватает нужного, смысла мало — поэтому сначала доступ, потом делегирование.</a:t>
            </a:r>
          </a:p>
          <a:p/>
          <a:p>
            <a:r>
              <a:rPr i="1"/>
              <a:t>Если спросят, обязательно ли выбирать между ними.</a:t>
            </a:r>
            <a:r>
              <a:t> Нет: в живом проекте работают оба. Вопрос занятия — про то, с чего начинают, когда ресурс и внимание одни, и про то, какую цену платят за каждый ход.</a:t>
            </a:r>
          </a:p>
          <a:p/>
          <a:p>
            <a:r>
              <a:rPr i="1"/>
              <a:t>Если спросят, будут ли эти шесть кейсов на их собственном проекте.</a:t>
            </a:r>
            <a:r>
              <a:t> Перенос на свой репозиторий — работа следующего занятия. Сегодня — приём и критерий, по которому его выбирают.</a:t>
            </a:r>
          </a:p>
          <a:p/>
          <a:p>
            <a:r>
              <a:rPr i="1"/>
              <a:t>Если спросят, почему кейсов именно три в каждом блоке.</a:t>
            </a:r>
            <a:r>
              <a:t> Столько набралось материала, у которого есть и рабочий ход, и проверенная граница. Там, где материал не набирает полного разворота, лучше два завершённых кейса, чем три из обрезков.</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Фраза, с которой начинается этот блок, принадлежит заказчику. Задачи он ведёт в трекере — это отдельная система, снаружи репозитория, и она меняется каждый день без нашего участия. А у агента в чате лежит то, что ему скопировали руками сегодня утром. Через минуту я покажу вторник, в который эти два факта сошлись. Решаем, чем заменить перенос руками.</a:t>
            </a:r>
          </a:p>
          <a:p/>
          <a:p>
            <a:r>
              <a:t>Если спросят, при чём тут прошлое занятие: там мы учили агента, что ему можно и нельзя делать внутри своего же репозитория, и проверяли это файлами и командой. Здесь задача другая — агенту нужно дотянуться до системы, которая не является частью проекта и которую мы не контролируем напрямую. Разница здесь в том, где физически лежат данные.</a:t>
            </a:r>
          </a:p>
          <a:p/>
          <a:p>
            <a:r>
              <a:t>Если спросят, почему именно сейчас: дело в частоте. Разовое действие закрывает обычная команда в терминале; повторяющееся из сессии в сессию — нет, и мы увидим почему, когда будем считать цену.</a:t>
            </a:r>
          </a:p>
          <a:p/>
          <a:p>
            <a:r>
              <a:t>Если спросят, какой это по счёту инструмент на сегодня: четвёртый, и впервые — тот, который физически выходит за границы одного репозитория. Три предыдущих жили внутри дерева проекта и правились тем же коммитом, что и код; этот живёт снаружи и обновляется без нашего ведома.</a:t>
            </a:r>
          </a:p>
          <a:p/>
          <a:p>
            <a:r>
              <a:t>Если спросят, почему реплика принадлежит заказчику: потому что пропажу требования заметил именно он, и объяснять пришлось ему. Цена ошибки в этом кейсе ложится на обоих, предъявляет её тот, кто платит за работу, — и это ровно та цена, которую зал чувствует без перевода.</a:t>
            </a:r>
          </a:p>
          <a:p/>
          <a:p>
            <a:r>
              <a:t>Если спросят, что считается трекером: любая система, где заказчик или команда ведут список работ отдельно от кода — встроенный трекер репозитория, отдельный сервис задач, доска. Для этого кейса важно одно общее свойство: список живёт снаружи дерева проекта и меняется без участия того, кто пишет код.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Агент умеет работать с двумя источниками данных. Первый — файлы репозитория: он читает их напрямую, это материал прошлых занятий. Второй — файлы, которые ему дали явно: вставили текст в чат, приложили документ. Оба можно прочитать один раз и работать дальше.</a:t>
            </a:r>
          </a:p>
          <a:p/>
          <a:p>
            <a:r>
              <a:t>Список задач в трекере не ложится ни туда, ни туда. Трекер живёт в отдельной системе, и список меняется каждый день без нас: снимок на утро к обеду уже неточен. Агенту нужен способ самому спросить систему в момент работы. Такое обращение называется вызовом API — и здесь обычно думают, что за него придётся платить написанной интеграцией. Проверим это на пяти способах.</a:t>
            </a:r>
          </a:p>
          <a:p/>
          <a:p>
            <a:r>
              <a:t>Если спросят «а запросы — это куда отнести»: это и есть третий источник, и он отличается от первых двух по времени. У файла есть момент, когда его прочитали, и дальше он сам не меняется. У вызова такого момента нет — ответ зависит от того, в какую секунду спросили.</a:t>
            </a:r>
          </a:p>
          <a:p/>
          <a:p>
            <a:r>
              <a:t>Если спросят, почему не считать трекер просто ещё одним внешним файлом: потому что файл можно приложить один раз, а трекер придётся прикладывать заново перед каждым запросом. Именно эта частота и переводит задачу из «скопируй текст» в «дай доступ».</a:t>
            </a:r>
          </a:p>
          <a:p/>
          <a:p>
            <a:r>
              <a:t>Если спросят, почему снимок иногда всё-таки годится: когда список меняется реже, чем вы к нему обращаетесь. Разовая выгрузка открытых задач перед планированием спринта — рабочая практика; она ломается ровно тогда, когда правка уезжает заказчику раньше, чем вы перечитали задачу.</a:t>
            </a:r>
          </a:p>
          <a:p/>
          <a:p>
            <a:r>
              <a:t>Если спросят про третий источник в других курсах: там его часто называют интеграцией или коннектором. Слово разное, предмет один — обращение по сети за свежим ответом вместо чтения файла.</a:t>
            </a:r>
          </a:p>
          <a:p/>
          <a:p>
            <a:r>
              <a:t>Если спросят, почему первые два источника вообще перечислены, раз они знакомы: потому что выбор дальше идёт между пятью способами, и три из них стоят денег только потому, что третий источник устроен иначе, чем файл. Без этой границы пятёрка карточек читается как пять названий одного и того же, и выбрать можно только по узнаванию.</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Вся конструкция сразу, шесть частей. К этому экрану я буду возвращаться весь блок.</a:t>
            </a:r>
          </a:p>
          <a:p/>
          <a:p>
            <a:r>
              <a:t>Сервер — отдельная программа, живущая вне Claude Code: либо локальный процесс, который Claude Code запускает у вас, либо удалённый сервис, который держит кто-то другой.</a:t>
            </a:r>
          </a:p>
          <a:p/>
          <a:p>
            <a:r>
              <a:t>Объявляется подключение в файле конфигурации. </a:t>
            </a:r>
            <a:r>
              <a:rPr>
                <a:latin typeface="Consolas"/>
              </a:rPr>
              <a:t>.mcp.json</a:t>
            </a:r>
            <a:r>
              <a:t> в корне репозитория — область </a:t>
            </a:r>
            <a:r>
              <a:rPr>
                <a:latin typeface="Consolas"/>
              </a:rPr>
              <a:t>project</a:t>
            </a:r>
            <a:r>
              <a:t>, её видят все, кто клонирует. </a:t>
            </a:r>
            <a:r>
              <a:rPr>
                <a:latin typeface="Consolas"/>
              </a:rPr>
              <a:t>~/.claude.json</a:t>
            </a:r>
            <a:r>
              <a:t> — области </a:t>
            </a:r>
            <a:r>
              <a:rPr>
                <a:latin typeface="Consolas"/>
              </a:rPr>
              <a:t>local</a:t>
            </a:r>
            <a:r>
              <a:t> и </a:t>
            </a:r>
            <a:r>
              <a:rPr>
                <a:latin typeface="Consolas"/>
              </a:rPr>
              <a:t>user</a:t>
            </a:r>
            <a:r>
              <a:t>. Какая для чего — на сборке; здесь место на карте.</a:t>
            </a:r>
          </a:p>
          <a:p/>
          <a:p>
            <a:r>
              <a:t>При подключении Claude Code сама, без участия модели, спрашивает у сервера список возможностей. Сервер отвечает именами и короткой инструкцией о себе, без полных схем.</a:t>
            </a:r>
          </a:p>
          <a:p/>
          <a:p>
            <a:r>
              <a:t>Вызов: агент зовёт инструмент как функцию — полное имя с префиксом сервера и собранные моделью аргументы.</a:t>
            </a:r>
          </a:p>
          <a:p/>
          <a:p>
            <a:r>
              <a:t>Контекст и цена — три отдельные статьи. Имя сервера и короткая инструкция висят в контексте всегда, с первой секунды. Полную схему инструмента модель подтягивает сама, когда он ей понадобился. У результата свой бюджет: предупреждение за десять тысяч токенов, обрезка за двадцать пять. Постоянная плата идёт за подключённый сервер; цена вызова — за каждый ответ. Сопоставление по способам доступа — в конце кейса.</a:t>
            </a:r>
          </a:p>
          <a:p/>
          <a:p>
            <a:r>
              <a:t>Отвечает сервер по отдельному каналу; вызов в выводе подписан именем сервера — видно, откуда ответ.</a:t>
            </a:r>
          </a:p>
          <a:p/>
          <a:p>
            <a:r>
              <a:t>Если спросят про формат имени инструмента подробнее: </a:t>
            </a:r>
            <a:r>
              <a:rPr>
                <a:latin typeface="Consolas"/>
              </a:rPr>
              <a:t>mcp__&lt;сервер&gt;__&lt;инструмент&gt;</a:t>
            </a:r>
            <a:r>
              <a:t>, где любой символ вне букв, цифр, подчёркивания и дефиса заменяется на подчёркивание. Это не косметика: именно полное имя пишут в правилах разрешений, списке инструментов субагента или матчере хука — короткое там не сработает.</a:t>
            </a:r>
          </a:p>
          <a:p/>
          <a:p>
            <a:r>
              <a:t>Если спросят, почему обнаружение возможностей не спрашивает модель: это разговор клиента с сервером на уровне протокола, до того как модель вообще увидела список, — та же механика, что и рукопожатие транспорта.</a:t>
            </a:r>
          </a:p>
          <a:p/>
          <a:p>
            <a:r>
              <a:t>Если спросят, почему </a:t>
            </a:r>
            <a:r>
              <a:rPr>
                <a:latin typeface="Consolas"/>
              </a:rPr>
              <a:t>local</a:t>
            </a:r>
            <a:r>
              <a:t> и </a:t>
            </a:r>
            <a:r>
              <a:rPr>
                <a:latin typeface="Consolas"/>
              </a:rPr>
              <a:t>user</a:t>
            </a:r>
            <a:r>
              <a:t> показаны с одним и тем же файлом </a:t>
            </a:r>
            <a:r>
              <a:rPr>
                <a:latin typeface="Consolas"/>
              </a:rPr>
              <a:t>~/.claude.json</a:t>
            </a:r>
            <a:r>
              <a:t>: это не опечатка на экране. Один физический файл, две разные записи внутри него: </a:t>
            </a:r>
            <a:r>
              <a:rPr>
                <a:latin typeface="Consolas"/>
              </a:rPr>
              <a:t>local</a:t>
            </a:r>
            <a:r>
              <a:t> живёт под записью конкретного проекта, </a:t>
            </a:r>
            <a:r>
              <a:rPr>
                <a:latin typeface="Consolas"/>
              </a:rPr>
              <a:t>user</a:t>
            </a:r>
            <a:r>
              <a:t> — под общим ключом </a:t>
            </a:r>
            <a:r>
              <a:rPr>
                <a:latin typeface="Consolas"/>
              </a:rPr>
              <a:t>mcpServers</a:t>
            </a:r>
            <a:r>
              <a:t>. Подробнее — на слайде со сборкой подключения.</a:t>
            </a:r>
          </a:p>
          <a:p/>
          <a:p>
            <a:r>
              <a:t>Если спросят, зачем вообще протокол, когда есть обычный вызов по сети: затем, что все серверы описывают свои возможности одинаково, и агент читает их описание одним способом. Это и покупают подключением — дальше в кейсе посчитаем, сколько это стоит.</a:t>
            </a:r>
          </a:p>
          <a:p/>
          <a:p>
            <a:r>
              <a:t>Если спросят, кем протокол управляется: с девятого декабря 2025 года — отдельным направленным фондом под Linux Foundation, тем же типом управления, что у Kubernetes. Открытость протокола и честность конкретного сервера внутри него — разные вещи; провалы в этом кейсе будут как раз про второе.</a:t>
            </a:r>
          </a:p>
          <a:p/>
          <a:p>
            <a:r>
              <a:t>Если что-то на этом экране непонятно — спрашивайте сейчас, дальше я буду на него ссылаться.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Сайт живёт третий месяц. Заказчик уже месяц ведёт задачи в трекере — это разработчик ему и предложил, чтобы правки не терялись в переписке. Перенос между трекером и чатом агента разработчик делает руками, несколько раз в неделю. Вот где лежали те две просьбы, которых агент в понедельник не нашёл.</a:t>
            </a:r>
          </a:p>
          <a:p/>
          <a:p>
            <a:r>
              <a:t>Вторник той же недели. Утром он открывает задачу «форма не отправляется с телефона», копирует текст в чат агенту и уходит делать правку. Днём заказчик дописывает в эту же задачу одну строку: «и с планшета тоже». Разработчик её не видит: у него в чате лежит утренний снимок задачи, и снимок обновиться сам не умеет. Вечером правка уезжает заказчику. Утром в задаче появляется вопрос: «а планшет?».</a:t>
            </a:r>
          </a:p>
          <a:p/>
          <a:p>
            <a:r>
              <a:t>Цена: час на вторую правку и письмо с объяснением, почему строка из задачи до работы не доехала. Час — меньшая часть. Большая в том, что заказчик теперь перепроверяет, дошло ли написанное им: привычка, которую он завёл ровно потому, что один раз не дошло.</a:t>
            </a:r>
          </a:p>
          <a:p/>
          <a:p>
            <a:r>
              <a:t>Ошибся здесь не агент. Ошибся перенос руками — он по устройству отдаёт агенту прошлое состояние задачи.</a:t>
            </a:r>
          </a:p>
          <a:p/>
          <a:p>
            <a:r>
              <a:t>Если спросят, почему не решить это дисциплиной — перечитывать задачу перед отправкой: это работает ровно до дня, когда задач три, а сессий пять. Цена растёт линейно с числом задач и сессий, и забытая строка из исключения становится нормой.</a:t>
            </a:r>
          </a:p>
          <a:p/>
          <a:p>
            <a:r>
              <a:t>Если спросят, почему нельзя попросить агента «следить» за трекером: агент работает в рамках одной сессии, между запросами он не продолжает действовать и своего способа дотянуться до внешней системы без выданного доступа не имеет.</a:t>
            </a:r>
          </a:p>
          <a:p/>
          <a:p>
            <a:r>
              <a:t>Если прозвучит «а что, если открыть трекер в браузере рядом»: это меняет форму переноса, оставляя сам перенос. Вставка остаётся вставкой, и утренний снимок остаётся утренним.</a:t>
            </a:r>
          </a:p>
          <a:p/>
          <a:p>
            <a:r>
              <a:t>Если спросят, бывает ли обратная ошибка: бывает, и она дороже. Разработчик вставляет в задачу ответ агента по другой задаче — заказчик читает чужое требование как своё и планирует работу, которой не просил.</a:t>
            </a:r>
          </a:p>
          <a:p/>
          <a:p>
            <a:r>
              <a:t>Если спросят, зачем сцена так подробна: потому что выбор, который зал будет делать на следующем экране, зависит от частоты и от живости источника. Разовый доступ и постоянный решаются разными способами, и именно этот вторник показывает, какой из двух случаев перед нами.</a:t>
            </a:r>
          </a:p>
          <a:p/>
          <a:p>
            <a:r>
              <a:t>Если спросят, что считать «живым» источником: тот, у которого ответ зависит от времени запроса. Файл спецификации в репозитории живым в этом смысле не является — он меняется коммитом, который виден. Трекер меняется без коммита и без уведомления.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того вторника не повторилось, агент должен сам смотреть открытые задачи трекера в момент работы и готовить по ним черновики правок. Выберите способ, которым вы дадите ему доступ снаружи, — и объясните, чем остальные четыре подходят хуже именно для регулярного доступа.</a:t>
            </a:r>
          </a:p>
          <a:p/>
          <a:p>
            <a:r>
              <a:t>Пять карточек: вызвать API напрямую; подключить чужой сервер — удалённо; подключить чужой сервер — локально; написать свой сервер; вызывать готовую команду </a:t>
            </a:r>
            <a:r>
              <a:rPr>
                <a:latin typeface="Consolas"/>
              </a:rPr>
              <a:t>gh</a:t>
            </a:r>
            <a:r>
              <a:t> каждый раз.</a:t>
            </a:r>
          </a:p>
          <a:p/>
          <a:p>
            <a:r>
              <a:t>Называйте вслух и способ, и причину: причина здесь весит больше выбора.</a:t>
            </a:r>
          </a:p>
          <a:p/>
          <a:p>
            <a:r>
              <a:t>Если спросят, что такое </a:t>
            </a:r>
            <a:r>
              <a:rPr>
                <a:latin typeface="Consolas"/>
              </a:rPr>
              <a:t>gh</a:t>
            </a:r>
            <a:r>
              <a:t>: официальный CLI-инструмент GitHub — он уже установлен у многих разработчиков и умеет читать и писать задачи трекера без какого-либо MCP-сервера, обычным вызовом команды.</a:t>
            </a:r>
          </a:p>
          <a:p/>
          <a:p>
            <a:r>
              <a:t>Если спросят, чем «удалённо» отличается от «локально»: в одном случае сервер — чужой процесс, который кто-то другой держит в сети и сам поддерживает; в другом — программа запускается у вас, её старт и обновление — ваша забота. Какую разницу это даёт на практике — следующий слайд.</a:t>
            </a:r>
          </a:p>
          <a:p/>
          <a:p>
            <a:r>
              <a:t>Если прозвучит версия, не совпадающая ни с одной из пяти карточек: уточните, какой конкретно способ доступа имеете в виду — почти всегда он укладывается в один из пяти, просто другими словами.</a:t>
            </a:r>
          </a:p>
          <a:p/>
          <a:p>
            <a:r>
              <a:t>Если спросят, можно ли выбрать два: можно, и дальше мы увидим, что два из пяти остаются законными до самого конца разбора. Назовите тогда оба и условие, при котором берёте первый.</a:t>
            </a:r>
          </a:p>
          <a:p/>
          <a:p>
            <a:r>
              <a:t>Если зал выберет «написать свой сервер» большинством: спросите, что в этом сервере будет такого, чего нет в официальном. Вопрос честный — иногда ответ есть, и тогда выбор верный.</a:t>
            </a:r>
          </a:p>
          <a:p/>
          <a:p>
            <a:r>
              <a:t>Если прозвучит «а в чём вообще разница, если результат одинаковый»: это самый полезный вопрос на этом экране. Результат действительно одинаковый; разница в том, что каждый способ требует от вас заранее, и в том, что он занимает постоянно. Обе стороны разберём на следующем экране.</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Сначала то, что разбор опровергает. Кода интеграции не придётся писать ни в одном из пяти способов: агент сам соберёт запрос и сам разберёт ответ, это он умеет. Значит, выбор идёт по другому основанию.</a:t>
            </a:r>
          </a:p>
          <a:p/>
          <a:p>
            <a:r>
              <a:t>Разделяет пятёрку одно: знает ли агент заранее, что у системы можно спросить. Прямой вызов API — спецификацию сервиса агент не угадает, её нужно дать документацией или swagger-описанием. </a:t>
            </a:r>
            <a:r>
              <a:rPr>
                <a:latin typeface="Consolas"/>
              </a:rPr>
              <a:t>gh</a:t>
            </a:r>
            <a:r>
              <a:t> — официальный CLI GitHub, авторизация и разбор ответа уже решены за вас, но общего списка возможностей он не даёт: нужную команду помните вы.</a:t>
            </a:r>
          </a:p>
          <a:p/>
          <a:p>
            <a:r>
              <a:t>Три средних карточки этот список дают. Чужой сервер удалённо — его держит и обновляет кто-то другой, у вас не крутится процесс; зато не видно, что внутри и когда оно поменялось. Чужой сервер локально — пакет исполняется у вас, конфигурация лежит строкой в репозитории и видна в ревью; это по-прежнему живой чужой код на вашей машине. Свой сервер даёт ровно нужные операции и права; минимальный пишется быстро, для этого есть плагин, дорого обходится поддержка.</a:t>
            </a:r>
          </a:p>
          <a:p/>
          <a:p>
            <a:r>
              <a:t>Вывод складывается из сочетания. Свой сервер избыточен, раз официальный есть. Между «удалённо» и «локально» законны оба; берём локальный — ради конфигурации, видимой в ревью.</a:t>
            </a:r>
          </a:p>
          <a:p/>
          <a:p>
            <a:r>
              <a:t>Если спросят, почему тогда вообще платят за сервер, раз доступ даёт и команда: платят за список возможностей, который агент читает сам. Сколько именно это стоит, посчитаем через два экрана — цифра там неожиданная.</a:t>
            </a:r>
          </a:p>
          <a:p/>
          <a:p>
            <a:r>
              <a:t>Если спросят про «удалённо» подробнее: свежий официальный пример подключения именно к этому сервису — удалённый http-сервис, в отличие от примера, на который опирается кейс. Решение занятия от этого неверным не становится: локальный способ остаётся официально поддерживаемым. Знать стоит другое — официальный путь одного и того же поставщика со временем меняется.</a:t>
            </a:r>
          </a:p>
          <a:p/>
          <a:p>
            <a:r>
              <a:t>Если спросят про безопасность удалённого сервиса подробнее: у одного MCP-сервера для баз данных флаг «только чтение» не делал соединение реально ограниченным — разберём это в провале кейса.</a:t>
            </a:r>
          </a:p>
          <a:p/>
          <a:p>
            <a:r>
              <a:t>Если спросят, почему </a:t>
            </a:r>
            <a:r>
              <a:rPr>
                <a:latin typeface="Consolas"/>
              </a:rPr>
              <a:t>gh</a:t>
            </a:r>
            <a:r>
              <a:t> не выигрывает: он отлично закрывает единичный, заранее известный вызов. С ростом числа операций помнить и называть каждую команду точно приходится разработчику — и ровно на этом месте вторник из сцены повторяется, только уже с командами.</a:t>
            </a:r>
          </a:p>
          <a:p/>
          <a:p>
            <a:r>
              <a:t>Если спросят про поддержку своего сервера подробнее: обновления протокола, чужие пользователи, безопасность транспорта. Это отдельный проект рядом с основным, и заводить его стоит тогда, когда нужного набора операций нет ни у кого из готовых поставщиков.</a:t>
            </a:r>
          </a:p>
          <a:p/>
          <a:p>
            <a:r>
              <a:t>Если прозвучит «мы возьмём API, потому что так гибче»: это законный выбор, и он не отменяется этим разбором. Спросите только, где будет жить описание эндпойнтов, которым вы кормите агента, и кто обновит его, когда сервис поменяет версию.</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Файл пишется в конце разговора, не в начале: начни с синтаксиса — минуешь два решения, которые важнее синтаксиса.</a:t>
            </a:r>
          </a:p>
          <a:p/>
          <a:p>
            <a:r>
              <a:t>Первый шаг быстрый: что конкретно агент должен уметь? Зал перечисляет, фиксирую: читать открытые задачи, писать комментарий, готовить черновик правки. Три операции, ничего больше.</a:t>
            </a:r>
          </a:p>
          <a:p/>
          <a:p>
            <a:r>
              <a:t>Второй шаг несёт основной вес. На экране — список того, что даёт широкий персональный токен по умолчанию: все репозитории пользователя, включая приватные; чтение и запись; управление настройками; удаление. Идём по строкам и спрашиваем про каждую: наш список из трёх операций этого требует? Вычёркивание происходит на экране, строка за строкой. Остаётся один репозиторий и две операции.</a:t>
            </a:r>
          </a:p>
          <a:p/>
          <a:p>
            <a:r>
              <a:t>Важен и порядок: сначала операции, потом права. Обратный порядок — взять токен, какой есть, и посмотреть, что получится — оставляет в ключе ровно ту строку, которая через несколько минут окажется решающей.</a:t>
            </a:r>
          </a:p>
          <a:p/>
          <a:p>
            <a:r>
              <a:t>Запомните, как выглядит этот экран сейчас. Через несколько минут покажу инцидент, который воспроизводится ровно тогда, когда верхняя строка не вычеркнута.</a:t>
            </a:r>
          </a:p>
          <a:p/>
          <a:p>
            <a:r>
              <a:t>Если спросят, почему нельзя создать токен с правами «по умолчанию» и просто не пользоваться лишним: токен может быть использован тем, кто завладеет им, — вопрос здесь не в вашем намерении: решает то, что физически позволяет сделанный ключ.</a:t>
            </a:r>
          </a:p>
          <a:p/>
          <a:p>
            <a:r>
              <a:t>Если спросят, насколько это типично — выдавать больше, чем нужно: та же системная выборка показывает, что подобная избыточность — норма, не исключение, и это касается не только отдельных серверов, но и самого транспортного слоя официального SDK протокола.</a:t>
            </a:r>
          </a:p>
          <a:p/>
          <a:p>
            <a:r>
              <a:t>Если спросят, сколько времени занимает эта проверка: прямых замеров нет ни в одном источнике — честный пробел; но разговор, который мы сейчас ведём, и так происходит в момент создания токена, отдельного времени он не требует.</a:t>
            </a:r>
          </a:p>
          <a:p/>
          <a:p>
            <a:r>
              <a:t>Если спросят, почему операции перечисляет зал: официальный сервер трекера умеет заметно больше трёх вещей, и из его полного набора вам нужно знать свои. Список операций задаёт, какие права запрашивать; обратный порядок даёт ключ заведомо шире задачи, под которую он выпускался.</a:t>
            </a:r>
          </a:p>
          <a:p/>
          <a:p>
            <a:r>
              <a:t>Если спросят, что делать, когда операция понадобится четвёртая: вернуться к этому же разговору и выпустить ключ заново. Дописать право в существующий токен дешевле, и ровно поэтому список прав со временем расползается далеко за пределы задачи, под которую он заводился.</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шаг — про ключ, и зал отвечает почти сразу: переменная окружения, не значение в файле. Честная оговорка: даже вынесение секрета в переменную окружения не гарантирует, что он нигде не всплывёт текстом — диагностическая команда, которой проверяют статус подключения, сама может оказаться ещё одним каналом утечки того же секрета. Это не отменяет практику, но снимает с неё ложное ощущение полной защищённости.</a:t>
            </a:r>
          </a:p>
          <a:p/>
          <a:p>
            <a:r>
              <a:t>Четвёртый шаг — область видимости конфигурации. Три варианта: только у меня на этой машине; в репозиторий, для всех; глобально во всех моих проектах. Проверенный сервер — в репозиторий: конфигурация становится кодом, изменение видно в ревью. Непроверенный эксперимент — только у себя. И факт про дефолт: по умолчанию команда подключения кладёт сервер в личную конфигурацию, не в проект. Если про это не знать — получится разговор «я подключил, всё работает» — «а у меня нет», и оба правы.</a:t>
            </a:r>
          </a:p>
          <a:p/>
          <a:p>
            <a:r>
              <a:t>Если спросят, чем переменная окружения лучше отдельного секретного файла вне репозитория: механика конфигурации здесь исполняемая, не декларативная — команда подключения сервера реально запускается на машине при старте сессии. Простым описанием это не остаётся. Значение, вписанное буквально в команду, стало бы частью того, что физически выполняется. Переменная окружения — прямое следствие этого факта, не стилистическое предпочтение.</a:t>
            </a:r>
          </a:p>
          <a:p/>
          <a:p>
            <a:r>
              <a:t>Если спросят про конфликт имён между областями: при совпадении имени сервера в двух областях побеждает вся запись более приоритетной области целиком — поля не собираются из разных источников. Если в личной записи нет ключа, а в проектной есть, и они совпали по имени — при конфликте вы получите личную запись целиком, включая отсутствие ключа. Порядок приоритета: личная область выше проектной, проектная выше общей личной, дальше — сервер из плагина, затем коннектор, выше всех — политика организации, если она есть.</a:t>
            </a:r>
          </a:p>
          <a:p/>
          <a:p>
            <a:r>
              <a:t>Если спросят, зачем вообще класть конфигурацию в репозиторий, раз у каждого своя машина: затем, что подключение становится видимым в ревью наравне с кодом. Новый сервер в проекте тогда появляется с обсуждением — его видно до того, как он заработает.</a:t>
            </a:r>
          </a:p>
          <a:p/>
          <a:p>
            <a:r>
              <a:t>Если спросят, что делать с уже подключённым экспериментом, который прижился: перенести запись из личной области в проектную тем же разговором, каким вносят любую правку в репозиторий. Права ключа при переносе не меняются — их меняют на стороне сервиса.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разговора — файл из четырёх строк существа. Разберём каждую.</a:t>
            </a:r>
          </a:p>
          <a:p/>
          <a:p>
            <a:r>
              <a:rPr>
                <a:latin typeface="Consolas"/>
              </a:rPr>
              <a:t>mcpServers</a:t>
            </a:r>
            <a:r>
              <a:t> — корень: список всех серверов, которые объявлены в этой области видимости. </a:t>
            </a:r>
            <a:r>
              <a:rPr>
                <a:latin typeface="Consolas"/>
              </a:rPr>
              <a:t>"github"</a:t>
            </a:r>
            <a:r>
              <a:t> — имя сервера: именно под этим именем агент дальше будет вызывать его инструменты, вида </a:t>
            </a:r>
            <a:r>
              <a:rPr>
                <a:latin typeface="Consolas"/>
              </a:rPr>
              <a:t>mcp__github__…</a:t>
            </a:r>
            <a:r>
              <a:t>. </a:t>
            </a:r>
            <a:r>
              <a:rPr>
                <a:latin typeface="Consolas"/>
              </a:rPr>
              <a:t>"command": "npx"</a:t>
            </a:r>
            <a:r>
              <a:t> — чем запускается: конкретная программа-лаунчер. </a:t>
            </a:r>
            <a:r>
              <a:rPr>
                <a:latin typeface="Consolas"/>
              </a:rPr>
              <a:t>"args"</a:t>
            </a:r>
            <a:r>
              <a:t> — что запускается: пакет самого сервера. И </a:t>
            </a:r>
            <a:r>
              <a:rPr>
                <a:latin typeface="Consolas"/>
              </a:rPr>
              <a:t>"env"</a:t>
            </a:r>
            <a:r>
              <a:t> — переменные окружения для процесса: значение здесь — подстановка </a:t>
            </a:r>
            <a:r>
              <a:rPr>
                <a:latin typeface="Consolas"/>
              </a:rPr>
              <a:t>${GITHUB_PAT}</a:t>
            </a:r>
            <a:r>
              <a:t>, сам секрет в файле не лежит текстом.</a:t>
            </a:r>
          </a:p>
          <a:p/>
          <a:p>
            <a:r>
              <a:t>Это полная версия того же шаблона, который уже мелькал фрагментом на одностраничнике в начале кейса — там он был первым знакомством, здесь — разбор построчно. Права этого ключа — один репозиторий, не вся учётная запись — в файл не входят вообще: их задаёт сервис, где токен создавался, не эта конфигурация.</a:t>
            </a:r>
          </a:p>
          <a:p/>
          <a:p>
            <a:r>
              <a:t>Эта практика остаётся целевым решением раздела, не подтверждённым коммитом ни в этом проекте, ни в репозитории курса — слайд показывает разбираемый пример, не обещает «склонируй и повтори».</a:t>
            </a:r>
          </a:p>
          <a:p/>
          <a:p>
            <a:r>
              <a:t>Честное предложение в сторону: эта команда запускает на вашей машине живой процесс. Если он упадёт посреди сессии — сам он не перезапустится, нужна новая сессия. Полный разбор, что при этом видно и как это заметить, — в следующем кейсе этого занятия.</a:t>
            </a:r>
          </a:p>
          <a:p/>
          <a:p>
            <a:r>
              <a:t>Если спросят про сам файл подробнее: он лежит в корне репозитория, видят его все, кто клонирует проект; личная и общая личная области живут в отдельном файле вне репозитория, туда секреты из кода не попадают просто потому, что файл физически не в дереве git.</a:t>
            </a:r>
          </a:p>
          <a:p/>
          <a:p>
            <a:r>
              <a:t>Если спросят про схему приоритета ниже: ступени </a:t>
            </a:r>
            <a:r>
              <a:rPr>
                <a:latin typeface="Consolas"/>
              </a:rPr>
              <a:t>local</a:t>
            </a:r>
            <a:r>
              <a:t> и </a:t>
            </a:r>
            <a:r>
              <a:rPr>
                <a:latin typeface="Consolas"/>
              </a:rPr>
              <a:t>user</a:t>
            </a:r>
            <a:r>
              <a:t> обе подписаны файлом </a:t>
            </a:r>
            <a:r>
              <a:rPr>
                <a:latin typeface="Consolas"/>
              </a:rPr>
              <a:t>~/.claude.json</a:t>
            </a:r>
            <a:r>
              <a:t> — это не два одинаковых адреса и не ошибка на экране. Это один физический файл, но две разные записи внутри него: </a:t>
            </a:r>
            <a:r>
              <a:rPr>
                <a:latin typeface="Consolas"/>
              </a:rPr>
              <a:t>local</a:t>
            </a:r>
            <a:r>
              <a:t> — под записью именно этого проекта, </a:t>
            </a:r>
            <a:r>
              <a:rPr>
                <a:latin typeface="Consolas"/>
              </a:rPr>
              <a:t>user</a:t>
            </a:r>
            <a:r>
              <a:t> — под общим ключом </a:t>
            </a:r>
            <a:r>
              <a:rPr>
                <a:latin typeface="Consolas"/>
              </a:rPr>
              <a:t>mcpServers</a:t>
            </a:r>
            <a:r>
              <a:t>. При конфликте имён это разные по весу записи, несмотря на общий файл.</a:t>
            </a:r>
          </a:p>
          <a:p/>
          <a:p>
            <a:r>
              <a:t>Если спросят, что будет, если изменить область уже подключённого сервера: это та же запись, просто переписанная в другое место — сами права токена при этом не меняются, их меняют на стороне сервиса, где токен создавался.</a:t>
            </a:r>
          </a:p>
          <a:p/>
          <a:p>
            <a:r>
              <a:t>Если спросят, почему областей ровно три и почему именно эти: это ровно то, что физически умеет продукт — три жёстко заданных места, не произвольная настройка.</a:t>
            </a:r>
          </a:p>
          <a:p/>
          <a:p>
            <a:r>
              <a:t>Если спросят про честный пробел ещё раз: этот конкретный файл — целевое решение, собранное из более раннего захвата демо-репозитория; в текущей ветке его нет, и тот же файл отсутствует в репозитории курса. Проверка этого кейса — на доказательной базе исследования, не на живом коммите; это касается и двух следующих кейсов этого блока — у них общий этот пробел.</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цифра, о которой часто говорят неточно. «Подключение стоит столько-то токенов» — это утверждение о режиме без отложенной загрузки. По умолчанию в контекст при старте попадают имена инструментов и короткая инструкция, без полных схем.</a:t>
            </a:r>
          </a:p>
          <a:p/>
          <a:p>
            <a:r>
              <a:t>Худший случай — пять серверов без отсрочки, порядка пятидесяти пяти тысяч токенов, около двадцати одного процента окна в двести тысяч. Это верхняя граница. Для сравнения: то же действие обычной командой в терминале — тысяча триста шестьдесят пять токенов, инструментом сервера — сорок четыре тысячи. Тридцатидвухкратная разница за один ответ.</a:t>
            </a:r>
          </a:p>
          <a:p/>
          <a:p>
            <a:r>
              <a:t>И обещанное сопоставление. Постоянную плату задаёт число подключённых серверов и число их инструментов. Свой сервер, чужой локально, чужой удалённо платят её одинаково: транспорт и авторство значения не имеют. Прямой вызов API и </a:t>
            </a:r>
            <a:r>
              <a:rPr>
                <a:latin typeface="Consolas"/>
              </a:rPr>
              <a:t>gh</a:t>
            </a:r>
            <a:r>
              <a:t> не платят вовсе — у них нет списка возможностей, висящего в контексте между вызовами.</a:t>
            </a:r>
          </a:p>
          <a:p/>
          <a:p>
            <a:r>
              <a:t>Теперь к себе. Сколько серверов подключено у вас прямо сейчас и сколько инструментов они описывают? Эту плату вы вносите в каждой сессии — даже там, где агент не сходил ни к одному.</a:t>
            </a:r>
          </a:p>
          <a:p/>
          <a:p>
            <a:r>
              <a:t>Если спросят, как проверить режим у себя: посмотреть, не выставлена ли переменная, отключающая отложенную загрузку, и что реально показывает карточка конкретного сервера в сессии. Эта проверка не устаревает, в отличие от самой цифры.</a:t>
            </a:r>
          </a:p>
          <a:p/>
          <a:p>
            <a:r>
              <a:t>Если спросят, почему тогда цифра вообще названа: она остаётся верной как порядок величины худшего случая — для площадок без отложенной загрузки или для сессии, которая реально дотянула почти все определения через внутренний поиск.</a:t>
            </a:r>
          </a:p>
          <a:p/>
          <a:p>
            <a:r>
              <a:t>Если спросят про второй, независимый замер: тот же эффект подтверждён другой командой исследователей в деньгах — три доллара двадцать центов против пятидесяти пяти долларов двадцати центов на десять тысяч однотипных операций в месяц, семнадцатикратная разница, другой методикой.</a:t>
            </a:r>
          </a:p>
          <a:p/>
          <a:p>
            <a:r>
              <a:t>Если спросят, значит ли это, что сервер подключать невыгодно: нет. Выгодным его делает то, за что эта плата внесена, — агент сам видит список операций и выбирает нужную. Там, где операция одна и известна заранее, платить за список незачем, и это ровно критерий следующего экрана.</a:t>
            </a:r>
          </a:p>
          <a:p/>
          <a:p>
            <a:r>
              <a:t>Если спросят, почему полная схема подтягивается не сразу: потому что схем много, а понадобится из них единицы. Отложенная загрузка — поведение по умолчанию на актуальных моделях; выключается она переменной окружения, и выключенной её иногда находят в чужих готовых настройках.</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Вернёмся к экрану, который я просил запомнить. Май 2025 года. У разработчика агент ходит в трекер под персональным токеном с правами на все репозитории, включая приватные. Атакующий заводит в публичном репозитории обычный на вид issue: собери данные о других репозиториях пользователя и опубликуй здесь. Разработчик просит агента разобраться с открытыми задачами. Агент честно читает — встроенная инструкция попадает в контекст как команда, от вашей она для модели неотличима. Дальше он читает приватные репозитории и публикует их содержимое в публичном черновике правки.</a:t>
            </a:r>
          </a:p>
          <a:p/>
          <a:p>
            <a:r>
              <a:t>Номера уязвимости здесь нет: чинить нечего. Это архитектурный риск связки «широкие права плюс чужой текст».</a:t>
            </a:r>
          </a:p>
          <a:p/>
          <a:p>
            <a:r>
              <a:t>Теперь на наш экран. Строку «все репозитории» мы вычеркнули — без неё атака не проходит: читать нечего.</a:t>
            </a:r>
          </a:p>
          <a:p/>
          <a:p>
            <a:r>
              <a:t>Сочетание названо «смертельным трио» (Simon Willison, 16 июня 2025): приватные данные, недоверенный внешний текст, канал наружу. Не хватает одной ножки — атака этого типа невозможна в принципе.</a:t>
            </a:r>
          </a:p>
          <a:p/>
          <a:p>
            <a:r>
              <a:t>Расширение той же схемы, без модели вообще: у MCP-сервера к базе данных нашли уязвимость транспорта — HTTP-эндпойнт по умолчанию слушает без аутентификации, защита от межсайтовых запросов обходится подменой DNS. По вторичному разбору — два запроса, ноль учётных данных, и произвольный сайт в браузере жертвы дёргает инструменты сервера напрямую.</a:t>
            </a:r>
          </a:p>
          <a:p/>
          <a:p>
            <a:r>
              <a:t>Если спросят, почему именно GitHub в примере: ровно эту связку мы собираем в этом кейсе — трекер задач с персональным токеном. И читает агент тот же поток чужого текста, из которого в сцене потерялась одна строка: задачи в трекере пишет не только ваш заказчик.</a:t>
            </a:r>
          </a:p>
          <a:p/>
          <a:p>
            <a:r>
              <a:t>Если спросят, насколько это общий класс: обобщение сформулировано отдельно одним исследователем как «смертельное трио», и оно применимо к любому агенту с доступом к данным, обработкой текста и каналом наружу, независимо от конкретного продукта.</a:t>
            </a:r>
          </a:p>
          <a:p/>
          <a:p>
            <a:r>
              <a:t>Если спросят про DNS rebinding подробнее: DNS-имя атакующего домена сначала указывает на его собственный IP — чтобы пройти проверку происхождения запроса, — затем переключается на адрес жертвы; после этого браузер жертвы считает запрос «своим», и локальный сервер его исполняет.</a:t>
            </a:r>
          </a:p>
          <a:p/>
          <a:p>
            <a:r>
              <a:t>Если спросят, защищает ли открытость протокола от такого провала: нет. Открытость протокола и аутентификация конкретного сервера — разные вещи, мы это отметили в базе.</a:t>
            </a:r>
          </a:p>
          <a:p/>
          <a:p>
            <a:r>
              <a:t>Если спросят, что из этого следует для нашего собранного файла: ключ с правами на один репозиторий закрывает первый слой. Второй слой он не закрывает вовсе — там речь о том, как сервер слушает сеть, и решается это выбором транспорта, который мы сделали на сборке.</a:t>
            </a:r>
          </a:p>
          <a:p/>
          <a:p>
            <a:r>
              <a:t>Если спросят, зачем показывать провал после того, как решение собрано: затем, что собранное решение проверяется только попыткой его сломать. Строка, вычеркнутая без такой попытки, вычёркивается по привычке.</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кейса прямо: когда MCP нужен и когда нет.</a:t>
            </a:r>
          </a:p>
          <a:p/>
          <a:p>
            <a:r>
              <a:t>Нужен — когда доступ требуется регулярно, из нескольких сессий, и снимка на сегодняшнее утро уже недостаточно. Нужен — когда вы готовы поддерживать ещё один постоянно работающий процесс с доступом к секретам. Нужен — когда операций больше одной, список их растёт, и агент сам решает, к какой обратиться в моменте: именно за этот список вносится постоянная плата. И нужен — только если подключение не достраивает третий элемент смертельного трио.</a:t>
            </a:r>
          </a:p>
          <a:p/>
          <a:p>
            <a:r>
              <a:t>Не нужен — в зеркальных случаях. Доступ разовый или редкий: снимка достаточно. Готовности поддерживать процесс нет: разовый вызов надёжнее. Задача сводится к одному известному вызову CLI: платить контекстом за список возможностей незачем. А если подключение достраивает трио — это стоп-критерий сразу, без размышлений.</a:t>
            </a:r>
          </a:p>
          <a:p/>
          <a:p>
            <a:r>
              <a:t>Есть доступ наружу. Следующий вопрос — что происходит, когда он подключён, а агент через него не ходит.</a:t>
            </a:r>
          </a:p>
          <a:p/>
          <a:p>
            <a:r>
              <a:t>Если спросят, почему колонки названы именно так, а прежние «рано» и «никогда» сняты: оба прежних слова приглашали гадать, о какой стадии решения речь. Колонки отвечают на один прямой вопрос — нужен сервер для этой задачи или нет.</a:t>
            </a:r>
          </a:p>
          <a:p/>
          <a:p>
            <a:r>
              <a:t>Если спросят про дисциплину после подключения: периодически перечитывать конфигурацию и убирать неиспользуемые серверы. Каждый забытый сервер — налог на контекст, поверхность атаки и держатель ключей одновременно.</a:t>
            </a:r>
          </a:p>
          <a:p/>
          <a:p>
            <a:r>
              <a:t>Если спросят, как применить это к своему проекту прямо сегодня: взять одно действие, которое вы повторяете руками каждую неделю, и ответить по четырём строкам левой колонки. Если хоть одна не выполняется, подключение подождёт.</a:t>
            </a:r>
          </a:p>
          <a:p/>
          <a:p>
            <a:r>
              <a:t>Если спросят, меняется ли ответ со временем: меняется, и чаще в сторону «нужен». Разовое действие становится регулярным незаметно — ровно так, как в нашей сцене перенос задачи из трекера стал привычкой за месяц.</a:t>
            </a:r>
          </a:p>
          <a:p/>
          <a:p>
            <a:r>
              <a:t>Если спросят, что делать, когда трио достроено, а доступ всё равно нужен: разрывать трио. Сузить права до одного репозитория, убрать канал наружу, вынести чтение чужого текста в отдельную сессию без доступа к приватным данным — хватает любой одной из трёх ножек.</a:t>
            </a:r>
          </a:p>
          <a:p/>
          <a:p>
            <a:r>
              <a:t>Если спросят, относится ли правая колонка к MCP вообще или к конкретной задаче: к задаче. Тот же сервер для одной работы избыточен, для соседней необходим, и решается это каждый раз заново, по четырём строкам левой колонки.</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Второй случай этого блока начинаем с конца — с того, чем он кончился.</a:t>
            </a:r>
          </a:p>
          <a:p/>
          <a:p>
            <a:r>
              <a:t>Пять рабочих дней разработчик верил зелёной отметке подключения. Каждое утро он просил агента разобрать входящие задачи и каждое утро получал ответ, который звучал как итог работы. К пятнице выяснилось: в трекер агент не заходил ни разу.</a:t>
            </a:r>
          </a:p>
          <a:p/>
          <a:p>
            <a:r>
              <a:t>При этом никто не ошибся. Сервер собран честно, права вычеркнуты, ключ лежит в переменной окружения. Проверка тоже была настоящей: статус горел зелёным и говорил правду. Отвечал он на другой вопрос — поднялся ли процесс.</a:t>
            </a:r>
          </a:p>
          <a:p/>
          <a:p>
            <a:r>
              <a:t>Дальше смотрим, как неделя дошла до пятницы и чем её стоило проверять.</a:t>
            </a:r>
          </a:p>
          <a:p/>
          <a:p>
            <a:r>
              <a:t>Если спросят, не повтор ли это первого случая: там мы решали, подключать ли вообще и с какими правами. Здесь сервер уже подключён и собран честно — ломается другое: разница между «процесс поднялся» и «агент обратился к серверу».</a:t>
            </a:r>
          </a:p>
          <a:p/>
          <a:p>
            <a:r>
              <a:t>Если спросят, зачем отдельный кейс на это: интуиция здесь ошибается систематически — зелёный индикатор читается как «агент пользуется сервером», а индикатор по конструкции отвечает только за процесс.</a:t>
            </a:r>
          </a:p>
          <a:p/>
          <a:p>
            <a:r>
              <a:t>Если спросят, понадобится ли это тому, у кого один-единственный сервер: да, ровно в той же мере — число серверов не меняет механику статуса.</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та же неделя изнутри, с понедельника.</a:t>
            </a:r>
          </a:p>
          <a:p/>
          <a:p>
            <a:r>
              <a:t>Сервер доступа к трекеру — тот самый, что мы собрали в прошлом кейсе, — стоит две недели. В понедельник разработчик просит агента разобрать входящие задачи за выходные и подготовить черновики. Ответ звучит как итог работы.</a:t>
            </a:r>
          </a:p>
          <a:p/>
          <a:p>
            <a:r>
              <a:t>Вторник, среда, четверг — то же самое каждое утро. Ответы разные: «всё сделал», «новых задач не нашёл», «во входящих пусто». Все три звучат честно, и он пересылает их заказчику.</a:t>
            </a:r>
          </a:p>
          <a:p/>
          <a:p>
            <a:r>
              <a:t>Он не сидел сложа руки. В среду посмотрел статус подробнее, в четверг спросил агента напрямую, почему тот считает, что задач нет. Всё сошлось.</a:t>
            </a:r>
          </a:p>
          <a:p/>
          <a:p>
            <a:r>
              <a:t>В пятницу заказчик спрашивает про задачу, которую завёл во вторник. В репозитории за неделю — ни черновика, ни комментария. Пять дней ответов, собранных из общих соображений о том, что обычно лежит в трекере.</a:t>
            </a:r>
          </a:p>
          <a:p/>
          <a:p>
            <a:r>
              <a:t>Если спросят, почему три реплики: чтобы снять ложное чувство, что проблема во лжи агента. «Не нашёл» и «пусто» звучат честно, но ни одна из трёх реплик не наблюдение за сервером — агент мог ни разу к нему не обратиться и ответить по смыслу задачи.</a:t>
            </a:r>
          </a:p>
          <a:p/>
          <a:p>
            <a:r>
              <a:t>Если спросят, почему неделя прошла незамеченной: такой сбой не даёт сигнала, по которому стоило бы пойти проверить раньше. Первым сигналом оказался заказчик.</a:t>
            </a:r>
          </a:p>
          <a:p/>
          <a:p>
            <a:r>
              <a:t>Если спросят, бывает ли наоборот — статус красный, а всё работает: формально да, временная сетевая ошибка на старте даёт ложный отказ. Это другой, более заметный класс сбоя: красный статус хотя бы привлекает внимание.</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из этих четырёх проверок он за неделю сделал — и остался без ответа. Выберите ту, которой ему не хватило, и скажите, чем она отличается от остальных трёх.</a:t>
            </a:r>
          </a:p>
          <a:p/>
          <a:p>
            <a:r>
              <a:t>Четыре карточки: ничего — статус зелёный; посмотреть, что именно показывает статус подробнее; спросить агента, почему он решил, что всё сделал; явно попросить агента обратиться к серверу по имени и показать вызов.</a:t>
            </a:r>
          </a:p>
          <a:p/>
          <a:p>
            <a:r>
              <a:t>Карточку назовут быстро. Важнее вторая половина вопроса: что эта проверка даёт такого, чего не дают три остальные?</a:t>
            </a:r>
          </a:p>
          <a:p/>
          <a:p>
            <a:r>
              <a:t>Если спросят, почему среди карточек нет «удалить и подключить заново» и «написать автору»: это реальные ходы, но не первые — к ним кейс возвращается в границе применимости, когда более дешёвые варианты уже не сработали.</a:t>
            </a:r>
          </a:p>
          <a:p/>
          <a:p>
            <a:r>
              <a:t>Если зал говорит «она надёжнее» или «она точнее»: попросите сказать конкретно, что именно появится на экране после неё, — ответ про видимый след и есть материал разбора.</a:t>
            </a:r>
          </a:p>
          <a:p/>
          <a:p>
            <a:r>
              <a:t>Если прозвучит «проблема в формулировке задачи, а сервер ни при чём»: придержите эту мысль — ровно это разбирается через слайд, и там видно, что одно от другого не отделяется.</a:t>
            </a:r>
          </a:p>
          <a:p/>
          <a:p>
            <a:r>
              <a:t>Если кто-то всерьёз выберет «ничего — статус зелёный»: это и есть то, что человек в сцене делал пять дней подряд; спросите, что он за эти пять дней получил.</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Разбираю все четыре. Ничего — статус зелёный — доказало ровно одно: процесс сервера поднят и ответил на рукопожатие. Обращался ли к нему агент в этой задаче — отдельный факт, статус его не несёт.</a:t>
            </a:r>
          </a:p>
          <a:p/>
          <a:p>
            <a:r>
              <a:t>Статус подробнее — сузил круг причин: различает «процесс не поднялся», «список инструментов не получен», «нужна авторизация». Вызывал ли агент сервер именно сейчас, и это не показывает.</a:t>
            </a:r>
          </a:p>
          <a:p/>
          <a:p>
            <a:r>
              <a:t>Вопрос агенту — иногда вскрывает причину сразу: агент признаётся, что не нашёл способа проверить и ответил по смыслу задачи. Но в ответ приходит пересказ его собственного понимания, наблюдения за транспортом в этом пересказе нет.</a:t>
            </a:r>
          </a:p>
          <a:p/>
          <a:p>
            <a:r>
              <a:t>Ни одна из трёх проверок не соврала. Каждая сказала правду о своём, и ни одна — о том, ради чего её делали. Работу агента с сервером доказывает четвёртая: вызов инструмента в выводе подписан именем сервера. Пять дней человек проверял — и проверял не то.</a:t>
            </a:r>
          </a:p>
          <a:p/>
          <a:p>
            <a:r>
              <a:t>А теперь про вас. Поднимите руку, у кого прямо сейчас подключён хоть один сервер. Теперь — у кого за последнюю неделю имя этого сервера появлялось в выводе агента. Разница между двумя руками и есть этот кейс.</a:t>
            </a:r>
          </a:p>
          <a:p/>
          <a:p>
            <a:r>
              <a:t>Если спросят, почему «спросить агента» вообще в списке, если ему нельзя верить: это дешёвый шаг, который иногда сразу вскрывает причину. Цена ошибки здесь в готовности остановиться на таком ответе.</a:t>
            </a:r>
          </a:p>
          <a:p/>
          <a:p>
            <a:r>
              <a:t>Если спросят, что считать «видимым следом»: строку вызова инструмента, подписанную именем сервера, в выводе той же сессии — её видно без дополнительных команд.</a:t>
            </a:r>
          </a:p>
          <a:p/>
          <a:p>
            <a:r>
              <a:t>Если спросят, почему тогда не проверять именованным вызовом всё подряд: он стоит одной строки в запросе, и при подозрении на тишину его стоит делать всегда; общая привычка называть сервер по имени разбирается на следующих двух слайдах.</a:t>
            </a:r>
          </a:p>
          <a:p/>
          <a:p>
            <a:r>
              <a:t>Если спросят, можно ли было заметить раньше без всякой проверки: заказчик и оказался тем, кто заметил, — пять дней это единственный сигнал, который сработал.</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сам приём. Команда статуса — </a:t>
            </a:r>
            <a:r>
              <a:rPr>
                <a:latin typeface="Consolas"/>
              </a:rPr>
              <a:t>claude mcp list</a:t>
            </a:r>
            <a:r>
              <a:t> из терминала или </a:t>
            </a:r>
            <a:r>
              <a:rPr>
                <a:latin typeface="Consolas"/>
              </a:rPr>
              <a:t>/mcp</a:t>
            </a:r>
            <a:r>
              <a:t> внутри сессии — различает больше, чем одно слово «подключено»: отдельно видно, поднялся ли сам процесс и удалось ли получить список инструментов. Это по-прежнему факт про процесс. Обращался ли к серверу агент в конкретной задаче — статус об этом не знает. Это два разных факта, и путают их постоянно, в том числе люди опытные.</a:t>
            </a:r>
          </a:p>
          <a:p/>
          <a:p>
            <a:r>
              <a:t>Минимальное доказательство — явное упоминание сервера в запросе: «используя сервер такой-то, узнай…». Признак, что ответ пришёл именно оттуда, — вызов инструмента в выводе подписан именем сервера. Тот же механизм мы видели на одностраничнике MCP в начале блока: ответ сервера идёт отдельным каналом и подписывается его именем.</a:t>
            </a:r>
          </a:p>
          <a:p/>
          <a:p>
            <a:r>
              <a:t>И отдельно: долгий ответ не всегда сбой. Запуск сервера и выполнение уже начатого вызова идут по разным часам, второе объективно дольше.</a:t>
            </a:r>
          </a:p>
          <a:p/>
          <a:p>
            <a:r>
              <a:t>Если спросят про статусы подробнее — коды, которые реально возвращает </a:t>
            </a:r>
            <a:r>
              <a:rPr>
                <a:latin typeface="Consolas"/>
              </a:rPr>
              <a:t>claude mcp list</a:t>
            </a:r>
            <a:r>
              <a:t>: кроме «Connected» продукт различает отдельно «Connected, но список инструментов получить не удалось», «нужна авторизация», «не удалось подключиться» и «ждёт одобрения проекта» — это задокументированные, не гипотетические состояния, но для кейса важно не перечисление кодов — то, что ни один из них не отвечает на вопрос «обращался ли агент к серверу».</a:t>
            </a:r>
          </a:p>
          <a:p/>
          <a:p>
            <a:r>
              <a:t>Если спросят про цифры тайм-аутов точнее: старт сервера ждёт тридцать секунд по умолчанию — частая ложная тревога, пока пакет ещё качается; выполнение уже вызванного инструмента — около суток. Переподключение после сбоя тоже устроено по-разному: удалённый сервер переподключается сам, локальный процесс — нет, нужна новая сессия или команда </a:t>
            </a:r>
            <a:r>
              <a:rPr>
                <a:latin typeface="Consolas"/>
              </a:rPr>
              <a:t>Reconnect</a:t>
            </a:r>
            <a:r>
              <a:t> из </a:t>
            </a:r>
            <a:r>
              <a:rPr>
                <a:latin typeface="Consolas"/>
              </a:rPr>
              <a:t>/mcp</a:t>
            </a:r>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Формулировка — часть проверки. Вернитесь к понедельнику той мёртвой недели: «посмотри, что скопилось, и подготовь черновики» — ровно та просьба, после которой проверять нечего. Она оставляет агенту выбор: он может честно попытаться вызвать сервер, а может ответить по смыслу задачи, ни разу к нему не обратившись. Оба случая выглядят как одинаковый ответ.</a:t>
            </a:r>
          </a:p>
          <a:p/>
          <a:p>
            <a:r>
              <a:t>Явное имя сервера в тексте запроса — «используя сервер трекера, выведи список открытых задач» — и есть доказательный вызов с прошлого слайда, применённый к формулировке. После такой просьбы есть что проверить: вызов инструмента в выводе либо подписан именем сервера, либо нет.</a:t>
            </a:r>
          </a:p>
          <a:p/>
          <a:p>
            <a:r>
              <a:t>Если спросят, не слишком ли это узкая привычка для одной диагностики: нет, это общая формулировка задачи при работе с любым подключённым сервером, не только в момент подозрения — явное имя дешевле стоит, чем расследование постфактум.</a:t>
            </a:r>
          </a:p>
          <a:p/>
          <a:p>
            <a:r>
              <a:t>Если спросят, не раздражает ли агента такая прямая формулировка или не мешает ли она ему самому выбрать подходящий инструмент: нет — явное имя сервера не запрещает агенту делать что-то ещё, оно лишь однозначно называет, через какой канал должен пройти именно этот шаг.</a:t>
            </a:r>
          </a:p>
          <a:p/>
          <a:p>
            <a:r>
              <a:t>Если спросят, работает ли это и для менее срочных задач, не только при подозрении на сбой: да, это обычная формулировка — подозрение делает её необходимой, не только желательной.</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кейс не меняет конфигурацию: его решение процедурное, и честнее сказать это прямо. В тот же файл инструкций проекта, где уже живёт правило про ветки, добавляется короткая строка: после подключения любого сервера и после любого подозрения в тишине — явный именованный вызов, прежде чем доверять зелёному статусу. Та самая строка, которой не хватало в начале той недели.</a:t>
            </a:r>
          </a:p>
          <a:p/>
          <a:p>
            <a:r>
              <a:t>Почему именно в CLAUDE.md, не хуком, — вопрос честный, и ответ опирается на то, что мы уже видели в прошлом занятии. Там в одном и том же файле стояли рядом два разных вида правил: «Repository etiquette» — текст, который читает человек или агент и решает, следовать ли ему, и «Хук защиты ветки» — настоящий код, который срабатывает сам на git-команду, без участия решения в моменте. Хук умеет реагировать только на чётко описанное событие: команда, имя файла, код выхода. «После подозрения в тишине» — не такое событие: его нельзя заранее формально описать, оно требует, чтобы кто-то заметил и решил, что пора проверить. Вот почему это строка в CLAUDE.md, не механизм.</a:t>
            </a:r>
          </a:p>
          <a:p/>
          <a:p>
            <a:r>
              <a:t>Если спросят, не слабое ли это решение по сравнению с автоматическим барьером из первого кейса блока: да, оно слабее барьера именно по этой причине — и это честно: не каждая проблема решается механизмом, часть решается дисциплиной, записанной текстом.</a:t>
            </a:r>
          </a:p>
          <a:p/>
          <a:p>
            <a:r>
              <a:t>Если спросят, почему строка идёт именно в тот же файл, не в отдельный: проект уже выбрал этот файл местом для процедурных правил — повторное изобретение формата не нужно.</a:t>
            </a:r>
          </a:p>
          <a:p/>
          <a:p>
            <a:r>
              <a:t>Если спросят, что вообще такое CLAUDE.md, если кто-то пропустил прошлое занятие: это файл инструкций проекта, который читает агент в начале каждой сессии — то, что в нём написано, не исполняется автоматически, но агент это видит и обычно следует этому, в отличие от хука, который исполняется кодом независимо от того, прочитал его кто-то или нет.</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случая, прежде чем идти дальше, — рассказываю по тому, к чему это привело, не по техническим внутренностям.</a:t>
            </a:r>
          </a:p>
          <a:p/>
          <a:p>
            <a:r>
              <a:t>Первый: команда работала с MCP-сервером для баз данных одного известного производителя в режиме, который считали ограниченным только чтением, — именно для того, чтобы агент не мог ничего испортить в чужой базе. На деле флаг этого режима не делал соединение реально ограниченным: разработчики сервера сами были уверены, что ограничение работает, пока кто-то не выполнил запрос с реальным побочным эффектом и не увидел, что он прошёл. Это и был единственный способ узнать — не чтение настройки.</a:t>
            </a:r>
          </a:p>
          <a:p/>
          <a:p>
            <a:r>
              <a:t>Второй — из нашего же проекта. Один из подключённых серверов однажды тихо потерял доступ: инструменты, которые вчера работали, перестали работать без предупреждения. Статус подключения продолжал показывать «подключён» — ничего не выглядело сломанным, пока кто-то реально не попробовал вызвать инструмент и не наткнулся на отказ входа. Причина — в настройке авторизации на стороне сервиса, не в самом подключении.</a:t>
            </a:r>
          </a:p>
          <a:p/>
          <a:p>
            <a:r>
              <a:t>Оба случая раскрылись одинаково — реальным действием с наблюдаемым результатом, не чтением настройки сервера.</a:t>
            </a:r>
          </a:p>
          <a:p/>
          <a:p>
            <a:r>
              <a:t>Если спросят, как часто такое случается: системных измерений частоты именно этого класса сбоя нет — честный пробел, но оба примера документированы: один как официальная уязвимость с номером (CVE-2026-61788, DBHub, CVSS 7,4 из 10 — флаг </a:t>
            </a:r>
            <a:r>
              <a:rPr>
                <a:latin typeface="Consolas"/>
              </a:rPr>
              <a:t>readonly</a:t>
            </a:r>
            <a:r>
              <a:t> у инструмента </a:t>
            </a:r>
            <a:r>
              <a:rPr>
                <a:latin typeface="Consolas"/>
              </a:rPr>
              <a:t>execute_sql</a:t>
            </a:r>
            <a:r>
              <a:t> ссылался на поле конфигурации, которое никогда не заполнялось), другой — как реальный инцидент этого же проекта (</a:t>
            </a:r>
            <a:r>
              <a:rPr>
                <a:latin typeface="Consolas"/>
              </a:rPr>
              <a:t>workspace-mcp</a:t>
            </a:r>
            <a:r>
              <a:t>, </a:t>
            </a:r>
            <a:r>
              <a:rPr>
                <a:latin typeface="Consolas"/>
              </a:rPr>
              <a:t>[#49]</a:t>
            </a:r>
            <a:r>
              <a:t>: OAuth-приложение в статусе </a:t>
            </a:r>
            <a:r>
              <a:rPr>
                <a:latin typeface="Consolas"/>
              </a:rPr>
              <a:t>Testing</a:t>
            </a:r>
            <a:r>
              <a:t> автоматически отзывает </a:t>
            </a:r>
            <a:r>
              <a:rPr>
                <a:latin typeface="Consolas"/>
              </a:rPr>
              <a:t>refresh_token</a:t>
            </a:r>
            <a:r>
              <a:t> через 7 дней без активности; в статусе </a:t>
            </a:r>
            <a:r>
              <a:rPr>
                <a:latin typeface="Consolas"/>
              </a:rPr>
              <a:t>In production</a:t>
            </a:r>
            <a:r>
              <a:t> тот же токен не отзывается вовсе).</a:t>
            </a:r>
          </a:p>
          <a:p/>
          <a:p>
            <a:r>
              <a:t>Если спросят, можно ли было поймать оба случая раньше: только реальным действием с наблюдаемым результатом, не чтением настройки сервера, — ровно то, чему учит этот кейс целиком.</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Достаточно посмотреть на статус, если сервер используется нерегулярно и каждый вызов проходит под наблюдением человека.</a:t>
            </a:r>
          </a:p>
          <a:p/>
          <a:p>
            <a:r>
              <a:t>Довериться флагу, который сервер не может независимо подтвердить, не стоит никогда: его проверяют явным вызовом. Если задаче хватило бы режима только чтения, а сервер не даёт способа убедиться, что режим включён, — разумнее завести отдельную роль с урезанными правами на уровне самой базы данных. Права, выданные самой базой, держатся сами; обещание флага держится на честности сервера.</a:t>
            </a:r>
          </a:p>
          <a:p/>
          <a:p>
            <a:r>
              <a:t>Третья граница — там, где перестаёт работать сам приём этого кейса. Если явный вызов систематически не проходит и автор сервера молчит, дешёвые шаги исчерпаны: вопрос возвращается туда же, где решался первый кейс блока, — подключать ли сервер вообще.</a:t>
            </a:r>
          </a:p>
          <a:p/>
          <a:p>
            <a:r>
              <a:t>Мы научились проверять, что подключённое действительно работает. Следующий вопрос — что происходит с тем, что мы один раз уже одобрили.</a:t>
            </a:r>
          </a:p>
          <a:p/>
          <a:p>
            <a:r>
              <a:t>Если спросят, не противоречит ли это выводу прошлого кейса, где мы вычёркивали права: нет, это следующий шаг того же рассуждения — там мы решали, какие права выдать, здесь — как проверить, что выданное действительно делает заявленное, и где эта проверка сама упирается в предел.</a:t>
            </a:r>
          </a:p>
          <a:p/>
          <a:p>
            <a:r>
              <a:t>Если спросят про периодичность проверки: прямых измерений, как часто нужно перепроверять, не существует ни в одном источнике — структурный критерий тот же, что в прошлом кейсе: регулярность использования, не календарь.</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случай этого блока. Пятница, вечер перед показом. Разработчик открывает описание инструмента, который одобрил три недели назад, — и читает другой текст.</a:t>
            </a:r>
          </a:p>
          <a:p/>
          <a:p>
            <a:r>
              <a:t>Настройку он не трогал. Модель никто не обманывал. Нового запроса на разрешение не приходило ни разу — и по устройству клиента прийти он не мог.</a:t>
            </a:r>
          </a:p>
          <a:p/>
          <a:p>
            <a:r>
              <a:t>Одобрение осталось при нём. Сменилось то, на что оно выдано. Разбираем, что с этим делать.</a:t>
            </a:r>
          </a:p>
          <a:p/>
          <a:p>
            <a:r>
              <a:t>---</a:t>
            </a:r>
          </a:p>
          <a:p/>
          <a:p>
            <a:r>
              <a:rPr b="1"/>
              <a:t>Справка.</a:t>
            </a:r>
          </a:p>
          <a:p/>
          <a:p>
            <a:r>
              <a:rPr i="1"/>
              <a:t>При чём тут предыдущие два случая.</a:t>
            </a:r>
            <a:r>
              <a:t> Первый был про то, что подключать и с какими правами. Второй — про то, как проверить, что подключённое работает. Этот про время: остаётся ли вчерашнее решение верным сегодня без вашего участия.</a:t>
            </a:r>
          </a:p>
          <a:p/>
          <a:p>
            <a:r>
              <a:rPr i="1"/>
              <a:t>Почему это не часть первого случая.</a:t>
            </a:r>
            <a:r>
              <a:t> Там решение принималось один раз, в момент подключения. Здесь речь о том, что происходит после — без нового решения с вашей стороны и без события, которое его потребовало бы.</a:t>
            </a:r>
          </a:p>
          <a:p/>
          <a:p>
            <a:r>
              <a:rPr i="1"/>
              <a:t>Если спросят, не выдумка ли эта пятница.</a:t>
            </a:r>
            <a:r>
              <a:t> Сцена учебная, как и все сцены занятия: проект настоящий, ситуация собрана из типовых. Проверяемые случаи стоят отдельно и всегда с источником — три таких будут через несколько экранов.</a:t>
            </a:r>
          </a:p>
          <a:p/>
          <a:p>
            <a:r>
              <a:rPr i="1"/>
              <a:t>Если прозвучит «значит, кто-то взломал сервер».</a:t>
            </a:r>
            <a:r>
              <a:t> Нет, и это самое важное в кейсе: взлома здесь может не быть вовсе. Обычное обновление пакета меняет текст описания тем же путём, каким его сменил бы злоумышленник.</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недели назад разработчик подключил сервер уведомлений: сообщение в рабочий канал при каждом успешном прогоне тестов перед показом. Инструмент он одобрил один раз, при первом вызове, и прочитал тогда одну строку описания — отправляет короткое сообщение в канал.</a:t>
            </a:r>
          </a:p>
          <a:p/>
          <a:p>
            <a:r>
              <a:t>В пятницу перед показом он открывает это описание снова, по совсем другому поводу: хочет перенести формулировку в файл решений. Строк там три. Третья говорит, что к сообщению прикладываются последние изменённые файлы — чтобы оно было информативным.</a:t>
            </a:r>
          </a:p>
          <a:p/>
          <a:p>
            <a:r>
              <a:t>Пакет подключён без зафиксированной версии и при каждом старте забирает последнюю. Уведомления всё это время приходили, как и раньше, поэтому замечать было нечего.</a:t>
            </a:r>
          </a:p>
          <a:p/>
          <a:p>
            <a:r>
              <a:t>Цена: вечер пятницы ушёл на три недели истории канала — что из приватного репозитория туда уехало и что успел прочитать подрядчик, которого добавили в канал в прошлом месяце. Показ он начал, не дочитав.</a:t>
            </a:r>
          </a:p>
          <a:p/>
          <a:p>
            <a:r>
              <a:t>И то, с чего мы начали: за эти три недели его не спросили ни разу.</a:t>
            </a:r>
          </a:p>
          <a:p/>
          <a:p>
            <a:r>
              <a:t>---</a:t>
            </a:r>
          </a:p>
          <a:p/>
          <a:p>
            <a:r>
              <a:rPr b="1"/>
              <a:t>Справка.</a:t>
            </a:r>
          </a:p>
          <a:p/>
          <a:p>
            <a:r>
              <a:rPr i="1"/>
              <a:t>Если спросят, не выдумка ли это.</a:t>
            </a:r>
            <a:r>
              <a:t> Сцена учебная, как и все сцены занятия: проект настоящий, ситуация собрана из типовых. Проверяемые случаи с источниками стоят отдельно, через несколько экранов.</a:t>
            </a:r>
          </a:p>
          <a:p/>
          <a:p>
            <a:r>
              <a:rPr i="1"/>
              <a:t>Если спросят, почему клиент не предупредил.</a:t>
            </a:r>
            <a:r>
              <a:t> Предупреждать было не о чем: имя инструмента осталось прежним, а разрешение выдано имени. Механику разберём в этом же случае, на четвёртом экране отсюда.</a:t>
            </a:r>
          </a:p>
          <a:p/>
          <a:p>
            <a:r>
              <a:rPr i="1"/>
              <a:t>Если спросят, откуда известно, что сервер обновился.</a:t>
            </a:r>
            <a:r>
              <a:t> Команда подключения без зафиксированной версии забирает последнюю доступную версию пакета при каждом старте — это свойство самого способа подключения, не наблюдение задним числом.</a:t>
            </a:r>
          </a:p>
          <a:p/>
          <a:p>
            <a:r>
              <a:rPr i="1"/>
              <a:t>Если спросят, нормально ли, что три недели это шло незаметно.</a:t>
            </a:r>
            <a:r>
              <a:t> Да. Незаметность здесь — следствие того, как подключён сервер; внимательность команды к этому отношения не имеет.</a:t>
            </a:r>
          </a:p>
          <a:p/>
          <a:p>
            <a:r>
              <a:rPr i="1"/>
              <a:t>Если спросят, злой ли это умысел автора сервера.</a:t>
            </a:r>
            <a:r>
              <a:t> Неизвестно, и для кейса это безразлично: обычное обновление меняет текст описания ровно тем же путём. Разбор на следующих экранах работает одинаково в обоих случаях.</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Сервер одобрили один раз, три недели назад, и с тех пор не трогали его настройку. Что вы ставите первым шагом в работе с уже одобренными серверами — и что добавляете к этому следующим?</a:t>
            </a:r>
          </a:p>
          <a:p/>
          <a:p>
            <a:r>
              <a:t>Пять карточек: ничего — одобрили один раз, вопрос решён; перечитывать описание инструмента при каждом обновлении; зафиксировать версию сервера; запретить автообновление пакета; сервер официальный — значит не обновляется тайно.</a:t>
            </a:r>
          </a:p>
          <a:p/>
          <a:p>
            <a:r>
              <a:t>Держите в голове пятницу: за три недели его не спросили ни разу.</a:t>
            </a:r>
          </a:p>
          <a:p/>
          <a:p>
            <a:r>
              <a:t>---</a:t>
            </a:r>
          </a:p>
          <a:p/>
          <a:p>
            <a:r>
              <a:rPr b="1"/>
              <a:t>Справка.</a:t>
            </a:r>
          </a:p>
          <a:p/>
          <a:p>
            <a:r>
              <a:rPr i="1"/>
              <a:t>Если зал разделится между «зафиксировать версию» и «перечитывать описание».</a:t>
            </a:r>
            <a:r>
              <a:t> Это и есть материал разбора: обе карточки окажутся частями одного ответа, не конкурентами. Деление принимаю, спор не развожу.</a:t>
            </a:r>
          </a:p>
          <a:p/>
          <a:p>
            <a:r>
              <a:rPr i="1"/>
              <a:t>Если прозвучит «а что если автор сервера сам не публикует изменения».</a:t>
            </a:r>
            <a:r>
              <a:t> Хороший вопрос, держу его до разбора: там названо, что доверие привязано к имени сервера, к содержимому — нет.</a:t>
            </a:r>
          </a:p>
          <a:p/>
          <a:p>
            <a:r>
              <a:rPr i="1"/>
              <a:t>Если кто-то уверенно называет «официальный — не обновляется тайно».</a:t>
            </a:r>
            <a:r>
              <a:t> Не разворачивайте спор сразу: следующий экран сделает это предметно, через конкретное различие между злым умыслом и обычным обновлением.</a:t>
            </a:r>
          </a:p>
          <a:p/>
          <a:p>
            <a:r>
              <a:rPr i="1"/>
              <a:t>Если прозвучит «надо, чтобы клиент переспрашивал каждый раз».</a:t>
            </a:r>
            <a:r>
              <a:t> Такое есть, и оно единственное: автор сервера может пометить действие особой отметкой. Это механика через два экрана, и у неё есть оговорка, из-за которой на неё нельзя рассчитывать по умолчанию.</a:t>
            </a:r>
          </a:p>
          <a:p/>
          <a:p>
            <a:r>
              <a:rPr i="1"/>
              <a:t>Если никто не выберет «ничего».</a:t>
            </a:r>
            <a:r>
              <a:t> Хорошо, но вслух это стоит назвать: именно «ничего» и происходит по умолчанию у всех, кто не делал ни одного из остальных четырёх шагов.</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Сразу общее по всем пяти: повторного вопроса не вернёт ни одна. Спрашивать клиенту не о чем: разрешение выдано имени, имя прежнее. Разница в том, кто и когда заметит подмену.</a:t>
            </a:r>
          </a:p>
          <a:p/>
          <a:p>
            <a:r>
              <a:t>«Ничего» работает у сервера, который никогда не обновляется. Официальность тоже не гарантия: обычное обновление меняет текст описания тем же путём, что и злоумышленник.</a:t>
            </a:r>
          </a:p>
          <a:p/>
          <a:p>
            <a:r>
              <a:t>Запрет автообновления закрывает канал, но не говорит, какую версию держать. Фиксация версии даёт контролируемую точку и содержимое обновления при этом не читает. Перечитывание закрывает сам канал подмены, но требует, чтобы обновление заметили.</a:t>
            </a:r>
          </a:p>
          <a:p/>
          <a:p>
            <a:r>
              <a:t>Отсюда вывод: фиксация версии создаёт момент, когда вы узнаёте об обновлении, перечитывание говорит, что в этот момент прочитать.</a:t>
            </a:r>
          </a:p>
          <a:p/>
          <a:p>
            <a:r>
              <a:t>---</a:t>
            </a:r>
          </a:p>
          <a:p/>
          <a:p>
            <a:r>
              <a:rPr b="1"/>
              <a:t>Справка.</a:t>
            </a:r>
          </a:p>
          <a:p/>
          <a:p>
            <a:r>
              <a:t>Если спросят, почему большинство клиентов, включая наш, не перепроверяют описание при каждом вызове: доверие привязано к имени инструмента, не к текущему тексту его описания — так устроена архитектура протокола, не недосмотр одного продукта. Разберём это в механике дальше.</a:t>
            </a:r>
          </a:p>
          <a:p/>
          <a:p>
            <a:r>
              <a:t>Если спросят, не слишком ли это трудоёмко — перечитывать описание при каждом обновлении: трудоёмко читать при каждом обновлении, не при каждом вызове — частота события намного ниже, чем кажется на слух вопроса.</a:t>
            </a:r>
          </a:p>
          <a:p/>
          <a:p>
            <a:r>
              <a:t>Если спросят, зачем две меры сразу, если каждая работает по отдельности: фиксация версии без перечитывания оставляет вас уверенным в стабильности, которой вы не проверили; перечитывание без фиксации версии оставляет вас беззащитным перед обновлением, о котором вы не узнаете вовремя вовсе.</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причина пятницы. Доверие привязано к имени инструмента, не к тексту описания: одобрили имя — и дальше система доверяет всему, что приходит под этим именем. Текст под именем можно заменить целиком, переспрашивать будет нечего.</a:t>
            </a:r>
          </a:p>
          <a:p/>
          <a:p>
            <a:r>
              <a:t>Это свойство архитектуры протокола в целом. И у неё есть предусмотренное исключение: автор сервера может пометить действие особой отметкой, которая делает подтверждение обязательным на каждом вызове, без опции «больше не спрашивать» — даже там, где подтверждения обычно пропускаются. Для действий, где сам факт запроса согласия и есть смысл шага.</a:t>
            </a:r>
          </a:p>
          <a:p/>
          <a:p>
            <a:r>
              <a:t>Оговорка: отметку соблюдает Claude Code, это расширение клиента. Пунктом спецификации она не является, и другой клиент может её не прочитать.</a:t>
            </a:r>
          </a:p>
          <a:p/>
          <a:p>
            <a:r>
              <a:t>---</a:t>
            </a:r>
          </a:p>
          <a:p/>
          <a:p>
            <a:r>
              <a:rPr b="1"/>
              <a:t>Справка.</a:t>
            </a:r>
          </a:p>
          <a:p/>
          <a:p>
            <a:r>
              <a:t>Если спросят, почему протокол не устроен иначе — проверять описание каждый раз: это разрушило бы саму идею доверия по имени, ради которой клиенты не спрашивают подтверждение на каждый отдельный вызов одного и того же инструмента — иначе работа с сервером стала бы невозможной на практике.</a:t>
            </a:r>
          </a:p>
          <a:p/>
          <a:p>
            <a:r>
              <a:t>Если спросят, кто решает, что действие требует специальной отметки: автор сервера, на этапе написания самого сервера, не подключающая сторона — это находится за границей того, что мы разбираем сегодня (только подключение), но стоит знать, что такой механизм существует.</a:t>
            </a:r>
          </a:p>
          <a:p/>
          <a:p>
            <a:r>
              <a:t>Если спросят, защищает ли эта отметка от всего: нет, она защищает только то конкретное действие, которое ею помечено — остальные инструменты того же сервера подчиняются обычной логике доверия по имени.</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 он завёл в тот же вечер. Версия пакета зафиксирована прямо в команде запуска: последняя версия при каждом старте больше не подтягивается.</a:t>
            </a:r>
          </a:p>
          <a:p/>
          <a:p>
            <a:r>
              <a:t>И запись о том, что версия проверена: дата, номер версии, кто читал описание инструментов перед переходом. Туда же, куда в этом проекте уже уходят архитектурные решения, — нового формата файла здесь нет.</a:t>
            </a:r>
          </a:p>
          <a:p/>
          <a:p>
            <a:r>
              <a:t>Обратите внимание на круг: подмену поймала именно попытка завести такую запись. Пока её не вели, открывать описание было незачем.</a:t>
            </a:r>
          </a:p>
          <a:p/>
          <a:p>
            <a:r>
              <a:t>---</a:t>
            </a:r>
          </a:p>
          <a:p/>
          <a:p>
            <a:r>
              <a:rPr b="1"/>
              <a:t>Справка.</a:t>
            </a:r>
          </a:p>
          <a:p/>
          <a:p>
            <a:r>
              <a:t>Если спросят, как именно синтаксически фиксируется версия: через явное указание версии пакета прямо в команде запуска, тем же способом, каким обычно фиксируют версию любой зависимости проекта.</a:t>
            </a:r>
          </a:p>
          <a:p/>
          <a:p>
            <a:r>
              <a:t>Если спросят, не теряем ли мы при этом обновления безопасности сервера: теряем автоматическое получение, не доступ к обновлению вообще — обновление остаётся возможным, просто становится вашим явным решением: фоновым действием оно быть перестаёт.</a:t>
            </a:r>
          </a:p>
          <a:p/>
          <a:p>
            <a:r>
              <a:t>Если спросят, зачем запись в файл решений, если версия уже видна в конфигурации: конфигурация показывает, какая версия стоит сейчас, а запись решений показывает, что именно было проверено в момент перехода на неё, — это две разные вещи, и вторая исчезает, если её не записать отдельно.</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Теперь то же самое, но не у нас и с источником. Три случая, каждый острее: что случилось и как узнали.</a:t>
            </a:r>
          </a:p>
          <a:p/>
          <a:p>
            <a:r>
              <a:t>Контролируемый эксперимент, не анекдот: юникод-сокрытие инструкции в описании инструмента доставило её модели в восьми случаях из восьми, на трёх разных независимых серверных библиотеках. Повторного одобрения не потребовалось ни разу. При этом тот же фильтр по строковому совпадению не дал ни одного ложного срабатывания на контрольном наборе из двадцати пяти безобидных описаний — значит, причина лежит в самой архитектуре доверия по имени, фильтр здесь ни при чём.</a:t>
            </a:r>
          </a:p>
          <a:p/>
          <a:p>
            <a:r>
              <a:t>Кампания, спроектированная на обход ручной проверки: сервер, распространённый через двадцать три запроса на внесение правок за семьдесят четыре минуты с одного аккаунта, ведёт себя безобидно ровно три вызова — порог специально выше, чем глубина обычной проверки «попробовал, вроде работает». Только потом он переключается на поиск ключей доступа.</a:t>
            </a:r>
          </a:p>
          <a:p/>
          <a:p>
            <a:r>
              <a:t>И реальный тихий инцидент — наша пятница, доведённая до конца. Вредоносный код попал в обновление уже одобренного пакета: скрытая копия каждого письма уходила на адрес атакующего, без единого взлома. Около полутора недель это оставалось незамеченным, пока рассылку не заметили и пакет не сняли с npm.</a:t>
            </a:r>
          </a:p>
          <a:p/>
          <a:p>
            <a:r>
              <a:t>Фиксируйте версию сервера. Перечитывайте описание при обновлении. Повторно вас не спросят — заметить подмену можете только вы сами.</a:t>
            </a:r>
          </a:p>
          <a:p/>
          <a:p>
            <a:r>
              <a:t>---</a:t>
            </a:r>
          </a:p>
          <a:p/>
          <a:p>
            <a:r>
              <a:rPr b="1"/>
              <a:t>Справка.</a:t>
            </a:r>
          </a:p>
          <a:p/>
          <a:p>
            <a:r>
              <a:t>Если спросят про детали юникод-эксперимента: использован специальный диапазон символов, который терминал и редактор кода отображают как пустоту, но который целиком доходит до токенизатора модели — человек, читающий описание инструмента перед одобрением, физически не видит того, что видит модель.</a:t>
            </a:r>
          </a:p>
          <a:p/>
          <a:p>
            <a:r>
              <a:t>Если спросят, почему порог именно три вызова у кампании с подменой: это специально выше, чем глубина обычной ручной проверки перед доверием — рассчитано на то, чтобы пройти типичный тест-прогон «попробовал — вроде нормально».</a:t>
            </a:r>
          </a:p>
          <a:p/>
          <a:p>
            <a:r>
              <a:t>Если спросят про письма подробнее: подмена произошла через обновление самого пакета неделями позже первоначального одобрения, без заметного события — ни новое разрешение не запрашивалось, ни предупреждение не показывалось. Активный период скрытого копирования — около полутора недель, не дольше: пакет сняли с npm, когда рассылку заметили.</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Периодического внимания достаточно при трёх условиях сразу: сервер не обновляется автоматически, версия зафиксирована, обновление — ваше решение. Поодиночке ни одно не работает.</a:t>
            </a:r>
          </a:p>
          <a:p/>
          <a:p>
            <a:r>
              <a:t>Полагаться на «одобрили один раз» как на гарантию не нужно никогда: повторного вопроса не будет, тишина означает только то, что имя не менялось.</a:t>
            </a:r>
          </a:p>
          <a:p/>
          <a:p>
            <a:r>
              <a:t>Справа три уточнения. Если подтверждение обязано происходить на каждом вызове — нужна аннотация </a:t>
            </a:r>
            <a:r>
              <a:rPr>
                <a:latin typeface="Consolas"/>
              </a:rPr>
              <a:t>requiresUserInteraction</a:t>
            </a:r>
            <a:r>
              <a:t> у автора сервера, та самая из механики. Если автор её не поставил, технического принуждения нет вовсе: держит одна дисциплина версии и перечитывания, и для такой чувствительности её мало. Если мало и этого — шаг убирают из автоматизации, его выполняет человек.</a:t>
            </a:r>
          </a:p>
          <a:p/>
          <a:p>
            <a:r>
              <a:t>Теперь у нас есть доступ наружу — агент дотягивается до внешней системы, под правами, которые мы вычеркнули сами, и с проверкой, которую мы теперь умеем делать. Чем больше агент может сделать сам, тем острее следующий вопрос: одна и та же роль повторяется из сессии в сессию, или в каждой сессии её приходится объяснять заново?</a:t>
            </a:r>
          </a:p>
          <a:p/>
          <a:p>
            <a:r>
              <a:t>---</a:t>
            </a:r>
          </a:p>
          <a:p/>
          <a:p>
            <a:r>
              <a:rPr b="1"/>
              <a:t>Справка.</a:t>
            </a:r>
          </a:p>
          <a:p/>
          <a:p>
            <a:r>
              <a:t>Если спросят, применимо ли это к другим инструментам курса, не только к серверам: сама идея — одобрение не бессрочно — шире, чем протокол доступа наружу, но мы разбираем её именно здесь, потому что здесь у неё есть контролируемый эксперимент и реальный документированный инцидент — больше, чем общее рассуждение.</a:t>
            </a:r>
          </a:p>
          <a:p/>
          <a:p>
            <a:r>
              <a:t>Если спросят, что делать, если сервер уже обновился незаметно, и вы это только что обнаружили: сравнить текущее поведение с ожидаемым тем же способом, что в прошлом кейсе — минимальным именованным вызовом, — и, если расхождение найдено, откатиться на зафиксированную проверенную версию: последней в этом случае не доверяют.</a:t>
            </a:r>
          </a:p>
          <a:p/>
          <a:p>
            <a:r>
              <a:t>Если спросят, чем всё кончилось у разработчика из пятницы: версия зафиксирована, запись в файле решений заведена, три недели истории канала прочитаны. Подрядчика из канала он вывел — это дешевле, чем выяснять, что именно тот успел прочитать.</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Доступ наружу у агента уже есть: сервер отдаёт ему то, чего в репозитории не было. Второй ход встречный. Часть работы уходит отдельному исполнителю с собственным окном; делегировать так вы уже умеете, и это не стоит ни строчки настройки.</a:t>
            </a:r>
          </a:p>
          <a:p/>
          <a:p>
            <a:r>
              <a:t>Первая развилка ступени — цена короткого ответа. Что с ней делать, я спрошу через несколько экранов. Догадку, которая придёт вам сейчас, запомните: мы её проверим.</a:t>
            </a:r>
          </a:p>
          <a:p/>
          <a:p>
            <a:r>
              <a:t>Если спросят, при чём тут предыдущий блок: доступ наружу увеличивает то, что агент способен сделать сам за один присест, и вместе с объёмом работы растёт объём чтения, который эта работа втягивает в окно сессии. Два хода встречные, а предел у них один и тот же.</a:t>
            </a:r>
          </a:p>
          <a:p/>
          <a:p>
            <a:r>
              <a:t>Если прозвучит «так ведь отдельный исполнитель просто прочитает быстрее» — не спорить и не подтверждать. Это та самая догадка, которую я прошу запомнить: записываю её вслух как версию зала и возвращаюсь к ней на разборе. Там её проверяет счёт файлов, и этого достаточно.</a:t>
            </a:r>
          </a:p>
          <a:p/>
          <a:p>
            <a:r>
              <a:t>Если спросят, почему развилка стоит раньше устройства роли: потому что следующие два экрана отвечают на вопрос «что это такое», а развилка задаёт вопрос «зачем». Устройство без причины запоминается как описание формата файла, и ровно на это указал владелец кругом раньше.</a:t>
            </a:r>
          </a:p>
          <a:p/>
          <a:p>
            <a:r>
              <a:t>Если спросят, сколько стоит само делегирование: заведение роли — ноль строчек настройки, это правда. Масштаб стоит иначе, и цифра для него стоит шестым блоком на следующем экране, а подробности и честный пробел — в свидетельствах третьего кейса ступени.</a:t>
            </a:r>
          </a:p>
          <a:p/>
          <a:p>
            <a:r>
              <a:t>Если спросят, откуда взялись сорок файлов: это сцена через два экрана, обычный продуктовый случай, где одно правило разъехалось по кодовой базе за два года. Число названо там и держится всем кейсом.</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разбирать первый кейс — одна вещь, которая нужна во всех трёх разборах этой ступени. Отдельная роль — это процесс со своим контекстным окном, вызываемый на одну задачу. Вызывают его по имени явно, либо модель выбирает сама — по описанию роли, не по её названию. Задача приходит текстом, роль возвращает только итог: ни какие файлы она открыла, ни какие запросы сделала, родитель не видит. И последнее: список инструментов определяет, что роль может сделать физически. Если список не указан вовсе, роль получает все инструменты, доступные субагентам, без исключений.</a:t>
            </a:r>
          </a:p>
          <a:p/>
          <a:p>
            <a:r>
              <a:t>Приём, о котором говорим, не привязан к одному инструменту: отдельная роль со своим контекстным окном есть у нескольких продуктов. Запись при этом у каждого своя: где-то это markdown с инструкцией телом файла, у одного — формат с отдельным полем для инструкции. Общей спецификации нет ни у одного.</a:t>
            </a:r>
          </a:p>
          <a:p/>
          <a:p>
            <a:r>
              <a:t>Если спросят, зачем называть переносимость здесь, до разбора кейсов: чтобы не прозвучало как универсальный стандарт раньше времени — весь материал ступени привязан к конкретному продукту, и это стоит сказать сразу, не оговоркой потом.</a:t>
            </a:r>
          </a:p>
          <a:p/>
          <a:p>
            <a:r>
              <a:t>Если спросят про исключение «форк»: есть режим, который наследует всё целиком — тот же промпт, те же права, всю историю; в нашей сцене мы им не пользуемся, но путать его с обычным вызовом не стоит.</a:t>
            </a:r>
          </a:p>
          <a:p/>
          <a:p>
            <a:r>
              <a:t>Если спросят, кто решает, когда вызывать роль по имени, а когда дать модели выбрать самой: оба способа реальны — явный вызов снимает вопрос маршрутизации полностью, выбор моделью зависит от того, насколько точно описание роли называет задачу.</a:t>
            </a:r>
          </a:p>
          <a:p/>
          <a:p>
            <a:r>
              <a:t>Если спросят, чем это отличается от нового чата в соседнем окне: окно у нового чата тоже своё, и этим сходство кончается. Роль зовут изнутри сессии, итог возвращается в неё сам, переносить руками нечего. Поведение роли задано файлом, поэтому второй вызов повторяет первый. И права у неё можно урезать списком — у соседнего окна списка прав нет.</a:t>
            </a:r>
          </a:p>
          <a:p/>
          <a:p>
            <a:r>
              <a:t>Если спросят, помнит ли роль прошлый вызов: не помнит. Каждый вызов поднимает своё окно с нуля, между вызовами не переносится ничего. Это то же свойство, из которого кейс получает свою пользу, прочитанное с другой стороны: окно одноразовое, и поэтому чистое.</a:t>
            </a:r>
          </a:p>
          <a:p/>
          <a:p>
            <a:r>
              <a:t>Если спросят, какая из трёх строк таблицы важнее для сегодняшнего кейса: вторая. Именно из «возвращается только итог» следует, что окно вызывающей сессии остаётся свободным, сколько бы файлов роль ни открыла. Первая строка понадобится третьему кейсу, третья — ему же, когда права будем собирать руками.</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разбирать кейсы — вся роль сразу, шесть частей. К этому экрану я возвращаюсь всю ступень.</a:t>
            </a:r>
          </a:p>
          <a:p/>
          <a:p>
            <a:r>
              <a:t>Где объявляется — файл </a:t>
            </a:r>
            <a:r>
              <a:rPr>
                <a:latin typeface="Consolas"/>
              </a:rPr>
              <a:t>.claude/agents/&lt;имя&gt;.md</a:t>
            </a:r>
            <a:r>
              <a:t> в репозитории. </a:t>
            </a:r>
            <a:r>
              <a:rPr>
                <a:latin typeface="Consolas"/>
              </a:rPr>
              <a:t>name</a:t>
            </a:r>
            <a:r>
              <a:t> — по нему роль зовут явно. </a:t>
            </a:r>
            <a:r>
              <a:rPr>
                <a:latin typeface="Consolas"/>
              </a:rPr>
              <a:t>description</a:t>
            </a:r>
            <a:r>
              <a:t> — когда её звать и когда нет, это читает автовыбор. </a:t>
            </a:r>
            <a:r>
              <a:rPr>
                <a:latin typeface="Consolas"/>
              </a:rPr>
              <a:t>tools</a:t>
            </a:r>
            <a:r>
              <a:t> — список прав, необязательный. Тело файла — системный промпт роли целиком.</a:t>
            </a:r>
          </a:p>
          <a:p/>
          <a:p>
            <a:r>
              <a:t>Как позвать: явно, через </a:t>
            </a:r>
            <a:r>
              <a:rPr>
                <a:latin typeface="Consolas"/>
              </a:rPr>
              <a:t>@agent-&lt;имя&gt;</a:t>
            </a:r>
            <a:r>
              <a:t>, либо не писать ничего — тогда выбирает модель, по описанию. Кого позвали на самом деле, видно по строке в чате: имя роли и задача в скобках. Стоит </a:t>
            </a:r>
            <a:r>
              <a:rPr>
                <a:latin typeface="Consolas"/>
              </a:rPr>
              <a:t>general-purpose</a:t>
            </a:r>
            <a:r>
              <a:t> — роль не вызвали вовсе.</a:t>
            </a:r>
          </a:p>
          <a:p/>
          <a:p>
            <a:r>
              <a:t>Вход, блок третий: собственный промпт роли, задача от вызывающей сессии, иерархия файлов инструкций, снимок репозитория. Переписки сессии там нет — канала для неё не существует.</a:t>
            </a:r>
          </a:p>
          <a:p/>
          <a:p>
            <a:r>
              <a:t>Выход, блок четвёртый: только итог. Промежуточные вызовы родителю не видны, канал односторонний.</a:t>
            </a:r>
          </a:p>
          <a:p/>
          <a:p>
            <a:r>
              <a:t>Пятый — три состояния списка прав. Поля нет вовсе: роль получает все инструменты. Список указан и пуст: ни одного, но роль живая. Запись не резолвится: роль не запускается. Интуиция эти три исхода обычно путает.</a:t>
            </a:r>
          </a:p>
          <a:p/>
          <a:p>
            <a:r>
              <a:t>Шестой — чем оплачивается. Делегирование стоит токенов заметно больше обычного чата; число и честный пробел — в свидетельствах третьего кейса.</a:t>
            </a:r>
          </a:p>
          <a:p/>
          <a:p>
            <a:r>
              <a:t>Если спросят, почему маршрутизацию решает описание: модель читает его как условие «когда эту роль звать и когда нет». Название она не интерпретирует вовсе, поэтому слово «ревьюер» в имени роли для автовыбора не значит ничего.</a:t>
            </a:r>
          </a:p>
          <a:p/>
          <a:p>
            <a:r>
              <a:t>Если спросят, что именно доказывает строка в чате: ровно одно — харнесс решил позвать эту роль. Правильность её работы строка не подтверждает; это разные вопросы, и ко второму мы вернёмся на провале третьего кейса. Зато она разводит два разных случая: «роль отработала не так» и «роль вообще не вызывали».</a:t>
            </a:r>
          </a:p>
          <a:p/>
          <a:p>
            <a:r>
              <a:t>Если спросят, чего физически нет на входе: истории переписки, файлов, которые уже прочитал родитель, и автопамяти основной сессии. Это свойство устройства, не дисциплина автора роли — канала для них попросту нет. По той же причине родитель не видит промежуточных действий: задача передаётся один раз, итог возвращается один раз, диалога между ними не бывает.</a:t>
            </a:r>
          </a:p>
          <a:p/>
          <a:p>
            <a:r>
              <a:t>Если спросят про исключение «форк»: есть режим, который наследует всё целиком — тот же промпт, те же права, всю историю. Мы им сегодня не пользуемся, но путать его с обычным вызовом не стоит: изоляции контекста у форка нет вовсе.</a:t>
            </a:r>
          </a:p>
          <a:p/>
          <a:p>
            <a:r>
              <a:t>Если спросят, можно ли отнять право частично — «читать всё, кроме одного каталога»: этим механизмом нельзя. Он работает на уровне целого инструмента, не действия внутри него.</a:t>
            </a:r>
          </a:p>
          <a:p/>
          <a:p>
            <a:r>
              <a:t>Если спросят, где поле прав собирают руками: в третьем кейсе ступени, вместе с именем и форматом ответа. Что из третьего состояния пятого блока получается на материале самого курса, увидим там же.</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Герой тот же — разработчик, который два занятия подряд заводил здесь хук и скилл. Сцена другая: продукт, в котором он работает каждый день, с тарифами и двумя годами миграций. Сессия открыта с утра под одну правку — выгрузку отчёта.</a:t>
            </a:r>
          </a:p>
          <a:p/>
          <a:p>
            <a:r>
              <a:t>В чат пишет технический директор: «а у нас проверяется, что бесплатный тариф не может пригласить больше пяти участников? Клиент жалуется, что пригласил восьмого». Ответ на одно слово.</a:t>
            </a:r>
          </a:p>
          <a:p/>
          <a:p>
            <a:r>
              <a:t>На деле лимит живёт в четырёх местах: middleware при добавлении участника, конфиг тарифов, отдельная миграция для старых аккаунтов, клиентская проверка на случай недоступности сервера. Миграций пятнадцать, лимит менялся в трёх — листать приходится все. Сорок с лишним файлов, минут двадцать. Ответ верный: да, но для аккаунтов до миграции двадцать четвёртого года не применяется.</a:t>
            </a:r>
          </a:p>
          <a:p/>
          <a:p>
            <a:r>
              <a:t>Дальше он возвращается к своей правке. И агент переспрашивает то, что ему объясняли утром: что выгружать и в каком виде. Час ушёл на повторное объяснение.</a:t>
            </a:r>
          </a:p>
          <a:p/>
          <a:p>
            <a:r>
              <a:t>Заметьте, за что он заплатил. Ответ верный, чтение быстрое. Нужное влезло в окно целиком и вытеснило работу, ради которой сессию открывали. Это второй промах из начала занятия — вот он целиком.</a:t>
            </a:r>
          </a:p>
          <a:p/>
          <a:p>
            <a:r>
              <a:t>Если спросят, почему нельзя было сразу знать, где искать: потому что это обычная ситуация любого продукта, где правило менялось годами, мелкими правками. Документации, которая держала бы все четыре точки в одном месте, здесь никогда не было, и завести её задним числом стоит дороже, чем один раз прочитать сорок файлов.</a:t>
            </a:r>
          </a:p>
          <a:p/>
          <a:p>
            <a:r>
              <a:t>Если спросят, почему сцена не на демо-репозитории занятия: в нём файлов меньше десятка. Сцена на сорок файлов там была бы подогнана под вывод, а вывод от этого не стал бы вернее. Герой тот же, проект другой — и это сказано на экране прямо.</a:t>
            </a:r>
          </a:p>
          <a:p/>
          <a:p>
            <a:r>
              <a:t>Если спросят, при чём тут правка выгрузки, если вопрос был про лимит: именно при том, что ни при чём. Вытеснило работу чтение, не предстоящая правка. Будь вопрос из той же области, разделить две причины на одной сцене не вышло бы.</a:t>
            </a:r>
          </a:p>
          <a:p/>
          <a:p>
            <a:r>
              <a:t>Если спросят, не проще ли было открыть второй чат и спросить там: это и есть верное направление, и через два экрана мы его разберём вместе с четырьмя другими. Разница между вторым чатом и ролью названа в базе ступени: роль зовут изнутри сессии, итог возвращается в неё сам, и права у роли можно урезать списком.</a:t>
            </a:r>
          </a:p>
          <a:p/>
          <a:p>
            <a:r>
              <a:t>Если спросят, почему цена — час, когда чтения было двадцать минут: двадцать минут он потратил на дело, ответ техническому директору был нужен. Час ушёл на то, чтобы заново сказать уже сказанное. Это единственная часть дня, которую можно было не тратить.</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 да или нет, а ответ собирается из контроллера, пяти конфигов, пятнадцати миграций и десятка тестов. Выберите карточку. И сразу вторым ходом: назовите вслух, за счёт чего она выигрывает.</a:t>
            </a:r>
          </a:p>
          <a:p/>
          <a:p>
            <a:r>
              <a:t>Вот это второе и есть моя просьба. Карточку мне покажут руки, а основание выбора я хочу услышать словами: что именно ваш вариант выигрывает у остальных четырёх. На следующем экране мы это основание проверим счётом файлов.</a:t>
            </a:r>
          </a:p>
          <a:p/>
          <a:p>
            <a:r>
              <a:t>---</a:t>
            </a:r>
          </a:p>
          <a:p/>
          <a:p>
            <a:r>
              <a:rPr b="1"/>
              <a:t>Справка.</a:t>
            </a:r>
          </a:p>
          <a:p/>
          <a:p>
            <a:r>
              <a:rPr i="1"/>
              <a:t>Если прозвучит «быстрее».</a:t>
            </a:r>
            <a:r>
              <a:t> А оно прозвучит — это самая обычная догадка на этом месте. Повторяю её вслух как версию зала и записываю на виду. Не спорю, не поправляю, не намекаю: весь следующий слайд ровно об этом, и без произнесённого «быстрее» ему нечего опровергать. Задавленная догадка возвращается через неделю целой.</a:t>
            </a:r>
          </a:p>
          <a:p/>
          <a:p>
            <a:r>
              <a:rPr i="1"/>
              <a:t>Если выберут коллегу или скилл.</a:t>
            </a:r>
            <a:r>
              <a:t> Принимаю наравне с третьей карточкой: у обеих есть своя правда, и она разобрана на следующем экране построчно. Тем, кто выбрал коллегу, стоит сказать отдельно, что это единственный вариант, который может ответить за минуту, — и единственный, который зависит от чужого расписания.</a:t>
            </a:r>
          </a:p>
          <a:p/>
          <a:p>
            <a:r>
              <a:rPr i="1"/>
              <a:t>Если зал молчит и карточки не выбирает.</a:t>
            </a:r>
            <a:r>
              <a:t> Спрашиваю иначе: кто за последний месяц ловил себя на том, что просит агента найти, где в проекте живёт одно-единственное правило? Руки поднимаются, и после них карточка выбирается сама.</a:t>
            </a:r>
          </a:p>
          <a:p/>
          <a:p>
            <a:r>
              <a:rPr i="1"/>
              <a:t>Если спросят, можно ли выбрать две.</a:t>
            </a:r>
            <a:r>
              <a:t> Можно, и это честный ответ: в живой работе третью и четвёртую совмещают — сначала роль, потом тот же вопрос скиллом, когда он повторился. Прошу тогда назвать, какая из двух первая и почему.</a:t>
            </a:r>
          </a:p>
          <a:p/>
          <a:p>
            <a:r>
              <a:rPr i="1"/>
              <a:t>Если прозвучит ответ, которого нет на карточках</a:t>
            </a:r>
            <a:r>
              <a:t> — «спросить того, кто это писал», «посмотреть в истории коммитов»: записываю шестым вариантом и возвращаю на разборе. Карточки задают поле выбора; границей этого поля они не являются.</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Начнём с того, что прозвучало. «Быстрее» — проверяем счётом, по строкам.</a:t>
            </a:r>
          </a:p>
          <a:p/>
          <a:p>
            <a:r>
              <a:t>Прочитать самому: полный контроль над тем, что и в каком порядке читается, но окно сессии занимает содержимое сорока файлов, из которых для ответа нужен один вывод. Коллега: единственный вариант, способный ответить за минуту, и единственный, который зависит от чужого расписания. Субагент в своём окне: сорок файлов открываются и закрываются там, обратно приходит только итог. Скилл: пригодится при повторении, но при первом запуске читает те же файлы тем же способом в той же сессии. По памяти: мгновенно, проверки нет, а вопрос был именно про проверку.</a:t>
            </a:r>
          </a:p>
          <a:p/>
          <a:p>
            <a:r>
              <a:t>Теперь про «быстрее». Роль открывает все сорок файлов и читает их целиком. Двадцать минут чтения из сцены остаются двадцатью минутами: ни одна строчка не читается быстрее оттого, что её читает другой процесс.</a:t>
            </a:r>
          </a:p>
          <a:p/>
          <a:p>
            <a:r>
              <a:t>Выигрыш лежит в другом месте. Сорок файлов остаются в окне роли, и это окно закрывается вместе с ней. В сессию возвращается строка ответа — и то самое место, которого в сцене не хватило на собственную правку.</a:t>
            </a:r>
          </a:p>
          <a:p/>
          <a:p>
            <a:r>
              <a:t>Если спросят, зачем тогда вообще заводить роль, если время то же самое: ради того, что останется доступно дальше в этой же сессии. Двадцать минут чтения в сцене ушли на дело: ответ техническому директору был нужен. Час на повторное объяснение правки можно было не тратить вовсе, и экономит роль именно его. Механика разделения — на одностраничнике «Роль целиком» в начале ступени, блоки третий и четвёртый: что входит в окно роли и что уходит обратно.</a:t>
            </a:r>
          </a:p>
          <a:p/>
          <a:p>
            <a:r>
              <a:t>Если прозвучит «а если запустить несколько ролей разом, тогда быстрее?»: тогда да, и это следующий кейс ступени целиком. Но быстрее там становится очередь из нескольких независимых задач; чтение одного вопроса остаётся тем же. Для одного вопроса из сорока файлов выигрыша по времени нет ни при каком числе ролей.</a:t>
            </a:r>
          </a:p>
          <a:p/>
          <a:p>
            <a:r>
              <a:t>Если спросят, почему коллега вынесен в отдельную строку, если это не инструмент: потому что в жизни он первый кандидат и часто правильный. Строка нужна, чтобы это было сказано вслух: иначе вариант выглядит забытым.</a:t>
            </a:r>
          </a:p>
          <a:p/>
          <a:p>
            <a:r>
              <a:t>Если спросят про скилл: он решает повторяемость, не объём чтения. Записанный вопрос запускается тем же способом и в той же сессии, пока делегирование не заведено отдельно; эти два приёма складываются, и в третьем кейсе мы увидим, как именно.</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Документация харнесса об устройстве контекстных окон приводит свой пример: роль прочитала 6100 токенов файлов, вы получили итог в 420 токенов — это и есть экономия контекста. Разница на порядок, и направление то же самое, что мы сейчас получили счётом: сорок файлов остаются в окне роли, в окно родителя приходит только итог.</a:t>
            </a:r>
          </a:p>
          <a:p/>
          <a:p>
            <a:r>
              <a:t>Но это один показательный сценарий автора документации, не измерение по множеству прогонов. И здесь же честный пробел: сколько контекста экономит делегирование по сравнению с той же работой в основной сессии, по измерению на выборке, не нашлось ни у одного источника. Пример его не закрывает — он его иллюстрирует числом.</a:t>
            </a:r>
          </a:p>
          <a:p/>
          <a:p>
            <a:r>
              <a:t>Если спросят, почему тогда вообще его показывать, если это не измерение: потому что направление и порядок величины реальны и подтверждены механикой предыдущего слайда. Нечестным было бы подать иллюстрацию за статистику молча; здесь её природа названа прямо, и этого достаточно, чтобы пользоваться числом как ориентиром. Доказательством оно не работает.</a:t>
            </a:r>
          </a:p>
          <a:p/>
          <a:p>
            <a:r>
              <a:t>Если спросят, что именно считалось бы честным измерением: один и тот же вопрос, прогнанный в двух режимах на выборке настоящих сессий — чтение в основном окне против делегирования, — с замером занятой доли окна в обоих. Такой работы в открытых источниках нет; если кто-то из вас её сделает на своём проекте, это ровно та цифра, которой курсу не хватает.</a:t>
            </a:r>
          </a:p>
          <a:p/>
          <a:p>
            <a:r>
              <a:t>Если спросят, не слишком ли удобно число 6100 к 420: оно и подобрано автором документации под иллюстрацию, об этом и подпись на экране. Доверять стоит порядку величины — разнице в десятки раз. Вторая значащая цифра здесь ничего не значит, и спорить о ней смысла нет.</a:t>
            </a:r>
          </a:p>
          <a:p/>
          <a:p>
            <a:r>
              <a:t>Если спросят, зависит ли экономия от размера ответа роли: зависит прямо. Роль, которую просят вернуть короткий вывод, возвращает сотни токенов; роль, которую просят пересказать прочитанное, вернёт тысячи, и экономия съедается форматом ответа. Это же соображение стоит за критерием через два экрана.</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Окно роли по умолчанию не настолько чистое, каким выглядело два экрана назад. Собственный промпт и свежий контекст она получает — и вместе с ними, по умолчанию, описания всех MCP-серверов родительской сессии целиком, даже тех, что её задаче не нужны ни одним инструментом. Дословно из документации по устранению ошибок: субагенты наследуют каждое описание MCP-инструмента из родительской сессии, и это может заполнить их контекстное окно ещё до первого шага — отключайте серверы, которыми не пользуетесь, перед тем как заводить субагентов.</a:t>
            </a:r>
          </a:p>
          <a:p/>
          <a:p>
            <a:r>
              <a:t>Для нашего вопроса про лимит участников: если в сессии подключены трекер задач и почта из прошлого блока занятия, роль, которой нужно прочитать сорок файлов кода, получает их описания в своё окно бесплатно.</a:t>
            </a:r>
          </a:p>
          <a:p/>
          <a:p>
            <a:r>
              <a:t>Фокус работает для содержимого репозитория. За подключённым серверами следят отдельно — тем же списком прав, который стоял пятым блоком на одностраничнике.</a:t>
            </a:r>
          </a:p>
          <a:p/>
          <a:p>
            <a:r>
              <a:t>Если спросят, почему это не противоречит прошлым слайдам: не противоречит, оба про один контракт. Этот называет то, что входит в контракт дополнительно и по умолчанию, помимо желания автора роли. Экономия контекста остаётся, просто считается с этой оговоркой.</a:t>
            </a:r>
          </a:p>
          <a:p/>
          <a:p>
            <a:r>
              <a:t>Если спросят, сколько это стоит в окне: цифру зал уже видел в прошлом блоке занятия, там постоянная плата за подключённые серверы измерена в токенах и в доле окна. Здесь важно другое: эта плата вносится ещё раз, отдельно, в окно каждой заведённой роли.</a:t>
            </a:r>
          </a:p>
          <a:p/>
          <a:p>
            <a:r>
              <a:t>Если спросят, можно ли подключить сервер только роли, не трогая сессию: можно, и это обратный приём той же механики. Роль умеет объявить нужный ей сервер у себя — он поднимается на её старте и отключается на её завершении, а окно родителя его описаний не видит вовсе. Для тяжёлого сервера, нужного одной задаче, это дешевле, чем держать его подключённым всю сессию.</a:t>
            </a:r>
          </a:p>
          <a:p/>
          <a:p>
            <a:r>
              <a:t>Если спросят, относится ли то же к хукам и скиллам: механика у них своя, и сегодня мы её не разбираем. Здесь достаточно одного: отключение ненужных серверов — это осознанный ход перед заведением роли. Разовая уборка в начале дня его не заменяет, потому что сессия обрастает серверами по ходу работы.</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Делегировать чтение имеет смысл, когда из десятков файлов нужно вынести короткий вывод: факт, да или нет, список в несколько строк. Если работа продолжается на том же материале — рефакторинг, который трогает те же сорок файлов, — читать их придётся в любом случае, и делать это в своём окне тогда входит в саму работу: дальше с содержимым работать вам, а роль прочитала и исчезла.</a:t>
            </a:r>
          </a:p>
          <a:p/>
          <a:p>
            <a:r>
              <a:t>Что мы заводим ради контекста — решаем по тому, что останется в окне после ответа, и не по тому, сколько файлов пришлось открыть. Интуиция говорила: отдельный исполнитель прочитает быстрее. Проверка показала: сорок файлов остаются сорока файлами и тем же временем, меняется только чьё окно их держит.</a:t>
            </a:r>
          </a:p>
          <a:p/>
          <a:p>
            <a:r>
              <a:t>И к себе. Назовите про себя вопрос из своего проекта, ответ на который — одна строка, а чтения под него — полрепозитория. Назвали — вот первый кандидат на делегирование. А если после ответа вы продолжаете работать в тех же файлах, кандидат не он.</a:t>
            </a:r>
          </a:p>
          <a:p/>
          <a:p>
            <a:r>
              <a:t>Если спросят про границу из прошлого слайда: тот же принцип применяется и к ней. Подключили роли лишние серверы — из её окна в родительское всё равно вернётся только итог, но само окно роли будет занято раньше и сильнее, чем нужно. Экономия контекста считается с этой оговоркой. Критерий она оставляет в силе и уточняет только размер самой экономии.</a:t>
            </a:r>
          </a:p>
          <a:p/>
          <a:p>
            <a:r>
              <a:t>Если спросят, где проходит граница между «коротким выводом» и «продолжением работы»: по тому, нужен ли вам дальше сам материал. Ответ на вопрос технического директора был нужен один раз — содержимое сорока файлов для него не пригодилось бы больше никогда. Правка в тех же файлах — другое дело: там содержимое и есть предмет работы.</a:t>
            </a:r>
          </a:p>
          <a:p/>
          <a:p>
            <a:r>
              <a:t>Если спросят, можно ли попросить роль вернуть пересказ прочитанного вместо вывода: технически можно, и экономия на этом кончается. Роль, которой велели пересказать сорок файлов, вернёт в ваше окно те же сорок файлов, только своими словами. Формат ответа роли — часть критерия, не деталь оформления.</a:t>
            </a:r>
          </a:p>
          <a:p/>
          <a:p>
            <a:r>
              <a:t>Если на вопрос «к себе» ответят вслух и спросят разбор: беру один пример, не больше, и проверяю его двумя пунктами критерия вслух. Остальные прошу держать при себе до следующего занятия — перенос на свои репозитории там и будет работой.</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задачи сразу, и друг от друга они не зависят. Очевидный ход — запустить разом. Он сработает, вы увидите это на следующем экране. А через неделю тот же разработчик повторит его там, где он не работает, и заплатит больше, чем сэкономил в первый раз. Что именно сработало тогда и чего не хватило потом — в этом весь кейс.</a:t>
            </a:r>
          </a:p>
          <a:p/>
          <a:p>
            <a:r>
              <a:t>---</a:t>
            </a:r>
          </a:p>
          <a:p/>
          <a:p>
            <a:r>
              <a:rPr b="1"/>
              <a:t>Справка.</a:t>
            </a:r>
          </a:p>
          <a:p/>
          <a:p>
            <a:r>
              <a:rPr i="1"/>
              <a:t>Если прозвучит «зачем вообще ждать по очереди, если можно сразу».</a:t>
            </a:r>
            <a:r>
              <a:t> Честный вопрос, и весь кейс — развёрнутый ответ на него: сначала случай, где «сразу» и правда выигрывает, потом случай, где тот же приём на похожей с виду задаче оставляет дыру в проверке.</a:t>
            </a:r>
          </a:p>
          <a:p/>
          <a:p>
            <a:r>
              <a:rPr i="1"/>
              <a:t>Если спросят, почему развилка задана вопросом.</a:t>
            </a:r>
            <a:r>
              <a:t> Потому что ответ на него у зала уже есть и он наполовину верный. Выигрыш будет, но придёт он не оттуда, откуда его ждут, — и кейс нужен ровно для того, чтобы отделить одно от другого. Утверждение на развилке отняло бы у разбора его работу.</a:t>
            </a:r>
          </a:p>
          <a:p/>
          <a:p>
            <a:r>
              <a:rPr i="1"/>
              <a:t>Если спросят, не повтор ли это прошлого кейса.</a:t>
            </a:r>
            <a:r>
              <a:t> Прошлый кейс отвечал на вопрос «что делать, когда одна задача не помещается в окно»: роль берёт чтение на себя. Этот отвечает на другой: «что делать, когда задач несколько и каждая помещается». Общее у них одно — отдельный исполнитель; причины завести его разные, и границы у этих причин тоже разные.</a:t>
            </a:r>
          </a:p>
          <a:p/>
          <a:p>
            <a:r>
              <a:rPr i="1"/>
              <a:t>Чего на развилке нет.</a:t>
            </a:r>
            <a:r>
              <a:t> Нет слова «роль» и нет названия приёма: развилка называет наблюдаемую проблему и не называет решения — то же соглашение, что на пяти остальных развилках занятия. Если кто-то уже произнёс слово «субагент» вслух, поправлять не нужно: через экран мы к нему и придём, просто называть решение раньше вопроса смысла нет.</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Проверять диффы отдельным агентом — тот самый приём, который мы видели целиком на одностраничнике ступени, — у разработчика уже каждый день в работе; своего файла роли он пока не заводил. В четверг правок сразу три: поправки в трёх разных, не связанных друг с другом формах. Обычно это означало то же, что всегда: запустить проверку первой, подождать итог, запустить вторую, снова подождать, и только потом третью.</a:t>
            </a:r>
          </a:p>
          <a:p/>
          <a:p>
            <a:r>
              <a:t>В этот раз он запускает все три одним действием, без единой строки настройки: три отдельных вызова одной и той же роли, каждый на свою правку. Роли не знают друг о друге и ничего между собой не делят — у каждой свой контекст и свой набор файлов, нужных именно для её правки. Итоги приходят примерно тогда же, когда пришёл бы один.</a:t>
            </a:r>
          </a:p>
          <a:p/>
          <a:p>
            <a:r>
              <a:t>Вечер четверга он заканчивает довольным и с выводом для себя: больше ролей — быстрее, дальше делаем так всегда. Запомните эту формулировку дословно. Через два экрана он применит её ещё раз, и она будет стоить ему недели.</a:t>
            </a:r>
          </a:p>
          <a:p/>
          <a:p>
            <a:r>
              <a:t>---</a:t>
            </a:r>
          </a:p>
          <a:p/>
          <a:p>
            <a:r>
              <a:rPr b="1"/>
              <a:t>Справка.</a:t>
            </a:r>
          </a:p>
          <a:p/>
          <a:p>
            <a:r>
              <a:rPr i="1"/>
              <a:t>Если спросят, сколько именно времени он сэкономил.</a:t>
            </a:r>
            <a:r>
              <a:t> Точной цифры нет, и выдумывать её не нужно: ни один источник этой ступени ожидание на таких запусках не мерил. Честный порядок величины — три проверки вместо трёх ожиданий подряд; длина самой проверки при этом не меняется, меняется только то, складываются ли ожидания.</a:t>
            </a:r>
          </a:p>
          <a:p/>
          <a:p>
            <a:r>
              <a:rPr i="1"/>
              <a:t>Если спросят, не мешают ли три вызова друг другу.</a:t>
            </a:r>
            <a:r>
              <a:t> Нет, и это важная часть выигрыша: у каждого вызова своё окно и свой набор прочитанных файлов. Ровно поэтому три правки должны быть независимы — делить им нечего, и пересечься они могут только через сам код, если правки лежат в одном месте.</a:t>
            </a:r>
          </a:p>
          <a:p/>
          <a:p>
            <a:r>
              <a:rPr i="1"/>
              <a:t>Если спросят, можно ли на той же фактуре показать и предел выгоды.</a:t>
            </a:r>
            <a:r>
              <a:t> Да, и дальше в этом кейсе разбираем именно это: две разные роли на разные стороны одной и той же правки — вместо трёх копий одной роли на три разные правки.</a:t>
            </a:r>
          </a:p>
          <a:p/>
          <a:p>
            <a:r>
              <a:rPr i="1"/>
              <a:t>Если спросят, зачем на экране висит его собственный вывод.</a:t>
            </a:r>
            <a:r>
              <a:t> Он висит там как улика. Вывод наполовину верный, и именно поэтому его легко повторить не в том месте — что через неделю и произойдёт. Неверные уроки обычно и выглядят так: короткая формулировка, снятая с настоящей удачи, в которой потеряно условие, при котором удача случилась.</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Сработало. Что из этого стоит взять в привычку? Выберите карточку — и, выбирая, ответьте себе на второй вопрос: что именно дало выигрыш в четверг. Три роли, которые работали разом, или три задачи, которые друг от друга не зависели. Эти два ответа ведут к разным привычкам, и карточки написаны так, что разницу видно. Обоснование обязательно: назовите условие, при котором ваша карточка остаётся верной.</a:t>
            </a:r>
          </a:p>
          <a:p/>
          <a:p>
            <a:r>
              <a:t>---</a:t>
            </a:r>
          </a:p>
          <a:p/>
          <a:p>
            <a:r>
              <a:rPr b="1"/>
              <a:t>Справка.</a:t>
            </a:r>
          </a:p>
          <a:p/>
          <a:p>
            <a:r>
              <a:rPr i="1"/>
              <a:t>Если прозвучит «параллелить всегда».</a:t>
            </a:r>
            <a:r>
              <a:t> Сильный ответ и честный — именно его наш разработчик для себя и сформулировал в четверг. Спорить сейчас не нужно; разбор покажет, где он подводит, а вторая сцена кейса покажет, во сколько это обходится. Если карточку выбрали многие — тем лучше: зал и герой ошибутся одинаково, и дальше будет интереснее.</a:t>
            </a:r>
          </a:p>
          <a:p/>
          <a:p>
            <a:r>
              <a:rPr i="1"/>
              <a:t>Если прозвучит «объединить три правки в одно задание».</a:t>
            </a:r>
            <a:r>
              <a:t> Распространённый и на вид экономный выбор: один вызов вместо трёх. Стоит спросить у отвечающего, что роль будет держать в голове одновременно и как он отличит находку по первой правке от находки по третьей.</a:t>
            </a:r>
          </a:p>
          <a:p/>
          <a:p>
            <a:r>
              <a:rPr i="1"/>
              <a:t>Если прозвучит «ничего не менять».</a:t>
            </a:r>
            <a:r>
              <a:t> Тоже защитимо, и у этого варианта есть своя область: на двух правках разница в ожидании невелика, и предсказуемость порядка стоит дороже. Пусть отвечающий назовёт, при каком числе правок его ответ перестанет работать.</a:t>
            </a:r>
          </a:p>
          <a:p/>
          <a:p>
            <a:r>
              <a:rPr i="1"/>
              <a:t>Если зал выбирает молча.</a:t>
            </a:r>
            <a:r>
              <a:t> Просить обоснование нужно до разбора, не после: половина ценности голосования в том, что условие проговаривается вслух раньше, чем его назовёт разбор.</a:t>
            </a:r>
          </a:p>
          <a:p/>
          <a:p>
            <a:r>
              <a:rPr i="1"/>
              <a:t>Если спросят, можно ли выбрать две карточки сразу.</a:t>
            </a:r>
            <a:r>
              <a:t> Нельзя, и это сделано намеренно. В прежней версии целевой ответ был связкой двух карточек, и выбор получался нечестным: правильным считалось то, чего вопрос не предлагал. Сейчас обе половины целевого ответа стоят в одной карточке, и одиночный выбор снова что-то значит.</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Первая карточка: порядок предсказуемый, но ожидания складываются — три проверки по очереди займут втрое больше, чем одна. Вторая: один вызов и одна формулировка, зато роль держит три независимых диффа сразу, и находки по одной правке легко спутать с находками по другой. Четвёртая, «параллелить всегда»: экономит там, где правки и так независимы, — и ровно туда наш разработчик через неделю наступит.</a:t>
            </a:r>
          </a:p>
          <a:p/>
          <a:p>
            <a:r>
              <a:t>Целевая — третья, и это один приём в два шага: сначала подтвердить независимость, потом запускать по вызову роли на задачу.</a:t>
            </a:r>
          </a:p>
          <a:p/>
          <a:p>
            <a:r>
              <a:t>А теперь поворот, ради которого кейс и собран. Выигрыш в четверг дала независимость трёх задач; роли её только забрали. Параллельность лежит в задаче: роли берут её там, где она есть, и умножают ошибку там, где её нет. Вывод, который он снял вечером четверга, посчитал исполнителей и потерял условие. Через неделю он повторит число ролей, не заметив, что условия под ним больше нет.</a:t>
            </a:r>
          </a:p>
          <a:p/>
          <a:p>
            <a:r>
              <a:t>---</a:t>
            </a:r>
          </a:p>
          <a:p/>
          <a:p>
            <a:r>
              <a:rPr b="1"/>
              <a:t>Справка.</a:t>
            </a:r>
          </a:p>
          <a:p/>
          <a:p>
            <a:r>
              <a:rPr i="1"/>
              <a:t>Если спросят, как именно проверять независимость.</a:t>
            </a:r>
            <a:r>
              <a:t> По-инженерному и дёшево: смотрим, пересекаются ли правки по файлам и нужен ли одной из них результат другой. Разные файлы и ни одной общей зависимости — независимы. Один и тот же файл, общий модуль или «сначала переименуем, потом поправим вызовы» — зависимы, и дальше читать стоит уже не как параллельную задачу.</a:t>
            </a:r>
          </a:p>
          <a:p/>
          <a:p>
            <a:r>
              <a:rPr i="1"/>
              <a:t>Если спросят, что будет, если проверка пройдена, а всё равно не сошлось.</a:t>
            </a:r>
            <a:r>
              <a:t> Это и есть вторая половина кейса. Задачи бывают независимыми по названию и всё-таки оставляют промежуток, за который не отвечает ни одна из ролей, — такой случай разбираем через экран.</a:t>
            </a:r>
          </a:p>
          <a:p/>
          <a:p>
            <a:r>
              <a:rPr i="1"/>
              <a:t>Если спросят, откуда берётся «умножают ошибку».</a:t>
            </a:r>
            <a:r>
              <a:t> Из измерения, оно будет через два экрана, вместе с источником и условиями эксперимента. Сейчас достаточно направления: зависимые шаги, разведённые по ролям, теряют связь, которую следующий шаг должен был увидеть.</a:t>
            </a:r>
          </a:p>
          <a:p/>
          <a:p>
            <a:r>
              <a:rPr i="1"/>
              <a:t>Если спросят, выходит ли, что число ролей вообще ни при чём.</a:t>
            </a:r>
            <a:r>
              <a:t> При чём, но вторым номером: число ролей задаёт потолок выигрыша, а дают выигрыш независимые задачи. Там, где независимости нет, рост числа ролей меняет знак и начинает работать против. Проще всего держать это так: сначала смотрим на задачу и считаем в ней независимые куски, и только потом заводим под них исполнителей — ровно столько, сколько кусков насчитали.</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Одно уточнение под поворот. Три вызова из четверга действительно шли одновременно: это механика харнесса, настраивать её не нужно. С определённой версии параллельный режим включён по умолчанию в интерактивной сессии — роль уходит в фон, основная сессия продолжает работать, не дожидаясь её.</a:t>
            </a:r>
          </a:p>
          <a:p/>
          <a:p>
            <a:r>
              <a:t>Предел — на одновременность, не на общее число за сессию: по умолчанию двадцать. Двадцать первая параллельно падает явной ошибкой, в очередь не встаёт; число меняется переменной окружения.</a:t>
            </a:r>
          </a:p>
          <a:p/>
          <a:p>
            <a:r>
              <a:t>Запомните, что отсюда следует: одновременность бесплатна. Вся цена решения лежит на первом шаге — на проверке независимости.</a:t>
            </a:r>
          </a:p>
          <a:p/>
          <a:p>
            <a:r>
              <a:t>---</a:t>
            </a:r>
          </a:p>
          <a:p/>
          <a:p>
            <a:r>
              <a:rPr b="1"/>
              <a:t>Справка.</a:t>
            </a:r>
          </a:p>
          <a:p/>
          <a:p>
            <a:r>
              <a:rPr i="1"/>
              <a:t>Если спросят, что будет на двадцать первой задаче при пределе двадцать.</a:t>
            </a:r>
            <a:r>
              <a:t> Она не потеряется и не подождёт своей очереди сама: харнесс откажет явной ошибкой, и запустить её нужно будет руками, когда освободится место. Молчаливой очереди здесь нет, и это к лучшему — иначе двадцать первая правка тихо ждала бы, пока её считают проверенной.</a:t>
            </a:r>
          </a:p>
          <a:p/>
          <a:p>
            <a:r>
              <a:rPr i="1"/>
              <a:t>Если спросят про версию и переменную.</a:t>
            </a:r>
            <a:r>
              <a:t> Параллельный режим по умолчанию появился в интерактивной сессии начиная с версии 2.1.232; предел задаётся переменной окружения CLAUDE_CODE_MAX_CONCURRENT_SUBAGENTS, ошибка на превышении — «Concurrent subagent limit reached». Номер версии на экран намеренно не вынесен: он устаревает быстрее, чем сам факт.</a:t>
            </a:r>
          </a:p>
          <a:p/>
          <a:p>
            <a:r>
              <a:rPr i="1"/>
              <a:t>Если спросят, не стоит ли сразу поднять предел.</a:t>
            </a:r>
            <a:r>
              <a:t> Двадцать одновременных ролей — это двадцать окон и двадцать счетов за токены. Упереться в двадцать на обычной работе трудно; если упёрлись, стоит сначала перечитать, точно ли там двадцать независимых задач, и только потом трогать переменную.</a:t>
            </a:r>
          </a:p>
          <a:p/>
          <a:p>
            <a:r>
              <a:rPr i="1"/>
              <a:t>Если спросят, видно ли, чем занята фоновая роль.</a:t>
            </a:r>
            <a:r>
              <a:t> Видно, что она работает, и виден её итог. Ход работы — нет, и это та самая потерянная видимость, которую ступень называет ценой делегирования. На трёх независимых правках она почти не мешает: итог каждой проверяется отдельно. На зависимых мешает сильно — именно там нужно было бы видеть, что одна роль успела узнать раньше другой.</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Через неделю правка приходит одна и крупная: новое поле в форме плюс изменение валидации. Вывод четверга он применяет буквально — больше ролей — и зовёт второго — тестировщика, который прогоняет сценарии через форму и проверяет поведение, не только код. Обе роли получают одну и ту же правку.</a:t>
            </a:r>
          </a:p>
          <a:p/>
          <a:p>
            <a:r>
              <a:t>Диф-ревьюер проверяет код, видит, что валидация написана верно, возвращает </a:t>
            </a:r>
            <a:r>
              <a:rPr>
                <a:latin typeface="Consolas"/>
              </a:rPr>
              <a:t>PASS</a:t>
            </a:r>
            <a:r>
              <a:t>. Тестировщик прогоняет обычные сценарии, проблем не находит, тоже возвращает </a:t>
            </a:r>
            <a:r>
              <a:rPr>
                <a:latin typeface="Consolas"/>
              </a:rPr>
              <a:t>PASS</a:t>
            </a:r>
            <a:r>
              <a:t>. Правка уходит в показ. Заказчик вводит email с пробелом перед доменом — случай, который не вошёл ни в код, который читали построчно, ни в сценарии, которые прогоняли руками.</a:t>
            </a:r>
          </a:p>
          <a:p/>
          <a:p>
            <a:r>
              <a:t>Оба ответа честные. Картина, которую он из них собрал, — «правка проверена» — не описывает ничего.</a:t>
            </a:r>
          </a:p>
          <a:p/>
          <a:p>
            <a:r>
              <a:t>И обратите внимание, что именно он повторил. Число ролей. Условия под ним не было: правка была одна, и две роли её не распараллелили — они её разрезали. Разрез кому-то нужно держать, и этого он не поручил никому.</a:t>
            </a:r>
          </a:p>
          <a:p/>
          <a:p>
            <a:r>
              <a:t>---</a:t>
            </a:r>
          </a:p>
          <a:p/>
          <a:p>
            <a:r>
              <a:rPr b="1"/>
              <a:t>Справка.</a:t>
            </a:r>
          </a:p>
          <a:p/>
          <a:p>
            <a:r>
              <a:rPr i="1"/>
              <a:t>Если спросят, почему диф-ревьюер не поймал опечатку в формате email.</a:t>
            </a:r>
            <a:r>
              <a:t> Он проверял код </a:t>
            </a:r>
            <a:r>
              <a:rPr>
                <a:latin typeface="Consolas"/>
              </a:rPr>
              <a:t>validateForm</a:t>
            </a:r>
            <a:r>
              <a:t> и видел, что логика написана верно. Пробел перед доменом не относится к тому, что эта правка меняла в коде: случай поведенческий, не структурный. Роль отработала ровно по своему описанию.</a:t>
            </a:r>
          </a:p>
          <a:p/>
          <a:p>
            <a:r>
              <a:rPr i="1"/>
              <a:t>Если спросят, чем это отличается от четверга.</a:t>
            </a:r>
            <a:r>
              <a:t> В четверг три копии одной роли закрывали три независимые задачи, и между задачами зазора не было — они и так лежали врозь. Здесь две разные роли делят одну задачу на стороны, и граница между сторонами оказалась никому не поручена. Разница ровно в том, было ли что делить.</a:t>
            </a:r>
          </a:p>
          <a:p/>
          <a:p>
            <a:r>
              <a:rPr i="1"/>
              <a:t>Если спросят, виноват ли тестировщик.</a:t>
            </a:r>
            <a:r>
              <a:t> Нет, и это важно не смазать: он прогнал те сценарии, которые ему поручили, и честно о них отчитался. Подвела здесь не роль и не формулировка PASS. Подвело то, что никто не записал, где кончается зона каждого.</a:t>
            </a:r>
          </a:p>
          <a:p/>
          <a:p>
            <a:r>
              <a:rPr i="1"/>
              <a:t>Если спросят, поймал ли бы промежуток человек без ролей.</a:t>
            </a:r>
            <a:r>
              <a:t> Не обязательно. Но человек, читающий одну правку целиком, по крайней мере имел шанс споткнуться о пробел; два отчёта, каждый верный в своих границах, этот шанс забирают — именно потому, что оба зелёные. Проверка, которая закрывает часть поля и молчит про остальное, опаснее отсутствия проверки ровно настолько, насколько ей верят.</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Таблица перед вами, читать её вслух я не буду — пройдём по решению.</a:t>
            </a:r>
          </a:p>
          <a:p/>
          <a:p>
            <a:r>
              <a:t>Два варианта выглядят разумно и оба слабее, чем кажутся. Третий, координатор: он добавляет слой координации к двум уже не согласованным, и цена растёт быстрее, чем снижается риск. Второй, объединить в одну роль с широким описанием: это возврат к широкому контексту и широким правам, от которых ступень отказалась ровно в прошлом кейсе.</a:t>
            </a:r>
          </a:p>
          <a:p/>
          <a:p>
            <a:r>
              <a:t>Работает четвёртый: расписать границы каждой роли явно, в обе стороны. И работает он тем же, чем работал приём четверга, — он называет условие вслух. Сам собой от появления второй роли он не берётся; это отдельное решение, которое принимают голосом.</a:t>
            </a:r>
          </a:p>
          <a:p/>
          <a:p>
            <a:r>
              <a:t>Отметьте, чего в таблице нет вовсе: варианта «добавить ещё ролей». Через экран увидите, во сколько он обходится на измерении.</a:t>
            </a:r>
          </a:p>
          <a:p/>
          <a:p>
            <a:r>
              <a:t>---</a:t>
            </a:r>
          </a:p>
          <a:p/>
          <a:p>
            <a:r>
              <a:rPr b="1"/>
              <a:t>Справка.</a:t>
            </a:r>
          </a:p>
          <a:p/>
          <a:p>
            <a:r>
              <a:rPr i="1"/>
              <a:t>Если спросят, почему здесь не повторяется голосование карточками.</a:t>
            </a:r>
            <a:r>
              <a:t> Главное решение кейса — параллелить или нет — уже прошло голосованием на n46. Это разбор того, что делать с промежутком, когда параллельность уже выбрана; второе голосование по соседнему вопросу размыло бы первое.</a:t>
            </a:r>
          </a:p>
          <a:p/>
          <a:p>
            <a:r>
              <a:rPr i="1"/>
              <a:t>Если спросят, когда координатор всё-таки оправдан.</a:t>
            </a:r>
            <a:r>
              <a:t> Когда сверять вывод двух готовых ролей — это отдельная, названная заранее работа, заведённая до того, как появилась несогласованность. Разница проверяется одним вопросом: что координатор делает такого, чего обе роли не могут записать себе в описание. Если ответа нет, это заплатка.</a:t>
            </a:r>
          </a:p>
          <a:p/>
          <a:p>
            <a:r>
              <a:rPr i="1"/>
              <a:t>Если спросят, не проще ли всегда возвращаться к одной роли.</a:t>
            </a:r>
            <a:r>
              <a:t> На одной правке — часто проще и честнее. Пятый вариант не ошибочный, у него просто своя цена: там, где задач действительно несколько и они независимы, возврат к одной роли отдаёт ровно тот выигрыш, ради которого роли заводили в четверг.</a:t>
            </a:r>
          </a:p>
          <a:p/>
          <a:p>
            <a:r>
              <a:rPr i="1"/>
              <a:t>Если спросят, как выглядит «расписать границы» на практике.</a:t>
            </a:r>
            <a:r>
              <a:t> Одна строка в описании каждой роли, по-доменному: что входит в её проверку и что остаётся снаружи. Как именно — на следующем экране, на наших же двух ролях. Полезное правило при написании: границу пишут парой, обе строки сверяют рядом и вслух, иначе два автора независимо опишут один и тот же участок дважды или не опишут ни разу.</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Диф-ревьюер и тестировщик работают без третьей роли, которая сверяла бы их согласованность. Вот что об этом говорит измерение на масштабе.</a:t>
            </a:r>
          </a:p>
          <a:p/>
          <a:p>
            <a:r>
              <a:t>Таксономия отказов мультиагентных систем: больше тысячи шестисот трасс, размеченных вручную, семь фреймворков, согласие между экспертами — ноль целых восемьдесят восемь. Провальных трасс от сорока одного до восьмидесяти семи процентов, в зависимости от фреймворка. Причины делятся на три: сорок два процента — спецификация задачи и роли, тридцать семь — рассогласование между агентами, двадцать один — верификация результата. Рассогласование здесь вторая причина по весу, почти вровень с первой.</a:t>
            </a:r>
          </a:p>
          <a:p/>
          <a:p>
            <a:r>
              <a:t>И контролируемое исследование о цене. На последовательной задаче схема из нескольких ролей проигрывает одноагентной от тридцати девяти до семидесяти процентов, а число ошибок усиливается в семнадцать целых две десятых раза без координатора и в четыре целых четыре десятых даже с централизованной проверкой. Вот цифра под нашим поворотом: там, где шаги зависимы, разбиение на роли стоит дороже всего, что параллельность могла бы сэкономить.</a:t>
            </a:r>
          </a:p>
          <a:p/>
          <a:p>
            <a:r>
              <a:t>Честно: проверить рассогласование двух параллельных ролей ни на репозитории курса, ни на машине студента нечем. Это утверждение стоит на исследовании, не на команде, которую мы запустим.</a:t>
            </a:r>
          </a:p>
          <a:p/>
          <a:p>
            <a:r>
              <a:t>---</a:t>
            </a:r>
          </a:p>
          <a:p/>
          <a:p>
            <a:r>
              <a:rPr b="1"/>
              <a:t>Справка.</a:t>
            </a:r>
          </a:p>
          <a:p/>
          <a:p>
            <a:r>
              <a:rPr i="1"/>
              <a:t>Про цифру «79%», которая разошлась по сети.</a:t>
            </a:r>
            <a:r>
              <a:t> Её стоит произнести устно, отдельной рамки на экране она не держит: «семьдесят девять процентов отказов — проблема спецификации» — это сумма первых двух категорий MAST, сорока двух и тридцати семи, пересказанная как будто отдельное измерение. Стоит проверить, не считаете ли вы одно и то же дважды под разными подписями.</a:t>
            </a:r>
          </a:p>
          <a:p/>
          <a:p>
            <a:r>
              <a:rPr i="1"/>
              <a:t>Если спросят про межэкспертное согласие.</a:t>
            </a:r>
            <a:r>
              <a:t> Ноль целых восемьдесят восемь по шкале каппа — высокое согласие, разметка не произвольная. Это и делает таксономию пригодной для ссылки: категории различали разные люди и сходились.</a:t>
            </a:r>
          </a:p>
          <a:p/>
          <a:p>
            <a:r>
              <a:rPr i="1"/>
              <a:t>Если спросят, почему абсолютное число ошибок источник не называет.</a:t>
            </a:r>
            <a:r>
              <a:t> В исследовании приведено только относительное усиление — во сколько раз больше, чем у одной роли на той же задаче. Базовой величины источник не публикует, и это честно назвать вслух: «в семнадцать раз больше» без базы говорит о направлении, не о размере.</a:t>
            </a:r>
          </a:p>
          <a:p/>
          <a:p>
            <a:r>
              <a:rPr i="1"/>
              <a:t>Если спросят, как разброс «от 41 до 87 процентов» вообще может что-то значить.</a:t>
            </a:r>
            <a:r>
              <a:t> Разброс по фреймворкам, не по измерению: разные системы падают по-разному. Важно здесь одно: доля провальных трасс нигде не оказалась малой.</a:t>
            </a:r>
          </a:p>
          <a:p/>
          <a:p>
            <a:r>
              <a:rPr i="1"/>
              <a:t>Если спросят, относятся ли эти цифры к двум ролям.</a:t>
            </a:r>
            <a:r>
              <a:t> Прямо — нет: исследования мерили системы из многих агентов. Направление переносится, порядок величины — нет, и на двух ролях честнее говорить о риске промежутка, чем о семнадцатикратном усилении.</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Промежуток закрывает одно — явная граница в описании каждой роли, в обе стороны. Диф-ревьюер это уже умеет: «НЕ для ревью архитектурных решений — это отдельная роль». Тестировщику нужна симметричная строка: что входит в его проверку и что остаётся снаружи, по-доменному.</a:t>
            </a:r>
          </a:p>
          <a:p/>
          <a:p>
            <a:r>
              <a:t>И сразу честно о пределе приёма. Записанная в двух описаниях граница промежутка не убирает. Она делает его видимым тому, кто читает оба описания рядом. Увидеть его до показа заказчику остаётся работой человека — ровно той работой, которую в четверг делать было не нужно, потому что задачи лежали врозь сами.</a:t>
            </a:r>
          </a:p>
          <a:p/>
          <a:p>
            <a:r>
              <a:t>---</a:t>
            </a:r>
          </a:p>
          <a:p/>
          <a:p>
            <a:r>
              <a:rPr b="1"/>
              <a:t>Справка.</a:t>
            </a:r>
          </a:p>
          <a:p/>
          <a:p>
            <a:r>
              <a:rPr i="1"/>
              <a:t>Если спросят, кто пишет вторую, симметричную строку — автор новой роли или автор старой.</a:t>
            </a:r>
            <a:r>
              <a:t> По-хорошему оба описания сверяют вместе в тот момент, когда заводится вторая роль. Написать её в одиночку, в надежде что зоны совпадут, — то же самое, что не писать: два автора независимо опишут один участок дважды или не опишут ни разу.</a:t>
            </a:r>
          </a:p>
          <a:p/>
          <a:p>
            <a:r>
              <a:rPr i="1"/>
              <a:t>Если спросят, решает ли граница саму проблему пробела в покрытии.</a:t>
            </a:r>
            <a:r>
              <a:t> Нет. Она делает пробел видимым заранее; находить его всё равно остаётся задачей человека, который читает оба описания рядом. Приём честный ровно настолько, насколько он скромный.</a:t>
            </a:r>
          </a:p>
          <a:p/>
          <a:p>
            <a:r>
              <a:rPr i="1"/>
              <a:t>Если спросят, как эта строка выглядит для тестировщика.</a:t>
            </a:r>
            <a:r>
              <a:t> По-доменному, например: «проверяю поведение формы на перечисленных сценариях; форматы ввода за пределами списка и структуру кода не проверяю». Важно, чтобы снаружи было названо конкретное: «всё остальное» не читается как чья-то зона и потому не проверяется никем.</a:t>
            </a:r>
          </a:p>
          <a:p/>
          <a:p>
            <a:r>
              <a:rPr i="1"/>
              <a:t>Если спросят, не дешевле ли один раз написать большое общее описание на обе роли.</a:t>
            </a:r>
            <a:r>
              <a:t> Это второй вариант из разбора, и его цена уже названа: широкое описание возвращает широкий контекст и широкие права. Граница дешевле: две строки против расширенного доступа. И проверяется она глазами за минуту, чего про широкое описание сказать нельзя.</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Где проходит черта, за которой координация сама становится ценой. Хорошая метка — отраслевой разворот: команда, год назад отвергавшая мультиагентность целиком и называвшая неструктурированный «рой» отвлекающим фактором, десять месяцев спустя вернулась к двум узким паттернам. Ревью-цепочка, где отдельная роль находит в среднем два бага на правку, около пятидесяти восьми процентов из них серьёзные, и связка двух разных топ-моделей на самых сложных сценариях. «Рой» без границ она и сейчас называет отвлекающим фактором.</a:t>
            </a:r>
          </a:p>
          <a:p/>
          <a:p>
            <a:r>
              <a:t>Критерий — в таблице. Вторая роль оправдана, когда шаг одной не нуждается в выводе другой. Где шаги зависимы, разбиение рвёт связь, которую следующий шаг должен был увидеть, — отсюда семнадцать целых две десятых и четыре целых четыре десятых.</a:t>
            </a:r>
          </a:p>
          <a:p/>
          <a:p>
            <a:r>
              <a:t>И чем всё кончилось у нашего разработчика. Он неделю делал всё в одну роль, по очереди, включая правки, которые спокойно делились. Баг у заказчика стоил часа, а недоверие к приёму — недели. Приём был рабочий; неверным оказался урок: он запомнил число ролей и не запомнил условие.</a:t>
            </a:r>
          </a:p>
          <a:p/>
          <a:p>
            <a:r>
              <a:t>Две причины заводить роль разобраны: чужое окно под чтение и одновременная работа на независимых задачах. Третья — про саму роль.</a:t>
            </a:r>
          </a:p>
          <a:p/>
          <a:p>
            <a:r>
              <a:t>---</a:t>
            </a:r>
          </a:p>
          <a:p/>
          <a:p>
            <a:r>
              <a:rPr b="1"/>
              <a:t>Справка.</a:t>
            </a:r>
          </a:p>
          <a:p/>
          <a:p>
            <a:r>
              <a:rPr i="1"/>
              <a:t>Если спросят, та ли это команда, что писала первый отчёт про мультиагентность.</a:t>
            </a:r>
            <a:r>
              <a:t> Да, источник один и тот же: десять месяцев спустя та же команда публично пересмотрела собственную позицию по итогам практики. Разворот ценен именно этим — он сделан людьми, которые платили за обе позиции.</a:t>
            </a:r>
          </a:p>
          <a:p/>
          <a:p>
            <a:r>
              <a:rPr i="1"/>
              <a:t>Если спросят про нашу сцену конкретно.</a:t>
            </a:r>
            <a:r>
              <a:t> Код и поведение формы проверять параллельно было можно — отсюда решение оставить две роли, но с явно расписанными границами, вместо одной роли с широким описанием. Ошибкой стало молчание о разрезе между ними: разрез появился, а владельца у него не завели.</a:t>
            </a:r>
          </a:p>
          <a:p/>
          <a:p>
            <a:r>
              <a:rPr i="1"/>
              <a:t>Если спросят, как разработчик понял, где была граница.</a:t>
            </a:r>
            <a:r>
              <a:t> Не из отчёта и не от ролей: он сел и перечитал оба описания рядом, впервые. Ровно это и есть приём предыдущего экрана, применённый с опозданием на неделю.</a:t>
            </a:r>
          </a:p>
          <a:p/>
          <a:p>
            <a:r>
              <a:rPr i="1"/>
              <a:t>Если спросят, чему учит потерянная неделя.</a:t>
            </a:r>
            <a:r>
              <a:t> Тому, что провал приёма и провал урока, снятого с приёма, — разные вещи, и дороже обходится второй. Приём чинится одной строкой в описании роли; отказ от работающего приёма чинится только тем, что кто-то заново называет условие вслух.</a:t>
            </a:r>
          </a:p>
          <a:p/>
          <a:p>
            <a:r>
              <a:rPr i="1"/>
              <a:t>Третья развилка ступени</a:t>
            </a:r>
            <a:r>
              <a:t> — что делать, когда одна и та же работа повторяется из сессии в сессию и каждый раз формулируется заново.</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Две причины заводить отдельную роль уже разобраны. Третья — про саму роль: одна и та же проверка повторяется из сессии в сессию, и каждый раз её объясняют заново.</a:t>
            </a:r>
          </a:p>
          <a:p/>
          <a:p>
            <a:r>
              <a:t>Завести роль вы согласитесь сразу. Отнять у неё лишнее — скажете, что это и так делают все. К концу кейса проверим это утверждение на каталоге ролей, по которому собрано сегодняшнее занятие. Репозиторий на этот раз наш собственный.</a:t>
            </a:r>
          </a:p>
          <a:p/>
          <a:p>
            <a:r>
              <a:t>Если спросят, чем это отличается от двух прошлых кейсов: там решение принималось про работу — куда её отдать и сколько таких отдач вести разом. Здесь решение принимается про сам исполнитель: что у него закреплено насовсем и чего он физически не может.</a:t>
            </a:r>
          </a:p>
          <a:p/>
          <a:p>
            <a:r>
              <a:t>Если прозвучит «мы же уже видели файл роли на одностраничнике»: видели целиком, одним экраном. Здесь мы соберём его сами и увидим, какое решение стоит за каждой строкой — и чем кончается ошибка в одной из них.</a:t>
            </a:r>
          </a:p>
          <a:p/>
          <a:p>
            <a:r>
              <a:t>Если прозвучит нетерпение «так заводить роль или нет»: ответ будет критерием, который зал проверит сам; к концу кейса будет видно, где роли ещё нет и где она не нужна вовсе.</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Правка готова: разработчик попросил ужесточить проверку email в форме — старое поведение пропускало адрес без точки в домене, и такая заявка уже пришла от заказчика. Сессия, которая писала правку, проверяет её сама и ничего нового не находит: это тот же контекст рассуждений, с которым правка и писалась.</a:t>
            </a:r>
          </a:p>
          <a:p/>
          <a:p>
            <a:r>
              <a:t>Он просит проверить отдельным агентом — делает так каждый раз с тех пор, как начал делегировать. Работает немедленно, без строки настройки: агент получает задачу в своём окне, истории рассуждений не видит, возвращает итог.</a:t>
            </a:r>
          </a:p>
          <a:p/>
          <a:p>
            <a:r>
              <a:t>Дальше три недели. Каждую неделю он пересказывает этому агенту одни и те же требования к ревью и каждый раз формулирует их чуть иначе. Ответы расходятся следом: где-то есть раздел «что проверено», где-то нет, где-то вердикт спрятан в середине абзаца.</a:t>
            </a:r>
          </a:p>
          <a:p/>
          <a:p>
            <a:r>
              <a:t>И однажды вместо отчёта приходит внесённая правка. Агент нашёл проблему в выражении проверки адреса и переписал его сам: прав у роли никто не ограничивал, инструмент правки у неё был.</a:t>
            </a:r>
          </a:p>
          <a:p/>
          <a:p>
            <a:r>
              <a:t>Он не заметил. Правка выглядела разумной, ушла в мерж вместе с его собственной — и через день форма перестала принимать адреса с плюсом в имени. Отчёт, которому он доверял, оказался действием, которое он не прочитал.</a:t>
            </a:r>
          </a:p>
          <a:p/>
          <a:p>
            <a:r>
              <a:t>Если спросят, почему встроенное делегирование бесплатно: это свойство харнесса, не особенность нашего проекта — вызов отдельного агента на одну задачу ничего не требует настраивать заранее.</a:t>
            </a:r>
          </a:p>
          <a:p/>
          <a:p>
            <a:r>
              <a:t>Если спросят, что плохого в том, что ревьюер сам поправил код: поправка могла быть и верной. Проблема в том, кто её читал. Отчёт читают, правку от проверяющего пролистывают — она пришла оттуда, где ждали вердикт.</a:t>
            </a:r>
          </a:p>
          <a:p/>
          <a:p>
            <a:r>
              <a:t>Если спросят, при чём тут три недели: без них это разовая неудача. Три недели расходящихся формулировок — это сигнал повторения, по которому дальше и принимается решение.</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Делегировать отдельному агенту вы уже умеете — это ничего не стоит и не требует ни одной строчки конфигурации. И всё равно раз за разом формулируете задачу заново, получаете несравнимые между собой ответы, а один раз агент вместо находки внёс правку сам.</a:t>
            </a:r>
          </a:p>
          <a:p/>
          <a:p>
            <a:r>
              <a:t>Выберите, что теперь стоит завести — из карточек ниже — и обоснуйте выбор рядом со встроенным делегированием, которое у вас уже есть и ничего не стоит. Состав правильного ответа до разбора не подсказываю: разбор пройдёт по всем пяти.</a:t>
            </a:r>
          </a:p>
          <a:p/>
          <a:p>
            <a:r>
              <a:t>Если спросят, засчитывается ли «ничего, делегирование уже работает»: это наполовину верный ответ, и его стоит придержать до разбора — там он получит ровно ту половину признания, которую заслуживает.</a:t>
            </a:r>
          </a:p>
          <a:p/>
          <a:p>
            <a:r>
              <a:t>Если прозвучит «написать запрос подробнее»: рабочая первая реакция, разбор покажет её предел.</a:t>
            </a:r>
          </a:p>
          <a:p/>
          <a:p>
            <a:r>
              <a:t>Если прозвучит «сохранить как скилл»: продуктивная путаница — скилл и субагент решают разные задачи, разбор разводит их явно.</a:t>
            </a:r>
          </a:p>
          <a:p/>
          <a:p>
            <a:r>
              <a:t>Если прозвучит «позвать коллегу»: реальная практика, ограничение — наличие коллеги прямо сейчас.</a:t>
            </a:r>
          </a:p>
          <a:p/>
          <a:p>
            <a:r>
              <a:t>Если прозвучит сразу «кастомный субагент»: спросить, что именно он заводит — файл с формулировкой, урезанные права или и то и другое. Обе половины хода редко называют вместе, и эта развилка пригодится на разборе.</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Разбираю все пять. У каждого названы случаи, где он работает, и ограничения — из сочетания двух колонок вывод складывается сам.</a:t>
            </a:r>
          </a:p>
          <a:p/>
          <a:p>
            <a:r>
              <a:t>Ничего не заводить — закрывает разовую проверку без единой строки настройки; при повторении формулировка расходится. Запрос подробнее — держит формулировку верной, пока вы сами её помните; вопроса прав этот ход вообще не касается. Скилл — переиспользует процедуру внутри той же сессии; изоляции по контексту или по правам он не даёт. Кастомный субагент — специализирует роль: фиксирует формулировку файлом и урезает права под конкретную работу. Коллега — даёт точный ответ за минуту, если он прямо сейчас свободен и помнит участок.</a:t>
            </a:r>
          </a:p>
          <a:p/>
          <a:p>
            <a:r>
              <a:t>Вывод. Первая карточка права наполовину: для разовой проверки заводить нечего. Граница, которая решает исход, проходит между разовой проверкой и ролью, которая повторяется настолько, что её стоит специализировать: закрепить формулировку файлом и отнять лишнее.</a:t>
            </a:r>
          </a:p>
          <a:p/>
          <a:p>
            <a:r>
              <a:t>И вот это — две разные половины одного хода. Файл заводят одной строкой, права отнимают другой. Вторую легко не написать, и дальше в кейсе будет видно, насколько легко.</a:t>
            </a:r>
          </a:p>
          <a:p/>
          <a:p>
            <a:r>
              <a:t>Если спросят, почему скилл здесь не подходит, хотя тоже «процедура, записанная в файл»: скилл подгружается той же сессией в тот же контекст — слепое пятно, которое написало правку, унаследует целиком, потому что это снова она же, просто с подгруженной инструкцией. Отдельная роль получает новое, чистое контекстное окно — вот в чём разница по существу, формат файла здесь ни при чём.</a:t>
            </a:r>
          </a:p>
          <a:p/>
          <a:p>
            <a:r>
              <a:t>Если спросят, почему «написать запрос подробнее» не решает проблему: формулировка держится в голове только пока её держат в голове — при повторении через недели она дрейфует, и вопрос прав этим ходом не затрагивается вовсе.</a:t>
            </a:r>
          </a:p>
          <a:p/>
          <a:p>
            <a:r>
              <a:t>Если спросят про «позвать коллегу»: ограничение названо в таблице и обсуждения не требует — исход зависит от того, свободен ли человек, которого зовут.</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чём стоит разговор про цену делегирования. Одна компания опубликовала две цифры в разное время: мультиагентная система тратит примерно в пятнадцать раз больше токенов, чем обычный чат; позже тот же источник уточнил — в три-десять раз больше одноагентного решения той же задачи. Противоречия здесь нет: базы сравнения разные, и обе названы явно.</a:t>
            </a:r>
          </a:p>
          <a:p/>
          <a:p>
            <a:r>
              <a:t>Вывод прямой: делегирование не бывает бесплатным ни разу, даже когда экономит место в вашем окне, — платите токенами всегда. Для разовой проверки цена мала; при частом повторении она складывается в заметную статью расхода.</a:t>
            </a:r>
          </a:p>
          <a:p/>
          <a:p>
            <a:r>
              <a:t>И честный пробел, тот же, что назван в первом кейсе ступени: сколько контекста экономит отдельная роль по сравнению с тем же объёмом работы в основной сессии — такого числа не нашлось ни в одном источнике. Механизм описан качественно везде, числом — нигде.</a:t>
            </a:r>
          </a:p>
          <a:p/>
          <a:p>
            <a:r>
              <a:t>Если спросят, откуда цифра: отчёты вендора о собственной продакшен-системе, методика сравнения раскрыта в обоих текстах — это не независимый аудит, и так и стоит сказать, если переспросят про силу доказательства.</a:t>
            </a:r>
          </a:p>
          <a:p/>
          <a:p>
            <a:r>
              <a:t>Если спросят, зачем цифра про токены, когда цена и так видна из сцены: три недели расходящихся формулировок показывают цену нестабильности. Число добавляет вторую цену — самого механизма: «просто делегировать чаще» тоже не бесплатно.</a:t>
            </a:r>
          </a:p>
          <a:p/>
          <a:p>
            <a:r>
              <a:t>Если спросят, почему пробел не закрыт прикидкой: прикидка здесь была бы числом без измерения, и отличить её от измеренного значения зал потом не сможет.</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Собираем втроём, в три хода — и это специализация роли: имя, инструкция, урезанные права. Первый ход — имя и описание: что делает, когда использовать, когда не использовать. По описанию роль выбирает сама модель, расплывчатое описание маршрутизирует хуже узкого.</a:t>
            </a:r>
          </a:p>
          <a:p/>
          <a:p>
            <a:r>
              <a:t>Второй ход, вокруг него собран весь кейс. Какие инструменты нужны этой роли, чтобы найти проблему в правке? Прочитать файл, поискать по содержимому, найти файлы по шаблону. А править файлы ей нужно? Здесь стоит выдержать паузу: зал почти всегда отвечает «нет» и почти никогда сам не связывает это с тем, что у обычной роли такой инструмент есть по умолчанию.</a:t>
            </a:r>
          </a:p>
          <a:p/>
          <a:p>
            <a:r>
              <a:t>Разница — на экране. Текст в теле роли просит, и его вес конкурирует с остальным контекстом задачи. Список инструментов разрешает физически: чего в нём нет, того роль сделать не может. У нашего ревьюера лишним было право на правку — то самое, которым он переписал проверку адреса сам.</a:t>
            </a:r>
          </a:p>
          <a:p/>
          <a:p>
            <a:r>
              <a:t>Третий ход — формат ответа. Вердикт первой строкой, не растворённый в абзаце. Раздел «что проверено» — конкретно, какие файлы прочитаны. И находки: что не так, где, почему важно. Пустой список находок — валидный </a:t>
            </a:r>
            <a:r>
              <a:rPr>
                <a:latin typeface="Consolas"/>
              </a:rPr>
              <a:t>PASS</a:t>
            </a:r>
            <a:r>
              <a:t>.</a:t>
            </a:r>
          </a:p>
          <a:p/>
          <a:p>
            <a:r>
              <a:t>Три хода, и урезание прав — ровно один из них, отдельный.</a:t>
            </a:r>
          </a:p>
          <a:p/>
          <a:p>
            <a:r>
              <a:t>Если спросят, зачем описывать, когда роль НЕ использовать: без этой границы маршрутизация начнёт отправлять роли задачи, для которых она не предназначена, особенно когда рядом появится вторая роль — этот аргумент уже сыграл во втором кейсе ступени, там, где рядом с диф-ревьюером встал тестировщик и между их зонами остался промежуток.</a:t>
            </a:r>
          </a:p>
          <a:p/>
          <a:p>
            <a:r>
              <a:t>Если спросят, можно ли отнять права по-другому, не списком: можно явным списком разрешённого или явным списком запрещённого — оба способа реальны, а что значит каждая запись такого списка, стояло пятым блоком на одностраничнике ступени.</a:t>
            </a:r>
          </a:p>
          <a:p/>
          <a:p>
            <a:r>
              <a:t>Если прозвучит «а если проверка найдёт проблему, но роль решит, что она не важна»: формат отвечает на это явно — находки перечисляются, решение, что с ними делать, остаётся за человеком, читающим ответ.</a:t>
            </a:r>
          </a:p>
          <a:p/>
          <a:p>
            <a:r>
              <a:t>Если спросят, почему пустой список находок засчитывается: иначе роль начнёт искать, что написать, и формат превратится в требование обязательно что-нибудь найти.</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файл роли целиком, который мы только что собрали. Это файл для разбора — что в нём написано и почему, — не артефакт, который можно сейчас склонировать себе: он снят с версии демо-репозитория, которой больше не существует за пределами временной директории, где её собирали.</a:t>
            </a:r>
          </a:p>
          <a:p/>
          <a:p>
            <a:r>
              <a:t>Держите глазами строку </a:t>
            </a:r>
            <a:r>
              <a:rPr>
                <a:latin typeface="Consolas"/>
              </a:rPr>
              <a:t>tools: Read, Grep, Glob</a:t>
            </a:r>
            <a:r>
              <a:t>. Она короче всего остального файла и делает больше всего: без </a:t>
            </a:r>
            <a:r>
              <a:rPr>
                <a:latin typeface="Consolas"/>
              </a:rPr>
              <a:t>Write</a:t>
            </a:r>
            <a:r>
              <a:t> и </a:t>
            </a:r>
            <a:r>
              <a:rPr>
                <a:latin typeface="Consolas"/>
              </a:rPr>
              <a:t>Edit</a:t>
            </a:r>
            <a:r>
              <a:t> в списке инструмент правки у роли отсутствует физически. Три имени в строке, и ни одного лишнего. Вот так выглядит отнятое право, когда его отняли правильно и оно сработало.</a:t>
            </a:r>
          </a:p>
          <a:p/>
          <a:p>
            <a:r>
              <a:t>Если спросят про границу «НЕ для ревью архитектурных решений»: она здесь — в предметной области проекта, не курса; граница «чем роль не является» нужна всегда, когда рядом может появиться вторая роль, и во втором кейсе ступени это сыграло буквально — именно эта строка диф-ревьюера закрывала бы там свою половину промежутка.</a:t>
            </a:r>
          </a:p>
          <a:p/>
          <a:p>
            <a:r>
              <a:t>Если спросят, почему именно эти три инструмента оставлены: прочитать файл, поискать по содержимому, найти файлы по шаблону — ровно то, что зал назвал сам, ни одним инструментом больше.</a:t>
            </a:r>
          </a:p>
          <a:p/>
          <a:p>
            <a:r>
              <a:t>Если спросят, обязательно ли писать тело роли так подробно: тело задаёт поведение, список инструментов задаёт возможности. Короткое тело при верном списке работает; длинное тело при полном списке оставляет роли всё, что она умеет по умолчанию.</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месяца назад в каталог ролей этого курса добавили роль литературного редактора. Автор решил сделать ровно то, что мы собрали руками экраном раньше: отнять у роли ненужные права. В файле появилась строка </a:t>
            </a:r>
            <a:r>
              <a:rPr>
                <a:latin typeface="Consolas"/>
              </a:rPr>
              <a:t>tools: All tools</a:t>
            </a:r>
            <a:r>
              <a:t> — по смыслу «оставь всё», обычная фраза на естественном языке.</a:t>
            </a:r>
          </a:p>
          <a:p/>
          <a:p>
            <a:r>
              <a:t>Смотрите на две строки рядом. Верхняя — наша: три имени, каждое совпадает с реальным инструментом, роль живёт и править файлы не может. Нижняя — настоящая: «All tools» разбирается как два отдельных имени, ни одно ни с чем не совпадает, список резолвится в пустое множество.</a:t>
            </a:r>
          </a:p>
          <a:p/>
          <a:p>
            <a:r>
              <a:t>Роль не запустилась ни разу. Три попытки параллельного запуска — три одинаковых отказа, вот он: «Agent 'literary-editor' would be spawned with zero tools — refusing. Its tools list resolved to nothing: unrecognized [All, tools].»</a:t>
            </a:r>
          </a:p>
          <a:p/>
          <a:p>
            <a:r>
              <a:t>При пустом списке, записанном явно, роль стартовала бы без единого инструмента — слабая, но живая. Здесь харнесс делает другое: отказывается запускать её вовсе. Строка, которая должна была урезать права, их не ослабила — она не позволила роли появиться.</a:t>
            </a:r>
          </a:p>
          <a:p/>
          <a:p>
            <a:r>
              <a:t>И теперь к себе. Та же команда на вашем каталоге ролей: у скольких из них это поле вообще задано? Что выходит на материале всего курса — дальше.</a:t>
            </a:r>
          </a:p>
          <a:p/>
          <a:p>
            <a:r>
              <a:t>Если спросят, починили ли это: на момент подготовки занятия — нет, строка на месте; проверить можно прямо на занятии той же командой.</a:t>
            </a:r>
          </a:p>
          <a:p/>
          <a:p>
            <a:r>
              <a:t>Если спросят, почему харнесс не предупредил заранее, при сохранении файла: ошибка такого рода не видна ни при чтении файла, ни в списке доступных ролей — только при реальном запуске. Заводя роль с урезанными правами, стоит сделать один пробный запуск сразу, не в тот момент, когда роль понадобилась в работе.</a:t>
            </a:r>
          </a:p>
          <a:p/>
          <a:p>
            <a:r>
              <a:t>Если спросят, почему это смешнее, чем просто забытое поле: потому что здесь не забыли отнять права — попытались, искренне, и синтаксис не простил.</a:t>
            </a:r>
          </a:p>
          <a:p/>
          <a:p>
            <a:r>
              <a:t>Если спросят, чем это отличается от провалов предыдущих кейсов: те случались у третьих лиц и проверяются чтением первоисточника. Этот проверяется командой, выполненной здесь, на репозитории, который открыт перед залом.</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Когда роль ещё не нужна. Разовая проверка — делегируйте встроенным агентом, файл не нужен. Задача формулируется заново каждый раз без устойчивой формы — роли ещё нет, есть обычная работа. «Независимость» объявлена, но не проверена — если ревьюер видит рассуждения автора, объявления недостаточно.</a:t>
            </a:r>
          </a:p>
          <a:p/>
          <a:p>
            <a:r>
              <a:t>Когда роль не нужна вовсе. Критерий кодируется детерминированно — линтером, тестом, скриптом: не нужен ни субагент, ни модель. Место такой проверки — хук или прогон в CI.</a:t>
            </a:r>
          </a:p>
          <a:p/>
          <a:p>
            <a:r>
              <a:t>Теперь обещанное. В каталоге ролей этого курса четырнадцать файлов. Тринадцать не задают поле со списком инструментов вовсе и потому имеют все инструменты, включая правку. Четырнадцатая — единственная, кто попытался, — не запускается. Работающих урезаний ноль из четырнадцати — в репозитории, по которому собрано это занятие. И среди этих тринадцати есть роли, чья работа — только оценивать материал.</a:t>
            </a:r>
          </a:p>
          <a:p/>
          <a:p>
            <a:r>
              <a:t>Кастомная роль — решаем, по сигналу повторения. Интуиция говорила: чтобы поручить проверку отдельному агенту, нужно завести файл и настроить его. Проверка показала: делегировать можно без единой строки конфигурации, это уже бесплатно; заводить стоило роль с урезанным списком инструментов, само делегирование заводить не требовалось — и даже это урезание держится на синтаксисе настолько буквально, что одна неверная строка не ослабляет права — не даёт роли запуститься вовсе.</a:t>
            </a:r>
          </a:p>
          <a:p/>
          <a:p>
            <a:r>
              <a:t>Если спросят, почему курс сам этого не делает: прямого ответа у меня нет — честный пробел называется вслух, не объясняется в оправдание. Открытый вопрос курса об этом зарегистрирован отдельно; если он закрыт до занятия, у этого места есть более сильная версия — различие между «было» и «стало» в одном и том же репозитории.</a:t>
            </a:r>
          </a:p>
          <a:p/>
          <a:p>
            <a:r>
              <a:t>Если спросят, насколько это серьёзно: зависит от того, что именно критикующая роль делает с файлом, который пришла оценивать — технически возможность есть, использование не задокументировано ни в одну сторону.</a:t>
            </a:r>
          </a:p>
          <a:p/>
          <a:p>
            <a:r>
              <a:t>Если спросят про цифры точнее: четырнадцать файлов всего, тринадцать совсем без поля, один — с полем, которое не работает; проверить обеими командами можно прямо на занятии.</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Третья граница, и она о другом: роль нужна, права у неё урезаны правильным по форме способом, и урезаны не на то.</a:t>
            </a:r>
          </a:p>
          <a:p/>
          <a:p>
            <a:r>
              <a:t>Документация харнесса показывает это двумя примерами. </a:t>
            </a:r>
            <a:r>
              <a:rPr>
                <a:latin typeface="Consolas"/>
              </a:rPr>
              <a:t>code-reviewer</a:t>
            </a:r>
            <a:r>
              <a:t> читает и ищет, набор без </a:t>
            </a:r>
            <a:r>
              <a:rPr>
                <a:latin typeface="Consolas"/>
              </a:rPr>
              <a:t>Edit</a:t>
            </a:r>
            <a:r>
              <a:t> и </a:t>
            </a:r>
            <a:r>
              <a:rPr>
                <a:latin typeface="Consolas"/>
              </a:rPr>
              <a:t>Write</a:t>
            </a:r>
            <a:r>
              <a:t> — верно, ревью не чинит код за автора. </a:t>
            </a:r>
            <a:r>
              <a:rPr>
                <a:latin typeface="Consolas"/>
              </a:rPr>
              <a:t>debugger</a:t>
            </a:r>
            <a:r>
              <a:t> — та же база плюс </a:t>
            </a:r>
            <a:r>
              <a:rPr>
                <a:latin typeface="Consolas"/>
              </a:rPr>
              <a:t>Edit</a:t>
            </a:r>
            <a:r>
              <a:t>, возвращённый обратно, дословно «потому что починка бага требует правки кода». Одна логика урезания, две работы, два разных правильных ответа.</a:t>
            </a:r>
          </a:p>
          <a:p/>
          <a:p>
            <a:r>
              <a:t>Мост к кейсу. Список </a:t>
            </a:r>
            <a:r>
              <a:rPr>
                <a:latin typeface="Consolas"/>
              </a:rPr>
              <a:t>Read, Grep, Glob</a:t>
            </a:r>
            <a:r>
              <a:t>, который мы собрали для диф-ревьюера, был верным ровно потому, что его работа — находить проблему. Скопируйте тот же список роли, чья работа эту проблему чинить, и получите </a:t>
            </a:r>
            <a:r>
              <a:rPr>
                <a:latin typeface="Consolas"/>
              </a:rPr>
              <a:t>debugger</a:t>
            </a:r>
            <a:r>
              <a:t> без </a:t>
            </a:r>
            <a:r>
              <a:rPr>
                <a:latin typeface="Consolas"/>
              </a:rPr>
              <a:t>Edit</a:t>
            </a:r>
            <a:r>
              <a:t>: она физически не сделает того, ради чего её завели.</a:t>
            </a:r>
          </a:p>
          <a:p/>
          <a:p>
            <a:r>
              <a:t>Этим ступень закрывается. Весь путь работы целиком — от задачи до показа заказчику — остаётся на отдельный разговор.</a:t>
            </a:r>
          </a:p>
          <a:p/>
          <a:p>
            <a:r>
              <a:t>Если спросят, как узнать заранее, в какую границу попадает новая роль: спросите так — «что этой роли физически придётся сделать, чтобы выполнить свою работу»; если ответ требует инструмента, которого нет в списке, граница урезания проведена не там.</a:t>
            </a:r>
          </a:p>
          <a:p/>
          <a:p>
            <a:r>
              <a:t>Если спросят, не противоречит ли это тому, что мы собрали в этом же кейсе: нет — там урезание было верным, роль именно находит проблему. Здесь показан случай, где тот же приём, скопированный без проверки задачи, ломает другую роль.</a:t>
            </a:r>
          </a:p>
          <a:p/>
          <a:p>
            <a:r>
              <a:t>Если спросят, как это сочетается со счётом «ноль из четырнадцати»: счёт говорит, что урезание почти никто не делает; эта граница говорит, что сделанное не глядя тоже ломается. Обе половины указывают в одно место — права урезают от задачи роли, по одной штуке, с проверкой запуском.</a:t>
            </a:r>
          </a:p>
          <a:p/>
          <a:p>
            <a:r>
              <a:t>Если спросят про </a:t>
            </a:r>
            <a:r>
              <a:rPr>
                <a:latin typeface="Consolas"/>
              </a:rPr>
              <a:t>Bash</a:t>
            </a:r>
            <a:r>
              <a:t> у </a:t>
            </a:r>
            <a:r>
              <a:rPr>
                <a:latin typeface="Consolas"/>
              </a:rPr>
              <a:t>code-reviewer</a:t>
            </a:r>
            <a:r>
              <a:t>: он там есть и в примере документации, и это не противоречие — запустить тест и прочитать вывод ревьюер может, переписать файл чужими руками </a:t>
            </a:r>
            <a:r>
              <a:rPr>
                <a:latin typeface="Consolas"/>
              </a:rPr>
              <a:t>Bash</a:t>
            </a:r>
            <a:r>
              <a:t> ему не даёт по той же логике списка.</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Тот же человек, с которого занятие начиналось. В понедельник агент ответил по репозиторию, и двух просьб заказчика в ответе не оказалось: внутри их не было вовсе. В среду, уже в рабочем продукте, он прочитал всё, где этот текст мог встретиться, ответил верно — и переспросил то, что ему объясняли в начале сессии: чтение съело место, в котором лежала сама работа.</a:t>
            </a:r>
          </a:p>
          <a:p/>
          <a:p>
            <a:r>
              <a:t>Вот что стоит на месте обоих промахов. Третья строка, понедельник: права урезаются до подключения, не после, и без вычеркнутой строки «все репозитории, включая приватные» воспроизводится документированная утечка. Четвёртая строка, среда: делегировать можно бесплатно, без единой строки конфигурации, а список инструментов урезается синтаксисом так буквально, что одна неверная строка не ослабляет права роли — она останавливает её запуск вовсе.</a:t>
            </a:r>
          </a:p>
          <a:p/>
          <a:p>
            <a:r>
              <a:t>Хук и скилл — те же формулировки, что в начале занятия, заново я их не читаю. Четыре строки заполнены.</a:t>
            </a:r>
          </a:p>
          <a:p/>
          <a:p>
            <a:r>
              <a:t>---</a:t>
            </a:r>
          </a:p>
          <a:p/>
          <a:p>
            <a:r>
              <a:rPr b="1"/>
              <a:t>Справка.</a:t>
            </a:r>
          </a:p>
          <a:p/>
          <a:p>
            <a:r>
              <a:rPr i="1"/>
              <a:t>Если спросят, почему понедельник закрывает именно MCP, а среда — субагент.</a:t>
            </a:r>
            <a:r>
              <a:t> По тому, чего не хватало. В понедельник нужного не было внутри вовсе, и окно любого размера этого не меняет — помогает только доступ к системе, которая живёт отдельно. В среду всё нужное внутрь влезло и вытеснило работу — помогает чужое окно, которое читает за нас и возвращает итог.</a:t>
            </a:r>
          </a:p>
          <a:p/>
          <a:p>
            <a:r>
              <a:rPr i="1"/>
              <a:t>Если спросят, где посмотреть замеры по MCP и субагенту.</a:t>
            </a:r>
            <a:r>
              <a:t> По MCP — замер токенов и статусов живёт в документации продукта и в карточке конкретного сервера в сессии, не в репозитории. По субагенту — тот же приём у себя: </a:t>
            </a:r>
            <a:r>
              <a:rPr>
                <a:latin typeface="Consolas"/>
              </a:rPr>
              <a:t>grep "^tools:" .claude/agents/*.md</a:t>
            </a:r>
            <a:r>
              <a:t> на своих собственных ролях показывает, у скольких из них поле вообще задано.</a:t>
            </a:r>
          </a:p>
          <a:p/>
          <a:p>
            <a:r>
              <a:rPr i="1"/>
              <a:t>Если спросят про колонку «что не делает / ограничение» у новых строк.</a:t>
            </a:r>
            <a:r>
              <a:t> Тот же критерий, что у хука и скилла: это не чья-то наивность. Так механизм описан до того, как его замерили, а здесь показано, где заканчивается то, что он реально делает.</a:t>
            </a:r>
          </a:p>
          <a:p/>
          <a:p>
            <a:r>
              <a:rPr i="1"/>
              <a:t>Порядок строк.</a:t>
            </a:r>
            <a:r>
              <a:t> Тот же, что на вопросе занятия и на карте: хук, скилл, MCP, субагент. Не меняется — на этом совпадении держится весь возврат вопроса.</a:t>
            </a:r>
          </a:p>
          <a:p/>
          <a:p>
            <a:r>
              <a:rPr i="1"/>
              <a:t>Если прозвучит «а эти два промаха были настоящие».</a:t>
            </a:r>
            <a:r>
              <a:t> Сцены учебные, собранные из типовых ситуаций на настоящем проекте, — так и было сказано на обложке. Проверяемые числа занятия стоят отдельно и всегда с источником.</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Вот что сегодня произошло с репозиторием. Смотрите на метку в каждой строке — она здесь важнее самой схемы.</a:t>
            </a:r>
          </a:p>
          <a:p/>
          <a:p>
            <a:r>
              <a:t>Хук, скилл, CLAUDE.md и документационный слой стоят так же, как в начале занятия. Это с мостика не изменилось.</a:t>
            </a:r>
          </a:p>
          <a:p/>
          <a:p>
            <a:r>
              <a:t>Два новых файла — </a:t>
            </a:r>
            <a:r>
              <a:rPr>
                <a:latin typeface="Consolas"/>
              </a:rPr>
              <a:t>.mcp.json</a:t>
            </a:r>
            <a:r>
              <a:t> и файл роли субагента — на этой схеме есть, но коммита у них нет и не будет. Демо-репозиторий дальше не строится: это решение, не забытая работа. Называю это прямо, потому что занятие всё время было про разницу между тем, что написано и что уже работает, и прятать эту же разницу в собственном итоге было бы странно.</a:t>
            </a:r>
          </a:p>
          <a:p/>
          <a:p>
            <a:r>
              <a:t>Обратите внимание, что это за две строки. Одна приносит внутрь то, чего внутри нет, вторая выносит наружу то, что внутрь не помещается. Два хода, которыми занятие отвечало на оба промаха, на этом проекте выглядят как два файла по известным путям — написанных, разобранных построчно и не закоммиченных.</a:t>
            </a:r>
          </a:p>
          <a:p/>
          <a:p>
            <a:r>
              <a:t>---</a:t>
            </a:r>
          </a:p>
          <a:p/>
          <a:p>
            <a:r>
              <a:rPr b="1"/>
              <a:t>Справка.</a:t>
            </a:r>
          </a:p>
          <a:p/>
          <a:p>
            <a:r>
              <a:rPr i="1"/>
              <a:t>Если спросят, почему демо-репозиторий не достроили.</a:t>
            </a:r>
            <a:r>
              <a:t> Решение принято заранее и объявлено вслух, недосмотром оно не является: два занятия с материалом MCP и субагента дороже, чем занятие с демо-репозиторием, достроенным до конца.</a:t>
            </a:r>
          </a:p>
          <a:p/>
          <a:p>
            <a:r>
              <a:rPr i="1"/>
              <a:t>Если спросят, как тогда проверить то, что сегодня разобрано.</a:t>
            </a:r>
            <a:r>
              <a:t> Следующий слайд отвечает на это прямо: часть сегодняшнего материала проверяется, часть — нет, и названо, что именно.</a:t>
            </a:r>
          </a:p>
          <a:p/>
          <a:p>
            <a:r>
              <a:rPr i="1"/>
              <a:t>Если спросят про имена файлов.</a:t>
            </a:r>
            <a:r>
              <a:t> </a:t>
            </a:r>
            <a:r>
              <a:rPr>
                <a:latin typeface="Consolas"/>
              </a:rPr>
              <a:t>.mcp.json</a:t>
            </a:r>
            <a:r>
              <a:t> и </a:t>
            </a:r>
            <a:r>
              <a:rPr>
                <a:latin typeface="Consolas"/>
              </a:rPr>
              <a:t>diff-reviewer.md</a:t>
            </a:r>
            <a:r>
              <a:t> — не придуманные имена, это артефакты из разобранных сегодня кейсов, ровно по этим путям, без расхождений.</a:t>
            </a:r>
          </a:p>
          <a:p/>
          <a:p>
            <a:r>
              <a:rPr i="1"/>
              <a:t>Если спросят, где посмотреть эти файлы целиком.</a:t>
            </a:r>
            <a:r>
              <a:t> Оба разбирались построчно сегодня, каждый на своём экране: собранный </a:t>
            </a:r>
            <a:r>
              <a:rPr>
                <a:latin typeface="Consolas"/>
              </a:rPr>
              <a:t>.mcp.json</a:t>
            </a:r>
            <a:r>
              <a:t> с порядком при конфликте имён и файл роли с тремя инструментами вместо всех. Там же названо, какая строка за что отвечает; схема здесь показывает только статус.</a:t>
            </a:r>
          </a:p>
          <a:p/>
          <a:p>
            <a:r>
              <a:rPr i="1"/>
              <a:t>Если спросят, почему у хука коммит есть, а у скилла нет.</a:t>
            </a:r>
            <a:r>
              <a:t> Эту метку поставило прошлое занятие и по той же причине: хук был заведён и проверен на живом репозитории, скилл разобран по частям, но до коммита не дошёл. С тех пор метка не менялась, и сегодня к ней добавились ещё две того же рода.</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вопрос уже звучал в начале занятия, после двух промахов, и свой ответ вы держали при себе. Формулировка та же, знак в знак: работа вышла за контекст агента — что вы заводите первым: приносите внутрь то, чего внутри нет, или выносите наружу то, что внутрь не помещается?</a:t>
            </a:r>
          </a:p>
          <a:p/>
          <a:p>
            <a:r>
              <a:t>Сначала руки: у кого ответ изменился за сегодня. Потом два-три голоса — что именно его изменило. Свой ответ не называю, чужие не оцениваю.</a:t>
            </a:r>
          </a:p>
          <a:p/>
          <a:p>
            <a:r>
              <a:t>---</a:t>
            </a:r>
          </a:p>
          <a:p/>
          <a:p>
            <a:r>
              <a:rPr b="1"/>
              <a:t>Справка.</a:t>
            </a:r>
          </a:p>
          <a:p/>
          <a:p>
            <a:r>
              <a:rPr i="1"/>
              <a:t>Что обычно меняет ответ, и что на каждое отвечать.</a:t>
            </a:r>
            <a:r>
              <a:t> Ожидаемое движение: от «беру то, что под рукой, без разбора» к выбору по критерию — данных не хватает физически, значит доступ наружу; чтение съедает место и повторяется из сессии в сессию, значит отдельный исполнитель. Второе движение: от недооценки цены к прямому её учёту — чужой код и место в контексте у одного расширения, лишние права у другого. Оба движения подтверждаю как честные: это и есть материал, который сегодня проверяли.</a:t>
            </a:r>
          </a:p>
          <a:p/>
          <a:p>
            <a:r>
              <a:rPr i="1"/>
              <a:t>Если зал молчит.</a:t>
            </a:r>
            <a:r>
              <a:t> Напоминаю, что появилось за занятие: критерий для доступа наружу и критерий для урезанной роли, оба с ценой, названной прямо. Больше не подсказываю — здесь работает пауза.</a:t>
            </a:r>
          </a:p>
          <a:p/>
          <a:p>
            <a:r>
              <a:rPr i="1"/>
              <a:t>Если прозвучит «а какой ответ правильный».</a:t>
            </a:r>
            <a:r>
              <a:t> Правильного нет и сегодня: выбор зависит от того, чего в конкретном проекте не хватает — того, чего внутри нет вовсе, или места, которое съедает чтение.</a:t>
            </a:r>
          </a:p>
          <a:p/>
          <a:p>
            <a:r>
              <a:rPr i="1"/>
              <a:t>Если ответ не изменился ни у кого.</a:t>
            </a:r>
            <a:r>
              <a:t> Это честный исход, и спорить с ним нечем: спрашиваю тогда про цену: изменилось ли представление о том, чего стоит каждый из двух ходов. Обычно меняется именно она.</a:t>
            </a:r>
          </a:p>
          <a:p/>
          <a:p>
            <a:r>
              <a:rPr i="1"/>
              <a:t>Чего здесь не делаю.</a:t>
            </a:r>
            <a:r>
              <a:t> Итог не подвожу — он идёт отдельно, последним. Ничего сделать после занятия не прошу.</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Посмотрите, где сегодня появилась команда, которую можно выполнить и получить ответ, а где её нет.</a:t>
            </a:r>
          </a:p>
          <a:p/>
          <a:p>
            <a:r>
              <a:t>Из шести сегодняшних карточек опору несут две. Статус сервера подтверждается прямо на вашей машине: </a:t>
            </a:r>
            <a:r>
              <a:rPr>
                <a:latin typeface="Consolas"/>
              </a:rPr>
              <a:t>claude mcp list</a:t>
            </a:r>
            <a:r>
              <a:t> и явный именованный вызов. Урезанные права роли — тем же приёмом на своих собственных ролях: </a:t>
            </a:r>
            <a:r>
              <a:rPr>
                <a:latin typeface="Consolas"/>
              </a:rPr>
              <a:t>grep "^tools:" .claude/agents/*.md</a:t>
            </a:r>
            <a:r>
              <a:t> показывает, у скольких из них поле вообще задано; на этом приёме курс поймал сам себя — единственный файл, где поле стоит, резолвится в ноль инструментов. Остальные четыре карточки опираются на документированное исследование: CVE, контролируемый эксперимент, сотни размеченных трасс. Команды, которую можно выполнить здесь и сейчас, под ними нет, и это названо прямо.</a:t>
            </a:r>
          </a:p>
          <a:p/>
          <a:p>
            <a:r>
              <a:t>И последнее — то, ради чего всё шло. Два механизма вы сегодня видели; с собой вы уносите вопрос, которым между ними выбирают. Завтра, когда ваша работа перестанет помещаться агенту: чего ей не хватает — того, чего внутри нет вовсе, или места, занятого чтением? Первый случай приносят внутрь, второй выносят наружу. Разработчик, с чьих двух промахов занятие начиналось, теперь различает эти случаи сам — и это весь ответ на вопрос, который вы только что слышали второй раз.</a:t>
            </a:r>
          </a:p>
          <a:p/>
          <a:p>
            <a:r>
              <a:t>---</a:t>
            </a:r>
          </a:p>
          <a:p/>
          <a:p>
            <a:r>
              <a:rPr b="1"/>
              <a:t>Справка.</a:t>
            </a:r>
          </a:p>
          <a:p/>
          <a:p>
            <a:r>
              <a:rPr i="1"/>
              <a:t>Что делают команды, которыми проверяется сегодняшний материал.</a:t>
            </a:r>
            <a:r>
              <a:t> </a:t>
            </a:r>
            <a:r>
              <a:rPr>
                <a:latin typeface="Consolas"/>
              </a:rPr>
              <a:t>claude mcp list</a:t>
            </a:r>
            <a:r>
              <a:t> и </a:t>
            </a:r>
            <a:r>
              <a:rPr>
                <a:latin typeface="Consolas"/>
              </a:rPr>
              <a:t>/mcp</a:t>
            </a:r>
            <a:r>
              <a:t> печатают статус подключения и, при явном именованном вызове, доказывают реальную работу сервера. </a:t>
            </a:r>
            <a:r>
              <a:rPr>
                <a:latin typeface="Consolas"/>
              </a:rPr>
              <a:t>grep "^tools:" .claude/agents/*.md</a:t>
            </a:r>
            <a:r>
              <a:t> на любом каталоге ролей печатает, у кого поле </a:t>
            </a:r>
            <a:r>
              <a:rPr>
                <a:latin typeface="Consolas"/>
              </a:rPr>
              <a:t>tools:</a:t>
            </a:r>
            <a:r>
              <a:t> задано явно, а у кого нет вовсе — тот же приём, которым курс поймал сам себя: единственная строка со значением «All tools», которое не распознаётся как ограничение.</a:t>
            </a:r>
          </a:p>
          <a:p/>
          <a:p>
            <a:r>
              <a:rPr i="1"/>
              <a:t>Если спросят, почему опора есть не у всех шести кейсов.</a:t>
            </a:r>
            <a:r>
              <a:t> У двух кейсов доказательная база — документированные случаи и спецификации: сервера, где случился инцидент, давно нет, а чужую роль в чужом репозитории на своей машине не запустишь. Проверяемость здесь другого рода — читается первоисточник, команда не выполняется. Это разница в природе материала, не недосмотр.</a:t>
            </a:r>
          </a:p>
          <a:p/>
          <a:p>
            <a:r>
              <a:rPr i="1"/>
              <a:t>Если спросят, что считать результатом занятия.</a:t>
            </a:r>
            <a:r>
              <a:t> Не количество файлов. Результат — вопрос, которым выбирают ход, и цена, названная у каждого из двух. Проверяемость — половина этого результата: про часть сегодняшнего материала можно задать вопрос и получить ответ командой, про другую часть пока нет, и это сказано прямо.</a:t>
            </a:r>
          </a:p>
          <a:p/>
          <a:p>
            <a:r>
              <a:rPr i="1"/>
              <a:t>Если спросят, что делать с последним вопросом.</a:t>
            </a:r>
            <a:r>
              <a:t> Ответить себе, и всё. Домашней работы из него не делаю, присылать ответ не нужно, на следующем занятии его не спрашиваю: перенос на свой репозиторий — работа отдельного занятия, и начинать её с невыполненного задания было бы нечестно.</a:t>
            </a:r>
          </a:p>
          <a:p/>
          <a:p>
            <a:r>
              <a:rPr i="1"/>
              <a:t>Остаток себе.</a:t>
            </a:r>
            <a:r>
              <a:t> Призыва что-либо сделать не даю. Пустые клетки сетки не комментирую дольше одной фразы.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
            <a:ext cx="7315200" cy="1298448"/>
          </a:xfrm>
          <a:prstGeom prst="rect">
            <a:avLst/>
          </a:prstGeom>
          <a:noFill/>
        </p:spPr>
        <p:txBody>
          <a:bodyPr wrap="square" lIns="0" rIns="0" tIns="0" bIns="0" anchor="ctr">
            <a:spAutoFit/>
          </a:bodyPr>
          <a:lstStyle/>
          <a:p>
            <a:pPr algn="l">
              <a:lnSpc>
                <a:spcPts val="3564"/>
              </a:lnSpc>
              <a:spcAft>
                <a:spcPts val="0"/>
              </a:spcAft>
            </a:pPr>
            <a:r>
              <a:rPr sz="3300" b="1" i="0">
                <a:solidFill>
                  <a:srgbClr val="FFFFFF"/>
                </a:solidFill>
                <a:latin typeface="Arial"/>
              </a:rPr>
              <a:t>Доступ наружу и урезанная роль</a:t>
            </a:r>
          </a:p>
        </p:txBody>
      </p:sp>
      <p:sp>
        <p:nvSpPr>
          <p:cNvPr id="4" name="Rectangle 3"/>
          <p:cNvSpPr/>
          <p:nvPr/>
        </p:nvSpPr>
        <p:spPr>
          <a:xfrm>
            <a:off x="0" y="1847088"/>
            <a:ext cx="12191695" cy="6400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amka-n01-hero-sem06.png"/>
          <p:cNvPicPr>
            <a:picLocks noChangeAspect="1"/>
          </p:cNvPicPr>
          <p:nvPr/>
        </p:nvPicPr>
        <p:blipFill>
          <a:blip r:embed="rId2"/>
          <a:stretch>
            <a:fillRect/>
          </a:stretch>
        </p:blipFill>
        <p:spPr>
          <a:xfrm>
            <a:off x="0" y="3708478"/>
            <a:ext cx="12191695" cy="3149521"/>
          </a:xfrm>
          <a:prstGeom prst="rect">
            <a:avLst/>
          </a:prstGeom>
        </p:spPr>
      </p:pic>
      <p:sp>
        <p:nvSpPr>
          <p:cNvPr id="6" name="Rectangle 5"/>
          <p:cNvSpPr/>
          <p:nvPr/>
        </p:nvSpPr>
        <p:spPr>
          <a:xfrm>
            <a:off x="822960" y="2176272"/>
            <a:ext cx="32004" cy="151638"/>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139696"/>
            <a:ext cx="10241280" cy="224790"/>
          </a:xfrm>
          <a:prstGeom prst="rect">
            <a:avLst/>
          </a:prstGeom>
          <a:noFill/>
        </p:spPr>
        <p:txBody>
          <a:bodyPr wrap="square" lIns="0" rIns="0" tIns="0" bIns="0" anchor="t">
            <a:spAutoFit/>
          </a:bodyPr>
          <a:lstStyle/>
          <a:p>
            <a:pPr algn="l">
              <a:lnSpc>
                <a:spcPts val="1770"/>
              </a:lnSpc>
              <a:spcAft>
                <a:spcPts val="400"/>
              </a:spcAft>
            </a:pPr>
            <a:r>
              <a:rPr sz="1500" b="0" i="0">
                <a:solidFill>
                  <a:srgbClr val="D6E2EC"/>
                </a:solidFill>
                <a:latin typeface="Arial"/>
              </a:rPr>
              <a:t>Две недели назад агент знал про этот проект всё. В понедельник он уверенно ответил мимо.</a:t>
            </a:r>
          </a:p>
        </p:txBody>
      </p:sp>
      <p:sp>
        <p:nvSpPr>
          <p:cNvPr id="8" name="Rounded Rectangle 7"/>
          <p:cNvSpPr/>
          <p:nvPr/>
        </p:nvSpPr>
        <p:spPr>
          <a:xfrm>
            <a:off x="822960" y="2602230"/>
            <a:ext cx="10515600"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2730246"/>
            <a:ext cx="9966960" cy="566928"/>
          </a:xfrm>
          <a:prstGeom prst="rect">
            <a:avLst/>
          </a:prstGeom>
          <a:noFill/>
        </p:spPr>
        <p:txBody>
          <a:bodyPr wrap="square" lIns="0" rIns="0" tIns="0" bIns="0" anchor="ctr">
            <a:spAutoFit/>
          </a:bodyPr>
          <a:lstStyle/>
          <a:p>
            <a:pPr algn="ctr">
              <a:lnSpc>
                <a:spcPts val="2074"/>
              </a:lnSpc>
              <a:spcAft>
                <a:spcPts val="300"/>
              </a:spcAft>
            </a:pPr>
            <a:r>
              <a:rPr sz="1700" b="1" i="0">
                <a:solidFill>
                  <a:srgbClr val="141B2E"/>
                </a:solidFill>
                <a:latin typeface="Arial"/>
              </a:rPr>
              <a:t>«Агент не поглупел — так что же перестало помещаться?»</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мы остановились</a:t>
            </a:r>
          </a:p>
        </p:txBody>
      </p:sp>
      <p:sp>
        <p:nvSpPr>
          <p:cNvPr id="3" name="Rounded Rectangle 2"/>
          <p:cNvSpPr/>
          <p:nvPr/>
        </p:nvSpPr>
        <p:spPr>
          <a:xfrm>
            <a:off x="502920" y="1716786"/>
            <a:ext cx="11183112" cy="2036444"/>
          </a:xfrm>
          <a:prstGeom prst="roundRect">
            <a:avLst>
              <a:gd name="adj" fmla="val 1496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899666"/>
            <a:ext cx="153415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СТУПЕНЬ</a:t>
            </a:r>
          </a:p>
        </p:txBody>
      </p:sp>
      <p:sp>
        <p:nvSpPr>
          <p:cNvPr id="5" name="TextBox 4"/>
          <p:cNvSpPr txBox="1"/>
          <p:nvPr/>
        </p:nvSpPr>
        <p:spPr>
          <a:xfrm>
            <a:off x="2366260" y="1899666"/>
            <a:ext cx="628306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ПУТЬ ИЛИ АРТЕФАКТ</a:t>
            </a:r>
          </a:p>
        </p:txBody>
      </p:sp>
      <p:sp>
        <p:nvSpPr>
          <p:cNvPr id="6" name="TextBox 5"/>
          <p:cNvSpPr txBox="1"/>
          <p:nvPr/>
        </p:nvSpPr>
        <p:spPr>
          <a:xfrm>
            <a:off x="8795628" y="1899666"/>
            <a:ext cx="256121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СТАТУС</a:t>
            </a:r>
          </a:p>
        </p:txBody>
      </p:sp>
      <p:sp>
        <p:nvSpPr>
          <p:cNvPr id="7" name="TextBox 6"/>
          <p:cNvSpPr txBox="1"/>
          <p:nvPr/>
        </p:nvSpPr>
        <p:spPr>
          <a:xfrm>
            <a:off x="685800" y="2181733"/>
            <a:ext cx="153415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Хук</a:t>
            </a:r>
          </a:p>
        </p:txBody>
      </p:sp>
      <p:sp>
        <p:nvSpPr>
          <p:cNvPr id="8" name="TextBox 7"/>
          <p:cNvSpPr txBox="1"/>
          <p:nvPr/>
        </p:nvSpPr>
        <p:spPr>
          <a:xfrm>
            <a:off x="2366260" y="2181733"/>
            <a:ext cx="628306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.claude/settings.json</a:t>
            </a:r>
            <a:r>
              <a:rPr sz="1250" b="0" i="0">
                <a:solidFill>
                  <a:srgbClr val="141B2E"/>
                </a:solidFill>
                <a:latin typeface="Arial"/>
              </a:rPr>
              <a:t> + </a:t>
            </a:r>
            <a:r>
              <a:rPr sz="1250" b="0" i="0">
                <a:solidFill>
                  <a:srgbClr val="141B2E"/>
                </a:solidFill>
                <a:latin typeface="Consolas"/>
              </a:rPr>
              <a:t>.claude/hooks/selftest-branch-guard.sh</a:t>
            </a:r>
          </a:p>
        </p:txBody>
      </p:sp>
      <p:sp>
        <p:nvSpPr>
          <p:cNvPr id="9" name="TextBox 8"/>
          <p:cNvSpPr txBox="1"/>
          <p:nvPr/>
        </p:nvSpPr>
        <p:spPr>
          <a:xfrm>
            <a:off x="8795628" y="2181733"/>
            <a:ext cx="256121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коммит есть</a:t>
            </a:r>
          </a:p>
        </p:txBody>
      </p:sp>
      <p:cxnSp>
        <p:nvCxnSpPr>
          <p:cNvPr id="10" name="Connector 9"/>
          <p:cNvCxnSpPr/>
          <p:nvPr/>
        </p:nvCxnSpPr>
        <p:spPr>
          <a:xfrm>
            <a:off x="685800" y="252888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528887"/>
            <a:ext cx="153415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Скилл</a:t>
            </a:r>
          </a:p>
        </p:txBody>
      </p:sp>
      <p:sp>
        <p:nvSpPr>
          <p:cNvPr id="12" name="TextBox 11"/>
          <p:cNvSpPr txBox="1"/>
          <p:nvPr/>
        </p:nvSpPr>
        <p:spPr>
          <a:xfrm>
            <a:off x="2366260" y="2528887"/>
            <a:ext cx="628306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.claude/skills/deploy/SKILL.md</a:t>
            </a:r>
          </a:p>
        </p:txBody>
      </p:sp>
      <p:sp>
        <p:nvSpPr>
          <p:cNvPr id="13" name="TextBox 12"/>
          <p:cNvSpPr txBox="1"/>
          <p:nvPr/>
        </p:nvSpPr>
        <p:spPr>
          <a:xfrm>
            <a:off x="8795628" y="2528887"/>
            <a:ext cx="256121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только план, коммита нет</a:t>
            </a:r>
          </a:p>
        </p:txBody>
      </p:sp>
      <p:cxnSp>
        <p:nvCxnSpPr>
          <p:cNvPr id="14" name="Connector 13"/>
          <p:cNvCxnSpPr/>
          <p:nvPr/>
        </p:nvCxnSpPr>
        <p:spPr>
          <a:xfrm>
            <a:off x="685800" y="28760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876042"/>
            <a:ext cx="153415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CLAUDE.md</a:t>
            </a:r>
          </a:p>
        </p:txBody>
      </p:sp>
      <p:sp>
        <p:nvSpPr>
          <p:cNvPr id="16" name="TextBox 15"/>
          <p:cNvSpPr txBox="1"/>
          <p:nvPr/>
        </p:nvSpPr>
        <p:spPr>
          <a:xfrm>
            <a:off x="2366260" y="2876042"/>
            <a:ext cx="628306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было 24 строки / 4 раздела → стало 40 строк / 5 разделов</a:t>
            </a:r>
          </a:p>
        </p:txBody>
      </p:sp>
      <p:sp>
        <p:nvSpPr>
          <p:cNvPr id="17" name="TextBox 16"/>
          <p:cNvSpPr txBox="1"/>
          <p:nvPr/>
        </p:nvSpPr>
        <p:spPr>
          <a:xfrm>
            <a:off x="8795628" y="2876042"/>
            <a:ext cx="256121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коммит есть</a:t>
            </a:r>
          </a:p>
        </p:txBody>
      </p:sp>
      <p:cxnSp>
        <p:nvCxnSpPr>
          <p:cNvPr id="18" name="Connector 17"/>
          <p:cNvCxnSpPr/>
          <p:nvPr/>
        </p:nvCxnSpPr>
        <p:spPr>
          <a:xfrm>
            <a:off x="685800" y="322319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223196"/>
            <a:ext cx="153415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DECISIONS.md</a:t>
            </a:r>
          </a:p>
        </p:txBody>
      </p:sp>
      <p:sp>
        <p:nvSpPr>
          <p:cNvPr id="20" name="TextBox 19"/>
          <p:cNvSpPr txBox="1"/>
          <p:nvPr/>
        </p:nvSpPr>
        <p:spPr>
          <a:xfrm>
            <a:off x="2366260" y="3223196"/>
            <a:ext cx="6283063"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документационный слой репозитория</a:t>
            </a:r>
          </a:p>
        </p:txBody>
      </p:sp>
      <p:sp>
        <p:nvSpPr>
          <p:cNvPr id="21" name="TextBox 20"/>
          <p:cNvSpPr txBox="1"/>
          <p:nvPr/>
        </p:nvSpPr>
        <p:spPr>
          <a:xfrm>
            <a:off x="8795628" y="3223196"/>
            <a:ext cx="2561219"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изменений</a:t>
            </a:r>
          </a:p>
        </p:txBody>
      </p:sp>
      <p:sp>
        <p:nvSpPr>
          <p:cNvPr id="22" name="Rounded Rectangle 21"/>
          <p:cNvSpPr/>
          <p:nvPr/>
        </p:nvSpPr>
        <p:spPr>
          <a:xfrm>
            <a:off x="502920" y="442074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54875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«Четыре вещи, и все четыре — внутри репозитория. Пока работа была здесь, агент держал проект целиком.»</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Две строки закрыты — обе про то, что внутри</a:t>
            </a:r>
          </a:p>
        </p:txBody>
      </p:sp>
      <p:sp>
        <p:nvSpPr>
          <p:cNvPr id="3" name="Rounded Rectangle 2"/>
          <p:cNvSpPr/>
          <p:nvPr/>
        </p:nvSpPr>
        <p:spPr>
          <a:xfrm>
            <a:off x="502920" y="1519174"/>
            <a:ext cx="11183112" cy="2766695"/>
          </a:xfrm>
          <a:prstGeom prst="roundRect">
            <a:avLst>
              <a:gd name="adj" fmla="val 1101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02054"/>
            <a:ext cx="12599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СТУПЕНЬ</a:t>
            </a:r>
          </a:p>
        </p:txBody>
      </p:sp>
      <p:sp>
        <p:nvSpPr>
          <p:cNvPr id="5" name="TextBox 4"/>
          <p:cNvSpPr txBox="1"/>
          <p:nvPr/>
        </p:nvSpPr>
        <p:spPr>
          <a:xfrm>
            <a:off x="2092055" y="1702054"/>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ПРЕДОТВРАЩАЕМ / РЕШАЕМ</a:t>
            </a:r>
          </a:p>
        </p:txBody>
      </p:sp>
      <p:sp>
        <p:nvSpPr>
          <p:cNvPr id="6" name="TextBox 5"/>
          <p:cNvSpPr txBox="1"/>
          <p:nvPr/>
        </p:nvSpPr>
        <p:spPr>
          <a:xfrm>
            <a:off x="5012740" y="1702054"/>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7" name="TextBox 6"/>
          <p:cNvSpPr txBox="1"/>
          <p:nvPr/>
        </p:nvSpPr>
        <p:spPr>
          <a:xfrm>
            <a:off x="7933425" y="1702054"/>
            <a:ext cx="34234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8" name="TextBox 7"/>
          <p:cNvSpPr txBox="1"/>
          <p:nvPr/>
        </p:nvSpPr>
        <p:spPr>
          <a:xfrm>
            <a:off x="685800" y="1984121"/>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Хук</a:t>
            </a:r>
          </a:p>
        </p:txBody>
      </p:sp>
      <p:sp>
        <p:nvSpPr>
          <p:cNvPr id="9" name="TextBox 8"/>
          <p:cNvSpPr txBox="1"/>
          <p:nvPr/>
        </p:nvSpPr>
        <p:spPr>
          <a:xfrm>
            <a:off x="2092055" y="198412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правило уже нарушено</a:t>
            </a:r>
          </a:p>
        </p:txBody>
      </p:sp>
      <p:sp>
        <p:nvSpPr>
          <p:cNvPr id="10" name="TextBox 9"/>
          <p:cNvSpPr txBox="1"/>
          <p:nvPr/>
        </p:nvSpPr>
        <p:spPr>
          <a:xfrm>
            <a:off x="5012740" y="198412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Отклоняет один паттерн записи в </a:t>
            </a:r>
            <a:r>
              <a:rPr sz="1250" b="0" i="0">
                <a:solidFill>
                  <a:srgbClr val="141B2E"/>
                </a:solidFill>
                <a:latin typeface="Consolas"/>
              </a:rPr>
              <a:t>main</a:t>
            </a:r>
            <a:r>
              <a:rPr sz="1250" b="0" i="0">
                <a:solidFill>
                  <a:srgbClr val="141B2E"/>
                </a:solidFill>
                <a:latin typeface="Arial"/>
              </a:rPr>
              <a:t> из шести способов коммита</a:t>
            </a:r>
          </a:p>
        </p:txBody>
      </p:sp>
      <p:sp>
        <p:nvSpPr>
          <p:cNvPr id="11" name="TextBox 10"/>
          <p:cNvSpPr txBox="1"/>
          <p:nvPr/>
        </p:nvSpPr>
        <p:spPr>
          <a:xfrm>
            <a:off x="7933425" y="1984121"/>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 остальных пяти молчит; человека с терминалом не видит вовсе</a:t>
            </a:r>
          </a:p>
        </p:txBody>
      </p:sp>
      <p:cxnSp>
        <p:nvCxnSpPr>
          <p:cNvPr id="12" name="Connector 11"/>
          <p:cNvCxnSpPr/>
          <p:nvPr/>
        </p:nvCxnSpPr>
        <p:spPr>
          <a:xfrm>
            <a:off x="685800" y="26964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696400"/>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Скилл</a:t>
            </a:r>
          </a:p>
        </p:txBody>
      </p:sp>
      <p:sp>
        <p:nvSpPr>
          <p:cNvPr id="14" name="TextBox 13"/>
          <p:cNvSpPr txBox="1"/>
          <p:nvPr/>
        </p:nvSpPr>
        <p:spPr>
          <a:xfrm>
            <a:off x="2092055" y="2696400"/>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по сигналу перегрузки файла инструкций</a:t>
            </a:r>
          </a:p>
        </p:txBody>
      </p:sp>
      <p:sp>
        <p:nvSpPr>
          <p:cNvPr id="15" name="TextBox 14"/>
          <p:cNvSpPr txBox="1"/>
          <p:nvPr/>
        </p:nvSpPr>
        <p:spPr>
          <a:xfrm>
            <a:off x="5012740" y="2696400"/>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Загружает файл по точному совпадению описания-триггера</a:t>
            </a:r>
          </a:p>
        </p:txBody>
      </p:sp>
      <p:sp>
        <p:nvSpPr>
          <p:cNvPr id="16" name="TextBox 15"/>
          <p:cNvSpPr txBox="1"/>
          <p:nvPr/>
        </p:nvSpPr>
        <p:spPr>
          <a:xfrm>
            <a:off x="7933425" y="2696400"/>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точного триггера не сработает вообще — содержимого файла до срабатывания в контексте нет</a:t>
            </a:r>
          </a:p>
        </p:txBody>
      </p:sp>
      <p:cxnSp>
        <p:nvCxnSpPr>
          <p:cNvPr id="17" name="Connector 16"/>
          <p:cNvCxnSpPr/>
          <p:nvPr/>
        </p:nvCxnSpPr>
        <p:spPr>
          <a:xfrm>
            <a:off x="685800" y="340868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3408680"/>
            <a:ext cx="12599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19" name="Rounded Rectangle 18"/>
          <p:cNvSpPr/>
          <p:nvPr/>
        </p:nvSpPr>
        <p:spPr>
          <a:xfrm>
            <a:off x="2110343" y="3481832"/>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31028" y="3481832"/>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51713" y="3481832"/>
            <a:ext cx="338684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85800" y="375583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755834"/>
            <a:ext cx="1259951"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a:t>
            </a:r>
          </a:p>
        </p:txBody>
      </p:sp>
      <p:sp>
        <p:nvSpPr>
          <p:cNvPr id="24" name="Rounded Rectangle 23"/>
          <p:cNvSpPr/>
          <p:nvPr/>
        </p:nvSpPr>
        <p:spPr>
          <a:xfrm>
            <a:off x="2110343" y="3828986"/>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31028" y="3828986"/>
            <a:ext cx="2737805"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51713" y="3828986"/>
            <a:ext cx="3386846" cy="200850"/>
          </a:xfrm>
          <a:prstGeom prst="roundRect">
            <a:avLst>
              <a:gd name="adj" fmla="val 16666"/>
            </a:avLst>
          </a:prstGeom>
          <a:solidFill>
            <a:srgbClr val="E4E9EF"/>
          </a:solidFill>
          <a:ln w="12700">
            <a:solidFill>
              <a:srgbClr val="E5EA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 y="4953381"/>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081397"/>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Хук и скилл работают внутри репозитория. Обе сегодняшние строки — про его край.</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Два промаха, причины противоположные</a:t>
            </a:r>
          </a:p>
        </p:txBody>
      </p:sp>
      <p:sp>
        <p:nvSpPr>
          <p:cNvPr id="3" name="Rounded Rectangle 2"/>
          <p:cNvSpPr/>
          <p:nvPr/>
        </p:nvSpPr>
        <p:spPr>
          <a:xfrm>
            <a:off x="502920" y="1744954"/>
            <a:ext cx="11183112" cy="1889823"/>
          </a:xfrm>
          <a:prstGeom prst="roundRect">
            <a:avLst>
              <a:gd name="adj" fmla="val 16128"/>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27834"/>
            <a:ext cx="643695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КОГДА И ЧТО</a:t>
            </a:r>
          </a:p>
        </p:txBody>
      </p:sp>
      <p:sp>
        <p:nvSpPr>
          <p:cNvPr id="5" name="TextBox 4"/>
          <p:cNvSpPr txBox="1"/>
          <p:nvPr/>
        </p:nvSpPr>
        <p:spPr>
          <a:xfrm>
            <a:off x="7269059" y="1927834"/>
            <a:ext cx="408778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ПОЧЕМУ ТАК ВЫШЛО</a:t>
            </a:r>
          </a:p>
        </p:txBody>
      </p:sp>
      <p:sp>
        <p:nvSpPr>
          <p:cNvPr id="6" name="TextBox 5"/>
          <p:cNvSpPr txBox="1"/>
          <p:nvPr/>
        </p:nvSpPr>
        <p:spPr>
          <a:xfrm>
            <a:off x="685800" y="2209901"/>
            <a:ext cx="6436955"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Понедельник. Ответил по репозиторию — двух просьб заказчика в ответе не оказалось. Сорванный срок.</a:t>
            </a:r>
          </a:p>
        </p:txBody>
      </p:sp>
      <p:sp>
        <p:nvSpPr>
          <p:cNvPr id="7" name="TextBox 6"/>
          <p:cNvSpPr txBox="1"/>
          <p:nvPr/>
        </p:nvSpPr>
        <p:spPr>
          <a:xfrm>
            <a:off x="7269059" y="2209901"/>
            <a:ext cx="408778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Внутри их нет вовсе. Окно хоть вдвое больше — там они всё равно не появятся.</a:t>
            </a:r>
          </a:p>
        </p:txBody>
      </p:sp>
      <p:cxnSp>
        <p:nvCxnSpPr>
          <p:cNvPr id="8" name="Connector 7"/>
          <p:cNvCxnSpPr/>
          <p:nvPr/>
        </p:nvCxnSpPr>
        <p:spPr>
          <a:xfrm>
            <a:off x="685800" y="273961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2739618"/>
            <a:ext cx="6436955"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Среда, рабочий продукт. Прочитал всё, где мог встретиться этот текст, ответил верно — и начал переспрашивать то, что объясняли в начале сессии. Час.</a:t>
            </a:r>
          </a:p>
        </p:txBody>
      </p:sp>
      <p:sp>
        <p:nvSpPr>
          <p:cNvPr id="10" name="TextBox 9"/>
          <p:cNvSpPr txBox="1"/>
          <p:nvPr/>
        </p:nvSpPr>
        <p:spPr>
          <a:xfrm>
            <a:off x="7269059" y="2739618"/>
            <a:ext cx="4087788"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Всё нужное внутрь влезло — и вытеснило то, ради чего сессию открывали.</a:t>
            </a:r>
          </a:p>
        </p:txBody>
      </p:sp>
      <p:sp>
        <p:nvSpPr>
          <p:cNvPr id="11" name="Rounded Rectangle 10"/>
          <p:cNvSpPr/>
          <p:nvPr/>
        </p:nvSpPr>
        <p:spPr>
          <a:xfrm>
            <a:off x="502920" y="430229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430306"/>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«Работа вышла за контекст агента — что вы заводите первым: приносите внутрь то, чего внутри нет, или выносите наружу то, что внутрь не помещается?»</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Два блока — два ответа на один вопрос</a:t>
            </a:r>
          </a:p>
        </p:txBody>
      </p:sp>
      <p:sp>
        <p:nvSpPr>
          <p:cNvPr id="3" name="Rounded Rectangle 2"/>
          <p:cNvSpPr/>
          <p:nvPr/>
        </p:nvSpPr>
        <p:spPr>
          <a:xfrm>
            <a:off x="502920" y="1796897"/>
            <a:ext cx="11183112" cy="2072386"/>
          </a:xfrm>
          <a:prstGeom prst="roundRect">
            <a:avLst>
              <a:gd name="adj" fmla="val 1470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979777"/>
            <a:ext cx="251608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БЛОК</a:t>
            </a:r>
          </a:p>
        </p:txBody>
      </p:sp>
      <p:sp>
        <p:nvSpPr>
          <p:cNvPr id="5" name="TextBox 4"/>
          <p:cNvSpPr txBox="1"/>
          <p:nvPr/>
        </p:nvSpPr>
        <p:spPr>
          <a:xfrm>
            <a:off x="3348192" y="1979777"/>
            <a:ext cx="276399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ПЕРВЫЙ</a:t>
            </a:r>
          </a:p>
        </p:txBody>
      </p:sp>
      <p:sp>
        <p:nvSpPr>
          <p:cNvPr id="6" name="TextBox 5"/>
          <p:cNvSpPr txBox="1"/>
          <p:nvPr/>
        </p:nvSpPr>
        <p:spPr>
          <a:xfrm>
            <a:off x="6258493" y="1979777"/>
            <a:ext cx="229434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ВТОРОЙ</a:t>
            </a:r>
          </a:p>
        </p:txBody>
      </p:sp>
      <p:sp>
        <p:nvSpPr>
          <p:cNvPr id="7" name="TextBox 6"/>
          <p:cNvSpPr txBox="1"/>
          <p:nvPr/>
        </p:nvSpPr>
        <p:spPr>
          <a:xfrm>
            <a:off x="8699141" y="1979777"/>
            <a:ext cx="265770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ТРЕТИЙ</a:t>
            </a:r>
          </a:p>
        </p:txBody>
      </p:sp>
      <p:sp>
        <p:nvSpPr>
          <p:cNvPr id="8" name="TextBox 7"/>
          <p:cNvSpPr txBox="1"/>
          <p:nvPr/>
        </p:nvSpPr>
        <p:spPr>
          <a:xfrm>
            <a:off x="685800" y="2261844"/>
            <a:ext cx="2516088"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Принести внутрь то, чего внутри нет — MCP, доступ наружу</a:t>
            </a:r>
          </a:p>
        </p:txBody>
      </p:sp>
      <p:sp>
        <p:nvSpPr>
          <p:cNvPr id="9" name="TextBox 8"/>
          <p:cNvSpPr txBox="1"/>
          <p:nvPr/>
        </p:nvSpPr>
        <p:spPr>
          <a:xfrm>
            <a:off x="3348192" y="2261844"/>
            <a:ext cx="276399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Агенту регулярно нужны данные, которых нет в репозитории. Решаем.</a:t>
            </a:r>
          </a:p>
        </p:txBody>
      </p:sp>
      <p:sp>
        <p:nvSpPr>
          <p:cNvPr id="10" name="TextBox 9"/>
          <p:cNvSpPr txBox="1"/>
          <p:nvPr/>
        </p:nvSpPr>
        <p:spPr>
          <a:xfrm>
            <a:off x="6258493" y="2261844"/>
            <a:ext cx="229434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Сервер подключён, а агент через него не ходит. Решаем.</a:t>
            </a:r>
          </a:p>
        </p:txBody>
      </p:sp>
      <p:sp>
        <p:nvSpPr>
          <p:cNvPr id="11" name="TextBox 10"/>
          <p:cNvSpPr txBox="1"/>
          <p:nvPr/>
        </p:nvSpPr>
        <p:spPr>
          <a:xfrm>
            <a:off x="8699141" y="2261844"/>
            <a:ext cx="265770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Одобрение, выданное один раз, перестаёт быть окончательным. Решаем.</a:t>
            </a:r>
          </a:p>
        </p:txBody>
      </p:sp>
      <p:cxnSp>
        <p:nvCxnSpPr>
          <p:cNvPr id="12" name="Connector 11"/>
          <p:cNvCxnSpPr/>
          <p:nvPr/>
        </p:nvCxnSpPr>
        <p:spPr>
          <a:xfrm>
            <a:off x="685800" y="297412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974124"/>
            <a:ext cx="2516088"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Вынести наружу то, что внутрь не помещается — субагент, урезанная роль</a:t>
            </a:r>
          </a:p>
        </p:txBody>
      </p:sp>
      <p:sp>
        <p:nvSpPr>
          <p:cNvPr id="14" name="TextBox 13"/>
          <p:cNvSpPr txBox="1"/>
          <p:nvPr/>
        </p:nvSpPr>
        <p:spPr>
          <a:xfrm>
            <a:off x="3348192" y="2974124"/>
            <a:ext cx="276399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Чтение, нужное для одного ответа, не помещается в окно сессии. Решаем.</a:t>
            </a:r>
          </a:p>
        </p:txBody>
      </p:sp>
      <p:sp>
        <p:nvSpPr>
          <p:cNvPr id="15" name="TextBox 14"/>
          <p:cNvSpPr txBox="1"/>
          <p:nvPr/>
        </p:nvSpPr>
        <p:spPr>
          <a:xfrm>
            <a:off x="6258493" y="2974124"/>
            <a:ext cx="229434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Задачи стоят в очереди, хотя друг от друга не зависят. Решаем.</a:t>
            </a:r>
          </a:p>
        </p:txBody>
      </p:sp>
      <p:sp>
        <p:nvSpPr>
          <p:cNvPr id="16" name="TextBox 15"/>
          <p:cNvSpPr txBox="1"/>
          <p:nvPr/>
        </p:nvSpPr>
        <p:spPr>
          <a:xfrm>
            <a:off x="8699141" y="2974124"/>
            <a:ext cx="265770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Одну и ту же проверку объясняют заново каждую сессию. Решаем.</a:t>
            </a:r>
          </a:p>
        </p:txBody>
      </p:sp>
      <p:sp>
        <p:nvSpPr>
          <p:cNvPr id="17" name="Rounded Rectangle 16"/>
          <p:cNvSpPr/>
          <p:nvPr/>
        </p:nvSpPr>
        <p:spPr>
          <a:xfrm>
            <a:off x="502920" y="4536795"/>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4664811"/>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«Один и тот же предел. Два хода навстречу друг другу.»</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59003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59003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1</a:t>
            </a:r>
          </a:p>
        </p:txBody>
      </p:sp>
      <p:sp>
        <p:nvSpPr>
          <p:cNvPr id="7" name="TextBox 6"/>
          <p:cNvSpPr txBox="1"/>
          <p:nvPr/>
        </p:nvSpPr>
        <p:spPr>
          <a:xfrm>
            <a:off x="1536192" y="2710815"/>
            <a:ext cx="9144000" cy="45339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«Я же дописал это в задаче»</a:t>
            </a:r>
          </a:p>
        </p:txBody>
      </p:sp>
      <p:sp>
        <p:nvSpPr>
          <p:cNvPr id="8" name="TextBox 7"/>
          <p:cNvSpPr txBox="1"/>
          <p:nvPr/>
        </p:nvSpPr>
        <p:spPr>
          <a:xfrm>
            <a:off x="822960" y="3475101"/>
            <a:ext cx="9509760" cy="854964"/>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Задача живёт в трекере и меняется без нас. У агента в чате — снимок, снятый руками сегодня утром.</a:t>
            </a:r>
          </a:p>
        </p:txBody>
      </p:sp>
      <p:sp>
        <p:nvSpPr>
          <p:cNvPr id="9" name="Rounded Rectangle 8"/>
          <p:cNvSpPr/>
          <p:nvPr/>
        </p:nvSpPr>
        <p:spPr>
          <a:xfrm>
            <a:off x="502920"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Субагент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Файлы внутри, файлы снаружи — а трекер задач?</a:t>
            </a:r>
          </a:p>
        </p:txBody>
      </p:sp>
      <p:sp>
        <p:nvSpPr>
          <p:cNvPr id="3" name="Rectangle 2"/>
          <p:cNvSpPr/>
          <p:nvPr/>
        </p:nvSpPr>
        <p:spPr>
          <a:xfrm>
            <a:off x="502920" y="1589913"/>
            <a:ext cx="5381244" cy="457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04788" y="1589913"/>
            <a:ext cx="5381244"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717929"/>
            <a:ext cx="5381244" cy="256032"/>
          </a:xfrm>
          <a:prstGeom prst="rect">
            <a:avLst/>
          </a:prstGeom>
          <a:noFill/>
        </p:spPr>
        <p:txBody>
          <a:bodyPr wrap="square" lIns="0" rIns="0" tIns="0" bIns="0" anchor="t">
            <a:spAutoFit/>
          </a:bodyPr>
          <a:lstStyle/>
          <a:p>
            <a:pPr algn="l">
              <a:lnSpc>
                <a:spcPts val="1356"/>
              </a:lnSpc>
              <a:spcAft>
                <a:spcPts val="0"/>
              </a:spcAft>
            </a:pPr>
            <a:r>
              <a:rPr sz="1150" b="1" i="0">
                <a:solidFill>
                  <a:srgbClr val="065A82"/>
                </a:solidFill>
                <a:latin typeface="Arial"/>
              </a:rPr>
              <a:t>ЧЕМ АГЕНТ УЖЕ ПОЛЬЗУЕТСЯ</a:t>
            </a:r>
          </a:p>
        </p:txBody>
      </p:sp>
      <p:sp>
        <p:nvSpPr>
          <p:cNvPr id="6" name="TextBox 5"/>
          <p:cNvSpPr txBox="1"/>
          <p:nvPr/>
        </p:nvSpPr>
        <p:spPr>
          <a:xfrm>
            <a:off x="6304788" y="1717929"/>
            <a:ext cx="5381244" cy="256032"/>
          </a:xfrm>
          <a:prstGeom prst="rect">
            <a:avLst/>
          </a:prstGeom>
          <a:noFill/>
        </p:spPr>
        <p:txBody>
          <a:bodyPr wrap="square" lIns="0" rIns="0" tIns="0" bIns="0" anchor="t">
            <a:spAutoFit/>
          </a:bodyPr>
          <a:lstStyle/>
          <a:p>
            <a:pPr algn="l">
              <a:lnSpc>
                <a:spcPts val="1356"/>
              </a:lnSpc>
              <a:spcAft>
                <a:spcPts val="0"/>
              </a:spcAft>
            </a:pPr>
            <a:r>
              <a:rPr sz="1150" b="1" i="0">
                <a:solidFill>
                  <a:srgbClr val="8A6200"/>
                </a:solidFill>
                <a:latin typeface="Arial"/>
              </a:rPr>
              <a:t>А СПИСОК ЗАДАЧ В ТРЕКЕРЕ?</a:t>
            </a:r>
          </a:p>
        </p:txBody>
      </p:sp>
      <p:sp>
        <p:nvSpPr>
          <p:cNvPr id="7" name="Rectangle 6"/>
          <p:cNvSpPr/>
          <p:nvPr/>
        </p:nvSpPr>
        <p:spPr>
          <a:xfrm>
            <a:off x="6090818" y="1589913"/>
            <a:ext cx="7315" cy="2744724"/>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48756" y="1589913"/>
            <a:ext cx="91440" cy="914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101977"/>
            <a:ext cx="5381244" cy="1935480"/>
          </a:xfrm>
          <a:prstGeom prst="rect">
            <a:avLst/>
          </a:prstGeom>
          <a:noFill/>
        </p:spPr>
        <p:txBody>
          <a:bodyPr wrap="square" lIns="0" rIns="0" tIns="0" bIns="0" anchor="t">
            <a:spAutoFit/>
          </a:bodyPr>
          <a:lstStyle/>
          <a:p>
            <a:pPr algn="l">
              <a:lnSpc>
                <a:spcPts val="2340"/>
              </a:lnSpc>
              <a:spcAft>
                <a:spcPts val="600"/>
              </a:spcAft>
            </a:pPr>
            <a:r>
              <a:rPr sz="1800" b="0" i="0">
                <a:solidFill>
                  <a:srgbClr val="141B2E"/>
                </a:solidFill>
                <a:latin typeface="Arial"/>
              </a:rPr>
              <a:t>Файлы репозитория — агент читает их напрямую, это материал прошлых занятий.</a:t>
            </a:r>
          </a:p>
          <a:p>
            <a:pPr algn="l">
              <a:lnSpc>
                <a:spcPts val="2340"/>
              </a:lnSpc>
              <a:spcAft>
                <a:spcPts val="600"/>
              </a:spcAft>
            </a:pPr>
            <a:r>
              <a:rPr sz="1800" b="0" i="0">
                <a:solidFill>
                  <a:srgbClr val="141B2E"/>
                </a:solidFill>
                <a:latin typeface="Arial"/>
              </a:rPr>
              <a:t>Файлы, которые дали явно: вставили текст в чат, приложили документ.</a:t>
            </a:r>
          </a:p>
          <a:p>
            <a:pPr algn="l">
              <a:lnSpc>
                <a:spcPts val="2340"/>
              </a:lnSpc>
              <a:spcAft>
                <a:spcPts val="600"/>
              </a:spcAft>
            </a:pPr>
            <a:r>
              <a:rPr sz="1800" b="0" i="0">
                <a:solidFill>
                  <a:srgbClr val="141B2E"/>
                </a:solidFill>
                <a:latin typeface="Arial"/>
              </a:rPr>
              <a:t>Оба источника — файлы. Прочитал и работай.</a:t>
            </a:r>
          </a:p>
        </p:txBody>
      </p:sp>
      <p:sp>
        <p:nvSpPr>
          <p:cNvPr id="10" name="TextBox 9"/>
          <p:cNvSpPr txBox="1"/>
          <p:nvPr/>
        </p:nvSpPr>
        <p:spPr>
          <a:xfrm>
            <a:off x="6304788" y="2101977"/>
            <a:ext cx="5381244" cy="2232660"/>
          </a:xfrm>
          <a:prstGeom prst="rect">
            <a:avLst/>
          </a:prstGeom>
          <a:noFill/>
        </p:spPr>
        <p:txBody>
          <a:bodyPr wrap="square" lIns="0" rIns="0" tIns="0" bIns="0" anchor="t">
            <a:spAutoFit/>
          </a:bodyPr>
          <a:lstStyle/>
          <a:p>
            <a:pPr algn="l">
              <a:lnSpc>
                <a:spcPts val="2340"/>
              </a:lnSpc>
              <a:spcAft>
                <a:spcPts val="600"/>
              </a:spcAft>
            </a:pPr>
            <a:r>
              <a:rPr sz="1800" b="0" i="0">
                <a:solidFill>
                  <a:srgbClr val="141B2E"/>
                </a:solidFill>
                <a:latin typeface="Arial"/>
              </a:rPr>
              <a:t>Заказчик ведёт его отдельно от проекта: в дереве репозитория такого файла нет.</a:t>
            </a:r>
          </a:p>
          <a:p>
            <a:pPr algn="l">
              <a:lnSpc>
                <a:spcPts val="2340"/>
              </a:lnSpc>
              <a:spcAft>
                <a:spcPts val="600"/>
              </a:spcAft>
            </a:pPr>
            <a:r>
              <a:rPr sz="1800" b="0" i="0">
                <a:solidFill>
                  <a:srgbClr val="141B2E"/>
                </a:solidFill>
                <a:latin typeface="Arial"/>
              </a:rPr>
              <a:t>Дать один раз и забыть не выйдет — список меняется без нас каждый день.</a:t>
            </a:r>
          </a:p>
          <a:p>
            <a:pPr algn="l">
              <a:lnSpc>
                <a:spcPts val="2340"/>
              </a:lnSpc>
              <a:spcAft>
                <a:spcPts val="600"/>
              </a:spcAft>
            </a:pPr>
            <a:r>
              <a:rPr sz="1800" b="0" i="0">
                <a:solidFill>
                  <a:srgbClr val="141B2E"/>
                </a:solidFill>
                <a:latin typeface="Arial"/>
              </a:rPr>
              <a:t>Снимок на сегодняшнее утро устареет к обеду. Нужен способ спросить систему в момент работы.</a:t>
            </a:r>
          </a:p>
        </p:txBody>
      </p:sp>
      <p:sp>
        <p:nvSpPr>
          <p:cNvPr id="11" name="Rounded Rectangle 10"/>
          <p:cNvSpPr/>
          <p:nvPr/>
        </p:nvSpPr>
        <p:spPr>
          <a:xfrm>
            <a:off x="502920" y="5002149"/>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1208" y="5057013"/>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139309"/>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Такое обращение к системе называется вызовом API. Обычная догадка на этом месте: за него придётся платить написанной интеграцией. Проверим на пяти способах.</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MCP и сервер, одним экраном</a:t>
            </a:r>
          </a:p>
        </p:txBody>
      </p:sp>
      <p:pic>
        <p:nvPicPr>
          <p:cNvPr id="3" name="Picture 2" descr="mcp-n08-mehanizm.png"/>
          <p:cNvPicPr>
            <a:picLocks noChangeAspect="1"/>
          </p:cNvPicPr>
          <p:nvPr/>
        </p:nvPicPr>
        <p:blipFill>
          <a:blip r:embed="rId2"/>
          <a:stretch>
            <a:fillRect/>
          </a:stretch>
        </p:blipFill>
        <p:spPr>
          <a:xfrm>
            <a:off x="502920" y="972281"/>
            <a:ext cx="11183112" cy="5311978"/>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Вторник, в который перенос руками дал сбой</a:t>
            </a:r>
          </a:p>
        </p:txBody>
      </p:sp>
      <p:sp>
        <p:nvSpPr>
          <p:cNvPr id="3" name="Rounded Rectangle 2"/>
          <p:cNvSpPr/>
          <p:nvPr/>
        </p:nvSpPr>
        <p:spPr>
          <a:xfrm>
            <a:off x="502920" y="106659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9461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Сайт живёт третий месяц. Заказчик уже месяц ведёт задачи в трекере — разработчик сам это предложил, чтобы правки не терялись в мессенджере. Перенос между трекером и чатом агента разработчик делает руками, несколько раз в неделю.</a:t>
            </a:r>
          </a:p>
        </p:txBody>
      </p:sp>
      <p:sp>
        <p:nvSpPr>
          <p:cNvPr id="5" name="Rounded Rectangle 4"/>
          <p:cNvSpPr/>
          <p:nvPr/>
        </p:nvSpPr>
        <p:spPr>
          <a:xfrm>
            <a:off x="502920" y="2522270"/>
            <a:ext cx="11183112" cy="2164842"/>
          </a:xfrm>
          <a:prstGeom prst="roundRect">
            <a:avLst>
              <a:gd name="adj" fmla="val 1407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741726"/>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7" name="TextBox 6"/>
          <p:cNvSpPr txBox="1"/>
          <p:nvPr/>
        </p:nvSpPr>
        <p:spPr>
          <a:xfrm>
            <a:off x="1106424" y="2741726"/>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Утро вторника: открыл задачу «форма не отправляется с телефона», скопировал текст в чат агенту, ушёл делать правку.</a:t>
            </a:r>
          </a:p>
        </p:txBody>
      </p:sp>
      <p:sp>
        <p:nvSpPr>
          <p:cNvPr id="8" name="TextBox 7"/>
          <p:cNvSpPr txBox="1"/>
          <p:nvPr/>
        </p:nvSpPr>
        <p:spPr>
          <a:xfrm>
            <a:off x="722376" y="3274364"/>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9" name="TextBox 8"/>
          <p:cNvSpPr txBox="1"/>
          <p:nvPr/>
        </p:nvSpPr>
        <p:spPr>
          <a:xfrm>
            <a:off x="1106424" y="3274364"/>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Днём заказчик дописал в ту же задачу строку: «и с планшета тоже».</a:t>
            </a:r>
          </a:p>
        </p:txBody>
      </p:sp>
      <p:sp>
        <p:nvSpPr>
          <p:cNvPr id="10" name="TextBox 9"/>
          <p:cNvSpPr txBox="1"/>
          <p:nvPr/>
        </p:nvSpPr>
        <p:spPr>
          <a:xfrm>
            <a:off x="722376" y="3604691"/>
            <a:ext cx="329184" cy="330327"/>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11" name="TextBox 10"/>
          <p:cNvSpPr txBox="1"/>
          <p:nvPr/>
        </p:nvSpPr>
        <p:spPr>
          <a:xfrm>
            <a:off x="1106424" y="3604691"/>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Разработчик её не увидел — в чате у него лежал утренний снимок. Вечером правка уехала заказчику.</a:t>
            </a:r>
          </a:p>
        </p:txBody>
      </p:sp>
      <p:sp>
        <p:nvSpPr>
          <p:cNvPr id="12" name="TextBox 11"/>
          <p:cNvSpPr txBox="1"/>
          <p:nvPr/>
        </p:nvSpPr>
        <p:spPr>
          <a:xfrm>
            <a:off x="722376" y="3935018"/>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3" name="TextBox 12"/>
          <p:cNvSpPr txBox="1"/>
          <p:nvPr/>
        </p:nvSpPr>
        <p:spPr>
          <a:xfrm>
            <a:off x="1106424" y="3935018"/>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Утром в задаче: «а планшет?». Час на вторую правку и письмо с объяснением, почему требование из задачи до работы не доехало.</a:t>
            </a:r>
          </a:p>
        </p:txBody>
      </p:sp>
      <p:sp>
        <p:nvSpPr>
          <p:cNvPr id="14" name="Rounded Rectangle 13"/>
          <p:cNvSpPr/>
          <p:nvPr/>
        </p:nvSpPr>
        <p:spPr>
          <a:xfrm>
            <a:off x="502920" y="515980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28782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Потерянный час — меньшая часть цены. Большая в том, что заказчик теперь перепроверяет, дошло ли до работы написанное им. Трекер живёт в отдельной системе и меняется каждый день без разработчика: снимок, снятый утром, к вечеру уже неточен.</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дать агенту доступ к трекеру задач?</a:t>
            </a:r>
          </a:p>
        </p:txBody>
      </p:sp>
      <p:sp>
        <p:nvSpPr>
          <p:cNvPr id="3" name="Rounded Rectangle 2"/>
          <p:cNvSpPr/>
          <p:nvPr/>
        </p:nvSpPr>
        <p:spPr>
          <a:xfrm>
            <a:off x="502920" y="2080260"/>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208276"/>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Выберите способ — и объясните, чем остальные четыре подходят хуже для регулярного доступа.</a:t>
            </a:r>
          </a:p>
        </p:txBody>
      </p:sp>
      <p:sp>
        <p:nvSpPr>
          <p:cNvPr id="5" name="Rounded Rectangle 4"/>
          <p:cNvSpPr/>
          <p:nvPr/>
        </p:nvSpPr>
        <p:spPr>
          <a:xfrm>
            <a:off x="502920" y="357073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57073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вызвать API напрямую</a:t>
            </a:r>
          </a:p>
        </p:txBody>
      </p:sp>
      <p:sp>
        <p:nvSpPr>
          <p:cNvPr id="7" name="Rounded Rectangle 6"/>
          <p:cNvSpPr/>
          <p:nvPr/>
        </p:nvSpPr>
        <p:spPr>
          <a:xfrm>
            <a:off x="2768803" y="357073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78531" y="357073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подключить чужой сервер — удалённо</a:t>
            </a:r>
          </a:p>
        </p:txBody>
      </p:sp>
      <p:sp>
        <p:nvSpPr>
          <p:cNvPr id="9" name="Rounded Rectangle 8"/>
          <p:cNvSpPr/>
          <p:nvPr/>
        </p:nvSpPr>
        <p:spPr>
          <a:xfrm>
            <a:off x="5034686" y="357073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4414" y="357073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подключить чужой сервер — локально</a:t>
            </a:r>
          </a:p>
        </p:txBody>
      </p:sp>
      <p:sp>
        <p:nvSpPr>
          <p:cNvPr id="11" name="Rounded Rectangle 10"/>
          <p:cNvSpPr/>
          <p:nvPr/>
        </p:nvSpPr>
        <p:spPr>
          <a:xfrm>
            <a:off x="7300569" y="357073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0297" y="357073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написать свой сервер</a:t>
            </a:r>
          </a:p>
        </p:txBody>
      </p:sp>
      <p:sp>
        <p:nvSpPr>
          <p:cNvPr id="13" name="Rounded Rectangle 12"/>
          <p:cNvSpPr/>
          <p:nvPr/>
        </p:nvSpPr>
        <p:spPr>
          <a:xfrm>
            <a:off x="9566452" y="3570732"/>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76180" y="3570732"/>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вызывать готовую команду gh каждый раз</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Кода интеграции не пишет ни один из пяти</a:t>
            </a:r>
          </a:p>
        </p:txBody>
      </p:sp>
      <p:sp>
        <p:nvSpPr>
          <p:cNvPr id="3" name="Rounded Rectangle 2"/>
          <p:cNvSpPr/>
          <p:nvPr/>
        </p:nvSpPr>
        <p:spPr>
          <a:xfrm>
            <a:off x="502920" y="943356"/>
            <a:ext cx="11183112" cy="3522027"/>
          </a:xfrm>
          <a:prstGeom prst="roundRect">
            <a:avLst>
              <a:gd name="adj" fmla="val 865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970685"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СПОСОБ</a:t>
            </a:r>
          </a:p>
        </p:txBody>
      </p:sp>
      <p:sp>
        <p:nvSpPr>
          <p:cNvPr id="5" name="TextBox 4"/>
          <p:cNvSpPr txBox="1"/>
          <p:nvPr/>
        </p:nvSpPr>
        <p:spPr>
          <a:xfrm>
            <a:off x="1802789" y="1126236"/>
            <a:ext cx="3496197"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ЧТО ДЕЛАЕТ</a:t>
            </a:r>
          </a:p>
        </p:txBody>
      </p:sp>
      <p:sp>
        <p:nvSpPr>
          <p:cNvPr id="6" name="TextBox 5"/>
          <p:cNvSpPr txBox="1"/>
          <p:nvPr/>
        </p:nvSpPr>
        <p:spPr>
          <a:xfrm>
            <a:off x="5445291" y="1126236"/>
            <a:ext cx="5911556"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ЧТО НЕ ДЕЛАЕТ / ОГРАНИЧЕНИЕ</a:t>
            </a:r>
          </a:p>
        </p:txBody>
      </p:sp>
      <p:sp>
        <p:nvSpPr>
          <p:cNvPr id="7" name="TextBox 6"/>
          <p:cNvSpPr txBox="1"/>
          <p:nvPr/>
        </p:nvSpPr>
        <p:spPr>
          <a:xfrm>
            <a:off x="685800" y="1378331"/>
            <a:ext cx="970685"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вызвать API напрямую</a:t>
            </a:r>
          </a:p>
        </p:txBody>
      </p:sp>
      <p:sp>
        <p:nvSpPr>
          <p:cNvPr id="8" name="TextBox 7"/>
          <p:cNvSpPr txBox="1"/>
          <p:nvPr/>
        </p:nvSpPr>
        <p:spPr>
          <a:xfrm>
            <a:off x="1802789" y="1378331"/>
            <a:ext cx="3496197"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агент сам пишет и шлёт запросы к эндпойнтам, сам разбирает ответ — отдельный код интеграции писать не нужно</a:t>
            </a:r>
          </a:p>
        </p:txBody>
      </p:sp>
      <p:sp>
        <p:nvSpPr>
          <p:cNvPr id="9" name="TextBox 8"/>
          <p:cNvSpPr txBox="1"/>
          <p:nvPr/>
        </p:nvSpPr>
        <p:spPr>
          <a:xfrm>
            <a:off x="5445291" y="1378331"/>
            <a:ext cx="5911556"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заранее не знает спецификацию сервиса: какие есть точки, какие у них параметры и ограничения — без документации или swagger-описания агент их не угадает</a:t>
            </a:r>
          </a:p>
        </p:txBody>
      </p:sp>
      <p:cxnSp>
        <p:nvCxnSpPr>
          <p:cNvPr id="10" name="Connector 9"/>
          <p:cNvCxnSpPr/>
          <p:nvPr/>
        </p:nvCxnSpPr>
        <p:spPr>
          <a:xfrm>
            <a:off x="685800" y="195916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959165"/>
            <a:ext cx="970685"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подключить чужой сервер — удалённо</a:t>
            </a:r>
          </a:p>
        </p:txBody>
      </p:sp>
      <p:sp>
        <p:nvSpPr>
          <p:cNvPr id="12" name="TextBox 11"/>
          <p:cNvSpPr txBox="1"/>
          <p:nvPr/>
        </p:nvSpPr>
        <p:spPr>
          <a:xfrm>
            <a:off x="1802789" y="1959165"/>
            <a:ext cx="3496197"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сервис, который кто-то хостит и обновляет сам; у вас не крутится отдельный процесс</a:t>
            </a:r>
          </a:p>
        </p:txBody>
      </p:sp>
      <p:sp>
        <p:nvSpPr>
          <p:cNvPr id="13" name="TextBox 12"/>
          <p:cNvSpPr txBox="1"/>
          <p:nvPr/>
        </p:nvSpPr>
        <p:spPr>
          <a:xfrm>
            <a:off x="5445291" y="1959165"/>
            <a:ext cx="5911556"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управляете не вы: не видно, что сервис делает внутри и когда в нём что-то меняется; плюс обычные вопросы безопасности удалённого сервиса — кому доверяете ключ, у кого ещё есть доступ</a:t>
            </a:r>
          </a:p>
        </p:txBody>
      </p:sp>
      <p:cxnSp>
        <p:nvCxnSpPr>
          <p:cNvPr id="14" name="Connector 13"/>
          <p:cNvCxnSpPr/>
          <p:nvPr/>
        </p:nvCxnSpPr>
        <p:spPr>
          <a:xfrm>
            <a:off x="685800" y="25400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40000"/>
            <a:ext cx="970685"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подключить чужой сервер — локально</a:t>
            </a:r>
          </a:p>
        </p:txBody>
      </p:sp>
      <p:sp>
        <p:nvSpPr>
          <p:cNvPr id="16" name="TextBox 15"/>
          <p:cNvSpPr txBox="1"/>
          <p:nvPr/>
        </p:nvSpPr>
        <p:spPr>
          <a:xfrm>
            <a:off x="1802789" y="2540000"/>
            <a:ext cx="3496197"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пакет исполняется у вас, конфигурация — строка в репозитории, видна всей команде в ревью; контроля больше, чем у удалённого</a:t>
            </a:r>
          </a:p>
        </p:txBody>
      </p:sp>
      <p:sp>
        <p:nvSpPr>
          <p:cNvPr id="17" name="TextBox 16"/>
          <p:cNvSpPr txBox="1"/>
          <p:nvPr/>
        </p:nvSpPr>
        <p:spPr>
          <a:xfrm>
            <a:off x="5445291" y="2540000"/>
            <a:ext cx="5911556"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это всё равно живой процесс на вашей машине и чужой код — со всеми его зависимостями и правом на обновление</a:t>
            </a:r>
          </a:p>
        </p:txBody>
      </p:sp>
      <p:cxnSp>
        <p:nvCxnSpPr>
          <p:cNvPr id="18" name="Connector 17"/>
          <p:cNvCxnSpPr/>
          <p:nvPr/>
        </p:nvCxnSpPr>
        <p:spPr>
          <a:xfrm>
            <a:off x="685800" y="312083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120834"/>
            <a:ext cx="970685"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написать свой сервер</a:t>
            </a:r>
          </a:p>
        </p:txBody>
      </p:sp>
      <p:sp>
        <p:nvSpPr>
          <p:cNvPr id="20" name="TextBox 19"/>
          <p:cNvSpPr txBox="1"/>
          <p:nvPr/>
        </p:nvSpPr>
        <p:spPr>
          <a:xfrm>
            <a:off x="1802789" y="3120834"/>
            <a:ext cx="3496197"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даёт ровно нужный набор операций и прав, без чужого кода в процессе</a:t>
            </a:r>
          </a:p>
        </p:txBody>
      </p:sp>
      <p:sp>
        <p:nvSpPr>
          <p:cNvPr id="21" name="TextBox 20"/>
          <p:cNvSpPr txBox="1"/>
          <p:nvPr/>
        </p:nvSpPr>
        <p:spPr>
          <a:xfrm>
            <a:off x="5445291" y="3120834"/>
            <a:ext cx="5911556"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написать минимальный сервер сейчас быстро — для этого есть готовый плагин; дорого обходится поддержка: протокол, чужие пользователи, безопасность транспорта — отдельный проект рядом с основным</a:t>
            </a:r>
          </a:p>
        </p:txBody>
      </p:sp>
      <p:cxnSp>
        <p:nvCxnSpPr>
          <p:cNvPr id="22" name="Connector 21"/>
          <p:cNvCxnSpPr/>
          <p:nvPr/>
        </p:nvCxnSpPr>
        <p:spPr>
          <a:xfrm>
            <a:off x="685800" y="370166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701669"/>
            <a:ext cx="970685"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вызывать команду </a:t>
            </a:r>
            <a:r>
              <a:rPr sz="950" b="0" i="0">
                <a:solidFill>
                  <a:srgbClr val="141B2E"/>
                </a:solidFill>
                <a:latin typeface="Consolas"/>
              </a:rPr>
              <a:t>gh</a:t>
            </a:r>
            <a:r>
              <a:rPr sz="950" b="0" i="0">
                <a:solidFill>
                  <a:srgbClr val="141B2E"/>
                </a:solidFill>
                <a:latin typeface="Arial"/>
              </a:rPr>
              <a:t> каждый раз</a:t>
            </a:r>
          </a:p>
        </p:txBody>
      </p:sp>
      <p:sp>
        <p:nvSpPr>
          <p:cNvPr id="24" name="TextBox 23"/>
          <p:cNvSpPr txBox="1"/>
          <p:nvPr/>
        </p:nvSpPr>
        <p:spPr>
          <a:xfrm>
            <a:off x="1802789" y="3701669"/>
            <a:ext cx="3496197"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готовый официальный CLI GitHub — авторизацию и разбор ответа он уже решил за вас, кода писать не нужно</a:t>
            </a:r>
          </a:p>
        </p:txBody>
      </p:sp>
      <p:sp>
        <p:nvSpPr>
          <p:cNvPr id="25" name="TextBox 24"/>
          <p:cNvSpPr txBox="1"/>
          <p:nvPr/>
        </p:nvSpPr>
        <p:spPr>
          <a:xfrm>
            <a:off x="5445291" y="3701669"/>
            <a:ext cx="5911556" cy="580834"/>
          </a:xfrm>
          <a:prstGeom prst="rect">
            <a:avLst/>
          </a:prstGeom>
          <a:noFill/>
        </p:spPr>
        <p:txBody>
          <a:bodyPr wrap="square" lIns="0" rIns="0" tIns="0" bIns="0" anchor="ctr">
            <a:spAutoFit/>
          </a:bodyPr>
          <a:lstStyle/>
          <a:p>
            <a:pPr algn="l">
              <a:lnSpc>
                <a:spcPts val="1092"/>
              </a:lnSpc>
              <a:spcAft>
                <a:spcPts val="0"/>
              </a:spcAft>
            </a:pPr>
            <a:r>
              <a:rPr sz="950" b="0" i="0">
                <a:solidFill>
                  <a:srgbClr val="141B2E"/>
                </a:solidFill>
                <a:latin typeface="Arial"/>
              </a:rPr>
              <a:t>каждый вызов — отдельная команда без общего списка возможностей: агент не видит заранее, что вообще можно сделать, нужный вызов приходится знать заранее</a:t>
            </a:r>
          </a:p>
        </p:txBody>
      </p:sp>
      <p:sp>
        <p:nvSpPr>
          <p:cNvPr id="26" name="Rounded Rectangle 25"/>
          <p:cNvSpPr/>
          <p:nvPr/>
        </p:nvSpPr>
        <p:spPr>
          <a:xfrm>
            <a:off x="502920" y="4629975"/>
            <a:ext cx="82296" cy="1484376"/>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757991"/>
            <a:ext cx="10643616" cy="1228344"/>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Поворот.</a:t>
            </a:r>
            <a:r>
              <a:rPr sz="1200" b="1" i="0">
                <a:solidFill>
                  <a:srgbClr val="141B2E"/>
                </a:solidFill>
                <a:latin typeface="Arial"/>
              </a:rPr>
              <a:t> Интеграцию не пишут ни в одном из пяти способов: агент сам шлёт запрос и сам разбирает ответ. Разделяет пятёрку другое — знает ли агент заранее, что у системы можно спросить.</a:t>
            </a:r>
          </a:p>
          <a:p>
            <a:pPr algn="l">
              <a:lnSpc>
                <a:spcPts val="1488"/>
              </a:lnSpc>
              <a:spcAft>
                <a:spcPts val="300"/>
              </a:spcAft>
            </a:pPr>
            <a:r>
              <a:rPr sz="1200" b="1" i="0">
                <a:solidFill>
                  <a:srgbClr val="141B2E"/>
                </a:solidFill>
                <a:latin typeface="Arial"/>
              </a:rPr>
              <a:t>Что это оставляет.</a:t>
            </a:r>
            <a:r>
              <a:rPr sz="1200" b="1" i="0">
                <a:solidFill>
                  <a:srgbClr val="141B2E"/>
                </a:solidFill>
                <a:latin typeface="Arial"/>
              </a:rPr>
              <a:t> Свой сервер избыточен: официальный для трекера уже есть. </a:t>
            </a:r>
            <a:r>
              <a:rPr sz="1200" b="1" i="0">
                <a:solidFill>
                  <a:srgbClr val="141B2E"/>
                </a:solidFill>
                <a:latin typeface="Consolas"/>
              </a:rPr>
              <a:t>gh</a:t>
            </a:r>
            <a:r>
              <a:rPr sz="1200" b="1" i="0">
                <a:solidFill>
                  <a:srgbClr val="141B2E"/>
                </a:solidFill>
                <a:latin typeface="Arial"/>
              </a:rPr>
              <a:t> и прямой вызов API закрывают вызов, известный заранее; растущий список операций они перекладывают на память разработчика.</a:t>
            </a:r>
          </a:p>
          <a:p>
            <a:pPr algn="l">
              <a:lnSpc>
                <a:spcPts val="1488"/>
              </a:lnSpc>
              <a:spcAft>
                <a:spcPts val="300"/>
              </a:spcAft>
            </a:pPr>
            <a:r>
              <a:rPr sz="1200" b="1" i="0">
                <a:solidFill>
                  <a:srgbClr val="141B2E"/>
                </a:solidFill>
                <a:latin typeface="Arial"/>
              </a:rPr>
              <a:t>Два законных варианта.</a:t>
            </a:r>
            <a:r>
              <a:rPr sz="1200" b="1" i="0">
                <a:solidFill>
                  <a:srgbClr val="141B2E"/>
                </a:solidFill>
                <a:latin typeface="Arial"/>
              </a:rPr>
              <a:t> Между «удалённо» и «локально» готового ответа нет: свежий официальный пример подключается удалённо, решение занятия — локальный процесс, потому что конфигурация становится кодом в репозитории, видимым в ревью.</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Решаем: какие операции разрешить, потом — какие права</a:t>
            </a:r>
          </a:p>
        </p:txBody>
      </p:sp>
      <p:sp>
        <p:nvSpPr>
          <p:cNvPr id="3" name="Rounded Rectangle 2"/>
          <p:cNvSpPr/>
          <p:nvPr/>
        </p:nvSpPr>
        <p:spPr>
          <a:xfrm>
            <a:off x="502920" y="1319784"/>
            <a:ext cx="11183112" cy="77894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447800"/>
            <a:ext cx="10634472" cy="522917"/>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Ход 1 — что конкретно агент должен делать?</a:t>
            </a:r>
          </a:p>
        </p:txBody>
      </p:sp>
      <p:sp>
        <p:nvSpPr>
          <p:cNvPr id="5" name="Rounded Rectangle 4"/>
          <p:cNvSpPr/>
          <p:nvPr/>
        </p:nvSpPr>
        <p:spPr>
          <a:xfrm>
            <a:off x="1954841" y="2263325"/>
            <a:ext cx="2581874"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54841" y="2263325"/>
            <a:ext cx="2581874" cy="402336"/>
          </a:xfrm>
          <a:prstGeom prst="rect">
            <a:avLst/>
          </a:prstGeom>
          <a:noFill/>
        </p:spPr>
        <p:txBody>
          <a:bodyPr wrap="square" lIns="0" rIns="0" tIns="0" bIns="0" anchor="ctr">
            <a:spAutoFit/>
          </a:bodyPr>
          <a:lstStyle/>
          <a:p>
            <a:pPr algn="ctr">
              <a:lnSpc>
                <a:spcPts val="1534"/>
              </a:lnSpc>
              <a:spcAft>
                <a:spcPts val="0"/>
              </a:spcAft>
            </a:pPr>
            <a:r>
              <a:rPr sz="1300" b="1" i="0">
                <a:solidFill>
                  <a:srgbClr val="065A82"/>
                </a:solidFill>
                <a:latin typeface="Arial"/>
              </a:rPr>
              <a:t>читать открытые issue</a:t>
            </a:r>
          </a:p>
        </p:txBody>
      </p:sp>
      <p:sp>
        <p:nvSpPr>
          <p:cNvPr id="7" name="Rounded Rectangle 6"/>
          <p:cNvSpPr/>
          <p:nvPr/>
        </p:nvSpPr>
        <p:spPr>
          <a:xfrm>
            <a:off x="4664731" y="2263325"/>
            <a:ext cx="2376987"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4731" y="2263325"/>
            <a:ext cx="2376987" cy="402336"/>
          </a:xfrm>
          <a:prstGeom prst="rect">
            <a:avLst/>
          </a:prstGeom>
          <a:noFill/>
        </p:spPr>
        <p:txBody>
          <a:bodyPr wrap="square" lIns="0" rIns="0" tIns="0" bIns="0" anchor="ctr">
            <a:spAutoFit/>
          </a:bodyPr>
          <a:lstStyle/>
          <a:p>
            <a:pPr algn="ctr">
              <a:lnSpc>
                <a:spcPts val="1534"/>
              </a:lnSpc>
              <a:spcAft>
                <a:spcPts val="0"/>
              </a:spcAft>
            </a:pPr>
            <a:r>
              <a:rPr sz="1300" b="1" i="0">
                <a:solidFill>
                  <a:srgbClr val="065A82"/>
                </a:solidFill>
                <a:latin typeface="Arial"/>
              </a:rPr>
              <a:t>писать комментарий</a:t>
            </a:r>
          </a:p>
        </p:txBody>
      </p:sp>
      <p:sp>
        <p:nvSpPr>
          <p:cNvPr id="9" name="Rounded Rectangle 8"/>
          <p:cNvSpPr/>
          <p:nvPr/>
        </p:nvSpPr>
        <p:spPr>
          <a:xfrm>
            <a:off x="7169735" y="2263325"/>
            <a:ext cx="3064375"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9735" y="2263325"/>
            <a:ext cx="3064375" cy="402336"/>
          </a:xfrm>
          <a:prstGeom prst="rect">
            <a:avLst/>
          </a:prstGeom>
          <a:noFill/>
        </p:spPr>
        <p:txBody>
          <a:bodyPr wrap="square" lIns="0" rIns="0" tIns="0" bIns="0" anchor="ctr">
            <a:spAutoFit/>
          </a:bodyPr>
          <a:lstStyle/>
          <a:p>
            <a:pPr algn="ctr">
              <a:lnSpc>
                <a:spcPts val="1534"/>
              </a:lnSpc>
              <a:spcAft>
                <a:spcPts val="0"/>
              </a:spcAft>
            </a:pPr>
            <a:r>
              <a:rPr sz="1300" b="1" i="0">
                <a:solidFill>
                  <a:srgbClr val="065A82"/>
                </a:solidFill>
                <a:latin typeface="Arial"/>
              </a:rPr>
              <a:t>создавать черновик правки</a:t>
            </a:r>
          </a:p>
        </p:txBody>
      </p:sp>
      <p:sp>
        <p:nvSpPr>
          <p:cNvPr id="11" name="Rounded Rectangle 10"/>
          <p:cNvSpPr/>
          <p:nvPr/>
        </p:nvSpPr>
        <p:spPr>
          <a:xfrm>
            <a:off x="502920" y="2830253"/>
            <a:ext cx="11183112" cy="77894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2958269"/>
            <a:ext cx="10634472" cy="522917"/>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Ход 2 — что даёт широкий персональный токен по умолчанию, и что из этого нужно?</a:t>
            </a:r>
          </a:p>
        </p:txBody>
      </p:sp>
      <p:sp>
        <p:nvSpPr>
          <p:cNvPr id="13" name="Rounded Rectangle 12"/>
          <p:cNvSpPr/>
          <p:nvPr/>
        </p:nvSpPr>
        <p:spPr>
          <a:xfrm>
            <a:off x="502920" y="3773795"/>
            <a:ext cx="11183112" cy="1904619"/>
          </a:xfrm>
          <a:prstGeom prst="roundRect">
            <a:avLst>
              <a:gd name="adj" fmla="val 1600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56675"/>
            <a:ext cx="4731154"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ПРАВО ПО УМОЛЧАНИЮ</a:t>
            </a:r>
          </a:p>
        </p:txBody>
      </p:sp>
      <p:sp>
        <p:nvSpPr>
          <p:cNvPr id="15" name="TextBox 14"/>
          <p:cNvSpPr txBox="1"/>
          <p:nvPr/>
        </p:nvSpPr>
        <p:spPr>
          <a:xfrm>
            <a:off x="5563258" y="3956675"/>
            <a:ext cx="5793589"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НУЖНО ДЛЯ НАШЕГО СПИСКА ОПЕРАЦИЙ?</a:t>
            </a:r>
          </a:p>
        </p:txBody>
      </p:sp>
      <p:sp>
        <p:nvSpPr>
          <p:cNvPr id="16" name="TextBox 15"/>
          <p:cNvSpPr txBox="1"/>
          <p:nvPr/>
        </p:nvSpPr>
        <p:spPr>
          <a:xfrm>
            <a:off x="685800" y="4223756"/>
            <a:ext cx="4731154"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все репозитории пользователя, включая приватные</a:t>
            </a:r>
          </a:p>
        </p:txBody>
      </p:sp>
      <p:sp>
        <p:nvSpPr>
          <p:cNvPr id="17" name="TextBox 16"/>
          <p:cNvSpPr txBox="1"/>
          <p:nvPr/>
        </p:nvSpPr>
        <p:spPr>
          <a:xfrm>
            <a:off x="5563258" y="4223756"/>
            <a:ext cx="5793589"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нет — вычеркнуть</a:t>
            </a:r>
          </a:p>
        </p:txBody>
      </p:sp>
      <p:cxnSp>
        <p:nvCxnSpPr>
          <p:cNvPr id="18" name="Connector 17"/>
          <p:cNvCxnSpPr/>
          <p:nvPr/>
        </p:nvCxnSpPr>
        <p:spPr>
          <a:xfrm>
            <a:off x="685800" y="454170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4541700"/>
            <a:ext cx="4731154"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чтение и запись</a:t>
            </a:r>
          </a:p>
        </p:txBody>
      </p:sp>
      <p:sp>
        <p:nvSpPr>
          <p:cNvPr id="20" name="TextBox 19"/>
          <p:cNvSpPr txBox="1"/>
          <p:nvPr/>
        </p:nvSpPr>
        <p:spPr>
          <a:xfrm>
            <a:off x="5563258" y="4541700"/>
            <a:ext cx="5793589"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частично — чтение нужно, запись (комментарий, черновик) нужна</a:t>
            </a:r>
          </a:p>
        </p:txBody>
      </p:sp>
      <p:cxnSp>
        <p:nvCxnSpPr>
          <p:cNvPr id="21" name="Connector 20"/>
          <p:cNvCxnSpPr/>
          <p:nvPr/>
        </p:nvCxnSpPr>
        <p:spPr>
          <a:xfrm>
            <a:off x="685800" y="485964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4859645"/>
            <a:ext cx="4731154"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управление настройками</a:t>
            </a:r>
          </a:p>
        </p:txBody>
      </p:sp>
      <p:sp>
        <p:nvSpPr>
          <p:cNvPr id="23" name="TextBox 22"/>
          <p:cNvSpPr txBox="1"/>
          <p:nvPr/>
        </p:nvSpPr>
        <p:spPr>
          <a:xfrm>
            <a:off x="5563258" y="4859645"/>
            <a:ext cx="5793589"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нет — вычеркнуть</a:t>
            </a:r>
          </a:p>
        </p:txBody>
      </p:sp>
      <p:cxnSp>
        <p:nvCxnSpPr>
          <p:cNvPr id="24" name="Connector 23"/>
          <p:cNvCxnSpPr/>
          <p:nvPr/>
        </p:nvCxnSpPr>
        <p:spPr>
          <a:xfrm>
            <a:off x="685800" y="517758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5177589"/>
            <a:ext cx="4731154"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удаление</a:t>
            </a:r>
          </a:p>
        </p:txBody>
      </p:sp>
      <p:sp>
        <p:nvSpPr>
          <p:cNvPr id="26" name="TextBox 25"/>
          <p:cNvSpPr txBox="1"/>
          <p:nvPr/>
        </p:nvSpPr>
        <p:spPr>
          <a:xfrm>
            <a:off x="5563258" y="5177589"/>
            <a:ext cx="5793589" cy="317944"/>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нет — вычеркнуть</a:t>
            </a:r>
          </a:p>
        </p:txBody>
      </p:sp>
      <p:sp>
        <p:nvSpPr>
          <p:cNvPr id="27" name="Rounded Rectangle 26"/>
          <p:cNvSpPr/>
          <p:nvPr/>
        </p:nvSpPr>
        <p:spPr>
          <a:xfrm>
            <a:off x="502920" y="5843006"/>
            <a:ext cx="82296" cy="47904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971022"/>
            <a:ext cx="10643616" cy="223011"/>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Остаётся: один репозиторий, чтение issue, создание черновика правки.</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Решаем: где хранить ключ и в какую область положить файл</a:t>
            </a:r>
          </a:p>
        </p:txBody>
      </p:sp>
      <p:pic>
        <p:nvPicPr>
          <p:cNvPr id="3" name="Picture 2" descr="mcp-n13-oblasti.png"/>
          <p:cNvPicPr>
            <a:picLocks noChangeAspect="1"/>
          </p:cNvPicPr>
          <p:nvPr/>
        </p:nvPicPr>
        <p:blipFill>
          <a:blip r:embed="rId2"/>
          <a:stretch>
            <a:fillRect/>
          </a:stretch>
        </p:blipFill>
        <p:spPr>
          <a:xfrm>
            <a:off x="502920" y="1455349"/>
            <a:ext cx="11183112" cy="4668949"/>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Собранный файл — и порядок при конфликте имён</a:t>
            </a:r>
          </a:p>
        </p:txBody>
      </p:sp>
      <p:sp>
        <p:nvSpPr>
          <p:cNvPr id="3" name="Rounded Rectangle 2"/>
          <p:cNvSpPr/>
          <p:nvPr/>
        </p:nvSpPr>
        <p:spPr>
          <a:xfrm>
            <a:off x="502920" y="943356"/>
            <a:ext cx="11183112" cy="1701927"/>
          </a:xfrm>
          <a:prstGeom prst="roundRect">
            <a:avLst>
              <a:gd name="adj" fmla="val 11939"/>
            </a:avLst>
          </a:prstGeom>
          <a:solidFill>
            <a:srgbClr val="FFFFFF"/>
          </a:solidFill>
          <a:ln w="1270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79932"/>
            <a:ext cx="50292" cy="1628775"/>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26236"/>
            <a:ext cx="10744200" cy="1336167"/>
          </a:xfrm>
          <a:prstGeom prst="rect">
            <a:avLst/>
          </a:prstGeom>
          <a:noFill/>
        </p:spPr>
        <p:txBody>
          <a:bodyPr wrap="none" lIns="0" rIns="0" tIns="0" bIns="0" anchor="t">
            <a:spAutoFit/>
          </a:bodyPr>
          <a:lstStyle/>
          <a:p>
            <a:pPr algn="l">
              <a:lnSpc>
                <a:spcPts val="1105"/>
              </a:lnSpc>
              <a:spcAft>
                <a:spcPts val="0"/>
              </a:spcAft>
            </a:pPr>
            <a:r>
              <a:rPr sz="850" b="0" i="0">
                <a:solidFill>
                  <a:srgbClr val="141B2E"/>
                </a:solidFill>
                <a:latin typeface="Consolas"/>
              </a:rPr>
              <a:t>{</a:t>
            </a:r>
          </a:p>
          <a:p>
            <a:pPr algn="l">
              <a:lnSpc>
                <a:spcPts val="1105"/>
              </a:lnSpc>
              <a:spcAft>
                <a:spcPts val="0"/>
              </a:spcAft>
            </a:pPr>
            <a:r>
              <a:rPr sz="850" b="0" i="0">
                <a:solidFill>
                  <a:srgbClr val="141B2E"/>
                </a:solidFill>
                <a:latin typeface="Consolas"/>
              </a:rPr>
              <a:t>  "mcpServers": {</a:t>
            </a:r>
          </a:p>
          <a:p>
            <a:pPr algn="l">
              <a:lnSpc>
                <a:spcPts val="1105"/>
              </a:lnSpc>
              <a:spcAft>
                <a:spcPts val="0"/>
              </a:spcAft>
            </a:pPr>
            <a:r>
              <a:rPr sz="850" b="0" i="0">
                <a:solidFill>
                  <a:srgbClr val="141B2E"/>
                </a:solidFill>
                <a:latin typeface="Consolas"/>
              </a:rPr>
              <a:t>    "github": {</a:t>
            </a:r>
          </a:p>
          <a:p>
            <a:pPr algn="l">
              <a:lnSpc>
                <a:spcPts val="1105"/>
              </a:lnSpc>
              <a:spcAft>
                <a:spcPts val="0"/>
              </a:spcAft>
            </a:pPr>
            <a:r>
              <a:rPr sz="850" b="0" i="0">
                <a:solidFill>
                  <a:srgbClr val="141B2E"/>
                </a:solidFill>
                <a:latin typeface="Consolas"/>
              </a:rPr>
              <a:t>      "command": "npx",</a:t>
            </a:r>
          </a:p>
          <a:p>
            <a:pPr algn="l">
              <a:lnSpc>
                <a:spcPts val="1105"/>
              </a:lnSpc>
              <a:spcAft>
                <a:spcPts val="0"/>
              </a:spcAft>
            </a:pPr>
            <a:r>
              <a:rPr sz="850" b="0" i="0">
                <a:solidFill>
                  <a:srgbClr val="141B2E"/>
                </a:solidFill>
                <a:latin typeface="Consolas"/>
              </a:rPr>
              <a:t>      "args": ["-y", "@modelcontextprotocol/server-github"],</a:t>
            </a:r>
          </a:p>
          <a:p>
            <a:pPr algn="l">
              <a:lnSpc>
                <a:spcPts val="1105"/>
              </a:lnSpc>
              <a:spcAft>
                <a:spcPts val="0"/>
              </a:spcAft>
            </a:pPr>
            <a:r>
              <a:rPr sz="850" b="0" i="0">
                <a:solidFill>
                  <a:srgbClr val="141B2E"/>
                </a:solidFill>
                <a:latin typeface="Consolas"/>
              </a:rPr>
              <a:t>      "env": { "GITHUB_PERSONAL_ACCESS_TOKEN": "${GITHUB_PAT}" }</a:t>
            </a:r>
          </a:p>
          <a:p>
            <a:pPr algn="l">
              <a:lnSpc>
                <a:spcPts val="1105"/>
              </a:lnSpc>
              <a:spcAft>
                <a:spcPts val="0"/>
              </a:spcAft>
            </a:pPr>
            <a:r>
              <a:rPr sz="850" b="0" i="0">
                <a:solidFill>
                  <a:srgbClr val="141B2E"/>
                </a:solidFill>
                <a:latin typeface="Consolas"/>
              </a:rPr>
              <a:t>    }</a:t>
            </a:r>
          </a:p>
          <a:p>
            <a:pPr algn="l">
              <a:lnSpc>
                <a:spcPts val="1105"/>
              </a:lnSpc>
              <a:spcAft>
                <a:spcPts val="0"/>
              </a:spcAft>
            </a:pPr>
            <a:r>
              <a:rPr sz="850" b="0" i="0">
                <a:solidFill>
                  <a:srgbClr val="141B2E"/>
                </a:solidFill>
                <a:latin typeface="Consolas"/>
              </a:rPr>
              <a:t>  }</a:t>
            </a:r>
          </a:p>
          <a:p>
            <a:pPr algn="l">
              <a:lnSpc>
                <a:spcPts val="1105"/>
              </a:lnSpc>
              <a:spcAft>
                <a:spcPts val="0"/>
              </a:spcAft>
            </a:pPr>
            <a:r>
              <a:rPr sz="850" b="0" i="0">
                <a:solidFill>
                  <a:srgbClr val="141B2E"/>
                </a:solidFill>
                <a:latin typeface="Consolas"/>
              </a:rPr>
              <a:t>}</a:t>
            </a:r>
          </a:p>
        </p:txBody>
      </p:sp>
      <p:sp>
        <p:nvSpPr>
          <p:cNvPr id="6" name="Rounded Rectangle 5"/>
          <p:cNvSpPr/>
          <p:nvPr/>
        </p:nvSpPr>
        <p:spPr>
          <a:xfrm>
            <a:off x="502920" y="2809875"/>
            <a:ext cx="11183112" cy="1317498"/>
          </a:xfrm>
          <a:prstGeom prst="roundRect">
            <a:avLst>
              <a:gd name="adj" fmla="val 23134"/>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58952" y="3125470"/>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3029331"/>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Consolas"/>
              </a:rPr>
              <a:t>mcpServers</a:t>
            </a:r>
            <a:r>
              <a:rPr sz="1100" b="0" i="0">
                <a:solidFill>
                  <a:srgbClr val="141B2E"/>
                </a:solidFill>
                <a:latin typeface="Arial"/>
              </a:rPr>
              <a:t> — корень: все серверы этой области. </a:t>
            </a:r>
            <a:r>
              <a:rPr sz="1100" b="0" i="0">
                <a:solidFill>
                  <a:srgbClr val="141B2E"/>
                </a:solidFill>
                <a:latin typeface="Consolas"/>
              </a:rPr>
              <a:t>"github"</a:t>
            </a:r>
            <a:r>
              <a:rPr sz="1100" b="0" i="0">
                <a:solidFill>
                  <a:srgbClr val="141B2E"/>
                </a:solidFill>
                <a:latin typeface="Arial"/>
              </a:rPr>
              <a:t> — имя сервера: под ним агент зовёт инструменты, </a:t>
            </a:r>
            <a:r>
              <a:rPr sz="1100" b="0" i="0">
                <a:solidFill>
                  <a:srgbClr val="141B2E"/>
                </a:solidFill>
                <a:latin typeface="Consolas"/>
              </a:rPr>
              <a:t>mcp__github__…</a:t>
            </a:r>
            <a:r>
              <a:rPr sz="1100" b="0" i="0">
                <a:solidFill>
                  <a:srgbClr val="141B2E"/>
                </a:solidFill>
                <a:latin typeface="Arial"/>
              </a:rPr>
              <a:t>.</a:t>
            </a:r>
          </a:p>
        </p:txBody>
      </p:sp>
      <p:sp>
        <p:nvSpPr>
          <p:cNvPr id="9" name="Rounded Rectangle 8"/>
          <p:cNvSpPr/>
          <p:nvPr/>
        </p:nvSpPr>
        <p:spPr>
          <a:xfrm>
            <a:off x="758952" y="3418332"/>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322193"/>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Consolas"/>
              </a:rPr>
              <a:t>"command"</a:t>
            </a:r>
            <a:r>
              <a:rPr sz="1100" b="0" i="0">
                <a:solidFill>
                  <a:srgbClr val="141B2E"/>
                </a:solidFill>
                <a:latin typeface="Arial"/>
              </a:rPr>
              <a:t> и </a:t>
            </a:r>
            <a:r>
              <a:rPr sz="1100" b="0" i="0">
                <a:solidFill>
                  <a:srgbClr val="141B2E"/>
                </a:solidFill>
                <a:latin typeface="Consolas"/>
              </a:rPr>
              <a:t>"args"</a:t>
            </a:r>
            <a:r>
              <a:rPr sz="1100" b="0" i="0">
                <a:solidFill>
                  <a:srgbClr val="141B2E"/>
                </a:solidFill>
                <a:latin typeface="Arial"/>
              </a:rPr>
              <a:t> — чем запускается и что именно: пакет самого сервера.</a:t>
            </a:r>
          </a:p>
        </p:txBody>
      </p:sp>
      <p:sp>
        <p:nvSpPr>
          <p:cNvPr id="11" name="Rounded Rectangle 10"/>
          <p:cNvSpPr/>
          <p:nvPr/>
        </p:nvSpPr>
        <p:spPr>
          <a:xfrm>
            <a:off x="758952" y="371119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3615055"/>
            <a:ext cx="10360152" cy="292862"/>
          </a:xfrm>
          <a:prstGeom prst="rect">
            <a:avLst/>
          </a:prstGeom>
          <a:noFill/>
        </p:spPr>
        <p:txBody>
          <a:bodyPr wrap="square" lIns="0" rIns="0" tIns="0" bIns="0" anchor="ctr">
            <a:spAutoFit/>
          </a:bodyPr>
          <a:lstStyle/>
          <a:p>
            <a:pPr algn="l">
              <a:lnSpc>
                <a:spcPts val="1297"/>
              </a:lnSpc>
              <a:spcAft>
                <a:spcPts val="0"/>
              </a:spcAft>
            </a:pPr>
            <a:r>
              <a:rPr sz="1100" b="0" i="0">
                <a:solidFill>
                  <a:srgbClr val="141B2E"/>
                </a:solidFill>
                <a:latin typeface="Consolas"/>
              </a:rPr>
              <a:t>"env"</a:t>
            </a:r>
            <a:r>
              <a:rPr sz="1100" b="0" i="0">
                <a:solidFill>
                  <a:srgbClr val="141B2E"/>
                </a:solidFill>
                <a:latin typeface="Arial"/>
              </a:rPr>
              <a:t> — окружение процесса; </a:t>
            </a:r>
            <a:r>
              <a:rPr sz="1100" b="0" i="0">
                <a:solidFill>
                  <a:srgbClr val="141B2E"/>
                </a:solidFill>
                <a:latin typeface="Consolas"/>
              </a:rPr>
              <a:t>${GITHUB_PAT}</a:t>
            </a:r>
            <a:r>
              <a:rPr sz="1100" b="0" i="0">
                <a:solidFill>
                  <a:srgbClr val="141B2E"/>
                </a:solidFill>
                <a:latin typeface="Arial"/>
              </a:rPr>
              <a:t> — подстановка, не сам секрет.</a:t>
            </a:r>
          </a:p>
        </p:txBody>
      </p:sp>
      <p:pic>
        <p:nvPicPr>
          <p:cNvPr id="13" name="Picture 12" descr="mcp-n14-prioritet.png"/>
          <p:cNvPicPr>
            <a:picLocks noChangeAspect="1"/>
          </p:cNvPicPr>
          <p:nvPr/>
        </p:nvPicPr>
        <p:blipFill>
          <a:blip r:embed="rId2"/>
          <a:stretch>
            <a:fillRect/>
          </a:stretch>
        </p:blipFill>
        <p:spPr>
          <a:xfrm>
            <a:off x="1554646" y="4291965"/>
            <a:ext cx="9079659" cy="1986175"/>
          </a:xfrm>
          <a:prstGeom prst="rect">
            <a:avLst/>
          </a:prstGeom>
        </p:spPr>
      </p:pic>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Постоянная плата одинакова: своё, чужое, локально, удалённо</a:t>
            </a:r>
          </a:p>
        </p:txBody>
      </p:sp>
      <p:pic>
        <p:nvPicPr>
          <p:cNvPr id="3" name="Picture 2" descr="mcp-n15-dolya-okna.png"/>
          <p:cNvPicPr>
            <a:picLocks noChangeAspect="1"/>
          </p:cNvPicPr>
          <p:nvPr/>
        </p:nvPicPr>
        <p:blipFill>
          <a:blip r:embed="rId2"/>
          <a:stretch>
            <a:fillRect/>
          </a:stretch>
        </p:blipFill>
        <p:spPr>
          <a:xfrm>
            <a:off x="1453436" y="1319784"/>
            <a:ext cx="9282079" cy="2262506"/>
          </a:xfrm>
          <a:prstGeom prst="rect">
            <a:avLst/>
          </a:prstGeom>
        </p:spPr>
      </p:pic>
      <p:sp>
        <p:nvSpPr>
          <p:cNvPr id="4" name="Rounded Rectangle 3"/>
          <p:cNvSpPr/>
          <p:nvPr/>
        </p:nvSpPr>
        <p:spPr>
          <a:xfrm>
            <a:off x="502920" y="3746882"/>
            <a:ext cx="82296" cy="81762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3874898"/>
            <a:ext cx="10643616" cy="561593"/>
          </a:xfrm>
          <a:prstGeom prst="rect">
            <a:avLst/>
          </a:prstGeom>
          <a:noFill/>
        </p:spPr>
        <p:txBody>
          <a:bodyPr wrap="square" lIns="0" rIns="0" tIns="0" bIns="0" anchor="ctr">
            <a:spAutoFit/>
          </a:bodyPr>
          <a:lstStyle/>
          <a:p>
            <a:pPr algn="l">
              <a:lnSpc>
                <a:spcPts val="1426"/>
              </a:lnSpc>
              <a:spcAft>
                <a:spcPts val="300"/>
              </a:spcAft>
            </a:pPr>
            <a:r>
              <a:rPr sz="1150" b="1" i="0">
                <a:solidFill>
                  <a:srgbClr val="141B2E"/>
                </a:solidFill>
                <a:latin typeface="Arial"/>
              </a:rPr>
              <a:t>Постоянную плату задаёт число инструментов.</a:t>
            </a:r>
            <a:r>
              <a:rPr sz="1150" b="1" i="0">
                <a:solidFill>
                  <a:srgbClr val="141B2E"/>
                </a:solidFill>
                <a:latin typeface="Arial"/>
              </a:rPr>
              <a:t> Имя и короткая инструкция каждого подключённого сервера висят в контексте всегда. Свой сервер, чужой локально, чужой удалённо платят её одинаково: транспорт и авторство значения не имеют. Свободны от неё прямой вызов API и команда вроде </a:t>
            </a:r>
            <a:r>
              <a:rPr sz="1150" b="1" i="0">
                <a:solidFill>
                  <a:srgbClr val="141B2E"/>
                </a:solidFill>
                <a:latin typeface="Consolas"/>
              </a:rPr>
              <a:t>gh</a:t>
            </a:r>
            <a:r>
              <a:rPr sz="1150" b="1" i="0">
                <a:solidFill>
                  <a:srgbClr val="141B2E"/>
                </a:solidFill>
                <a:latin typeface="Arial"/>
              </a:rPr>
              <a:t> — у них нет списка возможностей, висящего в контексте между вызовами.</a:t>
            </a:r>
          </a:p>
        </p:txBody>
      </p:sp>
      <p:sp>
        <p:nvSpPr>
          <p:cNvPr id="6" name="Rounded Rectangle 5"/>
          <p:cNvSpPr/>
          <p:nvPr/>
        </p:nvSpPr>
        <p:spPr>
          <a:xfrm>
            <a:off x="502920" y="4729100"/>
            <a:ext cx="82296" cy="61981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857116"/>
            <a:ext cx="10643616" cy="36378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К себе.</a:t>
            </a:r>
            <a:r>
              <a:rPr sz="1100" b="1" i="0">
                <a:solidFill>
                  <a:srgbClr val="141B2E"/>
                </a:solidFill>
                <a:latin typeface="Arial"/>
              </a:rPr>
              <a:t> Сколько серверов подключено у вас прямо сейчас и сколько инструментов они описывают? Эту плату вы вносите в каждой сессии — даже в ту, где агент за день не сходил ни к одному.</a:t>
            </a:r>
          </a:p>
        </p:txBody>
      </p:sp>
      <p:sp>
        <p:nvSpPr>
          <p:cNvPr id="8" name="Rounded Rectangle 7"/>
          <p:cNvSpPr/>
          <p:nvPr/>
        </p:nvSpPr>
        <p:spPr>
          <a:xfrm>
            <a:off x="502920" y="5513510"/>
            <a:ext cx="82296" cy="619817"/>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5641526"/>
            <a:ext cx="10643616" cy="363785"/>
          </a:xfrm>
          <a:prstGeom prst="rect">
            <a:avLst/>
          </a:prstGeom>
          <a:noFill/>
        </p:spPr>
        <p:txBody>
          <a:bodyPr wrap="square" lIns="0" rIns="0" tIns="0" bIns="0" anchor="ctr">
            <a:spAutoFit/>
          </a:bodyPr>
          <a:lstStyle/>
          <a:p>
            <a:pPr algn="l">
              <a:lnSpc>
                <a:spcPts val="1364"/>
              </a:lnSpc>
              <a:spcAft>
                <a:spcPts val="300"/>
              </a:spcAft>
            </a:pPr>
            <a:r>
              <a:rPr sz="1100" b="1" i="0">
                <a:solidFill>
                  <a:srgbClr val="141B2E"/>
                </a:solidFill>
                <a:latin typeface="Arial"/>
              </a:rPr>
              <a:t>Проверить у себя: не выставлен ли </a:t>
            </a:r>
            <a:r>
              <a:rPr sz="1100" b="1" i="0">
                <a:solidFill>
                  <a:srgbClr val="141B2E"/>
                </a:solidFill>
                <a:latin typeface="Consolas"/>
              </a:rPr>
              <a:t>ENABLE_TOOL_SEARCH=false</a:t>
            </a:r>
            <a:r>
              <a:rPr sz="1100" b="1" i="0">
                <a:solidFill>
                  <a:srgbClr val="141B2E"/>
                </a:solidFill>
                <a:latin typeface="Arial"/>
              </a:rPr>
              <a:t>, и что реально показывает карточка конкретного сервера в сессии — команда не устаревает, в отличие от самой цифры.</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Чужая инструкция в issue заставила агента опубликовать приватный код</a:t>
            </a:r>
          </a:p>
        </p:txBody>
      </p:sp>
      <p:sp>
        <p:nvSpPr>
          <p:cNvPr id="3" name="Rounded Rectangle 2"/>
          <p:cNvSpPr/>
          <p:nvPr/>
        </p:nvSpPr>
        <p:spPr>
          <a:xfrm>
            <a:off x="502920" y="1319784"/>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Вернёмся к экрану со-сборки. Мы вычеркнули строку «все репозитории, включая приватные» — вот ровно тот случай, где это решило дело.</a:t>
            </a:r>
          </a:p>
        </p:txBody>
      </p:sp>
      <p:sp>
        <p:nvSpPr>
          <p:cNvPr id="5" name="Rounded Rectangle 4"/>
          <p:cNvSpPr/>
          <p:nvPr/>
        </p:nvSpPr>
        <p:spPr>
          <a:xfrm>
            <a:off x="502920" y="2136648"/>
            <a:ext cx="82296" cy="86487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264664"/>
            <a:ext cx="10643616" cy="60883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Смертельное трио</a:t>
            </a:r>
            <a:r>
              <a:rPr sz="1250" b="1" i="0">
                <a:solidFill>
                  <a:srgbClr val="141B2E"/>
                </a:solidFill>
                <a:latin typeface="Arial"/>
              </a:rPr>
              <a:t> (Simon Willison, 16.06.2025): доступ к приватным данным + обработка недоверенного внешнего контента + канал наружу. При всех трёх атакующему достаточно написать текст, который агент прочитает в рамках обычной работы.</a:t>
            </a:r>
          </a:p>
        </p:txBody>
      </p:sp>
      <p:sp>
        <p:nvSpPr>
          <p:cNvPr id="7" name="Rounded Rectangle 6"/>
          <p:cNvSpPr/>
          <p:nvPr/>
        </p:nvSpPr>
        <p:spPr>
          <a:xfrm>
            <a:off x="502920" y="3166110"/>
            <a:ext cx="11183112" cy="2992500"/>
          </a:xfrm>
          <a:prstGeom prst="roundRect">
            <a:avLst>
              <a:gd name="adj" fmla="val 10185"/>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348990"/>
            <a:ext cx="137583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СЛОЙ</a:t>
            </a:r>
          </a:p>
        </p:txBody>
      </p:sp>
      <p:sp>
        <p:nvSpPr>
          <p:cNvPr id="9" name="TextBox 8"/>
          <p:cNvSpPr txBox="1"/>
          <p:nvPr/>
        </p:nvSpPr>
        <p:spPr>
          <a:xfrm>
            <a:off x="2207934" y="3348990"/>
            <a:ext cx="522779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ПРОИЗОШЛО</a:t>
            </a:r>
          </a:p>
        </p:txBody>
      </p:sp>
      <p:sp>
        <p:nvSpPr>
          <p:cNvPr id="10" name="TextBox 9"/>
          <p:cNvSpPr txBox="1"/>
          <p:nvPr/>
        </p:nvSpPr>
        <p:spPr>
          <a:xfrm>
            <a:off x="7582029" y="3348990"/>
            <a:ext cx="377481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БАЗА СРАВНЕНИЯ</a:t>
            </a:r>
          </a:p>
        </p:txBody>
      </p:sp>
      <p:sp>
        <p:nvSpPr>
          <p:cNvPr id="11" name="TextBox 10"/>
          <p:cNvSpPr txBox="1"/>
          <p:nvPr/>
        </p:nvSpPr>
        <p:spPr>
          <a:xfrm>
            <a:off x="685800" y="3631057"/>
            <a:ext cx="1375830" cy="134029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1 · эксфильтрация в связке (Invariant Labs, май 2025)</a:t>
            </a:r>
          </a:p>
        </p:txBody>
      </p:sp>
      <p:sp>
        <p:nvSpPr>
          <p:cNvPr id="12" name="TextBox 11"/>
          <p:cNvSpPr txBox="1"/>
          <p:nvPr/>
        </p:nvSpPr>
        <p:spPr>
          <a:xfrm>
            <a:off x="2207934" y="3631057"/>
            <a:ext cx="5227790" cy="134029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Агент с токеном на все репозитории пользователя, включая приватные. Атакующий создаёт в публичном репозитории issue с инструкцией собрать данные о других репозиториях и опубликовать здесь. Разработчик просит агента разобраться с открытыми issue — агент честно читает их, инструкция попадает в контекст как задача, читает приватные репозитории, публикует их содержимое в автоматически созданном публичном PR</a:t>
            </a:r>
          </a:p>
        </p:txBody>
      </p:sp>
      <p:sp>
        <p:nvSpPr>
          <p:cNvPr id="13" name="TextBox 12"/>
          <p:cNvSpPr txBox="1"/>
          <p:nvPr/>
        </p:nvSpPr>
        <p:spPr>
          <a:xfrm>
            <a:off x="7582029" y="3631057"/>
            <a:ext cx="3774818" cy="134029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уязвимости не присвоен номер — архитектурный класс связки прав, не брешь кода. Убрать строку «все репозитории, включая приватные» — читать нечего, сценарий не проходит вообще</a:t>
            </a:r>
          </a:p>
        </p:txBody>
      </p:sp>
      <p:cxnSp>
        <p:nvCxnSpPr>
          <p:cNvPr id="14" name="Connector 13"/>
          <p:cNvCxnSpPr/>
          <p:nvPr/>
        </p:nvCxnSpPr>
        <p:spPr>
          <a:xfrm>
            <a:off x="685800" y="497135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971351"/>
            <a:ext cx="1375830" cy="100437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2 · без модели вообще (CVE-2026-61742, DBHub, CVSS 9.3 из 10)</a:t>
            </a:r>
          </a:p>
        </p:txBody>
      </p:sp>
      <p:sp>
        <p:nvSpPr>
          <p:cNvPr id="16" name="TextBox 15"/>
          <p:cNvSpPr txBox="1"/>
          <p:nvPr/>
        </p:nvSpPr>
        <p:spPr>
          <a:xfrm>
            <a:off x="2207934" y="4971351"/>
            <a:ext cx="5227790" cy="100437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HTTP-транспорт по умолчанию слушает без аутентификации, защита от межсайтовых запросов обходится DNS rebinding</a:t>
            </a:r>
          </a:p>
        </p:txBody>
      </p:sp>
      <p:sp>
        <p:nvSpPr>
          <p:cNvPr id="17" name="TextBox 16"/>
          <p:cNvSpPr txBox="1"/>
          <p:nvPr/>
        </p:nvSpPr>
        <p:spPr>
          <a:xfrm>
            <a:off x="7582029" y="4971351"/>
            <a:ext cx="3774818" cy="1004379"/>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по вторичному техническому разбору (Strix.ai) — два HTTP-запроса и ноль учётных данных до захвата; то же трио здесь не единственный путь к утечке — сервер сам может быть незащищённым сетевым сервисом</a:t>
            </a:r>
          </a:p>
        </p:txBody>
      </p:sp>
      <p:sp>
        <p:nvSpPr>
          <p:cNvPr id="18" name="TextBox 1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MCP нужен, а когда не нужен</a:t>
            </a:r>
          </a:p>
        </p:txBody>
      </p:sp>
      <p:sp>
        <p:nvSpPr>
          <p:cNvPr id="3" name="Rounded Rectangle 2"/>
          <p:cNvSpPr/>
          <p:nvPr/>
        </p:nvSpPr>
        <p:spPr>
          <a:xfrm>
            <a:off x="502920" y="138115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50916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Есть доступ наружу. Следующий вопрос — что происходит, когда сервер подключён, а агент через него не ходит.</a:t>
            </a:r>
          </a:p>
        </p:txBody>
      </p:sp>
      <p:sp>
        <p:nvSpPr>
          <p:cNvPr id="5" name="Rounded Rectangle 4"/>
          <p:cNvSpPr/>
          <p:nvPr/>
        </p:nvSpPr>
        <p:spPr>
          <a:xfrm>
            <a:off x="502920" y="2795422"/>
            <a:ext cx="5454396" cy="2875534"/>
          </a:xfrm>
          <a:prstGeom prst="roundRect">
            <a:avLst>
              <a:gd name="adj" fmla="val 1059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90515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MCP НУЖЕН, КОГДА</a:t>
            </a:r>
          </a:p>
        </p:txBody>
      </p:sp>
      <p:sp>
        <p:nvSpPr>
          <p:cNvPr id="7" name="TextBox 6"/>
          <p:cNvSpPr txBox="1"/>
          <p:nvPr/>
        </p:nvSpPr>
        <p:spPr>
          <a:xfrm>
            <a:off x="685800" y="317947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доступ нужен регулярно, из нескольких сессий — разового снимка данных недостаточно</a:t>
            </a:r>
          </a:p>
        </p:txBody>
      </p:sp>
      <p:cxnSp>
        <p:nvCxnSpPr>
          <p:cNvPr id="8" name="Connector 7"/>
          <p:cNvCxnSpPr/>
          <p:nvPr/>
        </p:nvCxnSpPr>
        <p:spPr>
          <a:xfrm>
            <a:off x="685800" y="367045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670452"/>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вы готовы поддерживать ещё один постоянно работающий процесс с доступом к секретам</a:t>
            </a:r>
          </a:p>
        </p:txBody>
      </p:sp>
      <p:cxnSp>
        <p:nvCxnSpPr>
          <p:cNvPr id="10" name="Connector 9"/>
          <p:cNvCxnSpPr/>
          <p:nvPr/>
        </p:nvCxnSpPr>
        <p:spPr>
          <a:xfrm>
            <a:off x="685800" y="416143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161434"/>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операций больше одной, список операций растёт, и агент сам решает, к какой обратиться — за этот список и вносится постоянная плата</a:t>
            </a:r>
          </a:p>
        </p:txBody>
      </p:sp>
      <p:cxnSp>
        <p:nvCxnSpPr>
          <p:cNvPr id="12" name="Connector 11"/>
          <p:cNvCxnSpPr/>
          <p:nvPr/>
        </p:nvCxnSpPr>
        <p:spPr>
          <a:xfrm>
            <a:off x="685800" y="482475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82475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подключение не достраивает третий элемент смертельного трио</a:t>
            </a:r>
          </a:p>
        </p:txBody>
      </p:sp>
      <p:sp>
        <p:nvSpPr>
          <p:cNvPr id="14" name="Rounded Rectangle 13"/>
          <p:cNvSpPr/>
          <p:nvPr/>
        </p:nvSpPr>
        <p:spPr>
          <a:xfrm>
            <a:off x="6231636" y="2795422"/>
            <a:ext cx="5454396" cy="2875534"/>
          </a:xfrm>
          <a:prstGeom prst="roundRect">
            <a:avLst>
              <a:gd name="adj" fmla="val 1059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4516" y="290515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MCP НЕ НУЖЕН, КОГДА</a:t>
            </a:r>
          </a:p>
        </p:txBody>
      </p:sp>
      <p:sp>
        <p:nvSpPr>
          <p:cNvPr id="16" name="TextBox 15"/>
          <p:cNvSpPr txBox="1"/>
          <p:nvPr/>
        </p:nvSpPr>
        <p:spPr>
          <a:xfrm>
            <a:off x="6414516" y="317947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доступ разовый или редкий, и снимка данных на сегодняшний день достаточно</a:t>
            </a:r>
          </a:p>
        </p:txBody>
      </p:sp>
      <p:cxnSp>
        <p:nvCxnSpPr>
          <p:cNvPr id="17" name="Connector 16"/>
          <p:cNvCxnSpPr/>
          <p:nvPr/>
        </p:nvCxnSpPr>
        <p:spPr>
          <a:xfrm>
            <a:off x="6414516" y="367045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3670452"/>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такой готовности нет — тогда разовый вызов надёжнее процесса, который никто не обслуживает</a:t>
            </a:r>
          </a:p>
        </p:txBody>
      </p:sp>
      <p:cxnSp>
        <p:nvCxnSpPr>
          <p:cNvPr id="19" name="Connector 18"/>
          <p:cNvCxnSpPr/>
          <p:nvPr/>
        </p:nvCxnSpPr>
        <p:spPr>
          <a:xfrm>
            <a:off x="6414516" y="416143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4161434"/>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задача сводится к одному известному вызову CLI: список возможностей здесь лишний, и тридцатидвухкратная разница по токенам никуда не денется</a:t>
            </a:r>
          </a:p>
        </p:txBody>
      </p:sp>
      <p:cxnSp>
        <p:nvCxnSpPr>
          <p:cNvPr id="21" name="Connector 20"/>
          <p:cNvCxnSpPr/>
          <p:nvPr/>
        </p:nvCxnSpPr>
        <p:spPr>
          <a:xfrm>
            <a:off x="6414516" y="482475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14516" y="4824755"/>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подключение достраивает третий элемент смертельного трио — доступ к приватным данным и обработка чужого текста уже есть, остаётся канал наружу; это стоп-критерий</a:t>
            </a:r>
          </a:p>
        </p:txBody>
      </p:sp>
      <p:sp>
        <p:nvSpPr>
          <p:cNvPr id="23" name="TextBox 2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447544"/>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447544"/>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2</a:t>
            </a:r>
          </a:p>
        </p:txBody>
      </p:sp>
      <p:sp>
        <p:nvSpPr>
          <p:cNvPr id="7" name="TextBox 6"/>
          <p:cNvSpPr txBox="1"/>
          <p:nvPr/>
        </p:nvSpPr>
        <p:spPr>
          <a:xfrm>
            <a:off x="1536192" y="2341625"/>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Пять дней он верил зелёной галочке</a:t>
            </a:r>
          </a:p>
        </p:txBody>
      </p:sp>
      <p:sp>
        <p:nvSpPr>
          <p:cNvPr id="8" name="TextBox 7"/>
          <p:cNvSpPr txBox="1"/>
          <p:nvPr/>
        </p:nvSpPr>
        <p:spPr>
          <a:xfrm>
            <a:off x="822960" y="3559302"/>
            <a:ext cx="9509760" cy="1139952"/>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Пять рабочих дней разработчик верил зелёной отметке подключения. Проверка была настоящей и говорила правду — о том, что процесс поднят. За эти пять дней агент ни разу не заглянул в трекер.</a:t>
            </a:r>
          </a:p>
        </p:txBody>
      </p:sp>
      <p:sp>
        <p:nvSpPr>
          <p:cNvPr id="9" name="Rounded Rectangle 8"/>
          <p:cNvSpPr/>
          <p:nvPr/>
        </p:nvSpPr>
        <p:spPr>
          <a:xfrm>
            <a:off x="502920"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Субагент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Неделя, в которой ничего не сломалось</a:t>
            </a:r>
          </a:p>
        </p:txBody>
      </p:sp>
      <p:sp>
        <p:nvSpPr>
          <p:cNvPr id="3" name="Rounded Rectangle 2"/>
          <p:cNvSpPr/>
          <p:nvPr/>
        </p:nvSpPr>
        <p:spPr>
          <a:xfrm>
            <a:off x="502920" y="1044143"/>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72159"/>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Тот самый сервер доступа к трекеру, что собрали в прошлом кейсе. Стоит две недели.</a:t>
            </a:r>
          </a:p>
        </p:txBody>
      </p:sp>
      <p:sp>
        <p:nvSpPr>
          <p:cNvPr id="5" name="Rounded Rectangle 4"/>
          <p:cNvSpPr/>
          <p:nvPr/>
        </p:nvSpPr>
        <p:spPr>
          <a:xfrm>
            <a:off x="502920" y="1971243"/>
            <a:ext cx="11183112" cy="2569464"/>
          </a:xfrm>
          <a:prstGeom prst="roundRect">
            <a:avLst>
              <a:gd name="adj" fmla="val 118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2406726"/>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190699"/>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Понедельник.</a:t>
            </a:r>
            <a:r>
              <a:rPr sz="1350" b="0" i="0">
                <a:solidFill>
                  <a:srgbClr val="141B2E"/>
                </a:solidFill>
                <a:latin typeface="Arial"/>
              </a:rPr>
              <a:t> Разработчик просит агента разобрать входящие задачи за выходные и подготовить черновики. Ответ звучит как итог работы.</a:t>
            </a:r>
          </a:p>
        </p:txBody>
      </p:sp>
      <p:sp>
        <p:nvSpPr>
          <p:cNvPr id="8" name="Rounded Rectangle 7"/>
          <p:cNvSpPr/>
          <p:nvPr/>
        </p:nvSpPr>
        <p:spPr>
          <a:xfrm>
            <a:off x="758952" y="293936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723337"/>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Вторник — четверг.</a:t>
            </a:r>
            <a:r>
              <a:rPr sz="1350" b="0" i="0">
                <a:solidFill>
                  <a:srgbClr val="141B2E"/>
                </a:solidFill>
                <a:latin typeface="Arial"/>
              </a:rPr>
              <a:t> То же самое каждое утро: «всё сделал» · «новых задач не нашёл» · «во входящих пусто». Он пересылает это заказчику.</a:t>
            </a:r>
          </a:p>
        </p:txBody>
      </p:sp>
      <p:sp>
        <p:nvSpPr>
          <p:cNvPr id="10" name="Rounded Rectangle 9"/>
          <p:cNvSpPr/>
          <p:nvPr/>
        </p:nvSpPr>
        <p:spPr>
          <a:xfrm>
            <a:off x="758952" y="3472002"/>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255975"/>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Среда и четверг.</a:t>
            </a:r>
            <a:r>
              <a:rPr sz="1350" b="0" i="0">
                <a:solidFill>
                  <a:srgbClr val="141B2E"/>
                </a:solidFill>
                <a:latin typeface="Arial"/>
              </a:rPr>
              <a:t> Смотрит статус подробнее, потом спрашивает агента напрямую, почему тот считает, что задач нет. Всё сходится.</a:t>
            </a:r>
          </a:p>
        </p:txBody>
      </p:sp>
      <p:sp>
        <p:nvSpPr>
          <p:cNvPr id="12" name="Rounded Rectangle 11"/>
          <p:cNvSpPr/>
          <p:nvPr/>
        </p:nvSpPr>
        <p:spPr>
          <a:xfrm>
            <a:off x="758952" y="4004640"/>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3788613"/>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Пятница.</a:t>
            </a:r>
            <a:r>
              <a:rPr sz="1350" b="0" i="0">
                <a:solidFill>
                  <a:srgbClr val="141B2E"/>
                </a:solidFill>
                <a:latin typeface="Arial"/>
              </a:rPr>
              <a:t> Заказчик спрашивает про задачу, которую завёл во вторник. В репозитории за неделю — ни черновика, ни комментария.</a:t>
            </a:r>
          </a:p>
        </p:txBody>
      </p:sp>
      <p:sp>
        <p:nvSpPr>
          <p:cNvPr id="14" name="Rounded Rectangle 13"/>
          <p:cNvSpPr/>
          <p:nvPr/>
        </p:nvSpPr>
        <p:spPr>
          <a:xfrm>
            <a:off x="502920" y="4957267"/>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085283"/>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Всю неделю </a:t>
            </a:r>
            <a:r>
              <a:rPr sz="1500" b="1" i="0">
                <a:solidFill>
                  <a:srgbClr val="141B2E"/>
                </a:solidFill>
                <a:latin typeface="Consolas"/>
              </a:rPr>
              <a:t>claude</a:t>
            </a:r>
            <a:r>
              <a:rPr sz="1500" b="1" i="0">
                <a:solidFill>
                  <a:srgbClr val="141B2E"/>
                </a:solidFill>
                <a:latin typeface="Arial"/>
              </a:rPr>
              <a:t> </a:t>
            </a:r>
            <a:r>
              <a:rPr sz="1500" b="1" i="0">
                <a:solidFill>
                  <a:srgbClr val="141B2E"/>
                </a:solidFill>
                <a:latin typeface="Consolas"/>
              </a:rPr>
              <a:t>mcp</a:t>
            </a:r>
            <a:r>
              <a:rPr sz="1500" b="1" i="0">
                <a:solidFill>
                  <a:srgbClr val="141B2E"/>
                </a:solidFill>
                <a:latin typeface="Arial"/>
              </a:rPr>
              <a:t> </a:t>
            </a:r>
            <a:r>
              <a:rPr sz="1500" b="1" i="0">
                <a:solidFill>
                  <a:srgbClr val="141B2E"/>
                </a:solidFill>
                <a:latin typeface="Consolas"/>
              </a:rPr>
              <a:t>list</a:t>
            </a:r>
            <a:r>
              <a:rPr sz="1500" b="1" i="0">
                <a:solidFill>
                  <a:srgbClr val="141B2E"/>
                </a:solidFill>
                <a:latin typeface="Arial"/>
              </a:rPr>
              <a:t> показывал </a:t>
            </a:r>
            <a:r>
              <a:rPr sz="1500" b="1" i="0">
                <a:solidFill>
                  <a:srgbClr val="141B2E"/>
                </a:solidFill>
                <a:latin typeface="Consolas"/>
              </a:rPr>
              <a:t>✔</a:t>
            </a:r>
            <a:r>
              <a:rPr sz="1500" b="1" i="0">
                <a:solidFill>
                  <a:srgbClr val="141B2E"/>
                </a:solidFill>
                <a:latin typeface="Arial"/>
              </a:rPr>
              <a:t> </a:t>
            </a:r>
            <a:r>
              <a:rPr sz="1500" b="1" i="0">
                <a:solidFill>
                  <a:srgbClr val="141B2E"/>
                </a:solidFill>
                <a:latin typeface="Consolas"/>
              </a:rPr>
              <a:t>Connected</a:t>
            </a:r>
            <a:r>
              <a:rPr sz="1500" b="1" i="0">
                <a:solidFill>
                  <a:srgbClr val="141B2E"/>
                </a:solidFill>
                <a:latin typeface="Arial"/>
              </a:rPr>
              <a:t>: процесс сервера поднят и ответил на рукопожатие. Ответы агент собирал из общих соображений о том, что обычно лежит в трекере. Цена недели: пять дней отчётов о работе, которой не было, и разговор с заказчиком, в котором нечего показать.</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проверки он сделал. Какой не хватило?</a:t>
            </a:r>
          </a:p>
        </p:txBody>
      </p:sp>
      <p:sp>
        <p:nvSpPr>
          <p:cNvPr id="3" name="Rounded Rectangle 2"/>
          <p:cNvSpPr/>
          <p:nvPr/>
        </p:nvSpPr>
        <p:spPr>
          <a:xfrm>
            <a:off x="502920" y="1622602"/>
            <a:ext cx="11183112" cy="476631"/>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677466"/>
            <a:ext cx="64008" cy="366903"/>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759762"/>
            <a:ext cx="10643616" cy="20231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За неделю он сделал три из этих четырёх проверок — и остался без ответа.</a:t>
            </a:r>
          </a:p>
        </p:txBody>
      </p:sp>
      <p:sp>
        <p:nvSpPr>
          <p:cNvPr id="6" name="Rounded Rectangle 5"/>
          <p:cNvSpPr/>
          <p:nvPr/>
        </p:nvSpPr>
        <p:spPr>
          <a:xfrm>
            <a:off x="502920" y="276674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89476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Выберите ту, которой ему не хватило, и скажите, чем она отличается от остальных трёх.</a:t>
            </a:r>
          </a:p>
        </p:txBody>
      </p:sp>
      <p:sp>
        <p:nvSpPr>
          <p:cNvPr id="8" name="Rounded Rectangle 7"/>
          <p:cNvSpPr/>
          <p:nvPr/>
        </p:nvSpPr>
        <p:spPr>
          <a:xfrm>
            <a:off x="502920" y="4257217"/>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4257217"/>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ничего — статус зелёный</a:t>
            </a:r>
          </a:p>
        </p:txBody>
      </p:sp>
      <p:sp>
        <p:nvSpPr>
          <p:cNvPr id="10" name="Rounded Rectangle 9"/>
          <p:cNvSpPr/>
          <p:nvPr/>
        </p:nvSpPr>
        <p:spPr>
          <a:xfrm>
            <a:off x="3335274" y="4257217"/>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45002" y="4257217"/>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посмотреть, что именно показывает статус подробнее</a:t>
            </a:r>
          </a:p>
        </p:txBody>
      </p:sp>
      <p:sp>
        <p:nvSpPr>
          <p:cNvPr id="12" name="Rounded Rectangle 11"/>
          <p:cNvSpPr/>
          <p:nvPr/>
        </p:nvSpPr>
        <p:spPr>
          <a:xfrm>
            <a:off x="6167628" y="4257217"/>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7356" y="4257217"/>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спросить агента, почему он решил, что всё сделал</a:t>
            </a:r>
          </a:p>
        </p:txBody>
      </p:sp>
      <p:sp>
        <p:nvSpPr>
          <p:cNvPr id="14" name="Rounded Rectangle 13"/>
          <p:cNvSpPr/>
          <p:nvPr/>
        </p:nvSpPr>
        <p:spPr>
          <a:xfrm>
            <a:off x="8999982" y="4257217"/>
            <a:ext cx="2686050"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09710" y="4257217"/>
            <a:ext cx="2466594"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явно попросить агента обратиться к серверу по имени и показать вызов</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Три проверки — правда. Правда о другом</a:t>
            </a:r>
          </a:p>
        </p:txBody>
      </p:sp>
      <p:sp>
        <p:nvSpPr>
          <p:cNvPr id="3" name="Rounded Rectangle 2"/>
          <p:cNvSpPr/>
          <p:nvPr/>
        </p:nvSpPr>
        <p:spPr>
          <a:xfrm>
            <a:off x="502920" y="943356"/>
            <a:ext cx="11183112" cy="3234055"/>
          </a:xfrm>
          <a:prstGeom prst="roundRect">
            <a:avLst>
              <a:gd name="adj" fmla="val 942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51945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ПРОВЕРКА</a:t>
            </a:r>
          </a:p>
        </p:txBody>
      </p:sp>
      <p:sp>
        <p:nvSpPr>
          <p:cNvPr id="5" name="TextBox 4"/>
          <p:cNvSpPr txBox="1"/>
          <p:nvPr/>
        </p:nvSpPr>
        <p:spPr>
          <a:xfrm>
            <a:off x="2351562" y="1126236"/>
            <a:ext cx="469839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ДОКАЗАЛА</a:t>
            </a:r>
          </a:p>
        </p:txBody>
      </p:sp>
      <p:sp>
        <p:nvSpPr>
          <p:cNvPr id="6" name="TextBox 5"/>
          <p:cNvSpPr txBox="1"/>
          <p:nvPr/>
        </p:nvSpPr>
        <p:spPr>
          <a:xfrm>
            <a:off x="7196256" y="1126236"/>
            <a:ext cx="416059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ЧЕГО НЕ ДОКАЗАЛА</a:t>
            </a:r>
          </a:p>
        </p:txBody>
      </p:sp>
      <p:sp>
        <p:nvSpPr>
          <p:cNvPr id="7" name="TextBox 6"/>
          <p:cNvSpPr txBox="1"/>
          <p:nvPr/>
        </p:nvSpPr>
        <p:spPr>
          <a:xfrm>
            <a:off x="685800" y="1408303"/>
            <a:ext cx="151945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ничего — статус зелёный</a:t>
            </a:r>
          </a:p>
        </p:txBody>
      </p:sp>
      <p:sp>
        <p:nvSpPr>
          <p:cNvPr id="8" name="TextBox 7"/>
          <p:cNvSpPr txBox="1"/>
          <p:nvPr/>
        </p:nvSpPr>
        <p:spPr>
          <a:xfrm>
            <a:off x="2351562" y="1408303"/>
            <a:ext cx="469839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процесс сервера поднят и ответил на рукопожатие</a:t>
            </a:r>
          </a:p>
        </p:txBody>
      </p:sp>
      <p:sp>
        <p:nvSpPr>
          <p:cNvPr id="9" name="TextBox 8"/>
          <p:cNvSpPr txBox="1"/>
          <p:nvPr/>
        </p:nvSpPr>
        <p:spPr>
          <a:xfrm>
            <a:off x="7196256" y="1408303"/>
            <a:ext cx="4160591"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что агент обращался к нему в этой задаче — это отдельный факт</a:t>
            </a:r>
          </a:p>
        </p:txBody>
      </p:sp>
      <p:cxnSp>
        <p:nvCxnSpPr>
          <p:cNvPr id="10" name="Connector 9"/>
          <p:cNvCxnSpPr/>
          <p:nvPr/>
        </p:nvCxnSpPr>
        <p:spPr>
          <a:xfrm>
            <a:off x="685800" y="192341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923414"/>
            <a:ext cx="1519458"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статус подробнее</a:t>
            </a:r>
          </a:p>
        </p:txBody>
      </p:sp>
      <p:sp>
        <p:nvSpPr>
          <p:cNvPr id="12" name="TextBox 11"/>
          <p:cNvSpPr txBox="1"/>
          <p:nvPr/>
        </p:nvSpPr>
        <p:spPr>
          <a:xfrm>
            <a:off x="2351562" y="1923414"/>
            <a:ext cx="4698390"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различает «процесс не поднялся», «список инструментов не получен», «нужна авторизация» — круг причин сужается</a:t>
            </a:r>
          </a:p>
        </p:txBody>
      </p:sp>
      <p:sp>
        <p:nvSpPr>
          <p:cNvPr id="13" name="TextBox 12"/>
          <p:cNvSpPr txBox="1"/>
          <p:nvPr/>
        </p:nvSpPr>
        <p:spPr>
          <a:xfrm>
            <a:off x="7196256" y="1923414"/>
            <a:ext cx="4160591"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вызывал ли агент сервер именно сейчас: статус живёт отдельно от конкретной задачи</a:t>
            </a:r>
          </a:p>
        </p:txBody>
      </p:sp>
      <p:cxnSp>
        <p:nvCxnSpPr>
          <p:cNvPr id="14" name="Connector 13"/>
          <p:cNvCxnSpPr/>
          <p:nvPr/>
        </p:nvCxnSpPr>
        <p:spPr>
          <a:xfrm>
            <a:off x="685800" y="26137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613786"/>
            <a:ext cx="1519458"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спросить агента</a:t>
            </a:r>
          </a:p>
        </p:txBody>
      </p:sp>
      <p:sp>
        <p:nvSpPr>
          <p:cNvPr id="16" name="TextBox 15"/>
          <p:cNvSpPr txBox="1"/>
          <p:nvPr/>
        </p:nvSpPr>
        <p:spPr>
          <a:xfrm>
            <a:off x="2351562" y="2613786"/>
            <a:ext cx="4698390"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иногда вскрывает причину сразу: агент признаётся, что не нашёл способа проверить и ответил по смыслу задачи</a:t>
            </a:r>
          </a:p>
        </p:txBody>
      </p:sp>
      <p:sp>
        <p:nvSpPr>
          <p:cNvPr id="17" name="TextBox 16"/>
          <p:cNvSpPr txBox="1"/>
          <p:nvPr/>
        </p:nvSpPr>
        <p:spPr>
          <a:xfrm>
            <a:off x="7196256" y="2613786"/>
            <a:ext cx="4160591"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агент пересказывает своё понимание; наблюдения за транспортом в пересказе нет</a:t>
            </a:r>
          </a:p>
        </p:txBody>
      </p:sp>
      <p:cxnSp>
        <p:nvCxnSpPr>
          <p:cNvPr id="18" name="Connector 17"/>
          <p:cNvCxnSpPr/>
          <p:nvPr/>
        </p:nvCxnSpPr>
        <p:spPr>
          <a:xfrm>
            <a:off x="685800" y="312889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128899"/>
            <a:ext cx="1519458"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попросить обратиться к серверу по имени и показать вызов</a:t>
            </a:r>
          </a:p>
        </p:txBody>
      </p:sp>
      <p:sp>
        <p:nvSpPr>
          <p:cNvPr id="20" name="TextBox 19"/>
          <p:cNvSpPr txBox="1"/>
          <p:nvPr/>
        </p:nvSpPr>
        <p:spPr>
          <a:xfrm>
            <a:off x="2351562" y="3128899"/>
            <a:ext cx="4698390"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вызов инструмента в выводе подписан именем сервера — это видимый факт</a:t>
            </a:r>
          </a:p>
        </p:txBody>
      </p:sp>
      <p:sp>
        <p:nvSpPr>
          <p:cNvPr id="21" name="TextBox 20"/>
          <p:cNvSpPr txBox="1"/>
          <p:nvPr/>
        </p:nvSpPr>
        <p:spPr>
          <a:xfrm>
            <a:off x="7196256" y="3128899"/>
            <a:ext cx="4160591" cy="86563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требует заранее знать имя сервера и чуть более точной формулировки задачи</a:t>
            </a:r>
          </a:p>
        </p:txBody>
      </p:sp>
      <p:sp>
        <p:nvSpPr>
          <p:cNvPr id="22" name="Rounded Rectangle 21"/>
          <p:cNvSpPr/>
          <p:nvPr/>
        </p:nvSpPr>
        <p:spPr>
          <a:xfrm>
            <a:off x="502920" y="4342003"/>
            <a:ext cx="82296" cy="73101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470019"/>
            <a:ext cx="10643616" cy="474979"/>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Статус говорил правду — о том, что процесс поднят.</a:t>
            </a:r>
            <a:r>
              <a:rPr sz="1450" b="1" i="0">
                <a:solidFill>
                  <a:srgbClr val="141B2E"/>
                </a:solidFill>
                <a:latin typeface="Arial"/>
              </a:rPr>
              <a:t> Работу агента доказывает одно: вызов, подписанный именем сервера. Три честные проверки за неделю дали ноль фактов об этом.</a:t>
            </a:r>
          </a:p>
        </p:txBody>
      </p:sp>
      <p:sp>
        <p:nvSpPr>
          <p:cNvPr id="24" name="Rounded Rectangle 23"/>
          <p:cNvSpPr/>
          <p:nvPr/>
        </p:nvSpPr>
        <p:spPr>
          <a:xfrm>
            <a:off x="502920" y="5237607"/>
            <a:ext cx="11183112" cy="821082"/>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 y="5365623"/>
            <a:ext cx="10634472" cy="565050"/>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У кого прямо сейчас подключён хоть один сервер — и когда вы последний раз видели его имя в выводе агента?</a:t>
            </a:r>
          </a:p>
        </p:txBody>
      </p:sp>
      <p:sp>
        <p:nvSpPr>
          <p:cNvPr id="26" name="TextBox 2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понять, что сервер реально работает</a:t>
            </a:r>
          </a:p>
        </p:txBody>
      </p:sp>
      <p:sp>
        <p:nvSpPr>
          <p:cNvPr id="3" name="Rounded Rectangle 2"/>
          <p:cNvSpPr/>
          <p:nvPr/>
        </p:nvSpPr>
        <p:spPr>
          <a:xfrm>
            <a:off x="502920" y="1477975"/>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605991"/>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Consolas"/>
              </a:rPr>
              <a:t>claude</a:t>
            </a:r>
            <a:r>
              <a:rPr sz="1500" b="1" i="0">
                <a:solidFill>
                  <a:srgbClr val="141B2E"/>
                </a:solidFill>
                <a:latin typeface="Arial"/>
              </a:rPr>
              <a:t> </a:t>
            </a:r>
            <a:r>
              <a:rPr sz="1500" b="1" i="0">
                <a:solidFill>
                  <a:srgbClr val="141B2E"/>
                </a:solidFill>
                <a:latin typeface="Consolas"/>
              </a:rPr>
              <a:t>mcp</a:t>
            </a:r>
            <a:r>
              <a:rPr sz="1500" b="1" i="0">
                <a:solidFill>
                  <a:srgbClr val="141B2E"/>
                </a:solidFill>
                <a:latin typeface="Arial"/>
              </a:rPr>
              <a:t> </a:t>
            </a:r>
            <a:r>
              <a:rPr sz="1500" b="1" i="0">
                <a:solidFill>
                  <a:srgbClr val="141B2E"/>
                </a:solidFill>
                <a:latin typeface="Consolas"/>
              </a:rPr>
              <a:t>list</a:t>
            </a:r>
            <a:r>
              <a:rPr sz="1500" b="1" i="0">
                <a:solidFill>
                  <a:srgbClr val="141B2E"/>
                </a:solidFill>
                <a:latin typeface="Arial"/>
              </a:rPr>
              <a:t>/</a:t>
            </a:r>
            <a:r>
              <a:rPr sz="1500" b="1" i="0">
                <a:solidFill>
                  <a:srgbClr val="141B2E"/>
                </a:solidFill>
                <a:latin typeface="Consolas"/>
              </a:rPr>
              <a:t>/mcp</a:t>
            </a:r>
            <a:r>
              <a:rPr sz="1500" b="1" i="0">
                <a:solidFill>
                  <a:srgbClr val="141B2E"/>
                </a:solidFill>
                <a:latin typeface="Arial"/>
              </a:rPr>
              <a:t> показывает больше, чем одно слово «подключено» — отдельно видно, поднялся ли сам процесс и получен ли список инструментов. Но даже такой подробный статус — факт про процесс, не про то, обращался ли к нему именно агент в этой задаче.</a:t>
            </a:r>
          </a:p>
        </p:txBody>
      </p:sp>
      <p:sp>
        <p:nvSpPr>
          <p:cNvPr id="5" name="Rounded Rectangle 4"/>
          <p:cNvSpPr/>
          <p:nvPr/>
        </p:nvSpPr>
        <p:spPr>
          <a:xfrm>
            <a:off x="502920" y="312846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25648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Доказательный вызов.</a:t>
            </a:r>
            <a:r>
              <a:rPr sz="1500" b="1" i="0">
                <a:solidFill>
                  <a:srgbClr val="141B2E"/>
                </a:solidFill>
                <a:latin typeface="Arial"/>
              </a:rPr>
              <a:t> Явное упоминание сервера в запросе: «используя сервер такой-то, узнай…». Признак, что ответ пришёл именно оттуда, — вызов инструмента в выводе подписан именем сервера.</a:t>
            </a:r>
          </a:p>
        </p:txBody>
      </p:sp>
      <p:sp>
        <p:nvSpPr>
          <p:cNvPr id="7" name="Rounded Rectangle 6"/>
          <p:cNvSpPr/>
          <p:nvPr/>
        </p:nvSpPr>
        <p:spPr>
          <a:xfrm>
            <a:off x="502920" y="454273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67075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Если ответ не приходит сразу — не спешите считать это сбоем. Запуск самого сервера и выполнение уже начатого вызова идут по разным часам: второе объективно может занимать заметно дольше первого.</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Как спросить агента, чтобы было что проверить</a:t>
            </a:r>
          </a:p>
        </p:txBody>
      </p:sp>
      <p:sp>
        <p:nvSpPr>
          <p:cNvPr id="3" name="Rounded Rectangle 2"/>
          <p:cNvSpPr/>
          <p:nvPr/>
        </p:nvSpPr>
        <p:spPr>
          <a:xfrm>
            <a:off x="502920" y="2013204"/>
            <a:ext cx="82296" cy="784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141220"/>
            <a:ext cx="10643616" cy="528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Плохо:</a:t>
            </a:r>
            <a:r>
              <a:rPr sz="1500" b="1" i="0">
                <a:solidFill>
                  <a:srgbClr val="141B2E"/>
                </a:solidFill>
                <a:latin typeface="Arial"/>
              </a:rPr>
              <a:t> «Посмотри, что скопилось во входящих, и подготовь черновики.»</a:t>
            </a:r>
          </a:p>
          <a:p>
            <a:pPr algn="l">
              <a:lnSpc>
                <a:spcPts val="1860"/>
              </a:lnSpc>
              <a:spcAft>
                <a:spcPts val="300"/>
              </a:spcAft>
            </a:pPr>
            <a:r>
              <a:rPr sz="1500" b="1" i="0">
                <a:solidFill>
                  <a:srgbClr val="141B2E"/>
                </a:solidFill>
                <a:latin typeface="Arial"/>
              </a:rPr>
              <a:t>Ни «нашёл», ни «не нашёл» это не доказывает — агент мог ответить, не обращаясь к серверу вовсе.</a:t>
            </a:r>
          </a:p>
        </p:txBody>
      </p:sp>
      <p:sp>
        <p:nvSpPr>
          <p:cNvPr id="5" name="Rounded Rectangle 4"/>
          <p:cNvSpPr/>
          <p:nvPr/>
        </p:nvSpPr>
        <p:spPr>
          <a:xfrm>
            <a:off x="502920" y="3465576"/>
            <a:ext cx="82296" cy="12573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593592"/>
            <a:ext cx="10643616" cy="10012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Хорошо:</a:t>
            </a:r>
            <a:r>
              <a:rPr sz="1500" b="1" i="0">
                <a:solidFill>
                  <a:srgbClr val="141B2E"/>
                </a:solidFill>
                <a:latin typeface="Arial"/>
              </a:rPr>
              <a:t> «Используя сервер трекера, выведи список открытых задач, затем подготовь черновик по каждой.»</a:t>
            </a:r>
          </a:p>
          <a:p>
            <a:pPr algn="l">
              <a:lnSpc>
                <a:spcPts val="1860"/>
              </a:lnSpc>
              <a:spcAft>
                <a:spcPts val="300"/>
              </a:spcAft>
            </a:pPr>
            <a:r>
              <a:rPr sz="1500" b="1" i="0">
                <a:solidFill>
                  <a:srgbClr val="141B2E"/>
                </a:solidFill>
                <a:latin typeface="Arial"/>
              </a:rPr>
              <a:t>Явное имя сервера в запросе — и есть доказательный вызов: дальше смотрим, подписан ли вызов в выводе именем сервера.</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Процедура, не файл: строка правила в CLAUDE.md</a:t>
            </a:r>
          </a:p>
        </p:txBody>
      </p:sp>
      <p:sp>
        <p:nvSpPr>
          <p:cNvPr id="3" name="Rounded Rectangle 2"/>
          <p:cNvSpPr/>
          <p:nvPr/>
        </p:nvSpPr>
        <p:spPr>
          <a:xfrm>
            <a:off x="502920" y="1293571"/>
            <a:ext cx="11183112" cy="97155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729054"/>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1513027"/>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CLAUDE.md</a:t>
            </a:r>
            <a:r>
              <a:rPr sz="1350" b="0" i="0">
                <a:solidFill>
                  <a:srgbClr val="141B2E"/>
                </a:solidFill>
                <a:latin typeface="Arial"/>
              </a:rPr>
              <a:t>, раздел </a:t>
            </a:r>
            <a:r>
              <a:rPr sz="1350" b="0" i="0">
                <a:solidFill>
                  <a:srgbClr val="141B2E"/>
                </a:solidFill>
                <a:latin typeface="Consolas"/>
              </a:rPr>
              <a:t>Repository</a:t>
            </a:r>
            <a:r>
              <a:rPr sz="1350" b="0" i="0">
                <a:solidFill>
                  <a:srgbClr val="141B2E"/>
                </a:solidFill>
                <a:latin typeface="Arial"/>
              </a:rPr>
              <a:t> </a:t>
            </a:r>
            <a:r>
              <a:rPr sz="1350" b="0" i="0">
                <a:solidFill>
                  <a:srgbClr val="141B2E"/>
                </a:solidFill>
                <a:latin typeface="Consolas"/>
              </a:rPr>
              <a:t>etiquette</a:t>
            </a:r>
            <a:r>
              <a:rPr sz="1350" b="0" i="0">
                <a:solidFill>
                  <a:srgbClr val="141B2E"/>
                </a:solidFill>
                <a:latin typeface="Arial"/>
              </a:rPr>
              <a:t> — добавлена строка: «После подключения любого MCP-сервера и после любого подозрения в тишине — явный именованный вызов сервера, прежде чем доверять зелёному статусу».</a:t>
            </a:r>
          </a:p>
        </p:txBody>
      </p:sp>
      <p:sp>
        <p:nvSpPr>
          <p:cNvPr id="6" name="Rounded Rectangle 5"/>
          <p:cNvSpPr/>
          <p:nvPr/>
        </p:nvSpPr>
        <p:spPr>
          <a:xfrm>
            <a:off x="502920" y="2932633"/>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306064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Это строка в файле, который уже есть, не новый артефакт — и она проверяется так же, как остальные правила этого проекта: прочитана, не исполняется сама.</a:t>
            </a:r>
          </a:p>
        </p:txBody>
      </p:sp>
      <p:sp>
        <p:nvSpPr>
          <p:cNvPr id="8" name="Rounded Rectangle 7"/>
          <p:cNvSpPr/>
          <p:nvPr/>
        </p:nvSpPr>
        <p:spPr>
          <a:xfrm>
            <a:off x="502920" y="4346905"/>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474921"/>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Почему именно CLAUDE.md, не хук.</a:t>
            </a:r>
            <a:r>
              <a:rPr sz="1500" b="1" i="0">
                <a:solidFill>
                  <a:srgbClr val="141B2E"/>
                </a:solidFill>
                <a:latin typeface="Arial"/>
              </a:rPr>
              <a:t> В прошлом занятии в этом же файле уже стояли оба вида правил рядом: «Repository etiquette» — записанное словами, читает человек или агент; «Хук защиты ветки» — код, который срабатывает сам на конкретное событие. Здесь правило снова первого вида: «подозрение в тишине» нельзя заранее описать как событие для хука — это решение принимает человек.</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Статус зелёный, а то, что обещано, — не то</a:t>
            </a:r>
          </a:p>
        </p:txBody>
      </p:sp>
      <p:sp>
        <p:nvSpPr>
          <p:cNvPr id="3" name="Rounded Rectangle 2"/>
          <p:cNvSpPr/>
          <p:nvPr/>
        </p:nvSpPr>
        <p:spPr>
          <a:xfrm>
            <a:off x="502920" y="1483334"/>
            <a:ext cx="11183112" cy="2620073"/>
          </a:xfrm>
          <a:prstGeom prst="roundRect">
            <a:avLst>
              <a:gd name="adj" fmla="val 1163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66214"/>
            <a:ext cx="109079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СЛОЙ</a:t>
            </a:r>
          </a:p>
        </p:txBody>
      </p:sp>
      <p:sp>
        <p:nvSpPr>
          <p:cNvPr id="5" name="TextBox 4"/>
          <p:cNvSpPr txBox="1"/>
          <p:nvPr/>
        </p:nvSpPr>
        <p:spPr>
          <a:xfrm>
            <a:off x="1922896" y="1666214"/>
            <a:ext cx="570962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ЭТО ЗНАЧИЛО ДЛЯ ТЕХ, КТО ЭТИМ ПОЛЬЗОВАЛСЯ</a:t>
            </a:r>
          </a:p>
        </p:txBody>
      </p:sp>
      <p:sp>
        <p:nvSpPr>
          <p:cNvPr id="6" name="TextBox 5"/>
          <p:cNvSpPr txBox="1"/>
          <p:nvPr/>
        </p:nvSpPr>
        <p:spPr>
          <a:xfrm>
            <a:off x="7778825" y="1666214"/>
            <a:ext cx="35780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КАК ЗАМЕТИЛИ</a:t>
            </a:r>
          </a:p>
        </p:txBody>
      </p:sp>
      <p:sp>
        <p:nvSpPr>
          <p:cNvPr id="7" name="TextBox 6"/>
          <p:cNvSpPr txBox="1"/>
          <p:nvPr/>
        </p:nvSpPr>
        <p:spPr>
          <a:xfrm>
            <a:off x="685800" y="1948281"/>
            <a:ext cx="109079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1 · сервер сам говорит неправду о своём режиме</a:t>
            </a:r>
          </a:p>
        </p:txBody>
      </p:sp>
      <p:sp>
        <p:nvSpPr>
          <p:cNvPr id="8" name="TextBox 7"/>
          <p:cNvSpPr txBox="1"/>
          <p:nvPr/>
        </p:nvSpPr>
        <p:spPr>
          <a:xfrm>
            <a:off x="1922896" y="1948281"/>
            <a:ext cx="5709624"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Команда была уверена, что работает с чужой базой данных в безопасном режиме только чтения — а соединение на деле позволяло менять данные. Сами разработчики сервера были уверены, что ограничение работает</a:t>
            </a:r>
          </a:p>
        </p:txBody>
      </p:sp>
      <p:sp>
        <p:nvSpPr>
          <p:cNvPr id="9" name="TextBox 8"/>
          <p:cNvSpPr txBox="1"/>
          <p:nvPr/>
        </p:nvSpPr>
        <p:spPr>
          <a:xfrm>
            <a:off x="7778825" y="1948281"/>
            <a:ext cx="357802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обнаружили только тогда, когда кто-то выполнил запрос с реальным побочным эффектом и увидел, что он прошёл — чтение настройки ничего не показывало</a:t>
            </a:r>
          </a:p>
        </p:txBody>
      </p:sp>
      <p:cxnSp>
        <p:nvCxnSpPr>
          <p:cNvPr id="10" name="Connector 9"/>
          <p:cNvCxnSpPr/>
          <p:nvPr/>
        </p:nvCxnSpPr>
        <p:spPr>
          <a:xfrm>
            <a:off x="685800" y="302568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025686"/>
            <a:ext cx="109079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2 · доступ пропадает тихо, статус жив</a:t>
            </a:r>
          </a:p>
        </p:txBody>
      </p:sp>
      <p:sp>
        <p:nvSpPr>
          <p:cNvPr id="12" name="TextBox 11"/>
          <p:cNvSpPr txBox="1"/>
          <p:nvPr/>
        </p:nvSpPr>
        <p:spPr>
          <a:xfrm>
            <a:off x="1922896" y="3025686"/>
            <a:ext cx="5709624"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Инструменты, которые ещё вчера работали, однажды перестали — без предупреждения, без красного статуса; </a:t>
            </a:r>
            <a:r>
              <a:rPr sz="1250" b="0" i="0">
                <a:solidFill>
                  <a:srgbClr val="141B2E"/>
                </a:solidFill>
                <a:latin typeface="Consolas"/>
              </a:rPr>
              <a:t>claude</a:t>
            </a:r>
            <a:r>
              <a:rPr sz="1250" b="0" i="0">
                <a:solidFill>
                  <a:srgbClr val="141B2E"/>
                </a:solidFill>
                <a:latin typeface="Arial"/>
              </a:rPr>
              <a:t> </a:t>
            </a:r>
            <a:r>
              <a:rPr sz="1250" b="0" i="0">
                <a:solidFill>
                  <a:srgbClr val="141B2E"/>
                </a:solidFill>
                <a:latin typeface="Consolas"/>
              </a:rPr>
              <a:t>mcp</a:t>
            </a:r>
            <a:r>
              <a:rPr sz="1250" b="0" i="0">
                <a:solidFill>
                  <a:srgbClr val="141B2E"/>
                </a:solidFill>
                <a:latin typeface="Arial"/>
              </a:rPr>
              <a:t> </a:t>
            </a:r>
            <a:r>
              <a:rPr sz="1250" b="0" i="0">
                <a:solidFill>
                  <a:srgbClr val="141B2E"/>
                </a:solidFill>
                <a:latin typeface="Consolas"/>
              </a:rPr>
              <a:t>list</a:t>
            </a:r>
            <a:r>
              <a:rPr sz="1250" b="0" i="0">
                <a:solidFill>
                  <a:srgbClr val="141B2E"/>
                </a:solidFill>
                <a:latin typeface="Arial"/>
              </a:rPr>
              <a:t> продолжал показывать «подключён»</a:t>
            </a:r>
          </a:p>
        </p:txBody>
      </p:sp>
      <p:sp>
        <p:nvSpPr>
          <p:cNvPr id="13" name="TextBox 12"/>
          <p:cNvSpPr txBox="1"/>
          <p:nvPr/>
        </p:nvSpPr>
        <p:spPr>
          <a:xfrm>
            <a:off x="7778825" y="3025686"/>
            <a:ext cx="3578022"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заметили по тому, что обычные вызовы начали требовать повторного входа, не по статусу подключения</a:t>
            </a:r>
          </a:p>
        </p:txBody>
      </p:sp>
      <p:sp>
        <p:nvSpPr>
          <p:cNvPr id="14" name="Rounded Rectangle 13"/>
          <p:cNvSpPr/>
          <p:nvPr/>
        </p:nvSpPr>
        <p:spPr>
          <a:xfrm>
            <a:off x="502920" y="4770920"/>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89893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Статус подключения и текст настройки говорят, каким соединение должно быть. Что оно делает на самом деле, показывает только реальное действие с наблюдаемым результатом.</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достаточно посмотреть на статус, а когда нужно вызвать самому</a:t>
            </a:r>
          </a:p>
        </p:txBody>
      </p:sp>
      <p:sp>
        <p:nvSpPr>
          <p:cNvPr id="3" name="Rounded Rectangle 2"/>
          <p:cNvSpPr/>
          <p:nvPr/>
        </p:nvSpPr>
        <p:spPr>
          <a:xfrm>
            <a:off x="502920" y="173446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86248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Мы научились проверять, что подключённое действительно работает. Следующий вопрос — что происходит с тем, что мы один раз уже одобрили.</a:t>
            </a:r>
          </a:p>
        </p:txBody>
      </p:sp>
      <p:sp>
        <p:nvSpPr>
          <p:cNvPr id="5" name="Rounded Rectangle 4"/>
          <p:cNvSpPr/>
          <p:nvPr/>
        </p:nvSpPr>
        <p:spPr>
          <a:xfrm>
            <a:off x="502920" y="3148736"/>
            <a:ext cx="5454396" cy="2556891"/>
          </a:xfrm>
          <a:prstGeom prst="roundRect">
            <a:avLst>
              <a:gd name="adj" fmla="val 1192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25846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ДОСТАТОЧНО ПОСМОТРЕТЬ НА СТАТУС</a:t>
            </a:r>
          </a:p>
        </p:txBody>
      </p:sp>
      <p:sp>
        <p:nvSpPr>
          <p:cNvPr id="7" name="TextBox 6"/>
          <p:cNvSpPr txBox="1"/>
          <p:nvPr/>
        </p:nvSpPr>
        <p:spPr>
          <a:xfrm>
            <a:off x="685800" y="3532784"/>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сервер используется нерегулярно</a:t>
            </a:r>
          </a:p>
        </p:txBody>
      </p:sp>
      <p:cxnSp>
        <p:nvCxnSpPr>
          <p:cNvPr id="8" name="Connector 7"/>
          <p:cNvCxnSpPr/>
          <p:nvPr/>
        </p:nvCxnSpPr>
        <p:spPr>
          <a:xfrm>
            <a:off x="685800" y="385142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851427"/>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каждый вызов — под наблюдением человека</a:t>
            </a:r>
          </a:p>
        </p:txBody>
      </p:sp>
      <p:sp>
        <p:nvSpPr>
          <p:cNvPr id="10" name="Rounded Rectangle 9"/>
          <p:cNvSpPr/>
          <p:nvPr/>
        </p:nvSpPr>
        <p:spPr>
          <a:xfrm>
            <a:off x="6231636" y="3148736"/>
            <a:ext cx="5454396" cy="2556891"/>
          </a:xfrm>
          <a:prstGeom prst="roundRect">
            <a:avLst>
              <a:gd name="adj" fmla="val 1192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4516" y="3258464"/>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НУЖНО ВЫЗВАТЬ САМОМУ — ИЛИ РЕШЕНИЕ НЕ ПОДКЛЮЧАТЬ ВОВСЕ</a:t>
            </a:r>
          </a:p>
        </p:txBody>
      </p:sp>
      <p:sp>
        <p:nvSpPr>
          <p:cNvPr id="12" name="TextBox 11"/>
          <p:cNvSpPr txBox="1"/>
          <p:nvPr/>
        </p:nvSpPr>
        <p:spPr>
          <a:xfrm>
            <a:off x="6414516" y="3532784"/>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доверять флагу, который сервер не может независимо подтвердить, — не нужно никогда: проверяйте явным вызовом</a:t>
            </a:r>
          </a:p>
        </p:txBody>
      </p:sp>
      <p:cxnSp>
        <p:nvCxnSpPr>
          <p:cNvPr id="13" name="Connector 12"/>
          <p:cNvCxnSpPr/>
          <p:nvPr/>
        </p:nvCxnSpPr>
        <p:spPr>
          <a:xfrm>
            <a:off x="6414516" y="402376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14516" y="4023766"/>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если для задачи хватило бы режима только чтения, а сервер не даёт способа убедиться, что он реально включён, — разумнее завести отдельную роль с урезанными правами на уровне самой базы данных</a:t>
            </a:r>
          </a:p>
        </p:txBody>
      </p:sp>
      <p:cxnSp>
        <p:nvCxnSpPr>
          <p:cNvPr id="15" name="Connector 14"/>
          <p:cNvCxnSpPr/>
          <p:nvPr/>
        </p:nvCxnSpPr>
        <p:spPr>
          <a:xfrm>
            <a:off x="6414516" y="485942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4859426"/>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явный вызов систематически не проходит и автор сервера не отвечает — вопрос смещается туда же, где решался первый кейс этого блока: подключать ли сервер вообще</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447544"/>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447544"/>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3</a:t>
            </a:r>
          </a:p>
        </p:txBody>
      </p:sp>
      <p:sp>
        <p:nvSpPr>
          <p:cNvPr id="7" name="TextBox 6"/>
          <p:cNvSpPr txBox="1"/>
          <p:nvPr/>
        </p:nvSpPr>
        <p:spPr>
          <a:xfrm>
            <a:off x="1536192" y="2341625"/>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Пятница. Он открывает описание — и читает не тот текст</a:t>
            </a:r>
          </a:p>
        </p:txBody>
      </p:sp>
      <p:sp>
        <p:nvSpPr>
          <p:cNvPr id="8" name="TextBox 7"/>
          <p:cNvSpPr txBox="1"/>
          <p:nvPr/>
        </p:nvSpPr>
        <p:spPr>
          <a:xfrm>
            <a:off x="822960" y="3559302"/>
            <a:ext cx="9509760" cy="1139952"/>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Настройку он не трогал ни разу. Текст, который он одобрил три недели назад, с тех пор заменили, и повторно его никто не спросил: разрешение выдано имени инструмента, а имя осталось прежним.</a:t>
            </a:r>
          </a:p>
        </p:txBody>
      </p:sp>
      <p:sp>
        <p:nvSpPr>
          <p:cNvPr id="9" name="Rounded Rectangle 8"/>
          <p:cNvSpPr/>
          <p:nvPr/>
        </p:nvSpPr>
        <p:spPr>
          <a:xfrm>
            <a:off x="502920"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9FAEC4"/>
                </a:solidFill>
                <a:latin typeface="Arial"/>
              </a:rPr>
              <a:t>Субагент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Тогда он прочитал одну строку. Теперь их три</a:t>
            </a:r>
          </a:p>
        </p:txBody>
      </p:sp>
      <p:sp>
        <p:nvSpPr>
          <p:cNvPr id="3" name="Rounded Rectangle 2"/>
          <p:cNvSpPr/>
          <p:nvPr/>
        </p:nvSpPr>
        <p:spPr>
          <a:xfrm>
            <a:off x="502920" y="110261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3063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Сервер уведомлений: сообщение в рабочий канал при каждом успешном прогоне тестов перед показом. Инструмент одобрен один раз, при первом вызове, три недели назад.</a:t>
            </a:r>
          </a:p>
        </p:txBody>
      </p:sp>
      <p:sp>
        <p:nvSpPr>
          <p:cNvPr id="5" name="Rounded Rectangle 4"/>
          <p:cNvSpPr/>
          <p:nvPr/>
        </p:nvSpPr>
        <p:spPr>
          <a:xfrm>
            <a:off x="502920" y="2412111"/>
            <a:ext cx="11183112" cy="2367153"/>
          </a:xfrm>
          <a:prstGeom prst="roundRect">
            <a:avLst>
              <a:gd name="adj" fmla="val 12876"/>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2746438"/>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631567"/>
            <a:ext cx="10360152" cy="330327"/>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Что он прочитал тогда.</a:t>
            </a:r>
            <a:r>
              <a:rPr sz="1350" b="0" i="0">
                <a:solidFill>
                  <a:srgbClr val="141B2E"/>
                </a:solidFill>
                <a:latin typeface="Arial"/>
              </a:rPr>
              <a:t> Одну строку: «отправляет короткое сообщение в рабочий канал».</a:t>
            </a:r>
          </a:p>
        </p:txBody>
      </p:sp>
      <p:sp>
        <p:nvSpPr>
          <p:cNvPr id="8" name="Rounded Rectangle 7"/>
          <p:cNvSpPr/>
          <p:nvPr/>
        </p:nvSpPr>
        <p:spPr>
          <a:xfrm>
            <a:off x="758952" y="3177920"/>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961894"/>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Пятница перед показом.</a:t>
            </a:r>
            <a:r>
              <a:rPr sz="1350" b="0" i="0">
                <a:solidFill>
                  <a:srgbClr val="141B2E"/>
                </a:solidFill>
                <a:latin typeface="Arial"/>
              </a:rPr>
              <a:t> Открывает описание, чтобы перенести формулировку в </a:t>
            </a:r>
            <a:r>
              <a:rPr sz="1350" b="0" i="0">
                <a:solidFill>
                  <a:srgbClr val="141B2E"/>
                </a:solidFill>
                <a:latin typeface="Consolas"/>
              </a:rPr>
              <a:t>DECISIONS.md</a:t>
            </a:r>
            <a:r>
              <a:rPr sz="1350" b="0" i="0">
                <a:solidFill>
                  <a:srgbClr val="141B2E"/>
                </a:solidFill>
                <a:latin typeface="Arial"/>
              </a:rPr>
              <a:t>. Строк теперь три. Третья: «прикладывает последние изменённые файлы, чтобы сообщение было информативным».</a:t>
            </a:r>
          </a:p>
        </p:txBody>
      </p:sp>
      <p:sp>
        <p:nvSpPr>
          <p:cNvPr id="10" name="Rounded Rectangle 9"/>
          <p:cNvSpPr/>
          <p:nvPr/>
        </p:nvSpPr>
        <p:spPr>
          <a:xfrm>
            <a:off x="758952" y="3710559"/>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494532"/>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Почему он не знал.</a:t>
            </a:r>
            <a:r>
              <a:rPr sz="1350" b="0" i="0">
                <a:solidFill>
                  <a:srgbClr val="141B2E"/>
                </a:solidFill>
                <a:latin typeface="Arial"/>
              </a:rPr>
              <a:t> Пакет подключён через </a:t>
            </a:r>
            <a:r>
              <a:rPr sz="1350" b="0" i="0">
                <a:solidFill>
                  <a:srgbClr val="141B2E"/>
                </a:solidFill>
                <a:latin typeface="Consolas"/>
              </a:rPr>
              <a:t>npx</a:t>
            </a:r>
            <a:r>
              <a:rPr sz="1350" b="0" i="0">
                <a:solidFill>
                  <a:srgbClr val="141B2E"/>
                </a:solidFill>
                <a:latin typeface="Arial"/>
              </a:rPr>
              <a:t> </a:t>
            </a:r>
            <a:r>
              <a:rPr sz="1350" b="0" i="0">
                <a:solidFill>
                  <a:srgbClr val="141B2E"/>
                </a:solidFill>
                <a:latin typeface="Arial"/>
              </a:rPr>
              <a:t>-y</a:t>
            </a:r>
            <a:r>
              <a:rPr sz="1350" b="0" i="0">
                <a:solidFill>
                  <a:srgbClr val="141B2E"/>
                </a:solidFill>
                <a:latin typeface="Arial"/>
              </a:rPr>
              <a:t>, без зафиксированной версии: при каждом старте забирается последняя. Уведомления всё это время приходили, как и раньше.</a:t>
            </a:r>
          </a:p>
        </p:txBody>
      </p:sp>
      <p:sp>
        <p:nvSpPr>
          <p:cNvPr id="12" name="Rounded Rectangle 11"/>
          <p:cNvSpPr/>
          <p:nvPr/>
        </p:nvSpPr>
        <p:spPr>
          <a:xfrm>
            <a:off x="758952" y="424319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06424" y="4027170"/>
            <a:ext cx="10360152" cy="532638"/>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Цена.</a:t>
            </a:r>
            <a:r>
              <a:rPr sz="1350" b="0" i="0">
                <a:solidFill>
                  <a:srgbClr val="141B2E"/>
                </a:solidFill>
                <a:latin typeface="Arial"/>
              </a:rPr>
              <a:t> Вечер пятницы ушёл на три недели истории канала: что из приватного репозитория туда уехало и что успел прочитать подрядчик, которого добавили в канал в прошлом месяце.</a:t>
            </a:r>
          </a:p>
        </p:txBody>
      </p:sp>
      <p:sp>
        <p:nvSpPr>
          <p:cNvPr id="14" name="Rounded Rectangle 13"/>
          <p:cNvSpPr/>
          <p:nvPr/>
        </p:nvSpPr>
        <p:spPr>
          <a:xfrm>
            <a:off x="502920" y="5342001"/>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470016"/>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За три недели — ни одного повторного запроса на разрешение. По устройству клиента его и не могло быть.</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Одобрили один раз. Что меняем в работе с этим?</a:t>
            </a:r>
          </a:p>
        </p:txBody>
      </p:sp>
      <p:sp>
        <p:nvSpPr>
          <p:cNvPr id="3" name="Rounded Rectangle 2"/>
          <p:cNvSpPr/>
          <p:nvPr/>
        </p:nvSpPr>
        <p:spPr>
          <a:xfrm>
            <a:off x="502920" y="2058314"/>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186330"/>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Что вы ставите первым шагом в работе с уже одобренными серверами — и что добавляете к этому следующим?</a:t>
            </a:r>
          </a:p>
        </p:txBody>
      </p:sp>
      <p:sp>
        <p:nvSpPr>
          <p:cNvPr id="5" name="Rounded Rectangle 4"/>
          <p:cNvSpPr/>
          <p:nvPr/>
        </p:nvSpPr>
        <p:spPr>
          <a:xfrm>
            <a:off x="502920" y="3548786"/>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548786"/>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ничего — одобрили один раз, вопрос решён</a:t>
            </a:r>
          </a:p>
        </p:txBody>
      </p:sp>
      <p:sp>
        <p:nvSpPr>
          <p:cNvPr id="7" name="Rounded Rectangle 6"/>
          <p:cNvSpPr/>
          <p:nvPr/>
        </p:nvSpPr>
        <p:spPr>
          <a:xfrm>
            <a:off x="2768803" y="3548786"/>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78531" y="3548786"/>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перечитывать описание инструмента при каждом обновлении</a:t>
            </a:r>
          </a:p>
        </p:txBody>
      </p:sp>
      <p:sp>
        <p:nvSpPr>
          <p:cNvPr id="9" name="Rounded Rectangle 8"/>
          <p:cNvSpPr/>
          <p:nvPr/>
        </p:nvSpPr>
        <p:spPr>
          <a:xfrm>
            <a:off x="5034686" y="3548786"/>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44414" y="3548786"/>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зафиксировать версию сервера</a:t>
            </a:r>
          </a:p>
        </p:txBody>
      </p:sp>
      <p:sp>
        <p:nvSpPr>
          <p:cNvPr id="11" name="Rounded Rectangle 10"/>
          <p:cNvSpPr/>
          <p:nvPr/>
        </p:nvSpPr>
        <p:spPr>
          <a:xfrm>
            <a:off x="7300569" y="3548786"/>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10297" y="3548786"/>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запретить автообновление пакета</a:t>
            </a:r>
          </a:p>
        </p:txBody>
      </p:sp>
      <p:sp>
        <p:nvSpPr>
          <p:cNvPr id="13" name="Rounded Rectangle 12"/>
          <p:cNvSpPr/>
          <p:nvPr/>
        </p:nvSpPr>
        <p:spPr>
          <a:xfrm>
            <a:off x="9566452" y="3548786"/>
            <a:ext cx="2119579" cy="1106424"/>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76180" y="3548786"/>
            <a:ext cx="1900123" cy="1106424"/>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сервер официальный — значит не обновляется тайно</a:t>
            </a:r>
          </a:p>
        </p:txBody>
      </p:sp>
      <p:sp>
        <p:nvSpPr>
          <p:cNvPr id="15" name="TextBox 1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Фиксация версии и перечитывание — последовательность</a:t>
            </a:r>
          </a:p>
        </p:txBody>
      </p:sp>
      <p:sp>
        <p:nvSpPr>
          <p:cNvPr id="3" name="Rounded Rectangle 2"/>
          <p:cNvSpPr/>
          <p:nvPr/>
        </p:nvSpPr>
        <p:spPr>
          <a:xfrm>
            <a:off x="502920" y="1319784"/>
            <a:ext cx="11183112" cy="3449383"/>
          </a:xfrm>
          <a:prstGeom prst="roundRect">
            <a:avLst>
              <a:gd name="adj" fmla="val 883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502664"/>
            <a:ext cx="1660204"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ВАРИАНТ</a:t>
            </a:r>
          </a:p>
        </p:txBody>
      </p:sp>
      <p:sp>
        <p:nvSpPr>
          <p:cNvPr id="5" name="TextBox 4"/>
          <p:cNvSpPr txBox="1"/>
          <p:nvPr/>
        </p:nvSpPr>
        <p:spPr>
          <a:xfrm>
            <a:off x="2492308" y="1502664"/>
            <a:ext cx="3659669"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ЧТО ДЕЛАЕТ</a:t>
            </a:r>
          </a:p>
        </p:txBody>
      </p:sp>
      <p:sp>
        <p:nvSpPr>
          <p:cNvPr id="6" name="TextBox 5"/>
          <p:cNvSpPr txBox="1"/>
          <p:nvPr/>
        </p:nvSpPr>
        <p:spPr>
          <a:xfrm>
            <a:off x="6298282" y="1502664"/>
            <a:ext cx="5058565" cy="267081"/>
          </a:xfrm>
          <a:prstGeom prst="rect">
            <a:avLst/>
          </a:prstGeom>
          <a:noFill/>
        </p:spPr>
        <p:txBody>
          <a:bodyPr wrap="square" lIns="0" rIns="0" tIns="0" bIns="0" anchor="t">
            <a:spAutoFit/>
          </a:bodyPr>
          <a:lstStyle/>
          <a:p>
            <a:pPr algn="l">
              <a:lnSpc>
                <a:spcPts val="1155"/>
              </a:lnSpc>
              <a:spcAft>
                <a:spcPts val="0"/>
              </a:spcAft>
            </a:pPr>
            <a:r>
              <a:rPr sz="1050" b="1" i="0">
                <a:solidFill>
                  <a:srgbClr val="6B7685"/>
                </a:solidFill>
                <a:latin typeface="Arial"/>
              </a:rPr>
              <a:t>ЧТО НЕ ДЕЛАЕТ / ОГРАНИЧЕНИЕ</a:t>
            </a:r>
          </a:p>
        </p:txBody>
      </p:sp>
      <p:sp>
        <p:nvSpPr>
          <p:cNvPr id="7" name="TextBox 6"/>
          <p:cNvSpPr txBox="1"/>
          <p:nvPr/>
        </p:nvSpPr>
        <p:spPr>
          <a:xfrm>
            <a:off x="685800" y="1769745"/>
            <a:ext cx="1660204" cy="47129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ничего — одобрили один раз</a:t>
            </a:r>
          </a:p>
        </p:txBody>
      </p:sp>
      <p:sp>
        <p:nvSpPr>
          <p:cNvPr id="8" name="TextBox 7"/>
          <p:cNvSpPr txBox="1"/>
          <p:nvPr/>
        </p:nvSpPr>
        <p:spPr>
          <a:xfrm>
            <a:off x="2492308" y="1769745"/>
            <a:ext cx="3659669" cy="47129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ничего не меняет в текущей настройке: сервер работает так же, как в день подключения</a:t>
            </a:r>
          </a:p>
        </p:txBody>
      </p:sp>
      <p:sp>
        <p:nvSpPr>
          <p:cNvPr id="9" name="TextBox 8"/>
          <p:cNvSpPr txBox="1"/>
          <p:nvPr/>
        </p:nvSpPr>
        <p:spPr>
          <a:xfrm>
            <a:off x="6298282" y="1769745"/>
            <a:ext cx="5058565" cy="47129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 замечает обновление вовсе — доверие держится по имени сервера, не по тексту описания: изменение проходит незамеченным</a:t>
            </a:r>
          </a:p>
        </p:txBody>
      </p:sp>
      <p:cxnSp>
        <p:nvCxnSpPr>
          <p:cNvPr id="10" name="Connector 9"/>
          <p:cNvCxnSpPr/>
          <p:nvPr/>
        </p:nvCxnSpPr>
        <p:spPr>
          <a:xfrm>
            <a:off x="685800" y="224104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241042"/>
            <a:ext cx="1660204"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сервер официальный — не обновляется тайно</a:t>
            </a:r>
          </a:p>
        </p:txBody>
      </p:sp>
      <p:sp>
        <p:nvSpPr>
          <p:cNvPr id="12" name="TextBox 11"/>
          <p:cNvSpPr txBox="1"/>
          <p:nvPr/>
        </p:nvSpPr>
        <p:spPr>
          <a:xfrm>
            <a:off x="2492308" y="2241042"/>
            <a:ext cx="3659669"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снижает вероятность злого умысла самого издателя</a:t>
            </a:r>
          </a:p>
        </p:txBody>
      </p:sp>
      <p:sp>
        <p:nvSpPr>
          <p:cNvPr id="13" name="TextBox 12"/>
          <p:cNvSpPr txBox="1"/>
          <p:nvPr/>
        </p:nvSpPr>
        <p:spPr>
          <a:xfrm>
            <a:off x="6298282" y="2241042"/>
            <a:ext cx="5058565"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 отменяет механики: легитимное обновление меняет текст описания тем же путём, каким его сменил бы злоумышленник</a:t>
            </a:r>
          </a:p>
        </p:txBody>
      </p:sp>
      <p:cxnSp>
        <p:nvCxnSpPr>
          <p:cNvPr id="14" name="Connector 13"/>
          <p:cNvCxnSpPr/>
          <p:nvPr/>
        </p:nvCxnSpPr>
        <p:spPr>
          <a:xfrm>
            <a:off x="685800" y="286569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865691"/>
            <a:ext cx="1660204"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запретить автообновление пакета</a:t>
            </a:r>
          </a:p>
        </p:txBody>
      </p:sp>
      <p:sp>
        <p:nvSpPr>
          <p:cNvPr id="16" name="TextBox 15"/>
          <p:cNvSpPr txBox="1"/>
          <p:nvPr/>
        </p:nvSpPr>
        <p:spPr>
          <a:xfrm>
            <a:off x="2492308" y="2865691"/>
            <a:ext cx="3659669"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закрывает канал целиком, если источник сервера зафиксирован</a:t>
            </a:r>
          </a:p>
        </p:txBody>
      </p:sp>
      <p:sp>
        <p:nvSpPr>
          <p:cNvPr id="17" name="TextBox 16"/>
          <p:cNvSpPr txBox="1"/>
          <p:nvPr/>
        </p:nvSpPr>
        <p:spPr>
          <a:xfrm>
            <a:off x="6298282" y="2865691"/>
            <a:ext cx="5058565"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 задаёт, какую версию держать, — это следующий шаг, не альтернатива ему</a:t>
            </a:r>
          </a:p>
        </p:txBody>
      </p:sp>
      <p:cxnSp>
        <p:nvCxnSpPr>
          <p:cNvPr id="18" name="Connector 17"/>
          <p:cNvCxnSpPr/>
          <p:nvPr/>
        </p:nvCxnSpPr>
        <p:spPr>
          <a:xfrm>
            <a:off x="685800" y="349034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490341"/>
            <a:ext cx="1660204" cy="47129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зафиксировать версию сервера</a:t>
            </a:r>
          </a:p>
        </p:txBody>
      </p:sp>
      <p:sp>
        <p:nvSpPr>
          <p:cNvPr id="20" name="TextBox 19"/>
          <p:cNvSpPr txBox="1"/>
          <p:nvPr/>
        </p:nvSpPr>
        <p:spPr>
          <a:xfrm>
            <a:off x="2492308" y="3490341"/>
            <a:ext cx="3659669" cy="47129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даёт контролируемую точку: обновление происходит по вашему решению, не само по себе</a:t>
            </a:r>
          </a:p>
        </p:txBody>
      </p:sp>
      <p:sp>
        <p:nvSpPr>
          <p:cNvPr id="21" name="TextBox 20"/>
          <p:cNvSpPr txBox="1"/>
          <p:nvPr/>
        </p:nvSpPr>
        <p:spPr>
          <a:xfrm>
            <a:off x="6298282" y="3490341"/>
            <a:ext cx="5058565" cy="471296"/>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не читает содержимое обновления — нужен отдельный шаг проверки, когда вы всё же обновляетесь</a:t>
            </a:r>
          </a:p>
        </p:txBody>
      </p:sp>
      <p:cxnSp>
        <p:nvCxnSpPr>
          <p:cNvPr id="22" name="Connector 21"/>
          <p:cNvCxnSpPr/>
          <p:nvPr/>
        </p:nvCxnSpPr>
        <p:spPr>
          <a:xfrm>
            <a:off x="685800" y="396163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61637"/>
            <a:ext cx="1660204"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перечитывать описание при каждом обновлении</a:t>
            </a:r>
          </a:p>
        </p:txBody>
      </p:sp>
      <p:sp>
        <p:nvSpPr>
          <p:cNvPr id="24" name="TextBox 23"/>
          <p:cNvSpPr txBox="1"/>
          <p:nvPr/>
        </p:nvSpPr>
        <p:spPr>
          <a:xfrm>
            <a:off x="2492308" y="3961637"/>
            <a:ext cx="3659669"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закрывает именно канал смены доверенного поведения — обновление больше не проходит незамеченным</a:t>
            </a:r>
          </a:p>
        </p:txBody>
      </p:sp>
      <p:sp>
        <p:nvSpPr>
          <p:cNvPr id="25" name="TextBox 24"/>
          <p:cNvSpPr txBox="1"/>
          <p:nvPr/>
        </p:nvSpPr>
        <p:spPr>
          <a:xfrm>
            <a:off x="6298282" y="3961637"/>
            <a:ext cx="5058565" cy="624649"/>
          </a:xfrm>
          <a:prstGeom prst="rect">
            <a:avLst/>
          </a:prstGeom>
          <a:noFill/>
        </p:spPr>
        <p:txBody>
          <a:bodyPr wrap="square" lIns="0" rIns="0" tIns="0" bIns="0" anchor="ctr">
            <a:spAutoFit/>
          </a:bodyPr>
          <a:lstStyle/>
          <a:p>
            <a:pPr algn="l">
              <a:lnSpc>
                <a:spcPts val="1207"/>
              </a:lnSpc>
              <a:spcAft>
                <a:spcPts val="0"/>
              </a:spcAft>
            </a:pPr>
            <a:r>
              <a:rPr sz="1050" b="0" i="0">
                <a:solidFill>
                  <a:srgbClr val="141B2E"/>
                </a:solidFill>
                <a:latin typeface="Arial"/>
              </a:rPr>
              <a:t>требует, чтобы обновление было вообще замечено — без фиксации версии узнать об обновлении нечем</a:t>
            </a:r>
          </a:p>
        </p:txBody>
      </p:sp>
      <p:sp>
        <p:nvSpPr>
          <p:cNvPr id="26" name="Rounded Rectangle 25"/>
          <p:cNvSpPr/>
          <p:nvPr/>
        </p:nvSpPr>
        <p:spPr>
          <a:xfrm>
            <a:off x="502920" y="4933759"/>
            <a:ext cx="82296" cy="88849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061775"/>
            <a:ext cx="10643616" cy="632460"/>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Из сочетания колонок:</a:t>
            </a:r>
            <a:r>
              <a:rPr sz="1300" b="1" i="0">
                <a:solidFill>
                  <a:srgbClr val="141B2E"/>
                </a:solidFill>
                <a:latin typeface="Arial"/>
              </a:rPr>
              <a:t> повторного вопроса не вернёт ни одна из пяти карточек — разрешение выдано имени, имя не менялось. Поэтому работают только две меры, и обе ваши: фиксация версии создаёт момент, когда вы узнаёте об обновлении, перечитывание говорит, что в этот момент прочитать. Это последовательность, не альтернатива.</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Доверие держится на имени, не на тексте описания</a:t>
            </a:r>
          </a:p>
        </p:txBody>
      </p:sp>
      <p:pic>
        <p:nvPicPr>
          <p:cNvPr id="3" name="Picture 2" descr="mcp-n31-tsepochka.png"/>
          <p:cNvPicPr>
            <a:picLocks noChangeAspect="1"/>
          </p:cNvPicPr>
          <p:nvPr/>
        </p:nvPicPr>
        <p:blipFill>
          <a:blip r:embed="rId2"/>
          <a:stretch>
            <a:fillRect/>
          </a:stretch>
        </p:blipFill>
        <p:spPr>
          <a:xfrm>
            <a:off x="502920" y="1934029"/>
            <a:ext cx="11183112" cy="2907609"/>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Версия зафиксирована. Проверка — записана</a:t>
            </a:r>
          </a:p>
        </p:txBody>
      </p:sp>
      <p:sp>
        <p:nvSpPr>
          <p:cNvPr id="3" name="Rounded Rectangle 2"/>
          <p:cNvSpPr/>
          <p:nvPr/>
        </p:nvSpPr>
        <p:spPr>
          <a:xfrm>
            <a:off x="502920" y="1929688"/>
            <a:ext cx="11183112" cy="1504188"/>
          </a:xfrm>
          <a:prstGeom prst="roundRect">
            <a:avLst>
              <a:gd name="adj" fmla="val 20263"/>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2365171"/>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2149144"/>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.mcp.json</a:t>
            </a:r>
            <a:r>
              <a:rPr sz="1350" b="0" i="0">
                <a:solidFill>
                  <a:srgbClr val="141B2E"/>
                </a:solidFill>
                <a:latin typeface="Arial"/>
              </a:rPr>
              <a:t>: версия пакета — прямо в команде запуска, </a:t>
            </a:r>
            <a:r>
              <a:rPr sz="1350" b="0" i="0">
                <a:solidFill>
                  <a:srgbClr val="141B2E"/>
                </a:solidFill>
                <a:latin typeface="Consolas"/>
              </a:rPr>
              <a:t>npx</a:t>
            </a:r>
            <a:r>
              <a:rPr sz="1350" b="0" i="0">
                <a:solidFill>
                  <a:srgbClr val="141B2E"/>
                </a:solidFill>
                <a:latin typeface="Arial"/>
              </a:rPr>
              <a:t> </a:t>
            </a:r>
            <a:r>
              <a:rPr sz="1350" b="0" i="0">
                <a:solidFill>
                  <a:srgbClr val="141B2E"/>
                </a:solidFill>
                <a:latin typeface="Arial"/>
              </a:rPr>
              <a:t>-y</a:t>
            </a:r>
            <a:r>
              <a:rPr sz="1350" b="0" i="0">
                <a:solidFill>
                  <a:srgbClr val="141B2E"/>
                </a:solidFill>
                <a:latin typeface="Arial"/>
              </a:rPr>
              <a:t> </a:t>
            </a:r>
            <a:r>
              <a:rPr sz="1350" b="0" i="0">
                <a:solidFill>
                  <a:srgbClr val="141B2E"/>
                </a:solidFill>
                <a:latin typeface="Consolas"/>
              </a:rPr>
              <a:t>@team/notify-mcp@2.3.1</a:t>
            </a:r>
            <a:r>
              <a:rPr sz="1350" b="0" i="0">
                <a:solidFill>
                  <a:srgbClr val="141B2E"/>
                </a:solidFill>
                <a:latin typeface="Arial"/>
              </a:rPr>
              <a:t>, вместо того чтобы подтягивать последнюю версию при каждом старте.</a:t>
            </a:r>
          </a:p>
        </p:txBody>
      </p:sp>
      <p:sp>
        <p:nvSpPr>
          <p:cNvPr id="6" name="Rounded Rectangle 5"/>
          <p:cNvSpPr/>
          <p:nvPr/>
        </p:nvSpPr>
        <p:spPr>
          <a:xfrm>
            <a:off x="758952" y="2897809"/>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2681782"/>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DECISIONS.md</a:t>
            </a:r>
            <a:r>
              <a:rPr sz="1350" b="0" i="0">
                <a:solidFill>
                  <a:srgbClr val="141B2E"/>
                </a:solidFill>
                <a:latin typeface="Arial"/>
              </a:rPr>
              <a:t>: дата, версия, кто проверил описание инструментов перед обновлением — туда же, куда в этом проекте уже уходят архитектурные решения. Та самая запись, ради которой он в пятницу и открыл описание.</a:t>
            </a:r>
          </a:p>
        </p:txBody>
      </p:sp>
      <p:sp>
        <p:nvSpPr>
          <p:cNvPr id="8" name="Rounded Rectangle 7"/>
          <p:cNvSpPr/>
          <p:nvPr/>
        </p:nvSpPr>
        <p:spPr>
          <a:xfrm>
            <a:off x="502920" y="4101388"/>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4229404"/>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Конфигурация показывает, какая версия стоит сейчас. Запись в файле решений показывает, что было проверено в момент перехода на неё — и исчезает, если её не записать отдельно.</a:t>
            </a:r>
          </a:p>
        </p:txBody>
      </p:sp>
      <p:sp>
        <p:nvSpPr>
          <p:cNvPr id="10" name="TextBox 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Восемь из восьми, три вызова в запасе, полторы недели тишины</a:t>
            </a:r>
          </a:p>
        </p:txBody>
      </p:sp>
      <p:sp>
        <p:nvSpPr>
          <p:cNvPr id="3" name="Rounded Rectangle 2"/>
          <p:cNvSpPr/>
          <p:nvPr/>
        </p:nvSpPr>
        <p:spPr>
          <a:xfrm>
            <a:off x="502920" y="1537868"/>
            <a:ext cx="11183112" cy="3048381"/>
          </a:xfrm>
          <a:prstGeom prst="roundRect">
            <a:avLst>
              <a:gd name="adj" fmla="val 999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757324"/>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757324"/>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Юникод-сокрытие, 8 из 8.</a:t>
            </a:r>
            <a:r>
              <a:rPr sz="1350" b="0" i="0">
                <a:solidFill>
                  <a:srgbClr val="141B2E"/>
                </a:solidFill>
                <a:latin typeface="Arial"/>
              </a:rPr>
              <a:t> Невидимые человеку юникод-символы спрятали инструкцию в описании инструмента (Rashidi, arXiv:2607.05744) — модель получала её в 8 из 8 попыток, ни разу не включив повторное одобрение. Узнали по контролируемому эксперименту: фильтр по тексту описания дал 0 ложных срабатываний на 25 безобидных описаниях — фильтр здесь ни при чём, подводит сама архитектура доверия по имени.</a:t>
            </a:r>
          </a:p>
        </p:txBody>
      </p:sp>
      <p:sp>
        <p:nvSpPr>
          <p:cNvPr id="6" name="TextBox 5"/>
          <p:cNvSpPr txBox="1"/>
          <p:nvPr/>
        </p:nvSpPr>
        <p:spPr>
          <a:xfrm>
            <a:off x="722376" y="2694584"/>
            <a:ext cx="329184" cy="93725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2694584"/>
            <a:ext cx="10360152" cy="93725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Arial"/>
              </a:rPr>
              <a:t>Кампания Deadbugz, три вызова в запасе.</a:t>
            </a:r>
            <a:r>
              <a:rPr sz="1350" b="0" i="0">
                <a:solidFill>
                  <a:srgbClr val="141B2E"/>
                </a:solidFill>
                <a:latin typeface="Arial"/>
              </a:rPr>
              <a:t> Сервер, распространённый через 23 правки на GitHub за 74 минуты, вёл себя безобидно ровно три вызова — и только потом начинал искать SSH-ключи и учётные данные. Нашли исследователи безопасности, разбирая опубликованные серверы, не команда, которая его поставила: порог в три вызова рассчитан именно на то, чтобы пройти обычную проверку «попробовал — работает».</a:t>
            </a:r>
          </a:p>
        </p:txBody>
      </p:sp>
      <p:sp>
        <p:nvSpPr>
          <p:cNvPr id="8" name="TextBox 7"/>
          <p:cNvSpPr txBox="1"/>
          <p:nvPr/>
        </p:nvSpPr>
        <p:spPr>
          <a:xfrm>
            <a:off x="722376" y="3631844"/>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3631844"/>
            <a:ext cx="10360152" cy="734949"/>
          </a:xfrm>
          <a:prstGeom prst="rect">
            <a:avLst/>
          </a:prstGeom>
          <a:noFill/>
        </p:spPr>
        <p:txBody>
          <a:bodyPr wrap="square" lIns="0" rIns="0" tIns="0" bIns="0" anchor="ctr">
            <a:spAutoFit/>
          </a:bodyPr>
          <a:lstStyle/>
          <a:p>
            <a:pPr algn="l">
              <a:lnSpc>
                <a:spcPts val="1593"/>
              </a:lnSpc>
              <a:spcAft>
                <a:spcPts val="0"/>
              </a:spcAft>
            </a:pPr>
            <a:r>
              <a:rPr sz="1350" b="1" i="0">
                <a:solidFill>
                  <a:srgbClr val="141B2E"/>
                </a:solidFill>
                <a:latin typeface="Consolas"/>
              </a:rPr>
              <a:t>postmark-mcp</a:t>
            </a:r>
            <a:r>
              <a:rPr sz="1350" b="1" i="0">
                <a:solidFill>
                  <a:srgbClr val="141B2E"/>
                </a:solidFill>
                <a:latin typeface="Arial"/>
              </a:rPr>
              <a:t>, полторы недели тишины.</a:t>
            </a:r>
            <a:r>
              <a:rPr sz="1350" b="0" i="0">
                <a:solidFill>
                  <a:srgbClr val="141B2E"/>
                </a:solidFill>
                <a:latin typeface="Arial"/>
              </a:rPr>
              <a:t> Уже одобренный пакет получил вредоносный код при обычном обновлении: каждое отправленное письмо тайно копировалось на адрес атакующего. Около полутора недель (17–29.09.2025) это оставалось незамеченным — заметили саму рассылку, после чего пакет сняли с npm.</a:t>
            </a:r>
          </a:p>
        </p:txBody>
      </p:sp>
      <p:sp>
        <p:nvSpPr>
          <p:cNvPr id="10" name="Rounded Rectangle 9"/>
          <p:cNvSpPr/>
          <p:nvPr/>
        </p:nvSpPr>
        <p:spPr>
          <a:xfrm>
            <a:off x="502920" y="5253761"/>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381777"/>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Фиксируйте версию сервера. Перечитывайте описание при обновлении. Повторно вас не спросят — заметить подмену можете только вы сами.</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До каких пор действует старое одобрение</a:t>
            </a:r>
          </a:p>
        </p:txBody>
      </p:sp>
      <p:sp>
        <p:nvSpPr>
          <p:cNvPr id="3" name="Rounded Rectangle 2"/>
          <p:cNvSpPr/>
          <p:nvPr/>
        </p:nvSpPr>
        <p:spPr>
          <a:xfrm>
            <a:off x="502920" y="1052169"/>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80185"/>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 конфигурации теперь пять файлов: к четырём, с которых мы начали занятие, добавился </a:t>
            </a:r>
            <a:r>
              <a:rPr sz="1500" b="1" i="0">
                <a:solidFill>
                  <a:srgbClr val="141B2E"/>
                </a:solidFill>
                <a:latin typeface="Consolas"/>
              </a:rPr>
              <a:t>.mcp.json</a:t>
            </a:r>
            <a:r>
              <a:rPr sz="1500" b="1" i="0">
                <a:solidFill>
                  <a:srgbClr val="141B2E"/>
                </a:solidFill>
                <a:latin typeface="Arial"/>
              </a:rPr>
              <a:t>. Он и дал агенту руки — агент дотягивается до внешней системы, под правами, которые мы вычеркнули сами, и с проверкой, которую мы теперь умеем делать. Чем больше агент может сделать сам, тем острее следующий вопрос: одна и та же роль повторяется из сессии в сессию, или в каждой сессии её приходится объяснять заново?</a:t>
            </a:r>
          </a:p>
        </p:txBody>
      </p:sp>
      <p:sp>
        <p:nvSpPr>
          <p:cNvPr id="5" name="Rounded Rectangle 4"/>
          <p:cNvSpPr/>
          <p:nvPr/>
        </p:nvSpPr>
        <p:spPr>
          <a:xfrm>
            <a:off x="502920" y="2944215"/>
            <a:ext cx="5454396" cy="3220212"/>
          </a:xfrm>
          <a:prstGeom prst="roundRect">
            <a:avLst>
              <a:gd name="adj" fmla="val 9465"/>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05394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ДОСТАТОЧНО ПЕРИОДИЧЕСКОГО ВНИМАНИЯ</a:t>
            </a:r>
          </a:p>
        </p:txBody>
      </p:sp>
      <p:sp>
        <p:nvSpPr>
          <p:cNvPr id="7" name="TextBox 6"/>
          <p:cNvSpPr txBox="1"/>
          <p:nvPr/>
        </p:nvSpPr>
        <p:spPr>
          <a:xfrm>
            <a:off x="685800" y="3328263"/>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сервер не обновляется автоматически</a:t>
            </a:r>
          </a:p>
        </p:txBody>
      </p:sp>
      <p:cxnSp>
        <p:nvCxnSpPr>
          <p:cNvPr id="8" name="Connector 7"/>
          <p:cNvCxnSpPr/>
          <p:nvPr/>
        </p:nvCxnSpPr>
        <p:spPr>
          <a:xfrm>
            <a:off x="685800" y="364690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646906"/>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версия зафиксирована</a:t>
            </a:r>
          </a:p>
        </p:txBody>
      </p:sp>
      <p:cxnSp>
        <p:nvCxnSpPr>
          <p:cNvPr id="10" name="Connector 9"/>
          <p:cNvCxnSpPr/>
          <p:nvPr/>
        </p:nvCxnSpPr>
        <p:spPr>
          <a:xfrm>
            <a:off x="685800" y="3965549"/>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965549"/>
            <a:ext cx="5088636" cy="31864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обновление — ваше явное решение</a:t>
            </a:r>
          </a:p>
        </p:txBody>
      </p:sp>
      <p:sp>
        <p:nvSpPr>
          <p:cNvPr id="12" name="Rounded Rectangle 11"/>
          <p:cNvSpPr/>
          <p:nvPr/>
        </p:nvSpPr>
        <p:spPr>
          <a:xfrm>
            <a:off x="6231636" y="2944215"/>
            <a:ext cx="5454396" cy="3220212"/>
          </a:xfrm>
          <a:prstGeom prst="roundRect">
            <a:avLst>
              <a:gd name="adj" fmla="val 9465"/>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305394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НЕ НУЖНО НИКОГДА</a:t>
            </a:r>
          </a:p>
        </p:txBody>
      </p:sp>
      <p:sp>
        <p:nvSpPr>
          <p:cNvPr id="14" name="TextBox 13"/>
          <p:cNvSpPr txBox="1"/>
          <p:nvPr/>
        </p:nvSpPr>
        <p:spPr>
          <a:xfrm>
            <a:off x="6414516" y="332826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полагаться на «одобрили один раз» как на постоянную гарантию</a:t>
            </a:r>
          </a:p>
        </p:txBody>
      </p:sp>
      <p:cxnSp>
        <p:nvCxnSpPr>
          <p:cNvPr id="15" name="Connector 14"/>
          <p:cNvCxnSpPr/>
          <p:nvPr/>
        </p:nvCxnSpPr>
        <p:spPr>
          <a:xfrm>
            <a:off x="6414516" y="381924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3819245"/>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держать дисциплиной действие, которое требует подтверждения на каждом вызове: для этого нужна аннотация </a:t>
            </a:r>
            <a:r>
              <a:rPr sz="1150" b="0" i="0">
                <a:solidFill>
                  <a:srgbClr val="141B2E"/>
                </a:solidFill>
                <a:latin typeface="Consolas"/>
              </a:rPr>
              <a:t>requiresUserInteraction</a:t>
            </a:r>
            <a:r>
              <a:rPr sz="1150" b="0" i="0">
                <a:solidFill>
                  <a:srgbClr val="141B2E"/>
                </a:solidFill>
                <a:latin typeface="Arial"/>
              </a:rPr>
              <a:t> у автора сервера</a:t>
            </a:r>
          </a:p>
        </p:txBody>
      </p:sp>
      <p:cxnSp>
        <p:nvCxnSpPr>
          <p:cNvPr id="17" name="Connector 16"/>
          <p:cNvCxnSpPr/>
          <p:nvPr/>
        </p:nvCxnSpPr>
        <p:spPr>
          <a:xfrm>
            <a:off x="6414516" y="448256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4482566"/>
            <a:ext cx="5088636" cy="835660"/>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считать себя защищённым, если автор сервера аннотацию не поставил: технического принуждения к повторному одобрению тогда не существует вовсе — только дисциплина версии и перечитывания</a:t>
            </a:r>
          </a:p>
        </p:txBody>
      </p:sp>
      <p:cxnSp>
        <p:nvCxnSpPr>
          <p:cNvPr id="19" name="Connector 18"/>
          <p:cNvCxnSpPr/>
          <p:nvPr/>
        </p:nvCxnSpPr>
        <p:spPr>
          <a:xfrm>
            <a:off x="6414516" y="5318226"/>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14516" y="5318226"/>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оставлять шаг в автоматизации, если и дисциплины, и аннотации всё равно недостаточно для его чувствительности — такое действие выполняет человек</a:t>
            </a:r>
          </a:p>
        </p:txBody>
      </p:sp>
      <p:sp>
        <p:nvSpPr>
          <p:cNvPr id="21" name="TextBox 20"/>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590038"/>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590038"/>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4</a:t>
            </a:r>
          </a:p>
        </p:txBody>
      </p:sp>
      <p:sp>
        <p:nvSpPr>
          <p:cNvPr id="7" name="TextBox 6"/>
          <p:cNvSpPr txBox="1"/>
          <p:nvPr/>
        </p:nvSpPr>
        <p:spPr>
          <a:xfrm>
            <a:off x="1536192" y="2484120"/>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Сорок файлов ради ответа в одно слово</a:t>
            </a:r>
          </a:p>
        </p:txBody>
      </p:sp>
      <p:sp>
        <p:nvSpPr>
          <p:cNvPr id="8" name="TextBox 7"/>
          <p:cNvSpPr txBox="1"/>
          <p:nvPr/>
        </p:nvSpPr>
        <p:spPr>
          <a:xfrm>
            <a:off x="822960" y="3701796"/>
            <a:ext cx="9509760" cy="854964"/>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Ответ — одна строка. Чтобы сказать её честно, нужно открыть сорок файлов, и правка, ради которой открыли сессию, всё ещё ждёт.</a:t>
            </a:r>
          </a:p>
        </p:txBody>
      </p:sp>
      <p:sp>
        <p:nvSpPr>
          <p:cNvPr id="9" name="Rounded Rectangle 8"/>
          <p:cNvSpPr/>
          <p:nvPr/>
        </p:nvSpPr>
        <p:spPr>
          <a:xfrm>
            <a:off x="502920" y="5989320"/>
            <a:ext cx="5500116"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Субагент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Процесс, контекстное окно, список инструментов</a:t>
            </a:r>
          </a:p>
        </p:txBody>
      </p:sp>
      <p:sp>
        <p:nvSpPr>
          <p:cNvPr id="3" name="Rectangle 2"/>
          <p:cNvSpPr/>
          <p:nvPr/>
        </p:nvSpPr>
        <p:spPr>
          <a:xfrm>
            <a:off x="502920" y="1049178"/>
            <a:ext cx="5381244" cy="4572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304788" y="1049178"/>
            <a:ext cx="5381244" cy="4572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77194"/>
            <a:ext cx="5381244" cy="256032"/>
          </a:xfrm>
          <a:prstGeom prst="rect">
            <a:avLst/>
          </a:prstGeom>
          <a:noFill/>
        </p:spPr>
        <p:txBody>
          <a:bodyPr wrap="square" lIns="0" rIns="0" tIns="0" bIns="0" anchor="t">
            <a:spAutoFit/>
          </a:bodyPr>
          <a:lstStyle/>
          <a:p>
            <a:pPr algn="l">
              <a:lnSpc>
                <a:spcPts val="1356"/>
              </a:lnSpc>
              <a:spcAft>
                <a:spcPts val="0"/>
              </a:spcAft>
            </a:pPr>
            <a:r>
              <a:rPr sz="1150" b="1" i="0">
                <a:solidFill>
                  <a:srgbClr val="065A82"/>
                </a:solidFill>
                <a:latin typeface="Arial"/>
              </a:rPr>
              <a:t>БАЗА</a:t>
            </a:r>
          </a:p>
        </p:txBody>
      </p:sp>
      <p:sp>
        <p:nvSpPr>
          <p:cNvPr id="6" name="TextBox 5"/>
          <p:cNvSpPr txBox="1"/>
          <p:nvPr/>
        </p:nvSpPr>
        <p:spPr>
          <a:xfrm>
            <a:off x="6304788" y="1177194"/>
            <a:ext cx="5381244" cy="256032"/>
          </a:xfrm>
          <a:prstGeom prst="rect">
            <a:avLst/>
          </a:prstGeom>
          <a:noFill/>
        </p:spPr>
        <p:txBody>
          <a:bodyPr wrap="square" lIns="0" rIns="0" tIns="0" bIns="0" anchor="t">
            <a:spAutoFit/>
          </a:bodyPr>
          <a:lstStyle/>
          <a:p>
            <a:pPr algn="l">
              <a:lnSpc>
                <a:spcPts val="1356"/>
              </a:lnSpc>
              <a:spcAft>
                <a:spcPts val="0"/>
              </a:spcAft>
            </a:pPr>
            <a:r>
              <a:rPr sz="1150" b="1" i="0">
                <a:solidFill>
                  <a:srgbClr val="8A6200"/>
                </a:solidFill>
                <a:latin typeface="Arial"/>
              </a:rPr>
              <a:t>ЧТО РЕШАЕТ ИСХОД</a:t>
            </a:r>
          </a:p>
        </p:txBody>
      </p:sp>
      <p:sp>
        <p:nvSpPr>
          <p:cNvPr id="7" name="Rectangle 6"/>
          <p:cNvSpPr/>
          <p:nvPr/>
        </p:nvSpPr>
        <p:spPr>
          <a:xfrm>
            <a:off x="6090818" y="1049178"/>
            <a:ext cx="7315" cy="3915155"/>
          </a:xfrm>
          <a:prstGeom prst="rect">
            <a:avLst/>
          </a:prstGeom>
          <a:solidFill>
            <a:srgbClr val="E5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48756" y="1049178"/>
            <a:ext cx="91440" cy="9144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61242"/>
            <a:ext cx="5381244" cy="3403092"/>
          </a:xfrm>
          <a:prstGeom prst="rect">
            <a:avLst/>
          </a:prstGeom>
          <a:noFill/>
        </p:spPr>
        <p:txBody>
          <a:bodyPr wrap="square" lIns="0" rIns="0" tIns="0" bIns="0" anchor="t">
            <a:spAutoFit/>
          </a:bodyPr>
          <a:lstStyle/>
          <a:p>
            <a:pPr algn="l">
              <a:lnSpc>
                <a:spcPts val="2340"/>
              </a:lnSpc>
              <a:spcAft>
                <a:spcPts val="600"/>
              </a:spcAft>
            </a:pPr>
            <a:r>
              <a:rPr sz="1800" b="0" i="0">
                <a:solidFill>
                  <a:srgbClr val="141B2E"/>
                </a:solidFill>
                <a:latin typeface="Arial"/>
              </a:rPr>
              <a:t>Субагент — отдельный процесс со своим контекстным окном, вызываемый на одну задачу.</a:t>
            </a:r>
          </a:p>
          <a:p>
            <a:pPr algn="l">
              <a:lnSpc>
                <a:spcPts val="2340"/>
              </a:lnSpc>
              <a:spcAft>
                <a:spcPts val="600"/>
              </a:spcAft>
            </a:pPr>
            <a:r>
              <a:rPr sz="1800" b="0" i="0">
                <a:solidFill>
                  <a:srgbClr val="141B2E"/>
                </a:solidFill>
                <a:latin typeface="Arial"/>
              </a:rPr>
              <a:t>Задача приходит текстом, роль возвращает родителю только итог.</a:t>
            </a:r>
          </a:p>
          <a:p>
            <a:pPr algn="l">
              <a:lnSpc>
                <a:spcPts val="2340"/>
              </a:lnSpc>
              <a:spcAft>
                <a:spcPts val="600"/>
              </a:spcAft>
            </a:pPr>
            <a:r>
              <a:rPr sz="1800" b="0" i="0">
                <a:solidFill>
                  <a:srgbClr val="141B2E"/>
                </a:solidFill>
                <a:latin typeface="Arial"/>
              </a:rPr>
              <a:t>Список инструментов определяет, что роль может сделать физически.</a:t>
            </a:r>
          </a:p>
        </p:txBody>
      </p:sp>
      <p:sp>
        <p:nvSpPr>
          <p:cNvPr id="10" name="TextBox 9"/>
          <p:cNvSpPr txBox="1"/>
          <p:nvPr/>
        </p:nvSpPr>
        <p:spPr>
          <a:xfrm>
            <a:off x="6304788" y="1561242"/>
            <a:ext cx="5381244" cy="2827020"/>
          </a:xfrm>
          <a:prstGeom prst="rect">
            <a:avLst/>
          </a:prstGeom>
          <a:noFill/>
        </p:spPr>
        <p:txBody>
          <a:bodyPr wrap="square" lIns="0" rIns="0" tIns="0" bIns="0" anchor="t">
            <a:spAutoFit/>
          </a:bodyPr>
          <a:lstStyle/>
          <a:p>
            <a:pPr algn="l">
              <a:lnSpc>
                <a:spcPts val="2340"/>
              </a:lnSpc>
              <a:spcAft>
                <a:spcPts val="600"/>
              </a:spcAft>
            </a:pPr>
            <a:r>
              <a:rPr sz="1800" b="0" i="0">
                <a:solidFill>
                  <a:srgbClr val="141B2E"/>
                </a:solidFill>
                <a:latin typeface="Arial"/>
              </a:rPr>
              <a:t>Вызывает его по имени явно либо модель выбирает сама по описанию — решает описание роли, не её название.</a:t>
            </a:r>
          </a:p>
          <a:p>
            <a:pPr algn="l">
              <a:lnSpc>
                <a:spcPts val="2340"/>
              </a:lnSpc>
              <a:spcAft>
                <a:spcPts val="600"/>
              </a:spcAft>
            </a:pPr>
            <a:r>
              <a:rPr sz="1800" b="0" i="0">
                <a:solidFill>
                  <a:srgbClr val="141B2E"/>
                </a:solidFill>
                <a:latin typeface="Arial"/>
              </a:rPr>
              <a:t>Промежуточных действий родитель не видит: ни какие файлы открыты, ни какие запросы сделаны.</a:t>
            </a:r>
          </a:p>
          <a:p>
            <a:pPr algn="l">
              <a:lnSpc>
                <a:spcPts val="2340"/>
              </a:lnSpc>
              <a:spcAft>
                <a:spcPts val="600"/>
              </a:spcAft>
            </a:pPr>
            <a:r>
              <a:rPr sz="1800" b="0" i="0">
                <a:solidFill>
                  <a:srgbClr val="141B2E"/>
                </a:solidFill>
                <a:latin typeface="Arial"/>
              </a:rPr>
              <a:t>Если список не указан вовсе, роль получает все инструменты, доступные субагентам, без исключений.</a:t>
            </a:r>
          </a:p>
        </p:txBody>
      </p:sp>
      <p:sp>
        <p:nvSpPr>
          <p:cNvPr id="11" name="Rounded Rectangle 10"/>
          <p:cNvSpPr/>
          <p:nvPr/>
        </p:nvSpPr>
        <p:spPr>
          <a:xfrm>
            <a:off x="502920" y="4031646"/>
            <a:ext cx="1262066"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031646"/>
            <a:ext cx="1262066" cy="402336"/>
          </a:xfrm>
          <a:prstGeom prst="rect">
            <a:avLst/>
          </a:prstGeom>
          <a:noFill/>
        </p:spPr>
        <p:txBody>
          <a:bodyPr wrap="square" lIns="0" rIns="0" tIns="0" bIns="0" anchor="ctr">
            <a:spAutoFit/>
          </a:bodyPr>
          <a:lstStyle/>
          <a:p>
            <a:pPr algn="ctr">
              <a:lnSpc>
                <a:spcPts val="1475"/>
              </a:lnSpc>
              <a:spcAft>
                <a:spcPts val="0"/>
              </a:spcAft>
            </a:pPr>
            <a:r>
              <a:rPr sz="1250" b="1" i="0">
                <a:solidFill>
                  <a:srgbClr val="065A82"/>
                </a:solidFill>
                <a:latin typeface="Arial"/>
              </a:rPr>
              <a:t>описание</a:t>
            </a:r>
          </a:p>
        </p:txBody>
      </p:sp>
      <p:sp>
        <p:nvSpPr>
          <p:cNvPr id="13" name="Rounded Rectangle 12"/>
          <p:cNvSpPr/>
          <p:nvPr/>
        </p:nvSpPr>
        <p:spPr>
          <a:xfrm>
            <a:off x="1893002" y="4031646"/>
            <a:ext cx="2039544"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93002" y="4031646"/>
            <a:ext cx="2039544" cy="402336"/>
          </a:xfrm>
          <a:prstGeom prst="rect">
            <a:avLst/>
          </a:prstGeom>
          <a:noFill/>
        </p:spPr>
        <p:txBody>
          <a:bodyPr wrap="square" lIns="0" rIns="0" tIns="0" bIns="0" anchor="ctr">
            <a:spAutoFit/>
          </a:bodyPr>
          <a:lstStyle/>
          <a:p>
            <a:pPr algn="ctr">
              <a:lnSpc>
                <a:spcPts val="1475"/>
              </a:lnSpc>
              <a:spcAft>
                <a:spcPts val="0"/>
              </a:spcAft>
            </a:pPr>
            <a:r>
              <a:rPr sz="1250" b="1" i="0">
                <a:solidFill>
                  <a:srgbClr val="065A82"/>
                </a:solidFill>
                <a:latin typeface="Arial"/>
              </a:rPr>
              <a:t>контекстное окно</a:t>
            </a:r>
          </a:p>
        </p:txBody>
      </p:sp>
      <p:sp>
        <p:nvSpPr>
          <p:cNvPr id="15" name="Rounded Rectangle 14"/>
          <p:cNvSpPr/>
          <p:nvPr/>
        </p:nvSpPr>
        <p:spPr>
          <a:xfrm>
            <a:off x="502920" y="4561998"/>
            <a:ext cx="2356350" cy="402336"/>
          </a:xfrm>
          <a:prstGeom prst="roundRect">
            <a:avLst>
              <a:gd name="adj" fmla="val 25000"/>
            </a:avLst>
          </a:prstGeom>
          <a:solidFill>
            <a:srgbClr val="E0F1F2"/>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561998"/>
            <a:ext cx="2356350" cy="402336"/>
          </a:xfrm>
          <a:prstGeom prst="rect">
            <a:avLst/>
          </a:prstGeom>
          <a:noFill/>
        </p:spPr>
        <p:txBody>
          <a:bodyPr wrap="square" lIns="0" rIns="0" tIns="0" bIns="0" anchor="ctr">
            <a:spAutoFit/>
          </a:bodyPr>
          <a:lstStyle/>
          <a:p>
            <a:pPr algn="ctr">
              <a:lnSpc>
                <a:spcPts val="1475"/>
              </a:lnSpc>
              <a:spcAft>
                <a:spcPts val="0"/>
              </a:spcAft>
            </a:pPr>
            <a:r>
              <a:rPr sz="1250" b="1" i="0">
                <a:solidFill>
                  <a:srgbClr val="065A82"/>
                </a:solidFill>
                <a:latin typeface="Arial"/>
              </a:rPr>
              <a:t>список инструментов</a:t>
            </a:r>
          </a:p>
        </p:txBody>
      </p:sp>
      <p:sp>
        <p:nvSpPr>
          <p:cNvPr id="17" name="Rounded Rectangle 16"/>
          <p:cNvSpPr/>
          <p:nvPr/>
        </p:nvSpPr>
        <p:spPr>
          <a:xfrm>
            <a:off x="502920" y="5340572"/>
            <a:ext cx="11183112" cy="881253"/>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 y="5395436"/>
            <a:ext cx="64008" cy="771525"/>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477732"/>
            <a:ext cx="10643616" cy="606933"/>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Переносимость, фактом: приём — отдельная роль со своим контекстным окном — есть у нескольких продуктов для работы с кодом. Запись расходится: где-то это markdown с инструкцией телом файла, у одного — формат с отдельным полем инструкции. Общей спецификации нет ни у одного.</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Роль целиком, одним экраном</a:t>
            </a:r>
          </a:p>
        </p:txBody>
      </p:sp>
      <p:pic>
        <p:nvPicPr>
          <p:cNvPr id="3" name="Picture 2" descr="subagent-n37-rol-tselikom.png"/>
          <p:cNvPicPr>
            <a:picLocks noChangeAspect="1"/>
          </p:cNvPicPr>
          <p:nvPr/>
        </p:nvPicPr>
        <p:blipFill>
          <a:blip r:embed="rId2"/>
          <a:stretch>
            <a:fillRect/>
          </a:stretch>
        </p:blipFill>
        <p:spPr>
          <a:xfrm>
            <a:off x="502920" y="972281"/>
            <a:ext cx="11183112" cy="5311978"/>
          </a:xfrm>
          <a:prstGeom prst="rect">
            <a:avLst/>
          </a:prstGeom>
        </p:spPr>
      </p:pic>
      <p:sp>
        <p:nvSpPr>
          <p:cNvPr id="4" name="TextBox 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Ответ он получил. Правку начал заново</a:t>
            </a:r>
          </a:p>
        </p:txBody>
      </p:sp>
      <p:sp>
        <p:nvSpPr>
          <p:cNvPr id="3" name="Rounded Rectangle 2"/>
          <p:cNvSpPr/>
          <p:nvPr/>
        </p:nvSpPr>
        <p:spPr>
          <a:xfrm>
            <a:off x="502920" y="1089355"/>
            <a:ext cx="11183112" cy="3506724"/>
          </a:xfrm>
          <a:prstGeom prst="roundRect">
            <a:avLst>
              <a:gd name="adj" fmla="val 869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1308811"/>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5" name="TextBox 4"/>
          <p:cNvSpPr txBox="1"/>
          <p:nvPr/>
        </p:nvSpPr>
        <p:spPr>
          <a:xfrm>
            <a:off x="1106424" y="1308811"/>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Тот же разработчик, что заводил здесь хук и скилл. Сцена другая: продукт, где он работает каждый день, — тарифы, участники, два года миграций. Сессия открыта с утра под одну правку — выгрузку отчёта.</a:t>
            </a:r>
          </a:p>
        </p:txBody>
      </p:sp>
      <p:sp>
        <p:nvSpPr>
          <p:cNvPr id="6" name="TextBox 5"/>
          <p:cNvSpPr txBox="1"/>
          <p:nvPr/>
        </p:nvSpPr>
        <p:spPr>
          <a:xfrm>
            <a:off x="722376" y="1841449"/>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7" name="TextBox 6"/>
          <p:cNvSpPr txBox="1"/>
          <p:nvPr/>
        </p:nvSpPr>
        <p:spPr>
          <a:xfrm>
            <a:off x="1106424" y="1841449"/>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Технический директор спрашивает в чате: «а у нас проверяется, что бесплатный тариф не может пригласить больше пяти участников? Клиент жалуется, что пригласил восьмого». Вопрос на одно слово.</a:t>
            </a:r>
          </a:p>
        </p:txBody>
      </p:sp>
      <p:sp>
        <p:nvSpPr>
          <p:cNvPr id="8" name="TextBox 7"/>
          <p:cNvSpPr txBox="1"/>
          <p:nvPr/>
        </p:nvSpPr>
        <p:spPr>
          <a:xfrm>
            <a:off x="722376" y="2374087"/>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9" name="TextBox 8"/>
          <p:cNvSpPr txBox="1"/>
          <p:nvPr/>
        </p:nvSpPr>
        <p:spPr>
          <a:xfrm>
            <a:off x="1106424" y="2374087"/>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Лимит живёт в четырёх местах: его проверяет middleware при добавлении участника, значение задано в конфиге тарифов, для аккаунтов до смены тарифной сетки он переопределён отдельной миграцией, и клиентский компонент дублирует ту же проверку на случай недоступности сервера.</a:t>
            </a:r>
          </a:p>
        </p:txBody>
      </p:sp>
      <p:sp>
        <p:nvSpPr>
          <p:cNvPr id="10" name="TextBox 9"/>
          <p:cNvSpPr txBox="1"/>
          <p:nvPr/>
        </p:nvSpPr>
        <p:spPr>
          <a:xfrm>
            <a:off x="722376" y="3109036"/>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1" name="TextBox 10"/>
          <p:cNvSpPr txBox="1"/>
          <p:nvPr/>
        </p:nvSpPr>
        <p:spPr>
          <a:xfrm>
            <a:off x="1106424" y="3109036"/>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Миграций за два года пятнадцать, лимит менялся в трёх — чтобы не упустить переопределение, листать приходится все. Открытых файлов набирается больше сорока, чтения — минут двадцать. Ответ выходит верный: «да, но для аккаунтов до миграции 2024 года не применяется».</a:t>
            </a:r>
          </a:p>
        </p:txBody>
      </p:sp>
      <p:sp>
        <p:nvSpPr>
          <p:cNvPr id="12" name="TextBox 11"/>
          <p:cNvSpPr txBox="1"/>
          <p:nvPr/>
        </p:nvSpPr>
        <p:spPr>
          <a:xfrm>
            <a:off x="722376" y="3843985"/>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5</a:t>
            </a:r>
          </a:p>
        </p:txBody>
      </p:sp>
      <p:sp>
        <p:nvSpPr>
          <p:cNvPr id="13" name="TextBox 12"/>
          <p:cNvSpPr txBox="1"/>
          <p:nvPr/>
        </p:nvSpPr>
        <p:spPr>
          <a:xfrm>
            <a:off x="1106424" y="3843985"/>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Он возвращается к своей правке — и агент переспрашивает то, что ему объясняли утром: что именно выгружать и в каком виде. Сессию приходится начинать заново.</a:t>
            </a:r>
          </a:p>
        </p:txBody>
      </p:sp>
      <p:sp>
        <p:nvSpPr>
          <p:cNvPr id="14" name="Rounded Rectangle 13"/>
          <p:cNvSpPr/>
          <p:nvPr/>
        </p:nvSpPr>
        <p:spPr>
          <a:xfrm>
            <a:off x="502920" y="5125669"/>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253685"/>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Час ушёл на то, чтобы объяснить правку второй раз. Ответ при этом был верный, и чтение шло быстро: нужное влезло в окно целиком и вытеснило работу, ради которой сессию открывали. Это второй промах из начала занятия, предъявленный целиком.</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делать с этим чтением</a:t>
            </a:r>
          </a:p>
        </p:txBody>
      </p:sp>
      <p:sp>
        <p:nvSpPr>
          <p:cNvPr id="3" name="Rectangle 2"/>
          <p:cNvSpPr/>
          <p:nvPr/>
        </p:nvSpPr>
        <p:spPr>
          <a:xfrm>
            <a:off x="502920" y="1591970"/>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646834"/>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«Вопрос — да или нет, а ответ собирается из контроллера, пяти конфигов, пятнадцати миграций и десятка тестов.»</a:t>
            </a:r>
          </a:p>
        </p:txBody>
      </p:sp>
      <p:sp>
        <p:nvSpPr>
          <p:cNvPr id="5" name="Rounded Rectangle 4"/>
          <p:cNvSpPr/>
          <p:nvPr/>
        </p:nvSpPr>
        <p:spPr>
          <a:xfrm>
            <a:off x="502920" y="2613812"/>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741828"/>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«Выберите карточку — и назовите вслух, за счёт чего она выигрывает.»</a:t>
            </a:r>
          </a:p>
        </p:txBody>
      </p:sp>
      <p:sp>
        <p:nvSpPr>
          <p:cNvPr id="7" name="Rounded Rectangle 6"/>
          <p:cNvSpPr/>
          <p:nvPr/>
        </p:nvSpPr>
        <p:spPr>
          <a:xfrm>
            <a:off x="502920" y="41042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41042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прочитать все файлы самому, в этой же сессии</a:t>
            </a:r>
          </a:p>
        </p:txBody>
      </p:sp>
      <p:sp>
        <p:nvSpPr>
          <p:cNvPr id="9" name="Rounded Rectangle 8"/>
          <p:cNvSpPr/>
          <p:nvPr/>
        </p:nvSpPr>
        <p:spPr>
          <a:xfrm>
            <a:off x="2768803" y="41042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8531" y="41042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позвать коллегу, который давно работает с тарифами</a:t>
            </a:r>
          </a:p>
        </p:txBody>
      </p:sp>
      <p:sp>
        <p:nvSpPr>
          <p:cNvPr id="11" name="Rounded Rectangle 10"/>
          <p:cNvSpPr/>
          <p:nvPr/>
        </p:nvSpPr>
        <p:spPr>
          <a:xfrm>
            <a:off x="5034686" y="41042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4414" y="41042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завести субагента: пусть читает все файлы в своём окне и вернёт короткий ответ</a:t>
            </a:r>
          </a:p>
        </p:txBody>
      </p:sp>
      <p:sp>
        <p:nvSpPr>
          <p:cNvPr id="13" name="Rounded Rectangle 12"/>
          <p:cNvSpPr/>
          <p:nvPr/>
        </p:nvSpPr>
        <p:spPr>
          <a:xfrm>
            <a:off x="7300569" y="41042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10297" y="41042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сохранить вопрос как скилл на будущее</a:t>
            </a:r>
          </a:p>
        </p:txBody>
      </p:sp>
      <p:sp>
        <p:nvSpPr>
          <p:cNvPr id="15" name="Rounded Rectangle 14"/>
          <p:cNvSpPr/>
          <p:nvPr/>
        </p:nvSpPr>
        <p:spPr>
          <a:xfrm>
            <a:off x="9566452" y="4104284"/>
            <a:ext cx="2119579"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76180" y="4104284"/>
            <a:ext cx="1900123"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ответить по памяти, без проверки</a:t>
            </a:r>
          </a:p>
        </p:txBody>
      </p:sp>
      <p:sp>
        <p:nvSpPr>
          <p:cNvPr id="17" name="TextBox 1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Быстрее не стало — те же сорок файлов</a:t>
            </a:r>
          </a:p>
        </p:txBody>
      </p:sp>
      <p:sp>
        <p:nvSpPr>
          <p:cNvPr id="3" name="Rounded Rectangle 2"/>
          <p:cNvSpPr/>
          <p:nvPr/>
        </p:nvSpPr>
        <p:spPr>
          <a:xfrm>
            <a:off x="502920" y="943356"/>
            <a:ext cx="11183112" cy="3749166"/>
          </a:xfrm>
          <a:prstGeom prst="roundRect">
            <a:avLst>
              <a:gd name="adj" fmla="val 8129"/>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43335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a:t>
            </a:r>
          </a:p>
        </p:txBody>
      </p:sp>
      <p:sp>
        <p:nvSpPr>
          <p:cNvPr id="5" name="TextBox 4"/>
          <p:cNvSpPr txBox="1"/>
          <p:nvPr/>
        </p:nvSpPr>
        <p:spPr>
          <a:xfrm>
            <a:off x="2265463" y="1126236"/>
            <a:ext cx="357017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6" name="TextBox 5"/>
          <p:cNvSpPr txBox="1"/>
          <p:nvPr/>
        </p:nvSpPr>
        <p:spPr>
          <a:xfrm>
            <a:off x="5981945" y="1126236"/>
            <a:ext cx="537490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7" name="TextBox 6"/>
          <p:cNvSpPr txBox="1"/>
          <p:nvPr/>
        </p:nvSpPr>
        <p:spPr>
          <a:xfrm>
            <a:off x="685800" y="1408303"/>
            <a:ext cx="1433359"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прочитать самому, в этой же сессии</a:t>
            </a:r>
          </a:p>
        </p:txBody>
      </p:sp>
      <p:sp>
        <p:nvSpPr>
          <p:cNvPr id="8" name="TextBox 7"/>
          <p:cNvSpPr txBox="1"/>
          <p:nvPr/>
        </p:nvSpPr>
        <p:spPr>
          <a:xfrm>
            <a:off x="2265463" y="1408303"/>
            <a:ext cx="3570177"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полный контроль над тем, что и в каком порядке читается</a:t>
            </a:r>
          </a:p>
        </p:txBody>
      </p:sp>
      <p:sp>
        <p:nvSpPr>
          <p:cNvPr id="9" name="TextBox 8"/>
          <p:cNvSpPr txBox="1"/>
          <p:nvPr/>
        </p:nvSpPr>
        <p:spPr>
          <a:xfrm>
            <a:off x="5981945" y="1408303"/>
            <a:ext cx="5374902"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окно сессии занимает содержимое сорока файлов, из которых для ответа нужен один вывод</a:t>
            </a:r>
          </a:p>
        </p:txBody>
      </p:sp>
      <p:cxnSp>
        <p:nvCxnSpPr>
          <p:cNvPr id="10" name="Connector 9"/>
          <p:cNvCxnSpPr/>
          <p:nvPr/>
        </p:nvCxnSpPr>
        <p:spPr>
          <a:xfrm>
            <a:off x="685800" y="209867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98675"/>
            <a:ext cx="1433359"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позвать коллегу</a:t>
            </a:r>
          </a:p>
        </p:txBody>
      </p:sp>
      <p:sp>
        <p:nvSpPr>
          <p:cNvPr id="12" name="TextBox 11"/>
          <p:cNvSpPr txBox="1"/>
          <p:nvPr/>
        </p:nvSpPr>
        <p:spPr>
          <a:xfrm>
            <a:off x="2265463" y="2098675"/>
            <a:ext cx="3570177"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единственный вариант, который может ответить за минуту — если коллега свеж в теме</a:t>
            </a:r>
          </a:p>
        </p:txBody>
      </p:sp>
      <p:sp>
        <p:nvSpPr>
          <p:cNvPr id="13" name="TextBox 12"/>
          <p:cNvSpPr txBox="1"/>
          <p:nvPr/>
        </p:nvSpPr>
        <p:spPr>
          <a:xfrm>
            <a:off x="5981945" y="2098675"/>
            <a:ext cx="5374902"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единственный вариант, который зависит от чужого расписания: решает, свободен ли человек прямо сейчас</a:t>
            </a:r>
          </a:p>
        </p:txBody>
      </p:sp>
      <p:cxnSp>
        <p:nvCxnSpPr>
          <p:cNvPr id="14" name="Connector 13"/>
          <p:cNvCxnSpPr/>
          <p:nvPr/>
        </p:nvCxnSpPr>
        <p:spPr>
          <a:xfrm>
            <a:off x="685800" y="278904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789047"/>
            <a:ext cx="1433359"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субагент читает в своём окне</a:t>
            </a:r>
          </a:p>
        </p:txBody>
      </p:sp>
      <p:sp>
        <p:nvSpPr>
          <p:cNvPr id="16" name="TextBox 15"/>
          <p:cNvSpPr txBox="1"/>
          <p:nvPr/>
        </p:nvSpPr>
        <p:spPr>
          <a:xfrm>
            <a:off x="2265463" y="2789047"/>
            <a:ext cx="3570177"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сорок файлов открываются и закрываются в отдельном, одноразовом окне; обратно приходит только итог</a:t>
            </a:r>
          </a:p>
        </p:txBody>
      </p:sp>
      <p:sp>
        <p:nvSpPr>
          <p:cNvPr id="17" name="TextBox 16"/>
          <p:cNvSpPr txBox="1"/>
          <p:nvPr/>
        </p:nvSpPr>
        <p:spPr>
          <a:xfrm>
            <a:off x="5981945" y="2789047"/>
            <a:ext cx="5374902" cy="69037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быстрее не становится: роль открывает и читает все сорок файлов, время чтения то же</a:t>
            </a:r>
          </a:p>
        </p:txBody>
      </p:sp>
      <p:cxnSp>
        <p:nvCxnSpPr>
          <p:cNvPr id="18" name="Connector 17"/>
          <p:cNvCxnSpPr/>
          <p:nvPr/>
        </p:nvCxnSpPr>
        <p:spPr>
          <a:xfrm>
            <a:off x="685800" y="347941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479418"/>
            <a:ext cx="143335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сохранить вопрос как скилл</a:t>
            </a:r>
          </a:p>
        </p:txBody>
      </p:sp>
      <p:sp>
        <p:nvSpPr>
          <p:cNvPr id="20" name="TextBox 19"/>
          <p:cNvSpPr txBox="1"/>
          <p:nvPr/>
        </p:nvSpPr>
        <p:spPr>
          <a:xfrm>
            <a:off x="2265463" y="3479418"/>
            <a:ext cx="3570177"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пригодится, если тот же вопрос прозвучит снова</a:t>
            </a:r>
          </a:p>
        </p:txBody>
      </p:sp>
      <p:sp>
        <p:nvSpPr>
          <p:cNvPr id="21" name="TextBox 20"/>
          <p:cNvSpPr txBox="1"/>
          <p:nvPr/>
        </p:nvSpPr>
        <p:spPr>
          <a:xfrm>
            <a:off x="5981945" y="3479418"/>
            <a:ext cx="5374902"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при первом запуске читает те же файлы тем же способом, в той же сессии, если делегирование не заведено отдельно</a:t>
            </a:r>
          </a:p>
        </p:txBody>
      </p:sp>
      <p:cxnSp>
        <p:nvCxnSpPr>
          <p:cNvPr id="22" name="Connector 21"/>
          <p:cNvCxnSpPr/>
          <p:nvPr/>
        </p:nvCxnSpPr>
        <p:spPr>
          <a:xfrm>
            <a:off x="685800" y="399453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94530"/>
            <a:ext cx="1433359"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ответить по памяти</a:t>
            </a:r>
          </a:p>
        </p:txBody>
      </p:sp>
      <p:sp>
        <p:nvSpPr>
          <p:cNvPr id="24" name="TextBox 23"/>
          <p:cNvSpPr txBox="1"/>
          <p:nvPr/>
        </p:nvSpPr>
        <p:spPr>
          <a:xfrm>
            <a:off x="2265463" y="3994530"/>
            <a:ext cx="3570177"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мгновенно</a:t>
            </a:r>
          </a:p>
        </p:txBody>
      </p:sp>
      <p:sp>
        <p:nvSpPr>
          <p:cNvPr id="25" name="TextBox 24"/>
          <p:cNvSpPr txBox="1"/>
          <p:nvPr/>
        </p:nvSpPr>
        <p:spPr>
          <a:xfrm>
            <a:off x="5981945" y="3994530"/>
            <a:ext cx="5374902" cy="515111"/>
          </a:xfrm>
          <a:prstGeom prst="rect">
            <a:avLst/>
          </a:prstGeom>
          <a:noFill/>
        </p:spPr>
        <p:txBody>
          <a:bodyPr wrap="square" lIns="0" rIns="0" tIns="0" bIns="0" anchor="ctr">
            <a:spAutoFit/>
          </a:bodyPr>
          <a:lstStyle/>
          <a:p>
            <a:pPr algn="l">
              <a:lnSpc>
                <a:spcPts val="1380"/>
              </a:lnSpc>
              <a:spcAft>
                <a:spcPts val="0"/>
              </a:spcAft>
            </a:pPr>
            <a:r>
              <a:rPr sz="1200" b="0" i="0">
                <a:solidFill>
                  <a:srgbClr val="141B2E"/>
                </a:solidFill>
                <a:latin typeface="Arial"/>
              </a:rPr>
              <a:t>проверки нет, а вопрос именно про проверку</a:t>
            </a:r>
          </a:p>
        </p:txBody>
      </p:sp>
      <p:sp>
        <p:nvSpPr>
          <p:cNvPr id="26" name="Rounded Rectangle 25"/>
          <p:cNvSpPr/>
          <p:nvPr/>
        </p:nvSpPr>
        <p:spPr>
          <a:xfrm>
            <a:off x="502920" y="4857114"/>
            <a:ext cx="82296" cy="95935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985130"/>
            <a:ext cx="10643616" cy="703326"/>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Вывод.</a:t>
            </a:r>
            <a:r>
              <a:rPr sz="1450" b="1" i="0">
                <a:solidFill>
                  <a:srgbClr val="141B2E"/>
                </a:solidFill>
                <a:latin typeface="Arial"/>
              </a:rPr>
              <a:t> Двадцать минут чтения из сцены остаются двадцатью минутами: сорок файлов — это сорок файлов, где бы их ни читали. Меняется одно — чьё окно их держит. Окно роли закрывается вместе с ней, а в сессию возвращается строка ответа и место, которого в сцене не хватило на собственную правку.</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Пример есть, измерения на выборке — нет</a:t>
            </a:r>
          </a:p>
        </p:txBody>
      </p:sp>
      <p:sp>
        <p:nvSpPr>
          <p:cNvPr id="3" name="Rectangle 2"/>
          <p:cNvSpPr/>
          <p:nvPr/>
        </p:nvSpPr>
        <p:spPr>
          <a:xfrm>
            <a:off x="502920" y="1726844"/>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781708"/>
            <a:ext cx="10730484" cy="416052"/>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«The subagent read 6,100 tokens of files. You got a 420-token result. That's the context savings.»</a:t>
            </a:r>
            <a:r>
              <a:rPr sz="1300" b="0" i="1">
                <a:solidFill>
                  <a:srgbClr val="6B7685"/>
                </a:solidFill>
                <a:latin typeface="Arial"/>
              </a:rPr>
              <a:t> — документация харнесса об устройстве контекстных окон, один показательный сценарий.</a:t>
            </a:r>
          </a:p>
        </p:txBody>
      </p:sp>
      <p:sp>
        <p:nvSpPr>
          <p:cNvPr id="5" name="Rounded Rectangle 4"/>
          <p:cNvSpPr/>
          <p:nvPr/>
        </p:nvSpPr>
        <p:spPr>
          <a:xfrm>
            <a:off x="502920" y="2956712"/>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084728"/>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Разница на порядок — но это один вымышленный пример автора документации, не статистика по множеству реальных прогонов.</a:t>
            </a:r>
          </a:p>
        </p:txBody>
      </p:sp>
      <p:sp>
        <p:nvSpPr>
          <p:cNvPr id="7" name="Rounded Rectangle 6"/>
          <p:cNvSpPr/>
          <p:nvPr/>
        </p:nvSpPr>
        <p:spPr>
          <a:xfrm>
            <a:off x="502920" y="4370984"/>
            <a:ext cx="11183112" cy="836295"/>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4508144"/>
            <a:ext cx="10707624" cy="561974"/>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Честный пробел.</a:t>
            </a:r>
            <a:r>
              <a:rPr sz="1250" b="0" i="1">
                <a:solidFill>
                  <a:srgbClr val="6B7685"/>
                </a:solidFill>
                <a:latin typeface="Arial"/>
              </a:rPr>
              <a:t> Сколько контекста реально экономит делегирование по сравнению с тем же объёмом работы в основной сессии, по измерению на выборке сессий, — не нашлось ни у одного источника. Это число восполняет пробел дидактическим примером, не статистикой.</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Чистое окно — не чистое от всего подряд</a:t>
            </a:r>
          </a:p>
        </p:txBody>
      </p:sp>
      <p:sp>
        <p:nvSpPr>
          <p:cNvPr id="3" name="Rectangle 2"/>
          <p:cNvSpPr/>
          <p:nvPr/>
        </p:nvSpPr>
        <p:spPr>
          <a:xfrm>
            <a:off x="502920" y="1490472"/>
            <a:ext cx="32004" cy="733805"/>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1545336"/>
            <a:ext cx="10730484" cy="624077"/>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«Subagents inherit every MCP tool definition from the parent session, which can fill their context window before the first turn. Disable MCP servers you are not using before spawning subagents.»</a:t>
            </a:r>
            <a:r>
              <a:rPr sz="1300" b="0" i="1">
                <a:solidFill>
                  <a:srgbClr val="6B7685"/>
                </a:solidFill>
                <a:latin typeface="Arial"/>
              </a:rPr>
              <a:t> — документация харнесса об устранении ошибок.</a:t>
            </a:r>
          </a:p>
        </p:txBody>
      </p:sp>
      <p:sp>
        <p:nvSpPr>
          <p:cNvPr id="5" name="Rounded Rectangle 4"/>
          <p:cNvSpPr/>
          <p:nvPr/>
        </p:nvSpPr>
        <p:spPr>
          <a:xfrm>
            <a:off x="502920" y="292836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05638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Фокус из прошлых двух слайдов — про содержимое репозитория. Для того, что подключено MCP-серверами, за этим нужно следить отдельно: тем же списком инструментов роли, который стоял пятым блоком на одностраничнике ступени.</a:t>
            </a:r>
          </a:p>
        </p:txBody>
      </p:sp>
      <p:sp>
        <p:nvSpPr>
          <p:cNvPr id="7" name="Rounded Rectangle 6"/>
          <p:cNvSpPr/>
          <p:nvPr/>
        </p:nvSpPr>
        <p:spPr>
          <a:xfrm>
            <a:off x="502920" y="4578858"/>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4706874"/>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Для нашего вопроса про лимит участников: если в родительской сессии подключены трекер задач и почтовый сервер из прошлого раздела занятия, роль, которой нужно просто прочитать сорок файлов кода, получает их описания в своё окно бесплатно — хотя ни трекер, ни почта к вопросу не относятся.</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остаётся в окне после ответа</a:t>
            </a:r>
          </a:p>
        </p:txBody>
      </p:sp>
      <p:sp>
        <p:nvSpPr>
          <p:cNvPr id="3" name="Rounded Rectangle 2"/>
          <p:cNvSpPr/>
          <p:nvPr/>
        </p:nvSpPr>
        <p:spPr>
          <a:xfrm>
            <a:off x="502920" y="1086002"/>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14018"/>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Что мы заводим ради контекста — решаем по тому, что останется в окне после ответа, и не по тому, сколько файлов пришлось открыть. Интуиция говорила: отдельный исполнитель прочитает быстрее. Проверка показала: сорок файлов остаются сорока файлами и тем же временем, меняется только то, чьё окно их держит.</a:t>
            </a:r>
          </a:p>
        </p:txBody>
      </p:sp>
      <p:sp>
        <p:nvSpPr>
          <p:cNvPr id="5" name="Rounded Rectangle 4"/>
          <p:cNvSpPr/>
          <p:nvPr/>
        </p:nvSpPr>
        <p:spPr>
          <a:xfrm>
            <a:off x="502920" y="2826410"/>
            <a:ext cx="11183112" cy="1706499"/>
          </a:xfrm>
          <a:prstGeom prst="roundRect">
            <a:avLst>
              <a:gd name="adj" fmla="val 17861"/>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3261893"/>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3045866"/>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Делегировать чтение имеет смысл, когда то, что нужно вынести из десятков файлов, — короткий вывод: факт, да/нет, список в несколько строк.</a:t>
            </a:r>
          </a:p>
        </p:txBody>
      </p:sp>
      <p:sp>
        <p:nvSpPr>
          <p:cNvPr id="8" name="Rounded Rectangle 7"/>
          <p:cNvSpPr/>
          <p:nvPr/>
        </p:nvSpPr>
        <p:spPr>
          <a:xfrm>
            <a:off x="758952" y="3895686"/>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3578504"/>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Если работа продолжается на том же материале — например, рефакторинг тех же сорока файлов, — читать их придётся в любом случае; делать это в своём окне тогда входит в саму работу: дальше с этим содержимым нужно будет работать самому.</a:t>
            </a:r>
          </a:p>
        </p:txBody>
      </p:sp>
      <p:sp>
        <p:nvSpPr>
          <p:cNvPr id="10" name="Rounded Rectangle 9"/>
          <p:cNvSpPr/>
          <p:nvPr/>
        </p:nvSpPr>
        <p:spPr>
          <a:xfrm>
            <a:off x="502920" y="5054117"/>
            <a:ext cx="11183112" cy="1059561"/>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5182133"/>
            <a:ext cx="10634472" cy="8035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К себе.</a:t>
            </a:r>
            <a:r>
              <a:rPr sz="1650" b="1" i="0">
                <a:solidFill>
                  <a:srgbClr val="141B2E"/>
                </a:solidFill>
                <a:latin typeface="Arial"/>
              </a:rPr>
              <a:t> Назовите про себя вопрос из своего проекта, ответ на который — одна строка, а чтения под него — полрепозитория. Назвали — вот первый кандидат на делегирование. Если после ответа вы продолжаете работать в тех же файлах, кандидат не он.</a:t>
            </a:r>
          </a:p>
        </p:txBody>
      </p:sp>
      <p:sp>
        <p:nvSpPr>
          <p:cNvPr id="12" name="TextBox 11"/>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447544"/>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447544"/>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5</a:t>
            </a:r>
          </a:p>
        </p:txBody>
      </p:sp>
      <p:sp>
        <p:nvSpPr>
          <p:cNvPr id="7" name="TextBox 6"/>
          <p:cNvSpPr txBox="1"/>
          <p:nvPr/>
        </p:nvSpPr>
        <p:spPr>
          <a:xfrm>
            <a:off x="1536192" y="2341625"/>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Три правки, одна очередь. А если разом?</a:t>
            </a:r>
          </a:p>
        </p:txBody>
      </p:sp>
      <p:sp>
        <p:nvSpPr>
          <p:cNvPr id="8" name="TextBox 7"/>
          <p:cNvSpPr txBox="1"/>
          <p:nvPr/>
        </p:nvSpPr>
        <p:spPr>
          <a:xfrm>
            <a:off x="822960" y="3559302"/>
            <a:ext cx="9509760" cy="1139952"/>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Три независимых изменения ждут проверки одно за другим. Знак вопроса настоящий: через неделю тот же ход обойдётся нашему разработчику дороже, чем сэкономил.</a:t>
            </a:r>
          </a:p>
        </p:txBody>
      </p:sp>
      <p:sp>
        <p:nvSpPr>
          <p:cNvPr id="9" name="Rounded Rectangle 8"/>
          <p:cNvSpPr/>
          <p:nvPr/>
        </p:nvSpPr>
        <p:spPr>
          <a:xfrm>
            <a:off x="502920" y="5989320"/>
            <a:ext cx="5500116"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Субагент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Четверг: три проверки разом, и это сработало</a:t>
            </a:r>
          </a:p>
        </p:txBody>
      </p:sp>
      <p:sp>
        <p:nvSpPr>
          <p:cNvPr id="3" name="Rounded Rectangle 2"/>
          <p:cNvSpPr/>
          <p:nvPr/>
        </p:nvSpPr>
        <p:spPr>
          <a:xfrm>
            <a:off x="502920" y="1288999"/>
            <a:ext cx="82296" cy="21640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17015"/>
            <a:ext cx="10643616" cy="19080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Было.</a:t>
            </a:r>
            <a:r>
              <a:rPr sz="1500" b="1" i="0">
                <a:solidFill>
                  <a:srgbClr val="141B2E"/>
                </a:solidFill>
                <a:latin typeface="Arial"/>
              </a:rPr>
              <a:t> Проверять диффы отдельным агентом — приём с одностраничника этой ступени — у разработчика уже каждый день в работе; своего файла роли он пока не заводил. Три независимых изменения — поправки в трёх разных, не связанных друг с другом формах — проверялись одно за другим: запустить проверку первой правки, подождать итог, запустить вторую, снова подождать, и только потом третью. </a:t>
            </a:r>
            <a:r>
              <a:rPr sz="1500" b="1" i="0">
                <a:solidFill>
                  <a:srgbClr val="141B2E"/>
                </a:solidFill>
                <a:latin typeface="Arial"/>
              </a:rPr>
              <a:t>Стало.</a:t>
            </a:r>
            <a:r>
              <a:rPr sz="1500" b="1" i="0">
                <a:solidFill>
                  <a:srgbClr val="141B2E"/>
                </a:solidFill>
                <a:latin typeface="Arial"/>
              </a:rPr>
              <a:t> В четверг он запускает все три проверки одним действием, без единой строки настройки: три отдельных вызова одной и той же роли, каждый на свою правку. Роли не знают друг о друге и не делят между собой ничего — у каждой свой контекст, свой набор файлов, нужных для её конкретной правки.</a:t>
            </a:r>
          </a:p>
        </p:txBody>
      </p:sp>
      <p:sp>
        <p:nvSpPr>
          <p:cNvPr id="5" name="Rounded Rectangle 4"/>
          <p:cNvSpPr/>
          <p:nvPr/>
        </p:nvSpPr>
        <p:spPr>
          <a:xfrm>
            <a:off x="502920" y="4120591"/>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248607"/>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Итоги приходят примерно тогда же, когда пришёл бы один.</a:t>
            </a:r>
          </a:p>
        </p:txBody>
      </p:sp>
      <p:sp>
        <p:nvSpPr>
          <p:cNvPr id="7" name="Rounded Rectangle 6"/>
          <p:cNvSpPr/>
          <p:nvPr/>
        </p:nvSpPr>
        <p:spPr>
          <a:xfrm>
            <a:off x="502920" y="5298643"/>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5426659"/>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Урок, который он снял в четверг:</a:t>
            </a:r>
            <a:r>
              <a:rPr sz="1500" b="1" i="0">
                <a:solidFill>
                  <a:srgbClr val="141B2E"/>
                </a:solidFill>
                <a:latin typeface="Arial"/>
              </a:rPr>
              <a:t> «Больше ролей — быстрее. Дальше делаем так всегда.»</a:t>
            </a:r>
          </a:p>
        </p:txBody>
      </p:sp>
      <p:sp>
        <p:nvSpPr>
          <p:cNvPr id="9" name="TextBox 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Сработало. Что берём в привычку?</a:t>
            </a:r>
          </a:p>
        </p:txBody>
      </p:sp>
      <p:sp>
        <p:nvSpPr>
          <p:cNvPr id="3" name="Rounded Rectangle 2"/>
          <p:cNvSpPr/>
          <p:nvPr/>
        </p:nvSpPr>
        <p:spPr>
          <a:xfrm>
            <a:off x="502920" y="1978761"/>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2106777"/>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«Что из этого стоит взять в привычку? Выберите карточку.»</a:t>
            </a:r>
          </a:p>
        </p:txBody>
      </p:sp>
      <p:sp>
        <p:nvSpPr>
          <p:cNvPr id="5" name="Rounded Rectangle 4"/>
          <p:cNvSpPr/>
          <p:nvPr/>
        </p:nvSpPr>
        <p:spPr>
          <a:xfrm>
            <a:off x="502920" y="3469233"/>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3469233"/>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ничего не менять — проверять по одной, это надёжнее</a:t>
            </a:r>
          </a:p>
        </p:txBody>
      </p:sp>
      <p:sp>
        <p:nvSpPr>
          <p:cNvPr id="7" name="Rounded Rectangle 6"/>
          <p:cNvSpPr/>
          <p:nvPr/>
        </p:nvSpPr>
        <p:spPr>
          <a:xfrm>
            <a:off x="3335274" y="3469233"/>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45002" y="3469233"/>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объединить все три правки в одно задание для одной роли</a:t>
            </a:r>
          </a:p>
        </p:txBody>
      </p:sp>
      <p:sp>
        <p:nvSpPr>
          <p:cNvPr id="9" name="Rounded Rectangle 8"/>
          <p:cNvSpPr/>
          <p:nvPr/>
        </p:nvSpPr>
        <p:spPr>
          <a:xfrm>
            <a:off x="6167628" y="3469233"/>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77356" y="3469233"/>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сначала проверить, зависят ли правки друг от друга, и только потом запускать по отдельному вызову роли на каждую</a:t>
            </a:r>
          </a:p>
        </p:txBody>
      </p:sp>
      <p:sp>
        <p:nvSpPr>
          <p:cNvPr id="11" name="Rounded Rectangle 10"/>
          <p:cNvSpPr/>
          <p:nvPr/>
        </p:nvSpPr>
        <p:spPr>
          <a:xfrm>
            <a:off x="8999982" y="3469233"/>
            <a:ext cx="2686050" cy="1305306"/>
          </a:xfrm>
          <a:prstGeom prst="roundRect">
            <a:avLst>
              <a:gd name="adj" fmla="val 2335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09710" y="3469233"/>
            <a:ext cx="2466594" cy="1305306"/>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параллелить всегда, по умолчанию</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Параллельность лежит в задаче</a:t>
            </a:r>
          </a:p>
        </p:txBody>
      </p:sp>
      <p:sp>
        <p:nvSpPr>
          <p:cNvPr id="3" name="Rounded Rectangle 2"/>
          <p:cNvSpPr/>
          <p:nvPr/>
        </p:nvSpPr>
        <p:spPr>
          <a:xfrm>
            <a:off x="502920" y="1007554"/>
            <a:ext cx="11183112" cy="3679507"/>
          </a:xfrm>
          <a:prstGeom prst="roundRect">
            <a:avLst>
              <a:gd name="adj" fmla="val 828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90434"/>
            <a:ext cx="2006058"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a:t>
            </a:r>
          </a:p>
        </p:txBody>
      </p:sp>
      <p:sp>
        <p:nvSpPr>
          <p:cNvPr id="5" name="TextBox 4"/>
          <p:cNvSpPr txBox="1"/>
          <p:nvPr/>
        </p:nvSpPr>
        <p:spPr>
          <a:xfrm>
            <a:off x="2838162" y="1190434"/>
            <a:ext cx="261623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6" name="TextBox 5"/>
          <p:cNvSpPr txBox="1"/>
          <p:nvPr/>
        </p:nvSpPr>
        <p:spPr>
          <a:xfrm>
            <a:off x="5600696" y="1190434"/>
            <a:ext cx="57561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7" name="TextBox 6"/>
          <p:cNvSpPr txBox="1"/>
          <p:nvPr/>
        </p:nvSpPr>
        <p:spPr>
          <a:xfrm>
            <a:off x="685800" y="1472501"/>
            <a:ext cx="200605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ничего не менять — по одной</a:t>
            </a:r>
          </a:p>
        </p:txBody>
      </p:sp>
      <p:sp>
        <p:nvSpPr>
          <p:cNvPr id="8" name="TextBox 7"/>
          <p:cNvSpPr txBox="1"/>
          <p:nvPr/>
        </p:nvSpPr>
        <p:spPr>
          <a:xfrm>
            <a:off x="2838162" y="1472501"/>
            <a:ext cx="261623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простой, предсказуемый порядок</a:t>
            </a:r>
          </a:p>
        </p:txBody>
      </p:sp>
      <p:sp>
        <p:nvSpPr>
          <p:cNvPr id="9" name="TextBox 8"/>
          <p:cNvSpPr txBox="1"/>
          <p:nvPr/>
        </p:nvSpPr>
        <p:spPr>
          <a:xfrm>
            <a:off x="5600696" y="1472501"/>
            <a:ext cx="575615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ожидания складываются: три проверки по очереди займут втрое больше, чем одна</a:t>
            </a:r>
          </a:p>
        </p:txBody>
      </p:sp>
      <p:cxnSp>
        <p:nvCxnSpPr>
          <p:cNvPr id="10" name="Connector 9"/>
          <p:cNvCxnSpPr/>
          <p:nvPr/>
        </p:nvCxnSpPr>
        <p:spPr>
          <a:xfrm>
            <a:off x="685800" y="200221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02218"/>
            <a:ext cx="2006058"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объединить три правки в одно задание</a:t>
            </a:r>
          </a:p>
        </p:txBody>
      </p:sp>
      <p:sp>
        <p:nvSpPr>
          <p:cNvPr id="12" name="TextBox 11"/>
          <p:cNvSpPr txBox="1"/>
          <p:nvPr/>
        </p:nvSpPr>
        <p:spPr>
          <a:xfrm>
            <a:off x="2838162" y="2002218"/>
            <a:ext cx="261623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один вызов, одна формулировка</a:t>
            </a:r>
          </a:p>
        </p:txBody>
      </p:sp>
      <p:sp>
        <p:nvSpPr>
          <p:cNvPr id="13" name="TextBox 12"/>
          <p:cNvSpPr txBox="1"/>
          <p:nvPr/>
        </p:nvSpPr>
        <p:spPr>
          <a:xfrm>
            <a:off x="5600696" y="2002218"/>
            <a:ext cx="5756151"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роль держит три независимых диффа сразу — находки по одной правке легко спутать с находками по другой</a:t>
            </a:r>
          </a:p>
        </p:txBody>
      </p:sp>
      <p:cxnSp>
        <p:nvCxnSpPr>
          <p:cNvPr id="14" name="Connector 13"/>
          <p:cNvCxnSpPr/>
          <p:nvPr/>
        </p:nvCxnSpPr>
        <p:spPr>
          <a:xfrm>
            <a:off x="685800" y="253193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531935"/>
            <a:ext cx="2006058"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сначала проверить зависимость, потом отдельный вызов роли на каждую задачу параллельно</a:t>
            </a:r>
          </a:p>
        </p:txBody>
      </p:sp>
      <p:sp>
        <p:nvSpPr>
          <p:cNvPr id="16" name="TextBox 15"/>
          <p:cNvSpPr txBox="1"/>
          <p:nvPr/>
        </p:nvSpPr>
        <p:spPr>
          <a:xfrm>
            <a:off x="2838162" y="2531935"/>
            <a:ext cx="2616230"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отделяет случай, где параллелить безопасно, от случая, где нет, и даёт каждой задаче своё окно — итоги приходят почти одновременно</a:t>
            </a:r>
          </a:p>
        </p:txBody>
      </p:sp>
      <p:sp>
        <p:nvSpPr>
          <p:cNvPr id="17" name="TextBox 16"/>
          <p:cNvSpPr txBox="1"/>
          <p:nvPr/>
        </p:nvSpPr>
        <p:spPr>
          <a:xfrm>
            <a:off x="5600696" y="2531935"/>
            <a:ext cx="5756151" cy="1259966"/>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держится на первом шаге: без подтверждённой независимости роли увидят разные версии одного и того же кода. Ускоряет второй шаг; первый ничего не ускоряет и нужен целиком ради честности второго</a:t>
            </a:r>
          </a:p>
        </p:txBody>
      </p:sp>
      <p:cxnSp>
        <p:nvCxnSpPr>
          <p:cNvPr id="18" name="Connector 17"/>
          <p:cNvCxnSpPr/>
          <p:nvPr/>
        </p:nvCxnSpPr>
        <p:spPr>
          <a:xfrm>
            <a:off x="685800" y="379190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791902"/>
            <a:ext cx="2006058"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параллелить всегда, по умолчанию</a:t>
            </a:r>
          </a:p>
        </p:txBody>
      </p:sp>
      <p:sp>
        <p:nvSpPr>
          <p:cNvPr id="20" name="TextBox 19"/>
          <p:cNvSpPr txBox="1"/>
          <p:nvPr/>
        </p:nvSpPr>
        <p:spPr>
          <a:xfrm>
            <a:off x="2838162" y="3791902"/>
            <a:ext cx="2616230"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экономит время там, где правки и так независимы</a:t>
            </a:r>
          </a:p>
        </p:txBody>
      </p:sp>
      <p:sp>
        <p:nvSpPr>
          <p:cNvPr id="21" name="TextBox 20"/>
          <p:cNvSpPr txBox="1"/>
          <p:nvPr/>
        </p:nvSpPr>
        <p:spPr>
          <a:xfrm>
            <a:off x="5600696" y="3791902"/>
            <a:ext cx="57561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там, где шаг одной роли должен видеть вывод другой, у каждой остаётся своя, частично устаревшая картина вместо общего результата</a:t>
            </a:r>
          </a:p>
        </p:txBody>
      </p:sp>
      <p:sp>
        <p:nvSpPr>
          <p:cNvPr id="22" name="Rounded Rectangle 21"/>
          <p:cNvSpPr/>
          <p:nvPr/>
        </p:nvSpPr>
        <p:spPr>
          <a:xfrm>
            <a:off x="502920" y="5012150"/>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5140166"/>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Поворот.</a:t>
            </a:r>
            <a:r>
              <a:rPr sz="1500" b="1" i="0">
                <a:solidFill>
                  <a:srgbClr val="141B2E"/>
                </a:solidFill>
                <a:latin typeface="Arial"/>
              </a:rPr>
              <a:t> Выигрыш в четверг дала независимость трёх задач. Роли её только забрали. Параллельность лежит в задаче: роли берут её там, где она есть, и умножают ошибку там, где её нет. Урок, который наш разработчик снял вечером четверга, посчитал исполнителей и не записал условие — через неделю он повторит число и не повторит условие.</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Фон, не очередь — и предел на двадцать разом</a:t>
            </a:r>
          </a:p>
        </p:txBody>
      </p:sp>
      <p:sp>
        <p:nvSpPr>
          <p:cNvPr id="3" name="Rounded Rectangle 2"/>
          <p:cNvSpPr/>
          <p:nvPr/>
        </p:nvSpPr>
        <p:spPr>
          <a:xfrm>
            <a:off x="502920" y="2420416"/>
            <a:ext cx="82296" cy="16916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2548432"/>
            <a:ext cx="10643616" cy="14356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Фон, не очередь.</a:t>
            </a:r>
            <a:r>
              <a:rPr sz="1500" b="1" i="0">
                <a:solidFill>
                  <a:srgbClr val="141B2E"/>
                </a:solidFill>
                <a:latin typeface="Arial"/>
              </a:rPr>
              <a:t> С определённой версии харнесса параллельный режим включён по умолчанию в интерактивной сессии: роль уходит в фон, основная сессия не ждёт её, прежде чем продолжить. </a:t>
            </a:r>
            <a:r>
              <a:rPr sz="1500" b="1" i="0">
                <a:solidFill>
                  <a:srgbClr val="141B2E"/>
                </a:solidFill>
                <a:latin typeface="Arial"/>
              </a:rPr>
              <a:t>Предел — на одновременность, не на количество за сессию.</a:t>
            </a:r>
            <a:r>
              <a:rPr sz="1500" b="1" i="0">
                <a:solidFill>
                  <a:srgbClr val="141B2E"/>
                </a:solidFill>
                <a:latin typeface="Arial"/>
              </a:rPr>
              <a:t> По умолчанию одновременно может работать не больше двадцати ролей; попытка завести двадцать первую падает отдельной, явной ошибкой. Число меняется переменной окружения. Общего предела на то, сколько ролей можно вызвать за всю сессию, — нет.</a:t>
            </a:r>
          </a:p>
        </p:txBody>
      </p:sp>
      <p:sp>
        <p:nvSpPr>
          <p:cNvPr id="5" name="TextBox 4"/>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Через неделю: то же число ролей, другая задача</a:t>
            </a:r>
          </a:p>
        </p:txBody>
      </p:sp>
      <p:sp>
        <p:nvSpPr>
          <p:cNvPr id="3" name="Rounded Rectangle 2"/>
          <p:cNvSpPr/>
          <p:nvPr/>
        </p:nvSpPr>
        <p:spPr>
          <a:xfrm>
            <a:off x="502920" y="1382268"/>
            <a:ext cx="82296" cy="21640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510284"/>
            <a:ext cx="10643616" cy="19080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Через неделю правка приходит одна и крупная: новое поле в форме плюс изменение валидации. Разработчик применяет вывод четверга буквально — больше ролей — и зовёт второго — тестировщика, который прогоняет сценарии через форму и проверяет поведение, не только код. Обе роли получают одну и ту же правку. Диф-ревьюер проверяет код, находит, что валидация написана верно, и возвращает </a:t>
            </a:r>
            <a:r>
              <a:rPr sz="1500" b="1" i="0">
                <a:solidFill>
                  <a:srgbClr val="141B2E"/>
                </a:solidFill>
                <a:latin typeface="Consolas"/>
              </a:rPr>
              <a:t>PASS</a:t>
            </a:r>
            <a:r>
              <a:rPr sz="1500" b="1" i="0">
                <a:solidFill>
                  <a:srgbClr val="141B2E"/>
                </a:solidFill>
                <a:latin typeface="Arial"/>
              </a:rPr>
              <a:t> — в его формате это означает, что в коде, который он читал, проблем нет. Тестировщик проверяет поведение формы на обычных сценариях, тоже не находит проблем и тоже возвращает </a:t>
            </a:r>
            <a:r>
              <a:rPr sz="1500" b="1" i="0">
                <a:solidFill>
                  <a:srgbClr val="141B2E"/>
                </a:solidFill>
                <a:latin typeface="Consolas"/>
              </a:rPr>
              <a:t>PASS</a:t>
            </a:r>
            <a:r>
              <a:rPr sz="1500" b="1" i="0">
                <a:solidFill>
                  <a:srgbClr val="141B2E"/>
                </a:solidFill>
                <a:latin typeface="Arial"/>
              </a:rPr>
              <a:t> — в его формате это означает, что форма ведёт себя ожидаемо на тех сценариях, которые он прогнал.</a:t>
            </a:r>
          </a:p>
        </p:txBody>
      </p:sp>
      <p:sp>
        <p:nvSpPr>
          <p:cNvPr id="5" name="Rounded Rectangle 4"/>
          <p:cNvSpPr/>
          <p:nvPr/>
        </p:nvSpPr>
        <p:spPr>
          <a:xfrm>
            <a:off x="502920" y="4213860"/>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341876"/>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Правка уходит в показ. Заказчик вводит email с пробелом перед доменом — сценарий, который не вошёл ни в код, который диф-ревьюер читал построчно, ни в сценарии, которые тестировщик прогонял руками. Оба </a:t>
            </a:r>
            <a:r>
              <a:rPr sz="1500" b="1" i="0">
                <a:solidFill>
                  <a:srgbClr val="141B2E"/>
                </a:solidFill>
                <a:latin typeface="Consolas"/>
              </a:rPr>
              <a:t>PASS</a:t>
            </a:r>
            <a:r>
              <a:rPr sz="1500" b="1" i="0">
                <a:solidFill>
                  <a:srgbClr val="141B2E"/>
                </a:solidFill>
                <a:latin typeface="Arial"/>
              </a:rPr>
              <a:t> правдивы по отдельности. Картина, которую разработчик из них собрал, — «правка проверена» — не описывает ничего: между двумя зонами остался промежуток, про который не высказалась ни одна роль.</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Пять вариантов для промежутка, рабочий — один</a:t>
            </a:r>
          </a:p>
        </p:txBody>
      </p:sp>
      <p:sp>
        <p:nvSpPr>
          <p:cNvPr id="3" name="Rounded Rectangle 2"/>
          <p:cNvSpPr/>
          <p:nvPr/>
        </p:nvSpPr>
        <p:spPr>
          <a:xfrm>
            <a:off x="502920" y="963904"/>
            <a:ext cx="11183112" cy="3661536"/>
          </a:xfrm>
          <a:prstGeom prst="roundRect">
            <a:avLst>
              <a:gd name="adj" fmla="val 832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6784"/>
            <a:ext cx="186845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a:t>
            </a:r>
          </a:p>
        </p:txBody>
      </p:sp>
      <p:sp>
        <p:nvSpPr>
          <p:cNvPr id="5" name="TextBox 4"/>
          <p:cNvSpPr txBox="1"/>
          <p:nvPr/>
        </p:nvSpPr>
        <p:spPr>
          <a:xfrm>
            <a:off x="2700558" y="1146784"/>
            <a:ext cx="346339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6" name="TextBox 5"/>
          <p:cNvSpPr txBox="1"/>
          <p:nvPr/>
        </p:nvSpPr>
        <p:spPr>
          <a:xfrm>
            <a:off x="6310258" y="1146784"/>
            <a:ext cx="504658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7" name="TextBox 6"/>
          <p:cNvSpPr txBox="1"/>
          <p:nvPr/>
        </p:nvSpPr>
        <p:spPr>
          <a:xfrm>
            <a:off x="685800" y="1428851"/>
            <a:ext cx="186845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ничего — два PASS надёжнее одного</a:t>
            </a:r>
          </a:p>
        </p:txBody>
      </p:sp>
      <p:sp>
        <p:nvSpPr>
          <p:cNvPr id="8" name="TextBox 7"/>
          <p:cNvSpPr txBox="1"/>
          <p:nvPr/>
        </p:nvSpPr>
        <p:spPr>
          <a:xfrm>
            <a:off x="2700558" y="1428851"/>
            <a:ext cx="346339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роли проверяют разное и вместе покрывают больше, чем любая одна</a:t>
            </a:r>
          </a:p>
        </p:txBody>
      </p:sp>
      <p:sp>
        <p:nvSpPr>
          <p:cNvPr id="9" name="TextBox 8"/>
          <p:cNvSpPr txBox="1"/>
          <p:nvPr/>
        </p:nvSpPr>
        <p:spPr>
          <a:xfrm>
            <a:off x="6310258" y="1428851"/>
            <a:ext cx="504658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надёжность растёт, только пока между зонами нет промежутка — здесь он есть</a:t>
            </a:r>
          </a:p>
        </p:txBody>
      </p:sp>
      <p:cxnSp>
        <p:nvCxnSpPr>
          <p:cNvPr id="10" name="Connector 9"/>
          <p:cNvCxnSpPr/>
          <p:nvPr/>
        </p:nvCxnSpPr>
        <p:spPr>
          <a:xfrm>
            <a:off x="685800" y="195856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958568"/>
            <a:ext cx="186845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объединить в одну роль с широким описанием</a:t>
            </a:r>
          </a:p>
        </p:txBody>
      </p:sp>
      <p:sp>
        <p:nvSpPr>
          <p:cNvPr id="12" name="TextBox 11"/>
          <p:cNvSpPr txBox="1"/>
          <p:nvPr/>
        </p:nvSpPr>
        <p:spPr>
          <a:xfrm>
            <a:off x="2700558" y="1958568"/>
            <a:ext cx="346339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задача небольшая, одна роль успевает честно покрыть обе стороны</a:t>
            </a:r>
          </a:p>
        </p:txBody>
      </p:sp>
      <p:sp>
        <p:nvSpPr>
          <p:cNvPr id="13" name="TextBox 12"/>
          <p:cNvSpPr txBox="1"/>
          <p:nvPr/>
        </p:nvSpPr>
        <p:spPr>
          <a:xfrm>
            <a:off x="6310258" y="1958568"/>
            <a:ext cx="5046589"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широкое описание означает широкий контекст и широкие права — то самое, что узкий список инструментов и ограничивает</a:t>
            </a:r>
          </a:p>
        </p:txBody>
      </p:sp>
      <p:cxnSp>
        <p:nvCxnSpPr>
          <p:cNvPr id="14" name="Connector 13"/>
          <p:cNvCxnSpPr/>
          <p:nvPr/>
        </p:nvCxnSpPr>
        <p:spPr>
          <a:xfrm>
            <a:off x="685800" y="267084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670848"/>
            <a:ext cx="186845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завести третью роль-координатора</a:t>
            </a:r>
          </a:p>
        </p:txBody>
      </p:sp>
      <p:sp>
        <p:nvSpPr>
          <p:cNvPr id="16" name="TextBox 15"/>
          <p:cNvSpPr txBox="1"/>
          <p:nvPr/>
        </p:nvSpPr>
        <p:spPr>
          <a:xfrm>
            <a:off x="2700558" y="2670848"/>
            <a:ext cx="346339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нужно сверять именно вывод двух готовых ролей</a:t>
            </a:r>
          </a:p>
        </p:txBody>
      </p:sp>
      <p:sp>
        <p:nvSpPr>
          <p:cNvPr id="17" name="TextBox 16"/>
          <p:cNvSpPr txBox="1"/>
          <p:nvPr/>
        </p:nvSpPr>
        <p:spPr>
          <a:xfrm>
            <a:off x="6310258" y="2670848"/>
            <a:ext cx="504658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добавляет слой координации к уже не согласованным двум — цена растёт быстрее, чем снижается риск</a:t>
            </a:r>
          </a:p>
        </p:txBody>
      </p:sp>
      <p:cxnSp>
        <p:nvCxnSpPr>
          <p:cNvPr id="18" name="Connector 17"/>
          <p:cNvCxnSpPr/>
          <p:nvPr/>
        </p:nvCxnSpPr>
        <p:spPr>
          <a:xfrm>
            <a:off x="685800" y="320056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200565"/>
            <a:ext cx="186845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явно расписать границы каждой роли</a:t>
            </a:r>
          </a:p>
        </p:txBody>
      </p:sp>
      <p:sp>
        <p:nvSpPr>
          <p:cNvPr id="20" name="TextBox 19"/>
          <p:cNvSpPr txBox="1"/>
          <p:nvPr/>
        </p:nvSpPr>
        <p:spPr>
          <a:xfrm>
            <a:off x="2700558" y="3200565"/>
            <a:ext cx="3463396"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показывает промежуток между ними до того, как он проявится багом</a:t>
            </a:r>
          </a:p>
        </p:txBody>
      </p:sp>
      <p:sp>
        <p:nvSpPr>
          <p:cNvPr id="21" name="TextBox 20"/>
          <p:cNvSpPr txBox="1"/>
          <p:nvPr/>
        </p:nvSpPr>
        <p:spPr>
          <a:xfrm>
            <a:off x="6310258" y="3200565"/>
            <a:ext cx="5046589"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расписать нужно осознанно — само появление второй роли этой работы не делает</a:t>
            </a:r>
          </a:p>
        </p:txBody>
      </p:sp>
      <p:cxnSp>
        <p:nvCxnSpPr>
          <p:cNvPr id="22" name="Connector 21"/>
          <p:cNvCxnSpPr/>
          <p:nvPr/>
        </p:nvCxnSpPr>
        <p:spPr>
          <a:xfrm>
            <a:off x="685800" y="391284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12844"/>
            <a:ext cx="186845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вернуться к одной роли</a:t>
            </a:r>
          </a:p>
        </p:txBody>
      </p:sp>
      <p:sp>
        <p:nvSpPr>
          <p:cNvPr id="24" name="TextBox 23"/>
          <p:cNvSpPr txBox="1"/>
          <p:nvPr/>
        </p:nvSpPr>
        <p:spPr>
          <a:xfrm>
            <a:off x="2700558" y="3912844"/>
            <a:ext cx="346339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подходит, когда шаг одной роли зависит от того, что увидела другая</a:t>
            </a:r>
          </a:p>
        </p:txBody>
      </p:sp>
      <p:sp>
        <p:nvSpPr>
          <p:cNvPr id="25" name="TextBox 24"/>
          <p:cNvSpPr txBox="1"/>
          <p:nvPr/>
        </p:nvSpPr>
        <p:spPr>
          <a:xfrm>
            <a:off x="6310258" y="3912844"/>
            <a:ext cx="504658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теряет параллельность там, где она была нужна ради скорости</a:t>
            </a:r>
          </a:p>
        </p:txBody>
      </p:sp>
      <p:sp>
        <p:nvSpPr>
          <p:cNvPr id="26" name="Rounded Rectangle 25"/>
          <p:cNvSpPr/>
          <p:nvPr/>
        </p:nvSpPr>
        <p:spPr>
          <a:xfrm>
            <a:off x="502920" y="4841405"/>
            <a:ext cx="82296" cy="14554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969421"/>
            <a:ext cx="10643616" cy="119938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Вывод.</a:t>
            </a:r>
            <a:r>
              <a:rPr sz="1500" b="1" i="0">
                <a:solidFill>
                  <a:srgbClr val="141B2E"/>
                </a:solidFill>
                <a:latin typeface="Arial"/>
              </a:rPr>
              <a:t> Работает четвёртый вариант, и работает он тем же, чем работал приём четверга: он называет условие вслух. Третий добавляет роль ради проблемы, которую создали первые две. Второй возвращает к широкому доступу, от которого ступень уже отказалась. И отметьте, чего в таблице нет вовсе: варианта «добавить ещё ролей». На задаче, которая не делится, это ход в сторону, противоположную цели.</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Масштаб, не единичный случай</a:t>
            </a:r>
          </a:p>
        </p:txBody>
      </p:sp>
      <p:sp>
        <p:nvSpPr>
          <p:cNvPr id="3" name="Rounded Rectangle 2"/>
          <p:cNvSpPr/>
          <p:nvPr/>
        </p:nvSpPr>
        <p:spPr>
          <a:xfrm>
            <a:off x="502920" y="1056953"/>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18496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Для наших двух ролей.</a:t>
            </a:r>
            <a:r>
              <a:rPr sz="1500" b="1" i="0">
                <a:solidFill>
                  <a:srgbClr val="141B2E"/>
                </a:solidFill>
                <a:latin typeface="Arial"/>
              </a:rPr>
              <a:t> Диф-ревьюер и тестировщик из прошлой сцены работают без третьей роли, сверяющей их согласованность. Вот что об этом говорит измерение на масштабе, не на одном случае.</a:t>
            </a:r>
          </a:p>
        </p:txBody>
      </p:sp>
      <p:sp>
        <p:nvSpPr>
          <p:cNvPr id="5" name="Rounded Rectangle 4"/>
          <p:cNvSpPr/>
          <p:nvPr/>
        </p:nvSpPr>
        <p:spPr>
          <a:xfrm>
            <a:off x="502920" y="2252298"/>
            <a:ext cx="11183112" cy="2620073"/>
          </a:xfrm>
          <a:prstGeom prst="roundRect">
            <a:avLst>
              <a:gd name="adj" fmla="val 11633"/>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21208" y="2343738"/>
            <a:ext cx="68580" cy="2437193"/>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435178"/>
            <a:ext cx="1516781"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ИСТОЧНИК</a:t>
            </a:r>
          </a:p>
        </p:txBody>
      </p:sp>
      <p:sp>
        <p:nvSpPr>
          <p:cNvPr id="8" name="TextBox 7"/>
          <p:cNvSpPr txBox="1"/>
          <p:nvPr/>
        </p:nvSpPr>
        <p:spPr>
          <a:xfrm>
            <a:off x="2348885" y="2435178"/>
            <a:ext cx="6221779"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ТЕЗИС</a:t>
            </a:r>
          </a:p>
        </p:txBody>
      </p:sp>
      <p:sp>
        <p:nvSpPr>
          <p:cNvPr id="9" name="TextBox 8"/>
          <p:cNvSpPr txBox="1"/>
          <p:nvPr/>
        </p:nvSpPr>
        <p:spPr>
          <a:xfrm>
            <a:off x="8716968" y="2435178"/>
            <a:ext cx="2639879"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СИЛА ДОКАЗАТЕЛЬСТВА</a:t>
            </a:r>
          </a:p>
        </p:txBody>
      </p:sp>
      <p:sp>
        <p:nvSpPr>
          <p:cNvPr id="10" name="TextBox 9"/>
          <p:cNvSpPr txBox="1"/>
          <p:nvPr/>
        </p:nvSpPr>
        <p:spPr>
          <a:xfrm>
            <a:off x="685800" y="2717245"/>
            <a:ext cx="15167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Cemri и др., «MAST», arXiv:2503.13657 (NeurIPS 2025 D&amp;B)</a:t>
            </a:r>
          </a:p>
        </p:txBody>
      </p:sp>
      <p:sp>
        <p:nvSpPr>
          <p:cNvPr id="11" name="TextBox 10"/>
          <p:cNvSpPr txBox="1"/>
          <p:nvPr/>
        </p:nvSpPr>
        <p:spPr>
          <a:xfrm>
            <a:off x="2348885" y="2717245"/>
            <a:ext cx="6221779"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 41 до 87% размеченных трасс (в зависимости от фреймворка) — провальные; три категории причин: спецификация задачи и роли ≈42%, рассогласование между агентами ≈37%, верификация результата ≈21%</a:t>
            </a:r>
          </a:p>
        </p:txBody>
      </p:sp>
      <p:sp>
        <p:nvSpPr>
          <p:cNvPr id="12" name="TextBox 11"/>
          <p:cNvSpPr txBox="1"/>
          <p:nvPr/>
        </p:nvSpPr>
        <p:spPr>
          <a:xfrm>
            <a:off x="8716968" y="2717245"/>
            <a:ext cx="2639879"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сильное: ручная разметка 1600+ трасс по 7 фреймворкам, межэкспертное согласие κ=0,88</a:t>
            </a:r>
          </a:p>
        </p:txBody>
      </p:sp>
      <p:cxnSp>
        <p:nvCxnSpPr>
          <p:cNvPr id="13" name="Connector 12"/>
          <p:cNvCxnSpPr/>
          <p:nvPr/>
        </p:nvCxnSpPr>
        <p:spPr>
          <a:xfrm>
            <a:off x="685800" y="379464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794649"/>
            <a:ext cx="1516781"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Kim, Gu, Park и др. (Google Research), arXiv:2512.08296</a:t>
            </a:r>
          </a:p>
        </p:txBody>
      </p:sp>
      <p:sp>
        <p:nvSpPr>
          <p:cNvPr id="15" name="TextBox 14"/>
          <p:cNvSpPr txBox="1"/>
          <p:nvPr/>
        </p:nvSpPr>
        <p:spPr>
          <a:xfrm>
            <a:off x="2348885" y="3794649"/>
            <a:ext cx="6221779"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 последовательной задаче схема проигрывает одноагентной той же задачи на 39–70%; без координатора число ошибок усиливается в 17,2 раза относительно одноагентной системы на входе, с централизованной проверкой — в 4,4 раза</a:t>
            </a:r>
          </a:p>
        </p:txBody>
      </p:sp>
      <p:sp>
        <p:nvSpPr>
          <p:cNvPr id="16" name="TextBox 15"/>
          <p:cNvSpPr txBox="1"/>
          <p:nvPr/>
        </p:nvSpPr>
        <p:spPr>
          <a:xfrm>
            <a:off x="8716968" y="3794649"/>
            <a:ext cx="2639879" cy="894842"/>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сильное: контролируемый эксперимент, 260 конфигураций, 6 бенчмарков, 5 архитектур</a:t>
            </a:r>
          </a:p>
        </p:txBody>
      </p:sp>
      <p:sp>
        <p:nvSpPr>
          <p:cNvPr id="17" name="Rounded Rectangle 16"/>
          <p:cNvSpPr/>
          <p:nvPr/>
        </p:nvSpPr>
        <p:spPr>
          <a:xfrm>
            <a:off x="502920" y="5320957"/>
            <a:ext cx="11183112" cy="836295"/>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5458117"/>
            <a:ext cx="10707624" cy="561974"/>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Честный пробел.</a:t>
            </a:r>
            <a:r>
              <a:rPr sz="1250" b="0" i="1">
                <a:solidFill>
                  <a:srgbClr val="6B7685"/>
                </a:solidFill>
                <a:latin typeface="Arial"/>
              </a:rPr>
              <a:t> Проверить рассогласование двух параллельных ролей на репозитории курса или на машине студента нечем — ни один инструмент проверяемости занятия это не демонстрирует. Утверждение подтверждено исследованием, не командой на занятии.</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Один приём закрывает промежуток: граница в обе стороны</a:t>
            </a:r>
          </a:p>
        </p:txBody>
      </p:sp>
      <p:pic>
        <p:nvPicPr>
          <p:cNvPr id="3" name="Picture 2" descr="subagent-n52-granitsa-dvukh-rolei.png"/>
          <p:cNvPicPr>
            <a:picLocks noChangeAspect="1"/>
          </p:cNvPicPr>
          <p:nvPr/>
        </p:nvPicPr>
        <p:blipFill>
          <a:blip r:embed="rId2"/>
          <a:stretch>
            <a:fillRect/>
          </a:stretch>
        </p:blipFill>
        <p:spPr>
          <a:xfrm>
            <a:off x="1177801" y="1319784"/>
            <a:ext cx="9833348" cy="2950004"/>
          </a:xfrm>
          <a:prstGeom prst="rect">
            <a:avLst/>
          </a:prstGeom>
        </p:spPr>
      </p:pic>
      <p:sp>
        <p:nvSpPr>
          <p:cNvPr id="4" name="Rounded Rectangle 3"/>
          <p:cNvSpPr/>
          <p:nvPr/>
        </p:nvSpPr>
        <p:spPr>
          <a:xfrm>
            <a:off x="502920" y="4434380"/>
            <a:ext cx="82296" cy="652272"/>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4562396"/>
            <a:ext cx="10643616" cy="396240"/>
          </a:xfrm>
          <a:prstGeom prst="rect">
            <a:avLst/>
          </a:prstGeom>
          <a:noFill/>
        </p:spPr>
        <p:txBody>
          <a:bodyPr wrap="square" lIns="0" rIns="0" tIns="0" bIns="0" anchor="ctr">
            <a:spAutoFit/>
          </a:bodyPr>
          <a:lstStyle/>
          <a:p>
            <a:pPr algn="l">
              <a:lnSpc>
                <a:spcPts val="1488"/>
              </a:lnSpc>
              <a:spcAft>
                <a:spcPts val="300"/>
              </a:spcAft>
            </a:pPr>
            <a:r>
              <a:rPr sz="1200" b="1" i="0">
                <a:solidFill>
                  <a:srgbClr val="141B2E"/>
                </a:solidFill>
                <a:latin typeface="Arial"/>
              </a:rPr>
              <a:t>Диф-ревьюер с одностраничника этой ступени уже это делает: «НЕ для ревью архитектурных решений — это отдельная роль». Тестировщику нужна симметричная строка: что входит в его проверку и что остаётся снаружи, по-доменному, не абстрактно.</a:t>
            </a:r>
          </a:p>
        </p:txBody>
      </p:sp>
      <p:sp>
        <p:nvSpPr>
          <p:cNvPr id="6" name="Rounded Rectangle 5"/>
          <p:cNvSpPr/>
          <p:nvPr/>
        </p:nvSpPr>
        <p:spPr>
          <a:xfrm>
            <a:off x="502920" y="5251244"/>
            <a:ext cx="82296" cy="71526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5379260"/>
            <a:ext cx="10643616" cy="459231"/>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Граница, записанная в двух описаниях, промежутка не убирает — она делает его видимым тому, кто читает оба описания рядом. Увидеть промежуток до показа заказчику остаётся решением человека.</a:t>
            </a:r>
          </a:p>
        </p:txBody>
      </p:sp>
      <p:sp>
        <p:nvSpPr>
          <p:cNvPr id="8" name="TextBox 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Неделя по очереди — и где вторая роль всё-таки оправдана</a:t>
            </a:r>
          </a:p>
        </p:txBody>
      </p:sp>
      <p:sp>
        <p:nvSpPr>
          <p:cNvPr id="3" name="Rounded Rectangle 2"/>
          <p:cNvSpPr/>
          <p:nvPr/>
        </p:nvSpPr>
        <p:spPr>
          <a:xfrm>
            <a:off x="502920" y="1319784"/>
            <a:ext cx="82296" cy="106172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805688"/>
          </a:xfrm>
          <a:prstGeom prst="rect">
            <a:avLst/>
          </a:prstGeom>
          <a:noFill/>
        </p:spPr>
        <p:txBody>
          <a:bodyPr wrap="square" lIns="0" rIns="0" tIns="0" bIns="0" anchor="ctr">
            <a:spAutoFit/>
          </a:bodyPr>
          <a:lstStyle/>
          <a:p>
            <a:pPr algn="l">
              <a:lnSpc>
                <a:spcPts val="1550"/>
              </a:lnSpc>
              <a:spcAft>
                <a:spcPts val="300"/>
              </a:spcAft>
            </a:pPr>
            <a:r>
              <a:rPr sz="1250" b="1" i="0">
                <a:solidFill>
                  <a:srgbClr val="141B2E"/>
                </a:solidFill>
                <a:latin typeface="Arial"/>
              </a:rPr>
              <a:t>Отраслевой разворот, как метка границы.</a:t>
            </a:r>
            <a:r>
              <a:rPr sz="1250" b="1" i="0">
                <a:solidFill>
                  <a:srgbClr val="141B2E"/>
                </a:solidFill>
                <a:latin typeface="Arial"/>
              </a:rPr>
              <a:t> Одна команда год назад полностью отвергала мультиагентность, называя неструктурированный «рой» отвлекающим фактором. Десять месяцев спустя она же вернулась к двум узким паттернам — ревью-цепочка (отдельная роль находит в среднем два бага на правку, из них около 58% серьёзных) и связка из двух разных топ-моделей на самых сложных сценариях. «Рой» без границ она по-прежнему называет отвлекающим фактором.</a:t>
            </a:r>
          </a:p>
        </p:txBody>
      </p:sp>
      <p:sp>
        <p:nvSpPr>
          <p:cNvPr id="5" name="Rounded Rectangle 4"/>
          <p:cNvSpPr/>
          <p:nvPr/>
        </p:nvSpPr>
        <p:spPr>
          <a:xfrm>
            <a:off x="502920" y="2546096"/>
            <a:ext cx="82296" cy="1187704"/>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674112"/>
            <a:ext cx="10643616" cy="931672"/>
          </a:xfrm>
          <a:prstGeom prst="rect">
            <a:avLst/>
          </a:prstGeom>
          <a:noFill/>
        </p:spPr>
        <p:txBody>
          <a:bodyPr wrap="square" lIns="0" rIns="0" tIns="0" bIns="0" anchor="ctr">
            <a:spAutoFit/>
          </a:bodyPr>
          <a:lstStyle/>
          <a:p>
            <a:pPr algn="l">
              <a:lnSpc>
                <a:spcPts val="1798"/>
              </a:lnSpc>
              <a:spcAft>
                <a:spcPts val="300"/>
              </a:spcAft>
            </a:pPr>
            <a:r>
              <a:rPr sz="1450" b="1" i="0">
                <a:solidFill>
                  <a:srgbClr val="141B2E"/>
                </a:solidFill>
                <a:latin typeface="Arial"/>
              </a:rPr>
              <a:t>Параллельность лежит в задаче.</a:t>
            </a:r>
            <a:r>
              <a:rPr sz="1450" b="1" i="0">
                <a:solidFill>
                  <a:srgbClr val="141B2E"/>
                </a:solidFill>
                <a:latin typeface="Arial"/>
              </a:rPr>
              <a:t> Интуиция считала исполнителей: больше ролей — быстрее и надёжнее. Проверка назвала условие: выигрыш есть там, где задачи независимы и границы между ними названы вслух. Нашему разработчику неверно снятый урок стоил недели работы по очереди — включая те правки, которые спокойно делились. Баг у заказчика стоил часа; доверие к приёму стоило недели.</a:t>
            </a:r>
          </a:p>
        </p:txBody>
      </p:sp>
      <p:sp>
        <p:nvSpPr>
          <p:cNvPr id="7" name="Rounded Rectangle 6"/>
          <p:cNvSpPr/>
          <p:nvPr/>
        </p:nvSpPr>
        <p:spPr>
          <a:xfrm>
            <a:off x="502920" y="3898392"/>
            <a:ext cx="5454396" cy="1905000"/>
          </a:xfrm>
          <a:prstGeom prst="roundRect">
            <a:avLst>
              <a:gd name="adj" fmla="val 1599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00812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ВТОРАЯ РОЛЬ ОПРАВДАНА, КОГДА</a:t>
            </a:r>
          </a:p>
        </p:txBody>
      </p:sp>
      <p:sp>
        <p:nvSpPr>
          <p:cNvPr id="9" name="TextBox 8"/>
          <p:cNvSpPr txBox="1"/>
          <p:nvPr/>
        </p:nvSpPr>
        <p:spPr>
          <a:xfrm>
            <a:off x="685800" y="4282440"/>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задача действительно параллелится — шаг одной роли не нуждается в выводе другой</a:t>
            </a:r>
          </a:p>
        </p:txBody>
      </p:sp>
      <p:cxnSp>
        <p:nvCxnSpPr>
          <p:cNvPr id="10" name="Connector 9"/>
          <p:cNvCxnSpPr/>
          <p:nvPr/>
        </p:nvCxnSpPr>
        <p:spPr>
          <a:xfrm>
            <a:off x="685800" y="4773422"/>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773422"/>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узкая роль проверяет одну конкретную правку в своей зоне и этим окупается — диф-ревьюер и тестировщик из нашей сцены, ровно этот случай</a:t>
            </a:r>
          </a:p>
        </p:txBody>
      </p:sp>
      <p:sp>
        <p:nvSpPr>
          <p:cNvPr id="12" name="Rounded Rectangle 11"/>
          <p:cNvSpPr/>
          <p:nvPr/>
        </p:nvSpPr>
        <p:spPr>
          <a:xfrm>
            <a:off x="6231636" y="3898392"/>
            <a:ext cx="5454396" cy="1905000"/>
          </a:xfrm>
          <a:prstGeom prst="roundRect">
            <a:avLst>
              <a:gd name="adj" fmla="val 15999"/>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4008120"/>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КООРДИНАТОР ИЛИ ОБЪЕДИНЕНИЕ ЛИШНИЕ, КОГДА</a:t>
            </a:r>
          </a:p>
        </p:txBody>
      </p:sp>
      <p:sp>
        <p:nvSpPr>
          <p:cNvPr id="14" name="TextBox 13"/>
          <p:cNvSpPr txBox="1"/>
          <p:nvPr/>
        </p:nvSpPr>
        <p:spPr>
          <a:xfrm>
            <a:off x="6414516" y="4282440"/>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шаги зависимы — разбиение на роли умножает ошибку: в 17,2 раза без координатора, в 4,4 даже при централизованной проверке</a:t>
            </a:r>
          </a:p>
        </p:txBody>
      </p:sp>
      <p:cxnSp>
        <p:nvCxnSpPr>
          <p:cNvPr id="15" name="Connector 14"/>
          <p:cNvCxnSpPr/>
          <p:nvPr/>
        </p:nvCxnSpPr>
        <p:spPr>
          <a:xfrm>
            <a:off x="6414516" y="4728464"/>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4728464"/>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лишний слой поверх уже сделанной работы не окупается — координатору нечего делать, кроме как сверять то, что уже сделали другие</a:t>
            </a:r>
          </a:p>
        </p:txBody>
      </p:sp>
      <p:cxnSp>
        <p:nvCxnSpPr>
          <p:cNvPr id="17" name="Connector 16"/>
          <p:cNvCxnSpPr/>
          <p:nvPr/>
        </p:nvCxnSpPr>
        <p:spPr>
          <a:xfrm>
            <a:off x="6414516" y="5174488"/>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14516" y="5174488"/>
            <a:ext cx="5088636" cy="446024"/>
          </a:xfrm>
          <a:prstGeom prst="rect">
            <a:avLst/>
          </a:prstGeom>
          <a:noFill/>
        </p:spPr>
        <p:txBody>
          <a:bodyPr wrap="square" lIns="0" rIns="0" tIns="0" bIns="0" anchor="ctr">
            <a:spAutoFit/>
          </a:bodyPr>
          <a:lstStyle/>
          <a:p>
            <a:pPr algn="l">
              <a:lnSpc>
                <a:spcPts val="1180"/>
              </a:lnSpc>
              <a:spcAft>
                <a:spcPts val="0"/>
              </a:spcAft>
            </a:pPr>
            <a:r>
              <a:rPr sz="1000" b="0" i="0">
                <a:solidFill>
                  <a:srgbClr val="141B2E"/>
                </a:solidFill>
                <a:latin typeface="Arial"/>
              </a:rPr>
              <a:t>задача и так дешёвая, а цена пропущенной ошибки низкая — одна роль почти всегда дешевле двух</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ln>
            <a:noFill/>
          </a:ln>
          <a:effectLst/>
          <a:gradFill rotWithShape="1">
            <a:gsLst>
              <a:gs pos="0">
                <a:srgbClr val="21295C"/>
              </a:gs>
              <a:gs pos="55000">
                <a:srgbClr val="065A82"/>
              </a:gs>
              <a:gs pos="100000">
                <a:srgbClr val="1C7293"/>
              </a:gs>
            </a:gsLst>
            <a:lin ang="27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457200"/>
            <a:ext cx="5111496" cy="237744"/>
          </a:xfrm>
          <a:prstGeom prst="roundRect">
            <a:avLst>
              <a:gd name="adj" fmla="val 40000"/>
            </a:avLst>
          </a:prstGeom>
          <a:solidFill>
            <a:srgbClr val="3E4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24144" y="457200"/>
            <a:ext cx="5111496" cy="237744"/>
          </a:xfrm>
          <a:prstGeom prst="roundRect">
            <a:avLst>
              <a:gd name="adj" fmla="val 4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85216" y="2162556"/>
            <a:ext cx="694944" cy="694944"/>
          </a:xfrm>
          <a:prstGeom prst="ellipse">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 y="2162556"/>
            <a:ext cx="694944" cy="694944"/>
          </a:xfrm>
          <a:prstGeom prst="rect">
            <a:avLst/>
          </a:prstGeom>
          <a:noFill/>
        </p:spPr>
        <p:txBody>
          <a:bodyPr wrap="square" lIns="0" rIns="0" tIns="0" bIns="0" anchor="ctr">
            <a:spAutoFit/>
          </a:bodyPr>
          <a:lstStyle/>
          <a:p>
            <a:pPr algn="ctr">
              <a:lnSpc>
                <a:spcPts val="2950"/>
              </a:lnSpc>
              <a:spcAft>
                <a:spcPts val="0"/>
              </a:spcAft>
            </a:pPr>
            <a:r>
              <a:rPr sz="2500" b="1" i="0">
                <a:solidFill>
                  <a:srgbClr val="21295C"/>
                </a:solidFill>
                <a:latin typeface="Arial"/>
              </a:rPr>
              <a:t>6</a:t>
            </a:r>
          </a:p>
        </p:txBody>
      </p:sp>
      <p:sp>
        <p:nvSpPr>
          <p:cNvPr id="7" name="TextBox 6"/>
          <p:cNvSpPr txBox="1"/>
          <p:nvPr/>
        </p:nvSpPr>
        <p:spPr>
          <a:xfrm>
            <a:off x="1536192" y="2056637"/>
            <a:ext cx="9144000" cy="906780"/>
          </a:xfrm>
          <a:prstGeom prst="rect">
            <a:avLst/>
          </a:prstGeom>
          <a:noFill/>
        </p:spPr>
        <p:txBody>
          <a:bodyPr wrap="square" lIns="0" rIns="0" tIns="0" bIns="0" anchor="t">
            <a:spAutoFit/>
          </a:bodyPr>
          <a:lstStyle/>
          <a:p>
            <a:pPr algn="l">
              <a:lnSpc>
                <a:spcPts val="3570"/>
              </a:lnSpc>
              <a:spcAft>
                <a:spcPts val="0"/>
              </a:spcAft>
            </a:pPr>
            <a:r>
              <a:rPr sz="3400" b="1" i="0">
                <a:solidFill>
                  <a:srgbClr val="FFFFFF"/>
                </a:solidFill>
                <a:latin typeface="Arial"/>
              </a:rPr>
              <a:t>Роль заводят все. Права не урезает никто</a:t>
            </a:r>
          </a:p>
        </p:txBody>
      </p:sp>
      <p:sp>
        <p:nvSpPr>
          <p:cNvPr id="8" name="TextBox 7"/>
          <p:cNvSpPr txBox="1"/>
          <p:nvPr/>
        </p:nvSpPr>
        <p:spPr>
          <a:xfrm>
            <a:off x="822960" y="3274314"/>
            <a:ext cx="9509760" cy="1709928"/>
          </a:xfrm>
          <a:prstGeom prst="rect">
            <a:avLst/>
          </a:prstGeom>
          <a:noFill/>
        </p:spPr>
        <p:txBody>
          <a:bodyPr wrap="square" lIns="0" rIns="0" tIns="0" bIns="0" anchor="t">
            <a:spAutoFit/>
          </a:bodyPr>
          <a:lstStyle/>
          <a:p>
            <a:pPr algn="l">
              <a:lnSpc>
                <a:spcPts val="2244"/>
              </a:lnSpc>
              <a:spcAft>
                <a:spcPts val="400"/>
              </a:spcAft>
            </a:pPr>
            <a:r>
              <a:rPr sz="1700" b="0" i="1">
                <a:solidFill>
                  <a:srgbClr val="D6E2EC"/>
                </a:solidFill>
                <a:latin typeface="Arial"/>
              </a:rPr>
              <a:t>Та же проверка повторяется из сессии в сессию, и каждый раз её объясняют заново. Завести под неё роль вы согласитесь сразу; отнять у роли лишнее — скажете, что это и так делают все. В каталоге ролей, по которому собрано это занятие, четырнадцать ролей и ни одного работающего урезания прав. Решаем, что завести и что отнять.</a:t>
            </a:r>
          </a:p>
        </p:txBody>
      </p:sp>
      <p:sp>
        <p:nvSpPr>
          <p:cNvPr id="9" name="Rounded Rectangle 8"/>
          <p:cNvSpPr/>
          <p:nvPr/>
        </p:nvSpPr>
        <p:spPr>
          <a:xfrm>
            <a:off x="502920" y="5989320"/>
            <a:ext cx="5500116" cy="38404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989320"/>
            <a:ext cx="5500116" cy="384048"/>
          </a:xfrm>
          <a:prstGeom prst="rect">
            <a:avLst/>
          </a:prstGeom>
          <a:noFill/>
        </p:spPr>
        <p:txBody>
          <a:bodyPr wrap="square" lIns="0" rIns="0" tIns="0" bIns="0" anchor="ctr">
            <a:spAutoFit/>
          </a:bodyPr>
          <a:lstStyle/>
          <a:p>
            <a:pPr algn="ctr">
              <a:lnSpc>
                <a:spcPts val="1475"/>
              </a:lnSpc>
              <a:spcAft>
                <a:spcPts val="0"/>
              </a:spcAft>
            </a:pPr>
            <a:r>
              <a:rPr sz="1250" b="0" i="0">
                <a:solidFill>
                  <a:srgbClr val="FFFFFF"/>
                </a:solidFill>
                <a:latin typeface="Arial"/>
              </a:rPr>
              <a:t>MCP</a:t>
            </a:r>
          </a:p>
        </p:txBody>
      </p:sp>
      <p:sp>
        <p:nvSpPr>
          <p:cNvPr id="11" name="Rounded Rectangle 10"/>
          <p:cNvSpPr/>
          <p:nvPr/>
        </p:nvSpPr>
        <p:spPr>
          <a:xfrm>
            <a:off x="6185916" y="5989320"/>
            <a:ext cx="5500116" cy="38404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5916" y="5989320"/>
            <a:ext cx="5500116" cy="384048"/>
          </a:xfrm>
          <a:prstGeom prst="rect">
            <a:avLst/>
          </a:prstGeom>
          <a:noFill/>
        </p:spPr>
        <p:txBody>
          <a:bodyPr wrap="square" lIns="0" rIns="0" tIns="0" bIns="0" anchor="ctr">
            <a:spAutoFit/>
          </a:bodyPr>
          <a:lstStyle/>
          <a:p>
            <a:pPr algn="ctr">
              <a:lnSpc>
                <a:spcPts val="1475"/>
              </a:lnSpc>
              <a:spcAft>
                <a:spcPts val="0"/>
              </a:spcAft>
            </a:pPr>
            <a:r>
              <a:rPr sz="1250" b="1" i="0">
                <a:solidFill>
                  <a:srgbClr val="21295C"/>
                </a:solidFill>
                <a:latin typeface="Arial"/>
              </a:rPr>
              <a:t>Субагент</a:t>
            </a:r>
          </a:p>
        </p:txBody>
      </p:sp>
      <p:sp>
        <p:nvSpPr>
          <p:cNvPr id="13" name="TextBox 12"/>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FFFFFF"/>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Третью неделю он объясняет одно и то же. Один раз получил правку вместо отчёта</a:t>
            </a:r>
          </a:p>
        </p:txBody>
      </p:sp>
      <p:sp>
        <p:nvSpPr>
          <p:cNvPr id="3" name="Rounded Rectangle 2"/>
          <p:cNvSpPr/>
          <p:nvPr/>
        </p:nvSpPr>
        <p:spPr>
          <a:xfrm>
            <a:off x="502920" y="134792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7594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Разработчик попросил ужесточить проверку email в форме: старое поведение пропускало адрес без точки в домене, и такая заявка уже пришла от заказчика.</a:t>
            </a:r>
          </a:p>
        </p:txBody>
      </p:sp>
      <p:sp>
        <p:nvSpPr>
          <p:cNvPr id="5" name="Rounded Rectangle 4"/>
          <p:cNvSpPr/>
          <p:nvPr/>
        </p:nvSpPr>
        <p:spPr>
          <a:xfrm>
            <a:off x="502920" y="2329637"/>
            <a:ext cx="11183112" cy="2974086"/>
          </a:xfrm>
          <a:prstGeom prst="roundRect">
            <a:avLst>
              <a:gd name="adj" fmla="val 10248"/>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549093"/>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1</a:t>
            </a:r>
          </a:p>
        </p:txBody>
      </p:sp>
      <p:sp>
        <p:nvSpPr>
          <p:cNvPr id="7" name="TextBox 6"/>
          <p:cNvSpPr txBox="1"/>
          <p:nvPr/>
        </p:nvSpPr>
        <p:spPr>
          <a:xfrm>
            <a:off x="1106424" y="2549093"/>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Сессия, которая писала правку, проверяет её ещё раз сама, максимально внимательно. Ничего нового не находит — это тот же контекст рассуждений, с которым правка и писалась.</a:t>
            </a:r>
          </a:p>
        </p:txBody>
      </p:sp>
      <p:sp>
        <p:nvSpPr>
          <p:cNvPr id="8" name="TextBox 7"/>
          <p:cNvSpPr txBox="1"/>
          <p:nvPr/>
        </p:nvSpPr>
        <p:spPr>
          <a:xfrm>
            <a:off x="722376" y="3081731"/>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2</a:t>
            </a:r>
          </a:p>
        </p:txBody>
      </p:sp>
      <p:sp>
        <p:nvSpPr>
          <p:cNvPr id="9" name="TextBox 8"/>
          <p:cNvSpPr txBox="1"/>
          <p:nvPr/>
        </p:nvSpPr>
        <p:spPr>
          <a:xfrm>
            <a:off x="1106424" y="3081731"/>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Он просит проверить отдельным агентом — делает так каждый раз с тех пор, как начал делегировать. Это работает немедленно, без единой строки настройки: агент получает задачу в собственном контекстном окне, истории рассуждений не видит, возвращает только итог.</a:t>
            </a:r>
          </a:p>
        </p:txBody>
      </p:sp>
      <p:sp>
        <p:nvSpPr>
          <p:cNvPr id="10" name="TextBox 9"/>
          <p:cNvSpPr txBox="1"/>
          <p:nvPr/>
        </p:nvSpPr>
        <p:spPr>
          <a:xfrm>
            <a:off x="722376" y="3816680"/>
            <a:ext cx="329184" cy="734949"/>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3</a:t>
            </a:r>
          </a:p>
        </p:txBody>
      </p:sp>
      <p:sp>
        <p:nvSpPr>
          <p:cNvPr id="11" name="TextBox 10"/>
          <p:cNvSpPr txBox="1"/>
          <p:nvPr/>
        </p:nvSpPr>
        <p:spPr>
          <a:xfrm>
            <a:off x="1106424" y="3816680"/>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Третью неделю он пересказывает этому агенту одни и те же требования к ревью, каждый раз формулируя чуть иначе. Ответы расходятся следом: где-то есть раздел «что проверено», где-то нет, где-то вердикт спрятан в середине абзаца.</a:t>
            </a:r>
          </a:p>
        </p:txBody>
      </p:sp>
      <p:sp>
        <p:nvSpPr>
          <p:cNvPr id="12" name="TextBox 11"/>
          <p:cNvSpPr txBox="1"/>
          <p:nvPr/>
        </p:nvSpPr>
        <p:spPr>
          <a:xfrm>
            <a:off x="722376" y="4551629"/>
            <a:ext cx="329184" cy="532638"/>
          </a:xfrm>
          <a:prstGeom prst="rect">
            <a:avLst/>
          </a:prstGeom>
          <a:noFill/>
        </p:spPr>
        <p:txBody>
          <a:bodyPr wrap="square" lIns="0" rIns="0" tIns="0" bIns="0" anchor="ctr">
            <a:spAutoFit/>
          </a:bodyPr>
          <a:lstStyle/>
          <a:p>
            <a:pPr algn="l">
              <a:lnSpc>
                <a:spcPts val="1829"/>
              </a:lnSpc>
              <a:spcAft>
                <a:spcPts val="0"/>
              </a:spcAft>
            </a:pPr>
            <a:r>
              <a:rPr sz="1550" b="1" i="0">
                <a:solidFill>
                  <a:srgbClr val="028090"/>
                </a:solidFill>
                <a:latin typeface="Arial"/>
              </a:rPr>
              <a:t>4</a:t>
            </a:r>
          </a:p>
        </p:txBody>
      </p:sp>
      <p:sp>
        <p:nvSpPr>
          <p:cNvPr id="13" name="TextBox 12"/>
          <p:cNvSpPr txBox="1"/>
          <p:nvPr/>
        </p:nvSpPr>
        <p:spPr>
          <a:xfrm>
            <a:off x="1106424" y="4551629"/>
            <a:ext cx="10360152" cy="532638"/>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Однажды вместо отчёта приходит внесённая правка: агент нашёл проблему в выражении проверки адреса и переписал его сам. Прав у роли никто не ограничивал — инструмент правки у неё был.</a:t>
            </a:r>
          </a:p>
        </p:txBody>
      </p:sp>
      <p:sp>
        <p:nvSpPr>
          <p:cNvPr id="14" name="Rounded Rectangle 13"/>
          <p:cNvSpPr/>
          <p:nvPr/>
        </p:nvSpPr>
        <p:spPr>
          <a:xfrm>
            <a:off x="502920" y="5538673"/>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666689"/>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Он не заметил. Правка выглядела разумной, ушла в мерж вместе с его собственной — и через день форма перестала принимать адреса с плюсом в имени.</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Делегировать уже умеете. Что завести рядом?</a:t>
            </a:r>
          </a:p>
        </p:txBody>
      </p:sp>
      <p:sp>
        <p:nvSpPr>
          <p:cNvPr id="3" name="Rounded Rectangle 2"/>
          <p:cNvSpPr/>
          <p:nvPr/>
        </p:nvSpPr>
        <p:spPr>
          <a:xfrm>
            <a:off x="502920" y="1117168"/>
            <a:ext cx="11183112" cy="678942"/>
          </a:xfrm>
          <a:prstGeom prst="roundRect">
            <a:avLst>
              <a:gd name="adj" fmla="val 25000"/>
            </a:avLst>
          </a:prstGeom>
          <a:solidFill>
            <a:srgbClr val="E0F1F2"/>
          </a:solidFill>
          <a:ln w="1397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172032"/>
            <a:ext cx="64008" cy="56921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254328"/>
            <a:ext cx="10643616" cy="404621"/>
          </a:xfrm>
          <a:prstGeom prst="rect">
            <a:avLst/>
          </a:prstGeom>
          <a:noFill/>
        </p:spPr>
        <p:txBody>
          <a:bodyPr wrap="square" lIns="0" rIns="0" tIns="0" bIns="0" anchor="ctr">
            <a:spAutoFit/>
          </a:bodyPr>
          <a:lstStyle/>
          <a:p>
            <a:pPr algn="l">
              <a:lnSpc>
                <a:spcPts val="1593"/>
              </a:lnSpc>
              <a:spcAft>
                <a:spcPts val="300"/>
              </a:spcAft>
            </a:pPr>
            <a:r>
              <a:rPr sz="1350" b="0" i="0">
                <a:solidFill>
                  <a:srgbClr val="141B2E"/>
                </a:solidFill>
                <a:latin typeface="Arial"/>
              </a:rPr>
              <a:t>Делегировать отдельному агенту вы уже умеете — это ничего не стоит и не требует ни одной строчки конфигурации.</a:t>
            </a:r>
          </a:p>
        </p:txBody>
      </p:sp>
      <p:sp>
        <p:nvSpPr>
          <p:cNvPr id="6" name="Rectangle 5"/>
          <p:cNvSpPr/>
          <p:nvPr/>
        </p:nvSpPr>
        <p:spPr>
          <a:xfrm>
            <a:off x="502920" y="2431808"/>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8" y="2486672"/>
            <a:ext cx="10730484" cy="416052"/>
          </a:xfrm>
          <a:prstGeom prst="rect">
            <a:avLst/>
          </a:prstGeom>
          <a:noFill/>
        </p:spPr>
        <p:txBody>
          <a:bodyPr wrap="square" lIns="0" rIns="0" tIns="0" bIns="0" anchor="ctr">
            <a:spAutoFit/>
          </a:bodyPr>
          <a:lstStyle/>
          <a:p>
            <a:pPr algn="l">
              <a:lnSpc>
                <a:spcPts val="1638"/>
              </a:lnSpc>
              <a:spcAft>
                <a:spcPts val="300"/>
              </a:spcAft>
            </a:pPr>
            <a:r>
              <a:rPr sz="1300" b="1" i="1">
                <a:solidFill>
                  <a:srgbClr val="6B7685"/>
                </a:solidFill>
                <a:latin typeface="Arial"/>
              </a:rPr>
              <a:t>И всё равно раз за разом формулируете задачу заново, получаете несравнимые между собой ответы, а один раз агент вместо находки внёс правку сам.</a:t>
            </a:r>
          </a:p>
        </p:txBody>
      </p:sp>
      <p:sp>
        <p:nvSpPr>
          <p:cNvPr id="8" name="Rounded Rectangle 7"/>
          <p:cNvSpPr/>
          <p:nvPr/>
        </p:nvSpPr>
        <p:spPr>
          <a:xfrm>
            <a:off x="502920" y="3593287"/>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3721303"/>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Выберите, что теперь стоит завести — из карточек ниже — и обоснуйте выбор рядом со встроенным делегированием, которое у вас уже есть и ничего не стоит.</a:t>
            </a:r>
          </a:p>
        </p:txBody>
      </p:sp>
      <p:sp>
        <p:nvSpPr>
          <p:cNvPr id="10" name="Rounded Rectangle 9"/>
          <p:cNvSpPr/>
          <p:nvPr/>
        </p:nvSpPr>
        <p:spPr>
          <a:xfrm>
            <a:off x="502920" y="5015369"/>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5015369"/>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ничего — делегирование уже есть</a:t>
            </a:r>
          </a:p>
        </p:txBody>
      </p:sp>
      <p:sp>
        <p:nvSpPr>
          <p:cNvPr id="12" name="Rounded Rectangle 11"/>
          <p:cNvSpPr/>
          <p:nvPr/>
        </p:nvSpPr>
        <p:spPr>
          <a:xfrm>
            <a:off x="2768803" y="5015369"/>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8531" y="5015369"/>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писать запрос подробнее каждый раз</a:t>
            </a:r>
          </a:p>
        </p:txBody>
      </p:sp>
      <p:sp>
        <p:nvSpPr>
          <p:cNvPr id="14" name="Rounded Rectangle 13"/>
          <p:cNvSpPr/>
          <p:nvPr/>
        </p:nvSpPr>
        <p:spPr>
          <a:xfrm>
            <a:off x="5034686" y="5015369"/>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4414" y="5015369"/>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сохранить запрос в скилл</a:t>
            </a:r>
          </a:p>
        </p:txBody>
      </p:sp>
      <p:sp>
        <p:nvSpPr>
          <p:cNvPr id="16" name="Rounded Rectangle 15"/>
          <p:cNvSpPr/>
          <p:nvPr/>
        </p:nvSpPr>
        <p:spPr>
          <a:xfrm>
            <a:off x="7300569" y="5015369"/>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10297" y="5015369"/>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кастомный субагент: имя + ограниченные права</a:t>
            </a:r>
          </a:p>
        </p:txBody>
      </p:sp>
      <p:sp>
        <p:nvSpPr>
          <p:cNvPr id="18" name="Rounded Rectangle 17"/>
          <p:cNvSpPr/>
          <p:nvPr/>
        </p:nvSpPr>
        <p:spPr>
          <a:xfrm>
            <a:off x="9566452" y="5015369"/>
            <a:ext cx="2119579" cy="1051560"/>
          </a:xfrm>
          <a:prstGeom prst="roundRect">
            <a:avLst>
              <a:gd name="adj" fmla="val 25000"/>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76180" y="5015369"/>
            <a:ext cx="1900123" cy="1051560"/>
          </a:xfrm>
          <a:prstGeom prst="rect">
            <a:avLst/>
          </a:prstGeom>
          <a:noFill/>
        </p:spPr>
        <p:txBody>
          <a:bodyPr wrap="square" lIns="0" rIns="0" tIns="0" bIns="0" anchor="ctr">
            <a:spAutoFit/>
          </a:bodyPr>
          <a:lstStyle/>
          <a:p>
            <a:pPr algn="ctr">
              <a:lnSpc>
                <a:spcPts val="1565"/>
              </a:lnSpc>
              <a:spcAft>
                <a:spcPts val="0"/>
              </a:spcAft>
            </a:pPr>
            <a:r>
              <a:rPr sz="1350" b="1" i="0">
                <a:solidFill>
                  <a:srgbClr val="141B2E"/>
                </a:solidFill>
                <a:latin typeface="Arial"/>
              </a:rPr>
              <a:t>позвать коллегу</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Пять вариантов, у каждого свой случай и своя цена</a:t>
            </a:r>
          </a:p>
        </p:txBody>
      </p:sp>
      <p:sp>
        <p:nvSpPr>
          <p:cNvPr id="3" name="Rounded Rectangle 2"/>
          <p:cNvSpPr/>
          <p:nvPr/>
        </p:nvSpPr>
        <p:spPr>
          <a:xfrm>
            <a:off x="502920" y="943356"/>
            <a:ext cx="11183112" cy="3822191"/>
          </a:xfrm>
          <a:prstGeom prst="roundRect">
            <a:avLst>
              <a:gd name="adj" fmla="val 7974"/>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26236"/>
            <a:ext cx="154927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a:t>
            </a:r>
          </a:p>
        </p:txBody>
      </p:sp>
      <p:sp>
        <p:nvSpPr>
          <p:cNvPr id="5" name="TextBox 4"/>
          <p:cNvSpPr txBox="1"/>
          <p:nvPr/>
        </p:nvSpPr>
        <p:spPr>
          <a:xfrm>
            <a:off x="2381383" y="1126236"/>
            <a:ext cx="404778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6" name="TextBox 5"/>
          <p:cNvSpPr txBox="1"/>
          <p:nvPr/>
        </p:nvSpPr>
        <p:spPr>
          <a:xfrm>
            <a:off x="6575470" y="1126236"/>
            <a:ext cx="4781377"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7" name="TextBox 6"/>
          <p:cNvSpPr txBox="1"/>
          <p:nvPr/>
        </p:nvSpPr>
        <p:spPr>
          <a:xfrm>
            <a:off x="685800" y="1408303"/>
            <a:ext cx="1549279"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ничего — делегирование уже есть</a:t>
            </a:r>
          </a:p>
        </p:txBody>
      </p:sp>
      <p:sp>
        <p:nvSpPr>
          <p:cNvPr id="8" name="TextBox 7"/>
          <p:cNvSpPr txBox="1"/>
          <p:nvPr/>
        </p:nvSpPr>
        <p:spPr>
          <a:xfrm>
            <a:off x="2381383" y="1408303"/>
            <a:ext cx="404778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закрывает разовую проверку одной правки без единой строки настройки</a:t>
            </a:r>
          </a:p>
        </p:txBody>
      </p:sp>
      <p:sp>
        <p:nvSpPr>
          <p:cNvPr id="9" name="TextBox 8"/>
          <p:cNvSpPr txBox="1"/>
          <p:nvPr/>
        </p:nvSpPr>
        <p:spPr>
          <a:xfrm>
            <a:off x="6575470" y="1408303"/>
            <a:ext cx="4781377"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формулировку не фиксирует: при повторении каждый раз пишется заново и расходится</a:t>
            </a:r>
          </a:p>
        </p:txBody>
      </p:sp>
      <p:cxnSp>
        <p:nvCxnSpPr>
          <p:cNvPr id="10" name="Connector 9"/>
          <p:cNvCxnSpPr/>
          <p:nvPr/>
        </p:nvCxnSpPr>
        <p:spPr>
          <a:xfrm>
            <a:off x="685800" y="20767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076767"/>
            <a:ext cx="1549279"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писать запрос подробнее каждый раз</a:t>
            </a:r>
          </a:p>
        </p:txBody>
      </p:sp>
      <p:sp>
        <p:nvSpPr>
          <p:cNvPr id="12" name="TextBox 11"/>
          <p:cNvSpPr txBox="1"/>
          <p:nvPr/>
        </p:nvSpPr>
        <p:spPr>
          <a:xfrm>
            <a:off x="2381383" y="2076767"/>
            <a:ext cx="4047782"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держит формулировку верной, пока вы сами помните, что в неё включить</a:t>
            </a:r>
          </a:p>
        </p:txBody>
      </p:sp>
      <p:sp>
        <p:nvSpPr>
          <p:cNvPr id="13" name="TextBox 12"/>
          <p:cNvSpPr txBox="1"/>
          <p:nvPr/>
        </p:nvSpPr>
        <p:spPr>
          <a:xfrm>
            <a:off x="6575470" y="2076767"/>
            <a:ext cx="4781377" cy="668464"/>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ничего не фиксирует и прав не урезает — расходится от раза к разу тем же способом</a:t>
            </a:r>
          </a:p>
        </p:txBody>
      </p:sp>
      <p:cxnSp>
        <p:nvCxnSpPr>
          <p:cNvPr id="14" name="Connector 13"/>
          <p:cNvCxnSpPr/>
          <p:nvPr/>
        </p:nvCxnSpPr>
        <p:spPr>
          <a:xfrm>
            <a:off x="685800" y="274523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745232"/>
            <a:ext cx="1549279" cy="500506"/>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сохранить запрос в скилл</a:t>
            </a:r>
          </a:p>
        </p:txBody>
      </p:sp>
      <p:sp>
        <p:nvSpPr>
          <p:cNvPr id="16" name="TextBox 15"/>
          <p:cNvSpPr txBox="1"/>
          <p:nvPr/>
        </p:nvSpPr>
        <p:spPr>
          <a:xfrm>
            <a:off x="2381383" y="2745232"/>
            <a:ext cx="4047782" cy="500506"/>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переиспользует процедуру внутри той же сессии без пересказа условий заново</a:t>
            </a:r>
          </a:p>
        </p:txBody>
      </p:sp>
      <p:sp>
        <p:nvSpPr>
          <p:cNvPr id="17" name="TextBox 16"/>
          <p:cNvSpPr txBox="1"/>
          <p:nvPr/>
        </p:nvSpPr>
        <p:spPr>
          <a:xfrm>
            <a:off x="6575470" y="2745232"/>
            <a:ext cx="4781377" cy="500506"/>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подгружается в тот же контекст той же сессией — ни изоляции контекста, ни урезания прав не даёт</a:t>
            </a:r>
          </a:p>
        </p:txBody>
      </p:sp>
      <p:cxnSp>
        <p:nvCxnSpPr>
          <p:cNvPr id="18" name="Connector 17"/>
          <p:cNvCxnSpPr/>
          <p:nvPr/>
        </p:nvCxnSpPr>
        <p:spPr>
          <a:xfrm>
            <a:off x="685800" y="324573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3245739"/>
            <a:ext cx="1549279" cy="836422"/>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кастомный субагент: имя + ограниченные права</a:t>
            </a:r>
          </a:p>
        </p:txBody>
      </p:sp>
      <p:sp>
        <p:nvSpPr>
          <p:cNvPr id="20" name="TextBox 19"/>
          <p:cNvSpPr txBox="1"/>
          <p:nvPr/>
        </p:nvSpPr>
        <p:spPr>
          <a:xfrm>
            <a:off x="2381383" y="3245739"/>
            <a:ext cx="4047782" cy="836422"/>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специализирует роль — фиксирует формулировку файлом и урезает права под конкретную работу</a:t>
            </a:r>
          </a:p>
        </p:txBody>
      </p:sp>
      <p:sp>
        <p:nvSpPr>
          <p:cNvPr id="21" name="TextBox 20"/>
          <p:cNvSpPr txBox="1"/>
          <p:nvPr/>
        </p:nvSpPr>
        <p:spPr>
          <a:xfrm>
            <a:off x="6575470" y="3245739"/>
            <a:ext cx="4781377" cy="836422"/>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требует файла с описанием, которое верно маршрутизирует; права урезаются отдельной строкой этого файла</a:t>
            </a:r>
          </a:p>
        </p:txBody>
      </p:sp>
      <p:cxnSp>
        <p:nvCxnSpPr>
          <p:cNvPr id="22" name="Connector 21"/>
          <p:cNvCxnSpPr/>
          <p:nvPr/>
        </p:nvCxnSpPr>
        <p:spPr>
          <a:xfrm>
            <a:off x="685800" y="408216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082160"/>
            <a:ext cx="1549279" cy="500506"/>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позвать коллегу</a:t>
            </a:r>
          </a:p>
        </p:txBody>
      </p:sp>
      <p:sp>
        <p:nvSpPr>
          <p:cNvPr id="24" name="TextBox 23"/>
          <p:cNvSpPr txBox="1"/>
          <p:nvPr/>
        </p:nvSpPr>
        <p:spPr>
          <a:xfrm>
            <a:off x="2381383" y="4082160"/>
            <a:ext cx="4047782" cy="500506"/>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даёт точный ответ за минуту, если коллега прямо сейчас свободен и помнит участок</a:t>
            </a:r>
          </a:p>
        </p:txBody>
      </p:sp>
      <p:sp>
        <p:nvSpPr>
          <p:cNvPr id="25" name="TextBox 24"/>
          <p:cNvSpPr txBox="1"/>
          <p:nvPr/>
        </p:nvSpPr>
        <p:spPr>
          <a:xfrm>
            <a:off x="6575470" y="4082160"/>
            <a:ext cx="4781377" cy="500506"/>
          </a:xfrm>
          <a:prstGeom prst="rect">
            <a:avLst/>
          </a:prstGeom>
          <a:noFill/>
        </p:spPr>
        <p:txBody>
          <a:bodyPr wrap="square" lIns="0" rIns="0" tIns="0" bIns="0" anchor="ctr">
            <a:spAutoFit/>
          </a:bodyPr>
          <a:lstStyle/>
          <a:p>
            <a:pPr algn="l">
              <a:lnSpc>
                <a:spcPts val="1322"/>
              </a:lnSpc>
              <a:spcAft>
                <a:spcPts val="0"/>
              </a:spcAft>
            </a:pPr>
            <a:r>
              <a:rPr sz="1150" b="0" i="0">
                <a:solidFill>
                  <a:srgbClr val="141B2E"/>
                </a:solidFill>
                <a:latin typeface="Arial"/>
              </a:rPr>
              <a:t>решение зависит от присутствия и памяти другого человека, не от самой задачи</a:t>
            </a:r>
          </a:p>
        </p:txBody>
      </p:sp>
      <p:sp>
        <p:nvSpPr>
          <p:cNvPr id="26" name="Rounded Rectangle 25"/>
          <p:cNvSpPr/>
          <p:nvPr/>
        </p:nvSpPr>
        <p:spPr>
          <a:xfrm>
            <a:off x="502920" y="4930139"/>
            <a:ext cx="82296" cy="115620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058155"/>
            <a:ext cx="10643616" cy="900176"/>
          </a:xfrm>
          <a:prstGeom prst="rect">
            <a:avLst/>
          </a:prstGeom>
          <a:noFill/>
        </p:spPr>
        <p:txBody>
          <a:bodyPr wrap="square" lIns="0" rIns="0" tIns="0" bIns="0" anchor="ctr">
            <a:spAutoFit/>
          </a:bodyPr>
          <a:lstStyle/>
          <a:p>
            <a:pPr algn="l">
              <a:lnSpc>
                <a:spcPts val="1736"/>
              </a:lnSpc>
              <a:spcAft>
                <a:spcPts val="300"/>
              </a:spcAft>
            </a:pPr>
            <a:r>
              <a:rPr sz="1400" b="1" i="0">
                <a:solidFill>
                  <a:srgbClr val="141B2E"/>
                </a:solidFill>
                <a:latin typeface="Arial"/>
              </a:rPr>
              <a:t>Вывод.</a:t>
            </a:r>
            <a:r>
              <a:rPr sz="1400" b="1" i="0">
                <a:solidFill>
                  <a:srgbClr val="141B2E"/>
                </a:solidFill>
                <a:latin typeface="Arial"/>
              </a:rPr>
              <a:t> Первая карточка права наполовину: для разовой проверки заводить нечего, делегирование уже бесплатно. Граница, которая решает исход, проходит между разовой проверкой и ролью, которая повторяется настолько, что её стоит специализировать: закрепить формулировку файлом и отнять лишнее. Это две разные половины одного хода. Файл заводят одной строкой, права отнимают другой — и вторую легко не написать.</a:t>
            </a:r>
          </a:p>
        </p:txBody>
      </p:sp>
      <p:sp>
        <p:nvSpPr>
          <p:cNvPr id="28" name="TextBox 27"/>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Цена делегирования — одна известная цифра и один честный пробел</a:t>
            </a:r>
          </a:p>
        </p:txBody>
      </p:sp>
      <p:sp>
        <p:nvSpPr>
          <p:cNvPr id="3" name="Rounded Rectangle 2"/>
          <p:cNvSpPr/>
          <p:nvPr/>
        </p:nvSpPr>
        <p:spPr>
          <a:xfrm>
            <a:off x="502920" y="1376036"/>
            <a:ext cx="11183112" cy="2437510"/>
          </a:xfrm>
          <a:prstGeom prst="roundRect">
            <a:avLst>
              <a:gd name="adj" fmla="val 12504"/>
            </a:avLst>
          </a:prstGeom>
          <a:solidFill>
            <a:srgbClr val="FFFFFF"/>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21208" y="1467476"/>
            <a:ext cx="68580" cy="225463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58916"/>
            <a:ext cx="2777552"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ИСТОЧНИК</a:t>
            </a:r>
          </a:p>
        </p:txBody>
      </p:sp>
      <p:sp>
        <p:nvSpPr>
          <p:cNvPr id="6" name="TextBox 5"/>
          <p:cNvSpPr txBox="1"/>
          <p:nvPr/>
        </p:nvSpPr>
        <p:spPr>
          <a:xfrm>
            <a:off x="3609656" y="1558916"/>
            <a:ext cx="4220741"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ТЕЗИС</a:t>
            </a:r>
          </a:p>
        </p:txBody>
      </p:sp>
      <p:sp>
        <p:nvSpPr>
          <p:cNvPr id="7" name="TextBox 6"/>
          <p:cNvSpPr txBox="1"/>
          <p:nvPr/>
        </p:nvSpPr>
        <p:spPr>
          <a:xfrm>
            <a:off x="7976702" y="1558916"/>
            <a:ext cx="3380145" cy="282067"/>
          </a:xfrm>
          <a:prstGeom prst="rect">
            <a:avLst/>
          </a:prstGeom>
          <a:noFill/>
        </p:spPr>
        <p:txBody>
          <a:bodyPr wrap="square" lIns="0" rIns="0" tIns="0" bIns="0" anchor="t">
            <a:spAutoFit/>
          </a:bodyPr>
          <a:lstStyle/>
          <a:p>
            <a:pPr algn="l">
              <a:lnSpc>
                <a:spcPts val="1265"/>
              </a:lnSpc>
              <a:spcAft>
                <a:spcPts val="0"/>
              </a:spcAft>
            </a:pPr>
            <a:r>
              <a:rPr sz="1150" b="1" i="0">
                <a:solidFill>
                  <a:srgbClr val="065A82"/>
                </a:solidFill>
                <a:latin typeface="Arial"/>
              </a:rPr>
              <a:t>СИЛА ДОКАЗАТЕЛЬСТВА</a:t>
            </a:r>
          </a:p>
        </p:txBody>
      </p:sp>
      <p:sp>
        <p:nvSpPr>
          <p:cNvPr id="8" name="TextBox 7"/>
          <p:cNvSpPr txBox="1"/>
          <p:nvPr/>
        </p:nvSpPr>
        <p:spPr>
          <a:xfrm>
            <a:off x="685800" y="1840983"/>
            <a:ext cx="277755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Anthropic, «How we built our multi-agent research system» (13.06.2025) + «When to use multi-agent systems (and when not to)» (23.01.2026)</a:t>
            </a:r>
          </a:p>
        </p:txBody>
      </p:sp>
      <p:sp>
        <p:nvSpPr>
          <p:cNvPr id="9" name="TextBox 8"/>
          <p:cNvSpPr txBox="1"/>
          <p:nvPr/>
        </p:nvSpPr>
        <p:spPr>
          <a:xfrm>
            <a:off x="3609656" y="1840983"/>
            <a:ext cx="422074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Мультиагентная система тратит примерно в 15 раз больше токенов, чем обычный чат; уточнение того же источника позже — в 3–10 раз больше одноагентного решения той же задачи</a:t>
            </a:r>
          </a:p>
        </p:txBody>
      </p:sp>
      <p:sp>
        <p:nvSpPr>
          <p:cNvPr id="10" name="TextBox 9"/>
          <p:cNvSpPr txBox="1"/>
          <p:nvPr/>
        </p:nvSpPr>
        <p:spPr>
          <a:xfrm>
            <a:off x="7976702" y="1840983"/>
            <a:ext cx="3380145"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умеренно-сильное: отчёт вендора о собственной продакшен-системе, методология сравнения раскрыта в обоих текстах</a:t>
            </a:r>
          </a:p>
        </p:txBody>
      </p:sp>
      <p:cxnSp>
        <p:nvCxnSpPr>
          <p:cNvPr id="11" name="Connector 10"/>
          <p:cNvCxnSpPr/>
          <p:nvPr/>
        </p:nvCxnSpPr>
        <p:spPr>
          <a:xfrm>
            <a:off x="685800" y="291838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2918388"/>
            <a:ext cx="277755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Наблюдение из сцены (три недели работы)</a:t>
            </a:r>
          </a:p>
        </p:txBody>
      </p:sp>
      <p:sp>
        <p:nvSpPr>
          <p:cNvPr id="13" name="TextBox 12"/>
          <p:cNvSpPr txBox="1"/>
          <p:nvPr/>
        </p:nvSpPr>
        <p:spPr>
          <a:xfrm>
            <a:off x="3609656" y="2918388"/>
            <a:ext cx="422074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Формулировка задачи для проверки расходится от сессии к сессии без фиксации файлом</a:t>
            </a:r>
          </a:p>
        </p:txBody>
      </p:sp>
      <p:sp>
        <p:nvSpPr>
          <p:cNvPr id="14" name="TextBox 13"/>
          <p:cNvSpPr txBox="1"/>
          <p:nvPr/>
        </p:nvSpPr>
        <p:spPr>
          <a:xfrm>
            <a:off x="7976702" y="2918388"/>
            <a:ext cx="3380145"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иллюстративное: единичное наблюдение одного проекта, не измерение на выборке</a:t>
            </a:r>
          </a:p>
        </p:txBody>
      </p:sp>
      <p:sp>
        <p:nvSpPr>
          <p:cNvPr id="15" name="Rounded Rectangle 14"/>
          <p:cNvSpPr/>
          <p:nvPr/>
        </p:nvSpPr>
        <p:spPr>
          <a:xfrm>
            <a:off x="502920" y="4118770"/>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4246786"/>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Вывод.</a:t>
            </a:r>
            <a:r>
              <a:rPr sz="1500" b="1" i="0">
                <a:solidFill>
                  <a:srgbClr val="141B2E"/>
                </a:solidFill>
                <a:latin typeface="Arial"/>
              </a:rPr>
              <a:t> Делегирование не бывает бесплатным ни разу — платите токенами всегда, даже когда экономите место в своём окне. Для разовой проверки эта цена мала; при частом повторении она складывается в заметную статью расхода, не только в удобство.</a:t>
            </a:r>
          </a:p>
        </p:txBody>
      </p:sp>
      <p:sp>
        <p:nvSpPr>
          <p:cNvPr id="17" name="Rounded Rectangle 16"/>
          <p:cNvSpPr/>
          <p:nvPr/>
        </p:nvSpPr>
        <p:spPr>
          <a:xfrm>
            <a:off x="502920" y="5406974"/>
            <a:ext cx="11183112" cy="836295"/>
          </a:xfrm>
          <a:prstGeom prst="roundRect">
            <a:avLst>
              <a:gd name="adj" fmla="val 25000"/>
            </a:avLst>
          </a:prstGeom>
          <a:solidFill>
            <a:srgbClr val="E4E9EF"/>
          </a:solidFill>
          <a:ln w="15240">
            <a:solidFill>
              <a:srgbClr val="6B768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5544134"/>
            <a:ext cx="10707624" cy="561974"/>
          </a:xfrm>
          <a:prstGeom prst="rect">
            <a:avLst/>
          </a:prstGeom>
          <a:noFill/>
        </p:spPr>
        <p:txBody>
          <a:bodyPr wrap="square" lIns="0" rIns="0" tIns="0" bIns="0" anchor="ctr">
            <a:spAutoFit/>
          </a:bodyPr>
          <a:lstStyle/>
          <a:p>
            <a:pPr algn="l">
              <a:lnSpc>
                <a:spcPts val="1475"/>
              </a:lnSpc>
              <a:spcAft>
                <a:spcPts val="300"/>
              </a:spcAft>
            </a:pPr>
            <a:r>
              <a:rPr sz="1250" b="1" i="1">
                <a:solidFill>
                  <a:srgbClr val="6B7685"/>
                </a:solidFill>
                <a:latin typeface="Arial"/>
              </a:rPr>
              <a:t>Честный пробел.</a:t>
            </a:r>
            <a:r>
              <a:rPr sz="1250" b="0" i="1">
                <a:solidFill>
                  <a:srgbClr val="6B7685"/>
                </a:solidFill>
                <a:latin typeface="Arial"/>
              </a:rPr>
              <a:t> Числа для «сколько контекста экономит субагент по сравнению с тем же объёмом работы в основной сессии» не нашлись ни в одном источнике — ни в токенах, ни в доле контекстного окна. Механизм экономии описан качественно везде, количественно — нигде.</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Собираем роль: имя, инструменты, формат ответа</a:t>
            </a:r>
          </a:p>
        </p:txBody>
      </p:sp>
      <p:sp>
        <p:nvSpPr>
          <p:cNvPr id="3" name="Rounded Rectangle 2"/>
          <p:cNvSpPr/>
          <p:nvPr/>
        </p:nvSpPr>
        <p:spPr>
          <a:xfrm>
            <a:off x="502920" y="1117815"/>
            <a:ext cx="11183112" cy="2419540"/>
          </a:xfrm>
          <a:prstGeom prst="roundRect">
            <a:avLst>
              <a:gd name="adj" fmla="val 12597"/>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00695"/>
            <a:ext cx="139701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РЕШАЕМ</a:t>
            </a:r>
          </a:p>
        </p:txBody>
      </p:sp>
      <p:sp>
        <p:nvSpPr>
          <p:cNvPr id="5" name="TextBox 4"/>
          <p:cNvSpPr txBox="1"/>
          <p:nvPr/>
        </p:nvSpPr>
        <p:spPr>
          <a:xfrm>
            <a:off x="2229118" y="1300695"/>
            <a:ext cx="3142283"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ВАРИАНТЫ</a:t>
            </a:r>
          </a:p>
        </p:txBody>
      </p:sp>
      <p:sp>
        <p:nvSpPr>
          <p:cNvPr id="6" name="TextBox 5"/>
          <p:cNvSpPr txBox="1"/>
          <p:nvPr/>
        </p:nvSpPr>
        <p:spPr>
          <a:xfrm>
            <a:off x="5517705" y="1300695"/>
            <a:ext cx="583914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МЕНЯЕТ ВЫБОР</a:t>
            </a:r>
          </a:p>
        </p:txBody>
      </p:sp>
      <p:sp>
        <p:nvSpPr>
          <p:cNvPr id="7" name="TextBox 6"/>
          <p:cNvSpPr txBox="1"/>
          <p:nvPr/>
        </p:nvSpPr>
        <p:spPr>
          <a:xfrm>
            <a:off x="685800" y="1582762"/>
            <a:ext cx="139701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имя и описание роли</a:t>
            </a:r>
          </a:p>
        </p:txBody>
      </p:sp>
      <p:sp>
        <p:nvSpPr>
          <p:cNvPr id="8" name="TextBox 7"/>
          <p:cNvSpPr txBox="1"/>
          <p:nvPr/>
        </p:nvSpPr>
        <p:spPr>
          <a:xfrm>
            <a:off x="2229118" y="1582762"/>
            <a:ext cx="314228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развёрнутое описание · короткое имя без описания</a:t>
            </a:r>
          </a:p>
        </p:txBody>
      </p:sp>
      <p:sp>
        <p:nvSpPr>
          <p:cNvPr id="9" name="TextBox 8"/>
          <p:cNvSpPr txBox="1"/>
          <p:nvPr/>
        </p:nvSpPr>
        <p:spPr>
          <a:xfrm>
            <a:off x="5517705" y="1582762"/>
            <a:ext cx="58391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описанию роль выбирает сама модель — расплывчатое описание маршрутизирует хуже узкого</a:t>
            </a:r>
          </a:p>
        </p:txBody>
      </p:sp>
      <p:cxnSp>
        <p:nvCxnSpPr>
          <p:cNvPr id="10" name="Connector 9"/>
          <p:cNvCxnSpPr/>
          <p:nvPr/>
        </p:nvCxnSpPr>
        <p:spPr>
          <a:xfrm>
            <a:off x="685800" y="21124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112479"/>
            <a:ext cx="1397014"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какие инструменты оставить</a:t>
            </a:r>
          </a:p>
        </p:txBody>
      </p:sp>
      <p:sp>
        <p:nvSpPr>
          <p:cNvPr id="12" name="TextBox 11"/>
          <p:cNvSpPr txBox="1"/>
          <p:nvPr/>
        </p:nvSpPr>
        <p:spPr>
          <a:xfrm>
            <a:off x="2229118" y="2112479"/>
            <a:ext cx="3142283"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весь набор · читать и искать · читать, искать и править</a:t>
            </a:r>
          </a:p>
        </p:txBody>
      </p:sp>
      <p:sp>
        <p:nvSpPr>
          <p:cNvPr id="13" name="TextBox 12"/>
          <p:cNvSpPr txBox="1"/>
          <p:nvPr/>
        </p:nvSpPr>
        <p:spPr>
          <a:xfrm>
            <a:off x="5517705" y="2112479"/>
            <a:ext cx="583914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лишний инструмент физически доступен роли независимо от того, что написано в её тексте словами</a:t>
            </a:r>
          </a:p>
        </p:txBody>
      </p:sp>
      <p:cxnSp>
        <p:nvCxnSpPr>
          <p:cNvPr id="14" name="Connector 13"/>
          <p:cNvCxnSpPr/>
          <p:nvPr/>
        </p:nvCxnSpPr>
        <p:spPr>
          <a:xfrm>
            <a:off x="685800" y="282475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824759"/>
            <a:ext cx="139701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что должен вернуть ответ</a:t>
            </a:r>
          </a:p>
        </p:txBody>
      </p:sp>
      <p:sp>
        <p:nvSpPr>
          <p:cNvPr id="16" name="TextBox 15"/>
          <p:cNvSpPr txBox="1"/>
          <p:nvPr/>
        </p:nvSpPr>
        <p:spPr>
          <a:xfrm>
            <a:off x="2229118" y="2824759"/>
            <a:ext cx="3142283"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свободный текст · вердикт первой строкой + что проверено + находки</a:t>
            </a:r>
          </a:p>
        </p:txBody>
      </p:sp>
      <p:sp>
        <p:nvSpPr>
          <p:cNvPr id="17" name="TextBox 16"/>
          <p:cNvSpPr txBox="1"/>
          <p:nvPr/>
        </p:nvSpPr>
        <p:spPr>
          <a:xfrm>
            <a:off x="5517705" y="2824759"/>
            <a:ext cx="583914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свободный текст несравним между вызовами; формат делает «что проверено» единственным проверяемым местом ответа</a:t>
            </a:r>
          </a:p>
        </p:txBody>
      </p:sp>
      <p:sp>
        <p:nvSpPr>
          <p:cNvPr id="18" name="Rounded Rectangle 17"/>
          <p:cNvSpPr/>
          <p:nvPr/>
        </p:nvSpPr>
        <p:spPr>
          <a:xfrm>
            <a:off x="502920" y="4138098"/>
            <a:ext cx="82296" cy="19278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266114"/>
            <a:ext cx="10643616" cy="167182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Это и есть специализация ролей по инструкциям: своё имя — чтобы звать роль явно, своя инструкция — чтобы не пересказывать условия заново, свои права — чтобы роль не сделала того, за чем её не звали. Текст в теле роли — поведенческая инструкция, которой модель старается следовать, и её вес конкурирует с остальным контекстом задачи. Список инструментов — состав арсенала: того, чего в нём нет, роль не может сделать физически, независимо от того, что написано словами. У диф-ревьюера из сцены лишним было право на правку файла — то самое право, которым он в прошлый раз исправил проверку адреса сам, вместо того чтобы доложить о находке.</a:t>
            </a:r>
          </a:p>
        </p:txBody>
      </p:sp>
      <p:sp>
        <p:nvSpPr>
          <p:cNvPr id="20" name="TextBox 19"/>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Файл роли: три инструмента вместо всех</a:t>
            </a:r>
          </a:p>
        </p:txBody>
      </p:sp>
      <p:sp>
        <p:nvSpPr>
          <p:cNvPr id="3" name="Rounded Rectangle 2"/>
          <p:cNvSpPr/>
          <p:nvPr/>
        </p:nvSpPr>
        <p:spPr>
          <a:xfrm>
            <a:off x="502920" y="1409090"/>
            <a:ext cx="11183112" cy="2569464"/>
          </a:xfrm>
          <a:prstGeom prst="roundRect">
            <a:avLst>
              <a:gd name="adj" fmla="val 1186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58952" y="1743417"/>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1628546"/>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name:</a:t>
            </a:r>
            <a:r>
              <a:rPr sz="1350" b="0" i="0">
                <a:solidFill>
                  <a:srgbClr val="141B2E"/>
                </a:solidFill>
                <a:latin typeface="Arial"/>
              </a:rPr>
              <a:t> </a:t>
            </a:r>
            <a:r>
              <a:rPr sz="1350" b="0" i="0">
                <a:solidFill>
                  <a:srgbClr val="141B2E"/>
                </a:solidFill>
                <a:latin typeface="Consolas"/>
              </a:rPr>
              <a:t>diff-reviewer</a:t>
            </a:r>
            <a:r>
              <a:rPr sz="1350" b="0" i="0">
                <a:solidFill>
                  <a:srgbClr val="141B2E"/>
                </a:solidFill>
                <a:latin typeface="Arial"/>
              </a:rPr>
              <a:t> — имя, по которому роль вызывают явно</a:t>
            </a:r>
          </a:p>
        </p:txBody>
      </p:sp>
      <p:sp>
        <p:nvSpPr>
          <p:cNvPr id="6" name="Rounded Rectangle 5"/>
          <p:cNvSpPr/>
          <p:nvPr/>
        </p:nvSpPr>
        <p:spPr>
          <a:xfrm>
            <a:off x="758952" y="2276055"/>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6424" y="1958873"/>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description:</a:t>
            </a:r>
            <a:r>
              <a:rPr sz="1350" b="0" i="0">
                <a:solidFill>
                  <a:srgbClr val="141B2E"/>
                </a:solidFill>
                <a:latin typeface="Arial"/>
              </a:rPr>
              <a:t> Независимый ревьюер diff'ов. Видит только сам diff и критерии приёмки, не рассуждения автора. Используй перед мержем любого нетривиального изменения. НЕ для ревью архитектурных решений (</a:t>
            </a:r>
            <a:r>
              <a:rPr sz="1350" b="0" i="0">
                <a:solidFill>
                  <a:srgbClr val="141B2E"/>
                </a:solidFill>
                <a:latin typeface="Consolas"/>
              </a:rPr>
              <a:t>doc/adr/</a:t>
            </a:r>
            <a:r>
              <a:rPr sz="1350" b="0" i="0">
                <a:solidFill>
                  <a:srgbClr val="141B2E"/>
                </a:solidFill>
                <a:latin typeface="Arial"/>
              </a:rPr>
              <a:t>) — это отдельная роль.</a:t>
            </a:r>
          </a:p>
        </p:txBody>
      </p:sp>
      <p:sp>
        <p:nvSpPr>
          <p:cNvPr id="8" name="Rounded Rectangle 7"/>
          <p:cNvSpPr/>
          <p:nvPr/>
        </p:nvSpPr>
        <p:spPr>
          <a:xfrm>
            <a:off x="758952" y="2808693"/>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693822"/>
            <a:ext cx="10360152" cy="330327"/>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Consolas"/>
              </a:rPr>
              <a:t>tools:</a:t>
            </a:r>
            <a:r>
              <a:rPr sz="1350" b="0" i="0">
                <a:solidFill>
                  <a:srgbClr val="141B2E"/>
                </a:solidFill>
                <a:latin typeface="Arial"/>
              </a:rPr>
              <a:t> </a:t>
            </a:r>
            <a:r>
              <a:rPr sz="1350" b="0" i="0">
                <a:solidFill>
                  <a:srgbClr val="141B2E"/>
                </a:solidFill>
                <a:latin typeface="Consolas"/>
              </a:rPr>
              <a:t>Read,</a:t>
            </a:r>
            <a:r>
              <a:rPr sz="1350" b="0" i="0">
                <a:solidFill>
                  <a:srgbClr val="141B2E"/>
                </a:solidFill>
                <a:latin typeface="Arial"/>
              </a:rPr>
              <a:t> </a:t>
            </a:r>
            <a:r>
              <a:rPr sz="1350" b="0" i="0">
                <a:solidFill>
                  <a:srgbClr val="141B2E"/>
                </a:solidFill>
                <a:latin typeface="Consolas"/>
              </a:rPr>
              <a:t>Grep,</a:t>
            </a:r>
            <a:r>
              <a:rPr sz="1350" b="0" i="0">
                <a:solidFill>
                  <a:srgbClr val="141B2E"/>
                </a:solidFill>
                <a:latin typeface="Arial"/>
              </a:rPr>
              <a:t> </a:t>
            </a:r>
            <a:r>
              <a:rPr sz="1350" b="0" i="0">
                <a:solidFill>
                  <a:srgbClr val="141B2E"/>
                </a:solidFill>
                <a:latin typeface="Consolas"/>
              </a:rPr>
              <a:t>Glob</a:t>
            </a:r>
            <a:r>
              <a:rPr sz="1350" b="0" i="0">
                <a:solidFill>
                  <a:srgbClr val="141B2E"/>
                </a:solidFill>
                <a:latin typeface="Arial"/>
              </a:rPr>
              <a:t> — без </a:t>
            </a:r>
            <a:r>
              <a:rPr sz="1350" b="0" i="0">
                <a:solidFill>
                  <a:srgbClr val="141B2E"/>
                </a:solidFill>
                <a:latin typeface="Consolas"/>
              </a:rPr>
              <a:t>Write</a:t>
            </a:r>
            <a:r>
              <a:rPr sz="1350" b="0" i="0">
                <a:solidFill>
                  <a:srgbClr val="141B2E"/>
                </a:solidFill>
                <a:latin typeface="Arial"/>
              </a:rPr>
              <a:t> и </a:t>
            </a:r>
            <a:r>
              <a:rPr sz="1350" b="0" i="0">
                <a:solidFill>
                  <a:srgbClr val="141B2E"/>
                </a:solidFill>
                <a:latin typeface="Consolas"/>
              </a:rPr>
              <a:t>Edit</a:t>
            </a:r>
          </a:p>
        </p:txBody>
      </p:sp>
      <p:sp>
        <p:nvSpPr>
          <p:cNvPr id="10" name="Rounded Rectangle 9"/>
          <p:cNvSpPr/>
          <p:nvPr/>
        </p:nvSpPr>
        <p:spPr>
          <a:xfrm>
            <a:off x="758952" y="3341331"/>
            <a:ext cx="100584" cy="100584"/>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6424" y="3024149"/>
            <a:ext cx="10360152" cy="734949"/>
          </a:xfrm>
          <a:prstGeom prst="rect">
            <a:avLst/>
          </a:prstGeom>
          <a:noFill/>
        </p:spPr>
        <p:txBody>
          <a:bodyPr wrap="square" lIns="0" rIns="0" tIns="0" bIns="0" anchor="ctr">
            <a:spAutoFit/>
          </a:bodyPr>
          <a:lstStyle/>
          <a:p>
            <a:pPr algn="l">
              <a:lnSpc>
                <a:spcPts val="1593"/>
              </a:lnSpc>
              <a:spcAft>
                <a:spcPts val="0"/>
              </a:spcAft>
            </a:pPr>
            <a:r>
              <a:rPr sz="1350" b="0" i="0">
                <a:solidFill>
                  <a:srgbClr val="141B2E"/>
                </a:solidFill>
                <a:latin typeface="Arial"/>
              </a:rPr>
              <a:t>Тело роли (системный промпт): «Ты не правишь код сам — только находишь проблемы. Начни ответ строкой </a:t>
            </a:r>
            <a:r>
              <a:rPr sz="1350" b="0" i="0">
                <a:solidFill>
                  <a:srgbClr val="141B2E"/>
                </a:solidFill>
                <a:latin typeface="Consolas"/>
              </a:rPr>
              <a:t>VERDICT:</a:t>
            </a:r>
            <a:r>
              <a:rPr sz="1350" b="0" i="0">
                <a:solidFill>
                  <a:srgbClr val="141B2E"/>
                </a:solidFill>
                <a:latin typeface="Arial"/>
              </a:rPr>
              <a:t> </a:t>
            </a:r>
            <a:r>
              <a:rPr sz="1350" b="0" i="0">
                <a:solidFill>
                  <a:srgbClr val="141B2E"/>
                </a:solidFill>
                <a:latin typeface="Consolas"/>
              </a:rPr>
              <a:t>PASS</a:t>
            </a:r>
            <a:r>
              <a:rPr sz="1350" b="0" i="0">
                <a:solidFill>
                  <a:srgbClr val="141B2E"/>
                </a:solidFill>
                <a:latin typeface="Arial"/>
              </a:rPr>
              <a:t> </a:t>
            </a:r>
            <a:r>
              <a:rPr sz="1350" b="0" i="0">
                <a:solidFill>
                  <a:srgbClr val="141B2E"/>
                </a:solidFill>
                <a:latin typeface="Consolas"/>
              </a:rPr>
              <a:t>|</a:t>
            </a:r>
            <a:r>
              <a:rPr sz="1350" b="0" i="0">
                <a:solidFill>
                  <a:srgbClr val="141B2E"/>
                </a:solidFill>
                <a:latin typeface="Arial"/>
              </a:rPr>
              <a:t> </a:t>
            </a:r>
            <a:r>
              <a:rPr sz="1350" b="0" i="0">
                <a:solidFill>
                  <a:srgbClr val="141B2E"/>
                </a:solidFill>
                <a:latin typeface="Consolas"/>
              </a:rPr>
              <a:t>BLOCK</a:t>
            </a:r>
            <a:r>
              <a:rPr sz="1350" b="0" i="0">
                <a:solidFill>
                  <a:srgbClr val="141B2E"/>
                </a:solidFill>
                <a:latin typeface="Arial"/>
              </a:rPr>
              <a:t>. Затем: что проверено — конкретно, какие файлы прочитаны, — и находки: что не так, где, почему важно. Пустой список находок — валидный PASS.»</a:t>
            </a:r>
          </a:p>
        </p:txBody>
      </p:sp>
      <p:sp>
        <p:nvSpPr>
          <p:cNvPr id="12" name="Rounded Rectangle 11"/>
          <p:cNvSpPr/>
          <p:nvPr/>
        </p:nvSpPr>
        <p:spPr>
          <a:xfrm>
            <a:off x="502920" y="4646066"/>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74082"/>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Файл для разбора — что в нём написано и почему, — не артефакт, который можно сейчас склонировать себе: он снят с версии демо-репозитория, которой больше не существует за пределами временной директории, где её собирали.</a:t>
            </a:r>
          </a:p>
        </p:txBody>
      </p:sp>
      <p:sp>
        <p:nvSpPr>
          <p:cNvPr id="14" name="TextBox 1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807720"/>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Та же строка, написанная словами. Роль не запустилась ни разу</a:t>
            </a:r>
          </a:p>
        </p:txBody>
      </p:sp>
      <p:sp>
        <p:nvSpPr>
          <p:cNvPr id="3" name="Rounded Rectangle 2"/>
          <p:cNvSpPr/>
          <p:nvPr/>
        </p:nvSpPr>
        <p:spPr>
          <a:xfrm>
            <a:off x="502920" y="1319784"/>
            <a:ext cx="82296" cy="683768"/>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447800"/>
            <a:ext cx="10643616" cy="427736"/>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Три месяца назад в каталоге ролей этого курса — том самом, что вы сейчас видите как учебный материал, — завели роль литературного редактора и попытались сузить ей права тем же способом, каким мы это сделали экраном раньше.</a:t>
            </a:r>
          </a:p>
        </p:txBody>
      </p:sp>
      <p:sp>
        <p:nvSpPr>
          <p:cNvPr id="5" name="Rounded Rectangle 4"/>
          <p:cNvSpPr/>
          <p:nvPr/>
        </p:nvSpPr>
        <p:spPr>
          <a:xfrm>
            <a:off x="502920" y="2168144"/>
            <a:ext cx="11183112" cy="1345057"/>
          </a:xfrm>
          <a:prstGeom prst="roundRect">
            <a:avLst>
              <a:gd name="adj" fmla="val 2266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3592"/>
            <a:ext cx="3531813"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ЗАПИСАНО</a:t>
            </a:r>
          </a:p>
        </p:txBody>
      </p:sp>
      <p:sp>
        <p:nvSpPr>
          <p:cNvPr id="7" name="TextBox 6"/>
          <p:cNvSpPr txBox="1"/>
          <p:nvPr/>
        </p:nvSpPr>
        <p:spPr>
          <a:xfrm>
            <a:off x="4336485" y="2323592"/>
            <a:ext cx="2750045"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ХАРНЕСС ВИДИТ</a:t>
            </a:r>
          </a:p>
        </p:txBody>
      </p:sp>
      <p:sp>
        <p:nvSpPr>
          <p:cNvPr id="8" name="TextBox 7"/>
          <p:cNvSpPr txBox="1"/>
          <p:nvPr/>
        </p:nvSpPr>
        <p:spPr>
          <a:xfrm>
            <a:off x="7232834" y="2323592"/>
            <a:ext cx="4151445" cy="252095"/>
          </a:xfrm>
          <a:prstGeom prst="rect">
            <a:avLst/>
          </a:prstGeom>
          <a:noFill/>
        </p:spPr>
        <p:txBody>
          <a:bodyPr wrap="square" lIns="0" rIns="0" tIns="0" bIns="0" anchor="t">
            <a:spAutoFit/>
          </a:bodyPr>
          <a:lstStyle/>
          <a:p>
            <a:pPr algn="l">
              <a:lnSpc>
                <a:spcPts val="1045"/>
              </a:lnSpc>
              <a:spcAft>
                <a:spcPts val="0"/>
              </a:spcAft>
            </a:pPr>
            <a:r>
              <a:rPr sz="950" b="1" i="0">
                <a:solidFill>
                  <a:srgbClr val="6B7685"/>
                </a:solidFill>
                <a:latin typeface="Arial"/>
              </a:rPr>
              <a:t>ИТОГ</a:t>
            </a:r>
          </a:p>
        </p:txBody>
      </p:sp>
      <p:sp>
        <p:nvSpPr>
          <p:cNvPr id="9" name="TextBox 8"/>
          <p:cNvSpPr txBox="1"/>
          <p:nvPr/>
        </p:nvSpPr>
        <p:spPr>
          <a:xfrm>
            <a:off x="658368" y="2575687"/>
            <a:ext cx="3531813"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Consolas"/>
              </a:rPr>
              <a:t>tools:</a:t>
            </a:r>
            <a:r>
              <a:rPr sz="950" b="0" i="0">
                <a:solidFill>
                  <a:srgbClr val="141B2E"/>
                </a:solidFill>
                <a:latin typeface="Arial"/>
              </a:rPr>
              <a:t> </a:t>
            </a:r>
            <a:r>
              <a:rPr sz="950" b="0" i="0">
                <a:solidFill>
                  <a:srgbClr val="141B2E"/>
                </a:solidFill>
                <a:latin typeface="Consolas"/>
              </a:rPr>
              <a:t>Read,</a:t>
            </a:r>
            <a:r>
              <a:rPr sz="950" b="0" i="0">
                <a:solidFill>
                  <a:srgbClr val="141B2E"/>
                </a:solidFill>
                <a:latin typeface="Arial"/>
              </a:rPr>
              <a:t> </a:t>
            </a:r>
            <a:r>
              <a:rPr sz="950" b="0" i="0">
                <a:solidFill>
                  <a:srgbClr val="141B2E"/>
                </a:solidFill>
                <a:latin typeface="Consolas"/>
              </a:rPr>
              <a:t>Grep,</a:t>
            </a:r>
            <a:r>
              <a:rPr sz="950" b="0" i="0">
                <a:solidFill>
                  <a:srgbClr val="141B2E"/>
                </a:solidFill>
                <a:latin typeface="Arial"/>
              </a:rPr>
              <a:t> </a:t>
            </a:r>
            <a:r>
              <a:rPr sz="950" b="0" i="0">
                <a:solidFill>
                  <a:srgbClr val="141B2E"/>
                </a:solidFill>
                <a:latin typeface="Consolas"/>
              </a:rPr>
              <a:t>Glob</a:t>
            </a:r>
            <a:r>
              <a:rPr sz="950" b="0" i="0">
                <a:solidFill>
                  <a:srgbClr val="141B2E"/>
                </a:solidFill>
                <a:latin typeface="Arial"/>
              </a:rPr>
              <a:t> — файл, собранный нами экраном раньше</a:t>
            </a:r>
          </a:p>
        </p:txBody>
      </p:sp>
      <p:sp>
        <p:nvSpPr>
          <p:cNvPr id="10" name="TextBox 9"/>
          <p:cNvSpPr txBox="1"/>
          <p:nvPr/>
        </p:nvSpPr>
        <p:spPr>
          <a:xfrm>
            <a:off x="4336485" y="2575687"/>
            <a:ext cx="27500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три имени, каждое совпадает с реальным инструментом</a:t>
            </a:r>
          </a:p>
        </p:txBody>
      </p:sp>
      <p:sp>
        <p:nvSpPr>
          <p:cNvPr id="11" name="TextBox 10"/>
          <p:cNvSpPr txBox="1"/>
          <p:nvPr/>
        </p:nvSpPr>
        <p:spPr>
          <a:xfrm>
            <a:off x="7232834" y="2575687"/>
            <a:ext cx="41514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роль запускается и физически не может править файлы</a:t>
            </a:r>
          </a:p>
        </p:txBody>
      </p:sp>
      <p:cxnSp>
        <p:nvCxnSpPr>
          <p:cNvPr id="12" name="Connector 11"/>
          <p:cNvCxnSpPr/>
          <p:nvPr/>
        </p:nvCxnSpPr>
        <p:spPr>
          <a:xfrm>
            <a:off x="658368" y="2966720"/>
            <a:ext cx="1087221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 y="2966720"/>
            <a:ext cx="3531813"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Consolas"/>
              </a:rPr>
              <a:t>tools:</a:t>
            </a:r>
            <a:r>
              <a:rPr sz="950" b="0" i="0">
                <a:solidFill>
                  <a:srgbClr val="141B2E"/>
                </a:solidFill>
                <a:latin typeface="Arial"/>
              </a:rPr>
              <a:t> </a:t>
            </a:r>
            <a:r>
              <a:rPr sz="950" b="0" i="0">
                <a:solidFill>
                  <a:srgbClr val="141B2E"/>
                </a:solidFill>
                <a:latin typeface="Consolas"/>
              </a:rPr>
              <a:t>All</a:t>
            </a:r>
            <a:r>
              <a:rPr sz="950" b="0" i="0">
                <a:solidFill>
                  <a:srgbClr val="141B2E"/>
                </a:solidFill>
                <a:latin typeface="Arial"/>
              </a:rPr>
              <a:t> </a:t>
            </a:r>
            <a:r>
              <a:rPr sz="950" b="0" i="0">
                <a:solidFill>
                  <a:srgbClr val="141B2E"/>
                </a:solidFill>
                <a:latin typeface="Consolas"/>
              </a:rPr>
              <a:t>tools</a:t>
            </a:r>
            <a:r>
              <a:rPr sz="950" b="0" i="0">
                <a:solidFill>
                  <a:srgbClr val="141B2E"/>
                </a:solidFill>
                <a:latin typeface="Arial"/>
              </a:rPr>
              <a:t> — файл в каталоге ролей этого курса</a:t>
            </a:r>
          </a:p>
        </p:txBody>
      </p:sp>
      <p:sp>
        <p:nvSpPr>
          <p:cNvPr id="14" name="TextBox 13"/>
          <p:cNvSpPr txBox="1"/>
          <p:nvPr/>
        </p:nvSpPr>
        <p:spPr>
          <a:xfrm>
            <a:off x="4336485" y="2966720"/>
            <a:ext cx="27500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два отдельных имени, </a:t>
            </a:r>
            <a:r>
              <a:rPr sz="950" b="0" i="0">
                <a:solidFill>
                  <a:srgbClr val="141B2E"/>
                </a:solidFill>
                <a:latin typeface="Consolas"/>
              </a:rPr>
              <a:t>All</a:t>
            </a:r>
            <a:r>
              <a:rPr sz="950" b="0" i="0">
                <a:solidFill>
                  <a:srgbClr val="141B2E"/>
                </a:solidFill>
                <a:latin typeface="Arial"/>
              </a:rPr>
              <a:t> и </a:t>
            </a:r>
            <a:r>
              <a:rPr sz="950" b="0" i="0">
                <a:solidFill>
                  <a:srgbClr val="141B2E"/>
                </a:solidFill>
                <a:latin typeface="Consolas"/>
              </a:rPr>
              <a:t>tools</a:t>
            </a:r>
          </a:p>
        </p:txBody>
      </p:sp>
      <p:sp>
        <p:nvSpPr>
          <p:cNvPr id="15" name="TextBox 14"/>
          <p:cNvSpPr txBox="1"/>
          <p:nvPr/>
        </p:nvSpPr>
        <p:spPr>
          <a:xfrm>
            <a:off x="7232834" y="2966720"/>
            <a:ext cx="4151445" cy="391033"/>
          </a:xfrm>
          <a:prstGeom prst="rect">
            <a:avLst/>
          </a:prstGeom>
          <a:noFill/>
        </p:spPr>
        <p:txBody>
          <a:bodyPr wrap="square" lIns="0" rIns="0" tIns="0" bIns="0" anchor="ctr">
            <a:spAutoFit/>
          </a:bodyPr>
          <a:lstStyle/>
          <a:p>
            <a:pPr algn="l">
              <a:lnSpc>
                <a:spcPts val="1035"/>
              </a:lnSpc>
              <a:spcAft>
                <a:spcPts val="0"/>
              </a:spcAft>
            </a:pPr>
            <a:r>
              <a:rPr sz="950" b="0" i="0">
                <a:solidFill>
                  <a:srgbClr val="141B2E"/>
                </a:solidFill>
                <a:latin typeface="Arial"/>
              </a:rPr>
              <a:t>ни одно не совпадает ни с чем — список резолвится в пустое множество нераспознанных записей</a:t>
            </a:r>
          </a:p>
        </p:txBody>
      </p:sp>
      <p:sp>
        <p:nvSpPr>
          <p:cNvPr id="16" name="Rectangle 15"/>
          <p:cNvSpPr/>
          <p:nvPr/>
        </p:nvSpPr>
        <p:spPr>
          <a:xfrm>
            <a:off x="502920" y="3714369"/>
            <a:ext cx="32004" cy="317754"/>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8" y="3769233"/>
            <a:ext cx="10730484" cy="208025"/>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«Agent 'literary-editor' would be spawned with zero tools — refusing. Its tools list resolved to nothing: unrecognized [All, tools].»</a:t>
            </a:r>
          </a:p>
        </p:txBody>
      </p:sp>
      <p:sp>
        <p:nvSpPr>
          <p:cNvPr id="18" name="Rounded Rectangle 17"/>
          <p:cNvSpPr/>
          <p:nvPr/>
        </p:nvSpPr>
        <p:spPr>
          <a:xfrm>
            <a:off x="502920" y="4233291"/>
            <a:ext cx="82296" cy="699515"/>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4361307"/>
            <a:ext cx="10643616" cy="443483"/>
          </a:xfrm>
          <a:prstGeom prst="rect">
            <a:avLst/>
          </a:prstGeom>
          <a:noFill/>
        </p:spPr>
        <p:txBody>
          <a:bodyPr wrap="square" lIns="0" rIns="0" tIns="0" bIns="0" anchor="ctr">
            <a:spAutoFit/>
          </a:bodyPr>
          <a:lstStyle/>
          <a:p>
            <a:pPr algn="l">
              <a:lnSpc>
                <a:spcPts val="1673"/>
              </a:lnSpc>
              <a:spcAft>
                <a:spcPts val="300"/>
              </a:spcAft>
            </a:pPr>
            <a:r>
              <a:rPr sz="1350" b="1" i="0">
                <a:solidFill>
                  <a:srgbClr val="141B2E"/>
                </a:solidFill>
                <a:latin typeface="Arial"/>
              </a:rPr>
              <a:t>Три попытки параллельного запуска — три одинаковых отказа. Явно пустой список (</a:t>
            </a:r>
            <a:r>
              <a:rPr sz="1350" b="1" i="0">
                <a:solidFill>
                  <a:srgbClr val="141B2E"/>
                </a:solidFill>
                <a:latin typeface="Consolas"/>
              </a:rPr>
              <a:t>tools:</a:t>
            </a:r>
            <a:r>
              <a:rPr sz="1350" b="1" i="0">
                <a:solidFill>
                  <a:srgbClr val="141B2E"/>
                </a:solidFill>
                <a:latin typeface="Arial"/>
              </a:rPr>
              <a:t> </a:t>
            </a:r>
            <a:r>
              <a:rPr sz="1350" b="1" i="0">
                <a:solidFill>
                  <a:srgbClr val="141B2E"/>
                </a:solidFill>
                <a:latin typeface="Consolas"/>
              </a:rPr>
              <a:t>[]</a:t>
            </a:r>
            <a:r>
              <a:rPr sz="1350" b="1" i="0">
                <a:solidFill>
                  <a:srgbClr val="141B2E"/>
                </a:solidFill>
                <a:latin typeface="Arial"/>
              </a:rPr>
              <a:t>) дал бы роль без единого инструмента, но живую. Здесь харнесс сделал другое: отказался запускать роль вовсе.</a:t>
            </a:r>
          </a:p>
        </p:txBody>
      </p:sp>
      <p:sp>
        <p:nvSpPr>
          <p:cNvPr id="20" name="Rounded Rectangle 19"/>
          <p:cNvSpPr/>
          <p:nvPr/>
        </p:nvSpPr>
        <p:spPr>
          <a:xfrm>
            <a:off x="502920" y="5097399"/>
            <a:ext cx="82296" cy="479043"/>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225414"/>
            <a:ext cx="10643616" cy="223011"/>
          </a:xfrm>
          <a:prstGeom prst="rect">
            <a:avLst/>
          </a:prstGeom>
          <a:noFill/>
        </p:spPr>
        <p:txBody>
          <a:bodyPr wrap="square" lIns="0" rIns="0" tIns="0" bIns="0" anchor="ctr">
            <a:spAutoFit/>
          </a:bodyPr>
          <a:lstStyle/>
          <a:p>
            <a:pPr algn="l">
              <a:lnSpc>
                <a:spcPts val="1612"/>
              </a:lnSpc>
              <a:spcAft>
                <a:spcPts val="300"/>
              </a:spcAft>
            </a:pPr>
            <a:r>
              <a:rPr sz="1300" b="1" i="0">
                <a:solidFill>
                  <a:srgbClr val="141B2E"/>
                </a:solidFill>
                <a:latin typeface="Arial"/>
              </a:rPr>
              <a:t>Строка, которая должна была урезать права, их не ослабила — она не позволила роли появиться вообще.</a:t>
            </a:r>
          </a:p>
        </p:txBody>
      </p:sp>
      <p:sp>
        <p:nvSpPr>
          <p:cNvPr id="22" name="Rounded Rectangle 21"/>
          <p:cNvSpPr/>
          <p:nvPr/>
        </p:nvSpPr>
        <p:spPr>
          <a:xfrm>
            <a:off x="502920" y="5741035"/>
            <a:ext cx="11183112" cy="592119"/>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376" y="5869050"/>
            <a:ext cx="10634472" cy="336087"/>
          </a:xfrm>
          <a:prstGeom prst="rect">
            <a:avLst/>
          </a:prstGeom>
          <a:noFill/>
        </p:spPr>
        <p:txBody>
          <a:bodyPr wrap="square" lIns="0" rIns="0" tIns="0" bIns="0" anchor="ctr">
            <a:spAutoFit/>
          </a:bodyPr>
          <a:lstStyle/>
          <a:p>
            <a:pPr algn="ctr">
              <a:lnSpc>
                <a:spcPts val="1525"/>
              </a:lnSpc>
              <a:spcAft>
                <a:spcPts val="300"/>
              </a:spcAft>
            </a:pPr>
            <a:r>
              <a:rPr sz="1250" b="1" i="0">
                <a:solidFill>
                  <a:srgbClr val="141B2E"/>
                </a:solidFill>
                <a:latin typeface="Consolas"/>
              </a:rPr>
              <a:t>grep</a:t>
            </a:r>
            <a:r>
              <a:rPr sz="1250" b="1" i="0">
                <a:solidFill>
                  <a:srgbClr val="141B2E"/>
                </a:solidFill>
                <a:latin typeface="Arial"/>
              </a:rPr>
              <a:t> </a:t>
            </a:r>
            <a:r>
              <a:rPr sz="1250" b="1" i="0">
                <a:solidFill>
                  <a:srgbClr val="141B2E"/>
                </a:solidFill>
                <a:latin typeface="Consolas"/>
              </a:rPr>
              <a:t>"^tools:"</a:t>
            </a:r>
            <a:r>
              <a:rPr sz="1250" b="1" i="0">
                <a:solidFill>
                  <a:srgbClr val="141B2E"/>
                </a:solidFill>
                <a:latin typeface="Arial"/>
              </a:rPr>
              <a:t> </a:t>
            </a:r>
            <a:r>
              <a:rPr sz="1250" b="1" i="0">
                <a:solidFill>
                  <a:srgbClr val="141B2E"/>
                </a:solidFill>
                <a:latin typeface="Consolas"/>
              </a:rPr>
              <a:t>.claude/agents/*.md</a:t>
            </a:r>
            <a:r>
              <a:rPr sz="1250" b="1" i="0">
                <a:solidFill>
                  <a:srgbClr val="141B2E"/>
                </a:solidFill>
                <a:latin typeface="Arial"/>
              </a:rPr>
              <a:t> — у себя, на своих собственных ролях: у скольких из них это поле вообще задано?</a:t>
            </a:r>
          </a:p>
        </p:txBody>
      </p:sp>
      <p:sp>
        <p:nvSpPr>
          <p:cNvPr id="24" name="TextBox 2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Когда роли ещё нет, а когда она не нужна вовсе</a:t>
            </a:r>
          </a:p>
        </p:txBody>
      </p:sp>
      <p:sp>
        <p:nvSpPr>
          <p:cNvPr id="3" name="Rounded Rectangle 2"/>
          <p:cNvSpPr/>
          <p:nvPr/>
        </p:nvSpPr>
        <p:spPr>
          <a:xfrm>
            <a:off x="502920" y="957275"/>
            <a:ext cx="82296" cy="16916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085291"/>
            <a:ext cx="10643616" cy="14356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Кастомная роль — решаем, по сигналу повторения. Интуиция говорила: чтобы поручить проверку отдельному агенту, нужно завести файл и настроить его. Проверка показала: делегировать можно без единой строки конфигурации, это уже бесплатно; заводить стоило роль с урезанным списком инструментов, само делегирование заводить не требовалось — и даже это урезание держится на синтаксисе настолько буквально, что одна неверная строка не ослабляет права — не даёт роли запуститься вовсе.</a:t>
            </a:r>
          </a:p>
        </p:txBody>
      </p:sp>
      <p:sp>
        <p:nvSpPr>
          <p:cNvPr id="5" name="Rounded Rectangle 4"/>
          <p:cNvSpPr/>
          <p:nvPr/>
        </p:nvSpPr>
        <p:spPr>
          <a:xfrm>
            <a:off x="502920" y="2848305"/>
            <a:ext cx="5454396" cy="2039874"/>
          </a:xfrm>
          <a:prstGeom prst="roundRect">
            <a:avLst>
              <a:gd name="adj" fmla="val 149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95803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6B7685"/>
                </a:solidFill>
                <a:latin typeface="Arial"/>
              </a:rPr>
              <a:t>РОЛИ ЕЩЁ НЕТ</a:t>
            </a:r>
          </a:p>
        </p:txBody>
      </p:sp>
      <p:sp>
        <p:nvSpPr>
          <p:cNvPr id="7" name="TextBox 6"/>
          <p:cNvSpPr txBox="1"/>
          <p:nvPr/>
        </p:nvSpPr>
        <p:spPr>
          <a:xfrm>
            <a:off x="685800" y="323235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разовая проверка — делегируйте встроенным субагентом, файл не нужен</a:t>
            </a:r>
          </a:p>
        </p:txBody>
      </p:sp>
      <p:cxnSp>
        <p:nvCxnSpPr>
          <p:cNvPr id="8" name="Connector 7"/>
          <p:cNvCxnSpPr/>
          <p:nvPr/>
        </p:nvCxnSpPr>
        <p:spPr>
          <a:xfrm>
            <a:off x="685800" y="372333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3723335"/>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задача формулируется заново каждый раз без устойчивой формы — роли ещё нет, есть обычная работа</a:t>
            </a:r>
          </a:p>
        </p:txBody>
      </p:sp>
      <p:cxnSp>
        <p:nvCxnSpPr>
          <p:cNvPr id="10" name="Connector 9"/>
          <p:cNvCxnSpPr/>
          <p:nvPr/>
        </p:nvCxnSpPr>
        <p:spPr>
          <a:xfrm>
            <a:off x="685800" y="4214317"/>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4214317"/>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«независимость» объявлена, но не проверена — если ревьюер на деле видит рассуждения автора, объявления недостаточно</a:t>
            </a:r>
          </a:p>
        </p:txBody>
      </p:sp>
      <p:sp>
        <p:nvSpPr>
          <p:cNvPr id="12" name="Rounded Rectangle 11"/>
          <p:cNvSpPr/>
          <p:nvPr/>
        </p:nvSpPr>
        <p:spPr>
          <a:xfrm>
            <a:off x="6231636" y="2848305"/>
            <a:ext cx="5454396" cy="2039874"/>
          </a:xfrm>
          <a:prstGeom prst="roundRect">
            <a:avLst>
              <a:gd name="adj" fmla="val 14942"/>
            </a:avLst>
          </a:prstGeom>
          <a:solidFill>
            <a:srgbClr val="F4F7FA"/>
          </a:solidFill>
          <a:ln w="15240">
            <a:solidFill>
              <a:srgbClr val="E5EA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4516" y="2958033"/>
            <a:ext cx="5088636" cy="274320"/>
          </a:xfrm>
          <a:prstGeom prst="rect">
            <a:avLst/>
          </a:prstGeom>
          <a:noFill/>
        </p:spPr>
        <p:txBody>
          <a:bodyPr wrap="square" lIns="0" rIns="0" tIns="0" bIns="0" anchor="t">
            <a:spAutoFit/>
          </a:bodyPr>
          <a:lstStyle/>
          <a:p>
            <a:pPr algn="l">
              <a:lnSpc>
                <a:spcPts val="1297"/>
              </a:lnSpc>
              <a:spcAft>
                <a:spcPts val="0"/>
              </a:spcAft>
            </a:pPr>
            <a:r>
              <a:rPr sz="1100" b="1" i="0">
                <a:solidFill>
                  <a:srgbClr val="8A6200"/>
                </a:solidFill>
                <a:latin typeface="Arial"/>
              </a:rPr>
              <a:t>РОЛЬ НЕ НУЖНА ВОВСЕ</a:t>
            </a:r>
          </a:p>
        </p:txBody>
      </p:sp>
      <p:sp>
        <p:nvSpPr>
          <p:cNvPr id="14" name="TextBox 13"/>
          <p:cNvSpPr txBox="1"/>
          <p:nvPr/>
        </p:nvSpPr>
        <p:spPr>
          <a:xfrm>
            <a:off x="6414516" y="3232353"/>
            <a:ext cx="5088636" cy="490982"/>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критерий кодируется детерминированно (линтер, тест, скрипт) — не нужен ни субагент, ни модель вообще</a:t>
            </a:r>
          </a:p>
        </p:txBody>
      </p:sp>
      <p:cxnSp>
        <p:nvCxnSpPr>
          <p:cNvPr id="15" name="Connector 14"/>
          <p:cNvCxnSpPr/>
          <p:nvPr/>
        </p:nvCxnSpPr>
        <p:spPr>
          <a:xfrm>
            <a:off x="6414516" y="3723335"/>
            <a:ext cx="5088636"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14516" y="3723335"/>
            <a:ext cx="5088636" cy="663321"/>
          </a:xfrm>
          <a:prstGeom prst="rect">
            <a:avLst/>
          </a:prstGeom>
          <a:noFill/>
        </p:spPr>
        <p:txBody>
          <a:bodyPr wrap="square" lIns="0" rIns="0" tIns="0" bIns="0" anchor="ctr">
            <a:spAutoFit/>
          </a:bodyPr>
          <a:lstStyle/>
          <a:p>
            <a:pPr algn="l">
              <a:lnSpc>
                <a:spcPts val="1356"/>
              </a:lnSpc>
              <a:spcAft>
                <a:spcPts val="0"/>
              </a:spcAft>
            </a:pPr>
            <a:r>
              <a:rPr sz="1150" b="0" i="0">
                <a:solidFill>
                  <a:srgbClr val="141B2E"/>
                </a:solidFill>
                <a:latin typeface="Arial"/>
              </a:rPr>
              <a:t>естественное место для такой проверки — хук на входе или прогон в CI, не роль, которую нужно формулировать словами и потом поддерживать</a:t>
            </a:r>
          </a:p>
        </p:txBody>
      </p:sp>
      <p:sp>
        <p:nvSpPr>
          <p:cNvPr id="17" name="Rounded Rectangle 16"/>
          <p:cNvSpPr/>
          <p:nvPr/>
        </p:nvSpPr>
        <p:spPr>
          <a:xfrm>
            <a:off x="502920" y="5087569"/>
            <a:ext cx="82296" cy="121920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5215585"/>
            <a:ext cx="10643616" cy="96316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Обещанная проверка, на материале самого курса. </a:t>
            </a:r>
            <a:r>
              <a:rPr sz="1500" b="1" i="0">
                <a:solidFill>
                  <a:srgbClr val="141B2E"/>
                </a:solidFill>
                <a:latin typeface="Arial"/>
              </a:rPr>
              <a:t>14</a:t>
            </a:r>
            <a:r>
              <a:rPr sz="1500" b="1" i="0">
                <a:solidFill>
                  <a:srgbClr val="141B2E"/>
                </a:solidFill>
                <a:latin typeface="Arial"/>
              </a:rPr>
              <a:t> ролей в каталоге </a:t>
            </a:r>
            <a:r>
              <a:rPr sz="1500" b="1" i="0">
                <a:solidFill>
                  <a:srgbClr val="141B2E"/>
                </a:solidFill>
                <a:latin typeface="Consolas"/>
              </a:rPr>
              <a:t>.claude/agents/</a:t>
            </a:r>
            <a:r>
              <a:rPr sz="1500" b="1" i="0">
                <a:solidFill>
                  <a:srgbClr val="141B2E"/>
                </a:solidFill>
                <a:latin typeface="Arial"/>
              </a:rPr>
              <a:t> · </a:t>
            </a:r>
            <a:r>
              <a:rPr sz="1500" b="1" i="0">
                <a:solidFill>
                  <a:srgbClr val="141B2E"/>
                </a:solidFill>
                <a:latin typeface="Arial"/>
              </a:rPr>
              <a:t>13</a:t>
            </a:r>
            <a:r>
              <a:rPr sz="1500" b="1" i="0">
                <a:solidFill>
                  <a:srgbClr val="141B2E"/>
                </a:solidFill>
                <a:latin typeface="Arial"/>
              </a:rPr>
              <a:t> не объявляют прав вовсе и потому имеют все · </a:t>
            </a:r>
            <a:r>
              <a:rPr sz="1500" b="1" i="0">
                <a:solidFill>
                  <a:srgbClr val="141B2E"/>
                </a:solidFill>
                <a:latin typeface="Arial"/>
              </a:rPr>
              <a:t>1</a:t>
            </a:r>
            <a:r>
              <a:rPr sz="1500" b="1" i="0">
                <a:solidFill>
                  <a:srgbClr val="141B2E"/>
                </a:solidFill>
                <a:latin typeface="Arial"/>
              </a:rPr>
              <a:t> объявила и не запустилась · работающих урезаний — </a:t>
            </a:r>
            <a:r>
              <a:rPr sz="1500" b="1" i="0">
                <a:solidFill>
                  <a:srgbClr val="141B2E"/>
                </a:solidFill>
                <a:latin typeface="Arial"/>
              </a:rPr>
              <a:t>0 из 14</a:t>
            </a:r>
            <a:r>
              <a:rPr sz="1500" b="1" i="0">
                <a:solidFill>
                  <a:srgbClr val="141B2E"/>
                </a:solidFill>
                <a:latin typeface="Arial"/>
              </a:rPr>
              <a:t>. Среди тринадцати есть роли, чья работа — только оценивать материал: право его править у них тоже есть.</a:t>
            </a:r>
          </a:p>
        </p:txBody>
      </p:sp>
      <p:sp>
        <p:nvSpPr>
          <p:cNvPr id="19" name="TextBox 1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Где урезание начинает мешать работе роли</a:t>
            </a:r>
          </a:p>
        </p:txBody>
      </p:sp>
      <p:sp>
        <p:nvSpPr>
          <p:cNvPr id="3" name="Rounded Rectangle 2"/>
          <p:cNvSpPr/>
          <p:nvPr/>
        </p:nvSpPr>
        <p:spPr>
          <a:xfrm>
            <a:off x="502920" y="1753971"/>
            <a:ext cx="82296" cy="9829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881987"/>
            <a:ext cx="10643616" cy="72694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Узкий список инструментов диф-ревьюера из этого кейса был верным выбором для роли, которая только находит проблему. Тем же списком — без </a:t>
            </a:r>
            <a:r>
              <a:rPr sz="1500" b="1" i="0">
                <a:solidFill>
                  <a:srgbClr val="141B2E"/>
                </a:solidFill>
                <a:latin typeface="Consolas"/>
              </a:rPr>
              <a:t>Edit</a:t>
            </a:r>
            <a:r>
              <a:rPr sz="1500" b="1" i="0">
                <a:solidFill>
                  <a:srgbClr val="141B2E"/>
                </a:solidFill>
                <a:latin typeface="Arial"/>
              </a:rPr>
              <a:t> — не хватит роли, чья работа эту проблему чинить.</a:t>
            </a:r>
          </a:p>
        </p:txBody>
      </p:sp>
      <p:sp>
        <p:nvSpPr>
          <p:cNvPr id="5" name="Rounded Rectangle 4"/>
          <p:cNvSpPr/>
          <p:nvPr/>
        </p:nvSpPr>
        <p:spPr>
          <a:xfrm>
            <a:off x="502920" y="3404463"/>
            <a:ext cx="11183112" cy="1707261"/>
          </a:xfrm>
          <a:prstGeom prst="roundRect">
            <a:avLst>
              <a:gd name="adj" fmla="val 17853"/>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3587343"/>
            <a:ext cx="2782444"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РОЛЬ</a:t>
            </a:r>
          </a:p>
        </p:txBody>
      </p:sp>
      <p:sp>
        <p:nvSpPr>
          <p:cNvPr id="7" name="TextBox 6"/>
          <p:cNvSpPr txBox="1"/>
          <p:nvPr/>
        </p:nvSpPr>
        <p:spPr>
          <a:xfrm>
            <a:off x="3614548" y="3587343"/>
            <a:ext cx="4973869"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НУЖНО ПО РАБОТЕ → ПРАВА</a:t>
            </a:r>
          </a:p>
        </p:txBody>
      </p:sp>
      <p:sp>
        <p:nvSpPr>
          <p:cNvPr id="8" name="TextBox 7"/>
          <p:cNvSpPr txBox="1"/>
          <p:nvPr/>
        </p:nvSpPr>
        <p:spPr>
          <a:xfrm>
            <a:off x="8734721" y="3587343"/>
            <a:ext cx="262212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РЕЗУЛЬТАТ</a:t>
            </a:r>
          </a:p>
        </p:txBody>
      </p:sp>
      <p:sp>
        <p:nvSpPr>
          <p:cNvPr id="9" name="TextBox 8"/>
          <p:cNvSpPr txBox="1"/>
          <p:nvPr/>
        </p:nvSpPr>
        <p:spPr>
          <a:xfrm>
            <a:off x="685800" y="3869410"/>
            <a:ext cx="27824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code-reviewer</a:t>
            </a:r>
            <a:r>
              <a:rPr sz="1250" b="0" i="0">
                <a:solidFill>
                  <a:srgbClr val="141B2E"/>
                </a:solidFill>
                <a:latin typeface="Arial"/>
              </a:rPr>
              <a:t> (официальный пример документации)</a:t>
            </a:r>
          </a:p>
        </p:txBody>
      </p:sp>
      <p:sp>
        <p:nvSpPr>
          <p:cNvPr id="10" name="TextBox 9"/>
          <p:cNvSpPr txBox="1"/>
          <p:nvPr/>
        </p:nvSpPr>
        <p:spPr>
          <a:xfrm>
            <a:off x="3614548" y="3869410"/>
            <a:ext cx="497386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читать и искать, не менять → </a:t>
            </a:r>
            <a:r>
              <a:rPr sz="1250" b="0" i="0">
                <a:solidFill>
                  <a:srgbClr val="141B2E"/>
                </a:solidFill>
                <a:latin typeface="Consolas"/>
              </a:rPr>
              <a:t>Read,</a:t>
            </a:r>
            <a:r>
              <a:rPr sz="1250" b="0" i="0">
                <a:solidFill>
                  <a:srgbClr val="141B2E"/>
                </a:solidFill>
                <a:latin typeface="Arial"/>
              </a:rPr>
              <a:t> </a:t>
            </a: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Glob,</a:t>
            </a:r>
            <a:r>
              <a:rPr sz="1250" b="0" i="0">
                <a:solidFill>
                  <a:srgbClr val="141B2E"/>
                </a:solidFill>
                <a:latin typeface="Arial"/>
              </a:rPr>
              <a:t> </a:t>
            </a:r>
            <a:r>
              <a:rPr sz="1250" b="0" i="0">
                <a:solidFill>
                  <a:srgbClr val="141B2E"/>
                </a:solidFill>
                <a:latin typeface="Consolas"/>
              </a:rPr>
              <a:t>Bash</a:t>
            </a:r>
            <a:r>
              <a:rPr sz="1250" b="0" i="0">
                <a:solidFill>
                  <a:srgbClr val="141B2E"/>
                </a:solidFill>
                <a:latin typeface="Arial"/>
              </a:rPr>
              <a:t>, без </a:t>
            </a:r>
            <a:r>
              <a:rPr sz="1250" b="0" i="0">
                <a:solidFill>
                  <a:srgbClr val="141B2E"/>
                </a:solidFill>
                <a:latin typeface="Consolas"/>
              </a:rPr>
              <a:t>Edit</a:t>
            </a:r>
            <a:r>
              <a:rPr sz="1250" b="0" i="0">
                <a:solidFill>
                  <a:srgbClr val="141B2E"/>
                </a:solidFill>
                <a:latin typeface="Arial"/>
              </a:rPr>
              <a:t>/</a:t>
            </a:r>
            <a:r>
              <a:rPr sz="1250" b="0" i="0">
                <a:solidFill>
                  <a:srgbClr val="141B2E"/>
                </a:solidFill>
                <a:latin typeface="Consolas"/>
              </a:rPr>
              <a:t>Write</a:t>
            </a:r>
          </a:p>
        </p:txBody>
      </p:sp>
      <p:sp>
        <p:nvSpPr>
          <p:cNvPr id="11" name="TextBox 10"/>
          <p:cNvSpPr txBox="1"/>
          <p:nvPr/>
        </p:nvSpPr>
        <p:spPr>
          <a:xfrm>
            <a:off x="8734721" y="3869410"/>
            <a:ext cx="26221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верно — ревью не чинит код само</a:t>
            </a:r>
          </a:p>
        </p:txBody>
      </p:sp>
      <p:cxnSp>
        <p:nvCxnSpPr>
          <p:cNvPr id="12" name="Connector 11"/>
          <p:cNvCxnSpPr/>
          <p:nvPr/>
        </p:nvCxnSpPr>
        <p:spPr>
          <a:xfrm>
            <a:off x="685800" y="439912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4399127"/>
            <a:ext cx="2782444"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debugger</a:t>
            </a:r>
            <a:r>
              <a:rPr sz="1250" b="0" i="0">
                <a:solidFill>
                  <a:srgbClr val="141B2E"/>
                </a:solidFill>
                <a:latin typeface="Arial"/>
              </a:rPr>
              <a:t> (официальный пример документации)</a:t>
            </a:r>
          </a:p>
        </p:txBody>
      </p:sp>
      <p:sp>
        <p:nvSpPr>
          <p:cNvPr id="14" name="TextBox 13"/>
          <p:cNvSpPr txBox="1"/>
          <p:nvPr/>
        </p:nvSpPr>
        <p:spPr>
          <a:xfrm>
            <a:off x="3614548" y="4399127"/>
            <a:ext cx="4973869"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чинить баг, то есть менять код → тот же набор плюс </a:t>
            </a:r>
            <a:r>
              <a:rPr sz="1250" b="0" i="0">
                <a:solidFill>
                  <a:srgbClr val="141B2E"/>
                </a:solidFill>
                <a:latin typeface="Consolas"/>
              </a:rPr>
              <a:t>Edit</a:t>
            </a:r>
            <a:r>
              <a:rPr sz="1250" b="0" i="0">
                <a:solidFill>
                  <a:srgbClr val="141B2E"/>
                </a:solidFill>
                <a:latin typeface="Arial"/>
              </a:rPr>
              <a:t> возвращён обратно</a:t>
            </a:r>
          </a:p>
        </p:txBody>
      </p:sp>
      <p:sp>
        <p:nvSpPr>
          <p:cNvPr id="15" name="TextBox 14"/>
          <p:cNvSpPr txBox="1"/>
          <p:nvPr/>
        </p:nvSpPr>
        <p:spPr>
          <a:xfrm>
            <a:off x="8734721" y="4399127"/>
            <a:ext cx="26221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a:t>
            </a:r>
            <a:r>
              <a:rPr sz="1250" b="0" i="0">
                <a:solidFill>
                  <a:srgbClr val="141B2E"/>
                </a:solidFill>
                <a:latin typeface="Consolas"/>
              </a:rPr>
              <a:t>Edit</a:t>
            </a:r>
            <a:r>
              <a:rPr sz="1250" b="0" i="0">
                <a:solidFill>
                  <a:srgbClr val="141B2E"/>
                </a:solidFill>
                <a:latin typeface="Arial"/>
              </a:rPr>
              <a:t> не может сделать то, ради чего её завели</a:t>
            </a:r>
          </a:p>
        </p:txBody>
      </p:sp>
      <p:sp>
        <p:nvSpPr>
          <p:cNvPr id="16" name="TextBox 15"/>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встало на место двух промахов</a:t>
            </a:r>
          </a:p>
        </p:txBody>
      </p:sp>
      <p:sp>
        <p:nvSpPr>
          <p:cNvPr id="3" name="Rounded Rectangle 2"/>
          <p:cNvSpPr/>
          <p:nvPr/>
        </p:nvSpPr>
        <p:spPr>
          <a:xfrm>
            <a:off x="502920" y="992505"/>
            <a:ext cx="11183112" cy="4227194"/>
          </a:xfrm>
          <a:prstGeom prst="roundRect">
            <a:avLst>
              <a:gd name="adj" fmla="val 7210"/>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75385"/>
            <a:ext cx="125995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СТУПЕНЬ</a:t>
            </a:r>
          </a:p>
        </p:txBody>
      </p:sp>
      <p:sp>
        <p:nvSpPr>
          <p:cNvPr id="5" name="TextBox 4"/>
          <p:cNvSpPr txBox="1"/>
          <p:nvPr/>
        </p:nvSpPr>
        <p:spPr>
          <a:xfrm>
            <a:off x="2092055" y="1175385"/>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ПРЕДОТВРАЩАЕМ / РЕШАЕМ</a:t>
            </a:r>
          </a:p>
        </p:txBody>
      </p:sp>
      <p:sp>
        <p:nvSpPr>
          <p:cNvPr id="6" name="TextBox 5"/>
          <p:cNvSpPr txBox="1"/>
          <p:nvPr/>
        </p:nvSpPr>
        <p:spPr>
          <a:xfrm>
            <a:off x="5012740" y="1175385"/>
            <a:ext cx="2774381"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ДЕЛАЕТ</a:t>
            </a:r>
          </a:p>
        </p:txBody>
      </p:sp>
      <p:sp>
        <p:nvSpPr>
          <p:cNvPr id="7" name="TextBox 6"/>
          <p:cNvSpPr txBox="1"/>
          <p:nvPr/>
        </p:nvSpPr>
        <p:spPr>
          <a:xfrm>
            <a:off x="7933425" y="1175385"/>
            <a:ext cx="342342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ЧТО НЕ ДЕЛАЕТ / ОГРАНИЧЕНИЕ</a:t>
            </a:r>
          </a:p>
        </p:txBody>
      </p:sp>
      <p:sp>
        <p:nvSpPr>
          <p:cNvPr id="8" name="TextBox 7"/>
          <p:cNvSpPr txBox="1"/>
          <p:nvPr/>
        </p:nvSpPr>
        <p:spPr>
          <a:xfrm>
            <a:off x="685800" y="1457452"/>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Хук</a:t>
            </a:r>
          </a:p>
        </p:txBody>
      </p:sp>
      <p:sp>
        <p:nvSpPr>
          <p:cNvPr id="9" name="TextBox 8"/>
          <p:cNvSpPr txBox="1"/>
          <p:nvPr/>
        </p:nvSpPr>
        <p:spPr>
          <a:xfrm>
            <a:off x="2092055" y="1457452"/>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правило уже нарушено</a:t>
            </a:r>
          </a:p>
        </p:txBody>
      </p:sp>
      <p:sp>
        <p:nvSpPr>
          <p:cNvPr id="10" name="TextBox 9"/>
          <p:cNvSpPr txBox="1"/>
          <p:nvPr/>
        </p:nvSpPr>
        <p:spPr>
          <a:xfrm>
            <a:off x="5012740" y="1457452"/>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Отклоняет один паттерн записи в </a:t>
            </a:r>
            <a:r>
              <a:rPr sz="1250" b="0" i="0">
                <a:solidFill>
                  <a:srgbClr val="141B2E"/>
                </a:solidFill>
                <a:latin typeface="Consolas"/>
              </a:rPr>
              <a:t>main</a:t>
            </a:r>
            <a:r>
              <a:rPr sz="1250" b="0" i="0">
                <a:solidFill>
                  <a:srgbClr val="141B2E"/>
                </a:solidFill>
                <a:latin typeface="Arial"/>
              </a:rPr>
              <a:t> из шести способов коммита</a:t>
            </a:r>
          </a:p>
        </p:txBody>
      </p:sp>
      <p:sp>
        <p:nvSpPr>
          <p:cNvPr id="11" name="TextBox 10"/>
          <p:cNvSpPr txBox="1"/>
          <p:nvPr/>
        </p:nvSpPr>
        <p:spPr>
          <a:xfrm>
            <a:off x="7933425" y="1457452"/>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На остальных пяти молчит; человека с терминалом не видит вовсе</a:t>
            </a:r>
          </a:p>
        </p:txBody>
      </p:sp>
      <p:cxnSp>
        <p:nvCxnSpPr>
          <p:cNvPr id="12" name="Connector 11"/>
          <p:cNvCxnSpPr/>
          <p:nvPr/>
        </p:nvCxnSpPr>
        <p:spPr>
          <a:xfrm>
            <a:off x="685800" y="216973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169731"/>
            <a:ext cx="125995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Скилл</a:t>
            </a:r>
          </a:p>
        </p:txBody>
      </p:sp>
      <p:sp>
        <p:nvSpPr>
          <p:cNvPr id="14" name="TextBox 13"/>
          <p:cNvSpPr txBox="1"/>
          <p:nvPr/>
        </p:nvSpPr>
        <p:spPr>
          <a:xfrm>
            <a:off x="2092055" y="216973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по сигналу перегрузки файла инструкций</a:t>
            </a:r>
          </a:p>
        </p:txBody>
      </p:sp>
      <p:sp>
        <p:nvSpPr>
          <p:cNvPr id="15" name="TextBox 14"/>
          <p:cNvSpPr txBox="1"/>
          <p:nvPr/>
        </p:nvSpPr>
        <p:spPr>
          <a:xfrm>
            <a:off x="5012740" y="2169731"/>
            <a:ext cx="2774381"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Загружает файл по точному совпадению описания-триггера</a:t>
            </a:r>
          </a:p>
        </p:txBody>
      </p:sp>
      <p:sp>
        <p:nvSpPr>
          <p:cNvPr id="16" name="TextBox 15"/>
          <p:cNvSpPr txBox="1"/>
          <p:nvPr/>
        </p:nvSpPr>
        <p:spPr>
          <a:xfrm>
            <a:off x="7933425" y="2169731"/>
            <a:ext cx="3423422" cy="712279"/>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точного триггера не сработает вообще — содержимого файла до срабатывания в контексте нет</a:t>
            </a:r>
          </a:p>
        </p:txBody>
      </p:sp>
      <p:cxnSp>
        <p:nvCxnSpPr>
          <p:cNvPr id="17" name="Connector 16"/>
          <p:cNvCxnSpPr/>
          <p:nvPr/>
        </p:nvCxnSpPr>
        <p:spPr>
          <a:xfrm>
            <a:off x="685800" y="28820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2882011"/>
            <a:ext cx="125995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19" name="TextBox 18"/>
          <p:cNvSpPr txBox="1"/>
          <p:nvPr/>
        </p:nvSpPr>
        <p:spPr>
          <a:xfrm>
            <a:off x="2092055" y="2882011"/>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Предотвращаем на входе, решаем после</a:t>
            </a:r>
          </a:p>
        </p:txBody>
      </p:sp>
      <p:sp>
        <p:nvSpPr>
          <p:cNvPr id="20" name="TextBox 19"/>
          <p:cNvSpPr txBox="1"/>
          <p:nvPr/>
        </p:nvSpPr>
        <p:spPr>
          <a:xfrm>
            <a:off x="5012740" y="2882011"/>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Урезает права до подключения, не после</a:t>
            </a:r>
          </a:p>
        </p:txBody>
      </p:sp>
      <p:sp>
        <p:nvSpPr>
          <p:cNvPr id="21" name="TextBox 20"/>
          <p:cNvSpPr txBox="1"/>
          <p:nvPr/>
        </p:nvSpPr>
        <p:spPr>
          <a:xfrm>
            <a:off x="7933425" y="2882011"/>
            <a:ext cx="342342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вычеркнутой строки «все репозитории, включая приватные» воспроизводится документированная эксфильтрация (Invariant Labs, май 2025)</a:t>
            </a:r>
          </a:p>
        </p:txBody>
      </p:sp>
      <p:cxnSp>
        <p:nvCxnSpPr>
          <p:cNvPr id="22" name="Connector 21"/>
          <p:cNvCxnSpPr/>
          <p:nvPr/>
        </p:nvCxnSpPr>
        <p:spPr>
          <a:xfrm>
            <a:off x="685800" y="3959415"/>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959415"/>
            <a:ext cx="125995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a:t>
            </a:r>
          </a:p>
        </p:txBody>
      </p:sp>
      <p:sp>
        <p:nvSpPr>
          <p:cNvPr id="24" name="TextBox 23"/>
          <p:cNvSpPr txBox="1"/>
          <p:nvPr/>
        </p:nvSpPr>
        <p:spPr>
          <a:xfrm>
            <a:off x="2092055" y="3959415"/>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Решаем — по сигналу повторения</a:t>
            </a:r>
          </a:p>
        </p:txBody>
      </p:sp>
      <p:sp>
        <p:nvSpPr>
          <p:cNvPr id="25" name="TextBox 24"/>
          <p:cNvSpPr txBox="1"/>
          <p:nvPr/>
        </p:nvSpPr>
        <p:spPr>
          <a:xfrm>
            <a:off x="5012740" y="3959415"/>
            <a:ext cx="2774381"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Делегирует задачу бесплатно, без единой строки конфигурации; список инструментов урезается синтаксисом</a:t>
            </a:r>
          </a:p>
        </p:txBody>
      </p:sp>
      <p:sp>
        <p:nvSpPr>
          <p:cNvPr id="26" name="TextBox 25"/>
          <p:cNvSpPr txBox="1"/>
          <p:nvPr/>
        </p:nvSpPr>
        <p:spPr>
          <a:xfrm>
            <a:off x="7933425" y="3959415"/>
            <a:ext cx="3423422" cy="107740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Урезание держится настолько буквально, что одна неверная строка не ослабляет права роли — она останавливает её запуск вовсе</a:t>
            </a:r>
          </a:p>
        </p:txBody>
      </p:sp>
      <p:sp>
        <p:nvSpPr>
          <p:cNvPr id="27" name="Rounded Rectangle 26"/>
          <p:cNvSpPr/>
          <p:nvPr/>
        </p:nvSpPr>
        <p:spPr>
          <a:xfrm>
            <a:off x="502920" y="5507164"/>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5635180"/>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«Понедельник закрывает третья строка, среду — четвёртая. Четыре строки заполнены, ось занятия закрыта.»</a:t>
            </a:r>
          </a:p>
        </p:txBody>
      </p:sp>
      <p:sp>
        <p:nvSpPr>
          <p:cNvPr id="29" name="TextBox 28"/>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Что появилось в репозитории</a:t>
            </a:r>
          </a:p>
        </p:txBody>
      </p:sp>
      <p:sp>
        <p:nvSpPr>
          <p:cNvPr id="3" name="Rounded Rectangle 2"/>
          <p:cNvSpPr/>
          <p:nvPr/>
        </p:nvSpPr>
        <p:spPr>
          <a:xfrm>
            <a:off x="502920" y="1085629"/>
            <a:ext cx="82296" cy="5105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1213645"/>
            <a:ext cx="10643616" cy="254508"/>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СХЕМА, НЕ СНИМОК</a:t>
            </a:r>
          </a:p>
        </p:txBody>
      </p:sp>
      <p:sp>
        <p:nvSpPr>
          <p:cNvPr id="5" name="Rounded Rectangle 4"/>
          <p:cNvSpPr/>
          <p:nvPr/>
        </p:nvSpPr>
        <p:spPr>
          <a:xfrm>
            <a:off x="502920" y="2116446"/>
            <a:ext cx="11183112" cy="2730753"/>
          </a:xfrm>
          <a:prstGeom prst="roundRect">
            <a:avLst>
              <a:gd name="adj" fmla="val 11161"/>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299326"/>
            <a:ext cx="1312485"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СТУПЕНЬ</a:t>
            </a:r>
          </a:p>
        </p:txBody>
      </p:sp>
      <p:sp>
        <p:nvSpPr>
          <p:cNvPr id="7" name="TextBox 6"/>
          <p:cNvSpPr txBox="1"/>
          <p:nvPr/>
        </p:nvSpPr>
        <p:spPr>
          <a:xfrm>
            <a:off x="2144589" y="2299326"/>
            <a:ext cx="606139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ПУТЬ ИЛИ АРТЕФАКТ</a:t>
            </a:r>
          </a:p>
        </p:txBody>
      </p:sp>
      <p:sp>
        <p:nvSpPr>
          <p:cNvPr id="8" name="TextBox 7"/>
          <p:cNvSpPr txBox="1"/>
          <p:nvPr/>
        </p:nvSpPr>
        <p:spPr>
          <a:xfrm>
            <a:off x="8352285" y="2299326"/>
            <a:ext cx="300456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СТАТУС</a:t>
            </a:r>
          </a:p>
        </p:txBody>
      </p:sp>
      <p:sp>
        <p:nvSpPr>
          <p:cNvPr id="9" name="TextBox 8"/>
          <p:cNvSpPr txBox="1"/>
          <p:nvPr/>
        </p:nvSpPr>
        <p:spPr>
          <a:xfrm>
            <a:off x="685800" y="2581393"/>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Хук</a:t>
            </a:r>
          </a:p>
        </p:txBody>
      </p:sp>
      <p:sp>
        <p:nvSpPr>
          <p:cNvPr id="10" name="TextBox 9"/>
          <p:cNvSpPr txBox="1"/>
          <p:nvPr/>
        </p:nvSpPr>
        <p:spPr>
          <a:xfrm>
            <a:off x="2144589" y="2581393"/>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.claude/settings.json</a:t>
            </a:r>
            <a:r>
              <a:rPr sz="1250" b="0" i="0">
                <a:solidFill>
                  <a:srgbClr val="141B2E"/>
                </a:solidFill>
                <a:latin typeface="Arial"/>
              </a:rPr>
              <a:t> + </a:t>
            </a:r>
            <a:r>
              <a:rPr sz="1250" b="0" i="0">
                <a:solidFill>
                  <a:srgbClr val="141B2E"/>
                </a:solidFill>
                <a:latin typeface="Consolas"/>
              </a:rPr>
              <a:t>.claude/hooks/selftest-branch-guard.sh</a:t>
            </a:r>
          </a:p>
        </p:txBody>
      </p:sp>
      <p:sp>
        <p:nvSpPr>
          <p:cNvPr id="11" name="TextBox 10"/>
          <p:cNvSpPr txBox="1"/>
          <p:nvPr/>
        </p:nvSpPr>
        <p:spPr>
          <a:xfrm>
            <a:off x="8352285" y="2581393"/>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коммит есть</a:t>
            </a:r>
          </a:p>
        </p:txBody>
      </p:sp>
      <p:cxnSp>
        <p:nvCxnSpPr>
          <p:cNvPr id="12" name="Connector 11"/>
          <p:cNvCxnSpPr/>
          <p:nvPr/>
        </p:nvCxnSpPr>
        <p:spPr>
          <a:xfrm>
            <a:off x="685800" y="2928548"/>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2928548"/>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Скилл</a:t>
            </a:r>
          </a:p>
        </p:txBody>
      </p:sp>
      <p:sp>
        <p:nvSpPr>
          <p:cNvPr id="14" name="TextBox 13"/>
          <p:cNvSpPr txBox="1"/>
          <p:nvPr/>
        </p:nvSpPr>
        <p:spPr>
          <a:xfrm>
            <a:off x="2144589" y="2928548"/>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.claude/skills/deploy/SKILL.md</a:t>
            </a:r>
          </a:p>
        </p:txBody>
      </p:sp>
      <p:sp>
        <p:nvSpPr>
          <p:cNvPr id="15" name="TextBox 14"/>
          <p:cNvSpPr txBox="1"/>
          <p:nvPr/>
        </p:nvSpPr>
        <p:spPr>
          <a:xfrm>
            <a:off x="8352285" y="2928548"/>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плану, коммита нет</a:t>
            </a:r>
          </a:p>
        </p:txBody>
      </p:sp>
      <p:cxnSp>
        <p:nvCxnSpPr>
          <p:cNvPr id="16" name="Connector 15"/>
          <p:cNvCxnSpPr/>
          <p:nvPr/>
        </p:nvCxnSpPr>
        <p:spPr>
          <a:xfrm>
            <a:off x="685800" y="3275702"/>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275702"/>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CLAUDE.md</a:t>
            </a:r>
          </a:p>
        </p:txBody>
      </p:sp>
      <p:sp>
        <p:nvSpPr>
          <p:cNvPr id="18" name="TextBox 17"/>
          <p:cNvSpPr txBox="1"/>
          <p:nvPr/>
        </p:nvSpPr>
        <p:spPr>
          <a:xfrm>
            <a:off x="2144589" y="3275702"/>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40 строк / 5 разделов</a:t>
            </a:r>
          </a:p>
        </p:txBody>
      </p:sp>
      <p:sp>
        <p:nvSpPr>
          <p:cNvPr id="19" name="TextBox 18"/>
          <p:cNvSpPr txBox="1"/>
          <p:nvPr/>
        </p:nvSpPr>
        <p:spPr>
          <a:xfrm>
            <a:off x="8352285" y="3275702"/>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коммит есть</a:t>
            </a:r>
          </a:p>
        </p:txBody>
      </p:sp>
      <p:cxnSp>
        <p:nvCxnSpPr>
          <p:cNvPr id="20" name="Connector 19"/>
          <p:cNvCxnSpPr/>
          <p:nvPr/>
        </p:nvCxnSpPr>
        <p:spPr>
          <a:xfrm>
            <a:off x="685800" y="362285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5800" y="3622857"/>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DECISIONS.md</a:t>
            </a:r>
          </a:p>
        </p:txBody>
      </p:sp>
      <p:sp>
        <p:nvSpPr>
          <p:cNvPr id="22" name="TextBox 21"/>
          <p:cNvSpPr txBox="1"/>
          <p:nvPr/>
        </p:nvSpPr>
        <p:spPr>
          <a:xfrm>
            <a:off x="2144589" y="3622857"/>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документационный слой репозитория</a:t>
            </a:r>
          </a:p>
        </p:txBody>
      </p:sp>
      <p:sp>
        <p:nvSpPr>
          <p:cNvPr id="23" name="TextBox 22"/>
          <p:cNvSpPr txBox="1"/>
          <p:nvPr/>
        </p:nvSpPr>
        <p:spPr>
          <a:xfrm>
            <a:off x="8352285" y="3622857"/>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без изменений</a:t>
            </a:r>
          </a:p>
        </p:txBody>
      </p:sp>
      <p:cxnSp>
        <p:nvCxnSpPr>
          <p:cNvPr id="24" name="Connector 23"/>
          <p:cNvCxnSpPr/>
          <p:nvPr/>
        </p:nvCxnSpPr>
        <p:spPr>
          <a:xfrm>
            <a:off x="685800" y="3970011"/>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3970011"/>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a:t>
            </a:r>
          </a:p>
        </p:txBody>
      </p:sp>
      <p:sp>
        <p:nvSpPr>
          <p:cNvPr id="26" name="TextBox 25"/>
          <p:cNvSpPr txBox="1"/>
          <p:nvPr/>
        </p:nvSpPr>
        <p:spPr>
          <a:xfrm>
            <a:off x="2144589" y="3970011"/>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.mcp.json</a:t>
            </a:r>
            <a:r>
              <a:rPr sz="1250" b="0" i="0">
                <a:solidFill>
                  <a:srgbClr val="141B2E"/>
                </a:solidFill>
                <a:latin typeface="Arial"/>
              </a:rPr>
              <a:t>, права вычеркнуты до трёх операций</a:t>
            </a:r>
          </a:p>
        </p:txBody>
      </p:sp>
      <p:sp>
        <p:nvSpPr>
          <p:cNvPr id="27" name="TextBox 26"/>
          <p:cNvSpPr txBox="1"/>
          <p:nvPr/>
        </p:nvSpPr>
        <p:spPr>
          <a:xfrm>
            <a:off x="8352285" y="3970011"/>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плану, коммита нет и не будет</a:t>
            </a:r>
          </a:p>
        </p:txBody>
      </p:sp>
      <p:cxnSp>
        <p:nvCxnSpPr>
          <p:cNvPr id="28" name="Connector 27"/>
          <p:cNvCxnSpPr/>
          <p:nvPr/>
        </p:nvCxnSpPr>
        <p:spPr>
          <a:xfrm>
            <a:off x="685800" y="4317166"/>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4317166"/>
            <a:ext cx="1312485"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a:t>
            </a:r>
          </a:p>
        </p:txBody>
      </p:sp>
      <p:sp>
        <p:nvSpPr>
          <p:cNvPr id="30" name="TextBox 29"/>
          <p:cNvSpPr txBox="1"/>
          <p:nvPr/>
        </p:nvSpPr>
        <p:spPr>
          <a:xfrm>
            <a:off x="2144589" y="4317166"/>
            <a:ext cx="606139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.claude/agents/diff-reviewer.md</a:t>
            </a:r>
            <a:r>
              <a:rPr sz="1250" b="0" i="0">
                <a:solidFill>
                  <a:srgbClr val="141B2E"/>
                </a:solidFill>
                <a:latin typeface="Arial"/>
              </a:rPr>
              <a:t>, </a:t>
            </a:r>
            <a:r>
              <a:rPr sz="1250" b="0" i="0">
                <a:solidFill>
                  <a:srgbClr val="141B2E"/>
                </a:solidFill>
                <a:latin typeface="Consolas"/>
              </a:rPr>
              <a:t>tools:</a:t>
            </a:r>
            <a:r>
              <a:rPr sz="1250" b="0" i="0">
                <a:solidFill>
                  <a:srgbClr val="141B2E"/>
                </a:solidFill>
                <a:latin typeface="Arial"/>
              </a:rPr>
              <a:t> </a:t>
            </a:r>
            <a:r>
              <a:rPr sz="1250" b="0" i="0">
                <a:solidFill>
                  <a:srgbClr val="141B2E"/>
                </a:solidFill>
                <a:latin typeface="Consolas"/>
              </a:rPr>
              <a:t>Read,</a:t>
            </a:r>
            <a:r>
              <a:rPr sz="1250" b="0" i="0">
                <a:solidFill>
                  <a:srgbClr val="141B2E"/>
                </a:solidFill>
                <a:latin typeface="Arial"/>
              </a:rPr>
              <a:t> </a:t>
            </a: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Glob</a:t>
            </a:r>
          </a:p>
        </p:txBody>
      </p:sp>
      <p:sp>
        <p:nvSpPr>
          <p:cNvPr id="31" name="TextBox 30"/>
          <p:cNvSpPr txBox="1"/>
          <p:nvPr/>
        </p:nvSpPr>
        <p:spPr>
          <a:xfrm>
            <a:off x="8352285" y="4317166"/>
            <a:ext cx="300456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по плану, коммита нет и не будет</a:t>
            </a:r>
          </a:p>
        </p:txBody>
      </p:sp>
      <p:sp>
        <p:nvSpPr>
          <p:cNvPr id="32" name="Rounded Rectangle 31"/>
          <p:cNvSpPr/>
          <p:nvPr/>
        </p:nvSpPr>
        <p:spPr>
          <a:xfrm>
            <a:off x="502920" y="5367477"/>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5495493"/>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«Два файла этого занятия останутся только планом. В публичном репозитории их не будет — и это сказано прямо, не спрятано.»</a:t>
            </a:r>
          </a:p>
        </p:txBody>
      </p:sp>
      <p:sp>
        <p:nvSpPr>
          <p:cNvPr id="34" name="TextBox 3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Этот вопрос уже звучал</a:t>
            </a:r>
          </a:p>
        </p:txBody>
      </p:sp>
      <p:sp>
        <p:nvSpPr>
          <p:cNvPr id="3" name="Rectangle 2"/>
          <p:cNvSpPr/>
          <p:nvPr/>
        </p:nvSpPr>
        <p:spPr>
          <a:xfrm>
            <a:off x="502920" y="2297887"/>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8" y="2352751"/>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«Этот вопрос уже звучал в начале занятия, и ответ вы держали при себе. Сейчас вслух: у кого он изменился и что именно его изменило.»</a:t>
            </a:r>
          </a:p>
        </p:txBody>
      </p:sp>
      <p:sp>
        <p:nvSpPr>
          <p:cNvPr id="5" name="Rounded Rectangle 4"/>
          <p:cNvSpPr/>
          <p:nvPr/>
        </p:nvSpPr>
        <p:spPr>
          <a:xfrm>
            <a:off x="502920" y="3527755"/>
            <a:ext cx="11183112" cy="822960"/>
          </a:xfrm>
          <a:prstGeom prst="roundRect">
            <a:avLst>
              <a:gd name="adj" fmla="val 10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3655771"/>
            <a:ext cx="10634472" cy="566928"/>
          </a:xfrm>
          <a:prstGeom prst="rect">
            <a:avLst/>
          </a:prstGeom>
          <a:noFill/>
        </p:spPr>
        <p:txBody>
          <a:bodyPr wrap="square" lIns="0" rIns="0" tIns="0" bIns="0" anchor="ctr">
            <a:spAutoFit/>
          </a:bodyPr>
          <a:lstStyle/>
          <a:p>
            <a:pPr algn="ctr">
              <a:lnSpc>
                <a:spcPts val="2013"/>
              </a:lnSpc>
              <a:spcAft>
                <a:spcPts val="300"/>
              </a:spcAft>
            </a:pPr>
            <a:r>
              <a:rPr sz="1650" b="1" i="0">
                <a:solidFill>
                  <a:srgbClr val="141B2E"/>
                </a:solidFill>
                <a:latin typeface="Arial"/>
              </a:rPr>
              <a:t>«Работа вышла за контекст агента — что вы заводите первым: приносите внутрь то, чего внутри нет, или выносите наружу то, что внутрь не помещается?»</a:t>
            </a:r>
          </a:p>
        </p:txBody>
      </p:sp>
      <p:sp>
        <p:nvSpPr>
          <p:cNvPr id="7" name="TextBox 6"/>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11183112" cy="431291"/>
          </a:xfrm>
          <a:prstGeom prst="rect">
            <a:avLst/>
          </a:prstGeom>
          <a:noFill/>
        </p:spPr>
        <p:txBody>
          <a:bodyPr wrap="square" lIns="0" rIns="0" tIns="0" bIns="0" anchor="t">
            <a:spAutoFit/>
          </a:bodyPr>
          <a:lstStyle/>
          <a:p>
            <a:pPr algn="l">
              <a:lnSpc>
                <a:spcPts val="2963"/>
              </a:lnSpc>
              <a:spcAft>
                <a:spcPts val="0"/>
              </a:spcAft>
            </a:pPr>
            <a:r>
              <a:rPr sz="2600" b="1" i="0">
                <a:solidFill>
                  <a:srgbClr val="141B2E"/>
                </a:solidFill>
                <a:latin typeface="Arial"/>
              </a:rPr>
              <a:t>Чем занятие кончается</a:t>
            </a:r>
          </a:p>
        </p:txBody>
      </p:sp>
      <p:sp>
        <p:nvSpPr>
          <p:cNvPr id="3" name="Rounded Rectangle 2"/>
          <p:cNvSpPr/>
          <p:nvPr/>
        </p:nvSpPr>
        <p:spPr>
          <a:xfrm>
            <a:off x="502920" y="976477"/>
            <a:ext cx="11183112" cy="3461004"/>
          </a:xfrm>
          <a:prstGeom prst="roundRect">
            <a:avLst>
              <a:gd name="adj" fmla="val 8806"/>
            </a:avLst>
          </a:prstGeom>
          <a:solidFill>
            <a:srgbClr val="FFFFFF"/>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59357"/>
            <a:ext cx="2952026"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КЕЙС</a:t>
            </a:r>
          </a:p>
        </p:txBody>
      </p:sp>
      <p:sp>
        <p:nvSpPr>
          <p:cNvPr id="5" name="TextBox 4"/>
          <p:cNvSpPr txBox="1"/>
          <p:nvPr/>
        </p:nvSpPr>
        <p:spPr>
          <a:xfrm>
            <a:off x="3784130" y="1159357"/>
            <a:ext cx="610910"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ОПОРА</a:t>
            </a:r>
          </a:p>
        </p:txBody>
      </p:sp>
      <p:sp>
        <p:nvSpPr>
          <p:cNvPr id="6" name="TextBox 5"/>
          <p:cNvSpPr txBox="1"/>
          <p:nvPr/>
        </p:nvSpPr>
        <p:spPr>
          <a:xfrm>
            <a:off x="4541345" y="1159357"/>
            <a:ext cx="6815502" cy="282067"/>
          </a:xfrm>
          <a:prstGeom prst="rect">
            <a:avLst/>
          </a:prstGeom>
          <a:noFill/>
        </p:spPr>
        <p:txBody>
          <a:bodyPr wrap="square" lIns="0" rIns="0" tIns="0" bIns="0" anchor="t">
            <a:spAutoFit/>
          </a:bodyPr>
          <a:lstStyle/>
          <a:p>
            <a:pPr algn="l">
              <a:lnSpc>
                <a:spcPts val="1265"/>
              </a:lnSpc>
              <a:spcAft>
                <a:spcPts val="0"/>
              </a:spcAft>
            </a:pPr>
            <a:r>
              <a:rPr sz="1150" b="1" i="0">
                <a:solidFill>
                  <a:srgbClr val="6B7685"/>
                </a:solidFill>
                <a:latin typeface="Arial"/>
              </a:rPr>
              <a:t>ПРОВЕРЯЕТСЯ ЧЕМ</a:t>
            </a:r>
          </a:p>
        </p:txBody>
      </p:sp>
      <p:sp>
        <p:nvSpPr>
          <p:cNvPr id="7" name="TextBox 6"/>
          <p:cNvSpPr txBox="1"/>
          <p:nvPr/>
        </p:nvSpPr>
        <p:spPr>
          <a:xfrm>
            <a:off x="685800" y="1441424"/>
            <a:ext cx="295202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данных нет в репозитории</a:t>
            </a:r>
          </a:p>
        </p:txBody>
      </p:sp>
      <p:sp>
        <p:nvSpPr>
          <p:cNvPr id="8" name="TextBox 7"/>
          <p:cNvSpPr txBox="1"/>
          <p:nvPr/>
        </p:nvSpPr>
        <p:spPr>
          <a:xfrm>
            <a:off x="3784130" y="1441424"/>
            <a:ext cx="6109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9" name="TextBox 8"/>
          <p:cNvSpPr txBox="1"/>
          <p:nvPr/>
        </p:nvSpPr>
        <p:spPr>
          <a:xfrm>
            <a:off x="4541345" y="1441424"/>
            <a:ext cx="681550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целевое решение, коммита нет ни в демо-репозитории, ни в репозитории курса</a:t>
            </a:r>
          </a:p>
        </p:txBody>
      </p:sp>
      <p:cxnSp>
        <p:nvCxnSpPr>
          <p:cNvPr id="10" name="Connector 9"/>
          <p:cNvCxnSpPr/>
          <p:nvPr/>
        </p:nvCxnSpPr>
        <p:spPr>
          <a:xfrm>
            <a:off x="685800" y="1788579"/>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1788579"/>
            <a:ext cx="2952026"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подключён, агент не ходит</a:t>
            </a:r>
          </a:p>
        </p:txBody>
      </p:sp>
      <p:sp>
        <p:nvSpPr>
          <p:cNvPr id="12" name="TextBox 11"/>
          <p:cNvSpPr txBox="1"/>
          <p:nvPr/>
        </p:nvSpPr>
        <p:spPr>
          <a:xfrm>
            <a:off x="3784130" y="1788579"/>
            <a:ext cx="610910"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есть</a:t>
            </a:r>
          </a:p>
        </p:txBody>
      </p:sp>
      <p:sp>
        <p:nvSpPr>
          <p:cNvPr id="13" name="TextBox 12"/>
          <p:cNvSpPr txBox="1"/>
          <p:nvPr/>
        </p:nvSpPr>
        <p:spPr>
          <a:xfrm>
            <a:off x="4541345" y="1788579"/>
            <a:ext cx="6815502" cy="347154"/>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claude</a:t>
            </a:r>
            <a:r>
              <a:rPr sz="1250" b="0" i="0">
                <a:solidFill>
                  <a:srgbClr val="141B2E"/>
                </a:solidFill>
                <a:latin typeface="Arial"/>
              </a:rPr>
              <a:t> </a:t>
            </a:r>
            <a:r>
              <a:rPr sz="1250" b="0" i="0">
                <a:solidFill>
                  <a:srgbClr val="141B2E"/>
                </a:solidFill>
                <a:latin typeface="Consolas"/>
              </a:rPr>
              <a:t>mcp</a:t>
            </a:r>
            <a:r>
              <a:rPr sz="1250" b="0" i="0">
                <a:solidFill>
                  <a:srgbClr val="141B2E"/>
                </a:solidFill>
                <a:latin typeface="Arial"/>
              </a:rPr>
              <a:t> </a:t>
            </a:r>
            <a:r>
              <a:rPr sz="1250" b="0" i="0">
                <a:solidFill>
                  <a:srgbClr val="141B2E"/>
                </a:solidFill>
                <a:latin typeface="Consolas"/>
              </a:rPr>
              <a:t>list</a:t>
            </a:r>
            <a:r>
              <a:rPr sz="1250" b="0" i="0">
                <a:solidFill>
                  <a:srgbClr val="141B2E"/>
                </a:solidFill>
                <a:latin typeface="Arial"/>
              </a:rPr>
              <a:t> / </a:t>
            </a:r>
            <a:r>
              <a:rPr sz="1250" b="0" i="0">
                <a:solidFill>
                  <a:srgbClr val="141B2E"/>
                </a:solidFill>
                <a:latin typeface="Consolas"/>
              </a:rPr>
              <a:t>/mcp</a:t>
            </a:r>
            <a:r>
              <a:rPr sz="1250" b="0" i="0">
                <a:solidFill>
                  <a:srgbClr val="141B2E"/>
                </a:solidFill>
                <a:latin typeface="Arial"/>
              </a:rPr>
              <a:t> — статусы, два тайм-аута, вживую на занятии</a:t>
            </a:r>
          </a:p>
        </p:txBody>
      </p:sp>
      <p:cxnSp>
        <p:nvCxnSpPr>
          <p:cNvPr id="14" name="Connector 13"/>
          <p:cNvCxnSpPr/>
          <p:nvPr/>
        </p:nvCxnSpPr>
        <p:spPr>
          <a:xfrm>
            <a:off x="685800" y="2135733"/>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2135733"/>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MCP — одобрение не окончательно</a:t>
            </a:r>
          </a:p>
        </p:txBody>
      </p:sp>
      <p:sp>
        <p:nvSpPr>
          <p:cNvPr id="16" name="TextBox 15"/>
          <p:cNvSpPr txBox="1"/>
          <p:nvPr/>
        </p:nvSpPr>
        <p:spPr>
          <a:xfrm>
            <a:off x="3784130" y="2135733"/>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17" name="TextBox 16"/>
          <p:cNvSpPr txBox="1"/>
          <p:nvPr/>
        </p:nvSpPr>
        <p:spPr>
          <a:xfrm>
            <a:off x="4541345" y="2135733"/>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требует специально подготовленного вредоносного сервера</a:t>
            </a:r>
          </a:p>
        </p:txBody>
      </p:sp>
      <p:cxnSp>
        <p:nvCxnSpPr>
          <p:cNvPr id="18" name="Connector 17"/>
          <p:cNvCxnSpPr/>
          <p:nvPr/>
        </p:nvCxnSpPr>
        <p:spPr>
          <a:xfrm>
            <a:off x="685800" y="2665450"/>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2665450"/>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 — родитель видит только итог</a:t>
            </a:r>
          </a:p>
        </p:txBody>
      </p:sp>
      <p:sp>
        <p:nvSpPr>
          <p:cNvPr id="20" name="TextBox 19"/>
          <p:cNvSpPr txBox="1"/>
          <p:nvPr/>
        </p:nvSpPr>
        <p:spPr>
          <a:xfrm>
            <a:off x="3784130" y="2665450"/>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21" name="TextBox 20"/>
          <p:cNvSpPr txBox="1"/>
          <p:nvPr/>
        </p:nvSpPr>
        <p:spPr>
          <a:xfrm>
            <a:off x="4541345" y="2665450"/>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требует подготовленного параллельного прогона, не воспроизводится на занятии</a:t>
            </a:r>
          </a:p>
        </p:txBody>
      </p:sp>
      <p:cxnSp>
        <p:nvCxnSpPr>
          <p:cNvPr id="22" name="Connector 21"/>
          <p:cNvCxnSpPr/>
          <p:nvPr/>
        </p:nvCxnSpPr>
        <p:spPr>
          <a:xfrm>
            <a:off x="685800" y="3195167"/>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3195167"/>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 — вторая роль, промежуток</a:t>
            </a:r>
          </a:p>
        </p:txBody>
      </p:sp>
      <p:sp>
        <p:nvSpPr>
          <p:cNvPr id="24" name="TextBox 23"/>
          <p:cNvSpPr txBox="1"/>
          <p:nvPr/>
        </p:nvSpPr>
        <p:spPr>
          <a:xfrm>
            <a:off x="3784130" y="3195167"/>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нет</a:t>
            </a:r>
          </a:p>
        </p:txBody>
      </p:sp>
      <p:sp>
        <p:nvSpPr>
          <p:cNvPr id="25" name="TextBox 24"/>
          <p:cNvSpPr txBox="1"/>
          <p:nvPr/>
        </p:nvSpPr>
        <p:spPr>
          <a:xfrm>
            <a:off x="4541345" y="3195167"/>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утверждение исследования (MAST); ни одна из двух опор занятия его не демонстрирует</a:t>
            </a:r>
          </a:p>
        </p:txBody>
      </p:sp>
      <p:cxnSp>
        <p:nvCxnSpPr>
          <p:cNvPr id="26" name="Connector 25"/>
          <p:cNvCxnSpPr/>
          <p:nvPr/>
        </p:nvCxnSpPr>
        <p:spPr>
          <a:xfrm>
            <a:off x="685800" y="3724884"/>
            <a:ext cx="10817352" cy="0"/>
          </a:xfrm>
          <a:prstGeom prst="line">
            <a:avLst/>
          </a:prstGeom>
          <a:ln w="9525">
            <a:solidFill>
              <a:srgbClr val="E5EA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3724884"/>
            <a:ext cx="2952026"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Субагент — роль переизобретается</a:t>
            </a:r>
          </a:p>
        </p:txBody>
      </p:sp>
      <p:sp>
        <p:nvSpPr>
          <p:cNvPr id="28" name="TextBox 27"/>
          <p:cNvSpPr txBox="1"/>
          <p:nvPr/>
        </p:nvSpPr>
        <p:spPr>
          <a:xfrm>
            <a:off x="3784130" y="3724884"/>
            <a:ext cx="610910"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Arial"/>
              </a:rPr>
              <a:t>есть</a:t>
            </a:r>
          </a:p>
        </p:txBody>
      </p:sp>
      <p:sp>
        <p:nvSpPr>
          <p:cNvPr id="29" name="TextBox 28"/>
          <p:cNvSpPr txBox="1"/>
          <p:nvPr/>
        </p:nvSpPr>
        <p:spPr>
          <a:xfrm>
            <a:off x="4541345" y="3724884"/>
            <a:ext cx="6815502" cy="529717"/>
          </a:xfrm>
          <a:prstGeom prst="rect">
            <a:avLst/>
          </a:prstGeom>
          <a:noFill/>
        </p:spPr>
        <p:txBody>
          <a:bodyPr wrap="square" lIns="0" rIns="0" tIns="0" bIns="0" anchor="ctr">
            <a:spAutoFit/>
          </a:bodyPr>
          <a:lstStyle/>
          <a:p>
            <a:pPr algn="l">
              <a:lnSpc>
                <a:spcPts val="1437"/>
              </a:lnSpc>
              <a:spcAft>
                <a:spcPts val="0"/>
              </a:spcAft>
            </a:pPr>
            <a:r>
              <a:rPr sz="1250" b="0" i="0">
                <a:solidFill>
                  <a:srgbClr val="141B2E"/>
                </a:solidFill>
                <a:latin typeface="Consolas"/>
              </a:rPr>
              <a:t>grep</a:t>
            </a:r>
            <a:r>
              <a:rPr sz="1250" b="0" i="0">
                <a:solidFill>
                  <a:srgbClr val="141B2E"/>
                </a:solidFill>
                <a:latin typeface="Arial"/>
              </a:rPr>
              <a:t> </a:t>
            </a:r>
            <a:r>
              <a:rPr sz="1250" b="0" i="0">
                <a:solidFill>
                  <a:srgbClr val="141B2E"/>
                </a:solidFill>
                <a:latin typeface="Consolas"/>
              </a:rPr>
              <a:t>"^tools:"</a:t>
            </a:r>
            <a:r>
              <a:rPr sz="1250" b="0" i="0">
                <a:solidFill>
                  <a:srgbClr val="141B2E"/>
                </a:solidFill>
                <a:latin typeface="Arial"/>
              </a:rPr>
              <a:t> </a:t>
            </a:r>
            <a:r>
              <a:rPr sz="1250" b="0" i="0">
                <a:solidFill>
                  <a:srgbClr val="141B2E"/>
                </a:solidFill>
                <a:latin typeface="Consolas"/>
              </a:rPr>
              <a:t>.claude/agents/*.md</a:t>
            </a:r>
            <a:r>
              <a:rPr sz="1250" b="0" i="0">
                <a:solidFill>
                  <a:srgbClr val="141B2E"/>
                </a:solidFill>
                <a:latin typeface="Arial"/>
              </a:rPr>
              <a:t>; </a:t>
            </a:r>
            <a:r>
              <a:rPr sz="1250" b="0" i="0">
                <a:solidFill>
                  <a:srgbClr val="141B2E"/>
                </a:solidFill>
                <a:latin typeface="Consolas"/>
              </a:rPr>
              <a:t>ls</a:t>
            </a:r>
            <a:r>
              <a:rPr sz="1250" b="0" i="0">
                <a:solidFill>
                  <a:srgbClr val="141B2E"/>
                </a:solidFill>
                <a:latin typeface="Arial"/>
              </a:rPr>
              <a:t> </a:t>
            </a:r>
            <a:r>
              <a:rPr sz="1250" b="0" i="0">
                <a:solidFill>
                  <a:srgbClr val="141B2E"/>
                </a:solidFill>
                <a:latin typeface="Consolas"/>
              </a:rPr>
              <a:t>.claude/agents/*.md</a:t>
            </a:r>
            <a:r>
              <a:rPr sz="1250" b="0" i="0">
                <a:solidFill>
                  <a:srgbClr val="141B2E"/>
                </a:solidFill>
                <a:latin typeface="Arial"/>
              </a:rPr>
              <a:t> </a:t>
            </a:r>
            <a:r>
              <a:rPr sz="1250" b="0" i="0">
                <a:solidFill>
                  <a:srgbClr val="141B2E"/>
                </a:solidFill>
                <a:latin typeface="Consolas"/>
              </a:rPr>
              <a:t>|</a:t>
            </a:r>
            <a:r>
              <a:rPr sz="1250" b="0" i="0">
                <a:solidFill>
                  <a:srgbClr val="141B2E"/>
                </a:solidFill>
                <a:latin typeface="Arial"/>
              </a:rPr>
              <a:t> </a:t>
            </a:r>
            <a:r>
              <a:rPr sz="1250" b="0" i="0">
                <a:solidFill>
                  <a:srgbClr val="141B2E"/>
                </a:solidFill>
                <a:latin typeface="Consolas"/>
              </a:rPr>
              <a:t>wc</a:t>
            </a:r>
            <a:r>
              <a:rPr sz="1250" b="0" i="0">
                <a:solidFill>
                  <a:srgbClr val="141B2E"/>
                </a:solidFill>
                <a:latin typeface="Arial"/>
              </a:rPr>
              <a:t> </a:t>
            </a:r>
            <a:r>
              <a:rPr sz="1250" b="0" i="0">
                <a:solidFill>
                  <a:srgbClr val="141B2E"/>
                </a:solidFill>
                <a:latin typeface="Arial"/>
              </a:rPr>
              <a:t>-l</a:t>
            </a:r>
            <a:r>
              <a:rPr sz="1250" b="0" i="0">
                <a:solidFill>
                  <a:srgbClr val="141B2E"/>
                </a:solidFill>
                <a:latin typeface="Arial"/>
              </a:rPr>
              <a:t> — в своём проекте</a:t>
            </a:r>
          </a:p>
        </p:txBody>
      </p:sp>
      <p:sp>
        <p:nvSpPr>
          <p:cNvPr id="30" name="Rectangle 29"/>
          <p:cNvSpPr/>
          <p:nvPr/>
        </p:nvSpPr>
        <p:spPr>
          <a:xfrm>
            <a:off x="502920" y="4721453"/>
            <a:ext cx="32004" cy="52578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2668" y="4776317"/>
            <a:ext cx="10730484" cy="416052"/>
          </a:xfrm>
          <a:prstGeom prst="rect">
            <a:avLst/>
          </a:prstGeom>
          <a:noFill/>
        </p:spPr>
        <p:txBody>
          <a:bodyPr wrap="square" lIns="0" rIns="0" tIns="0" bIns="0" anchor="ctr">
            <a:spAutoFit/>
          </a:bodyPr>
          <a:lstStyle/>
          <a:p>
            <a:pPr algn="l">
              <a:lnSpc>
                <a:spcPts val="1638"/>
              </a:lnSpc>
              <a:spcAft>
                <a:spcPts val="300"/>
              </a:spcAft>
            </a:pPr>
            <a:r>
              <a:rPr sz="1300" b="0" i="1">
                <a:solidFill>
                  <a:srgbClr val="6B7685"/>
                </a:solidFill>
                <a:latin typeface="Arial"/>
              </a:rPr>
              <a:t>«Под частью сегодняшних карточек лежит команда, которую можно выполнить и получить ответ. Под другой частью — нет, и это названо прямо: необъявленный пробел стоил бы дороже объявленного.»</a:t>
            </a:r>
          </a:p>
        </p:txBody>
      </p:sp>
      <p:sp>
        <p:nvSpPr>
          <p:cNvPr id="32" name="Rounded Rectangle 31"/>
          <p:cNvSpPr/>
          <p:nvPr/>
        </p:nvSpPr>
        <p:spPr>
          <a:xfrm>
            <a:off x="502920" y="5531205"/>
            <a:ext cx="82296" cy="746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5659221"/>
            <a:ext cx="10643616" cy="490727"/>
          </a:xfrm>
          <a:prstGeom prst="rect">
            <a:avLst/>
          </a:prstGeom>
          <a:noFill/>
        </p:spPr>
        <p:txBody>
          <a:bodyPr wrap="square" lIns="0" rIns="0" tIns="0" bIns="0" anchor="ctr">
            <a:spAutoFit/>
          </a:bodyPr>
          <a:lstStyle/>
          <a:p>
            <a:pPr algn="l">
              <a:lnSpc>
                <a:spcPts val="1860"/>
              </a:lnSpc>
              <a:spcAft>
                <a:spcPts val="300"/>
              </a:spcAft>
            </a:pPr>
            <a:r>
              <a:rPr sz="1500" b="1" i="0">
                <a:solidFill>
                  <a:srgbClr val="141B2E"/>
                </a:solidFill>
                <a:latin typeface="Arial"/>
              </a:rPr>
              <a:t>«Отсюда вы уносите один вопрос к своей работе: чего ей не хватает — того, чего внутри нет вовсе, или места, занятого чтением? Первое приносят внутрь, второе выносят наружу.»</a:t>
            </a:r>
          </a:p>
        </p:txBody>
      </p:sp>
      <p:sp>
        <p:nvSpPr>
          <p:cNvPr id="34" name="TextBox 33"/>
          <p:cNvSpPr txBox="1"/>
          <p:nvPr/>
        </p:nvSpPr>
        <p:spPr>
          <a:xfrm>
            <a:off x="10957255" y="6437376"/>
            <a:ext cx="914400" cy="274320"/>
          </a:xfrm>
          <a:prstGeom prst="rect">
            <a:avLst/>
          </a:prstGeom>
          <a:noFill/>
        </p:spPr>
        <p:txBody>
          <a:bodyPr wrap="square" lIns="0" rIns="0" tIns="0" bIns="0" anchor="t">
            <a:spAutoFit/>
          </a:bodyPr>
          <a:lstStyle/>
          <a:p>
            <a:pPr algn="r">
              <a:lnSpc>
                <a:spcPts val="1238"/>
              </a:lnSpc>
              <a:spcAft>
                <a:spcPts val="0"/>
              </a:spcAft>
            </a:pPr>
            <a:r>
              <a:rPr sz="1050" b="0" i="0">
                <a:solidFill>
                  <a:srgbClr val="6B7685"/>
                </a:solidFill>
                <a:latin typeface="Arial"/>
              </a:rPr>
              <a:t>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