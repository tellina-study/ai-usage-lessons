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 Лекции 2 вы уже знаете четыре этапа конвейера: токенизация, эмбеддинг, внимание, сэмплинг. Сегодня мы берём три последних этапа и тренируем предсказание — не пересказ термина, а реальную догадку до того, как вы увидите правильный ответ.</a:t>
            </a:r>
          </a:p>
          <a:p/>
          <a:p>
            <a:r>
              <a:t>Картинка справа — не иллюстрация для курса, а настоящая визуализация того, как выглядит пространство смыслов изнутри: каждая точка — это объект, представленный вектором чисел, и близкие по смыслу объекты оказываются рядом, а далёкие — далеко. Ровно то же свойство мы сегодня будем проверять на предложениях, документах и местоимениях: где эмбеддинг ловит смысл точнее, чем совпадение букв, а где — наоборот, подводит.</a:t>
            </a:r>
          </a:p>
          <a:p/>
          <a:p>
            <a:r>
              <a:t>Формат занятия не меняется: индивидуальная работа через голосование поднятием руки или разговор всей аудиторией, без малых групп.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прошлом семинаре вы тренировались классифицировать AI-системы снаружи — по типу задачи, по способу реализации. Сегодня мы натренируем то же умение предсказания, но изнутри: три механизма, которые вы разобрали на Лекции 2 — эмбеддинги, внимание, сэмплинг — сегодня станут не терминами для узнавания, а инструментом, которым вы пользуетесь, чтобы предсказать поведение модели до того, как увидите ответ.</a:t>
            </a:r>
          </a:p>
          <a:p/>
          <a:p>
            <a:r>
              <a:t>Быстро назовём вслух четыре этапа: токенизация — текст превращается в числа-идентификаторы из словаря; эмбеддинг — идентификатор превращается в вектор смысла; механизм внимания — модель решает, какие токены сейчас важны; сэмплинг — распределение вероятностей превращается в один конкретный токен. Мы уже видели, что `strawberry` — три токена, и что модель поэтому плохо считает буквы — это первый этап конвейера.</a:t>
            </a:r>
          </a:p>
          <a:p/>
          <a:p>
            <a:r>
              <a:t>Сегодняшний фокус — этапы 2, 3, 4: эмбеддинг, внимание, сэмплинг. Токенизацию сегодня специально не тренируем отдельным блоком — она уже была ядром обсуждения на Лекции 2 и неявно присутствует в каждом примере ниже, в частности в упражнении «клубника». Первое голосование — через минуту.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Лекции 2 мы сравнивали пять предложений — про SSL и HTTPS, про React, про борщ — и увидели: cosine similarity, мера угла между векторами, высокая у синонимов из одного домена и низкая между несовместимыми темами. Синонимы про SSL и HTTPS дали cosine около 0.85, два предложения про React — около 0.78, борщ против любого технического предложения — в районе 0.05–0.15. Эти числа illustrative — точные значения зависят от конкретной embedding-модели, но порядок устойчив у всех современных моделей.</a:t>
            </a:r>
          </a:p>
          <a:p/>
          <a:p>
            <a:r>
              <a:t>Сегодня мы проверим эту интуицию на новых, более коварных примерах: покажем случаи, где интуиция «слово совпало — значит, предложения похожи» ошибочна, и случаи, где слов совпадает мало, а смысл совпадает полностью. Три волны упражнений: омонимы, перифразы и расширенное упражнение «клубника» на семантический и полнотекстовый поиск.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Зачитываем пару А: кот поймал мышь во дворе, и я купил беспроводную мышь для ноутбука. Слово «мышь» совпадает буквально в обоих предложениях. Вопрос — близки ли эти два предложения по смыслу?</a:t>
            </a:r>
          </a:p>
          <a:p/>
          <a:p>
            <a:r>
              <a:t>Три раунда голосования поднятием руки: кто считает, что предложения близки по смыслу, кто считает, что далеки, кто не уверен. Это первая пара раздела — обязательно дождёмся минимум одного объяснения вслух, даже если голоса не разделились: если кто-то проголосовал «близко», попросим аргументировать — это ожидаемая ошибочная интуиция «слово совпало, значит, предложения похожи».</a:t>
            </a:r>
          </a:p>
          <a:p/>
          <a:p>
            <a:r>
              <a:t>Пара Б работает по той же механике: скрипичный ключ в начале нотного стана — и забыл ключ от квартиры дома. Слово «ключ» как нотный знак и «ключ» как предмет для замка. Ожидайте, что здесь голосование пройдёт быстрее — аудитория уже увидела паттерн на паре 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Официальный разбор пары А: слово «мышь» лексически совпадает на сто процентов, но смысл — животное против периферийного устройства — полностью разный, поэтому семантическая близость низкая, illustrative cosine примерно 0.1–0.2. Порядок значения устойчив: несовместимые смыслы дают диапазон 0–0.2, точное число иллюстративное.</a:t>
            </a:r>
          </a:p>
          <a:p/>
          <a:p>
            <a:r>
              <a:t>Пара Б — та же ловушка: «ключ» как нотный знак и «ключ» как предмет для замка. Illustrative cosine тоже около 0.1–0.2. Здесь голосование обычно проходит быстрее — аудитория уже увидела паттерн на паре А, не задерживаемся дольше минуты на обсуждении, если консенсус очевиден.</a:t>
            </a:r>
          </a:p>
          <a:p/>
          <a:p>
            <a:r>
              <a:t>Если среди голосовавших за «близко» на паре А был хотя бы один человек — это ожидаемая ошибочная интуиция «слово совпало, значит, предложения похожи», и мы явно её проговорили. Эмбеддинг ловит именно смысл, а не поверхностную форму слова — и это первая половина сегодняшнего тезиса о семантической близости.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Пара В: почему упал продакшн-сервер сегодня ночью — и причина падения бэкенда прошлой ночью. Лексически здесь почти нет общих слов: «упал» и «падения», «продакшн-сервер» и «бэкенд», «сегодня ночью» и «прошлой ночью» — всё сформулировано разными словами. Вопрос тот же — близки ли эти два предложения по смыслу?</a:t>
            </a:r>
          </a:p>
          <a:p/>
          <a:p>
            <a:r>
              <a:t>Три раунда голосования, та же механика, что на парах А/Б. Явно проговорим после голосования: это зеркальная ситуация паре А — там слово совпало, смысл разошёлся; здесь слова разные, а смысл, вероятно, совпадает.</a:t>
            </a:r>
          </a:p>
          <a:p/>
          <a:p>
            <a:r>
              <a:t>Пара Г при достаточном времени идёт отдельным раундом: исправить баг в обработке платежей — и починить дефект в модуле оплаты. Тот же паттерн перифраза: «исправить»/«починить», «баг»/«дефект», «платежи»/«оплата» — синонимичные технические термины.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Официальный разбор пары В: лексически почти нет общих слов, но смысл идентичен — illustrative cosine 0.8 и выше. Это зеркальная ситуация паре А: там слово совпало, смысл разошёлся; здесь слова разные, смысл совпал. Эмбеддинг ловит именно второе — то, что важно для смысла, а не поверхностную форму.</a:t>
            </a:r>
          </a:p>
          <a:p/>
          <a:p>
            <a:r>
              <a:t>Пара Г — тот же паттерн перифраза: «исправить» и «починить», «баг» и «дефект», «платежи» и «оплата» — синонимичные технические термины, illustrative cosine тоже 0.8 и выше.</a:t>
            </a:r>
          </a:p>
          <a:p/>
          <a:p>
            <a:r>
              <a:t>Если время поджимает, пару Г можно объединить с парой В в один раунд голосования: показать обе пары сразу, спросить «обе пары близки по смыслу», «только одна из двух» или «ни одна», и дать один общий разбор — но по умолчанию разбираем отдельно, если время позволяет. Обе пары вместе закрывают вторую половину тезиса блока: разные слова могут означать одно и то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Лекции 2 вы видели пример: запрос «клубника» в корпоративном wiki. Полнотекстовый поиск ищет буквальное совпадение строки; семантический — по смыслу. Сейчас у нас пять документов-кандидатов. Для каждого предскажите: найдёт его полнотекстовый поиск, семантический, оба или ни один?</a:t>
            </a:r>
          </a:p>
          <a:p/>
          <a:p>
            <a:r>
              <a:t>Зачитываем название документа, для каждого — четыре раунда голосования поднятием руки: полнотекстовый найдёт, семантический найдёт, оба, ни один. Документы специально подобраны так, чтобы протестировать разные грани разницы полнотекстового и семантического поиска — от буквального совпадения до ложного срабатывания на общем корне слова.</a:t>
            </a:r>
          </a:p>
          <a:p/>
          <a:p>
            <a:r>
              <a:t>Особое внимание — документу 4, «Клубный вечер для сотрудников»: у слова «Клубный» и слова «клубника» общий корень «клуб-». Здесь легко ошибиться интуитивно. Голосуем честно, даже если не уверены — обсуждение будет после четвёртого раунда каждого документа.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Документ 1, инструкция по выращиванию клубники на даче — находит и полнотекстовый, и семантический: буквальное слово присутствует, и оно же семантически центральное. Документ 2, английское название про strawberry fields — находит только семантический, через перевод через эмбеддинг: эмбеддинги, обученные так, что «клубника» и «strawberry» оказываются близки в пространстве смыслов несмотря на разные языки. Документ 3, про сезонные ягоды — тоже только семантический: родовое понятие «ягоды» без буквального слова «клубника».</a:t>
            </a:r>
          </a:p>
          <a:p/>
          <a:p>
            <a:r>
              <a:t>Документ 4, клубный вечер для сотрудников — не находит ни один поиск. Это намеренная ловушка на невнимательность: у слова «Клубный» и слова «клубника» общий корень «клуб-», из-за чего часть аудитории могла проголосовать «семантический найдёт» — это неверно, семантическая близость определяется смыслом текста, а не общими буквами корня. Если аудитория дружно ошиблась здесь — это не провал упражнения, а его цель: разбираем вслух, почему корень слова не то же самое, что смысл. Прямая параллель парам А/Б в начале блока, только в противоположном направлении: там совпадение полной формы слова не гарантировало смысловой близости, здесь совпадение части слова тем более её не гарантирует.</a:t>
            </a:r>
          </a:p>
          <a:p/>
          <a:p>
            <a:r>
              <a:t>Документ 5, рецепт варенья из лесной земляники — находит только семантический, с высокой, но не максимальной близостью: земляника и клубника ботанически разные, но близкие по смыслу и контексту употребления плоды.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юридический поиск по базе корпоративных договоров. Запрос: «пункт об одностороннем расторжении». Полнотекстовый поиск по точной фразе находит именно те пункты, где формулировка встречается дословно — это критично, потому что в юридическом документе основание расторжения зафиксировано конкретной формулировкой, и точность формулировки имеет юридические последствия. Семантический поиск дополнительно найдёт пункты про «отказ от договора в одностороннем порядке» (перифраз, действительно релевантно) — но с не меньшей вероятностью подмешает пункты про «расторжение по соглашению сторон» (близко по теме — оба про завершение договора, — но юридически другое основание с другими последствиями для сторон). Для юриста подмена основания расторжения — это не «почти то же самое», а содержательная ошибка.</a:t>
            </a:r>
          </a:p>
          <a:p/>
          <a:p>
            <a:r>
              <a:t>Явный вывод: здесь семантическая близость — не преимущество, а источник риска, потому что задаче нужна точность формулировки, а не близость темы.</a:t>
            </a:r>
          </a:p>
          <a:p/>
          <a:p>
            <a:r>
              <a:t>Затем задаём всем классом, не риторически, ждём минимум два ответа: каким ещё инженерным задачам, где формулировка или точное значение важнее общей темы, нужна именно точность, а не близость по смыслу?</a:t>
            </a:r>
          </a:p>
          <a:p/>
          <a:p>
            <a:r>
              <a:t>Ожидаемые направления ответа: точный поиск по ID, артикулу или номеру заказа — семантическая близость здесь бессмысленна, нужен точный код; поиск по имени собственному или коду ошибки — например, `NullPointerException`, где семантический поиск может «увидеть» смысловую близость с другими исключениями и не выдать точное совпадение первым. Явно связываем с деревом решений из главы Лекции 2: тот же принцип, что мы видели на Семинаре 2 и в главе — задача, где нужна точность и предсказуемость, а не «похожесть», отдаётся классическому инструменту, не AI-механизму.</a:t>
            </a:r>
          </a:p>
          <a:p/>
          <a:p>
            <a:r>
              <a:t>Мост: упражнение «клубника» и семантический поиск — это база RAG, Retrieval-Augmented Generation, к которому мы вернёмся на Лекции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уже видели метафору фонарика в тёмной комнате и пример «Кот съел мышь, потому что она была голодна» — не повторяем подробно, только называем: внимание распределяет вес между токенами, и в этом примере наибольший вес уходил на «мышь». Сегодня вы будете предсказывать этот вес сами — до того, как увидите разбор.</a:t>
            </a:r>
          </a:p>
          <a:p/>
          <a:p>
            <a:r>
              <a:t>Дальше — четыре упражнения на кореференцию: местоимение, к которому нужно подобрать правильный референт, до того как увидите ответ. Первое — классическая пара из настоящего академического бенчмарка.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 — обязательно называем вслух как реальный академический бенчмарк: Levesque, Davis, Morgenstern, «The Winograd Schema Challenge», 2011/2012 год — это настоящий, широко используемый в исследованиях NLP тест на понимание текста через мировые знания, не выдуманный для этого занятия пример.</a:t>
            </a:r>
          </a:p>
          <a:p/>
          <a:p>
            <a:r>
              <a:t>Зачитываем: трофей не влез в чемодан, потому что он был слишком большой. Три раунда голосования: кто считает, что «он» — это трофей, кто считает, что чемодан, кто не уверен.</a:t>
            </a:r>
          </a:p>
          <a:p/>
          <a:p>
            <a:r>
              <a:t>Это разминочный раунд перед вариантом 2 — ожидаем почти единодушное голосование.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Официальный ответ: «он» — трофей, потому что трофей большой, и поэтому он не влез в чемодан. Упрощённая визуализация весов внимания на слайде показана по тому же принципу, что и в главе — толщина стрелки от «он» к кандидатам; явно говорим, что это иллюстрация, не настоящий работающий вживую инструмент, а не реальный вызов модели на экране.</a:t>
            </a:r>
          </a:p>
          <a:p/>
          <a:p>
            <a:r>
              <a:t>Ожидаем почти единодушное голосование — это разминочный раунд перед вариантом 2, где та же самая грамматическая структура даст другой ответ. Если голоса всё же разделились, что маловероятно, но возможно у части студентов, уже видевших похожие примеры, — обязательно вызываем студента, ответившего иначе, объяснить рассуждение, прежде чем переходить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сценарий, отдельный слайд, отдельный раунд: трофей не влез в чемодан, потому что он был слишком маленький. Изменилось одно слово по сравнению с предыдущим предложением — «большой» превратилось в «маленький». Три раунда голосования: он = трофей? он = чемодан? не уверен?</a:t>
            </a:r>
          </a:p>
          <a:p/>
          <a:p>
            <a:r>
              <a:t>Это ключевой момент раздела — не торопимся, даём аудитории на самом деле подумать, а не механически повторить предыдущий ответ по инерции.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Официальный ответ: «он» — чемодан, потому что чемодан маленький, и поэтому трофей в него не влез. Это ключевой момент раздела — та же самая грамматическая структура предложения, поменялось одно слово, «большой» на «маленький», и правильный референт местоимения перевернулся.</a:t>
            </a:r>
          </a:p>
          <a:p/>
          <a:p>
            <a:r>
              <a:t>Обязательная связка, не сокращаем: одна и та же грамматика в обоих предложениях — а ответ разный. Это значит, что для правильного ответа нужны мировые знания — что большие предметы не влезают в маленькие вместилища — а не только синтаксический разбор. Именно поэтому такие пары — нетривиальная задача для чистой статистики над словами, и именно поэтому Winograd Schema используется как тест для NLP-моделей уже больше десяти лет.</a:t>
            </a:r>
          </a:p>
          <a:p/>
          <a:p>
            <a:r>
              <a:t>Если голоса на этом варианте разделятся — маловероятно, но возможно у части студентов, уже видевших похожие примеры, — обязательно вызываем студента, ответившего иначе, объяснить рассуждение, прежде чем давать официальный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Следующий пример — техническая кореференция, ближе к вашей будущей профессии: менеджер поругал стажёра, потому что он не проверил тесты перед коммитом.</a:t>
            </a:r>
          </a:p>
          <a:p/>
          <a:p>
            <a:r>
              <a:t>Три раунда голосования: он = менеджер? он = стажёр? не уверен? Та же механика, что на парах Winograd Schema, но контекст — инженерный, не общебытовой.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Официальный ответ: «он» — стажёр. В норме сущность, которую ругают, связана с конкретным упущенным действием — «не проверил тесты перед коммитом» — типичная обязанность того, кто делает коммит.</a:t>
            </a:r>
          </a:p>
          <a:p/>
          <a:p>
            <a:r>
              <a:t>Разбор через вес внимания: токен «он» получает наибольший вес на токенах «стажёр» и «коммит» — статистически в корпусе такие конструкции чаще разрешаются на субъект действия, вызвавшего последствие, а не на субъект реакции на него.</a:t>
            </a:r>
          </a:p>
          <a:p/>
          <a:p>
            <a:r>
              <a:t>Следующий пример — намеренно другой: здесь единственного правильного ответа не будет.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Следующий пример особенный: пилот сказал диспетчеру, что он ошибся в расчётах. Обратите внимание на пунктирную рамку — она уже намекает, что этот случай отличается от предыдущих.</a:t>
            </a:r>
          </a:p>
          <a:p/>
          <a:p>
            <a:r>
              <a:t>Важно: в предложении оба существительных мужского рода, «пилот» и «диспетчер», поэтому согласование рода не выдаёт ответ, как это иногда бывает в русском языке — это специально сконструированный пограничный случай.</a:t>
            </a:r>
          </a:p>
          <a:p/>
          <a:p>
            <a:r>
              <a:t>Три раунда голосования: он = пилот? он = диспетчер? не уверен? После голосования обязательно дождёмся минимум двух разных мнений вслух, прежде чем делать какое-либо заключение — явно скажем, что оба ответа принимаются с обоснованием. Если аудитория молчит дольше пяти-семи секунд после голосования — обратимся к конкретному студенту, проголосовавшему за «пилот», и к другому, проголосовавшему за «диспетчер»: вы оба поднимали руки за разные варианты — можете оба аргументировать?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Оба прочтения разумны: пилот мог признать свою ошибку диспетчеру, а мог указать диспетчеру на его ошибку. Это не баг механизма внимания — это честная иллюстрация того, что реальный язык бывает объективно неоднозначен. В такой ситуации модель выдаёт распределение вероятностей между кандидатами, а не единственный «правильный» ответ — и в этом смысле неопределённость модели здесь точно отражает неопределённость самого текста, а не её недостаток.</a:t>
            </a:r>
          </a:p>
          <a:p/>
          <a:p>
            <a:r>
              <a:t>Это не единственный такой случай сегодня: похожая логика уже встречалась в упражнении «клубника» на документе-ловушке, только там ловушка вела к однозначно неверному ответу, а здесь — к честной невозможности выбрать один вариант.</a:t>
            </a:r>
          </a:p>
          <a:p/>
          <a:p>
            <a:r>
              <a:t>Если кто-то из аудитории связывал этот случай с более общим наблюдением «модель угадывает не хуже человека там, где сам человек не уверен» — это ценное наблюдение, которое пригодится в следующем, закрывающем вопросе блока.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 — обязательно назвать вслух как реальный академический бенчмарк, отдельный от Winograd Schema: Zhao, Wang, Yatskar, Ordonez, Chang (2018), «Gender Bias in Coreference Resolution: Evaluation and Debiasing Methods», NAACL. Это не тот же бенчмарк, что мы разбирали раньше — там Winograd Schema (Levesque et al., 2011/2012) тестировал разрешение кореференции через мировые знания в целом; здесь WinoBias — специальный бенчмарк именно на систематическую ошибку.</a:t>
            </a:r>
          </a:p>
          <a:p/>
          <a:p>
            <a:r>
              <a:t>WinoBias показал, что модели разрешения кореференции систематически резолвят неоднозначное местоимение через профессионально-гендерные стереотипы обучающего корпуса — например, чаще связывают «врач» с мужским местоимением, а «медсестра» — с женским, даже когда контекст предложения этого не требует и грамматика не подсказывает. Это не случайная ошибка, а систематическое искажение статистики корпуса, которое механизм внимания воспроизводит.</a:t>
            </a:r>
          </a:p>
          <a:p/>
          <a:p>
            <a:r>
              <a:t>Явно формулируем вывод: это прямое инженерное следствие того же факта, что мы видели в упражнении с пилотом и диспетчером: внимание статистически смотрит на корпус, и если корпус несёт социальный перекос (bias — тот же термин, что разбирали на Семинаре 2), модель этот перекос воспроизводит уверенно, а не осторожно.</a:t>
            </a:r>
          </a:p>
          <a:p/>
          <a:p>
            <a:r>
              <a:t>Явная связка с главой Лекции 2: механизм внимания статистически смотрит на токены — он не строит каузальный граф. Мы уже видели на Лекции 1 три уровня причинности Перла: современные AI-системы хорошо работают на уровне корреляции и гораздо хуже — на уровне контрфактуального рассуждения «что было бы, если бы». Внимание — это именно механизм уровня корреляции: он различает причину и следствие так же плохо, как модель в целом различает уровни причинности Перла.</a:t>
            </a:r>
          </a:p>
          <a:p/>
          <a:p>
            <a:r>
              <a:t>Закрывающий вопрос всем классом, не риторический, ждём минимум два ответа: если модель уверенно называет референт «он», значит ли это, что она «понимает» предложение, как человек? Чем понимание отличается от статистически надёжного угадывания?</a:t>
            </a:r>
          </a:p>
          <a:p/>
          <a:p>
            <a:r>
              <a:t>Ожидаемые направления ответа: понимание у человека опирается на модель мира и причинность — человек знает физически, почему большой предмет не влезает в маленький чемодан; модель угадывает через статистику совместной встречаемости токенов в похожих контекстах. Эти два механизма могут давать одинаковый внешний результат на типичных примерах, но расходятся на примерах, для которых в обучающих данных не было похожей статистики. Если студенты упомянут пограничный случай «пилот/диспетчер» как аргумент — «модель угадывает не хуже человека там, где сам человек не уверен» — это ценное наблюдение, засчитываем его явно.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уже видели четыре параметра и таблицу сценариев — классификация при T=0, кодогенерация при T≈0.2–0.3, чат-объяснение при T≈0.7, творческое письмо при T≈0.9–1.2. Не пересказываем подробно — только называем.</a:t>
            </a:r>
          </a:p>
          <a:p/>
          <a:p>
            <a:r>
              <a:t>Сегодня вы проверите эту логику на собственном эксперименте: дома вы уже прогнали задачу из своей предметной области на трёх значениях температуры и принесли разбор. Начнём именно с этого разбора — это единственный компонент занятия с реальными данными, которые принесли вы сами.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главе Лекции 2 это задание подписано устаревшим номером курса до сдвига-на-один — фактически мы разбираем его именно сейчас. Согласно заданию, вы дома взяли задачу из своей предметной области, прогнали её на T=0, T=0.7 и T=1.5, по три запуска каждой, принесли одностраничный разбор и выбранную боевую температуру с обоснованием.</a:t>
            </a:r>
          </a:p>
          <a:p/>
          <a:p>
            <a:r>
              <a:t>Расскажите: что изменилось от T=0 к T=1.5? Что осталось одинаковым во всех трёх запусках? Какую температуру вы выбрали для боевого режима и почему?</a:t>
            </a:r>
          </a:p>
          <a:p/>
          <a:p>
            <a:r>
              <a:t>Если результат разошёлся с ожиданиями — например, T=1.5 дала связный ответ — это хороший повод для обсуждения, не ошибка: разные задачи и разные модели ведут себя по-разному, и универсального порога температуры не существует. Теория задаёт направление, калибровка — эмпирическая. Если кто-то не выполнил задание — предскажите вслух, каким должен быть результат, основываясь на теории: это не заменяет полноценное участие, но сохраняет вовлечённость и даёт материал для сравнения с реальными результатами тех, кто эксперимент провёл.</a:t>
            </a:r>
          </a:p>
          <a:p/>
          <a:p>
            <a:r>
              <a:t>При T=0 обычно три запуска почти идентичны, возможна лишь микро-вариативность из-за серверного батчинга. При T=0.7 — заметная вариативность формулировок при сохранении смысла. При T=1.5 — на некоторых задачах, особенно классификации и извлечении структурированных данных, резкое падение качества или связности; на творческих задачах — интересные, но менее предсказуемые варианты.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Вводная фраза, обязательна дословно по смыслу: три ответа ниже написаны автором методического комплекта для иллюстрации — это не реальный вызов модели. Формат и стиль подобраны так, чтобы реалистично имитировать типичное поведение LLM при разных значениях температуры.</a:t>
            </a:r>
          </a:p>
          <a:p/>
          <a:p>
            <a:r>
              <a:t>Промпт один и тот же для всех трёх ответов: напиши короткое приветствие для email-рассылки студентам о начале нового курса. Показываем три ответа на слайде без подписи температуры, зачитываем вслух каждый.</a:t>
            </a:r>
          </a:p>
          <a:p/>
          <a:p>
            <a:r>
              <a:t>Три раунда голосования — для каждого ответа студенты поднимают руку за то, какой температуре он соответствует: низкая, средняя или высокая. Порядок показа на слайдах перемешан, не по возрастанию температуры, чтобы не подсказывать.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Официальный разбор с явными признаками. Первый ответ иллюстрирует T примерно 0: предельно шаблонный текст, взаимозаменяемый с тысячами похожих email-рассылок, использует самые предсказуемые обороты — признак: полная предсказуемость, отсутствие индивидуальных деталей, при повторной генерации текст почти не меняется.</a:t>
            </a:r>
          </a:p>
          <a:p/>
          <a:p>
            <a:r>
              <a:t>Второй ответ иллюстрирует T примерно 0.7: естественно разнообразный, но связный — конкретные детали, живая интонация, но синтаксически и логически корректный текст без странностей.</a:t>
            </a:r>
          </a:p>
          <a:p/>
          <a:p>
            <a:r>
              <a:t>Третий ответ иллюстрирует T примерно 1.5–2.0: рваный, с неожиданными и местами почти бессвязными оборотами, возможны резкие смены тона или темы внутри одного короткого текста — на грани распада связности, но ещё не полная бессмыслица.</a:t>
            </a:r>
          </a:p>
          <a:p/>
          <a:p>
            <a:r>
              <a:t>Признаки, которые стоит запомнить: повторяемость и предсказуемость — низкая температура; естественная вариативность при сохранении связности — средняя температура; распад связности и неожиданность выбора слов — высокая температура.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банковский чат-бот поддержки использует LLM для ведения диалога, но для детекции номеров банковских карт в переписке пользователя (чтобы замаскировать их перед логированием и не хранить в открытом виде) — не полагается на LLM ни при каком значении температуры. Используется regex по формату номера карты плюс Luhn-алгоритм проверки контрольной суммы. Причина: для этой конкретной подзадачи нужна гарантия срабатывания на 100% известных случаев, а не вероятностное соответствие, пусть даже при T=0 — LLM в принципе может пропустить нестандартно отформатированный номер или, наоборот, ложно среагировать на похожую последовательность цифр, а regex с фиксированной грамматикой формата — нет.</a:t>
            </a:r>
          </a:p>
          <a:p/>
          <a:p>
            <a:r>
              <a:t>Явно связываем с главой Лекции 2 (даже T=0 — не стопроцентная гарантия побитовой детерминированности) и с деревом решений: тот же принцип, что мы уже дважды видели сегодня — в Блоке 1 про полнотекстовый поиск и здесь: если задаче нужна гарантия, а не вероятностное приближение к ней, классический инструмент с фиксированной грамматикой (regex, контрольная сумма) — правильный выбор, а не LLM ни при каком параметре сэмплинга.</a:t>
            </a:r>
          </a:p>
          <a:p/>
          <a:p>
            <a:r>
              <a:t>Затем задаём всем классом, не риторически, ждём минимум два ответа: в каких сценариях вашей будущей работы стохастичность ответа — это риск, а не удобство?</a:t>
            </a:r>
          </a:p>
          <a:p/>
          <a:p>
            <a:r>
              <a:t>Ожидаемые направления: классификация с необходимостью воспроизводимости и аудита — регулятор или руководитель спросит, почему в прошлый раз система выдала другую категорию для того же входа; тестирование ПО — нужен детерминированный оракул для сравнения ожидаемого и фактического результата; любой сценарий, где два разных ответа на один и тот же запрос ломают логику последующих шагов, например автоматическая маршрутизация обращений.</a:t>
            </a:r>
          </a:p>
          <a:p/>
          <a:p>
            <a:r>
              <a:t>Обязательная оговорка, не пропускаем: даже T=0 не даёт стопроцентной побитовой детерминированности — в производственных системах серверный батчинг и особенности вычислений с плавающей точкой на GPU могут дать микро-вариативность между запусками. Для большинства задач она пренебрежимо мала, но T=0 — это не абсолютная гарантия воспроизводимости, а инженерное приближение к ней. Держите это в уме, если ваша задача требует юридически строгой воспроизводимости.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Сегодня мы натренировали три механизма внутри модели поодиночке: эмбеддинги — для поиска смысла, внимание — для фокуса, сэмплинг — для выбора токена. На Лекции 3 мы увидим, как модель выходит за пределы этого замкнутого цикла: ищет во внешней базе знаний через RAG, построенный, кстати, именно на эмбеддингах, которые вы тренировали сегодня в упражнении «клубника», вызывает внешние инструменты через function calling, работает по открытому протоколу MCP, и действует в цикле агента — действие, наблюдение, корректировка. Подробности — на Лекции 3.</a:t>
            </a:r>
          </a:p>
          <a:p/>
          <a:p>
            <a:r>
              <a:t>Не объясняем механику — это намеренно короткий крючок. Если студенты начнут задавать уточняющие вопросы про RAG или агентов — хвалим интерес и явно говорим, что разберём подробно на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Заранее подготовленный печатный раздаточный лист — компиляция того, что уже прозвучало на занятии, без нового материала.</a:t>
            </a:r>
          </a:p>
          <a:p/>
          <a:p>
            <a:r>
              <a:t>Первое: эмбеддинги — близость по смыслу, не по буквам. Одинаковые слова могут означать разное, разные слова могут означать одно и то же, и полнотекстовый поиск иногда точнее семантического — там, где нужна точность, а не похожесть.</a:t>
            </a:r>
          </a:p>
          <a:p/>
          <a:p>
            <a:r>
              <a:t>Второе: внимание — статистическая корреляция, не грамматический разбор и не понимание причинности. Модель предсказывает референт местоимения через статистику совместной встречаемости токенов. Иногда однозначного ответа не существует — тогда честный результат модели — распределение вероятностей.</a:t>
            </a:r>
          </a:p>
          <a:p/>
          <a:p>
            <a:r>
              <a:t>Третье: сэмплинг — температура и top-p/top-k (альтернативные параметры отсечения хвоста распределения вероятностей) управляют балансом предсказуемости и разнообразия. T=0 для воспроизводимости, T выше 0.7 для разнообразия, и правильная температура — результат эмпирической калибровки, не универсальная константа.</a:t>
            </a:r>
          </a:p>
          <a:p/>
          <a:p>
            <a:r>
              <a:t>Раздаём лист в конце раздела, коротко проговорив: всё, что здесь написано, вы уже видели сегодня — это компиляция того, что прозвучало на занятии, чтобы унести с собой рабочую версию.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сегодняшнюю работу. Вы предсказали семантическую близость на омонимах и перифразах, разобрали пять документов упражнения «клубника», угадали референт местоимения на классической паре Winograd Schema и на намеренно неоднозначном случае, разобрали домашний эксперимент с температурой и различили текст по трём уровням стохастичности.</a:t>
            </a:r>
          </a:p>
          <a:p/>
          <a:p>
            <a:r>
              <a:t>Фотография слева — реальный промышленный робот-манипулятор, который автоматически берёт объекты, реагирует на результат и корректирует движение — тот же цикл действие-наблюдение-коррекция, о котором мы говорили в мостике к Лекции 3. Сегодня мы тренировали три механизма внутри замкнутого цикла модели. На Лекции 3 увидим, как модель выходит за эти пределы — действует и во внешнем мире.</a:t>
            </a:r>
          </a:p>
          <a:p/>
          <a:p>
            <a:r>
              <a:t>Унесите с собой памятку — она пригодится уже на следующем практическом задании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1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66928"/>
            <a:ext cx="5806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ПОСЛЕ ЛЕКЦИИ 2 · СЕМИНАР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58064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Смысл, фокус, случайность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697480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Три механизма внутри модели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977639"/>
            <a:ext cx="55321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6B7685"/>
                </a:solidFill>
                <a:latin typeface="Arial"/>
              </a:rPr>
              <a:t>Эмбеддинги, внимание, сэмплинг — три механизма Лекции 2 сегодня становятся инструментом предсказания. Вы предсказываете, что сделает модель, до того как увидите ответ.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63640"/>
            <a:ext cx="5806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МГТУ им. Н.Э. Баумана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0"/>
            <a:ext cx="592805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56248" y="978408"/>
            <a:ext cx="5342839" cy="5312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01-tsne-embedding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143000"/>
            <a:ext cx="5013655" cy="49834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56248" y="978408"/>
            <a:ext cx="5342839" cy="5312664"/>
          </a:xfrm>
          <a:prstGeom prst="rect">
            <a:avLst/>
          </a:prstGeom>
          <a:noFill/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384048"/>
            <a:ext cx="50136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0AB00"/>
                </a:solidFill>
                <a:latin typeface="Arial"/>
              </a:rPr>
              <a:t>БЛИЗОСТЬ В ПРОСТРАНСТВЕ = БЛИЗОСТЬ СМЫСЛА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6309360"/>
            <a:ext cx="50136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C8D2DF"/>
                </a:solidFill>
                <a:latin typeface="Arial"/>
              </a:rPr>
              <a:t>Kyle McDonald · Wikimedia Commons · CC BY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1 · ПОВТОР КОНВЕЙЕРА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Четыре этапа конвейера — сегодня фокус на трёх последних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183112" cy="9144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01368"/>
            <a:ext cx="106070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На Семинаре 2 вы классифицировали AI снаружи. Сегодня — то же умение предсказания, но изнутри: эмбеддинги, внимание, сэмплинг становятся инструментом.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80360"/>
            <a:ext cx="2247138" cy="3108959"/>
          </a:xfrm>
          <a:prstGeom prst="roundRect">
            <a:avLst>
              <a:gd name="adj" fmla="val 13563"/>
            </a:avLst>
          </a:prstGeom>
          <a:solidFill>
            <a:srgbClr val="F4F7FA"/>
          </a:solidFill>
          <a:ln w="1524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ash-6B7685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889" y="315468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" y="3794760"/>
            <a:ext cx="210083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6B7685"/>
                </a:solidFill>
                <a:latin typeface="Arial"/>
              </a:rPr>
              <a:t>Токенизация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4206240"/>
            <a:ext cx="210083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текст → id из словаря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86634" y="4306824"/>
            <a:ext cx="384048" cy="25603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07258" y="2880360"/>
            <a:ext cx="2247138" cy="3108959"/>
          </a:xfrm>
          <a:prstGeom prst="roundRect">
            <a:avLst>
              <a:gd name="adj" fmla="val 13563"/>
            </a:avLst>
          </a:prstGeom>
          <a:solidFill>
            <a:srgbClr val="FFFFFF"/>
          </a:solidFill>
          <a:ln w="2159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ayers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2227" y="3154680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80410" y="3794760"/>
            <a:ext cx="210083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Эмбеддинг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80410" y="4206240"/>
            <a:ext cx="210083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id → вектор смысла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490972" y="4306824"/>
            <a:ext cx="384048" cy="25603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11596" y="2880360"/>
            <a:ext cx="2247138" cy="3108959"/>
          </a:xfrm>
          <a:prstGeom prst="roundRect">
            <a:avLst>
              <a:gd name="adj" fmla="val 13563"/>
            </a:avLst>
          </a:prstGeom>
          <a:solidFill>
            <a:srgbClr val="FFFFFF"/>
          </a:solidFill>
          <a:ln w="2159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can-028090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6565" y="3154680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84748" y="3794760"/>
            <a:ext cx="210083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Внимание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4748" y="4206240"/>
            <a:ext cx="210083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какие токены важны сейчас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195309" y="4306824"/>
            <a:ext cx="384048" cy="25603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15934" y="2880360"/>
            <a:ext cx="2247138" cy="3108959"/>
          </a:xfrm>
          <a:prstGeom prst="roundRect">
            <a:avLst>
              <a:gd name="adj" fmla="val 13563"/>
            </a:avLst>
          </a:prstGeom>
          <a:solidFill>
            <a:srgbClr val="FFFFFF"/>
          </a:solidFill>
          <a:ln w="2159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huffle-21295C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0903" y="3154680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689086" y="3794760"/>
            <a:ext cx="210083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Сэмплинг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9086" y="4206240"/>
            <a:ext cx="210083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распределение → один токен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17220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«strawberry» — три токена, поэтому модель плохо считает буквы — этап 1, сегодня не тренируем отдельно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2 · БЛОК 1 — ЭМБЕДДИНГИ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Косинусная близость — угол между векторами смысла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183112" cy="320040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yers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947672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80744" y="1947672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Повтор с Лекции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633472"/>
            <a:ext cx="7680960" cy="6675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«Как настроить SSL» / «Установка HTTPS-сертификата»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2633472"/>
            <a:ext cx="2743200" cy="6675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8A6200"/>
                </a:solidFill>
                <a:latin typeface="Arial"/>
              </a:rPr>
              <a:t>cosine ≈ 0.85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300984"/>
            <a:ext cx="7680960" cy="6675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«Деплой React-компонента» / «Сборка React-приложения»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1352" y="3300984"/>
            <a:ext cx="2743200" cy="6675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cosine ≈ 0.78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968496"/>
            <a:ext cx="7680960" cy="6675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«Рецепт борща» против любого технического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1352" y="3968496"/>
            <a:ext cx="2743200" cy="6675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6B7685"/>
                </a:solidFill>
                <a:latin typeface="Arial"/>
              </a:rPr>
              <a:t>cosine ≈ 0.05–0.15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4590288"/>
            <a:ext cx="10671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illustrative — порядок значений устойчив, точные числа зависят от модели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212079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Блок 1 — эмбеддинги и семантическая близость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714999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6B7685"/>
                </a:solidFill>
                <a:latin typeface="Arial"/>
              </a:rPr>
              <a:t>Сегодня проверим эту интуицию на новых, более коварных примерах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БЛОК 1 · ПАРЫ А И 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«Мышь» и «ключ» — одно слово, два смысла. Близко или далеко?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5454396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2020824"/>
            <a:ext cx="49789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Пара 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478024"/>
            <a:ext cx="497890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«Кот поймал мышь во дворе»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438144"/>
            <a:ext cx="497890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«Я купил беспроводную мышь для ноутбука»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1783080"/>
            <a:ext cx="5454396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9379" y="2020824"/>
            <a:ext cx="49789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Пара 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9379" y="2478024"/>
            <a:ext cx="497890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«Скрипичный ключ в начале нотного стана»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9379" y="3438144"/>
            <a:ext cx="497890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«Забыл ключ от квартиры дома»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3112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hand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5399532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8720" y="5303520"/>
            <a:ext cx="103144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3 раунда поднятия руки на пару — близко? далеко? не уверен?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БЛОК 1 · ПАРЫ А И Б · ОТВЕТ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Слово совпало — смысл разошёлся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5454396" cy="3794760"/>
          </a:xfrm>
          <a:prstGeom prst="roundRect">
            <a:avLst>
              <a:gd name="adj" fmla="val 803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2020824"/>
            <a:ext cx="49789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Пара 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478024"/>
            <a:ext cx="497890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«Кот поймал мышь во дворе»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438144"/>
            <a:ext cx="497890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«Я купил беспроводную мышь для ноутбука»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" y="4562856"/>
            <a:ext cx="4978908" cy="457200"/>
          </a:xfrm>
          <a:prstGeom prst="roundRect">
            <a:avLst>
              <a:gd name="adj" fmla="val 20000"/>
            </a:avLst>
          </a:prstGeom>
          <a:solidFill>
            <a:srgbClr val="E5EAF0"/>
          </a:solidFill>
          <a:ln w="1524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4562856"/>
            <a:ext cx="497890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cosine ≈ 0.1–0.2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5093208"/>
            <a:ext cx="49789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мышь-животное vs мышь-устройство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783080"/>
            <a:ext cx="5454396" cy="3794760"/>
          </a:xfrm>
          <a:prstGeom prst="roundRect">
            <a:avLst>
              <a:gd name="adj" fmla="val 803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9379" y="2020824"/>
            <a:ext cx="49789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Пара 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79" y="2478024"/>
            <a:ext cx="497890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«Скрипичный ключ в начале нотного стана»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9379" y="3438144"/>
            <a:ext cx="497890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«Забыл ключ от квартиры дома»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9379" y="4562856"/>
            <a:ext cx="4978908" cy="457200"/>
          </a:xfrm>
          <a:prstGeom prst="roundRect">
            <a:avLst>
              <a:gd name="adj" fmla="val 20000"/>
            </a:avLst>
          </a:prstGeom>
          <a:solidFill>
            <a:srgbClr val="E5EAF0"/>
          </a:solidFill>
          <a:ln w="1524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9379" y="4562856"/>
            <a:ext cx="497890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cosine ≈ 0.1–0.2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79" y="5093208"/>
            <a:ext cx="49789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нотный знак vs предмет для замка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852160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Одинаковые слова — разное значение → низкая близость несмотря на 100% совпадение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БЛОК 1 · ПАРЫ В И 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«Продакшн-сервер» и «бэкенд» — разные слова. Близко или далеко?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5454396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2020824"/>
            <a:ext cx="49789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Пара 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478024"/>
            <a:ext cx="497890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«Почему упал продакшн-сервер сегодня ночью»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438144"/>
            <a:ext cx="497890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«Причина падения бэкенда прошлой ночью»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1783080"/>
            <a:ext cx="5454396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9379" y="2020824"/>
            <a:ext cx="49789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Пара 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9379" y="2478024"/>
            <a:ext cx="497890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«Исправить баг в обработке платежей»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9379" y="3438144"/>
            <a:ext cx="497890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«Починить дефект в модуле оплаты»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3112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hand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5399532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8720" y="5303520"/>
            <a:ext cx="103144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3 раунда поднятия руки на пару — близко? далеко? не уверен?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БЛОК 1 · ПАРЫ В И Г · ОТВЕТ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Слова разные — смысл совпал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5454396" cy="3794760"/>
          </a:xfrm>
          <a:prstGeom prst="roundRect">
            <a:avLst>
              <a:gd name="adj" fmla="val 803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2020824"/>
            <a:ext cx="49789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Пара 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478024"/>
            <a:ext cx="497890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«Почему упал продакшн-сервер сегодня ночью»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438144"/>
            <a:ext cx="497890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«Причина падения бэкенда прошлой ночью»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" y="4562856"/>
            <a:ext cx="4978908" cy="457200"/>
          </a:xfrm>
          <a:prstGeom prst="roundRect">
            <a:avLst>
              <a:gd name="adj" fmla="val 2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4562856"/>
            <a:ext cx="497890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cosine ≈ 0.8+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5093208"/>
            <a:ext cx="49789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«упал»/«падения», «сервер»/«бэкенд»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783080"/>
            <a:ext cx="5454396" cy="3794760"/>
          </a:xfrm>
          <a:prstGeom prst="roundRect">
            <a:avLst>
              <a:gd name="adj" fmla="val 803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9379" y="2020824"/>
            <a:ext cx="49789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Пара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79" y="2478024"/>
            <a:ext cx="497890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«Исправить баг в обработке платежей»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9379" y="3438144"/>
            <a:ext cx="497890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«Починить дефект в модуле оплаты»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9379" y="4562856"/>
            <a:ext cx="4978908" cy="457200"/>
          </a:xfrm>
          <a:prstGeom prst="roundRect">
            <a:avLst>
              <a:gd name="adj" fmla="val 2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9379" y="4562856"/>
            <a:ext cx="497890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cosine ≈ 0.8+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79" y="5093208"/>
            <a:ext cx="49789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«исправить»/«починить», «баг»/«дефект»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852160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Эмбеддинг ловит то, что важно для смысла, а не поверхностную форму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БЛОК 1 · УПРАЖНЕНИЕ «КЛУБНИКА»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Пять документов, запрос «клубника» — кто их найдёт?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Запрос «клубника» в корпоративном wiki — тот же пример, что на Лекции 2, теперь на пяти документах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57400"/>
            <a:ext cx="11183112" cy="3977639"/>
          </a:xfrm>
          <a:prstGeom prst="roundRect">
            <a:avLst>
              <a:gd name="adj" fmla="val 766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276856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6B7685"/>
                </a:solidFill>
                <a:latin typeface="Arial"/>
              </a:rPr>
              <a:t>Документ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97496" y="2276856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Полнотекстовый?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54896" y="2276856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6B7685"/>
                </a:solidFill>
                <a:latin typeface="Arial"/>
              </a:rPr>
              <a:t>Семантический?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734056"/>
            <a:ext cx="320040" cy="6163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" y="2734056"/>
            <a:ext cx="6263640" cy="6163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«Инструкция по выращиванию клубники на даче»</a:t>
            </a:r>
          </a:p>
        </p:txBody>
      </p:sp>
      <p:pic>
        <p:nvPicPr>
          <p:cNvPr id="11" name="Picture 10" descr="help-circle-6B7685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4171" y="2895904"/>
            <a:ext cx="292608" cy="292608"/>
          </a:xfrm>
          <a:prstGeom prst="rect">
            <a:avLst/>
          </a:prstGeom>
        </p:spPr>
      </p:pic>
      <p:pic>
        <p:nvPicPr>
          <p:cNvPr id="12" name="Picture 11" descr="help-circle-6B7685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1572" y="2895904"/>
            <a:ext cx="292608" cy="29260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722376" y="3350361"/>
            <a:ext cx="1074420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22376" y="3350361"/>
            <a:ext cx="320040" cy="6163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" y="3350361"/>
            <a:ext cx="6263640" cy="6163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«Strawberry fields: a guide to growing your own»</a:t>
            </a:r>
          </a:p>
        </p:txBody>
      </p:sp>
      <p:pic>
        <p:nvPicPr>
          <p:cNvPr id="16" name="Picture 15" descr="help-circle-6B7685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4171" y="3512210"/>
            <a:ext cx="292608" cy="292608"/>
          </a:xfrm>
          <a:prstGeom prst="rect">
            <a:avLst/>
          </a:prstGeom>
        </p:spPr>
      </p:pic>
      <p:pic>
        <p:nvPicPr>
          <p:cNvPr id="17" name="Picture 16" descr="help-circle-6B7685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1572" y="3512210"/>
            <a:ext cx="292608" cy="292608"/>
          </a:xfrm>
          <a:prstGeom prst="rect">
            <a:avLst/>
          </a:prstGeom>
        </p:spPr>
      </p:pic>
      <p:cxnSp>
        <p:nvCxnSpPr>
          <p:cNvPr id="18" name="Connector 17"/>
          <p:cNvCxnSpPr/>
          <p:nvPr/>
        </p:nvCxnSpPr>
        <p:spPr>
          <a:xfrm>
            <a:off x="722376" y="3966667"/>
            <a:ext cx="1074420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22376" y="3966667"/>
            <a:ext cx="320040" cy="6163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6424" y="3966667"/>
            <a:ext cx="6263640" cy="6163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«Сезонные ягоды средней полосы: сроки созревания»</a:t>
            </a:r>
          </a:p>
        </p:txBody>
      </p:sp>
      <p:pic>
        <p:nvPicPr>
          <p:cNvPr id="21" name="Picture 20" descr="help-circle-6B7685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4171" y="4128515"/>
            <a:ext cx="292608" cy="292608"/>
          </a:xfrm>
          <a:prstGeom prst="rect">
            <a:avLst/>
          </a:prstGeom>
        </p:spPr>
      </p:pic>
      <p:pic>
        <p:nvPicPr>
          <p:cNvPr id="22" name="Picture 21" descr="help-circle-6B7685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1572" y="4128515"/>
            <a:ext cx="292608" cy="292608"/>
          </a:xfrm>
          <a:prstGeom prst="rect">
            <a:avLst/>
          </a:prstGeom>
        </p:spPr>
      </p:pic>
      <p:cxnSp>
        <p:nvCxnSpPr>
          <p:cNvPr id="23" name="Connector 22"/>
          <p:cNvCxnSpPr/>
          <p:nvPr/>
        </p:nvCxnSpPr>
        <p:spPr>
          <a:xfrm>
            <a:off x="722376" y="4582972"/>
            <a:ext cx="1074420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22376" y="4582972"/>
            <a:ext cx="320040" cy="6163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" y="4582972"/>
            <a:ext cx="6263640" cy="6163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«Клубный вечер для сотрудников: программа мероприятия»</a:t>
            </a:r>
          </a:p>
        </p:txBody>
      </p:sp>
      <p:pic>
        <p:nvPicPr>
          <p:cNvPr id="26" name="Picture 25" descr="help-circle-6B7685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4171" y="4744821"/>
            <a:ext cx="292608" cy="292608"/>
          </a:xfrm>
          <a:prstGeom prst="rect">
            <a:avLst/>
          </a:prstGeom>
        </p:spPr>
      </p:pic>
      <p:pic>
        <p:nvPicPr>
          <p:cNvPr id="27" name="Picture 26" descr="help-circle-6B7685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1572" y="4744821"/>
            <a:ext cx="292608" cy="292608"/>
          </a:xfrm>
          <a:prstGeom prst="rect">
            <a:avLst/>
          </a:prstGeom>
        </p:spPr>
      </p:pic>
      <p:cxnSp>
        <p:nvCxnSpPr>
          <p:cNvPr id="28" name="Connector 27"/>
          <p:cNvCxnSpPr/>
          <p:nvPr/>
        </p:nvCxnSpPr>
        <p:spPr>
          <a:xfrm>
            <a:off x="722376" y="5199278"/>
            <a:ext cx="1074420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22376" y="5199278"/>
            <a:ext cx="320040" cy="6163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" y="5199278"/>
            <a:ext cx="6263640" cy="6163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«Рецепт варенья из лесной земляники»</a:t>
            </a:r>
          </a:p>
        </p:txBody>
      </p:sp>
      <p:pic>
        <p:nvPicPr>
          <p:cNvPr id="31" name="Picture 30" descr="help-circle-6B7685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4171" y="5361127"/>
            <a:ext cx="292608" cy="292608"/>
          </a:xfrm>
          <a:prstGeom prst="rect">
            <a:avLst/>
          </a:prstGeom>
        </p:spPr>
      </p:pic>
      <p:pic>
        <p:nvPicPr>
          <p:cNvPr id="32" name="Picture 31" descr="help-circle-6B7685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1572" y="5361127"/>
            <a:ext cx="292608" cy="292608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502920" y="6263640"/>
            <a:ext cx="11183112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hand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6359652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188720" y="6263640"/>
            <a:ext cx="103144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4 раунда на документ — полнотекстовый? семантический? оба? ни один?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БЛОК 1 · УПРАЖНЕНИЕ «КЛУБНИКА» · ОТВЕТ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Общий корень — не то же самое, что общий смысл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183112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892808"/>
            <a:ext cx="5852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6B7685"/>
                </a:solidFill>
                <a:latin typeface="Arial"/>
              </a:rPr>
              <a:t>Документ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30568" y="1892808"/>
            <a:ext cx="17373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6B7685"/>
                </a:solidFill>
                <a:latin typeface="Arial"/>
              </a:rPr>
              <a:t>Полнотекст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13648" y="1892808"/>
            <a:ext cx="17373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6B7685"/>
                </a:solidFill>
                <a:latin typeface="Arial"/>
              </a:rPr>
              <a:t>Семантика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96728" y="1892808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6B7685"/>
                </a:solidFill>
                <a:latin typeface="Arial"/>
              </a:rPr>
              <a:t>Заметка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313432"/>
            <a:ext cx="29260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13432"/>
            <a:ext cx="548640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«Инструкция по выращиванию клубники на даче»</a:t>
            </a:r>
          </a:p>
        </p:txBody>
      </p:sp>
      <p:pic>
        <p:nvPicPr>
          <p:cNvPr id="11" name="Picture 10" descr="check-circle-2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088" y="2514600"/>
            <a:ext cx="274320" cy="274320"/>
          </a:xfrm>
          <a:prstGeom prst="rect">
            <a:avLst/>
          </a:prstGeom>
        </p:spPr>
      </p:pic>
      <p:pic>
        <p:nvPicPr>
          <p:cNvPr id="12" name="Picture 11" descr="check-circle-2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68" y="2514600"/>
            <a:ext cx="274320" cy="274320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704088" y="2990088"/>
            <a:ext cx="1078077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04088" y="2990088"/>
            <a:ext cx="29260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990088"/>
            <a:ext cx="548640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«Strawberry fields: a guide to growing your own»</a:t>
            </a:r>
          </a:p>
        </p:txBody>
      </p:sp>
      <p:pic>
        <p:nvPicPr>
          <p:cNvPr id="16" name="Picture 15" descr="x-circle-6B7685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2088" y="3191256"/>
            <a:ext cx="274320" cy="274320"/>
          </a:xfrm>
          <a:prstGeom prst="rect">
            <a:avLst/>
          </a:prstGeom>
        </p:spPr>
      </p:pic>
      <p:pic>
        <p:nvPicPr>
          <p:cNvPr id="17" name="Picture 16" descr="check-circle-2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68" y="3191256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396728" y="2990088"/>
            <a:ext cx="12344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B7685"/>
                </a:solidFill>
                <a:latin typeface="Arial"/>
              </a:rPr>
              <a:t>перевод через эмбеддинг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04088" y="3666744"/>
            <a:ext cx="1078077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04088" y="3666744"/>
            <a:ext cx="29260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3666744"/>
            <a:ext cx="548640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«Сезонные ягоды средней полосы: сроки созревания»</a:t>
            </a:r>
          </a:p>
        </p:txBody>
      </p:sp>
      <p:pic>
        <p:nvPicPr>
          <p:cNvPr id="22" name="Picture 21" descr="x-circle-6B7685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2088" y="3867911"/>
            <a:ext cx="274320" cy="274320"/>
          </a:xfrm>
          <a:prstGeom prst="rect">
            <a:avLst/>
          </a:prstGeom>
        </p:spPr>
      </p:pic>
      <p:pic>
        <p:nvPicPr>
          <p:cNvPr id="23" name="Picture 22" descr="check-circle-2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68" y="3867911"/>
            <a:ext cx="274320" cy="274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396728" y="3666744"/>
            <a:ext cx="12344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B7685"/>
                </a:solidFill>
                <a:latin typeface="Arial"/>
              </a:rPr>
              <a:t>родовое понятие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04088" y="4343400"/>
            <a:ext cx="1078077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48640" y="4325112"/>
            <a:ext cx="11091672" cy="713232"/>
          </a:xfrm>
          <a:prstGeom prst="roundRect">
            <a:avLst>
              <a:gd name="adj" fmla="val 22222"/>
            </a:avLst>
          </a:prstGeom>
          <a:solidFill>
            <a:srgbClr val="FEF5E0"/>
          </a:solidFill>
          <a:ln w="20320">
            <a:solidFill>
              <a:srgbClr val="F0AB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4343400"/>
            <a:ext cx="29260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343400"/>
            <a:ext cx="548640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«Клубный вечер для сотрудников: программа мероприятия»</a:t>
            </a:r>
          </a:p>
        </p:txBody>
      </p:sp>
      <p:pic>
        <p:nvPicPr>
          <p:cNvPr id="29" name="Picture 28" descr="x-circle-6B7685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2088" y="4544568"/>
            <a:ext cx="274320" cy="274320"/>
          </a:xfrm>
          <a:prstGeom prst="rect">
            <a:avLst/>
          </a:prstGeom>
        </p:spPr>
      </p:pic>
      <p:pic>
        <p:nvPicPr>
          <p:cNvPr id="30" name="Picture 29" descr="x-circle-6B7685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5168" y="4544568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396728" y="4343400"/>
            <a:ext cx="12344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8A6200"/>
                </a:solidFill>
                <a:latin typeface="Arial"/>
              </a:rPr>
              <a:t>ловушка: общий корень «клуб-»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04088" y="5020056"/>
            <a:ext cx="1078077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04088" y="5020056"/>
            <a:ext cx="29260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020056"/>
            <a:ext cx="548640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«Рецепт варенья из лесной земляники»</a:t>
            </a:r>
          </a:p>
        </p:txBody>
      </p:sp>
      <p:pic>
        <p:nvPicPr>
          <p:cNvPr id="35" name="Picture 34" descr="x-circle-6B7685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2088" y="5221224"/>
            <a:ext cx="274320" cy="274320"/>
          </a:xfrm>
          <a:prstGeom prst="rect">
            <a:avLst/>
          </a:prstGeom>
        </p:spPr>
      </p:pic>
      <p:pic>
        <p:nvPicPr>
          <p:cNvPr id="36" name="Picture 35" descr="check-circle-2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68" y="5221224"/>
            <a:ext cx="274320" cy="2743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396728" y="5020056"/>
            <a:ext cx="12344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B7685"/>
                </a:solidFill>
                <a:latin typeface="Arial"/>
              </a:rPr>
              <a:t>близкий, не максимальный cosine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6080759"/>
            <a:ext cx="11183112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6135623"/>
            <a:ext cx="108173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Документ 4 — та же логика, что пары А/Б, в обратную сторону: общая часть слова тоже не гарантирует общий смысл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БЛОК 1 · РАЗОБРАННЫЙ ПРИМЕР + ВОПРОС ВСЕМ КЛАССОМ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Когда полнотекстовый поиск лучше семантического?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1118311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al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755648"/>
            <a:ext cx="38404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008" y="1737360"/>
            <a:ext cx="102778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Разобранный пример: юридический поиск по договорам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212848"/>
            <a:ext cx="10780776" cy="12893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080" b="0" i="0">
                <a:solidFill>
                  <a:srgbClr val="21295C"/>
                </a:solidFill>
                <a:latin typeface="Arial"/>
              </a:rPr>
              <a:t>Запрос: «пункт об одностороннем расторжении». Полнотекстовый поиск по точной фразе находит пункты, где формулировка встречается дословно — критично, потому что основание расторжения зафиксировано конкретной формулировкой с юридическими последствиями. Семантический поиск дополнительно найдёт релевантный перифраз «отказ от договора в одностороннем порядке» — но с не меньшей вероятностью подмешает «расторжение по соглашению сторон» (близко по теме, но юридически другое основание). Подмена основания расторжения для юриста — не «почти то же самое», а содержательная ошибка.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355848"/>
            <a:ext cx="1078077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Здесь семантическая близость — источник риска, а не преимущество: задаче нужна точность формулировки, а не близость темы.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087368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78807"/>
            <a:ext cx="10698480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Каким ещё инженерным задачам, где формулировка/точное значение важнее общей темы, нужна именно точность?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47488"/>
            <a:ext cx="5490972" cy="1399032"/>
          </a:xfrm>
          <a:prstGeom prst="roundRect">
            <a:avLst>
              <a:gd name="adj" fmla="val 2178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arget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230368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5202936"/>
            <a:ext cx="47411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Точность важнее похожести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669279"/>
            <a:ext cx="182880" cy="297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669279"/>
            <a:ext cx="4924044" cy="297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 i="0">
                <a:solidFill>
                  <a:srgbClr val="21295C"/>
                </a:solidFill>
                <a:latin typeface="Arial"/>
              </a:rPr>
              <a:t>Точный поиск по ID / артикулу / номеру заказа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966459"/>
            <a:ext cx="182880" cy="297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5966459"/>
            <a:ext cx="4924044" cy="297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 i="0">
                <a:solidFill>
                  <a:srgbClr val="21295C"/>
                </a:solidFill>
                <a:latin typeface="Arial"/>
              </a:rPr>
              <a:t>Код ошибки (`NullPointerException`) — семантика может увести к похожим, но не точным совпадениям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5059" y="5047488"/>
            <a:ext cx="5490972" cy="1399032"/>
          </a:xfrm>
          <a:prstGeom prst="roundRect">
            <a:avLst>
              <a:gd name="adj" fmla="val 2178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rrow-right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7940" y="5230368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761988" y="5202936"/>
            <a:ext cx="47411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Мост к Лекции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7940" y="5669279"/>
            <a:ext cx="182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79107" y="5669279"/>
            <a:ext cx="492404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 i="0">
                <a:solidFill>
                  <a:srgbClr val="21295C"/>
                </a:solidFill>
                <a:latin typeface="Arial"/>
              </a:rPr>
              <a:t>Упражнение «клубника» и семантический поиск — база RAG (Retrieval-Augmented Generation)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3 · БЛОК 2 — МЕХАНИЗМ ВНИМАНИЯ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Фонарик в тёмной комнате — внимание распределяет вес между токенами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183112" cy="3429000"/>
          </a:xfrm>
          <a:prstGeom prst="roundRect">
            <a:avLst>
              <a:gd name="adj" fmla="val 8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an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947672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80744" y="1947672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Повтор с Лекции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542032"/>
            <a:ext cx="10671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1">
                <a:solidFill>
                  <a:srgbClr val="21295C"/>
                </a:solidFill>
                <a:latin typeface="Arial"/>
              </a:rPr>
              <a:t>Внимание (attention) — фонарик в тёмной комнате: луч направлен на релевантные сейчас токены, остальное — на периферии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3364991"/>
            <a:ext cx="10671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«Кот съел мышь, потому что она была голодна»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3822191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380390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мышь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4206240"/>
            <a:ext cx="1536192" cy="29260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04872" y="4187952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была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4590288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6B76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6776" y="4572000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голодна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394959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Блок 2 — механизм внимания: угадай, куда «смотрит» 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897879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6B7685"/>
                </a:solidFill>
                <a:latin typeface="Arial"/>
              </a:rPr>
              <a:t>Сегодня вы предсказываете этот вес сами — до того, как увидите разбор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БЛОК 2 · ПАРА WINOGRAD SCHEMA, ВАРИАНТ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Трофей не влез в чемодан, потому что он был слишком большой — кто «он»?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183112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uzzl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857499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1783080"/>
            <a:ext cx="9948672" cy="2926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1">
                <a:solidFill>
                  <a:srgbClr val="21295C"/>
                </a:solidFill>
                <a:latin typeface="Arial"/>
              </a:rPr>
              <a:t>«Трофей не влез в чемодан, потому что он был слишком большой»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450799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Реальный академический бенчмарк — Levesque, Davis, Morgenstern, The Winograd Schema Challenge (2011/2012)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49240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and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5490972"/>
            <a:ext cx="310896" cy="310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88720" y="5349240"/>
            <a:ext cx="1031443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3 раунда — он = трофей? он = чемодан? не уверен?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БЛОК 2 · ПАРА WINOGRAD SCHEMA, ВАРИАНТ 1 · ОТВЕТ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«Он» = трофей — большой предмет не влезает в вместилище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183112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uzzl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2057400"/>
            <a:ext cx="9948672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 i="1">
                <a:solidFill>
                  <a:srgbClr val="21295C"/>
                </a:solidFill>
                <a:latin typeface="Arial"/>
              </a:rPr>
              <a:t>«Трофей не влез в чемодан, потому что он был слишком большой»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800600"/>
            <a:ext cx="3108960" cy="54864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8006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он = трофей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40" y="4818888"/>
            <a:ext cx="3771900" cy="21945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59268" y="4791455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трофей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40" y="5111496"/>
            <a:ext cx="754380" cy="219456"/>
          </a:xfrm>
          <a:prstGeom prst="roundRect">
            <a:avLst>
              <a:gd name="adj" fmla="val 50000"/>
            </a:avLst>
          </a:prstGeom>
          <a:solidFill>
            <a:srgbClr val="6B76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1748" y="508406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чемодан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41264"/>
            <a:ext cx="11183112" cy="905255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650992"/>
            <a:ext cx="10789920" cy="685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Трофей большой, поэтому не влез в чемодан. Иллюстрация распределения весов — не настоящий работающий вживую инструмент.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БЛОК 2 · ПАРА WINOGRAD SCHEMA, ВАРИАНТ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Трофей не влез в чемодан, потому что он был слишком маленький — кто «он» теперь?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183112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uzzl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857499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1783080"/>
            <a:ext cx="9948672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1">
                <a:solidFill>
                  <a:srgbClr val="21295C"/>
                </a:solidFill>
                <a:latin typeface="Arial"/>
              </a:rPr>
              <a:t>«Трофей не влез в чемодан, потому что он был слишком маленький»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and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5490972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8720" y="5349240"/>
            <a:ext cx="1031443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3 раунда — он = трофей? он = чемодан? не уверен?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БЛОК 2 · ПАРА WINOGRAD SCHEMA, ВАРИАНТ 2 · ОТВЕТ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Одна грамматика — разный ответ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183112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uzzl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2057400"/>
            <a:ext cx="999439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21295C"/>
                </a:solidFill>
                <a:latin typeface="Arial"/>
              </a:rPr>
              <a:t>«Трофей не влез в чемодан, потому что он был слишком маленький»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40480"/>
            <a:ext cx="3108960" cy="54864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84048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он = чемодан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40" y="3867912"/>
            <a:ext cx="3771900" cy="20116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59268" y="3822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чемодан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40" y="4142232"/>
            <a:ext cx="754380" cy="201168"/>
          </a:xfrm>
          <a:prstGeom prst="roundRect">
            <a:avLst>
              <a:gd name="adj" fmla="val 50000"/>
            </a:avLst>
          </a:prstGeom>
          <a:solidFill>
            <a:srgbClr val="6B76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1748" y="40965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трофей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17720"/>
            <a:ext cx="11183112" cy="1828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672583"/>
            <a:ext cx="10817352" cy="1719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Одна и та же грамматика в обоих предложениях — а ответ разный. Для правильного ответа нужны мировые знания, не только синтаксический разбор.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БЛОК 2 · ТЕХНИЧЕСКАЯ КОРЕФЕРЕНЦИЯ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Менеджер поругал стажёра, потому что он не проверил тесты — кто «он»?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183112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-branch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857499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1783080"/>
            <a:ext cx="9948672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1">
                <a:solidFill>
                  <a:srgbClr val="21295C"/>
                </a:solidFill>
                <a:latin typeface="Arial"/>
              </a:rPr>
              <a:t>«Менеджер поругал стажёра, потому что он не проверил тесты перед коммитом»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and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5490972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8720" y="5349240"/>
            <a:ext cx="1031443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3 раунда — он = менеджер? он = стажёр? не уверен?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БЛОК 2 · ТЕХНИЧЕСКАЯ КОРЕФЕРЕНЦИЯ · ОТВЕТ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«Он» = стажёр — вес внимания на «стажёр» и «коммит»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183112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-branch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2057400"/>
            <a:ext cx="9948672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 i="1">
                <a:solidFill>
                  <a:srgbClr val="21295C"/>
                </a:solidFill>
                <a:latin typeface="Arial"/>
              </a:rPr>
              <a:t>«Менеджер поругал стажёра, потому что он не проверил тесты перед коммитом»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800600"/>
            <a:ext cx="3108960" cy="54864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8006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он = стажёр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40" y="4818888"/>
            <a:ext cx="2766060" cy="21945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3428" y="4791455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стажёр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40" y="5111496"/>
            <a:ext cx="1508760" cy="21945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96128" y="508406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коммит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40" y="5404104"/>
            <a:ext cx="603503" cy="219456"/>
          </a:xfrm>
          <a:prstGeom prst="roundRect">
            <a:avLst>
              <a:gd name="adj" fmla="val 50000"/>
            </a:avLst>
          </a:prstGeom>
          <a:solidFill>
            <a:srgbClr val="6B76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53766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менеджер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833872"/>
            <a:ext cx="11183112" cy="61264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943600"/>
            <a:ext cx="10789920" cy="3931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Сущность, которую ругают, связана с конкретным упущенным действием — типичная обязанность того, кто делает коммит.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БЛОК 2 · ПОГРАНИЧНЫЙ СЛУЧАЙ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Пилот сказал диспетчеру, что он ошибся в расчётах — кто «он»?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183112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22860">
            <a:solidFill>
              <a:srgbClr val="F0AB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lp-circl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857499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1783080"/>
            <a:ext cx="9948672" cy="2926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1">
                <a:solidFill>
                  <a:srgbClr val="21295C"/>
                </a:solidFill>
                <a:latin typeface="Arial"/>
              </a:rPr>
              <a:t>«Пилот сказал диспетчеру, что он ошибся в расчётах»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450799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Оба существительных мужского рода — согласование рода не подсказывает ответ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49240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and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5490972"/>
            <a:ext cx="310896" cy="310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88720" y="5349240"/>
            <a:ext cx="1031443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3 раунда — он = пилот? он = диспетчер? не уверен?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БЛОК 2 · ПОГРАНИЧНЫЙ СЛУЧАЙ · ОТВЕТ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Оба прочтения разумны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183112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22860">
            <a:solidFill>
              <a:srgbClr val="F0AB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lp-circl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2057400"/>
            <a:ext cx="9948672" cy="160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 i="1">
                <a:solidFill>
                  <a:srgbClr val="21295C"/>
                </a:solidFill>
                <a:latin typeface="Arial"/>
              </a:rPr>
              <a:t>«Пилот сказал диспетчеру, что он ошибся в расчётах»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06240"/>
            <a:ext cx="5454396" cy="2240280"/>
          </a:xfrm>
          <a:prstGeom prst="roundRect">
            <a:avLst>
              <a:gd name="adj" fmla="val 13605"/>
            </a:avLst>
          </a:prstGeom>
          <a:solidFill>
            <a:srgbClr val="F4F7FA"/>
          </a:solidFill>
          <a:ln w="2286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54543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1C7293"/>
                </a:solidFill>
                <a:latin typeface="Arial"/>
              </a:rPr>
              <a:t>он = пилот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983479"/>
            <a:ext cx="490575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пилот признал свою ошибку диспетчеру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8598" y="594360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тоже верно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4206240"/>
            <a:ext cx="5454396" cy="2240280"/>
          </a:xfrm>
          <a:prstGeom prst="roundRect">
            <a:avLst>
              <a:gd name="adj" fmla="val 13605"/>
            </a:avLst>
          </a:prstGeom>
          <a:solidFill>
            <a:srgbClr val="F4F7FA"/>
          </a:solidFill>
          <a:ln w="228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1636" y="4389120"/>
            <a:ext cx="54543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028090"/>
                </a:solidFill>
                <a:latin typeface="Arial"/>
              </a:rPr>
              <a:t>он = диспетчер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5955" y="4983479"/>
            <a:ext cx="490575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пилот указал диспетчеру на его ошибку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7313" y="594360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тоже верно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БЛОК 2 · РАЗОБРАННЫЙ ПРИМЕР + РЕФЛЕКСИЯ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Уверенный ответ — это понимание или угадывание?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1118311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lert-triangl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755648"/>
            <a:ext cx="38404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008" y="1737360"/>
            <a:ext cx="102778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Документированный провал: WinoBias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212848"/>
            <a:ext cx="10780776" cy="12893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080" b="0" i="0">
                <a:solidFill>
                  <a:srgbClr val="21295C"/>
                </a:solidFill>
                <a:latin typeface="Arial"/>
              </a:rPr>
              <a:t>Zhao, Wang, Yatskar, Ordonez, Chang (2018), NAACL — отдельный от Winograd Schema бенчмарк именно на систематическую ошибку. WinoBias показал: модели разрешения кореференции систематически резолвят неоднозначное местоимение через профессионально-гендерные стереотипы обучающего корпуса — например, чаще связывают «врач» с мужским местоимением, а «медсестра» — с женским, даже когда контекст и грамматика этого не требуют.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355848"/>
            <a:ext cx="1078077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Прямое следствие примера «пилот/диспетчер»: внимание статистически смотрит на корпус, и если корпус несёт социальный перекос (bias — тот же термин, что на Семинаре 2), модель воспроизводит его уверенно, а не осторожно.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087368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78807"/>
            <a:ext cx="10698480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Если модель уверенно называет референт «он» — значит ли это, что она «понимает» предложение, как человек? Чем понимание отличается от угадывания?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47488"/>
            <a:ext cx="3593592" cy="1399032"/>
          </a:xfrm>
          <a:prstGeom prst="roundRect">
            <a:avLst>
              <a:gd name="adj" fmla="val 2178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etwork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230368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5202936"/>
            <a:ext cx="284378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Корреляция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669279"/>
            <a:ext cx="182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669279"/>
            <a:ext cx="302666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 i="0">
                <a:solidFill>
                  <a:srgbClr val="21295C"/>
                </a:solidFill>
                <a:latin typeface="Arial"/>
              </a:rPr>
              <a:t>Внимание — статистика совместной встречаемости токенов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5047488"/>
            <a:ext cx="3593592" cy="1399032"/>
          </a:xfrm>
          <a:prstGeom prst="roundRect">
            <a:avLst>
              <a:gd name="adj" fmla="val 2178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ompass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5230368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864608" y="5202936"/>
            <a:ext cx="284378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Причинность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5669279"/>
            <a:ext cx="182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1728" y="5669279"/>
            <a:ext cx="302666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 i="0">
                <a:solidFill>
                  <a:srgbClr val="21295C"/>
                </a:solidFill>
                <a:latin typeface="Arial"/>
              </a:rPr>
              <a:t>Человек опирается на модель мира — уровни Перла, Лекция 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5047488"/>
            <a:ext cx="3593592" cy="1399032"/>
          </a:xfrm>
          <a:prstGeom prst="roundRect">
            <a:avLst>
              <a:gd name="adj" fmla="val 2178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help-circle-028090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0" y="5230368"/>
            <a:ext cx="292608" cy="2926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659368" y="5202936"/>
            <a:ext cx="284378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Пограничный случай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5669279"/>
            <a:ext cx="182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6488" y="5669279"/>
            <a:ext cx="302666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 i="0">
                <a:solidFill>
                  <a:srgbClr val="21295C"/>
                </a:solidFill>
                <a:latin typeface="Arial"/>
              </a:rPr>
              <a:t>Модель угадывает не хуже человека там, где сам человек не уверен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4 · БЛОК 3 — СЭМПЛИНГ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Четыре ручки API — предсказуемость против разнообразия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183112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aug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947672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80744" y="1947672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Повтор с Лекции 2</a:t>
            </a:r>
          </a:p>
        </p:txBody>
      </p:sp>
      <p:pic>
        <p:nvPicPr>
          <p:cNvPr id="7" name="Picture 6" descr="target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2718054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1288" y="2587752"/>
            <a:ext cx="4114800" cy="534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Классификация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13832" y="2782062"/>
            <a:ext cx="265176" cy="14630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54512" y="2587752"/>
            <a:ext cx="1828800" cy="534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T = 0</a:t>
            </a:r>
          </a:p>
        </p:txBody>
      </p:sp>
      <p:pic>
        <p:nvPicPr>
          <p:cNvPr id="11" name="Picture 10" descr="code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3252978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61288" y="3122676"/>
            <a:ext cx="4114800" cy="534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Кодогенерация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13832" y="3316986"/>
            <a:ext cx="1325880" cy="14630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54512" y="3122676"/>
            <a:ext cx="1828800" cy="534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T ≈ 0.2–0.3</a:t>
            </a:r>
          </a:p>
        </p:txBody>
      </p:sp>
      <p:pic>
        <p:nvPicPr>
          <p:cNvPr id="15" name="Picture 14" descr="message-square-028090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" y="3787902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61288" y="3657600"/>
            <a:ext cx="4114800" cy="534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Чат-объяснение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13832" y="3851910"/>
            <a:ext cx="3182112" cy="14630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54512" y="3657600"/>
            <a:ext cx="1828800" cy="534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T ≈ 0.7</a:t>
            </a:r>
          </a:p>
        </p:txBody>
      </p:sp>
      <p:pic>
        <p:nvPicPr>
          <p:cNvPr id="19" name="Picture 18" descr="sparkles-028090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" y="4322826"/>
            <a:ext cx="274320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61288" y="4192524"/>
            <a:ext cx="4114800" cy="534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Творческое письмо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13832" y="4386833"/>
            <a:ext cx="4773168" cy="1463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54512" y="4192524"/>
            <a:ext cx="1828800" cy="534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T ≈ 0.9–1.2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257800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Блок 3 — сэмплинг: температура и параметры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760720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6B7685"/>
                </a:solidFill>
                <a:latin typeface="Arial"/>
              </a:rPr>
              <a:t>Сегодня вы проверите эту логику на собственном эксперименте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БЛОК 3 · РАЗБОР ДОМАШНЕГО ЗАДАНИЯ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T=0 / T=0.7 / T=1.5 — что изменилось в вашем эксперименте?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11183112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Домашнее задание из Лекции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3569208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rget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6356" y="2468880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2971800"/>
            <a:ext cx="35692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T =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329488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детерминированный argmax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9872" y="2286000"/>
            <a:ext cx="3569208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huffle-028090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3308" y="2468880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09872" y="2971800"/>
            <a:ext cx="35692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T = 0.7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7032" y="3383280"/>
            <a:ext cx="329488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естественная вариативность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6824" y="2286000"/>
            <a:ext cx="3569208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zap-8A6200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0260" y="2468880"/>
            <a:ext cx="402336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116824" y="2971800"/>
            <a:ext cx="35692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T = 1.5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3383280"/>
            <a:ext cx="329488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на грани распада связности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251959"/>
            <a:ext cx="11183112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4471416"/>
            <a:ext cx="36576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4471416"/>
            <a:ext cx="1033272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Что изменилось от T=0 к T=1.5?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" y="5056631"/>
            <a:ext cx="36576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2.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5056631"/>
            <a:ext cx="1033272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Что осталось одинаковым во всех трёх запусках?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" y="5641848"/>
            <a:ext cx="36576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" y="5641848"/>
            <a:ext cx="1033272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Какую T вы выбрали для боевого режима и почему?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БЛОК 3 · УГАДАЙ ТЕМПЕРАТУРУ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Три ответа на один промпт — какой температуре какой соответствует?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11183112" cy="457200"/>
          </a:xfrm>
          <a:prstGeom prst="roundRect">
            <a:avLst>
              <a:gd name="adj" fmla="val 25000"/>
            </a:avLst>
          </a:prstGeom>
          <a:solidFill>
            <a:srgbClr val="E5EAF0"/>
          </a:solidFill>
          <a:ln w="1270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Три ответа ниже написаны автором методического комплекта для иллюстрации — это не реальный вызов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5740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Промпт: «Напиши короткое приветствие для email-рассылки студентам о начале нового курса»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14600"/>
            <a:ext cx="358140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79192"/>
            <a:ext cx="3215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Ответ 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2156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Уважаемые студенты! Рады сообщить вам о начале нового курса. Занятия начинаются согласно расписанию. Желаем успехов в обучении!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3775" y="2514600"/>
            <a:ext cx="358140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6656" y="2679192"/>
            <a:ext cx="3215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Ответ 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6656" y="3063240"/>
            <a:ext cx="32156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Привет! Новый курс стартует уже на следующей неделе — будет практика, разбор реальных кейсов и, чего уж скрывать, немного домашних заданий. Ждём вас на первом занятии.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4632" y="2514600"/>
            <a:ext cx="358140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7511" y="2679192"/>
            <a:ext cx="3215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Ответ 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7511" y="3063240"/>
            <a:ext cx="32156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Курс! Начинается! Проверьте расписание — а может, и не проверяйте, жизнь непредсказуема, как и первое занятие, где кофе важнее конспекта, но конспект тоже важен, наверное.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852160"/>
            <a:ext cx="11183112" cy="5029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hand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5948172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88720" y="5852160"/>
            <a:ext cx="103144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3 раунда — для каждого ответа: низкая / средняя / высокая температура?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БЛОК 3 · УГАДАЙ ТЕМПЕРАТУРУ · ОТВЕТ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Повторяемость → вариативность → распад связности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581400" cy="3566160"/>
          </a:xfrm>
          <a:prstGeom prst="roundRect">
            <a:avLst>
              <a:gd name="adj" fmla="val 854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64792"/>
            <a:ext cx="3215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Ответ 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30552"/>
            <a:ext cx="321564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Уважаемые студенты! Рады сообщить вам о начале нового курса. Занятия начинаются согласно расписанию. Желаем успехов в обучении!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794760"/>
            <a:ext cx="3215640" cy="365760"/>
          </a:xfrm>
          <a:prstGeom prst="roundRect">
            <a:avLst>
              <a:gd name="adj" fmla="val 3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94760"/>
            <a:ext cx="3215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T ≈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33672"/>
            <a:ext cx="3215640" cy="749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полная предсказуемость, текст почти не меняется при повторной генерации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3775" y="1600200"/>
            <a:ext cx="3581400" cy="3566160"/>
          </a:xfrm>
          <a:prstGeom prst="roundRect">
            <a:avLst>
              <a:gd name="adj" fmla="val 854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6656" y="1764792"/>
            <a:ext cx="3215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Ответ 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6656" y="2130552"/>
            <a:ext cx="321564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Привет! Новый курс стартует уже на следующей неделе — будет практика, разбор реальных кейсов и, чего уж скрывать, немного домашних заданий. Ждём вас на первом занятии.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6656" y="3794760"/>
            <a:ext cx="3215640" cy="365760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6656" y="3794760"/>
            <a:ext cx="3215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T ≈ 0.7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6656" y="4233672"/>
            <a:ext cx="3215640" cy="749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конкретные детали, живая интонация, связный текст без странностей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4632" y="1600200"/>
            <a:ext cx="3581400" cy="3566160"/>
          </a:xfrm>
          <a:prstGeom prst="roundRect">
            <a:avLst>
              <a:gd name="adj" fmla="val 854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7511" y="1764792"/>
            <a:ext cx="3215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Ответ 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7511" y="2130552"/>
            <a:ext cx="321564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Курс! Начинается! Проверьте расписание — а может, и не проверяйте, жизнь непредсказуема, как и первое занятие, где кофе важнее конспекта, но конспект тоже важен, наверное.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7511" y="3794760"/>
            <a:ext cx="3215640" cy="365760"/>
          </a:xfrm>
          <a:prstGeom prst="roundRect">
            <a:avLst>
              <a:gd name="adj" fmla="val 30000"/>
            </a:avLst>
          </a:prstGeom>
          <a:solidFill>
            <a:srgbClr val="8A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7511" y="3794760"/>
            <a:ext cx="3215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T ≈ 1.5–2.0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7511" y="4233672"/>
            <a:ext cx="3215640" cy="749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неожиданные обороты, резкие смены тона, на грани распада связности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34924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8A6200"/>
                </a:solidFill>
                <a:latin typeface="Arial"/>
              </a:rPr>
              <a:t>Признак — не подпись, а наблюдаемое поведение текста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БЛОК 3 · РАЗОБРАННЫЙ ПРИМЕР + РЕФЛЕКСИЯ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Когда стохастичность — риск, а не удобство?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1118311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ield-check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755648"/>
            <a:ext cx="38404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008" y="1737360"/>
            <a:ext cx="102778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Разобранный пример: когда НЕ LLM вообще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212848"/>
            <a:ext cx="10780776" cy="12893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080" b="0" i="0">
                <a:solidFill>
                  <a:srgbClr val="21295C"/>
                </a:solidFill>
                <a:latin typeface="Arial"/>
              </a:rPr>
              <a:t>Банковский чат-бот использует LLM для диалога, но для детекции номеров банковских карт в переписке (чтобы замаскировать их перед логированием) — не полагается на LLM ни при каком значении температуры. Используется regex по формату номера карты + Luhn-алгоритм проверки контрольной суммы. Причина: нужна гарантия срабатывания на 100% известных случаев, а не вероятностное соответствие — даже при T=0 LLM может пропустить нестандартно отформатированный номер или ложно среагировать на похожую последовательность цифр, а regex — нет.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355848"/>
            <a:ext cx="1078077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Тот же принцип, что в Блоке 1 с полнотекстовым поиском: если задаче нужна гарантия, а не вероятностное приближение — классический инструмент с фиксированной грамматикой правильнее LLM при любом параметре сэмплинга.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087368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78807"/>
            <a:ext cx="10698480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 каких сценариях вашей будущей работы стохастичность ответа (T&gt;0) — это риск, а не удобство?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47488"/>
            <a:ext cx="5490972" cy="1399032"/>
          </a:xfrm>
          <a:prstGeom prst="roundRect">
            <a:avLst>
              <a:gd name="adj" fmla="val 2178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ale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230368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5202936"/>
            <a:ext cx="47411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Где нужна воспроизводимость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669279"/>
            <a:ext cx="182880" cy="297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669279"/>
            <a:ext cx="4924044" cy="297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 i="0">
                <a:solidFill>
                  <a:srgbClr val="21295C"/>
                </a:solidFill>
                <a:latin typeface="Arial"/>
              </a:rPr>
              <a:t>Классификация с аудитом — почему в прошлый раз результат был другим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966459"/>
            <a:ext cx="182880" cy="297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5966459"/>
            <a:ext cx="4924044" cy="297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 i="0">
                <a:solidFill>
                  <a:srgbClr val="21295C"/>
                </a:solidFill>
                <a:latin typeface="Arial"/>
              </a:rPr>
              <a:t>Тестирование ПО — нужен детерминированный оракул для сравнения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5059" y="5047488"/>
            <a:ext cx="5490972" cy="1399032"/>
          </a:xfrm>
          <a:prstGeom prst="roundRect">
            <a:avLst>
              <a:gd name="adj" fmla="val 2178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lert-triangle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7940" y="5230368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761988" y="5202936"/>
            <a:ext cx="47411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Оговорка про T=0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7940" y="5669279"/>
            <a:ext cx="182880" cy="297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79107" y="5669279"/>
            <a:ext cx="4924044" cy="297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 i="0">
                <a:solidFill>
                  <a:srgbClr val="21295C"/>
                </a:solidFill>
                <a:latin typeface="Arial"/>
              </a:rPr>
              <a:t>Даже T=0 не даёт стопроцентной побитовой детерминированности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5966459"/>
            <a:ext cx="182880" cy="297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9107" y="5966459"/>
            <a:ext cx="4924044" cy="297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 i="0">
                <a:solidFill>
                  <a:srgbClr val="21295C"/>
                </a:solidFill>
                <a:latin typeface="Arial"/>
              </a:rPr>
              <a:t>T=0 — инженерное приближение, не абсолютная гарантия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5 · МОСТИК К ЛЕКЦИИ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Сегодня — три механизма поодиночке. Дальше — модель выходит за пределы цикла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183112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10634472" cy="1645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Сегодня мы натренировали три механизма внутри модели поодиночке: эмбеддинги — для поиска смысла, внимание — для фокуса, сэмплинг — для выбора токена. На Лекции 3 модель выходит за пределы этого замкнутого цикла — ищет во внешней базе знаний, вызывает инструменты, действует в цикле агента.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297679"/>
            <a:ext cx="2631186" cy="21488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arch-028090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9913" y="4526279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5943600"/>
            <a:ext cx="244830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3561" y="4297679"/>
            <a:ext cx="2631186" cy="21488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uzzle-028090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0554" y="4526279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45001" y="5943600"/>
            <a:ext cx="244830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Function calling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3" y="4297679"/>
            <a:ext cx="2631186" cy="21488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etwork-028090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1196" y="4526279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95643" y="5943600"/>
            <a:ext cx="244830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4846" y="4297679"/>
            <a:ext cx="2631186" cy="21488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tate-ccw-028090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1839" y="4526279"/>
            <a:ext cx="457200" cy="457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6286" y="5943600"/>
            <a:ext cx="244830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Agent loop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РАЗДЕЛ 6 · ПАМЯТКА НА ВЫНОС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Три механизма внутри модели — что помнить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569208" cy="4343400"/>
          </a:xfrm>
          <a:prstGeom prst="roundRect">
            <a:avLst>
              <a:gd name="adj" fmla="val 853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4088" y="189280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ayers-FFFFFF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93392"/>
            <a:ext cx="301752" cy="3017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" y="2514600"/>
            <a:ext cx="31668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Эмбеддинги = близость по смыслу, не по буквам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429000"/>
            <a:ext cx="182880" cy="801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429000"/>
            <a:ext cx="2947416" cy="801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6B7685"/>
                </a:solidFill>
                <a:latin typeface="Arial"/>
              </a:rPr>
              <a:t>Одинаковые слова могут означать разное — низкая близость несмотря на лексическое совпадение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4230624"/>
            <a:ext cx="182880" cy="801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4230624"/>
            <a:ext cx="2947416" cy="801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6B7685"/>
                </a:solidFill>
                <a:latin typeface="Arial"/>
              </a:rPr>
              <a:t>Разные слова могут означать одно и то же — высокая близость несмотря на отсутствие общих слов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5032248"/>
            <a:ext cx="182880" cy="801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5032248"/>
            <a:ext cx="2947416" cy="801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6B7685"/>
                </a:solidFill>
                <a:latin typeface="Arial"/>
              </a:rPr>
              <a:t>Полнотекстовый поиск иногда точнее семантического: точные ID, юридические цитаты, коды ошибок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09872" y="1691640"/>
            <a:ext cx="3569208" cy="4343400"/>
          </a:xfrm>
          <a:prstGeom prst="roundRect">
            <a:avLst>
              <a:gd name="adj" fmla="val 853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11040" y="189280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an-FFFFFF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1624" y="1993392"/>
            <a:ext cx="301752" cy="3017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11040" y="2514600"/>
            <a:ext cx="31668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Внимание = статистическая корреляция, не понимание причинности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1040" y="3429000"/>
            <a:ext cx="182880" cy="12024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0496" y="3429000"/>
            <a:ext cx="2947416" cy="12024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6B7685"/>
                </a:solidFill>
                <a:latin typeface="Arial"/>
              </a:rPr>
              <a:t>Модель предсказывает референт через статистику совместной встречаемости токенов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1040" y="4631436"/>
            <a:ext cx="182880" cy="12024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0496" y="4631436"/>
            <a:ext cx="2947416" cy="12024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6B7685"/>
                </a:solidFill>
                <a:latin typeface="Arial"/>
              </a:rPr>
              <a:t>Иногда однозначного ответа не существует — честный результат тогда распределение вероятностей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6824" y="1691640"/>
            <a:ext cx="3569208" cy="4343400"/>
          </a:xfrm>
          <a:prstGeom prst="roundRect">
            <a:avLst>
              <a:gd name="adj" fmla="val 853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317992" y="189280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huffle-FFFFFF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8576" y="1993392"/>
            <a:ext cx="301752" cy="3017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317992" y="2514600"/>
            <a:ext cx="31668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Сэмплинг = баланс предсказуемость ↔ разнообразие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7992" y="3429000"/>
            <a:ext cx="182880" cy="801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37448" y="3429000"/>
            <a:ext cx="2947416" cy="801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6B7685"/>
                </a:solidFill>
                <a:latin typeface="Arial"/>
              </a:rPr>
              <a:t>T=0 — для задач, где важна воспроизводимость, но без стопроцентной гарантии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7992" y="4230624"/>
            <a:ext cx="182880" cy="801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37448" y="4230624"/>
            <a:ext cx="2947416" cy="801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6B7685"/>
                </a:solidFill>
                <a:latin typeface="Arial"/>
              </a:rPr>
              <a:t>T&gt;0.7 — для задач, где ценно разнообразие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2" y="5032248"/>
            <a:ext cx="182880" cy="801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37448" y="5032248"/>
            <a:ext cx="2947416" cy="801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6B7685"/>
                </a:solidFill>
                <a:latin typeface="Arial"/>
              </a:rPr>
              <a:t>Правильная T — результат эмпирической калибровки, не константа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21792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Всё, что здесь написано, вы уже видели сегодня — рабочая версия на вынос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4517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-closing-industrial-robots-re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4360"/>
            <a:ext cx="5013655" cy="56692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65760" y="594360"/>
            <a:ext cx="5013655" cy="5669280"/>
          </a:xfrm>
          <a:prstGeom prst="rect">
            <a:avLst/>
          </a:prstGeom>
          <a:noFill/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320040"/>
            <a:ext cx="5013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ДЕЙСТВИЕ ВО ВНЕШНЕМ МИРЕ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5013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C8D2DF"/>
                </a:solidFill>
                <a:latin typeface="Arial"/>
              </a:rPr>
              <a:t>Haophuong21 · Wikimedia Commons · CC BY-SA 4.0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48095" y="1234440"/>
            <a:ext cx="5440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СПАСИБО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8095" y="1691640"/>
            <a:ext cx="54406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От механизмов внутри — к тому, что снаружи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8095" y="3566160"/>
            <a:ext cx="5440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Сегодня вы натренировали предсказание эмбеддингов, внимания и сэмплинга. На Лекции 3 — как модель выходит за пределы этого цикла и действует в мире через RAG, инструменты, MCP, цикл агента.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8095" y="5440680"/>
            <a:ext cx="3017520" cy="50292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Лекция 3  →  далее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