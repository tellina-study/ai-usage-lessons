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не с нового, а с напоминания — всё, что на этом экране, было в Лекции 3, и сегодняшнее занятие стоит ровно на одной ступени той лестницы.</a:t>
            </a:r>
          </a:p>
          <a:p/>
          <a:p>
            <a:r>
              <a:t>Лестница такая: обычный код без ИИ, один вызов модели, поиск по документам, workflow, агент, мульти-агент. Правило движения по ней было сформулировано в лекции прямо: не поднимайся без требования, которого ступень ниже не закрывает. Это то же самое, что инженерные «делай простейшее, что работает» и «не делай впрок», переведённое на язык ИИ-систем.</a:t>
            </a:r>
          </a:p>
          <a:p/>
          <a:p>
            <a:r>
              <a:t>Мы сегодня на ступени </a:t>
            </a:r>
            <a:r>
              <a:rPr b="1"/>
              <a:t>workflow</a:t>
            </a:r>
            <a:r>
              <a:t>, и будем на ней все полтора часа. Агент — одиннадцатое занятие, мульти-агент — двенадцатое.</a:t>
            </a:r>
          </a:p>
          <a:p/>
          <a:p>
            <a:r>
              <a:t>Теперь различение, которое в лекции названо одним из самых важных. </a:t>
            </a:r>
            <a:r>
              <a:rPr b="1"/>
              <a:t>Workflow</a:t>
            </a:r>
            <a:r>
              <a:t> — система, где вызовы модели и инструменты оркеструются по путям, </a:t>
            </a:r>
            <a:r>
              <a:rPr b="1"/>
              <a:t>заданным заранее, в коде</a:t>
            </a:r>
            <a:r>
              <a:t>: модель вызывается на конкретных шагах, но не решает, какие шаги и в каком порядке делать. </a:t>
            </a:r>
            <a:r>
              <a:rPr b="1"/>
              <a:t>Агент</a:t>
            </a:r>
            <a:r>
              <a:t> — система, где модель </a:t>
            </a:r>
            <a:r>
              <a:rPr b="1"/>
              <a:t>сама</a:t>
            </a:r>
            <a:r>
              <a:t> определяет свой процесс по ходу, и последовательность шагов заранее не зафиксирована.</a:t>
            </a:r>
          </a:p>
          <a:p/>
          <a:p>
            <a:r>
              <a:t>Различение операциональное: из него прямо следует критерий выбора. Задача предсказуема, последовательность шагов известна заранее, пусть даже с ветвлениями, — workflow. Последовательность принципиально зависит от промежуточных результатов, и ценность задачи оправдывает кратный рост стоимости — агент.</a:t>
            </a:r>
          </a:p>
          <a:p/>
          <a:p>
            <a:r>
              <a:t>И чтобы слово «workflow» не звучало как «примитив»: у него своя развитая палитра, пять паттернов, все пять были в лекции. Цепочка — шаги друг за другом, и между ними можно поставить проверку. Маршрут — первый шаг относит вход к классу, дальше свой путь на каждый. Параллель — независимые подзадачи сразу, результат сводится. Дирижёр и исполнители — центральный шаг делит задачу в заданных рамках. Эталон и переделка — один делает, другой оценивает, цикл до порога.</a:t>
            </a:r>
          </a:p>
          <a:p/>
          <a:p>
            <a:r>
              <a:t>Запомните эту таблицу: сегодня мы соберём </a:t>
            </a:r>
            <a:r>
              <a:rPr b="1"/>
              <a:t>цепочку</a:t>
            </a:r>
            <a:r>
              <a:t>, на следующем занятии — </a:t>
            </a:r>
            <a:r>
              <a:rPr b="1"/>
              <a:t>маршрут</a:t>
            </a:r>
            <a:r>
              <a:t>, дальше по списку. Шесть занятий дуги — это шесть строк этой таблицы и то, во что они превращаются в живом инструменте.</a:t>
            </a:r>
          </a:p>
          <a:p/>
          <a:p>
            <a:r>
              <a:t>И фраза из лекции, которую стоит повторить дословно: 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 — тоже пересказ, и тоже из Лекции 3. Он объясняет, почему дуга из шести занятий идёт снизу вверх, а не начинается с агентов, которые сейчас на слуху.</a:t>
            </a:r>
          </a:p>
          <a:p/>
          <a:p>
            <a:r>
              <a:t>Главная арифметика в одной фразе: </a:t>
            </a:r>
            <a:r>
              <a:rPr b="1"/>
              <a:t>надёжность последовательных шагов перемножается, а не усредняется.</a:t>
            </a:r>
            <a:r>
              <a:t> Если в конвейере десять шагов и сбой любого портит результат, общая надёжность примерно равна надёжности шага в десятой степени.</a:t>
            </a:r>
          </a:p>
          <a:p/>
          <a:p>
            <a:r>
              <a:t>Подставьте числа. Девяносто пять процентов на шаг — цифра, которая звучит прилично. Десять шагов: шестьдесят процентов. Девяносто процентов на шаг, тоже вроде нормально, — тридцать пять процентов на десяти шагах. Инженерная интуиция «каждый шаг почти всегда работает, значит и цепочка почти всегда работает» математически ложна, и это одна из самых дорогих ошибок отрасли.</a:t>
            </a:r>
          </a:p>
          <a:p/>
          <a:p>
            <a:r>
              <a:t>Отсюда два практических вывода, которые мы сегодня применим: цепочки держат короткими, и между шагами ставят проверки. Ровно это мы и будем делать в первом кейсе, и когда я поставлю лишний на вид узел проверки — вспомните этот экран.</a:t>
            </a:r>
          </a:p>
          <a:p/>
          <a:p>
            <a:r>
              <a:t>Дальше стоимость. Относительно обычного чата одиночный агент тратит порядка четырёх раз больше токенов, мульти-агент — порядка пятнадцати. И цитата из лекции, которая отрезвляет: мульти-агентные системы работают во многом потому, что помогают потратить достаточно токенов на задачу. Не «магия координации», а объём.</a:t>
            </a:r>
          </a:p>
          <a:p/>
          <a:p>
            <a:r>
              <a:t>И топология, цифра контринтуитивная. При одном и том же числе агентов «рой» равноправных усиливал ошибки в семнадцать целых две десятых раза, а централизованная оркестрация с одним координатором сдерживала их до четырёх целых четырёх десятых. То есть дирижёр надёжнее роя — обратное тому, что обычно предполагают.</a:t>
            </a:r>
          </a:p>
          <a:p/>
          <a:p>
            <a:r>
              <a:t>Правило из лекции, одной строкой: начинай с одного сильного. Многим задачам хватает одиночных вызовов плюс поиск по документам, а команды месяцами строили мульти-агентные схемы и потом обнаруживали, что улучшенный запрос к одному даёт то же самое.</a:t>
            </a:r>
          </a:p>
          <a:p/>
          <a:p>
            <a:r>
              <a:t>Вот поэтому мы сегодня на ступени workflow. Не потому, что агенты сложные, а потому, что это та ступень, на которой заканчивается большинство реальных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 то, в чём такие процессы собирают. Мы отобрали и разобрали пять инструментов, и классов вышло три.</a:t>
            </a:r>
          </a:p>
          <a:p/>
          <a:p>
            <a:r>
              <a:t>Первый класс по-человечески называется так: </a:t>
            </a:r>
            <a:r>
              <a:rPr b="1"/>
              <a:t>конвейеры между системами</a:t>
            </a:r>
            <a:r>
              <a:t>. Берут их, когда задача звучит «возьми оттуда, преобразуй, положи сюда и уведоми кого надо». Почта, таблицы, CRM, мессенджеры, базы. n8n, Activepieces, Make, Zapier. Это самый старый и самый массовый класс: такие инструменты существовали задолго до языковых моделей и просто получили новый тип блока.</a:t>
            </a:r>
          </a:p>
          <a:p/>
          <a:p>
            <a:r>
              <a:t>Второй — </a:t>
            </a:r>
            <a:r>
              <a:rPr b="1"/>
              <a:t>платформы для агентов</a:t>
            </a:r>
            <a:r>
              <a:t>. Берут, когда задача звучит «дай агенту инструменты и проверки и поручи ему задачу». Молодой класс, и в нём есть то, чего у первого нет: ограждения на выходе, оценка ответа, базы знаний, которые сами синхронизируются. Цена входа — ресурсы: двенадцать гигабайт памяти и выше, дома поднимается тяжело.</a:t>
            </a:r>
          </a:p>
          <a:p/>
          <a:p>
            <a:r>
              <a:t>Третий — </a:t>
            </a:r>
            <a:r>
              <a:rPr b="1"/>
              <a:t>конструкторы LLM-приложений</a:t>
            </a:r>
            <a:r>
              <a:t>. Берут, когда задача звучит «собери чат по своим документам»: цепочка вызовов, поиск, память диалога. LangFlow, Dify.</a:t>
            </a:r>
          </a:p>
          <a:p/>
          <a:p>
            <a:r>
              <a:t>Теперь два вопроса, которые на самом деле решают выбор, — и обратите внимание, что ни один из них не про ИИ. Он есть во всех трёх классах.</a:t>
            </a:r>
          </a:p>
          <a:p/>
          <a:p>
            <a:r>
              <a:t>Первый вопрос: </a:t>
            </a:r>
            <a:r>
              <a:rPr b="1"/>
              <a:t>кто запускает</a:t>
            </a:r>
            <a:r>
              <a:t>. Человек, расписание или чужая система? Если в задаче есть слова «каждое утро» или «когда придёт письмо» — третий класс отпадает сразу: расписания у него нет вовсе, запуск только снаружи, вызовом или из чата. Это одна проверка, и она отсекает целый класс.</a:t>
            </a:r>
          </a:p>
          <a:p/>
          <a:p>
            <a:r>
              <a:t>Второй: </a:t>
            </a:r>
            <a:r>
              <a:rPr b="1"/>
              <a:t>что у вас считается шагом</a:t>
            </a:r>
            <a:r>
              <a:t>. Шаг рабочего процесса — первый класс. Задача, которую решает агент, — второй. Вызов модели внутри приложения — третий.</a:t>
            </a:r>
          </a:p>
          <a:p/>
          <a:p>
            <a:r>
              <a:t>Одно замечание к устойчивости этого рынка, и я скажу его голосом, а не вынесу на экран. Flowise — был одним из двух самых известных конструкторов третьего класса, его знали все, кто смотрел в эту сторону. Тридцать первого августа этого года он закрыт: не заброшен, а официально закрыт, с объявлением, архивацией кода и названной датой конца жизни. Причина, которую назвали сами авторы: жёсткий визуальный low-code упирается в предел по сложности, а разработчики к этому моменту ушли к кодинг-агентам. Я это говорю не как курьёз: выбирая, на чём строить, учитывайте, что целый класс инструментов может закрыться.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будем смотреть, и про слова, которые дальше я начну употреблять как известные.</a:t>
            </a:r>
          </a:p>
          <a:p/>
          <a:p>
            <a:r>
              <a:t>Смотрите на снимок. </a:t>
            </a:r>
            <a:r>
              <a:rPr b="1"/>
              <a:t>Холст</a:t>
            </a:r>
            <a:r>
              <a:t> — поле, на котором процесс рисуется мышкой; вот он, занимает весь экран. Процесс здесь не текст, а схема, и это главная причина популярности таких инструментов: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шаг, вот эти прямоугольники. У каждого карточка с параметрами: щёлкнул — открылась. Добавить шаг означает поставить узел и соединить стрелкой. И обратите внимание, чего здесь нет: между правкой и проверкой нет ни сборки, ни развёртывания. Нажал «выполнить» и смотришь.</a:t>
            </a:r>
          </a:p>
          <a:p/>
          <a:p>
            <a:r>
              <a:t>Третье — </a:t>
            </a:r>
            <a:r>
              <a:rPr b="1"/>
              <a:t>учётные данные</a:t>
            </a:r>
            <a:r>
              <a:t>, и это важнее, чем кажется. Ключи и доступы живут </a:t>
            </a:r>
            <a:r>
              <a:rPr b="1"/>
              <a:t>отдельно от сценария</a:t>
            </a:r>
            <a:r>
              <a:t>: вы заводите их один раз, а узел ссылается на них по имени. Отсюда два следствия. Первое: в файле сценария ключей нет, и файл можно отдать коллеге или студенту — мы на этом построим домашнее задание. Второе: один ключ переиспользуется во всех ваших процессах, и менять его при ротации надо в одном месте, а не в двадцати.</a:t>
            </a:r>
          </a:p>
          <a:p/>
          <a:p>
            <a:r>
              <a:t>Четвёртое — </a:t>
            </a:r>
            <a:r>
              <a:rPr b="1"/>
              <a:t>готовые интеграции</a:t>
            </a:r>
            <a:r>
              <a:t>. Больше четырёхсот сервисов из коробки: почта, таблицы, мессенджеры, CRM, базы, облака, и для всего остального есть узел обычного HTTP-запроса. Это и есть главная ценность класса: «взять из Google Таблиц и положить в Телеграм» — два узла, а не два дня чтения чужой документации. Вы не пишете клиент к API, вы заполняете поля.</a:t>
            </a:r>
          </a:p>
          <a:p/>
          <a:p>
            <a:r>
              <a:t>Пятое — то, чего от такого инструмента обычно не ждут: </a:t>
            </a:r>
            <a:r>
              <a:rPr b="1"/>
              <a:t>простые интерфейсы встроены</a:t>
            </a:r>
            <a:r>
              <a:t>. Узел формы даёт настоящую веб-страницу с полями, валидацией и экраном результата — по адресу, который можно отправить человеку. То есть вы можете отдать людям рабочий вход в процесс, не поднимая ни фронтенда, ни хостинга, ни дизайна. Мы этим сегодня воспользуемся: и вход нашего процесса, и экран, на котором зал увидит результат, — это он.</a:t>
            </a:r>
          </a:p>
          <a:p/>
          <a:p>
            <a:r>
              <a:t>И шестое — </a:t>
            </a:r>
            <a:r>
              <a:rPr b="1"/>
              <a:t>прогон и журнал</a:t>
            </a:r>
            <a:r>
              <a:t>. Прогон это одно исполнение, от триггера до конца, у него свой номер. Журнал хранит их целиком: можно открыть прогон недельной давности и посмотреть, что именно пришло на вход третьего узла и что он отдал. Мы в этот журнал заглянем сегодня трижды, и дважды он покажет неприятное.</a:t>
            </a:r>
          </a:p>
          <a:p/>
          <a:p>
            <a:r>
              <a:t>Теперь зачем именно он выбран для курса. Ставится локально и бесплатно — значит, вы повторите дома, и это условие было главным. ИИ-блоки в коробке, отдельной подписки не нужно. Запускается по расписанию и по событию — то, чего нет у третьего класса с предыдущего экрана. И процесс выгружается одним файлом: этот файл вы унесёте.</a:t>
            </a:r>
          </a:p>
          <a:p/>
          <a:p>
            <a:r>
              <a:t>Честно про то, чего ждать не надо. Лицензия ядра не вполне свободная — у Activepieces в этом смысле чище, и если это для вас критерий, смотрите туда. Установка без контейнера объявлена устаревшей. И интерфейс меняется между версиями заметно: поэтому принципиальные схемы мы рисуем отдельно от снимков — схема переживёт смену версии, снимок нет.</a:t>
            </a:r>
          </a:p>
          <a:p/>
          <a:p>
            <a:r>
              <a:t>Всё. Дальше — ось занятия, и потом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что-то собирать, одна мысль, на которой держится всё занятие.</a:t>
            </a:r>
          </a:p>
          <a:p/>
          <a:p>
            <a:r>
              <a:t>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падает. Про второй вы знаете, что окажется в каждой строке результата и что произойдёт, когда он сломается.</a:t>
            </a:r>
          </a:p>
          <a:p/>
          <a:p>
            <a:r>
              <a:t>Собрать первый легко. Почти все на нём и останавливаются — не из лени, а потому что он выглядит готовым. Он работает. Его показывают руководителю, и руководитель видит, что работает.</a:t>
            </a:r>
          </a:p>
          <a:p/>
          <a:p>
            <a:r>
              <a:t>Посмотрите на таблицу. В левой колонке четыре вещи, каждую из которых вы увидите своими глазами и совершенно справедливо сочтёте успехом: заявка доехала до таблицы; клетка заполнена, и значение в ней законное; прогон зелёный, ни одной ошибки в журнале; правка на холсте стоит, никто её не откатывал.</a:t>
            </a:r>
          </a:p>
          <a:p/>
          <a:p>
            <a:r>
              <a:t>Правая колонка пустая. В ней будет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И вот зачем я прошу запомнить эту таблицу. В конце занятия мы к ней вернёмся, и вы увидите все четыре пары рядом. Если после этого вы станете спрашивать себя про любой свой процесс «он работает или за него можно ручаться» — занятие удалось, даже если вы забудете, как называется каждый блок.</a:t>
            </a:r>
          </a:p>
          <a:p/>
          <a:p>
            <a:r>
              <a:t>Вопрос занятия я задаю сейчас и прошу держать его в голове полтора часа: </a:t>
            </a:r>
            <a:r>
              <a:rPr b="1"/>
              <a:t>возьмите процесс, который у вас на работе уже работает — он работает или за него можно ручаться?</a:t>
            </a:r>
            <a:r>
              <a:t> Отвечать сейчас не надо, у вас пока нет способа проверить. К концу занятия будет четыре.</a:t>
            </a:r>
          </a:p>
          <a:p/>
          <a:p>
            <a:r>
              <a:t>Сегодняшняя задача маленькая намеренно: заявка с формы сайта должна попадать в таблицу уже разобранной. На ней все четыре различия видно целиком, за полтора часа, на живом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Форма работает, заявки приходят — и дальше их читает человек и перекладывает в таблицу руками.</a:t>
            </a:r>
          </a:p>
          <a:p/>
          <a:p>
            <a:r>
              <a:t>Это та самая ситуация, в которой автоматизацию обычно и заводят: не потому, что что-то сломалось, а потому, что работа скучная и её много. И именно поэтому её чаще всего делают наполовину.</a:t>
            </a:r>
          </a:p>
          <a:p/>
          <a:p>
            <a:r>
              <a:t>Кто этот человек и чего ему это стоит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Сцена, на которой мы проведём почти всё занятие. Она маленькая намеренно: на ней видно всё устройство целиком.</a:t>
            </a:r>
          </a:p>
          <a:p/>
          <a:p>
            <a:r>
              <a:t>Учебный центр, на сайте форма записи. Человек оставляет имя, контакт и пишет свободным текстом, что ему нужно. Форма работает третий год, заявок двадцать в день, и дальше с ними работает один человек — пусть будет Ольга, администратор.</a:t>
            </a:r>
          </a:p>
          <a:p/>
          <a:p>
            <a:r>
              <a:t>Что она делает. Открывает каждое письмо, читает, понимает, о чём оно, и переносит в таблицу: отдельно контакт, отдельно тема, отдельно срочность. Сорок минут в день.</a:t>
            </a:r>
          </a:p>
          <a:p/>
          <a:p>
            <a:r>
              <a:t>Зачем именно эти два столбца. По ним вечером раскладывают заявки: кому звонить сегодня, кому на неделе, что отдать в бухгалтерию. То есть это не украшение таблицы, а то, по чему принимают решения.</a:t>
            </a:r>
          </a:p>
          <a:p/>
          <a:p>
            <a:r>
              <a:t>И вот отсюда настоящая цена, которая считается не в минутах. Ошибка в этих двух столбцах стоит потерянной заявки: человек, записавшийся на курс, не получает звонка. Узнаём мы об этом не из журнала, а от него самого, когда он звонит и спрашивает, почему ему не перезвонили.</a:t>
            </a:r>
          </a:p>
          <a:p/>
          <a:p>
            <a:r>
              <a:t>Последнее, и оно узнаваемое: в пятницу заявок больше, а времени меньше. Появляется «потом разберу». И к двадцатому письму подряд работа делается механически — не потому, что Ольга плохая, а потому что двадцатое письмо похоже на пятое.</a:t>
            </a:r>
          </a:p>
          <a:p/>
          <a:p>
            <a:r>
              <a:t>Теперь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первый, и он не про то, сколько узлов, — он про то, </a:t>
            </a:r>
            <a:r>
              <a:rPr b="1"/>
              <a:t>что именно поставить</a:t>
            </a:r>
            <a:r>
              <a:t> между формой и таблицей.</a:t>
            </a:r>
          </a:p>
          <a:p/>
          <a:p>
            <a:r>
              <a:t>Сначала вопрос к себе, и он не риторический. У кого из вас уже есть процесс, который раскладывает входящее по категориям? Тикеты в поддержке, письма, резюме, обращения, заявки. Чем он это делает сейчас — правилами, человеком, моделью? Держите свой случай в голове, он пригодится.</a:t>
            </a:r>
          </a:p>
          <a:p/>
          <a:p>
            <a:r>
              <a:t>Теперь пять карточек. Правила по ключевым словам. Один шаг модели. Шаг модели плюс проверка значения. Шаг модели плюс проверка плюс показ результата. И пятая — оставить человеку.</a:t>
            </a:r>
          </a:p>
          <a:p/>
          <a:p>
            <a:r>
              <a:t>Выбирайте свой и формулируйте не «мне так нравится», а ответ на конкретный вопрос: </a:t>
            </a:r>
            <a:r>
              <a:rPr b="1"/>
              <a:t>выдержит ли ваш способ требование, что тема и срочность заполнены всегда и только значениями из списка.</a:t>
            </a:r>
            <a:r>
              <a:t> Не «обычно заполнены» — всегда.</a:t>
            </a:r>
          </a:p>
          <a:p/>
          <a:p>
            <a:r>
              <a:t>И сразу скажу то, что обычно говорят в конце: </a:t>
            </a:r>
            <a:r>
              <a:rPr b="1"/>
              <a:t>правильных ответов здесь больше одного.</a:t>
            </a:r>
            <a:r>
              <a:t> Все пять живут в настоящих системах, и у каждого есть область, где он лучший. Разбирать будем не «кто угадал», а что каждый способ делает и чего не делает.</a:t>
            </a:r>
          </a:p>
          <a:p/>
          <a:p>
            <a:r>
              <a:t>Пятнадцать секунд на выбор, потом по рукам.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Разбираем, и первое, что скажу: </a:t>
            </a:r>
            <a:r>
              <a:rPr b="1"/>
              <a:t>ни один из пяти не глупый, и ни один не «неправильный ответ»</a:t>
            </a:r>
            <a:r>
              <a:t>. У каждого есть область, где он лучший. Смотрите на две колонки — что способ делает и чего не делает.</a:t>
            </a:r>
          </a:p>
          <a:p/>
          <a:p>
            <a:r>
              <a:t>Правила по ключевым словам. Что делают: дают предсказуемость и стоят ноль. Одно и то же слово всегда даёт одну и ту же тему, отладка глазами, никаких сюрпризов. Чего не делают: не справляются с живым языком. «Хочу учиться», «а можно к вам», «счёт на ООО» — ни одного вашего ключевого слова. И вторая беда коварнее: список правил растёт, и однажды два правила начинают противоречить друг другу, а понять это можно только случайно.</a:t>
            </a:r>
          </a:p>
          <a:p/>
          <a:p>
            <a:r>
              <a:t>Один шаг модели. Что делает: понимает смысл. «А можно к вам» разберёт так же, как «хочу на курс», и это именно то, ради чего модель здесь. Чего не делает: не обещает формат. Она отвечает тем, чем её попросили, — текстом. В клетке окажется «запись», «обучение», «интересуется аналитикой», «Аналитика.» с большой буквы и точкой. Каждый ответ разумный, а столбец негодный.</a:t>
            </a:r>
          </a:p>
          <a:p/>
          <a:p>
            <a:r>
              <a:t>Третий — шаг модели плюс проверка значения. Что делает: значение приходит из закрытого списка, пустых клеток не бывает, и проверка детерминированная — её поведение известно заранее, в отличие от модели. Ограничение честное: список теперь живёт в двух местах и может разойтись, и появляется узел, который надо будет объяснить тому, кто придёт после вас.</a:t>
            </a:r>
          </a:p>
          <a:p/>
          <a:p>
            <a:r>
              <a:t>Четвёртый — то же плюс показ результата. Что добавляет: результат виден там же, где отправили заявку. Ограничение: ещё узел, и если смотреть на результат некому — такое бывает, — он не окупается.</a:t>
            </a:r>
          </a:p>
          <a:p/>
          <a:p>
            <a:r>
              <a:t>Пятый — оставить человеку. И это не шутка и не «плохой вариант»: человек видит контекст целиком и заметит то, чего в вашем списке нет вовсе. Цена известна: сорок минут в день и механическая работа к двадцатому письму.</a:t>
            </a:r>
          </a:p>
          <a:p/>
          <a:p>
            <a:r>
              <a:t>Теперь поворот, ради которого стоило разбирать. Первые два различаются </a:t>
            </a:r>
            <a:r>
              <a:rPr b="1"/>
              <a:t>не качеством, а характером отказа</a:t>
            </a:r>
            <a:r>
              <a:t>. Правила ломаются </a:t>
            </a:r>
            <a:r>
              <a:rPr b="1"/>
              <a:t>громко</a:t>
            </a:r>
            <a:r>
              <a:t>: слово не нашлось, клетка пустая, это видно сразу. Модель ломается </a:t>
            </a:r>
            <a:r>
              <a:rPr b="1"/>
              <a:t>тихо</a:t>
            </a:r>
            <a:r>
              <a:t>: в клетке стоит правдоподобное слово, которого нет в вашем списке, прогон зелёный, и ни одна проверка формата этого не поймает. Громкий отказ дешёвый. Тихий дорогой.</a:t>
            </a:r>
          </a:p>
          <a:p/>
          <a:p>
            <a:r>
              <a:t>И что из пяти остаётся под наше требование — заполнено всегда, только из списка. Правила не проходят: они оставляют пустую клетку. Один шаг модели не проходит: он списка не обещает. Остаются третий и четвёртый, и выбор между ними — про то, есть ли кому смотреть на результат. Пятый совершенно законен, если заявок пять в неделю; у нас двадцать в день, и в этом вся разница.</a:t>
            </a:r>
          </a:p>
          <a:p/>
          <a:p>
            <a:r>
              <a:t>Собирать будем четвёртый. Почему именно его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параметры — взгляд сверху. Это настоящий холст, не схема: так процесс выглядит у меня на экране прямо сейчас.</a:t>
            </a:r>
          </a:p>
          <a:p/>
          <a:p>
            <a:r>
              <a:t>Слева направо шесть узлов, и у каждого номер.</a:t>
            </a:r>
          </a:p>
          <a:p/>
          <a:p>
            <a:r>
              <a:t>Первый — форма. Это вход процесса: человек заполняет её на сайте, и с этого момента начинается всё остальное. Обратите внимание на значок молнии слева от него: так на холсте помечается триггер, то, с чего процесс запускается.</a:t>
            </a:r>
          </a:p>
          <a:p/>
          <a:p>
            <a:r>
              <a:t>Второй — извлечение полей. Он достаёт из свободного текста значения: тему, срочность, контакт.</a:t>
            </a:r>
          </a:p>
          <a:p/>
          <a:p>
            <a:r>
              <a:t>Третий — модель, и смотрите, где она. Не внутри второго узла, а </a:t>
            </a:r>
            <a:r>
              <a:rPr b="1"/>
              <a:t>отдельной коробкой, подвешенной под ним</a:t>
            </a:r>
            <a:r>
              <a:t>. Шаг модели в этом инструменте — всегда два узла: сам шаг и подключённая к нему модель. Запомните это: когда на одиннадцатом занятии мы соберём агента, под ним будут висеть три таких коробки — модель, память, инструменты.</a:t>
            </a:r>
          </a:p>
          <a:p/>
          <a:p>
            <a:r>
              <a:t>Четвёртый — сверка со списком. Обычный узел «задать поля», и именно он не даст появиться в таблице значению вне нашего справочника.</a:t>
            </a:r>
          </a:p>
          <a:p/>
          <a:p>
            <a:r>
              <a:t>Пятый — запись строки в таблицу. И обратите внимание, откуда он берёт значения: у четвёртого узла, то есть у сверки, а не у модели напрямую. Поэтому в таблице не бывает ни пустой темы, ни темы вне списка — между моделью и таблицей всегда стоит проверка.</a:t>
            </a:r>
          </a:p>
          <a:p/>
          <a:p>
            <a:r>
              <a:t>Шестой — экран результата. Тот же узел формы, в режиме завершения: он печатает всю дорогу в том же окне, где заявку отправили.</a:t>
            </a:r>
          </a:p>
          <a:p/>
          <a:p>
            <a:r>
              <a:t>И ещё одно, что стоит заметить на этом кадре: между узлами тянутся стрелки, и каждая — это данные, уходящие из одного в другой. Процесс читается как схема, на него можно показать пальцем коллеге, и в этом половина ценности таких инструментов.</a:t>
            </a:r>
          </a:p>
          <a:p/>
          <a:p>
            <a:r>
              <a:t>Теперь откроем два узла из шести — те, на которых держится весь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собран — теперь посмотрим, где мы находимся.</a:t>
            </a:r>
          </a:p>
          <a:p/>
          <a:p>
            <a:r>
              <a:t>Вот лестница, и она же карта наших шести занятий. Выше — сложнее процесс, и у каждой ступени справа написано, какое занятие её закрывает.</a:t>
            </a:r>
          </a:p>
          <a:p/>
          <a:p>
            <a:r>
              <a:t>Нижняя, бледная, — пройденная: хватает одного вызова модели или поиска по своим документам. Её вы знаете с Лекции 3, и, честно говоря, значительная часть задач на ней и заканчивается.</a:t>
            </a:r>
          </a:p>
          <a:p/>
          <a:p>
            <a:r>
              <a:t>Золотая — сегодняшняя. </a:t>
            </a:r>
            <a:r>
              <a:rPr b="1"/>
              <a:t>Цепочка: шаги в известном порядке, данные между ними.</a:t>
            </a:r>
            <a:r>
              <a:t> Ровно это вы сейчас и собрали: форма, извлечение, сверка, запись, экран. Порядок шагов известен заранее, модель вызывается на конкретном шаге и не решает, какие шаги делать.</a:t>
            </a:r>
          </a:p>
          <a:p/>
          <a:p>
            <a:r>
              <a:t>Дальше вверх — маршрут, это следующее занятие: путь задаёт категория входа. Потом параллель — независимые проверки одного входа. Цикл и подпроцесс — через два занятия. Агент, который сам выбирает порядок шагов, — одиннадцатое. Несколько агентов вместе и выключатель — двенадцатое.</a:t>
            </a:r>
          </a:p>
          <a:p/>
          <a:p>
            <a:r>
              <a:t>И правило движения по лестнице, из Лекции 3, дословно: </a:t>
            </a:r>
            <a:r>
              <a:rPr b="1"/>
              <a:t>не поднимайся без требования, которого ступень ниже не закрывает.</a:t>
            </a:r>
            <a:r>
              <a:t> Это то же самое, что инженерные «делай простейшее, что работает» и «не делай впрок».</a:t>
            </a:r>
          </a:p>
          <a:p/>
          <a:p>
            <a:r>
              <a:t>Почему я показываю это именно сейчас, а не в начале. В начале девять незнакомых слов не ложатся никуда. А сейчас у вас в голове шесть коробок на холсте, и когда я говорю «цепочка» — вы знаете, как она выглядит, потому что пятнадцать минут назад её собрали.</a:t>
            </a:r>
          </a:p>
          <a:p/>
          <a:p>
            <a:r>
              <a:t>К этой лестнице мы будем возвращаться каждое занятие. Если через шесть занятий вы будете держать её в голове — вы умеете выбрать схему процесса под задачу, а это и есть цель дуги.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без чего всё дальнейшее читается как магия. И сразу предупреждаю: это не общее свойство автоматизации процессов, это особенность n8n, и подавать я её буду именно так.</a:t>
            </a:r>
          </a:p>
          <a:p/>
          <a:p>
            <a:r>
              <a:t>В n8n между узлами всегда идёт список элементов. Всегда. Даже когда элемент один — это список из одного.</a:t>
            </a:r>
          </a:p>
          <a:p/>
          <a:p>
            <a:r>
              <a:t>И отсюда правило, выделенное на экране, которое объясняет половину странностей инструмента: </a:t>
            </a:r>
            <a:r>
              <a:rPr b="1"/>
              <a:t>узел выполняется по разу на каждый элемент списка</a:t>
            </a:r>
            <a:r>
              <a:t>. Не один раз на прогон. По разу на элемент.</a:t>
            </a:r>
          </a:p>
          <a:p/>
          <a:p>
            <a:r>
              <a:t>Посмотрите на схему: слева список из трёх заявок, справа один узел на холсте — и три его выполнения. Узел нарисован один, сработал трижды.</a:t>
            </a:r>
          </a:p>
          <a:p/>
          <a:p>
            <a:r>
              <a:t>И третья строка, техническая, но без неё вы будете спотыкаться на выражениях весь день. Каждый элемент — это объект с обязательной обёрткой: содержательная часть лежит в поле </a:t>
            </a:r>
            <a:r>
              <a:rPr>
                <a:latin typeface="Consolas"/>
              </a:rPr>
              <a:t>json</a:t>
            </a:r>
            <a:r>
              <a:t>, а если это файл — отдельно, в </a:t>
            </a:r>
            <a:r>
              <a:rPr>
                <a:latin typeface="Consolas"/>
              </a:rPr>
              <a:t>binary</a:t>
            </a:r>
            <a:r>
              <a:t>. Из-за этой обёртки в выражениях вы везде пишете </a:t>
            </a:r>
            <a:r>
              <a:rPr>
                <a:latin typeface="Consolas"/>
              </a:rPr>
              <a:t>$json</a:t>
            </a:r>
            <a:r>
              <a:t> точка имя поля, а не просто имя: вы спускаетесь на один уровень внутрь элемента.</a:t>
            </a:r>
          </a:p>
          <a:p/>
          <a:p>
            <a:r>
              <a:t>Что из правила следует практически — две строки в таблице перед вами, и обе вы увидите в первый же месяц работы.</a:t>
            </a:r>
          </a:p>
          <a:p/>
          <a:p>
            <a:r>
              <a:t>И последнее, что понадобится, когда захотите сработать </a:t>
            </a:r>
            <a:r>
              <a:rPr b="1"/>
              <a:t>один раз на весь список</a:t>
            </a:r>
            <a:r>
              <a:t> — скажем, отправить одно сводное письмо по всем заявкам. Для этого есть настройка на узле, «выполнить один раз»: он сработает единожды, с данными первого элемента. Лежит она в настройках узла, не в параметрах, и запомнить, где именно, стоит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Процесс, который мы собрали, работает честно: пустых клеток нет, значения из списка, прогон зелёный. За это мы ручались и ручаемся.</a:t>
            </a:r>
          </a:p>
          <a:p/>
          <a:p>
            <a:r>
              <a:t>А теперь посмотрим, за что мы </a:t>
            </a:r>
            <a:r>
              <a:rPr b="1"/>
              <a:t>не</a:t>
            </a:r>
            <a:r>
              <a:t> ручались, — и обнаружится это не в журнале и не на моём экране, а в разговоре с человеком, который звонит и спрашивает, почему ему ответили на половину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второго кейса, и она из того, что мы собрали пятнадцать минут назад.</a:t>
            </a:r>
          </a:p>
          <a:p/>
          <a:p>
            <a:r>
              <a:t>Процесс работает неделю. Ольга к нему привыкла: смотрит таблицу утром, звонит по срочным, остальное раскладывает после обеда. Жалоб нет, и это важно — всё выглядит хорошо.</a:t>
            </a:r>
          </a:p>
          <a:p/>
          <a:p>
            <a:r>
              <a:t>Вторник, двадцать минут двенадцатого. Приходит заявка: «можно перенести занятие со вторника? И подскажите, как оплатить». Две темы в одном сообщении, обе наши, обе есть в списке.</a:t>
            </a:r>
          </a:p>
          <a:p/>
          <a:p>
            <a:r>
              <a:t>В таблице появляется строка: тема «перенос занятия», срочность «не указано». Всё заполнено, значение из списка, прогон зелёный. По всем нашим обещаниям — успех, и его даже можно показать руководителю.</a:t>
            </a:r>
          </a:p>
          <a:p/>
          <a:p>
            <a:r>
              <a:t>Ольга видит тему, переносит занятие, закрывает заявку. Обратите внимание: она делает ровно то, что написано в столбце. Никакой халатности.</a:t>
            </a:r>
          </a:p>
          <a:p/>
          <a:p>
            <a:r>
              <a:t>Пятница. Человек звонит сам и спрашивает: а со счётом-то что? Про оплату не узнал никто. Её нет ни в таблице, ни в журнале, ни на экране результата — вторая тема не потерялась с ошибкой, её просто нет нигде.</a:t>
            </a:r>
          </a:p>
          <a:p/>
          <a:p>
            <a:r>
              <a:t>И вот что я прошу услышать точно. </a:t>
            </a:r>
            <a:r>
              <a:rPr b="1"/>
              <a:t>Это не ошибка процесса.</a:t>
            </a:r>
            <a:r>
              <a:t> Мы ручались, что клетка не пуста и значение из списка, — это выполнено. Что в клетке окажется всё, что было в заявке, мы не обещали никогда.</a:t>
            </a:r>
          </a:p>
          <a:p/>
          <a:p>
            <a:r>
              <a:t>Беда в другом: граница наших обещаний обнаружилась не на разборе и не в журнале, а в разговоре с клиентом. И ни один сторож сработать не мог — формально всё в порядке.</a:t>
            </a:r>
          </a:p>
          <a:p/>
          <a:p>
            <a:r>
              <a:t>Теперь вопрос: что с этим делать.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второй. Техническая часть здесь нулевая: все четыре варианта собираются одинаково легко, минут за пять. Выбор чисто содержательный, и поэтому он интереснее первого.</a:t>
            </a:r>
          </a:p>
          <a:p/>
          <a:p>
            <a:r>
              <a:t>Заявка перед вами целиком, читаю: «можно перенести занятие со вторника? И подскажите, как оплатить». В списке есть обе темы — и перенос, и оплата. А клетка в таблице одна.</a:t>
            </a:r>
          </a:p>
          <a:p/>
          <a:p>
            <a:r>
              <a:t>Сначала вопрос к себе. У вас в системе одна запись может относиться сразу к нескольким категориям? Тикет про две проблемы, письмо про три вопроса, резюме на две вакансии. Как это решено у вас — и, главное, </a:t>
            </a:r>
            <a:r>
              <a:rPr b="1"/>
              <a:t>решал ли это кто-то специально</a:t>
            </a:r>
            <a:r>
              <a:t> или оно сложилось само?</a:t>
            </a:r>
          </a:p>
          <a:p/>
          <a:p>
            <a:r>
              <a:t>Четыре карточки. Писать первую из найденных. Писать «другое». Делать две строки вместо одной. Писать главную и рядом пометку.</a:t>
            </a:r>
          </a:p>
          <a:p/>
          <a:p>
            <a:r>
              <a:t>Выбирайте. И думайте не про то, что красивее на схеме, а про Ольгу, которая завтра утром работает с этой таблицей: что она должна увидеть, чтобы не упустить вопрос про оплату.</a:t>
            </a:r>
          </a:p>
          <a:p/>
          <a:p>
            <a:r>
              <a:t>Как и в прошлый раз: </a:t>
            </a:r>
            <a:r>
              <a:rPr b="1"/>
              <a:t>правильных ответов здесь больше одного</a:t>
            </a:r>
            <a:r>
              <a:t>, все четыре живут в настоящих системах. Разбирать будем не «кто угадал», а кто чем платит.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Разбираем. И сразу скажу главное: все четыре способа встречаются в настоящих системах, ни один не ошибка. Смотрите на средний и правый столбцы — что способ делает и чего не делает.</a:t>
            </a:r>
          </a:p>
          <a:p/>
          <a:p>
            <a:r>
              <a:t>Первый, писать первую из найденных. Что делает: не стоит ни минуты работы, в процессе ничего не меняется. Чего не делает: вторая тема не остаётся </a:t>
            </a:r>
            <a:r>
              <a:rPr b="1"/>
              <a:t>нигде</a:t>
            </a:r>
            <a:r>
              <a:t> — ни в таблице, ни в журнале, ни на экране результата. Через три дня о ней напомнит человек, и это ровно то, что мы только что видели на сцене.</a:t>
            </a:r>
          </a:p>
          <a:p/>
          <a:p>
            <a:r>
              <a:t>Второй, писать «другое». Что делает: честно сообщает, что автоматика не справилась, и это </a:t>
            </a:r>
            <a:r>
              <a:rPr b="1"/>
              <a:t>видно по столбцу</a:t>
            </a:r>
            <a:r>
              <a:t> — заявка ждёт человека, и Ольга это заметит. Чего не делает: не отличает многотемье от настоящей экзотики. В «другое» начинает валиться всё, столбец разрастается, и уже непонятно, что именно непонятно.</a:t>
            </a:r>
          </a:p>
          <a:p/>
          <a:p>
            <a:r>
              <a:t>Третий, две строки из одной заявки. Что делает: каждая тема получает свой маршрут и своего ответственного, каждая закрывается независимо. Это, честно говоря, самый взрослый ответ. Чего не делает: не решает за вас, кто закрывает заявку и что считать выполненной — одна заявка стала двумя судьбами. И технически это другой приём: как из одного входа сделать несколько записей, разбираем на девятом занятии.</a:t>
            </a:r>
          </a:p>
          <a:p/>
          <a:p>
            <a:r>
              <a:t>Четвёртый, главная тема плюс пометка. Что делает: в таблице остаётся главное, остальное рядом одной клеткой, и сортировка по теме не ломается. Чего не делает: не заставляет никого эту пометку читать. Столбец, в который никто не смотрит, работает ровно как первый способ — только с записью, которую тоже никто не читает.</a:t>
            </a:r>
          </a:p>
          <a:p/>
          <a:p>
            <a:r>
              <a:t>Теперь поворот. Первый и второй различаются </a:t>
            </a:r>
            <a:r>
              <a:rPr b="1"/>
              <a:t>не точностью</a:t>
            </a:r>
            <a:r>
              <a:t>. Они различаются знанием о своём незнании. Первый уверен и неправ. Второй не знает — и говорит об этом вслух, прямо в столбце. Второе дороже при разработке: надо предусмотреть значение, место для разбора и человека. И дешевле в эксплуатации, потому что неверный ответ по виду не отличается от верного, а «другое» отличается сразу.</a:t>
            </a:r>
          </a:p>
          <a:p/>
          <a:p>
            <a:r>
              <a:t>Что берём под нашу задачу. Третий отложим до девятого занятия — он требует решения, кто закрывает заявку, а это разговор не на пять минут. Второй годится, если очередь «другого» кто-то разбирает. Берём четвёртый: главная плюс пометка. Причина простая и неакадемическая — сортировка по теме у Ольги уже работает, и ломать её мы не имеем права.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Снова взгляд сверху, и это сознательно тот же кадр — чтобы было видно: процесс мы не пересобираем.</a:t>
            </a:r>
          </a:p>
          <a:p/>
          <a:p>
            <a:r>
              <a:t>Золотым отмечены два узла, и только они меняются.</a:t>
            </a:r>
          </a:p>
          <a:p/>
          <a:p>
            <a:r>
              <a:t>Второй, извлечение. В его схеме появляется ещё одно поле — «ещё в заявке»: остальные темы из того же списка, если их в тексте несколько.</a:t>
            </a:r>
          </a:p>
          <a:p/>
          <a:p>
            <a:r>
              <a:t>Четвёртый, сверка со списком. Она получает ещё один столбец и проверяет его тем же справочником — то есть в пометку тоже не может попасть значение со стороны.</a:t>
            </a:r>
          </a:p>
          <a:p/>
          <a:p>
            <a:r>
              <a:t>Форма не трогается. Модель не трогается. Запись строки и экран результата — как были.</a:t>
            </a:r>
          </a:p>
          <a:p/>
          <a:p>
            <a:r>
              <a:t>Это важно не как техническая деталь, а как привычка: когда задача меняется, первым делом стоит спросить, </a:t>
            </a:r>
            <a:r>
              <a:rPr b="1"/>
              <a:t>сколько узлов из существующих придётся тронуть</a:t>
            </a:r>
            <a:r>
              <a:t>. Если ответ «почти все» — скорее всего, вы собираете второй процесс под видом правки первого, и честнее это признать.</a:t>
            </a:r>
          </a:p>
          <a:p/>
          <a:p>
            <a:r>
              <a:t>У нас ответ — два из шести. Открываем первый.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два узла из шести. В схеме извлечения появляется ещё одно поле — «ещё в заявке», список тем кроме главной. И в сверке со списком появляется ещё один столбец, который проходит ту же проверку, что тема. Форму, модель, запись и экран не трогаем вовсе.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четыре заявки подряд — те самые,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И четвёртая,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второго кейса, и он не про инструмент вовсе — он про то, как вы делите мир на части.</a:t>
            </a:r>
          </a:p>
          <a:p/>
          <a:p>
            <a:r>
              <a:t>Законный отказ нужен, когда вход приходит снаружи и вы не можете запретить людям писать то, чего в вашем списке нет. Это почти всегда так, если на входе человек: он пишет как умеет, и про юрлица он напишет, не спросив у вас разрешения.</a:t>
            </a:r>
          </a:p>
          <a:p/>
          <a:p>
            <a:r>
              <a:t>Не нужен, когда вход вы формируете сами. Выпадающий список в форме, фиксированный набор событий от системы — тогда непредусмотренного не будет по построению, и «другое» в нём лишнее.</a:t>
            </a:r>
          </a:p>
          <a:p/>
          <a:p>
            <a:r>
              <a:t>Вторая строка про многозначность. Если одна запись может относиться к нескольким категориям сразу и вы это уже видели — отказ нужен, и с ним надо решить, что делать с остатком. Если категории заведомо исключают друг друга — состояние заказа, тип документа — не усложняйте.</a:t>
            </a:r>
          </a:p>
          <a:p/>
          <a:p>
            <a:r>
              <a:t>Третья строка самая важная и самая пропускаемая. Отказ нужен, когда </a:t>
            </a:r>
            <a:r>
              <a:rPr b="1"/>
              <a:t>есть человек, которому поручено разбирать отложенное</a:t>
            </a:r>
            <a:r>
              <a:t>. Если разбирать некому — «другое» станет кладбищем, и честнее этого не делать: не строить процесс, который делает вид, что работает.</a:t>
            </a:r>
          </a:p>
          <a:p/>
          <a:p>
            <a:r>
              <a:t>Четвёртая — про цену. Если неверный ответ дороже задержки, воздерживаться правильно. Если задержка дороже ошибки — а бывает и так, например в поддержке, где ответить приблизительно сразу лучше, чем точно через сутки, — тогда пусть решает приблизительно.</a:t>
            </a:r>
          </a:p>
          <a:p/>
          <a:p>
            <a:r>
              <a:t>Предел называю прямо: </a:t>
            </a:r>
            <a:r>
              <a:rPr b="1"/>
              <a:t>очередь без владельца</a:t>
            </a:r>
            <a:r>
              <a:t>. «Другое» работает, пока есть человек, который в неё смотрит, и метрика, по которой видно её рост. Очередь, в которую никто не заглядывает, ничем не лучше молча потерянной заявки — разница только в том, что в ней есть запись, которую тоже никто не читает.</a:t>
            </a:r>
          </a:p>
          <a:p/>
          <a:p>
            <a:r>
              <a:t>И вторая строка оси. Клетка заполнена, значение законное — выглядит успехом, и его даже можно показать руководителю. Чем оказалось: вторая тема заявки исчезла молча. Мы это видели на экране своими глазами: отправили заявку про перенос и оплату, получили одну тему. Ни один сторож этого не поймает, потому что формально всё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 Или, точнее, с того, чего в ней не видно.</a:t>
            </a:r>
          </a:p>
          <a:p/>
          <a:p>
            <a:r>
              <a:t>Процесс работает неделю, к нему привыкли, заглядывают по делу. И в одно утро в таблице обнаруживается дырка — не ошибка, не сбой, а именно пропуск.</a:t>
            </a:r>
          </a:p>
          <a:p/>
          <a:p>
            <a:r>
              <a:t>Что это за утро и чего мы про него не знаем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третьего кейса. Процесс работает три недели, Ольга к нему привыкла, в пятницу вечером всё было как обычно.</a:t>
            </a:r>
          </a:p>
          <a:p/>
          <a:p>
            <a:r>
              <a:t>Понедельник, девять утра. Ольга открывает таблицу — не проверять процесс, а просто посмотреть вчерашние заявки, по другому делу.</a:t>
            </a:r>
          </a:p>
          <a:p/>
          <a:p>
            <a:r>
              <a:t>И видит: строки за пятницу есть, строки за понедельник есть, а за субботу и воскресенье — ни одной.</a:t>
            </a:r>
          </a:p>
          <a:p/>
          <a:p>
            <a:r>
              <a:t>Теперь смотрите на то, чего в этой сцене </a:t>
            </a:r>
            <a:r>
              <a:rPr b="1"/>
              <a:t>нет</a:t>
            </a:r>
            <a:r>
              <a:t>, — это важнее того, что есть.</a:t>
            </a:r>
          </a:p>
          <a:p/>
          <a:p>
            <a:r>
              <a:t>Сколько заявок пришло за выходные? По журналу формы на сайте — приходили. Сколько именно и каких, надо идти смотреть, и это отдельная работа.</a:t>
            </a:r>
          </a:p>
          <a:p/>
          <a:p>
            <a:r>
              <a:t>Почему не узнали раньше? Письма об ошибке никто не получал. И вот тонкость, которую стоит проговорить вслух: </a:t>
            </a:r>
            <a:r>
              <a:rPr b="1"/>
              <a:t>отсутствие письма ничего не значит</a:t>
            </a:r>
            <a:r>
              <a:t>. Мы не получили сигнал не потому, что всё было хорошо, а потому, что кому его отправлять, никто не настраивал.</a:t>
            </a:r>
          </a:p>
          <a:p/>
          <a:p>
            <a:r>
              <a:t>Что процесс делал эти два дня? Он был опубликован и включён. Падал на каждой заявке? На части? Писал куда-то не туда? Неизвестно. Журнал прогонов посмотреть можно, и мы посмотрим, но на этот момент — неизвестно.</a:t>
            </a:r>
          </a:p>
          <a:p/>
          <a:p>
            <a:r>
              <a:t>И главное свойство этого класса сбоев, ради которого сцена и нужна: </a:t>
            </a:r>
            <a:r>
              <a:rPr b="1"/>
              <a:t>ни один сторож не сработал, и сработать не мог</a:t>
            </a:r>
            <a:r>
              <a:t>. Сторожа срабатывают на ошибки. Здесь ошибок нет — здесь нет записей. На отсутствие чего-то сработать нечем.</a:t>
            </a:r>
          </a:p>
          <a:p/>
          <a:p>
            <a:r>
              <a:t>А заметили случайно. Ольга зашла в таблицу по другому поводу. Сколько бы это продолжалось, не зайди она, — тоже неизвестно.</a:t>
            </a:r>
          </a:p>
          <a:p/>
          <a:p>
            <a:r>
              <a:t>Причина, кстати, выяснится скучная. Интересно не она, а что процесс должен был сделать вместо того, что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 Все четыре варианта, которые вы выбирали, — не абстракции.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Взгляд сверху на то, что получилось после правки, — и здесь он нужнее, чем в прошлых кейсах, потому что форма процесса изменилась.</a:t>
            </a:r>
          </a:p>
          <a:p/>
          <a:p>
            <a:r>
              <a:t>Метка один — на узле извлечения. Присмотритесь к самому узлу: в правом верхнем углу появился маленький значок, две стрелки по кругу. Это повтор. И вот что в нём интересно помимо смысла: </a:t>
            </a:r>
            <a:r>
              <a:rPr b="1"/>
              <a:t>это одна из немногих настроек, которую видно снаружи</a:t>
            </a:r>
            <a:r>
              <a:t>, не открывая карточку. Большинство настроек так не увидишь — узел выглядит обычным, а внутри у него может стоять что угодно. Отсюда простое правило: если вы разбираетесь в чужом процессе, значки на узлах — первое, что стоит прочитать.</a:t>
            </a:r>
          </a:p>
          <a:p/>
          <a:p>
            <a:r>
              <a:t>Метка два — второй выход узла, подписан </a:t>
            </a:r>
            <a:r>
              <a:rPr>
                <a:latin typeface="Consolas"/>
              </a:rPr>
              <a:t>Error</a:t>
            </a:r>
            <a:r>
              <a:t>. Был один выход, стало два. Это и есть то, что мы настроили: элемент, на котором вызов не удался, уходит не дальше по общей дороге, а в свою.</a:t>
            </a:r>
          </a:p>
          <a:p/>
          <a:p>
            <a:r>
              <a:t>Метка три — сама ветка отказа. И обратите внимание, куда она ведёт: не в тупик и не в никуда, а в ту же таблицу, только со своей пометкой, и дальше в свой экран результата.</a:t>
            </a:r>
          </a:p>
          <a:p/>
          <a:p>
            <a:r>
              <a:t>Почему в ту же таблицу, а не в отдельное место: потому что Ольга смотрит одну таблицу. Если неудачные заявки лежат в другой, она туда не пойдёт, пока не заподозрит, что надо. А чем это кончается, мы только что видели на сцене — двое суток пропуска.</a:t>
            </a:r>
          </a:p>
          <a:p/>
          <a:p>
            <a:r>
              <a:t>Теперь открываем вкладку настроек и смотрим, какими двумя параметрами это сделано.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Процесс уже собран, работает и проверен.</a:t>
            </a:r>
          </a:p>
          <a:p/>
          <a:p>
            <a:r>
              <a:t>Здесь мы разберём другое: почему собранное работает не так, как выглядит, — и почему проверка, которой мы пользовались весь последний час, этого не показывает.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четвёртого кейса, и это единственный кейс, где мы ничего не будем достраивать: здесь мы разберём, почему уже собранное работает не так, как выглядит.</a:t>
            </a:r>
          </a:p>
          <a:p/>
          <a:p>
            <a:r>
              <a:t>И здесь у истории есть лицо, та же администратор. Она говорит: тема определяется слишком общо — «курс» стоит там, где речь про конкретную программу, и заявки уходят не тому человеку.</a:t>
            </a:r>
          </a:p>
          <a:p/>
          <a:p>
            <a:r>
              <a:t>Вы поправили формулировку запроса в узле извлечения. В карточке стоит новый текст, никто его не откатывал.</a:t>
            </a:r>
          </a:p>
          <a:p/>
          <a:p>
            <a:r>
              <a:t>Проверили ручным запуском на трёх её заявках, при ней. Все три разобраны правильно, именно так, как она просила. Закрыли и пошли дальше — и, обратите внимание, сделали всё, что обычно считается достаточным, и даже показали человеку результат.</a:t>
            </a:r>
          </a:p>
          <a:p/>
          <a:p>
            <a:r>
              <a:t>На следующий день она открывает таблицу за сутки. Все заявки разобраны по-старому. Ни одной по новой формулировке — и она приходит с этим к вам.</a:t>
            </a:r>
          </a:p>
          <a:p/>
          <a:p>
            <a:r>
              <a:t>Вы открываете холст: правка на месте. Запускаете руками: снова правильно. И объяснить ей это нечем.</a:t>
            </a:r>
          </a:p>
          <a:p/>
          <a:p>
            <a:r>
              <a:t>Вот эти два утверждения и держат кейс: </a:t>
            </a:r>
            <a:r>
              <a:rPr b="1"/>
              <a:t>правка есть и работает</a:t>
            </a:r>
            <a:r>
              <a:t> — и </a:t>
            </a:r>
            <a:r>
              <a:rPr b="1"/>
              <a:t>в бою её нет</a:t>
            </a:r>
            <a:r>
              <a:t>. Оба верны одновременно, и это не чья-то забывчивость и не чья-то ошибка.</a:t>
            </a:r>
          </a:p>
          <a:p/>
          <a:p>
            <a:r>
              <a:t>И самое неприятное в этой сцене: проверка руками показывала правильный результат всё это время, и показывала </a:t>
            </a:r>
            <a:r>
              <a:rPr b="1"/>
              <a:t>честно</a:t>
            </a:r>
            <a:r>
              <a:t>. Она не врала. Она просто проверяла не то, что работало в бою.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Выбирайте и формулируйте довод. В разборе будет неожиданное — про то, сколько здесь правильных ответов.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отличается от трёх предыдущих: в нём ничего не надо собирать, и предмет его — не узел, а состояние сценария.</a:t>
            </a:r>
          </a:p>
          <a:p/>
          <a:p>
            <a:r>
              <a:t>Смотрите в правый верхний угол редактора. Там написано </a:t>
            </a:r>
            <a:r>
              <a:rPr>
                <a:latin typeface="Consolas"/>
              </a:rPr>
              <a:t>Published</a:t>
            </a:r>
            <a:r>
              <a:t>. Всё это занятие оно там и было, и, подозреваю, никто из вас на него не смотрел — я тоже не смотрю, когда работаю.</a:t>
            </a:r>
          </a:p>
          <a:p/>
          <a:p>
            <a:r>
              <a:t>Что оно означает. У сценария есть две версии одновременно. Та, что открыта у вас в редакторе, — черновик: он сохраняется сам, постоянно, кнопки «Сохранить» в этом инструменте нет вовсе. И опубликованная — та, по которой идут боевые прогоны.</a:t>
            </a:r>
          </a:p>
          <a:p/>
          <a:p>
            <a:r>
              <a:t>Рядом со значком есть стрелка вниз. Под ней и живёт действие, которым правка уходит в бой. Одно действие, которое надо не забыть сделать.</a:t>
            </a:r>
          </a:p>
          <a:p/>
          <a:p>
            <a:r>
              <a:t>Вот и весь ответ на вопрос, с которого кейс начался: правка на холсте есть, в бою её нет, и оба утверждения верны. Между ними — этот значок и эта стрелка.</a:t>
            </a:r>
          </a:p>
          <a:p/>
          <a:p>
            <a:r>
              <a:t>Дальше разберём, что из четырёх карточек это объясняет,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сразу то, что я придержал: </a:t>
            </a:r>
            <a:r>
              <a:rPr b="1"/>
              <a:t>правильных карточек здесь две</a:t>
            </a:r>
            <a:r>
              <a:t> — не потому, что я схитрил с формулировками, а потому что две из четырёх описывают одно явление с разных сторон. Сначала механика, в ней три утверждения, и из неё обе станут видны.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главный вопрос, тот же, что я задавал в начале, и теперь он не риторический. </a:t>
            </a:r>
            <a:r>
              <a:rPr b="1"/>
              <a:t>Возьмите процесс, который у вас на работе уже работает. Он работает — или за него можно ручаться?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видели: «а вы сотрудничаете с юрлицами?» дала законное «другое», и это была победа списка. А на развилке её придётся куда-то отправить — и «другое» само по себе не говорит, в какую ветку. У инструмента на этот случай есть ответ по умолчанию, и он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лестница и пять паттернов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9329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7345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обычный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код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один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вызов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RAG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workflow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← сегодня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агент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мульти-агент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лестницы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поднимайся без требования, которого ступень ниже не закрывает.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39936"/>
            <a:ext cx="11183112" cy="3468750"/>
          </a:xfrm>
          <a:prstGeom prst="roundRect">
            <a:avLst>
              <a:gd name="adj" fmla="val 8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22816"/>
            <a:ext cx="1296657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ПАТТЕРН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8761" y="2822816"/>
            <a:ext cx="56524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7519" y="2822816"/>
            <a:ext cx="342932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77222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цепочка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8761" y="3277222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шаги друг за другом, выход одного — вход следующего; между ними можно поставить проверку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519" y="3277222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заявку → проверить → записать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8069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806939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маршрут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8761" y="3806939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относит вход к классу, дальше свой путь на каждый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519" y="3806939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жалоба → в поддержку, счёт → в бухгалтерию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366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36656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параллель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8761" y="4336656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независимые подзадачи сразу, результат сводится детерминированно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519" y="4336656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проверки документа одновременно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8663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66373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дирижёр и исполнители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8761" y="4866373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центральный шаг делит задачу на части в заданных рамках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519" y="4866373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разбить длинный текст и раздать по частям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3960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396090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эталон и переделка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8761" y="5396090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 шаг делает, другой оценивает, цикл до порога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519" y="5396090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черновик → оценка → правка → снова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почему не сразу агенты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0198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13078"/>
            <a:ext cx="23331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СЧИТАЕМ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5207" y="1513078"/>
            <a:ext cx="28463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ЧИСЛО ИЗ ЛЕКЦИИ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7817" y="1513078"/>
            <a:ext cx="51990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95145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десять шагов по 95% каждый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5207" y="1795145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60%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общей надёжности (0,95¹⁰)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7817" y="1795145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интуиция «каждый шаг почти всегда работает, значит и цепочка почти всегда» — ложна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24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324862"/>
            <a:ext cx="233310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десять шагов по 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5207" y="2324862"/>
            <a:ext cx="28463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7817" y="2324862"/>
            <a:ext cx="51990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цепочки держат короткими, между шагами ставят проверки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720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72016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 токенов против обычного чата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5207" y="2672016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одиночный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4×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мульти-агент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15×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7817" y="2672016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мульти-агент покупает качество, сжигая токены, а не «умной координацией»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017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01733"/>
            <a:ext cx="23331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топология при том же числе агентов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5207" y="3201733"/>
            <a:ext cx="28463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«рой» равноправных усиливает ошибки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17,2×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один координатор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4,4×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7817" y="3201733"/>
            <a:ext cx="519903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централизованная оркестрация надёжнее роя, а не наоборот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6440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89242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начинай с одного сильного.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Многим задачам хватает одиночных вызовов плюс поиск по документам; команды месяцами строили мульти-агентные схемы и затем обнаруживали, что улучшенный запрос к одному даёт то же.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класса инструментов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65402"/>
            <a:ext cx="11183112" cy="2602102"/>
          </a:xfrm>
          <a:prstGeom prst="roundRect">
            <a:avLst>
              <a:gd name="adj" fmla="val 117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48282"/>
            <a:ext cx="15373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КЛАСС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9445" y="1548282"/>
            <a:ext cx="4149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ДЛЯ ЧЕГО БЕРУТ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4755" y="1548282"/>
            <a:ext cx="28263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МОЖЕТ ЗАПУСТИТЬ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7395" y="1548282"/>
            <a:ext cx="17194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В КЛАССЕ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30349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Конвейеры между системами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9445" y="1830349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«возьми оттуда, преобразуй, положи сюда, уведоми» — почта, таблицы, CRM, мессенджеры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4755" y="1830349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расписание · событие в чужой системе · человек через форму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7395" y="1830349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n8n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Activepieces · Make · Zapier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426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42628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Платформы для агентов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9445" y="2542628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«дай агенту инструменты и проверки и поручи задачу»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4755" y="2542628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плюс диалог с агентом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395" y="2542628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sim · Agent Builder у крупных поставщиков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549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54908"/>
            <a:ext cx="15373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Конструкторы LLM-приложений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9445" y="3254908"/>
            <a:ext cx="41490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«собери чат по своим документам» — цепочка, поиск, память диалога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4755" y="3254908"/>
            <a:ext cx="28263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только снаружи: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вызов или чат. Расписания 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7395" y="3254908"/>
            <a:ext cx="17194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LangFlow · Dify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3501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76303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Два вопроса, которые решают выбор.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Первый: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кто запускает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человек, расписание или чужая система? Если расписание, третий класс отпадает сразу. Второй: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что у вас шаг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шаг рабочего процесса, задача агента или вызов модели внутри приложения?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n8n: зачем он здесь и как устроен</a:t>
            </a:r>
          </a:p>
        </p:txBody>
      </p:sp>
      <p:pic>
        <p:nvPicPr>
          <p:cNvPr id="3" name="Picture 2" descr="n8n-holst-st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664" y="943356"/>
            <a:ext cx="8863623" cy="283492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42872"/>
            <a:ext cx="11183112" cy="1586674"/>
          </a:xfrm>
          <a:prstGeom prst="roundRect">
            <a:avLst>
              <a:gd name="adj" fmla="val 192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125752"/>
            <a:ext cx="375640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УСТРОЕН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8509" y="4125752"/>
            <a:ext cx="676833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ЭТО ЗНАЧИТ НА ПРАКТИКЕ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92833"/>
            <a:ext cx="375640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учётные данные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живут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отдельно от сценария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8509" y="4392833"/>
            <a:ext cx="676833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 файле сценария ключей нет — его можно отдать коллеге; один ключ на все процессы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7107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710777"/>
            <a:ext cx="375640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более 400 интеграций из коробки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8509" y="4710777"/>
            <a:ext cx="676833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«взять из Таблиц и положить в Телеграм» — два узла, а не два дня с чужими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287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28722"/>
            <a:ext cx="375640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форма и чат встроены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509" y="5028722"/>
            <a:ext cx="676833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рабочий вход для людей без фронтенда и хостинга — мы им сегодня и пользуемся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694138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822154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Почему он: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ставится локально и бесплатно · запуск по расписанию и по событию · процесс выгружается одним файлом, и его вы унесёте.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Работает — и можно ручаться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683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97699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работает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он доезжает до конца и не падает.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процесс можно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ручаться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вы знаете, что в нём будет в каждой строке — и что будет, когда он сломается.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2117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04052"/>
            <a:ext cx="6625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7567" y="2404052"/>
            <a:ext cx="3899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6119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75855" y="2759271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85800" y="30332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33274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5855" y="3106426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33804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380428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5855" y="3453580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5800" y="37275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727583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5855" y="3800735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44880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6160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Четыре строки. Левая колонка — то, что вы увидите своими глазами и сочтёте успехом. Правую мы заполним сами, по одной за кейс, и вернёмся к этой таблице в конце.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46519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59321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Вопрос занятия, и к нему мы вернёмся в конце: возьмите процесс, который у вас на работе уже работает — он работает или за него можно ручаться?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Двадцать заявок в день, сорок минут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962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6763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Учебный центр, на сайте форма записи: имя, контакт и свободный текст «что нужно». Форма работает третий год, заявок двадцать в день. Дальше с ними работает один человек — администратор Ольга.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1639"/>
            <a:ext cx="11183112" cy="2367153"/>
          </a:xfrm>
          <a:prstGeom prst="roundRect">
            <a:avLst>
              <a:gd name="adj" fmla="val 1287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41109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41109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Человек пишет своими словами: «хочу на курс по аналитике, перезвоните сегодня после шести», «можно перенести занятие со вторника», «выставьте счёт на организацию».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94373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94373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открывает каждое письмо, читает, понимает, о чём оно, и переносит в таблицу — отдельно контакт, отдельно тема, отдельно срочность.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47637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47637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 этим двум столбцам вечером раскладывают заявки: кому звонить сегодня, кому на неделе, что отдать в бухгалтерию.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009008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00900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пятницу заявок больше, а времени меньше. Появляется «потом разберу» — и что-то не разбирается.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6404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9206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Сорок минут в день — меньшая часть цены. Большая в том, что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ошибка в этих двух столбцах стоит не минуты, а потерянной заявки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человек, записавшийся на курс, не получает звонка, и узнаём мы об этом от него. К двадцатому письму подряд работа делается механически — не потому, что Ольга плохая, а потому что двадцатое похоже на пятое.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поставить между формой и таблицей?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407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61208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Вопрос к себе: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кого из вас уже есть процесс, который раскладывает входящее по категориям — тикеты, письма, резюме, обращения? Чем он это делает сейчас?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7454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102559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скажите, выдержит ли он требование «заполнено всегда и только значениями из списка».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правила по ключевым словам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шаг модели + проверка значения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шаг модели + проверка + показ результата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465015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465015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человеку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814447"/>
          </a:xfrm>
          <a:prstGeom prst="roundRect">
            <a:avLst>
              <a:gd name="adj" fmla="val 108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56489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998" y="1126236"/>
            <a:ext cx="40580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1321" y="1126236"/>
            <a:ext cx="47555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56489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правила по словам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6998" y="1408303"/>
            <a:ext cx="405801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предсказуемы и бесплатны: одно слово — всегда одна тема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321" y="1408303"/>
            <a:ext cx="47555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ломаются на живом языке: «а можно к вам», «счёт на ООО»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088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08810"/>
            <a:ext cx="1564894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6998" y="1908810"/>
            <a:ext cx="4058019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понимает смысл, а не совпадение строк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321" y="1908810"/>
            <a:ext cx="475552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обещает формат: «запись», «обучение», «Аналитика.»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2413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241359"/>
            <a:ext cx="1564894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шаг + проверка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6998" y="2241359"/>
            <a:ext cx="4058019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значение из списка, пустых клеток не бывает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321" y="2241359"/>
            <a:ext cx="4755526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список живёт в двух местах и может разойтись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5739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573909"/>
            <a:ext cx="156489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шаг + проверка + показ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6998" y="2573909"/>
            <a:ext cx="405801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же, и результат виден там же, где отправили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321" y="2573909"/>
            <a:ext cx="47555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ещё узел; если смотреть некому — не окупается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0744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074416"/>
            <a:ext cx="156489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человеку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6998" y="3074416"/>
            <a:ext cx="405801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видит контекст целиком и заметит небывалое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321" y="3074416"/>
            <a:ext cx="47555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сорок минут в день и механическая работа к двадцатому письму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922395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050411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Первые два различаются не качеством, 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характером отказа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Правила ломаются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громко</a:t>
            </a:r>
            <a:r>
              <a:rPr sz="1350" b="1" i="0">
                <a:solidFill>
                  <a:srgbClr val="141B2E"/>
                </a:solidFill>
                <a:latin typeface="Arial"/>
              </a:rPr>
              <a:t>: не нашли слово — клетка пустая, это видно. Модель ломается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тихо</a:t>
            </a:r>
            <a:r>
              <a:rPr sz="1350" b="1" i="0">
                <a:solidFill>
                  <a:srgbClr val="141B2E"/>
                </a:solidFill>
                <a:latin typeface="Arial"/>
              </a:rPr>
              <a:t>: в клетке правдоподобное слово, которого нет в вашем списке, и ни одна проверка формата этого не поймает.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99101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127117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Что остаётся под наше требование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(«заполнено всегда, только из списка»). Правила — нет, они пустую клетку оставляют. Один шаг модели — нет, он не обещает список.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Остаются третий и четвёртый, и выбор между ними — про то, есть ли кому смотреть на результат.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Пятый законен, если заявок пять в неделю; у нас двадцать в день.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целиком</a:t>
            </a:r>
          </a:p>
        </p:txBody>
      </p:sp>
      <p:pic>
        <p:nvPicPr>
          <p:cNvPr id="3" name="Picture 2" descr="obzor-k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02" y="1051560"/>
            <a:ext cx="10331747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настоящий холст n8n, а не схема. Дальше мы откроем два узла из шести и посмотрим, что в них настроено.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настраиваем в двух несущих узлах</a:t>
            </a:r>
          </a:p>
        </p:txBody>
      </p:sp>
      <p:pic>
        <p:nvPicPr>
          <p:cNvPr id="3" name="Picture 2" descr="n8n-kartochka-izvlechen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531" y="943356"/>
            <a:ext cx="8111888" cy="291397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21927"/>
            <a:ext cx="82296" cy="78496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149943"/>
            <a:ext cx="10643616" cy="528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Extract fields — схема задана вручную: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"другое"]}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"urgency":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["сегодня",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"на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неделе",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"не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указано"]}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оба поля обязательны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71486"/>
            <a:ext cx="82296" cy="581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99502"/>
            <a:ext cx="10643616" cy="325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Vocabulary check — обычный узел «задать поля»: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$json.topic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||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'другое'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возьми тему, а если её нет, поставь «другое». То же для срочности.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17745"/>
            <a:ext cx="11183112" cy="60990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5845761"/>
            <a:ext cx="10634472" cy="353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81"/>
              </a:lnSpc>
              <a:spcAft>
                <a:spcPts val="30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050" b="1" i="0">
                <a:solidFill>
                  <a:srgbClr val="141B2E"/>
                </a:solidFill>
                <a:latin typeface="Arial"/>
              </a:rPr>
              <a:t> «Хочу на курс по аналитике, перезвоните сегодня после шести, телефон в конце». Что напечатает экран в строке «что предложила модель»?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78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69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36978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в дуге из шести занятий</a:t>
            </a:r>
          </a:p>
        </p:txBody>
      </p:sp>
      <p:pic>
        <p:nvPicPr>
          <p:cNvPr id="3" name="Picture 2" descr="lestnitsa-du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29680"/>
            <a:ext cx="11183112" cy="35413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30140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42941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 только что собрали вторую ступень снизу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цепочку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шаги в известном порядке, данные между ними. Это та самая ступень, на которой заканчивается большинство реальных задач.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данные ходят в n8n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261" y="943356"/>
            <a:ext cx="9120428" cy="22801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8805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51607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 n8n между узлами всегда идёт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список элементов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даже когда элемент один. Каждый элемент — объект с обязательной обёрткой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(и отдельной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binary</a:t>
            </a:r>
            <a:r>
              <a:rPr sz="1400" b="1" i="0">
                <a:solidFill>
                  <a:srgbClr val="141B2E"/>
                </a:solidFill>
                <a:latin typeface="Arial"/>
              </a:rPr>
              <a:t>, если это файл), поэтому в выражениях везде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679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959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87925"/>
            <a:ext cx="11183112" cy="1312926"/>
          </a:xfrm>
          <a:prstGeom prst="roundRect">
            <a:avLst>
              <a:gd name="adj" fmla="val 2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70805"/>
            <a:ext cx="23888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 УВИДИТЕ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0952" y="5070805"/>
            <a:ext cx="81358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2872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«узел отработал 5 раз»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0952" y="5352872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пришло пять элементов — перебор встроенный, и отдельный блок цикла нужен реже, чем кажется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685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685421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952" y="5685421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узел отправки сработал на каждом элементе и ни у кого не 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Вторник: половина заявки обслужена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65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46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неделю. Ольга к нему привыкла: смотрит таблицу утром, звонит по срочным, остальное раскладывает после обеда. Жалоб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50"/>
            <a:ext cx="11183112" cy="2164842"/>
          </a:xfrm>
          <a:prstGeom prst="roundRect">
            <a:avLst>
              <a:gd name="adj" fmla="val 1407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05506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0550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Вторник, 11:20. Приходит заявка: «можно перенести занятие со вторника? И подскажите, как оплатить».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3583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83583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таблице появляется строка: тема «перенос занятия», срочность «не указано». Всё заполнено, значение из списка, прогон зелёный.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368471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368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видит тему, переносит занятие, закрывает заявку. Делает ровно то, что написано в столбце.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98798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69879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Пятница. Человек звонит сам: «а со счётом что?» Про оплату не узнал никто — ни таблица, ни журнал, ни экран результата о ней не сказали.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2358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5160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не ошибка процесса.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Мы обещали, что клетка не будет пустой и значение будет из списка, — обещание выполнено. Что в клетке окажется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что было в заявке, мы не обещали. Беда в том, что граница наших обещаний обнаружилась не на разборе, а в разговоре с клиентом — и ни один сторож не мог сработать, потому что формально всё в порядке.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03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08379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Заявка: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«Можно перенести занятие со вторника? И подскажите, как оплатить.»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В списке есть обе: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оплата</a:t>
            </a:r>
            <a:r>
              <a:rPr sz="1650" b="1" i="0">
                <a:solidFill>
                  <a:srgbClr val="141B2E"/>
                </a:solidFill>
                <a:latin typeface="Arial"/>
              </a:rPr>
              <a:t>.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В таблице клетка </a:t>
            </a:r>
            <a:r>
              <a:rPr sz="1650" b="1" i="0">
                <a:solidFill>
                  <a:srgbClr val="141B2E"/>
                </a:solidFill>
                <a:latin typeface="Consolas"/>
              </a:rPr>
              <a:t>тема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одна.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104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384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Вопрос к себе: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вас в системе одна запись может относиться сразу к нескольким категориям? Как это решено — и решал ли это кто-то специально?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050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86852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5274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002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7628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вместо одной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9982" y="5070576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710" y="5070576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главную и пометку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905252"/>
          </a:xfrm>
          <a:prstGeom prst="roundRect">
            <a:avLst>
              <a:gd name="adj" fmla="val 104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86252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4626" y="1126236"/>
            <a:ext cx="35338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4761" y="1126236"/>
            <a:ext cx="598208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810"/>
            <a:ext cx="86252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4626" y="1400810"/>
            <a:ext cx="353383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не меняет в процессе и не стоит ни минуты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74761" y="1400810"/>
            <a:ext cx="598208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вторая тема не остаётся нигде: ни в таблице, ни в журнале, ни на экране. Через три дня о ней напомнит человек — это ровно то, что мы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867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86712"/>
            <a:ext cx="86252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4626" y="1886712"/>
            <a:ext cx="353383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честно говорит «автоматика не справилась», и это видно по столбцу: заявка ждёт человека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4761" y="1886712"/>
            <a:ext cx="598208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«другое» начинает валиться и многотемье, и настоящая экзотика — столбец разрастается, и уже не видно, что именно непонятно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26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2614"/>
            <a:ext cx="8625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две строки из одной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626" y="2372614"/>
            <a:ext cx="353383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каждая тема получает свой маршрут и своего ответственного; закрывается независимо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4761" y="2372614"/>
            <a:ext cx="598208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одна заявка превращается в две судьбы: надо решить, кто её закрывает и что считать выполненной. Как из одного входа сделать несколько записей — Семинар 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0191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019171"/>
            <a:ext cx="8625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главную и пометку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4626" y="3019171"/>
            <a:ext cx="353383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таблице остаётся главное, остальное рядом одной клеткой; сортировка по теме не ломается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4761" y="3019171"/>
            <a:ext cx="598208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пометку надо кому-то читать. Столбец, в который никто не смотрит, работает ровно как первый способ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01320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14121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Первый и второй различаются не точностью, 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знанием о своём незнании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Первый уверен и неправ. Второй не знает — и говорит об этом вслух, в столбце. Второе дороже в разработке и дешевле в эксплуатации.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77308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05324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остаётся под нашу задачу.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Третий правильный «по-взрослому», но стоит решения, кто закрывает заявку, — отложим до Семинара 9. Второй годится, если очередь «другого» кто-то разбирает.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Берём четвёртый: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главная тема плюс пометка, потому что сортировка по теме у Ольги уже работает и ломать её нельзя.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меняем</a:t>
            </a:r>
          </a:p>
        </p:txBody>
      </p:sp>
      <p:pic>
        <p:nvPicPr>
          <p:cNvPr id="3" name="Picture 2" descr="obzor-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02" y="1098804"/>
            <a:ext cx="10331747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58393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71195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Форма, модель, запись и экран результата остаются ровно такими, какими были.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n8n-kartochka-sver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8" y="943356"/>
            <a:ext cx="8928255" cy="28605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68456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4096472"/>
            <a:ext cx="4266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44176" y="4096472"/>
            <a:ext cx="27435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4061" y="4096472"/>
            <a:ext cx="34776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4378539"/>
            <a:ext cx="426693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4176" y="4378539"/>
            <a:ext cx="2743581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4061" y="4378539"/>
            <a:ext cx="3477650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464422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4644223"/>
            <a:ext cx="426693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4176" y="4644223"/>
            <a:ext cx="2743581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4061" y="4644223"/>
            <a:ext cx="3477650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490990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4909907"/>
            <a:ext cx="426693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4176" y="4909907"/>
            <a:ext cx="2743581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061" y="4909907"/>
            <a:ext cx="3477650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6819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59621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550" b="1" i="0">
                <a:solidFill>
                  <a:srgbClr val="141B2E"/>
                </a:solidFill>
                <a:latin typeface="Arial"/>
              </a:rPr>
              <a:t> Заявка: «хочу оплатить, перенести занятие и узнать про скидки для сотрудников». Три темы, и одной из них в списке нет. Что встанет в «тему», а что в «ещё в заявке»?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нужно законное «не знаю»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очередь без владельца.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работает ровно до тех пор, пока есть человек, который в неё смотрит, и метрика, по которой видно её рост. Очередь, в которую никто не заглядывает, ничем не отличается от молча потерянной заявки — только в ней есть запись, которую тоже никто не читает.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вторая тема заявки исчезла молча, и ни один сторож этого не заметил, потому что формально всё в порядке.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ЗАКОННЫЙ ОТКАЗ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приходит снаружи, и вы не можете запретить людям писать то, чего в списке нет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одна запись может относиться к нескольким категориям сразу, и вы это уже видели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 человек, который разберёт отложенное, и ему это поручено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неверного ответа выше цены задержки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ЗАКОННЫЙ ОТКАЗ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вы формируете сами: выпадающий список в форме, фиксированный набор событий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категории заведомо исключают друг друга — состояние заказа, тип документа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разбирать некому: тогда «другое» станет кладбищем, и честнее не делать вид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задержка дороже ошибки, и лучше решить приблизительно, но сразу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Понедельник: выходных в таблице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064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30865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три недели. Ольга смотрит таблицу утром. В пятницу вечером всё было как обычно.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8694"/>
            <a:ext cx="11183112" cy="1962531"/>
          </a:xfrm>
          <a:prstGeom prst="roundRect">
            <a:avLst>
              <a:gd name="adj" fmla="val 1553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78150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7815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Понедельник, 9:00. Ольга открывает таблицу — по другому делу, посмотреть вчерашние заявки.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908477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90847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Видит: строки за пятницу есть, строки за понедельник есть.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За субботу и воскресенье — ни одной.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23880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23880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Письма об ошибке никто не получал. И это ничего не значит: кому его отправлять, никто не настраивал.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69131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5691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Процесс всё это время был опубликован и включён. Падал ли он на каждой заявке, на части или писал не туда — неизвестно.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887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1167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один сторож не сработал, и не мог.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Сторожа срабатывают на ошибки, а здесь нет ошибок — здесь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нет записей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На отсутствие чего-то сработать нечем. Заметили случайно: Ольга зашла в таблицу по другому поводу. Сколько бы это продолжалось иначе — тоже неизвестно.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133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9352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3494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08980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17210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6116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74132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 вопрос к себе, пока голосуете: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вас на работе в каком-нибудь процессе стоит повтор при отказе?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Знаете ли вы, что там выбрано по умолчанию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или оно просто стоит как поставилось?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с веткой отказа</a:t>
            </a:r>
          </a:p>
        </p:txBody>
      </p:sp>
      <p:pic>
        <p:nvPicPr>
          <p:cNvPr id="3" name="Picture 2" descr="obzor-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964" y="1051560"/>
            <a:ext cx="8003023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Заметьте: повтор виден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снаружи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значком на самом узле. Большинство настроек так не видно — за ними надо открывать карточку.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n8n-holst-vetka-otka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994" y="943356"/>
            <a:ext cx="8112962" cy="345682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564775"/>
            <a:ext cx="11183112" cy="86575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720223"/>
            <a:ext cx="4698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3206" y="4720223"/>
            <a:ext cx="588107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94797"/>
            <a:ext cx="469853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3206" y="4994797"/>
            <a:ext cx="588107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95126"/>
            <a:ext cx="11183112" cy="72352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5723142"/>
            <a:ext cx="10634472" cy="467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47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Предскажите.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Сейчас испорчу ключ и отправлю заявку. Какой статус будет у прогона — «ошибка» или «успех»?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07464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35480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417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1218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**НУЖНО**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232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2330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2330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866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866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052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0527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4516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**НЕЛЬЗЯ**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413232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6083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608322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08431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084318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4516" y="53954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4516" y="5395468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есть, работает старое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56068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9003" y="1607566"/>
            <a:ext cx="49178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56068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сказала: тема определяется слишком общо, «курс» стоит там, где речь про конкретную программу. Вы поправили формулировку запроса в узле извлечения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9003" y="1889633"/>
            <a:ext cx="49178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карточке узла новый текст, никто его не откатывал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19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1912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проверили ручным запуском на трёх её заявках, при 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9003" y="2601912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три разобраны правильно, именно так, как она просила. Закрыли, пошли дальше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31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31629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следующий день она открывает таблицу за сутки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9003" y="3131629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все заявки разобраны по-старому.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одной по новой формулировке — и она приходит с этим к вам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61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61346"/>
            <a:ext cx="56068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открываете холст, запускаете руками ещё раз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9003" y="3661346"/>
            <a:ext cx="49178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снова правильно. И теперь объяснить это ей нечем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показывала правильный результат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 это время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показывала честно. Она просто проверяла не то, что работало в бою.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здесь ответ</a:t>
            </a:r>
          </a:p>
        </p:txBody>
      </p:sp>
      <p:pic>
        <p:nvPicPr>
          <p:cNvPr id="3" name="Picture 2" descr="obzor-k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4959"/>
            <a:ext cx="11183112" cy="325223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24470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37271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со значком — стрелка вниз: там и живёт действие, которым правка уходит в бой.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876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57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**НАСТОЯЩИМ СОБЫТИЕМ**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**РУЧНОГО ЗАПУСКА**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788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197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197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298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05178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05178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87245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087245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343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34399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434399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1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1554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781554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287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28708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128708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2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542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Тот же вопрос, что в начале: ваш процесс на работе — он работает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Теперь у вас есть четыре способа это проверить, и ни один из них не требует верить мне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88" y="943356"/>
            <a:ext cx="10553375" cy="32979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05877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88757"/>
            <a:ext cx="32557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7875" y="4588757"/>
            <a:ext cx="72689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55838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875" y="4855838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737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73783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875" y="5173783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91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91727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875" y="5491727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096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09672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875" y="5809672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