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начинается новая дуга — шесть занятий подряд про то, как инженер строит процесс вокруг вызова модели вместо того, чтобы взять у неё один ответ и на этом остановиться. На С4–С6 вы собирали одного агента: права, память, инструменты, проверяемость каждого шага. Эта дуга смотрит уровнем выше — на процесс, который таким агентом или просто одним вызовом большой языковой модели пользуется.</a:t>
            </a:r>
          </a:p>
          <a:p/>
          <a:p>
            <a:r>
              <a:t>Название занятия называет три приёма, которые оно разбирает: хватит ли одного вызова, цепочка шагов, маршрут между несколькими путями. Разбор начинается с картинки, в которой искусственного интеллекта нет вовсе, — и с вопроса к ней.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три коробки и две стрелки. Письмо попадает в почтовый ящик поддержки. Срабатывает правило: если письмо пришло в этот ящик — создать карточку в трекере задач. Правило отправляет HTTP-запрос, и через секунду в трекере лежит карточка с темой письма и его текстом. Никто не писал код в момент самого события: правило написано заранее, один раз, и с тех пор просто срабатывает.</a:t>
            </a:r>
          </a:p>
          <a:p/>
          <a:p>
            <a:r>
              <a:t>Реплика «это просто скрипт, я сам написал его в прошлом месяце» принадлежит инженеру, который это правило и настроил. Он прав. Правило не читает письмо, не взвешивает, важное оно или нет, не формулирует ответ; оно совершает одно и то же действие на любое письмо, которое попало в этот ящик, независимо от содержания — на первом письме и на тысячном одинаково.</a:t>
            </a:r>
          </a:p>
          <a:p/>
          <a:p>
            <a:r>
              <a:t>Поэтому вопрос «где здесь искусственный интеллект» провокационный: ответ действительно «нигде». Срабатывание триггера, формирование HTTP-запроса, создание карточки — три механических шага, и ни одному из них модель не нужна. Это не упрощение ради примера: огромная доля того, что в разговоре между инженерами называют автоматизацией процессов, устроена именно так — правило написано один раз и выполняется одинаково на любом входе своего класса. Отличать это от искусственного интеллекта стоит по простой причине: на словах граница размывается быстрее, чем в поведении систем. Слова «автоматизация» и «ИИ» используют взаимозаменяемо, устройство за ними разное.</a:t>
            </a:r>
          </a:p>
          <a:p/>
          <a:p>
            <a:r>
              <a:t>Ответ «нигде» закрывает только эту картинку. Автоматизация без единого вызова модели уже сделала часть работы: карточка создана, ничего не потеряно. Остаток работы — ответить на письмо по существу — вопрос другого рода, и звучит он теперь иначе: какому шагу процесса модель нужна, какому хватит правила.</a:t>
            </a:r>
          </a:p>
          <a:p/>
          <a:p>
            <a:r>
              <a:t>Чего стоит ответ на этот вопрос, видно там, где шаг с моделью стоит перед необратимым действием. Компания покупала жильё по оценке, которую давала её собственная модель, и между оценкой и покупкой не стояло ни одной проверки. Бизнес закрыт, уволены 2000 человек — четверть штата компании. Этот случай занятие разбирает целиком: с именем, цифрами списания, источниками и с тем, какая именно проверка в цепочке отсутствовала. Пока достаточно знать, что цена пропущенной проверки измеряется в таких величинах.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Последние три занятия — С4, С5, С6 — вы собирали одного агента: права, которые он получает, память, которую он ведёт, инструменты, которыми он пользуется, проверяемость каждого его шага. Это был взгляд внутрь одного исполнителя.</a:t>
            </a:r>
          </a:p>
          <a:p/>
          <a:p>
            <a:r>
              <a:t>Девять ступеней на экране — взгляд уровнем выше: процессы, которые таким исполнителем или просто одним вызовом модели пользуются. Модель здесь один шаг из многих в порядке действий, который инженер строит и контролирует сам. Разница похожа на разницу между устройством одного работника и устройством линии, на которой он стоит одним из звеньев.</a:t>
            </a:r>
          </a:p>
          <a:p/>
          <a:p>
            <a:r>
              <a:t>Нижняя ступень — ситуация, когда задаче хватает одного вызова модели и, если нужно, обращения к базе знаний, и строить вокруг неё не требуется вообще ничего. Выше идут всё более сложные способы организовать процесс: цепочка шагов, маршрут с разбором по категориям, параллельные проверки, переделка по эталону, дирижёр с несколькими исполнителями, один агент, несколько агентов. Верхняя ступень держит решение, обратное усложнению: выключить автоматизацию и вернуться к ручному процессу там, где он справляется лучше.</a:t>
            </a:r>
          </a:p>
          <a:p/>
          <a:p>
            <a:r>
              <a:t>Занятие закрывает три нижние ступени, они и подсвечены: хватит ли одного вызова, цепочка шагов, маршрут между несколькими путями. Шесть ступеней выше закрывают следующие пять занятий этой же дуги, по одной-две за занятие. Запоминать их названия заранее не нужно — каждая разбирается тогда, когда до неё дойдёт очередь.</a:t>
            </a:r>
          </a:p>
          <a:p/>
          <a:p>
            <a:r>
              <a:t>Вопрос под схемой — про собственную работу. Почти у каждого в зале есть процесс, который он уже где-то собрал: разбор заявок, вычитка логов, подготовка отчёта, бот в рабочем чате. На какой из девяти ступеней этот процесс стоит сейчас и нужна ли ему следующая? Ответ «на нижней, и следующая не нужна» — полноценный ответ: это первая ступень лестницы, и занятие как раз показывает, в каких случаях она верная.</a:t>
            </a:r>
          </a:p>
          <a:p/>
          <a:p>
            <a:r>
              <a:t>Участвовать можно, даже если прошлые занятия прошли мимо: всё, что нужно знать о них, печатается прямо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Почта поддержки небольшого интернет-магазина — место, где одно и то же действие повторяется десятки раз в день. Приходит письмо. Человек тратит минуту на то, чтобы понять, о чём оно: забыли пароль, потерялся трек-номер, пришла раздавленная коробка. Потом печатает ответ. На половину писем ответ у него в голове, и сочинять там нечего; на другую половину он открывает историю заказа, перечитывает условия возврата и пишет осторожнее, потому что знает: одну неудачную формулировку клиент потом процитирует.</a:t>
            </a:r>
          </a:p>
          <a:p/>
          <a:p>
            <a:r>
              <a:t>Фраза этого экрана сказана человеком, который делает это каждый день, и сказана она без единого слова про инструменты. Это и есть точка, с которой начинается кейс: сначала действие, которое выполняет человек, и только потом машина, которая берётся выполнять его вместо него.</a:t>
            </a:r>
          </a:p>
          <a:p/>
          <a:p>
            <a:r>
              <a:t>Дальше в этом кейсе машина уже справилась. Письмо пришло, и через секунду в очереди лежал готовый ответ: вежливый, грамотный, без единой ошибки. Весь вопрос в том, что с ним делать. Человек, который эту минуту тратил сам, теперь тратит секунду на то, чтобы прочитать чужой текст и нажать кнопку, — и работа у него от этого поменялась сильнее, чем кажется по описанию.</a:t>
            </a:r>
          </a:p>
          <a:p/>
          <a:p>
            <a:r>
              <a:t>Про статус этого кейса стоит сказать сразу, потому что он отличается от двух следующих. Магазин, письмо и ответ — учебный сценарий, собранный ради механики приёма. Инцидента конкретной компании за ним нет, и выдавать его за чей-то публичный провал было бы враньём: он несёт устройство цепочки и то место, где она ломается. Два других кейса этой ступени — Zillow Offers и Octomind — документированные публичные случаи с источниками и цифрами, и там цена ошибки измеряется сотнями миллионов долларов. Сценарий с письмом нужен, чтобы к тем двум подойти, уже понимая, где именно в последовательности шагов стоит проверка и что происходит, когда её снимают.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Магазин месяц назад поставил на почту поддержки автоответ на базе модели. Работает он просто с точки зрения того, кто сидит в очереди: письмо приходит, через секунду рядом с ним лежит готовый черновик ответа, человеку остаётся прочитать и нажать «отправить». За месяц очередь привыкла, что черновики приличные.</a:t>
            </a:r>
          </a:p>
          <a:p/>
          <a:p>
            <a:r>
              <a:t>Утром пришло письмо от Анны. Заказ приехал в раздавленной коробке, у чайника вмятина, к письму приложены фотографии, просьба — вернуть деньги. Через секунду в очереди лежал черновик, который сейчас на экране справа.</a:t>
            </a:r>
          </a:p>
          <a:p/>
          <a:p>
            <a:r>
              <a:t>Прочитайте его целиком, прежде чем голосовать. Обращение по имени — есть. Благодарность за фотографии — есть. Сожаление о том, что заказ пришёл испорченным, — есть. Обещание, что специалист свяжется в течение суток, — есть. Грамматика безупречная, тон ровный, ни одного лишнего слова. Текст, к которому по форме не придраться: примерно так и пишет хороший сотрудник поддержки в конце рабочего дня.</a:t>
            </a:r>
          </a:p>
          <a:p/>
          <a:p>
            <a:r>
              <a:t>Вопрос голосования — ровно тот, который стоит перед человеком в очереди каждый раз: отправляем клиенту как есть, не отправляем совсем или сначала правим руками. Голосовать стоит так, как голосовали бы на работе: у человека в очереди нет ни пятнадцати минут на разбор, ни политики возврата перед глазами, у него сто таких черновиков за смену и ровно столько времени, сколько нужно, чтобы прочитать текст один раз.</a:t>
            </a:r>
          </a:p>
          <a:p/>
          <a:p>
            <a:r>
              <a:t>Почти все, кто читает этот черновик первый раз, голосуют за отправку. Это честная реакция, и именно она делает следующий экран полезным: в самом тексте нет ничего, за что глаз мог бы зацепиться, поэтому ошибка здесь совершается при полном внимании к написанному.</a:t>
            </a:r>
          </a:p>
          <a:p/>
          <a:p>
            <a:r>
              <a:t>Заметить её можно единственным способом — сверить ответ с тем, о чём просили в письме, и с условиями магазина на этот случай. Человек в очереди делает это редко: черновик выглядит готовым, а проверка стоит минуты, которых у него нет. Дальше разберём, что именно пропущено и почему текст получился таким ровным.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Голосование за отправку — правильная реакция на этот текст. Теперь разберём его по двум колонкам.</a:t>
            </a:r>
          </a:p>
          <a:p/>
          <a:p>
            <a:r>
              <a:t>Слева — то, что в ответе есть. Обращение по имени. Благодарность за фотографии. Сожаление о том, что заказ пришёл испорченным. Обещание, что специалист свяжется в течение суток. Безупречная грамматика и ровный тон, которым пишет хорошая поддержка.</a:t>
            </a:r>
          </a:p>
          <a:p/>
          <a:p>
            <a:r>
              <a:t>Справа — то, чего в нём нет. Слова «возврат» в тексте нет ни одного раза. Решения о деньгах — вернём или откажем — нет. Срока, в который деньги придут на карту, нет. Опоры на условия магазина тоже нет: откуда взялось «в течение суток» и почему это вообще уместный срок для повреждения при доставке, из текста не следует. Анна написала про испорченный товар и попросила деньги; по условиям магазина при повреждении упаковки при доставке она имеет право на полную стоимость. Ответ магазина об этом праве молчит.</a:t>
            </a:r>
          </a:p>
          <a:p/>
          <a:p>
            <a:r>
              <a:t>Теперь, откуда у текста такая форма. Автоответ работает в два шага. Первый шаг присваивает письму метку из закрытого списка — пять строк: пароль, статус заказа, возврат, жалоба, другое. Второй шаг пишет ответ, и база знаний, из которой он берёт содержание, выбирается по метке. Письмо Анны получило метку «другое». Под этой меткой лежит общий шаблон про «спасибо за обращение, ответим в течение суток» — и второй шаг честно выполнил свою работу: написал по тому материалу, который ему дали.</a:t>
            </a:r>
          </a:p>
          <a:p/>
          <a:p>
            <a:r>
              <a:t>Отсюда главное свойство этой ошибки. Она не выглядит ошибкой. Первый шаг ошибся на одном слове, второй шаг превратил эту ошибку в гладкий текст, и на выходе получилось нечто, неотличимое по форме от правильного ответа. Текст без единой ошибки и текст без решения с экрана выглядят одинаково — и человек в очереди из ста черновиков разницы не увидит.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же цепочка целиком, уже собранная правильно. На схеме три формы, и они значат разное: овал — вызов модели, прямоугольник — обычный код, ромб — проверка, которая обходится без модели вовсе.</a:t>
            </a:r>
          </a:p>
          <a:p/>
          <a:p>
            <a:r>
              <a:t>Письмо приходит в classify. Это первый вызов модели, и у него узкая работа: вернуть одну метку из закрытого списка. Текста он не пишет.</a:t>
            </a:r>
          </a:p>
          <a:p/>
          <a:p>
            <a:r>
              <a:t>Дальше ромб. Метка, которую вернула модель, сравнивается со списком разрешённых: пароль, статус заказа, возврат, жалоба, другое. Если метка в списке — цепочка идёт вниз, к черновику. Если метки в списке нет — опечатка, свободный текст, пустая строка — срабатывает ветка «нет», и письмо целиком уходит человеку: он разбирает его сам, без подсказки от машины. В коде весь ромб — одна строка, она подписана прямо под ним на схеме. Это самая дешёвая часть всей конструкции: ни вызова модели, ни базы знаний, ни секунды ожидания.</a:t>
            </a:r>
          </a:p>
          <a:p/>
          <a:p>
            <a:r>
              <a:t>Draft — второй вызов. Ему дают письмо, метку и тот кусок базы знаний, который к этой метке привязан. Отсюда и берётся содержание ответа: по метке «возврат» он получит условия возврата, по метке «пароль» — инструкцию по восстановлению.</a:t>
            </a:r>
          </a:p>
          <a:p/>
          <a:p>
            <a:r>
              <a:t>Последний узел — очередь человека. Цепочка кладёт туда черновик и на этом заканчивается; отправки клиенту в ней нет ни одной строкой. Письмо уходит после того, как человек его подтвердил или поправил.</a:t>
            </a:r>
          </a:p>
          <a:p/>
          <a:p>
            <a:r>
              <a:t>Две строки под схемой отвечают на вопрос, который обычно задают здесь: чем это отличается от агента, которого собирали на прошлых занятиях. Порядок шагов тут записан в коде заранее, и ни один шаг не решает, пропустить ли ему следующий. Такую конструкцию принято называть workflow — рабочим потоком. У агента порядок рождается по ходу работы, и это свойство стоит денег: оно окупается там, где путь заранее выписать невозможно. Для письма в поддержку путь известен: классифицировать, написать черновик, показать человеку. Гибкость здесь покупать не на что; предсказуемость нужна на каждом шаге.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та же схема, что на предыдущем экране, и отличие в ней одно: ромб погашен. Проверки между первым и вторым шагом нет — ни строки кода, ни остановки. Ветка «человеку целиком» при этом формально существует, но дойти до неё невозможно: она отходит от ромба, которого больше нет, и потому молчит на любом письме.</a:t>
            </a:r>
          </a:p>
          <a:p/>
          <a:p>
            <a:r>
              <a:t>Дальше происходит ровно то, что мы читали в начале кейса. Classify присвоил письму Анны метку «другое». Проверять метку нечем, и она пошла дальше как есть. Draft получил метку «другое» вместе с привязанным к ней куском базы знаний — общим шаблоном — и написал по нему гладкий, вежливый, уверенный текст. Очередь человека на схеме серая: она есть, но за месяц работы очередь выросла настолько, что черновики подтверждают не читая, иначе работа встаёт. Ответ ушёл клиенту.</a:t>
            </a:r>
          </a:p>
          <a:p/>
          <a:p>
            <a:r>
              <a:t>Внизу — два черновика рядом. Левый одобрен голосованием в начале кейса. Правый написал бы тот же самый draft, получи он метку «возврат»: возврат оформлен, полная стоимость, деньги на карту за пять рабочих дней, товар забирать не нужно. Оба текста вежливые, оба грамотные, оба звучат одинаково уверенно. Разница между ними — решение, и увидеть её может только тот, кто держит в голове условия магазина и помнит, что к письму были приложены фотографии повреждения.</a:t>
            </a:r>
          </a:p>
          <a:p/>
          <a:p>
            <a:r>
              <a:t>Отсюда свойство, ради которого этот кейс стоит в начале занятия. Ошибка первого шага здесь никуда не делась и ничем себя не выдала: второй шаг переработал её в тот же формат, в котором приходит правильный ответ. Катастрофу замечают сразу; поток вежливых отговорок замечают тогда, когда накопится статистика повторных писем или когда один из клиентов напишет публичный отзыв. К этому моменту цепочка успеет отработать так же на всех письмах, которые получили метку «другое», — а эта метка в любом списке стоит последней и собирает всё, что не подошло к остальным.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кейса можно вынести правило, и правило это проверяется на бумаге за три минуты. Возьмите свою задачу — любую, где на вход приходит текст, а на выходе система что-то делает: заявки в техподдержку, резюме кандидатов, комментарии к релизу, обращения в деканат. Выпишите классы входа одним списком, сверху вниз, пока не кончатся.</a:t>
            </a:r>
          </a:p>
          <a:p/>
          <a:p>
            <a:r>
              <a:t>Дальше всё решает последняя строка.</a:t>
            </a:r>
          </a:p>
          <a:p/>
          <a:p>
            <a:r>
              <a:t>Первый исход: список кончился сам. Пять, восемь, двенадцать строк, за каждой стоят свои шаги, и новых строк в нём давно не появлялось. Цепочки хватает: порядок шагов пишется один раз, и дальше он меняется редко, потому что меняется содержание писем; устройство обработки держится прежним.</a:t>
            </a:r>
          </a:p>
          <a:p/>
          <a:p>
            <a:r>
              <a:t>Второй исход: список кончился словом «прочее». Так бывает почти всегда, и само по себе это нормально — ненормально оставить эту строку без ромба. Всё, что попадёт в «прочее», пройдёт дальше по цепочке и вернётся наружу тем самым гладким ответом, который сегодня одобрили голосованием. Ромб здесь стоит ради одной ветки: метка вне списка — письмо человеку целиком, и человек разбирает его сам.</a:t>
            </a:r>
          </a:p>
          <a:p/>
          <a:p>
            <a:r>
              <a:t>Третий исход: список не кончается. Каждую неделю появляется строка, которой вчера не было, и разным строкам нужны разные шаги, разные документы, иногда разные отделы. Одной цепочки тут мало: единственный classify на входе начинает разрастаться в десятки веток внутри себя, и каждая новая строка требует править общий шаг. Это граница приёма и вход в следующую ступень занятия — маршрут, где выбор пути становится отдельным шагом со своей ценой.</a:t>
            </a:r>
          </a:p>
          <a:p/>
          <a:p>
            <a:r>
              <a:t>Вопрос внизу экрана — к себе, без голосования. Сколько строк в вашем списке и стоит ли в нём «прочее». Ответ полезен прямо сегодня: если «прочее» там есть, ромб и ветка к человеку — первое, что стоит добавить, и обойдётся это в одну строку кода.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Zestimate — автоматическая оценка стоимости дома, которую Zillow показывает рядом с каждым объявлением. Она стояла на сайте годами и стоит там сейчас. Компания всё это время описывала её одинаково: компьютерный расчёт стоимости дома сегодня, на основе доступных данных, и отдельно предупреждала, что за оценку эксперта принимать её нельзя. Люди на неё смотрели, спорили с ней, торговались от неё. Ничего не ломалось.</a:t>
            </a:r>
          </a:p>
          <a:p/>
          <a:p>
            <a:r>
              <a:t>В 2018 году Zillow запустила отдельный бизнес — Zillow Offers. Компания стала сама покупать дома у владельцев, приводить их в порядок и перепродавать. Ту же самую цифру подключили к покупке.</a:t>
            </a:r>
          </a:p>
          <a:p/>
          <a:p>
            <a:r>
              <a:t>Здесь и стоит поворот этого кейса, и заметить его лучше до цифр убытка. Модель осталась прежней, способ её считать остался прежним, страница на сайте осталась прежней. Изменилось то, что стояло за цифрой дальше по цепочке. Раньше там был человек: он смотрел на оценку и решал сам. Теперь там стояло обязательство компании потратить деньги.</a:t>
            </a:r>
          </a:p>
          <a:p/>
          <a:p>
            <a:r>
              <a:t>Поэтому разбирается в этом кейсе работающая модель. Претензия адресована решению подключить её к действию, которое одним движением не отменяется.</a:t>
            </a:r>
          </a:p>
          <a:p/>
          <a:p>
            <a:r>
              <a:t>У кейса есть ещё одно отличие от предыдущего. Тот нёс механику приёма и был собран для занятия: называть его провалом конкретной компании было бы выдумкой. Здесь всё дальнейшее — документированный публичный случай 2018–2021 годов с прямыми источниками: репортаж CNN, разбор Fortune со ссылкой на исследование аналитиков Bank of America, годовой отчёт компании перед американской комиссией по ценным бумагам (форма 10-K).</a:t>
            </a:r>
          </a:p>
          <a:p/>
          <a:p>
            <a:r>
              <a:t>Форма ошибки при этом повторяется буквально. Промежуточный результат цепочки идёт дальше без проверки, которая могла бы его остановить. Разница — в цене того шага, который наступает следом: в предыдущем кейсе это черновик письма, здесь покупка дома.</a:t>
            </a:r>
          </a:p>
          <a:p/>
          <a:p>
            <a:r>
              <a:t>Следующий экран называет компанию, её бизнес-модель и ставит рядом обе цепочки: ту, что годами работала на сайте, и ту, которую собрали внутри Zillow Offers.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2018 по 2021 год Zillow — крупнейшая в США платформа объявлений о продаже недвижимости — вела отдельный бизнес, Zillow Offers. Работал он по модели прямого выкупа: компания сама покупала дома у владельцев, делала минимальный ремонт и перепродавала их.</a:t>
            </a:r>
          </a:p>
          <a:p/>
          <a:p>
            <a:r>
              <a:t>Первым звеном этой цепочки стоял Zestimate — модель, частично построенная на машинном обучении, та самая оценка, которая давно висела рядом с каждым объявлением на сайте. Верхняя строка схемы показывает, как эта цифра работала там. Человек открывал страницу, видел оценку, сравнивал её с соседними домами, шёл смотреть дом глазами, торговался. Между числом и действием стоял он сам, и деньги тратил свои. На этом месте и была вся проверка: оценку читал тот, кто мог с ней не согласиться и уйти.</a:t>
            </a:r>
          </a:p>
          <a:p/>
          <a:p>
            <a:r>
              <a:t>Нижняя строка — та же модель внутри Zillow Offers. Цифра уходила в обязывающее денежное предложение: конкретный дом, конкретная цена, реальное обязательство компании потратить капитал. На среднем месте схемы остался пустой слот.</a:t>
            </a:r>
          </a:p>
          <a:p/>
          <a:p>
            <a:r>
              <a:t>Пустым он был в двух смыслах сразу, и оба перечислены в таблице под схемой. Не существовало человека-андеррайтера с правом остановить конкретную покупку, если риск по ней выше порога. Не существовало и автоматического предохранителя, который сбрасывает темп закупок, когда частота ошибок прогноза начинает расти. Первого не хватало поштучно, на каждой сделке; второго — на потоке сделок целиком.</a:t>
            </a:r>
          </a:p>
          <a:p/>
          <a:p>
            <a:r>
              <a:t>Структурно это ровно та дыра, которую назвал предыдущий кейс. Промежуточный результат цепочки — метка класса там, оценка стоимости здесь — течёт дальше без проверки, способной его остановить, и на нём строится следующий, более дорогой шаг.</a:t>
            </a:r>
          </a:p>
          <a:p/>
          <a:p>
            <a:r>
              <a:t>Механизм ошибки один и тот же. Различается то, что наступает следом. Черновик письма переписывают, когда ошибку заметили. Купленный дом остаётся купленным. Во что это обошлось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Осенью 2021 года Zillow объявила списание запасов на $304,4 млн за третий квартал. Компания прямо связала эту цифру с тем, что недавно купленные дома стоят дороже, чем их сейчас можно продать. Решение закрыть Zillow Offers целиком объявили 2 ноября 2021 года, вместе с сокращением 2000 рабочих мест — четверти штата. Рич Бартон, генеральный директор и сооснователь Zillow, объяснил закрытие тем, что непредсказуемость прогнозирования цен на жильё намного превысила ожидания компании.</a:t>
            </a:r>
          </a:p>
          <a:p/>
          <a:p>
            <a:r>
              <a:t>Эти 2000 стоит задержать на секунду дольше, чем занимает чтение строки таблицы. Архитектурного решения подключить автоматическую оценку прямо к покупке они не принимали и повлиять на него не могли; закрылись их рабочие места. Цена пропущенной проверки редко приходит туда, где её пропустили.</a:t>
            </a:r>
          </a:p>
          <a:p/>
          <a:p>
            <a:r>
              <a:t>Отдельное независимое исследование аналитиков Bank of America, пересказанное журналом Fortune 3 ноября 2021 года, разобрало выборку больше чем из 300 домов, которые Zillow Offers купила и выставила на продажу. Результат показал системную переплату по целому ряду городов. В Остине компания платила за дома по ценам, которые подразумевали рост стоимости на 27% в год за предыдущие четыре года владения, при фактическом росте на том же рынке около 6% в год по индексу Case-Shiller. Похожий разрыв — рост больше 20% в год — аналитики нашли в Сакраменто, Портленде, Цинциннати, Тампе, Фениксе и Денвере. Выставлять купленные дома компания пыталась с надбавкой около 5% к цене покупки, а снижать цену приходилось в среднем на 6% от первоначального объявления. По итогам всей выборки Zillow двигалась к убытку порядка 2% относительно цены покупки, даже не считая уже признанного списания.</a:t>
            </a:r>
          </a:p>
          <a:p/>
          <a:p>
            <a:r>
              <a:t>По итогам всего 2021 года списание составило $407,9 млн — это более полная цифра, чем квартальная.</a:t>
            </a:r>
          </a:p>
          <a:p/>
          <a:p>
            <a:r>
              <a:t>Тот же случай разбирала Лекция 5, под другим вопросом: там он читался как провал наблюдения — отслеживания точности прогноза в реальном времени с автоматическим предохранителем. Здесь вопрос другой: где в цепочке шагов пропущен гейт перед необратимым действием. Один инцидент, две разные линзы.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кейс кончался тем, что ошибка первого звена цепочки без проверки молча доходит до результата, которого касается внешний человек. Здесь тот же механизм доходит до решения потратить реальные деньги на актив, который потом одним движением не возвращается.</a:t>
            </a:r>
          </a:p>
          <a:p/>
          <a:p>
            <a:r>
              <a:t>Отсюда прямой критерий, вполне считаемый заранее. Где в цепочке нужен гейт, определяет цена и обратимость того шага, который наступит следом. Чем дороже и чем менее обратимо действие, которое цепочка совершит сразу после текущего шага, тем меньше смысла экономить именно на проверке перед ним. Письмо с неверным ответом исправляется следующим письмом в тот же день. Купленный дом требует либо многомесячной перепродажи с убытком, либо того самого списания.</a:t>
            </a:r>
          </a:p>
          <a:p/>
          <a:p>
            <a:r>
              <a:t>Спектр на экране для того и нарисован линией. Между двумя его точками лежит всё, с чем инженер имеет дело каждый день: запись в базу, сообщение в чат команды, автоматический счёт клиенту, отправленный отчёт. Каждое из этих действий где-то на этой линии стоит, и место определяет, сколько стоит проверка перед ним.</a:t>
            </a:r>
          </a:p>
          <a:p/>
          <a:p>
            <a:r>
              <a:t>Вторая половина урока — то, чего он не утверждает. Автоматическая оценка стоимости как инструмент здесь ни при чём. Как входной сигнал для решения человека она работает, и Zillow продолжает показывать Zestimate на сайте ровно в этом качестве. Разбирается конструкция, в которой автоматическая оценка сама запускает обязывающее, дорогое, труднообратимое действие, и между ней и этим действием никто не стоит.</a:t>
            </a:r>
          </a:p>
          <a:p/>
          <a:p>
            <a:r>
              <a:t>Граница читается в обе стороны. Там, где цепочка кончается черновиком, который человек прочитает перед любым действием, гейт можно не ставить: человек и есть гейт. Там, где цепочка кончается подписанным обязательством потратить капитал, цена той же самой сэкономленной проверки измеряется другим порядком чисел.</a:t>
            </a:r>
          </a:p>
          <a:p/>
          <a:p>
            <a:r>
              <a:t>Третий кейс ступени показывает ещё одну сторону той же оси: что происходит, когда сложность, которой задача не требовала, добавляют сверху сами.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пришла из публичного обсуждения того самого поста, который разбирает этот случай. Автор реплики — разработчик, три с половиной месяца собиравший агента с поиском по документам (RAG) своими руками, прямыми вызовами модели. Коллеги спрашивали его, почему он обходится без LangChain, «как будто я сумасшедший»: в его компании такие агенты собирали на фреймворке все остальные, и один из них довели до реальной эксплуатации.</a:t>
            </a:r>
          </a:p>
          <a:p/>
          <a:p>
            <a:r>
              <a:t>Довод его короткий. С фреймворком всё хорошо, пока задача стандартная. Стоит понадобиться чему-то чуть более оригинальному — и, чтобы поменять одну мелкую деталь, приходится пройти сквозь пять слоёв абстракции. Второе, что он добавляет: каждый шаг процесса понимаешь не до конца, поэтому любая проблема отправляет разбор к самому началу.</a:t>
            </a:r>
          </a:p>
          <a:p/>
          <a:p>
            <a:r>
              <a:t>Претензия здесь инженерная. Цена, о которой он говорит, предъявляется ровно в тот момент, когда задача перестаёт быть типовой, — то есть когда начинается собственно работа. Пока требования совпадают с тем, под что фреймворк рассчитан, слои абстракции не видны и ничего не стоят. Расхождение требований с замыслом фреймворка превращает их в пять уровней, которые надо прочитать и удержать в голове, чтобы изменить одну строку поведения.</a:t>
            </a:r>
          </a:p>
          <a:p/>
          <a:p>
            <a:r>
              <a:t>Случай, который идёт дальше, — документированный публичный: пост инженерной команды о собственном решении и открытое обсуждение этого поста, оба прочитаны напрямую, с цифрами из первых рук.</a:t>
            </a:r>
          </a:p>
          <a:p/>
          <a:p>
            <a:r>
              <a:t>Два предыдущих случая этой ступени стоили цепочке пропущенной проверки: порядок шагов был собран верно, а между шагами не стояло ничего, что отличает годный промежуточный результат от испорченного. Здесь ошибка случилась раньше и выше: сложность добавили туда, где задача её не просила. Добавленная сложность сама стала набором новых мест, где можно ошибиться, — и ломает она результат тихо. Она просто делает каждое следующее изменение дороже предыдущего.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Octomind — компания, чьи агенты на нескольких больших языковых моделях сами создают и исправляют сквозные (end-to-end) тесты на Playwright, популярном инструменте автоматизации браузера. LangChain стоял у них в промышленной работе больше двенадцати месяцев: взят в начале 2023 года, вынесен в 2024-м. В 2023-м выбор выглядел разумным — большой список готовых компонентов и прямое обещание довести разработчика «от идеи до работающего кода за полдня».</a:t>
            </a:r>
          </a:p>
          <a:p/>
          <a:p>
            <a:r>
              <a:t>Пока требования команды совпадали с тем, под что фреймворк рассчитан, он помогал. Дальше понадобилось менять поведение системы на низком уровне, и команда полезла во внутренности LangChain: фреймворк намеренно скрывает эти детали, поэтому написать нужный низкоуровневый код часто оказывалось попросту невозможно.</a:t>
            </a:r>
          </a:p>
          <a:p/>
          <a:p>
            <a:r>
              <a:t>Масштаб разницы виден на тривиальном примере из самого поста — перевод одного английского слова на итальянский. Прямым вызовом API это один класс и один вызов функции, остальное — обычный Python. Через LangChain то же самое — три класса и четыре вызова, и, что важнее, три новых понятия: шаблон промпта (чем промпт передаётся модели), парсер вывода (чем обрабатывается ответ) и «цепочка» — синтаксис LCEL, переопределяющий оператор </a:t>
            </a:r>
            <a:r>
              <a:rPr>
                <a:latin typeface="Consolas"/>
              </a:rPr>
              <a:t>|</a:t>
            </a:r>
            <a:r>
              <a:t> самого Python. К результату эти три понятия ничего не добавляют.</a:t>
            </a:r>
          </a:p>
          <a:p/>
          <a:p>
            <a:r>
              <a:t>Вторая находка оказалась дороже первой и касалась наблюдаемости. Команде понадобилось менять набор доступных агенту инструментов на ходу, по бизнес-логике и по выводу модели, — а способа наблюдать состояние агента извне фреймворк не предоставляет. Реализацию пришлось сузить до того, что LangChain умеет показать наружу: систему построили под эту границу, и исходные требования остались за ней.</a:t>
            </a:r>
          </a:p>
          <a:p/>
          <a:p>
            <a:r>
              <a:t>Решение — вынести фреймворк целиком, оставив прямые вызовы модели и обычный код вокруг них. Формулировка авторов короткая: «We could just code» — «мы могли просто написать код». В начале поста та же мысль другими словами: убрав фреймворк, команда перестала переводить свои требования на язык, который понимает LangChain.</a:t>
            </a:r>
          </a:p>
          <a:p/>
          <a:p>
            <a:r>
              <a:t>Пост получил широкий резонанс: обсуждение на Hacker News 20 июня 2024 года собрало 480 очков и 297 комментариев. Там же публично и по существу ответил глава LangChain, а один из участников назвал </a:t>
            </a:r>
            <a:r>
              <a:rPr>
                <a:latin typeface="Consolas"/>
              </a:rPr>
              <a:t>AgentExecutor</a:t>
            </a:r>
            <a:r>
              <a:t> фреймворка «непрозрачным» — ровно то свойство, которое новый на тот момент LangGraph из той же экосистемы создавался заменить.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Фреймворк обещал снять с команды сложность — буквально обещанием довести от идеи до работающего кода за полдня. На том же действии он требовал больше кода, а понять, что происходит внутри одного шага, становилось труднее. Главное в этом случае — то, что произошло после: когда фреймворк вынесли, сложность никуда не переехала. Прямые вызовы модели, обычные ветвления, обычная обработка текста — та же форма, что разобрана в первом случае этой ступени: явные шаги и явная проверка между ними, без слоя, который прячет происходящее внутри, — оказались достаточны с самого начала. Именно это стоит за фразой «we could just code»: фреймворк решал проблему, которой у команды не было, и создавал проблему, которой без него не было бы.</a:t>
            </a:r>
          </a:p>
          <a:p/>
          <a:p>
            <a:r>
              <a:t>Это наблюдение не одиноко. Anthropic в материале Building Effective Agents (19 декабря 2024) советует то же самое и почти теми же словами: искать простейшее возможное решение и повышать сложность только тогда, когда она действительно нужна; начинать с прямых вызовов API модели, потому что многие приёмы укладываются в несколько строк кода. Про фреймворки там сказано отдельно: они добавляют лишние слои абстракции, скрывающие сами промпты и ответы, и этим усложняют отладку — то же слово «слои», что в реплике, с которой этот случай начинался. Фреймворк берут тогда, когда он доказанно снимает реальную сложность, и понимают код под ним.</a:t>
            </a:r>
          </a:p>
          <a:p/>
          <a:p>
            <a:r>
              <a:t>Три случая ступени держат одну ось с трёх сторон. Первый показал, где цепочки хватает и что именно её ломает, если сэкономить на проверке между шагами. Второй — во что превращается та же экономия, когда шаг после непроверенного результата оказывается необратимым и дорогим: списание в сотни миллионов и закрытая программа. Третий — что происходит, когда сверху добавляют сложность, которой задача не требовала: фреймворк покупает непрозрачность там, где хватило бы простого кода.</a:t>
            </a:r>
          </a:p>
          <a:p/>
          <a:p>
            <a:r>
              <a:t>Дальше ось поворачивается. У цепочки один фиксированный порядок шагов, и он одинаков для всего, что в неё приходит. Вопрос по оплате, жалоба и запрос в юридический отдел требуют разных шагов, разной базы знаний и разной глубины проверки. Отсюда вопрос, которым кончается ступень: что делать, когда в одну точку приходят входы, которым нужны разные порядки шагов? Ответ — выбор одного из нескольких заранее заданных маршрутов по типу входа.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ступень кончилась на простой вещи: в один ящик приходят письма, которым нужна разная</a:t>
            </a:r>
          </a:p>
          <a:p>
            <a:r>
              <a:t>обработка, и один фиксированный порядок шагов начинает обслуживать их всех через ветвления,</a:t>
            </a:r>
          </a:p>
          <a:p>
            <a:r>
              <a:t>которые копятся внутри шага классификации. Чем разнороднее поток, тем больше таких ветвлений,</a:t>
            </a:r>
          </a:p>
          <a:p>
            <a:r>
              <a:t>и тем хуже видно, что именно происходит внутри. Отсюда начинается эта ступень: ветвление</a:t>
            </a:r>
          </a:p>
          <a:p>
            <a:r>
              <a:t>выносится наружу, в отдельные маршруты, и тогда метка перестаёт быть внутренней деталью</a:t>
            </a:r>
          </a:p>
          <a:p>
            <a:r>
              <a:t>одного прогона.</a:t>
            </a:r>
          </a:p>
          <a:p/>
          <a:p>
            <a:r>
              <a:t>Прежде чем разбирать сами маршруты, стоит посмотреть на шаг, который их выбирает. Цепочка</a:t>
            </a:r>
          </a:p>
          <a:p>
            <a:r>
              <a:t>разбирает письма по одному: первый вызов решает, к какой из четырёх категорий письмо</a:t>
            </a:r>
          </a:p>
          <a:p>
            <a:r>
              <a:t>относится — биллинг, техподдержка, жалоба, спам, — второй пишет черновик ответа, человек</a:t>
            </a:r>
          </a:p>
          <a:p>
            <a:r>
              <a:t>проверяет перед отправкой. От первого вызова нужно одно слово. Приходит абзац: модель сначала</a:t>
            </a:r>
          </a:p>
          <a:p>
            <a:r>
              <a:t>объясняет себе, почему письмо похоже на жалобу, и называет категорию в конце этого объяснения.</a:t>
            </a:r>
          </a:p>
          <a:p>
            <a:r>
              <a:t>Слово приходится выдёргивать из текста, который никто читать не собирался.</a:t>
            </a:r>
          </a:p>
          <a:p/>
          <a:p>
            <a:r>
              <a:t>Это заметно по счетам. Поток в ящик поддержки вырос — туда свели почту отдела продаж и форму</a:t>
            </a:r>
          </a:p>
          <a:p>
            <a:r>
              <a:t>с сайта, и в день релиза за час приходит двести писем вместо двадцати. Дежурный открывает</a:t>
            </a:r>
          </a:p>
          <a:p>
            <a:r>
              <a:t>вечером панель расходов на внешние вызовы и видит, что шаг классификации стоит почти столько</a:t>
            </a:r>
          </a:p>
          <a:p>
            <a:r>
              <a:t>же, сколько шаг черновика. Черновик — связный ответ клиенту, написанный заново под конкретное</a:t>
            </a:r>
          </a:p>
          <a:p>
            <a:r>
              <a:t>письмо. Классификация — выбор одного слова из списка, который известен заранее. Одинаковая</a:t>
            </a:r>
          </a:p>
          <a:p>
            <a:r>
              <a:t>цена у этих двух задач означает, что в устройстве что-то перепутано.</a:t>
            </a:r>
          </a:p>
          <a:p/>
          <a:p>
            <a:r>
              <a:t>Перепутана форма ответа. Задача шага классификации по своей природе — вернуть одно значение</a:t>
            </a:r>
          </a:p>
          <a:p>
            <a:r>
              <a:t>из короткого известного списка. Модель, которую сюда подключили просто потому, что она уже</a:t>
            </a:r>
          </a:p>
          <a:p>
            <a:r>
              <a:t>стояла на соседнем шаге, умеет отвечать текстом и платит за каждое слово этого текста, даже</a:t>
            </a:r>
          </a:p>
          <a:p>
            <a:r>
              <a:t>когда дальше используется одна подстрока. Следующие экраны разбирают ровно это: во что</a:t>
            </a:r>
          </a:p>
          <a:p>
            <a:r>
              <a:t>превращается такой шаг, когда от него начинает зависеть маршрут, и какими способами его</a:t>
            </a:r>
          </a:p>
          <a:p>
            <a:r>
              <a:t>вообще можно построить.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Разница между меткой для следующего шага той же цепочки и меткой, которая выбирает ветку,</a:t>
            </a:r>
          </a:p>
          <a:p>
            <a:r>
              <a:t>выглядит организационной. На деле она меняет требования к самому шагу. Внутри одной цепочки</a:t>
            </a:r>
          </a:p>
          <a:p>
            <a:r>
              <a:t>неточная формулировка категории терпима: следующий шаг читает тот же текст письма и способен</a:t>
            </a:r>
          </a:p>
          <a:p>
            <a:r>
              <a:t>её компенсировать. На развилке решение окончательное. Письмо уезжает в одну из четырёх веток,</a:t>
            </a:r>
          </a:p>
          <a:p>
            <a:r>
              <a:t>и о неверной метке узнают только тогда, когда клиент напишет снова с вопросом, почему ему</a:t>
            </a:r>
          </a:p>
          <a:p>
            <a:r>
              <a:t>ответили про другое.</a:t>
            </a:r>
          </a:p>
          <a:p/>
          <a:p>
            <a:r>
              <a:t>У каждой ветки своя дальнейшая логика, и отсюда четыре разные цены одной и той же ошибки.</a:t>
            </a:r>
          </a:p>
          <a:p>
            <a:r>
              <a:t>Биллинг идёт в ветку, которая запрашивает статус оплаты через отдельный внутренний сервис:</a:t>
            </a:r>
          </a:p>
          <a:p>
            <a:r>
              <a:t>при неверной метке этот запрос просто не будет сделан, и ответ уйдёт без данных, ради которых</a:t>
            </a:r>
          </a:p>
          <a:p>
            <a:r>
              <a:t>ветка существует. Техподдержка подтягивает в черновик контекст из базы знаний по метке —</a:t>
            </a:r>
          </a:p>
          <a:p>
            <a:r>
              <a:t>той самой, что выбрал первый шаг; промахнулись меткой, значит, в черновик уехала чужая тема,</a:t>
            </a:r>
          </a:p>
          <a:p>
            <a:r>
              <a:t>и ответ получится складным и мимо вопроса. Жалоба уходит в ветку с пометкой «срочно» и</a:t>
            </a:r>
          </a:p>
          <a:p>
            <a:r>
              <a:t>коротким сроком ответа: неверная метка означает сорванный срок, по которому никто даже не</a:t>
            </a:r>
          </a:p>
          <a:p>
            <a:r>
              <a:t>вёл счётчика, потому что для системы это письмо жалобой не было. Спам уходит в архив, человек</a:t>
            </a:r>
          </a:p>
          <a:p>
            <a:r>
              <a:t>его уже не увидит: настоящее обращение клиента, помеченное как спам, исчезает из поля зрения</a:t>
            </a:r>
          </a:p>
          <a:p>
            <a:r>
              <a:t>целиком. Эта четвёртая цена самая дорогая, и она же самая тихая.</a:t>
            </a:r>
          </a:p>
          <a:p/>
          <a:p>
            <a:r>
              <a:t>Отсюда главное наблюдение сцены: цена ошибки живёт в том, что делает ветка за шагом</a:t>
            </a:r>
          </a:p>
          <a:p>
            <a:r>
              <a:t>классификации, и растёт вместе с её полномочиями. Сам шаг стоит доли копейки, а решение,</a:t>
            </a:r>
          </a:p>
          <a:p>
            <a:r>
              <a:t>которое он принимает, стоит потерянного клиента. Это несовпадение и ставит следующий вопрос:</a:t>
            </a:r>
          </a:p>
          <a:p>
            <a:r>
              <a:t>чем считать метку на таком шаге и сколько за неё разумно платить.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ни одна не отмечена как верная. У каждой есть сильная сторона, и честный</a:t>
            </a:r>
          </a:p>
          <a:p>
            <a:r>
              <a:t>выбор начинается с них.</a:t>
            </a:r>
          </a:p>
          <a:p/>
          <a:p>
            <a:r>
              <a:t>Первый: оставить как есть. Менять нечего, цепочка работает, метку достают из текстового</a:t>
            </a:r>
          </a:p>
          <a:p>
            <a:r>
              <a:t>ответа разбором строки. Второй: правила руками — список ключевых слов и условий «если — то».</a:t>
            </a:r>
          </a:p>
          <a:p>
            <a:r>
              <a:t>Предсказуемо и дёшево, разработчик в любой момент скажет, какое правило сработало на этом</a:t>
            </a:r>
          </a:p>
          <a:p>
            <a:r>
              <a:t>письме. Третий: отдельная маленькая модель-классификатор. Звучит как технически аккуратное</a:t>
            </a:r>
          </a:p>
          <a:p>
            <a:r>
              <a:t>решение — у классификации своя модель, у генерации ответа своя, обязанности разведены.</a:t>
            </a:r>
          </a:p>
          <a:p>
            <a:r>
              <a:t>Четвёртый: decision-модель, вызов, который возвращает типизированное значение. Самый</a:t>
            </a:r>
          </a:p>
          <a:p>
            <a:r>
              <a:t>незнакомый из четырёх, и ровно поэтому его выбирают реже остальных.</a:t>
            </a:r>
          </a:p>
          <a:p/>
          <a:p>
            <a:r>
              <a:t>У всех четырёх есть общее, и его полезно заметить до разбора: ни один не меняет набор</a:t>
            </a:r>
          </a:p>
          <a:p>
            <a:r>
              <a:t>категорий и не меняет письмо. Меняется только то, чем шаг классификации вычисляет свой</a:t>
            </a:r>
          </a:p>
          <a:p>
            <a:r>
              <a:t>ответ. Именно это измерение разбор дальше и разводит. Цифр и названий продуктов на</a:t>
            </a:r>
          </a:p>
          <a:p>
            <a:r>
              <a:t>карточках нет намеренно: сравнить их по цене прямо здесь невозможно, и выбор приходится</a:t>
            </a:r>
          </a:p>
          <a:p>
            <a:r>
              <a:t>делать рассуждением о том, что задача на самом деле требует от этого шага.</a:t>
            </a:r>
          </a:p>
          <a:p/>
          <a:p>
            <a:r>
              <a:t>Полезно ещё до разбора посмотреть на собственный пайплайн: какой из четырёх вариантов там</a:t>
            </a:r>
          </a:p>
          <a:p>
            <a:r>
              <a:t>стоит сейчас. Чаще всего это первый, и выбирали его редко сравнением с остальными тремя.</a:t>
            </a:r>
          </a:p>
          <a:p>
            <a:r>
              <a:t>Обычная причина проще: в момент написания первой версии кода этот вариант требовал меньше</a:t>
            </a:r>
          </a:p>
          <a:p>
            <a:r>
              <a:t>всего новых решений — вызов модели уже был настроен на соседнем шаге, оставалось дописать</a:t>
            </a:r>
          </a:p>
          <a:p>
            <a:r>
              <a:t>ещё один промпт. Такой выбор сам по себе разумен; проблема начинается тогда, когда он переживает момент, в который шаг</a:t>
            </a:r>
          </a:p>
          <a:p>
            <a:r>
              <a:t>классификации стал развилкой с четырьмя разными ценами ошибки.</a:t>
            </a:r>
          </a:p>
          <a:p/>
          <a:p>
            <a:r>
              <a:t>Выбор стоит сделать до разбора, даже читая этот текст в одиночку: дальше три варианта из</a:t>
            </a:r>
          </a:p>
          <a:p>
            <a:r>
              <a:t>четырёх снимаются одним движением, и собственный выбор, сделанный заранее, показывает,</a:t>
            </a:r>
          </a:p>
          <a:p>
            <a:r>
              <a:t>насколько привычка опережает рассуждение.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первых варианта выглядят как три разные инженерные позиции, и спорить о них можно долго.</a:t>
            </a:r>
          </a:p>
          <a:p>
            <a:r>
              <a:t>Общего у них больше, чем различий: каждый улучшает угадывание категории. Полный вызов модели</a:t>
            </a:r>
          </a:p>
          <a:p>
            <a:r>
              <a:t>угадывает гибче всех, правила руками — предсказуемее всех, отдельная маленькая модель —</a:t>
            </a:r>
          </a:p>
          <a:p>
            <a:r>
              <a:t>дешевле первого и обобщённее второго. Все трое соревнуются на одной дистанции. Между тем</a:t>
            </a:r>
          </a:p>
          <a:p>
            <a:r>
              <a:t>задача стоит иначе: от шага нужно одно значение из четырёх, а генеративная модель по своему</a:t>
            </a:r>
          </a:p>
          <a:p>
            <a:r>
              <a:t>устройству отвечает текстом, и чтобы получить из текста метку, его приходится разбирать.</a:t>
            </a:r>
          </a:p>
          <a:p>
            <a:r>
              <a:t>Разбор ломается молча — метка один раз оказалась в скобках, другой раз написана со</a:t>
            </a:r>
          </a:p>
          <a:p>
            <a:r>
              <a:t>строчной буквы, и код, искавший точный шаблон, ничего не нашёл. На развилке это означает</a:t>
            </a:r>
          </a:p>
          <a:p>
            <a:r>
              <a:t>письмо, уехавшее в случайную ветку.</a:t>
            </a:r>
          </a:p>
          <a:p/>
          <a:p>
            <a:r>
              <a:t>Ограничения у каждого из трёх свои, и в работе они важны. Полный вызов платит за токены</a:t>
            </a:r>
          </a:p>
          <a:p>
            <a:r>
              <a:t>вывода, которых никто не читает, и держится на разборе чужого формата. Правила руками не</a:t>
            </a:r>
          </a:p>
          <a:p>
            <a:r>
              <a:t>обобщаются на формулировки, которых никто не предусмотрел, — клиенты пишут про возврат</a:t>
            </a:r>
          </a:p>
          <a:p>
            <a:r>
              <a:t>десятком разных способов, и письмо без нужного слова не распознаётся вовсе. Отдельная</a:t>
            </a:r>
          </a:p>
          <a:p>
            <a:r>
              <a:t>маленькая модель быстрее и дешевле полного вызова, но её надо обучать и поддерживать</a:t>
            </a:r>
          </a:p>
          <a:p>
            <a:r>
              <a:t>отдельно, а пятая категория, если она появится, означает переобучение вместо правки промпта.</a:t>
            </a:r>
          </a:p>
          <a:p>
            <a:r>
              <a:t>Эти ограничения стоит знать, и всё же они второстепенны: они подсказывают, какой из трёх</a:t>
            </a:r>
          </a:p>
          <a:p>
            <a:r>
              <a:t>взять, пока вопрос стоит в прежней рамке.</a:t>
            </a:r>
          </a:p>
          <a:p/>
          <a:p>
            <a:r>
              <a:t>Поворот кейса в том, что рамку надо сменить. Прежде чем выбирать, чем угадывать категорию,</a:t>
            </a:r>
          </a:p>
          <a:p>
            <a:r>
              <a:t>стоит спросить, в каком виде шаг вообще обязан отдавать ответ. Задача по своей природе</a:t>
            </a:r>
          </a:p>
          <a:p>
            <a:r>
              <a:t>возвращает значение из короткого списка; форма ответа, которую мы ей навязали, — свободный</a:t>
            </a:r>
          </a:p>
          <a:p>
            <a:r>
              <a:t>текст. Отсюда и двойная плата: сначала за сочинение объяснения, потом за его разбор. Четвёртый</a:t>
            </a:r>
          </a:p>
          <a:p>
            <a:r>
              <a:t>вариант отвечает именно на этот вопрос — он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способ отличается от трёх предыдущих по другой оси. Те меняли, чем вычисляется</a:t>
            </a:r>
          </a:p>
          <a:p>
            <a:r>
              <a:t>категория; этот меняет, в каком виде шаг обязан ответить. Вместо текста, из которого потом</a:t>
            </a:r>
          </a:p>
          <a:p>
            <a:r>
              <a:t>достают метку, на выходе сразу значение: уверенность от нуля до единицы в том, что письмо —</a:t>
            </a:r>
          </a:p>
          <a:p>
            <a:r>
              <a:t>жалоба, распределение вероятностей сразу по всем четырём категориям, числовой балл вдоль</a:t>
            </a:r>
          </a:p>
          <a:p>
            <a:r>
              <a:t>заданной шкалы. Разбирать нечего, ломаться разбору негде, и платить за сочинение объяснения,</a:t>
            </a:r>
          </a:p>
          <a:p>
            <a:r>
              <a:t>которое никто не прочтёт, тоже не приходится.</a:t>
            </a:r>
          </a:p>
          <a:p/>
          <a:p>
            <a:r>
              <a:t>Класс таких вызовов на момент записи представляет Jev, продукт компании TypeSafe AI. Письмо</a:t>
            </a:r>
          </a:p>
          <a:p>
            <a:r>
              <a:t>уходит туда как вход, обратно приходит типизированное значение — уверенность, распределение</a:t>
            </a:r>
          </a:p>
          <a:p>
            <a:r>
              <a:t>по категориям или балл. Такой вызов заметно дешевле и быстрее разговорного на той же задаче:</a:t>
            </a:r>
          </a:p>
          <a:p>
            <a:r>
              <a:t>выбор одного значения из короткого списка требует меньше вычислений, чем связный абзац, и</a:t>
            </a:r>
          </a:p>
          <a:p>
            <a:r>
              <a:t>цена это отражает. Продукт молодой, и имена в этой нише меняются быстрее механики:</a:t>
            </a:r>
          </a:p>
          <a:p>
            <a:r>
              <a:t>ориентироваться стоит на форму ответа — типизированное значение вместо свободного текста, —</a:t>
            </a:r>
          </a:p>
          <a:p>
            <a:r>
              <a:t>а конкретного поставщика проверять на тот день, когда задача встала.</a:t>
            </a:r>
          </a:p>
          <a:p/>
          <a:p>
            <a:r>
              <a:t>Своя цена есть и у этого способа, и она ровно обратная преимуществу. Decision-модель не</a:t>
            </a:r>
          </a:p>
          <a:p>
            <a:r>
              <a:t>объясняет выбор: рядом с числом нет ни одной причины. Для почтового маршрутизатора это</a:t>
            </a:r>
          </a:p>
          <a:p>
            <a:r>
              <a:t>терпимо — ветки известны, ошибка видна по жалобе клиента. Для решения, которое касается</a:t>
            </a:r>
          </a:p>
          <a:p>
            <a:r>
              <a:t>человека, непрозрачность превращается в отдельный риск, и к нему разбор вернётся на</a:t>
            </a:r>
          </a:p>
          <a:p>
            <a:r>
              <a:t>следующем экране.</a:t>
            </a:r>
          </a:p>
          <a:p/>
          <a:p>
            <a:r>
              <a:t>Вопрос, который стоит задать своему пайплайну прямо сегодня, измеряется без исследований:</a:t>
            </a:r>
          </a:p>
          <a:p>
            <a:r>
              <a:t>сколько в нём шагов гоняют полный разговорный вызов, чтобы в итоге взять из ответа одно</a:t>
            </a:r>
          </a:p>
          <a:p>
            <a:r>
              <a:t>слово или одну цифру. Посчитать такие шаги можно за вечер; у каждого из них есть</a:t>
            </a:r>
          </a:p>
          <a:p>
            <a:r>
              <a:t>сегодняшняя цена в токенах и завтрашняя — в разборе, который однажды молча не найдёт</a:t>
            </a:r>
          </a:p>
          <a:p>
            <a:r>
              <a:t>нужного слова.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ограничения самого инструмента. Автор Jev провёл маленький эксперимент:</a:t>
            </a:r>
          </a:p>
          <a:p>
            <a:r>
              <a:t>спросил у модели «да» или «нет» на вопрос, хороший ли это город, для каждого города залива</a:t>
            </a:r>
          </a:p>
          <a:p>
            <a:r>
              <a:t>Сан-Франциско. Выше всех оказался Купертино, ниже всех — Восточный Пало-Альто. Это соседние</a:t>
            </a:r>
          </a:p>
          <a:p>
            <a:r>
              <a:t>города с резко разным уровнем достатка, и объяснения к такой паре оценок не было и не могло</a:t>
            </a:r>
          </a:p>
          <a:p>
            <a:r>
              <a:t>быть: формат ответа — число. Какой признак потянул оценку вниз — доход жителей, цены на</a:t>
            </a:r>
          </a:p>
          <a:p>
            <a:r>
              <a:t>жильё, что-то третье, — из самого ответа не определить. Автор прямо написал, что ему от</a:t>
            </a:r>
          </a:p>
          <a:p>
            <a:r>
              <a:t>этого некомфортно, и что для оценки кандидатов на работу такой инструмент он бы не взял:</a:t>
            </a:r>
          </a:p>
          <a:p>
            <a:r>
              <a:t>число выглядит объективным, а за ним ничего не видно.</a:t>
            </a:r>
          </a:p>
          <a:p/>
          <a:p>
            <a:r>
              <a:t>Второй слой глубже и от инструмента не зависит вовсе. Он одинаково работает и для полного</a:t>
            </a:r>
          </a:p>
          <a:p>
            <a:r>
              <a:t>вызова модели, и для правил руками, и для decision-модели. У четырёх маршрутов — биллинг,</a:t>
            </a:r>
          </a:p>
          <a:p>
            <a:r>
              <a:t>техподдержка, жалоба, спам — есть общее свойство: письмо обязано попасть в один из них.</a:t>
            </a:r>
          </a:p>
          <a:p>
            <a:r>
              <a:t>Когда приходит письмо пятого рода, скажем, предложение о партнёрстве с просьбой прислать</a:t>
            </a:r>
          </a:p>
          <a:p>
            <a:r>
              <a:t>прайс и договор, маршрутизатор всё равно обязан вернуть что-то из четырёх. Он возвращает</a:t>
            </a:r>
          </a:p>
          <a:p>
            <a:r>
              <a:t>ближайшее по сходству — и уверенно, потому что сказать «подходящей ветки нет» ему нечем:</a:t>
            </a:r>
          </a:p>
          <a:p>
            <a:r>
              <a:t>такого значения в формате ответа просто не предусмотрено.</a:t>
            </a:r>
          </a:p>
          <a:p/>
          <a:p>
            <a:r>
              <a:t>Здесь и живёт настоящая опасность непрозрачности. Будь на выходе честно низкая уверенность</a:t>
            </a:r>
          </a:p>
          <a:p>
            <a:r>
              <a:t>именно в таких случаях, систему можно было бы настроить отправлять их человеку. Но число на</a:t>
            </a:r>
          </a:p>
          <a:p>
            <a:r>
              <a:t>выходе низкое там, где модель колеблется между похожими вариантами, и совпадать с неверной</a:t>
            </a:r>
          </a:p>
          <a:p>
            <a:r>
              <a:t>меткой оно не обязано: уверенность и правильность — разные вещи, и формат ответа их совпадения</a:t>
            </a:r>
          </a:p>
          <a:p>
            <a:r>
              <a:t>не гарантирует. Письмо уезжает в чужую ветку, а узнают об этом от клиента, который спрашивает,</a:t>
            </a:r>
          </a:p>
          <a:p>
            <a:r>
              <a:t>почему ему ответили про другое. Для партнёрского предложения, уехавшего в техподдержку, это</a:t>
            </a:r>
          </a:p>
          <a:p>
            <a:r>
              <a:t>значит потерянную сделку, и заметят её нескоро — отдел продаж это письмо никогда не увидит.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Эти два числа — одна и та же программа и одни и те же пациенты, посчитанные двумя</a:t>
            </a:r>
          </a:p>
          <a:p>
            <a:r>
              <a:t>способами. 17,7% — доля чёрных пациентов, которых коммерческий алгоритм</a:t>
            </a:r>
          </a:p>
          <a:p>
            <a:r>
              <a:t>риск-прогнозирования действительно направляет в программу усиленного наблюдения. 46,5% —</a:t>
            </a:r>
          </a:p>
          <a:p>
            <a:r>
              <a:t>доля, которая получилась бы, считай он ту величину, ради которой его ставили: реальную</a:t>
            </a:r>
          </a:p>
          <a:p>
            <a:r>
              <a:t>медицинскую потребность. Разница в двадцать восемь процентных пунктов появляется без</a:t>
            </a:r>
          </a:p>
          <a:p>
            <a:r>
              <a:t>единой строчки про расу в коде.</a:t>
            </a:r>
          </a:p>
          <a:p/>
          <a:p>
            <a:r>
              <a:t>Устроен этот алгоритм ровно как маршрутизатор из предыдущего кейса. На входе данные</a:t>
            </a:r>
          </a:p>
          <a:p>
            <a:r>
              <a:t>пациента, на выходе одна метка — балл риска, и эта метка определяет дальнейший маршрут</a:t>
            </a:r>
          </a:p>
          <a:p>
            <a:r>
              <a:t>человека через систему здравоохранения. Отдельного шага, где кто-то вручную перепроверяет</a:t>
            </a:r>
          </a:p>
          <a:p>
            <a:r>
              <a:t>каждое решение, в этой схеме нет. Внешне это ничем не похоже на письмо, падающее в один из</a:t>
            </a:r>
          </a:p>
          <a:p>
            <a:r>
              <a:t>четырёх почтовых ящиков; внутри — та же самая операция.</a:t>
            </a:r>
          </a:p>
          <a:p/>
          <a:p>
            <a:r>
              <a:t>Куда именно направляет этот балл, стоит сказать подробно, иначе числа останутся</a:t>
            </a:r>
          </a:p>
          <a:p>
            <a:r>
              <a:t>абстракцией. Программы усиленного наблюдения — это дополнительная медицинская помощь для</a:t>
            </a:r>
          </a:p>
          <a:p>
            <a:r>
              <a:t>пациентов, чья болезнь ещё управляема, но может перейти в тяжёлую стадию без вмешательства:</a:t>
            </a:r>
          </a:p>
          <a:p>
            <a:r>
              <a:t>диабет на ранней стадии, начинающаяся сердечная недостаточность. Попасть туда означает</a:t>
            </a:r>
          </a:p>
          <a:p>
            <a:r>
              <a:t>получить персонального координатора лечения, более частые осмотры, раннее вмешательство при</a:t>
            </a:r>
          </a:p>
          <a:p>
            <a:r>
              <a:t>ухудшении. Остаться снаружи означает обычный режим наблюдения — и обращение за помощью</a:t>
            </a:r>
          </a:p>
          <a:p>
            <a:r>
              <a:t>тогда, когда состояние обострилось настолько, что его замечают без всякого алгоритма. Между</a:t>
            </a:r>
          </a:p>
          <a:p>
            <a:r>
              <a:t>этими двумя маршрутами стоит одно число, и человек о нём не знает.</a:t>
            </a:r>
          </a:p>
          <a:p/>
          <a:p>
            <a:r>
              <a:t>Масштаб у этой развилки не больничный и не региональный: такие модели участвуют в решениях</a:t>
            </a:r>
          </a:p>
          <a:p>
            <a:r>
              <a:t>о помощи приблизительно для 200 миллионов человек в год в США — больше, чем население любой</a:t>
            </a:r>
          </a:p>
          <a:p>
            <a:r>
              <a:t>отдельной крупной европейской страны. На таком масштабе разница в проценте направленных</a:t>
            </a:r>
          </a:p>
          <a:p>
            <a:r>
              <a:t>означает миллионы конкретных решений. Дальше — замер, на котором разрыв виден прямо, без</a:t>
            </a:r>
          </a:p>
          <a:p>
            <a:r>
              <a:t>статистики: два столбика разной высоты под одной и той же подписью.</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показывает один замер исследования. Пациентов с сопоставимым баллом риска разделили</a:t>
            </a:r>
          </a:p>
          <a:p>
            <a:r>
              <a:t>на две группы и посмотрели на их здоровье напрямую — по числу активных хронических</a:t>
            </a:r>
          </a:p>
          <a:p>
            <a:r>
              <a:t>заболеваний, по лабораторным показателям, минуя оценку самого алгоритма. Среди тех, кого</a:t>
            </a:r>
          </a:p>
          <a:p>
            <a:r>
              <a:t>алгоритм отнёс к самому высокому разряду риска — к тому самому, по которому и отбирают в</a:t>
            </a:r>
          </a:p>
          <a:p>
            <a:r>
              <a:t>программу, — у чёрных пациентов таких заболеваний оказалось в среднем на 26,3% больше.</a:t>
            </a:r>
          </a:p>
          <a:p>
            <a:r>
              <a:t>Балл при этом один и тот же: подпись под обоими столбиками одинаковая, высота разная.</a:t>
            </a:r>
          </a:p>
          <a:p/>
          <a:p>
            <a:r>
              <a:t>Что это значит для одного человека, видно на составе его расходов. Денег система тратит на</a:t>
            </a:r>
          </a:p>
          <a:p>
            <a:r>
              <a:t>него примерно столько же, сколько на пациента из левого столбика, — и это ровно то, что</a:t>
            </a:r>
          </a:p>
          <a:p>
            <a:r>
              <a:t>алгоритм видит. Но уходят эти деньги на другое: на экстренные визиты при обострениях</a:t>
            </a:r>
          </a:p>
          <a:p>
            <a:r>
              <a:t>диабета и давления, то есть на помощь, которую зовут, когда уже прихватило. Болезнь к</a:t>
            </a:r>
          </a:p>
          <a:p>
            <a:r>
              <a:t>этому моменту управляема хуже, а в числах она выглядит так же.</a:t>
            </a:r>
          </a:p>
          <a:p/>
          <a:p>
            <a:r>
              <a:t>Дальше решает арифметика списка. Балл риска означает для координатора программы одно</a:t>
            </a:r>
          </a:p>
          <a:p>
            <a:r>
              <a:t>конкретное действие: включить пациента в список на этой неделе или не включить. Список</a:t>
            </a:r>
          </a:p>
          <a:p>
            <a:r>
              <a:t>ограничен числом свободных мест, выше в нём стоят пациенты с более высоким баллом. Человек</a:t>
            </a:r>
          </a:p>
          <a:p>
            <a:r>
              <a:t>с более тяжёлым состоянием и тем же баллом получает ровно такой же шанс попасть в список,</a:t>
            </a:r>
          </a:p>
          <a:p>
            <a:r>
              <a:t>что и человек с более лёгким, потому что оба спрятаны за одним числом.</a:t>
            </a:r>
          </a:p>
          <a:p/>
          <a:p>
            <a:r>
              <a:t>Одна заниженная оценка у одного пациента была бы статистическим шумом — случайностью</a:t>
            </a:r>
          </a:p>
          <a:p>
            <a:r>
              <a:t>измерения, от которой не застрахована никакая система. Здесь ошибка другой природы. Если</a:t>
            </a:r>
          </a:p>
          <a:p>
            <a:r>
              <a:t>принцип, по которому алгоритм определяет нуждаемость, систематически сдвигает оценку целой</a:t>
            </a:r>
          </a:p>
          <a:p>
            <a:r>
              <a:t>группы вниз относительно настоящего состояния, разница проявится у всех пациентов этой</a:t>
            </a:r>
          </a:p>
          <a:p>
            <a:r>
              <a:t>группы сразу, в одном направлении, с одной и той же постоянной величиной. Ровно так шум</a:t>
            </a:r>
          </a:p>
          <a:p>
            <a:r>
              <a:t>отличают от смещения: шум гасится при усреднении по множеству пациентов, смещение от</a:t>
            </a:r>
          </a:p>
          <a:p>
            <a:r>
              <a:t>усреднения только крепнет. Значит, искать надо в самом механизме — расы на входе алгоритма</a:t>
            </a:r>
          </a:p>
          <a:p>
            <a:r>
              <a:t>нет вообще, и вопрос в том, что встало на её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Расы на входе этого алгоритма нет вообще: ни в одном из полей, которые он использует,</a:t>
            </a:r>
          </a:p>
          <a:p>
            <a:r>
              <a:t>её нет ни прямо, ни через очевидный суррогат вроде почтового индекса. Разработчики её туда</a:t>
            </a:r>
          </a:p>
          <a:p>
            <a:r>
              <a:t>не закладывали. Значит, разрыв в 26,3% берётся из чего-то другого — из величины, которую</a:t>
            </a:r>
          </a:p>
          <a:p>
            <a:r>
              <a:t>алгоритм считает вместо той, что ему нужна.</a:t>
            </a:r>
          </a:p>
          <a:p/>
          <a:p>
            <a:r>
              <a:t>Нужна ему «потребность в медицинской помощи». Прямого, однозначного числового измерения</a:t>
            </a:r>
          </a:p>
          <a:p>
            <a:r>
              <a:t>этой величины не существует вовсе: её нельзя снять прибором, нельзя вытащить одним запросом</a:t>
            </a:r>
          </a:p>
          <a:p>
            <a:r>
              <a:t>из базы, нельзя получить от врача в виде одного числа, сопоставимого между пациентами. И</a:t>
            </a:r>
          </a:p>
          <a:p>
            <a:r>
              <a:t>это не особенность медицины — так устроено большинство величин, ради которых строят</a:t>
            </a:r>
          </a:p>
          <a:p>
            <a:r>
              <a:t>классификаторы. Разработчик обязан взять взамен что-то измеримое.</a:t>
            </a:r>
          </a:p>
          <a:p/>
          <a:p>
            <a:r>
              <a:t>Четыре карточки на экране — это и есть реальный список, из которого такой выбор делается:</a:t>
            </a:r>
          </a:p>
          <a:p>
            <a:r>
              <a:t>число предыдущих диагнозов; прошлые расходы на здравоохранение; количество выписанных</a:t>
            </a:r>
          </a:p>
          <a:p>
            <a:r>
              <a:t>препаратов; число обращений в больницу за год. Все четыре уже существуют в системе до того,</a:t>
            </a:r>
          </a:p>
          <a:p>
            <a:r>
              <a:t>как кто-то начал строить алгоритм. Их не нужно собирать заново, не нужно спрашивать у врача</a:t>
            </a:r>
          </a:p>
          <a:p>
            <a:r>
              <a:t>отдельно, не нужно ждать нового обследования: они лежат в истории страховых выплат и</a:t>
            </a:r>
          </a:p>
          <a:p>
            <a:r>
              <a:t>достаются оттуда запросом. Цена получить такой признак практически нулевая по сравнению с</a:t>
            </a:r>
          </a:p>
          <a:p>
            <a:r>
              <a:t>ценой организовать прямое измерение состояния здоровья каждого пациента.</a:t>
            </a:r>
          </a:p>
          <a:p/>
          <a:p>
            <a:r>
              <a:t>Каждая из четырёх кажется разумным кандидатом на первый взгляд, и в этом вся трудность</a:t>
            </a:r>
          </a:p>
          <a:p>
            <a:r>
              <a:t>выбора: все они измеримы, все связаны со здоровьем, ни одна не требует нового сбора данных.</a:t>
            </a:r>
          </a:p>
          <a:p>
            <a:r>
              <a:t>Угадывание здесь ничего не даст — работает только рассуждение о том, каким путём число</a:t>
            </a:r>
          </a:p>
          <a:p>
            <a:r>
              <a:t>попадает в базу. У каждого из четырёх этот путь свой, и на нём с числом что-то происходит</a:t>
            </a:r>
          </a:p>
          <a:p>
            <a:r>
              <a:t>помимо болезни. Стоит задержаться на двух вопросах: какой из четырёх кандидатов</a:t>
            </a:r>
          </a:p>
          <a:p>
            <a:r>
              <a:t>действительно использовал алгоритм Optum — и что в его числовой истории способно</a:t>
            </a:r>
          </a:p>
          <a:p>
            <a:r>
              <a:t>систематически смещаться из-за того, насколько по-разному у разных групп пациентов</a:t>
            </a:r>
          </a:p>
          <a:p>
            <a:r>
              <a:t>устроен доступ к медицине.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использовал прошлые расходы на здравоохранение. Логика выбора выглядит разумной и</a:t>
            </a:r>
          </a:p>
          <a:p>
            <a:r>
              <a:t>ровно так её и объясняют: расходы — очень экономный способ суммировать, сколько помощи</a:t>
            </a:r>
          </a:p>
          <a:p>
            <a:r>
              <a:t>человеку понадобилось, они лежат в истории страховых выплат, их не нужно чистить, не нужно</a:t>
            </a:r>
          </a:p>
          <a:p>
            <a:r>
              <a:t>собирать заново и не нужно просить у врача. И связь с болезнью в них настоящая: болеющий</a:t>
            </a:r>
          </a:p>
          <a:p>
            <a:r>
              <a:t>человек лечится чаще и дороже здорового. Ошибка спрятана во втором слое этой связи.</a:t>
            </a:r>
          </a:p>
          <a:p/>
          <a:p>
            <a:r>
              <a:t>В США чёрные пациенты исторически получают меньше медицинской помощи при той же тяжести</a:t>
            </a:r>
          </a:p>
          <a:p>
            <a:r>
              <a:t>заболевания: меньше визитов к врачу, меньше диагностических процедур, меньше направлений к</a:t>
            </a:r>
          </a:p>
          <a:p>
            <a:r>
              <a:t>специалистам при одних и тех же симптомах. Причины названы в самом исследовании и вокруг</a:t>
            </a:r>
          </a:p>
          <a:p>
            <a:r>
              <a:t>него — доход, расстояние до клиники, время, которое визит отнимает у рабочего дня, и</a:t>
            </a:r>
          </a:p>
          <a:p>
            <a:r>
              <a:t>доверие к врачу, без которого человек реже просит о дополнительной помощи и реже за неё</a:t>
            </a:r>
          </a:p>
          <a:p>
            <a:r>
              <a:t>платит. Значит, в прошлых расходах сложены две величины сразу: тяжесть болезни и лёгкость</a:t>
            </a:r>
          </a:p>
          <a:p>
            <a:r>
              <a:t>доступа к лечению. У чёрных пациентов вторая ниже при той же первой, и число на выходе</a:t>
            </a:r>
          </a:p>
          <a:p>
            <a:r>
              <a:t>ниже тоже.</a:t>
            </a:r>
          </a:p>
          <a:p/>
          <a:p>
            <a:r>
              <a:t>Алгоритм, обученный на связке «расходы предсказывают потребность», унаследовал это</a:t>
            </a:r>
          </a:p>
          <a:p>
            <a:r>
              <a:t>искажение целиком. Он честно выучил связь между прошлыми расходами и будущими затратами;</a:t>
            </a:r>
          </a:p>
          <a:p>
            <a:r>
              <a:t>эта связь в его входных данных была уже перекошена неравенством доступа, которое никто туда</a:t>
            </a:r>
          </a:p>
          <a:p>
            <a:r>
              <a:t>специально не закладывал. Результат — систематическая недооценка риска чёрных пациентов,</a:t>
            </a:r>
          </a:p>
          <a:p>
            <a:r>
              <a:t>причём ровно там, где алгоритм выглядит наиболее нейтральным: явного указания на расу в</a:t>
            </a:r>
          </a:p>
          <a:p>
            <a:r>
              <a:t>формуле нет ни одного. Масштаб искажения измерен прямо: подмена сократила больше чем вдвое</a:t>
            </a:r>
          </a:p>
          <a:p>
            <a:r>
              <a:t>число чёрных пациентов, направленных в программу усиленного наблюдения. Исправление цели —</a:t>
            </a:r>
          </a:p>
          <a:p>
            <a:r>
              <a:t>считать реальную медицинскую потребность — подняло бы их долю с 17,7% до 46,5%. Те же люди,</a:t>
            </a:r>
          </a:p>
          <a:p>
            <a:r>
              <a:t>те же диагнозы, другое распределение по списку. И это не двадцать клиник: такие модели</a:t>
            </a:r>
          </a:p>
          <a:p>
            <a:r>
              <a:t>участвуют в решениях о помощи приблизительно для 200 миллионов человек в год.</a:t>
            </a:r>
          </a:p>
          <a:p/>
          <a:p>
            <a:r>
              <a:t>Три остальных кандидата заслуживают отдельного слова, потому что ни один из них не был бы</a:t>
            </a:r>
          </a:p>
          <a:p>
            <a:r>
              <a:t>спасением. Все четыре числа измеряют одно и то же — зафиксированные контакты с медициной;</a:t>
            </a:r>
          </a:p>
          <a:p>
            <a:r>
              <a:t>болезнь попадает в них только через эти контакты. Диагнозы требуют визита и</a:t>
            </a:r>
          </a:p>
          <a:p>
            <a:r>
              <a:t>записи врача, препараты — ещё и выкупленного рецепта, обращения — дороги и рабочего дня.</a:t>
            </a:r>
          </a:p>
          <a:p>
            <a:r>
              <a:t>Расходы просто собирают эту историю полнее всех остальных, потому их и выбрали. Злого</a:t>
            </a:r>
          </a:p>
          <a:p>
            <a:r>
              <a:t>умысла в этой истории нет ни у кого: расу в формулу никто не закладывал, ничьё здоровье</a:t>
            </a:r>
          </a:p>
          <a:p>
            <a:r>
              <a:t>никто не собирался недооценивать. Классификатор взял удобный и легко измеримый сигнал</a:t>
            </a:r>
          </a:p>
          <a:p>
            <a:r>
              <a:t>вместо настоящего — и этим способом маршрутизация ломается на практике куда чаще, чем</a:t>
            </a:r>
          </a:p>
          <a:p>
            <a:r>
              <a:t>умышленной дискриминацией.</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Optum вскрыли одним сравнением. У алгоритма была удобная величина — прошлые расходы</a:t>
            </a:r>
          </a:p>
          <a:p>
            <a:r>
              <a:t>на лечение — и была нужная, та, ради которой его строили: насколько человек болен.</a:t>
            </a:r>
          </a:p>
          <a:p>
            <a:r>
              <a:t>Исследователи измерили нужную величину напрямую, по числу активных хронических</a:t>
            </a:r>
          </a:p>
          <a:p>
            <a:r>
              <a:t>заболеваний, и положили два ряда чисел рядом. Ряды разошлись, и разошлись в одну сторону.</a:t>
            </a:r>
          </a:p>
          <a:p>
            <a:r>
              <a:t>Этого расхождения хватило, чтобы назвать поломку и оценить её размер.</a:t>
            </a:r>
          </a:p>
          <a:p/>
          <a:p>
            <a:r>
              <a:t>Инструмент получился общий, и к нему тянется рука на любом следующем алгоритме: найди</a:t>
            </a:r>
          </a:p>
          <a:p>
            <a:r>
              <a:t>признак, который стоит вместо нужной величины, измерь нужную величину отдельно, сравни</a:t>
            </a:r>
          </a:p>
          <a:p>
            <a:r>
              <a:t>два ряда. Следующий кейс стоит здесь затем, чтобы этот инструмент попробовать второй раз.</a:t>
            </a:r>
          </a:p>
          <a:p>
            <a:r>
              <a:t>Он отработает честно и покажет, что сравнивать нечего: величины, которые считал налоговый</a:t>
            </a:r>
          </a:p>
          <a:p>
            <a:r>
              <a:t>алгоритм, подменять никому не пришлось. Разрыв по расе при этом никуда не делся.</a:t>
            </a:r>
          </a:p>
          <a:p/>
          <a:p>
            <a:r>
              <a:t>Повторить вопрос стоит и по второй причине. Один документированный случай подмены</a:t>
            </a:r>
          </a:p>
          <a:p>
            <a:r>
              <a:t>признака легко прочитать как особенность одной компании и одной отрасли: медицинские</a:t>
            </a:r>
          </a:p>
          <a:p>
            <a:r>
              <a:t>данные устроены неудачно, эта страховая собрала их небрежно. Второй случай — другое</a:t>
            </a:r>
          </a:p>
          <a:p>
            <a:r>
              <a:t>ведомство, другая профессиональная культура, другой порядок величин на входе, десятки</a:t>
            </a:r>
          </a:p>
          <a:p>
            <a:r>
              <a:t>миллионов деклараций ежегодно — и разрыв по расе появляется снова, в похожем диапазоне</a:t>
            </a:r>
          </a:p>
          <a:p>
            <a:r>
              <a:t>кратности. Один случай показывает инцидент. Два случая с разной механикой внутри</a:t>
            </a:r>
          </a:p>
          <a:p>
            <a:r>
              <a:t>показывают закономерность, а закономерность приходится закладывать в собственный проект</a:t>
            </a:r>
          </a:p>
          <a:p>
            <a:r>
              <a:t>заранее, до того как он поедет на живых данных.</a:t>
            </a:r>
          </a:p>
          <a:p/>
          <a:p>
            <a:r>
              <a:t>Если бы совпал ещё и конкретный признак — скажем, налоговый алгоритм тоже опирался бы на</a:t>
            </a:r>
          </a:p>
          <a:p>
            <a:r>
              <a:t>прошлые траты человека, — вывод был бы слабее: можно было бы заподозрить, что проблема</a:t>
            </a:r>
          </a:p>
          <a:p>
            <a:r>
              <a:t>сидит в этом одном признаке. Совпадает здесь другое. Совпадает то, что вместо нужной</a:t>
            </a:r>
          </a:p>
          <a:p>
            <a:r>
              <a:t>величины считается удобным.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Внутренние алгоритмы налоговой службы США выбирают, какие из поданных деклараций пойдут</a:t>
            </a:r>
          </a:p>
          <a:p>
            <a:r>
              <a:t>на проверку. Поток огромен, инспекторов на ручную проверку каждой декларации не хватает,</a:t>
            </a:r>
          </a:p>
          <a:p>
            <a:r>
              <a:t>и алгоритм заранее поднимает наверх тех, у кого проверка с наибольшей вероятностью найдёт</a:t>
            </a:r>
          </a:p>
          <a:p>
            <a:r>
              <a:t>ошибку или нарушение. Значительная часть этого отбора идёт через скрининг заявок на</a:t>
            </a:r>
          </a:p>
          <a:p>
            <a:r>
              <a:t>EITC — налоговый вычет для работников с низким доходом.</a:t>
            </a:r>
          </a:p>
          <a:p/>
          <a:p>
            <a:r>
              <a:t>Для заявителя EITC письмо о проверке означает вполне измеримые вещи. Это дни, потраченные</a:t>
            </a:r>
          </a:p>
          <a:p>
            <a:r>
              <a:t>на сбор документов. Это риск потерять часть уже рассчитанного возврата, которым семья</a:t>
            </a:r>
          </a:p>
          <a:p>
            <a:r>
              <a:t>успела распорядиться. EITC — вычет именно для тех, чей доход невелик и чей бюджет</a:t>
            </a:r>
          </a:p>
          <a:p>
            <a:r>
              <a:t>спланирован заранее на весь год с учётом уже заявленного возврата; задержка или отказ по</a:t>
            </a:r>
          </a:p>
          <a:p>
            <a:r>
              <a:t>итогам проверки бьёт по такому бюджету заметно сильнее, чем по бюджету налогоплательщика</a:t>
            </a:r>
          </a:p>
          <a:p>
            <a:r>
              <a:t>с более высоким и более устойчивым доходом. Одно и то же письмо стоит двум людям разных</a:t>
            </a:r>
          </a:p>
          <a:p>
            <a:r>
              <a:t>денег, и мерить эту цену приходится месяцами семейного плана.</a:t>
            </a:r>
          </a:p>
          <a:p/>
          <a:p>
            <a:r>
              <a:t>Теперь про сам перекос. Возьмём двух налогоплательщиков с очень похожими декларациями:</a:t>
            </a:r>
          </a:p>
          <a:p>
            <a:r>
              <a:t>тот же диапазон дохода, та же структура вычетов, то же претендование на EITC. Один белый,</a:t>
            </a:r>
          </a:p>
          <a:p>
            <a:r>
              <a:t>другой чёрный. По совместному исследованию Stanford и самой IRS, опубликованному в 2023</a:t>
            </a:r>
          </a:p>
          <a:p>
            <a:r>
              <a:t>году, чернокожих налогоплательщиков со схожими декларациями аудировали в 2,9–4,7 раза</a:t>
            </a:r>
          </a:p>
          <a:p>
            <a:r>
              <a:t>чаще. Цифру подтвердила сама IRS: после совместной работы с исследователями она объявила о</a:t>
            </a:r>
          </a:p>
          <a:p>
            <a:r>
              <a:t>намерении исправить процесс отбора.</a:t>
            </a:r>
          </a:p>
          <a:p/>
          <a:p>
            <a:r>
              <a:t>Расу алгоритм отбора не видит и не использует ни на одном шаге. Такого поля в наборе</a:t>
            </a:r>
          </a:p>
          <a:p>
            <a:r>
              <a:t>данных декларации не существует, и в привязке к декларации налоговая служба его не</a:t>
            </a:r>
          </a:p>
          <a:p>
            <a:r>
              <a:t>собирает. Разница в вероятности проверки держится не на одной декларации и не на одном</a:t>
            </a:r>
          </a:p>
          <a:p>
            <a:r>
              <a:t>инспекторе: это статистика по всей массе деклараций за несколько лет работы алгоритма,</a:t>
            </a:r>
          </a:p>
          <a:p>
            <a:r>
              <a:t>устойчивая из года в год. Случайный разброс на небольшой выборке так себя не ведёт.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отбора устроена просто, и на экране она целиком. На входе — десятки миллионов</a:t>
            </a:r>
          </a:p>
          <a:p>
            <a:r>
              <a:t>деклараций в год. Ресурс — ограниченное число инспекторских часов: проверить все</a:t>
            </a:r>
          </a:p>
          <a:p>
            <a:r>
              <a:t>декларации некем, и так будет всегда при любом штате. Цель — найти как можно больше</a:t>
            </a:r>
          </a:p>
          <a:p>
            <a:r>
              <a:t>нарушений в пределах этого ресурса.</a:t>
            </a:r>
          </a:p>
          <a:p>
            <a:r>
              <a:t>Формулировка выглядит бесспорной; на неё согласился бы любой, кто когда-нибудь</a:t>
            </a:r>
          </a:p>
          <a:p>
            <a:r>
              <a:t>распределял дефицитное время команды между задачами.</a:t>
            </a:r>
          </a:p>
          <a:p/>
          <a:p>
            <a:r>
              <a:t>Отбор, построенный под такую задачу, поднял наверх декларации, которые проверяются</a:t>
            </a:r>
          </a:p>
          <a:p>
            <a:r>
              <a:t>быстрее. Это поведение прямо следует из постановки и никакой загадки не содержит. Загадку</a:t>
            </a:r>
          </a:p>
          <a:p>
            <a:r>
              <a:t>содержит исход: при схожих декларациях чернокожих налогоплательщиков аудировали в 2,9–4,7</a:t>
            </a:r>
          </a:p>
          <a:p>
            <a:r>
              <a:t>раза чаще, и расы во входных данных не было вовсе.</a:t>
            </a:r>
          </a:p>
          <a:p/>
          <a:p>
            <a:r>
              <a:t>Отсюда вопрос: где сломалось. Три места на экране — те, куда обычно смотрят первыми.</a:t>
            </a:r>
          </a:p>
          <a:p/>
          <a:p>
            <a:r>
              <a:t>Первое — подменённый признак. Экраном раньше именно он оказался виноват: удобная величина</a:t>
            </a:r>
          </a:p>
          <a:p>
            <a:r>
              <a:t>встала на место нужной и притащила с собой чужое неравенство. Рука тянется проверить то</a:t>
            </a:r>
          </a:p>
          <a:p>
            <a:r>
              <a:t>же самое здесь.</a:t>
            </a:r>
          </a:p>
          <a:p/>
          <a:p>
            <a:r>
              <a:t>Второе — порог отбора. Классификатор выдаёт оценку, человек выбирает отсечку, и отсечка</a:t>
            </a:r>
          </a:p>
          <a:p>
            <a:r>
              <a:t>решает, сколько писем уйдёт. Сдвинуть её — привычный способ починить перекос в доле</a:t>
            </a:r>
          </a:p>
          <a:p>
            <a:r>
              <a:t>срабатываний.</a:t>
            </a:r>
          </a:p>
          <a:p/>
          <a:p>
            <a:r>
              <a:t>Третье — состав данных. Данные собраны на прошлом, прошлое несимметрично, модель</a:t>
            </a:r>
          </a:p>
          <a:p>
            <a:r>
              <a:t>несимметричность впитывает. Это самый общий ответ из трёх, и на многих задачах он</a:t>
            </a:r>
          </a:p>
          <a:p>
            <a:r>
              <a:t>действительно верный: переобучить на выправленной выборке дешевле, чем переделывать</a:t>
            </a:r>
          </a:p>
          <a:p>
            <a:r>
              <a:t>систему.</a:t>
            </a:r>
          </a:p>
          <a:p/>
          <a:p>
            <a:r>
              <a:t>Три места стоит разобрать по очереди, каждое — коротким собственным доводом, вслух и до</a:t>
            </a:r>
          </a:p>
          <a:p>
            <a:r>
              <a:t>того, как прозвучит разбор. Довод важнее самого выбора: назвать место можно наугад,</a:t>
            </a:r>
          </a:p>
          <a:p>
            <a:r>
              <a:t>обосновать — уже нет, и именно обоснование проверяется следующим экраном. Полезным этот</a:t>
            </a:r>
          </a:p>
          <a:p>
            <a:r>
              <a:t>экран делает расхождение: то, что прозвучало вслух, и то, что покажет разбор, совпадают</a:t>
            </a:r>
          </a:p>
          <a:p>
            <a:r>
              <a:t>здесь редко.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места, куда смотрели, чистые — и стоит пройти по ним по очереди, потому что</a:t>
            </a:r>
          </a:p>
          <a:p>
            <a:r>
              <a:t>каждое закрывается своим доводом.</a:t>
            </a:r>
          </a:p>
          <a:p/>
          <a:p>
            <a:r>
              <a:t>Подменённый признак. Классификатор взвешивал два параметра: дешевизну проверки и</a:t>
            </a:r>
          </a:p>
          <a:p>
            <a:r>
              <a:t>отношение суммы возврата к сумме дохода в декларации. Оба читаются по самой декларации —</a:t>
            </a:r>
          </a:p>
          <a:p>
            <a:r>
              <a:t>сколько в ней статей дохода и вычетов, насколько она объёмна, каково соотношение двух</a:t>
            </a:r>
          </a:p>
          <a:p>
            <a:r>
              <a:t>сумм. Ни один из них не стоит вместо величины, которую нельзя измерить напрямую. Подмены</a:t>
            </a:r>
          </a:p>
          <a:p>
            <a:r>
              <a:t>здесь нет, и сравнивать удобный признак с прямым измерением нечего.</a:t>
            </a:r>
          </a:p>
          <a:p/>
          <a:p>
            <a:r>
              <a:t>Порог отбора. Он задаёт, сколько писем о проверке уйдёт за сезон. Сдвиг порога меняет</a:t>
            </a:r>
          </a:p>
          <a:p>
            <a:r>
              <a:t>объём работы инспекторов, долю по расе он оставляет на месте: перекос сидит в том, кого</a:t>
            </a:r>
          </a:p>
          <a:p>
            <a:r>
              <a:t>отбор поднимает наверх, и отсечка этот порядок не переставляет.</a:t>
            </a:r>
          </a:p>
          <a:p/>
          <a:p>
            <a:r>
              <a:t>Состав данных. Расы в данных отбора нет вообще — такого поля декларация не содержит, и в</a:t>
            </a:r>
          </a:p>
          <a:p>
            <a:r>
              <a:t>привязке к декларации налоговая служба его не собирает. Разрыв появился при полном</a:t>
            </a:r>
          </a:p>
          <a:p>
            <a:r>
              <a:t>отсутствии признака, значит, его отсутствием он и не объясняется.</a:t>
            </a:r>
          </a:p>
          <a:p/>
          <a:p>
            <a:r>
              <a:t>Теперь то, что действительно сломано, и оно лежит выше алгоритма. Цель отбора поставлена</a:t>
            </a:r>
          </a:p>
          <a:p>
            <a:r>
              <a:t>так: находить больше нарушений при ограниченном числе инспекторских часов. Декларации с</a:t>
            </a:r>
          </a:p>
          <a:p>
            <a:r>
              <a:t>претензией на EITC в среднем дешевле и быстрее проверить — короче по объёму документов,</a:t>
            </a:r>
          </a:p>
          <a:p>
            <a:r>
              <a:t>менее запутаны, аудитор закрывает такую проверку быстрее. Отбор под такую цель</a:t>
            </a:r>
          </a:p>
          <a:p>
            <a:r>
              <a:t>закономерно смещается к декларациям, которые дешевле проверить; значимость нарушения в</a:t>
            </a:r>
          </a:p>
          <a:p>
            <a:r>
              <a:t>цель не входила. Заявители на EITC оказываются группой, несоразмерно затронутой этим</a:t>
            </a:r>
          </a:p>
          <a:p>
            <a:r>
              <a:t>смещением просто по структуре своих деклараций, а чернокожих среди заявителей больше, чем</a:t>
            </a:r>
          </a:p>
          <a:p>
            <a:r>
              <a:t>в среднем по всем декларациям — состав претендентов на этот вычет сам отражает более</a:t>
            </a:r>
          </a:p>
          <a:p>
            <a:r>
              <a:t>широкое неравенство в распределении доходов.</a:t>
            </a:r>
          </a:p>
          <a:p/>
          <a:p>
            <a:r>
              <a:t>Вот разница между двумя кейсами, и она рабочая. Optum сломался на мере: величину назвали</a:t>
            </a:r>
          </a:p>
          <a:p>
            <a:r>
              <a:t>верно и измерили её расходами, то есть плохой линейкой. IRS сломалась на самой величине:</a:t>
            </a:r>
          </a:p>
          <a:p>
            <a:r>
              <a:t>максимизировать велели экономию инспекторских часов. Первую поломку ловит сравнение</a:t>
            </a:r>
          </a:p>
          <a:p>
            <a:r>
              <a:t>признака с прямым измерением. Вторую не ловит ни одна проверка модели: проверка сверяет</a:t>
            </a:r>
          </a:p>
          <a:p>
            <a:r>
              <a:t>ответ с поставленной целью, а цель приходит снаружи — её выбирает человек, и выбор этот</a:t>
            </a:r>
          </a:p>
          <a:p>
            <a:r>
              <a:t>нигде не тестируется.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кейса этой ступени показали один и тот же разлом с разных сторон. Почтовый</a:t>
            </a:r>
          </a:p>
          <a:p>
            <a:r>
              <a:t>маршрутизатор берёт ближайший неверный класс на письме, которое не влезает ни в одну</a:t>
            </a:r>
          </a:p>
          <a:p>
            <a:r>
              <a:t>заданную категорию. Алгоритм распределения медицинской помощи выучивает чужое неравенство</a:t>
            </a:r>
          </a:p>
          <a:p>
            <a:r>
              <a:t>через прошлые расходы. Отбор на налоговую проверку выучивает его же через дешевизну</a:t>
            </a:r>
          </a:p>
          <a:p>
            <a:r>
              <a:t>обработки. Из всех трёх складывается граница, и приложить её стоит к</a:t>
            </a:r>
          </a:p>
          <a:p>
            <a:r>
              <a:t>собственной рабочей задаче.</a:t>
            </a:r>
          </a:p>
          <a:p/>
          <a:p>
            <a:r>
              <a:t>Первый вопрос — про список классов. Выписывается ли он заранее целиком, и расходятся ли</a:t>
            </a:r>
          </a:p>
          <a:p>
            <a:r>
              <a:t>классы между собой. Если список открыт или категории перекрываются, вход перестаёт</a:t>
            </a:r>
          </a:p>
          <a:p>
            <a:r>
              <a:t>ложиться в конечный перечень, и маршрут начинает подбирать ближайшее попавшееся.</a:t>
            </a:r>
          </a:p>
          <a:p/>
          <a:p>
            <a:r>
              <a:t>Второй — про форму ответа. Хватает ли одной метки, чтобы определить, что делать дальше.</a:t>
            </a:r>
          </a:p>
          <a:p>
            <a:r>
              <a:t>Там, где ответ зависит от истории переписки и от сочетания нескольких признаков сразу,</a:t>
            </a:r>
          </a:p>
          <a:p>
            <a:r>
              <a:t>одна метка несёт слишком мало, чтобы на ней строить развилку.</a:t>
            </a:r>
          </a:p>
          <a:p/>
          <a:p>
            <a:r>
              <a:t>Третий — про видимость ошибки. Заметна ли она на одном случае. Письмо, попавшее не в тот</a:t>
            </a:r>
          </a:p>
          <a:p>
            <a:r>
              <a:t>ящик, видно сразу. Смещение на двухстах миллионах решений или на миллионах деклараций не</a:t>
            </a:r>
          </a:p>
          <a:p>
            <a:r>
              <a:t>видно вообще, пока кто-то не пересчитал результат по всей популяции. Это и есть предел</a:t>
            </a:r>
          </a:p>
          <a:p>
            <a:r>
              <a:t>маршрутизации как приёма: задачу «выбрать одну из заранее известных веток» она решает</a:t>
            </a:r>
          </a:p>
          <a:p>
            <a:r>
              <a:t>хорошо и систематически пропускает собственную ошибку, когда ошибка размазана по множеству</a:t>
            </a:r>
          </a:p>
          <a:p>
            <a:r>
              <a:t>мелких решений.</a:t>
            </a:r>
          </a:p>
          <a:p/>
          <a:p>
            <a:r>
              <a:t>Четвёртый вопрос добавил налоговый кейс, и он самый дешёвый в применении: какую величину</a:t>
            </a:r>
          </a:p>
          <a:p>
            <a:r>
              <a:t>системе велено максимизировать. Спросить это можно до единой строки кода, по одному</a:t>
            </a:r>
          </a:p>
          <a:p>
            <a:r>
              <a:t>документу с постановкой. Если в цели стоит удобство обработки — скорость, дешевизна,</a:t>
            </a:r>
          </a:p>
          <a:p>
            <a:r>
              <a:t>пропускная способность, — а значимость решения для человека в неё не входит, перекос</a:t>
            </a:r>
          </a:p>
          <a:p>
            <a:r>
              <a:t>появится при любом качестве модели и ни одной проверкой модели пойман не будет.</a:t>
            </a:r>
          </a:p>
          <a:p/>
          <a:p>
            <a:r>
              <a:t>Там, где нужный класс зависит от того, что придёт следующим шагом, список готовых веток</a:t>
            </a:r>
          </a:p>
          <a:p>
            <a:r>
              <a:t>кончается. Дальше идёт один агент, который решает на каждом шаге сам. Это отдельная</a:t>
            </a:r>
          </a:p>
          <a:p>
            <a:r>
              <a:t>ступень курса, и здесь она только названа.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занятия эта лестница стояла пустой: девять ступеней, ни одна не закрыта. Сейчас она та же самая, и три нижние ступени в ней закрыты.</a:t>
            </a:r>
          </a:p>
          <a:p/>
          <a:p>
            <a:r>
              <a:t>Ступень «хватит одного вызова» закрыта: для части задач одного обращения к модели и, если нужно, одного обращения к базе знаний достаточно, и строить вокруг модели процесс не требуется вовсе. Такая ситуация встречается чаще, чем кажется, когда уже решено что-нибудь построить. Ступень «цепочка» закрыта: там, где одного вызова мало, но порядок шагов известен заранее, шаги выстраиваются друг за другом, и между ними ставится проверка — без неё ошибка первого шага молча утекает в последний, и это видно на двух сегодняшних случаях, один из которых стоил компании закрытого бизнеса. Ступень «маршрут» закрыта: там, где заранее неизвестно, какой из нескольких известных путей подойдёт входящей задаче, путь выбирает вызов модели — или классификатор, который возвращает одну метку без текстового вывода и стоит дешевле.</a:t>
            </a:r>
          </a:p>
          <a:p/>
          <a:p>
            <a:r>
              <a:t>Эти три ступени — нижняя часть лестницы, самые простые способы организовать процесс вокруг модели. Выше остаются шесть: параллельные проверки, переделка по эталону, несколько исполнителей под одним дирижёром, один агент, несколько агентов и ступень про обратное решение — выключить автоматизацию там, где ручной процесс справляется лучше. Они закрываются следующими пятью занятиями этой же дуги, по одной-две за занятие, и лестница появится снова в той же форме, прочитанная дальше.</a:t>
            </a:r>
          </a:p>
          <a:p/>
          <a:p>
            <a:r>
              <a:t>Главное, что уносится с занятия, — рабочий порядок вопросов, применимый к собственной задаче уже сегодня. Сначала: справится ли один вызов, и если да, то на этом остановиться. Если не справится: известен ли порядок шагов заранее — тогда цепочка, и обязательно проверка между шагами, особенно перед шагом, который нельзя отменить. Если порядок зависит от того, что пришло на вход: маршрут по заранее заданным категориям, и на чисто классификационном шаге стоит посчитать, нужен ли там полный вызов модели. Три ступени, три вопроса, и каждый отвечается до того, как написана первая строка кода.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Один вызов, цепочка, маршрут</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963924"/>
            <a:ext cx="10515600" cy="539496"/>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Первое занятие дуги про процессы на больших языковых моделях (LLM) поверх агентов, которых вы собирали на С4–С6.</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здесь искусственный интеллект?</a:t>
            </a:r>
          </a:p>
        </p:txBody>
      </p:sp>
      <p:pic>
        <p:nvPicPr>
          <p:cNvPr id="3" name="Picture 2" descr="mostik-n02-pochta-bez-modeli.png"/>
          <p:cNvPicPr>
            <a:picLocks noChangeAspect="1"/>
          </p:cNvPicPr>
          <p:nvPr/>
        </p:nvPicPr>
        <p:blipFill>
          <a:blip r:embed="rId2"/>
          <a:stretch>
            <a:fillRect/>
          </a:stretch>
        </p:blipFill>
        <p:spPr>
          <a:xfrm>
            <a:off x="502920" y="977535"/>
            <a:ext cx="11183112" cy="2003640"/>
          </a:xfrm>
          <a:prstGeom prst="rect">
            <a:avLst/>
          </a:prstGeom>
        </p:spPr>
      </p:pic>
      <p:sp>
        <p:nvSpPr>
          <p:cNvPr id="4" name="Rounded Rectangle 3"/>
          <p:cNvSpPr/>
          <p:nvPr/>
        </p:nvSpPr>
        <p:spPr>
          <a:xfrm>
            <a:off x="502920" y="3231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12648" y="3231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триггере</a:t>
            </a:r>
          </a:p>
        </p:txBody>
      </p:sp>
      <p:sp>
        <p:nvSpPr>
          <p:cNvPr id="6" name="Rounded Rectangle 5"/>
          <p:cNvSpPr/>
          <p:nvPr/>
        </p:nvSpPr>
        <p:spPr>
          <a:xfrm>
            <a:off x="3335274" y="3231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45002" y="3231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HTTP-запросе</a:t>
            </a:r>
          </a:p>
        </p:txBody>
      </p:sp>
      <p:sp>
        <p:nvSpPr>
          <p:cNvPr id="8" name="Rounded Rectangle 7"/>
          <p:cNvSpPr/>
          <p:nvPr/>
        </p:nvSpPr>
        <p:spPr>
          <a:xfrm>
            <a:off x="6167628" y="3231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77356" y="3231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самой почте</a:t>
            </a:r>
          </a:p>
        </p:txBody>
      </p:sp>
      <p:sp>
        <p:nvSpPr>
          <p:cNvPr id="10" name="Rounded Rectangle 9"/>
          <p:cNvSpPr/>
          <p:nvPr/>
        </p:nvSpPr>
        <p:spPr>
          <a:xfrm>
            <a:off x="8999982" y="3231217"/>
            <a:ext cx="2686050" cy="1051560"/>
          </a:xfrm>
          <a:prstGeom prst="roundRect">
            <a:avLst>
              <a:gd name="adj" fmla="val 25000"/>
            </a:avLst>
          </a:prstGeom>
          <a:solidFill>
            <a:srgbClr val="FEF5E0"/>
          </a:solidFill>
          <a:ln w="1905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09710" y="3231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8A6200"/>
                </a:solidFill>
                <a:latin typeface="Arial"/>
              </a:rPr>
              <a:t>нигде</a:t>
            </a:r>
          </a:p>
        </p:txBody>
      </p:sp>
      <p:sp>
        <p:nvSpPr>
          <p:cNvPr id="12" name="Rounded Rectangle 11"/>
          <p:cNvSpPr/>
          <p:nvPr/>
        </p:nvSpPr>
        <p:spPr>
          <a:xfrm>
            <a:off x="502920" y="453281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66083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Ответ «нигде» закрывает только этот экран. Дальше вопрос звучит иначе: какому шагу процесса модель нужна, какому хватит правила.</a:t>
            </a:r>
          </a:p>
        </p:txBody>
      </p:sp>
      <p:sp>
        <p:nvSpPr>
          <p:cNvPr id="14" name="Rounded Rectangle 13"/>
          <p:cNvSpPr/>
          <p:nvPr/>
        </p:nvSpPr>
        <p:spPr>
          <a:xfrm>
            <a:off x="502920" y="55296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6576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Цена этого вопроса: компания покупала жильё по оценке собственной модели, и между оценкой и покупкой не стояло ни одной проверки. Бизнес закрыт, 2000 человек уволены — четверть штата.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Девять ступеней — сегодня три нижние</a:t>
            </a:r>
          </a:p>
        </p:txBody>
      </p:sp>
      <p:pic>
        <p:nvPicPr>
          <p:cNvPr id="3" name="Picture 2" descr="mostik-n03-lestnitsa.png"/>
          <p:cNvPicPr>
            <a:picLocks noChangeAspect="1"/>
          </p:cNvPicPr>
          <p:nvPr/>
        </p:nvPicPr>
        <p:blipFill>
          <a:blip r:embed="rId2"/>
          <a:stretch>
            <a:fillRect/>
          </a:stretch>
        </p:blipFill>
        <p:spPr>
          <a:xfrm>
            <a:off x="502920" y="992245"/>
            <a:ext cx="11183112" cy="3354933"/>
          </a:xfrm>
          <a:prstGeom prst="rect">
            <a:avLst/>
          </a:prstGeom>
        </p:spPr>
      </p:pic>
      <p:sp>
        <p:nvSpPr>
          <p:cNvPr id="4" name="Rounded Rectangle 3"/>
          <p:cNvSpPr/>
          <p:nvPr/>
        </p:nvSpPr>
        <p:spPr>
          <a:xfrm>
            <a:off x="502920" y="463399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6201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Ступени выше закрывают следующие пять занятий этой же дуги, по одной-две за занятие.</a:t>
            </a:r>
          </a:p>
        </p:txBody>
      </p:sp>
      <p:sp>
        <p:nvSpPr>
          <p:cNvPr id="6" name="Rounded Rectangle 5"/>
          <p:cNvSpPr/>
          <p:nvPr/>
        </p:nvSpPr>
        <p:spPr>
          <a:xfrm>
            <a:off x="502920" y="543135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555936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 какой из девяти ступеней стоит процесс, который вы уже где-то собрали, — и нужна ли ему следующая?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так и отвечаю: читаю письмо, минуту думаю, печатаю ответ»</a:t>
            </a:r>
          </a:p>
        </p:txBody>
      </p:sp>
      <p:sp>
        <p:nvSpPr>
          <p:cNvPr id="4" name="Rounded Rectangle 3"/>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Ответ уже написан. Отправляем?</a:t>
            </a:r>
          </a:p>
        </p:txBody>
      </p:sp>
      <p:sp>
        <p:nvSpPr>
          <p:cNvPr id="3" name="Rounded Rectangle 2"/>
          <p:cNvSpPr/>
          <p:nvPr/>
        </p:nvSpPr>
        <p:spPr>
          <a:xfrm>
            <a:off x="502920" y="10160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40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ящике поддержки месяц работает автоответ на базе модели: письмо приходит — в очереди появляется готовый черновик, человеку остаётся нажать «отправить».</a:t>
            </a:r>
          </a:p>
        </p:txBody>
      </p:sp>
      <p:sp>
        <p:nvSpPr>
          <p:cNvPr id="5" name="Rounded Rectangle 4"/>
          <p:cNvSpPr/>
          <p:nvPr/>
        </p:nvSpPr>
        <p:spPr>
          <a:xfrm>
            <a:off x="502920" y="2109006"/>
            <a:ext cx="11183112" cy="1542669"/>
          </a:xfrm>
          <a:prstGeom prst="roundRect">
            <a:avLst>
              <a:gd name="adj" fmla="val 197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91886"/>
            <a:ext cx="40190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ПИСЬМО, КОТОРОЕ ПРИШЛО УТРОМ</a:t>
            </a:r>
          </a:p>
        </p:txBody>
      </p:sp>
      <p:sp>
        <p:nvSpPr>
          <p:cNvPr id="7" name="TextBox 6"/>
          <p:cNvSpPr txBox="1"/>
          <p:nvPr/>
        </p:nvSpPr>
        <p:spPr>
          <a:xfrm>
            <a:off x="4851136" y="2291886"/>
            <a:ext cx="65057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ЧЕРНОВИК, КОТОРЫЙ ЛЕЖИТ В ОЧЕРЕДИ</a:t>
            </a:r>
          </a:p>
        </p:txBody>
      </p:sp>
      <p:sp>
        <p:nvSpPr>
          <p:cNvPr id="8" name="TextBox 7"/>
          <p:cNvSpPr txBox="1"/>
          <p:nvPr/>
        </p:nvSpPr>
        <p:spPr>
          <a:xfrm>
            <a:off x="685800" y="2573953"/>
            <a:ext cx="40190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«Здравствуйте! Заказ № 40118 приехал в раздавленной коробке, у чайника вмятина на корпусе. Прошу вернуть деньги, фотографии прикладываю. Анна»</a:t>
            </a:r>
          </a:p>
        </p:txBody>
      </p:sp>
      <p:sp>
        <p:nvSpPr>
          <p:cNvPr id="9" name="TextBox 8"/>
          <p:cNvSpPr txBox="1"/>
          <p:nvPr/>
        </p:nvSpPr>
        <p:spPr>
          <a:xfrm>
            <a:off x="4851136" y="2573953"/>
            <a:ext cx="650571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«Здравствуйте, Анна! Спасибо, что написали нам и приложили фотографии. Нам жаль, что заказ пришёл в таком виде. Мы зарегистрировали ваше обращение и передали его в службу поддержки — специалист свяжется с вами в течение суток. Хорошего дня!»</a:t>
            </a:r>
          </a:p>
        </p:txBody>
      </p:sp>
      <p:sp>
        <p:nvSpPr>
          <p:cNvPr id="10" name="Rounded Rectangle 9"/>
          <p:cNvSpPr/>
          <p:nvPr/>
        </p:nvSpPr>
        <p:spPr>
          <a:xfrm>
            <a:off x="502920" y="399790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12592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Отправляем клиенту как есть?</a:t>
            </a:r>
          </a:p>
        </p:txBody>
      </p:sp>
      <p:sp>
        <p:nvSpPr>
          <p:cNvPr id="12" name="Rounded Rectangle 11"/>
          <p:cNvSpPr/>
          <p:nvPr/>
        </p:nvSpPr>
        <p:spPr>
          <a:xfrm>
            <a:off x="502920" y="5167102"/>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 y="5167102"/>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отправляем</a:t>
            </a:r>
          </a:p>
        </p:txBody>
      </p:sp>
      <p:sp>
        <p:nvSpPr>
          <p:cNvPr id="14" name="Rounded Rectangle 13"/>
          <p:cNvSpPr/>
          <p:nvPr/>
        </p:nvSpPr>
        <p:spPr>
          <a:xfrm>
            <a:off x="4279392" y="5167102"/>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5167102"/>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отправляем</a:t>
            </a:r>
          </a:p>
        </p:txBody>
      </p:sp>
      <p:sp>
        <p:nvSpPr>
          <p:cNvPr id="16" name="Rounded Rectangle 15"/>
          <p:cNvSpPr/>
          <p:nvPr/>
        </p:nvSpPr>
        <p:spPr>
          <a:xfrm>
            <a:off x="8055863" y="5167102"/>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65591" y="5167102"/>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сначала правим руками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Вежливо, грамотно и без решения</a:t>
            </a:r>
          </a:p>
        </p:txBody>
      </p:sp>
      <p:sp>
        <p:nvSpPr>
          <p:cNvPr id="3" name="Rounded Rectangle 2"/>
          <p:cNvSpPr/>
          <p:nvPr/>
        </p:nvSpPr>
        <p:spPr>
          <a:xfrm>
            <a:off x="502920" y="1090870"/>
            <a:ext cx="11183112" cy="2219007"/>
          </a:xfrm>
          <a:prstGeom prst="roundRect">
            <a:avLst>
              <a:gd name="adj" fmla="val 137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3750"/>
            <a:ext cx="49798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ОТВЕТЕ ЕСТЬ</a:t>
            </a:r>
          </a:p>
        </p:txBody>
      </p:sp>
      <p:sp>
        <p:nvSpPr>
          <p:cNvPr id="5" name="TextBox 4"/>
          <p:cNvSpPr txBox="1"/>
          <p:nvPr/>
        </p:nvSpPr>
        <p:spPr>
          <a:xfrm>
            <a:off x="5811950" y="1273750"/>
            <a:ext cx="55448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В ОТВЕТЕ НЕТ</a:t>
            </a:r>
          </a:p>
        </p:txBody>
      </p:sp>
      <p:sp>
        <p:nvSpPr>
          <p:cNvPr id="6" name="TextBox 5"/>
          <p:cNvSpPr txBox="1"/>
          <p:nvPr/>
        </p:nvSpPr>
        <p:spPr>
          <a:xfrm>
            <a:off x="685800" y="1555817"/>
            <a:ext cx="49798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обращение по имени и благодарность за фотографии</a:t>
            </a:r>
          </a:p>
        </p:txBody>
      </p:sp>
      <p:sp>
        <p:nvSpPr>
          <p:cNvPr id="7" name="TextBox 6"/>
          <p:cNvSpPr txBox="1"/>
          <p:nvPr/>
        </p:nvSpPr>
        <p:spPr>
          <a:xfrm>
            <a:off x="5811950" y="1555817"/>
            <a:ext cx="554489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слова «возврат» — ни одного раза</a:t>
            </a:r>
          </a:p>
        </p:txBody>
      </p:sp>
      <p:cxnSp>
        <p:nvCxnSpPr>
          <p:cNvPr id="8" name="Connector 7"/>
          <p:cNvCxnSpPr/>
          <p:nvPr/>
        </p:nvCxnSpPr>
        <p:spPr>
          <a:xfrm>
            <a:off x="685800" y="19029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902972"/>
            <a:ext cx="49798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сожаление о том, что заказ пришёл испорченным</a:t>
            </a:r>
          </a:p>
        </p:txBody>
      </p:sp>
      <p:sp>
        <p:nvSpPr>
          <p:cNvPr id="10" name="TextBox 9"/>
          <p:cNvSpPr txBox="1"/>
          <p:nvPr/>
        </p:nvSpPr>
        <p:spPr>
          <a:xfrm>
            <a:off x="5811950" y="1902972"/>
            <a:ext cx="554489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решения о деньгах: вернём или откажем</a:t>
            </a:r>
          </a:p>
        </p:txBody>
      </p:sp>
      <p:cxnSp>
        <p:nvCxnSpPr>
          <p:cNvPr id="11" name="Connector 10"/>
          <p:cNvCxnSpPr/>
          <p:nvPr/>
        </p:nvCxnSpPr>
        <p:spPr>
          <a:xfrm>
            <a:off x="685800" y="22501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50126"/>
            <a:ext cx="49798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обещание, что специалист свяжется в течение суток</a:t>
            </a:r>
          </a:p>
        </p:txBody>
      </p:sp>
      <p:sp>
        <p:nvSpPr>
          <p:cNvPr id="13" name="TextBox 12"/>
          <p:cNvSpPr txBox="1"/>
          <p:nvPr/>
        </p:nvSpPr>
        <p:spPr>
          <a:xfrm>
            <a:off x="5811950" y="2250126"/>
            <a:ext cx="554489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срока, в который деньги придут на карту</a:t>
            </a:r>
          </a:p>
        </p:txBody>
      </p:sp>
      <p:cxnSp>
        <p:nvCxnSpPr>
          <p:cNvPr id="14" name="Connector 13"/>
          <p:cNvCxnSpPr/>
          <p:nvPr/>
        </p:nvCxnSpPr>
        <p:spPr>
          <a:xfrm>
            <a:off x="685800" y="2597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97281"/>
            <a:ext cx="49798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безупречная грамматика и ровный тон поддержки</a:t>
            </a:r>
          </a:p>
        </p:txBody>
      </p:sp>
      <p:sp>
        <p:nvSpPr>
          <p:cNvPr id="16" name="TextBox 15"/>
          <p:cNvSpPr txBox="1"/>
          <p:nvPr/>
        </p:nvSpPr>
        <p:spPr>
          <a:xfrm>
            <a:off x="5811950" y="2597281"/>
            <a:ext cx="554489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опоры на условия магазина: откуда взято «в течение суток»</a:t>
            </a:r>
          </a:p>
        </p:txBody>
      </p:sp>
      <p:sp>
        <p:nvSpPr>
          <p:cNvPr id="17" name="Rounded Rectangle 16"/>
          <p:cNvSpPr/>
          <p:nvPr/>
        </p:nvSpPr>
        <p:spPr>
          <a:xfrm>
            <a:off x="502920" y="38432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39712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Черновик собран в два шага. Сначала модель присвоила письму метку из закрытого списка в пять строк: </a:t>
            </a:r>
            <a:r>
              <a:rPr sz="1500" b="1" i="0">
                <a:solidFill>
                  <a:srgbClr val="141B2E"/>
                </a:solidFill>
                <a:latin typeface="Consolas"/>
              </a:rPr>
              <a:t>пароль</a:t>
            </a:r>
            <a:r>
              <a:rPr sz="1500" b="1" i="0">
                <a:solidFill>
                  <a:srgbClr val="141B2E"/>
                </a:solidFill>
                <a:latin typeface="Arial"/>
              </a:rPr>
              <a:t>, </a:t>
            </a:r>
            <a:r>
              <a:rPr sz="1500" b="1" i="0">
                <a:solidFill>
                  <a:srgbClr val="141B2E"/>
                </a:solidFill>
                <a:latin typeface="Consolas"/>
              </a:rPr>
              <a:t>статус</a:t>
            </a:r>
            <a:r>
              <a:rPr sz="1500" b="1" i="0">
                <a:solidFill>
                  <a:srgbClr val="141B2E"/>
                </a:solidFill>
                <a:latin typeface="Arial"/>
              </a:rPr>
              <a:t> </a:t>
            </a:r>
            <a:r>
              <a:rPr sz="1500" b="1" i="0">
                <a:solidFill>
                  <a:srgbClr val="141B2E"/>
                </a:solidFill>
                <a:latin typeface="Consolas"/>
              </a:rPr>
              <a:t>заказа</a:t>
            </a:r>
            <a:r>
              <a:rPr sz="1500" b="1" i="0">
                <a:solidFill>
                  <a:srgbClr val="141B2E"/>
                </a:solidFill>
                <a:latin typeface="Arial"/>
              </a:rPr>
              <a:t>, </a:t>
            </a:r>
            <a:r>
              <a:rPr sz="1500" b="1" i="0">
                <a:solidFill>
                  <a:srgbClr val="141B2E"/>
                </a:solidFill>
                <a:latin typeface="Consolas"/>
              </a:rPr>
              <a:t>возврат</a:t>
            </a:r>
            <a:r>
              <a:rPr sz="1500" b="1" i="0">
                <a:solidFill>
                  <a:srgbClr val="141B2E"/>
                </a:solidFill>
                <a:latin typeface="Arial"/>
              </a:rPr>
              <a:t>, </a:t>
            </a:r>
            <a:r>
              <a:rPr sz="1500" b="1" i="0">
                <a:solidFill>
                  <a:srgbClr val="141B2E"/>
                </a:solidFill>
                <a:latin typeface="Consolas"/>
              </a:rPr>
              <a:t>жалоба</a:t>
            </a:r>
            <a:r>
              <a:rPr sz="1500" b="1" i="0">
                <a:solidFill>
                  <a:srgbClr val="141B2E"/>
                </a:solidFill>
                <a:latin typeface="Arial"/>
              </a:rPr>
              <a:t>, </a:t>
            </a:r>
            <a:r>
              <a:rPr sz="1500" b="1" i="0">
                <a:solidFill>
                  <a:srgbClr val="141B2E"/>
                </a:solidFill>
                <a:latin typeface="Consolas"/>
              </a:rPr>
              <a:t>другое</a:t>
            </a:r>
            <a:r>
              <a:rPr sz="1500" b="1" i="0">
                <a:solidFill>
                  <a:srgbClr val="141B2E"/>
                </a:solidFill>
                <a:latin typeface="Arial"/>
              </a:rPr>
              <a:t>. Потом другой вызов написал текст по той части базы знаний, которая привязана к метке. Метка была </a:t>
            </a:r>
            <a:r>
              <a:rPr sz="1500" b="1" i="0">
                <a:solidFill>
                  <a:srgbClr val="141B2E"/>
                </a:solidFill>
                <a:latin typeface="Consolas"/>
              </a:rPr>
              <a:t>другое</a:t>
            </a:r>
            <a:r>
              <a:rPr sz="1500" b="1" i="0">
                <a:solidFill>
                  <a:srgbClr val="141B2E"/>
                </a:solidFill>
                <a:latin typeface="Arial"/>
              </a:rPr>
              <a:t>, и под ней лежит общий шаблон «спасибо за обращение, ответим в течение суток».</a:t>
            </a:r>
          </a:p>
        </p:txBody>
      </p:sp>
      <p:sp>
        <p:nvSpPr>
          <p:cNvPr id="19" name="Rounded Rectangle 18"/>
          <p:cNvSpPr/>
          <p:nvPr/>
        </p:nvSpPr>
        <p:spPr>
          <a:xfrm>
            <a:off x="502920" y="559583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2385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 Анны есть право на возврат, и ответ магазина об этом праве молчит.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этой цепочке стоит проверка</a:t>
            </a:r>
          </a:p>
        </p:txBody>
      </p:sp>
      <p:pic>
        <p:nvPicPr>
          <p:cNvPr id="3" name="Picture 2" descr="c1-graf-tsepochki.png"/>
          <p:cNvPicPr>
            <a:picLocks noChangeAspect="1"/>
          </p:cNvPicPr>
          <p:nvPr/>
        </p:nvPicPr>
        <p:blipFill>
          <a:blip r:embed="rId2"/>
          <a:stretch>
            <a:fillRect/>
          </a:stretch>
        </p:blipFill>
        <p:spPr>
          <a:xfrm>
            <a:off x="1264604" y="943356"/>
            <a:ext cx="9659743" cy="3139416"/>
          </a:xfrm>
          <a:prstGeom prst="rect">
            <a:avLst/>
          </a:prstGeom>
        </p:spPr>
      </p:pic>
      <p:sp>
        <p:nvSpPr>
          <p:cNvPr id="4" name="Rounded Rectangle 3"/>
          <p:cNvSpPr/>
          <p:nvPr/>
        </p:nvSpPr>
        <p:spPr>
          <a:xfrm>
            <a:off x="502920" y="4247364"/>
            <a:ext cx="11183112" cy="1465326"/>
          </a:xfrm>
          <a:prstGeom prst="roundRect">
            <a:avLst>
              <a:gd name="adj" fmla="val 208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430244"/>
            <a:ext cx="575147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ПУТЬ ЗАПИСАН В КОДЕ ЗАРАНЕЕ</a:t>
            </a:r>
          </a:p>
        </p:txBody>
      </p:sp>
      <p:sp>
        <p:nvSpPr>
          <p:cNvPr id="6" name="TextBox 5"/>
          <p:cNvSpPr txBox="1"/>
          <p:nvPr/>
        </p:nvSpPr>
        <p:spPr>
          <a:xfrm>
            <a:off x="6583581" y="4430244"/>
            <a:ext cx="4773266"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ПУТЬ ВЫБИРАЕТ МОДЕЛЬ НА КАЖДОМ ШАГЕ</a:t>
            </a:r>
          </a:p>
        </p:txBody>
      </p:sp>
      <p:sp>
        <p:nvSpPr>
          <p:cNvPr id="7" name="TextBox 6"/>
          <p:cNvSpPr txBox="1"/>
          <p:nvPr/>
        </p:nvSpPr>
        <p:spPr>
          <a:xfrm>
            <a:off x="685800" y="4674846"/>
            <a:ext cx="5751477" cy="427482"/>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то, что на схеме: classify → проверка → draft → человек, всегда в этом порядке. Это workflow — рабочий поток</a:t>
            </a:r>
          </a:p>
        </p:txBody>
      </p:sp>
      <p:sp>
        <p:nvSpPr>
          <p:cNvPr id="8" name="TextBox 7"/>
          <p:cNvSpPr txBox="1"/>
          <p:nvPr/>
        </p:nvSpPr>
        <p:spPr>
          <a:xfrm>
            <a:off x="6583581" y="4674846"/>
            <a:ext cx="4773266" cy="427482"/>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кодинг-агент с С4–С6: сколько шагов и в каком порядке, заранее неизвестно</a:t>
            </a:r>
          </a:p>
        </p:txBody>
      </p:sp>
      <p:cxnSp>
        <p:nvCxnSpPr>
          <p:cNvPr id="9" name="Connector 8"/>
          <p:cNvCxnSpPr/>
          <p:nvPr/>
        </p:nvCxnSpPr>
        <p:spPr>
          <a:xfrm>
            <a:off x="685800" y="51023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5102328"/>
            <a:ext cx="5751477" cy="427482"/>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покупается предсказуемость: каждый шаг виден, каждый проверяем, каждый можно показать</a:t>
            </a:r>
          </a:p>
        </p:txBody>
      </p:sp>
      <p:sp>
        <p:nvSpPr>
          <p:cNvPr id="11" name="TextBox 10"/>
          <p:cNvSpPr txBox="1"/>
          <p:nvPr/>
        </p:nvSpPr>
        <p:spPr>
          <a:xfrm>
            <a:off x="6583581" y="5102328"/>
            <a:ext cx="4773266" cy="427482"/>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покупается гибкость: она нужна задаче, чей путь списком не выписывается</a:t>
            </a:r>
          </a:p>
        </p:txBody>
      </p:sp>
      <p:sp>
        <p:nvSpPr>
          <p:cNvPr id="12" name="Rounded Rectangle 11"/>
          <p:cNvSpPr/>
          <p:nvPr/>
        </p:nvSpPr>
        <p:spPr>
          <a:xfrm>
            <a:off x="502920" y="587728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6005298"/>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Ромб — самая дешёвая часть цепочки и единственная, которая ловит ошибку первого шага.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граф, ромб снят</a:t>
            </a:r>
          </a:p>
        </p:txBody>
      </p:sp>
      <p:pic>
        <p:nvPicPr>
          <p:cNvPr id="3" name="Picture 2" descr="c1-graf-pogasshiy-romb.png"/>
          <p:cNvPicPr>
            <a:picLocks noChangeAspect="1"/>
          </p:cNvPicPr>
          <p:nvPr/>
        </p:nvPicPr>
        <p:blipFill>
          <a:blip r:embed="rId2"/>
          <a:stretch>
            <a:fillRect/>
          </a:stretch>
        </p:blipFill>
        <p:spPr>
          <a:xfrm>
            <a:off x="1695428" y="943356"/>
            <a:ext cx="8798095" cy="2859380"/>
          </a:xfrm>
          <a:prstGeom prst="rect">
            <a:avLst/>
          </a:prstGeom>
        </p:spPr>
      </p:pic>
      <p:sp>
        <p:nvSpPr>
          <p:cNvPr id="4" name="Rounded Rectangle 3"/>
          <p:cNvSpPr/>
          <p:nvPr/>
        </p:nvSpPr>
        <p:spPr>
          <a:xfrm>
            <a:off x="502920" y="3967328"/>
            <a:ext cx="11183112" cy="1578610"/>
          </a:xfrm>
          <a:prstGeom prst="roundRect">
            <a:avLst>
              <a:gd name="adj" fmla="val 19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122776"/>
            <a:ext cx="437509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ЧЕРНОВИК, КОТОРЫЙ ОДОБРИЛИ В НАЧАЛЕ КЕЙСА</a:t>
            </a:r>
          </a:p>
        </p:txBody>
      </p:sp>
      <p:sp>
        <p:nvSpPr>
          <p:cNvPr id="6" name="TextBox 5"/>
          <p:cNvSpPr txBox="1"/>
          <p:nvPr/>
        </p:nvSpPr>
        <p:spPr>
          <a:xfrm>
            <a:off x="5179762" y="4122776"/>
            <a:ext cx="6204517"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ЧЕРНОВИК ТОГО ЖЕ DRAFT ПО МЕТКЕ </a:t>
            </a:r>
            <a:r>
              <a:rPr sz="1100" b="1" i="0">
                <a:solidFill>
                  <a:srgbClr val="6B7685"/>
                </a:solidFill>
                <a:latin typeface="Consolas"/>
              </a:rPr>
              <a:t>ВОЗВРАТ</a:t>
            </a:r>
          </a:p>
        </p:txBody>
      </p:sp>
      <p:sp>
        <p:nvSpPr>
          <p:cNvPr id="7" name="TextBox 6"/>
          <p:cNvSpPr txBox="1"/>
          <p:nvPr/>
        </p:nvSpPr>
        <p:spPr>
          <a:xfrm>
            <a:off x="658368" y="4397350"/>
            <a:ext cx="4375090" cy="432562"/>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«...передали ваше обращение, специалист свяжется в течение суток»</a:t>
            </a:r>
          </a:p>
        </p:txBody>
      </p:sp>
      <p:sp>
        <p:nvSpPr>
          <p:cNvPr id="8" name="TextBox 7"/>
          <p:cNvSpPr txBox="1"/>
          <p:nvPr/>
        </p:nvSpPr>
        <p:spPr>
          <a:xfrm>
            <a:off x="5179762" y="4397350"/>
            <a:ext cx="6204517" cy="432562"/>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«Возврат по заказу № 40118 оформлен: при повреждении при доставке мы возвращаем полную стоимость»</a:t>
            </a:r>
          </a:p>
        </p:txBody>
      </p:sp>
      <p:cxnSp>
        <p:nvCxnSpPr>
          <p:cNvPr id="9" name="Connector 8"/>
          <p:cNvCxnSpPr/>
          <p:nvPr/>
        </p:nvCxnSpPr>
        <p:spPr>
          <a:xfrm>
            <a:off x="658368" y="482991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4829912"/>
            <a:ext cx="4375090"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вежливо, грамотно, уверенно</a:t>
            </a:r>
          </a:p>
        </p:txBody>
      </p:sp>
      <p:sp>
        <p:nvSpPr>
          <p:cNvPr id="11" name="TextBox 10"/>
          <p:cNvSpPr txBox="1"/>
          <p:nvPr/>
        </p:nvSpPr>
        <p:spPr>
          <a:xfrm>
            <a:off x="5179762" y="4829912"/>
            <a:ext cx="6204517"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вежливо, грамотно, уверенно</a:t>
            </a:r>
          </a:p>
        </p:txBody>
      </p:sp>
      <p:cxnSp>
        <p:nvCxnSpPr>
          <p:cNvPr id="12" name="Connector 11"/>
          <p:cNvCxnSpPr/>
          <p:nvPr/>
        </p:nvCxnSpPr>
        <p:spPr>
          <a:xfrm>
            <a:off x="658368" y="511020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5110201"/>
            <a:ext cx="4375090"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про деньги — ни слова</a:t>
            </a:r>
          </a:p>
        </p:txBody>
      </p:sp>
      <p:sp>
        <p:nvSpPr>
          <p:cNvPr id="14" name="TextBox 13"/>
          <p:cNvSpPr txBox="1"/>
          <p:nvPr/>
        </p:nvSpPr>
        <p:spPr>
          <a:xfrm>
            <a:off x="5179762" y="5110201"/>
            <a:ext cx="6204517"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деньги на карту за 5 рабочих дней, забирать товар не нужно</a:t>
            </a:r>
          </a:p>
        </p:txBody>
      </p:sp>
      <p:sp>
        <p:nvSpPr>
          <p:cNvPr id="15" name="Rounded Rectangle 14"/>
          <p:cNvSpPr/>
          <p:nvPr/>
        </p:nvSpPr>
        <p:spPr>
          <a:xfrm>
            <a:off x="502920" y="571053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838546"/>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Разницу между этими текстами видит тот, кто помнит условия магазина. Очередь из ста черновиков за смену её не видит.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Выпишите свои классы на бумагу</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Список кончился</a:t>
            </a:r>
            <a:r>
              <a:rPr sz="1350" b="0" i="0">
                <a:solidFill>
                  <a:srgbClr val="141B2E"/>
                </a:solidFill>
                <a:latin typeface="Arial"/>
              </a:rPr>
              <a:t>, и за каждой строкой стоят свои шаги — цепочка держит: порядок шагов пишется один раз и дальше меняется редко.</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Последней строкой стоит «прочее»</a:t>
            </a:r>
            <a:r>
              <a:rPr sz="1350" b="0" i="0">
                <a:solidFill>
                  <a:srgbClr val="141B2E"/>
                </a:solidFill>
                <a:latin typeface="Arial"/>
              </a:rPr>
              <a:t> — цепочка держит только с ромбом между шагами. Без него всё, что попало в «прочее», уедет в ближайший шаг молча и вернётся вежливым текстом, как у Анны.</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Список прирастает новой строкой каждую неделю</a:t>
            </a:r>
            <a:r>
              <a:rPr sz="1350" b="0" i="0">
                <a:solidFill>
                  <a:srgbClr val="141B2E"/>
                </a:solidFill>
                <a:latin typeface="Arial"/>
              </a:rPr>
              <a:t>, и разным строкам нужны разные шаги, разные документы, разные отделы — одной цепочки мало, дальше начинается маршрут.</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Слово «прочее» в списке классов — это место, где ошибка первого шага выходит наружу в виде гладкого ответа.</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Возьмите задачу со своей работы, где текст превращается в действие. Сколько строк в вашем списке классов — и стоит ли в нём «прочее»?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1053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«Эта цифра стояла на сайте Zillow годами. В 2018-м её подключили к покупке домов»</a:t>
            </a:r>
          </a:p>
        </p:txBody>
      </p:sp>
      <p:sp>
        <p:nvSpPr>
          <p:cNvPr id="4" name="TextBox 3"/>
          <p:cNvSpPr txBox="1"/>
          <p:nvPr/>
        </p:nvSpPr>
        <p:spPr>
          <a:xfrm>
            <a:off x="1234440" y="359257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(Zestimate работает и сегодня: он стоит на каждом объявлении. Бизнеса, который ставил на ту же цифру деньги, больше нет.)</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и та же цифра в двух цепочках</a:t>
            </a:r>
          </a:p>
        </p:txBody>
      </p:sp>
      <p:pic>
        <p:nvPicPr>
          <p:cNvPr id="3" name="Picture 2" descr="zillow-n11-dve-tsepochki.png"/>
          <p:cNvPicPr>
            <a:picLocks noChangeAspect="1"/>
          </p:cNvPicPr>
          <p:nvPr/>
        </p:nvPicPr>
        <p:blipFill>
          <a:blip r:embed="rId2"/>
          <a:stretch>
            <a:fillRect/>
          </a:stretch>
        </p:blipFill>
        <p:spPr>
          <a:xfrm>
            <a:off x="502920" y="966469"/>
            <a:ext cx="11183112" cy="3396870"/>
          </a:xfrm>
          <a:prstGeom prst="rect">
            <a:avLst/>
          </a:prstGeom>
        </p:spPr>
      </p:pic>
      <p:sp>
        <p:nvSpPr>
          <p:cNvPr id="4" name="Rounded Rectangle 3"/>
          <p:cNvSpPr/>
          <p:nvPr/>
        </p:nvSpPr>
        <p:spPr>
          <a:xfrm>
            <a:off x="502920" y="4585716"/>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768596"/>
            <a:ext cx="57823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МЕЖДУ ОЦЕНКОЙ И ПОКУПКОЙ НЕ БЫЛО</a:t>
            </a:r>
          </a:p>
        </p:txBody>
      </p:sp>
      <p:sp>
        <p:nvSpPr>
          <p:cNvPr id="6" name="TextBox 5"/>
          <p:cNvSpPr txBox="1"/>
          <p:nvPr/>
        </p:nvSpPr>
        <p:spPr>
          <a:xfrm>
            <a:off x="6614477" y="4768596"/>
            <a:ext cx="47423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ОЗНАЧАЛО</a:t>
            </a:r>
          </a:p>
        </p:txBody>
      </p:sp>
      <p:sp>
        <p:nvSpPr>
          <p:cNvPr id="7" name="TextBox 6"/>
          <p:cNvSpPr txBox="1"/>
          <p:nvPr/>
        </p:nvSpPr>
        <p:spPr>
          <a:xfrm>
            <a:off x="685800" y="5050663"/>
            <a:ext cx="57823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человека с правом остановить конкретную сделку выше порога риска</a:t>
            </a:r>
          </a:p>
        </p:txBody>
      </p:sp>
      <p:sp>
        <p:nvSpPr>
          <p:cNvPr id="8" name="TextBox 7"/>
          <p:cNvSpPr txBox="1"/>
          <p:nvPr/>
        </p:nvSpPr>
        <p:spPr>
          <a:xfrm>
            <a:off x="6614477" y="5050663"/>
            <a:ext cx="47423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каждая покупка уходила в обязательство на той цифре, которую выдала модель</a:t>
            </a:r>
          </a:p>
        </p:txBody>
      </p:sp>
      <p:cxnSp>
        <p:nvCxnSpPr>
          <p:cNvPr id="9" name="Connector 8"/>
          <p:cNvCxnSpPr/>
          <p:nvPr/>
        </p:nvCxnSpPr>
        <p:spPr>
          <a:xfrm>
            <a:off x="685800" y="55803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5580380"/>
            <a:ext cx="57823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предохранителя, сбрасывающего темп закупок при росте ошибки прогноза</a:t>
            </a:r>
          </a:p>
        </p:txBody>
      </p:sp>
      <p:sp>
        <p:nvSpPr>
          <p:cNvPr id="11" name="TextBox 10"/>
          <p:cNvSpPr txBox="1"/>
          <p:nvPr/>
        </p:nvSpPr>
        <p:spPr>
          <a:xfrm>
            <a:off x="6614477" y="5580380"/>
            <a:ext cx="47423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ошибка могла расти, закупки шли с прежней скоростью</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$304,4 млн за квартал, $407,9 млн за год</a:t>
            </a:r>
          </a:p>
        </p:txBody>
      </p:sp>
      <p:sp>
        <p:nvSpPr>
          <p:cNvPr id="3" name="Rounded Rectangle 2"/>
          <p:cNvSpPr/>
          <p:nvPr/>
        </p:nvSpPr>
        <p:spPr>
          <a:xfrm>
            <a:off x="502920" y="1044710"/>
            <a:ext cx="11183112" cy="2949257"/>
          </a:xfrm>
          <a:prstGeom prst="roundRect">
            <a:avLst>
              <a:gd name="adj" fmla="val 10334"/>
            </a:avLst>
          </a:prstGeom>
          <a:solidFill>
            <a:srgbClr val="FFFFFF"/>
          </a:solidFill>
          <a:ln w="1778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6150"/>
            <a:ext cx="68580" cy="2766377"/>
          </a:xfrm>
          <a:prstGeom prst="roundRect">
            <a:avLst>
              <a:gd name="adj" fmla="val 50000"/>
            </a:avLst>
          </a:prstGeom>
          <a:solidFill>
            <a:srgbClr val="8A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27590"/>
            <a:ext cx="831995"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ЦИФРА</a:t>
            </a:r>
          </a:p>
        </p:txBody>
      </p:sp>
      <p:sp>
        <p:nvSpPr>
          <p:cNvPr id="6" name="TextBox 5"/>
          <p:cNvSpPr txBox="1"/>
          <p:nvPr/>
        </p:nvSpPr>
        <p:spPr>
          <a:xfrm>
            <a:off x="1664099" y="1227590"/>
            <a:ext cx="9692748"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ЧТО ОНА ЗНАЧИТ</a:t>
            </a:r>
          </a:p>
        </p:txBody>
      </p:sp>
      <p:sp>
        <p:nvSpPr>
          <p:cNvPr id="7" name="TextBox 6"/>
          <p:cNvSpPr txBox="1"/>
          <p:nvPr/>
        </p:nvSpPr>
        <p:spPr>
          <a:xfrm>
            <a:off x="685800" y="1509657"/>
            <a:ext cx="83199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$304,4 млн</a:t>
            </a:r>
          </a:p>
        </p:txBody>
      </p:sp>
      <p:sp>
        <p:nvSpPr>
          <p:cNvPr id="8" name="TextBox 7"/>
          <p:cNvSpPr txBox="1"/>
          <p:nvPr/>
        </p:nvSpPr>
        <p:spPr>
          <a:xfrm>
            <a:off x="1664099" y="1509657"/>
            <a:ext cx="969274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списание запасов за третий квартал 2021 года (CNN, 9 ноября 2021) — компания связала его с тем, что купленные дома стоят дороже, чем их можно сейчас продать</a:t>
            </a:r>
          </a:p>
        </p:txBody>
      </p:sp>
      <p:cxnSp>
        <p:nvCxnSpPr>
          <p:cNvPr id="9" name="Connector 8"/>
          <p:cNvCxnSpPr/>
          <p:nvPr/>
        </p:nvCxnSpPr>
        <p:spPr>
          <a:xfrm>
            <a:off x="685800" y="2039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9374"/>
            <a:ext cx="83199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$407,9 млн</a:t>
            </a:r>
          </a:p>
        </p:txBody>
      </p:sp>
      <p:sp>
        <p:nvSpPr>
          <p:cNvPr id="11" name="TextBox 10"/>
          <p:cNvSpPr txBox="1"/>
          <p:nvPr/>
        </p:nvSpPr>
        <p:spPr>
          <a:xfrm>
            <a:off x="1664099" y="2039374"/>
            <a:ext cx="969274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списание по итогам всего 2021 года (годовой отчёт, форма 10-K) — более полная цифра, чем квартальная</a:t>
            </a:r>
          </a:p>
        </p:txBody>
      </p:sp>
      <p:cxnSp>
        <p:nvCxnSpPr>
          <p:cNvPr id="12" name="Connector 11"/>
          <p:cNvCxnSpPr/>
          <p:nvPr/>
        </p:nvCxnSpPr>
        <p:spPr>
          <a:xfrm>
            <a:off x="685800" y="25690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69091"/>
            <a:ext cx="831995"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2000 / 25%</a:t>
            </a:r>
          </a:p>
        </p:txBody>
      </p:sp>
      <p:sp>
        <p:nvSpPr>
          <p:cNvPr id="14" name="TextBox 13"/>
          <p:cNvSpPr txBox="1"/>
          <p:nvPr/>
        </p:nvSpPr>
        <p:spPr>
          <a:xfrm>
            <a:off x="1664099" y="2569091"/>
            <a:ext cx="969274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сокращённые рабочие места при закрытии Zillow Offers (объявлено 2 ноября 2021)</a:t>
            </a:r>
          </a:p>
        </p:txBody>
      </p:sp>
      <p:cxnSp>
        <p:nvCxnSpPr>
          <p:cNvPr id="15" name="Connector 14"/>
          <p:cNvCxnSpPr/>
          <p:nvPr/>
        </p:nvCxnSpPr>
        <p:spPr>
          <a:xfrm>
            <a:off x="685800" y="30988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98808"/>
            <a:ext cx="831995"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27% против ~6%</a:t>
            </a:r>
          </a:p>
        </p:txBody>
      </p:sp>
      <p:sp>
        <p:nvSpPr>
          <p:cNvPr id="17" name="TextBox 16"/>
          <p:cNvSpPr txBox="1"/>
          <p:nvPr/>
        </p:nvSpPr>
        <p:spPr>
          <a:xfrm>
            <a:off x="1664099" y="3098808"/>
            <a:ext cx="96927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Остине: цена покупки домов Zillow подразумевала такой годовой рост за 4 года — при фактическом росте по индексу Case-Shiller около 6% (анализ Bank of America, Fortune, 3 ноября 2021)</a:t>
            </a:r>
          </a:p>
        </p:txBody>
      </p:sp>
      <p:sp>
        <p:nvSpPr>
          <p:cNvPr id="18" name="Rectangle 17"/>
          <p:cNvSpPr/>
          <p:nvPr/>
        </p:nvSpPr>
        <p:spPr>
          <a:xfrm>
            <a:off x="502920" y="4448522"/>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8" y="4503386"/>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«Непредсказуемость прогнозирования цен на жильё» «намного превысила» то, что компания ожидала, — так закрытие объяснил Рич Бартон, генеральный директор и сооснователь Zillow (CNN, 9 ноября 2021).</a:t>
            </a:r>
          </a:p>
        </p:txBody>
      </p:sp>
      <p:sp>
        <p:nvSpPr>
          <p:cNvPr id="20" name="Rounded Rectangle 19"/>
          <p:cNvSpPr/>
          <p:nvPr/>
        </p:nvSpPr>
        <p:spPr>
          <a:xfrm>
            <a:off x="502920" y="54288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568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2000 человек — это четверть компании. Их рабочие места закрылись вместе с бизнесом. Решение подключить оценку прямо к покупке принимали другие люди.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ставить гейт, решает цена следующего шага</a:t>
            </a:r>
          </a:p>
        </p:txBody>
      </p:sp>
      <p:pic>
        <p:nvPicPr>
          <p:cNvPr id="3" name="Picture 2" descr="zillow-n13-spektr.png"/>
          <p:cNvPicPr>
            <a:picLocks noChangeAspect="1"/>
          </p:cNvPicPr>
          <p:nvPr/>
        </p:nvPicPr>
        <p:blipFill>
          <a:blip r:embed="rId2"/>
          <a:stretch>
            <a:fillRect/>
          </a:stretch>
        </p:blipFill>
        <p:spPr>
          <a:xfrm>
            <a:off x="502920" y="962319"/>
            <a:ext cx="11183112" cy="2222643"/>
          </a:xfrm>
          <a:prstGeom prst="rect">
            <a:avLst/>
          </a:prstGeom>
        </p:spPr>
      </p:pic>
      <p:sp>
        <p:nvSpPr>
          <p:cNvPr id="4" name="Rounded Rectangle 3"/>
          <p:cNvSpPr/>
          <p:nvPr/>
        </p:nvSpPr>
        <p:spPr>
          <a:xfrm>
            <a:off x="502920" y="339696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497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в этих двух случаях одинаковый. Различается только следующая строчка — та, что выполняется после пропущенной проверки. Между недовольным клиентом и $407,9 млн в коде нет промежуточных значений: они есть только в цене.</a:t>
            </a:r>
          </a:p>
        </p:txBody>
      </p:sp>
      <p:sp>
        <p:nvSpPr>
          <p:cNvPr id="6" name="Rounded Rectangle 5"/>
          <p:cNvSpPr/>
          <p:nvPr/>
        </p:nvSpPr>
        <p:spPr>
          <a:xfrm>
            <a:off x="502920" y="4591942"/>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4774822"/>
            <a:ext cx="60562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ГЕЙТ ОБЯЗАТЕЛЕН</a:t>
            </a:r>
          </a:p>
        </p:txBody>
      </p:sp>
      <p:sp>
        <p:nvSpPr>
          <p:cNvPr id="8" name="TextBox 7"/>
          <p:cNvSpPr txBox="1"/>
          <p:nvPr/>
        </p:nvSpPr>
        <p:spPr>
          <a:xfrm>
            <a:off x="6888345" y="4774822"/>
            <a:ext cx="44685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БЕЗ ГЕЙТА МОЖНО</a:t>
            </a:r>
          </a:p>
        </p:txBody>
      </p:sp>
      <p:sp>
        <p:nvSpPr>
          <p:cNvPr id="9" name="TextBox 8"/>
          <p:cNvSpPr txBox="1"/>
          <p:nvPr/>
        </p:nvSpPr>
        <p:spPr>
          <a:xfrm>
            <a:off x="685800" y="5056889"/>
            <a:ext cx="605624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следующий шаг тратит деньги или уходит наружу — к клиенту, в чужую систему, в публичный документ</a:t>
            </a:r>
          </a:p>
        </p:txBody>
      </p:sp>
      <p:sp>
        <p:nvSpPr>
          <p:cNvPr id="10" name="TextBox 9"/>
          <p:cNvSpPr txBox="1"/>
          <p:nvPr/>
        </p:nvSpPr>
        <p:spPr>
          <a:xfrm>
            <a:off x="6888345" y="5056889"/>
            <a:ext cx="4468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следующий шаг делает черновик, который перед любым действием прочитает человек</a:t>
            </a:r>
          </a:p>
        </p:txBody>
      </p:sp>
      <p:cxnSp>
        <p:nvCxnSpPr>
          <p:cNvPr id="11" name="Connector 10"/>
          <p:cNvCxnSpPr/>
          <p:nvPr/>
        </p:nvCxnSpPr>
        <p:spPr>
          <a:xfrm>
            <a:off x="685800" y="5586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5586606"/>
            <a:ext cx="605624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отменить его одним движением нельзя: месяцы перепродажи с убытком, списание, суд</a:t>
            </a:r>
          </a:p>
        </p:txBody>
      </p:sp>
      <p:sp>
        <p:nvSpPr>
          <p:cNvPr id="13" name="TextBox 12"/>
          <p:cNvSpPr txBox="1"/>
          <p:nvPr/>
        </p:nvSpPr>
        <p:spPr>
          <a:xfrm>
            <a:off x="6888345" y="5586606"/>
            <a:ext cx="44685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отменить можно одним движением, в тот же день</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1053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«Чтобы поменять одну мелкую деталь — пять слоёв абстракции»</a:t>
            </a:r>
          </a:p>
        </p:txBody>
      </p:sp>
      <p:sp>
        <p:nvSpPr>
          <p:cNvPr id="4" name="TextBox 3"/>
          <p:cNvSpPr txBox="1"/>
          <p:nvPr/>
        </p:nvSpPr>
        <p:spPr>
          <a:xfrm>
            <a:off x="1234440" y="359257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(разработчик в обсуждении на Hacker News, июнь 2024: коллеги спрашивали его, почему он собирает своё без фреймворка)</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перевод слова: 1 класс и 1 вызов против 3 классов и 4 вызовов</a:t>
            </a:r>
          </a:p>
        </p:txBody>
      </p:sp>
      <p:sp>
        <p:nvSpPr>
          <p:cNvPr id="3" name="Rounded Rectangle 2"/>
          <p:cNvSpPr/>
          <p:nvPr/>
        </p:nvSpPr>
        <p:spPr>
          <a:xfrm>
            <a:off x="502920" y="1319784"/>
            <a:ext cx="11183112" cy="1528572"/>
          </a:xfrm>
          <a:prstGeom prst="roundRect">
            <a:avLst>
              <a:gd name="adj" fmla="val 13293"/>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356360"/>
            <a:ext cx="50292" cy="14554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502664"/>
            <a:ext cx="10744200" cy="1162812"/>
          </a:xfrm>
          <a:prstGeom prst="rect">
            <a:avLst/>
          </a:prstGeom>
          <a:noFill/>
        </p:spPr>
        <p:txBody>
          <a:bodyPr wrap="none" lIns="0" rIns="0" tIns="0" bIns="0" anchor="t">
            <a:spAutoFit/>
          </a:bodyPr>
          <a:lstStyle/>
          <a:p>
            <a:pPr algn="l">
              <a:lnSpc>
                <a:spcPts val="1430"/>
              </a:lnSpc>
              <a:spcAft>
                <a:spcPts val="0"/>
              </a:spcAft>
            </a:pPr>
            <a:r>
              <a:rPr sz="1100" b="0" i="0">
                <a:solidFill>
                  <a:srgbClr val="141B2E"/>
                </a:solidFill>
                <a:latin typeface="Consolas"/>
              </a:rPr>
              <a:t># прямой вызов API: класс OpenAI, вызов create — и это всё</a:t>
            </a:r>
          </a:p>
          <a:p>
            <a:pPr algn="l">
              <a:lnSpc>
                <a:spcPts val="1430"/>
              </a:lnSpc>
              <a:spcAft>
                <a:spcPts val="0"/>
              </a:spcAft>
            </a:pPr>
            <a:r>
              <a:rPr sz="1100" b="0" i="0">
                <a:solidFill>
                  <a:srgbClr val="141B2E"/>
                </a:solidFill>
                <a:latin typeface="Consolas"/>
              </a:rPr>
              <a:t>client = OpenAI(api_key=KEY)</a:t>
            </a:r>
          </a:p>
          <a:p>
            <a:pPr algn="l">
              <a:lnSpc>
                <a:spcPts val="1430"/>
              </a:lnSpc>
              <a:spcAft>
                <a:spcPts val="0"/>
              </a:spcAft>
            </a:pPr>
            <a:r>
              <a:rPr sz="1100" b="0" i="0">
                <a:solidFill>
                  <a:srgbClr val="141B2E"/>
                </a:solidFill>
                <a:latin typeface="Consolas"/>
              </a:rPr>
              <a:t>m = [{"role": "system", "content": "You are an expert translator"},</a:t>
            </a:r>
          </a:p>
          <a:p>
            <a:pPr algn="l">
              <a:lnSpc>
                <a:spcPts val="1430"/>
              </a:lnSpc>
              <a:spcAft>
                <a:spcPts val="0"/>
              </a:spcAft>
            </a:pPr>
            <a:r>
              <a:rPr sz="1100" b="0" i="0">
                <a:solidFill>
                  <a:srgbClr val="141B2E"/>
                </a:solidFill>
                <a:latin typeface="Consolas"/>
              </a:rPr>
              <a:t>     {"role": "user", "content": f"Translate into {lang}: {text}"}]</a:t>
            </a:r>
          </a:p>
          <a:p>
            <a:pPr algn="l">
              <a:lnSpc>
                <a:spcPts val="1430"/>
              </a:lnSpc>
              <a:spcAft>
                <a:spcPts val="0"/>
              </a:spcAft>
            </a:pPr>
            <a:r>
              <a:rPr sz="1100" b="0" i="0">
                <a:solidFill>
                  <a:srgbClr val="141B2E"/>
                </a:solidFill>
                <a:latin typeface="Consolas"/>
              </a:rPr>
              <a:t>resp = client.chat.completions.create(model=MODEL, messages=m)</a:t>
            </a:r>
          </a:p>
          <a:p>
            <a:pPr algn="l">
              <a:lnSpc>
                <a:spcPts val="1430"/>
              </a:lnSpc>
              <a:spcAft>
                <a:spcPts val="0"/>
              </a:spcAft>
            </a:pPr>
            <a:r>
              <a:rPr sz="1100" b="0" i="0">
                <a:solidFill>
                  <a:srgbClr val="141B2E"/>
                </a:solidFill>
                <a:latin typeface="Consolas"/>
              </a:rPr>
              <a:t>result = resp.choices[0].message.content</a:t>
            </a:r>
          </a:p>
        </p:txBody>
      </p:sp>
      <p:sp>
        <p:nvSpPr>
          <p:cNvPr id="6" name="Rounded Rectangle 5"/>
          <p:cNvSpPr/>
          <p:nvPr/>
        </p:nvSpPr>
        <p:spPr>
          <a:xfrm>
            <a:off x="502920" y="3012948"/>
            <a:ext cx="11183112" cy="1710182"/>
          </a:xfrm>
          <a:prstGeom prst="roundRect">
            <a:avLst>
              <a:gd name="adj" fmla="val 11881"/>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3049524"/>
            <a:ext cx="50292" cy="163703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195828"/>
            <a:ext cx="10744200" cy="1344422"/>
          </a:xfrm>
          <a:prstGeom prst="rect">
            <a:avLst/>
          </a:prstGeom>
          <a:noFill/>
        </p:spPr>
        <p:txBody>
          <a:bodyPr wrap="none" lIns="0" rIns="0" tIns="0" bIns="0" anchor="t">
            <a:spAutoFit/>
          </a:bodyPr>
          <a:lstStyle/>
          <a:p>
            <a:pPr algn="l">
              <a:lnSpc>
                <a:spcPts val="1430"/>
              </a:lnSpc>
              <a:spcAft>
                <a:spcPts val="0"/>
              </a:spcAft>
            </a:pPr>
            <a:r>
              <a:rPr sz="1100" b="0" i="0">
                <a:solidFill>
                  <a:srgbClr val="141B2E"/>
                </a:solidFill>
                <a:latin typeface="Consolas"/>
              </a:rPr>
              <a:t># через LangChain: 3 класса, 4 вызова, 3 новых понятия</a:t>
            </a:r>
          </a:p>
          <a:p>
            <a:pPr algn="l">
              <a:lnSpc>
                <a:spcPts val="1430"/>
              </a:lnSpc>
              <a:spcAft>
                <a:spcPts val="0"/>
              </a:spcAft>
            </a:pPr>
            <a:r>
              <a:rPr sz="1100" b="0" i="0">
                <a:solidFill>
                  <a:srgbClr val="141B2E"/>
                </a:solidFill>
                <a:latin typeface="Consolas"/>
              </a:rPr>
              <a:t>prompt = ChatPromptTemplate.from_messages([      # класс 1, вызов 1</a:t>
            </a:r>
          </a:p>
          <a:p>
            <a:pPr algn="l">
              <a:lnSpc>
                <a:spcPts val="1430"/>
              </a:lnSpc>
              <a:spcAft>
                <a:spcPts val="0"/>
              </a:spcAft>
            </a:pPr>
            <a:r>
              <a:rPr sz="1100" b="0" i="0">
                <a:solidFill>
                  <a:srgbClr val="141B2E"/>
                </a:solidFill>
                <a:latin typeface="Consolas"/>
              </a:rPr>
              <a:t>    ("system", "You are an expert translator"),</a:t>
            </a:r>
          </a:p>
          <a:p>
            <a:pPr algn="l">
              <a:lnSpc>
                <a:spcPts val="1430"/>
              </a:lnSpc>
              <a:spcAft>
                <a:spcPts val="0"/>
              </a:spcAft>
            </a:pPr>
            <a:r>
              <a:rPr sz="1100" b="0" i="0">
                <a:solidFill>
                  <a:srgbClr val="141B2E"/>
                </a:solidFill>
                <a:latin typeface="Consolas"/>
              </a:rPr>
              <a:t>    ("user", "Translate into {language}: {text}")])</a:t>
            </a:r>
          </a:p>
          <a:p>
            <a:pPr algn="l">
              <a:lnSpc>
                <a:spcPts val="1430"/>
              </a:lnSpc>
              <a:spcAft>
                <a:spcPts val="0"/>
              </a:spcAft>
            </a:pPr>
            <a:r>
              <a:rPr sz="1100" b="0" i="0">
                <a:solidFill>
                  <a:srgbClr val="141B2E"/>
                </a:solidFill>
                <a:latin typeface="Consolas"/>
              </a:rPr>
              <a:t>parser = StrOutputParser()                       # класс 2, вызов 2</a:t>
            </a:r>
          </a:p>
          <a:p>
            <a:pPr algn="l">
              <a:lnSpc>
                <a:spcPts val="1430"/>
              </a:lnSpc>
              <a:spcAft>
                <a:spcPts val="0"/>
              </a:spcAft>
            </a:pPr>
            <a:r>
              <a:rPr sz="1100" b="0" i="0">
                <a:solidFill>
                  <a:srgbClr val="141B2E"/>
                </a:solidFill>
                <a:latin typeface="Consolas"/>
              </a:rPr>
              <a:t>chain = prompt | ChatOpenAI(model=MODEL) | parser    # класс 3, вызов 3</a:t>
            </a:r>
          </a:p>
          <a:p>
            <a:pPr algn="l">
              <a:lnSpc>
                <a:spcPts val="1430"/>
              </a:lnSpc>
              <a:spcAft>
                <a:spcPts val="0"/>
              </a:spcAft>
            </a:pPr>
            <a:r>
              <a:rPr sz="1100" b="0" i="0">
                <a:solidFill>
                  <a:srgbClr val="141B2E"/>
                </a:solidFill>
                <a:latin typeface="Consolas"/>
              </a:rPr>
              <a:t>result = chain.invoke({"language": lang, "text": text})   # вызов 4</a:t>
            </a:r>
          </a:p>
        </p:txBody>
      </p:sp>
      <p:sp>
        <p:nvSpPr>
          <p:cNvPr id="9" name="Rounded Rectangle 8"/>
          <p:cNvSpPr/>
          <p:nvPr/>
        </p:nvSpPr>
        <p:spPr>
          <a:xfrm>
            <a:off x="502920" y="4887722"/>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015737"/>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Способа смотреть на состояние агента извне фреймворк не давал — реализацию пришлось сузить до того, что LangChain показывает наружу. </a:t>
            </a:r>
            <a:r>
              <a:rPr sz="1450" b="1" i="0">
                <a:solidFill>
                  <a:srgbClr val="141B2E"/>
                </a:solidFill>
                <a:latin typeface="Arial"/>
              </a:rPr>
              <a:t>Решение Octomind: вынести фреймворк целиком</a:t>
            </a:r>
            <a:r>
              <a:rPr sz="1450" b="1" i="0">
                <a:solidFill>
                  <a:srgbClr val="141B2E"/>
                </a:solidFill>
                <a:latin typeface="Arial"/>
              </a:rPr>
              <a:t>, оставив прямые вызовы модели и обычный код вокруг них — условия, циклы, обработку текста. </a:t>
            </a:r>
            <a:r>
              <a:rPr sz="1450" b="1" i="0">
                <a:solidFill>
                  <a:srgbClr val="141B2E"/>
                </a:solidFill>
                <a:latin typeface="Arial"/>
              </a:rPr>
              <a:t>«We could just code»</a:t>
            </a:r>
            <a:r>
              <a:rPr sz="1450" b="1" i="0">
                <a:solidFill>
                  <a:srgbClr val="141B2E"/>
                </a:solidFill>
                <a:latin typeface="Arial"/>
              </a:rPr>
              <a:t> — «мы могли просто написать код». Обсуждение на Hacker News, 20 июня 2024: </a:t>
            </a:r>
            <a:r>
              <a:rPr sz="1450" b="1" i="0">
                <a:solidFill>
                  <a:srgbClr val="141B2E"/>
                </a:solidFill>
                <a:latin typeface="Arial"/>
              </a:rPr>
              <a:t>480 очков, 297 комментариев</a:t>
            </a:r>
            <a:r>
              <a:rPr sz="1450" b="1" i="0">
                <a:solidFill>
                  <a:srgbClr val="141B2E"/>
                </a:solidFill>
                <a:latin typeface="Arial"/>
              </a:rPr>
              <a:t>.</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Простого кода хватило с самого начала</a:t>
            </a:r>
          </a:p>
        </p:txBody>
      </p:sp>
      <p:sp>
        <p:nvSpPr>
          <p:cNvPr id="3" name="Rounded Rectangle 2"/>
          <p:cNvSpPr/>
          <p:nvPr/>
        </p:nvSpPr>
        <p:spPr>
          <a:xfrm>
            <a:off x="502920" y="147797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Фреймворк вынесли целиком, и сложность никуда не переехала: прямых вызовов модели с обычным кодом вокруг — условия, циклы, обработка текста — хватило с самого начала.</a:t>
            </a:r>
          </a:p>
        </p:txBody>
      </p:sp>
      <p:sp>
        <p:nvSpPr>
          <p:cNvPr id="5" name="Rounded Rectangle 4"/>
          <p:cNvSpPr/>
          <p:nvPr/>
        </p:nvSpPr>
        <p:spPr>
          <a:xfrm>
            <a:off x="502920" y="289224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2026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«Ищите простейшее возможное решение и повышайте сложность только тогда, когда она нужна»; «начинайте с прямых вызовов API модели — многие приёмы укладываются в несколько строк кода»; фреймворки «добавляют лишние слои абстракции, которые скрывают сами промпты и ответы и усложняют отладку». — Anthropic, Building Effective Agents, 19 декабря 2024</a:t>
            </a:r>
          </a:p>
        </p:txBody>
      </p:sp>
      <p:sp>
        <p:nvSpPr>
          <p:cNvPr id="7" name="Rounded Rectangle 6"/>
          <p:cNvSpPr/>
          <p:nvPr/>
        </p:nvSpPr>
        <p:spPr>
          <a:xfrm>
            <a:off x="502920" y="47789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9069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 цепочки один фиксированный порядок шагов — один для всего, что в неё приходит. Что делать, когда в одну точку приходят входы, которым нужны разные порядки?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прошу категорию, а получаю абзац»</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Ветвление, которое на прошлой ступени копилось внутри одного шага, выходит наружу. Первое, обо что спотыкается маршрут, — форма ответа того самого шага.</a:t>
            </a:r>
          </a:p>
        </p:txBody>
      </p:sp>
      <p:sp>
        <p:nvSpPr>
          <p:cNvPr id="5" name="Rounded Rectangle 4"/>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точка, четыре ветки, у каждой своя цена</a:t>
            </a:r>
          </a:p>
        </p:txBody>
      </p:sp>
      <p:pic>
        <p:nvPicPr>
          <p:cNvPr id="3" name="Picture 2" descr="marshrut-c4-razvilka-tseny.png"/>
          <p:cNvPicPr>
            <a:picLocks noChangeAspect="1"/>
          </p:cNvPicPr>
          <p:nvPr/>
        </p:nvPicPr>
        <p:blipFill>
          <a:blip r:embed="rId2"/>
          <a:stretch>
            <a:fillRect/>
          </a:stretch>
        </p:blipFill>
        <p:spPr>
          <a:xfrm>
            <a:off x="502920" y="1131379"/>
            <a:ext cx="11183112" cy="3494722"/>
          </a:xfrm>
          <a:prstGeom prst="rect">
            <a:avLst/>
          </a:prstGeom>
        </p:spPr>
      </p:pic>
      <p:sp>
        <p:nvSpPr>
          <p:cNvPr id="4" name="Rounded Rectangle 3"/>
          <p:cNvSpPr/>
          <p:nvPr/>
        </p:nvSpPr>
        <p:spPr>
          <a:xfrm>
            <a:off x="502920" y="5260752"/>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8768"/>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Цену ошибки задаёт то, что ветка делает дальше. Дешевизна самого шага классификации её не</a:t>
            </a:r>
          </a:p>
          <a:p>
            <a:pPr algn="l">
              <a:lnSpc>
                <a:spcPts val="1860"/>
              </a:lnSpc>
              <a:spcAft>
                <a:spcPts val="300"/>
              </a:spcAft>
            </a:pPr>
            <a:r>
              <a:rPr sz="1500" b="1" i="0">
                <a:solidFill>
                  <a:srgbClr val="141B2E"/>
                </a:solidFill>
                <a:latin typeface="Arial"/>
              </a:rPr>
              <a:t>уменьшает.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Нужен ли здесь полноценный вызов модели — или достаточно метки?</a:t>
            </a:r>
          </a:p>
        </p:txBody>
      </p:sp>
      <p:sp>
        <p:nvSpPr>
          <p:cNvPr id="3" name="Rectangle 2"/>
          <p:cNvSpPr/>
          <p:nvPr/>
        </p:nvSpPr>
        <p:spPr>
          <a:xfrm>
            <a:off x="502920" y="1814169"/>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869033"/>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«Тот же самый классификационный шаг — только теперь от его ответа зависит, какой из четырёх маршрутов получит письмо.»</a:t>
            </a:r>
          </a:p>
        </p:txBody>
      </p:sp>
      <p:sp>
        <p:nvSpPr>
          <p:cNvPr id="5" name="Rounded Rectangle 4"/>
          <p:cNvSpPr/>
          <p:nvPr/>
        </p:nvSpPr>
        <p:spPr>
          <a:xfrm>
            <a:off x="502920" y="304403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7205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«Нужно ли здесь гонять полноценный вызов модели, который сочиняет объяснение, или достаточно того, что сразу возвращает одну метку?»</a:t>
            </a:r>
          </a:p>
        </p:txBody>
      </p:sp>
      <p:sp>
        <p:nvSpPr>
          <p:cNvPr id="7" name="Rounded Rectangle 6"/>
          <p:cNvSpPr/>
          <p:nvPr/>
        </p:nvSpPr>
        <p:spPr>
          <a:xfrm>
            <a:off x="502920"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 — модель отвечает текстом, метку парсим из ответа</a:t>
            </a:r>
          </a:p>
        </p:txBody>
      </p:sp>
      <p:sp>
        <p:nvSpPr>
          <p:cNvPr id="9" name="Rounded Rectangle 8"/>
          <p:cNvSpPr/>
          <p:nvPr/>
        </p:nvSpPr>
        <p:spPr>
          <a:xfrm>
            <a:off x="3335274"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правила руками — ключевые слова и условия если/то</a:t>
            </a:r>
          </a:p>
        </p:txBody>
      </p:sp>
      <p:sp>
        <p:nvSpPr>
          <p:cNvPr id="11" name="Rounded Rectangle 10"/>
          <p:cNvSpPr/>
          <p:nvPr/>
        </p:nvSpPr>
        <p:spPr>
          <a:xfrm>
            <a:off x="6167628"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завести отдельную маленькую модель-классификатор</a:t>
            </a:r>
          </a:p>
        </p:txBody>
      </p:sp>
      <p:sp>
        <p:nvSpPr>
          <p:cNvPr id="13" name="Rounded Rectangle 12"/>
          <p:cNvSpPr/>
          <p:nvPr/>
        </p:nvSpPr>
        <p:spPr>
          <a:xfrm>
            <a:off x="8999982" y="4534509"/>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534509"/>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использовать decision-модель — вызов, который возвращает типизированное значение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варианта спорят об одном и том же</a:t>
            </a:r>
          </a:p>
        </p:txBody>
      </p:sp>
      <p:sp>
        <p:nvSpPr>
          <p:cNvPr id="3" name="Rounded Rectangle 2"/>
          <p:cNvSpPr/>
          <p:nvPr/>
        </p:nvSpPr>
        <p:spPr>
          <a:xfrm>
            <a:off x="502920" y="2095500"/>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2095500"/>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 — модель отвечает текстом, метку парсим из ответа</a:t>
            </a:r>
          </a:p>
        </p:txBody>
      </p:sp>
      <p:sp>
        <p:nvSpPr>
          <p:cNvPr id="5" name="Rounded Rectangle 4"/>
          <p:cNvSpPr/>
          <p:nvPr/>
        </p:nvSpPr>
        <p:spPr>
          <a:xfrm>
            <a:off x="4279392" y="2095500"/>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89120" y="2095500"/>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правила руками — ключевые слова и условия если/то</a:t>
            </a:r>
          </a:p>
        </p:txBody>
      </p:sp>
      <p:sp>
        <p:nvSpPr>
          <p:cNvPr id="7" name="Rounded Rectangle 6"/>
          <p:cNvSpPr/>
          <p:nvPr/>
        </p:nvSpPr>
        <p:spPr>
          <a:xfrm>
            <a:off x="8055863" y="2095500"/>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65591" y="2095500"/>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отдельная маленькая модель-классификатор</a:t>
            </a:r>
          </a:p>
        </p:txBody>
      </p:sp>
      <p:sp>
        <p:nvSpPr>
          <p:cNvPr id="9" name="Rounded Rectangle 8"/>
          <p:cNvSpPr/>
          <p:nvPr/>
        </p:nvSpPr>
        <p:spPr>
          <a:xfrm>
            <a:off x="502920" y="3814572"/>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942588"/>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Все три отвечают на один вопрос: как точнее угадать категорию. Вопрос стоит иначе — зачем</a:t>
            </a:r>
          </a:p>
          <a:p>
            <a:pPr algn="l">
              <a:lnSpc>
                <a:spcPts val="1860"/>
              </a:lnSpc>
              <a:spcAft>
                <a:spcPts val="300"/>
              </a:spcAft>
            </a:pPr>
            <a:r>
              <a:rPr sz="1500" b="1" i="0">
                <a:solidFill>
                  <a:srgbClr val="141B2E"/>
                </a:solidFill>
                <a:latin typeface="Arial"/>
              </a:rPr>
              <a:t>вообще просить модель сочинять текст, если на выходе нужно одно значение из четырёх.</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Четвёртый способ отвечает значением</a:t>
            </a:r>
          </a:p>
        </p:txBody>
      </p:sp>
      <p:sp>
        <p:nvSpPr>
          <p:cNvPr id="3" name="Rounded Rectangle 2"/>
          <p:cNvSpPr/>
          <p:nvPr/>
        </p:nvSpPr>
        <p:spPr>
          <a:xfrm>
            <a:off x="502920" y="1185519"/>
            <a:ext cx="11183112" cy="1542669"/>
          </a:xfrm>
          <a:prstGeom prst="roundRect">
            <a:avLst>
              <a:gd name="adj" fmla="val 197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8399"/>
            <a:ext cx="606899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DECISION-МОДЕЛЬ</a:t>
            </a:r>
          </a:p>
        </p:txBody>
      </p:sp>
      <p:sp>
        <p:nvSpPr>
          <p:cNvPr id="5" name="TextBox 4"/>
          <p:cNvSpPr txBox="1"/>
          <p:nvPr/>
        </p:nvSpPr>
        <p:spPr>
          <a:xfrm>
            <a:off x="6901099" y="1368399"/>
            <a:ext cx="445574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ЗА ЭТО ПЛАТЯТ</a:t>
            </a:r>
          </a:p>
        </p:txBody>
      </p:sp>
      <p:sp>
        <p:nvSpPr>
          <p:cNvPr id="6" name="Rounded Rectangle 5"/>
          <p:cNvSpPr/>
          <p:nvPr/>
        </p:nvSpPr>
        <p:spPr>
          <a:xfrm>
            <a:off x="566928" y="1650466"/>
            <a:ext cx="11055096" cy="894842"/>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50466"/>
            <a:ext cx="6068995"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выходе само значение: метка, уверенность от 0 до 1, распределение вероятностей по заданным категориям или балл вдоль шкалы; абзаца, из которого значение надо выдёргивать, больше нет, и токены на него не тратятся</a:t>
            </a:r>
          </a:p>
        </p:txBody>
      </p:sp>
      <p:sp>
        <p:nvSpPr>
          <p:cNvPr id="8" name="TextBox 7"/>
          <p:cNvSpPr txBox="1"/>
          <p:nvPr/>
        </p:nvSpPr>
        <p:spPr>
          <a:xfrm>
            <a:off x="6901099" y="1650466"/>
            <a:ext cx="4455748"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причину оценки узнать негде — ответ состоит из числа; на неполном наборе категорий перекос остаётся незаметным ровно потому, что объяснения рядом с числом нет</a:t>
            </a:r>
          </a:p>
        </p:txBody>
      </p:sp>
      <p:sp>
        <p:nvSpPr>
          <p:cNvPr id="9" name="Rounded Rectangle 8"/>
          <p:cNvSpPr/>
          <p:nvPr/>
        </p:nvSpPr>
        <p:spPr>
          <a:xfrm>
            <a:off x="502920" y="3395700"/>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523716"/>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Действующий пример такого вызова — Jev, продукт компании TypeSafe AI: письмо уходит туда</a:t>
            </a:r>
          </a:p>
          <a:p>
            <a:pPr algn="l">
              <a:lnSpc>
                <a:spcPts val="1860"/>
              </a:lnSpc>
              <a:spcAft>
                <a:spcPts val="300"/>
              </a:spcAft>
            </a:pPr>
            <a:r>
              <a:rPr sz="1500" b="1" i="0">
                <a:solidFill>
                  <a:srgbClr val="141B2E"/>
                </a:solidFill>
                <a:latin typeface="Arial"/>
              </a:rPr>
              <a:t>как вход, в ответ приходит значение. Классификация требует меньше вычислений, чем связный</a:t>
            </a:r>
          </a:p>
          <a:p>
            <a:pPr algn="l">
              <a:lnSpc>
                <a:spcPts val="1860"/>
              </a:lnSpc>
              <a:spcAft>
                <a:spcPts val="300"/>
              </a:spcAft>
            </a:pPr>
            <a:r>
              <a:rPr sz="1500" b="1" i="0">
                <a:solidFill>
                  <a:srgbClr val="141B2E"/>
                </a:solidFill>
                <a:latin typeface="Arial"/>
              </a:rPr>
              <a:t>текст, и цена вызова это отражает.</a:t>
            </a:r>
          </a:p>
        </p:txBody>
      </p:sp>
      <p:sp>
        <p:nvSpPr>
          <p:cNvPr id="11" name="Rounded Rectangle 10"/>
          <p:cNvSpPr/>
          <p:nvPr/>
        </p:nvSpPr>
        <p:spPr>
          <a:xfrm>
            <a:off x="502920" y="5122392"/>
            <a:ext cx="11183112" cy="84201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250408"/>
            <a:ext cx="10634472" cy="58597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Вопрос к своему пайплайну: сколько в нём шагов гоняют полный вызов ради одного слова на</a:t>
            </a:r>
          </a:p>
          <a:p>
            <a:pPr algn="ctr">
              <a:lnSpc>
                <a:spcPts val="2013"/>
              </a:lnSpc>
              <a:spcAft>
                <a:spcPts val="300"/>
              </a:spcAft>
            </a:pPr>
            <a:r>
              <a:rPr sz="1650" b="1" i="0">
                <a:solidFill>
                  <a:srgbClr val="141B2E"/>
                </a:solidFill>
                <a:latin typeface="Arial"/>
              </a:rPr>
              <a:t>выходе?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Письмо мимо всех четырёх веток уезжает в одну из них</a:t>
            </a:r>
          </a:p>
        </p:txBody>
      </p:sp>
      <p:pic>
        <p:nvPicPr>
          <p:cNvPr id="3" name="Picture 2" descr="marshrut-c4-razvilka-chuzhoe-pismo.png"/>
          <p:cNvPicPr>
            <a:picLocks noChangeAspect="1"/>
          </p:cNvPicPr>
          <p:nvPr/>
        </p:nvPicPr>
        <p:blipFill>
          <a:blip r:embed="rId2"/>
          <a:stretch>
            <a:fillRect/>
          </a:stretch>
        </p:blipFill>
        <p:spPr>
          <a:xfrm>
            <a:off x="502920" y="1049609"/>
            <a:ext cx="11183112" cy="3354933"/>
          </a:xfrm>
          <a:prstGeom prst="rect">
            <a:avLst/>
          </a:prstGeom>
        </p:spPr>
      </p:pic>
      <p:sp>
        <p:nvSpPr>
          <p:cNvPr id="4" name="Rounded Rectangle 3"/>
          <p:cNvSpPr/>
          <p:nvPr/>
        </p:nvSpPr>
        <p:spPr>
          <a:xfrm>
            <a:off x="502920" y="4834768"/>
            <a:ext cx="82296" cy="13335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962784"/>
            <a:ext cx="10643616" cy="10774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Автор Jev спросил у модели «да» или «нет» на вопрос «хороший ли это город» по каждому</a:t>
            </a:r>
          </a:p>
          <a:p>
            <a:pPr algn="l">
              <a:lnSpc>
                <a:spcPts val="1860"/>
              </a:lnSpc>
              <a:spcAft>
                <a:spcPts val="300"/>
              </a:spcAft>
            </a:pPr>
            <a:r>
              <a:rPr sz="1500" b="1" i="0">
                <a:solidFill>
                  <a:srgbClr val="141B2E"/>
                </a:solidFill>
                <a:latin typeface="Arial"/>
              </a:rPr>
              <a:t>городу залива Сан-Франциско. Выше всех — Купертино, ниже всех — Восточный Пало-Альто:</a:t>
            </a:r>
          </a:p>
          <a:p>
            <a:pPr algn="l">
              <a:lnSpc>
                <a:spcPts val="1860"/>
              </a:lnSpc>
              <a:spcAft>
                <a:spcPts val="300"/>
              </a:spcAft>
            </a:pPr>
            <a:r>
              <a:rPr sz="1500" b="1" i="0">
                <a:solidFill>
                  <a:srgbClr val="141B2E"/>
                </a:solidFill>
                <a:latin typeface="Arial"/>
              </a:rPr>
              <a:t>соседние города с резко разным уровнем достатка. Почему оценка такая, из ответа узнать</a:t>
            </a:r>
          </a:p>
          <a:p>
            <a:pPr algn="l">
              <a:lnSpc>
                <a:spcPts val="1860"/>
              </a:lnSpc>
              <a:spcAft>
                <a:spcPts val="300"/>
              </a:spcAft>
            </a:pPr>
            <a:r>
              <a:rPr sz="1500" b="1" i="0">
                <a:solidFill>
                  <a:srgbClr val="141B2E"/>
                </a:solidFill>
                <a:latin typeface="Arial"/>
              </a:rPr>
              <a:t>нельзя: формат отдаёт число (Simon Willison, 2026).</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17,7% → 46,5%</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Доля чёрных пациентов в программе усиленного наблюдения — сегодняшняя и та, что вышла бы при честном счёте потребности в помощи. Остаться снаружи означает ждать, пока болезнь обострится настолько, что её заметят без всякого алгоритма. Решения о помощи для ≈200 млн человек в год (Obermeyer et al., Science, 2019).</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Балл один и тот же, заболеваний на 26,3% больше</a:t>
            </a:r>
          </a:p>
        </p:txBody>
      </p:sp>
      <p:pic>
        <p:nvPicPr>
          <p:cNvPr id="3" name="Picture 2" descr="optum-c5-odin-ball-dva-stolbika.png"/>
          <p:cNvPicPr>
            <a:picLocks noChangeAspect="1"/>
          </p:cNvPicPr>
          <p:nvPr/>
        </p:nvPicPr>
        <p:blipFill>
          <a:blip r:embed="rId2"/>
          <a:stretch>
            <a:fillRect/>
          </a:stretch>
        </p:blipFill>
        <p:spPr>
          <a:xfrm>
            <a:off x="502920" y="950427"/>
            <a:ext cx="11183112" cy="2609392"/>
          </a:xfrm>
          <a:prstGeom prst="rect">
            <a:avLst/>
          </a:prstGeom>
        </p:spPr>
      </p:pic>
      <p:sp>
        <p:nvSpPr>
          <p:cNvPr id="4" name="Rounded Rectangle 3"/>
          <p:cNvSpPr/>
          <p:nvPr/>
        </p:nvSpPr>
        <p:spPr>
          <a:xfrm>
            <a:off x="502920" y="3742090"/>
            <a:ext cx="82296" cy="13335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0106"/>
            <a:ext cx="10643616" cy="10774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человек из правого столбика сидит сейчас у терапевта: диабет сорвался с контроля,</a:t>
            </a:r>
          </a:p>
          <a:p>
            <a:pPr algn="l">
              <a:lnSpc>
                <a:spcPts val="1860"/>
              </a:lnSpc>
              <a:spcAft>
                <a:spcPts val="300"/>
              </a:spcAft>
            </a:pPr>
            <a:r>
              <a:rPr sz="1500" b="1" i="0">
                <a:solidFill>
                  <a:srgbClr val="141B2E"/>
                </a:solidFill>
                <a:latin typeface="Arial"/>
              </a:rPr>
              <a:t>давление не держится. Денег система потратила на него столько же, сколько на соседа из</a:t>
            </a:r>
          </a:p>
          <a:p>
            <a:pPr algn="l">
              <a:lnSpc>
                <a:spcPts val="1860"/>
              </a:lnSpc>
              <a:spcAft>
                <a:spcPts val="300"/>
              </a:spcAft>
            </a:pPr>
            <a:r>
              <a:rPr sz="1500" b="1" i="0">
                <a:solidFill>
                  <a:srgbClr val="141B2E"/>
                </a:solidFill>
                <a:latin typeface="Arial"/>
              </a:rPr>
              <a:t>левого столбика, — только ушли они на экстренные визиты при обострениях. Координатор</a:t>
            </a:r>
          </a:p>
          <a:p>
            <a:pPr algn="l">
              <a:lnSpc>
                <a:spcPts val="1860"/>
              </a:lnSpc>
              <a:spcAft>
                <a:spcPts val="300"/>
              </a:spcAft>
            </a:pPr>
            <a:r>
              <a:rPr sz="1500" b="1" i="0">
                <a:solidFill>
                  <a:srgbClr val="141B2E"/>
                </a:solidFill>
                <a:latin typeface="Arial"/>
              </a:rPr>
              <a:t>видит одно число, свободные места в программе кончаются выше этой строки.</a:t>
            </a:r>
          </a:p>
        </p:txBody>
      </p:sp>
      <p:sp>
        <p:nvSpPr>
          <p:cNvPr id="6" name="Rounded Rectangle 5"/>
          <p:cNvSpPr/>
          <p:nvPr/>
        </p:nvSpPr>
        <p:spPr>
          <a:xfrm>
            <a:off x="502920" y="5257860"/>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85876"/>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Одна заниженная оценка у одного человека — шум измерения, и шум гасится при усреднении.</a:t>
            </a:r>
          </a:p>
          <a:p>
            <a:pPr algn="l">
              <a:lnSpc>
                <a:spcPts val="1860"/>
              </a:lnSpc>
              <a:spcAft>
                <a:spcPts val="300"/>
              </a:spcAft>
            </a:pPr>
            <a:r>
              <a:rPr sz="1500" b="1" i="0">
                <a:solidFill>
                  <a:srgbClr val="141B2E"/>
                </a:solidFill>
                <a:latin typeface="Arial"/>
              </a:rPr>
              <a:t>Здесь разница держится у всей группы разом и в одну сторону: от усреднения она только</a:t>
            </a:r>
          </a:p>
          <a:p>
            <a:pPr algn="l">
              <a:lnSpc>
                <a:spcPts val="1860"/>
              </a:lnSpc>
              <a:spcAft>
                <a:spcPts val="300"/>
              </a:spcAft>
            </a:pPr>
            <a:r>
              <a:rPr sz="1500" b="1" i="0">
                <a:solidFill>
                  <a:srgbClr val="141B2E"/>
                </a:solidFill>
                <a:latin typeface="Arial"/>
              </a:rPr>
              <a:t>крепнет. Так и отличают случайную ошибку от свойства самого алгоритма.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алгоритм заменил «потребность в помощи»?</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«Алгоритм не видит расу пациента на входе вообще.»</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из перечисленного он мог взять вместо "потребности в помощи" — и почему такой выбор уводит результат по линии расы?»</a:t>
            </a:r>
          </a:p>
        </p:txBody>
      </p:sp>
      <p:sp>
        <p:nvSpPr>
          <p:cNvPr id="7" name="Rounded Rectangle 6"/>
          <p:cNvSpPr/>
          <p:nvPr/>
        </p:nvSpPr>
        <p:spPr>
          <a:xfrm>
            <a:off x="502920"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предыдущих диагнозов</a:t>
            </a:r>
          </a:p>
        </p:txBody>
      </p:sp>
      <p:sp>
        <p:nvSpPr>
          <p:cNvPr id="9" name="Rounded Rectangle 8"/>
          <p:cNvSpPr/>
          <p:nvPr/>
        </p:nvSpPr>
        <p:spPr>
          <a:xfrm>
            <a:off x="3335274"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прошлые расходы на здравоохранение</a:t>
            </a:r>
          </a:p>
        </p:txBody>
      </p:sp>
      <p:sp>
        <p:nvSpPr>
          <p:cNvPr id="11" name="Rounded Rectangle 10"/>
          <p:cNvSpPr/>
          <p:nvPr/>
        </p:nvSpPr>
        <p:spPr>
          <a:xfrm>
            <a:off x="6167628"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количество выписанных препаратов</a:t>
            </a:r>
          </a:p>
        </p:txBody>
      </p:sp>
      <p:sp>
        <p:nvSpPr>
          <p:cNvPr id="13" name="Rounded Rectangle 12"/>
          <p:cNvSpPr/>
          <p:nvPr/>
        </p:nvSpPr>
        <p:spPr>
          <a:xfrm>
            <a:off x="8999982"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обращений в больницу за год</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Алгоритм взял прошлые расходы — и вместе с ними историю доступа к медицине</a:t>
            </a:r>
          </a:p>
        </p:txBody>
      </p:sp>
      <p:sp>
        <p:nvSpPr>
          <p:cNvPr id="3" name="Rounded Rectangle 2"/>
          <p:cNvSpPr/>
          <p:nvPr/>
        </p:nvSpPr>
        <p:spPr>
          <a:xfrm>
            <a:off x="502920" y="1319784"/>
            <a:ext cx="11183112" cy="2518029"/>
          </a:xfrm>
          <a:prstGeom prst="roundRect">
            <a:avLst>
              <a:gd name="adj" fmla="val 121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02664"/>
            <a:ext cx="185297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КАНДИДАТ</a:t>
            </a:r>
          </a:p>
        </p:txBody>
      </p:sp>
      <p:sp>
        <p:nvSpPr>
          <p:cNvPr id="5" name="TextBox 4"/>
          <p:cNvSpPr txBox="1"/>
          <p:nvPr/>
        </p:nvSpPr>
        <p:spPr>
          <a:xfrm>
            <a:off x="2685081" y="1502664"/>
            <a:ext cx="86717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ЭТО ЧИСЛО СЧИТАЕТ, КРОМЕ БОЛЕЗНИ</a:t>
            </a:r>
          </a:p>
        </p:txBody>
      </p:sp>
      <p:sp>
        <p:nvSpPr>
          <p:cNvPr id="6" name="TextBox 5"/>
          <p:cNvSpPr txBox="1"/>
          <p:nvPr/>
        </p:nvSpPr>
        <p:spPr>
          <a:xfrm>
            <a:off x="685800" y="1769745"/>
            <a:ext cx="185297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число предыдущих диагнозов</a:t>
            </a:r>
          </a:p>
        </p:txBody>
      </p:sp>
      <p:sp>
        <p:nvSpPr>
          <p:cNvPr id="7" name="TextBox 6"/>
          <p:cNvSpPr txBox="1"/>
          <p:nvPr/>
        </p:nvSpPr>
        <p:spPr>
          <a:xfrm>
            <a:off x="2685081" y="1769745"/>
            <a:ext cx="867176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Диагноз появляется в карте, когда пациент дошёл до врача и врач его записал. Перекос тот же, слабее: записанный однажды, диагноз остаётся в карте и дальше от частоты визитов не зависит</a:t>
            </a:r>
          </a:p>
        </p:txBody>
      </p:sp>
      <p:cxnSp>
        <p:nvCxnSpPr>
          <p:cNvPr id="8" name="Connector 7"/>
          <p:cNvCxnSpPr/>
          <p:nvPr/>
        </p:nvCxnSpPr>
        <p:spPr>
          <a:xfrm>
            <a:off x="685800" y="2241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66928" y="2241042"/>
            <a:ext cx="11055096" cy="471296"/>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241042"/>
            <a:ext cx="1852977"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прошлые расходы на здравоохранение</a:t>
            </a:r>
          </a:p>
        </p:txBody>
      </p:sp>
      <p:sp>
        <p:nvSpPr>
          <p:cNvPr id="11" name="TextBox 10"/>
          <p:cNvSpPr txBox="1"/>
          <p:nvPr/>
        </p:nvSpPr>
        <p:spPr>
          <a:xfrm>
            <a:off x="2685081" y="2241042"/>
            <a:ext cx="867176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Выбор алгоритма. Сюда складывается каждый визит, каждая процедура, каждое направление — вся история доступа к медицине целиком, да ещё и с ценами</a:t>
            </a:r>
          </a:p>
        </p:txBody>
      </p:sp>
      <p:cxnSp>
        <p:nvCxnSpPr>
          <p:cNvPr id="12" name="Connector 11"/>
          <p:cNvCxnSpPr/>
          <p:nvPr/>
        </p:nvCxnSpPr>
        <p:spPr>
          <a:xfrm>
            <a:off x="685800" y="27123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12338"/>
            <a:ext cx="185297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количество выписанных препаратов</a:t>
            </a:r>
          </a:p>
        </p:txBody>
      </p:sp>
      <p:sp>
        <p:nvSpPr>
          <p:cNvPr id="14" name="TextBox 13"/>
          <p:cNvSpPr txBox="1"/>
          <p:nvPr/>
        </p:nvSpPr>
        <p:spPr>
          <a:xfrm>
            <a:off x="2685081" y="2712338"/>
            <a:ext cx="867176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Между болезнью и этим числом три двери: визит, назначение и выкупленный рецепт. Последняя упирается прямо в кошелёк пациента</a:t>
            </a:r>
          </a:p>
        </p:txBody>
      </p:sp>
      <p:cxnSp>
        <p:nvCxnSpPr>
          <p:cNvPr id="15" name="Connector 14"/>
          <p:cNvCxnSpPr/>
          <p:nvPr/>
        </p:nvCxnSpPr>
        <p:spPr>
          <a:xfrm>
            <a:off x="685800" y="31836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83636"/>
            <a:ext cx="185297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число обращений в больницу за год</a:t>
            </a:r>
          </a:p>
        </p:txBody>
      </p:sp>
      <p:sp>
        <p:nvSpPr>
          <p:cNvPr id="17" name="TextBox 16"/>
          <p:cNvSpPr txBox="1"/>
          <p:nvPr/>
        </p:nvSpPr>
        <p:spPr>
          <a:xfrm>
            <a:off x="2685081" y="3183636"/>
            <a:ext cx="867176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Обращение стоит дороги, рабочего дня и доверия к врачу. При одной и той же болезни реже обратится тот, у кого хуже с этими тремя</a:t>
            </a:r>
          </a:p>
        </p:txBody>
      </p:sp>
      <p:sp>
        <p:nvSpPr>
          <p:cNvPr id="18" name="Rounded Rectangle 17"/>
          <p:cNvSpPr/>
          <p:nvPr/>
        </p:nvSpPr>
        <p:spPr>
          <a:xfrm>
            <a:off x="502920" y="4002405"/>
            <a:ext cx="82296" cy="108153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130420"/>
            <a:ext cx="10643616" cy="8254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Все четыре кандидата увели бы результат в одну сторону и по одной причине: каждый считает</a:t>
            </a:r>
          </a:p>
          <a:p>
            <a:pPr algn="l">
              <a:lnSpc>
                <a:spcPts val="1364"/>
              </a:lnSpc>
              <a:spcAft>
                <a:spcPts val="300"/>
              </a:spcAft>
            </a:pPr>
            <a:r>
              <a:rPr sz="1100" b="1" i="0">
                <a:solidFill>
                  <a:srgbClr val="141B2E"/>
                </a:solidFill>
                <a:latin typeface="Arial"/>
              </a:rPr>
              <a:t>зафиксированные контакты с медициной, и болезнь попадает в него только через них. Расходы</a:t>
            </a:r>
          </a:p>
          <a:p>
            <a:pPr algn="l">
              <a:lnSpc>
                <a:spcPts val="1364"/>
              </a:lnSpc>
              <a:spcAft>
                <a:spcPts val="300"/>
              </a:spcAft>
            </a:pPr>
            <a:r>
              <a:rPr sz="1100" b="1" i="0">
                <a:solidFill>
                  <a:srgbClr val="141B2E"/>
                </a:solidFill>
                <a:latin typeface="Arial"/>
              </a:rPr>
              <a:t>собирают эту историю полнее остальных трёх — за это их и выбрали, за это же они и</a:t>
            </a:r>
          </a:p>
          <a:p>
            <a:pPr algn="l">
              <a:lnSpc>
                <a:spcPts val="1364"/>
              </a:lnSpc>
              <a:spcAft>
                <a:spcPts val="300"/>
              </a:spcAft>
            </a:pPr>
            <a:r>
              <a:rPr sz="1100" b="1" i="0">
                <a:solidFill>
                  <a:srgbClr val="141B2E"/>
                </a:solidFill>
                <a:latin typeface="Arial"/>
              </a:rPr>
              <a:t>перекосили результат.</a:t>
            </a:r>
          </a:p>
        </p:txBody>
      </p:sp>
      <p:sp>
        <p:nvSpPr>
          <p:cNvPr id="20" name="Rounded Rectangle 19"/>
          <p:cNvSpPr/>
          <p:nvPr/>
        </p:nvSpPr>
        <p:spPr>
          <a:xfrm>
            <a:off x="502920" y="5248529"/>
            <a:ext cx="82296" cy="9174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376544"/>
            <a:ext cx="10643616" cy="661416"/>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Подмена потребности расходами сократила больше чем вдвое число чёрных пациентов,</a:t>
            </a:r>
          </a:p>
          <a:p>
            <a:pPr algn="l">
              <a:lnSpc>
                <a:spcPts val="1488"/>
              </a:lnSpc>
              <a:spcAft>
                <a:spcPts val="300"/>
              </a:spcAft>
            </a:pPr>
            <a:r>
              <a:rPr sz="1200" b="1" i="0">
                <a:solidFill>
                  <a:srgbClr val="141B2E"/>
                </a:solidFill>
                <a:latin typeface="Arial"/>
              </a:rPr>
              <a:t>направленных в программу, при той же фактической тяжести состояния. Счёт реальной потребности поднял бы их долю с 17,7%</a:t>
            </a:r>
          </a:p>
          <a:p>
            <a:pPr algn="l">
              <a:lnSpc>
                <a:spcPts val="1488"/>
              </a:lnSpc>
              <a:spcAft>
                <a:spcPts val="300"/>
              </a:spcAft>
            </a:pPr>
            <a:r>
              <a:rPr sz="1200" b="1" i="0">
                <a:solidFill>
                  <a:srgbClr val="141B2E"/>
                </a:solidFill>
                <a:latin typeface="Arial"/>
              </a:rPr>
              <a:t>до 46,5% — те же люди, те же диагнозы. Решения о помощи для ≈200 млн человек в год.</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1053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Проверка, которая вскрыла Optum, здесь проходит чисто</a:t>
            </a:r>
          </a:p>
        </p:txBody>
      </p:sp>
      <p:sp>
        <p:nvSpPr>
          <p:cNvPr id="4" name="TextBox 3"/>
          <p:cNvSpPr txBox="1"/>
          <p:nvPr/>
        </p:nvSpPr>
        <p:spPr>
          <a:xfrm>
            <a:off x="1234440" y="359257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Другое ведомство, другие данные, десятки миллионов деклараций ежегодно. Величину, которую здесь считали, подменять не пришлось вообще.</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Похожие декларации, разная вероятность письма</a:t>
            </a:r>
          </a:p>
        </p:txBody>
      </p:sp>
      <p:pic>
        <p:nvPicPr>
          <p:cNvPr id="3" name="Picture 2" descr="irs-c6-tsena-pisma.png"/>
          <p:cNvPicPr>
            <a:picLocks noChangeAspect="1"/>
          </p:cNvPicPr>
          <p:nvPr/>
        </p:nvPicPr>
        <p:blipFill>
          <a:blip r:embed="rId2"/>
          <a:stretch>
            <a:fillRect/>
          </a:stretch>
        </p:blipFill>
        <p:spPr>
          <a:xfrm>
            <a:off x="502920" y="955507"/>
            <a:ext cx="11183112" cy="2609392"/>
          </a:xfrm>
          <a:prstGeom prst="rect">
            <a:avLst/>
          </a:prstGeom>
        </p:spPr>
      </p:pic>
      <p:sp>
        <p:nvSpPr>
          <p:cNvPr id="4" name="Rounded Rectangle 3"/>
          <p:cNvSpPr/>
          <p:nvPr/>
        </p:nvSpPr>
        <p:spPr>
          <a:xfrm>
            <a:off x="502920" y="3759870"/>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87886"/>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Поток деклараций огромен, инспекторов на ручную проверку каждой не хватает.</a:t>
            </a:r>
          </a:p>
          <a:p>
            <a:pPr algn="l">
              <a:lnSpc>
                <a:spcPts val="1860"/>
              </a:lnSpc>
              <a:spcAft>
                <a:spcPts val="300"/>
              </a:spcAft>
            </a:pPr>
            <a:r>
              <a:rPr sz="1500" b="1" i="0">
                <a:solidFill>
                  <a:srgbClr val="141B2E"/>
                </a:solidFill>
                <a:latin typeface="Arial"/>
              </a:rPr>
              <a:t>Претендентам на EITC декларацию проверяют заметно чаще остальных.</a:t>
            </a:r>
          </a:p>
        </p:txBody>
      </p:sp>
      <p:sp>
        <p:nvSpPr>
          <p:cNvPr id="6" name="Rounded Rectangle 5"/>
          <p:cNvSpPr/>
          <p:nvPr/>
        </p:nvSpPr>
        <p:spPr>
          <a:xfrm>
            <a:off x="502920" y="4739700"/>
            <a:ext cx="82296" cy="1569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7716"/>
            <a:ext cx="10643616" cy="13136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 схожих декларациях — тот же диапазон дохода, та же структура вычетов, то же</a:t>
            </a:r>
          </a:p>
          <a:p>
            <a:pPr algn="l">
              <a:lnSpc>
                <a:spcPts val="1860"/>
              </a:lnSpc>
              <a:spcAft>
                <a:spcPts val="300"/>
              </a:spcAft>
            </a:pPr>
            <a:r>
              <a:rPr sz="1500" b="1" i="0">
                <a:solidFill>
                  <a:srgbClr val="141B2E"/>
                </a:solidFill>
                <a:latin typeface="Arial"/>
              </a:rPr>
              <a:t>претендование на EITC — чернокожих налогоплательщиков аудировали в </a:t>
            </a:r>
            <a:r>
              <a:rPr sz="1500" b="1" i="0">
                <a:solidFill>
                  <a:srgbClr val="141B2E"/>
                </a:solidFill>
                <a:latin typeface="Arial"/>
              </a:rPr>
              <a:t>2,9–4,7 раза чаще</a:t>
            </a:r>
            <a:r>
              <a:rPr sz="1500" b="1" i="0">
                <a:solidFill>
                  <a:srgbClr val="141B2E"/>
                </a:solidFill>
                <a:latin typeface="Arial"/>
              </a:rPr>
              <a:t>. Расы в данных отбора нет вообще: такого поля декларация не содержит. Замер</a:t>
            </a:r>
          </a:p>
          <a:p>
            <a:pPr algn="l">
              <a:lnSpc>
                <a:spcPts val="1860"/>
              </a:lnSpc>
              <a:spcAft>
                <a:spcPts val="300"/>
              </a:spcAft>
            </a:pPr>
            <a:r>
              <a:rPr sz="1500" b="1" i="0">
                <a:solidFill>
                  <a:srgbClr val="141B2E"/>
                </a:solidFill>
                <a:latin typeface="Arial"/>
              </a:rPr>
              <a:t>сделан на миллионах деклараций за несколько лет и устойчив из года в год.</a:t>
            </a:r>
          </a:p>
          <a:p>
            <a:pPr algn="l">
              <a:lnSpc>
                <a:spcPts val="1860"/>
              </a:lnSpc>
              <a:spcAft>
                <a:spcPts val="300"/>
              </a:spcAft>
            </a:pPr>
            <a:r>
              <a:rPr sz="1500" b="1" i="0">
                <a:solidFill>
                  <a:srgbClr val="141B2E"/>
                </a:solidFill>
                <a:latin typeface="Arial"/>
              </a:rPr>
              <a:t>Stanford и IRS, 2023; IRS результат подтвердила и объявила о намерении исправить отбор.</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Он сделал то, что просили. Где сломалось?</a:t>
            </a:r>
          </a:p>
        </p:txBody>
      </p:sp>
      <p:sp>
        <p:nvSpPr>
          <p:cNvPr id="3" name="Rounded Rectangle 2"/>
          <p:cNvSpPr/>
          <p:nvPr/>
        </p:nvSpPr>
        <p:spPr>
          <a:xfrm>
            <a:off x="502920" y="1067041"/>
            <a:ext cx="11183112" cy="1388237"/>
          </a:xfrm>
          <a:prstGeom prst="roundRect">
            <a:avLst>
              <a:gd name="adj" fmla="val 146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103617"/>
            <a:ext cx="50292" cy="131508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249921"/>
            <a:ext cx="10744200" cy="1022477"/>
          </a:xfrm>
          <a:prstGeom prst="rect">
            <a:avLst/>
          </a:prstGeom>
          <a:noFill/>
        </p:spPr>
        <p:txBody>
          <a:bodyPr wrap="none" lIns="0" rIns="0" tIns="0" bIns="0" anchor="t">
            <a:spAutoFit/>
          </a:bodyPr>
          <a:lstStyle/>
          <a:p>
            <a:pPr algn="l">
              <a:lnSpc>
                <a:spcPts val="1495"/>
              </a:lnSpc>
              <a:spcAft>
                <a:spcPts val="0"/>
              </a:spcAft>
            </a:pPr>
            <a:r>
              <a:rPr sz="1150" b="0" i="0">
                <a:solidFill>
                  <a:srgbClr val="141B2E"/>
                </a:solidFill>
                <a:latin typeface="Consolas"/>
              </a:rPr>
              <a:t>Как поставлена задача отбора</a:t>
            </a:r>
          </a:p>
          <a:p>
            <a:pPr algn="l">
              <a:lnSpc>
                <a:spcPts val="1495"/>
              </a:lnSpc>
              <a:spcAft>
                <a:spcPts val="0"/>
              </a:spcAft>
            </a:pPr>
            <a:r>
              <a:rPr sz="1150" b="0" i="0">
                <a:solidFill>
                  <a:srgbClr val="141B2E"/>
                </a:solidFill>
                <a:latin typeface="Consolas"/>
              </a:rPr>
              <a:t/>
            </a:r>
          </a:p>
          <a:p>
            <a:pPr algn="l">
              <a:lnSpc>
                <a:spcPts val="1495"/>
              </a:lnSpc>
              <a:spcAft>
                <a:spcPts val="0"/>
              </a:spcAft>
            </a:pPr>
            <a:r>
              <a:rPr sz="1150" b="0" i="0">
                <a:solidFill>
                  <a:srgbClr val="141B2E"/>
                </a:solidFill>
                <a:latin typeface="Consolas"/>
              </a:rPr>
              <a:t>  вход     десятки миллионов деклараций в год</a:t>
            </a:r>
          </a:p>
          <a:p>
            <a:pPr algn="l">
              <a:lnSpc>
                <a:spcPts val="1495"/>
              </a:lnSpc>
              <a:spcAft>
                <a:spcPts val="0"/>
              </a:spcAft>
            </a:pPr>
            <a:r>
              <a:rPr sz="1150" b="0" i="0">
                <a:solidFill>
                  <a:srgbClr val="141B2E"/>
                </a:solidFill>
                <a:latin typeface="Consolas"/>
              </a:rPr>
              <a:t>  ресурс   ограниченное число инспекторских часов</a:t>
            </a:r>
          </a:p>
          <a:p>
            <a:pPr algn="l">
              <a:lnSpc>
                <a:spcPts val="1495"/>
              </a:lnSpc>
              <a:spcAft>
                <a:spcPts val="0"/>
              </a:spcAft>
            </a:pPr>
            <a:r>
              <a:rPr sz="1150" b="0" i="0">
                <a:solidFill>
                  <a:srgbClr val="141B2E"/>
                </a:solidFill>
                <a:latin typeface="Consolas"/>
              </a:rPr>
              <a:t>  цель     найти как можно больше нарушений</a:t>
            </a:r>
          </a:p>
        </p:txBody>
      </p:sp>
      <p:sp>
        <p:nvSpPr>
          <p:cNvPr id="6" name="Rectangle 5"/>
          <p:cNvSpPr/>
          <p:nvPr/>
        </p:nvSpPr>
        <p:spPr>
          <a:xfrm>
            <a:off x="502920" y="296565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3020523"/>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Отбор поднял наверх декларации, которые проверяются быстрее. Он сделал ровно то, что в задании.</a:t>
            </a:r>
          </a:p>
        </p:txBody>
      </p:sp>
      <p:sp>
        <p:nvSpPr>
          <p:cNvPr id="8" name="Rounded Rectangle 7"/>
          <p:cNvSpPr/>
          <p:nvPr/>
        </p:nvSpPr>
        <p:spPr>
          <a:xfrm>
            <a:off x="502920" y="37937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92181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здесь сломалось?</a:t>
            </a:r>
          </a:p>
        </p:txBody>
      </p:sp>
      <p:sp>
        <p:nvSpPr>
          <p:cNvPr id="10" name="Rounded Rectangle 9"/>
          <p:cNvSpPr/>
          <p:nvPr/>
        </p:nvSpPr>
        <p:spPr>
          <a:xfrm>
            <a:off x="502920" y="5090560"/>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5090560"/>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подменённый признак</a:t>
            </a:r>
          </a:p>
        </p:txBody>
      </p:sp>
      <p:sp>
        <p:nvSpPr>
          <p:cNvPr id="12" name="Rounded Rectangle 11"/>
          <p:cNvSpPr/>
          <p:nvPr/>
        </p:nvSpPr>
        <p:spPr>
          <a:xfrm>
            <a:off x="4279392" y="5090560"/>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5090560"/>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порог отбора</a:t>
            </a:r>
          </a:p>
        </p:txBody>
      </p:sp>
      <p:sp>
        <p:nvSpPr>
          <p:cNvPr id="14" name="Rounded Rectangle 13"/>
          <p:cNvSpPr/>
          <p:nvPr/>
        </p:nvSpPr>
        <p:spPr>
          <a:xfrm>
            <a:off x="8055863" y="5090560"/>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1" y="5090560"/>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состав данных</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Считали точно. Считали другую величину.</a:t>
            </a:r>
          </a:p>
        </p:txBody>
      </p:sp>
      <p:pic>
        <p:nvPicPr>
          <p:cNvPr id="3" name="Picture 2" descr="irs-c6-lestnitsa-deshevizny.png"/>
          <p:cNvPicPr>
            <a:picLocks noChangeAspect="1"/>
          </p:cNvPicPr>
          <p:nvPr/>
        </p:nvPicPr>
        <p:blipFill>
          <a:blip r:embed="rId2"/>
          <a:stretch>
            <a:fillRect/>
          </a:stretch>
        </p:blipFill>
        <p:spPr>
          <a:xfrm>
            <a:off x="502920" y="954806"/>
            <a:ext cx="11183112" cy="2888970"/>
          </a:xfrm>
          <a:prstGeom prst="rect">
            <a:avLst/>
          </a:prstGeom>
        </p:spPr>
      </p:pic>
      <p:sp>
        <p:nvSpPr>
          <p:cNvPr id="4" name="Rounded Rectangle 3"/>
          <p:cNvSpPr/>
          <p:nvPr/>
        </p:nvSpPr>
        <p:spPr>
          <a:xfrm>
            <a:off x="502920" y="4036994"/>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165010"/>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Подменённый признак</a:t>
            </a:r>
            <a:r>
              <a:rPr sz="1500" b="1" i="0">
                <a:solidFill>
                  <a:srgbClr val="141B2E"/>
                </a:solidFill>
                <a:latin typeface="Arial"/>
              </a:rPr>
              <a:t> — обе величины классификатора читаются по самой декларации.</a:t>
            </a:r>
          </a:p>
          <a:p>
            <a:pPr algn="l">
              <a:lnSpc>
                <a:spcPts val="1860"/>
              </a:lnSpc>
              <a:spcAft>
                <a:spcPts val="300"/>
              </a:spcAft>
            </a:pPr>
            <a:r>
              <a:rPr sz="1500" b="1" i="0">
                <a:solidFill>
                  <a:srgbClr val="141B2E"/>
                </a:solidFill>
                <a:latin typeface="Arial"/>
              </a:rPr>
              <a:t>Порог</a:t>
            </a:r>
            <a:r>
              <a:rPr sz="1500" b="1" i="0">
                <a:solidFill>
                  <a:srgbClr val="141B2E"/>
                </a:solidFill>
                <a:latin typeface="Arial"/>
              </a:rPr>
              <a:t> — он меняет объём писем, долю по расе оставляет на месте.</a:t>
            </a:r>
          </a:p>
          <a:p>
            <a:pPr algn="l">
              <a:lnSpc>
                <a:spcPts val="1860"/>
              </a:lnSpc>
              <a:spcAft>
                <a:spcPts val="300"/>
              </a:spcAft>
            </a:pPr>
            <a:r>
              <a:rPr sz="1500" b="1" i="0">
                <a:solidFill>
                  <a:srgbClr val="141B2E"/>
                </a:solidFill>
                <a:latin typeface="Arial"/>
              </a:rPr>
              <a:t>Состав данных</a:t>
            </a:r>
            <a:r>
              <a:rPr sz="1500" b="1" i="0">
                <a:solidFill>
                  <a:srgbClr val="141B2E"/>
                </a:solidFill>
                <a:latin typeface="Arial"/>
              </a:rPr>
              <a:t> — расы в них нет вообще.</a:t>
            </a:r>
          </a:p>
        </p:txBody>
      </p:sp>
      <p:sp>
        <p:nvSpPr>
          <p:cNvPr id="6" name="Rounded Rectangle 5"/>
          <p:cNvSpPr/>
          <p:nvPr/>
        </p:nvSpPr>
        <p:spPr>
          <a:xfrm>
            <a:off x="502920" y="5289392"/>
            <a:ext cx="82296" cy="10210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17408"/>
            <a:ext cx="10643616" cy="7650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Optum сломался на мере:</a:t>
            </a:r>
            <a:r>
              <a:rPr sz="1500" b="1" i="0">
                <a:solidFill>
                  <a:srgbClr val="141B2E"/>
                </a:solidFill>
                <a:latin typeface="Arial"/>
              </a:rPr>
              <a:t> нужную величину измерили расходами. </a:t>
            </a:r>
            <a:r>
              <a:rPr sz="1500" b="1" i="0">
                <a:solidFill>
                  <a:srgbClr val="141B2E"/>
                </a:solidFill>
                <a:latin typeface="Arial"/>
              </a:rPr>
              <a:t>IRS сломалась на величине:</a:t>
            </a:r>
            <a:r>
              <a:rPr sz="1500" b="1" i="0">
                <a:solidFill>
                  <a:srgbClr val="141B2E"/>
                </a:solidFill>
                <a:latin typeface="Arial"/>
              </a:rPr>
              <a:t> максимизировать велели экономию инспекторских часов. Проверка модели этого</a:t>
            </a:r>
          </a:p>
          <a:p>
            <a:pPr algn="l">
              <a:lnSpc>
                <a:spcPts val="1860"/>
              </a:lnSpc>
              <a:spcAft>
                <a:spcPts val="300"/>
              </a:spcAft>
            </a:pPr>
            <a:r>
              <a:rPr sz="1500" b="1" i="0">
                <a:solidFill>
                  <a:srgbClr val="141B2E"/>
                </a:solidFill>
                <a:latin typeface="Arial"/>
              </a:rPr>
              <a:t>не находит — цель остаётся вне проверки.</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Маршрут проверяется четырьмя вопросами к своей задаче</a:t>
            </a:r>
          </a:p>
        </p:txBody>
      </p:sp>
      <p:sp>
        <p:nvSpPr>
          <p:cNvPr id="3" name="Rounded Rectangle 2"/>
          <p:cNvSpPr/>
          <p:nvPr/>
        </p:nvSpPr>
        <p:spPr>
          <a:xfrm>
            <a:off x="502920" y="1377526"/>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5542"/>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разлом с трёх сторон: ближайший неверный класс на нестандартном письме; чужое</a:t>
            </a:r>
          </a:p>
          <a:p>
            <a:pPr algn="l">
              <a:lnSpc>
                <a:spcPts val="1860"/>
              </a:lnSpc>
              <a:spcAft>
                <a:spcPts val="300"/>
              </a:spcAft>
            </a:pPr>
            <a:r>
              <a:rPr sz="1500" b="1" i="0">
                <a:solidFill>
                  <a:srgbClr val="141B2E"/>
                </a:solidFill>
                <a:latin typeface="Arial"/>
              </a:rPr>
              <a:t>неравенство через расходы; оно же через дешевизну обработки.</a:t>
            </a:r>
          </a:p>
        </p:txBody>
      </p:sp>
      <p:sp>
        <p:nvSpPr>
          <p:cNvPr id="5" name="Rounded Rectangle 4"/>
          <p:cNvSpPr/>
          <p:nvPr/>
        </p:nvSpPr>
        <p:spPr>
          <a:xfrm>
            <a:off x="502920" y="2471335"/>
            <a:ext cx="11183112" cy="2401570"/>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54215"/>
            <a:ext cx="45173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СПРОСИТЕ О СВОЕЙ ЗАДАЧЕ</a:t>
            </a:r>
          </a:p>
        </p:txBody>
      </p:sp>
      <p:sp>
        <p:nvSpPr>
          <p:cNvPr id="7" name="TextBox 6"/>
          <p:cNvSpPr txBox="1"/>
          <p:nvPr/>
        </p:nvSpPr>
        <p:spPr>
          <a:xfrm>
            <a:off x="5349467" y="2654215"/>
            <a:ext cx="60073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МАРШРУТА НЕ ХВАТИТ, ЕСЛИ</a:t>
            </a:r>
          </a:p>
        </p:txBody>
      </p:sp>
      <p:sp>
        <p:nvSpPr>
          <p:cNvPr id="8" name="TextBox 7"/>
          <p:cNvSpPr txBox="1"/>
          <p:nvPr/>
        </p:nvSpPr>
        <p:spPr>
          <a:xfrm>
            <a:off x="685800" y="2936282"/>
            <a:ext cx="45173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Закрыт ли список классов заранее, и расходятся ли они между собой?</a:t>
            </a:r>
          </a:p>
        </p:txBody>
      </p:sp>
      <p:sp>
        <p:nvSpPr>
          <p:cNvPr id="9" name="TextBox 8"/>
          <p:cNvSpPr txBox="1"/>
          <p:nvPr/>
        </p:nvSpPr>
        <p:spPr>
          <a:xfrm>
            <a:off x="5349467" y="2936282"/>
            <a:ext cx="600738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открыт или классы перекрываются: вход не ложится в конечный перечень</a:t>
            </a:r>
          </a:p>
        </p:txBody>
      </p:sp>
      <p:cxnSp>
        <p:nvCxnSpPr>
          <p:cNvPr id="10" name="Connector 9"/>
          <p:cNvCxnSpPr/>
          <p:nvPr/>
        </p:nvCxnSpPr>
        <p:spPr>
          <a:xfrm>
            <a:off x="685800" y="34659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65999"/>
            <a:ext cx="45173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Хватает ли одной метки, чтобы определить ответ?</a:t>
            </a:r>
          </a:p>
        </p:txBody>
      </p:sp>
      <p:sp>
        <p:nvSpPr>
          <p:cNvPr id="12" name="TextBox 11"/>
          <p:cNvSpPr txBox="1"/>
          <p:nvPr/>
        </p:nvSpPr>
        <p:spPr>
          <a:xfrm>
            <a:off x="5349467" y="3465999"/>
            <a:ext cx="60073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зависит от истории переписки и сочетания признаков</a:t>
            </a:r>
          </a:p>
        </p:txBody>
      </p:sp>
      <p:cxnSp>
        <p:nvCxnSpPr>
          <p:cNvPr id="13" name="Connector 12"/>
          <p:cNvCxnSpPr/>
          <p:nvPr/>
        </p:nvCxnSpPr>
        <p:spPr>
          <a:xfrm>
            <a:off x="685800" y="3813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13153"/>
            <a:ext cx="45173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Видна ли ошибка на одном случае?</a:t>
            </a:r>
          </a:p>
        </p:txBody>
      </p:sp>
      <p:sp>
        <p:nvSpPr>
          <p:cNvPr id="15" name="TextBox 14"/>
          <p:cNvSpPr txBox="1"/>
          <p:nvPr/>
        </p:nvSpPr>
        <p:spPr>
          <a:xfrm>
            <a:off x="5349467" y="3813153"/>
            <a:ext cx="60073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ошибка проявляется только на статистике по множеству решений</a:t>
            </a:r>
          </a:p>
        </p:txBody>
      </p:sp>
      <p:cxnSp>
        <p:nvCxnSpPr>
          <p:cNvPr id="16" name="Connector 15"/>
          <p:cNvCxnSpPr/>
          <p:nvPr/>
        </p:nvCxnSpPr>
        <p:spPr>
          <a:xfrm>
            <a:off x="685800" y="4160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160308"/>
            <a:ext cx="45173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Какую величину системе велено максимизировать?</a:t>
            </a:r>
          </a:p>
        </p:txBody>
      </p:sp>
      <p:sp>
        <p:nvSpPr>
          <p:cNvPr id="18" name="TextBox 17"/>
          <p:cNvSpPr txBox="1"/>
          <p:nvPr/>
        </p:nvSpPr>
        <p:spPr>
          <a:xfrm>
            <a:off x="5349467" y="4160308"/>
            <a:ext cx="600738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цели стоит удобство обработки, и значимость решения в неё не входит</a:t>
            </a:r>
          </a:p>
        </p:txBody>
      </p:sp>
      <p:sp>
        <p:nvSpPr>
          <p:cNvPr id="19" name="Rounded Rectangle 18"/>
          <p:cNvSpPr/>
          <p:nvPr/>
        </p:nvSpPr>
        <p:spPr>
          <a:xfrm>
            <a:off x="502920" y="5181853"/>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309869"/>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Там, где нужный класс зависит от следующего шага, список готовых веток кончается.</a:t>
            </a:r>
          </a:p>
          <a:p>
            <a:pPr algn="l">
              <a:lnSpc>
                <a:spcPts val="1860"/>
              </a:lnSpc>
              <a:spcAft>
                <a:spcPts val="300"/>
              </a:spcAft>
            </a:pPr>
            <a:r>
              <a:rPr sz="1500" b="1" i="0">
                <a:solidFill>
                  <a:srgbClr val="141B2E"/>
                </a:solidFill>
                <a:latin typeface="Arial"/>
              </a:rPr>
              <a:t>Дальше — один агент, решающий на каждом шаге сам. Это отдельная ступень курса, здесь</a:t>
            </a:r>
          </a:p>
          <a:p>
            <a:pPr algn="l">
              <a:lnSpc>
                <a:spcPts val="1860"/>
              </a:lnSpc>
              <a:spcAft>
                <a:spcPts val="300"/>
              </a:spcAft>
            </a:pPr>
            <a:r>
              <a:rPr sz="1500" b="1" i="0">
                <a:solidFill>
                  <a:srgbClr val="141B2E"/>
                </a:solidFill>
                <a:latin typeface="Arial"/>
              </a:rPr>
              <a:t>она только названа.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нижние ступени закрыты</a:t>
            </a:r>
          </a:p>
        </p:txBody>
      </p:sp>
      <p:pic>
        <p:nvPicPr>
          <p:cNvPr id="3" name="Picture 2" descr="os-n32-lestnitsa-tri-zakryty.png"/>
          <p:cNvPicPr>
            <a:picLocks noChangeAspect="1"/>
          </p:cNvPicPr>
          <p:nvPr/>
        </p:nvPicPr>
        <p:blipFill>
          <a:blip r:embed="rId2"/>
          <a:stretch>
            <a:fillRect/>
          </a:stretch>
        </p:blipFill>
        <p:spPr>
          <a:xfrm>
            <a:off x="535432" y="943356"/>
            <a:ext cx="11118086" cy="3335425"/>
          </a:xfrm>
          <a:prstGeom prst="rect">
            <a:avLst/>
          </a:prstGeom>
        </p:spPr>
      </p:pic>
      <p:sp>
        <p:nvSpPr>
          <p:cNvPr id="4" name="Rounded Rectangle 3"/>
          <p:cNvSpPr/>
          <p:nvPr/>
        </p:nvSpPr>
        <p:spPr>
          <a:xfrm>
            <a:off x="502920" y="444337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7138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Шесть ступеней выше закрывают следующие пять занятий дуги: параллельные проверки, переделка по эталону, дирижёр с исполнителями, один агент, несколько агентов и решение выключить автоматизацию.</a:t>
            </a:r>
          </a:p>
        </p:txBody>
      </p:sp>
      <p:sp>
        <p:nvSpPr>
          <p:cNvPr id="6" name="Rounded Rectangle 5"/>
          <p:cNvSpPr/>
          <p:nvPr/>
        </p:nvSpPr>
        <p:spPr>
          <a:xfrm>
            <a:off x="502920" y="533897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6699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 вопроса «хватит одного вызова, нужна цепочка или нужен маршрут» с этого момента есть ответ по ступеням — его можно применить к своей задаче, не дожидаясь следующих занятий.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