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предыдущих занятий были про одного исполнителя: как дать кодинг-агенту права, память и инструменты. Эта дуга — про уровень выше: как устроен процесс, который таким исполнителем или просто вызовом модели пользуется.</a:t>
            </a:r>
          </a:p>
          <a:p/>
          <a:p>
            <a:r>
              <a:t>Сегодня мы соберём работающий процесс с нуля. К концу занятия у нас будет работающий сценарий, который принимает заявку, разбирает её моделью и кладёт результат в таблицу. Он будет работать, и мы несколько раз его сломаем, чтобы понять, где он хрупкий.</a:t>
            </a:r>
          </a:p>
          <a:p/>
          <a:p>
            <a:r>
              <a:t>Занятие практическое. Я буду собирать прямо на своей машине, вы смотрите на экран. Файл сценария выложу после занятия — его можно будет открыть у себя и потрогать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Начну не с нового, а с напоминания — всё, что на этом экране, было в Лекции 3, и сегодняшнее занятие стоит ровно на одной ступени той лестницы.</a:t>
            </a:r>
          </a:p>
          <a:p/>
          <a:p>
            <a:r>
              <a:t>Лестница такая: обычный код без ИИ, один вызов модели, поиск по документам, workflow, агент, мульти-агент. Правило движения по ней было сформулировано в лекции прямо: не поднимайся без требования, которого ступень ниже не закрывает. Это то же самое, что инженерные «делай простейшее, что работает» и «не делай впрок», переведённое на язык ИИ-систем.</a:t>
            </a:r>
          </a:p>
          <a:p/>
          <a:p>
            <a:r>
              <a:t>Мы сегодня на ступени </a:t>
            </a:r>
            <a:r>
              <a:rPr b="1"/>
              <a:t>workflow</a:t>
            </a:r>
            <a:r>
              <a:t>, и будем на ней все полтора часа. Агент — одиннадцатое занятие, мульти-агент — двенадцатое.</a:t>
            </a:r>
          </a:p>
          <a:p/>
          <a:p>
            <a:r>
              <a:t>Теперь различение, которое в лекции названо одним из самых важных. </a:t>
            </a:r>
            <a:r>
              <a:rPr b="1"/>
              <a:t>Workflow</a:t>
            </a:r>
            <a:r>
              <a:t> — система, где вызовы модели и инструменты оркеструются по путям, </a:t>
            </a:r>
            <a:r>
              <a:rPr b="1"/>
              <a:t>заданным заранее, в коде</a:t>
            </a:r>
            <a:r>
              <a:t>: модель вызывается на конкретных шагах, но не решает, какие шаги и в каком порядке делать. </a:t>
            </a:r>
            <a:r>
              <a:rPr b="1"/>
              <a:t>Агент</a:t>
            </a:r>
            <a:r>
              <a:t> — система, где модель </a:t>
            </a:r>
            <a:r>
              <a:rPr b="1"/>
              <a:t>сама</a:t>
            </a:r>
            <a:r>
              <a:t> определяет свой процесс по ходу, и последовательность шагов заранее не зафиксирована.</a:t>
            </a:r>
          </a:p>
          <a:p/>
          <a:p>
            <a:r>
              <a:t>Различение операциональное: из него прямо следует критерий выбора. Задача предсказуема, последовательность шагов известна заранее, пусть даже с ветвлениями, — workflow. Последовательность принципиально зависит от промежуточных результатов, и ценность задачи оправдывает кратный рост стоимости — агент.</a:t>
            </a:r>
          </a:p>
          <a:p/>
          <a:p>
            <a:r>
              <a:t>И чтобы слово «workflow» не звучало как «примитив»: у него своя развитая палитра, пять паттернов, все пять были в лекции. Цепочка — шаги друг за другом, и между ними можно поставить проверку. Маршрут — первый шаг относит вход к классу, дальше свой путь на каждый. Параллель — независимые подзадачи сразу, результат сводится. Дирижёр и исполнители — центральный шаг делит задачу в заданных рамках. Эталон и переделка — один делает, другой оценивает, цикл до порога.</a:t>
            </a:r>
          </a:p>
          <a:p/>
          <a:p>
            <a:r>
              <a:t>Запомните эту таблицу: сегодня мы соберём </a:t>
            </a:r>
            <a:r>
              <a:rPr b="1"/>
              <a:t>цепочку</a:t>
            </a:r>
            <a:r>
              <a:t>, на следующем занятии — </a:t>
            </a:r>
            <a:r>
              <a:rPr b="1"/>
              <a:t>маршрут</a:t>
            </a:r>
            <a:r>
              <a:t>, дальше по списку. Шесть занятий дуги — это шесть строк этой таблицы и то, во что они превращаются в живом инструменте.</a:t>
            </a:r>
          </a:p>
          <a:p/>
          <a:p>
            <a:r>
              <a:t>И фраза из лекции, которую стоит повторить дословно: большинство надёжных продакшн-систем — это workflow с предопределёнными путями, а не полностью динамические агенты.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экран — тоже пересказ, и тоже из Лекции 3. Он объясняет, почему дуга из шести занятий идёт снизу вверх, а не начинается с агентов, которые сейчас на слуху.</a:t>
            </a:r>
          </a:p>
          <a:p/>
          <a:p>
            <a:r>
              <a:t>Главная арифметика в одной фразе: </a:t>
            </a:r>
            <a:r>
              <a:rPr b="1"/>
              <a:t>надёжность последовательных шагов перемножается, а не усредняется.</a:t>
            </a:r>
            <a:r>
              <a:t> Если в конвейере десять шагов и сбой любого портит результат, общая надёжность примерно равна надёжности шага в десятой степени.</a:t>
            </a:r>
          </a:p>
          <a:p/>
          <a:p>
            <a:r>
              <a:t>Подставьте числа. Девяносто пять процентов на шаг — цифра, которая звучит прилично. Десять шагов: шестьдесят процентов. Девяносто процентов на шаг, тоже вроде нормально, — тридцать пять процентов на десяти шагах. Инженерная интуиция «каждый шаг почти всегда работает, значит и цепочка почти всегда работает» математически ложна, и это одна из самых дорогих ошибок отрасли.</a:t>
            </a:r>
          </a:p>
          <a:p/>
          <a:p>
            <a:r>
              <a:t>Отсюда два практических вывода, которые мы сегодня применим: цепочки держат короткими, и между шагами ставят проверки. Ровно это мы и будем делать в первом кейсе, и когда я поставлю лишний на вид узел проверки — вспомните этот экран.</a:t>
            </a:r>
          </a:p>
          <a:p/>
          <a:p>
            <a:r>
              <a:t>Дальше стоимость. Относительно обычного чата одиночный агент тратит порядка четырёх раз больше токенов, мульти-агент — порядка пятнадцати. И цитата из лекции, которая отрезвляет: мульти-агентные системы работают во многом потому, что помогают потратить достаточно токенов на задачу. Не «магия координации», а объём.</a:t>
            </a:r>
          </a:p>
          <a:p/>
          <a:p>
            <a:r>
              <a:t>И топология, цифра контринтуитивная. При одном и том же числе агентов «рой» равноправных усиливал ошибки в семнадцать целых две десятых раза, а централизованная оркестрация с одним координатором сдерживала их до четырёх целых четырёх десятых. То есть дирижёр надёжнее роя — обратное тому, что обычно предполагают.</a:t>
            </a:r>
          </a:p>
          <a:p/>
          <a:p>
            <a:r>
              <a:t>Правило из лекции, одной строкой: начинай с одного сильного. Многим задачам хватает одиночных вызовов плюс поиск по документам, а команды месяцами строили мульти-агентные схемы и потом обнаруживали, что улучшенный запрос к одному даёт то же самое.</a:t>
            </a:r>
          </a:p>
          <a:p/>
          <a:p>
            <a:r>
              <a:t>Вот поэтому мы сегодня на ступени workflow. Не потому, что агенты сложные, а потому, что это та ступень, на которой заканчивается большинство реальных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про то, в чём такие процессы собирают. Мы отобрали и разобрали пять инструментов, и классов вышло три.</a:t>
            </a:r>
          </a:p>
          <a:p/>
          <a:p>
            <a:r>
              <a:t>Первый класс по-человечески называется так: </a:t>
            </a:r>
            <a:r>
              <a:rPr b="1"/>
              <a:t>конвейеры между системами</a:t>
            </a:r>
            <a:r>
              <a:t>. Берут их, когда задача звучит «возьми оттуда, преобразуй, положи сюда и уведоми кого надо». Почта, таблицы, CRM, мессенджеры, базы. n8n, Activepieces, Make, Zapier. Это самый старый и самый массовый класс: такие инструменты существовали задолго до языковых моделей и просто получили новый тип блока.</a:t>
            </a:r>
          </a:p>
          <a:p/>
          <a:p>
            <a:r>
              <a:t>Второй — </a:t>
            </a:r>
            <a:r>
              <a:rPr b="1"/>
              <a:t>платформы для агентов</a:t>
            </a:r>
            <a:r>
              <a:t>. Берут, когда задача звучит «дай агенту инструменты и проверки и поручи ему задачу». Молодой класс, и в нём есть то, чего у первого нет: ограждения на выходе, оценка ответа, базы знаний, которые сами синхронизируются. Цена входа — ресурсы: двенадцать гигабайт памяти и выше, дома поднимается тяжело.</a:t>
            </a:r>
          </a:p>
          <a:p/>
          <a:p>
            <a:r>
              <a:t>Третий — </a:t>
            </a:r>
            <a:r>
              <a:rPr b="1"/>
              <a:t>конструкторы LLM-приложений</a:t>
            </a:r>
            <a:r>
              <a:t>. Берут, когда задача звучит «собери чат по своим документам»: цепочка вызовов, поиск, память диалога. LangFlow, Dify.</a:t>
            </a:r>
          </a:p>
          <a:p/>
          <a:p>
            <a:r>
              <a:t>Теперь два вопроса, которые на самом деле решают выбор, — и обратите внимание, что ни один из них не про ИИ. Он есть во всех трёх классах.</a:t>
            </a:r>
          </a:p>
          <a:p/>
          <a:p>
            <a:r>
              <a:t>Первый вопрос: </a:t>
            </a:r>
            <a:r>
              <a:rPr b="1"/>
              <a:t>кто запускает</a:t>
            </a:r>
            <a:r>
              <a:t>. Человек, расписание или чужая система? Если в задаче есть слова «каждое утро» или «когда придёт письмо» — третий класс отпадает сразу: расписания у него нет вовсе, запуск только снаружи, вызовом или из чата. Это одна проверка, и она отсекает целый класс.</a:t>
            </a:r>
          </a:p>
          <a:p/>
          <a:p>
            <a:r>
              <a:t>Второй: </a:t>
            </a:r>
            <a:r>
              <a:rPr b="1"/>
              <a:t>что у вас считается шагом</a:t>
            </a:r>
            <a:r>
              <a:t>. Шаг рабочего процесса — первый класс. Задача, которую решает агент, — второй. Вызов модели внутри приложения — третий.</a:t>
            </a:r>
          </a:p>
          <a:p/>
          <a:p>
            <a:r>
              <a:t>Одно замечание к устойчивости этого рынка, и я скажу его голосом, а не вынесу на экран. Flowise — был одним из двух самых известных конструкторов третьего класса, его знали все, кто смотрел в эту сторону. Тридцать первого августа этого года он закрыт: не заброшен, а официально закрыт, с объявлением, архивацией кода и названной датой конца жизни. Причина, которую назвали сами авторы: жёсткий визуальный low-code упирается в предел по сложности, а разработчики к этому моменту ушли к кодинг-агентам. Я это говорю не как курьёз: выбирая, на чём строить, учитывайте, что целый класс инструментов может закрыться.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экран введения — про инструмент, в котором будем смотреть, и про слова, которые дальше я начну употреблять как известные.</a:t>
            </a:r>
          </a:p>
          <a:p/>
          <a:p>
            <a:r>
              <a:t>Смотрите на снимок. </a:t>
            </a:r>
            <a:r>
              <a:rPr b="1"/>
              <a:t>Холст</a:t>
            </a:r>
            <a:r>
              <a:t> — поле, на котором процесс рисуется мышкой; вот он, занимает весь экран. Процесс здесь не текст, а схема, и это главная причина популярности таких инструментов: на схему можно показать пальцем коллеге, который не программист, и он поймёт.</a:t>
            </a:r>
          </a:p>
          <a:p/>
          <a:p>
            <a:r>
              <a:rPr b="1"/>
              <a:t>Узел</a:t>
            </a:r>
            <a:r>
              <a:t> — один шаг, вот эти прямоугольники. У каждого карточка с параметрами: щёлкнул — открылась. Добавить шаг означает поставить узел и соединить стрелкой. И обратите внимание, чего здесь нет: между правкой и проверкой нет ни сборки, ни развёртывания. Нажал «выполнить» и смотришь.</a:t>
            </a:r>
          </a:p>
          <a:p/>
          <a:p>
            <a:r>
              <a:t>Третье — </a:t>
            </a:r>
            <a:r>
              <a:rPr b="1"/>
              <a:t>учётные данные</a:t>
            </a:r>
            <a:r>
              <a:t>, и это важнее, чем кажется. Ключи и доступы живут </a:t>
            </a:r>
            <a:r>
              <a:rPr b="1"/>
              <a:t>отдельно от сценария</a:t>
            </a:r>
            <a:r>
              <a:t>: вы заводите их один раз, а узел ссылается на них по имени. Отсюда два следствия. Первое: в файле сценария ключей нет, и файл можно отдать коллеге или студенту — мы на этом построим домашнее задание. Второе: один ключ переиспользуется во всех ваших процессах, и менять его при ротации надо в одном месте, а не в двадцати.</a:t>
            </a:r>
          </a:p>
          <a:p/>
          <a:p>
            <a:r>
              <a:t>Четвёртое — </a:t>
            </a:r>
            <a:r>
              <a:rPr b="1"/>
              <a:t>готовые интеграции</a:t>
            </a:r>
            <a:r>
              <a:t>. Больше четырёхсот сервисов из коробки: почта, таблицы, мессенджеры, CRM, базы, облака, и для всего остального есть узел обычного HTTP-запроса. Это и есть главная ценность класса: «взять из Google Таблиц и положить в Телеграм» — два узла, а не два дня чтения чужой документации. Вы не пишете клиент к API, вы заполняете поля.</a:t>
            </a:r>
          </a:p>
          <a:p/>
          <a:p>
            <a:r>
              <a:t>Пятое — то, чего от такого инструмента обычно не ждут: </a:t>
            </a:r>
            <a:r>
              <a:rPr b="1"/>
              <a:t>простые интерфейсы встроены</a:t>
            </a:r>
            <a:r>
              <a:t>. Узел формы даёт настоящую веб-страницу с полями, валидацией и экраном результата — по адресу, который можно отправить человеку. То есть вы можете отдать людям рабочий вход в процесс, не поднимая ни фронтенда, ни хостинга, ни дизайна. Мы этим сегодня воспользуемся: и вход нашего процесса, и экран, на котором зал увидит результат, — это он.</a:t>
            </a:r>
          </a:p>
          <a:p/>
          <a:p>
            <a:r>
              <a:t>И шестое — </a:t>
            </a:r>
            <a:r>
              <a:rPr b="1"/>
              <a:t>прогон и журнал</a:t>
            </a:r>
            <a:r>
              <a:t>. Прогон это одно исполнение, от триггера до конца, у него свой номер. Журнал хранит их целиком: можно открыть прогон недельной давности и посмотреть, что именно пришло на вход третьего узла и что он отдал. Мы в этот журнал заглянем сегодня трижды, и дважды он покажет неприятное.</a:t>
            </a:r>
          </a:p>
          <a:p/>
          <a:p>
            <a:r>
              <a:t>Теперь зачем именно он выбран для курса. Ставится локально и бесплатно — значит, вы повторите дома, и это условие было главным. ИИ-блоки в коробке, отдельной подписки не нужно. Запускается по расписанию и по событию — то, чего нет у третьего класса с предыдущего экрана. И процесс выгружается одним файлом: этот файл вы унесёте.</a:t>
            </a:r>
          </a:p>
          <a:p/>
          <a:p>
            <a:r>
              <a:t>Честно про то, чего ждать не надо. Лицензия ядра не вполне свободная — у Activepieces в этом смысле чище, и если это для вас критерий, смотрите туда. Установка без контейнера объявлена устаревшей. И интерфейс меняется между версиями заметно: поэтому принципиальные схемы мы рисуем отдельно от снимков — схема переживёт смену версии, снимок нет.</a:t>
            </a:r>
          </a:p>
          <a:p/>
          <a:p>
            <a:r>
              <a:t>Всё. Дальше — ось занятия, и потом внутрь.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что-то собирать, одна мысль, на которой держится всё занятие.</a:t>
            </a:r>
          </a:p>
          <a:p/>
          <a:p>
            <a:r>
              <a:t>Процесс, который </a:t>
            </a:r>
            <a:r>
              <a:rPr b="1"/>
              <a:t>работает</a:t>
            </a:r>
            <a:r>
              <a:t>, и процесс, за который можно </a:t>
            </a:r>
            <a:r>
              <a:rPr b="1"/>
              <a:t>ручаться</a:t>
            </a:r>
            <a:r>
              <a:t>, — это два разных процесса. Первый доезжает до конца и не падает. Про второй вы знаете, что окажется в каждой строке результата и что произойдёт, когда он сломается.</a:t>
            </a:r>
          </a:p>
          <a:p/>
          <a:p>
            <a:r>
              <a:t>Собрать первый легко. Почти все на нём и останавливаются — не из лени, а потому что он выглядит готовым. Он работает. Его показывают руководителю, и руководитель видит, что работает.</a:t>
            </a:r>
          </a:p>
          <a:p/>
          <a:p>
            <a:r>
              <a:t>Посмотрите на таблицу. В левой колонке четыре вещи, каждую из которых вы увидите своими глазами и совершенно справедливо сочтёте успехом: заявка доехала до таблицы; клетка заполнена, и значение в ней законное; прогон зелёный, ни одной ошибки в журнале; правка на холсте стоит, никто её не откатывал.</a:t>
            </a:r>
          </a:p>
          <a:p/>
          <a:p>
            <a:r>
              <a:t>Правая колонка пустая. В ней будет то, чем каждая из этих четырёх радостей оказывается на самом деле. Мы заполним её своими руками — по одной строке за кейс, и каждый раз не моим рассказом, а тем, что увидим на экране.</a:t>
            </a:r>
          </a:p>
          <a:p/>
          <a:p>
            <a:r>
              <a:t>И вот зачем я прошу запомнить эту таблицу. В конце занятия мы к ней вернёмся, и вы увидите все четыре пары рядом. Если после этого вы станете спрашивать себя про любой свой процесс «он работает или за него можно ручаться» — занятие удалось, даже если вы забудете, как называется каждый блок.</a:t>
            </a:r>
          </a:p>
          <a:p/>
          <a:p>
            <a:r>
              <a:t>Вопрос занятия я задаю сейчас и прошу держать его в голове полтора часа: </a:t>
            </a:r>
            <a:r>
              <a:rPr b="1"/>
              <a:t>возьмите процесс, который у вас на работе уже работает — он работает или за него можно ручаться?</a:t>
            </a:r>
            <a:r>
              <a:t> Отвечать сейчас не надо, у вас пока нет способа проверить. К концу занятия будет четыре.</a:t>
            </a:r>
          </a:p>
          <a:p/>
          <a:p>
            <a:r>
              <a:t>Сегодняшняя задача маленькая намеренно: заявка с формы сайта должна попадать в таблицу уже разобранной. На ней все четыре различия видно целиком, за полтора часа, на живом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Учебный центр, на сайте форма записи. Форма работает, заявки приходят — и дальше их читает человек и перекладывает в таблицу руками.</a:t>
            </a:r>
          </a:p>
          <a:p/>
          <a:p>
            <a:r>
              <a:t>Это та самая ситуация, в которой автоматизацию обычно и заводят: не потому, что что-то сломалось, а потому, что работа скучная и её много. И именно поэтому её чаще всего делают наполовину.</a:t>
            </a:r>
          </a:p>
          <a:p/>
          <a:p>
            <a:r>
              <a:t>Кто этот человек и чего ему это стоит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Сцена, на которой мы проведём почти всё занятие. Она маленькая намеренно: на ней видно всё устройство целиком.</a:t>
            </a:r>
          </a:p>
          <a:p/>
          <a:p>
            <a:r>
              <a:t>Учебный центр, на сайте форма записи. Человек оставляет имя, контакт и пишет свободным текстом, что ему нужно: «хочу на курс по аналитике», «можно ли перенести занятие», «выставьте счёт на организацию». Форма складывает всё это письмами — и дальше ничего не происходит, письма просто лежат.</a:t>
            </a:r>
          </a:p>
          <a:p/>
          <a:p>
            <a:r>
              <a:t>Дальше работает администратор. Открывает каждое письмо, читает, понимает, о чём оно, и переносит в таблицу. Двадцать заявок в день, около сорока минут. И самое важное про эти сорок минут: работа такая, что к концу её делают механически — не потому, что человек плохой, а потому, что двадцатое письмо похоже на пятое.</a:t>
            </a:r>
          </a:p>
          <a:p/>
          <a:p>
            <a:r>
              <a:t>В таблице она ставит руками два столбца: тема и срочность. И вот тут цена становится настоящей: по этим двум столбцам потом сортируют, считают и раскладывают заявки по людям. Ошибка в них стоит не минуты работы — она стоит потерянной заявки. Человек, записавшийся на курс, не получает звонка.</a:t>
            </a:r>
          </a:p>
          <a:p/>
          <a:p>
            <a:r>
              <a:t>И последняя строка, которую стоит произнести вслух, потому что она узнаваемая: в пятницу вечером заявок больше, а времени меньше. Именно тогда появляется «потом разберу», и именно тогда что-то теряется.</a:t>
            </a:r>
          </a:p>
          <a:p/>
          <a:p>
            <a:r>
              <a:t>Что должно получиться. Заявка попадает в таблицу сама, и тема со срочностью заполнены всегда — значениями из закрытого списка, а не любыми подходящими словами. Обратите внимание на это требование: не «обычно заполнены» и не «каким-нибудь разумным словом». Столбец, в котором иногда пусто, а иногда «интересуется аналитикой», для сортировки не годится, и вся затея теряет смысл.</a:t>
            </a:r>
          </a:p>
          <a:p/>
          <a:p>
            <a:r>
              <a:t>Это и есть задача. Теперь вопрос.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перед вами, требование названо. Вопрос: из скольких узлов соберётся процесс, который решает это полностью?</a:t>
            </a:r>
          </a:p>
          <a:p/>
          <a:p>
            <a:r>
              <a:t>Узел — это шаг на холсте, который придётся поставить и настроить. Считаем именно их.</a:t>
            </a:r>
          </a:p>
          <a:p/>
          <a:p>
            <a:r>
              <a:t>Четыре ответа, и у каждого на экране только довод за него — без разбора, разбор на следующем экране.</a:t>
            </a:r>
          </a:p>
          <a:p/>
          <a:p>
            <a:r>
              <a:t>Два: форма уже есть, таблица уже есть, осталось соединить. Три: между ними нужен шаг модели, он прочитает заявку и назовёт тему. Шесть: если решением считать то, за что можно отвечать перед человеком, который этот столбец читает. И «зависит»: смотря что считать решением задачи.</a:t>
            </a:r>
          </a:p>
          <a:p/>
          <a:p>
            <a:r>
              <a:t>Выбирайте и формулируйте довод. И думайте не про то, сколько нужно, чтобы заработало, а про то, сколько нужно, чтобы вы могли поручиться за каждую строку в этой таблице. Это разные числа, и разница между ними — содержание следующего экрана.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Пройдём по ответам, и начну с того, который выбирает большинство.</a:t>
            </a:r>
          </a:p>
          <a:p/>
          <a:p>
            <a:r>
              <a:t>Два узла — форма и таблица. Мгновенно, бесплатно, ломаться нечему. И задача не решена: тему и срочность по-прежнему ставит человек, читая каждую заявку. Это не процесс, это труба.</a:t>
            </a:r>
          </a:p>
          <a:p/>
          <a:p>
            <a:r>
              <a:t>Три узла — форма, шаг модели, таблица. Заявка доезжает, в столбце что-то появляется, и выглядит это как успех. Вот чего здесь нет.</a:t>
            </a:r>
          </a:p>
          <a:p/>
          <a:p>
            <a:r>
              <a:t>Во-первых, тема будет какой угодно. Я это проверял на стенде: на одну и ту же заявку модель отвечала «запись», «обучение», «интересуется аналитикой» и однажды «Аналитика.» — с большой буквы и с точкой на конце. Каждый ответ разумный. Ни одна сортировка по такому столбцу не соберётся.</a:t>
            </a:r>
          </a:p>
          <a:p/>
          <a:p>
            <a:r>
              <a:t>Во-вторых, срочности не будет вовсе, если её отдельно не попросить. Модель отвечает на то, о чём спросили.</a:t>
            </a:r>
          </a:p>
          <a:p/>
          <a:p>
            <a:r>
              <a:t>В-третьих, чтобы узнать, что получилось, надо идти в таблицу. На занятии это переключение экрана на каждый прогон, а на отладке таких прогонов десятки.</a:t>
            </a:r>
          </a:p>
          <a:p/>
          <a:p>
            <a:r>
              <a:t>Шесть узлов — то, что мы сейчас соберём, и это именно решение. Между шагом модели и таблицей встаёт </a:t>
            </a:r>
            <a:r>
              <a:rPr b="1"/>
              <a:t>сверка со списком</a:t>
            </a:r>
            <a:r>
              <a:t>: она не даст ни пустой темы, ни темы вне списка. А в конце встаёт </a:t>
            </a:r>
            <a:r>
              <a:rPr b="1"/>
              <a:t>экран результата</a:t>
            </a:r>
            <a:r>
              <a:t>: в том же окне браузера, где заявку отправили, печатается вход, что вернула модель, что решила сверка и номер строки.</a:t>
            </a:r>
          </a:p>
          <a:p/>
          <a:p>
            <a:r>
              <a:t>Эти два узла и есть вся разница между «работает» и «можно ручаться». Они выглядят лишними — ровно до того момента, когда кто-нибудь спросит, кто отвечает за содержимое столбца «тема».</a:t>
            </a:r>
          </a:p>
          <a:p/>
          <a:p>
            <a:r>
              <a:t>Кто ответил «зависит» — вы правы по сути, и я приму этот ответ, если скажете, от чего. Ответ: от того, считаем ли мы решением то, что заработало, или то, за что можно поручиться. Это первая строка нашей оси, и мы её сейчас закроем.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Шесть узлов, и смотрите на холст: под узлом извлечения висит </a:t>
            </a:r>
            <a:r>
              <a:rPr b="1"/>
              <a:t>отдельная коробка</a:t>
            </a:r>
            <a:r>
              <a:t>, называется «модель».</a:t>
            </a:r>
          </a:p>
          <a:p/>
          <a:p>
            <a:r>
              <a:t>Это устройство всех ИИ-блоков в этом инструменте. Шаг модели — всегда </a:t>
            </a:r>
            <a:r>
              <a:rPr b="1"/>
              <a:t>два</a:t>
            </a:r>
            <a:r>
              <a:t> узла: сам шаг и подключённая к нему модель. Точно так же потом подключают память и инструменты, и когда на одиннадцатом занятии мы соберём агента, у него под брюхом будет висеть три таких коробки.</a:t>
            </a:r>
          </a:p>
          <a:p/>
          <a:p>
            <a:r>
              <a:t>Запомните это сейчас по двум причинам. Первая: когда считаете узлы, считайте и модель — её видно, и она займёт место на холсте. Вторая, важнее: повтор и расход считаются </a:t>
            </a:r>
            <a:r>
              <a:rPr b="1"/>
              <a:t>на узле модели</a:t>
            </a:r>
            <a:r>
              <a:t>, а не на том, где вы поставили галочку. В третьем кейсе мы на это наткнёмся, и я хочу, чтобы это не было сюрпризом.</a:t>
            </a:r>
          </a:p>
          <a:p/>
          <a:p>
            <a:r>
              <a:t>Теперь по порядку, зачем каждый. Форма — вход: три поля, все обязательные.</a:t>
            </a:r>
          </a:p>
          <a:p/>
          <a:p>
            <a:r>
              <a:t>Извлечение полей — достаёт из текста значения, а не пересказ. Как устроена его схема, разберём на следующем экране: это главное в кейсе.</a:t>
            </a:r>
          </a:p>
          <a:p/>
          <a:p>
            <a:r>
              <a:t>Сверка со списком — последняя инстанция: что пришло не из списка или пустым, становится «другое» и «не указано».</a:t>
            </a:r>
          </a:p>
          <a:p/>
          <a:p>
            <a:r>
              <a:t>Запись строки — и обратите внимание, откуда берутся значения: у предыдущего узла, то есть у сверки, а не у модели. Поэтому в таблице не бывает ни пустой темы, ни темы вне списка.</a:t>
            </a:r>
          </a:p>
          <a:p/>
          <a:p>
            <a:r>
              <a:t>Экран результата — тот же узел формы, в режиме завершения. Печатает всю дорогу в том же окне, где отправили заявку: ходить в журнал и в таблицу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узла, на которых держится кейс, и по одному параметру в каждом.</a:t>
            </a:r>
          </a:p>
          <a:p/>
          <a:p>
            <a:r>
              <a:t>Схему в узле извлечения задаю </a:t>
            </a:r>
            <a:r>
              <a:rPr b="1"/>
              <a:t>вручную</a:t>
            </a:r>
            <a:r>
              <a:t>, и вот зачем. Её можно задать описаниями словами, и это проще, — но описание допустимые значения только </a:t>
            </a:r>
            <a:r>
              <a:rPr b="1"/>
              <a:t>предлагает</a:t>
            </a:r>
            <a:r>
              <a:t>. Мне нужно, чтобы инструмент их </a:t>
            </a:r>
            <a:r>
              <a:rPr b="1"/>
              <a:t>перечислил</a:t>
            </a:r>
            <a:r>
              <a:t>, и для этого в схеме есть перечисление: тема — одно из четырёх, срочность — одно из трёх, оба поля обязательны.</a:t>
            </a:r>
          </a:p>
          <a:p/>
          <a:p>
            <a:r>
              <a:t>Последние значения в списках — «другое» и «не указано». Это не формальность и не вежливость: без них классификация упирается в пустую клетку на первой же непонятной заявке, а модель, которой не дали законного «не знаю», поставит ближайшее подходящее и не скажет об этом.</a:t>
            </a:r>
          </a:p>
          <a:p/>
          <a:p>
            <a:r>
              <a:t>Второй узел — сверка. Обычный «задать поля», никакого кода, и в нём стоит выражение: доллар-json, точка, тема, две вертикальные черты, «другое». Читается буквально: возьми тему, а если её нет — поставь «другое». И то же для срочности.</a:t>
            </a:r>
          </a:p>
          <a:p/>
          <a:p>
            <a:r>
              <a:t>Зачем он, если перечисление уже в схеме? Потому что схема — просьба к модели, пусть и строгая, а это — последняя инстанция. Схему можно обойти: она действует не во всех режимах, а на отказ модели по безопасности придёт вообще не ваше поле. Этот узел обойти нельзя. Отсюда формулировка, которую я прошу унести: </a:t>
            </a:r>
            <a:r>
              <a:rPr b="1"/>
              <a:t>модель предлагает, список решает.</a:t>
            </a:r>
          </a:p>
          <a:p/>
          <a:p>
            <a:r>
              <a:t>Теперь, прежде чем я нажму «отправить», — предскажите. Заявка: «хочу на курс по аналитике, перезвоните сегодня после шести, телефон в конце». Что напечатает экран в строке «что предложила модель»: какая тема, какая срочность, что окажется в контакте из текста? Говорите вслух, у вас пятнадцать секунд.</a:t>
            </a:r>
          </a:p>
          <a:p/>
          <a:p>
            <a:r>
              <a:t>Отправляю. Смотрим: тема «курс», срочность «сегодня», телефон вытащен из текста. У кого совпало — вы только что предсказали поведение шага модели, и это ровно то умение, за которым мы здесь собрались.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критерий — то, с чем можно выйти отсюда и применить к своей работе, не помня ни одного имени блока.</a:t>
            </a:r>
          </a:p>
          <a:p/>
          <a:p>
            <a:r>
              <a:t>Закрытый список нужен, когда результат шага читает </a:t>
            </a:r>
            <a:r>
              <a:rPr b="1"/>
              <a:t>следующий шаг</a:t>
            </a:r>
            <a:r>
              <a:t>: по нему фильтруют, сортируют, считают или решают, куда заявку отправить. Машина не умеет сравнивать свободный текст, и ей нужно конечное множество значений, известное заранее.</a:t>
            </a:r>
          </a:p>
          <a:p/>
          <a:p>
            <a:r>
              <a:t>Не нужен, когда результат читает </a:t>
            </a:r>
            <a:r>
              <a:rPr b="1"/>
              <a:t>человек</a:t>
            </a:r>
            <a:r>
              <a:t> и он же решает, что делать. Ему свободный текст помогает: в пересказе может оказаться деталь, которой в вашем списке нет. Не загоняйте в список то, что читают глазами.</a:t>
            </a:r>
          </a:p>
          <a:p/>
          <a:p>
            <a:r>
              <a:t>Вторая строка про отчётность. Если по полю когда-нибудь будет отчёт — «сколько заявок про оплату за месяц» — список нужен, и нужен с самого начала, потому что задним числом он не появится: старые строки останутся свободным текстом, и годовой отчёт сложит несравнимое. Если поле нужно один раз для одного письма — не тратьте время.</a:t>
            </a:r>
          </a:p>
          <a:p/>
          <a:p>
            <a:r>
              <a:t>Третья — про ответственность. Результат уходит в начисление, в рассылку, в обязательство перед клиентом: список обязателен. Ошибку заметит тот же человек в тот же день и поправит за минуту: обойдётесь.</a:t>
            </a:r>
          </a:p>
          <a:p/>
          <a:p>
            <a:r>
              <a:t>Четвёртая — про рост. Поток растёт, типов входа становится больше одного: нужен. Двадцать обращений в неделю и пять минут в день, и так будет дальше: подумайте дважды, прежде чем строить процесс, который придётся поддерживать.</a:t>
            </a:r>
          </a:p>
          <a:p/>
          <a:p>
            <a:r>
              <a:t>И предел, после которого список перестаёт работать, — одна фраза, но она дорогая. </a:t>
            </a:r>
            <a:r>
              <a:rPr b="1"/>
              <a:t>Список, в котором нет «иначе», не отказывает.</a:t>
            </a:r>
            <a:r>
              <a:t> Он заставляет модель выбрать ближайшее из того, что есть. Вы получите совершенно законное значение на заявке, которой в вашем списке не место, и не узнаете об этом никогда — ни одна проверка формата этого не поймает, потому что формат в порядке.</a:t>
            </a:r>
          </a:p>
          <a:p/>
          <a:p>
            <a:r>
              <a:t>Возвращаемся к оси. Первая строка: три узла заявку довозят, и это выглядит успехом. Чем оказалось: тема какая угодно, срочности нет вовсе, ручаться нечем. Разница между «работает» и «можно ручаться» здесь ровно в двух узлах — том, что сверяет со списком, и том, что показывает результат. Два узла из шести, и без них процесс работает, а отвечать за него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 вы собрали — теперь словарь. Я ставлю его здесь, а не в начале, намеренно: девятнадцать незнакомых имён до того, как вы увидели хоть один работающий процесс, не ложатся никуда. А сейчас у вас в голове есть шесть коробок на холсте, и имена цепляются за них.</a:t>
            </a:r>
          </a:p>
          <a:p/>
          <a:p>
            <a:r>
              <a:t>Слева девять типов блоков. Это словарь, и он не про n8n: с этими же девятью типами вы встретитесь в любом инструменте автоматизации процессов, под другими именами. Справа — чем каждый является в n8n, потому что смотреть мы будем в нём.</a:t>
            </a:r>
          </a:p>
          <a:p/>
          <a:p>
            <a:r>
              <a:t>Пройду по строкам быстро, задерживаясь там, где есть что сказать.</a:t>
            </a:r>
          </a:p>
          <a:p/>
          <a:p>
            <a:r>
              <a:t>Триггер — то, что запускает процесс. Без него процесса нет, он просто не начнётся. Триггеры бывают трёх родов: по действию человека, по событию снаружи, по времени. В n8n это форма, вебхук и расписание соответственно. Есть и четвёртый, искусственный — ручной запуск, «выполнить, потому что я нажал кнопку»; он для отладки, и в бою его не бывает.</a:t>
            </a:r>
          </a:p>
          <a:p/>
          <a:p>
            <a:r>
              <a:t>Действие — блок, который что-то делает: вызывает чужой сервис, пишет строку, отправляет письмо. Это то, ради чего процесс существует.</a:t>
            </a:r>
          </a:p>
          <a:p/>
          <a:p>
            <a:r>
              <a:t>Преобразование — меняет форму данных, не трогая смысл: переименовать поле, собрать значение из двух, привести к нужному виду. В n8n это «задать поля», и мы им сегодня воспользуемся в неочевидном месте.</a:t>
            </a:r>
          </a:p>
          <a:p/>
          <a:p>
            <a:r>
              <a:t>Условие — выбор пути. Два пути или много. Следующее занятие целиком про эту строку.</a:t>
            </a:r>
          </a:p>
          <a:p/>
          <a:p>
            <a:r>
              <a:t>Цикл — повторить шаги по элементам списка. И сразу забегу вперёд: в n8n отдельный цикл нужен реже, чем вы думаете, и почему — следующий экран.</a:t>
            </a:r>
          </a:p>
          <a:p/>
          <a:p>
            <a:r>
              <a:t>Слияние — свести разошедшиеся ветки обратно в один поток. У него есть неприятная особенность, из-за которой теряют данные, и это тоже следующее занятие.</a:t>
            </a:r>
          </a:p>
          <a:p/>
          <a:p>
            <a:r>
              <a:t>Подпроцесс — вызов другого процесса как шага. Это то, что превращает процесс из простыни в структуру.</a:t>
            </a:r>
          </a:p>
          <a:p/>
          <a:p>
            <a:r>
              <a:t>Обработчик сбоя. Обратите внимание: в n8n это не один блок, а три разных механизма — настройки на каждом узле, отдельный сценарий-обработчик и блок принудительной остановки. Третий кейс сегодня про первый из трёх.</a:t>
            </a:r>
          </a:p>
          <a:p/>
          <a:p>
            <a:r>
              <a:t>И последняя строка, выделенная. Шаг модели — единственный новый тип блока в этой таблице. Все остальные восемь были и двадцать лет назад. Нов он тем, что принимает решение на неструктурированном входе, и тем, что может ошибиться незаметно.</a:t>
            </a:r>
          </a:p>
          <a:p/>
          <a:p>
            <a:r>
              <a:t>Четыре строки вы уже закрыли своими руками, пятнадцать минут назад. Триггер — это была форма. Действие — запись строки и показ результата. Преобразование — сверка со списком, тот самый узел «задать поля». Шаг модели — извлечение и подключённая к нему модель, две коробки. Обработчик сбоя закроем через два кейса, тоже сегодня.</a:t>
            </a:r>
          </a:p>
          <a:p/>
          <a:p>
            <a:r>
              <a:t>Остальные четыре — расписание дуги, и я называю его, чтобы вы знали, куда мы идём. Условие и слияние — следующее занятие. Цикл и подпроцесс — через два. Агент — это та же строка «шаг модели», но с подключёнными инструментами, и это одиннадцатое занятие.</a:t>
            </a:r>
          </a:p>
          <a:p/>
          <a:p>
            <a:r>
              <a:t>К этой таблице мы будем возвращаться каждый раз, и каждый раз в ней будет закрашено больше. Если через шесть занятий вы будете держать её в голове — вы умеете читать любой процесс в любом таком инструменте, а не только в этом.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то, без чего всё дальнейшее читается как магия. И сразу предупреждаю: это не общее свойство автоматизации процессов, это особенность n8n, и подавать я её буду именно так.</a:t>
            </a:r>
          </a:p>
          <a:p/>
          <a:p>
            <a:r>
              <a:t>В n8n между узлами всегда идёт список элементов. Всегда. Даже когда элемент один — это список из одного.</a:t>
            </a:r>
          </a:p>
          <a:p/>
          <a:p>
            <a:r>
              <a:t>И отсюда правило, выделенное на экране, которое объясняет половину странностей инструмента: </a:t>
            </a:r>
            <a:r>
              <a:rPr b="1"/>
              <a:t>узел выполняется по разу на каждый элемент списка</a:t>
            </a:r>
            <a:r>
              <a:t>. Не один раз на прогон. По разу на элемент.</a:t>
            </a:r>
          </a:p>
          <a:p/>
          <a:p>
            <a:r>
              <a:t>Посмотрите на схему: слева список из трёх заявок, справа один узел на холсте — и три его выполнения. Узел нарисован один, сработал трижды.</a:t>
            </a:r>
          </a:p>
          <a:p/>
          <a:p>
            <a:r>
              <a:t>И третья строка, техническая, но без неё вы будете спотыкаться на выражениях весь день. Каждый элемент — это объект с обязательной обёрткой: содержательная часть лежит в поле </a:t>
            </a:r>
            <a:r>
              <a:rPr>
                <a:latin typeface="Consolas"/>
              </a:rPr>
              <a:t>json</a:t>
            </a:r>
            <a:r>
              <a:t>, а если это файл — отдельно, в </a:t>
            </a:r>
            <a:r>
              <a:rPr>
                <a:latin typeface="Consolas"/>
              </a:rPr>
              <a:t>binary</a:t>
            </a:r>
            <a:r>
              <a:t>. Из-за этой обёртки в выражениях вы везде пишете </a:t>
            </a:r>
            <a:r>
              <a:rPr>
                <a:latin typeface="Consolas"/>
              </a:rPr>
              <a:t>$json</a:t>
            </a:r>
            <a:r>
              <a:t> точка имя поля, а не просто имя: вы спускаетесь на один уровень внутрь элемента.</a:t>
            </a:r>
          </a:p>
          <a:p/>
          <a:p>
            <a:r>
              <a:t>Что из правила следует практически — две строки в таблице перед вами, и обе вы увидите в первый же месяц работы.</a:t>
            </a:r>
          </a:p>
          <a:p/>
          <a:p>
            <a:r>
              <a:t>И последнее, что понадобится, когда захотите сработать </a:t>
            </a:r>
            <a:r>
              <a:rPr b="1"/>
              <a:t>один раз на весь список</a:t>
            </a:r>
            <a:r>
              <a:t> — скажем, отправить одно сводное письмо по всем заявкам. Для этого есть настройка на узле, «выполнить один раз»: он сработает единожды, с данными первого элемента. Лежит она в настройках узла, не в параметрах, и запомнить, где именно, стоит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Процесс, который мы собрали, работает честно: пустых клеток нет, значения из списка, прогон зелёный. За это мы ручались и ручаемся.</a:t>
            </a:r>
          </a:p>
          <a:p/>
          <a:p>
            <a:r>
              <a:t>А теперь посмотрим, за что мы </a:t>
            </a:r>
            <a:r>
              <a:rPr b="1"/>
              <a:t>не</a:t>
            </a:r>
            <a:r>
              <a:t> ручались, — и обнаружится это не в журнале и не на моём экране, а в разговоре с человеком, который звонит и спрашивает, почему ему ответили на половину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второго кейса, и она из того, что мы собрали минуту назад.</a:t>
            </a:r>
          </a:p>
          <a:p/>
          <a:p>
            <a:r>
              <a:t>Вторник. Приходит заявка: «можно перенести занятие со вторника? И подскажите, как оплатить». Две темы в одном сообщении, обе наши, обе есть в списке.</a:t>
            </a:r>
          </a:p>
          <a:p/>
          <a:p>
            <a:r>
              <a:t>Процесс отрабатывает — и отрабатывает честно. В таблице строка, тема «перенос занятия», срочность «не указано». Всё заполнено, значение из списка, прогон зелёный. По всем нашим обещаниям — успех.</a:t>
            </a:r>
          </a:p>
          <a:p/>
          <a:p>
            <a:r>
              <a:t>Администратор видит тему «перенос занятия». Переносит занятие. Закрывает заявку.</a:t>
            </a:r>
          </a:p>
          <a:p/>
          <a:p>
            <a:r>
              <a:t>Про оплату не узнал никто. Её нет ни в таблице, ни в журнале, ни на экране результата — вторая тема не потерялась с ошибкой, её просто нет нигде.</a:t>
            </a:r>
          </a:p>
          <a:p/>
          <a:p>
            <a:r>
              <a:t>Человек прождал ответа про счёт три дня и позвонил сам. Спросил, почему на половину его вопроса не ответили. Это та самая цена, которую мы считаем не в минутах: заявка обслужена наполовину, и узнали мы об этом от клиента, а не от системы.</a:t>
            </a:r>
          </a:p>
          <a:p/>
          <a:p>
            <a:r>
              <a:t>И вот что важно про эту сцену: </a:t>
            </a:r>
            <a:r>
              <a:rPr b="1"/>
              <a:t>это не ошибка процесса</a:t>
            </a:r>
            <a:r>
              <a:t>. Мы ручались, что клетка не пуста и значение в ней из списка, — и это выполнено. Что в клетке окажется </a:t>
            </a:r>
            <a:r>
              <a:rPr b="1"/>
              <a:t>всё</a:t>
            </a:r>
            <a:r>
              <a:t>, что было в заявке, мы не обещали. Это граница того, за что мы отвечали, и она обнаружилась при первом же столкновении с живой заявкой.</a:t>
            </a:r>
          </a:p>
          <a:p/>
          <a:p>
            <a:r>
              <a:t>Теперь вопрос — он про то, что с этим делать.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второй, и в нём нет технической части: все четыре варианта собираются одинаково легко. Выбор тут содержательный.</a:t>
            </a:r>
          </a:p>
          <a:p/>
          <a:p>
            <a:r>
              <a:t>Первый: писать первую из найденных тем. Второй: писать «другое» — раз тем несколько, автоматика не справилась, пусть разбирает человек. Третий: сделать из одной заявки две строки, по теме на каждую. Четвёртый: писать главную тему и рядом пометку, что в заявке есть ещё что-то.</a:t>
            </a:r>
          </a:p>
          <a:p/>
          <a:p>
            <a:r>
              <a:t>Выбирайте и формулируйте довод. И думайте не про то, что красивее на схеме, а про человека, который завтра утром работает с этой таблицей. Что он должен увидеть, чтобы не упустить вопрос про оплату?</a:t>
            </a:r>
          </a:p>
          <a:p/>
          <a:p>
            <a:r>
              <a:t>Сразу скажу: неправильного ответа здесь нет. Все четыре живут в настоящих системах, и у каждого своя цена. Что меня интересует — кто из вас выберет второй вариант и сможет его защитить вслух.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Пройдём по четырём, и смотрите на средний столбец — он и есть ответ на вопрос.</a:t>
            </a:r>
          </a:p>
          <a:p/>
          <a:p>
            <a:r>
              <a:t>Первый, писать первую из найденных. Остаток разбирает никто. Мы это только что видели: вторая тема исчезает, и нигде не остаётся следа. Самый дешёвый вариант и самый опасный, потому что он выглядит как работающий.</a:t>
            </a:r>
          </a:p>
          <a:p/>
          <a:p>
            <a:r>
              <a:t>Второй, писать «другое», — и его я называю самым честным из четырёх, хотя он и выглядит отказом от автоматизации. Остаток разбирает человек — и, что важнее, он об этом </a:t>
            </a:r>
            <a:r>
              <a:rPr b="1"/>
              <a:t>знает</a:t>
            </a:r>
            <a:r>
              <a:t>: он видит «другое» и идёт читать текст. Вот почему я называю этот ответ самым честным из четырёх: разница между ним и первым не в точности, а в знании о своём незнании. Первый уверен и неправ. Второй не знает и говорит об этом. Цена — в «другое» начинает сваливаться всё: и многотемье, и настоящая экзотика про юрлица, и заявка из одного слова «ок». Столбец «другое» разрастается, и по нему уже не видно, что именно непонятно.</a:t>
            </a:r>
          </a:p>
          <a:p/>
          <a:p>
            <a:r>
              <a:t>Третий, две строки из одной заявки. Остаток разбирает следующий шаг, без человека. Это правильный ответ для зрелой системы, и у него своя цена: одна заявка превращается в две судьбы, и надо решать, кому звонить и кто закрывает вопрос. Как из одного элемента сделать несколько — тема девятого занятия, и сегодня мы туда не идём.</a:t>
            </a:r>
          </a:p>
          <a:p/>
          <a:p>
            <a:r>
              <a:t>Четвёртый, главная тема плюс пометка. Остаток разбирает тот, кто читает пометку. Хороший вариант, и у него есть незаметное условие: пометку надо куда-то положить — отдельным столбцом, — и кому-то её читать. Столбец, который никто не читает, работает так же, как первый вариант.</a:t>
            </a:r>
          </a:p>
          <a:p/>
          <a:p>
            <a:r>
              <a:t>Что мы возьмём и почему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Берём четвёртый вариант — главная тема плюс пометка. И смотрите, что для этого меняется: два узла из шести. В схеме извлечения появляется ещё одно поле — «ещё в заявке», список тем кроме главной. И в сверке со списком появляется ещё один столбец, который проходит ту же проверку, что тема. Форму, модель, запись и экран не трогаем вовсе.</a:t>
            </a:r>
          </a:p>
          <a:p/>
          <a:p>
            <a:r>
              <a:t>В схеме извлечения появляется ещё одно поле — «ещё в заявке»: список тем, которые в тексте есть, кроме главной. В справочнике это поле проходит ту же сверку, что и тема, и попадает в отдельный столбец.</a:t>
            </a:r>
          </a:p>
          <a:p/>
          <a:p>
            <a:r>
              <a:t>Теперь прогоняю четыре заявки подряд — те самые, на которых классификация обычно и ломается.</a:t>
            </a:r>
          </a:p>
          <a:p/>
          <a:p>
            <a:r>
              <a:t>Первая — две темы. Тема «перенос занятия», и в столбце «ещё в заявке» теперь стоит «оплата». Вторая тема перестала исчезать.</a:t>
            </a:r>
          </a:p>
          <a:p/>
          <a:p>
            <a:r>
              <a:t>Вторая — три темы, и одна из них не наша: «хочу оплатить, перенести занятие и узнать про скидки для сотрудников». Смотрите на пометку: «перенос занятия · другое». Про скидки в справочнике нет ничего, и третья тема честно стала «другим» — не выдумкой и не пропуском.</a:t>
            </a:r>
          </a:p>
          <a:p/>
          <a:p>
            <a:r>
              <a:t>Третья — про юрлица. Такой темы в справочнике нет вовсе, и это правильно: мы не обязаны предусмотреть всё. Смотрите на экран: тема «другое». Честное «это не из нашего списка» — вместо пустой клетки и вместо выдумки.</a:t>
            </a:r>
          </a:p>
          <a:p/>
          <a:p>
            <a:r>
              <a:t>И четвёртая, моя любимая. Заявка из одного слова: «ок». Прогоняю. Тема «другое», срочность «не указано», строка в таблице есть. Процесс не упал, клетки не пусты, и никто не соврал.</a:t>
            </a:r>
          </a:p>
          <a:p/>
          <a:p>
            <a:r>
              <a:t>Вот что я хочу, чтобы вы отсюда унесли. Классификация надёжна не тогда, когда модель всегда права, а тогда, когда у неё есть законный способ сказать «не знаю» — и этот способ ведёт к человеку, а не в пустую клетку.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второго кейса, и он не про инструмент вовсе — он про то, как вы делите мир на части.</a:t>
            </a:r>
          </a:p>
          <a:p/>
          <a:p>
            <a:r>
              <a:t>Законный отказ нужен, когда вход приходит снаружи и вы не можете запретить людям писать то, чего в вашем списке нет. Это почти всегда так, если на входе человек: он пишет как умеет, и про юрлица он напишет, не спросив у вас разрешения.</a:t>
            </a:r>
          </a:p>
          <a:p/>
          <a:p>
            <a:r>
              <a:t>Не нужен, когда вход вы формируете сами. Выпадающий список в форме, фиксированный набор событий от системы — тогда непредусмотренного не будет по построению, и «другое» в нём лишнее.</a:t>
            </a:r>
          </a:p>
          <a:p/>
          <a:p>
            <a:r>
              <a:t>Вторая строка про многозначность. Если одна запись может относиться к нескольким категориям сразу и вы это уже видели — отказ нужен, и с ним надо решить, что делать с остатком. Если категории заведомо исключают друг друга — состояние заказа, тип документа — не усложняйте.</a:t>
            </a:r>
          </a:p>
          <a:p/>
          <a:p>
            <a:r>
              <a:t>Третья строка самая важная и самая пропускаемая. Отказ нужен, когда </a:t>
            </a:r>
            <a:r>
              <a:rPr b="1"/>
              <a:t>есть человек, которому поручено разбирать отложенное</a:t>
            </a:r>
            <a:r>
              <a:t>. Если разбирать некому — «другое» станет кладбищем, и честнее этого не делать: не строить процесс, который делает вид, что работает.</a:t>
            </a:r>
          </a:p>
          <a:p/>
          <a:p>
            <a:r>
              <a:t>Четвёртая — про цену. Если неверный ответ дороже задержки, воздерживаться правильно. Если задержка дороже ошибки — а бывает и так, например в поддержке, где ответить приблизительно сразу лучше, чем точно через сутки, — тогда пусть решает приблизительно.</a:t>
            </a:r>
          </a:p>
          <a:p/>
          <a:p>
            <a:r>
              <a:t>Предел называю прямо: </a:t>
            </a:r>
            <a:r>
              <a:rPr b="1"/>
              <a:t>очередь без владельца</a:t>
            </a:r>
            <a:r>
              <a:t>. «Другое» работает, пока есть человек, который в неё смотрит, и метрика, по которой видно её рост. Очередь, в которую никто не заглядывает, ничем не лучше молча потерянной заявки — разница только в том, что в ней есть запись, которую тоже никто не читает.</a:t>
            </a:r>
          </a:p>
          <a:p/>
          <a:p>
            <a:r>
              <a:t>И вторая строка оси. Клетка заполнена, значение законное — выглядит успехом, и его даже можно показать руководителю. Чем оказалось: вторая тема заявки исчезла молча. Мы это видели на экране своими глазами: отправили заявку про перенос и оплату, получили одну тему. Ни один сторож этого не поймает, потому что формально всё в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начинается не с чьих-то слов, а с того, что видно в таблице. Или, точнее, с того, чего в ней не видно.</a:t>
            </a:r>
          </a:p>
          <a:p/>
          <a:p>
            <a:r>
              <a:t>Процесс работает неделю, к нему привыкли, заглядывают по делу. И в одно утро в таблице обнаруживается дырка — не ошибка, не сбой, а именно пропуск.</a:t>
            </a:r>
          </a:p>
          <a:p/>
          <a:p>
            <a:r>
              <a:t>Что это за утро и чего мы про него не знаем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третьего кейса. Утро понедельника, девять часов.</a:t>
            </a:r>
          </a:p>
          <a:p/>
          <a:p>
            <a:r>
              <a:t>Администратор открывает таблицу — по другому делу, просто посмотреть вчерашние заявки. И видит: строки за пятницу есть, строки за понедельник есть, а за субботу и воскресенье — ни одной.</a:t>
            </a:r>
          </a:p>
          <a:p/>
          <a:p>
            <a:r>
              <a:t>Теперь смотрите на правый столбец, он здесь важнее левого. Половина этой сцены — про то, чего мы </a:t>
            </a:r>
            <a:r>
              <a:rPr b="1"/>
              <a:t>не знаем</a:t>
            </a:r>
            <a:r>
              <a:t>.</a:t>
            </a:r>
          </a:p>
          <a:p/>
          <a:p>
            <a:r>
              <a:t>Сколько заявок пришло за выходные? Журнал формы на сайте говорит, что приходили. Сколько и каких — надо идти и смотреть, и это отдельная работа.</a:t>
            </a:r>
          </a:p>
          <a:p/>
          <a:p>
            <a:r>
              <a:t>Почему никто не узнал раньше? Письма об ошибке никто не получал. И вот тонкость, которую стоит проговорить: </a:t>
            </a:r>
            <a:r>
              <a:rPr b="1"/>
              <a:t>отсутствие письма ничего не значит</a:t>
            </a:r>
            <a:r>
              <a:t>, потому что никто не настраивал, кому его отправлять. Мы не получили сигнал не потому, что всё было хорошо.</a:t>
            </a:r>
          </a:p>
          <a:p/>
          <a:p>
            <a:r>
              <a:t>Что процесс делал эти два дня? Он был опубликован и включён. Падал на каждой заявке? На части? Писал куда-то не туда? Неизвестно. Журнал прогонов посмотреть можно, и мы посмотрим, но на этот момент — неизвестно.</a:t>
            </a:r>
          </a:p>
          <a:p/>
          <a:p>
            <a:r>
              <a:t>И последнее: заметила она это случайно. Сколько бы это продолжалось, если бы она не заглянула в таблицу по другому делу, — тоже неизвестно.</a:t>
            </a:r>
          </a:p>
          <a:p/>
          <a:p>
            <a:r>
              <a:t>Главное свойство этой сцены, и оно общее для всего класса таких сбоев: </a:t>
            </a:r>
            <a:r>
              <a:rPr b="1"/>
              <a:t>ни один сторож не сработал, и не мог сработать</a:t>
            </a:r>
            <a:r>
              <a:t>. Сторожа срабатывают на ошибки. Здесь нет ошибок — здесь нет записей. На отсутствие чего-то сработать нечем, и это делает такой сбой дороже любой ошибки, которая видна.</a:t>
            </a:r>
          </a:p>
          <a:p/>
          <a:p>
            <a:r>
              <a:t>Причина, кстати, выяснится скучная: провайдер модели два часа отдавал таймауты. Интересно не это, а что процесс должен был сделать вместо того, что сделал.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третий. Четыре варианта поведения, выбирайте один и готовьте довод.</a:t>
            </a:r>
          </a:p>
          <a:p/>
          <a:p>
            <a:r>
              <a:t>Остановить весь процесс: отказ — это отказ, дальше ехать незачем. Пропустить и идти дальше: одна заявка не разобралась, остальные не виноваты. Повторить: сеть моргнула, попробуем ещё раз. Отправить в отдельную ветку: пусть неудачные идут своей дорогой, разберём их отдельно.</a:t>
            </a:r>
          </a:p>
          <a:p/>
          <a:p>
            <a:r>
              <a:t>Одна подсказка, и она же проверка на внимательность. Правильный ответ задаётся тем, что стоит дальше по процессу. У нас дальше — запись строки в таблицу. Если бы дальше стояла, скажем, отправка счёта или увольнение сотрудника по итогам разбора, ответ был бы другим. Поэтому формулируйте не «надо повторять», а «надо повторять, потому что дальше у нас…».</a:t>
            </a:r>
          </a:p>
          <a:p/>
          <a:p>
            <a:r>
              <a:t>И вопрос в сторону, пока голосуете: кто-нибудь ставил такое поведение в своей системе сознательно, а не по умолчанию? Что стояло по умолчанию, знаете?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поворот, ради которого вопрос задавался именно так. Все четыре варианта, которые вы выбирали, — не абстракции.</a:t>
            </a:r>
          </a:p>
          <a:p/>
          <a:p>
            <a:r>
              <a:t>Вы сейчас голосовали за поведение — а выбирали, не зная того, из выпадающего списка. Все четыре варианта это значения настройки On Error в карточке любого узла. Не только узла модели — любого. Это стандартная часть устройства инструмента, и она есть у каждого шага.</a:t>
            </a:r>
          </a:p>
          <a:p/>
          <a:p>
            <a:r>
              <a:t>Пройдём по ним с ценой каждого.</a:t>
            </a:r>
          </a:p>
          <a:p/>
          <a:p>
            <a:r>
              <a:t>Stop Workflow — остановить всё. Стоит по умолчанию, то есть это то, что происходило в наши выходные. Уместно, когда дальше по процессу необратимое: счёт, письмо клиенту, списание. Лучше не сделать ничего, чем сделать половину.</a:t>
            </a:r>
          </a:p>
          <a:p/>
          <a:p>
            <a:r>
              <a:t>Continue — пропустить и идти дальше. Выглядит безобидно и является худшим из четырёх. Потому что «идти дальше» означает: текст ошибки поедет следующему узлу как обычные данные. То есть в столбце «тема» у вас окажется строка про таймаут соединения. Процесс при этом зелёный. Это та же беда, что в кейсе два, и теперь вы её узнаёте.</a:t>
            </a:r>
          </a:p>
          <a:p/>
          <a:p>
            <a:r>
              <a:t>Continue using error output — у узла появляется второй выход, подписанный error, и неудачные элементы идут в него. Это то, что нужно, когда отказы хочется видеть и разбирать.</a:t>
            </a:r>
          </a:p>
          <a:p/>
          <a:p>
            <a:r>
              <a:t>И отдельно Retry On Fail — это не альтернатива трём предыдущим, а то, что происходит до них. Повторяет N раз, и только если все попытки провалились, применяется выбранное поведение. Для сетевых отказов это первая линия: таймаут в большинстве случаев проходит со второй попытки.</a:t>
            </a:r>
          </a:p>
          <a:p/>
          <a:p>
            <a:r>
              <a:t>Кто голосовал за остановку всего процесса — вы выбрали то, что и так стояло. Именно поэтому таблица пустая.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Открываю карточку узла извлечения, иду в настройки — это отдельная вкладка, не параметры.</a:t>
            </a:r>
          </a:p>
          <a:p/>
          <a:p>
            <a:r>
              <a:t>Включаю Retry On Fail. Появляются два поля: сколько попыток и сколько ждать между ними. Ставлю три попытки и две секунды.</a:t>
            </a:r>
          </a:p>
          <a:p/>
          <a:p>
            <a:r>
              <a:t>Ниже On Error, выбираю Continue using error output. Смотрите на холст: у узла появился второй выход, подписанный и отрисованный красным.</a:t>
            </a:r>
          </a:p>
          <a:p/>
          <a:p>
            <a:r>
              <a:t>Теперь куда его вести. В ту же таблицу, только значения другие: тема «другое», срочность «не указано», </a:t>
            </a:r>
            <a:r>
              <a:rPr>
                <a:latin typeface="Consolas"/>
              </a:rPr>
              <a:t>status</a:t>
            </a:r>
            <a:r>
              <a:t> становится </a:t>
            </a:r>
            <a:r>
              <a:rPr>
                <a:latin typeface="Consolas"/>
              </a:rPr>
              <a:t>not_parsed</a:t>
            </a:r>
            <a:r>
              <a:t> вместо </a:t>
            </a:r>
            <a:r>
              <a:rPr>
                <a:latin typeface="Consolas"/>
              </a:rPr>
              <a:t>ok</a:t>
            </a:r>
            <a:r>
              <a:t>. И дальше свой экран результата, который честно печатает: вызов не удался после трёх попыток, строка записана, вот её номер.</a:t>
            </a:r>
          </a:p>
          <a:p/>
          <a:p>
            <a:r>
              <a:t>Почему в ту же таблицу, а не в отдельное место: потому что человек, который утром смотрит заявки, смотрит одну таблицу. Если неудачные лежат в другом месте, он туда не пойдёт, пока не заподозрит. А мы только что видели, во что это обходится — двое суток пропуска.</a:t>
            </a:r>
          </a:p>
          <a:p/>
          <a:p>
            <a:r>
              <a:t>Теперь показываю, что это работает, и показываю настоящим отказом. Порчу ключ провайдера: добавляю лишний символ. Отправляю заявку.</a:t>
            </a:r>
          </a:p>
          <a:p/>
          <a:p>
            <a:r>
              <a:t>Смотрите на журнал. Три попытки с паузами, все три неудачны — и обратите внимание, где они показаны: на узле модели, а не на узле извлечения. Повтор стоит на извлечении, а платим мы тремя вызовами модели. Запомните это к следующему экрану.</a:t>
            </a:r>
          </a:p>
          <a:p/>
          <a:p>
            <a:r>
              <a:t>Дальше элемент уходит в красную ветку, и в ней он несёт исходные данные формы плюс поле с текстом ошибки — то есть в таблицу можно записать и саму заявку, и причину. Экран печатает «заявка принята, но не разобрана».</a:t>
            </a:r>
          </a:p>
          <a:p/>
          <a:p>
            <a:r>
              <a:t>И главное число: статус всего прогона — успех. Три отказа подряд, а прогон зелёный.</a:t>
            </a:r>
          </a:p>
          <a:p/>
          <a:p>
            <a:r>
              <a:t>Возвращаю ключ, отправляю ещё раз. Экран обычный, строка нормальная. Один узел, две судьбы, и обе видны там, где заявку отправили.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третьего кейса, и он шире нашего инструмента: это правила из инженерной практики распределённых систем. Вы встретите их в очередях сообщений, в клиентах к чужому API, в платёжных интеграциях.</a:t>
            </a:r>
          </a:p>
          <a:p/>
          <a:p>
            <a:r>
              <a:t>Повторять нужно, когда отказ </a:t>
            </a:r>
            <a:r>
              <a:rPr b="1"/>
              <a:t>временный</a:t>
            </a:r>
            <a:r>
              <a:t>: таймаут, превышение лимита запросов, «сервис временно перегружен». Со второй попытки обычно проходит.</a:t>
            </a:r>
          </a:p>
          <a:p/>
          <a:p>
            <a:r>
              <a:t>Нельзя, когда отказ </a:t>
            </a:r>
            <a:r>
              <a:rPr b="1"/>
              <a:t>постоянный</a:t>
            </a:r>
            <a:r>
              <a:t>: неверный ключ, негодный запрос, отсутствует обязательное поле. Повтор не поможет никогда и лишь утроит расход на ту же ошибку. И обратите внимание: инструмент эти два класса сам не различает — он повторяет всё, на чём вы поставили галочку. Различать по коду ответа приходится вам, заранее.</a:t>
            </a:r>
          </a:p>
          <a:p/>
          <a:p>
            <a:r>
              <a:t>Вторая строка — про идемпотентность, и слово стоит запомнить. Идемпотентная операция — та, которую можно выполнить дважды с тем же результатом. Чтение идемпотентно всегда. Отправить письмо, создать заказ, списать деньги — нет. И вот ловушка: таймаут означает ровно одно, «ответ не пришёл». Произошло ли действие, он не говорит. Письмо могло уйти, деньги могли списаться, а потеряться мог только ответ — и повтор тогда сделает это второй раз.</a:t>
            </a:r>
          </a:p>
          <a:p/>
          <a:p>
            <a:r>
              <a:t>Третья строка — про слои, и здесь есть число, которое стоит запомнить. Если повтор включён на каждом слое, слои множат друг друга: три попытки на каждом из пяти слоёв дают двести сорок три обращения вместо одного. Поэтому повторяют в одном месте стека. У нас в оркестраторе галочка «повторить» есть на каждом узле, и соблазн поставить её всюду прямой.</a:t>
            </a:r>
          </a:p>
          <a:p/>
          <a:p>
            <a:r>
              <a:t>Четвёртая — про разброс. Фиксированная задержка означает, что все клиенты повторят синхронно и добьют сервис, который только начал подниматься. Нужен случайный разброс; в простых оркестраторах его обычно нет, и это повод не ставить повтор на горячий путь без размышления.</a:t>
            </a:r>
          </a:p>
          <a:p/>
          <a:p>
            <a:r>
              <a:t>Предел: </a:t>
            </a:r>
            <a:r>
              <a:rPr b="1"/>
              <a:t>отказ, которому некуда идти</a:t>
            </a:r>
            <a:r>
              <a:t>. Он не исчезает, он превращается в отсутствие записи. А отсутствие записи не мониторит никто — ни один сторож не умеет сработать на то, чего нет. Ровно так и получаются двое суток пропуска, с которых мы начали.</a:t>
            </a:r>
          </a:p>
          <a:p/>
          <a:p>
            <a:r>
              <a:t>Третья строка оси. Прогон зелёный, в журнале ни одной ошибки — выглядит успехом, и именно так это выглядело в пятницу вечером. Чем оказалось: три отказа подряд и заявки за выходные неразобранные. Мы это видели вместе: я испортил ключ при вас, и статус прогона остался успешным.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Четвёртый кейс, и он единственный, где мы ничего не будем достраивать. Процесс уже собран, работает и проверен.</a:t>
            </a:r>
          </a:p>
          <a:p/>
          <a:p>
            <a:r>
              <a:t>Здесь мы разберём другое: почему собранное работает не так, как выглядит, — и почему проверка, которой мы пользовались весь последний час, этого не показывает.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четвёртого кейса, и это единственный кейс, где мы ничего не будем достраивать: здесь мы разберём, почему уже собранное работает не так, как выглядит.</a:t>
            </a:r>
          </a:p>
          <a:p/>
          <a:p>
            <a:r>
              <a:t>И здесь у истории есть лицо, та же администратор. Она говорит: тема определяется слишком общо — «курс» стоит там, где речь про конкретную программу, и заявки уходят не тому человеку.</a:t>
            </a:r>
          </a:p>
          <a:p/>
          <a:p>
            <a:r>
              <a:t>Вы поправили формулировку запроса в узле извлечения. В карточке стоит новый текст, никто его не откатывал.</a:t>
            </a:r>
          </a:p>
          <a:p/>
          <a:p>
            <a:r>
              <a:t>Проверили ручным запуском на трёх её заявках, при ней. Все три разобраны правильно, именно так, как она просила. Закрыли и пошли дальше — и, обратите внимание, сделали всё, что обычно считается достаточным, и даже показали человеку результат.</a:t>
            </a:r>
          </a:p>
          <a:p/>
          <a:p>
            <a:r>
              <a:t>На следующий день она открывает таблицу за сутки. Все заявки разобраны по-старому. Ни одной по новой формулировке — и она приходит с этим к вам.</a:t>
            </a:r>
          </a:p>
          <a:p/>
          <a:p>
            <a:r>
              <a:t>Вы открываете холст: правка на месте. Запускаете руками: снова правильно. И объяснить ей это нечем.</a:t>
            </a:r>
          </a:p>
          <a:p/>
          <a:p>
            <a:r>
              <a:t>Вот эти два утверждения и держат кейс: </a:t>
            </a:r>
            <a:r>
              <a:rPr b="1"/>
              <a:t>правка есть и работает</a:t>
            </a:r>
            <a:r>
              <a:t> — и </a:t>
            </a:r>
            <a:r>
              <a:rPr b="1"/>
              <a:t>в бою её нет</a:t>
            </a:r>
            <a:r>
              <a:t>. Оба верны одновременно, и это не чья-то забывчивость и не чья-то ошибка.</a:t>
            </a:r>
          </a:p>
          <a:p/>
          <a:p>
            <a:r>
              <a:t>И самое неприятное в этой сцене: проверка руками показывала правильный результат всё это время, и показывала </a:t>
            </a:r>
            <a:r>
              <a:rPr b="1"/>
              <a:t>честно</a:t>
            </a:r>
            <a:r>
              <a:t>. Она не врала. Она просто проверяла не то, что работало в бою.</a:t>
            </a:r>
          </a:p>
          <a:p/>
          <a:p>
            <a:r>
              <a:t>Я ставлю этот кейс последним намеренно. На первых трёх мы собирали, и всё, что собирали, проверяли ручным запуском — тем самым способом, который здесь оказывается недостаточным. Скажи я про это в начале, вы бы запомнили правило. А сейчас вы сначала увидели цену его незнания.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четвёртый, и голосуем так же: один вариант, довод.</a:t>
            </a:r>
          </a:p>
          <a:p/>
          <a:p>
            <a:r>
              <a:t>Правку не сохранили — забыли нажать кнопку, бывает. Сохранили, но не опубликовали — есть какой-то отдельный шаг, который не сделали. Кэш — где-то лежит старая версия, само пройдёт. Ручной запуск и боевой — разные пути, и правка попала только в один из них.</a:t>
            </a:r>
          </a:p>
          <a:p/>
          <a:p>
            <a:r>
              <a:t>Выбирайте и формулируйте довод. В разборе будет неожиданное — про то, сколько здесь правильных ответов.</a:t>
            </a:r>
          </a:p>
          <a:p/>
          <a:p>
            <a:r>
              <a:t>И тот, кто выберет первую, пусть скажет: а вы вообще видели в этом инструменте кнопку «Сохранить»? Вспомните последний час. Мы тут собрали три процесса, и ни один из нас ни разу ничего не сохранял.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сразу то, что я придержал: </a:t>
            </a:r>
            <a:r>
              <a:rPr b="1"/>
              <a:t>правильных карточек здесь две</a:t>
            </a:r>
            <a:r>
              <a:t> — не потому, что я схитрил с формулировками, а потому что две из четырёх описывают одно явление с разных сторон. Сначала механика, в ней три утверждения, и из неё обе станут видны.</a:t>
            </a:r>
          </a:p>
          <a:p/>
          <a:p>
            <a:r>
              <a:t>Первое: правки сохраняются сами и постоянно, в черновик. Кнопки «Сохранить» в этом инструменте нет вовсе — вы её не искали, потому что она не нужна.</a:t>
            </a:r>
          </a:p>
          <a:p/>
          <a:p>
            <a:r>
              <a:t>Второе: в боевой режим правка уходит отдельным действием, которое называется Publish.</a:t>
            </a:r>
          </a:p>
          <a:p/>
          <a:p>
            <a:r>
              <a:t>Третье, и оно главное: боевые прогоны исполняют опубликованную версию, а не ту, что открыта у вас в редакторе. Это две разные версии сценария, обе существуют одновременно, и обе живые.</a:t>
            </a:r>
          </a:p>
          <a:p/>
          <a:p>
            <a:r>
              <a:t>Теперь понятно, почему верны вторая и четвёртая карточки и почему это одно и то же. Вторая говорит, чего не сделали: не опубликовали. Четвёртая говорит, как это устроено: ручной запуск идёт по черновику, боевой — по опубликованному. Одно явление, два описания.</a:t>
            </a:r>
          </a:p>
          <a:p/>
          <a:p>
            <a:r>
              <a:t>Первая неверна: сохранять нечего. Третья неверна, и это полезная неверность — ждать можно сутки, ничего не изменится, потому что никакого кэша здесь нет. Есть две версии, и одна из них старая по вашему же решению.</a:t>
            </a:r>
          </a:p>
          <a:p/>
          <a:p>
            <a:r>
              <a:t>Отдельно про слово. Раньше в этом инструменте была кнопка «Активировать», и многие курсы и статьи до сих пор говорят «активируй сценарий». В версии 2 этого слова в интерфейсе нет: его место занял Publish, и значит он другое. Активация включала сценарий; публикация выкладывает версию. Если найдёте инструкцию со словом «активировать» — она про старую версию, и дальше в ней могут быть расхождения серьёзнее одного слова.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четвёртого кейса — про то, что проверять настоящим событием, а что хватит проверить руками. Это разделение экономит часы, и его почти никто не делает сознательно.</a:t>
            </a:r>
          </a:p>
          <a:p/>
          <a:p>
            <a:r>
              <a:t>Настоящим событием проверяют обработчик ошибок. Его триггер срабатывает только на автоматическом прогоне: нажмёте «выполнить» — не произойдёт ничего, вообще ничего, и это правильное поведение. На следующем занятии мы это соберём, и я говорю заранее, чтобы там не разбираться полчаса.</a:t>
            </a:r>
          </a:p>
          <a:p/>
          <a:p>
            <a:r>
              <a:t>Так же — расписание. Сработает ли в нужный момент, и, что важнее, что будет, если прогон не успел закончиться до следующего запуска. Руками этого не увидеть.</a:t>
            </a:r>
          </a:p>
          <a:p/>
          <a:p>
            <a:r>
              <a:t>Так же — реакция на вызов чужой системы: тот ли адрес, та ли авторизация, тот ли формат. И поведение на объёме: тут неожиданно наоборот, ручной прогон </a:t>
            </a:r>
            <a:r>
              <a:rPr b="1"/>
              <a:t>тяжелее</a:t>
            </a:r>
            <a:r>
              <a:t> боевого, потому что инструмент копирует все промежуточные данные, чтобы показать их вам. На больших объёмах ручной падает там, где боевой проходит. То есть «проверил руками — упало» тоже не всегда правда о бое.</a:t>
            </a:r>
          </a:p>
          <a:p/>
          <a:p>
            <a:r>
              <a:t>Руками хватает проверять логику шагов на обычных данных, форму и её поля, выражения и преобразования — всё, что видно прямо в данных узла.</a:t>
            </a:r>
          </a:p>
          <a:p/>
          <a:p>
            <a:r>
              <a:t>Предел этого кейса — единственный пункт занятия про безопасность, и он нужен вам прямо сегодня, потому что файл вы унесёте. Вместе с файлом сценария уезжает больше, чем кажется. Секретов в нём нет: пароли и ключи инструмент хранит отдельно, в файл они не попадают. А вот идентификаторы и имена подключений, адреса, пути, имена таблиц и внутренних сервисов — попадают. Я это обнаружил на нашем же файле: студенческий пришлось собирать отдельно, со снятыми привязками, иначе он утащил бы ссылки на мой стенд.</a:t>
            </a:r>
          </a:p>
          <a:p/>
          <a:p>
            <a:r>
              <a:t>Правило простое, и выполняйте его механически, без размышлений: прежде чем отдать файл сценария кому-то — откройте его и прочитайте глазами. Тридцать секунд. Паролей там нет, а лишнее бывает, и чаще всего это лишнее про вашу инфраструктуру.</a:t>
            </a:r>
          </a:p>
          <a:p/>
          <a:p>
            <a:r>
              <a:t>Четвёртая строка оси. Правка на холсте есть, никто её не откатывал — выглядит успехом, и выглядит настолько убедительно, что проверять не хочется. Чем оказалось: сутки работы по старой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таблице, с которой начинали. Правая колонка больше не пустая, и заполняли её не мои слова, а экран.</a:t>
            </a:r>
          </a:p>
          <a:p/>
          <a:p>
            <a:r>
              <a:t>Три узла — заявка доезжает до таблицы. Чем оказалось: тема будет какой угодно, срочности не будет вовсе. Мы это видели в первом кейсе до того, как поставили справочник.</a:t>
            </a:r>
          </a:p>
          <a:p/>
          <a:p>
            <a:r>
              <a:t>Клетка заполнена, значение законное. Чем оказалось: вторая тема заявки исчезла молча. Мы отправили заявку про перенос и оплату и увидели на экране одну тему.</a:t>
            </a:r>
          </a:p>
          <a:p/>
          <a:p>
            <a:r>
              <a:t>Прогон зелёный, ни одной ошибки в журнале. Чем оказалось: три отказа подряд и заявки за выходные неразобранные. Я при вас испортил ключ и мы вместе смотрели, как статус прогона остался успешным.</a:t>
            </a:r>
          </a:p>
          <a:p/>
          <a:p>
            <a:r>
              <a:t>Правка на холсте есть, никто её не откатывал. Чем оказалось: сутки работы по старой версии, потому что опубликовать — отдельное действие.</a:t>
            </a:r>
          </a:p>
          <a:p/>
          <a:p>
            <a:r>
              <a:t>Теперь главный вопрос, тот же, что я задавал в начале, и теперь он не риторический. </a:t>
            </a:r>
            <a:r>
              <a:rPr b="1"/>
              <a:t>Возьмите процесс, который у вас на работе уже работает. Он работает — или за него можно ручаться?</a:t>
            </a:r>
          </a:p>
          <a:p/>
          <a:p>
            <a:r>
              <a:t>Проверить это можно четырьмя способами, которые вы теперь знаете, и ни один не требует верить мне на слово. Первый: посмотрите, может ли результат шага оказаться значением вне списка. Второй: посмотрите, что происходит с тем, что в список не влезло. Третий: посмотрите, чем отличается «прогон завершился» от «результат годен», и что у вас проверяет второе. Четвёртый: посмотрите, что сейчас работает в бою и совпадает ли это с тем, что открыто у вас в редакторе.</a:t>
            </a:r>
          </a:p>
          <a:p/>
          <a:p>
            <a:r>
              <a:t>Если вы зададите эти четыре вопроса своему процессу на этой неделе — занятие удалось, даже если имена блоков вы забудете к пятнице.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Соберём, что получилось за полтора часа.</a:t>
            </a:r>
          </a:p>
          <a:p/>
          <a:p>
            <a:r>
              <a:t>Форма принимает заявку и сама объясняет человеку, что с его текстом произойдёт. Узел извлечения достаёт тему, срочность, контакт из текста и пометку о других темах — всё по схеме с перечислением. Справочник сверяет и не оставляет ни пустых клеток, ни значений вне списка. Строка уходит в таблицу. Экран результата печатает всю дорогу в том же окне. А на узле извлечения стоят повтор и вторая ветка, так что отказ вызова тоже доезжает — с пометкой, а не в тишину.</a:t>
            </a:r>
          </a:p>
          <a:p/>
          <a:p>
            <a:r>
              <a:t>Это не учебная заготовка. Такой процесс можно поставить в небольшом центре, и он будет приносить пользу, пока поток не вырастет. За каждую строку в этой таблице можно отвечать — ровно это мы и обсуждали в первом кейсе.</a:t>
            </a:r>
          </a:p>
          <a:p/>
          <a:p>
            <a:r>
              <a:t>Файл называется так, как на экране. Ставится одним импортом через меню сценария. Что нужно с вашей стороны: свой n8n и ключ провайдера модели. Инструкция по подъёму идёт вместе с файлом, там оба способа — с контейнером и без.</a:t>
            </a:r>
          </a:p>
          <a:p/>
          <a:p>
            <a:r>
              <a:t>Два узла в файле придётся настроить самим, и это сделано намеренно: в узле модели пустые учётные данные, в узле таблицы — пустой выбор таблицы. Мой стенд вам недоступен, и чужой идентификатор в этих полях выглядел бы сломанным узлом — десять минут недоумения на ровном месте.</a:t>
            </a:r>
          </a:p>
          <a:p/>
          <a:p>
            <a:r>
              <a:t>Задание на дом не письменное, и его никто не проверяет. Просьба такая: поставьте, отправьте три заявки, похожие на вашу настоящую работу, и посмотрите на экран результата. Где развалится первым? Оно развалится, у меня на этот счёт иллюзий нет.</a:t>
            </a:r>
          </a:p>
          <a:p/>
          <a:p>
            <a:r>
              <a:t>С этого мы и начнём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Чем мы заканчиваем и чего нам не хватает.</a:t>
            </a:r>
          </a:p>
          <a:p/>
          <a:p>
            <a:r>
              <a:t>Сейчас у нас одна дорога. Любая заявка идёт через один и тот же шаг и попадает в одну и ту же таблицу. Пока заявки однотипные — этого достаточно, мы только что это и обсуждали.</a:t>
            </a:r>
          </a:p>
          <a:p/>
          <a:p>
            <a:r>
              <a:t>Но тема у нас уже выделена отдельным полем. И как только она выделена, сразу видно, что заявка про оплату и заявка про перенос занятия должны ехать дальше по-разному: одна бухгалтеру, другая в расписание. Одной дорогой это не делается.</a:t>
            </a:r>
          </a:p>
          <a:p/>
          <a:p>
            <a:r>
              <a:t>Следующее занятие про развилку. Как она устроена, по какому полю разводит, и главный вопрос, который на ней обычно забывают: что делать с тем, что не подошло ни под одну ветку. Мы такую заявку уже видели: «а вы сотрудничаете с юрлицами?» дала законное «другое», и это была победа списка. А на развилке её придётся куда-то отправить — и «другое» само по себе не говорит, в какую ветку. У инструмента на этот случай есть ответ по умолчанию, и он вам не понравится.</a:t>
            </a:r>
          </a:p>
          <a:p/>
          <a:p>
            <a:r>
              <a:t>Там же будет проверка результата шага до того, как он уехал дальше: сегодня мы ловили отказ вызова, а это другое — вызов прошёл, а результат негодный.</a:t>
            </a:r>
          </a:p>
          <a:p/>
          <a:p>
            <a:r>
              <a:t>И одна вещь, которую я скажу заранее, чтобы вы заранее не поверили в обратное. Ветки, которые на холсте выглядят параллельными, выполняются по очереди, одна за другой, в порядке их положения на экране. Разберём почему.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515600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456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Первый работающий процесс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098798"/>
            <a:ext cx="10515600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24"/>
              </a:lnSpc>
              <a:spcAft>
                <a:spcPts val="400"/>
              </a:spcAft>
            </a:pPr>
            <a:r>
              <a:rPr sz="1800" b="0" i="0">
                <a:solidFill>
                  <a:srgbClr val="D6E2EC"/>
                </a:solidFill>
                <a:latin typeface="Arial"/>
              </a:rPr>
              <a:t>Процессы на больших языковых моделях (LLM): занятие первое из шести.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 Лекции 3: лестница и пять паттернов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89329"/>
            <a:ext cx="82296" cy="1021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17345"/>
            <a:ext cx="10643616" cy="765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обычный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код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один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вызов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RAG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workflow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← сегодня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агент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мульти-агент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лестницы из лекции: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поднимайся без требования, которого ступень ниже не закрывает.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39936"/>
            <a:ext cx="11183112" cy="3468750"/>
          </a:xfrm>
          <a:prstGeom prst="roundRect">
            <a:avLst>
              <a:gd name="adj" fmla="val 8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22816"/>
            <a:ext cx="1296657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ПАТТЕРН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8761" y="2822816"/>
            <a:ext cx="5652454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7519" y="2822816"/>
            <a:ext cx="342932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ПРИМЕР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77222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цепочка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8761" y="3277222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шаги друг за другом, выход одного — вход следующего; между ними можно поставить проверку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519" y="3277222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разобрать заявку → проверить → записать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80693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806939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маршрут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28761" y="3806939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первый шаг относит вход к классу, дальше свой путь на каждый класс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7519" y="3806939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жалоба → в поддержку, счёт → в бухгалтерию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366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36656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параллель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8761" y="4336656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независимые подзадачи сразу, результат сводится детерминированно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519" y="4336656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проверки документа одновременно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8663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866373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дирижёр и исполнители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8761" y="4866373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центральный шаг делит задачу на части в заданных рамках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519" y="4866373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разбить длинный текст и раздать по частям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3960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396090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эталон и переделка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8761" y="5396090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один шаг делает, другой оценивает, цикл до порога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7519" y="5396090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черновик → оценка → правка → снова оценка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 Лекции 3: почему не сразу агенты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0198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13078"/>
            <a:ext cx="233310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СЧИТАЕМ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65207" y="1513078"/>
            <a:ext cx="28463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ЧИСЛО ИЗ ЛЕКЦИИ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57817" y="1513078"/>
            <a:ext cx="51990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 ЭТОГО СЛЕДУЕТ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95145"/>
            <a:ext cx="233310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десять шагов по 95% каждый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5207" y="1795145"/>
            <a:ext cx="28463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≈ 60%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общей надёжности (0,95¹⁰)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7817" y="1795145"/>
            <a:ext cx="519903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интуиция «каждый шаг почти всегда работает, значит и цепочка почти всегда» — ложна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324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324862"/>
            <a:ext cx="233310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десять шагов по 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5207" y="2324862"/>
            <a:ext cx="284630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≈ 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7817" y="2324862"/>
            <a:ext cx="51990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цепочки держат короткими, между шагами ставят проверки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720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672016"/>
            <a:ext cx="233310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расход токенов против обычного чата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5207" y="2672016"/>
            <a:ext cx="28463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одиночный агент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≈ 4×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мульти-агент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≈ 15×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7817" y="2672016"/>
            <a:ext cx="519903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мульти-агент покупает качество, сжигая токены, а не «умной координацией»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0173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01733"/>
            <a:ext cx="23331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топология при том же числе агентов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5207" y="3201733"/>
            <a:ext cx="28463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«рой» равноправных усиливает ошибки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17,2×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один координатор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4,4×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7817" y="3201733"/>
            <a:ext cx="519903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централизованная оркестрация надёжнее роя, а не наоборот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6440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89242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из лекции: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начинай с одного сильного.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Многим задачам хватает одиночных вызовов плюс поиск по документам; команды месяцами строили мульти-агентные схемы и затем обнаруживали, что улучшенный запрос к одному даёт то же.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класса инструментов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65402"/>
            <a:ext cx="11183112" cy="2602102"/>
          </a:xfrm>
          <a:prstGeom prst="roundRect">
            <a:avLst>
              <a:gd name="adj" fmla="val 1171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48282"/>
            <a:ext cx="15373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КЛАСС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69445" y="1548282"/>
            <a:ext cx="41490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ДЛЯ ЧЕГО БЕРУТ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4755" y="1548282"/>
            <a:ext cx="282633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КТО МОЖЕТ ЗАПУСТИТЬ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7395" y="1548282"/>
            <a:ext cx="17194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КТО В КЛАССЕ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30349"/>
            <a:ext cx="15373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Конвейеры между системами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9445" y="1830349"/>
            <a:ext cx="41490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«возьми оттуда, преобразуй, положи сюда, уведоми» — почта, таблицы, CRM, мессенджеры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4755" y="1830349"/>
            <a:ext cx="282633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расписание · событие в чужой системе · человек через форму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7395" y="1830349"/>
            <a:ext cx="17194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n8n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Activepieces · Make · Zapier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426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42628"/>
            <a:ext cx="15373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Платформы для агентов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69445" y="2542628"/>
            <a:ext cx="41490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«дай агенту инструменты и проверки и поручи задачу»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4755" y="2542628"/>
            <a:ext cx="282633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плюс диалог с агентом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7395" y="2542628"/>
            <a:ext cx="17194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sim · Agent Builder у крупных поставщиков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549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54908"/>
            <a:ext cx="153734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Конструкторы LLM-приложений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9445" y="3254908"/>
            <a:ext cx="41490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«собери чат по своим документам» — цепочка, поиск, память диалога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4755" y="3254908"/>
            <a:ext cx="28263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только снаружи: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вызов или чат. Расписания нет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7395" y="3254908"/>
            <a:ext cx="17194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LangFlow · Dify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35017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763033"/>
            <a:ext cx="10634472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Два вопроса, которые решают выбор.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Первый: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кто запускает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— человек, расписание или чужая система? Если расписание, третий класс отпадает сразу. Второй: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что у вас шаг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— шаг рабочего процесса, задача агента или вызов модели внутри приложения?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n8n: зачем он здесь и как устроен</a:t>
            </a:r>
          </a:p>
        </p:txBody>
      </p:sp>
      <p:pic>
        <p:nvPicPr>
          <p:cNvPr id="3" name="Picture 2" descr="n8n-holst-st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664" y="943356"/>
            <a:ext cx="8863623" cy="283492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942872"/>
            <a:ext cx="11183112" cy="1586674"/>
          </a:xfrm>
          <a:prstGeom prst="roundRect">
            <a:avLst>
              <a:gd name="adj" fmla="val 1920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125752"/>
            <a:ext cx="375640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КАК УСТРОЕН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88509" y="4125752"/>
            <a:ext cx="676833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ЭТО ЗНАЧИТ НА ПРАКТИКЕ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92833"/>
            <a:ext cx="3756405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учётные данные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живут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отдельно от сценария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88509" y="4392833"/>
            <a:ext cx="6768338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 файле сценария ключей нет — его можно отдать коллеге; один ключ на все процессы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47107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710777"/>
            <a:ext cx="3756405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более 400 интеграций из коробки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8509" y="4710777"/>
            <a:ext cx="6768338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«взять из Таблиц и положить в Телеграм» — два узла, а не два дня с чужими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0287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28722"/>
            <a:ext cx="3756405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форма и чат встроены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8509" y="5028722"/>
            <a:ext cx="6768338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рабочий вход для людей без фронтенда и хостинга — мы им сегодня и пользуемся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694138"/>
            <a:ext cx="82296" cy="44754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5822154"/>
            <a:ext cx="10643616" cy="191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Почему он: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ставится локально и бесплатно · запуск по расписанию и по событию · процесс выгружается одним файлом, и его вы унесёте.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Работает — и можно ручаться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9683"/>
            <a:ext cx="82296" cy="1021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97699"/>
            <a:ext cx="10643616" cy="765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Процесс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работает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если он доезжает до конца и не падает.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 процесс можно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ручаться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если вы знаете, что в нём будет в каждой строке — и что будет, когда он сломается.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21172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04052"/>
            <a:ext cx="66254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ВЫГЛЯДИТ РАБОЧИМ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7567" y="2404052"/>
            <a:ext cx="38992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ОКАЗАЛСЯ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86119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узла, заявка доезжает до таблицы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75855" y="2759271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85800" y="30332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033274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клетка заполнена, значение законное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75855" y="3106426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85800" y="33804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380428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зелёный, в журнале ни одной ошибки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75855" y="3453580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85800" y="37275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727583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правка на холсте есть, никто её не откатывал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5855" y="3800735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" y="448802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61604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Четыре строки. Левая колонка — то, что вы увидите своими глазами и сочтёте успехом. Правую мы заполним сами, по одной за кейс, и вернёмся к этой таблице в конце.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46519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593213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Вопрос занятия, и к нему мы вернёмся в конце: возьмите процесс, который у вас на работе уже работает — он работает или за него можно ручаться?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626106"/>
            <a:ext cx="9692640" cy="899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«Их всё равно потом руками в таблицу перекладывают»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70814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«Форма-то есть. Их всё равно потом руками в таблицу перекладывают.»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Двадцать заявок в день, сорок минут руками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78636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1516"/>
            <a:ext cx="49638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ПРОИСХОДИТ СЕЙЧАС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5955" y="1461516"/>
            <a:ext cx="55608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ВО ЧТО ОБХОДИТСЯ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43583"/>
            <a:ext cx="49638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человек оставляет на сайте имя, контакт и свободный текст: «хочу на курс по аналитике», «можно перенести занятие», «выставьте счёт на организацию»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5955" y="1743583"/>
            <a:ext cx="55608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форма складывает всё это письмами, и дальше с ними никто ничего не делает автоматически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455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55862"/>
            <a:ext cx="49638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администратор открывает каждое письмо, читает, понимает, о чём оно, и переносит в таблицу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95955" y="2455862"/>
            <a:ext cx="55608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двадцать заявок в день, около сорока минут.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Работа такая, что к концу её делают механически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9855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985579"/>
            <a:ext cx="49638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таблице она ставит два столбца руками: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тема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срочность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95955" y="2985579"/>
            <a:ext cx="55608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этим двум столбцам потом сортируют, считают и раскладывают заявки по людям — то есть ошибка в них стоит не минуты, а потерянной заявки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978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97859"/>
            <a:ext cx="49638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пятницу вечером заявок больше, а времени меньше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5955" y="3697859"/>
            <a:ext cx="55608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именно тогда и появляется «потом разберу», и именно тогда что-то теряется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07796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20598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Что должно получиться: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заявка попадает в таблицу сама, и тема со срочностью заполнены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всегда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значениями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из закрытого списка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а не любыми подходящими словами.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 скольких узлов?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8648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283512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5808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Напомню требование: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тема и срочность заполнены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всегда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и всегда значениями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из закрытого списка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2791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00807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Из скольких узлов соберётся процесс, который решает эту задачу полностью?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863263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046143"/>
            <a:ext cx="13982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0401" y="4046143"/>
            <a:ext cx="912644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ДОВОД ЗА ЭТОТ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328210"/>
            <a:ext cx="139829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0401" y="4328210"/>
            <a:ext cx="912644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форма уже есть, таблица уже есть — осталось их соединить, и всё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67536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675365"/>
            <a:ext cx="139829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три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0401" y="4675365"/>
            <a:ext cx="912644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между ними нужен один шаг модели: он и прочитает заявку, и назовёт тему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022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022519"/>
            <a:ext cx="139829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шесть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0401" y="5022519"/>
            <a:ext cx="912644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если решением считать то, за что можно отвечать перед человеком, который этот столбец читает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53696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5369674"/>
            <a:ext cx="139829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зависит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30401" y="5369674"/>
            <a:ext cx="912644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смотря что считать решением задачи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Чего не хватает трём узлам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4148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67028"/>
            <a:ext cx="69796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0072" y="1367028"/>
            <a:ext cx="33533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ОН ДАЁТ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688" y="1367028"/>
            <a:ext cx="63271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ПЛАТИТ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9095"/>
            <a:ext cx="6979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0072" y="1649095"/>
            <a:ext cx="33533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мгновенно и бесплатно, нечему ломаться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688" y="1649095"/>
            <a:ext cx="63271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 не решена: человек по-прежнему читает каждую заявку и ставит пометку руками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78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78812"/>
            <a:ext cx="6979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три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0072" y="2178812"/>
            <a:ext cx="335331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заявка доезжает до таблицы сама, в столбце что-то появляется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688" y="2178812"/>
            <a:ext cx="63271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будет какой угодно — «запись», «обучение», «Аналитика.» с точкой; срочности не будет вовсе, если её не попросить; результат видно только в таблице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9109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91091"/>
            <a:ext cx="6979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шесть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0072" y="2891091"/>
            <a:ext cx="335331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значения из списка, заполнены всегда, результат виден там же, где отправили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688" y="2891091"/>
            <a:ext cx="63271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два узла выглядят лишними, пока не спросишь, кто отвечает за содержимое столбца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60337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603370"/>
            <a:ext cx="6979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зависит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0072" y="3603370"/>
            <a:ext cx="33533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верно по сути: ответ правда зависит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688" y="3603370"/>
            <a:ext cx="63271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 того, считаем ли мы решением то, что заработало, или то, за что можно поручиться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98347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11149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Трём узлам не хватает двух вещей.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Сверки со списком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иначе в клетке окажется любое правдоподобное слово, и ни одна проверка этого не заметит. 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места, где результат видно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иначе каждая проверка стоит двух переключений: журнал прогонов и таблица.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Шесть узлов на холсте</a:t>
            </a:r>
          </a:p>
        </p:txBody>
      </p:sp>
      <p:pic>
        <p:nvPicPr>
          <p:cNvPr id="3" name="Picture 2" descr="k1-shema-shest-uzl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38" y="943356"/>
            <a:ext cx="10224474" cy="255611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64066"/>
            <a:ext cx="11183112" cy="2643124"/>
          </a:xfrm>
          <a:prstGeom prst="roundRect">
            <a:avLst>
              <a:gd name="adj" fmla="val 1153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846946"/>
            <a:ext cx="252242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ИМЯ НА ХОЛСТЕ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54525" y="3846946"/>
            <a:ext cx="80023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ЗАЧЕМ ОН ЗДЕСЬ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29013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Request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4525" y="4129013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процесса: имя, контакт и свободный текст, все поля обязательные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44615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461563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Extract fields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4525" y="4461563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достаёт из текста значения вместо пересказа, по схеме с перечислением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7941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794112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Model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(подключён снизу)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4525" y="4794112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второй узел шага модели.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Повтор и расход считаются здесь — в кейсе 3 это окажется важным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1266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126662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Vocabulary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4525" y="5126662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последняя инстанция списка: пустое и чужое становится «другое» / «не указано»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54592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5459211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Write row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4525" y="5459211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берёт значения у предыдущего узла, не у модели — поэтому пустых тем не бывает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57917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5791761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Result screen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4525" y="5791761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показывает всю дорогу там же, где отправили заявку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настраиваем в двух несущих узлах</a:t>
            </a:r>
          </a:p>
        </p:txBody>
      </p:sp>
      <p:pic>
        <p:nvPicPr>
          <p:cNvPr id="3" name="Picture 2" descr="n8n-kartochka-izvlechen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531" y="943356"/>
            <a:ext cx="8111888" cy="291397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021927"/>
            <a:ext cx="82296" cy="78496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149943"/>
            <a:ext cx="10643616" cy="5289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Extract fields — схема задана вручную:</a:t>
            </a:r>
          </a:p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Consolas"/>
              </a:rPr>
              <a:t>"topic":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{"enum":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["курс",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"перенос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занятия",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"оплата",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"другое"]}</a:t>
            </a:r>
          </a:p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Consolas"/>
              </a:rPr>
              <a:t>"urgency":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{"enum":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["сегодня",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"на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неделе",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"не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указано"]}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оба поля обязательны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971486"/>
            <a:ext cx="82296" cy="581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099502"/>
            <a:ext cx="10643616" cy="325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Vocabulary check — обычный узел «задать поля»:</a:t>
            </a:r>
          </a:p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Consolas"/>
              </a:rPr>
              <a:t>{{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$json.topic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||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'другое'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}}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возьми тему, а если её нет, поставь «другое». То же для срочности.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17745"/>
            <a:ext cx="11183112" cy="609902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5845761"/>
            <a:ext cx="10634472" cy="3538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281"/>
              </a:lnSpc>
              <a:spcAft>
                <a:spcPts val="30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Предскажите до прогона.</a:t>
            </a:r>
            <a:r>
              <a:rPr sz="1050" b="1" i="0">
                <a:solidFill>
                  <a:srgbClr val="141B2E"/>
                </a:solidFill>
                <a:latin typeface="Arial"/>
              </a:rPr>
              <a:t> «Хочу на курс по аналитике, перезвоните сегодня после шести, телефон в конце». Что напечатает экран в строке «что предложила модель»?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закрытый список нужен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Предел, после которого список перестаёт работать: в нём нет «иначе».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Список без значения «другое» и «не указано» не отказывает — он заставляет модель выбрать ближайшее. Вы получите законное значение на заявке, которой в вашем списке не место, и не узнаете об этом никогда.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5146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47948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Первая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Три узла заявку довозят. Тема при этом будет какой угодно, срочности не будет вовсе — ручаться нечем. Разница между «работает» и «можно ручаться» здесь ровно в двух узлах: тот, что сверяет со списком, и тот, что показывает результат.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ЗАКРЫТЫЙ СПИСОК **НУЖЕН**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результат шага читает следующий шаг: по нему фильтруют, сортируют, считают или маршрутизируют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 полю будет отчёт: «сколько заявок про оплату за месяц»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8788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87880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 результат надо отвечать: он уходит в начисление, рассылку, обязательство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36978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369788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поток растёт и типов входа становится больше одного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ЗАКРЫТЫЙ СПИСОК **НЕ НУЖЕН**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результат читает человек и он же решает, что с ним делать — свободный текст ему помогает, а не мешает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поле нужно один раз, для одного письма, и больше его никто не откроет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ошибку заметит тот же человек в тот же день, и исправит её руками за минуту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двадцать обращений в неделю, пять минут в день, и так будет дальше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Словарь: девять типов блоков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481006"/>
          </a:xfrm>
          <a:prstGeom prst="roundRect">
            <a:avLst>
              <a:gd name="adj" fmla="val 87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98804"/>
            <a:ext cx="1250680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ТИП БЛОКА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5352" y="1098804"/>
            <a:ext cx="380124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2903" y="1098804"/>
            <a:ext cx="538137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 N8N ЭТО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65885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триггер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5352" y="1365885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запускает процесс: событие, расписание, вызов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02903" y="1365885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Form Trigger · Webhook · Schedule Trigger · Manual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164020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1640205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действие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5352" y="1640205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что-то делает во внешнем мире или с данными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2903" y="1640205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HTTP Request · Data Table · отправка письма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191452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1914525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преобразование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5352" y="1914525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меняет форму данных, не трогая смысл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2903" y="1914525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Edit Fields (Set) · Code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218884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2188845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условие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5352" y="2188845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выбирает один путь из двух или из многих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02903" y="2188845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If · Switch · Filter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246316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2463164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цикл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5352" y="2463164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повторяет шаги по элементам списка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02903" y="2463164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Loop Over Items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273748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2737484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слияние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5352" y="2737484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сводит разошедшиеся ветки обратно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2903" y="2737484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Merge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301180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3011804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подпроцесс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5352" y="3011804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вызывает другой процесс как шаг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2903" y="3011804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Execute Sub-workflow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58368" y="328612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58368" y="3286124"/>
            <a:ext cx="1250680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обработчик сбоя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5352" y="3286124"/>
            <a:ext cx="3801246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ловит отказ и решает, что делать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02903" y="3286124"/>
            <a:ext cx="5381376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настройки узла · Error Trigger · Stop and Error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8368" y="370484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368" y="3704843"/>
            <a:ext cx="1250680" cy="564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шаг модели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55352" y="3704843"/>
            <a:ext cx="3801246" cy="564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принимает решение на неструктурированном входе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02903" y="3704843"/>
            <a:ext cx="5381376" cy="564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Basic LLM Chain · Information Extractor · Text Classifier · AI Agent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 к каждому подключается отдельный узел модели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как вы только что видели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588954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9536" y="4716970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Четыре строки вы уже закрыли своими руками: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триггер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(форма),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действие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(запись и показ),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преобразование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(сверка со списком),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шаг модели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(извлечение и подключённая модель).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Обработчик сбоя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закроем через два кейса, сегодня же.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421566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" y="5549582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Остальные четыре — расписание дуги: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условие и слияние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на следующем занятии,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цикл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подпроцесс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— через два. К этой таблице мы будем возвращаться каждое занятие, и каждый раз в ней будет закрашено больше.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данные ходят в n8n</a:t>
            </a:r>
          </a:p>
        </p:txBody>
      </p:sp>
      <p:pic>
        <p:nvPicPr>
          <p:cNvPr id="3" name="Picture 2" descr="teoriya-dannye-spis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261" y="943356"/>
            <a:ext cx="9120428" cy="22801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388055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516071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В n8n между узлами всегда идёт </a:t>
            </a:r>
            <a:r>
              <a:rPr sz="1400" b="1" i="0">
                <a:solidFill>
                  <a:srgbClr val="141B2E"/>
                </a:solidFill>
                <a:latin typeface="Arial"/>
              </a:rPr>
              <a:t>список элементов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— даже когда элемент один. Каждый элемент — объект с обязательной обёрткой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json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(и отдельной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binary</a:t>
            </a:r>
            <a:r>
              <a:rPr sz="1400" b="1" i="0">
                <a:solidFill>
                  <a:srgbClr val="141B2E"/>
                </a:solidFill>
                <a:latin typeface="Arial"/>
              </a:rPr>
              <a:t>, если это файл), поэтому в выражениях везде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$json.поле</a:t>
            </a:r>
            <a:r>
              <a:rPr sz="14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6791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39592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Узел выполняется по разу на каждый элемент списка.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887925"/>
            <a:ext cx="11183112" cy="1312926"/>
          </a:xfrm>
          <a:prstGeom prst="roundRect">
            <a:avLst>
              <a:gd name="adj" fmla="val 2321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070805"/>
            <a:ext cx="23888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ВЫ УВИДИТЕ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0952" y="5070805"/>
            <a:ext cx="81358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352872"/>
            <a:ext cx="2388848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«узел отработал 5 раз»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0952" y="5352872"/>
            <a:ext cx="8135895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пришло пять элементов — перебор встроенный, и отдельный блок цикла нужен реже, чем кажется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6854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685421"/>
            <a:ext cx="2388848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пять писем вместо одного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20952" y="5685421"/>
            <a:ext cx="8135895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узел отправки сработал на каждом элементе и ни у кого не спросил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3067050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«В заявке две темы, а в таблице одна»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Вторник: половина заявки обслужена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70736"/>
            <a:ext cx="11183112" cy="2401570"/>
          </a:xfrm>
          <a:prstGeom prst="roundRect">
            <a:avLst>
              <a:gd name="adj" fmla="val 1269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53616"/>
            <a:ext cx="495672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СДЕЛАЛ ПРОЦЕСС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88828" y="1753616"/>
            <a:ext cx="55680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ЭТО КОНЧИЛОСЬ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35683"/>
            <a:ext cx="49567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пришла заявка: «можно перенести занятие со вторника? И подскажите, как оплатить»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88828" y="2035683"/>
            <a:ext cx="55680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таблице строка, тема «перенос занятия», срочность «не указано» — всё заполнено, всё из списка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5654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565400"/>
            <a:ext cx="49567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администратор увидела тему «перенос занятия», перенесла занятие и закрыла заявку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88828" y="2565400"/>
            <a:ext cx="55680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 оплату не узнал никто.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Ни в таблице, ни в журнале, ни на экране результата про неё нет ни слова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0951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095117"/>
            <a:ext cx="495672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человек прождал ответа про счёт три дня и позвонил сам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828" y="3095117"/>
            <a:ext cx="55680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спросил, почему на половину вопроса не ответили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422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42271"/>
            <a:ext cx="495672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журнале прогон за эту заявку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зелёный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828" y="3442271"/>
            <a:ext cx="55680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никакой сторож не сработает: формально всё в порядке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63981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76783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не ошибка процесса. Это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граница того, за что мы ручались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мы ручались, что клетка не пуста и значение из списка. Что в клетке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всё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что было в заявке, — мы не обещали.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писать в тему, если их две?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6438"/>
            <a:ext cx="11183112" cy="7170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581302"/>
            <a:ext cx="64008" cy="6073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663598"/>
            <a:ext cx="10643616" cy="4427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заявке: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перенос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занятия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оплата</a:t>
            </a:r>
          </a:p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таблице: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одна клетка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тема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1099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03900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должно попасть в тему?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8A6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8A6200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5274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5002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«другое»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7356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строки из одной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9982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710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главную + пометку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Кто разбирает остаток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43761"/>
            <a:ext cx="11183112" cy="2219007"/>
          </a:xfrm>
          <a:prstGeom prst="roundRect">
            <a:avLst>
              <a:gd name="adj" fmla="val 1373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6641"/>
            <a:ext cx="24380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70126" y="1826641"/>
            <a:ext cx="26518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ОСТАТОК РАЗБИРАЕТ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68319" y="1826641"/>
            <a:ext cx="528852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ПЛАТИТ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8708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0126" y="2108708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никто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8319" y="2108708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тема исчезает молча — то, что мы только что видели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55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55862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«другое»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0126" y="2455862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человек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и он об этом знает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68319" y="2455862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«другое» сваливается и многотемье, и настоящая экзотика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030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03017"/>
            <a:ext cx="243802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две строки из одной заявки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0126" y="2803017"/>
            <a:ext cx="26518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следующий шаг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без человека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8319" y="2803017"/>
            <a:ext cx="52885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заявка — две судьбы: кому звонить и кто закрывает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3327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332734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главная + пометка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0126" y="3332734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тот, кто читает пометку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8319" y="3332734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пометку надо куда-то положить и кому-то читать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5302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6582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Разница между первым и вторым ответом — не точность, а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знание о своём незнании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Первый уверен и неправ; второй не знает и говорит об этом.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Трудные заявки</a:t>
            </a:r>
          </a:p>
        </p:txBody>
      </p:sp>
      <p:pic>
        <p:nvPicPr>
          <p:cNvPr id="3" name="Picture 2" descr="n8n-kartochka-sver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8" y="943356"/>
            <a:ext cx="8928255" cy="28605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968456"/>
            <a:ext cx="11183112" cy="1335151"/>
          </a:xfrm>
          <a:prstGeom prst="roundRect">
            <a:avLst>
              <a:gd name="adj" fmla="val 2282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4096472"/>
            <a:ext cx="42669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ЗАЯВКА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44176" y="4096472"/>
            <a:ext cx="27435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ТЕМА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4061" y="4096472"/>
            <a:ext cx="34776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ЕЩЁ В ЗАЯВКЕ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4378539"/>
            <a:ext cx="426693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перенести занятие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как оплатить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4176" y="4378539"/>
            <a:ext cx="2743581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перенос занятия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4061" y="4378539"/>
            <a:ext cx="3477650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оплата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4644223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4644223"/>
            <a:ext cx="426693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оплатить, перенести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 скидки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4176" y="4644223"/>
            <a:ext cx="2743581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оплата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4061" y="4644223"/>
            <a:ext cx="3477650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перенос занятия ·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936" y="4909907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936" y="4909907"/>
            <a:ext cx="426693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«ок»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4176" y="4909907"/>
            <a:ext cx="2743581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4061" y="4909907"/>
            <a:ext cx="3477650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46819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596215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91"/>
              </a:lnSpc>
              <a:spcAft>
                <a:spcPts val="300"/>
              </a:spcAft>
            </a:pPr>
            <a:r>
              <a:rPr sz="1550" b="1" i="0">
                <a:solidFill>
                  <a:srgbClr val="141B2E"/>
                </a:solidFill>
                <a:latin typeface="Arial"/>
              </a:rPr>
              <a:t>Предскажите до прогона.</a:t>
            </a:r>
            <a:r>
              <a:rPr sz="1550" b="1" i="0">
                <a:solidFill>
                  <a:srgbClr val="141B2E"/>
                </a:solidFill>
                <a:latin typeface="Arial"/>
              </a:rPr>
              <a:t> Заявка: «хочу оплатить, перенести занятие и узнать про скидки для сотрудников». Три темы, и одной из них в списке нет. Что встанет в «тему», а что в «ещё в заявке»?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нужно законное «не знаю»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Предел: очередь без владельца.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«Другое» работает ровно до тех пор, пока есть человек, который в неё смотрит, и метрика, по которой видно её рост. Очередь, в которую никто не заглядывает, ничем не отличается от молча потерянной заявки — только в ней есть запись, которую тоже никто не читает.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5146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47948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Клетка заполнена, значение законное — и это выглядит успехом. Чем оказалось: вторая тема заявки исчезла молча, и ни один сторож этого не заметил, потому что формально всё в порядке.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ЗАКОННЫЙ ОТКАЗ **НУЖЕН**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приходит снаружи, и вы не можете запретить людям писать то, чего в списке нет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одна запись может относиться к нескольким категориям сразу, и вы это уже видели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есть человек, который разберёт отложенное, и ему это поручено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54212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неверного ответа выше цены задержки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ЗАКОННЫЙ ОТКАЗ **НЕ НУЖЕН**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вы формируете сами: выпадающий список в форме, фиксированный набор событий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категории заведомо исключают друг друга — состояние заказа, тип документа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разбирать некому: тогда «другое» станет кладбищем, и честнее не делать вид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задержка дороже ошибки, и лучше решить приблизительно, но сразу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85089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Двое суток пропуска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8335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Пятница заполнена, понедельник заполнен, выходных в таблице нет вовсе.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Понедельник: выходных в таблице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468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7566"/>
            <a:ext cx="446272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94831" y="1607566"/>
            <a:ext cx="606201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НЕИЗВЕСТНО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89633"/>
            <a:ext cx="446272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таблице строки за пятницу и за понедельник. За субботу и воскресенье — ни одной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4831" y="1889633"/>
            <a:ext cx="60620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заявок пришло за выходные: журнал формы говорит, что приходили, а сколько и каких — надо идти смотреть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4193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19350"/>
            <a:ext cx="446272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письма об ошибке никто не получал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94831" y="2419350"/>
            <a:ext cx="60620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потому что никто не настраивал, кому его отправлять. Отсутствие письма ничего не значит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9490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949067"/>
            <a:ext cx="446272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 всё это время был опубликован и включён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94831" y="2949067"/>
            <a:ext cx="60620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именно он делал: падал на каждой заявке, на части, или писал не туда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787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78784"/>
            <a:ext cx="446272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понедельник это заметила администратор — случайно, заглянув в таблицу по другому делу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4831" y="3478784"/>
            <a:ext cx="60620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бы ещё это продолжалось, если бы она не заглянула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5889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98690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Ни один сторож не сработал — и не мог.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Сторожа срабатывают на ошибки, а здесь нет ошибок: здесь нет записей.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На отсутствие чего-то сработать нечем.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делать узлу, когда вызов не удался?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1336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9352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должен делать узел, когда вызов не удался?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48839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8A6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2448839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8A6200"/>
                </a:solidFill>
                <a:latin typeface="Arial"/>
              </a:rPr>
              <a:t>остановить весь процесс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2448839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2448839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пропустить и идти 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2448839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2448839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повторить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2448839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2448839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отдельная ветка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3494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1208" y="408980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417210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Дальше по процессу у нас запись в таблицу. Держите это в уме, выбирая.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46116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74132"/>
            <a:ext cx="10634472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И вопрос к себе, пока голосуете: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у вас на работе в каком-нибудь процессе стоит повтор при отказе?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Знаете ли вы, что там выбрано по умолчанию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— или оно просто стоит как поставилось?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 не четыре мнения, это четыре настройки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63419"/>
            <a:ext cx="11183112" cy="2584132"/>
          </a:xfrm>
          <a:prstGeom prst="roundRect">
            <a:avLst>
              <a:gd name="adj" fmla="val 117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46299"/>
            <a:ext cx="24254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НАСТРОЙКА УЗЛА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57523" y="2246299"/>
            <a:ext cx="3758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737" y="2246299"/>
            <a:ext cx="41941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УМЕСТНО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28366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Stop Workflow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(по умолчанию)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7523" y="2528366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падает целиком, дальше ничего не идёт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737" y="2528366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следующий шаг необратим и дорог: счёт, письмо клиенту, платёж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0580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058083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On Error = Continue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7523" y="3058083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текст ошибки идёт дальше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как обычные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737" y="3058083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почти никогда: ошибка молча доедет до таблицы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878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87800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Continue (using error output)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7523" y="3587800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элемент уходит в отдельный выход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737" y="3587800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разбирать отказы своей веткой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1175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17517"/>
            <a:ext cx="24254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Retry On Fail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7523" y="4117517"/>
            <a:ext cx="3758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повтор N раз, затем одно из трёх выше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737" y="4117517"/>
            <a:ext cx="41941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сетевые отказы, таймауты, лимиты провайдера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ветки и два экрана</a:t>
            </a:r>
          </a:p>
        </p:txBody>
      </p:sp>
      <p:pic>
        <p:nvPicPr>
          <p:cNvPr id="3" name="Picture 2" descr="n8n-holst-vetka-otka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994" y="943356"/>
            <a:ext cx="8112962" cy="345682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564775"/>
            <a:ext cx="11183112" cy="86575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720223"/>
            <a:ext cx="469853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ВО ВКЛАДКЕ НАСТРОЕК УЗЛА ИЗВЛЕЧЕНИЯ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3206" y="4720223"/>
            <a:ext cx="588107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994797"/>
            <a:ext cx="4698534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Retry On Fail · On 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03206" y="4994797"/>
            <a:ext cx="5881073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попытки, пауза 2 с →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Continue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(using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error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output)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95126"/>
            <a:ext cx="11183112" cy="723522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5723142"/>
            <a:ext cx="10634472" cy="4674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47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Предскажите.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Сейчас испорчу ключ и отправлю заявку. Какой статус будет у прогона — «ошибка» или «успех»?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повторять, а когда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Три попытки на каждом из пяти слоёв дают 243-кратную нагрузку на нижний.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Поэтому повторяют в одном месте — и там, где знают, что повторять безопасно.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07464"/>
            <a:ext cx="82296" cy="91211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935480"/>
            <a:ext cx="10643616" cy="6560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Предел: отказ, которому некуда идти.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Такой отказ не исчезает — он превращается в отсутствие записи, а отсутствие записи не мониторит никто: ни один сторож не умеет сработать на то, чего нет. Отсюда и двое суток пропуска.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84170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012186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Третья строка оси закрыта.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Прогон зелёный, в журнале ни одной ошибки — выглядит успехом. Чем оказалось: три отказа подряд и заявки за выходные неразобранные.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48278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85800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ПОВТОРЯТЬ **НУЖНО**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3232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отказ временный: таймаут, превышение лимита запросов, «сервис перегружен» — со второй попытки обычно проходит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62330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623308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операция идемпотентна: её можно выполнить дважды с тем же результатом — чтение, пересчёт, идемпотентная запись по ключу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28662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28662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повтор стоит здесь и только здесь, в одном месте стека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60527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605272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задержки с разбросом, и общее число попыток ограничено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3748278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4516" y="385800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ПОВТОРЯТЬ **НЕЛЬЗЯ**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4516" y="4132326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отказ постоянный: неверный ключ, негодный запрос, нет обязательного поля. Повтор лишь утроит расход на ту же ошибку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460832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4608322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 операции есть последствия: отправить письмо, создать заказ, списать деньги. Таймаут не говорит, произошло ли действие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08431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084318"/>
            <a:ext cx="5088636" cy="311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повтор уже стоит слоем ниже или выше: слои множат друг друга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14516" y="539546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14516" y="5395468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задержка фиксированная: все клиенты повторят синхронно и добьют сервис, который начал подниматься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73532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Оба утверждения верны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367786"/>
            <a:ext cx="9692640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На холсте промпт поправлен, проверен ручным запуском и никем не откатывался. В таблице за сутки все заявки разобраны по-старому.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Правка есть, работает старое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468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7566"/>
            <a:ext cx="560689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СДЕЛАЛИ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9003" y="1607566"/>
            <a:ext cx="491784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ПОЛУЧИЛОСЬ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89633"/>
            <a:ext cx="560689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администратор сказала: тема определяется слишком общо, «курс» стоит там, где речь про конкретную программу. Вы поправили формулировку запроса в узле извлечения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9003" y="1889633"/>
            <a:ext cx="491784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карточке узла новый текст, никто его не откатывал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019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01912"/>
            <a:ext cx="560689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 проверили ручным запуском на трёх её заявках, при ней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9003" y="2601912"/>
            <a:ext cx="49178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 три разобраны правильно, именно так, как она просила. Закрыли, пошли дальше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1316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131629"/>
            <a:ext cx="560689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следующий день она открывает таблицу за сутки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9003" y="3131629"/>
            <a:ext cx="49178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все заявки разобраны по-старому.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Ни одной по новой формулировке — и она приходит с этим к вам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613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61346"/>
            <a:ext cx="560689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 открываете холст, запускаете руками ещё раз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9003" y="3661346"/>
            <a:ext cx="491784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снова правильно. И теперь объяснить это ей нечем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5889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98690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Проверка руками показывала правильный результат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всё это время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показывала честно. Она просто проверяла не то, что работало в бою.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Почему боевые прогоны идут по старому?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Почему боевые прогоны идут по старому варианту?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8A6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8A6200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ручной и боевой — разные пути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Черновик и опубликованная версия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6548"/>
            <a:ext cx="82296" cy="10591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64564"/>
            <a:ext cx="10643616" cy="803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Правки сохраняются сами, постоянно, в черновик.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Кнопки «Сохранить» в интерфейсе нет вовсе.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боевой режим правка уходит отдельным действием — Publish.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Боевые прогоны исполняют опубликованную версию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то, что открыто в редакторе.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3301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26181"/>
            <a:ext cx="4089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КАРТОЧКА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21859" y="3026181"/>
            <a:ext cx="64349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ВЕРДИКТ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08248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1859" y="3308248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сохранять нечего, сохраняется само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54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55402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1859" y="3655402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это и произошло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0025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002557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1859" y="4002557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ждать можно сколько угодно, версий две, и обе живые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497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49711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ручной запуск и боевой — разные пути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1859" y="4349711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ручной идёт по черновику, боевой по опубликованному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27319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55335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Слова «активировать» в n8n 2.x больше нет: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Publish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занял его место и значит другое.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в бою, а что хватит руками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Предел: вместе с файлом сценария уезжает больше, чем кажется.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Секретов в нём нет — пароли и ключи инструмент хранит отдельно. А идентификаторы и имена подключений, адреса, пути, имена таблиц и внутренних сервисов — есть. Правило, которое стоит выполнять механически: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прежде чем отдать файл сценария — откройте его и прочитайте глазами.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Это тридцать секунд.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8768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1570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Правка на холсте есть, никто её не откатывал — выглядит успехом. Чем оказалось: сутки работы по старой версии.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НУЖНА ПРОВЕРКА **НАСТОЯЩИМ СОБЫТИЕМ**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обработчик ошибок: его триггер срабатывает только на автоматическом прогоне, и вручную не произойдёт ничего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расписание: сработает ли в нужный момент и что будет, если прогон не успел до следующего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реакция на вызов чужой системы: тот ли адрес, та ли авторизация, тот ли формат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поведение на объёме: ручной прогон копирует данные для показа и на больших объёмах падает там, где боевой проходит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ХВАТИТ **РУЧНОГО ЗАПУСКА**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логика шагов на обычных данных: что пришло, что вернулось, что записалось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форма и её поля: что видит человек, что приходит в процесс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48788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487880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выражения и преобразования: видно сразу, в данных узла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19744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19744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один элемент, одна заявка, один файл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строки заполнены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22298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05178"/>
            <a:ext cx="48097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ВЫГЛЯДИТ РАБОЧИМ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41889" y="1805178"/>
            <a:ext cx="571495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ОКАЗАЛСЯ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87245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узла, заявка доезжает до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1889" y="2087245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какая угодно, срочности нет вовсе, ручаться нечем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4343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34399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клетка заполнена, значение законное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41889" y="2434399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тема заявки исчезла молча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7815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781554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зелёный, в журнале ни одной ошибки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89" y="2781554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отказа подряд, заявки за выходные не разобраны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1287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128708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правка на холсте есть, никто её не откатывал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89" y="3128708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сутки работы по старой версии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2625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45427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Тот же вопрос, что в начале: ваш процесс на работе — он работает или за него можно ручаться?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Теперь у вас есть четыре способа это проверить, и ни один из них не требует верить мне на слово.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уносим с занятия</a:t>
            </a:r>
          </a:p>
        </p:txBody>
      </p:sp>
      <p:pic>
        <p:nvPicPr>
          <p:cNvPr id="3" name="Picture 2" descr="vyhod-shema-prots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788" y="943356"/>
            <a:ext cx="10553375" cy="329792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405877"/>
            <a:ext cx="11183112" cy="1904619"/>
          </a:xfrm>
          <a:prstGeom prst="roundRect">
            <a:avLst>
              <a:gd name="adj" fmla="val 160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588757"/>
            <a:ext cx="325577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ФАЙЛ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87875" y="4588757"/>
            <a:ext cx="726897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Consolas"/>
              </a:rPr>
              <a:t>STUDENT.JSON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55838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как поставить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875" y="4855838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меню сценария → Import from File → выбрать файл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51737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5173783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нужно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875" y="5173783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свой n8n и ключ провайдера модели (инструкция)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4917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491727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делать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87875" y="5491727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прогнать на своих трёх заявках и посмотреть, где развалится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8096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809672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завести своё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7875" y="5809672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учётные данные модели и свою таблицу: в файле они пустые намеренно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22932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250948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Сейчас: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любая заявка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один и тот же шаг → таблица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заявка про оплату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одно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про перенос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другое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непонятная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третье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53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7033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Семинар 8: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развилка и как она устроена · что делать с тем, что не подошло ни под одну ветку · проверка результата шага до того, как он уехал дальше · и почему ветки, которые выглядят параллельными, выполняются по очереди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