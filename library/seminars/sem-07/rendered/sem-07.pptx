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Шесть предыдущих занятий были про одного исполнителя: как дать кодинг-агенту права, память и инструменты. Эта дуга — про уровень выше: как устроен процесс, который таким исполнителем или просто вызовом модели пользуется.</a:t>
            </a:r>
          </a:p>
          <a:p/>
          <a:p>
            <a:r>
              <a:t>Сегодня мы соберём работающий процесс с нуля. К концу занятия у нас будет работающий сценарий, который принимает заявку, разбирает её моделью и кладёт результат в таблицу. Он будет работать, и мы несколько раз его сломаем, чтобы понять, где он хрупкий.</a:t>
            </a:r>
          </a:p>
          <a:p/>
          <a:p>
            <a:r>
              <a:t>Занятие практическое. Я буду собирать прямо на своей машине, вы смотрите на экран. Файл сценария выложу после занятия — его можно будет открыть у себя и потрогать руками.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экран, и он отвечает на вопрос, который стоит задать в самом начале: куда мы вообще идём шесть занятий подряд.</a:t>
            </a:r>
          </a:p>
          <a:p/>
          <a:p>
            <a:r>
              <a:t>Вот лестница. Девять ступеней, снизу вверх — от простого к сложному, и справа у каждой написано, какое занятие её закрывает.</a:t>
            </a:r>
          </a:p>
          <a:p/>
          <a:p>
            <a:r>
              <a:t>Внизу, бледным, — пройденное: когда хватает одного вызова модели или поиска по своим документам. Это вы знаете с Лекции 3.</a:t>
            </a:r>
          </a:p>
          <a:p/>
          <a:p>
            <a:r>
              <a:t>Золотая — сегодняшняя. Цепочка: несколько шагов в известном заранее порядке, и данные, которые идут между ними. Всё занятие мы проведём на ней.</a:t>
            </a:r>
          </a:p>
          <a:p/>
          <a:p>
            <a:r>
              <a:t>Дальше вверх. Маршрут — путь задаёт категория входа, это следующее занятие. Параллель — независимые проверки одного входа. Цикл и подпроцесс — через два занятия. Агент, который сам выбирает порядок шагов, — одиннадцатое. Несколько агентов вместе и аварийный выключатель — двенадцатое.</a:t>
            </a:r>
          </a:p>
          <a:p/>
          <a:p>
            <a:r>
              <a:t>Теперь главное про эту картинку, и это не оформление. Правило движения по лестнице из Лекции 3 звучит дословно так: </a:t>
            </a:r>
            <a:r>
              <a:rPr b="1"/>
              <a:t>не поднимайся без требования, которого ступень ниже не закрывает.</a:t>
            </a:r>
            <a:r>
              <a:t> То есть лестница — не план развития, по которому надо дойти до верха. Это шкала, на которой надо остановиться как можно ниже.</a:t>
            </a:r>
          </a:p>
          <a:p/>
          <a:p>
            <a:r>
              <a:t>И отсюда — почему целому занятию отведена одна ступень. Не потому, что цепочка сложная: она простая. А потому, что на ней </a:t>
            </a:r>
            <a:r>
              <a:rPr b="1"/>
              <a:t>заканчивается большинство реальных задач</a:t>
            </a:r>
            <a:r>
              <a:t>, и ошибаются чаще всего именно здесь — строя агента там, где хватило бы пяти узлов подряд.</a:t>
            </a:r>
          </a:p>
          <a:p/>
          <a:p>
            <a:r>
              <a:t>Запомните место, где стоит золотая полоса. Мы вернёмся к этой картинке на каждом из шести занятий, и каждый раз золотая будет на одну выше.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напомню то, что было в Лекции 3, — потому что всё занятие стоит на одном её различении.</a:t>
            </a:r>
          </a:p>
          <a:p/>
          <a:p>
            <a:r>
              <a:t>Workflow — это система, где шаги и их порядок заданы заранее, в коде. Модель здесь вызывается на конкретном шаге и делает конкретную работу, но она не решает, какие шаги делать и в каком порядке. Порядок решили вы, когда рисовали схему.</a:t>
            </a:r>
          </a:p>
          <a:p/>
          <a:p>
            <a:r>
              <a:t>Агент — система, где этот порядок модель определяет сама, по ходу, глядя на промежуточные результаты.</a:t>
            </a:r>
          </a:p>
          <a:p/>
          <a:p>
            <a:r>
              <a:t>Различение операциональное, и из него прямо следует критерий выбора, тоже из лекции: </a:t>
            </a:r>
            <a:r>
              <a:rPr b="1"/>
              <a:t>задача предсказуема — workflow. Последовательность шагов принципиально зависит от промежуточных результатов, и задача оправдывает кратный рост стоимости — агент.</a:t>
            </a:r>
          </a:p>
          <a:p/>
          <a:p>
            <a:r>
              <a:t>И чтобы слово «workflow» не звучало как «примитивный вариант агента», назову пять его схем — все они были в лекции, и все пять предопределённые.</a:t>
            </a:r>
          </a:p>
          <a:p/>
          <a:p>
            <a:r>
              <a:t>Первая — цепочка. Шаги друг за другом, выход одного становится входом следующего, и между ними можно поставить проверку. Её мы сегодня и соберём.</a:t>
            </a:r>
          </a:p>
          <a:p/>
          <a:p>
            <a:r>
              <a:t>Вторая — маршрут. Первый шаг относит вход к классу, дальше у каждого класса свой путь. Это следующее занятие.</a:t>
            </a:r>
          </a:p>
          <a:p/>
          <a:p>
            <a:r>
              <a:t>Третья — параллель. Независимые подзадачи выполняются сразу, результаты сводятся детерминированно: голосованием или объединением.</a:t>
            </a:r>
          </a:p>
          <a:p/>
          <a:p>
            <a:r>
              <a:t>Четвёртая — дирижёр и исполнители. Центральный шаг делит задачу на части — гибко, но в заданных рамках — и раздаёт исполнителям. Это уже граница между workflow и агентом.</a:t>
            </a:r>
          </a:p>
          <a:p/>
          <a:p>
            <a:r>
              <a:t>Пятая — эталон и переделка. Один шаг делает, другой оценивает по критериям, и цикл повторяется, пока не пройдёт порог.</a:t>
            </a:r>
          </a:p>
          <a:p/>
          <a:p>
            <a:r>
              <a:t>И фраза из лекции, которую я повторю дословно, потому что она объясняет устройство всей дуги: большинство надёжных продакшн-систем — это workflow с предопределёнными путями, а не полностью динамические агенты.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кусок из Лекции 3, и он объясняет, почему дуга идёт снизу вверх, а не начинается с агентов, которые сейчас на слуху.</a:t>
            </a:r>
          </a:p>
          <a:p/>
          <a:p>
            <a:r>
              <a:t>Главное — одной фразой: надёжность последовательных шагов </a:t>
            </a:r>
            <a:r>
              <a:rPr b="1"/>
              <a:t>перемножается</a:t>
            </a:r>
            <a:r>
              <a:t>, а не усредняется.</a:t>
            </a:r>
          </a:p>
          <a:p/>
          <a:p>
            <a:r>
              <a:t>Подставьте числа. Если в конвейере десять шагов и сбой любого портит результат, общая надёжность равна надёжности шага в десятой степени. Девяносто пять процентов на шаг — цифра, которая звучит прилично, почти хорошо. Десять шагов: шестьдесят процентов. Девяносто процентов на шаг, тоже вроде нормально, — тридцать пять процентов на десяти шагах.</a:t>
            </a:r>
          </a:p>
          <a:p/>
          <a:p>
            <a:r>
              <a:t>Инженерная интуиция говорит: каждый шаг почти всегда работает, значит и цепочка почти всегда работает. Математически это ложно, и это одна из самых дорогих ошибок отрасли.</a:t>
            </a:r>
          </a:p>
          <a:p/>
          <a:p>
            <a:r>
              <a:t>Отсюда два правила, которые мы сегодня применим прямо руками. Цепочки держат короткими. И между шагами ставят проверки — когда я поставлю лишний на вид узел сверки, вспомните этот экран.</a:t>
            </a:r>
          </a:p>
          <a:p/>
          <a:p>
            <a:r>
              <a:t>Теперь стоимость. Относительно обычного чата одиночный агент тратит примерно вчетверо больше токенов, мульти-агент — впятнадцатеро. И цитата из лекции, которая отрезвляет: мульти-агентные системы работают во многом потому, что помогают потратить на задачу достаточно токенов. Не магия координации, а объём.</a:t>
            </a:r>
          </a:p>
          <a:p/>
          <a:p>
            <a:r>
              <a:t>И контринтуитивное про устройство. При одном и том же числе агентов «рой» равноправных усиливал ошибки в семнадцать целых две десятых раза, а централизованная оркестрация с одним координатором сдерживала их до четырёх целых четырёх десятых. То есть дирижёр надёжнее роя — ровно обратное тому, что обычно предполагают.</a:t>
            </a:r>
          </a:p>
          <a:p/>
          <a:p>
            <a:r>
              <a:t>Правило из лекции, которым закрою: начинай с одного сильного. Команды месяцами строили мульти-агентные схемы и потом обнаруживали, что улучшенный запрос к одному даёт то же самое.</a:t>
            </a:r>
          </a:p>
          <a:p/>
          <a:p>
            <a:r>
              <a:t>Вот поэтому мы сегодня на второй ступени снизу. Не потому, что агенты сложные, а потому, что это ступень, на которой заканчивается большинство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про то, в чём такие процессы вообще собирают. Мы отобрали и разобрали пять инструментов, и классов вышло три.</a:t>
            </a:r>
          </a:p>
          <a:p/>
          <a:p>
            <a:r>
              <a:t>Первый класс по-человечески звучит так: возьми оттуда, преобразуй, положи сюда и уведоми кого надо. Почта, таблицы, CRM, мессенджеры, базы. Это конвейеры между системами — n8n, Activepieces, Make, Zapier. Самый старый и самый массовый класс: такие инструменты существовали задолго до языковых моделей и просто получили новый тип блока. Запускаются они тремя способами: по расписанию, по событию в чужой системе и руками человека через форму.</a:t>
            </a:r>
          </a:p>
          <a:p/>
          <a:p>
            <a:r>
              <a:t>Второй — платформы для агентов. Задача звучит иначе: дай агенту инструменты и проверки и поручи ему задачу. Класс молодой, и в нём есть то, чего у первого нет: ограждения на выходе, оценка ответа, базы знаний, которые сами обновляются. Цена входа — ресурсы, от двенадцати гигабайт памяти, дома поднимается тяжело.</a:t>
            </a:r>
          </a:p>
          <a:p/>
          <a:p>
            <a:r>
              <a:t>Третий — конструкторы LLM-приложений. Собери чат по моим документам: цепочка вызовов, поиск, память диалога. LangFlow, Dify.</a:t>
            </a:r>
          </a:p>
          <a:p/>
          <a:p>
            <a:r>
              <a:t>Теперь два вопроса, которые на самом деле решают выбор, — и обратите внимание, что ни один из них не про ИИ. Он есть во всех трёх классах.</a:t>
            </a:r>
          </a:p>
          <a:p/>
          <a:p>
            <a:r>
              <a:t>Первый: кто запускает. Человек, расписание или чужая система? Если в задаче есть слова «каждое утро» или «когда придёт письмо» — третий класс отпадает сразу: расписания у него нет, запуск только снаружи. Одна проверка отсекает целый класс.</a:t>
            </a:r>
          </a:p>
          <a:p/>
          <a:p>
            <a:r>
              <a:t>Второй: что у вас считается шагом. Шаг рабочего процесса — первый класс. Задача, которую решает агент, — второй. Вызов модели внутри приложения — третий.</a:t>
            </a:r>
          </a:p>
          <a:p/>
          <a:p>
            <a:r>
              <a:t>У нас сегодня вход — человек через форму, а шаг — шаг процесса. Поэтому первый класс, и из него n8n.</a:t>
            </a:r>
          </a:p>
          <a:p/>
          <a:p>
            <a:r>
              <a:t>И одно замечание про устойчивость этого рынка, голосом, не на экран. Flowise был одним из двух самых известных конструкторов третьего класса. Тридцать первого августа этого года он закрыт — не заброшен, а официально закрыт, с объявлением, архивацией кода и названной датой конца жизни. Причина, которую назвали сами авторы: жёсткий визуальный low-code упирается в предел по сложности, а разработчики к этому моменту ушли к кодинг-агентам. Я говорю это не как курьёз: выбирая, на чём строить, учитывайте, что целый класс инструментов может закрыться.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экран введения — про инструмент, в котором будем смотреть, и про слова, которые дальше я начну употреблять как известные.</a:t>
            </a:r>
          </a:p>
          <a:p/>
          <a:p>
            <a:r>
              <a:t>Смотрите на снимок. </a:t>
            </a:r>
            <a:r>
              <a:rPr b="1"/>
              <a:t>Холст</a:t>
            </a:r>
            <a:r>
              <a:t> — поле, на котором процесс рисуется мышкой; вот он, занимает весь экран. Процесс здесь не текст, а схема, и это главная причина популярности таких инструментов: на схему можно показать пальцем коллеге, который не программист, и он поймёт.</a:t>
            </a:r>
          </a:p>
          <a:p/>
          <a:p>
            <a:r>
              <a:rPr b="1"/>
              <a:t>Узел</a:t>
            </a:r>
            <a:r>
              <a:t> — один шаг, вот эти прямоугольники. У каждого карточка с параметрами: щёлкнул — открылась. Добавить шаг означает поставить узел и соединить стрелкой. И обратите внимание, чего здесь нет: между правкой и проверкой нет ни сборки, ни развёртывания. Нажал «выполнить» и смотришь.</a:t>
            </a:r>
          </a:p>
          <a:p/>
          <a:p>
            <a:r>
              <a:t>Третье — </a:t>
            </a:r>
            <a:r>
              <a:rPr b="1"/>
              <a:t>учётные данные</a:t>
            </a:r>
            <a:r>
              <a:t>, и это важнее, чем кажется. Ключи и доступы живут </a:t>
            </a:r>
            <a:r>
              <a:rPr b="1"/>
              <a:t>отдельно от сценария</a:t>
            </a:r>
            <a:r>
              <a:t>: вы заводите их один раз, а узел ссылается на них по имени. Отсюда два следствия. Первое: в файле сценария ключей нет, и файл можно отдать коллеге или студенту — мы на этом построим домашнее задание. Второе: один ключ переиспользуется во всех ваших процессах, и менять его при ротации надо в одном месте, а не в двадцати.</a:t>
            </a:r>
          </a:p>
          <a:p/>
          <a:p>
            <a:r>
              <a:t>Четвёртое — </a:t>
            </a:r>
            <a:r>
              <a:rPr b="1"/>
              <a:t>готовые интеграции</a:t>
            </a:r>
            <a:r>
              <a:t>. Больше четырёхсот сервисов из коробки: почта, таблицы, мессенджеры, CRM, базы, облака, и для всего остального есть узел обычного HTTP-запроса. Это и есть главная ценность класса: «взять из Google Таблиц и положить в Телеграм» — два узла, а не два дня чтения чужой документации. Вы не пишете клиент к API, вы заполняете поля.</a:t>
            </a:r>
          </a:p>
          <a:p/>
          <a:p>
            <a:r>
              <a:t>Пятое — то, чего от такого инструмента обычно не ждут: </a:t>
            </a:r>
            <a:r>
              <a:rPr b="1"/>
              <a:t>простые интерфейсы встроены</a:t>
            </a:r>
            <a:r>
              <a:t>. Узел формы даёт настоящую веб-страницу с полями, валидацией и экраном результата — по адресу, который можно отправить человеку. То есть вы можете отдать людям рабочий вход в процесс, не поднимая ни фронтенда, ни хостинга, ни дизайна. Мы этим сегодня воспользуемся: и вход нашего процесса, и экран, на котором зал увидит результат, — это он.</a:t>
            </a:r>
          </a:p>
          <a:p/>
          <a:p>
            <a:r>
              <a:t>И шестое — </a:t>
            </a:r>
            <a:r>
              <a:rPr b="1"/>
              <a:t>прогон и журнал</a:t>
            </a:r>
            <a:r>
              <a:t>. Прогон это одно исполнение, от триггера до конца, у него свой номер. Журнал хранит их целиком: можно открыть прогон недельной давности и посмотреть, что именно пришло на вход третьего узла и что он отдал. Мы в этот журнал заглянем сегодня трижды, и дважды он покажет неприятное.</a:t>
            </a:r>
          </a:p>
          <a:p/>
          <a:p>
            <a:r>
              <a:t>Теперь зачем именно он выбран для курса. Ставится локально и бесплатно — значит, вы повторите дома, и это условие было главным. ИИ-блоки в коробке, отдельной подписки не нужно. Запускается по расписанию и по событию — то, чего нет у третьего класса с предыдущего экрана. И процесс выгружается одним файлом: этот файл вы унесёте.</a:t>
            </a:r>
          </a:p>
          <a:p/>
          <a:p>
            <a:r>
              <a:t>Честно про то, чего ждать не надо. Лицензия ядра не вполне свободная — у Activepieces в этом смысле чище, и если это для вас критерий, смотрите туда. Установка без контейнера объявлена устаревшей. И интерфейс меняется между версиями заметно: поэтому принципиальные схемы мы рисуем отдельно от снимков — схема переживёт смену версии, снимок нет.</a:t>
            </a:r>
          </a:p>
          <a:p/>
          <a:p>
            <a:r>
              <a:t>Всё. Дальше — ось занятия, и потом внутрь.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что-то собирать, одна мысль, на которой держится всё занятие.</a:t>
            </a:r>
          </a:p>
          <a:p/>
          <a:p>
            <a:r>
              <a:t>Процесс, который </a:t>
            </a:r>
            <a:r>
              <a:rPr b="1"/>
              <a:t>работает</a:t>
            </a:r>
            <a:r>
              <a:t>, и процесс, за который можно </a:t>
            </a:r>
            <a:r>
              <a:rPr b="1"/>
              <a:t>ручаться</a:t>
            </a:r>
            <a:r>
              <a:t>, — это два разных процесса. Первый доезжает до конца и не падает. Про второй вы знаете, что окажется в каждой строке результата и что произойдёт, когда он сломается.</a:t>
            </a:r>
          </a:p>
          <a:p/>
          <a:p>
            <a:r>
              <a:t>Собрать первый легко. Почти все на нём и останавливаются — не из лени, а потому что он выглядит готовым. Он работает. Его показывают руководителю, и руководитель видит, что работает.</a:t>
            </a:r>
          </a:p>
          <a:p/>
          <a:p>
            <a:r>
              <a:t>Посмотрите на таблицу. В левой колонке четыре вещи, каждую из которых вы увидите своими глазами и совершенно справедливо сочтёте успехом: заявка доехала до таблицы; клетка заполнена, и значение в ней законное; прогон зелёный, ни одной ошибки в журнале; правка на холсте стоит, никто её не откатывал.</a:t>
            </a:r>
          </a:p>
          <a:p/>
          <a:p>
            <a:r>
              <a:t>Правая колонка пустая. В ней будет то, чем каждая из этих четырёх радостей оказывается на самом деле. Мы заполним её своими руками — по одной строке за кейс, и каждый раз не моим рассказом, а тем, что увидим на экране.</a:t>
            </a:r>
          </a:p>
          <a:p/>
          <a:p>
            <a:r>
              <a:t>И вот зачем я прошу запомнить эту таблицу. В конце занятия мы к ней вернёмся, и вы увидите все четыре пары рядом. Если после этого вы станете спрашивать себя про любой свой процесс «он работает или за него можно ручаться» — занятие удалось, даже если вы забудете, как называется каждый блок.</a:t>
            </a:r>
          </a:p>
          <a:p/>
          <a:p>
            <a:r>
              <a:t>Вопрос занятия я задаю сейчас и прошу держать его в голове полтора часа: </a:t>
            </a:r>
            <a:r>
              <a:rPr b="1"/>
              <a:t>возьмите процесс, который у вас на работе уже работает — он работает или за него можно ручаться?</a:t>
            </a:r>
            <a:r>
              <a:t> Отвечать сейчас не надо, у вас пока нет способа проверить. К концу занятия будет четыре.</a:t>
            </a:r>
          </a:p>
          <a:p/>
          <a:p>
            <a:r>
              <a:t>Сегодняшняя задача маленькая намеренно: заявка с формы сайта должна попадать в таблицу уже разобранной. На ней все четыре различия видно целиком, за полтора часа, на живом стенде.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Учебный центр, на сайте форма записи. Форма работает, заявки приходят — и дальше их читает человек и перекладывает в таблицу руками.</a:t>
            </a:r>
          </a:p>
          <a:p/>
          <a:p>
            <a:r>
              <a:t>Это та самая ситуация, в которой автоматизацию обычно и заводят: не потому, что что-то сломалось, а потому, что работа скучная и её много. И именно поэтому её чаще всего делают наполовину.</a:t>
            </a:r>
          </a:p>
          <a:p/>
          <a:p>
            <a:r>
              <a:t>Кто этот человек и чего ему это стоит — следующий экран.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Сцена, на которой мы проведём почти всё занятие. Она маленькая намеренно: на ней видно всё устройство целиком.</a:t>
            </a:r>
          </a:p>
          <a:p/>
          <a:p>
            <a:r>
              <a:t>Учебный центр, на сайте форма записи. Человек оставляет имя, контакт и пишет свободным текстом, что ему нужно. Форма работает третий год, заявок двадцать в день, и дальше с ними работает один человек — пусть будет Ольга, администратор.</a:t>
            </a:r>
          </a:p>
          <a:p/>
          <a:p>
            <a:r>
              <a:t>Что она делает. Открывает каждое письмо, читает, понимает, о чём оно, и переносит в таблицу: отдельно контакт, отдельно тема, отдельно срочность. Сорок минут в день.</a:t>
            </a:r>
          </a:p>
          <a:p/>
          <a:p>
            <a:r>
              <a:t>Зачем именно эти два столбца. По ним вечером раскладывают заявки: кому звонить сегодня, кому на неделе, что отдать в бухгалтерию. То есть это не украшение таблицы, а то, по чему принимают решения.</a:t>
            </a:r>
          </a:p>
          <a:p/>
          <a:p>
            <a:r>
              <a:t>И вот отсюда настоящая цена, которая считается не в минутах. Ошибка в этих двух столбцах стоит потерянной заявки: человек, записавшийся на курс, не получает звонка. Узнаём мы об этом не из журнала, а от него самого, когда он звонит и спрашивает, почему ему не перезвонили.</a:t>
            </a:r>
          </a:p>
          <a:p/>
          <a:p>
            <a:r>
              <a:t>Последнее, и оно узнаваемое: в пятницу заявок больше, а времени меньше. Появляется «потом разберу». И к двадцатому письму подряд работа делается механически — не потому, что Ольга плохая, а потому что двадцатое письмо похоже на пятое.</a:t>
            </a:r>
          </a:p>
          <a:p/>
          <a:p>
            <a:r>
              <a:t>Теперь вопрос.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первый, и он не про то, сколько узлов, — он про то, </a:t>
            </a:r>
            <a:r>
              <a:rPr b="1"/>
              <a:t>что именно поставить</a:t>
            </a:r>
            <a:r>
              <a:t> между формой и таблицей.</a:t>
            </a:r>
          </a:p>
          <a:p/>
          <a:p>
            <a:r>
              <a:t>Сначала вопрос к себе, и он не риторический. У кого из вас уже есть процесс, который раскладывает входящее по категориям? Тикеты в поддержке, письма, резюме, обращения, заявки. Чем он это делает сейчас — правилами, человеком, моделью? Держите свой случай в голове, он пригодится.</a:t>
            </a:r>
          </a:p>
          <a:p/>
          <a:p>
            <a:r>
              <a:t>Теперь пять карточек. Правила по ключевым словам. Один шаг модели. Шаг модели плюс проверка значения. Шаг модели плюс проверка плюс показ результата. И пятая — оставить человеку.</a:t>
            </a:r>
          </a:p>
          <a:p/>
          <a:p>
            <a:r>
              <a:t>Выбирайте свой и формулируйте не «мне так нравится», а ответ на конкретный вопрос: </a:t>
            </a:r>
            <a:r>
              <a:rPr b="1"/>
              <a:t>выдержит ли ваш способ требование, что тема и срочность заполнены всегда и только значениями из списка.</a:t>
            </a:r>
            <a:r>
              <a:t> Не «обычно заполнены» — всегда.</a:t>
            </a:r>
          </a:p>
          <a:p/>
          <a:p>
            <a:r>
              <a:t>И сразу скажу то, что обычно говорят в конце: </a:t>
            </a:r>
            <a:r>
              <a:rPr b="1"/>
              <a:t>правильных ответов здесь больше одного.</a:t>
            </a:r>
            <a:r>
              <a:t> Все пять живут в настоящих системах, и у каждого есть область, где он лучший. Разбирать будем не «кто угадал», а что каждый способ делает и чего не делает.</a:t>
            </a:r>
          </a:p>
          <a:p/>
          <a:p>
            <a:r>
              <a:t>Пятнадцать секунд на выбор, потом по рукам.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Разбираем, и первое, что скажу: </a:t>
            </a:r>
            <a:r>
              <a:rPr b="1"/>
              <a:t>ни один из пяти не глупый, и ни один не «неправильный ответ»</a:t>
            </a:r>
            <a:r>
              <a:t>. У каждого есть область, где он лучший. Смотрите на две колонки — что способ делает и чего не делает.</a:t>
            </a:r>
          </a:p>
          <a:p/>
          <a:p>
            <a:r>
              <a:t>Правила по ключевым словам. Что делают: дают предсказуемость и стоят ноль. Одно и то же слово всегда даёт одну и ту же тему, отладка глазами, никаких сюрпризов. Чего не делают: не справляются с живым языком. «Хочу учиться», «а можно к вам», «счёт на ООО» — ни одного вашего ключевого слова. И вторая беда коварнее: список правил растёт, и однажды два правила начинают противоречить друг другу, а понять это можно только случайно.</a:t>
            </a:r>
          </a:p>
          <a:p/>
          <a:p>
            <a:r>
              <a:t>Один шаг модели. Что делает: понимает смысл. «А можно к вам» разберёт так же, как «хочу на курс», и это именно то, ради чего модель здесь. Чего не делает: не обещает формат. Она отвечает тем, чем её попросили, — текстом. В клетке окажется «запись», «обучение», «интересуется аналитикой», «Аналитика.» с большой буквы и точкой. Каждый ответ разумный, а столбец негодный.</a:t>
            </a:r>
          </a:p>
          <a:p/>
          <a:p>
            <a:r>
              <a:t>Третий — шаг модели плюс проверка значения. Что делает: значение приходит из закрытого списка, пустых клеток не бывает, и проверка детерминированная — её поведение известно заранее, в отличие от модели. Ограничение честное: список теперь живёт в двух местах и может разойтись, и появляется узел, который надо будет объяснить тому, кто придёт после вас.</a:t>
            </a:r>
          </a:p>
          <a:p/>
          <a:p>
            <a:r>
              <a:t>Четвёртый — то же плюс показ результата. Что добавляет: результат виден там же, где отправили заявку. Ограничение: ещё узел, и если смотреть на результат некому — такое бывает, — он не окупается.</a:t>
            </a:r>
          </a:p>
          <a:p/>
          <a:p>
            <a:r>
              <a:t>Пятый — оставить человеку. И это не шутка и не «плохой вариант»: человек видит контекст целиком и заметит то, чего в вашем списке нет вовсе. Цена известна: сорок минут в день и механическая работа к двадцатому письму.</a:t>
            </a:r>
          </a:p>
          <a:p/>
          <a:p>
            <a:r>
              <a:t>Теперь поворот, ради которого стоило разбирать. Первые два различаются </a:t>
            </a:r>
            <a:r>
              <a:rPr b="1"/>
              <a:t>не качеством, а характером отказа</a:t>
            </a:r>
            <a:r>
              <a:t>. Правила ломаются </a:t>
            </a:r>
            <a:r>
              <a:rPr b="1"/>
              <a:t>громко</a:t>
            </a:r>
            <a:r>
              <a:t>: слово не нашлось, клетка пустая, это видно сразу. Модель ломается </a:t>
            </a:r>
            <a:r>
              <a:rPr b="1"/>
              <a:t>тихо</a:t>
            </a:r>
            <a:r>
              <a:t>: в клетке стоит правдоподобное слово, которого нет в вашем списке, прогон зелёный, и ни одна проверка формата этого не поймает. Громкий отказ дешёвый. Тихий дорогой.</a:t>
            </a:r>
          </a:p>
          <a:p/>
          <a:p>
            <a:r>
              <a:t>И что из пяти остаётся под наше требование — заполнено всегда, только из списка. Правила не проходят: они оставляют пустую клетку. Один шаг модели не проходит: он списка не обещает. Остаются третий и четвёртый, и выбор между ними — про то, есть ли кому смотреть на результат. Пятый совершенно законен, если заявок пять в неделю; у нас двадцать в день, и в этом вся разница.</a:t>
            </a:r>
          </a:p>
          <a:p/>
          <a:p>
            <a:r>
              <a:t>Собирать будем четвёртый. Почему именно его — следующий экран.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нырять в параметры — взгляд сверху. Это настоящий холст, не схема: так процесс выглядит у меня на экране прямо сейчас.</a:t>
            </a:r>
          </a:p>
          <a:p/>
          <a:p>
            <a:r>
              <a:t>Слева направо шесть узлов, и у каждого номер.</a:t>
            </a:r>
          </a:p>
          <a:p/>
          <a:p>
            <a:r>
              <a:t>Первый — форма. Это вход процесса: человек заполняет её на сайте, и с этого момента начинается всё остальное. Обратите внимание на значок молнии слева от него: так на холсте помечается триггер, то, с чего процесс запускается.</a:t>
            </a:r>
          </a:p>
          <a:p/>
          <a:p>
            <a:r>
              <a:t>Второй — извлечение полей. Он достаёт из свободного текста значения: тему, срочность, контакт.</a:t>
            </a:r>
          </a:p>
          <a:p/>
          <a:p>
            <a:r>
              <a:t>Третий — модель, и смотрите, где она. Не внутри второго узла, а </a:t>
            </a:r>
            <a:r>
              <a:rPr b="1"/>
              <a:t>отдельной коробкой, подвешенной под ним</a:t>
            </a:r>
            <a:r>
              <a:t>. Шаг модели в этом инструменте — всегда два узла: сам шаг и подключённая к нему модель. Запомните это: когда на одиннадцатом занятии мы соберём агента, под ним будут висеть три таких коробки — модель, память, инструменты.</a:t>
            </a:r>
          </a:p>
          <a:p/>
          <a:p>
            <a:r>
              <a:t>Четвёртый — сверка со списком. Обычный узел «задать поля», и именно он не даст появиться в таблице значению вне нашего справочника.</a:t>
            </a:r>
          </a:p>
          <a:p/>
          <a:p>
            <a:r>
              <a:t>Пятый — запись строки в таблицу. И обратите внимание, откуда он берёт значения: у четвёртого узла, то есть у сверки, а не у модели напрямую. Поэтому в таблице не бывает ни пустой темы, ни темы вне списка — между моделью и таблицей всегда стоит проверка.</a:t>
            </a:r>
          </a:p>
          <a:p/>
          <a:p>
            <a:r>
              <a:t>Шестой — экран результата. Тот же узел формы, в режиме завершения: он печатает всю дорогу в том же окне, где заявку отправили.</a:t>
            </a:r>
          </a:p>
          <a:p/>
          <a:p>
            <a:r>
              <a:t>И ещё одно, что стоит заметить на этом кадре: между узлами тянутся стрелки, и каждая — это данные, уходящие из одного в другой. Процесс читается как схема, на него можно показать пальцем коллеге, и в этом половина ценности таких инструментов.</a:t>
            </a:r>
          </a:p>
          <a:p/>
          <a:p>
            <a:r>
              <a:t>Теперь откроем два узла из шести — те, на которых держится весь кейс.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узла, на которых держится кейс, и по одному параметру в каждом.</a:t>
            </a:r>
          </a:p>
          <a:p/>
          <a:p>
            <a:r>
              <a:t>Схему в узле извлечения задаю </a:t>
            </a:r>
            <a:r>
              <a:rPr b="1"/>
              <a:t>вручную</a:t>
            </a:r>
            <a:r>
              <a:t>, и вот зачем. Её можно задать описаниями словами, и это проще, — но описание допустимые значения только </a:t>
            </a:r>
            <a:r>
              <a:rPr b="1"/>
              <a:t>предлагает</a:t>
            </a:r>
            <a:r>
              <a:t>. Мне нужно, чтобы инструмент их </a:t>
            </a:r>
            <a:r>
              <a:rPr b="1"/>
              <a:t>перечислил</a:t>
            </a:r>
            <a:r>
              <a:t>, и для этого в схеме есть перечисление: тема — одно из четырёх, срочность — одно из трёх, оба поля обязательны.</a:t>
            </a:r>
          </a:p>
          <a:p/>
          <a:p>
            <a:r>
              <a:t>Последние значения в списках — «другое» и «не указано». Это не формальность и не вежливость: без них классификация упирается в пустую клетку на первой же непонятной заявке, а модель, которой не дали законного «не знаю», поставит ближайшее подходящее и не скажет об этом.</a:t>
            </a:r>
          </a:p>
          <a:p/>
          <a:p>
            <a:r>
              <a:t>Второй узел — сверка. Обычный «задать поля», никакого кода, и в нём стоит выражение: доллар-json, точка, тема, две вертикальные черты, «другое». Читается буквально: возьми тему, а если её нет — поставь «другое». И то же для срочности.</a:t>
            </a:r>
          </a:p>
          <a:p/>
          <a:p>
            <a:r>
              <a:t>Зачем он, если перечисление уже в схеме? Потому что схема — просьба к модели, пусть и строгая, а это — последняя инстанция. Схему можно обойти: она действует не во всех режимах, а на отказ модели по безопасности придёт вообще не ваше поле. Этот узел обойти нельзя. Отсюда формулировка, которую я прошу унести: </a:t>
            </a:r>
            <a:r>
              <a:rPr b="1"/>
              <a:t>модель предлагает, список решает.</a:t>
            </a:r>
          </a:p>
          <a:p/>
          <a:p>
            <a:r>
              <a:t>Теперь, прежде чем я нажму «отправить», — предскажите. Заявка: «хочу на курс по аналитике, перезвоните сегодня после шести, телефон в конце». Что напечатает экран в строке «что предложила модель»: какая тема, какая срочность, что окажется в контакте из текста? Говорите вслух, у вас пятнадцать секунд.</a:t>
            </a:r>
          </a:p>
          <a:p/>
          <a:p>
            <a:r>
              <a:t>Отправляю. Смотрим: тема «курс», срочность «сегодня», телефон вытащен из текста. У кого совпало — вы только что предсказали поведение шага модели, и это ровно то умение, за которым мы здесь собрались.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идти в параметры, посмотрим на процесс с той стороны, с которой его видит человек. Потому что пока мы смотрели на схему, а человеку схема не показывается никогда.</a:t>
            </a:r>
          </a:p>
          <a:p/>
          <a:p>
            <a:r>
              <a:t>Слева — вход. Это обычная веб-страница по обычному адресу, и сделал её узел формы: поля, проверка ввода, кнопка. Ни фронтенда, ни хостинга, ни дизайнера. Обратите внимание на текст наверху: форма объясняет, что произойдёт с заявкой. Это не вежливость. Человек, который знает, что его текст будут разбирать автоматически, пишет иначе — короче и конкретнее, — и разбирать становится заметно легче. Объяснение на входе — это способ улучшить вход, а не украсить его.</a:t>
            </a:r>
          </a:p>
          <a:p/>
          <a:p>
            <a:r>
              <a:t>Справа — выход, и это тот же самый механизм: экран завершения формы. Смотрите, что на нём напечатано. Шаг один — что пришло из формы. Шаг два — что предложила модель: тема, срочность, контакт, вытащенный прямо из текста. Шаг три — что осталось после сверки со справочником. Шаг четыре — куда легла строка: номер строки в таблице и статус.</a:t>
            </a:r>
          </a:p>
          <a:p/>
          <a:p>
            <a:r>
              <a:t>Здесь принципиальный момент, и он переносится в любой инструмент. Промежуточные шаги печатаются на экране намеренно. Обычный соблазн — показать только ответ, он же красивее. Но если на экране только ответ, то ошибку вы увидите ровно там, где она уже стала результатом: тема неверная, а почему — идите в журнал. Когда на экране видны все четыре шага, расхождение между тем, что предложила модель, и тем, что осталось после справочника, видно сразу и без расследования.</a:t>
            </a:r>
          </a:p>
          <a:p/>
          <a:p>
            <a:r>
              <a:t>И третье, самое переносимое. Сделайте выход видимым на том же экране, где был вход. Необходимость переключиться в другую вкладку, чтобы посмотреть, сработало ли, — это главный способ не заметить, что сработало неправильно. Мы это сегодня покажем вживую: я отправлю заявку с этой формы, и ответ появится здесь же, на этом же экране, через несколько секунд.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критерий — то, с чем можно выйти отсюда и применить к своей работе, не помня ни одного имени блока.</a:t>
            </a:r>
          </a:p>
          <a:p/>
          <a:p>
            <a:r>
              <a:t>Закрытый список нужен, когда результат шага читает </a:t>
            </a:r>
            <a:r>
              <a:rPr b="1"/>
              <a:t>следующий шаг</a:t>
            </a:r>
            <a:r>
              <a:t>: по нему фильтруют, сортируют, считают или решают, куда заявку отправить. Машина не умеет сравнивать свободный текст, и ей нужно конечное множество значений, известное заранее.</a:t>
            </a:r>
          </a:p>
          <a:p/>
          <a:p>
            <a:r>
              <a:t>Не нужен, когда результат читает </a:t>
            </a:r>
            <a:r>
              <a:rPr b="1"/>
              <a:t>человек</a:t>
            </a:r>
            <a:r>
              <a:t> и он же решает, что делать. Ему свободный текст помогает: в пересказе может оказаться деталь, которой в вашем списке нет. Не загоняйте в список то, что читают глазами.</a:t>
            </a:r>
          </a:p>
          <a:p/>
          <a:p>
            <a:r>
              <a:t>Вторая строка про отчётность. Если по полю когда-нибудь будет отчёт — «сколько заявок про оплату за месяц» — список нужен, и нужен с самого начала, потому что задним числом он не появится: старые строки останутся свободным текстом, и годовой отчёт сложит несравнимое. Если поле нужно один раз для одного письма — не тратьте время.</a:t>
            </a:r>
          </a:p>
          <a:p/>
          <a:p>
            <a:r>
              <a:t>Третья — про ответственность. Результат уходит в начисление, в рассылку, в обязательство перед клиентом: список обязателен. Ошибку заметит тот же человек в тот же день и поправит за минуту: обойдётесь.</a:t>
            </a:r>
          </a:p>
          <a:p/>
          <a:p>
            <a:r>
              <a:t>Четвёртая — про рост. Поток растёт, типов входа становится больше одного: нужен. Двадцать обращений в неделю и пять минут в день, и так будет дальше: подумайте дважды, прежде чем строить процесс, который придётся поддерживать.</a:t>
            </a:r>
          </a:p>
          <a:p/>
          <a:p>
            <a:r>
              <a:t>И предел, после которого список перестаёт работать, — одна фраза, но она дорогая. </a:t>
            </a:r>
            <a:r>
              <a:rPr b="1"/>
              <a:t>Список, в котором нет «иначе», не отказывает.</a:t>
            </a:r>
            <a:r>
              <a:t> Он заставляет модель выбрать ближайшее из того, что есть. Вы получите совершенно законное значение на заявке, которой в вашем списке не место, и не узнаете об этом никогда — ни одна проверка формата этого не поймает, потому что формат в порядке.</a:t>
            </a:r>
          </a:p>
          <a:p/>
          <a:p>
            <a:r>
              <a:t>Возвращаемся к оси. Первая строка: три узла заявку довозят, и это выглядит успехом. Чем оказалось: тема какая угодно, срочности нет вовсе, ручаться нечем. Разница между «работает» и «можно ручаться» здесь ровно в двух узлах — том, что сверяет со списком, и том, что показывает результат. Два узла из шести, и без них процесс работает, а отвечать за него нельзя.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то, без чего всё дальнейшее читается как магия. И сразу предупреждаю: это не общее свойство автоматизации процессов, это особенность n8n, и подавать я её буду именно так.</a:t>
            </a:r>
          </a:p>
          <a:p/>
          <a:p>
            <a:r>
              <a:t>В n8n между узлами всегда идёт список элементов. Всегда. Даже когда элемент один — это список из одного.</a:t>
            </a:r>
          </a:p>
          <a:p/>
          <a:p>
            <a:r>
              <a:t>И отсюда правило, выделенное на экране, которое объясняет половину странностей инструмента: </a:t>
            </a:r>
            <a:r>
              <a:rPr b="1"/>
              <a:t>узел выполняется по разу на каждый элемент списка</a:t>
            </a:r>
            <a:r>
              <a:t>. Не один раз на прогон. По разу на элемент.</a:t>
            </a:r>
          </a:p>
          <a:p/>
          <a:p>
            <a:r>
              <a:t>Посмотрите на схему: слева список из трёх заявок, справа один узел на холсте — и три его выполнения. Узел нарисован один, сработал трижды.</a:t>
            </a:r>
          </a:p>
          <a:p/>
          <a:p>
            <a:r>
              <a:t>И третья строка, техническая, но без неё вы будете спотыкаться на выражениях весь день. Каждый элемент — это объект с обязательной обёрткой: содержательная часть лежит в поле </a:t>
            </a:r>
            <a:r>
              <a:rPr>
                <a:latin typeface="Consolas"/>
              </a:rPr>
              <a:t>json</a:t>
            </a:r>
            <a:r>
              <a:t>, а если это файл — отдельно, в </a:t>
            </a:r>
            <a:r>
              <a:rPr>
                <a:latin typeface="Consolas"/>
              </a:rPr>
              <a:t>binary</a:t>
            </a:r>
            <a:r>
              <a:t>. Из-за этой обёртки в выражениях вы везде пишете </a:t>
            </a:r>
            <a:r>
              <a:rPr>
                <a:latin typeface="Consolas"/>
              </a:rPr>
              <a:t>$json</a:t>
            </a:r>
            <a:r>
              <a:t> точка имя поля, а не просто имя: вы спускаетесь на один уровень внутрь элемента.</a:t>
            </a:r>
          </a:p>
          <a:p/>
          <a:p>
            <a:r>
              <a:t>Что из правила следует практически — две строки в таблице перед вами, и обе вы увидите в первый же месяц работы.</a:t>
            </a:r>
          </a:p>
          <a:p/>
          <a:p>
            <a:r>
              <a:t>И последнее, что понадобится, когда захотите сработать </a:t>
            </a:r>
            <a:r>
              <a:rPr b="1"/>
              <a:t>один раз на весь список</a:t>
            </a:r>
            <a:r>
              <a:t> — скажем, отправить одно сводное письмо по всем заявкам. Для этого есть настройка на узле, «выполнить один раз»: он сработает единожды, с данными первого элемента. Лежит она в настройках узла, не в параметрах, и запомнить, где именно, стоит сейчас.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Процесс, который мы собрали, работает честно: пустых клеток нет, значения из списка, прогон зелёный. За это мы ручались и ручаемся.</a:t>
            </a:r>
          </a:p>
          <a:p/>
          <a:p>
            <a:r>
              <a:t>А теперь посмотрим, за что мы </a:t>
            </a:r>
            <a:r>
              <a:rPr b="1"/>
              <a:t>не</a:t>
            </a:r>
            <a:r>
              <a:t> ручались, — и обнаружится это не в журнале и не на моём экране, а в разговоре с человеком, который звонит и спрашивает, почему ему ответили на половину вопроса.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Сцена второго кейса, и она из того, что мы собрали пятнадцать минут назад.</a:t>
            </a:r>
          </a:p>
          <a:p/>
          <a:p>
            <a:r>
              <a:t>Процесс работает неделю. Ольга к нему привыкла: смотрит таблицу утром, звонит по срочным, остальное раскладывает после обеда. Жалоб нет, и это важно — всё выглядит хорошо.</a:t>
            </a:r>
          </a:p>
          <a:p/>
          <a:p>
            <a:r>
              <a:t>Вторник, двадцать минут двенадцатого. Приходит заявка: «можно перенести занятие со вторника? И подскажите, как оплатить». Две темы в одном сообщении, обе наши, обе есть в списке.</a:t>
            </a:r>
          </a:p>
          <a:p/>
          <a:p>
            <a:r>
              <a:t>В таблице появляется строка: тема «перенос занятия», срочность «не указано». Всё заполнено, значение из списка, прогон зелёный. По всем нашим обещаниям — успех, и его даже можно показать руководителю.</a:t>
            </a:r>
          </a:p>
          <a:p/>
          <a:p>
            <a:r>
              <a:t>Ольга видит тему, переносит занятие, закрывает заявку. Обратите внимание: она делает ровно то, что написано в столбце. Никакой халатности.</a:t>
            </a:r>
          </a:p>
          <a:p/>
          <a:p>
            <a:r>
              <a:t>Пятница. Человек звонит сам и спрашивает: а со счётом-то что? Про оплату не узнал никто. Её нет ни в таблице, ни в журнале, ни на экране результата — вторая тема не потерялась с ошибкой, её просто нет нигде.</a:t>
            </a:r>
          </a:p>
          <a:p/>
          <a:p>
            <a:r>
              <a:t>И вот что я прошу услышать точно. </a:t>
            </a:r>
            <a:r>
              <a:rPr b="1"/>
              <a:t>Это не ошибка процесса.</a:t>
            </a:r>
            <a:r>
              <a:t> Мы ручались, что клетка не пуста и значение из списка, — это выполнено. Что в клетке окажется всё, что было в заявке, мы не обещали никогда.</a:t>
            </a:r>
          </a:p>
          <a:p/>
          <a:p>
            <a:r>
              <a:t>Беда в другом: граница наших обещаний обнаружилась не на разборе и не в журнале, а в разговоре с клиентом. И ни один сторож сработать не мог — формально всё в порядке.</a:t>
            </a:r>
          </a:p>
          <a:p/>
          <a:p>
            <a:r>
              <a:t>Теперь вопрос: что с этим делать.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второй. Техническая часть здесь нулевая: все четыре варианта собираются одинаково легко, минут за пять. Выбор чисто содержательный, и поэтому он интереснее первого.</a:t>
            </a:r>
          </a:p>
          <a:p/>
          <a:p>
            <a:r>
              <a:t>Заявка перед вами целиком, читаю: «можно перенести занятие со вторника? И подскажите, как оплатить». В списке есть обе темы — и перенос, и оплата. А клетка в таблице одна.</a:t>
            </a:r>
          </a:p>
          <a:p/>
          <a:p>
            <a:r>
              <a:t>Сначала вопрос к себе. У вас в системе одна запись может относиться сразу к нескольким категориям? Тикет про две проблемы, письмо про три вопроса, резюме на две вакансии. Как это решено у вас — и, главное, </a:t>
            </a:r>
            <a:r>
              <a:rPr b="1"/>
              <a:t>решал ли это кто-то специально</a:t>
            </a:r>
            <a:r>
              <a:t> или оно сложилось само?</a:t>
            </a:r>
          </a:p>
          <a:p/>
          <a:p>
            <a:r>
              <a:t>Четыре карточки. Писать первую из найденных. Писать «другое». Делать две строки вместо одной. Писать главную и рядом пометку.</a:t>
            </a:r>
          </a:p>
          <a:p/>
          <a:p>
            <a:r>
              <a:t>Выбирайте. И думайте не про то, что красивее на схеме, а про Ольгу, которая завтра утром работает с этой таблицей: что она должна увидеть, чтобы не упустить вопрос про оплату.</a:t>
            </a:r>
          </a:p>
          <a:p/>
          <a:p>
            <a:r>
              <a:t>Как и в прошлый раз: </a:t>
            </a:r>
            <a:r>
              <a:rPr b="1"/>
              <a:t>правильных ответов здесь больше одного</a:t>
            </a:r>
            <a:r>
              <a:t>, все четыре живут в настоящих системах. Разбирать будем не «кто угадал», а кто чем платит.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Разбираем. И сразу скажу главное: все четыре способа встречаются в настоящих системах, ни один не ошибка. Смотрите на средний и правый столбцы — что способ делает и чего не делает.</a:t>
            </a:r>
          </a:p>
          <a:p/>
          <a:p>
            <a:r>
              <a:t>Первый, писать первую из найденных. Что делает: не стоит ни минуты работы, в процессе ничего не меняется. Чего не делает: вторая тема не остаётся </a:t>
            </a:r>
            <a:r>
              <a:rPr b="1"/>
              <a:t>нигде</a:t>
            </a:r>
            <a:r>
              <a:t> — ни в таблице, ни в журнале, ни на экране результата. Через три дня о ней напомнит человек, и это ровно то, что мы только что видели на сцене.</a:t>
            </a:r>
          </a:p>
          <a:p/>
          <a:p>
            <a:r>
              <a:t>Второй, писать «другое». Что делает: честно сообщает, что автоматика не справилась, и это </a:t>
            </a:r>
            <a:r>
              <a:rPr b="1"/>
              <a:t>видно по столбцу</a:t>
            </a:r>
            <a:r>
              <a:t> — заявка ждёт человека, и Ольга это заметит. Чего не делает: не отличает многотемье от настоящей экзотики. В «другое» начинает валиться всё, столбец разрастается, и уже непонятно, что именно непонятно.</a:t>
            </a:r>
          </a:p>
          <a:p/>
          <a:p>
            <a:r>
              <a:t>Третий, две строки из одной заявки. Что делает: каждая тема получает свой маршрут и своего ответственного, каждая закрывается независимо. Это, честно говоря, самый взрослый ответ. Чего не делает: не решает за вас, кто закрывает заявку и что считать выполненной — одна заявка стала двумя судьбами. И технически это другой приём: как из одного входа сделать несколько записей, разбираем на девятом занятии.</a:t>
            </a:r>
          </a:p>
          <a:p/>
          <a:p>
            <a:r>
              <a:t>Четвёртый, главная тема плюс пометка. Что делает: в таблице остаётся главное, остальное рядом одной клеткой, и сортировка по теме не ломается. Чего не делает: не заставляет никого эту пометку читать. Столбец, в который никто не смотрит, работает ровно как первый способ — только с записью, которую тоже никто не читает.</a:t>
            </a:r>
          </a:p>
          <a:p/>
          <a:p>
            <a:r>
              <a:t>Теперь поворот. Первый и второй различаются </a:t>
            </a:r>
            <a:r>
              <a:rPr b="1"/>
              <a:t>не точностью</a:t>
            </a:r>
            <a:r>
              <a:t>. Они различаются знанием о своём незнании. Первый уверен и неправ. Второй не знает — и говорит об этом вслух, прямо в столбце. Второе дороже при разработке: надо предусмотреть значение, место для разбора и человека. И дешевле в эксплуатации, потому что неверный ответ по виду не отличается от верного, а «другое» отличается сразу.</a:t>
            </a:r>
          </a:p>
          <a:p/>
          <a:p>
            <a:r>
              <a:t>Что берём под нашу задачу. Третий отложим до девятого занятия — он требует решения, кто закрывает заявку, а это разговор не на пять минут. Второй годится, если очередь «другого» кто-то разбирает. Берём четвёртый: главная плюс пометка. Причина простая и неакадемическая — сортировка по теме у Ольги уже работает, и ломать её мы не имеем права.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Снова взгляд сверху, и это сознательно тот же кадр — чтобы было видно: процесс мы не пересобираем.</a:t>
            </a:r>
          </a:p>
          <a:p/>
          <a:p>
            <a:r>
              <a:t>Золотым отмечены два узла, и только они меняются.</a:t>
            </a:r>
          </a:p>
          <a:p/>
          <a:p>
            <a:r>
              <a:t>Второй, извлечение. В его схеме появляется ещё одно поле — «ещё в заявке»: остальные темы из того же списка, если их в тексте несколько.</a:t>
            </a:r>
          </a:p>
          <a:p/>
          <a:p>
            <a:r>
              <a:t>Четвёртый, сверка со списком. Она получает ещё один столбец и проверяет его тем же справочником — то есть в пометку тоже не может попасть значение со стороны.</a:t>
            </a:r>
          </a:p>
          <a:p/>
          <a:p>
            <a:r>
              <a:t>Форма не трогается. Модель не трогается. Запись строки и экран результата — как были.</a:t>
            </a:r>
          </a:p>
          <a:p/>
          <a:p>
            <a:r>
              <a:t>Это важно не как техническая деталь, а как привычка: когда задача меняется, первым делом стоит спросить, </a:t>
            </a:r>
            <a:r>
              <a:rPr b="1"/>
              <a:t>сколько узлов из существующих придётся тронуть</a:t>
            </a:r>
            <a:r>
              <a:t>. Если ответ «почти все» — скорее всего, вы собираете второй процесс под видом правки первого, и честнее это признать.</a:t>
            </a:r>
          </a:p>
          <a:p/>
          <a:p>
            <a:r>
              <a:t>У нас ответ — два из шести. Открываем первый.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Берём четвёртый вариант — главная тема плюс пометка. И смотрите, что для этого меняется: два узла из шести. В схеме извлечения появляется ещё одно поле — «ещё в заявке», список тем кроме главной. И в сверке со списком появляется ещё один столбец, который проходит ту же проверку, что тема. Форму, модель, запись и экран не трогаем вовсе.</a:t>
            </a:r>
          </a:p>
          <a:p/>
          <a:p>
            <a:r>
              <a:t>В схеме извлечения появляется ещё одно поле — «ещё в заявке»: список тем, которые в тексте есть, кроме главной. В справочнике это поле проходит ту же сверку, что и тема, и попадает в отдельный столбец.</a:t>
            </a:r>
          </a:p>
          <a:p/>
          <a:p>
            <a:r>
              <a:t>Теперь прогоняю четыре заявки подряд — те самые, на которых классификация обычно и ломается.</a:t>
            </a:r>
          </a:p>
          <a:p/>
          <a:p>
            <a:r>
              <a:t>Первая — две темы. Тема «перенос занятия», и в столбце «ещё в заявке» теперь стоит «оплата». Вторая тема перестала исчезать.</a:t>
            </a:r>
          </a:p>
          <a:p/>
          <a:p>
            <a:r>
              <a:t>Вторая — три темы, и одна из них не наша: «хочу оплатить, перенести занятие и узнать про скидки для сотрудников». Смотрите на пометку: «перенос занятия · другое». Про скидки в справочнике нет ничего, и третья тема честно стала «другим» — не выдумкой и не пропуском.</a:t>
            </a:r>
          </a:p>
          <a:p/>
          <a:p>
            <a:r>
              <a:t>Третья — про юрлица. Такой темы в справочнике нет вовсе, и это правильно: мы не обязаны предусмотреть всё. Смотрите на экран: тема «другое». Честное «это не из нашего списка» — вместо пустой клетки и вместо выдумки.</a:t>
            </a:r>
          </a:p>
          <a:p/>
          <a:p>
            <a:r>
              <a:t>И четвёртая, моя любимая. Заявка из одного слова: «ок». Прогоняю. Тема «другое», срочность «не указано», строка в таблице есть. Процесс не упал, клетки не пусты, и никто не соврал.</a:t>
            </a:r>
          </a:p>
          <a:p/>
          <a:p>
            <a:r>
              <a:t>Вот что я хочу, чтобы вы отсюда унесли. Классификация надёжна не тогда, когда модель всегда права, а тогда, когда у неё есть законный способ сказать «не знаю» — и этот способ ведёт к человеку, а не в пустую клетку.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Критерий второго кейса, и он не про инструмент вовсе — он про то, как вы делите мир на части.</a:t>
            </a:r>
          </a:p>
          <a:p/>
          <a:p>
            <a:r>
              <a:t>Законный отказ нужен, когда вход приходит снаружи и вы не можете запретить людям писать то, чего в вашем списке нет. Это почти всегда так, если на входе человек: он пишет как умеет, и про юрлица он напишет, не спросив у вас разрешения.</a:t>
            </a:r>
          </a:p>
          <a:p/>
          <a:p>
            <a:r>
              <a:t>Не нужен, когда вход вы формируете сами. Выпадающий список в форме, фиксированный набор событий от системы — тогда непредусмотренного не будет по построению, и «другое» в нём лишнее.</a:t>
            </a:r>
          </a:p>
          <a:p/>
          <a:p>
            <a:r>
              <a:t>Вторая строка про многозначность. Если одна запись может относиться к нескольким категориям сразу и вы это уже видели — отказ нужен, и с ним надо решить, что делать с остатком. Если категории заведомо исключают друг друга — состояние заказа, тип документа — не усложняйте.</a:t>
            </a:r>
          </a:p>
          <a:p/>
          <a:p>
            <a:r>
              <a:t>Третья строка самая важная и самая пропускаемая. Отказ нужен, когда </a:t>
            </a:r>
            <a:r>
              <a:rPr b="1"/>
              <a:t>есть человек, которому поручено разбирать отложенное</a:t>
            </a:r>
            <a:r>
              <a:t>. Если разбирать некому — «другое» станет кладбищем, и честнее этого не делать: не строить процесс, который делает вид, что работает.</a:t>
            </a:r>
          </a:p>
          <a:p/>
          <a:p>
            <a:r>
              <a:t>Четвёртая — про цену. Если неверный ответ дороже задержки, воздерживаться правильно. Если задержка дороже ошибки — а бывает и так, например в поддержке, где ответить приблизительно сразу лучше, чем точно через сутки, — тогда пусть решает приблизительно.</a:t>
            </a:r>
          </a:p>
          <a:p/>
          <a:p>
            <a:r>
              <a:t>Предел называю прямо: </a:t>
            </a:r>
            <a:r>
              <a:rPr b="1"/>
              <a:t>очередь без владельца</a:t>
            </a:r>
            <a:r>
              <a:t>. «Другое» работает, пока есть человек, который в неё смотрит, и метрика, по которой видно её рост. Очередь, в которую никто не заглядывает, ничем не лучше молча потерянной заявки — разница только в том, что в ней есть запись, которую тоже никто не читает.</a:t>
            </a:r>
          </a:p>
          <a:p/>
          <a:p>
            <a:r>
              <a:t>И вторая строка оси. Клетка заполнена, значение законное — выглядит успехом, и его даже можно показать руководителю. Чем оказалось: вторая тема заявки исчезла молча. Мы это видели на экране своими глазами: отправили заявку про перенос и оплату, получили одну тему. Ни один сторож этого не поймает, потому что формально всё в порядке.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кейс начинается не с чьих-то слов, а с того, что видно в таблице. Или, точнее, с того, чего в ней не видно.</a:t>
            </a:r>
          </a:p>
          <a:p/>
          <a:p>
            <a:r>
              <a:t>Процесс работает неделю, к нему привыкли, заглядывают по делу. И в одно утро в таблице обнаруживается дырка — не ошибка, не сбой, а именно пропуск.</a:t>
            </a:r>
          </a:p>
          <a:p/>
          <a:p>
            <a:r>
              <a:t>Что это за утро и чего мы про него не знаем — следующий экран.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Сцена третьего кейса. Процесс работает три недели, Ольга к нему привыкла, в пятницу вечером всё было как обычно.</a:t>
            </a:r>
          </a:p>
          <a:p/>
          <a:p>
            <a:r>
              <a:t>Понедельник, девять утра. Ольга открывает таблицу — не проверять процесс, а просто посмотреть вчерашние заявки, по другому делу.</a:t>
            </a:r>
          </a:p>
          <a:p/>
          <a:p>
            <a:r>
              <a:t>И видит: строки за пятницу есть, строки за понедельник есть, а за субботу и воскресенье — ни одной.</a:t>
            </a:r>
          </a:p>
          <a:p/>
          <a:p>
            <a:r>
              <a:t>Теперь смотрите на то, чего в этой сцене </a:t>
            </a:r>
            <a:r>
              <a:rPr b="1"/>
              <a:t>нет</a:t>
            </a:r>
            <a:r>
              <a:t>, — это важнее того, что есть.</a:t>
            </a:r>
          </a:p>
          <a:p/>
          <a:p>
            <a:r>
              <a:t>Сколько заявок пришло за выходные? По журналу формы на сайте — приходили. Сколько именно и каких, надо идти смотреть, и это отдельная работа.</a:t>
            </a:r>
          </a:p>
          <a:p/>
          <a:p>
            <a:r>
              <a:t>Почему не узнали раньше? Письма об ошибке никто не получал. И вот тонкость, которую стоит проговорить вслух: </a:t>
            </a:r>
            <a:r>
              <a:rPr b="1"/>
              <a:t>отсутствие письма ничего не значит</a:t>
            </a:r>
            <a:r>
              <a:t>. Мы не получили сигнал не потому, что всё было хорошо, а потому, что кому его отправлять, никто не настраивал.</a:t>
            </a:r>
          </a:p>
          <a:p/>
          <a:p>
            <a:r>
              <a:t>Что процесс делал эти два дня? Он был опубликован и включён. Падал на каждой заявке? На части? Писал куда-то не туда? Неизвестно. Журнал прогонов посмотреть можно, и мы посмотрим, но на этот момент — неизвестно.</a:t>
            </a:r>
          </a:p>
          <a:p/>
          <a:p>
            <a:r>
              <a:t>И главное свойство этого класса сбоев, ради которого сцена и нужна: </a:t>
            </a:r>
            <a:r>
              <a:rPr b="1"/>
              <a:t>ни один сторож не сработал, и сработать не мог</a:t>
            </a:r>
            <a:r>
              <a:t>. Сторожа срабатывают на ошибки. Здесь ошибок нет — здесь нет записей. На отсутствие чего-то сработать нечем.</a:t>
            </a:r>
          </a:p>
          <a:p/>
          <a:p>
            <a:r>
              <a:t>А заметили случайно. Ольга зашла в таблицу по другому поводу. Сколько бы это продолжалось, не зайди она, — тоже неизвестно.</a:t>
            </a:r>
          </a:p>
          <a:p/>
          <a:p>
            <a:r>
              <a:t>Причина, кстати, выяснится скучная. Интересно не она, а что процесс должен был сделать вместо того, что сделал.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третий. Четыре варианта поведения, выбирайте один и готовьте довод.</a:t>
            </a:r>
          </a:p>
          <a:p/>
          <a:p>
            <a:r>
              <a:t>Остановить весь процесс: отказ — это отказ, дальше ехать незачем. Пропустить и идти дальше: одна заявка не разобралась, остальные не виноваты. Повторить: сеть моргнула, попробуем ещё раз. Отправить в отдельную ветку: пусть неудачные идут своей дорогой, разберём их отдельно.</a:t>
            </a:r>
          </a:p>
          <a:p/>
          <a:p>
            <a:r>
              <a:t>Одна подсказка, и она же проверка на внимательность. Правильный ответ задаётся тем, что стоит дальше по процессу. У нас дальше — запись строки в таблицу. Если бы дальше стояла, скажем, отправка счёта или увольнение сотрудника по итогам разбора, ответ был бы другим. Поэтому формулируйте не «надо повторять», а «надо повторять, потому что дальше у нас…».</a:t>
            </a:r>
          </a:p>
          <a:p/>
          <a:p>
            <a:r>
              <a:t>И вопрос в сторону, пока голосуете: кто-нибудь ставил такое поведение в своей системе сознательно, а не по умолчанию? Что стояло по умолчанию, знаете?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поворот, ради которого вопрос задавался именно так. Все четыре варианта, которые вы выбирали, — не абстракции.</a:t>
            </a:r>
          </a:p>
          <a:p/>
          <a:p>
            <a:r>
              <a:t>Вы сейчас голосовали за поведение — а выбирали, не зная того, из выпадающего списка. Все четыре варианта это значения настройки On Error в карточке любого узла. Не только узла модели — любого. Это стандартная часть устройства инструмента, и она есть у каждого шага.</a:t>
            </a:r>
          </a:p>
          <a:p/>
          <a:p>
            <a:r>
              <a:t>Пройдём по ним с ценой каждого.</a:t>
            </a:r>
          </a:p>
          <a:p/>
          <a:p>
            <a:r>
              <a:t>Stop Workflow — остановить всё. Стоит по умолчанию, то есть это то, что происходило в наши выходные. Уместно, когда дальше по процессу необратимое: счёт, письмо клиенту, списание. Лучше не сделать ничего, чем сделать половину.</a:t>
            </a:r>
          </a:p>
          <a:p/>
          <a:p>
            <a:r>
              <a:t>Continue — пропустить и идти дальше. Выглядит безобидно и является худшим из четырёх. Потому что «идти дальше» означает: текст ошибки поедет следующему узлу как обычные данные. То есть в столбце «тема» у вас окажется строка про таймаут соединения. Процесс при этом зелёный. Это та же беда, что в кейсе два, и теперь вы её узнаёте.</a:t>
            </a:r>
          </a:p>
          <a:p/>
          <a:p>
            <a:r>
              <a:t>Continue using error output — у узла появляется второй выход, подписанный error, и неудачные элементы идут в него. Это то, что нужно, когда отказы хочется видеть и разбирать.</a:t>
            </a:r>
          </a:p>
          <a:p/>
          <a:p>
            <a:r>
              <a:t>И отдельно Retry On Fail — это не альтернатива трём предыдущим, а то, что происходит до них. Повторяет N раз, и только если все попытки провалились, применяется выбранное поведение. Для сетевых отказов это первая линия: таймаут в большинстве случаев проходит со второй попытки.</a:t>
            </a:r>
          </a:p>
          <a:p/>
          <a:p>
            <a:r>
              <a:t>Кто голосовал за остановку всего процесса — вы выбрали то, что и так стояло. Именно поэтому таблица пустая.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Взгляд сверху на то, что получилось после правки, — и здесь он нужнее, чем в прошлых кейсах, потому что форма процесса изменилась.</a:t>
            </a:r>
          </a:p>
          <a:p/>
          <a:p>
            <a:r>
              <a:t>Метка один — на узле извлечения. Присмотритесь к самому узлу: в правом верхнем углу появился маленький значок, две стрелки по кругу. Это повтор. И вот что в нём интересно помимо смысла: </a:t>
            </a:r>
            <a:r>
              <a:rPr b="1"/>
              <a:t>это одна из немногих настроек, которую видно снаружи</a:t>
            </a:r>
            <a:r>
              <a:t>, не открывая карточку. Большинство настроек так не увидишь — узел выглядит обычным, а внутри у него может стоять что угодно. Отсюда простое правило: если вы разбираетесь в чужом процессе, значки на узлах — первое, что стоит прочитать.</a:t>
            </a:r>
          </a:p>
          <a:p/>
          <a:p>
            <a:r>
              <a:t>Метка два — второй выход узла, подписан </a:t>
            </a:r>
            <a:r>
              <a:rPr>
                <a:latin typeface="Consolas"/>
              </a:rPr>
              <a:t>Error</a:t>
            </a:r>
            <a:r>
              <a:t>. Был один выход, стало два. Это и есть то, что мы настроили: элемент, на котором вызов не удался, уходит не дальше по общей дороге, а в свою.</a:t>
            </a:r>
          </a:p>
          <a:p/>
          <a:p>
            <a:r>
              <a:t>Метка три — сама ветка отказа. И обратите внимание, куда она ведёт: не в тупик и не в никуда, а в ту же таблицу, только со своей пометкой, и дальше в свой экран результата.</a:t>
            </a:r>
          </a:p>
          <a:p/>
          <a:p>
            <a:r>
              <a:t>Почему в ту же таблицу, а не в отдельное место: потому что Ольга смотрит одну таблицу. Если неудачные заявки лежат в другой, она туда не пойдёт, пока не заподозрит, что надо. А чем это кончается, мы только что видели на сцене — двое суток пропуска.</a:t>
            </a:r>
          </a:p>
          <a:p/>
          <a:p>
            <a:r>
              <a:t>Теперь открываем вкладку настроек и смотрим, какими двумя параметрами это сделано.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Собираю. Открываю карточку узла извлечения, иду в настройки — это отдельная вкладка, не параметры.</a:t>
            </a:r>
          </a:p>
          <a:p/>
          <a:p>
            <a:r>
              <a:t>Включаю Retry On Fail. Появляются два поля: сколько попыток и сколько ждать между ними. Ставлю три попытки и две секунды.</a:t>
            </a:r>
          </a:p>
          <a:p/>
          <a:p>
            <a:r>
              <a:t>Ниже On Error, выбираю Continue using error output. Смотрите на холст: у узла появился второй выход, подписанный и отрисованный красным.</a:t>
            </a:r>
          </a:p>
          <a:p/>
          <a:p>
            <a:r>
              <a:t>Теперь куда его вести. В ту же таблицу, только значения другие: тема «другое», срочность «не указано», </a:t>
            </a:r>
            <a:r>
              <a:rPr>
                <a:latin typeface="Consolas"/>
              </a:rPr>
              <a:t>status</a:t>
            </a:r>
            <a:r>
              <a:t> становится </a:t>
            </a:r>
            <a:r>
              <a:rPr>
                <a:latin typeface="Consolas"/>
              </a:rPr>
              <a:t>not_parsed</a:t>
            </a:r>
            <a:r>
              <a:t> вместо </a:t>
            </a:r>
            <a:r>
              <a:rPr>
                <a:latin typeface="Consolas"/>
              </a:rPr>
              <a:t>ok</a:t>
            </a:r>
            <a:r>
              <a:t>. И дальше свой экран результата, который честно печатает: вызов не удался после трёх попыток, строка записана, вот её номер.</a:t>
            </a:r>
          </a:p>
          <a:p/>
          <a:p>
            <a:r>
              <a:t>Почему в ту же таблицу, а не в отдельное место: потому что человек, который утром смотрит заявки, смотрит одну таблицу. Если неудачные лежат в другом месте, он туда не пойдёт, пока не заподозрит. А мы только что видели, во что это обходится — двое суток пропуска.</a:t>
            </a:r>
          </a:p>
          <a:p/>
          <a:p>
            <a:r>
              <a:t>Теперь показываю, что это работает, и показываю настоящим отказом. Порчу ключ провайдера: добавляю лишний символ. Отправляю заявку.</a:t>
            </a:r>
          </a:p>
          <a:p/>
          <a:p>
            <a:r>
              <a:t>Смотрите на журнал. Три попытки с паузами, все три неудачны — и обратите внимание, где они показаны: на узле модели, а не на узле извлечения. Повтор стоит на извлечении, а платим мы тремя вызовами модели. Запомните это к следующему экрану.</a:t>
            </a:r>
          </a:p>
          <a:p/>
          <a:p>
            <a:r>
              <a:t>Дальше элемент уходит в красную ветку, и в ней он несёт исходные данные формы плюс поле с текстом ошибки — то есть в таблицу можно записать и саму заявку, и причину. Экран печатает «заявка принята, но не разобрана».</a:t>
            </a:r>
          </a:p>
          <a:p/>
          <a:p>
            <a:r>
              <a:t>И главное число: статус всего прогона — успех. Три отказа подряд, а прогон зелёный.</a:t>
            </a:r>
          </a:p>
          <a:p/>
          <a:p>
            <a:r>
              <a:t>Возвращаю ключ, отправляю ещё раз. Экран обычный, строка нормальная. Один узел, две судьбы, и обе видны там, где заявку отправили.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Критерий третьего кейса, и он шире нашего инструмента: это правила из инженерной практики распределённых систем. Вы встретите их в очередях сообщений, в клиентах к чужому API, в платёжных интеграциях.</a:t>
            </a:r>
          </a:p>
          <a:p/>
          <a:p>
            <a:r>
              <a:t>Повторять нужно, когда отказ </a:t>
            </a:r>
            <a:r>
              <a:rPr b="1"/>
              <a:t>временный</a:t>
            </a:r>
            <a:r>
              <a:t>: таймаут, превышение лимита запросов, «сервис временно перегружен». Со второй попытки обычно проходит.</a:t>
            </a:r>
          </a:p>
          <a:p/>
          <a:p>
            <a:r>
              <a:t>Нельзя, когда отказ </a:t>
            </a:r>
            <a:r>
              <a:rPr b="1"/>
              <a:t>постоянный</a:t>
            </a:r>
            <a:r>
              <a:t>: неверный ключ, негодный запрос, отсутствует обязательное поле. Повтор не поможет никогда и лишь утроит расход на ту же ошибку. И обратите внимание: инструмент эти два класса сам не различает — он повторяет всё, на чём вы поставили галочку. Различать по коду ответа приходится вам, заранее.</a:t>
            </a:r>
          </a:p>
          <a:p/>
          <a:p>
            <a:r>
              <a:t>Вторая строка — про идемпотентность, и слово стоит запомнить. Идемпотентная операция — та, которую можно выполнить дважды с тем же результатом. Чтение идемпотентно всегда. Отправить письмо, создать заказ, списать деньги — нет. И вот ловушка: таймаут означает ровно одно, «ответ не пришёл». Произошло ли действие, он не говорит. Письмо могло уйти, деньги могли списаться, а потеряться мог только ответ — и повтор тогда сделает это второй раз.</a:t>
            </a:r>
          </a:p>
          <a:p/>
          <a:p>
            <a:r>
              <a:t>Третья строка — про слои, и здесь есть число, которое стоит запомнить. Если повтор включён на каждом слое, слои множат друг друга: три попытки на каждом из пяти слоёв дают двести сорок три обращения вместо одного. Поэтому повторяют в одном месте стека. У нас в оркестраторе галочка «повторить» есть на каждом узле, и соблазн поставить её всюду прямой.</a:t>
            </a:r>
          </a:p>
          <a:p/>
          <a:p>
            <a:r>
              <a:t>Четвёртая — про разброс. Фиксированная задержка означает, что все клиенты повторят синхронно и добьют сервис, который только начал подниматься. Нужен случайный разброс; в простых оркестраторах его обычно нет, и это повод не ставить повтор на горячий путь без размышления.</a:t>
            </a:r>
          </a:p>
          <a:p/>
          <a:p>
            <a:r>
              <a:t>Предел: </a:t>
            </a:r>
            <a:r>
              <a:rPr b="1"/>
              <a:t>отказ, которому некуда идти</a:t>
            </a:r>
            <a:r>
              <a:t>. Он не исчезает, он превращается в отсутствие записи. А отсутствие записи не мониторит никто — ни один сторож не умеет сработать на то, чего нет. Ровно так и получаются двое суток пропуска, с которых мы начали.</a:t>
            </a:r>
          </a:p>
          <a:p/>
          <a:p>
            <a:r>
              <a:t>Третья строка оси. Прогон зелёный, в журнале ни одной ошибки — выглядит успехом, и именно так это выглядело в пятницу вечером. Чем оказалось: три отказа подряд и заявки за выходные неразобранные. Мы это видели вместе: я испортил ключ при вас, и статус прогона остался успешным.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Четвёртый кейс, и он единственный, где мы ничего не будем достраивать. Процесс уже собран, работает и проверен.</a:t>
            </a:r>
          </a:p>
          <a:p/>
          <a:p>
            <a:r>
              <a:t>Здесь мы разберём другое: почему собранное работает не так, как выглядит, — и почему проверка, которой мы пользовались весь последний час, этого не показывает.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Сцена четвёртого кейса, и это единственный кейс, где мы ничего не будем достраивать: здесь мы разберём, почему уже собранное работает не так, как выглядит.</a:t>
            </a:r>
          </a:p>
          <a:p/>
          <a:p>
            <a:r>
              <a:t>И здесь у истории есть лицо, та же администратор. Она говорит: тема определяется слишком общо — «курс» стоит там, где речь про конкретную программу, и заявки уходят не тому человеку.</a:t>
            </a:r>
          </a:p>
          <a:p/>
          <a:p>
            <a:r>
              <a:t>Вы поправили формулировку запроса в узле извлечения. В карточке стоит новый текст, никто его не откатывал.</a:t>
            </a:r>
          </a:p>
          <a:p/>
          <a:p>
            <a:r>
              <a:t>Проверили ручным запуском на трёх её заявках, при ней. Все три разобраны правильно, именно так, как она просила. Закрыли и пошли дальше — и, обратите внимание, сделали всё, что обычно считается достаточным, и даже показали человеку результат.</a:t>
            </a:r>
          </a:p>
          <a:p/>
          <a:p>
            <a:r>
              <a:t>На следующий день она открывает таблицу за сутки. Все заявки разобраны по-старому. Ни одной по новой формулировке — и она приходит с этим к вам.</a:t>
            </a:r>
          </a:p>
          <a:p/>
          <a:p>
            <a:r>
              <a:t>Вы открываете холст: правка на месте. Запускаете руками: снова правильно. И объяснить ей это нечем.</a:t>
            </a:r>
          </a:p>
          <a:p/>
          <a:p>
            <a:r>
              <a:t>Вот эти два утверждения и держат кейс: </a:t>
            </a:r>
            <a:r>
              <a:rPr b="1"/>
              <a:t>правка есть и работает</a:t>
            </a:r>
            <a:r>
              <a:t> — и </a:t>
            </a:r>
            <a:r>
              <a:rPr b="1"/>
              <a:t>в бою её нет</a:t>
            </a:r>
            <a:r>
              <a:t>. Оба верны одновременно, и это не чья-то забывчивость и не чья-то ошибка.</a:t>
            </a:r>
          </a:p>
          <a:p/>
          <a:p>
            <a:r>
              <a:t>И самое неприятное в этой сцене: проверка руками показывала правильный результат всё это время, и показывала </a:t>
            </a:r>
            <a:r>
              <a:rPr b="1"/>
              <a:t>честно</a:t>
            </a:r>
            <a:r>
              <a:t>. Она не врала. Она просто проверяла не то, что работало в бою.</a:t>
            </a:r>
          </a:p>
          <a:p/>
          <a:p>
            <a:r>
              <a:t>Я ставлю этот кейс последним намеренно. На первых трёх мы собирали, и всё, что собирали, проверяли ручным запуском — тем самым способом, который здесь оказывается недостаточным. Скажи я про это в начале, вы бы запомнили правило. А сейчас вы сначала увидели цену его незнания.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четвёртый, и голосуем так же: один вариант, довод.</a:t>
            </a:r>
          </a:p>
          <a:p/>
          <a:p>
            <a:r>
              <a:t>Правку не сохранили — забыли нажать кнопку, бывает. Сохранили, но не опубликовали — есть какой-то отдельный шаг, который не сделали. Кэш — где-то лежит старая версия, само пройдёт. Ручной запуск и боевой — разные пути, и правка попала только в один из них.</a:t>
            </a:r>
          </a:p>
          <a:p/>
          <a:p>
            <a:r>
              <a:t>Выбирайте и формулируйте довод. В разборе будет неожиданное — про то, сколько здесь правильных ответов.</a:t>
            </a:r>
          </a:p>
          <a:p/>
          <a:p>
            <a:r>
              <a:t>И тот, кто выберет первую, пусть скажет: а вы вообще видели в этом инструменте кнопку «Сохранить»? Вспомните последний час. Мы тут собрали три процесса, и ни один из нас ни разу ничего не сохранял.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кейс отличается от трёх предыдущих: в нём ничего не надо собирать, и предмет его — не узел, а состояние сценария.</a:t>
            </a:r>
          </a:p>
          <a:p/>
          <a:p>
            <a:r>
              <a:t>Смотрите в правый верхний угол редактора. Там написано </a:t>
            </a:r>
            <a:r>
              <a:rPr>
                <a:latin typeface="Consolas"/>
              </a:rPr>
              <a:t>Published</a:t>
            </a:r>
            <a:r>
              <a:t>. Всё это занятие оно там и было, и, подозреваю, никто из вас на него не смотрел — я тоже не смотрю, когда работаю.</a:t>
            </a:r>
          </a:p>
          <a:p/>
          <a:p>
            <a:r>
              <a:t>Что оно означает. У сценария есть две версии одновременно. Та, что открыта у вас в редакторе, — черновик: он сохраняется сам, постоянно, кнопки «Сохранить» в этом инструменте нет вовсе. И опубликованная — та, по которой идут боевые прогоны.</a:t>
            </a:r>
          </a:p>
          <a:p/>
          <a:p>
            <a:r>
              <a:t>Рядом со значком есть стрелка вниз. Под ней и живёт действие, которым правка уходит в бой. Одно действие, которое надо не забыть сделать.</a:t>
            </a:r>
          </a:p>
          <a:p/>
          <a:p>
            <a:r>
              <a:t>Вот и весь ответ на вопрос, с которого кейс начался: правка на холсте есть, в бою её нет, и оба утверждения верны. Между ними — этот значок и эта стрелка.</a:t>
            </a:r>
          </a:p>
          <a:p/>
          <a:p>
            <a:r>
              <a:t>Дальше разберём, что из четырёх карточек это объясняет, а что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 сразу то, что я придержал: </a:t>
            </a:r>
            <a:r>
              <a:rPr b="1"/>
              <a:t>правильных карточек здесь две</a:t>
            </a:r>
            <a:r>
              <a:t> — не потому, что я схитрил с формулировками, а потому что две из четырёх описывают одно явление с разных сторон. Сначала механика, в ней три утверждения, и из неё обе станут видны.</a:t>
            </a:r>
          </a:p>
          <a:p/>
          <a:p>
            <a:r>
              <a:t>Первое: правки сохраняются сами и постоянно, в черновик. Кнопки «Сохранить» в этом инструменте нет вовсе — вы её не искали, потому что она не нужна.</a:t>
            </a:r>
          </a:p>
          <a:p/>
          <a:p>
            <a:r>
              <a:t>Второе: в боевой режим правка уходит отдельным действием, которое называется Publish.</a:t>
            </a:r>
          </a:p>
          <a:p/>
          <a:p>
            <a:r>
              <a:t>Третье, и оно главное: боевые прогоны исполняют опубликованную версию, а не ту, что открыта у вас в редакторе. Это две разные версии сценария, обе существуют одновременно, и обе живые.</a:t>
            </a:r>
          </a:p>
          <a:p/>
          <a:p>
            <a:r>
              <a:t>Теперь понятно, почему верны вторая и четвёртая карточки и почему это одно и то же. Вторая говорит, чего не сделали: не опубликовали. Четвёртая говорит, как это устроено: ручной запуск идёт по черновику, боевой — по опубликованному. Одно явление, два описания.</a:t>
            </a:r>
          </a:p>
          <a:p/>
          <a:p>
            <a:r>
              <a:t>Первая неверна: сохранять нечего. Третья неверна, и это полезная неверность — ждать можно сутки, ничего не изменится, потому что никакого кэша здесь нет. Есть две версии, и одна из них старая по вашему же решению.</a:t>
            </a:r>
          </a:p>
          <a:p/>
          <a:p>
            <a:r>
              <a:t>Отдельно про слово. Раньше в этом инструменте была кнопка «Активировать», и многие курсы и статьи до сих пор говорят «активируй сценарий». В версии 2 этого слова в интерфейсе нет: его место занял Publish, и значит он другое. Активация включала сценарий; публикация выкладывает версию. Если найдёте инструкцию со словом «активировать» — она про старую версию, и дальше в ней могут быть расхождения серьёзнее одного слова.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Критерий четвёртого кейса — про то, что проверять настоящим событием, а что хватит проверить руками. Это разделение экономит часы, и его почти никто не делает сознательно.</a:t>
            </a:r>
          </a:p>
          <a:p/>
          <a:p>
            <a:r>
              <a:t>Настоящим событием проверяют обработчик ошибок. Его триггер срабатывает только на автоматическом прогоне: нажмёте «выполнить» — не произойдёт ничего, вообще ничего, и это правильное поведение. На следующем занятии мы это соберём, и я говорю заранее, чтобы там не разбираться полчаса.</a:t>
            </a:r>
          </a:p>
          <a:p/>
          <a:p>
            <a:r>
              <a:t>Так же — расписание. Сработает ли в нужный момент, и, что важнее, что будет, если прогон не успел закончиться до следующего запуска. Руками этого не увидеть.</a:t>
            </a:r>
          </a:p>
          <a:p/>
          <a:p>
            <a:r>
              <a:t>Так же — реакция на вызов чужой системы: тот ли адрес, та ли авторизация, тот ли формат. И поведение на объёме: тут неожиданно наоборот, ручной прогон </a:t>
            </a:r>
            <a:r>
              <a:rPr b="1"/>
              <a:t>тяжелее</a:t>
            </a:r>
            <a:r>
              <a:t> боевого, потому что инструмент копирует все промежуточные данные, чтобы показать их вам. На больших объёмах ручной падает там, где боевой проходит. То есть «проверил руками — упало» тоже не всегда правда о бое.</a:t>
            </a:r>
          </a:p>
          <a:p/>
          <a:p>
            <a:r>
              <a:t>Руками хватает проверять логику шагов на обычных данных, форму и её поля, выражения и преобразования — всё, что видно прямо в данных узла.</a:t>
            </a:r>
          </a:p>
          <a:p/>
          <a:p>
            <a:r>
              <a:t>Предел этого кейса — единственный пункт занятия про безопасность, и он нужен вам прямо сегодня, потому что файл вы унесёте. Вместе с файлом сценария уезжает больше, чем кажется. Секретов в нём нет: пароли и ключи инструмент хранит отдельно, в файл они не попадают. А вот идентификаторы и имена подключений, адреса, пути, имена таблиц и внутренних сервисов — попадают. Я это обнаружил на нашем же файле: студенческий пришлось собирать отдельно, со снятыми привязками, иначе он утащил бы ссылки на мой стенд.</a:t>
            </a:r>
          </a:p>
          <a:p/>
          <a:p>
            <a:r>
              <a:t>Правило простое, и выполняйте его механически, без размышлений: прежде чем отдать файл сценария кому-то — откройте его и прочитайте глазами. Тридцать секунд. Паролей там нет, а лишнее бывает, и чаще всего это лишнее про вашу инфраструктуру.</a:t>
            </a:r>
          </a:p>
          <a:p/>
          <a:p>
            <a:r>
              <a:t>Четвёртая строка оси. Правка на холсте есть, никто её не откатывал — выглядит успехом, и выглядит настолько убедительно, что проверять не хочется. Чем оказалось: сутки работы по старой версии.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Возвращаемся к таблице, с которой начинали. Правая колонка больше не пустая, и заполняли её не мои слова, а экран.</a:t>
            </a:r>
          </a:p>
          <a:p/>
          <a:p>
            <a:r>
              <a:t>Три узла — заявка доезжает до таблицы. Чем оказалось: тема будет какой угодно, срочности не будет вовсе. Мы это видели в первом кейсе до того, как поставили справочник.</a:t>
            </a:r>
          </a:p>
          <a:p/>
          <a:p>
            <a:r>
              <a:t>Клетка заполнена, значение законное. Чем оказалось: вторая тема заявки исчезла молча. Мы отправили заявку про перенос и оплату и увидели на экране одну тему.</a:t>
            </a:r>
          </a:p>
          <a:p/>
          <a:p>
            <a:r>
              <a:t>Прогон зелёный, ни одной ошибки в журнале. Чем оказалось: три отказа подряд и заявки за выходные неразобранные. Я при вас испортил ключ и мы вместе смотрели, как статус прогона остался успешным.</a:t>
            </a:r>
          </a:p>
          <a:p/>
          <a:p>
            <a:r>
              <a:t>Правка на холсте есть, никто её не откатывал. Чем оказалось: сутки работы по старой версии, потому что опубликовать — отдельное действие.</a:t>
            </a:r>
          </a:p>
          <a:p/>
          <a:p>
            <a:r>
              <a:t>Теперь главный вопрос, тот же, что я задавал в начале, и теперь он не риторический. </a:t>
            </a:r>
            <a:r>
              <a:rPr b="1"/>
              <a:t>Возьмите процесс, который у вас на работе уже работает. Он работает — или за него можно ручаться?</a:t>
            </a:r>
          </a:p>
          <a:p/>
          <a:p>
            <a:r>
              <a:t>Проверить это можно четырьмя способами, которые вы теперь знаете, и ни один не требует верить мне на слово. Первый: посмотрите, может ли результат шага оказаться значением вне списка. Второй: посмотрите, что происходит с тем, что в список не влезло. Третий: посмотрите, чем отличается «прогон завершился» от «результат годен», и что у вас проверяет второе. Четвёртый: посмотрите, что сейчас работает в бою и совпадает ли это с тем, что открыто у вас в редакторе.</a:t>
            </a:r>
          </a:p>
          <a:p/>
          <a:p>
            <a:r>
              <a:t>Если вы зададите эти четыре вопроса своему процессу на этой неделе — занятие удалось, даже если имена блоков вы забудете к пятнице.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Соберём, что получилось за полтора часа.</a:t>
            </a:r>
          </a:p>
          <a:p/>
          <a:p>
            <a:r>
              <a:t>Форма принимает заявку и сама объясняет человеку, что с его текстом произойдёт. Узел извлечения достаёт тему, срочность, контакт из текста и пометку о других темах — всё по схеме с перечислением. Справочник сверяет и не оставляет ни пустых клеток, ни значений вне списка. Строка уходит в таблицу. Экран результата печатает всю дорогу в том же окне. А на узле извлечения стоят повтор и вторая ветка, так что отказ вызова тоже доезжает — с пометкой, а не в тишину.</a:t>
            </a:r>
          </a:p>
          <a:p/>
          <a:p>
            <a:r>
              <a:t>Это не учебная заготовка. Такой процесс можно поставить в небольшом центре, и он будет приносить пользу, пока поток не вырастет. За каждую строку в этой таблице можно отвечать — ровно это мы и обсуждали в первом кейсе.</a:t>
            </a:r>
          </a:p>
          <a:p/>
          <a:p>
            <a:r>
              <a:t>Файл называется так, как на экране. Ставится одним импортом через меню сценария. Что нужно с вашей стороны: свой n8n и ключ провайдера модели. Инструкция по подъёму идёт вместе с файлом, там оба способа — с контейнером и без.</a:t>
            </a:r>
          </a:p>
          <a:p/>
          <a:p>
            <a:r>
              <a:t>Два узла в файле придётся настроить самим, и это сделано намеренно: в узле модели пустые учётные данные, в узле таблицы — пустой выбор таблицы. Мой стенд вам недоступен, и чужой идентификатор в этих полях выглядел бы сломанным узлом — десять минут недоумения на ровном месте.</a:t>
            </a:r>
          </a:p>
          <a:p/>
          <a:p>
            <a:r>
              <a:t>Задание на дом не письменное, и его никто не проверяет. Просьба такая: поставьте, отправьте три заявки, похожие на вашу настоящую работу, и посмотрите на экран результата. Где развалится первым? Оно развалится, у меня на этот счёт иллюзий нет.</a:t>
            </a:r>
          </a:p>
          <a:p/>
          <a:p>
            <a:r>
              <a:t>С этого мы и начнём следующее занятие.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Чем мы заканчиваем и чего нам не хватает.</a:t>
            </a:r>
          </a:p>
          <a:p/>
          <a:p>
            <a:r>
              <a:t>Сейчас у нас одна дорога. Любая заявка идёт через один и тот же шаг и попадает в одну и ту же таблицу. Пока заявки однотипные — этого достаточно, мы только что это и обсуждали.</a:t>
            </a:r>
          </a:p>
          <a:p/>
          <a:p>
            <a:r>
              <a:t>Но тема у нас уже выделена отдельным полем. И как только она выделена, сразу видно, что заявка про оплату и заявка про перенос занятия должны ехать дальше по-разному: одна бухгалтеру, другая в расписание. Одной дорогой это не делается.</a:t>
            </a:r>
          </a:p>
          <a:p/>
          <a:p>
            <a:r>
              <a:t>Следующее занятие про развилку. Как она устроена, по какому полю разводит, и главный вопрос, который на ней обычно забывают: что делать с тем, что не подошло ни под одну ветку. Мы такую заявку уже видели: «а вы сотрудничаете с юрлицами?» дала законное «другое», и это была победа списка. А на развилке её придётся куда-то отправить — и «другое» само по себе не говорит, в какую ветку. У инструмента на этот случай есть ответ по умолчанию, и он вам не понравится.</a:t>
            </a:r>
          </a:p>
          <a:p/>
          <a:p>
            <a:r>
              <a:t>Там же будет проверка результата шага до того, как он уехал дальше: сегодня мы ловили отказ вызова, а это другое — вызов прошёл, а результат негодный.</a:t>
            </a:r>
          </a:p>
          <a:p/>
          <a:p>
            <a:r>
              <a:t>И одна вещь, которую я скажу заранее, чтобы вы заранее не поверили в обратное. Ветки, которые на холсте выглядят параллельными, выполняются по очереди, одна за другой, в порядке их положения на экране. Разберём почему.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"/>
            <a:ext cx="10515600" cy="1298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3456"/>
              </a:lnSpc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Arial"/>
              </a:rPr>
              <a:t>Первый работающий процесс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847088"/>
            <a:ext cx="12191695" cy="640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098798"/>
            <a:ext cx="10515600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24"/>
              </a:lnSpc>
              <a:spcAft>
                <a:spcPts val="400"/>
              </a:spcAft>
            </a:pPr>
            <a:r>
              <a:rPr sz="1800" b="0" i="0">
                <a:solidFill>
                  <a:srgbClr val="D6E2EC"/>
                </a:solidFill>
                <a:latin typeface="Arial"/>
              </a:rPr>
              <a:t>Процессы на больших языковых моделях (LLM): занятие первое из шести.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Куда мы идём: шесть занятий, девять ступеней</a:t>
            </a:r>
          </a:p>
        </p:txBody>
      </p:sp>
      <p:pic>
        <p:nvPicPr>
          <p:cNvPr id="3" name="Picture 2" descr="lestnitsa-dug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001" y="943356"/>
            <a:ext cx="10724949" cy="3396233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4504181"/>
            <a:ext cx="82296" cy="73101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4632197"/>
            <a:ext cx="10643616" cy="4749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98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Правило движения по ней, из Лекции 3: </a:t>
            </a:r>
            <a:r>
              <a:rPr sz="1450" b="1" i="0">
                <a:solidFill>
                  <a:srgbClr val="141B2E"/>
                </a:solidFill>
                <a:latin typeface="Arial"/>
              </a:rPr>
              <a:t>не поднимайся без требования, которого ступень ниже не закрывает.</a:t>
            </a:r>
            <a:r>
              <a:rPr sz="1450" b="1" i="0">
                <a:solidFill>
                  <a:srgbClr val="141B2E"/>
                </a:solidFill>
                <a:latin typeface="Arial"/>
              </a:rPr>
              <a:t> Это то же инженерное «делай простейшее, что работает», переведённое на язык процессов.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399785"/>
            <a:ext cx="82296" cy="715263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5527801"/>
            <a:ext cx="10643616" cy="4592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36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Сегодня мы закрываем </a:t>
            </a:r>
            <a:r>
              <a:rPr sz="1400" b="1" i="0">
                <a:solidFill>
                  <a:srgbClr val="141B2E"/>
                </a:solidFill>
                <a:latin typeface="Arial"/>
              </a:rPr>
              <a:t>вторую ступень снизу</a:t>
            </a:r>
            <a:r>
              <a:rPr sz="1400" b="1" i="0">
                <a:solidFill>
                  <a:srgbClr val="141B2E"/>
                </a:solidFill>
                <a:latin typeface="Arial"/>
              </a:rPr>
              <a:t> — цепочку. На ней заканчивается большинство реальных задач, и поэтому ей отведено целое занятие, а не десять минут.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Из Лекции 3: что такое цепочка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79093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107109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Критерий выбора оттуда же, одной фразой: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задача предсказуема — workflow; последовательность шагов принципиально зависит от промежуточных результатов и задача того стоит — агент.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216010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344026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У workflow есть собственная палитра из пяти схем, и все пять — предопределённые: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980486"/>
            <a:ext cx="11183112" cy="2292858"/>
          </a:xfrm>
          <a:prstGeom prst="roundRect">
            <a:avLst>
              <a:gd name="adj" fmla="val 1329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3199942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" y="3199942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Цепочка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— шаги друг за другом, выход одного становится входом следующего; между ними можно поставить проверку. Сегодня собираем её.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732580"/>
            <a:ext cx="329184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" y="3732580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Маршрут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— первый шаг относит вход к классу, дальше у каждого класса свой путь.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4062907"/>
            <a:ext cx="329184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" y="4062907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Параллель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— независимые подзадачи выполняются сразу, результат сводится детерминированно.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4393234"/>
            <a:ext cx="329184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6424" y="4393234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Дирижёр и исполнители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— центральный шаг делит задачу на части в заданных рамках и раздаёт их.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4723561"/>
            <a:ext cx="329184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6424" y="4723561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Эталон и переделка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— один шаг делает, другой оценивает, и так по кругу до порога.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27281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5655297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И фраза из лекции, которую стоит повторить дословно: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большинство надёжных продакшн-систем — это workflow с предопределёнными путями, а не полностью динамические агенты.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Из Лекции 3: почему не сразу агенты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62837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190853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Если в конвейере десять шагов и сбой любого портит результат, общая надёжность — это надёжность шага в десятой степени. Девяносто пять процентов на шаг звучит прилично, а десять шагов дают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около 60%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Девяносто процентов на шаг —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около 35%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509113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637129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Интуиция «каждый шаг почти всегда работает, значит и цепочка почти всегда» математически ложна. Отсюда два правила, которые мы сегодня применим: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цепочки держат короткими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и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между шагами ставят проверки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955389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4083405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Про стоимость: относительно обычного чата одиночный агент тратит примерно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вчетверо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больше токенов, мульти-агент —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впятнадцатеро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И контринтуитивное про устройство: «рой» равноправных агентов усиливал ошибки в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17,2 раза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а один координатор сдерживал их до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4,4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401665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5529681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Правило из лекции: начинай с одного сильного.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Команды месяцами строили мульти-агентные схемы и затем обнаруживали, что улучшенный запрос к одному даёт то же самое.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 чём такие процессы собирают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20940"/>
            <a:ext cx="32004" cy="733805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2668" y="1175804"/>
            <a:ext cx="10730484" cy="6240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1" i="1">
                <a:solidFill>
                  <a:srgbClr val="6B7685"/>
                </a:solidFill>
                <a:latin typeface="Arial"/>
              </a:rPr>
              <a:t>«Возьми оттуда, преобразуй, положи сюда и уведоми кого надо»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— почта, таблицы, CRM, мессенджеры, базы. Это </a:t>
            </a:r>
            <a:r>
              <a:rPr sz="1300" b="1" i="1">
                <a:solidFill>
                  <a:srgbClr val="6B7685"/>
                </a:solidFill>
                <a:latin typeface="Arial"/>
              </a:rPr>
              <a:t>конвейеры между системами</a:t>
            </a:r>
            <a:r>
              <a:rPr sz="1300" b="0" i="1">
                <a:solidFill>
                  <a:srgbClr val="6B7685"/>
                </a:solidFill>
                <a:latin typeface="Arial"/>
              </a:rPr>
              <a:t>: класс старше языковых моделей, он просто получил новый тип блока. Запуск — расписанием, событием в чужой системе или человеком через форму. </a:t>
            </a:r>
            <a:r>
              <a:rPr sz="1300" b="1" i="1">
                <a:solidFill>
                  <a:srgbClr val="6B7685"/>
                </a:solidFill>
                <a:latin typeface="Arial"/>
              </a:rPr>
              <a:t>n8n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· Activepieces · Make · Zapier.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2445010"/>
            <a:ext cx="32004" cy="941831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2668" y="2499874"/>
            <a:ext cx="10730484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1" i="1">
                <a:solidFill>
                  <a:srgbClr val="6B7685"/>
                </a:solidFill>
                <a:latin typeface="Arial"/>
              </a:rPr>
              <a:t>«Дай агенту инструменты и проверки и поручи ему задачу»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— это </a:t>
            </a:r>
            <a:r>
              <a:rPr sz="1300" b="1" i="1">
                <a:solidFill>
                  <a:srgbClr val="6B7685"/>
                </a:solidFill>
                <a:latin typeface="Arial"/>
              </a:rPr>
              <a:t>платформы для агентов</a:t>
            </a:r>
            <a:r>
              <a:rPr sz="1300" b="0" i="1">
                <a:solidFill>
                  <a:srgbClr val="6B7685"/>
                </a:solidFill>
                <a:latin typeface="Arial"/>
              </a:rPr>
              <a:t>. Молодой класс, и в нём есть то, чего нет у первого: ограждения на выходе, оценка ответа, базы знаний, которые сами обновляются. Цена входа — ресурсы: от двенадцати гигабайт памяти, дома поднимается тяжело. </a:t>
            </a:r>
            <a:r>
              <a:rPr sz="1300" b="1" i="1">
                <a:solidFill>
                  <a:srgbClr val="6B7685"/>
                </a:solidFill>
                <a:latin typeface="Arial"/>
              </a:rPr>
              <a:t>sim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· Agent Builder у крупных поставщиков.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3977106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8" y="4031970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1" i="1">
                <a:solidFill>
                  <a:srgbClr val="6B7685"/>
                </a:solidFill>
                <a:latin typeface="Arial"/>
              </a:rPr>
              <a:t>«Собери чат по моим документам»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— </a:t>
            </a:r>
            <a:r>
              <a:rPr sz="1300" b="1" i="1">
                <a:solidFill>
                  <a:srgbClr val="6B7685"/>
                </a:solidFill>
                <a:latin typeface="Arial"/>
              </a:rPr>
              <a:t>конструкторы LLM-приложений</a:t>
            </a:r>
            <a:r>
              <a:rPr sz="1300" b="0" i="1">
                <a:solidFill>
                  <a:srgbClr val="6B7685"/>
                </a:solidFill>
                <a:latin typeface="Arial"/>
              </a:rPr>
              <a:t>: цепочка вызовов, поиск по документам, память диалога. Запуск </a:t>
            </a:r>
            <a:r>
              <a:rPr sz="1300" b="1" i="1">
                <a:solidFill>
                  <a:srgbClr val="6B7685"/>
                </a:solidFill>
                <a:latin typeface="Arial"/>
              </a:rPr>
              <a:t>только снаружи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— вызовом или из чата; расписания нет вовсе. </a:t>
            </a:r>
            <a:r>
              <a:rPr sz="1300" b="1" i="1">
                <a:solidFill>
                  <a:srgbClr val="6B7685"/>
                </a:solidFill>
                <a:latin typeface="Arial"/>
              </a:rPr>
              <a:t>LangFlow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· Dify.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056574"/>
            <a:ext cx="11183112" cy="1059561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5184590"/>
            <a:ext cx="10634472" cy="80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Два вопроса решают выбор, и ни один не про ИИ: кто запускает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— человек, расписание или чужая система? </a:t>
            </a:r>
            <a:r>
              <a:rPr sz="1650" b="1" i="0">
                <a:solidFill>
                  <a:srgbClr val="141B2E"/>
                </a:solidFill>
                <a:latin typeface="Arial"/>
              </a:rPr>
              <a:t>И что у вас шаг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— шаг процесса, задача агента или вызов модели внутри приложения?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n8n: зачем он здесь и как устроен</a:t>
            </a:r>
          </a:p>
        </p:txBody>
      </p:sp>
      <p:pic>
        <p:nvPicPr>
          <p:cNvPr id="3" name="Picture 2" descr="n8n-holst-st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5706" y="943356"/>
            <a:ext cx="6977538" cy="223168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339630"/>
            <a:ext cx="82296" cy="465929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3467646"/>
            <a:ext cx="10643616" cy="20989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4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Холст и узлы.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Процесс — не текст, а схема: узел — шаг, щёлкнул — открылась карточка. Между правкой и проверкой нет ни сборки, ни развёртывания.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970152"/>
            <a:ext cx="82296" cy="465929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4098168"/>
            <a:ext cx="10643616" cy="20989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4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Ключи живут отдельно от сценария.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В файле процесса их нет: файл можно отдать студенту, а при ротации ключ меняется в одном месте.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600674"/>
            <a:ext cx="82296" cy="44754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4728690"/>
            <a:ext cx="10643616" cy="191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4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Больше четырёхсот интеграций из коробки: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«взять из Таблиц и положить в Телеграм» — два узла, а не два дня с чужой документацией.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212814"/>
            <a:ext cx="82296" cy="46329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5340830"/>
            <a:ext cx="10643616" cy="2072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88"/>
              </a:lnSpc>
              <a:spcAft>
                <a:spcPts val="30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Форма и чат встроены: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веб-страница с проверкой ввода и экраном результата — без фронтенда и хостинга.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840702"/>
            <a:ext cx="82296" cy="465929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5968718"/>
            <a:ext cx="10643616" cy="20989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4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Почему он: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локально и бесплатно · запуск по расписанию и по событию · прогон целиком виден в журнале · процесс выгружается одним файлом.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Работает — и можно ручаться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77303"/>
            <a:ext cx="82296" cy="10210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105319"/>
            <a:ext cx="10643616" cy="765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Процесс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работает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если он доезжает до конца и не падает.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За процесс можно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ручаться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если вы знаете, что в нём будет в каждой строке — и что будет, когда он сломается.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247842"/>
            <a:ext cx="11183112" cy="2036444"/>
          </a:xfrm>
          <a:prstGeom prst="roundRect">
            <a:avLst>
              <a:gd name="adj" fmla="val 1496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430722"/>
            <a:ext cx="662546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ВЫГЛЯДИТ РАБОЧИМ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7567" y="2430722"/>
            <a:ext cx="389928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ЧЕМ ОКАЗАЛСЯ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712789"/>
            <a:ext cx="662546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три узла, заявка доезжает до таблицы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75855" y="2785941"/>
            <a:ext cx="3862704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685800" y="305994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059944"/>
            <a:ext cx="662546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клетка заполнена, значение законное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75855" y="3133096"/>
            <a:ext cx="3862704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685800" y="340709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3407098"/>
            <a:ext cx="662546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прогон зелёный, в журнале ни одной ошибки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75855" y="3480250"/>
            <a:ext cx="3862704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685800" y="375425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754253"/>
            <a:ext cx="662546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правка на холсте есть, никто её не откатывал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75855" y="3827405"/>
            <a:ext cx="3862704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2920" y="4533747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4661763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Четыре строки. Левая колонка — то, что вы увидите своими глазами и сочтёте успехом. Правую мы заполним сами, по одной за кейс, и вернёмся к этой таблице в конце.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529967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5657983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Вопрос занятия, и к нему мы вернёмся в конце: возьмите процесс, который у вас на работе уже работает — он работает или за него можно ручаться?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34440" y="2626106"/>
            <a:ext cx="9692640" cy="899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4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«Их всё равно потом руками в таблицу перекладывают»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708146"/>
            <a:ext cx="9692640" cy="432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</a:pPr>
            <a:r>
              <a:rPr sz="1400" b="0" i="1">
                <a:solidFill>
                  <a:srgbClr val="9FAEC4"/>
                </a:solidFill>
                <a:latin typeface="Arial"/>
              </a:rPr>
              <a:t>«Форма-то есть. Их всё равно потом руками в таблицу перекладывают.»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Кейс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44418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44418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85916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27414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27414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Двадцать заявок в день, сорок минут руками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39622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167638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Учебный центр, на сайте форма записи: имя, контакт и свободный текст «что нужно». Форма работает третий год, заявок двадцать в день. Дальше с ними работает один человек — администратор Ольга.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191639"/>
            <a:ext cx="11183112" cy="2367153"/>
          </a:xfrm>
          <a:prstGeom prst="roundRect">
            <a:avLst>
              <a:gd name="adj" fmla="val 1287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411094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2411094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Человек пишет своими словами: «хочу на курс по аналитике, перезвоните сегодня после шести», «можно перенести занятие со вторника», «выставьте счёт на организацию».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943732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" y="2943732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Ольга открывает каждое письмо, читает, понимает, о чём оно, и переносит в таблицу — отдельно контакт, отдельно тема, отдельно срочность.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476370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" y="3476370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По этим двум столбцам вечером раскладывают заявки: кому звонить сегодня, кому на неделе, что отдать в бухгалтерию.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4009008"/>
            <a:ext cx="329184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" y="4009008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 пятницу заявок больше, а времени меньше. Появляется «потом разберу» — и что-то не разбирается.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964049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5092065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Сорок минут в день — меньшая часть цены. Большая в том, что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ошибка в этих двух столбцах стоит не минуты, а потерянной заявки</a:t>
            </a:r>
            <a:r>
              <a:rPr sz="1500" b="1" i="0">
                <a:solidFill>
                  <a:srgbClr val="141B2E"/>
                </a:solidFill>
                <a:latin typeface="Arial"/>
              </a:rPr>
              <a:t>: человек, записавшийся на курс, не получает звонка, и узнаём мы об этом от него. К двадцатому письму подряд работа делается механически — не потому, что Ольга плохая, а потому что двадцатое похоже на пятое.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поставить между формой и таблицей?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84071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612087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Вопрос к себе: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у кого из вас уже есть процесс, который раскладывает входящее по категориям — тикеты, письма, резюме, обращения? Чем он это делает сейчас?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974543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3102559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 способ — и скажите, выдержит ли он требование «заполнено всегда и только значениями из списка».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465015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4465015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правила по ключевым словам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68803" y="4465015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78531" y="4465015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один шаг модели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34686" y="4465015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44414" y="4465015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шаг модели + проверка значения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00569" y="4465015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10297" y="4465015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шаг модели + проверка + показ результата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66452" y="4465015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76180" y="4465015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оставить человеку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делает каждый способ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2814447"/>
          </a:xfrm>
          <a:prstGeom prst="roundRect">
            <a:avLst>
              <a:gd name="adj" fmla="val 1082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26236"/>
            <a:ext cx="156489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СПОСОБ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96998" y="1126236"/>
            <a:ext cx="405801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ДЕЛАЕТ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1321" y="1126236"/>
            <a:ext cx="475552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ЧЕГО НЕ ДЕЛАЕТ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08303"/>
            <a:ext cx="1564894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правила по словам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96998" y="1408303"/>
            <a:ext cx="4058019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предсказуемы и бесплатны: одно слово — всегда одна тема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1321" y="1408303"/>
            <a:ext cx="4755526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ломаются на живом языке: «а можно к вам», «счёт на ООО»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190881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1908810"/>
            <a:ext cx="1564894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один шаг модели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96998" y="1908810"/>
            <a:ext cx="4058019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понимает смысл, а не совпадение строк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01321" y="1908810"/>
            <a:ext cx="4755526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 обещает формат: «запись», «обучение», «Аналитика.»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24135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241359"/>
            <a:ext cx="1564894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шаг + проверка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96998" y="2241359"/>
            <a:ext cx="4058019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значение из списка, пустых клеток не бывает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01321" y="2241359"/>
            <a:ext cx="4755526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список живёт в двух местах и может разойтись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257390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2573909"/>
            <a:ext cx="1564894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шаг + проверка + показ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96998" y="2573909"/>
            <a:ext cx="4058019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то же, и результат виден там же, где отправили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01321" y="2573909"/>
            <a:ext cx="4755526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ещё узел; если смотреть некому — не окупается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307441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074416"/>
            <a:ext cx="1564894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оставить человеку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96998" y="3074416"/>
            <a:ext cx="4058019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видит контекст целиком и заметит небывалое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01321" y="3074416"/>
            <a:ext cx="4755526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сорок минут в день и механическая работа к двадцатому письму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3922395"/>
            <a:ext cx="82296" cy="91211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4050411"/>
            <a:ext cx="10643616" cy="6560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7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Поворот.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Первые два различаются не качеством, а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характером отказа</a:t>
            </a:r>
            <a:r>
              <a:rPr sz="1350" b="1" i="0">
                <a:solidFill>
                  <a:srgbClr val="141B2E"/>
                </a:solidFill>
                <a:latin typeface="Arial"/>
              </a:rPr>
              <a:t>. Правила ломаются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громко</a:t>
            </a:r>
            <a:r>
              <a:rPr sz="1350" b="1" i="0">
                <a:solidFill>
                  <a:srgbClr val="141B2E"/>
                </a:solidFill>
                <a:latin typeface="Arial"/>
              </a:rPr>
              <a:t>: не нашли слово — клетка пустая, это видно. Модель ломается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тихо</a:t>
            </a:r>
            <a:r>
              <a:rPr sz="1350" b="1" i="0">
                <a:solidFill>
                  <a:srgbClr val="141B2E"/>
                </a:solidFill>
                <a:latin typeface="Arial"/>
              </a:rPr>
              <a:t>: в клетке правдоподобное слово, которого нет в вашем списке, и ни одна проверка формата этого не поймает.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999101"/>
            <a:ext cx="82296" cy="115620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127117"/>
            <a:ext cx="10643616" cy="900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36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Что остаётся под наше требование</a:t>
            </a:r>
            <a:r>
              <a:rPr sz="1400" b="1" i="0">
                <a:solidFill>
                  <a:srgbClr val="141B2E"/>
                </a:solidFill>
                <a:latin typeface="Arial"/>
              </a:rPr>
              <a:t> («заполнено всегда, только из списка»). Правила — нет, они пустую клетку оставляют. Один шаг модели — нет, он не обещает список. </a:t>
            </a:r>
            <a:r>
              <a:rPr sz="1400" b="1" i="0">
                <a:solidFill>
                  <a:srgbClr val="141B2E"/>
                </a:solidFill>
                <a:latin typeface="Arial"/>
              </a:rPr>
              <a:t>Остаются третий и четвёртый, и выбор между ними — про то, есть ли кому смотреть на результат.</a:t>
            </a:r>
            <a:r>
              <a:rPr sz="1400" b="1" i="0">
                <a:solidFill>
                  <a:srgbClr val="141B2E"/>
                </a:solidFill>
                <a:latin typeface="Arial"/>
              </a:rPr>
              <a:t> Пятый законен, если заявок пять в неделю; у нас двадцать в день.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Процесс целиком</a:t>
            </a:r>
          </a:p>
        </p:txBody>
      </p:sp>
      <p:pic>
        <p:nvPicPr>
          <p:cNvPr id="3" name="Picture 2" descr="obzor-k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602" y="1051560"/>
            <a:ext cx="10331747" cy="393192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5418582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5546598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Это настоящий холст n8n, а не схема. Дальше мы откроем два узла из шести и посмотрим, что в них настроено.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настраиваем в двух несущих узлах</a:t>
            </a:r>
          </a:p>
        </p:txBody>
      </p:sp>
      <p:pic>
        <p:nvPicPr>
          <p:cNvPr id="3" name="Picture 2" descr="n8n-kartochka-izvlechen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8531" y="943356"/>
            <a:ext cx="8111888" cy="2913979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4021927"/>
            <a:ext cx="82296" cy="784967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4149943"/>
            <a:ext cx="10643616" cy="5289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4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Extract fields — схема задана вручную:</a:t>
            </a:r>
          </a:p>
          <a:p>
            <a:pPr algn="l">
              <a:lnSpc>
                <a:spcPts val="1364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Consolas"/>
              </a:rPr>
              <a:t>"topic":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{"enum":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["курс",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"перенос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занятия",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"оплата",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"другое"]}</a:t>
            </a:r>
          </a:p>
          <a:p>
            <a:pPr algn="l">
              <a:lnSpc>
                <a:spcPts val="1364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Consolas"/>
              </a:rPr>
              <a:t>"urgency":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{"enum":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["сегодня",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"на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неделе",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"не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указано"]}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— оба поля обязательны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971486"/>
            <a:ext cx="82296" cy="58166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5099502"/>
            <a:ext cx="10643616" cy="3256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4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Vocabulary check — обычный узел «задать поля»:</a:t>
            </a:r>
          </a:p>
          <a:p>
            <a:pPr algn="l">
              <a:lnSpc>
                <a:spcPts val="1364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Consolas"/>
              </a:rPr>
              <a:t>{{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$json.topic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||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'другое'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}}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— возьми тему, а если её нет, поставь «другое». То же для срочности.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717745"/>
            <a:ext cx="11183112" cy="609902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" y="5845761"/>
            <a:ext cx="10634472" cy="3538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281"/>
              </a:lnSpc>
              <a:spcAft>
                <a:spcPts val="30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Предскажите до прогона.</a:t>
            </a:r>
            <a:r>
              <a:rPr sz="1050" b="1" i="0">
                <a:solidFill>
                  <a:srgbClr val="141B2E"/>
                </a:solidFill>
                <a:latin typeface="Arial"/>
              </a:rPr>
              <a:t> «Хочу на курс по аналитике, перезвоните сегодня после шести, телефон в конце». Что напечатает экран в строке «что предложила модель»?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видит человек</a:t>
            </a:r>
          </a:p>
        </p:txBody>
      </p:sp>
      <p:pic>
        <p:nvPicPr>
          <p:cNvPr id="3" name="Picture 2" descr="n8n-vhod-i-rezult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744" y="943356"/>
            <a:ext cx="7527462" cy="337007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4478020"/>
            <a:ext cx="82296" cy="6837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4606036"/>
            <a:ext cx="10643616" cy="427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12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Слева вход: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форма объясняет, что произойдёт с заявкой, прежде чем её отправят. </a:t>
            </a:r>
            <a:r>
              <a:rPr sz="1300" b="1" i="0">
                <a:solidFill>
                  <a:srgbClr val="141B2E"/>
                </a:solidFill>
                <a:latin typeface="Arial"/>
              </a:rPr>
              <a:t>Справа выход: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все четыре шага, а не только ответ — что пришло, что предложила модель, что осталось после справочника, куда легла строка.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326380"/>
            <a:ext cx="82296" cy="841247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5454396"/>
            <a:ext cx="10643616" cy="5852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88"/>
              </a:lnSpc>
              <a:spcAft>
                <a:spcPts val="30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Промежуточные шаги печатаются намеренно: иначе ошибку видно только там, где она уже стала результатом.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И выход показывают на том же экране, где был вход, — переключение во вкладку «посмотреть, сработало ли» есть главный способ не заметить, что сработало неправильно.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закрытый список нужен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17794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145810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Предел, после которого список перестаёт работать: в нём нет «иначе».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Список без значения «другое» и «не указано» не отказывает — он заставляет модель выбрать ближайшее. Вы получите законное значение на заявке, которой в вашем списке не место, и не узнаете об этом никогда.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351464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479480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Первая строка оси закрыта.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Три узла заявку довозят. Тема при этом будет какой угодно, срочности не будет вовсе — ручаться нечем. Разница между «работает» и «можно ручаться» здесь ровно в двух узлах: тот, что сверяет со списком, и тот, что показывает результат.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685133"/>
            <a:ext cx="5454396" cy="2530856"/>
          </a:xfrm>
          <a:prstGeom prst="roundRect">
            <a:avLst>
              <a:gd name="adj" fmla="val 1204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79486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ЗАКРЫТЫЙ СПИСОК **НУЖЕН**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69181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результат шага читает следующий шаг: по нему фильтруют, сортируют, считают или маршрутизируют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456016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4560163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 полю будет отчёт: «сколько заявок про оплату за месяц»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87880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878806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 результат надо отвечать: он уходит в начисление, рассылку, обязательство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536978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5369788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поток растёт и типов входа становится больше одного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1636" y="3685133"/>
            <a:ext cx="5454396" cy="2530856"/>
          </a:xfrm>
          <a:prstGeom prst="roundRect">
            <a:avLst>
              <a:gd name="adj" fmla="val 1204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4516" y="379486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ЗАКРЫТЫЙ СПИСОК **НЕ НУЖЕН**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4516" y="4069181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результат читает человек и он же решает, что с ним делать — свободный текст ему помогает, а не мешает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14516" y="456016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14516" y="456016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поле нужно один раз, для одного письма, и больше его никто не откроет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14516" y="505114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414516" y="505114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ошибку заметит тот же человек в тот же день, и исправит её руками за минуту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14516" y="554212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414516" y="554212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двадцать обращений в неделю, пять минут в день, и так будет дальше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 данные ходят в n8n</a:t>
            </a:r>
          </a:p>
        </p:txBody>
      </p:sp>
      <p:pic>
        <p:nvPicPr>
          <p:cNvPr id="3" name="Picture 2" descr="teoriya-dannye-spisk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4261" y="943356"/>
            <a:ext cx="9120428" cy="2280107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388055"/>
            <a:ext cx="82296" cy="715263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3516071"/>
            <a:ext cx="10643616" cy="4592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36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В n8n между узлами всегда идёт </a:t>
            </a:r>
            <a:r>
              <a:rPr sz="1400" b="1" i="0">
                <a:solidFill>
                  <a:srgbClr val="141B2E"/>
                </a:solidFill>
                <a:latin typeface="Arial"/>
              </a:rPr>
              <a:t>список элементов</a:t>
            </a:r>
            <a:r>
              <a:rPr sz="1400" b="1" i="0">
                <a:solidFill>
                  <a:srgbClr val="141B2E"/>
                </a:solidFill>
                <a:latin typeface="Arial"/>
              </a:rPr>
              <a:t> — даже когда элемент один. Каждый элемент — объект с обязательной обёрткой </a:t>
            </a:r>
            <a:r>
              <a:rPr sz="1400" b="1" i="0">
                <a:solidFill>
                  <a:srgbClr val="141B2E"/>
                </a:solidFill>
                <a:latin typeface="Consolas"/>
              </a:rPr>
              <a:t>json</a:t>
            </a:r>
            <a:r>
              <a:rPr sz="1400" b="1" i="0">
                <a:solidFill>
                  <a:srgbClr val="141B2E"/>
                </a:solidFill>
                <a:latin typeface="Arial"/>
              </a:rPr>
              <a:t> (и отдельной </a:t>
            </a:r>
            <a:r>
              <a:rPr sz="1400" b="1" i="0">
                <a:solidFill>
                  <a:srgbClr val="141B2E"/>
                </a:solidFill>
                <a:latin typeface="Consolas"/>
              </a:rPr>
              <a:t>binary</a:t>
            </a:r>
            <a:r>
              <a:rPr sz="1400" b="1" i="0">
                <a:solidFill>
                  <a:srgbClr val="141B2E"/>
                </a:solidFill>
                <a:latin typeface="Arial"/>
              </a:rPr>
              <a:t>, если это файл), поэтому в выражениях везде </a:t>
            </a:r>
            <a:r>
              <a:rPr sz="1400" b="1" i="0">
                <a:solidFill>
                  <a:srgbClr val="141B2E"/>
                </a:solidFill>
                <a:latin typeface="Consolas"/>
              </a:rPr>
              <a:t>$json.поле</a:t>
            </a:r>
            <a:r>
              <a:rPr sz="14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267911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4395927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26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Узел выполняется по разу на каждый элемент списка.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887925"/>
            <a:ext cx="11183112" cy="1312926"/>
          </a:xfrm>
          <a:prstGeom prst="roundRect">
            <a:avLst>
              <a:gd name="adj" fmla="val 2321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070805"/>
            <a:ext cx="238884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ВЫ УВИДИТЕ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20952" y="5070805"/>
            <a:ext cx="813589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352872"/>
            <a:ext cx="2388848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«узел отработал 5 раз»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20952" y="5352872"/>
            <a:ext cx="8135895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пришло пять элементов — перебор встроенный, и отдельный блок цикла нужен реже, чем кажется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568542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5685421"/>
            <a:ext cx="2388848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пять писем вместо одного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20952" y="5685421"/>
            <a:ext cx="8135895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узел отправки сработал на каждом элементе и ни у кого не спросил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34440" y="3067050"/>
            <a:ext cx="9692640" cy="449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4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«В заявке две темы, а в таблице одна»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44418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44418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Кейс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5916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85916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27414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27414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Вторник: половина заявки обслужена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6659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19461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Процесс работает неделю. Ольга к нему привыкла: смотрит таблицу утром, звонит по срочным, остальное раскладывает после обеда. Жалоб нет.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286050"/>
            <a:ext cx="11183112" cy="2164842"/>
          </a:xfrm>
          <a:prstGeom prst="roundRect">
            <a:avLst>
              <a:gd name="adj" fmla="val 14079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505506"/>
            <a:ext cx="329184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2505506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Вторник, 11:20. Приходит заявка: «можно перенести занятие со вторника? И подскажите, как оплатить».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835833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" y="2835833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 таблице появляется строка: тема «перенос занятия», срочность «не указано». Всё заполнено, значение из списка, прогон зелёный.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368471"/>
            <a:ext cx="329184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" y="3368471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Ольга видит тему, переносит занятие, закрывает заявку. Делает ровно то, что написано в столбце.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698798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" y="3698798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Пятница. Человек звонит сам: «а со счётом что?» Про оплату не узнал никто — ни таблица, ни журнал, ни экран результата о ней не сказали.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923586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5051602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Это не ошибка процесса.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Мы обещали, что клетка не будет пустой и значение будет из списка, — обещание выполнено. Что в клетке окажется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всё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что было в заявке, мы не обещали. Беда в том, что граница наших обещаний обнаружилась не на разборе, а в разговоре с клиентом — и ни один сторож не мог сработать, потому что формально всё в порядке.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писать в тему, если их две?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80363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208379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Заявка: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«Можно перенести занятие со вторника? И подскажите, как оплатить.» </a:t>
            </a:r>
            <a:r>
              <a:rPr sz="1650" b="1" i="0">
                <a:solidFill>
                  <a:srgbClr val="141B2E"/>
                </a:solidFill>
                <a:latin typeface="Arial"/>
              </a:rPr>
              <a:t>В списке есть обе: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</a:t>
            </a:r>
            <a:r>
              <a:rPr sz="1650" b="1" i="0">
                <a:solidFill>
                  <a:srgbClr val="141B2E"/>
                </a:solidFill>
                <a:latin typeface="Consolas"/>
              </a:rPr>
              <a:t>перенос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</a:t>
            </a:r>
            <a:r>
              <a:rPr sz="1650" b="1" i="0">
                <a:solidFill>
                  <a:srgbClr val="141B2E"/>
                </a:solidFill>
                <a:latin typeface="Consolas"/>
              </a:rPr>
              <a:t>занятия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и </a:t>
            </a:r>
            <a:r>
              <a:rPr sz="1650" b="1" i="0">
                <a:solidFill>
                  <a:srgbClr val="141B2E"/>
                </a:solidFill>
                <a:latin typeface="Consolas"/>
              </a:rPr>
              <a:t>оплата</a:t>
            </a:r>
            <a:r>
              <a:rPr sz="1650" b="1" i="0">
                <a:solidFill>
                  <a:srgbClr val="141B2E"/>
                </a:solidFill>
                <a:latin typeface="Arial"/>
              </a:rPr>
              <a:t>. </a:t>
            </a:r>
            <a:r>
              <a:rPr sz="1650" b="1" i="0">
                <a:solidFill>
                  <a:srgbClr val="141B2E"/>
                </a:solidFill>
                <a:latin typeface="Arial"/>
              </a:rPr>
              <a:t>В таблице клетка </a:t>
            </a:r>
            <a:r>
              <a:rPr sz="1650" b="1" i="0">
                <a:solidFill>
                  <a:srgbClr val="141B2E"/>
                </a:solidFill>
                <a:latin typeface="Consolas"/>
              </a:rPr>
              <a:t>тема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— одна.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410434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538450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Вопрос к себе: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у вас в системе одна запись может относиться сразу к нескольким категориям? Как это решено — и решал ли это кто-то специально?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740505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3868521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должно попасть в тему?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070576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5070576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первую из найденных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5274" y="5070576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45002" y="5070576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другое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7628" y="5070576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7356" y="5070576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две строки вместо одной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99982" y="5070576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9710" y="5070576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главную и пометку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делает каждый способ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2905252"/>
          </a:xfrm>
          <a:prstGeom prst="roundRect">
            <a:avLst>
              <a:gd name="adj" fmla="val 1049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26236"/>
            <a:ext cx="862522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СПОСОБ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4626" y="1126236"/>
            <a:ext cx="3533831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ЧТО ДЕЛАЕТ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74761" y="1126236"/>
            <a:ext cx="5982086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ЧТО НЕ ДЕЛАЕТ / ОГРАНИЧЕНИЕ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00810"/>
            <a:ext cx="862522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первую из найденных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4626" y="1400810"/>
            <a:ext cx="3533831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ничего не меняет в процессе и не стоит ни минуты работы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74761" y="1400810"/>
            <a:ext cx="5982086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вторая тема не остаётся нигде: ни в таблице, ни в журнале, ни на экране. Через три дня о ней напомнит человек — это ровно то, что мы видели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188671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1886712"/>
            <a:ext cx="862522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«другое»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4626" y="1886712"/>
            <a:ext cx="3533831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честно говорит «автоматика не справилась», и это видно по столбцу: заявка ждёт человека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4761" y="1886712"/>
            <a:ext cx="5982086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в «другое» начинает валиться и многотемье, и настоящая экзотика — столбец разрастается, и уже не видно, что именно непонятно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37261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372614"/>
            <a:ext cx="862522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две строки из одной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4626" y="2372614"/>
            <a:ext cx="3533831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каждая тема получает свой маршрут и своего ответственного; закрывается независимо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74761" y="2372614"/>
            <a:ext cx="5982086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одна заявка превращается в две судьбы: надо решить, кто её закрывает и что считать выполненной. Как из одного входа сделать несколько записей — Семинар 9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0191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019171"/>
            <a:ext cx="862522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главную и пометку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4626" y="3019171"/>
            <a:ext cx="3533831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в таблице остаётся главное, остальное рядом одной клеткой; сортировка по теме не ломается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74761" y="3019171"/>
            <a:ext cx="5982086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пометку надо кому-то читать. Столбец, в который никто не смотрит, работает ровно как первый способ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013200"/>
            <a:ext cx="82296" cy="69951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4141216"/>
            <a:ext cx="10643616" cy="4434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7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Поворот.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Первый и второй различаются не точностью, а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знанием о своём незнании</a:t>
            </a:r>
            <a:r>
              <a:rPr sz="1350" b="1" i="0">
                <a:solidFill>
                  <a:srgbClr val="141B2E"/>
                </a:solidFill>
                <a:latin typeface="Arial"/>
              </a:rPr>
              <a:t>. Первый уверен и неправ. Второй не знает — и говорит об этом вслух, в столбце. Второе дороже в разработке и дешевле в эксплуатации.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877308"/>
            <a:ext cx="82296" cy="91211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" y="5005324"/>
            <a:ext cx="10643616" cy="6560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7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Что остаётся под нашу задачу.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Третий правильный «по-взрослому», но стоит решения, кто закрывает заявку, — отложим до Семинара 9. Второй годится, если очередь «другого» кто-то разбирает.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Берём четвёртый: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главная тема плюс пометка, потому что сортировка по теме у Ольги уже работает и ломать её нельзя.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меняем</a:t>
            </a:r>
          </a:p>
        </p:txBody>
      </p:sp>
      <p:pic>
        <p:nvPicPr>
          <p:cNvPr id="3" name="Picture 2" descr="obzor-k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602" y="1098804"/>
            <a:ext cx="10331747" cy="393192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5583936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5711952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Форма, модель, запись и экран результата остаются ровно такими, какими были.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Трудные заявки</a:t>
            </a:r>
          </a:p>
        </p:txBody>
      </p:sp>
      <p:pic>
        <p:nvPicPr>
          <p:cNvPr id="3" name="Picture 2" descr="n8n-tablitsa-reque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9415" y="943356"/>
            <a:ext cx="8390121" cy="2975147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4083095"/>
            <a:ext cx="11183112" cy="1268222"/>
          </a:xfrm>
          <a:prstGeom prst="roundRect">
            <a:avLst>
              <a:gd name="adj" fmla="val 2403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4211111"/>
            <a:ext cx="4174398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ЗАЯВКА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1638" y="4211111"/>
            <a:ext cx="2833853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ТЕМА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31795" y="4211111"/>
            <a:ext cx="3479916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ЕЩЁ В ЗАЯВКЕ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4485685"/>
            <a:ext cx="4174398" cy="245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перенести занятие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и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как оплатить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1638" y="4485685"/>
            <a:ext cx="2833853" cy="245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перенос занятия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31795" y="4485685"/>
            <a:ext cx="3479916" cy="245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оплата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30936" y="4731557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30936" y="4731557"/>
            <a:ext cx="4174398" cy="245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оплатить, перенести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и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про скидки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1638" y="4731557"/>
            <a:ext cx="2833853" cy="245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оплата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1795" y="4731557"/>
            <a:ext cx="3479916" cy="245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перенос занятия ·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другое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30936" y="4977429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30936" y="4977429"/>
            <a:ext cx="4174398" cy="245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«ок»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1638" y="4977429"/>
            <a:ext cx="2833853" cy="245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другое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31795" y="4977429"/>
            <a:ext cx="3479916" cy="245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515909"/>
            <a:ext cx="11183112" cy="801733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643925"/>
            <a:ext cx="10634472" cy="5457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891"/>
              </a:lnSpc>
              <a:spcAft>
                <a:spcPts val="300"/>
              </a:spcAft>
            </a:pPr>
            <a:r>
              <a:rPr sz="1550" b="1" i="0">
                <a:solidFill>
                  <a:srgbClr val="141B2E"/>
                </a:solidFill>
                <a:latin typeface="Arial"/>
              </a:rPr>
              <a:t>Предскажите до прогона.</a:t>
            </a:r>
            <a:r>
              <a:rPr sz="1550" b="1" i="0">
                <a:solidFill>
                  <a:srgbClr val="141B2E"/>
                </a:solidFill>
                <a:latin typeface="Arial"/>
              </a:rPr>
              <a:t> Заявка: «хочу оплатить, перенести занятие и узнать про скидки для сотрудников». Три темы, и одной из них в списке нет. Что встанет в «тему», а что в «ещё в заявке»?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нужно законное «не знаю»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17794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145810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Предел: очередь без владельца.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«Другое» работает ровно до тех пор, пока есть человек, который в неё смотрит, и метрика, по которой видно её рост. Очередь, в которую никто не заглядывает, ничем не отличается от молча потерянной заявки — только в ней есть запись, которую тоже никто не читает.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351464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479480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Вторая строка оси закрыта.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Клетка заполнена, значение законное — и это выглядит успехом. Чем оказалось: вторая тема заявки исчезла молча, и ни один сторож этого не заметил, потому что формально всё в порядке.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685133"/>
            <a:ext cx="5454396" cy="2530856"/>
          </a:xfrm>
          <a:prstGeom prst="roundRect">
            <a:avLst>
              <a:gd name="adj" fmla="val 1204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79486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ЗАКОННЫЙ ОТКАЗ **НУЖЕН**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69181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вход приходит снаружи, и вы не можете запретить людям писать то, чего в списке нет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456016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456016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одна запись может относиться к нескольким категориям сразу, и вы это уже видели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505114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505114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есть человек, который разберёт отложенное, и ему это поручено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554212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5542127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цена неверного ответа выше цены задержки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1636" y="3685133"/>
            <a:ext cx="5454396" cy="2530856"/>
          </a:xfrm>
          <a:prstGeom prst="roundRect">
            <a:avLst>
              <a:gd name="adj" fmla="val 1204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4516" y="379486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ЗАКОННЫЙ ОТКАЗ **НЕ НУЖЕН**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4516" y="4069181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вход вы формируете сами: выпадающий список в форме, фиксированный набор событий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14516" y="456016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14516" y="456016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категории заведомо исключают друг друга — состояние заказа, тип документа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14516" y="505114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414516" y="505114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разбирать некому: тогда «другое» станет кладбищем, и честнее не делать вид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14516" y="554212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414516" y="554212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задержка дороже ошибки, и лучше решить приблизительно, но сразу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34440" y="2850896"/>
            <a:ext cx="9692640" cy="449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4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Двое суток пропуска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483356"/>
            <a:ext cx="9692640" cy="432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</a:pPr>
            <a:r>
              <a:rPr sz="1400" b="0" i="1">
                <a:solidFill>
                  <a:srgbClr val="9FAEC4"/>
                </a:solidFill>
                <a:latin typeface="Arial"/>
              </a:rPr>
              <a:t>Пятница заполнена, понедельник заполнен, выходных в таблице нет вовсе.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44418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44418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85916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Кейс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27414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27414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Понедельник: выходных в таблице нет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80642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308658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Процесс работает три недели. Ольга смотрит таблицу утром. В пятницу вечером всё было как обычно.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358694"/>
            <a:ext cx="11183112" cy="1962531"/>
          </a:xfrm>
          <a:prstGeom prst="roundRect">
            <a:avLst>
              <a:gd name="adj" fmla="val 1553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578150"/>
            <a:ext cx="329184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2578150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Понедельник, 9:00. Ольга открывает таблицу — по другому делу, посмотреть вчерашние заявки.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908477"/>
            <a:ext cx="329184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" y="2908477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Видит: строки за пятницу есть, строки за понедельник есть.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За субботу и воскресенье — ни одной.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238804"/>
            <a:ext cx="329184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" y="3238804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Письма об ошибке никто не получал. И это ничего не значит: кому его отправлять, никто не настраивал.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569131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" y="3569131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Процесс всё это время был опубликован и включён. Падал ли он на каждой заявке, на части или писал не туда — неизвестно.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988737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5116753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Ни один сторож не сработал, и не мог.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Сторожа срабатывают на ошибки, а здесь нет ошибок — здесь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нет записей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На отсутствие чего-то сработать нечем. Заметили случайно: Ольга зашла в таблицу по другому поводу. Сколько бы это продолжалось иначе — тоже неизвестно.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делать узлу, когда вызов не удался?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91336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219352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должен делать узел, когда вызов не удался?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448839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8A62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2448839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8A6200"/>
                </a:solidFill>
                <a:latin typeface="Arial"/>
              </a:rPr>
              <a:t>остановить весь процесс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5274" y="2448839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45002" y="2448839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пропустить и идти дальше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7628" y="2448839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7356" y="2448839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повторить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99982" y="2448839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09710" y="2448839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отдельная ветка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034942"/>
            <a:ext cx="11183112" cy="476631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21208" y="4089806"/>
            <a:ext cx="64008" cy="366903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4172102"/>
            <a:ext cx="10643616" cy="202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Дальше по процессу у нас запись в таблицу. Держите это в уме, выбирая.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046116"/>
            <a:ext cx="11183112" cy="1059561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5174132"/>
            <a:ext cx="10634472" cy="80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И вопрос к себе, пока голосуете: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у вас на работе в каком-нибудь процессе стоит повтор при отказе? </a:t>
            </a:r>
            <a:r>
              <a:rPr sz="1650" b="1" i="0">
                <a:solidFill>
                  <a:srgbClr val="141B2E"/>
                </a:solidFill>
                <a:latin typeface="Arial"/>
              </a:rPr>
              <a:t>Знаете ли вы, что там выбрано по умолчанию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— или оно просто стоит как поставилось?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Это не четыре мнения, это четыре настройки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63419"/>
            <a:ext cx="11183112" cy="2584132"/>
          </a:xfrm>
          <a:prstGeom prst="roundRect">
            <a:avLst>
              <a:gd name="adj" fmla="val 1179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246299"/>
            <a:ext cx="242541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НАСТРОЙКА УЗЛА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57523" y="2246299"/>
            <a:ext cx="375891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62737" y="2246299"/>
            <a:ext cx="419411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КОГДА УМЕСТНО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528366"/>
            <a:ext cx="242541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On Error = Stop Workflow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(по умолчанию)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57523" y="2528366"/>
            <a:ext cx="3758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прогон падает целиком, дальше ничего не идёт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2737" y="2528366"/>
            <a:ext cx="41941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следующий шаг необратим и дорог: счёт, письмо клиенту, платёж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05808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058083"/>
            <a:ext cx="242541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On Error = Continue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57523" y="3058083"/>
            <a:ext cx="3758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текст ошибки идёт дальше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как обычные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62737" y="3058083"/>
            <a:ext cx="41941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почти никогда: ошибка молча доедет до таблицы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58780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587800"/>
            <a:ext cx="242541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On Error = Continue (using error output)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57523" y="3587800"/>
            <a:ext cx="3758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элемент уходит в отдельный выход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error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62737" y="3587800"/>
            <a:ext cx="41941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разбирать отказы своей веткой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411751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4117517"/>
            <a:ext cx="242541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Retry On Fail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57523" y="4117517"/>
            <a:ext cx="375891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повтор N раз, затем одно из трёх выше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62737" y="4117517"/>
            <a:ext cx="419411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сетевые отказы, таймауты, лимиты провайдера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Процесс с веткой отказа</a:t>
            </a:r>
          </a:p>
        </p:txBody>
      </p:sp>
      <p:pic>
        <p:nvPicPr>
          <p:cNvPr id="3" name="Picture 2" descr="obzor-k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2964" y="1051560"/>
            <a:ext cx="8003023" cy="393192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5418582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5546598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Заметьте: повтор виден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снаружи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значком на самом узле. Большинство настроек так не видно — за ними надо открывать карточку.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ветки и два экрана</a:t>
            </a:r>
          </a:p>
        </p:txBody>
      </p:sp>
      <p:pic>
        <p:nvPicPr>
          <p:cNvPr id="3" name="Picture 2" descr="n8n-holst-vetka-otka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7994" y="943356"/>
            <a:ext cx="8112962" cy="3456827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4564775"/>
            <a:ext cx="11183112" cy="86575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720223"/>
            <a:ext cx="4698534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ВО ВКЛАДКЕ НАСТРОЕК УЗЛА ИЗВЛЕЧЕНИЯ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03206" y="4720223"/>
            <a:ext cx="5881073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994797"/>
            <a:ext cx="4698534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99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Retry On Fail · On Error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03206" y="4994797"/>
            <a:ext cx="5881073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99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3 попытки, пауза 2 с →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Continue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(using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error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output)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595126"/>
            <a:ext cx="11183112" cy="723522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5723142"/>
            <a:ext cx="10634472" cy="4674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47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Предскажите.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Сейчас испорчу ключ и отправлю заявку. Какой статус будет у прогона — «ошибка» или «успех»?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повторять, а когда нет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82296" cy="69951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071372"/>
            <a:ext cx="10643616" cy="4434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7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Три попытки на каждом из пяти слоёв дают 243-кратную нагрузку на нижний.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Поэтому повторяют в одном месте — и там, где знают, что повторять безопасно.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807464"/>
            <a:ext cx="82296" cy="91211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1935480"/>
            <a:ext cx="10643616" cy="6560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7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Предел: отказ, которому некуда идти.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Такой отказ не исчезает — он превращается в отсутствие записи, а отсутствие записи не мониторит никто: ни один сторож не умеет сработать на то, чего нет. Отсюда и двое суток пропуска.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884170"/>
            <a:ext cx="82296" cy="69951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3012186"/>
            <a:ext cx="10643616" cy="4434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7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Третья строка оси закрыта.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Прогон зелёный, в журнале ни одной ошибки — выглядит успехом. Чем оказалось: три отказа подряд и заявки за выходные неразобранные.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748278"/>
            <a:ext cx="5454396" cy="2358517"/>
          </a:xfrm>
          <a:prstGeom prst="roundRect">
            <a:avLst>
              <a:gd name="adj" fmla="val 1292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858006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ПОВТОРЯТЬ **НУЖНО**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132326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отказ временный: таймаут, превышение лимита запросов, «сервис перегружен» — со второй попытки обычно проходит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62330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623308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операция идемпотентна: её можно выполнить дважды с тем же результатом — чтение, пересчёт, идемпотентная запись по ключу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528662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5286629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повтор стоит здесь и только здесь, в одном месте стека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560527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5605272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задержки с разбросом, и общее число попыток ограничено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1636" y="3748278"/>
            <a:ext cx="5454396" cy="2358517"/>
          </a:xfrm>
          <a:prstGeom prst="roundRect">
            <a:avLst>
              <a:gd name="adj" fmla="val 1292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4516" y="3858006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ПОВТОРЯТЬ **НЕЛЬЗЯ**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4516" y="4132326"/>
            <a:ext cx="5088636" cy="475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отказ постоянный: неверный ключ, негодный запрос, нет обязательного поля. Повтор лишь утроит расход на ту же ошибку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14516" y="460832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414516" y="4608322"/>
            <a:ext cx="5088636" cy="475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у операции есть последствия: отправить письмо, создать заказ, списать деньги. Таймаут не говорит, произошло ли действие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14516" y="508431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414516" y="5084318"/>
            <a:ext cx="5088636" cy="311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повтор уже стоит слоем ниже или выше: слои множат друг друга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414516" y="539546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414516" y="5395468"/>
            <a:ext cx="5088636" cy="475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задержка фиксированная: все клиенты повторят синхронно и добьют сервис, который начал подниматься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34440" y="2735326"/>
            <a:ext cx="9692640" cy="449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4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Оба утверждения верны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367786"/>
            <a:ext cx="9692640" cy="663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</a:pPr>
            <a:r>
              <a:rPr sz="1400" b="0" i="1">
                <a:solidFill>
                  <a:srgbClr val="9FAEC4"/>
                </a:solidFill>
                <a:latin typeface="Arial"/>
              </a:rPr>
              <a:t>На холсте промпт поправлен, проверен ручным запуском и никем не откатывался. В таблице за сутки все заявки разобраны по-старому.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44418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44418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85916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27414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27414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Кейс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Правка есть, работает старое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24686"/>
            <a:ext cx="11183112" cy="2766695"/>
          </a:xfrm>
          <a:prstGeom prst="roundRect">
            <a:avLst>
              <a:gd name="adj" fmla="val 1101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07566"/>
            <a:ext cx="560689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СДЕЛАЛИ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39003" y="1607566"/>
            <a:ext cx="491784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ПОЛУЧИЛОСЬ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89633"/>
            <a:ext cx="560689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администратор сказала: тема определяется слишком общо, «курс» стоит там, где речь про конкретную программу. Вы поправили формулировку запроса в узле извлечения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39003" y="1889633"/>
            <a:ext cx="491784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карточке узла новый текст, никто его не откатывал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60191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601912"/>
            <a:ext cx="560689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вы проверили ручным запуском на трёх её заявках, при ней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9003" y="2601912"/>
            <a:ext cx="491784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все три разобраны правильно, именно так, как она просила. Закрыли, пошли дальше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13162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131629"/>
            <a:ext cx="560689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 следующий день она открывает таблицу за сутки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9003" y="3131629"/>
            <a:ext cx="491784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все заявки разобраны по-старому.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Ни одной по новой формулировке — и она приходит с этим к вам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66134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661346"/>
            <a:ext cx="560689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вы открываете холст, запускаете руками ещё раз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9003" y="3661346"/>
            <a:ext cx="491784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снова правильно. И теперь объяснить это ей нечем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85889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498690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Проверка руками показывала правильный результат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всё это время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и показывала честно. Она просто проверяла не то, что работало в бою.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Почему боевые прогоны идут по старому?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80260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2208276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Почему боевые прогоны идут по старому варианту?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70732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8A62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3570732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8A6200"/>
                </a:solidFill>
                <a:latin typeface="Arial"/>
              </a:rPr>
              <a:t>правку не сохранили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5274" y="3570732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45002" y="3570732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сохранили, но не опубликовали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7628" y="3570732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7356" y="3570732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кэш, надо подождать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99982" y="3570732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09710" y="3570732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ручной и боевой — разные пути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здесь ответ</a:t>
            </a:r>
          </a:p>
        </p:txBody>
      </p:sp>
      <p:pic>
        <p:nvPicPr>
          <p:cNvPr id="3" name="Picture 2" descr="obzor-k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4959"/>
            <a:ext cx="11183112" cy="3252231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5244702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5372718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Рядом со значком — стрелка вниз: там и живёт действие, которым правка уходит в бой.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Черновик и опубликованная версия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36548"/>
            <a:ext cx="82296" cy="10591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264564"/>
            <a:ext cx="10643616" cy="8031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Правки сохраняются сами, постоянно, в черновик.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Кнопки «Сохранить» в интерфейсе нет вовсе.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 боевой режим правка уходит отдельным действием — Publish.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Боевые прогоны исполняют опубликованную версию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а не то, что открыто в редакторе.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843301"/>
            <a:ext cx="11183112" cy="2036444"/>
          </a:xfrm>
          <a:prstGeom prst="roundRect">
            <a:avLst>
              <a:gd name="adj" fmla="val 1496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026181"/>
            <a:ext cx="408975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КАРТОЧКА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21859" y="3026181"/>
            <a:ext cx="643498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ВЕРДИКТ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308248"/>
            <a:ext cx="408975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правку не сохранили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21859" y="3308248"/>
            <a:ext cx="64349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неверно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сохранять нечего, сохраняется само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65540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655402"/>
            <a:ext cx="408975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сохранили, но не опубликовали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21859" y="3655402"/>
            <a:ext cx="64349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верно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это и произошло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400255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4002557"/>
            <a:ext cx="408975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кэш, надо подождать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21859" y="4002557"/>
            <a:ext cx="64349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неверно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ждать можно сколько угодно, версий две, и обе живые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434971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4349711"/>
            <a:ext cx="408975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ручной запуск и боевой — разные пути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21859" y="4349711"/>
            <a:ext cx="64349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верно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ручной идёт по черновику, боевой по опубликованному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527319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5655335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Слова «активировать» в n8n 2.x больше нет: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Publish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занял его место и значит другое.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проверять в бою, а что хватит руками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17794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145810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Предел: вместе с файлом сценария уезжает больше, чем кажется.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Секретов в нём нет — пароли и ключи инструмент хранит отдельно. А идентификаторы и имена подключений, адреса, пути, имена таблиц и внутренних сервисов — есть. Правило, которое стоит выполнять механически: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прежде чем отдать файл сценария — откройте его и прочитайте глазами.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Это тридцать секунд.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58768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71570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Четвёртая строка оси закрыта.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Правка на холсте есть, никто её не откатывал — выглядит успехом. Чем оказалось: сутки работы по старой версии.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685133"/>
            <a:ext cx="5454396" cy="2530856"/>
          </a:xfrm>
          <a:prstGeom prst="roundRect">
            <a:avLst>
              <a:gd name="adj" fmla="val 1204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79486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НУЖНА ПРОВЕРКА **НАСТОЯЩИМ СОБЫТИЕМ**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69181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обработчик ошибок: его триггер срабатывает только на автоматическом прогоне, и вручную не произойдёт ничего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456016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456016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расписание: сработает ли в нужный момент и что будет, если прогон не успел до следующего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505114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505114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реакция на вызов чужой системы: тот ли адрес, та ли авторизация, тот ли формат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554212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554212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поведение на объёме: ручной прогон копирует данные для показа и на больших объёмах падает там, где боевой проходит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1636" y="3685133"/>
            <a:ext cx="5454396" cy="2530856"/>
          </a:xfrm>
          <a:prstGeom prst="roundRect">
            <a:avLst>
              <a:gd name="adj" fmla="val 1204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4516" y="379486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ХВАТИТ **РУЧНОГО ЗАПУСКА**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4516" y="4069181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логика шагов на обычных данных: что пришло, что вернулось, что записалось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14516" y="456016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14516" y="4560163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форма и её поля: что видит человек, что приходит в процесс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14516" y="487880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414516" y="4878806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выражения и преобразования: видно сразу, в данных узла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14516" y="519744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414516" y="5197449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один элемент, одна заявка, один файл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Четыре строки заполнены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22298"/>
            <a:ext cx="11183112" cy="2036444"/>
          </a:xfrm>
          <a:prstGeom prst="roundRect">
            <a:avLst>
              <a:gd name="adj" fmla="val 1496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805178"/>
            <a:ext cx="480978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ВЫГЛЯДИТ РАБОЧИМ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41889" y="1805178"/>
            <a:ext cx="571495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ЧЕМ ОКАЗАЛСЯ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87245"/>
            <a:ext cx="480978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три узла, заявка доезжает до таблицы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41889" y="2087245"/>
            <a:ext cx="571495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тема какая угодно, срочности нет вовсе, ручаться нечем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43439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434399"/>
            <a:ext cx="480978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клетка заполнена, значение законное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41889" y="2434399"/>
            <a:ext cx="571495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вторая тема заявки исчезла молча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78155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781554"/>
            <a:ext cx="480978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прогон зелёный, в журнале ни одной ошибки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41889" y="2781554"/>
            <a:ext cx="571495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три отказа подряд, заявки за выходные не разобраны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12870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128708"/>
            <a:ext cx="480978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правка на холсте есть, никто её не откатывал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41889" y="3128708"/>
            <a:ext cx="571495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сутки работы по старой версии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326255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4454271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Тот же вопрос, что в начале: ваш процесс на работе — он работает или за него можно ручаться?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Теперь у вас есть четыре способа это проверить, и ни один из них не требует верить мне на слово.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уносим с занятия</a:t>
            </a:r>
          </a:p>
        </p:txBody>
      </p:sp>
      <p:pic>
        <p:nvPicPr>
          <p:cNvPr id="3" name="Picture 2" descr="vyhod-shema-prots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788" y="943356"/>
            <a:ext cx="10553375" cy="3297929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4405877"/>
            <a:ext cx="11183112" cy="1904619"/>
          </a:xfrm>
          <a:prstGeom prst="roundRect">
            <a:avLst>
              <a:gd name="adj" fmla="val 1600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4588757"/>
            <a:ext cx="3255771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ФАЙЛ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87875" y="4588757"/>
            <a:ext cx="7268971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Consolas"/>
              </a:rPr>
              <a:t>STUDENT.JSON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855838"/>
            <a:ext cx="3255771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как поставить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87875" y="4855838"/>
            <a:ext cx="7268971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меню сценария → Import from File → выбрать файл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517378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5173783"/>
            <a:ext cx="3255771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что нужно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7875" y="5173783"/>
            <a:ext cx="7268971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свой n8n и ключ провайдера модели (инструкция)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549172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5491727"/>
            <a:ext cx="3255771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что делать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87875" y="5491727"/>
            <a:ext cx="7268971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прогнать на своих трёх заявках и посмотреть, где развалится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580967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5809672"/>
            <a:ext cx="3255771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что завести своё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87875" y="5809672"/>
            <a:ext cx="7268971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учётные данные модели и свою таблицу: в файле они пустые намеренно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дальше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122932"/>
            <a:ext cx="82296" cy="7848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2250948"/>
            <a:ext cx="10643616" cy="5288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Сейчас: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любая заявка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один и тот же шаг → таблица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Дальше: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заявка про оплату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одно ·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про перенос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другое ·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непонятная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третье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75304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703320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Семинар 8: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развилка и как она устроена · что делать с тем, что не подошло ни под одну ветку · проверка результата шага до того, как он уехал дальше · и почему ветки, которые выглядят параллельными, выполняются по очереди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