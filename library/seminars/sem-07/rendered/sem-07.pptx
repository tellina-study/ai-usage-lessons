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того, что вообще изменилось, — широко, а не на примерах, которые у каждого свои.</a:t>
            </a:r>
          </a:p>
          <a:p/>
          <a:p>
            <a:r>
              <a:t>Автоматизация процессов существует десятилетиями, и всё, из чего она собирается, было задолго до языковых моделей: события-триггеры, шаги, условия, циклы, обработка сбоев. Это не новая дисциплина, и мы её сегодня не изобретаем.</a:t>
            </a:r>
          </a:p>
          <a:p/>
          <a:p>
            <a:r>
              <a:t>Модели дали ей ровно одну вещь: </a:t>
            </a:r>
            <a:r>
              <a:rPr b="1"/>
              <a:t>шаг, который работает на неструктурированном входе и принимает решение</a:t>
            </a:r>
            <a:r>
              <a:t>. Посмотрите на таблицу — пять строк, пять видов работы, и в среднем столбце написано, кто делал каждую до двадцать третьего года.</a:t>
            </a:r>
          </a:p>
          <a:p/>
          <a:p>
            <a:r>
              <a:t>Понять, о чём текст, и разложить по категориям. Раньше — человек глазами. Или правила по ключевым словам, которые работали, пока текст писали предсказуемо. Или отдельно обученная модель под одну конкретную задачу: месяцы разметки и обучения, и на новую задачу всё заново. Теперь это один шаг, который настраивается описанием, и добавить категорию стоит правку в одной строке.</a:t>
            </a:r>
          </a:p>
          <a:p/>
          <a:p>
            <a:r>
              <a:t>Достать из текста значения: суммы, сроки, имена, адреса. Раньше это переносили руками, а где формат был жёсткий — писали разборщик, и он ломался на каждом отклонении. Теперь значения достаются из живого текста, написанного как человеку.</a:t>
            </a:r>
          </a:p>
          <a:p/>
          <a:p>
            <a:r>
              <a:t>Написать ответ или сводку. Раньше человек, или шаблоны там, где текст предсказуем. Теперь черновик делает шаг, а человек подтверждает — и, кстати, это самая частая форма внедрения в реальных компаниях, а не полная замена.</a:t>
            </a:r>
          </a:p>
          <a:p/>
          <a:p>
            <a:r>
              <a:t>Разобрать то, что не текст: снимок, скан, запись разговора. Распознавание и раньше давало буквы, но не смысл. Теперь тот же шаг работает и по изображению, и по расшифровке.</a:t>
            </a:r>
          </a:p>
          <a:p/>
          <a:p>
            <a:r>
              <a:t>И пятая строка, самая интересная: решить, что делать дальше, когда правило не записано. Это умел только человек. Теперь шаг может предложить решение — и ошибиться так, что ошибку не видно. Из этой строки растёт всё занятие, и мы к ней вернёмся через два экрана.</a:t>
            </a:r>
          </a:p>
          <a:p/>
          <a:p>
            <a:r>
              <a:t>Главное, что я прошу унести с этого экрана. Ни одна из пяти строк не про то, что машина стала умной. Все пять про то, что </a:t>
            </a:r>
            <a:r>
              <a:rPr b="1"/>
              <a:t>порог стоимости упал на порядки</a:t>
            </a:r>
            <a:r>
              <a:t>. В автоматизацию попало то, что раньше не стоило своих денег: работа, которую делали глазами, потому что написать под неё программу было дороже, чем сделать руками. Вот её сейчас и автоматизируют — массово и часто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— про то, в чём такие процессы вообще собирают. Мы отобрали и разобрали пять инструментов, и вот что из этого вышло.</a:t>
            </a:r>
          </a:p>
          <a:p/>
          <a:p>
            <a:r>
              <a:t>Классов три, и первое, что стоит сказать: делит их </a:t>
            </a:r>
            <a:r>
              <a:rPr b="1"/>
              <a:t>не наличие ИИ</a:t>
            </a:r>
            <a:r>
              <a:t>. Два года назад деление «интеграции против ИИ» ещё работало, сейчас оно огрубляет: у n8n есть блок-агент, векторное хранилище и ограждения; у Activepieces — агенты и базы знаний; у LangFlow — ветвления, циклы, вложенные сценарии и человек в контуре. ИИ есть везде.</a:t>
            </a:r>
          </a:p>
          <a:p/>
          <a:p>
            <a:r>
              <a:t>Делит другое. </a:t>
            </a:r>
            <a:r>
              <a:rPr b="1"/>
              <a:t>Что инструмент считает единицей работы.</a:t>
            </a:r>
          </a:p>
          <a:p/>
          <a:p>
            <a:r>
              <a:t>Первый класс — интеграционные оркестраторы. Единица работы здесь — шаг бизнес-процесса: взять откуда-то, преобразовать, положить куда-то, уведомить кого-то. n8n, Activepieces, Make, Zapier. Это инструменты про то, как данные ходят между системами.</a:t>
            </a:r>
          </a:p>
          <a:p/>
          <a:p>
            <a:r>
              <a:t>Второй — агентно-нативная оркестрация. Единица работы — задача, которую решает агент: ему дают инструменты, память, проверки на выходе. Это молодой класс, и там есть примитивы, которых у первого класса нет: ограждения на выходе, оценка качества ответа, базы знаний с автоматической синхронизацией. Цена входа — ресурсы: двенадцать гигабайт памяти и выше, дома поднимается тяжело.</a:t>
            </a:r>
          </a:p>
          <a:p/>
          <a:p>
            <a:r>
              <a:t>Третий — конструкторы LLM-приложений. Единица работы — вызов модели внутри приложения: цепочка, поиск по документам, память диалога. И вот здесь важная граница, которая и решает выбор: </a:t>
            </a:r>
            <a:r>
              <a:rPr b="1"/>
              <a:t>планировщика у них нет вовсе</a:t>
            </a:r>
            <a:r>
              <a:t>. Сценарий можно запустить только снаружи — вызовом или из чата. Если задача звучит «каждое утро в семь разбирай вчерашние заявки», этот класс её не решает, сколько бы ИИ в нём ни было.</a:t>
            </a:r>
          </a:p>
          <a:p/>
          <a:p>
            <a:r>
              <a:t>Поэтому вопрос при выборе звучит не «есть ли там ИИ», а два других: что здесь считается шагом, и может ли внешний мир запустить мой сценарий сам, без человека у клавиатуры.</a:t>
            </a:r>
          </a:p>
          <a:p/>
          <a:p>
            <a:r>
              <a:t>И последнее, про устойчивость этого рынка. Flowise — один из двух самых известных конструкторов, его знали все, кто смотрел в эту сторону. Тридцать первого августа этого года он закрыт. Не заброшен, а закрыт официально: объявление в июле, архивация кода в августе, конец жизни тридцать первого. Причина, которую назвали сами авторы: жёсткий визуальный low-code упирается в предел по сложности, а разработчики к этому моменту ушли к кодинг-агентам. Это не курьёз, а пример того, что целый класс инструментов может закрыться, — и это стоит учитывать, когда выбираете, на чём строить.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мы будем смотреть, и про четыре слова, которые дальше я начну употреблять как известные.</a:t>
            </a:r>
          </a:p>
          <a:p/>
          <a:p>
            <a:r>
              <a:t>Смотрите на снимок. Это n8n, и это весь его смысл в одной картинке.</a:t>
            </a:r>
          </a:p>
          <a:p/>
          <a:p>
            <a:r>
              <a:rPr b="1"/>
              <a:t>Холст</a:t>
            </a:r>
            <a:r>
              <a:t> — поле, на котором процесс рисуется мышкой. Вот он, занимает весь экран. Процесс здесь не текст, а схема, и это главная причина, почему такие инструменты вообще популярны: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 на холсте, вот эти прямоугольники. У каждого есть карточка с параметрами: щёлкнул — открылась. Добавить шаг означает поставить узел и соединить его стрелкой с предыдущим. Между правкой и проверкой нет развёртывания, нет сборки — нажал «выполнить» и смотришь.</a:t>
            </a:r>
          </a:p>
          <a:p/>
          <a:p>
            <a:r>
              <a:rPr b="1"/>
              <a:t>Прогон</a:t>
            </a:r>
            <a:r>
              <a:t> — одно исполнение процесса, от триггера до конца. У прогона есть номер, и он сохраняется целиком.</a:t>
            </a:r>
          </a:p>
          <a:p/>
          <a:p>
            <a:r>
              <a:rPr b="1"/>
              <a:t>Журнал прогонов</a:t>
            </a:r>
            <a:r>
              <a:t> — вот эта панель. Список всех исполнений, и по каждому можно открыть, что пришло на вход каждого узла и что он отдал на выход. Можно открыть прогон недельной давности и посмотреть, что именно было в третьем узле. Мы в этот журнал будем заглядывать сегодня трижды, и дважды он покажет нам неприятное.</a:t>
            </a:r>
          </a:p>
          <a:p/>
          <a:p>
            <a:r>
              <a:t>Теперь зачем именно он выбран для курса, потому что это не единственный возможный выбор. Ставится локально и бесплатно — значит, вы повторите дома, и это условие было главным. ИИ-блоки есть в коробке, отдельной подписки не нужно. Запускается по расписанию и по событию в чужой системе — а это ровно то, чего нет у третьего класса из предыдущего экрана. И процесс выгружается одним файлом: этот файл вы унесёте с занятия и поставите себе.</a:t>
            </a:r>
          </a:p>
          <a:p/>
          <a:p>
            <a:r>
              <a:t>И честно про то, чего ждать не надо. Лицензия у ядра не вполне свободная — у Activepieces в этом смысле чище, и если вам важно именно это, смотрите на него. Установка без контейнера объявлена устаревшей, то есть ставить лучше контейнером. И интерфейс меняется между версиями заметно — поэтому принципиальные схемы мы сегодня рисуем отдельно от снимков: схема переживёт смену версии, снимок нет.</a:t>
            </a:r>
          </a:p>
          <a:p/>
          <a:p>
            <a:r>
              <a:t>Всё. Дальше —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одна мысль, на которой держится всё занятие.</a:t>
            </a:r>
          </a:p>
          <a:p/>
          <a:p>
            <a:r>
              <a:t>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падает. Про второй вы знаете, что окажется в каждой строке результата и что произойдёт, когда он сломается.</a:t>
            </a:r>
          </a:p>
          <a:p/>
          <a:p>
            <a:r>
              <a:t>Собрать первый легко. Почти все на нём и останавливаются — не из лени, а потому что он выглядит готовым. Он работает. Его показывают руководителю, и руководитель видит, что работает.</a:t>
            </a:r>
          </a:p>
          <a:p/>
          <a:p>
            <a:r>
              <a:t>Посмотрите на таблицу. В левой колонке четыре вещи, каждую из которых вы увидите своими глазами и совершенно справедливо сочтёте успехом: заявка доехала до таблицы; клетка заполнена, и значение в ней законное; прогон зелёный, ни одной ошибки в журнале; правка на холсте стоит, никто её не откатывал.</a:t>
            </a:r>
          </a:p>
          <a:p/>
          <a:p>
            <a:r>
              <a:t>Правая колонка пустая. В ней будет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И вот зачем я прошу запомнить эту таблицу. В конце занятия мы к ней вернёмся, и вы увидите все четыре пары рядом. Если после этого вы станете спрашивать себя про любой свой процесс «он работает или за него можно ручаться» — занятие удалось, даже если вы забудете, как называется каждый блок.</a:t>
            </a:r>
          </a:p>
          <a:p/>
          <a:p>
            <a:r>
              <a:t>Сегодняшняя задача маленькая намеренно: заявка с формы сайта должна попадать в таблицу уже разобранной. На ней все четыре различия видно целиком, за полтора часа, на живом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</a:t>
            </a:r>
          </a:p>
          <a:p/>
          <a:p>
            <a:r>
              <a:t>Форма складывает всё это письмами. Дальше администратор открывает каждое, читает, понимает, о чём оно, и переносит в таблицу: отдельно контакт, отдельно тема, отдельно пометка, срочное или нет. Двадцать заявок в день, минут сорок работы, и работа такая, что к концу её делают механически.</a:t>
            </a:r>
          </a:p>
          <a:p/>
          <a:p>
            <a:r>
              <a:t>Задача выглядит очевидной, и в этом ловушка — но не та, которую вы ждёте. Очевидные задачи обычно собирают не сложнее, чем нужно, а проще: до состояния «вроде работает». Поэтому первый вопрос сегодня — из скольких узлов собирается процесс, за который можно отвечать.</a:t>
            </a:r>
          </a:p>
          <a:p/>
          <a:p>
            <a:r>
              <a:t>Обратите внимание, что в постановке не названо ни одного инструмента. Там нет слов «модель», «автоматизация», «процесс». Есть только то, что сейчас происходит, и то, что должно происходить вместо этого. С такой формулировки начинается почти любая задача на работе, и первое решение инженера — выбрать, насколько сложным будет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Задача. В учебный центр приходят заявки через форму на сайте: имя, контакт и свободный текст — что человеку нужно. Сейчас их читают руками и переносят в таблицу, помечая тему и срочность. По этим двум столбцам потом сортируют, считают и раскладывают заявки по людям.</a:t>
            </a:r>
          </a:p>
          <a:p/>
          <a:p>
            <a:r>
              <a:t>Нужно, чтобы это происходило само. И обратите внимание на требование, которое я ставлю сразу: тема и срочность заполнены </a:t>
            </a:r>
            <a:r>
              <a:rPr b="1"/>
              <a:t>всегда</a:t>
            </a:r>
            <a:r>
              <a:t>, и значения в них </a:t>
            </a:r>
            <a:r>
              <a:rPr b="1"/>
              <a:t>из закрытого списка</a:t>
            </a:r>
            <a:r>
              <a:t>. Не «обычно заполнены». Не «какое-то подходящее слово». Потому что столбец, в котором иногда пусто, а иногда «интересуется аналитикой», для сортировки не годится — по нему ничего не посчитать, и вся затея теряет смысл.</a:t>
            </a:r>
          </a:p>
          <a:p/>
          <a:p>
            <a:r>
              <a:t>Вопрос: из скольких узлов соберётся процесс, который решает это полностью?</a:t>
            </a:r>
          </a:p>
          <a:p/>
          <a:p>
            <a:r>
              <a:t>Четыре варианта, и я их расписал, чтобы выбор был не угадыванием числа. Два узла — форма и таблица; чего нет: того, ради чего всё затевалось, тему и срочность по-прежнему ставит человек. Три — форма, шаг модели, таблица; чего нет: гарантии, что в клетке окажется значение из списка, и места, где результат видно. Шесть — форма, шаг модели, сверка со списком, запись, показ результата; здесь не пропущено ничего, но два узла из шести придётся обосновать, и это самое интересное. И «зависит» — верный по сути ответ, который становится ответом только когда вы скажете, от чего.</a:t>
            </a:r>
          </a:p>
          <a:p/>
          <a:p>
            <a:r>
              <a:t>Выбирайте и формулируйте довод. И думайте не про то, сколько нужно, чтобы заработало, а про то, сколько нужно, чтобы вы могли поручиться за каждую строку в этой таблице.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ломаться нечему. И задача не решена: тему и срочность по-прежнему ставит человек, читая каждую заявку.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появляется, и выглядит это как успех. Вот чего здесь нет.</a:t>
            </a:r>
          </a:p>
          <a:p/>
          <a:p>
            <a:r>
              <a:t>Во-первых, тема будет какой угодно. Я это проверял на стенде: на одну и ту же заявку модель отвечала «запись», «обучение», «интересуется аналитикой» и однажды «Аналитика.» — с большой буквы и с точкой на конце. Каждый ответ разумный. Ни одна сортировка по такому столбцу не соберётся.</a:t>
            </a:r>
          </a:p>
          <a:p/>
          <a:p>
            <a:r>
              <a:t>Во-вторых, срочности не будет вовсе, если её отдельно не попросить. Модель отвечает на то, о чём спросили.</a:t>
            </a:r>
          </a:p>
          <a:p/>
          <a:p>
            <a:r>
              <a:t>В-третьих, чтобы узнать, что получилось, надо идти в таблицу. На занятии это переключение экрана на каждый прогон, а на отладке таких прогонов десятки.</a:t>
            </a:r>
          </a:p>
          <a:p/>
          <a:p>
            <a:r>
              <a:t>Шесть узлов — то, что мы сейчас соберём, и это именно решение. Между шагом модели и таблицей встаёт </a:t>
            </a:r>
            <a:r>
              <a:rPr b="1"/>
              <a:t>сверка со списком</a:t>
            </a:r>
            <a:r>
              <a:t>: она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: в том же окне браузера, где заявку отправили, печатается вход, что вернула модель, что решила сверка и номер строки.</a:t>
            </a:r>
          </a:p>
          <a:p/>
          <a:p>
            <a:r>
              <a:t>Эти два узла и есть вся разница между «работает» и «можно ручаться». Они выглядят лишними — ровно до того момента, когда кто-нибудь спросит, кто отвечает за содержимое столбца «тема».</a:t>
            </a:r>
          </a:p>
          <a:p/>
          <a:p>
            <a:r>
              <a:t>Кто ответил «зависит» — вы правы по сути, и я приму этот ответ, если скажете, от чего. Ответ: от того, считаем ли мы решением то, что заработало, или то, за что можно поручиться. Это первая строка нашей оси, и мы её сейчас закроем.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Шесть узлов, и смотрите на холст: под узлом извлечения висит </a:t>
            </a:r>
            <a:r>
              <a:rPr b="1"/>
              <a:t>отдельная коробка</a:t>
            </a:r>
            <a:r>
              <a:t>, называется «модель».</a:t>
            </a:r>
          </a:p>
          <a:p/>
          <a:p>
            <a:r>
              <a:t>Это устройство всех ИИ-блоков в этом инструменте. Шаг модели — всегда </a:t>
            </a:r>
            <a:r>
              <a:rPr b="1"/>
              <a:t>два</a:t>
            </a:r>
            <a:r>
              <a:t> узла: сам шаг и подключённая к нему модель. Точно так же потом подключают память и инструменты, и когда на одиннадцатом занятии мы соберём агента, у него под брюхом будет висеть три таких коробки.</a:t>
            </a:r>
          </a:p>
          <a:p/>
          <a:p>
            <a:r>
              <a:t>Запомните это сейчас по двум причинам. Первая: когда считаете узлы, считайте и модель — её видно, и она займёт место на холсте. Вторая, важнее: повтор и расход считаются </a:t>
            </a:r>
            <a:r>
              <a:rPr b="1"/>
              <a:t>на узле модели</a:t>
            </a:r>
            <a:r>
              <a:t>, а не на том, где вы поставили галочку. В третьем кейсе мы на это наткнёмся, и я хочу, чтобы это не было сюрпризом.</a:t>
            </a:r>
          </a:p>
          <a:p/>
          <a:p>
            <a:r>
              <a:t>Теперь по порядку, зачем каждый. Форма — вход: три поля, все обязательные.</a:t>
            </a:r>
          </a:p>
          <a:p/>
          <a:p>
            <a:r>
              <a:t>Извлечение полей — достаёт из текста значения, а не пересказ. Как устроена его схема, разберём на следующем экране: это главное в кейсе.</a:t>
            </a:r>
          </a:p>
          <a:p/>
          <a:p>
            <a:r>
              <a:t>Сверка со списком — последняя инстанция: что пришло не из списка или пустым, становится «другое» и «не указано».</a:t>
            </a:r>
          </a:p>
          <a:p/>
          <a:p>
            <a:r>
              <a:t>Запись строки — и обратите внимание, откуда берутся значения: у предыдущего узла, то есть у сверки, а не у модели. Поэтому в таблице не бывает ни пустой темы, ни темы вне списка.</a:t>
            </a:r>
          </a:p>
          <a:p/>
          <a:p>
            <a:r>
              <a:t>Экран результата — тот же узел формы, в режиме завершения. Печатает всю дорогу в том же окне, где отправили заявку: ходить в журнал и в таблицу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вы собрали — теперь словарь. Я ставлю его здесь, а не в начале, намеренно: девятнадцать незнакомых имён до того, как вы увидели хоть один работающий процесс, не ложатся никуда. А сейчас у вас в голове есть шесть коробок на холсте, и имена цепляются за них.</a:t>
            </a:r>
          </a:p>
          <a:p/>
          <a:p>
            <a:r>
              <a:t>Слева девять типов блоков. Это словарь, и он не про n8n: с этими же девятью типами вы встретитесь в любом инструменте автоматизации процессов, под другими именами. Справа — чем каждый является в n8n, потому что смотреть мы будем в нём.</a:t>
            </a:r>
          </a:p>
          <a:p/>
          <a:p>
            <a:r>
              <a:t>Пройду по строкам быстро, задерживаясь там, где есть что сказать.</a:t>
            </a:r>
          </a:p>
          <a:p/>
          <a:p>
            <a:r>
              <a:t>Триггер — то, что запускает процесс. Без него процесса нет, он просто не начнётся. Триггеры бывают трёх родов: по действию человека, по событию снаружи, по времени. В n8n это форма, вебхук и расписание соответственно. Есть и четвёртый, искусственный — ручной запуск, «выполнить, потому что я нажал кнопку»; он для отладки, и в бою его не бывает.</a:t>
            </a:r>
          </a:p>
          <a:p/>
          <a:p>
            <a:r>
              <a:t>Действие — блок, который что-то делает: вызывает чужой сервис, пишет строку, отправляет письмо. Это то, ради чего процесс существует.</a:t>
            </a:r>
          </a:p>
          <a:p/>
          <a:p>
            <a:r>
              <a:t>Преобразование — меняет форму данных, не трогая смысл: переименовать поле, собрать значение из двух, привести к нужному виду. В n8n это «задать поля», и мы им сегодня воспользуемся в неочевидном месте.</a:t>
            </a:r>
          </a:p>
          <a:p/>
          <a:p>
            <a:r>
              <a:t>Условие — выбор пути. Два пути или много. Следующее занятие целиком про эту строку.</a:t>
            </a:r>
          </a:p>
          <a:p/>
          <a:p>
            <a:r>
              <a:t>Цикл — повторить шаги по элементам списка. И сразу забегу вперёд: в n8n отдельный цикл нужен реже, чем вы думаете, и почему — следующий экран.</a:t>
            </a:r>
          </a:p>
          <a:p/>
          <a:p>
            <a:r>
              <a:t>Слияние — свести разошедшиеся ветки обратно в один поток. У него есть неприятная особенность, из-за которой теряют данные, и это тоже следующее занятие.</a:t>
            </a:r>
          </a:p>
          <a:p/>
          <a:p>
            <a:r>
              <a:t>Подпроцесс — вызов другого процесса как шага. Это то, что превращает процесс из простыни в структуру.</a:t>
            </a:r>
          </a:p>
          <a:p/>
          <a:p>
            <a:r>
              <a:t>Обработчик сбоя. Обратите внимание: в n8n это не один блок, а три разных механизма — настройки на каждом узле, отдельный сценарий-обработчик и блок принудительной остановки. Третий кейс сегодня про первый из трёх.</a:t>
            </a:r>
          </a:p>
          <a:p/>
          <a:p>
            <a:r>
              <a:t>И последняя строка, выделенная. Шаг модели — единственный новый тип блока в этой таблице. Все остальные восемь были и двадцать лет назад. Нов он тем, что принимает решение на неструктурированном входе, и тем, что может ошибиться незаметно.</a:t>
            </a:r>
          </a:p>
          <a:p/>
          <a:p>
            <a:r>
              <a:t>Четыре строки вы уже закрыли своими руками, пятнадцать минут назад. Триггер — это была форма. Действие — запись строки и показ результата. Преобразование — сверка со списком, тот самый узел «задать поля». Шаг модели — извлечение и подключённая к нему модель, две коробки. Обработчик сбоя закроем через два кейса, тоже сегодня.</a:t>
            </a:r>
          </a:p>
          <a:p/>
          <a:p>
            <a:r>
              <a:t>Остальные четыре — расписание дуги, и я называю его, чтобы вы знали, куда мы идём. Условие и слияние — следующее занятие. Цикл и подпроцесс — через два. Агент — это та же строка «шаг модели», но с подключёнными инструментами, и это одиннадцатое занятие.</a:t>
            </a:r>
          </a:p>
          <a:p/>
          <a:p>
            <a:r>
              <a:t>К этой таблице мы будем возвращаться каждый раз, и каждый раз в ней будет закрашено больше. Если через шесть занятий вы будете держать её в голове — вы умеете читать любой процесс в любом таком инструменте, а не только в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следующий экран, там четыре вещи, и все четыре вы увидите в первый же месяц работы.</a:t>
            </a:r>
          </a:p>
          <a:p/>
          <a:p>
            <a:r>
              <a:t>И последнее, что понадобится, когда захотите сработать </a:t>
            </a:r>
            <a:r>
              <a:rPr b="1"/>
              <a:t>один раз на весь список</a:t>
            </a:r>
            <a:r>
              <a:t> — скажем, отправить одно сводное письмо по всем заявкам. Для этого есть настройка на узле, «выполнить один раз»: он сработает единожды, с данными первого элемента. Лежит она в настройках узла, не в параметрах, и запомнить, где именно, стоит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работает, и работает честно: тема и срочность заполнены, значения из справочника, пустых клеток нет. Мы за это ручались и ручаемся.</a:t>
            </a:r>
          </a:p>
          <a:p/>
          <a:p>
            <a:r>
              <a:t>Теперь смотрите, за что мы не ручались. Отправляю заявку: «Можно перенести занятие со вторника? И подскажите, как оплатить». Две темы в одном сообщении, обе наши, обе из справочника.</a:t>
            </a:r>
          </a:p>
          <a:p/>
          <a:p>
            <a:r>
              <a:t>На экране результата: тема «перенос занятия». Одна. Про оплату не сказано ничего — ни на экране, ни в таблице, ни в журнале. Вторая тема не потерялась с ошибкой, её просто нет.</a:t>
            </a:r>
          </a:p>
          <a:p/>
          <a:p>
            <a:r>
              <a:t>Это другой класс беды, чем в первом кейсе. Там клетка могла остаться пустой, и мы это починили. Здесь клетка заполнена, значение законное, а заявка обслужена наполовину — и ни один сторож этого не заметит, потому что формально всё в порядке.</a:t>
            </a:r>
          </a:p>
          <a:p/>
          <a:p>
            <a:r>
              <a:t>Кейс второй про то, что справочник даёт гарантию формы, а гарантию смысла не даёт. И про то, какие ещё заявки ломают классификацию, которая минуту назад казалась надёжной.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защитить. Потому что он выглядит как отказ от автоматизации, а на самом деле это самый честный из четырёх.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один узел из шести, сверка со списком. Форму не трогаем, извлечение не трогаем, модель не трогаем, запись и экран остаются как были.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пять заявок подряд, и это те самые заявки,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Четвёртая — «расскажите про курс», без всякой срочности. Тема «курс», срочность «не указано». Обратите внимание: модель не придумала срочность, потому что в справочнике для этого есть законное значение. Если бы его не было, она бы что-нибудь поставила — это самый частый способ получить выдумку в данных.</a:t>
            </a:r>
          </a:p>
          <a:p/>
          <a:p>
            <a:r>
              <a:t>И пятая,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второго кейса, и он не про инструмент вовсе — он про то, как вы делите мир на части.</a:t>
            </a:r>
          </a:p>
          <a:p/>
          <a:p>
            <a:r>
              <a:t>Законный отказ нужен, когда вход приходит снаружи и вы не можете запретить людям писать то, чего в вашем списке нет. Это почти всегда так, если на входе человек: он пишет как умеет, и про юрлица он напишет, не спросив у вас разрешения.</a:t>
            </a:r>
          </a:p>
          <a:p/>
          <a:p>
            <a:r>
              <a:t>Не нужен, когда вход вы формируете сами. Выпадающий список в форме, фиксированный набор событий от системы — тогда непредусмотренного не будет по построению, и «другое» в нём лишнее.</a:t>
            </a:r>
          </a:p>
          <a:p/>
          <a:p>
            <a:r>
              <a:t>Вторая строка про многозначность. Если одна запись может относиться к нескольким категориям сразу и вы это уже видели — отказ нужен, и с ним надо решить, что делать с остатком. Если категории заведомо исключают друг друга — состояние заказа, тип документа — не усложняйте.</a:t>
            </a:r>
          </a:p>
          <a:p/>
          <a:p>
            <a:r>
              <a:t>Третья строка самая важная и самая пропускаемая. Отказ нужен, когда </a:t>
            </a:r>
            <a:r>
              <a:rPr b="1"/>
              <a:t>есть человек, которому поручено разбирать отложенное</a:t>
            </a:r>
            <a:r>
              <a:t>. Если разбирать некому — «другое» станет кладбищем, и честнее этого не делать: не строить процесс, который делает вид, что работает.</a:t>
            </a:r>
          </a:p>
          <a:p/>
          <a:p>
            <a:r>
              <a:t>Четвёртая — про цену. Если неверный ответ дороже задержки, воздерживаться правильно. Если задержка дороже ошибки — а бывает и так, например в поддержке, где ответить приблизительно сразу лучше, чем точно через сутки, — тогда пусть решает приблизительно.</a:t>
            </a:r>
          </a:p>
          <a:p/>
          <a:p>
            <a:r>
              <a:t>Предел называю прямо: </a:t>
            </a:r>
            <a:r>
              <a:rPr b="1"/>
              <a:t>очередь без владельца</a:t>
            </a:r>
            <a:r>
              <a:t>. «Другое» работает, пока есть человек, который в неё смотрит, и метрика, по которой видно её рост. Очередь, в которую никто не заглядывает, ничем не лучше молча потерянной заявки — разница только в том, что в ней есть запись, которую тоже никто не читает.</a:t>
            </a:r>
          </a:p>
          <a:p/>
          <a:p>
            <a:r>
              <a:t>И вторая строка оси. Клетка заполнена, значение законное — выглядит успехом, и его даже можно показать руководителю. Чем оказалось: вторая тема заявки исчезла молча. Мы это видели на экране своими глазами: отправили заявку про перенос и оплату, получили одну тему. Ни один сторож этого не поймает, потому что формально всё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</a:t>
            </a:r>
          </a:p>
          <a:p/>
          <a:p>
            <a:r>
              <a:t>Утро понедельника. Процесс работает неделю, к нему привыкли, в таблицу заглядывают по делу. Заглядывают — и видят: пятница заполнена, понедельник заполнен, выходных нет вовсе. Открою сейчас таблицу на стенде, посмотрим на эту дырку вместе.</a:t>
            </a:r>
          </a:p>
          <a:p/>
          <a:p>
            <a:r>
              <a:t>Что мы знаем на этот момент. Заявки за выходные приходили — это видно по журналу формы на сайте. В таблице их нет. Процесс не останавливался и ни на что не жаловался: письма об ошибке никто не получал, потому что никто не настраивал, кому его отправлять.</a:t>
            </a:r>
          </a:p>
          <a:p/>
          <a:p>
            <a:r>
              <a:t>Чего мы не знаем, и это важнее: что именно процесс делал эти два дня. Падал на каждой заявке? На части? Писал куда-то не туда? Журнал прогонов посмотреть можно, и мы посмотрим.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здесь другое — что процесс должен был сделать вместо того, что он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  <a:p/>
          <a:p>
            <a:r>
              <a:t>Я спрашиваю не для красоты. Все четыре варианта, которые вы сейчас выбираете, — это не абстракции. Это буквально значения одной настройки в карточке узла, и один из них стоит там по умолчанию. Какой именно — скажу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Здесь разберём, почему уже собранное работает не так, как выглядит.</a:t>
            </a:r>
          </a:p>
          <a:p/>
          <a:p>
            <a:r>
              <a:t>Ситуация. Промпт получился неточным: тема иногда определялась слишком общо. Поправили, проверили ручным запуском — хорошо, именно то, что хотели. Закрыли, пошли дальше.</a:t>
            </a:r>
          </a:p>
          <a:p/>
          <a:p>
            <a:r>
              <a:t>На следующий день смотрят таблицу за сутки. Все заявки разобраны по-старому. Открывают холст — правка на месте, никто её не откатывал. Запускают руками — работает по-новому.</a:t>
            </a:r>
          </a:p>
          <a:p/>
          <a:p>
            <a:r>
              <a:t>Оба утверждения на экране верны одновременно, и это не чья-то ошибка и не чья-то забывчивость. Это устройство инструмента, про которое не сказали.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Подсказка одна, и она честная: правильных карточек здесь две. Не потому что я схитрил с формулировками, а потому что две из четырёх описывают одно и то же явление с разных сторон — со стороны того, что надо сделать, и со стороны того, как оно устроено. Найдите обе.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в ней три утверждения.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главный вопрос, тот же, что я задавал в начале, и теперь он не риторический. </a:t>
            </a:r>
            <a:r>
              <a:rPr b="1"/>
              <a:t>Возьмите процесс, который у вас на работе уже работает. Он работает — или за него можно ручаться?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 — помните, я прогонял «а вы сотрудничаете с юрлицами?». Тема у неё получилась какая угодно, а правильный ответ был «не знаю». Куда её девать — вопрос восьмого занятия, и у инструмента на него есть ответ по умолчанию, который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дали языковые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8392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41272"/>
            <a:ext cx="2759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91417" y="1241272"/>
            <a:ext cx="3547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ЕЁ ДЕЛАЛ ДО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84851" y="1241272"/>
            <a:ext cx="40719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ИЗМЕНИЛОСЬ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3339"/>
            <a:ext cx="27593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понять, о чём этот 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разложить по категориям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1417" y="1523339"/>
            <a:ext cx="35471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глазами, либо правила по ключевым словам, либо отдельно обученная модель под одну задачу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4851" y="1523339"/>
            <a:ext cx="407199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 шаг, настраиваемый описанием; новая категория — правка в одной строке, а не переобучение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356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35619"/>
            <a:ext cx="27593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достать из текста значения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суммы, сроки, имена, адреса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1417" y="2235619"/>
            <a:ext cx="35471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переносил руками; где формат был жёсткий — разборщик, который ломался на каждом отклонении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4851" y="2235619"/>
            <a:ext cx="407199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достаются из живого текста, написанного как человеку, без формата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478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47898"/>
            <a:ext cx="2759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написать ответ или сводку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данным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1417" y="2947898"/>
            <a:ext cx="3547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человек; шаблоны там, где текст был предсказуем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4851" y="2947898"/>
            <a:ext cx="40719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 делает шаг, человек подтверждает — и это самая частая форма внедрения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776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77615"/>
            <a:ext cx="2759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разобрать то, что не 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снимок, скан, запись разговора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1417" y="3477615"/>
            <a:ext cx="3547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человек; распознавание давало буквы, но не смысл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4851" y="3477615"/>
            <a:ext cx="40719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шаг работает и по изображению, и по расшифровке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073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07332"/>
            <a:ext cx="2759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решить, что делать 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правило не записано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1417" y="4007332"/>
            <a:ext cx="3547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человек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851" y="4007332"/>
            <a:ext cx="40719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может предложить решение — и ошибиться так, что это не видно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2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0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одна строка не про то, что машина стала умной. Все пять — про то, что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порог стоимости упал на порядки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в автоматизацию попало то, что раньше не стоило своих денег: работа, которую делали глазами, потому что иначе было дороже.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класса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6799"/>
            <a:ext cx="11183112" cy="2602102"/>
          </a:xfrm>
          <a:prstGeom prst="roundRect">
            <a:avLst>
              <a:gd name="adj" fmla="val 117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59679"/>
            <a:ext cx="1673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05864" y="1159679"/>
            <a:ext cx="39880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0174" y="1159679"/>
            <a:ext cx="30951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МОЖЕТ ЗАПУСТИТЬ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81647" y="1159679"/>
            <a:ext cx="147520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41746"/>
            <a:ext cx="16737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интеграционный оркестратор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5864" y="1441746"/>
            <a:ext cx="39880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бизнес-процесса: взять, преобразовать, положить, уведомить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0174" y="1441746"/>
            <a:ext cx="30951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расписание · событие в чужой системе · человек через форму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81647" y="1441746"/>
            <a:ext cx="147520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 · Make · Zapier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1540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154025"/>
            <a:ext cx="16737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агентно-нативная оркестрация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864" y="2154025"/>
            <a:ext cx="39880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задача, которую решает агент с инструментами и проверками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0174" y="2154025"/>
            <a:ext cx="30951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плюс диалог с агентом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81647" y="2154025"/>
            <a:ext cx="147520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часть платформ 2026 года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8663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866305"/>
            <a:ext cx="16737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конструктор LLM-приложений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864" y="2866305"/>
            <a:ext cx="39880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вызов модели внутри приложения: цепочка, поиск по документам, память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0174" y="2866305"/>
            <a:ext cx="30951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только снаружи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по вызову или из чата;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планировщика 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81647" y="2866305"/>
            <a:ext cx="147520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2710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955118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Настоящая разделяющая ось — не «интеграции против ИИ».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У n8n есть и агент, и векторное хранилище; у Activepieces — агенты и базы знаний; у LangFlow — ветвления, циклы и человек в контуре. Делит другое: единица работы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может ли внешний мир запустить сценарий сам, без человека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9450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42251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Класс инструментов — не вечная вещь. Flowise, один из двух самых известных конструкторов, закрыт 31 августа 2026 года.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Причина, названная авторами: жёсткий визуальный low-code упирается в предел по сложности, а разработчики ушли к кодинг-агентам.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n8n: зачем он здесь и как устроен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634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69229"/>
            <a:ext cx="42594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УСТРОЕН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1508" y="1169229"/>
            <a:ext cx="626533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ЗНАЧИТ НА ПРАКТИКЕ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51296"/>
            <a:ext cx="42594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холст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поле, на котором процесс рисуется мышкой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1508" y="1451296"/>
            <a:ext cx="62653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 читается как схема; на него можно показать пальцем коллеге, и это главная причина популярности таких инструментов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9810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981013"/>
            <a:ext cx="42594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узел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один шаг на холсте; у каждого своя карточка с параметрами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1508" y="1981013"/>
            <a:ext cx="62653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добавить шаг — поставить узел и соединить; никакого развёртывания между правкой и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107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10730"/>
            <a:ext cx="42594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прогон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одно исполнение процесса от триггера до конца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1508" y="2510730"/>
            <a:ext cx="62653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 каждого прогона свой номер, и он сохраняется целиком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404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40447"/>
            <a:ext cx="42594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журнал прогонов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список всех исполнений с данными на входе и выходе каждого узла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1508" y="3040447"/>
            <a:ext cx="62653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открыть прогон недельной давности и посмотреть, что именно пришло в третий узел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2512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15313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Почему именно он для курса: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ставится локально и бесплатно (студент повторит дома) · ИИ-блоки есть в коробке, отдельной подписки не нужно · запускается по расписанию и по событию — то, чего нет у третьего класса · процесс выгружается одним файлом, и этот файл вы унесёте с занятия.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8017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0819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Чего ждать не надо: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лицензия у ядра не вполне свободная (у Activepieces свободнее); установка без контейнера объявлена устаревшей; интерфейс меняется между версиями — поэтому схемы мы рисуем отдельно от снимков.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Работает — и можно ручаться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0132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38148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работает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он доезжает до конца и не падает.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процесс можно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ручаться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вы знаете, что в нём будет в каждой строке — и что будет, когда он сломается.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12745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95625"/>
            <a:ext cx="6625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7567" y="2895625"/>
            <a:ext cx="3899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77692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75855" y="3250844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3524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524846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5855" y="3597998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38720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872001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855" y="3945153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42191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19155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5855" y="4292307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533072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5873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строки. Левая колонка — то, что вы увидите своими глазами и сочтёте успехом. Правую мы заполним сами, по одной за кейс, и вернёмся к этой таблице в конце.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1827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46691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28987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есть: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форма на сайте — имя, контакт и свободный текст «что нужно»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нужно: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строка в таблице, где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срочность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никогда не пусты и всегда из списка, а не любые слова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4464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7265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03370"/>
            <a:ext cx="11183112" cy="2401570"/>
          </a:xfrm>
          <a:prstGeom prst="roundRect">
            <a:avLst>
              <a:gd name="adj" fmla="val 126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886250"/>
            <a:ext cx="6979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0072" y="3886250"/>
            <a:ext cx="34778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СОСТАВ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4243" y="3886250"/>
            <a:ext cx="62026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В НЁМ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8317"/>
            <a:ext cx="69796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72" y="4168317"/>
            <a:ext cx="34778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→ таблица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4243" y="4168317"/>
            <a:ext cx="62026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ради чего всё: тему и срочность по-прежнему ставит человек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45154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4515472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72" y="4515472"/>
            <a:ext cx="34778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→ шаг модели → таблица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4243" y="4515472"/>
            <a:ext cx="62026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гарантии, что в клетке окажется значение из списка, и места, где результат видно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5045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5045189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0072" y="5045189"/>
            <a:ext cx="34778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→ шаг модели → сверка со списком → запись → показ результата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4243" y="5045189"/>
            <a:ext cx="62026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не пропущено — но два узла из шести придётся обосновать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749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74906"/>
            <a:ext cx="69796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0072" y="5574906"/>
            <a:ext cx="34778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того, что считать решением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4243" y="5574906"/>
            <a:ext cx="62026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не сказано, от чего именно, это не ответ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4148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67028"/>
            <a:ext cx="6979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0072" y="1367028"/>
            <a:ext cx="3353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688" y="1367028"/>
            <a:ext cx="6327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9095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72" y="1649095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бесплатно, нечему ломаться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688" y="1649095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 не решена: человек по-прежнему читает каждую заявку и ставит пометку руками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8812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0072" y="2178812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 сама, в столбце что-то появляется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688" y="2178812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 — «запись», «обучение», «Аналитика.» с точкой; срочности не будет вовсе, если её не попросить;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910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91091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0072" y="2891091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 из списка, заполнены всегда, результат виден там же, где отправили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688" y="2891091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 узла выглядят лишними, пока не спросишь, кто отвечает за содержимое столбца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033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03370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72" y="3603370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сути: ответ правда 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688" y="3603370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того, считаем ли мы решением то, что заработало, или то, за что можно поручиться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8347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11149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Сверки со списком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в клетке окажется любое правдоподобное слово, и ни одна проверка этого не заметит.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результат видно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каждая проверка стоит двух переключений: журнал прогонов и таблица.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узлов на холсте</a:t>
            </a:r>
          </a:p>
        </p:txBody>
      </p:sp>
      <p:pic>
        <p:nvPicPr>
          <p:cNvPr id="3" name="Picture 2" descr="k1-shema-shes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38" y="943356"/>
            <a:ext cx="10224474" cy="25561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64066"/>
            <a:ext cx="11183112" cy="2643124"/>
          </a:xfrm>
          <a:prstGeom prst="roundRect">
            <a:avLst>
              <a:gd name="adj" fmla="val 115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846946"/>
            <a:ext cx="252242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ИМЯ НА ХОЛСТЕ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525" y="3846946"/>
            <a:ext cx="80023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ЗАЧЕМ ОН ЗДЕСЬ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2901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4525" y="412901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процесса: имя, контакт и свободный текст, все поля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4615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46156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4525" y="446156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достаёт из текста значения вместо пересказа, по схеме с перечислением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941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9411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Model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(подключён снизу)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4525" y="479411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второй узел шага модели.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Повтор и расход считаются здесь — в кейсе 3 это окажется важным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1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12666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4525" y="512666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последняя инстанция списка: пустое и чужое становится «другое» / «не указано»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459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545921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525" y="545921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берёт значения у предыдущего узла, не у модели — поэтому пустых тем не бывает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7917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79176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4525" y="579176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всю дорогу там же, где отправили заявку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настраиваем в двух несущих узлах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6263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24279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Extract fields — схема задана вручную: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"другое"]}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"urgency":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["сегодня",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"на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неделе",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"не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указано"]}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оба поля обязательны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222955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50971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Vocabulary check — обычный узел «задать поля»: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||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'другое'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возьми тему, а если её нет, поставь «другое». То же для срочности.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7532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80334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«Хочу на курс по аналитике, перезвоните сегодня после шести, телефон в конце». Что напечатает экран в строке «что предложила модель»?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Словарь: девять типов блоков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481006"/>
          </a:xfrm>
          <a:prstGeom prst="roundRect">
            <a:avLst>
              <a:gd name="adj" fmla="val 87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8804"/>
            <a:ext cx="1250680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ТИП БЛОКА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5352" y="1098804"/>
            <a:ext cx="380124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2903" y="1098804"/>
            <a:ext cx="538137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 N8N ЭТО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6588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триггер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352" y="136588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процесс: событие, расписание, вызов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2903" y="136588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Form Trigger · Webhook · Schedule Trigger · Manual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16402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164020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действие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5352" y="164020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что-то делает во внешнем мире или с данными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2903" y="164020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HTTP Request · Data Table · отправка письма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19145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191452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преобразование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5352" y="191452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меняет форму данных, не трогая 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2903" y="191452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Edit Fields (Set) ·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21888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218884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условие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5352" y="218884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выбирает один путь из двух или из многих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2903" y="218884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If · Switch · 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246316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246316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цикл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5352" y="246316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повторяет шаги по элементам списка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2903" y="246316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Loop Over Items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273748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273748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слияние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5352" y="273748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сводит разошедшиеся ветки обратно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2903" y="273748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Merge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301180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301180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подпроцесс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5352" y="301180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вызывает другой процесс как шаг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2903" y="301180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Execute Sub-workflow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3286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3286124"/>
            <a:ext cx="1250680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обработчик сбоя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5352" y="3286124"/>
            <a:ext cx="380124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ловит отказ и решает, что делать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2903" y="3286124"/>
            <a:ext cx="538137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настройки узла · Error Trigger · Stop and Error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370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3704843"/>
            <a:ext cx="1250680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шаг модели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5352" y="3704843"/>
            <a:ext cx="380124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принимает решение на неструктурированном входе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2903" y="3704843"/>
            <a:ext cx="538137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Basic LLM Chain · Information Extractor · Text Classifier · AI Agent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 к каждому подключается отдельный узел модели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как вы только что видели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588954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4716970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Четыре строки вы уже закрыли своими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(форма),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действие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(запись и показ),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преобразование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(сверка со списком),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 модели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(извлечение и подключённая модель).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Обработчик сбоя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закроем через два кейса, сегодня же.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2156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54958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Остальные четыре — расписание дуги: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условие и слияние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на следующем занятии,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цикл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подпроцесс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через два. К этой таблице мы будем возвращаться каждое занятие, и каждый раз в ней будет закрашено больше.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261" y="943356"/>
            <a:ext cx="9120428" cy="22801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8805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1607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даже когда элемент один. Каждый элемент — объект с обязательной обёрткой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если это файл), поэтому в выражениях везде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679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959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87925"/>
            <a:ext cx="11183112" cy="1312926"/>
          </a:xfrm>
          <a:prstGeom prst="roundRect">
            <a:avLst>
              <a:gd name="adj" fmla="val 2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70805"/>
            <a:ext cx="23888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0952" y="5070805"/>
            <a:ext cx="81358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2872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«узел отработал 5 раз»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952" y="5352872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пришло пять элементов — перебор встроенный, и отдельный блок цикла нужен реже, чем кажется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685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685421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952" y="5685421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 и ни у кого не 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3144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98008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80304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424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0226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11270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594150"/>
            <a:ext cx="11722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4308" y="3594150"/>
            <a:ext cx="46823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ДОВОД ЗА НЕГО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2980" y="3594150"/>
            <a:ext cx="45238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БУДЕТ С ЗАЯВКОЙ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76217"/>
            <a:ext cx="11722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4308" y="3876217"/>
            <a:ext cx="46823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просто, ничего не надо менять: что модель назвала первым, то и пишем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2980" y="3876217"/>
            <a:ext cx="45238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нигде не останется — ни в таблице, ни в журнале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4405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4405934"/>
            <a:ext cx="11722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4308" y="4405934"/>
            <a:ext cx="46823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 несколько, значит автоматика не справилась; честно передать человеку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2980" y="4405934"/>
            <a:ext cx="45238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ждёт человека, и это видно по столбцу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9356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935651"/>
            <a:ext cx="11722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две строки из одной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04308" y="4935651"/>
            <a:ext cx="46823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каждая тема получает свой маршрут и своего ответственного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2980" y="4935651"/>
            <a:ext cx="45238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превращается в две судьбы: надо решить, кто её закрывает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4653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465368"/>
            <a:ext cx="11722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главную + пометку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4308" y="5465368"/>
            <a:ext cx="46823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остаётся главное, остальное рядом, одной клеткой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2980" y="5465368"/>
            <a:ext cx="45238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кто-то должен эту пометку читать, иначе она как первый вариант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k2-shema-trudnye-zayav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60" y="943356"/>
            <a:ext cx="8238431" cy="20596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167555"/>
            <a:ext cx="11183112" cy="1480185"/>
          </a:xfrm>
          <a:prstGeom prst="roundRect">
            <a:avLst>
              <a:gd name="adj" fmla="val 2059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3295571"/>
            <a:ext cx="414357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0814" y="3295571"/>
            <a:ext cx="286399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1117" y="3295571"/>
            <a:ext cx="348059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562652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0814" y="3562652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1117" y="3562652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801920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801920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0814" y="3801920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1117" y="3801920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404118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4041188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сотрудничаете с юрлицами?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0814" y="4041188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1117" y="4041188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" y="428045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" y="4280456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0814" y="4280456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1117" y="4280456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1233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94034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Меняем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один узел из шести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сверку со списком. В неё добавляется столбец «ещё в заявке»; остальные пять не трогаются вовсе.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32346"/>
            <a:ext cx="11183112" cy="78056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60362"/>
            <a:ext cx="10634472" cy="524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Заявка: «хочу оплатить, перенести занятие и узнать про скидки для сотрудников». Три темы, и одной из них в списке нет. Что встанет в «тему», а что в «ещё в заявке»?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нужно законное «не знаю»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очередь без владельца.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работает ровно до тех пор, пока есть человек, который в неё смотрит, и метрика, по которой видно её рост. Очередь, в которую никто не заглядывает, ничем не отличается от молча потерянной заявки — только в ней есть запись, которую тоже никто не читает.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вторая тема заявки исчезла молча, и ни один сторож этого не заметил, потому что формально всё в порядке.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ЗАКОННЫЙ ОТКАЗ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приходит снаружи, и вы не можете запретить людям писать то, чего в списке нет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одна запись может относиться к нескольким категориям сразу, и вы это уже видели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 человек, который разберёт отложенное, и ему это поручено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неверного ответа выше цены задержки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ЗАКОННЫЙ ОТКАЗ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вы формируете сами: выпадающий список в форме, фиксированный набор событий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категории заведомо исключают друг друга — состояние заказа, тип документа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разбирать некому: тогда «другое» станет кладбищем, и честнее не делать вид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задержка дороже ошибки, и лучше решить приблизительно, но сразу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51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0321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92358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75238"/>
            <a:ext cx="1413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5884" y="2575238"/>
            <a:ext cx="42855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ДОВОД ЗА НЕГО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704" y="2575238"/>
            <a:ext cx="4679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БУДЕТ С ЗАЯВКОЙ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57305"/>
            <a:ext cx="141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5884" y="2857305"/>
            <a:ext cx="42855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 есть отказ; лучше не сделать ничего, чем сделать половину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7704" y="2857305"/>
            <a:ext cx="46791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эта заявка не записана, и следующие тоже не поедут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870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87022"/>
            <a:ext cx="141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5884" y="3387022"/>
            <a:ext cx="42855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не разобралась, остальные не виноваты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7704" y="3387022"/>
            <a:ext cx="46791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она доедет до таблицы — но что окажется в столбце «тема», вопрос открытый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9167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916739"/>
            <a:ext cx="141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5884" y="3916739"/>
            <a:ext cx="42855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сеть моргнула, со второй попытки обычно проходит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7704" y="3916739"/>
            <a:ext cx="46791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задержка вместо отказа, если отказ был временным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4464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446456"/>
            <a:ext cx="141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5884" y="4446456"/>
            <a:ext cx="42855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пусть неудачные идут своей дорогой, разберём их отдельно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7704" y="4446456"/>
            <a:ext cx="46791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записана с пометкой, и видно, сколько таких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532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1208" y="57081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7904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095" y="943356"/>
            <a:ext cx="9742760" cy="286193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69883"/>
            <a:ext cx="11183112" cy="86575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125331"/>
            <a:ext cx="4698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3206" y="4125331"/>
            <a:ext cx="588107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99905"/>
            <a:ext cx="469853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3206" y="4399905"/>
            <a:ext cx="588107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0023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12825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выхода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ту же таблицу,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not_parsed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, и на свой экран.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620248"/>
            <a:ext cx="11183112" cy="716965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748264"/>
            <a:ext cx="10634472" cy="460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47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061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321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8870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9693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Подсказка: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правильных карточек здесь две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они описывают одно явление с двух сторон.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298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05178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05178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87245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087245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34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34399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434399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1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1554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781554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287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28708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128708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2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542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Тот же вопрос, что в начале: ваш процесс на работе — он работает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Теперь у вас есть четыре способа это проверить, и ни один из них не требует верить мне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9" y="943356"/>
            <a:ext cx="10969212" cy="322220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30154"/>
            <a:ext cx="11183112" cy="1978025"/>
          </a:xfrm>
          <a:prstGeom prst="roundRect">
            <a:avLst>
              <a:gd name="adj" fmla="val 154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13034"/>
            <a:ext cx="30645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6681" y="4513034"/>
            <a:ext cx="7460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95101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6681" y="4795101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276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27650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6681" y="5127650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60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60200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6681" y="5460200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7927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792749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6681" y="5792749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