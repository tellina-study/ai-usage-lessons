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Предыдущие занятия были про одного исполнителя: как дать агенту права, память и инструменты, как проверить, что он делает то, что обещал. Сегодня начинается другая дуга, на уровень выше. Вопрос теперь не в том, как настроить агента, а в том, нужен ли он здесь вообще и что ставить вместо него, когда не нужен.</a:t>
            </a:r>
          </a:p>
          <a:p/>
          <a:p>
            <a:r>
              <a:t>Большинство работающих автоматизаций на моделях устроены скучно: два-три известных шага в известном порядке. Агент, который сам решает, что делать дальше, стоит дороже, ведёт себя непредсказуемее и отлаживается тяжелее. Занятие про то, как выбирать между ними и где проходит граница.</a:t>
            </a:r>
          </a:p>
          <a:p/>
          <a:p>
            <a:r>
              <a:t>Название перечисляет три нижние ступени, которые закрываются за этот час.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что знакомо почти каждому в этой аудитории. В поддержке интернет-магазина стоит простая автоматизация: приходит письмо, срабатывает правило внутри почтового ящика, и в трекере задач появляется карточка с темой и текстом письма. Дальше с ней работает человек.</a:t>
            </a:r>
          </a:p>
          <a:p/>
          <a:p>
            <a:r>
              <a:t>Эту конструкцию собрал один разработчик за вечер три года назад. Её не трогали с тех пор ни разу: она делает ровно одно, делает это предсказуемо и ломается только тогда, когда меняется что-то снаружи — адрес ящика или название проекта в трекере. Тысячное письмо обрабатывается ровно так же, как первое.</a:t>
            </a:r>
          </a:p>
          <a:p/>
          <a:p>
            <a:r>
              <a:t>Вопрос к аудитории простой, и ответ на него стоит произнести вслух, прежде чем идти дальше: где в этой схеме искусственный интеллект? Четыре варианта: в правиле, которое срабатывает на входящее; в самой почте; в трекере, где появляется карточка; нигде.</a:t>
            </a:r>
          </a:p>
          <a:p/>
          <a:p>
            <a:r>
              <a:t>Отвечать стоит всерьёз: от ответа зависит, о чём пойдёт остаток занятия. Слово «автоматизация» за последние пару лет срослось со словом «ИИ» настолько, что их часто употребляют как синонимы. Сращение мешает разбирать реальные задачи — инженер начинает прикидывать, какую модель взять, в ситуации, где модель не нужна совсем, и тратит неделю там, где хватило бы вечера.</a:t>
            </a:r>
          </a:p>
          <a:p/>
          <a:p>
            <a:r>
              <a:t>Обратите внимание на свойства этой конструкции, они понадобятся дальше как точка отсчёта. Она детерминирована: по тексту правила можно заранее сказать, что произойдёт с любым письмом. Она бесплатна в работе. Она отлаживается глазами — видно, какое условие сработало. И она никогда не угадывает: там, где условие не подошло, ничего не происходит, и это видно сразу.</a:t>
            </a:r>
          </a:p>
          <a:p/>
          <a:p>
            <a:r>
              <a:t>Пусть каждый выберет вариант про себя, а двое-трое назовут свой вслух с коротким доводом. Довод здесь важнее выбора: он покажет, по какому признаку человек в этой аудитории отличает автоматизацию от искусственного интеллекта, и дальше мы этим признаком будем пользоваться постоянно.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Верный ответ — нигде. Правило внутри почтового ящика это обычное условие, написанное человеком один раз: если письмо пришло на этот адрес, создать карточку. Оно ничего не предсказывает, ничему не учится и не принимает ни одного решения, которого нельзя было бы вычитать из его текста. Автоматизация здесь есть, искусственного интеллекта нет.</a:t>
            </a:r>
          </a:p>
          <a:p/>
          <a:p>
            <a:r>
              <a:t>Это различение держит весь остаток занятия. Вопрос, который задавала картинка, никуда не исчезает, когда в схему добавляют вызов модели, — он переезжает на уровень выше. Спрашивать «нужен ли здесь ИИ» перестаёт иметь смысл, потому что процесс состоит из нескольких шагов, и у каждого шага ответ свой. Правильная форма вопроса: какому конкретно шагу модель нужна, а какому не нужна и не должна быть нужна.</a:t>
            </a:r>
          </a:p>
          <a:p/>
          <a:p>
            <a:r>
              <a:t>Лестница на экране — карта этого вопроса. Девять ступеней снизу вверх, от самой дешёвой к самой дорогой. Нижняя: одного вызова достаточно, иногда вместе с поиском по своим документам, и строить вокруг этого ничего не надо. Вторая: цепочка, когда задача распадается на несколько известных шагов в известном порядке. Третья: маршрут, когда входы разные и путь определяется их категорией. Эти три закрываются сегодня.</a:t>
            </a:r>
          </a:p>
          <a:p/>
          <a:p>
            <a:r>
              <a:t>Выше ещё шесть, и они занятия этой дуги вперёд — от параллельного запуска независимых шагов до нескольких агентов сразу и до решения выключить автоматизацию совсем. Запоминать их сейчас не нужно, лестница вернётся в конце занятия и на каждом следующем.</a:t>
            </a:r>
          </a:p>
          <a:p/>
          <a:p>
            <a:r>
              <a:t>И сразу один вопрос к себе, пока лестница на экране. Почти у каждого в этой аудитории уже есть собранный процесс на модели — рабочий, учебный или домашний. На какой он ступени? И, что важнее, нужна ли ему следующая, или он прекрасно стоит там, где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принадлежит человеку, который каждый день разбирает почту поддержки небольшого интернет-магазина. Писем приходит под сотню, и большая часть повторяется: забыл пароль, где заказ, как вернуть товар. Он отвечает на них сам, по одному, держа стандартные формулировки в голове или в закреплённом документе. К середине дня он отвечает уже автоматически, почти не читая — и именно поэтому пропускает то письмо, которое отличалось от остальных.</a:t>
            </a:r>
          </a:p>
          <a:p/>
          <a:p>
            <a:r>
              <a:t>Задача, которую ему поставили, звучит буднично: сделать так, чтобы письма разбирались сами. Формулировка владельца магазина была ещё проще — «чтобы я не нанимал второго человека на почту». Однотипное должно уходить без участия сотрудника, остальное доходить до него уже рассортированным.</a:t>
            </a:r>
          </a:p>
          <a:p/>
          <a:p>
            <a:r>
              <a:t>Разбирать такую задачу стоит именно в этой форме, в какой её принесли, без перевода на язык инструментов. Как только она превращается в «нам нужен ИИ-ассистент для поддержки», выбор уже сделан за вас, и сделан вслепую.</a:t>
            </a:r>
          </a:p>
          <a:p/>
          <a:p>
            <a:r>
              <a:t>Стоит сразу заметить, чего в этой постановке нет. Инструмент в ней не назван, модель не упомянута, слово «цепочка» не произнесено. Сказано только, что происходит сейчас и что должно происходить вместо этого. С такой формулировки начинается почти любая задача на работе, и первое решение инженера — выбрать, насколько сложным будет ответ. Выбор этот делается в первые полчаса и определяет полгода поддержки.</a:t>
            </a:r>
          </a:p>
          <a:p/>
          <a:p>
            <a:r>
              <a:t>Это первый из трёх случаев ступени. Дальше будут два публичных, с цифрами и источниками: компания, потерявшая на такой же дыре сотни миллионов, и команда, которая год строила лишнее. Этот — учебный, собранный ради механики приёма, и об этом сказано прямо на следующем экране. Он нужен потому, что на нём приём виден целиком, от первой строчки списка до поломки, чего ни один публичный разбор не даёт: наружу обычно выходит только финал.</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Самое простое, что делает любой инженер с такой задачей, и правильно делает: список слов на каждую категорию. Письмо со словами «забыл пароль», «не могу войти» или «сбросьте» уходит в доступ. «Где заказ», «трек», «не пришло» — в доставку. «Вернуть деньги», «оформить возврат» — в возврат.</a:t>
            </a:r>
          </a:p>
          <a:p/>
          <a:p>
            <a:r>
              <a:t>Это обычный поиск подстроки, ничего больше. Работает мгновенно, стоит ноль, результат воспроизводится полностью: одно и то же письмо всегда попадает в одну и ту же категорию, и всегда видно, какое именно слово сработало. Отладка сводится к чтению списка глазами. На потоке однотипных писем такой классификатор закрывает большую часть ящика.</a:t>
            </a:r>
          </a:p>
          <a:p/>
          <a:p>
            <a:r>
              <a:t>На этом стоит задержаться, потому что дальше пойдёт разговор про модели, и легко решить, будто списки слов упомянуты для разбега — ступень, которую все проходят и перерастают. Если ваш поток выглядит так, на этом и надо остановиться. Решение, которое работает, стоит ноль и полностью предсказуемо, улучшения добавлением модели не требует.</a:t>
            </a:r>
          </a:p>
          <a:p/>
          <a:p>
            <a:r>
              <a:t>Полезно сразу посчитать, что именно такой классификатор даёт. Письмо про пароль уходит в доступ и получает стандартный ответ без участия человека. То же с вопросом про трек. Это и есть та половина потока, ради которой задачу ставили: она перестаёт доходить до живого сотрудника вовсе, а он занимается оставшейся половиной, где действительно нужно думать.</a:t>
            </a:r>
          </a:p>
          <a:p/>
          <a:p>
            <a:r>
              <a:t>Про сам пример скажу прямо, один раз на весь случай. Магазин, письма и Анна, которая появится через несколько экранов, собраны ради механики — публичного инцидента за этой сценой нет, и выдавать её за чей-то провал было бы враньём. Два следующих случая этой же ступени документированы, с компаниями, цифрами и ссылками. Учебная сцена здесь нужна потому, что на ней приём видно целиком, от первой строки списка до момента, где он ломается, а публичные разборы показывают только финал.</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Приходит письмо: «оплатила вчера, деньги списались дважды, верните одно списание». Посмотрите на списки с предыдущего экрана. Ни «пароля», ни «заказа», ни «трека». Слова «вернуть деньги» формально есть, но ведут они в категорию возврата товара, а человек говорит про ошибку оплаты — это другая категория, другой адресат и другой ответ.</a:t>
            </a:r>
          </a:p>
          <a:p/>
          <a:p>
            <a:r>
              <a:t>Правило в таком случае либо молчит, либо попадает мимо. Инженер делает очевидное: дописывает в биллинг слова «списались» и «верните». И следующим же письмом получает: «верните деньги за кофеварку, она не включается». Та же пара слов, другая категория. Теперь списки пересекаются между собой, и приходится придумывать правила поверх правил — какое слово сильнее, что делать, если сработали два.</a:t>
            </a:r>
          </a:p>
          <a:p/>
          <a:p>
            <a:r>
              <a:t>Это не история про то, что списки слов плохи. Это свойство задачи: люди пишут так, как им удобно, и заранее перечислить все формулировки невозможно в принципе. Чем шире поток, тем быстрее растёт хвост непредвиденного.</a:t>
            </a:r>
          </a:p>
          <a:p/>
          <a:p>
            <a:r>
              <a:t>И вот здесь — первое решение, которое принимает зал. Правила перестали покрывать поток. Три варианта. Первый: дописывать слова дальше, так и живут многие рабочие системы, и живут годами. Второй: позвать на шаг классификации модель. Третий: всё нераспознанное отправлять человеку и автоматику не трогать.</a:t>
            </a:r>
          </a:p>
          <a:p/>
          <a:p>
            <a:r>
              <a:t>Ни один из трёх не подвох и не соломенное чучело. Каждый встречается в живых системах, у каждого есть ситуация, в которой он правильный, и у каждого своя цена, которую видно не сразу. Поэтому выбирать стоит всерьёз, как если бы это была ваша задача на этой неделе.</a:t>
            </a:r>
          </a:p>
          <a:p/>
          <a:p>
            <a:r>
              <a:t>Выберите про себя, и пусть несколько человек назовут вариант вслух вместе с доводом. Довод важнее выбора: через экран будет видно, чем платит каждый, и интереснее всего будет тем, кто успел сформулировать свои основания заранее.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Пройдём по всем трём, потому что ни один из них не ошибка.</a:t>
            </a:r>
          </a:p>
          <a:p/>
          <a:p>
            <a:r>
              <a:t>Дописать слов — самый дешёвый ход сегодня. Пять минут работы, письмо закрыто, система не усложнилась. Платите вы за это позже и постепенно: списки растут, начинают пересекаться, появляются правила про правила. Через месяц никто в команде не ответит, почему в биллинге стоит слово «дважды» и что сломается, если его убрать. Этот вариант хорош ровно до того момента, пока хвост непредвиденного не начинает расти быстрее, чем вы успеваете его подшивать.</a:t>
            </a:r>
          </a:p>
          <a:p/>
          <a:p>
            <a:r>
              <a:t>Отдать нераспознанное человеку — вариант, который в таких обсуждениях обычно пропускают, и зря. Он честный: система признаёт, что не знает, и передаёт случай тому, кто разберётся. Ничего не ломается молча. Цена простая и считается на калькуляторе: поток к человеку остаётся прежним, хотя задачу ставили ради его сокращения. Если в «прочее» падает три письма из ста — на этом стоит остановиться и больше ничего не строить.</a:t>
            </a:r>
          </a:p>
          <a:p/>
          <a:p>
            <a:r>
              <a:t>Позвать модель — то, ради чего занятие. Модель разбирает формулировки, которых в ваших списках нет и быть не могло, потому что работает не по совпадению слов. За это она берёт плату, и плата неочевидная: модель отвечает всегда. Правило, когда не знало, молчало. Модель молчать не умеет — на любом письме она вернёт какую-нибудь категорию с одинаково уверенным видом.</a:t>
            </a:r>
          </a:p>
          <a:p/>
          <a:p>
            <a:r>
              <a:t>Отсюда признак, по которому выбирают, и он наблюдаемый: смотрите на скорость роста «прочего». Пока его мало, хватит списков и человека. Когда непредвиденное растёт быстрее, чем вы успеваете дописывать слова, зовите модель — и сразу планируйте, чем будете ловить её молчаливые ошибки.</a:t>
            </a:r>
          </a:p>
          <a:p/>
          <a:p>
            <a:r>
              <a:t>Заметьте, что все три варианта живут в реальных системах одновременно, и это нормальная архитектура: списки слов ловят частотные случаи дёшево, модель разбирает хвост, человек получает то, в чём не уверены ни списки, ни модель. Вопрос обычно стоит в пропорции между ними, и пропорцию двигают по мере того, как меняется поток.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модель делает на шаге классификации — стоит сказать точно, без романтики. Она не ищет слова. Вы даёте ей список своих категорий и текст письма, она читает письмо и возвращает одно название из списка. Формулировку, которой не было ни в одном вашем перечне, она разберёт именно потому, что работает не по совпадению подстрок. В этом вся польза на этом шаге, и ничего сверх этого она не делает.</a:t>
            </a:r>
          </a:p>
          <a:p/>
          <a:p>
            <a:r>
              <a:t>Польза адресная: она закрывает ровно ту дыру, на которой встали списки. Письмо про двойное списание модель отнесёт к биллингу, даже если слова «биллинг» в нём нет, а слово «верните» ведёт в другую сторону.</a:t>
            </a:r>
          </a:p>
          <a:p/>
          <a:p>
            <a:r>
              <a:t>Дальше выясняется, что одной категории мало. Письмо надо не только разложить, но и ответить на него. Это второе действие, другого рода: первое выбирает из короткого списка, второе пишет связный текст. Отсюда второй вызов — по тексту письма и уже известной категории составить черновик ответа.</a:t>
            </a:r>
          </a:p>
          <a:p/>
          <a:p>
            <a:r>
              <a:t>Два шага подряд, выход первого становится входом второго. Вот это и называется цепочкой. Она появилась здесь не потому, что цепочки — правильный способ строить системы, а потому что задача распалась на два разных действия, и каждое делается своим вызовом. Если бы задача не распалась, цепочки бы не было.</a:t>
            </a:r>
          </a:p>
          <a:p/>
          <a:p>
            <a:r>
              <a:t>Последним в ряду стоит человек. Черновик попадает в очередь, человек открывает, читает, подтверждает или правит, и только после этого письмо уходит клиенту. Этот шаг легко прочитать как перестраховку на первое время, которую потом уберут ради скорости. Через экран будет видно, что он тут несёт главную нагрузку.</a:t>
            </a:r>
          </a:p>
          <a:p/>
          <a:p>
            <a:r>
              <a:t>Посмотрите на схему ещё раз и отметьте, чего в ней нет. Между первым шагом и вторым нет ничего: метка, которую вернула модель, идёт прямо в составление ответа. Никто не спрашивает, входит ли она в список допустимых, никто не смотрит на уверенность модели, нигде не предусмотрен случай «модель не знает». Схема выглядит законченной именно потому, что в ней пусто там, где у списка слов было молчание.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Письмо Анны: заказ приехал в раздавленной коробке, у чайника вмятина, просит вернуть деньги, прикладывает фотографии. Модель ставит метку «доставка».</a:t>
            </a:r>
          </a:p>
          <a:p/>
          <a:p>
            <a:r>
              <a:t>Почему именно её — стоит разобрать, потому что это и есть механика провала. Метка допускается одна. Письмо честно подходит сразу к двум категориям: в нём и повреждение при перевозке, и просьба о деньгах. А описание категории «возврат» в инструкции сформулировано узко — клиент хочет оформить возврат купленного товара. Повреждение при доставке в это описание не попадает. Модель выбирает ближайшее из оставшегося, и это доставка.</a:t>
            </a:r>
          </a:p>
          <a:p/>
          <a:p>
            <a:r>
              <a:t>Второй шаг отрабатывает безупречно. Он получает метку «доставка» и пишет по ней грамотный вежливый ответ: обращение зарегистрировали, передали в службу поддержки, специалист свяжется в течение суток. Текст аккуратный, тон правильный, претензий к нему нет.</a:t>
            </a:r>
          </a:p>
          <a:p/>
          <a:p>
            <a:r>
              <a:t>Теперь сверьте его с условиями магазина, которые висят рядом. Повреждение при доставке — возвращаем полную стоимость, деньги за пять рабочих дней. Анне положены деньги, и в ответе про них нет ни слова. Человек в очереди видит аккуратный черновик, узнаёт свои обычные формулировки и нажимает «отправить».</a:t>
            </a:r>
          </a:p>
          <a:p/>
          <a:p>
            <a:r>
              <a:t>И вот то, ради чего весь случай. Список слов, когда не знал ответа, молчал: письмо падало в «прочее», человек его видел и разбирал сам. Модель молчать не умеет — она отвечает на каждое письмо. Неверная метка при этом выглядит ровно так же, как верная: ни пометки, ни пустого поля, ни признака, по которому очередь могла бы её отличить. Замена правил моделью покупает устойчивость к незнакомым формулировкам и платит за неё отказом от тишины.</a:t>
            </a:r>
          </a:p>
          <a:p/>
          <a:p>
            <a:r>
              <a:t>Цена этой конкретной ошибки считается легко. Анна ждёт деньги, получает обещание, что с ней свяжутся в течение суток, и ждёт дальше. Через сутки пишет повторно, уже резче. Кто-то наконец читает переписку целиком, находит в ней фотографии чайника и оформляет возврат вручную — на третий день вместо первого. Магазин потерял клиента или не потерял, это как повезёт; сотрудник потратил на разбор больше времени, чем если бы письмо сразу дошло до него нетронутым.</a:t>
            </a:r>
          </a:p>
          <a:p/>
          <a:p>
            <a:r>
              <a:t>Отметьте для себя одну вещь напоследок. Человек в очереди ошибку не поймал, и упрекнуть его не в чем: он получил грамотный текст в привычном формате и подтвердил его. Контроль, устроенный как «человек посмотрит», работает только тогда, когда человеку видно, на что именно смотреть.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получилось, в критерий, который можно унести и применить к своей работе сегодня же.</a:t>
            </a:r>
          </a:p>
          <a:p/>
          <a:p>
            <a:r>
              <a:t>Возьмите задачу, где у вас есть разбор входящего — писем, заявок, тикетов, обращений, чего угодно. Выпишите категории, по которым вы его разбираете. Дальше смотрите, чем список кончается.</a:t>
            </a:r>
          </a:p>
          <a:p/>
          <a:p>
            <a:r>
              <a:t>Если он просто кончается — вы перечислили все случаи, и они не пересекаются — цепочки из известных шагов достаточно. Это хорошая новость: ничего сложнее строить не нужно.</a:t>
            </a:r>
          </a:p>
          <a:p/>
          <a:p>
            <a:r>
              <a:t>Если последней строкой стоит «прочее» — вот место, где надо остановиться и подумать. Всё, что попадёт в «прочее», при живой модели уедет в ближайшую категорию из списка, и никто об этом не узнает. У Анны это стоило права на возврат. В задаче, где следующий шаг дороже письма, это будет стоить соответственно.</a:t>
            </a:r>
          </a:p>
          <a:p/>
          <a:p>
            <a:r>
              <a:t>Если список не кончается вовсе — категории заранее неизвестны, новые появляются каждую неделю — цепочка здесь не поможет, и это вход в следующую ступень занятия.</a:t>
            </a:r>
          </a:p>
          <a:p/>
          <a:p>
            <a:r>
              <a:t>И главное, что забираем с этой ступени. Между шагом, который угадывает, и шагом, который действует, нужна проверка. Самая дешёвая из возможных стоит одну строку: сверить, что пришедшая метка входит в ваш список, прежде чем по ней что-то делать. Она ловит не все ошибки — в случае Анны метка была из списка, просто неверная, — зато она ловит целый класс молчаливых отказов и стоит при этом почти ничего.</a:t>
            </a:r>
          </a:p>
          <a:p/>
          <a:p>
            <a:r>
              <a:t>Проверка посильнее стоит дороже и ставится там, где цена ошибки это оправдывает: модель возвращает вместе с меткой уверенность, и всё ниже порога уходит человеку. Это уже не одна строка, но и не переделка системы.</a:t>
            </a:r>
          </a:p>
          <a:p/>
          <a:p>
            <a:r>
              <a:t>Теперь выпишите свои категории и посмотрите, на чём кончается список. У кого он кончился словом «прочее» — это и есть ваша следующая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той же ступени, и устроен он вокруг той же самой дыры, что первый. Разница в цене: там результатом был черновик письма, здесь результатом будет купленный дом.</a:t>
            </a:r>
          </a:p>
          <a:p/>
          <a:p>
            <a:r>
              <a:t>Zestimate — автоматическая оценка стоимости жилья, которую Zillow показывает рядом с каждым объявлением на крупнейшей в США площадке недвижимости. Она появилась в середине двухтысячных и с тех пор висит на миллионах объявлений одновременно. Компания всё это время описывала её одинаково: компьютерный расчёт стоимости дома на сегодня по доступным данным, и отдельно предупреждала, что принимать её за оценку эксперта не стоит.</a:t>
            </a:r>
          </a:p>
          <a:p/>
          <a:p>
            <a:r>
              <a:t>Люди на неё смотрели, спорили с ней, торговались от неё. Риелтор говорил клиенту «тут занижено, вот почему»; продавец писал в поддержку, что его дом стоит дороже. Цифра участвовала в тысячах решений ежедневно и ни одного из них не принимала.</a:t>
            </a:r>
          </a:p>
          <a:p/>
          <a:p>
            <a:r>
              <a:t>Дальше пойдёт документированный публичный случай 2018–2021 годов с прямыми источниками: репортаж CNN, разбор журнала Fortune со ссылкой на исследование аналитиков Bank of America и годовой отчёт компании перед американской комиссией по ценным бумагам. Три источника с трёх разных сторон — журналистский разбор итогов, независимый финансовый анализ сделок и официальная отчётность самой компании. Расходиться им было бы на чём, и тем не менее картина сходится.</a:t>
            </a:r>
          </a:p>
          <a:p/>
          <a:p>
            <a:r>
              <a:t>Я прошу держать в голове один вопрос, пока мы будем разбирать этот случай. Модель, о которой идёт речь, работает прямо сейчас: откройте любое объявление на Zillow и увидите её оценку. Её никто не отключал и не переобучал после той истории. Вопрос в том, что же тогда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почему эта конструкция работает, потому что ответ здесь неочевидный и он ключ ко всему случаю.</a:t>
            </a:r>
          </a:p>
          <a:p/>
          <a:p>
            <a:r>
              <a:t>Точность Zestimate умеренная. Компания сама публикует медианную погрешность, и на отдельных домах расхождение с ценой сделки доходит до десятков процентов: редкая планировка, свежий ремонт, вид из окна, сосед с автосервисом во дворе — ничего из этого в данных нет. Модель ошибается постоянно, и это известно всем участникам.</a:t>
            </a:r>
          </a:p>
          <a:p/>
          <a:p>
            <a:r>
              <a:t>Конструкция держится на том, что стоит после цифры. Покупатель открывает объявление, видит оценку, идёт смотреть дом, сравнивает с тремя соседними, разговаривает с риелтором и делает предложение, которое считает разумным. Продавец делает то же самое со своей стороны. Цифра вошла в разговор как один довод среди нескольких, и каждый её ошибочный вывод кто-нибудь поправил.</a:t>
            </a:r>
          </a:p>
          <a:p/>
          <a:p>
            <a:r>
              <a:t>Вот свойство, которое стоит назвать прямо: ошибка модели здесь обходится в ноль. Не потому что ошибок мало, а потому что между цифрой и чьими-то деньгами стоит человек, у которого есть глаза, собственный интерес и право сказать «нет».</a:t>
            </a:r>
          </a:p>
          <a:p/>
          <a:p>
            <a:r>
              <a:t>Такая конструкция живёт на сайте почти двадцать лет и пережила несколько поколений самой модели. Её никто не назвал бы рискованной, и правильно: риска в ней действительно нет.</a:t>
            </a:r>
          </a:p>
          <a:p/>
          <a:p>
            <a:r>
              <a:t>Запомните эту верхнюю строку на схеме. Через экран рядом с ней появится вторая, в которой будет та же модель и та же цифра, и разница между строками окажется в одном звене.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2018 году Zillow запускает отдельный бизнес: покупать дома у владельцев напрямую, приводить в порядок и перепродавать. Для продавца это ценное предложение — предложение за день, без показов, без торга, без ожидания покупателя, который может передумать. Такая модель бизнеса к тому моменту уже существовала у конкурентов и росла.</a:t>
            </a:r>
          </a:p>
          <a:p/>
          <a:p>
            <a:r>
              <a:t>Чтобы она работала, на каждую сделку нужна цена, и нужна быстро. Человеческий оценщик на каждый дом стоит денег и занимает дни. Это и есть узкое место: пока оценка идёт через человека, предложение за день невозможно в принципе, а в нём вся суть продукта.</a:t>
            </a:r>
          </a:p>
          <a:p/>
          <a:p>
            <a:r>
              <a:t>И рядом уже двенадцать лет работает собственная автоматическая оценка, на которую смотрят миллионы людей. Данных море, модель известна, инфраструктура есть.</a:t>
            </a:r>
          </a:p>
          <a:p/>
          <a:p>
            <a:r>
              <a:t>Решение, которое принимает зал: убирать ли человека из контура. Три варианта, и у каждого в реальных командах есть убеждённые сторонники. Убрать совсем — предложение за минуты, бизнес масштабируется. Оставить человека на дорогих сделках, выше какого-то порога суммы — компромисс, который звучит разумно. Не убирать вовсе — тогда продукт остаётся прежним, зато риска нет.</a:t>
            </a:r>
          </a:p>
          <a:p/>
          <a:p>
            <a:r>
              <a:t>Выберите и сформулируйте довод. И держите в уме, что команда Zillow принимала это решение на тех же самых доводах, которые сейчас прозвучат в зале, и люди там были сильные.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выбрала первый вариант. Для продукта, который обещает предложение за день, это последовательное решение: человек в контуре убивает само обещание.</a:t>
            </a:r>
          </a:p>
          <a:p/>
          <a:p>
            <a:r>
              <a:t>Посмотрите теперь на обе строки схемы рядом. Сверху то, что работало двенадцать лет: оценка, человек, решение человека. Снизу то, что собрали внутри нового бизнеса: оценка, пустое место там, где был человек, и покупка конкретного дома по конкретной цене.</a:t>
            </a:r>
          </a:p>
          <a:p/>
          <a:p>
            <a:r>
              <a:t>Модель в обеих строках одна и та же. Её не переобучали под новую задачу, не меняли признаки, не ухудшали. Точность осталась прежней — той самой, с которой двенадцать лет никто не спорил. Изменилось единственное звено: то, что стоит сразу после цифры.</a:t>
            </a:r>
          </a:p>
          <a:p/>
          <a:p>
            <a:r>
              <a:t>Это и есть поворот случая, и стоит произнести его медленно. Вопрос «достаточно ли хороша наша модель» на этом решении вообще не главный. Модель была одинаково хороша в обеих строках. Разница в том, что в верхней её ошибку кто-то ловил, а в нижней ловить стало некому, и каждая ошибка сразу превращается в действие с деньгами.</a:t>
            </a:r>
          </a:p>
          <a:p/>
          <a:p>
            <a:r>
              <a:t>Про средний вариант, порог по сумме, стоит сказать отдельно, потому что в зале его обычно выбирают как разумный компромисс. Он действительно лучше первого. Его слабость в том, что порог приходится назначить заранее, и назначают его по сегодняшнему рынку. Когда рынок сдвигается, сдвигается и граница между «дешёвой» и «дорогой» сделкой, а порог остаётся там, где его поставили год назад.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2021 году рынок жилья в США повёл себя не так, как в данных, на которых модель училась. Оценка начала систематически завышать. В верхней строке схемы это стоило бы ноль: покупатель посмотрел бы на дом и предложил меньше. В нижней каждая завышенная оценка означала купленный дом по завышенной цене.</a:t>
            </a:r>
          </a:p>
          <a:p/>
          <a:p>
            <a:r>
              <a:t>Цифры стоит читать парами, иначе они не говорят ничего. За третий квартал 2021 года подразделение купило 9680 домов и продало за тот же квартал 3032 — разрыв примерно втрое, и это дома, которые лежат на балансе и дешевеют. Списание запасов за квартал — $304 млн, за весь год — $407,9 млн по годовому отчёту перед комиссией по ценным бумагам. В пересчёте на объект средний убыток около восьмидесяти тысяч долларов.</a:t>
            </a:r>
          </a:p>
          <a:p/>
          <a:p>
            <a:r>
              <a:t>Отдельно независимый разбор аналитиков Bank of America, который пересказывает Fortune: по выборке более чем в триста домов компания в Остине платила за жильё по ценам, подразумевавшим рост стоимости двадцать семь процентов в год, тогда как фактический рост по общепринятому индексу составлял около шести. Похожий разрыв нашли ещё в шести городах.</a:t>
            </a:r>
          </a:p>
          <a:p/>
          <a:p>
            <a:r>
              <a:t>Второго ноября 2021 года бизнес закрыли целиком. Уволили две тысячи человек — четверть всей компании. Генеральный директор объяснил закрытие тем, что непредсказуемость прогнозирования цен на жильё намного превысила ожидания компании.</a:t>
            </a:r>
          </a:p>
          <a:p/>
          <a:p>
            <a:r>
              <a:t>Про эти две тысячи стоит сказать вслух одну вещь. Архитектурного решения, которое мы разбирали экраном раньше, они не принимали и повлиять на него не могли. Решение убрать человека из контура принималось в другом кабинете, а рабочие места закрылись у них.</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два случая ступени в один критерий.</a:t>
            </a:r>
          </a:p>
          <a:p/>
          <a:p>
            <a:r>
              <a:t>В первом между угадыванием и действием стоял человек в очереди, и проверка там была формальной: он подтверждал черновик, не имея под рукой ничего, что помогло бы заметить ошибку. Во втором человека убрали совсем. Дыра одна и та же, а последствия разошлись на четыре порядка, и разошлись они по одному признаку: что именно идёт сразу после шага, который угадывает.</a:t>
            </a:r>
          </a:p>
          <a:p/>
          <a:p>
            <a:r>
              <a:t>Отсюда критерий, который можно применить к своей задаче сегодня. Посмотрите на свой процесс и найдите место, где модель что-то решает. Теперь посмотрите на следующий шаг и ответьте на два вопроса. Сколько он стоит? И можно ли его отменить одним действием?</a:t>
            </a:r>
          </a:p>
          <a:p/>
          <a:p>
            <a:r>
              <a:t>Письмо, ушедшее клиенту с неверным ответом, исправляется следующим письмом в тот же день. Дом, купленный по завышенной цене, остаётся купленным: его можно только перепродать с убытком, и это месяцы. Между этими двумя точками умещается всё, что вы строите. Чем правее на этой шкале стоит ваш следующий шаг, тем меньше смысла экономить на проверке перед ним.</a:t>
            </a:r>
          </a:p>
          <a:p/>
          <a:p>
            <a:r>
              <a:t>Важно, чего этот вывод не утверждает. Он не против автоматической оценки как инструмента: она прекрасно работает двенадцать лет и работает сейчас. Он против того, чтобы цифра сама запускала дорогое и труднообратимое действие, и единственное, что надо было добавить, — звено, которое в верхней строке схемы стояло с самого начала.</a:t>
            </a:r>
          </a:p>
          <a:p/>
          <a:p>
            <a:r>
              <a:t>Два случая ступени показали, где ставить проверку. Третий покажет обратную сторону: как построить лишнего там, где хватало простого.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ступени устроен наоборот по отношению к двум предыдущим. Там проблема приходила из пропущенного: не поставили проверку, убрали человека. Здесь она придёт из добавленного.</a:t>
            </a:r>
          </a:p>
          <a:p/>
          <a:p>
            <a:r>
              <a:t>Речь о компании Octomind. Они делают продукт, который сам пишет и чинит тесты для веб-приложений, и внутри у них агент на модели. Задача настоящая, коммерческая, на ней стоит бизнес.</a:t>
            </a:r>
          </a:p>
          <a:p/>
          <a:p>
            <a:r>
              <a:t>Фраза на экране — обещание инструмента, который они взяли. Формулировка почти дословная из того, как такие инструменты себя описывают: от идеи до работающего кода за полдня, готовые кирпичи, не надо изобретать своё. Обещание привлекательное, и берут эти инструменты именно за него.</a:t>
            </a:r>
          </a:p>
          <a:p/>
          <a:p>
            <a:r>
              <a:t>Стоит заранее убрать одно возможное прочтение. Это не случай про то, что команда была неопытна или выбрала инструмент по моде. Они работали с ним с начала двадцать третьего года в продакшене, то есть прошли с ним полный цикл: написали, выкатили, поддерживали, отлаживали на живых пользователях. Через год они написали публичный разбор того, почему от него отказались, и разбор этот собрал на профессиональном форуме четыреста восемьдесят голосов и почти триста комментариев — то есть попал в нерв у многих, кто проходил тот же путь.</a:t>
            </a:r>
          </a:p>
          <a:p/>
          <a:p>
            <a:r>
              <a:t>Случай короткий, цифр в нём мало, и зал в нём будет говорить столько же, сколько в предыдущих.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чего такая система начинается и на чём прекрасно живёт. Разработчик берёт библиотеку поставщика модели, создаёт клиента, передаёт сообщение, забирает текст ответа. Это один класс и один вызов функции. Всё, что происходит дальше — разобрать ответ, решить, что делать, повторить при необходимости, — обычный код на обычном языке: ветвления, циклы, работа со строками.</a:t>
            </a:r>
          </a:p>
          <a:p/>
          <a:p>
            <a:r>
              <a:t>Ценность такой конструкции в том, что в ней нечему прятаться. Когда что-то идёт не так, вы ставите точку останова где угодно, печатаете, что именно ушло в модель и что пришло обратно, и видите всю картину целиком. Инструменты отладки те же, что для остального проекта, учить нечего.</a:t>
            </a:r>
          </a:p>
          <a:p/>
          <a:p>
            <a:r>
              <a:t>Ограничение у неё тоже понятное: всё, что сверх одного вызова, вы пишете сами. Нужно сделать три вызова подряд и передать результат из одного в другой — пишете это руками. Нужно повторить при ошибке — пишете повтор. Нужно подставить переменные в текст запроса — собираете строку.</a:t>
            </a:r>
          </a:p>
          <a:p/>
          <a:p>
            <a:r>
              <a:t>Обратите внимание, что компания из этого случая работает именно так сегодня, после всей истории. Это финальное состояние, к которому они пришли, пройдя круг. И на старте они тоже были здесь — иначе вопрос, который прозвучит через экран, перед ними бы не встал.</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 время, и задача растёт — так растёт любая живая задача. Один вызов превращается в четыре. Их надо связывать: выход одного идёт входом следующего, где-то нужен повтор при ошибке, где-то ветвление. В трёх местах проекта делается почти одно и то же, и хочется это не дублировать.</a:t>
            </a:r>
          </a:p>
          <a:p/>
          <a:p>
            <a:r>
              <a:t>Это нормальное развитие, и в такой момент инженер оглядывается в поисках готового решения. Оно есть: фреймворки для сборки приложений на моделях существуют, они популярны, у них большое сообщество и много примеров. Они обещают ровно то, чего сейчас не хватает — готовые кирпичи для связывания вызовов, переиспользуемые куски, стандартные способы делать типовые вещи.</a:t>
            </a:r>
          </a:p>
          <a:p/>
          <a:p>
            <a:r>
              <a:t>Решение, которое принимает зал, бинарное. Взять фреймворк и получить готовое — или остаться на прямых вызовах и написать свою обвязку под свои нужды.</a:t>
            </a:r>
          </a:p>
          <a:p/>
          <a:p>
            <a:r>
              <a:t>Я специально не даю четырёх вариантов, как в других случаях: здесь выбор действительно из двух, и растягивать его ради симметрии значило бы выдумывать позиции, которых никто всерьёз не занимает.</a:t>
            </a:r>
          </a:p>
          <a:p/>
          <a:p>
            <a:r>
              <a:t>Выбирайте и формулируйте довод. В этой аудитории, я думаю, найдутся люди с личным опытом по обе стороны, и если кто-то готов рассказать свой случай в двух предложениях — это будет полезнее любого разбора с моей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Команда взяла фреймворк. Разбор, который они написали через год, начинается с простого сравнения, и его стоит воспроизвести.</a:t>
            </a:r>
          </a:p>
          <a:p/>
          <a:p>
            <a:r>
              <a:t>Берём одно действие — перевести слово на другой язык. Прямым вызовом это один класс и один вызов функции: собрали сообщение, отправили, получили перевод. Через фреймворк на то же самое действие получается три класса и четыре вызова. И вместе с ними три понятия, которых в проекте до этого не было.</a:t>
            </a:r>
          </a:p>
          <a:p/>
          <a:p>
            <a:r>
              <a:t>Назовём их поимённо, потому что в этом вся суть. Шаблон запроса — отдельный объект, через который текст передаётся модели. Разборщик ответа — отдельный объект, который превращает ответ в нужную форму. И связка, которая соединяет первое со вторым, со своим собственным синтаксисом: она переопределяет оператор самого языка, чтобы всю цепочку можно было записать одной строкой.</a:t>
            </a:r>
          </a:p>
          <a:p/>
          <a:p>
            <a:r>
              <a:t>Теперь главный вопрос к каждому из трёх: что оно добавляет к переводу слова? Запрос и раньше собирался обычной строкой. Ответ и раньше был текстом. Соединение двух вызовов и раньше делалось тем, что результат первого передавали во второй. Ни одно из трёх понятий не решает задачу, которая до него стояла.</a:t>
            </a:r>
          </a:p>
          <a:p/>
          <a:p>
            <a:r>
              <a:t>Они решают другую задачу — ту, ради которой фреймворки и пишут: единообразие на большом количестве однотипных пайплайнов, чтобы в команде из двадцати человек все собирали их одинаково. Если у вас такая ситуация, это честная цена. Если нет, вы платите за единообразие, которого не с чем сравнивать.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задача совпадала с тем, подо что фреймворк сделан, работать было можно. Проблемы начались на первом же шаге в сторону.</a:t>
            </a:r>
          </a:p>
          <a:p/>
          <a:p>
            <a:r>
              <a:t>Два конкретных затруднения из их разбора. Первое: чтобы поменять деталь внутри шага, приходится пробиваться через несколько слоёв абстракции, потому что сам шаг собран из объектов, которые писали не вы. Второе, и оно тяжелее: посмотреть снаружи, в каком состоянии сейчас находится агент, фреймворк возможности не даёт. Отладка в такой ситуации превращается в угадывание — вы видите, что на входе и что на выходе, а что произошло между ними, восстанавливаете по косвенным признакам.</a:t>
            </a:r>
          </a:p>
          <a:p/>
          <a:p>
            <a:r>
              <a:t>Через год работы в продакшене команда сняла фреймворк и вернулась к прямым вызовам из обычного кода.</a:t>
            </a:r>
          </a:p>
          <a:p/>
          <a:p>
            <a:r>
              <a:t>И вот наблюдение, ради которого случай стоит в занятии. Сложность не вернулась в каком-то другом виде, как это обычно бывает, когда убираешь инструмент и его работу приходится делать руками. Она ушла вместе с ним. Те же задачи решились прямыми вызовами, циклами и обработкой строк, и кода стало меньше. Значит, сложность, с которой они год боролись, принадлежала фреймворку целиком.</a:t>
            </a:r>
          </a:p>
          <a:p/>
          <a:p>
            <a:r>
              <a:t>Свою мысль они сформулировали тремя словами: «we could just code» — мы могли просто написать код. Фраза разошлась по профессиональному сообществу именно потому, что попала в общий опыт: четыреста восемьдесят голосов и почти триста комментариев, и в комментариях люди рассказывали свои такие же истории.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из этого случая работает в обе стороны, и это важно: вывод здесь не «фреймворки плохие».</a:t>
            </a:r>
          </a:p>
          <a:p/>
          <a:p>
            <a:r>
              <a:t>Фреймворк окупается, когда у вас много однотипных пайплайнов, когда над ними работает команда и единообразие стоит дороже гибкости, когда сценарии стандартные. В этой ситуации готовые кирпичи экономят реальное время, и писать своё было бы расточительством.</a:t>
            </a:r>
          </a:p>
          <a:p/>
          <a:p>
            <a:r>
              <a:t>Он не окупается, когда пайплайнов один или два, когда их ведёт один человек или малая группа, когда требования нестандартные и отлаживать приходится внутри шага. Тогда вы оплачиваете единообразие, которого не с чем сравнивать, и теряете возможность заглянуть внутрь.</a:t>
            </a:r>
          </a:p>
          <a:p/>
          <a:p>
            <a:r>
              <a:t>Та же мысль есть в руководстве по сборке агентов от Anthropic, и сформулирована она там прямо: начинать стоит с прямых вызовов модели, фреймворк брать тогда, когда он доказанно снимает реальную сложность. Слово «доказанно» в этой фразе несёт всю нагрузку — обещанная простота и наблюдаемая простота расходятся часто.</a:t>
            </a:r>
          </a:p>
          <a:p/>
          <a:p>
            <a:r>
              <a:t>Этим случаем закрывается первая ступень занятия. Мы прошли её целиком: списки слов работают, модель закрывает их дыру и платит молчанием, цена пропущенной проверки определяется тем, что идёт следом, и лишнее усложнение стоит дороже, чем кажется.</a:t>
            </a:r>
          </a:p>
          <a:p/>
          <a:p>
            <a:r>
              <a:t>И остался вопрос, который первая ступень закрыть не может. Цепочка проводит всё, что в неё приходит, по одному и тому же порядку шагов. А в одну точку могут приходить входы, которым нужны разные порядки. Что тогда?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ступень занятия, и счёт кейсов начинается заново: впереди ещё три, снова А, Б и В. Дорожка внизу экрана это показывает, и я обращаю на неё внимание, чтобы никто не решил, что мы вернулись к началу.</a:t>
            </a:r>
          </a:p>
          <a:p/>
          <a:p>
            <a:r>
              <a:t>Первая ступень закончилась вопросом: цепочка ведёт всё по одному порядку шагов, а входы бывают разные. Вот конкретный вид этой проблемы.</a:t>
            </a:r>
          </a:p>
          <a:p/>
          <a:p>
            <a:r>
              <a:t>Почтовый ящик поддержки вырос. В него свели почту отдела продаж и форму обратной связи с сайта, и теперь туда падает всё сразу: вопросы по счетам, технические проблемы, жалобы, спам. Обрабатывать их надо по-разному. Вопрос по счёту смотрит бухгалтерия, жалоба идёт руководителю смены, спам отправляется в корзину без ответа, технический вопрос — дежурному инженеру.</a:t>
            </a:r>
          </a:p>
          <a:p/>
          <a:p>
            <a:r>
              <a:t>Шаг классификации, который мы собрали на первой ступени, в этих условиях меняет свою роль. Раньше метка определяла, какой текст писать дальше, и оставалась внутри одной цепочки. Теперь от неё зависит, по какому из четырёх путей вообще пойдёт письмо и кто его увидит.</a:t>
            </a:r>
          </a:p>
          <a:p/>
          <a:p>
            <a:r>
              <a:t>Реплика на экране принадлежит разработчику, который этот шаг собирал. Она про техническую деталь, которая в такой конфигурации становится неудобной: модель отвечает текстом, из текста нужно одно слово, и это слово приходится оттуда доставать. Через два экрана станет понятно, во что эта деталь обходится.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маршрута простое, и работает оно хорошо. Классификатор ставит письму метку, и дальше письмо идёт по своей ветке. У каждой ветки своя настройка: свой текст инструкции для модели, своя база знаний, из которой берутся факты, свой адресат внутри компании.</a:t>
            </a:r>
          </a:p>
          <a:p/>
          <a:p>
            <a:r>
              <a:t>Обратите внимание, что это естественное продолжение первой ступени. Шаг классификации уже был, мы его собрали. Изменилась его роль: раньше он выбирал, какой ответ писать, теперь он выбирает, по какому пути пойдёт письмо и кто вообще о нём узнает.</a:t>
            </a:r>
          </a:p>
          <a:p/>
          <a:p>
            <a:r>
              <a:t>Пройдём по веткам и заодно посчитаем цену ошибки в каждой — она понадобится дальше. Счета: ответ собирается по базе биллинга, копия уходит в бухгалтерию. Техподдержка: ответ по технической базе, задача ставится дежурному инженеру. В обоих случаях неверная метка означает, что клиент получит грамотный ответ по чужой теме — ровно то, что мы видели в письме Анны.</a:t>
            </a:r>
          </a:p>
          <a:p/>
          <a:p>
            <a:r>
              <a:t>Жалоба: автоответа нет вовсе, письмо сразу уходит руководителю смены. Неверная метка здесь означает, что жалобе ответят шаблоном, и человек, который уже недоволен, станет недоволен сильнее.</a:t>
            </a:r>
          </a:p>
          <a:p/>
          <a:p>
            <a:r>
              <a:t>И спам: письмо отправляется в корзину, ответа не будет. Это самая дорогая ветка по цене ошибки, и дорога она тем, что ошибка в ней не оставляет следов. Во всех остальных случаях клиент получает хоть что-то и может написать повторно. Здесь он остаётся вообще без ответа, и в компании никто не знает, что письмо приходило.</a:t>
            </a:r>
          </a:p>
          <a:p/>
          <a:p>
            <a:r>
              <a:t>Пока четыре категории известны заранее и не пересекаются, конструкция честно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день релиза поток подскочил: двести писем в час вместо обычных двадцати. Вечером дежурный открывает панель расходов на внешние вызовы и видит картину, которая его удивляет.</a:t>
            </a:r>
          </a:p>
          <a:p/>
          <a:p>
            <a:r>
              <a:t>Шаг, который пишет ответ клиенту, и шаг, который определяет категорию, обошлись почти одинаково. При этом первый производит целый абзац связного текста, а второй — одно слово из четырёх, причём список этих четырёх слов известен заранее и не меняется.</a:t>
            </a:r>
          </a:p>
          <a:p/>
          <a:p>
            <a:r>
              <a:t>Стоит задержаться на том, почему так выходит, потому что причина не в тарифах поставщика. Генеративная модель по своему устройству отвечает текстом. Когда вы просите её определить категорию, она сначала объясняет себе выбор — «судя по тону и упоминанию возврата денег, это скорее всего жалоба» — и только в этом объяснении называет нужное слово. Дальше ваш код достаёт оттуда одно слово, а остальное выбрасывает. Платите вы за всё, включая выброшенное.</a:t>
            </a:r>
          </a:p>
          <a:p/>
          <a:p>
            <a:r>
              <a:t>Решение, которое принимает зал. Четыре варианта. Оставить как есть — работает же. Вернуться к правилам по словам на этом конкретном шаге. Обучить свою маленькую модель специально на эти четыре категории. Или взять вызов, который устроен иначе и возвращает сразу значение, без текста вокруг.</a:t>
            </a:r>
          </a:p>
          <a:p/>
          <a:p>
            <a:r>
              <a:t>Я намеренно описываю варианты тем, что они делают, без названий. Названия прозвучат на разборе, и будет понятнее, если сначала вы выберете по существу.</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первых варианта выглядят как три разные инженерные позиции, и спорить о них можно долго. Полный вызов угадывает гибче всех. Правила по словам предсказуемее всех и стоят ноль. Своя маленькая модель дешевле первого и обобщается лучше второго.</a:t>
            </a:r>
          </a:p>
          <a:p/>
          <a:p>
            <a:r>
              <a:t>Общего у них больше, чем различий: каждый улучшает угадывание категории. Они соревнуются на одной дистанции, и выбор между ними — выбор точки на шкале «точность против цены».</a:t>
            </a:r>
          </a:p>
          <a:p/>
          <a:p>
            <a:r>
              <a:t>Между тем задача устроена иначе, чем эта шкала предполагает. От шага нужно одно значение из короткого известного списка. Генеративная модель по устройству отвечает текстом, и чтобы получить значение, текст приходится разбирать. Отсюда двойная плата: сначала за сочинение объяснения, потом за его разбор. И отсюда же хрупкость, про которую я скажу на следующем экране.</a:t>
            </a:r>
          </a:p>
          <a:p/>
          <a:p>
            <a:r>
              <a:t>Поворот этого случая в том, что рамку надо сменить. Прежде чем выбирать, чем угадывать категорию точнее, стоит спросить, в каком виде шаг обязан отдавать ответ. Если нужно значение, то и просить надо значение.</a:t>
            </a:r>
          </a:p>
          <a:p/>
          <a:p>
            <a:r>
              <a:t>Про правила по словам отдельно: на этом конкретном шаге они как раз могли бы сработать, если бы категорий было четыре и формулировки предсказуемые. Мы от них ушли на первой ступени по хорошей причине — люди пишут непредвиденно. Эта причина никуда не делась.</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вариант устроен иначе на уровне самой модели. На входе у неё текст, на выходе сразу значение: метка из вашего списка, число уверенности от нуля до единицы, распределение по всем четырём категориям. Текста вокруг нет вовсе. Такие модели называют решающими, и как отдельный класс продуктов они появились недавно.</a:t>
            </a:r>
          </a:p>
          <a:p/>
          <a:p>
            <a:r>
              <a:t>Что это даёт, видно сразу. Платить за выброшенное объяснение не приходится, потому что объяснения нет. Разбирать ответ не нужно, потому что он уже в нужной форме, — а значит, исчезает целый класс поломок, где разбор не нашёл нужного слова и тихо ушёл в ветку по умолчанию. Вместе с меткой приходит уверенность, и это именно то, на чём ставят проверку: всё ниже порога отправляется человеку.</a:t>
            </a:r>
          </a:p>
          <a:p/>
          <a:p>
            <a:r>
              <a:t>Теперь цена, и она существенная. На выходе число без объяснения. Когда модель назвала категорию неверно, спросить её «почему» не у кого: объяснения в этой конструкции нет по устройству.</a:t>
            </a:r>
          </a:p>
          <a:p/>
          <a:p>
            <a:r>
              <a:t>Саймон Уилисон, который разбирал такую модель вскоре после выхода, проверил её на простом вопросе — попросил оценить районы залива Сан-Франциско. Купертино получил высокую оценку, Ист-Пало-Альто низкую, по одному и тому же вопросу. Два района различаются по доходу и по составу жителей, и откуда взялась эта разница в оценке, узнать из ответа невозможно.</a:t>
            </a:r>
          </a:p>
          <a:p/>
          <a:p>
            <a:r>
              <a:t>И вопрос к себе, пока экран перед глазами. У многих в этой аудитории есть собранный процесс. Сколько в нём шагов, которые гоняют полный текстовый вызов ради одного слова на выходе?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Приходит письмо от партнёра: сеть пунктов выдачи предлагает сотрудничество, спрашивает, с кем поговорить. Для компании это потенциально ценное письмо, возможно, самое ценное за неделю.</a:t>
            </a:r>
          </a:p>
          <a:p/>
          <a:p>
            <a:r>
              <a:t>Посмотрите на список категорий. Счета, техподдержка, жалоба, спам. Подходящей среди них нет, и это не упущение того, кто список составлял: когда ящик собирали, партнёрских предложений в нём не было, они появились позже вместе с ростом компании.</a:t>
            </a:r>
          </a:p>
          <a:p/>
          <a:p>
            <a:r>
              <a:t>Что делает маршрутизатор. Он обязан вернуть одну из четырёх — формат ответа других вариантов не содержит. Он выбирает ближайшую по смыслу: письмо вежливое, деловое, с вопросом «с кем поговорить», и это похоже на обращение в поддержку. Письмо уезжает к дежурному инженеру, который к партнёрским предложениям отношения не имеет.</a:t>
            </a:r>
          </a:p>
          <a:p/>
          <a:p>
            <a:r>
              <a:t>Дальше оно либо теряется в очереди технических задач, либо получает ответ про то, что вопрос не по адресу. Если бы ближайшей по сходству оказалась ветка спама, оно исчезло бы молча.</a:t>
            </a:r>
          </a:p>
          <a:p/>
          <a:p>
            <a:r>
              <a:t>Главное в этом провале: он не зависит от того, какую модель вы выбрали экраном раньше. Решающая модель вернула бы метку с уверенностью, и уверенность, возможно, была бы пониже — это помогает, если вы поставили порог. Но сам структурный предел тот же: закрытый список категорий отвечает только из своего списка, и вход, которого в списке нет, он опишет ближайшим из имеющегося.</a:t>
            </a:r>
          </a:p>
          <a:p/>
          <a:p>
            <a:r>
              <a:t>И заметьте, в чём разница с первой ступенью. Там список слов молчал, когда не знал. Здесь молчать некому: промолчать означало бы вовсе не выбрать ветку, при том что письмо должно куда-то уйти.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этой ступени такой же проверяемый, как на первой, и применяется он так же — к своей задаче, прямо сейчас.</a:t>
            </a:r>
          </a:p>
          <a:p/>
          <a:p>
            <a:r>
              <a:t>Выпишите категории, по которым ваш процесс разводит входящее. Посмотрите, чем кончается список. Если он кончается и категории не пересекаются — маршрут держит, стройте спокойно.</a:t>
            </a:r>
          </a:p>
          <a:p/>
          <a:p>
            <a:r>
              <a:t>Если последней строкой стоит «прочее» или «другое» — назначьте этой ветке живого адресата. Это дешёвая мера, и она превращает молчаливый провал в обычную задачу в чьей-то очереди. Всё непредвиденное будет собираться там, и заодно вы увидите, какие категории вам надо завести следующими.</a:t>
            </a:r>
          </a:p>
          <a:p/>
          <a:p>
            <a:r>
              <a:t>Если список не кончается вовсе, новые категории появляются каждый месяц, и список за ними не успевает — закрытый перечень здесь работать не будет, и это вход в ступени, которые дальше по лестнице.</a:t>
            </a:r>
          </a:p>
          <a:p/>
          <a:p>
            <a:r>
              <a:t>Отдельно про ветку по умолчанию, потому что её выбирают обычно не думая. Она определяет цену всех будущих ошибок маршрута. Если по умолчанию стоит спам, каждая ошибка будет стоить вам исчезнувшего письма. Если по умолчанию стоит очередь человека, каждая ошибка будет стоить минуты чьего-то времени. Разница между этими двумя вариантами — одна строка в настройке.</a:t>
            </a:r>
          </a:p>
          <a:p/>
          <a:p>
            <a:r>
              <a:t>И переход к тому, что дальше. В этом почтовом ящике неверная метка стоила одного письма, и переслать его можно в тот же день. Та же самая операция — классификатор разводит входящее по категориям — применяется там, где пересылать уже нечего. Следующие два случая про это, и оба документированные.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ступени, и классификатор в нём решает уже не про письма.</a:t>
            </a:r>
          </a:p>
          <a:p/>
          <a:p>
            <a:r>
              <a:t>В американских больницах и страховых есть программы усиленного наблюдения: за пациентом закрепляют координатора, ему регулярно звонят, следят за приёмом лекарств, напоминают о приёмах. Для человека с несколькими хроническими заболеваниями это ощутимо меняет течение болезни. Мест в таких программах ограниченное число, их меньше, чем людей, которым они пригодились бы.</a:t>
            </a:r>
          </a:p>
          <a:p/>
          <a:p>
            <a:r>
              <a:t>Решает, кого включить, алгоритм. Конкретно этот продаёт компания Optum, подразделение UnitedHealth Group, а покупают его госпитали и страховые. В научной статье, которая его разобрала, поставщик назван обтекаемо — «широко используемый коммерческий алгоритм», — имя было установлено позже журналистами и с тех пор фигурирует во всех разборах.</a:t>
            </a:r>
          </a:p>
          <a:p/>
          <a:p>
            <a:r>
              <a:t>Масштаб стоит назвать сразу: алгоритмы этого класса участвуют в решениях о помощи примерно для двухсот миллионов человек в год.</a:t>
            </a:r>
          </a:p>
          <a:p/>
          <a:p>
            <a:r>
              <a:t>Фраза на экране описывает то, что обнаружили исследователи. Берутся два пациента с одинаковым баллом риска — числом, которое выдал алгоритм, и по которому решается, попадёт человек в программу или нет. Одинаковый балл должен означать одинаковое положение дел. Он его не означает, и расхождение устроено систематически.</a:t>
            </a:r>
          </a:p>
          <a:p/>
          <a:p>
            <a:r>
              <a:t>Как это вышло, мы сейчас разберём с того конца, с которого задачу решали в самой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всякого алгоритма эта задача решалась человеком, и решалась она хорошо.</a:t>
            </a:r>
          </a:p>
          <a:p/>
          <a:p>
            <a:r>
              <a:t>Врач, который ведёт своих пациентов несколько лет, знает про них то, чего нет ни в одной медицинской карте. Что у этого диабет плохо компенсируется и дело движется к осложнениям. Что эта перестала приходить на приёмы, хотя раньше ходила исправно, и это само по себе сигнал. Что у той нет машины и дорога до клиники занимает два часа, значит она доедет только когда станет совсем плохо.</a:t>
            </a:r>
          </a:p>
          <a:p/>
          <a:p>
            <a:r>
              <a:t>Такой список точен. Он учитывает обстоятельства жизни, интонацию в разговоре, историю, которая тянется годами. Ни один набор полей в базе этого не содержит, и попытки это оцифровать упираются в то, что половина информации существует только в памяти врача.</a:t>
            </a:r>
          </a:p>
          <a:p/>
          <a:p>
            <a:r>
              <a:t>Я настаиваю на этом кадре по той же причине, что и в первом случае со списками слов: алгоритм появится через экран, и его легко прочитать как усовершенствование. Он не усовершенствование. По качеству отбора врач лучше, и это признают все участники.</a:t>
            </a:r>
          </a:p>
          <a:p/>
          <a:p>
            <a:r>
              <a:t>У человека ровно одно ограничение, и оно непреодолимое. Он знает своих пациентов. Своих — это несколько сотен человек, в пределе несколько тысяч. А решение нужно принимать для двухсот миллионов человек в год, подавляющее большинство которых никакой врач никогда не видел и не увидит.</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Масштаб ломает решение, которое работало. Двести миллионов человек в год, врача, который знает каждого, не существует и быть не может. Нужен способ расставить людей по порядку, не видя ни одного из них.</a:t>
            </a:r>
          </a:p>
          <a:p/>
          <a:p>
            <a:r>
              <a:t>И здесь сразу возникает то, что делает задачу по-настоящему трудной. Величины, которая вам нужна, в данных нет. Поля «насколько этому человеку нужна дополнительная помощь» не существует ни в одной базе, и заполнить его означало бы обследовать двести миллионов человек. Это не вопрос бюджета, это физически невыполнимо.</a:t>
            </a:r>
          </a:p>
          <a:p/>
          <a:p>
            <a:r>
              <a:t>Значит, придётся взять что-то другое — величину, которая в данных есть, измерима для всех и связана с той, которая нужна. Инженеры делают это постоянно и называют по-разному; суть в том, что вы берёте доступное число и обращаетесь с ним как с недоступным.</a:t>
            </a:r>
          </a:p>
          <a:p/>
          <a:p>
            <a:r>
              <a:t>Вот решение для зала, и оно ближе к вашей работе, чем все предыдущие. Четыре кандидата, все четыре есть в страховой базе на каждого человека, все считаются сами, обследовать никого не надо. Прошлые расходы на лечение. Число поставленных диагнозов. Число обращений в больницу за год. Число выписанных препаратов.</a:t>
            </a:r>
          </a:p>
          <a:p/>
          <a:p>
            <a:r>
              <a:t>Выбирайте, и обязательно формулируйте довод: чем именно ваш кандидат лучше остальных трёх. Разбор пойдёт ровно по доводам.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в чём все четыре равны: каждая измерима на каждого человека без единого нового обследования. Поэтому выбор между ними идёт по другому признаку, и признак этот — что в число попадает помимо того, что вы хотели измерить.</a:t>
            </a:r>
          </a:p>
          <a:p/>
          <a:p>
            <a:r>
              <a:t>Прошлые расходы. На первый взгляд безупречны: на тяжёлых больных тратят больше, значит большие расходы указывают на большую потребность. Посмотрите, из чего эта сумма складывается на самом деле. В неё входит дорога до клиники, которую надо оплатить и на которую надо потратить день. Отпрошенный рабочий день, который не всем работодатель даёт. Соплата, которую в американской системе человек вносит из своего кармана. Доверие к врачу, без которого человек просто не пойдёт. Расходы это история доступа к медицине, записанная в деньгах, и болезнь в ней лишь одно из слагаемых.</a:t>
            </a:r>
          </a:p>
          <a:p/>
          <a:p>
            <a:r>
              <a:t>Число диагнозов. Тот же перекос, слабее. Диагноз появляется в карте тогда, когда человек дошёл до врача и врач его поставил. Недошедший болеет без диагноза.</a:t>
            </a:r>
          </a:p>
          <a:p/>
          <a:p>
            <a:r>
              <a:t>Обращения в больницу. Сюда добавляется транспорт, больничный лист и бытовое — с кем оставить детей, отпустят ли с работы.</a:t>
            </a:r>
          </a:p>
          <a:p/>
          <a:p>
            <a:r>
              <a:t>Выписанные препараты. Между болезнью и этим числом три двери: дойти до врача, получить рецепт, выкупить лекарство. Последняя упирается прямо в кошелёк.</a:t>
            </a:r>
          </a:p>
          <a:p/>
          <a:p>
            <a:r>
              <a:t>Вывод, который стоит произнести: все четыре увели бы результат в одну и ту же сторону. Расходы просто собирают эту историю полнее других, и именно за полноту их и выбрали. За неё же они и перекосили результат сильнее всех.</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Optum выбрала расходы — тот же вариант, который обычно выбирает и зал, и по тем же основаниям.</a:t>
            </a:r>
          </a:p>
          <a:p/>
          <a:p>
            <a:r>
              <a:t>Что из этого вышло, измерили исследователи и опубликовали в журнале Science в октябре 2019 года. Они взяли пациентов с одинаковым баллом риска — числом, которое выдаёт алгоритм, — и посмотрели на их фактическое состояние. Среди пациентов верхнего разряда риска у чёрных пациентов оказалось на 26,3% больше активных хронических заболеваний при том же самом балле.</a:t>
            </a:r>
          </a:p>
          <a:p/>
          <a:p>
            <a:r>
              <a:t>Это ровно то, чего и следовало ожидать от механизма, который мы разобрали. На чёрных пациентов в США исторически тратят меньше при той же тяжести состояния — из-за доступа, не из-за здоровья. Алгоритм считал расходы и честно отразил эту разницу, приняв её за разницу в потребности.</a:t>
            </a:r>
          </a:p>
          <a:p/>
          <a:p>
            <a:r>
              <a:t>Теперь вторая цифра, и стоит объяснить, откуда она берётся, потому что сама по себе она звучит как оценка на глаз. Исследователи взяли тот же алгоритм и те же данные и поменяли одну вещь: на место величины, которую он предсказывает, поставили число активных хронических заболеваний. Заново отранжировали всех пациентов, применили тот же порог отбора и посмотрели, кто попал бы в программу.</a:t>
            </a:r>
          </a:p>
          <a:p/>
          <a:p>
            <a:r>
              <a:t>Доля чёрных пациентов выросла бы с 17,7 до 46,5 процента — более чем вдвое. Подчеркну: никого дополнительно обследовать для этого не потребовалось, данные использовались те же самые. Величина, которая была нужна, лежала в той же базе рядом с той, которую взяли.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этого случая выполнимый, и в этом его ценность — он не сводится к пожеланию быть внимательным.</a:t>
            </a:r>
          </a:p>
          <a:p/>
          <a:p>
            <a:r>
              <a:t>Первое: назовите вслух, какую величину вы используете вместо нужной. Это звучит тривиально, и ровно на этом шаге большинство систем спотыкается: подмена происходит незаметно, никто её не формулирует, и через год команда искренне считает, что измеряет потребность, хотя измеряет расходы.</a:t>
            </a:r>
          </a:p>
          <a:p/>
          <a:p>
            <a:r>
              <a:t>Второе: назовите, с чем ещё эта величина связана. Для расходов это доступ, доход, транспорт, страховка. Для времени на сайте — качество связи и устройство. Для числа обращений в поддержку — упорство и свободное время. У любой замещающей величины такой список есть, и он почти всегда содержит что-нибудь про деньги или про возможности человека.</a:t>
            </a:r>
          </a:p>
          <a:p/>
          <a:p>
            <a:r>
              <a:t>Третье, и это настоящая работа: возьмите выборку, где прямое измерение нужной величины можно получить руками. Сотни человек достаточно. Отранжируйте их по своей величине и по прямому измерению и посмотрите, насколько разошлись верхушки. У исследователей Optum на это ушла одна работа; у вас уйдёт вечер, если данные под рукой.</a:t>
            </a:r>
          </a:p>
          <a:p/>
          <a:p>
            <a:r>
              <a:t>И вопрос к себе, который стоит унести: какую величину ваш процесс использует вместо той, которая вам на самом деле нужна? Ответ «никакую, мы меряем прямо» бывает верным, и тогда вам повезло с задачей.</a:t>
            </a:r>
          </a:p>
          <a:p/>
          <a:p>
            <a:r>
              <a:t>Следующий случай устроен хитрее. Там эта самая проверка пройдёт чисто — и перекос всё равно будет.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случай занятия, и он единственный, который стоит вторым подряд про одно и то же внешнее явление. Снова государственная система, снова классификатор, снова перекос по признаку, которого в данных нет.</a:t>
            </a:r>
          </a:p>
          <a:p/>
          <a:p>
            <a:r>
              <a:t>Я ставлю его сюда намеренно, и причина в одной фразе на экране. Процедуру, которую мы только что разобрали, можно применить к этому случаю целиком — назвать замещающую величину, сравнить её с прямым измерением нужной, посмотреть на расхождение. Она пройдёт чисто. Замещающей величины тут нет, подменять нечего, модель считает ровно то, что должна, и считает верно.</a:t>
            </a:r>
          </a:p>
          <a:p/>
          <a:p>
            <a:r>
              <a:t>А перекос есть, и он того же порядка.</a:t>
            </a:r>
          </a:p>
          <a:p/>
          <a:p>
            <a:r>
              <a:t>Если бы случай оказался повторением предыдущего, его стоило бы снять: шестой кейс, который пересказывает пятый, утомляет зал и ничего не добавляет. Он не повторение. Поломка в нём лежит в другом месте, и место это такое, куда ни одна проверка модели не дотягивается по устройству.</a:t>
            </a:r>
          </a:p>
          <a:p/>
          <a:p>
            <a:r>
              <a:t>Речь пойдёт про налоговую службу США и про то, как она выбирает, какие декларации проверять. Из американских реалий понадобится ровно одна вещь, и я назову её на следующих экранах; всё остальное к механизму отношения не имеет.</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у налоговой службы арифметически простая и неразрешимая. Деклараций десятки миллионов в год, инспекторов конечное число, и число это заметно меньше. Проверить все нельзя ни при каком финансировании, значит надо выбирать, кого проверять.</a:t>
            </a:r>
          </a:p>
          <a:p/>
          <a:p>
            <a:r>
              <a:t>Самый старый способ выбирать — случайно. Берём случайные декларации и проверяем их.</a:t>
            </a:r>
          </a:p>
          <a:p/>
          <a:p>
            <a:r>
              <a:t>У этого способа есть три свойства, и каждое стоит назвать. Он честен в бытовом смысле: у каждого налогоплательщика равный шанс попасть под проверку, и никто не может пожаловаться, что его выбрали по какому-то признаку. Он непредвзят в техническом смысле: систематического перекоса в нём нет по построению, его неоткуда взять. И он статистически корректен: по результатам случайной выборки можно оценивать всю совокупность, что само по себе ценно — так узнают, сколько вообще в стране нарушений и какого рода.</a:t>
            </a:r>
          </a:p>
          <a:p/>
          <a:p>
            <a:r>
              <a:t>Выделю второе свойство особо, потому что дальше его не будет ни у чего. Случайный отбор физически не может систематически бить по группе людей. Он может попасть на кого-то несправедливо в единичном случае, но накопить перекос по признаку ему нечем.</a:t>
            </a:r>
          </a:p>
          <a:p/>
          <a:p>
            <a:r>
              <a:t>Так и делали, и в части программ делают до сих пор. Это рабочее решение, и запомните его как точку отсчёта: всё, что будет дальше, лучше него по одному параметру и хуже по этому.</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Случайная выборка расточительна, и это видно невооружённым глазом. Инспектор тратит примерно одинаковое время на декларацию с нарушением и на декларацию в полном порядке, а при случайном отборе большинство проверок заканчивается ничем. Хочется, чтобы проверки чаще попадали туда, где есть что найти.</a:t>
            </a:r>
          </a:p>
          <a:p/>
          <a:p>
            <a:r>
              <a:t>Желание абсолютно разумное, и примерно каждая организация с ограниченным ресурсом проверки рано или поздно к нему приходит.</a:t>
            </a:r>
          </a:p>
          <a:p/>
          <a:p>
            <a:r>
              <a:t>Дальше надо сформулировать, чего мы хотим от системы отбора, и вот это решение зал сейчас примет. Три варианта. Максимизировать долю проверок, которые нашли нарушение — чтобы инспектор реже ходил впустую. Максимизировать сумму доначислений — чтобы бюджет получил больше денег. Максимизировать отдачу от часа инспектора — чтобы ограниченный ресурс работал эффективнее.</a:t>
            </a:r>
          </a:p>
          <a:p/>
          <a:p>
            <a:r>
              <a:t>И сразу скажу вещь, которую в таких вопросах обычно не говорят, потому что без неё разбор прозвучит как подвох. Верного целиком варианта среди этих трёх нет. Поломка, которую мы будем разбирать, лежит в стороне от всех трёх, и выбрать «правильный» тут невозможно по построению вопроса.</a:t>
            </a:r>
          </a:p>
          <a:p/>
          <a:p>
            <a:r>
              <a:t>Я говорю это до голосования намеренно, потому что после голосования та же фраза прозвучала бы издёвкой. Задача у вас другая: выбрать ближайший и сформулировать довод. Довод здесь весит больше выбора, потому что именно в доводах станет видно, где прячется настоящая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Систему настроили на третий вариант: поднимать наверх декларации, проверка которых дёшево и быстро закрывается. Логика прямая — за тот же час инспектор закроет больше дел.</a:t>
            </a:r>
          </a:p>
          <a:p/>
          <a:p>
            <a:r>
              <a:t>Теперь главное в этом случае, и я прошу посмотреть на это внимательно, потому что дальше будет исход, и после него трудно будет поверить, что здесь всё в порядке.</a:t>
            </a:r>
          </a:p>
          <a:p/>
          <a:p>
            <a:r>
              <a:t>Применим к этой системе процедуру, которую мы разобрали на прошлом случае. Шаг первый: назовите замещающую величину, которую система использует вместо нужной. Смотрим, что она считает. Сколько времени займёт проверка — это выводится из числа источников дохода, наличия сложных активов, объёма приложенных документов. Отношение заявленного возврата к доходу — две цифры, стоящие прямо в декларации.</a:t>
            </a:r>
          </a:p>
          <a:p/>
          <a:p>
            <a:r>
              <a:t>Ни одно из этих чисел не стоит вместо чего-то другого. Стоимость проверки это и есть стоимость проверки, её не оценивают по косвенным признакам, её вычисляют из состава декларации. Отношение возврата к доходу это арифметика двух полей.</a:t>
            </a:r>
          </a:p>
          <a:p/>
          <a:p>
            <a:r>
              <a:t>Шаг второй процедуры — сравнить замещающую величину с прямым измерением нужной. Сравнивать нечего: замещения нет. Шаг третий отпадает вместе со вторым.</a:t>
            </a:r>
          </a:p>
          <a:p/>
          <a:p>
            <a:r>
              <a:t>Проверка прошла чисто. Модель точна, данные корректны, подмены нет. Любой инженер, которого попросили бы проверить эту систему на предвзятость тем способом, который мы только что освоили, вернулся бы и сказал, что всё в порядке.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исход, и пройдём к нему по шагам, отмечая на каждом, что он верен.</a:t>
            </a:r>
          </a:p>
          <a:p/>
          <a:p>
            <a:r>
              <a:t>Системе велели максимизировать отдачу от часа инспектора. Это то решение, которое приняли люди, и мы видели, что оно защитимо.</a:t>
            </a:r>
          </a:p>
          <a:p/>
          <a:p>
            <a:r>
              <a:t>Система подняла наверх декларации, которые проверяются быстрее всего. Это ровно то, что ей велели, выполнено корректно.</a:t>
            </a:r>
          </a:p>
          <a:p/>
          <a:p>
            <a:r>
              <a:t>Быстрее всего проверяются декларации с вычетом для работников с низким доходом. Причина механическая: у таких деклараций мало источников дохода, нет сложных активов и инвестиций, проверка укладывается в переписку и не требует выездной работы. Это факт об устройстве налоговых форм.</a:t>
            </a:r>
          </a:p>
          <a:p/>
          <a:p>
            <a:r>
              <a:t>Среди претендентов на этот вычет доля чернокожих налогоплательщиков выше средней по стране. Это факт о стране, о распределении доходов в ней, и к системе отбора он отношения не имеет.</a:t>
            </a:r>
          </a:p>
          <a:p/>
          <a:p>
            <a:r>
              <a:t>Результат: при сопоставимых декларациях чернокожих налогоплательщиков проверяли в 2,9–4,7 раза чаще. Исследование провёл Стэнфордский институт экономической политики совместно с самой налоговой службой в 2023 году; служба результат подтвердила и объявила о намерении исправить процесс отбора.</a:t>
            </a:r>
          </a:p>
          <a:p/>
          <a:p>
            <a:r>
              <a:t>И вот что надо держать в голове, глядя на эту цепочку. Поля расы в налоговой декларации не существует. Система этого признака не видела никогда, ни при обучении, ни при работе. Каждый отдельный шаг в цепочке верен. Перекос возник между шагами, и ни на одном из них нет места, куда можно ткнуть пальцем и сказать «вот здесь ошиблись».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два случая в одно различение, ради которого второй и стоит в занятии.</a:t>
            </a:r>
          </a:p>
          <a:p/>
          <a:p>
            <a:r>
              <a:t>В случае Optum сломана мера. Величину выбрали правильную — потребность пациента в дополнительной помощи, именно это и надо было оценивать. А измерять её стали расходами, и расходы оказались плохой линейкой: они мерили не только болезнь, но и доступ к медицине. Исправление здесь понятное и выполнимое: поменять линейку, что исследователи и проделали на тех же данных.</a:t>
            </a:r>
          </a:p>
          <a:p/>
          <a:p>
            <a:r>
              <a:t>В случае IRS сломана величина. Линейка безупречна: стоимость проверки вычисляется из состава декларации точно, никакого замещения нет. Проблема в том, что максимизировать велели именно её. Значимость нарушения в поставленную цель не вошла вовсе, и система про неё никогда не знала.</a:t>
            </a:r>
          </a:p>
          <a:p/>
          <a:p>
            <a:r>
              <a:t>Разница практическая, не терминологическая. Поломку первого рода ловит проверка, которую мы разобрали на прошлом экране, и ловит надёжно. Поломку второго рода она не ловит в принципе, и причина в том, как устроена любая проверка модели: она сверяет то, что модель выдала, с тем, что от неё требовали. Если требовали не того, сверка пройдёт успешно.</a:t>
            </a:r>
          </a:p>
          <a:p/>
          <a:p>
            <a:r>
              <a:t>Отсюда следствие, с которым стоит выйти с этого занятия. Инженер может идеально оттестировать модель на точность, воспроизводимость и устойчивость, прогнать её на контрольных выборках, проверить на перекос по защищённым признакам — и не заметить поломку второго рода, потому что она не в модели. Она в формулировке задачи, а формулировка приходит снаружи, от людей, которые обычно эту систему не строят.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ступень в четыре вопроса, которые можно задать своей задаче и получить ответ за минуту каждый.</a:t>
            </a:r>
          </a:p>
          <a:p/>
          <a:p>
            <a:r>
              <a:t>Первый: на чём кончается список категорий. Это граница первого случая ступени. Тревожный ответ — список кончается словом «прочее», и у этого «прочего» нет живого адресата. Тогда всё непредвиденное будет уезжать в ближайшую ветку молча.</a:t>
            </a:r>
          </a:p>
          <a:p/>
          <a:p>
            <a:r>
              <a:t>Второй: что ваш классификатор считает помимо того, что должен. Это граница случая Optum. Тревожный ответ здесь парадоксальный — «ничего». Величина, про которую вы уверены, что она чистая, чаще всего и оказывается той, что тянет за собой чужую историю. Проверяется на выборке за вечер.</a:t>
            </a:r>
          </a:p>
          <a:p/>
          <a:p>
            <a:r>
              <a:t>Третий: какая ветка стоит по умолчанию. Тревожный ответ — та, из которой ничего не возвращается: корзина, архив, молчаливое игнорирование. Ветка по умолчанию определяет цену всех будущих ошибок маршрута, и меняется она одной строкой.</a:t>
            </a:r>
          </a:p>
          <a:p/>
          <a:p>
            <a:r>
              <a:t>Четвёртый, и его даёт только последний случай: какую величину системе велено максимизировать, и кто эту величину выбрал. Тревожный ответ — её выбрал не тот, кто отвечает за последствия. Это самая частая конфигурация: цель приходит от заказчика или от руководства, инженер получает её как условие задачи и оптимизирует добросовестно.</a:t>
            </a:r>
          </a:p>
          <a:p/>
          <a:p>
            <a:r>
              <a:t>Четвёртый вопрос отличается от трёх предыдущих тем, что он не технический, и задать его придётся тому, кто ставил задачу. Это неудобный разговор, и он обычно единственное место, где поломку второго рода ещё можно поймать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лестница, с которой занятие начиналось. Три нижние ступени закрыты, и закрыли мы их шестью случаями в двух блоках.</a:t>
            </a:r>
          </a:p>
          <a:p/>
          <a:p>
            <a:r>
              <a:t>Первый блок отвечал на вопрос, где в цепочке ставить проверку. Списки слов работают и честно молчат, когда не знают. Модель закрывает их дыру и платит за это тем, что молчать перестаёт: неверный ответ выглядит как верный. Цена пропущенной проверки определяется тем, что идёт сразу после неё, и между черновиком письма и купленным домом в коде разницы нет, она только в цене. И отдельно: усложнение, добавленное сверх нужного, стоит дороже, чем обещает.</a:t>
            </a:r>
          </a:p>
          <a:p/>
          <a:p>
            <a:r>
              <a:t>Второй блок отвечал на вопрос, на чём классификатор принимает решение. Маршрут работает ровно настолько, насколько полон список категорий. Величина, которую вы берёте вместо нужной, тянет за собой всё, с чем она связана. И цель, которую системе велели максимизировать, не проверяется ни одним тестом модели.</a:t>
            </a:r>
          </a:p>
          <a:p/>
          <a:p>
            <a:r>
              <a:t>Порядок, который стоит унести и приложить к следующей своей задаче, укладывается в четыре шага. Справится ли один вызов. Распадается ли задача на известные шаги в известном порядке. Приходят ли в одну точку входы разных типов, которым нужны разные пути. И только после этого имеет смысл смотреть выше по лестнице.</a:t>
            </a:r>
          </a:p>
          <a:p/>
          <a:p>
            <a:r>
              <a:t>Шесть верхних ступеней — следующие занятия дуги. На ближайшем будет то, что делают, когда шаги не зависят друг от друга и их можно пускать одновременно, и что при этом ломается.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Один вызов, цепочка, маршрут</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с чего начинают и где это ломается.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Эта карточка появляется сама уже три года</a:t>
            </a:r>
          </a:p>
        </p:txBody>
      </p:sp>
      <p:sp>
        <p:nvSpPr>
          <p:cNvPr id="3" name="Rounded Rectangle 2"/>
          <p:cNvSpPr/>
          <p:nvPr/>
        </p:nvSpPr>
        <p:spPr>
          <a:xfrm>
            <a:off x="502920" y="111922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4724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письмо приходит в ящик</a:t>
            </a:r>
            <a:r>
              <a:rPr sz="1500" b="1" i="0">
                <a:solidFill>
                  <a:srgbClr val="141B2E"/>
                </a:solidFill>
                <a:latin typeface="Arial"/>
              </a:rPr>
              <a:t> → </a:t>
            </a:r>
            <a:r>
              <a:rPr sz="1500" b="1" i="0">
                <a:solidFill>
                  <a:srgbClr val="141B2E"/>
                </a:solidFill>
                <a:latin typeface="Arial"/>
              </a:rPr>
              <a:t>срабатывает правило</a:t>
            </a:r>
            <a:r>
              <a:rPr sz="1500" b="1" i="0">
                <a:solidFill>
                  <a:srgbClr val="141B2E"/>
                </a:solidFill>
                <a:latin typeface="Arial"/>
              </a:rPr>
              <a:t> → </a:t>
            </a:r>
            <a:r>
              <a:rPr sz="1500" b="1" i="0">
                <a:solidFill>
                  <a:srgbClr val="141B2E"/>
                </a:solidFill>
                <a:latin typeface="Arial"/>
              </a:rPr>
              <a:t>в трекере появляется карточка с темой и текстом</a:t>
            </a:r>
          </a:p>
        </p:txBody>
      </p:sp>
      <p:sp>
        <p:nvSpPr>
          <p:cNvPr id="5" name="Rounded Rectangle 4"/>
          <p:cNvSpPr/>
          <p:nvPr/>
        </p:nvSpPr>
        <p:spPr>
          <a:xfrm>
            <a:off x="502920" y="247025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9826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Скрипт написали в 2023 году. С тех пор его не открывали.</a:t>
            </a:r>
          </a:p>
        </p:txBody>
      </p:sp>
      <p:sp>
        <p:nvSpPr>
          <p:cNvPr id="7" name="Rounded Rectangle 6"/>
          <p:cNvSpPr/>
          <p:nvPr/>
        </p:nvSpPr>
        <p:spPr>
          <a:xfrm>
            <a:off x="502920" y="358505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71307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здесь искусственный интеллект?</a:t>
            </a:r>
          </a:p>
        </p:txBody>
      </p:sp>
      <p:sp>
        <p:nvSpPr>
          <p:cNvPr id="9" name="Rounded Rectangle 8"/>
          <p:cNvSpPr/>
          <p:nvPr/>
        </p:nvSpPr>
        <p:spPr>
          <a:xfrm>
            <a:off x="502920" y="5012283"/>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12283"/>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правиле</a:t>
            </a:r>
          </a:p>
        </p:txBody>
      </p:sp>
      <p:sp>
        <p:nvSpPr>
          <p:cNvPr id="11" name="Rounded Rectangle 10"/>
          <p:cNvSpPr/>
          <p:nvPr/>
        </p:nvSpPr>
        <p:spPr>
          <a:xfrm>
            <a:off x="3335274" y="5012283"/>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5002" y="5012283"/>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почте</a:t>
            </a:r>
          </a:p>
        </p:txBody>
      </p:sp>
      <p:sp>
        <p:nvSpPr>
          <p:cNvPr id="13" name="Rounded Rectangle 12"/>
          <p:cNvSpPr/>
          <p:nvPr/>
        </p:nvSpPr>
        <p:spPr>
          <a:xfrm>
            <a:off x="6167628" y="5012283"/>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7356" y="5012283"/>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трекере</a:t>
            </a:r>
          </a:p>
        </p:txBody>
      </p:sp>
      <p:sp>
        <p:nvSpPr>
          <p:cNvPr id="15" name="Rounded Rectangle 14"/>
          <p:cNvSpPr/>
          <p:nvPr/>
        </p:nvSpPr>
        <p:spPr>
          <a:xfrm>
            <a:off x="8999982" y="5012283"/>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09710" y="5012283"/>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нигде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Нигде. Вопрос в том, какому шагу он вообще нужен</a:t>
            </a:r>
          </a:p>
        </p:txBody>
      </p:sp>
      <p:pic>
        <p:nvPicPr>
          <p:cNvPr id="3" name="Picture 2" descr="mostik-n03-lestnitsa.png"/>
          <p:cNvPicPr>
            <a:picLocks noChangeAspect="1"/>
          </p:cNvPicPr>
          <p:nvPr/>
        </p:nvPicPr>
        <p:blipFill>
          <a:blip r:embed="rId2"/>
          <a:stretch>
            <a:fillRect/>
          </a:stretch>
        </p:blipFill>
        <p:spPr>
          <a:xfrm>
            <a:off x="1959939" y="943356"/>
            <a:ext cx="8269073" cy="2480721"/>
          </a:xfrm>
          <a:prstGeom prst="rect">
            <a:avLst/>
          </a:prstGeom>
        </p:spPr>
      </p:pic>
      <p:sp>
        <p:nvSpPr>
          <p:cNvPr id="4" name="Rounded Rectangle 3"/>
          <p:cNvSpPr/>
          <p:nvPr/>
        </p:nvSpPr>
        <p:spPr>
          <a:xfrm>
            <a:off x="502920" y="3588669"/>
            <a:ext cx="11183112" cy="1240916"/>
          </a:xfrm>
          <a:prstGeom prst="roundRect">
            <a:avLst>
              <a:gd name="adj" fmla="val 2456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3716685"/>
            <a:ext cx="190509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СТУПЕНЬ</a:t>
            </a:r>
          </a:p>
        </p:txBody>
      </p:sp>
      <p:sp>
        <p:nvSpPr>
          <p:cNvPr id="6" name="TextBox 5"/>
          <p:cNvSpPr txBox="1"/>
          <p:nvPr/>
        </p:nvSpPr>
        <p:spPr>
          <a:xfrm>
            <a:off x="2682339" y="3716685"/>
            <a:ext cx="674340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
            </a:r>
          </a:p>
        </p:txBody>
      </p:sp>
      <p:sp>
        <p:nvSpPr>
          <p:cNvPr id="7" name="TextBox 6"/>
          <p:cNvSpPr txBox="1"/>
          <p:nvPr/>
        </p:nvSpPr>
        <p:spPr>
          <a:xfrm>
            <a:off x="9572046" y="3716685"/>
            <a:ext cx="183966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
            </a:r>
          </a:p>
        </p:txBody>
      </p:sp>
      <p:sp>
        <p:nvSpPr>
          <p:cNvPr id="8" name="TextBox 7"/>
          <p:cNvSpPr txBox="1"/>
          <p:nvPr/>
        </p:nvSpPr>
        <p:spPr>
          <a:xfrm>
            <a:off x="630936" y="3983766"/>
            <a:ext cx="1905099"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2</a:t>
            </a:r>
          </a:p>
        </p:txBody>
      </p:sp>
      <p:sp>
        <p:nvSpPr>
          <p:cNvPr id="9" name="TextBox 8"/>
          <p:cNvSpPr txBox="1"/>
          <p:nvPr/>
        </p:nvSpPr>
        <p:spPr>
          <a:xfrm>
            <a:off x="2682339" y="3983766"/>
            <a:ext cx="6743403"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маршрут: путь задаёт категория входа (routing)</a:t>
            </a:r>
          </a:p>
        </p:txBody>
      </p:sp>
      <p:sp>
        <p:nvSpPr>
          <p:cNvPr id="10" name="TextBox 9"/>
          <p:cNvSpPr txBox="1"/>
          <p:nvPr/>
        </p:nvSpPr>
        <p:spPr>
          <a:xfrm>
            <a:off x="9572046" y="3983766"/>
            <a:ext cx="183966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сегодня</a:t>
            </a:r>
          </a:p>
        </p:txBody>
      </p:sp>
      <p:cxnSp>
        <p:nvCxnSpPr>
          <p:cNvPr id="11" name="Connector 10"/>
          <p:cNvCxnSpPr/>
          <p:nvPr/>
        </p:nvCxnSpPr>
        <p:spPr>
          <a:xfrm>
            <a:off x="630936" y="422303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4223034"/>
            <a:ext cx="1905099"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a:t>
            </a:r>
          </a:p>
        </p:txBody>
      </p:sp>
      <p:sp>
        <p:nvSpPr>
          <p:cNvPr id="13" name="TextBox 12"/>
          <p:cNvSpPr txBox="1"/>
          <p:nvPr/>
        </p:nvSpPr>
        <p:spPr>
          <a:xfrm>
            <a:off x="2682339" y="4223034"/>
            <a:ext cx="6743403"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цепочка шагов в известном порядке (prompt chaining)</a:t>
            </a:r>
          </a:p>
        </p:txBody>
      </p:sp>
      <p:sp>
        <p:nvSpPr>
          <p:cNvPr id="14" name="TextBox 13"/>
          <p:cNvSpPr txBox="1"/>
          <p:nvPr/>
        </p:nvSpPr>
        <p:spPr>
          <a:xfrm>
            <a:off x="9572046" y="4223034"/>
            <a:ext cx="183966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сегодня</a:t>
            </a:r>
          </a:p>
        </p:txBody>
      </p:sp>
      <p:cxnSp>
        <p:nvCxnSpPr>
          <p:cNvPr id="15" name="Connector 14"/>
          <p:cNvCxnSpPr/>
          <p:nvPr/>
        </p:nvCxnSpPr>
        <p:spPr>
          <a:xfrm>
            <a:off x="630936" y="446230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0936" y="4462302"/>
            <a:ext cx="1905099"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a:t>
            </a:r>
          </a:p>
        </p:txBody>
      </p:sp>
      <p:sp>
        <p:nvSpPr>
          <p:cNvPr id="17" name="TextBox 16"/>
          <p:cNvSpPr txBox="1"/>
          <p:nvPr/>
        </p:nvSpPr>
        <p:spPr>
          <a:xfrm>
            <a:off x="2682339" y="4462302"/>
            <a:ext cx="6743403"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хватит одного вызова: ответ модели плюс поиск по своим документам (RAG)</a:t>
            </a:r>
          </a:p>
        </p:txBody>
      </p:sp>
      <p:sp>
        <p:nvSpPr>
          <p:cNvPr id="18" name="TextBox 17"/>
          <p:cNvSpPr txBox="1"/>
          <p:nvPr/>
        </p:nvSpPr>
        <p:spPr>
          <a:xfrm>
            <a:off x="9572046" y="4462302"/>
            <a:ext cx="183966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сегодня</a:t>
            </a:r>
          </a:p>
        </p:txBody>
      </p:sp>
      <p:sp>
        <p:nvSpPr>
          <p:cNvPr id="19" name="Rounded Rectangle 18"/>
          <p:cNvSpPr/>
          <p:nvPr/>
        </p:nvSpPr>
        <p:spPr>
          <a:xfrm>
            <a:off x="502920" y="4994178"/>
            <a:ext cx="82296" cy="55217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122194"/>
            <a:ext cx="10643616" cy="29614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Выше — ещё шесть ступеней: параллель, эталон-переделка, дирижёр, один агент, несколько агентов, выключить совсем. Это следующие занятия дуги.</a:t>
            </a:r>
          </a:p>
        </p:txBody>
      </p:sp>
      <p:sp>
        <p:nvSpPr>
          <p:cNvPr id="21" name="Rounded Rectangle 20"/>
          <p:cNvSpPr/>
          <p:nvPr/>
        </p:nvSpPr>
        <p:spPr>
          <a:xfrm>
            <a:off x="502920" y="5710944"/>
            <a:ext cx="11183112" cy="6085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838960"/>
            <a:ext cx="10634472" cy="352485"/>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 какой ступени стоит процесс, который вы уже где-то собрали?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«Сто писем в день, и половина из них — одно и то же»</a:t>
            </a:r>
          </a:p>
        </p:txBody>
      </p:sp>
      <p:sp>
        <p:nvSpPr>
          <p:cNvPr id="4" name="Rounded Rectangle 3"/>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Сначала это решают списком слов — и этого хватает</a:t>
            </a:r>
          </a:p>
        </p:txBody>
      </p:sp>
      <p:sp>
        <p:nvSpPr>
          <p:cNvPr id="3" name="Rounded Rectangle 2"/>
          <p:cNvSpPr/>
          <p:nvPr/>
        </p:nvSpPr>
        <p:spPr>
          <a:xfrm>
            <a:off x="502920" y="132905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11935"/>
            <a:ext cx="67562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ЕСЛИ В ПИСЬМЕ ЕСТЬ</a:t>
            </a:r>
          </a:p>
        </p:txBody>
      </p:sp>
      <p:sp>
        <p:nvSpPr>
          <p:cNvPr id="5" name="TextBox 4"/>
          <p:cNvSpPr txBox="1"/>
          <p:nvPr/>
        </p:nvSpPr>
        <p:spPr>
          <a:xfrm>
            <a:off x="7588363" y="1511935"/>
            <a:ext cx="376848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КАТЕГОРИЯ</a:t>
            </a:r>
          </a:p>
        </p:txBody>
      </p:sp>
      <p:sp>
        <p:nvSpPr>
          <p:cNvPr id="6" name="TextBox 5"/>
          <p:cNvSpPr txBox="1"/>
          <p:nvPr/>
        </p:nvSpPr>
        <p:spPr>
          <a:xfrm>
            <a:off x="685800" y="1794002"/>
            <a:ext cx="67562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«забыл пароль», «не могу войти», «сбросьте»</a:t>
            </a:r>
          </a:p>
        </p:txBody>
      </p:sp>
      <p:sp>
        <p:nvSpPr>
          <p:cNvPr id="7" name="TextBox 6"/>
          <p:cNvSpPr txBox="1"/>
          <p:nvPr/>
        </p:nvSpPr>
        <p:spPr>
          <a:xfrm>
            <a:off x="7588363" y="1794002"/>
            <a:ext cx="376848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доступ</a:t>
            </a:r>
          </a:p>
        </p:txBody>
      </p:sp>
      <p:cxnSp>
        <p:nvCxnSpPr>
          <p:cNvPr id="8" name="Connector 7"/>
          <p:cNvCxnSpPr/>
          <p:nvPr/>
        </p:nvCxnSpPr>
        <p:spPr>
          <a:xfrm>
            <a:off x="685800" y="21411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41156"/>
            <a:ext cx="67562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заказ», «трек», «не пришло»</a:t>
            </a:r>
          </a:p>
        </p:txBody>
      </p:sp>
      <p:sp>
        <p:nvSpPr>
          <p:cNvPr id="10" name="TextBox 9"/>
          <p:cNvSpPr txBox="1"/>
          <p:nvPr/>
        </p:nvSpPr>
        <p:spPr>
          <a:xfrm>
            <a:off x="7588363" y="2141156"/>
            <a:ext cx="376848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доставка</a:t>
            </a:r>
          </a:p>
        </p:txBody>
      </p:sp>
      <p:cxnSp>
        <p:nvCxnSpPr>
          <p:cNvPr id="11" name="Connector 10"/>
          <p:cNvCxnSpPr/>
          <p:nvPr/>
        </p:nvCxnSpPr>
        <p:spPr>
          <a:xfrm>
            <a:off x="685800" y="24883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88311"/>
            <a:ext cx="67562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«вернуть деньги», «оформить возврат»</a:t>
            </a:r>
          </a:p>
        </p:txBody>
      </p:sp>
      <p:sp>
        <p:nvSpPr>
          <p:cNvPr id="13" name="TextBox 12"/>
          <p:cNvSpPr txBox="1"/>
          <p:nvPr/>
        </p:nvSpPr>
        <p:spPr>
          <a:xfrm>
            <a:off x="7588363" y="2488311"/>
            <a:ext cx="376848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возврат</a:t>
            </a:r>
          </a:p>
        </p:txBody>
      </p:sp>
      <p:sp>
        <p:nvSpPr>
          <p:cNvPr id="14" name="Rounded Rectangle 13"/>
          <p:cNvSpPr/>
          <p:nvPr/>
        </p:nvSpPr>
        <p:spPr>
          <a:xfrm>
            <a:off x="502920" y="36858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8138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Мгновенно, бесплатно, повторяемо. Всегда видно, какое слово сработало. На однотипном потоке закрывает большую часть ящика — и на этом можно остановиться.</a:t>
            </a:r>
          </a:p>
        </p:txBody>
      </p:sp>
      <p:sp>
        <p:nvSpPr>
          <p:cNvPr id="16" name="Rounded Rectangle 15"/>
          <p:cNvSpPr/>
          <p:nvPr/>
        </p:nvSpPr>
        <p:spPr>
          <a:xfrm>
            <a:off x="502920" y="5100129"/>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237289"/>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Оговорка: магазин, письма и Анна дальше собраны ради механики приёма. Публичного инцидента за этой сценой нет. Два следующих случая ступени — документированные, с источниками.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«Оплатила вчера, деньги списались дважды, верните одно списание»</a:t>
            </a:r>
          </a:p>
        </p:txBody>
      </p:sp>
      <p:sp>
        <p:nvSpPr>
          <p:cNvPr id="3" name="Rectangle 2"/>
          <p:cNvSpPr/>
          <p:nvPr/>
        </p:nvSpPr>
        <p:spPr>
          <a:xfrm>
            <a:off x="502920" y="150952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6438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«Оплатила вчера, деньги списались дважды, верните одно списание.»</a:t>
            </a:r>
          </a:p>
        </p:txBody>
      </p:sp>
      <p:sp>
        <p:nvSpPr>
          <p:cNvPr id="5" name="Rounded Rectangle 4"/>
          <p:cNvSpPr/>
          <p:nvPr/>
        </p:nvSpPr>
        <p:spPr>
          <a:xfrm>
            <a:off x="502920" y="2411348"/>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6212"/>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548508"/>
            <a:ext cx="10643616" cy="442722"/>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Дописали в список «списались» и «верните» — сломалось следующее:</a:t>
            </a:r>
          </a:p>
          <a:p>
            <a:pPr algn="l">
              <a:lnSpc>
                <a:spcPts val="1593"/>
              </a:lnSpc>
              <a:spcAft>
                <a:spcPts val="300"/>
              </a:spcAft>
            </a:pPr>
            <a:r>
              <a:rPr sz="1350" b="0" i="0">
                <a:solidFill>
                  <a:srgbClr val="141B2E"/>
                </a:solidFill>
                <a:latin typeface="Arial"/>
              </a:rPr>
              <a:t>«Верните деньги за кофеварку, она не включается.»</a:t>
            </a:r>
          </a:p>
        </p:txBody>
      </p:sp>
      <p:sp>
        <p:nvSpPr>
          <p:cNvPr id="8" name="Rounded Rectangle 7"/>
          <p:cNvSpPr/>
          <p:nvPr/>
        </p:nvSpPr>
        <p:spPr>
          <a:xfrm>
            <a:off x="502920" y="367588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80390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Правила перестали покрывать письма. Что делаете?</a:t>
            </a:r>
          </a:p>
        </p:txBody>
      </p:sp>
      <p:sp>
        <p:nvSpPr>
          <p:cNvPr id="10" name="Rounded Rectangle 9"/>
          <p:cNvSpPr/>
          <p:nvPr/>
        </p:nvSpPr>
        <p:spPr>
          <a:xfrm>
            <a:off x="502920" y="5046344"/>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5046344"/>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дописать ещё слов</a:t>
            </a:r>
          </a:p>
        </p:txBody>
      </p:sp>
      <p:sp>
        <p:nvSpPr>
          <p:cNvPr id="12" name="Rounded Rectangle 11"/>
          <p:cNvSpPr/>
          <p:nvPr/>
        </p:nvSpPr>
        <p:spPr>
          <a:xfrm>
            <a:off x="4279392" y="5046344"/>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5046344"/>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модель на классификацию</a:t>
            </a:r>
          </a:p>
        </p:txBody>
      </p:sp>
      <p:sp>
        <p:nvSpPr>
          <p:cNvPr id="14" name="Rounded Rectangle 13"/>
          <p:cNvSpPr/>
          <p:nvPr/>
        </p:nvSpPr>
        <p:spPr>
          <a:xfrm>
            <a:off x="8055863" y="5046344"/>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1" y="5046344"/>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нераспознанное отдавать человеку</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Каждый вариант чем-то платит</a:t>
            </a:r>
          </a:p>
        </p:txBody>
      </p:sp>
      <p:sp>
        <p:nvSpPr>
          <p:cNvPr id="3" name="Rounded Rectangle 2"/>
          <p:cNvSpPr/>
          <p:nvPr/>
        </p:nvSpPr>
        <p:spPr>
          <a:xfrm>
            <a:off x="502920" y="1636572"/>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19452"/>
            <a:ext cx="49523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5" name="TextBox 4"/>
          <p:cNvSpPr txBox="1"/>
          <p:nvPr/>
        </p:nvSpPr>
        <p:spPr>
          <a:xfrm>
            <a:off x="5784465" y="1819452"/>
            <a:ext cx="55723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ПЛАТИТ</a:t>
            </a:r>
          </a:p>
        </p:txBody>
      </p:sp>
      <p:sp>
        <p:nvSpPr>
          <p:cNvPr id="6" name="TextBox 5"/>
          <p:cNvSpPr txBox="1"/>
          <p:nvPr/>
        </p:nvSpPr>
        <p:spPr>
          <a:xfrm>
            <a:off x="685800" y="2101519"/>
            <a:ext cx="49523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дописать слов</a:t>
            </a:r>
            <a:r>
              <a:rPr sz="1250" b="0" i="0">
                <a:solidFill>
                  <a:srgbClr val="141B2E"/>
                </a:solidFill>
                <a:latin typeface="Arial"/>
              </a:rPr>
              <a:t> — закрывает сегодняшнее письмо за пять минут</a:t>
            </a:r>
          </a:p>
        </p:txBody>
      </p:sp>
      <p:sp>
        <p:nvSpPr>
          <p:cNvPr id="7" name="TextBox 6"/>
          <p:cNvSpPr txBox="1"/>
          <p:nvPr/>
        </p:nvSpPr>
        <p:spPr>
          <a:xfrm>
            <a:off x="5784465" y="2101519"/>
            <a:ext cx="55723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списки растут и начинают пересекаться; через месяц никто не помнит, почему в биллинге стоит слово «дважды»</a:t>
            </a:r>
          </a:p>
        </p:txBody>
      </p:sp>
      <p:cxnSp>
        <p:nvCxnSpPr>
          <p:cNvPr id="8" name="Connector 7"/>
          <p:cNvCxnSpPr/>
          <p:nvPr/>
        </p:nvCxnSpPr>
        <p:spPr>
          <a:xfrm>
            <a:off x="685800" y="2631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31236"/>
            <a:ext cx="49523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отдать человеку</a:t>
            </a:r>
            <a:r>
              <a:rPr sz="1250" b="0" i="0">
                <a:solidFill>
                  <a:srgbClr val="141B2E"/>
                </a:solidFill>
                <a:latin typeface="Arial"/>
              </a:rPr>
              <a:t> — честно и безопасно: нераспознанное видит живой человек</a:t>
            </a:r>
          </a:p>
        </p:txBody>
      </p:sp>
      <p:sp>
        <p:nvSpPr>
          <p:cNvPr id="10" name="TextBox 9"/>
          <p:cNvSpPr txBox="1"/>
          <p:nvPr/>
        </p:nvSpPr>
        <p:spPr>
          <a:xfrm>
            <a:off x="5784465" y="2631236"/>
            <a:ext cx="55723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поток к человеку остаётся прежним — ради его сокращения всё и затевалось</a:t>
            </a:r>
          </a:p>
        </p:txBody>
      </p:sp>
      <p:cxnSp>
        <p:nvCxnSpPr>
          <p:cNvPr id="11" name="Connector 10"/>
          <p:cNvCxnSpPr/>
          <p:nvPr/>
        </p:nvCxnSpPr>
        <p:spPr>
          <a:xfrm>
            <a:off x="685800" y="3160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60953"/>
            <a:ext cx="49523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позвать модель</a:t>
            </a:r>
            <a:r>
              <a:rPr sz="1250" b="0" i="0">
                <a:solidFill>
                  <a:srgbClr val="141B2E"/>
                </a:solidFill>
                <a:latin typeface="Arial"/>
              </a:rPr>
              <a:t> — разбирает формулировки, которых в списках нет</a:t>
            </a:r>
          </a:p>
        </p:txBody>
      </p:sp>
      <p:sp>
        <p:nvSpPr>
          <p:cNvPr id="13" name="TextBox 12"/>
          <p:cNvSpPr txBox="1"/>
          <p:nvPr/>
        </p:nvSpPr>
        <p:spPr>
          <a:xfrm>
            <a:off x="5784465" y="3160953"/>
            <a:ext cx="55723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отвечает всегда, в том числе когда не знает</a:t>
            </a:r>
          </a:p>
        </p:txBody>
      </p:sp>
      <p:sp>
        <p:nvSpPr>
          <p:cNvPr id="14" name="Rounded Rectangle 13"/>
          <p:cNvSpPr/>
          <p:nvPr/>
        </p:nvSpPr>
        <p:spPr>
          <a:xfrm>
            <a:off x="502920" y="45410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690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Второй вариант часто и есть правильный ответ — пока нераспознанного мало. Модель зовут тогда, когда «прочее» растёт быстрее, чем успеваешь дописывать слова.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читает письмо и возвращает одно слово из вашего списка</a:t>
            </a:r>
          </a:p>
        </p:txBody>
      </p:sp>
      <p:pic>
        <p:nvPicPr>
          <p:cNvPr id="3" name="Picture 2" descr="c1-graf-tsepochki.png"/>
          <p:cNvPicPr>
            <a:picLocks noChangeAspect="1"/>
          </p:cNvPicPr>
          <p:nvPr/>
        </p:nvPicPr>
        <p:blipFill>
          <a:blip r:embed="rId2"/>
          <a:stretch>
            <a:fillRect/>
          </a:stretch>
        </p:blipFill>
        <p:spPr>
          <a:xfrm>
            <a:off x="1217541" y="1319784"/>
            <a:ext cx="9753868" cy="3170007"/>
          </a:xfrm>
          <a:prstGeom prst="rect">
            <a:avLst/>
          </a:prstGeom>
        </p:spPr>
      </p:pic>
      <p:sp>
        <p:nvSpPr>
          <p:cNvPr id="4" name="Rounded Rectangle 3"/>
          <p:cNvSpPr/>
          <p:nvPr/>
        </p:nvSpPr>
        <p:spPr>
          <a:xfrm>
            <a:off x="502920" y="4654383"/>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782399"/>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письмо</a:t>
            </a:r>
            <a:r>
              <a:rPr sz="1300" b="1" i="0">
                <a:solidFill>
                  <a:srgbClr val="141B2E"/>
                </a:solidFill>
                <a:latin typeface="Arial"/>
              </a:rPr>
              <a:t> → </a:t>
            </a:r>
            <a:r>
              <a:rPr sz="1300" b="1" i="0">
                <a:solidFill>
                  <a:srgbClr val="141B2E"/>
                </a:solidFill>
                <a:latin typeface="Arial"/>
              </a:rPr>
              <a:t>определить категорию</a:t>
            </a:r>
            <a:r>
              <a:rPr sz="1300" b="1" i="0">
                <a:solidFill>
                  <a:srgbClr val="141B2E"/>
                </a:solidFill>
                <a:latin typeface="Arial"/>
              </a:rPr>
              <a:t> → </a:t>
            </a:r>
            <a:r>
              <a:rPr sz="1300" b="1" i="0">
                <a:solidFill>
                  <a:srgbClr val="141B2E"/>
                </a:solidFill>
                <a:latin typeface="Arial"/>
              </a:rPr>
              <a:t>написать черновик по этой категории</a:t>
            </a:r>
            <a:r>
              <a:rPr sz="1300" b="1" i="0">
                <a:solidFill>
                  <a:srgbClr val="141B2E"/>
                </a:solidFill>
                <a:latin typeface="Arial"/>
              </a:rPr>
              <a:t> → </a:t>
            </a:r>
            <a:r>
              <a:rPr sz="1300" b="1" i="0">
                <a:solidFill>
                  <a:srgbClr val="141B2E"/>
                </a:solidFill>
                <a:latin typeface="Arial"/>
              </a:rPr>
              <a:t>человек подтверждает</a:t>
            </a:r>
            <a:r>
              <a:rPr sz="1300" b="1" i="0">
                <a:solidFill>
                  <a:srgbClr val="141B2E"/>
                </a:solidFill>
                <a:latin typeface="Arial"/>
              </a:rPr>
              <a:t> → </a:t>
            </a:r>
            <a:r>
              <a:rPr sz="1300" b="1" i="0">
                <a:solidFill>
                  <a:srgbClr val="141B2E"/>
                </a:solidFill>
                <a:latin typeface="Arial"/>
              </a:rPr>
              <a:t>клиент</a:t>
            </a:r>
          </a:p>
        </p:txBody>
      </p:sp>
      <p:sp>
        <p:nvSpPr>
          <p:cNvPr id="6" name="Rounded Rectangle 5"/>
          <p:cNvSpPr/>
          <p:nvPr/>
        </p:nvSpPr>
        <p:spPr>
          <a:xfrm>
            <a:off x="502920" y="5298019"/>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26035"/>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Первый шаг отвечает, к чему письмо относится. Второй пишет ответ, уже зная категорию. Выход первого стал входом второго — это и есть цепочка, и появилась она из того, что задача распалась на два разных действия.</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Вежливо, грамотно и мимо</a:t>
            </a:r>
          </a:p>
        </p:txBody>
      </p:sp>
      <p:pic>
        <p:nvPicPr>
          <p:cNvPr id="3" name="Picture 2" descr="c1-graf-pogasshiy-romb.png"/>
          <p:cNvPicPr>
            <a:picLocks noChangeAspect="1"/>
          </p:cNvPicPr>
          <p:nvPr/>
        </p:nvPicPr>
        <p:blipFill>
          <a:blip r:embed="rId2"/>
          <a:stretch>
            <a:fillRect/>
          </a:stretch>
        </p:blipFill>
        <p:spPr>
          <a:xfrm>
            <a:off x="2262434" y="943356"/>
            <a:ext cx="7664083" cy="2490827"/>
          </a:xfrm>
          <a:prstGeom prst="rect">
            <a:avLst/>
          </a:prstGeom>
        </p:spPr>
      </p:pic>
      <p:sp>
        <p:nvSpPr>
          <p:cNvPr id="4" name="Rounded Rectangle 3"/>
          <p:cNvSpPr/>
          <p:nvPr/>
        </p:nvSpPr>
        <p:spPr>
          <a:xfrm>
            <a:off x="502920" y="3598775"/>
            <a:ext cx="82296" cy="5117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26791"/>
            <a:ext cx="10643616" cy="2557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Письмо:</a:t>
            </a:r>
            <a:r>
              <a:rPr sz="1100" b="1" i="0">
                <a:solidFill>
                  <a:srgbClr val="141B2E"/>
                </a:solidFill>
                <a:latin typeface="Arial"/>
              </a:rPr>
              <a:t> «Заказ № 40118 приехал в раздавленной коробке, у чайника вмятина на корпусе. Прошу вернуть деньги, фотографии прикладываю. Анна»</a:t>
            </a:r>
          </a:p>
        </p:txBody>
      </p:sp>
      <p:sp>
        <p:nvSpPr>
          <p:cNvPr id="6" name="Rounded Rectangle 5"/>
          <p:cNvSpPr/>
          <p:nvPr/>
        </p:nvSpPr>
        <p:spPr>
          <a:xfrm>
            <a:off x="502920" y="4275141"/>
            <a:ext cx="82296" cy="6746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03157"/>
            <a:ext cx="10643616" cy="418591"/>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Метка модели:</a:t>
            </a:r>
            <a:r>
              <a:rPr sz="1150" b="1" i="0">
                <a:solidFill>
                  <a:srgbClr val="141B2E"/>
                </a:solidFill>
                <a:latin typeface="Arial"/>
              </a:rPr>
              <a:t> доставка</a:t>
            </a:r>
          </a:p>
          <a:p>
            <a:pPr algn="l">
              <a:lnSpc>
                <a:spcPts val="1426"/>
              </a:lnSpc>
              <a:spcAft>
                <a:spcPts val="300"/>
              </a:spcAft>
            </a:pPr>
            <a:r>
              <a:rPr sz="1150" b="1" i="0">
                <a:solidFill>
                  <a:srgbClr val="141B2E"/>
                </a:solidFill>
                <a:latin typeface="Arial"/>
              </a:rPr>
              <a:t>Черновик:</a:t>
            </a:r>
            <a:r>
              <a:rPr sz="1150" b="1" i="0">
                <a:solidFill>
                  <a:srgbClr val="141B2E"/>
                </a:solidFill>
                <a:latin typeface="Arial"/>
              </a:rPr>
              <a:t> «…мы зарегистрировали обращение и передали его в службу поддержки, специалист свяжется с вами в течение суток»</a:t>
            </a:r>
          </a:p>
        </p:txBody>
      </p:sp>
      <p:sp>
        <p:nvSpPr>
          <p:cNvPr id="8" name="Rounded Rectangle 7"/>
          <p:cNvSpPr/>
          <p:nvPr/>
        </p:nvSpPr>
        <p:spPr>
          <a:xfrm>
            <a:off x="502920" y="5114357"/>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42373"/>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Условия магазина:</a:t>
            </a:r>
            <a:r>
              <a:rPr sz="1300" b="1" i="0">
                <a:solidFill>
                  <a:srgbClr val="141B2E"/>
                </a:solidFill>
                <a:latin typeface="Arial"/>
              </a:rPr>
              <a:t> повреждение при доставке — возвращаем полную стоимость, деньги приходят за 5 рабочих дней</a:t>
            </a:r>
          </a:p>
        </p:txBody>
      </p:sp>
      <p:sp>
        <p:nvSpPr>
          <p:cNvPr id="10" name="Rounded Rectangle 9"/>
          <p:cNvSpPr/>
          <p:nvPr/>
        </p:nvSpPr>
        <p:spPr>
          <a:xfrm>
            <a:off x="502920" y="5757993"/>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86009"/>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Правило, когда не знало ответа, молчало: письмо падало в «прочее», и человек его видел. Модель молчать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Последняя строка вашего списка категорий</a:t>
            </a:r>
          </a:p>
        </p:txBody>
      </p:sp>
      <p:sp>
        <p:nvSpPr>
          <p:cNvPr id="3" name="Rounded Rectangle 2"/>
          <p:cNvSpPr/>
          <p:nvPr/>
        </p:nvSpPr>
        <p:spPr>
          <a:xfrm>
            <a:off x="502920" y="1259459"/>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2339"/>
            <a:ext cx="47246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КОНЧАЕТСЯ СПИСОК</a:t>
            </a:r>
          </a:p>
        </p:txBody>
      </p:sp>
      <p:sp>
        <p:nvSpPr>
          <p:cNvPr id="5" name="TextBox 4"/>
          <p:cNvSpPr txBox="1"/>
          <p:nvPr/>
        </p:nvSpPr>
        <p:spPr>
          <a:xfrm>
            <a:off x="5556735" y="1442339"/>
            <a:ext cx="58001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6" name="TextBox 5"/>
          <p:cNvSpPr txBox="1"/>
          <p:nvPr/>
        </p:nvSpPr>
        <p:spPr>
          <a:xfrm>
            <a:off x="685800" y="1724406"/>
            <a:ext cx="47246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кончается</a:t>
            </a:r>
          </a:p>
        </p:txBody>
      </p:sp>
      <p:sp>
        <p:nvSpPr>
          <p:cNvPr id="7" name="TextBox 6"/>
          <p:cNvSpPr txBox="1"/>
          <p:nvPr/>
        </p:nvSpPr>
        <p:spPr>
          <a:xfrm>
            <a:off x="5556735" y="1724406"/>
            <a:ext cx="580011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цепочки хватает</a:t>
            </a:r>
          </a:p>
        </p:txBody>
      </p:sp>
      <p:cxnSp>
        <p:nvCxnSpPr>
          <p:cNvPr id="8" name="Connector 7"/>
          <p:cNvCxnSpPr/>
          <p:nvPr/>
        </p:nvCxnSpPr>
        <p:spPr>
          <a:xfrm>
            <a:off x="685800" y="20715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71560"/>
            <a:ext cx="47246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кончается словом «прочее»</a:t>
            </a:r>
          </a:p>
        </p:txBody>
      </p:sp>
      <p:sp>
        <p:nvSpPr>
          <p:cNvPr id="10" name="TextBox 9"/>
          <p:cNvSpPr txBox="1"/>
          <p:nvPr/>
        </p:nvSpPr>
        <p:spPr>
          <a:xfrm>
            <a:off x="5556735" y="2071560"/>
            <a:ext cx="580011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 что туда попадёт, уедет в ближайшую категорию молча</a:t>
            </a:r>
          </a:p>
        </p:txBody>
      </p:sp>
      <p:cxnSp>
        <p:nvCxnSpPr>
          <p:cNvPr id="11" name="Connector 10"/>
          <p:cNvCxnSpPr/>
          <p:nvPr/>
        </p:nvCxnSpPr>
        <p:spPr>
          <a:xfrm>
            <a:off x="685800" y="24187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18715"/>
            <a:ext cx="47246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кончается — категории заранее неизвестны</a:t>
            </a:r>
          </a:p>
        </p:txBody>
      </p:sp>
      <p:sp>
        <p:nvSpPr>
          <p:cNvPr id="13" name="TextBox 12"/>
          <p:cNvSpPr txBox="1"/>
          <p:nvPr/>
        </p:nvSpPr>
        <p:spPr>
          <a:xfrm>
            <a:off x="5556735" y="2418715"/>
            <a:ext cx="580011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цепочка не поможет, нужна следующая ступень</a:t>
            </a:r>
          </a:p>
        </p:txBody>
      </p:sp>
      <p:sp>
        <p:nvSpPr>
          <p:cNvPr id="14" name="Rounded Rectangle 13"/>
          <p:cNvSpPr/>
          <p:nvPr/>
        </p:nvSpPr>
        <p:spPr>
          <a:xfrm>
            <a:off x="502920" y="361626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74427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Между шагом, который угадывает, и шагом, который действует, нужна проверка. Самая дешёвая: сверить, что метка пришла из вашего списка, прежде чем по ней что-то делать.</a:t>
            </a:r>
          </a:p>
        </p:txBody>
      </p:sp>
      <p:sp>
        <p:nvSpPr>
          <p:cNvPr id="16" name="Rounded Rectangle 15"/>
          <p:cNvSpPr/>
          <p:nvPr/>
        </p:nvSpPr>
        <p:spPr>
          <a:xfrm>
            <a:off x="502920" y="503053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5854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Выпишите категории своей задачи. На чём кончается ваш список?</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«Эта цифра стояла на сайте годами, и ничего не ломалось»</a:t>
            </a:r>
          </a:p>
        </p:txBody>
      </p:sp>
      <p:sp>
        <p:nvSpPr>
          <p:cNvPr id="4" name="Rounded Rectangle 3"/>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Оценка как подсказка: ошибается она, поправляет человек</a:t>
            </a:r>
          </a:p>
        </p:txBody>
      </p:sp>
      <p:pic>
        <p:nvPicPr>
          <p:cNvPr id="3" name="Picture 2" descr="zillow-n11-dve-tsepochki.png"/>
          <p:cNvPicPr>
            <a:picLocks noChangeAspect="1"/>
          </p:cNvPicPr>
          <p:nvPr/>
        </p:nvPicPr>
        <p:blipFill>
          <a:blip r:embed="rId2"/>
          <a:stretch>
            <a:fillRect/>
          </a:stretch>
        </p:blipFill>
        <p:spPr>
          <a:xfrm>
            <a:off x="744984" y="1319784"/>
            <a:ext cx="10698983" cy="3249816"/>
          </a:xfrm>
          <a:prstGeom prst="rect">
            <a:avLst/>
          </a:prstGeom>
        </p:spPr>
      </p:pic>
      <p:sp>
        <p:nvSpPr>
          <p:cNvPr id="4" name="Rounded Rectangle 3"/>
          <p:cNvSpPr/>
          <p:nvPr/>
        </p:nvSpPr>
        <p:spPr>
          <a:xfrm>
            <a:off x="502920" y="4734192"/>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62208"/>
            <a:ext cx="10643616" cy="238759"/>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оценка</a:t>
            </a:r>
            <a:r>
              <a:rPr sz="1400" b="1" i="0">
                <a:solidFill>
                  <a:srgbClr val="141B2E"/>
                </a:solidFill>
                <a:latin typeface="Arial"/>
              </a:rPr>
              <a:t> → </a:t>
            </a:r>
            <a:r>
              <a:rPr sz="1400" b="1" i="0">
                <a:solidFill>
                  <a:srgbClr val="141B2E"/>
                </a:solidFill>
                <a:latin typeface="Arial"/>
              </a:rPr>
              <a:t>человек: смотрит, сравнивает с соседними домами, торгуется</a:t>
            </a:r>
            <a:r>
              <a:rPr sz="1400" b="1" i="0">
                <a:solidFill>
                  <a:srgbClr val="141B2E"/>
                </a:solidFill>
                <a:latin typeface="Arial"/>
              </a:rPr>
              <a:t> → </a:t>
            </a:r>
            <a:r>
              <a:rPr sz="1400" b="1" i="0">
                <a:solidFill>
                  <a:srgbClr val="141B2E"/>
                </a:solidFill>
                <a:latin typeface="Arial"/>
              </a:rPr>
              <a:t>его собственное решение</a:t>
            </a:r>
          </a:p>
        </p:txBody>
      </p:sp>
      <p:sp>
        <p:nvSpPr>
          <p:cNvPr id="6" name="Rounded Rectangle 5"/>
          <p:cNvSpPr/>
          <p:nvPr/>
        </p:nvSpPr>
        <p:spPr>
          <a:xfrm>
            <a:off x="502920" y="5393576"/>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21592"/>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Модель ошибается каждый день. Цена ошибки остаётся нулевой: между её цифрой и чьими-либо деньгами стоит человек.</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Бизнес просит покупать дома напрямую — быстро, без показов и торга</a:t>
            </a:r>
          </a:p>
        </p:txBody>
      </p:sp>
      <p:sp>
        <p:nvSpPr>
          <p:cNvPr id="3" name="Rounded Rectangle 2"/>
          <p:cNvSpPr/>
          <p:nvPr/>
        </p:nvSpPr>
        <p:spPr>
          <a:xfrm>
            <a:off x="502920" y="1447952"/>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502816"/>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85112"/>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Компания запускает выкуп домов у владельцев напрямую: продавец получает предложение за день, без показов, без торга, без ожидания покупателя.</a:t>
            </a:r>
          </a:p>
        </p:txBody>
      </p:sp>
      <p:sp>
        <p:nvSpPr>
          <p:cNvPr id="6" name="Rounded Rectangle 5"/>
          <p:cNvSpPr/>
          <p:nvPr/>
        </p:nvSpPr>
        <p:spPr>
          <a:xfrm>
            <a:off x="502920" y="261190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66677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49067"/>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Для этого на каждую сделку нужна цена. Звать оценщика на каждый дом — дорого и медленно, и это ровно то, что мешает бизнесу масштабироваться.</a:t>
            </a:r>
          </a:p>
        </p:txBody>
      </p:sp>
      <p:sp>
        <p:nvSpPr>
          <p:cNvPr id="9" name="Rounded Rectangle 8"/>
          <p:cNvSpPr/>
          <p:nvPr/>
        </p:nvSpPr>
        <p:spPr>
          <a:xfrm>
            <a:off x="502920" y="377586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90387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Убираем человека из контура?</a:t>
            </a:r>
          </a:p>
        </p:txBody>
      </p:sp>
      <p:sp>
        <p:nvSpPr>
          <p:cNvPr id="11" name="Rounded Rectangle 10"/>
          <p:cNvSpPr/>
          <p:nvPr/>
        </p:nvSpPr>
        <p:spPr>
          <a:xfrm>
            <a:off x="502920" y="5083835"/>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5083835"/>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убрать совсем</a:t>
            </a:r>
          </a:p>
        </p:txBody>
      </p:sp>
      <p:sp>
        <p:nvSpPr>
          <p:cNvPr id="13" name="Rounded Rectangle 12"/>
          <p:cNvSpPr/>
          <p:nvPr/>
        </p:nvSpPr>
        <p:spPr>
          <a:xfrm>
            <a:off x="4279392" y="5083835"/>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5083835"/>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человека на сделках выше порога суммы</a:t>
            </a:r>
          </a:p>
        </p:txBody>
      </p:sp>
      <p:sp>
        <p:nvSpPr>
          <p:cNvPr id="15" name="Rounded Rectangle 14"/>
          <p:cNvSpPr/>
          <p:nvPr/>
        </p:nvSpPr>
        <p:spPr>
          <a:xfrm>
            <a:off x="8055863" y="5083835"/>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65591" y="5083835"/>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убирать</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не изменилась ни на строчку</a:t>
            </a:r>
          </a:p>
        </p:txBody>
      </p:sp>
      <p:pic>
        <p:nvPicPr>
          <p:cNvPr id="3" name="Picture 2" descr="zillow-n11-dve-tsepochki.png"/>
          <p:cNvPicPr>
            <a:picLocks noChangeAspect="1"/>
          </p:cNvPicPr>
          <p:nvPr/>
        </p:nvPicPr>
        <p:blipFill>
          <a:blip r:embed="rId2"/>
          <a:stretch>
            <a:fillRect/>
          </a:stretch>
        </p:blipFill>
        <p:spPr>
          <a:xfrm>
            <a:off x="2041286" y="943356"/>
            <a:ext cx="8106378" cy="2462312"/>
          </a:xfrm>
          <a:prstGeom prst="rect">
            <a:avLst/>
          </a:prstGeom>
        </p:spPr>
      </p:pic>
      <p:sp>
        <p:nvSpPr>
          <p:cNvPr id="4" name="Rounded Rectangle 3"/>
          <p:cNvSpPr/>
          <p:nvPr/>
        </p:nvSpPr>
        <p:spPr>
          <a:xfrm>
            <a:off x="502920" y="3570260"/>
            <a:ext cx="82296" cy="56892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98276"/>
            <a:ext cx="10643616" cy="31289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было:</a:t>
            </a:r>
            <a:r>
              <a:rPr sz="1100" b="1" i="0">
                <a:solidFill>
                  <a:srgbClr val="141B2E"/>
                </a:solidFill>
                <a:latin typeface="Arial"/>
              </a:rPr>
              <a:t> оценка → человек смотрит и торгуется → его решение</a:t>
            </a:r>
          </a:p>
          <a:p>
            <a:pPr algn="l">
              <a:lnSpc>
                <a:spcPts val="1364"/>
              </a:lnSpc>
              <a:spcAft>
                <a:spcPts val="300"/>
              </a:spcAft>
            </a:pPr>
            <a:r>
              <a:rPr sz="1100" b="1" i="0">
                <a:solidFill>
                  <a:srgbClr val="141B2E"/>
                </a:solidFill>
                <a:latin typeface="Arial"/>
              </a:rPr>
              <a:t>стало:</a:t>
            </a:r>
            <a:r>
              <a:rPr sz="1100" b="1" i="0">
                <a:solidFill>
                  <a:srgbClr val="141B2E"/>
                </a:solidFill>
                <a:latin typeface="Arial"/>
              </a:rPr>
              <a:t> оценка → (пусто) → компания покупает этот дом по этой цене</a:t>
            </a:r>
          </a:p>
        </p:txBody>
      </p:sp>
      <p:sp>
        <p:nvSpPr>
          <p:cNvPr id="6" name="Rounded Rectangle 5"/>
          <p:cNvSpPr/>
          <p:nvPr/>
        </p:nvSpPr>
        <p:spPr>
          <a:xfrm>
            <a:off x="502920" y="4303779"/>
            <a:ext cx="11183112" cy="1475359"/>
          </a:xfrm>
          <a:prstGeom prst="roundRect">
            <a:avLst>
              <a:gd name="adj" fmla="val 206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459227"/>
            <a:ext cx="57930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a:t>
            </a:r>
          </a:p>
        </p:txBody>
      </p:sp>
      <p:sp>
        <p:nvSpPr>
          <p:cNvPr id="8" name="TextBox 7"/>
          <p:cNvSpPr txBox="1"/>
          <p:nvPr/>
        </p:nvSpPr>
        <p:spPr>
          <a:xfrm>
            <a:off x="6597713" y="4459227"/>
            <a:ext cx="478656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ПЛАТИТ</a:t>
            </a:r>
          </a:p>
        </p:txBody>
      </p:sp>
      <p:sp>
        <p:nvSpPr>
          <p:cNvPr id="9" name="TextBox 8"/>
          <p:cNvSpPr txBox="1"/>
          <p:nvPr/>
        </p:nvSpPr>
        <p:spPr>
          <a:xfrm>
            <a:off x="658368" y="4741294"/>
            <a:ext cx="5793041"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убрать совсем — предложение за минуты, бизнес масштабируется</a:t>
            </a:r>
          </a:p>
        </p:txBody>
      </p:sp>
      <p:sp>
        <p:nvSpPr>
          <p:cNvPr id="10" name="TextBox 9"/>
          <p:cNvSpPr txBox="1"/>
          <p:nvPr/>
        </p:nvSpPr>
        <p:spPr>
          <a:xfrm>
            <a:off x="6597713" y="4741294"/>
            <a:ext cx="4786566"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ошибка оценки сразу становится купленным домом</a:t>
            </a:r>
          </a:p>
        </p:txBody>
      </p:sp>
      <p:cxnSp>
        <p:nvCxnSpPr>
          <p:cNvPr id="11" name="Connector 10"/>
          <p:cNvCxnSpPr/>
          <p:nvPr/>
        </p:nvCxnSpPr>
        <p:spPr>
          <a:xfrm>
            <a:off x="658368" y="503542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5035426"/>
            <a:ext cx="5793041"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порог по сумме — дешёвые сделки быстрые, дорогие под контролем</a:t>
            </a:r>
          </a:p>
        </p:txBody>
      </p:sp>
      <p:sp>
        <p:nvSpPr>
          <p:cNvPr id="13" name="TextBox 12"/>
          <p:cNvSpPr txBox="1"/>
          <p:nvPr/>
        </p:nvSpPr>
        <p:spPr>
          <a:xfrm>
            <a:off x="6597713" y="5035426"/>
            <a:ext cx="4786566"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порог угадывают заранее, а рынок его двигает</a:t>
            </a:r>
          </a:p>
        </p:txBody>
      </p:sp>
      <p:cxnSp>
        <p:nvCxnSpPr>
          <p:cNvPr id="14" name="Connector 13"/>
          <p:cNvCxnSpPr/>
          <p:nvPr/>
        </p:nvCxnSpPr>
        <p:spPr>
          <a:xfrm>
            <a:off x="658368" y="532955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5329558"/>
            <a:ext cx="5793041"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убирать — цена ошибки остаётся нулевой</a:t>
            </a:r>
          </a:p>
        </p:txBody>
      </p:sp>
      <p:sp>
        <p:nvSpPr>
          <p:cNvPr id="16" name="TextBox 15"/>
          <p:cNvSpPr txBox="1"/>
          <p:nvPr/>
        </p:nvSpPr>
        <p:spPr>
          <a:xfrm>
            <a:off x="6597713" y="5329558"/>
            <a:ext cx="4786566"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продукт остаётся прежним, оценщик упирается в объём</a:t>
            </a:r>
          </a:p>
        </p:txBody>
      </p:sp>
      <p:sp>
        <p:nvSpPr>
          <p:cNvPr id="17" name="Rounded Rectangle 16"/>
          <p:cNvSpPr/>
          <p:nvPr/>
        </p:nvSpPr>
        <p:spPr>
          <a:xfrm>
            <a:off x="502920" y="594373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607174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 та же. Точность та же. Изменилось то, что стоит сразу после цифры.</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9680 домов куплено, 3032 продано</a:t>
            </a:r>
          </a:p>
        </p:txBody>
      </p:sp>
      <p:sp>
        <p:nvSpPr>
          <p:cNvPr id="3" name="Rounded Rectangle 2"/>
          <p:cNvSpPr/>
          <p:nvPr/>
        </p:nvSpPr>
        <p:spPr>
          <a:xfrm>
            <a:off x="502920" y="1100421"/>
            <a:ext cx="11183112" cy="2383599"/>
          </a:xfrm>
          <a:prstGeom prst="roundRect">
            <a:avLst>
              <a:gd name="adj" fmla="val 12787"/>
            </a:avLst>
          </a:prstGeom>
          <a:solidFill>
            <a:srgbClr val="FFFFFF"/>
          </a:solidFill>
          <a:ln w="1778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91861"/>
            <a:ext cx="68580" cy="2200719"/>
          </a:xfrm>
          <a:prstGeom prst="roundRect">
            <a:avLst>
              <a:gd name="adj" fmla="val 50000"/>
            </a:avLst>
          </a:prstGeom>
          <a:solidFill>
            <a:srgbClr val="8A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83301"/>
            <a:ext cx="3635581"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ЦИФРА</a:t>
            </a:r>
          </a:p>
        </p:txBody>
      </p:sp>
      <p:sp>
        <p:nvSpPr>
          <p:cNvPr id="6" name="TextBox 5"/>
          <p:cNvSpPr txBox="1"/>
          <p:nvPr/>
        </p:nvSpPr>
        <p:spPr>
          <a:xfrm>
            <a:off x="4467685" y="1283301"/>
            <a:ext cx="6889162"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РЯДОМ С ЧЕМ ЕЁ ЧИТАТЬ</a:t>
            </a:r>
          </a:p>
        </p:txBody>
      </p:sp>
      <p:sp>
        <p:nvSpPr>
          <p:cNvPr id="7" name="TextBox 6"/>
          <p:cNvSpPr txBox="1"/>
          <p:nvPr/>
        </p:nvSpPr>
        <p:spPr>
          <a:xfrm>
            <a:off x="685800" y="1565368"/>
            <a:ext cx="36355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9680 домов куплено за квартал</a:t>
            </a:r>
          </a:p>
        </p:txBody>
      </p:sp>
      <p:sp>
        <p:nvSpPr>
          <p:cNvPr id="8" name="TextBox 7"/>
          <p:cNvSpPr txBox="1"/>
          <p:nvPr/>
        </p:nvSpPr>
        <p:spPr>
          <a:xfrm>
            <a:off x="4467685" y="1565368"/>
            <a:ext cx="68891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продано за тот же квартал 3032</a:t>
            </a:r>
          </a:p>
        </p:txBody>
      </p:sp>
      <p:cxnSp>
        <p:nvCxnSpPr>
          <p:cNvPr id="9" name="Connector 8"/>
          <p:cNvCxnSpPr/>
          <p:nvPr/>
        </p:nvCxnSpPr>
        <p:spPr>
          <a:xfrm>
            <a:off x="685800" y="19125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1912522"/>
            <a:ext cx="36355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$304 млн списания</a:t>
            </a:r>
          </a:p>
        </p:txBody>
      </p:sp>
      <p:sp>
        <p:nvSpPr>
          <p:cNvPr id="11" name="TextBox 10"/>
          <p:cNvSpPr txBox="1"/>
          <p:nvPr/>
        </p:nvSpPr>
        <p:spPr>
          <a:xfrm>
            <a:off x="4467685" y="1912522"/>
            <a:ext cx="68891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 третий квартал 2021</a:t>
            </a:r>
          </a:p>
        </p:txBody>
      </p:sp>
      <p:cxnSp>
        <p:nvCxnSpPr>
          <p:cNvPr id="12" name="Connector 11"/>
          <p:cNvCxnSpPr/>
          <p:nvPr/>
        </p:nvCxnSpPr>
        <p:spPr>
          <a:xfrm>
            <a:off x="685800" y="22596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59677"/>
            <a:ext cx="36355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$407,9 млн</a:t>
            </a:r>
          </a:p>
        </p:txBody>
      </p:sp>
      <p:sp>
        <p:nvSpPr>
          <p:cNvPr id="14" name="TextBox 13"/>
          <p:cNvSpPr txBox="1"/>
          <p:nvPr/>
        </p:nvSpPr>
        <p:spPr>
          <a:xfrm>
            <a:off x="4467685" y="2259677"/>
            <a:ext cx="68891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 весь 2021 год, годовой отчёт перед комиссией по ценным бумагам</a:t>
            </a:r>
          </a:p>
        </p:txBody>
      </p:sp>
      <p:cxnSp>
        <p:nvCxnSpPr>
          <p:cNvPr id="15" name="Connector 14"/>
          <p:cNvCxnSpPr/>
          <p:nvPr/>
        </p:nvCxnSpPr>
        <p:spPr>
          <a:xfrm>
            <a:off x="685800" y="26068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606831"/>
            <a:ext cx="36355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≈$80 тыс.</a:t>
            </a:r>
          </a:p>
        </p:txBody>
      </p:sp>
      <p:sp>
        <p:nvSpPr>
          <p:cNvPr id="17" name="TextBox 16"/>
          <p:cNvSpPr txBox="1"/>
          <p:nvPr/>
        </p:nvSpPr>
        <p:spPr>
          <a:xfrm>
            <a:off x="4467685" y="2606831"/>
            <a:ext cx="68891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средний убыток на один дом</a:t>
            </a:r>
          </a:p>
        </p:txBody>
      </p:sp>
      <p:cxnSp>
        <p:nvCxnSpPr>
          <p:cNvPr id="18" name="Connector 17"/>
          <p:cNvCxnSpPr/>
          <p:nvPr/>
        </p:nvCxnSpPr>
        <p:spPr>
          <a:xfrm>
            <a:off x="685800" y="29539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953986"/>
            <a:ext cx="36355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2000 человек уволены</a:t>
            </a:r>
          </a:p>
        </p:txBody>
      </p:sp>
      <p:sp>
        <p:nvSpPr>
          <p:cNvPr id="20" name="TextBox 19"/>
          <p:cNvSpPr txBox="1"/>
          <p:nvPr/>
        </p:nvSpPr>
        <p:spPr>
          <a:xfrm>
            <a:off x="4467685" y="2953986"/>
            <a:ext cx="68891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четверть всей компании</a:t>
            </a:r>
          </a:p>
        </p:txBody>
      </p:sp>
      <p:sp>
        <p:nvSpPr>
          <p:cNvPr id="21" name="Rounded Rectangle 20"/>
          <p:cNvSpPr/>
          <p:nvPr/>
        </p:nvSpPr>
        <p:spPr>
          <a:xfrm>
            <a:off x="502920" y="404127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16929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Генеральный директор Рич Бартон: непредсказуемость прогнозирования цен на жильё «намного превысила» то, что компания ожидала.</a:t>
            </a:r>
          </a:p>
        </p:txBody>
      </p:sp>
      <p:sp>
        <p:nvSpPr>
          <p:cNvPr id="23" name="Rounded Rectangle 22"/>
          <p:cNvSpPr/>
          <p:nvPr/>
        </p:nvSpPr>
        <p:spPr>
          <a:xfrm>
            <a:off x="502920" y="534529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47330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Источники: CNN, 9 ноября 2021 · Fortune, 3 ноября 2021, разбор Bank of America · форма 10-K за 2021 год</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следующего шага и можно ли его отменить</a:t>
            </a:r>
          </a:p>
        </p:txBody>
      </p:sp>
      <p:pic>
        <p:nvPicPr>
          <p:cNvPr id="3" name="Picture 2" descr="zillow-n13-spektr.png"/>
          <p:cNvPicPr>
            <a:picLocks noChangeAspect="1"/>
          </p:cNvPicPr>
          <p:nvPr/>
        </p:nvPicPr>
        <p:blipFill>
          <a:blip r:embed="rId2"/>
          <a:stretch>
            <a:fillRect/>
          </a:stretch>
        </p:blipFill>
        <p:spPr>
          <a:xfrm>
            <a:off x="502920" y="1029549"/>
            <a:ext cx="11183112" cy="2222643"/>
          </a:xfrm>
          <a:prstGeom prst="rect">
            <a:avLst/>
          </a:prstGeom>
        </p:spPr>
      </p:pic>
      <p:sp>
        <p:nvSpPr>
          <p:cNvPr id="4" name="Rounded Rectangle 3"/>
          <p:cNvSpPr/>
          <p:nvPr/>
        </p:nvSpPr>
        <p:spPr>
          <a:xfrm>
            <a:off x="502920" y="3632267"/>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60283"/>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отменяется одним действием</a:t>
            </a:r>
            <a:r>
              <a:rPr sz="1500" b="1" i="0">
                <a:solidFill>
                  <a:srgbClr val="141B2E"/>
                </a:solidFill>
                <a:latin typeface="Arial"/>
              </a:rPr>
              <a:t> ————————————— </a:t>
            </a:r>
            <a:r>
              <a:rPr sz="1500" b="1" i="0">
                <a:solidFill>
                  <a:srgbClr val="141B2E"/>
                </a:solidFill>
                <a:latin typeface="Arial"/>
              </a:rPr>
              <a:t>одним действием не отменить</a:t>
            </a:r>
          </a:p>
          <a:p>
            <a:pPr algn="l">
              <a:lnSpc>
                <a:spcPts val="1860"/>
              </a:lnSpc>
              <a:spcAft>
                <a:spcPts val="300"/>
              </a:spcAft>
            </a:pPr>
            <a:r>
              <a:rPr sz="1500" b="1" i="0">
                <a:solidFill>
                  <a:srgbClr val="141B2E"/>
                </a:solidFill>
                <a:latin typeface="Arial"/>
              </a:rPr>
              <a:t>↑ черновик письма Анне                                      ↑ покупка дома</a:t>
            </a:r>
          </a:p>
        </p:txBody>
      </p:sp>
      <p:sp>
        <p:nvSpPr>
          <p:cNvPr id="6" name="Rounded Rectangle 5"/>
          <p:cNvSpPr/>
          <p:nvPr/>
        </p:nvSpPr>
        <p:spPr>
          <a:xfrm>
            <a:off x="502920" y="479720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521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Пропущена одна и та же проверка. Разница в том, что идёт сразу после неё.</a:t>
            </a:r>
          </a:p>
        </p:txBody>
      </p:sp>
      <p:sp>
        <p:nvSpPr>
          <p:cNvPr id="8" name="Rounded Rectangle 7"/>
          <p:cNvSpPr/>
          <p:nvPr/>
        </p:nvSpPr>
        <p:spPr>
          <a:xfrm>
            <a:off x="502920" y="568781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81583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Одна и та же модель с одной и той же точностью безопасна как подсказка и опасна как решение.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2610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«От идеи до работающего кода за полдня»</a:t>
            </a:r>
          </a:p>
        </p:txBody>
      </p:sp>
      <p:sp>
        <p:nvSpPr>
          <p:cNvPr id="4" name="TextBox 3"/>
          <p:cNvSpPr txBox="1"/>
          <p:nvPr/>
        </p:nvSpPr>
        <p:spPr>
          <a:xfrm>
            <a:off x="1234440" y="370814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Что было через год — на следующих экранах.</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Прямые вызовы из обычного кода</a:t>
            </a:r>
          </a:p>
        </p:txBody>
      </p:sp>
      <p:sp>
        <p:nvSpPr>
          <p:cNvPr id="3" name="Rounded Rectangle 2"/>
          <p:cNvSpPr/>
          <p:nvPr/>
        </p:nvSpPr>
        <p:spPr>
          <a:xfrm>
            <a:off x="502920" y="2217420"/>
            <a:ext cx="82296" cy="10210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345436"/>
            <a:ext cx="10643616" cy="7650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класс · один вызов функции</a:t>
            </a:r>
          </a:p>
          <a:p>
            <a:pPr algn="l">
              <a:lnSpc>
                <a:spcPts val="1860"/>
              </a:lnSpc>
              <a:spcAft>
                <a:spcPts val="300"/>
              </a:spcAft>
            </a:pPr>
            <a:r>
              <a:rPr sz="1500" b="1" i="0">
                <a:solidFill>
                  <a:srgbClr val="141B2E"/>
                </a:solidFill>
                <a:latin typeface="Arial"/>
              </a:rPr>
              <a:t>передать сообщение модели → забрать текст ответа → дальше обычные ветвления, циклы и обработка текста</a:t>
            </a:r>
          </a:p>
        </p:txBody>
      </p:sp>
      <p:sp>
        <p:nvSpPr>
          <p:cNvPr id="5" name="Rounded Rectangle 4"/>
          <p:cNvSpPr/>
          <p:nvPr/>
        </p:nvSpPr>
        <p:spPr>
          <a:xfrm>
            <a:off x="502920" y="390601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3402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Всё на виду. Отлаживается тем же, чем отлаживается остальной код в проекте.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выросла</a:t>
            </a:r>
          </a:p>
        </p:txBody>
      </p:sp>
      <p:sp>
        <p:nvSpPr>
          <p:cNvPr id="3" name="Rounded Rectangle 2"/>
          <p:cNvSpPr/>
          <p:nvPr/>
        </p:nvSpPr>
        <p:spPr>
          <a:xfrm>
            <a:off x="502920" y="1660245"/>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715109"/>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97405"/>
            <a:ext cx="10643616" cy="6831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шагов стало больше — один вызов превратился в четыре</a:t>
            </a:r>
          </a:p>
          <a:p>
            <a:pPr algn="l">
              <a:lnSpc>
                <a:spcPts val="1593"/>
              </a:lnSpc>
              <a:spcAft>
                <a:spcPts val="300"/>
              </a:spcAft>
            </a:pPr>
            <a:r>
              <a:rPr sz="1350" b="0" i="0">
                <a:solidFill>
                  <a:srgbClr val="141B2E"/>
                </a:solidFill>
                <a:latin typeface="Arial"/>
              </a:rPr>
              <a:t>их надо связывать: выход одного идёт входом следующего</a:t>
            </a:r>
          </a:p>
          <a:p>
            <a:pPr algn="l">
              <a:lnSpc>
                <a:spcPts val="1593"/>
              </a:lnSpc>
              <a:spcAft>
                <a:spcPts val="300"/>
              </a:spcAft>
            </a:pPr>
            <a:r>
              <a:rPr sz="1350" b="0" i="0">
                <a:solidFill>
                  <a:srgbClr val="141B2E"/>
                </a:solidFill>
                <a:latin typeface="Arial"/>
              </a:rPr>
              <a:t>хочется переиспользовать: в трёх местах проекта делается почти одно и то же</a:t>
            </a:r>
          </a:p>
        </p:txBody>
      </p:sp>
      <p:sp>
        <p:nvSpPr>
          <p:cNvPr id="6" name="Rounded Rectangle 5"/>
          <p:cNvSpPr/>
          <p:nvPr/>
        </p:nvSpPr>
        <p:spPr>
          <a:xfrm>
            <a:off x="502920" y="32852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41322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Брать фреймворк?</a:t>
            </a:r>
          </a:p>
        </p:txBody>
      </p:sp>
      <p:sp>
        <p:nvSpPr>
          <p:cNvPr id="8" name="Rounded Rectangle 7"/>
          <p:cNvSpPr/>
          <p:nvPr/>
        </p:nvSpPr>
        <p:spPr>
          <a:xfrm>
            <a:off x="502920" y="477568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483054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491284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Consolas"/>
              </a:rPr>
              <a:t>взять</a:t>
            </a:r>
            <a:r>
              <a:rPr sz="1350" b="0" i="0">
                <a:solidFill>
                  <a:srgbClr val="141B2E"/>
                </a:solidFill>
                <a:latin typeface="Arial"/>
              </a:rPr>
              <a:t> </a:t>
            </a:r>
            <a:r>
              <a:rPr sz="1350" b="0" i="0">
                <a:solidFill>
                  <a:srgbClr val="141B2E"/>
                </a:solidFill>
                <a:latin typeface="Consolas"/>
              </a:rPr>
              <a:t>фреймворк</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готовые</a:t>
            </a:r>
            <a:r>
              <a:rPr sz="1350" b="0" i="0">
                <a:solidFill>
                  <a:srgbClr val="141B2E"/>
                </a:solidFill>
                <a:latin typeface="Arial"/>
              </a:rPr>
              <a:t> </a:t>
            </a:r>
            <a:r>
              <a:rPr sz="1350" b="0" i="0">
                <a:solidFill>
                  <a:srgbClr val="141B2E"/>
                </a:solidFill>
                <a:latin typeface="Consolas"/>
              </a:rPr>
              <a:t>кирпичи,</a:t>
            </a:r>
            <a:r>
              <a:rPr sz="1350" b="0" i="0">
                <a:solidFill>
                  <a:srgbClr val="141B2E"/>
                </a:solidFill>
                <a:latin typeface="Arial"/>
              </a:rPr>
              <a:t> </a:t>
            </a:r>
            <a:r>
              <a:rPr sz="1350" b="0" i="0">
                <a:solidFill>
                  <a:srgbClr val="141B2E"/>
                </a:solidFill>
                <a:latin typeface="Consolas"/>
              </a:rPr>
              <a:t>не</a:t>
            </a:r>
            <a:r>
              <a:rPr sz="1350" b="0" i="0">
                <a:solidFill>
                  <a:srgbClr val="141B2E"/>
                </a:solidFill>
                <a:latin typeface="Arial"/>
              </a:rPr>
              <a:t> </a:t>
            </a:r>
            <a:r>
              <a:rPr sz="1350" b="0" i="0">
                <a:solidFill>
                  <a:srgbClr val="141B2E"/>
                </a:solidFill>
                <a:latin typeface="Consolas"/>
              </a:rPr>
              <a:t>изобретать</a:t>
            </a:r>
            <a:r>
              <a:rPr sz="1350" b="0" i="0">
                <a:solidFill>
                  <a:srgbClr val="141B2E"/>
                </a:solidFill>
                <a:latin typeface="Arial"/>
              </a:rPr>
              <a:t> </a:t>
            </a:r>
            <a:r>
              <a:rPr sz="1350" b="0" i="0">
                <a:solidFill>
                  <a:srgbClr val="141B2E"/>
                </a:solidFill>
                <a:latin typeface="Consolas"/>
              </a:rPr>
              <a:t>своё</a:t>
            </a:r>
            <a:r>
              <a:rPr sz="1350" b="0" i="0">
                <a:solidFill>
                  <a:srgbClr val="141B2E"/>
                </a:solidFill>
                <a:latin typeface="Arial"/>
              </a:rPr>
              <a:t> · </a:t>
            </a:r>
            <a:r>
              <a:rPr sz="1350" b="0" i="0">
                <a:solidFill>
                  <a:srgbClr val="141B2E"/>
                </a:solidFill>
                <a:latin typeface="Consolas"/>
              </a:rPr>
              <a:t>остаться</a:t>
            </a:r>
            <a:r>
              <a:rPr sz="1350" b="0" i="0">
                <a:solidFill>
                  <a:srgbClr val="141B2E"/>
                </a:solidFill>
                <a:latin typeface="Arial"/>
              </a:rPr>
              <a:t> </a:t>
            </a:r>
            <a:r>
              <a:rPr sz="1350" b="0" i="0">
                <a:solidFill>
                  <a:srgbClr val="141B2E"/>
                </a:solidFill>
                <a:latin typeface="Consolas"/>
              </a:rPr>
              <a:t>на</a:t>
            </a:r>
            <a:r>
              <a:rPr sz="1350" b="0" i="0">
                <a:solidFill>
                  <a:srgbClr val="141B2E"/>
                </a:solidFill>
                <a:latin typeface="Arial"/>
              </a:rPr>
              <a:t> </a:t>
            </a:r>
            <a:r>
              <a:rPr sz="1350" b="0" i="0">
                <a:solidFill>
                  <a:srgbClr val="141B2E"/>
                </a:solidFill>
                <a:latin typeface="Consolas"/>
              </a:rPr>
              <a:t>прямых</a:t>
            </a:r>
            <a:r>
              <a:rPr sz="1350" b="0" i="0">
                <a:solidFill>
                  <a:srgbClr val="141B2E"/>
                </a:solidFill>
                <a:latin typeface="Arial"/>
              </a:rPr>
              <a:t> </a:t>
            </a:r>
            <a:r>
              <a:rPr sz="1350" b="0" i="0">
                <a:solidFill>
                  <a:srgbClr val="141B2E"/>
                </a:solidFill>
                <a:latin typeface="Consolas"/>
              </a:rPr>
              <a:t>вызовах</a:t>
            </a:r>
            <a:r>
              <a:rPr sz="1350" b="0" i="0">
                <a:solidFill>
                  <a:srgbClr val="141B2E"/>
                </a:solidFill>
                <a:latin typeface="Arial"/>
              </a:rPr>
              <a:t> </a:t>
            </a:r>
            <a:r>
              <a:rPr sz="1350" b="0" i="0">
                <a:solidFill>
                  <a:srgbClr val="141B2E"/>
                </a:solidFill>
                <a:latin typeface="Consolas"/>
              </a:rPr>
              <a:t>и</a:t>
            </a:r>
            <a:r>
              <a:rPr sz="1350" b="0" i="0">
                <a:solidFill>
                  <a:srgbClr val="141B2E"/>
                </a:solidFill>
                <a:latin typeface="Arial"/>
              </a:rPr>
              <a:t> </a:t>
            </a:r>
            <a:r>
              <a:rPr sz="1350" b="0" i="0">
                <a:solidFill>
                  <a:srgbClr val="141B2E"/>
                </a:solidFill>
                <a:latin typeface="Consolas"/>
              </a:rPr>
              <a:t>написать</a:t>
            </a:r>
            <a:r>
              <a:rPr sz="1350" b="0" i="0">
                <a:solidFill>
                  <a:srgbClr val="141B2E"/>
                </a:solidFill>
                <a:latin typeface="Arial"/>
              </a:rPr>
              <a:t> </a:t>
            </a:r>
            <a:r>
              <a:rPr sz="1350" b="0" i="0">
                <a:solidFill>
                  <a:srgbClr val="141B2E"/>
                </a:solidFill>
                <a:latin typeface="Consolas"/>
              </a:rPr>
              <a:t>свою</a:t>
            </a:r>
            <a:r>
              <a:rPr sz="1350" b="0" i="0">
                <a:solidFill>
                  <a:srgbClr val="141B2E"/>
                </a:solidFill>
                <a:latin typeface="Arial"/>
              </a:rPr>
              <a:t> </a:t>
            </a:r>
            <a:r>
              <a:rPr sz="1350" b="0" i="0">
                <a:solidFill>
                  <a:srgbClr val="141B2E"/>
                </a:solidFill>
                <a:latin typeface="Consolas"/>
              </a:rPr>
              <a:t>обвязку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 же действие: один класс против трёх</a:t>
            </a:r>
          </a:p>
        </p:txBody>
      </p:sp>
      <p:pic>
        <p:nvPicPr>
          <p:cNvPr id="3" name="Picture 2" descr="c3-tsena-odnogo-deystviya.png"/>
          <p:cNvPicPr>
            <a:picLocks noChangeAspect="1"/>
          </p:cNvPicPr>
          <p:nvPr/>
        </p:nvPicPr>
        <p:blipFill>
          <a:blip r:embed="rId2"/>
          <a:stretch>
            <a:fillRect/>
          </a:stretch>
        </p:blipFill>
        <p:spPr>
          <a:xfrm>
            <a:off x="2090958" y="943356"/>
            <a:ext cx="8007034" cy="3102725"/>
          </a:xfrm>
          <a:prstGeom prst="rect">
            <a:avLst/>
          </a:prstGeom>
        </p:spPr>
      </p:pic>
      <p:sp>
        <p:nvSpPr>
          <p:cNvPr id="4" name="Rounded Rectangle 3"/>
          <p:cNvSpPr/>
          <p:nvPr/>
        </p:nvSpPr>
        <p:spPr>
          <a:xfrm>
            <a:off x="502920" y="4210673"/>
            <a:ext cx="82296" cy="61934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38689"/>
            <a:ext cx="10643616" cy="36331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прямым вызовом:</a:t>
            </a:r>
            <a:r>
              <a:rPr sz="1100" b="1" i="0">
                <a:solidFill>
                  <a:srgbClr val="141B2E"/>
                </a:solidFill>
                <a:latin typeface="Arial"/>
              </a:rPr>
              <a:t> 1 класс · 1 вызов функции</a:t>
            </a:r>
          </a:p>
          <a:p>
            <a:pPr algn="l">
              <a:lnSpc>
                <a:spcPts val="1364"/>
              </a:lnSpc>
              <a:spcAft>
                <a:spcPts val="300"/>
              </a:spcAft>
            </a:pPr>
            <a:r>
              <a:rPr sz="1100" b="1" i="0">
                <a:solidFill>
                  <a:srgbClr val="141B2E"/>
                </a:solidFill>
                <a:latin typeface="Arial"/>
              </a:rPr>
              <a:t>через фреймворк:</a:t>
            </a:r>
            <a:r>
              <a:rPr sz="1100" b="1" i="0">
                <a:solidFill>
                  <a:srgbClr val="141B2E"/>
                </a:solidFill>
                <a:latin typeface="Arial"/>
              </a:rPr>
              <a:t> 3 класса · 4 вызова · 3 новых понятия</a:t>
            </a:r>
          </a:p>
        </p:txBody>
      </p:sp>
      <p:sp>
        <p:nvSpPr>
          <p:cNvPr id="6" name="Rounded Rectangle 5"/>
          <p:cNvSpPr/>
          <p:nvPr/>
        </p:nvSpPr>
        <p:spPr>
          <a:xfrm>
            <a:off x="502920" y="4994608"/>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5122624"/>
            <a:ext cx="37301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НОВОЕ ПОНЯТИЕ</a:t>
            </a:r>
          </a:p>
        </p:txBody>
      </p:sp>
      <p:sp>
        <p:nvSpPr>
          <p:cNvPr id="8" name="TextBox 7"/>
          <p:cNvSpPr txBox="1"/>
          <p:nvPr/>
        </p:nvSpPr>
        <p:spPr>
          <a:xfrm>
            <a:off x="4507372" y="5122624"/>
            <a:ext cx="69043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ОНО ДОБАВЛЯЕТ К ПЕРЕВОДУ СЛОВА</a:t>
            </a:r>
          </a:p>
        </p:txBody>
      </p:sp>
      <p:sp>
        <p:nvSpPr>
          <p:cNvPr id="9" name="TextBox 8"/>
          <p:cNvSpPr txBox="1"/>
          <p:nvPr/>
        </p:nvSpPr>
        <p:spPr>
          <a:xfrm>
            <a:off x="630936" y="5404691"/>
            <a:ext cx="3730132"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шаблон запроса</a:t>
            </a:r>
          </a:p>
        </p:txBody>
      </p:sp>
      <p:sp>
        <p:nvSpPr>
          <p:cNvPr id="10" name="TextBox 9"/>
          <p:cNvSpPr txBox="1"/>
          <p:nvPr/>
        </p:nvSpPr>
        <p:spPr>
          <a:xfrm>
            <a:off x="4507372" y="5404691"/>
            <a:ext cx="6904339"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ничего: запрос собирался строкой</a:t>
            </a:r>
          </a:p>
        </p:txBody>
      </p:sp>
      <p:cxnSp>
        <p:nvCxnSpPr>
          <p:cNvPr id="11" name="Connector 10"/>
          <p:cNvCxnSpPr/>
          <p:nvPr/>
        </p:nvCxnSpPr>
        <p:spPr>
          <a:xfrm>
            <a:off x="630936" y="566377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5663771"/>
            <a:ext cx="3730132"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разборщик ответа</a:t>
            </a:r>
          </a:p>
        </p:txBody>
      </p:sp>
      <p:sp>
        <p:nvSpPr>
          <p:cNvPr id="13" name="TextBox 12"/>
          <p:cNvSpPr txBox="1"/>
          <p:nvPr/>
        </p:nvSpPr>
        <p:spPr>
          <a:xfrm>
            <a:off x="4507372" y="5663771"/>
            <a:ext cx="6904339"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ничего: ответ и так текст</a:t>
            </a:r>
          </a:p>
        </p:txBody>
      </p:sp>
      <p:cxnSp>
        <p:nvCxnSpPr>
          <p:cNvPr id="14" name="Connector 13"/>
          <p:cNvCxnSpPr/>
          <p:nvPr/>
        </p:nvCxnSpPr>
        <p:spPr>
          <a:xfrm>
            <a:off x="630936" y="592285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5922851"/>
            <a:ext cx="3730132"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связка со своим синтаксисом</a:t>
            </a:r>
          </a:p>
        </p:txBody>
      </p:sp>
      <p:sp>
        <p:nvSpPr>
          <p:cNvPr id="16" name="TextBox 15"/>
          <p:cNvSpPr txBox="1"/>
          <p:nvPr/>
        </p:nvSpPr>
        <p:spPr>
          <a:xfrm>
            <a:off x="4507372" y="5922851"/>
            <a:ext cx="6904339"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ничего: переопределяет оператор языка ради записи в одну строку</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Год в продакшене, и фреймворк выбросили</a:t>
            </a:r>
          </a:p>
        </p:txBody>
      </p:sp>
      <p:sp>
        <p:nvSpPr>
          <p:cNvPr id="3" name="Rounded Rectangle 2"/>
          <p:cNvSpPr/>
          <p:nvPr/>
        </p:nvSpPr>
        <p:spPr>
          <a:xfrm>
            <a:off x="502920" y="19037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3179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мешало:</a:t>
            </a:r>
            <a:r>
              <a:rPr sz="1500" b="1" i="0">
                <a:solidFill>
                  <a:srgbClr val="141B2E"/>
                </a:solidFill>
                <a:latin typeface="Arial"/>
              </a:rPr>
              <a:t> чтобы поменять деталь внутри шага, приходится пробиваться через слои абстракции · посмотреть на состояние агента снаружи фреймворк возможности не даёт</a:t>
            </a:r>
          </a:p>
        </p:txBody>
      </p:sp>
      <p:sp>
        <p:nvSpPr>
          <p:cNvPr id="5" name="Rounded Rectangle 4"/>
          <p:cNvSpPr/>
          <p:nvPr/>
        </p:nvSpPr>
        <p:spPr>
          <a:xfrm>
            <a:off x="502920" y="331805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46068"/>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стало после снятия:</a:t>
            </a:r>
            <a:r>
              <a:rPr sz="1500" b="1" i="0">
                <a:solidFill>
                  <a:srgbClr val="141B2E"/>
                </a:solidFill>
                <a:latin typeface="Arial"/>
              </a:rPr>
              <a:t> вернулись к прямым вызовам — сложность ушла вместе с фреймворком</a:t>
            </a:r>
          </a:p>
        </p:txBody>
      </p:sp>
      <p:sp>
        <p:nvSpPr>
          <p:cNvPr id="7" name="Rectangle 6"/>
          <p:cNvSpPr/>
          <p:nvPr/>
        </p:nvSpPr>
        <p:spPr>
          <a:xfrm>
            <a:off x="502920" y="453268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4587544"/>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«We could just code» — мы могли просто написать код</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фреймворк окупается</a:t>
            </a:r>
          </a:p>
        </p:txBody>
      </p:sp>
      <p:sp>
        <p:nvSpPr>
          <p:cNvPr id="3" name="Rounded Rectangle 2"/>
          <p:cNvSpPr/>
          <p:nvPr/>
        </p:nvSpPr>
        <p:spPr>
          <a:xfrm>
            <a:off x="502920" y="13260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40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Anthropic в своём руководстве по сборке агентов пишет то же самое: начинать стоит с прямых вызовов, фреймворк брать тогда, когда он доказанно снимает реальную сложность.</a:t>
            </a:r>
          </a:p>
        </p:txBody>
      </p:sp>
      <p:sp>
        <p:nvSpPr>
          <p:cNvPr id="5" name="Rounded Rectangle 4"/>
          <p:cNvSpPr/>
          <p:nvPr/>
        </p:nvSpPr>
        <p:spPr>
          <a:xfrm>
            <a:off x="502920" y="2740304"/>
            <a:ext cx="5454396" cy="1522857"/>
          </a:xfrm>
          <a:prstGeom prst="roundRect">
            <a:avLst>
              <a:gd name="adj" fmla="val 2001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5003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ОКУПАЕТСЯ</a:t>
            </a:r>
          </a:p>
        </p:txBody>
      </p:sp>
      <p:sp>
        <p:nvSpPr>
          <p:cNvPr id="7" name="TextBox 6"/>
          <p:cNvSpPr txBox="1"/>
          <p:nvPr/>
        </p:nvSpPr>
        <p:spPr>
          <a:xfrm>
            <a:off x="685800" y="312435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много однотипных пайплайнов</a:t>
            </a:r>
          </a:p>
        </p:txBody>
      </p:sp>
      <p:cxnSp>
        <p:nvCxnSpPr>
          <p:cNvPr id="8" name="Connector 7"/>
          <p:cNvCxnSpPr/>
          <p:nvPr/>
        </p:nvCxnSpPr>
        <p:spPr>
          <a:xfrm>
            <a:off x="685800" y="34429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442995"/>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команда, где важно единообразие</a:t>
            </a:r>
          </a:p>
        </p:txBody>
      </p:sp>
      <p:cxnSp>
        <p:nvCxnSpPr>
          <p:cNvPr id="10" name="Connector 9"/>
          <p:cNvCxnSpPr/>
          <p:nvPr/>
        </p:nvCxnSpPr>
        <p:spPr>
          <a:xfrm>
            <a:off x="685800" y="376163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6163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стандартные сценарии без исключений</a:t>
            </a:r>
          </a:p>
        </p:txBody>
      </p:sp>
      <p:sp>
        <p:nvSpPr>
          <p:cNvPr id="12" name="Rounded Rectangle 11"/>
          <p:cNvSpPr/>
          <p:nvPr/>
        </p:nvSpPr>
        <p:spPr>
          <a:xfrm>
            <a:off x="6231636" y="2740304"/>
            <a:ext cx="5454396" cy="1522857"/>
          </a:xfrm>
          <a:prstGeom prst="roundRect">
            <a:avLst>
              <a:gd name="adj" fmla="val 2001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85003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ОКУПАЕТСЯ</a:t>
            </a:r>
          </a:p>
        </p:txBody>
      </p:sp>
      <p:sp>
        <p:nvSpPr>
          <p:cNvPr id="14" name="TextBox 13"/>
          <p:cNvSpPr txBox="1"/>
          <p:nvPr/>
        </p:nvSpPr>
        <p:spPr>
          <a:xfrm>
            <a:off x="6414516" y="312435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один-два пайплайна</a:t>
            </a:r>
          </a:p>
        </p:txBody>
      </p:sp>
      <p:cxnSp>
        <p:nvCxnSpPr>
          <p:cNvPr id="15" name="Connector 14"/>
          <p:cNvCxnSpPr/>
          <p:nvPr/>
        </p:nvCxnSpPr>
        <p:spPr>
          <a:xfrm>
            <a:off x="6414516" y="34429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442995"/>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один разработчик или малая группа</a:t>
            </a:r>
          </a:p>
        </p:txBody>
      </p:sp>
      <p:cxnSp>
        <p:nvCxnSpPr>
          <p:cNvPr id="17" name="Connector 16"/>
          <p:cNvCxnSpPr/>
          <p:nvPr/>
        </p:nvCxnSpPr>
        <p:spPr>
          <a:xfrm>
            <a:off x="6414516" y="376163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76163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нестандартные требования, нужна отладка внутри шага</a:t>
            </a:r>
          </a:p>
        </p:txBody>
      </p:sp>
      <p:sp>
        <p:nvSpPr>
          <p:cNvPr id="19" name="Rounded Rectangle 18"/>
          <p:cNvSpPr/>
          <p:nvPr/>
        </p:nvSpPr>
        <p:spPr>
          <a:xfrm>
            <a:off x="502920" y="493067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05868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Цепочка идёт по одному порядку шагов для всего, что в неё приходит. Что делать, когда в одну точку приходят входы, которым нужны разные порядки?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прошу категорию, а получаю абзац»</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Ступень 2 начинается здесь.</a:t>
            </a:r>
          </a:p>
        </p:txBody>
      </p:sp>
      <p:sp>
        <p:nvSpPr>
          <p:cNvPr id="5" name="Rounded Rectangle 4"/>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категории, четыре ветки</a:t>
            </a:r>
          </a:p>
        </p:txBody>
      </p:sp>
      <p:pic>
        <p:nvPicPr>
          <p:cNvPr id="3" name="Picture 2" descr="marshrut-c4-razvilka-tseny.png"/>
          <p:cNvPicPr>
            <a:picLocks noChangeAspect="1"/>
          </p:cNvPicPr>
          <p:nvPr/>
        </p:nvPicPr>
        <p:blipFill>
          <a:blip r:embed="rId2"/>
          <a:stretch>
            <a:fillRect/>
          </a:stretch>
        </p:blipFill>
        <p:spPr>
          <a:xfrm>
            <a:off x="1416010" y="943356"/>
            <a:ext cx="9356930" cy="2924040"/>
          </a:xfrm>
          <a:prstGeom prst="rect">
            <a:avLst/>
          </a:prstGeom>
        </p:spPr>
      </p:pic>
      <p:sp>
        <p:nvSpPr>
          <p:cNvPr id="4" name="Rounded Rectangle 3"/>
          <p:cNvSpPr/>
          <p:nvPr/>
        </p:nvSpPr>
        <p:spPr>
          <a:xfrm>
            <a:off x="502920" y="40319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1600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письмо</a:t>
            </a:r>
            <a:r>
              <a:rPr sz="1150" b="1" i="0">
                <a:solidFill>
                  <a:srgbClr val="141B2E"/>
                </a:solidFill>
                <a:latin typeface="Arial"/>
              </a:rPr>
              <a:t> → </a:t>
            </a:r>
            <a:r>
              <a:rPr sz="1150" b="1" i="0">
                <a:solidFill>
                  <a:srgbClr val="141B2E"/>
                </a:solidFill>
                <a:latin typeface="Arial"/>
              </a:rPr>
              <a:t>определить категорию</a:t>
            </a:r>
            <a:r>
              <a:rPr sz="1150" b="1" i="0">
                <a:solidFill>
                  <a:srgbClr val="141B2E"/>
                </a:solidFill>
                <a:latin typeface="Arial"/>
              </a:rPr>
              <a:t> → четыре ветки:</a:t>
            </a:r>
          </a:p>
        </p:txBody>
      </p:sp>
      <p:sp>
        <p:nvSpPr>
          <p:cNvPr id="6" name="Rounded Rectangle 5"/>
          <p:cNvSpPr/>
          <p:nvPr/>
        </p:nvSpPr>
        <p:spPr>
          <a:xfrm>
            <a:off x="502920" y="4652002"/>
            <a:ext cx="11183112" cy="1675257"/>
          </a:xfrm>
          <a:prstGeom prst="roundRect">
            <a:avLst>
              <a:gd name="adj" fmla="val 1819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807450"/>
            <a:ext cx="21565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ВЕТКА</a:t>
            </a:r>
          </a:p>
        </p:txBody>
      </p:sp>
      <p:sp>
        <p:nvSpPr>
          <p:cNvPr id="8" name="TextBox 7"/>
          <p:cNvSpPr txBox="1"/>
          <p:nvPr/>
        </p:nvSpPr>
        <p:spPr>
          <a:xfrm>
            <a:off x="2961243" y="4807450"/>
            <a:ext cx="444187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ДАЛЬШЕ</a:t>
            </a:r>
          </a:p>
        </p:txBody>
      </p:sp>
      <p:sp>
        <p:nvSpPr>
          <p:cNvPr id="9" name="TextBox 8"/>
          <p:cNvSpPr txBox="1"/>
          <p:nvPr/>
        </p:nvSpPr>
        <p:spPr>
          <a:xfrm>
            <a:off x="7549423" y="4807450"/>
            <a:ext cx="383485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ЧЕМ ОБХОДИТСЯ НЕВЕРНАЯ МЕТКА</a:t>
            </a:r>
          </a:p>
        </p:txBody>
      </p:sp>
      <p:sp>
        <p:nvSpPr>
          <p:cNvPr id="10" name="TextBox 9"/>
          <p:cNvSpPr txBox="1"/>
          <p:nvPr/>
        </p:nvSpPr>
        <p:spPr>
          <a:xfrm>
            <a:off x="658368" y="5074531"/>
            <a:ext cx="215657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счета</a:t>
            </a:r>
          </a:p>
        </p:txBody>
      </p:sp>
      <p:sp>
        <p:nvSpPr>
          <p:cNvPr id="11" name="TextBox 10"/>
          <p:cNvSpPr txBox="1"/>
          <p:nvPr/>
        </p:nvSpPr>
        <p:spPr>
          <a:xfrm>
            <a:off x="2961243" y="5074531"/>
            <a:ext cx="4441876"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ответ по базе биллинга, копия в бухгалтерию</a:t>
            </a:r>
          </a:p>
        </p:txBody>
      </p:sp>
      <p:sp>
        <p:nvSpPr>
          <p:cNvPr id="12" name="TextBox 11"/>
          <p:cNvSpPr txBox="1"/>
          <p:nvPr/>
        </p:nvSpPr>
        <p:spPr>
          <a:xfrm>
            <a:off x="7549423" y="5074531"/>
            <a:ext cx="3834856"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клиент получает ответ по чужой теме</a:t>
            </a:r>
          </a:p>
        </p:txBody>
      </p:sp>
      <p:cxnSp>
        <p:nvCxnSpPr>
          <p:cNvPr id="13" name="Connector 12"/>
          <p:cNvCxnSpPr/>
          <p:nvPr/>
        </p:nvCxnSpPr>
        <p:spPr>
          <a:xfrm>
            <a:off x="658368" y="534885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5348851"/>
            <a:ext cx="215657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техподдержка</a:t>
            </a:r>
          </a:p>
        </p:txBody>
      </p:sp>
      <p:sp>
        <p:nvSpPr>
          <p:cNvPr id="15" name="TextBox 14"/>
          <p:cNvSpPr txBox="1"/>
          <p:nvPr/>
        </p:nvSpPr>
        <p:spPr>
          <a:xfrm>
            <a:off x="2961243" y="5348851"/>
            <a:ext cx="4441876"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ответ по технической базе, задача дежурному</a:t>
            </a:r>
          </a:p>
        </p:txBody>
      </p:sp>
      <p:sp>
        <p:nvSpPr>
          <p:cNvPr id="16" name="TextBox 15"/>
          <p:cNvSpPr txBox="1"/>
          <p:nvPr/>
        </p:nvSpPr>
        <p:spPr>
          <a:xfrm>
            <a:off x="7549423" y="5348851"/>
            <a:ext cx="3834856"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то же самое</a:t>
            </a:r>
          </a:p>
        </p:txBody>
      </p:sp>
      <p:cxnSp>
        <p:nvCxnSpPr>
          <p:cNvPr id="17" name="Connector 16"/>
          <p:cNvCxnSpPr/>
          <p:nvPr/>
        </p:nvCxnSpPr>
        <p:spPr>
          <a:xfrm>
            <a:off x="658368" y="562317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623171"/>
            <a:ext cx="215657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жалоба</a:t>
            </a:r>
          </a:p>
        </p:txBody>
      </p:sp>
      <p:sp>
        <p:nvSpPr>
          <p:cNvPr id="19" name="TextBox 18"/>
          <p:cNvSpPr txBox="1"/>
          <p:nvPr/>
        </p:nvSpPr>
        <p:spPr>
          <a:xfrm>
            <a:off x="2961243" y="5623171"/>
            <a:ext cx="4441876"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без автоответа, сразу руководителю смены</a:t>
            </a:r>
          </a:p>
        </p:txBody>
      </p:sp>
      <p:sp>
        <p:nvSpPr>
          <p:cNvPr id="20" name="TextBox 19"/>
          <p:cNvSpPr txBox="1"/>
          <p:nvPr/>
        </p:nvSpPr>
        <p:spPr>
          <a:xfrm>
            <a:off x="7549423" y="5623171"/>
            <a:ext cx="3834856"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жалоба отвечается шаблоном</a:t>
            </a:r>
          </a:p>
        </p:txBody>
      </p:sp>
      <p:cxnSp>
        <p:nvCxnSpPr>
          <p:cNvPr id="21" name="Connector 20"/>
          <p:cNvCxnSpPr/>
          <p:nvPr/>
        </p:nvCxnSpPr>
        <p:spPr>
          <a:xfrm>
            <a:off x="658368" y="589749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5897491"/>
            <a:ext cx="215657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спам</a:t>
            </a:r>
          </a:p>
        </p:txBody>
      </p:sp>
      <p:sp>
        <p:nvSpPr>
          <p:cNvPr id="23" name="TextBox 22"/>
          <p:cNvSpPr txBox="1"/>
          <p:nvPr/>
        </p:nvSpPr>
        <p:spPr>
          <a:xfrm>
            <a:off x="2961243" y="5897491"/>
            <a:ext cx="4441876"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в корзину, ответа нет</a:t>
            </a:r>
          </a:p>
        </p:txBody>
      </p:sp>
      <p:sp>
        <p:nvSpPr>
          <p:cNvPr id="24" name="TextBox 23"/>
          <p:cNvSpPr txBox="1"/>
          <p:nvPr/>
        </p:nvSpPr>
        <p:spPr>
          <a:xfrm>
            <a:off x="7549423" y="5897491"/>
            <a:ext cx="3834856"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письмо исчезает молча</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Дежурный открыл панель расходов</a:t>
            </a:r>
          </a:p>
        </p:txBody>
      </p:sp>
      <p:sp>
        <p:nvSpPr>
          <p:cNvPr id="3" name="Rounded Rectangle 2"/>
          <p:cNvSpPr/>
          <p:nvPr/>
        </p:nvSpPr>
        <p:spPr>
          <a:xfrm>
            <a:off x="502920" y="1134880"/>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17760"/>
            <a:ext cx="49554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ПИСЕМ ЗА ЧАС В ДЕНЬ РЕЛИЗА</a:t>
            </a:r>
          </a:p>
        </p:txBody>
      </p:sp>
      <p:sp>
        <p:nvSpPr>
          <p:cNvPr id="5" name="TextBox 4"/>
          <p:cNvSpPr txBox="1"/>
          <p:nvPr/>
        </p:nvSpPr>
        <p:spPr>
          <a:xfrm>
            <a:off x="5787592" y="1317760"/>
            <a:ext cx="55692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200 (ОБЫЧНЫЙ ДЕНЬ — 20)</a:t>
            </a:r>
          </a:p>
        </p:txBody>
      </p:sp>
      <p:sp>
        <p:nvSpPr>
          <p:cNvPr id="6" name="TextBox 5"/>
          <p:cNvSpPr txBox="1"/>
          <p:nvPr/>
        </p:nvSpPr>
        <p:spPr>
          <a:xfrm>
            <a:off x="685800" y="1599827"/>
            <a:ext cx="49554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«написать ответ»</a:t>
            </a:r>
          </a:p>
        </p:txBody>
      </p:sp>
      <p:sp>
        <p:nvSpPr>
          <p:cNvPr id="7" name="TextBox 6"/>
          <p:cNvSpPr txBox="1"/>
          <p:nvPr/>
        </p:nvSpPr>
        <p:spPr>
          <a:xfrm>
            <a:off x="5787592" y="1599827"/>
            <a:ext cx="55692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целый абзац текста клиенту</a:t>
            </a:r>
          </a:p>
        </p:txBody>
      </p:sp>
      <p:cxnSp>
        <p:nvCxnSpPr>
          <p:cNvPr id="8" name="Connector 7"/>
          <p:cNvCxnSpPr/>
          <p:nvPr/>
        </p:nvCxnSpPr>
        <p:spPr>
          <a:xfrm>
            <a:off x="685800" y="19469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946981"/>
            <a:ext cx="49554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«определить категорию»</a:t>
            </a:r>
          </a:p>
        </p:txBody>
      </p:sp>
      <p:sp>
        <p:nvSpPr>
          <p:cNvPr id="10" name="TextBox 9"/>
          <p:cNvSpPr txBox="1"/>
          <p:nvPr/>
        </p:nvSpPr>
        <p:spPr>
          <a:xfrm>
            <a:off x="5787592" y="1946981"/>
            <a:ext cx="55692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слово из четырёх</a:t>
            </a:r>
          </a:p>
        </p:txBody>
      </p:sp>
      <p:cxnSp>
        <p:nvCxnSpPr>
          <p:cNvPr id="11" name="Connector 10"/>
          <p:cNvCxnSpPr/>
          <p:nvPr/>
        </p:nvCxnSpPr>
        <p:spPr>
          <a:xfrm>
            <a:off x="685800" y="2294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4136"/>
            <a:ext cx="49554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 день</a:t>
            </a:r>
          </a:p>
        </p:txBody>
      </p:sp>
      <p:sp>
        <p:nvSpPr>
          <p:cNvPr id="13" name="TextBox 12"/>
          <p:cNvSpPr txBox="1"/>
          <p:nvPr/>
        </p:nvSpPr>
        <p:spPr>
          <a:xfrm>
            <a:off x="5787592" y="2294136"/>
            <a:ext cx="55692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шага обошлись почти одинаково</a:t>
            </a:r>
          </a:p>
        </p:txBody>
      </p:sp>
      <p:sp>
        <p:nvSpPr>
          <p:cNvPr id="14" name="Rounded Rectangle 13"/>
          <p:cNvSpPr/>
          <p:nvPr/>
        </p:nvSpPr>
        <p:spPr>
          <a:xfrm>
            <a:off x="502920" y="346757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59559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делать с шагом определения категории?</a:t>
            </a:r>
          </a:p>
        </p:txBody>
      </p:sp>
      <p:sp>
        <p:nvSpPr>
          <p:cNvPr id="16" name="Rounded Rectangle 15"/>
          <p:cNvSpPr/>
          <p:nvPr/>
        </p:nvSpPr>
        <p:spPr>
          <a:xfrm>
            <a:off x="502920" y="4933937"/>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4933937"/>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a:t>
            </a:r>
          </a:p>
        </p:txBody>
      </p:sp>
      <p:sp>
        <p:nvSpPr>
          <p:cNvPr id="18" name="Rounded Rectangle 17"/>
          <p:cNvSpPr/>
          <p:nvPr/>
        </p:nvSpPr>
        <p:spPr>
          <a:xfrm>
            <a:off x="3335274" y="4933937"/>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002" y="4933937"/>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правила по словам</a:t>
            </a:r>
          </a:p>
        </p:txBody>
      </p:sp>
      <p:sp>
        <p:nvSpPr>
          <p:cNvPr id="20" name="Rounded Rectangle 19"/>
          <p:cNvSpPr/>
          <p:nvPr/>
        </p:nvSpPr>
        <p:spPr>
          <a:xfrm>
            <a:off x="6167628" y="4933937"/>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7356" y="4933937"/>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своя маленькая модель, обученная на эти четыре категории</a:t>
            </a:r>
          </a:p>
        </p:txBody>
      </p:sp>
      <p:sp>
        <p:nvSpPr>
          <p:cNvPr id="22" name="Rounded Rectangle 21"/>
          <p:cNvSpPr/>
          <p:nvPr/>
        </p:nvSpPr>
        <p:spPr>
          <a:xfrm>
            <a:off x="8999982" y="4933937"/>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9710" y="4933937"/>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вызов, который возвращает сразу значение, без текста вокруг</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варианта спорят об одном и том же</a:t>
            </a:r>
          </a:p>
        </p:txBody>
      </p:sp>
      <p:sp>
        <p:nvSpPr>
          <p:cNvPr id="3" name="Rounded Rectangle 2"/>
          <p:cNvSpPr/>
          <p:nvPr/>
        </p:nvSpPr>
        <p:spPr>
          <a:xfrm>
            <a:off x="502920" y="185592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98394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оставить</a:t>
            </a:r>
            <a:r>
              <a:rPr sz="1500" b="1" i="0">
                <a:solidFill>
                  <a:srgbClr val="141B2E"/>
                </a:solidFill>
                <a:latin typeface="Arial"/>
              </a:rPr>
              <a:t> </a:t>
            </a:r>
            <a:r>
              <a:rPr sz="1500" b="1" i="0">
                <a:solidFill>
                  <a:srgbClr val="141B2E"/>
                </a:solidFill>
                <a:latin typeface="Consolas"/>
              </a:rPr>
              <a:t>как</a:t>
            </a:r>
            <a:r>
              <a:rPr sz="1500" b="1" i="0">
                <a:solidFill>
                  <a:srgbClr val="141B2E"/>
                </a:solidFill>
                <a:latin typeface="Arial"/>
              </a:rPr>
              <a:t> </a:t>
            </a:r>
            <a:r>
              <a:rPr sz="1500" b="1" i="0">
                <a:solidFill>
                  <a:srgbClr val="141B2E"/>
                </a:solidFill>
                <a:latin typeface="Consolas"/>
              </a:rPr>
              <a:t>есть</a:t>
            </a:r>
            <a:r>
              <a:rPr sz="1500" b="1" i="0">
                <a:solidFill>
                  <a:srgbClr val="141B2E"/>
                </a:solidFill>
                <a:latin typeface="Arial"/>
              </a:rPr>
              <a:t> · </a:t>
            </a:r>
            <a:r>
              <a:rPr sz="1500" b="1" i="0">
                <a:solidFill>
                  <a:srgbClr val="141B2E"/>
                </a:solidFill>
                <a:latin typeface="Consolas"/>
              </a:rPr>
              <a:t>правила</a:t>
            </a:r>
            <a:r>
              <a:rPr sz="1500" b="1" i="0">
                <a:solidFill>
                  <a:srgbClr val="141B2E"/>
                </a:solidFill>
                <a:latin typeface="Arial"/>
              </a:rPr>
              <a:t> </a:t>
            </a:r>
            <a:r>
              <a:rPr sz="1500" b="1" i="0">
                <a:solidFill>
                  <a:srgbClr val="141B2E"/>
                </a:solidFill>
                <a:latin typeface="Consolas"/>
              </a:rPr>
              <a:t>по</a:t>
            </a:r>
            <a:r>
              <a:rPr sz="1500" b="1" i="0">
                <a:solidFill>
                  <a:srgbClr val="141B2E"/>
                </a:solidFill>
                <a:latin typeface="Arial"/>
              </a:rPr>
              <a:t> </a:t>
            </a:r>
            <a:r>
              <a:rPr sz="1500" b="1" i="0">
                <a:solidFill>
                  <a:srgbClr val="141B2E"/>
                </a:solidFill>
                <a:latin typeface="Consolas"/>
              </a:rPr>
              <a:t>словам</a:t>
            </a:r>
            <a:r>
              <a:rPr sz="1500" b="1" i="0">
                <a:solidFill>
                  <a:srgbClr val="141B2E"/>
                </a:solidFill>
                <a:latin typeface="Arial"/>
              </a:rPr>
              <a:t> · </a:t>
            </a:r>
            <a:r>
              <a:rPr sz="1500" b="1" i="0">
                <a:solidFill>
                  <a:srgbClr val="141B2E"/>
                </a:solidFill>
                <a:latin typeface="Consolas"/>
              </a:rPr>
              <a:t>своя</a:t>
            </a:r>
            <a:r>
              <a:rPr sz="1500" b="1" i="0">
                <a:solidFill>
                  <a:srgbClr val="141B2E"/>
                </a:solidFill>
                <a:latin typeface="Arial"/>
              </a:rPr>
              <a:t> </a:t>
            </a:r>
            <a:r>
              <a:rPr sz="1500" b="1" i="0">
                <a:solidFill>
                  <a:srgbClr val="141B2E"/>
                </a:solidFill>
                <a:latin typeface="Consolas"/>
              </a:rPr>
              <a:t>маленькая</a:t>
            </a:r>
            <a:r>
              <a:rPr sz="1500" b="1" i="0">
                <a:solidFill>
                  <a:srgbClr val="141B2E"/>
                </a:solidFill>
                <a:latin typeface="Arial"/>
              </a:rPr>
              <a:t> </a:t>
            </a:r>
            <a:r>
              <a:rPr sz="1500" b="1" i="0">
                <a:solidFill>
                  <a:srgbClr val="141B2E"/>
                </a:solidFill>
                <a:latin typeface="Consolas"/>
              </a:rPr>
              <a:t>модель</a:t>
            </a:r>
          </a:p>
        </p:txBody>
      </p:sp>
      <p:sp>
        <p:nvSpPr>
          <p:cNvPr id="5" name="Rounded Rectangle 4"/>
          <p:cNvSpPr/>
          <p:nvPr/>
        </p:nvSpPr>
        <p:spPr>
          <a:xfrm>
            <a:off x="502920" y="303397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6199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Все три отвечают на один вопрос: </a:t>
            </a:r>
            <a:r>
              <a:rPr sz="1500" b="1" i="0">
                <a:solidFill>
                  <a:srgbClr val="141B2E"/>
                </a:solidFill>
                <a:latin typeface="Arial"/>
              </a:rPr>
              <a:t>как точнее угадать категорию.</a:t>
            </a:r>
          </a:p>
        </p:txBody>
      </p:sp>
      <p:sp>
        <p:nvSpPr>
          <p:cNvPr id="7" name="Rounded Rectangle 6"/>
          <p:cNvSpPr/>
          <p:nvPr/>
        </p:nvSpPr>
        <p:spPr>
          <a:xfrm>
            <a:off x="502920" y="421203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4004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Вопрос стоит иначе: зачем просить модель сочинять текст, если на выходе нужно одно значение из четырёх.</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Четвёртый способ отвечает значением</a:t>
            </a:r>
          </a:p>
        </p:txBody>
      </p:sp>
      <p:sp>
        <p:nvSpPr>
          <p:cNvPr id="3" name="Rounded Rectangle 2"/>
          <p:cNvSpPr/>
          <p:nvPr/>
        </p:nvSpPr>
        <p:spPr>
          <a:xfrm>
            <a:off x="502920" y="1088370"/>
            <a:ext cx="11183112" cy="1360106"/>
          </a:xfrm>
          <a:prstGeom prst="roundRect">
            <a:avLst>
              <a:gd name="adj" fmla="val 224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1250"/>
            <a:ext cx="67701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a:t>
            </a:r>
          </a:p>
        </p:txBody>
      </p:sp>
      <p:sp>
        <p:nvSpPr>
          <p:cNvPr id="5" name="TextBox 4"/>
          <p:cNvSpPr txBox="1"/>
          <p:nvPr/>
        </p:nvSpPr>
        <p:spPr>
          <a:xfrm>
            <a:off x="7602221" y="1271250"/>
            <a:ext cx="37546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ПЛАТИТ</a:t>
            </a:r>
          </a:p>
        </p:txBody>
      </p:sp>
      <p:sp>
        <p:nvSpPr>
          <p:cNvPr id="6" name="TextBox 5"/>
          <p:cNvSpPr txBox="1"/>
          <p:nvPr/>
        </p:nvSpPr>
        <p:spPr>
          <a:xfrm>
            <a:off x="685800" y="1553317"/>
            <a:ext cx="67701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выходе сразу значение заданного вида · разбирать нечего, значит нечему ломаться молча · за объяснение, которого никто не прочтёт, платить не приходится</a:t>
            </a:r>
          </a:p>
        </p:txBody>
      </p:sp>
      <p:sp>
        <p:nvSpPr>
          <p:cNvPr id="7" name="TextBox 6"/>
          <p:cNvSpPr txBox="1"/>
          <p:nvPr/>
        </p:nvSpPr>
        <p:spPr>
          <a:xfrm>
            <a:off x="7602221" y="1553317"/>
            <a:ext cx="375462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выходе число без объяснения: спросить «почему именно эта категория» не у кого</a:t>
            </a:r>
          </a:p>
        </p:txBody>
      </p:sp>
      <p:sp>
        <p:nvSpPr>
          <p:cNvPr id="8" name="Rounded Rectangle 7"/>
          <p:cNvSpPr/>
          <p:nvPr/>
        </p:nvSpPr>
        <p:spPr>
          <a:xfrm>
            <a:off x="502920" y="297560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10362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Вместе с меткой возвращается уверенность и распределение по всем четырём категориям.</a:t>
            </a:r>
          </a:p>
        </p:txBody>
      </p:sp>
      <p:sp>
        <p:nvSpPr>
          <p:cNvPr id="10" name="Rounded Rectangle 9"/>
          <p:cNvSpPr/>
          <p:nvPr/>
        </p:nvSpPr>
        <p:spPr>
          <a:xfrm>
            <a:off x="502920" y="401327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14129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Саймон Уилисон проверил такую модель на оценке районов залива Сан-Франциско: Купертино высоко, Ист-Пало-Альто низко, по одному и тому же вопросу, без возможности спросить почему.</a:t>
            </a:r>
          </a:p>
        </p:txBody>
      </p:sp>
      <p:sp>
        <p:nvSpPr>
          <p:cNvPr id="12" name="Rounded Rectangle 11"/>
          <p:cNvSpPr/>
          <p:nvPr/>
        </p:nvSpPr>
        <p:spPr>
          <a:xfrm>
            <a:off x="502920" y="52871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4151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Сколько шагов в вашем процессе гоняют полный текстовый вызов ради одного слова на выходе?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Письмо, которому не подходит ни одна ветка</a:t>
            </a:r>
          </a:p>
        </p:txBody>
      </p:sp>
      <p:pic>
        <p:nvPicPr>
          <p:cNvPr id="3" name="Picture 2" descr="marshrut-c4-razvilka-chuzhoe-pismo.png"/>
          <p:cNvPicPr>
            <a:picLocks noChangeAspect="1"/>
          </p:cNvPicPr>
          <p:nvPr/>
        </p:nvPicPr>
        <p:blipFill>
          <a:blip r:embed="rId2"/>
          <a:stretch>
            <a:fillRect/>
          </a:stretch>
        </p:blipFill>
        <p:spPr>
          <a:xfrm>
            <a:off x="1063267" y="943356"/>
            <a:ext cx="10062417" cy="3018725"/>
          </a:xfrm>
          <a:prstGeom prst="rect">
            <a:avLst/>
          </a:prstGeom>
        </p:spPr>
      </p:pic>
      <p:sp>
        <p:nvSpPr>
          <p:cNvPr id="4" name="Rounded Rectangle 3"/>
          <p:cNvSpPr/>
          <p:nvPr/>
        </p:nvSpPr>
        <p:spPr>
          <a:xfrm>
            <a:off x="502920" y="4126673"/>
            <a:ext cx="11183112" cy="74048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4254689"/>
            <a:ext cx="10634472" cy="484456"/>
          </a:xfrm>
          <a:prstGeom prst="rect">
            <a:avLst/>
          </a:prstGeom>
          <a:noFill/>
        </p:spPr>
        <p:txBody>
          <a:bodyPr wrap="square" lIns="0" rIns="0" tIns="0" bIns="0" anchor="ctr">
            <a:spAutoFit/>
          </a:bodyPr>
          <a:lstStyle/>
          <a:p>
            <a:pPr algn="ctr">
              <a:lnSpc>
                <a:spcPts val="1707"/>
              </a:lnSpc>
              <a:spcAft>
                <a:spcPts val="300"/>
              </a:spcAft>
            </a:pPr>
            <a:r>
              <a:rPr sz="1400" b="1" i="0">
                <a:solidFill>
                  <a:srgbClr val="141B2E"/>
                </a:solidFill>
                <a:latin typeface="Arial"/>
              </a:rPr>
              <a:t>Письмо:</a:t>
            </a:r>
            <a:r>
              <a:rPr sz="1400" b="1" i="0">
                <a:solidFill>
                  <a:srgbClr val="141B2E"/>
                </a:solidFill>
                <a:latin typeface="Arial"/>
              </a:rPr>
              <a:t> «Добрый день! Представляю сеть пунктов выдачи в Поволжье, хотели бы обсудить размещение ваших заказов на наших точках. С кем можно поговорить?»</a:t>
            </a:r>
          </a:p>
        </p:txBody>
      </p:sp>
      <p:sp>
        <p:nvSpPr>
          <p:cNvPr id="6" name="Rounded Rectangle 5"/>
          <p:cNvSpPr/>
          <p:nvPr/>
        </p:nvSpPr>
        <p:spPr>
          <a:xfrm>
            <a:off x="502920" y="503175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15976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счета · техподдержка · жалоба · спам — </a:t>
            </a:r>
            <a:r>
              <a:rPr sz="1150" b="1" i="0">
                <a:solidFill>
                  <a:srgbClr val="141B2E"/>
                </a:solidFill>
                <a:latin typeface="Arial"/>
              </a:rPr>
              <a:t>подходящей нет</a:t>
            </a:r>
          </a:p>
        </p:txBody>
      </p:sp>
      <p:sp>
        <p:nvSpPr>
          <p:cNvPr id="8" name="Rounded Rectangle 7"/>
          <p:cNvSpPr/>
          <p:nvPr/>
        </p:nvSpPr>
        <p:spPr>
          <a:xfrm>
            <a:off x="502920" y="5651767"/>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7978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Письмо уезжает в ближайшую по сходству. Варианта «подходящей нет» в формате ответа не предусмотрено, и признака «я не уверена» вместе с ответом не приходит.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 чём кончается список категорий</a:t>
            </a:r>
          </a:p>
        </p:txBody>
      </p:sp>
      <p:sp>
        <p:nvSpPr>
          <p:cNvPr id="3" name="Rounded Rectangle 2"/>
          <p:cNvSpPr/>
          <p:nvPr/>
        </p:nvSpPr>
        <p:spPr>
          <a:xfrm>
            <a:off x="502920" y="1216914"/>
            <a:ext cx="11183112" cy="1871852"/>
          </a:xfrm>
          <a:prstGeom prst="roundRect">
            <a:avLst>
              <a:gd name="adj" fmla="val 16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99794"/>
            <a:ext cx="50557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КОНЧАЕТСЯ СПИСОК</a:t>
            </a:r>
          </a:p>
        </p:txBody>
      </p:sp>
      <p:sp>
        <p:nvSpPr>
          <p:cNvPr id="5" name="TextBox 4"/>
          <p:cNvSpPr txBox="1"/>
          <p:nvPr/>
        </p:nvSpPr>
        <p:spPr>
          <a:xfrm>
            <a:off x="5887823" y="1399794"/>
            <a:ext cx="54690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6" name="TextBox 5"/>
          <p:cNvSpPr txBox="1"/>
          <p:nvPr/>
        </p:nvSpPr>
        <p:spPr>
          <a:xfrm>
            <a:off x="685800" y="1681861"/>
            <a:ext cx="50557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кончается, категории не пересекаются</a:t>
            </a:r>
          </a:p>
        </p:txBody>
      </p:sp>
      <p:sp>
        <p:nvSpPr>
          <p:cNvPr id="7" name="TextBox 6"/>
          <p:cNvSpPr txBox="1"/>
          <p:nvPr/>
        </p:nvSpPr>
        <p:spPr>
          <a:xfrm>
            <a:off x="5887823" y="1681861"/>
            <a:ext cx="54690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маршрут держит</a:t>
            </a:r>
          </a:p>
        </p:txBody>
      </p:sp>
      <p:cxnSp>
        <p:nvCxnSpPr>
          <p:cNvPr id="8" name="Connector 7"/>
          <p:cNvCxnSpPr/>
          <p:nvPr/>
        </p:nvCxnSpPr>
        <p:spPr>
          <a:xfrm>
            <a:off x="685800" y="2029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29015"/>
            <a:ext cx="5055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кончается словом «прочее»</a:t>
            </a:r>
          </a:p>
        </p:txBody>
      </p:sp>
      <p:sp>
        <p:nvSpPr>
          <p:cNvPr id="10" name="TextBox 9"/>
          <p:cNvSpPr txBox="1"/>
          <p:nvPr/>
        </p:nvSpPr>
        <p:spPr>
          <a:xfrm>
            <a:off x="5887823" y="2029015"/>
            <a:ext cx="54690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назначьте «прочему» живого адресата, иначе туда уедет непредвиденное</a:t>
            </a:r>
          </a:p>
        </p:txBody>
      </p:sp>
      <p:cxnSp>
        <p:nvCxnSpPr>
          <p:cNvPr id="11" name="Connector 10"/>
          <p:cNvCxnSpPr/>
          <p:nvPr/>
        </p:nvCxnSpPr>
        <p:spPr>
          <a:xfrm>
            <a:off x="685800" y="25587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558732"/>
            <a:ext cx="50557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кончается, новые категории появляются каждый месяц</a:t>
            </a:r>
          </a:p>
        </p:txBody>
      </p:sp>
      <p:sp>
        <p:nvSpPr>
          <p:cNvPr id="13" name="TextBox 12"/>
          <p:cNvSpPr txBox="1"/>
          <p:nvPr/>
        </p:nvSpPr>
        <p:spPr>
          <a:xfrm>
            <a:off x="5887823" y="2558732"/>
            <a:ext cx="54690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закрытый список здесь не работает</a:t>
            </a:r>
          </a:p>
        </p:txBody>
      </p:sp>
      <p:sp>
        <p:nvSpPr>
          <p:cNvPr id="14" name="Rounded Rectangle 13"/>
          <p:cNvSpPr/>
          <p:nvPr/>
        </p:nvSpPr>
        <p:spPr>
          <a:xfrm>
            <a:off x="502920" y="37562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88429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Ветка по умолчанию определяет цену всех будущих ошибок маршрута. Если ею назначен спам, непредвиденное будет исчезать молча.</a:t>
            </a:r>
          </a:p>
        </p:txBody>
      </p:sp>
      <p:sp>
        <p:nvSpPr>
          <p:cNvPr id="16" name="Rounded Rectangle 15"/>
          <p:cNvSpPr/>
          <p:nvPr/>
        </p:nvSpPr>
        <p:spPr>
          <a:xfrm>
            <a:off x="502920" y="517055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985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этом ящике неверная метка стоила одного письма, и переслать его можно в тот же день. У той же операции есть применения, где пересылать уже нечего.</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«Балл риска один и тот же, тяжесть разная»</a:t>
            </a:r>
          </a:p>
        </p:txBody>
      </p:sp>
      <p:sp>
        <p:nvSpPr>
          <p:cNvPr id="4" name="Rounded Rectangle 3"/>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Врач называет имена</a:t>
            </a:r>
          </a:p>
        </p:txBody>
      </p:sp>
      <p:sp>
        <p:nvSpPr>
          <p:cNvPr id="3" name="Rectangle 2"/>
          <p:cNvSpPr/>
          <p:nvPr/>
        </p:nvSpPr>
        <p:spPr>
          <a:xfrm>
            <a:off x="502920" y="2309164"/>
            <a:ext cx="32004" cy="81000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64028"/>
            <a:ext cx="10730484" cy="700278"/>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«У Петрова диабет плохо компенсируется — берём.»</a:t>
            </a:r>
          </a:p>
          <a:p>
            <a:pPr algn="l">
              <a:lnSpc>
                <a:spcPts val="1638"/>
              </a:lnSpc>
              <a:spcAft>
                <a:spcPts val="300"/>
              </a:spcAft>
            </a:pPr>
            <a:r>
              <a:rPr sz="1300" b="0" i="1">
                <a:solidFill>
                  <a:srgbClr val="6B7685"/>
                </a:solidFill>
                <a:latin typeface="Arial"/>
              </a:rPr>
              <a:t>«Сидорова перестала приходить, хотя раньше ходила исправно. Тоже берём, надо выяснить почему.»</a:t>
            </a:r>
          </a:p>
          <a:p>
            <a:pPr algn="l">
              <a:lnSpc>
                <a:spcPts val="1638"/>
              </a:lnSpc>
              <a:spcAft>
                <a:spcPts val="300"/>
              </a:spcAft>
            </a:pPr>
            <a:r>
              <a:rPr sz="1300" b="0" i="1">
                <a:solidFill>
                  <a:srgbClr val="6B7685"/>
                </a:solidFill>
                <a:latin typeface="Arial"/>
              </a:rPr>
              <a:t>«У Ивановой нет машины, дорога два часа. Она не доедет — ей звонить.»</a:t>
            </a:r>
          </a:p>
        </p:txBody>
      </p:sp>
      <p:sp>
        <p:nvSpPr>
          <p:cNvPr id="5" name="Rounded Rectangle 4"/>
          <p:cNvSpPr/>
          <p:nvPr/>
        </p:nvSpPr>
        <p:spPr>
          <a:xfrm>
            <a:off x="502920" y="382325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127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Работает точно: врач учитывает то, чего нет ни в одной базе.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Двести миллионов человек, и врача на всех нет</a:t>
            </a:r>
          </a:p>
        </p:txBody>
      </p:sp>
      <p:sp>
        <p:nvSpPr>
          <p:cNvPr id="3" name="Rounded Rectangle 2"/>
          <p:cNvSpPr/>
          <p:nvPr/>
        </p:nvSpPr>
        <p:spPr>
          <a:xfrm>
            <a:off x="502920" y="112939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8426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6655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Решение нужно принимать для ≈200 млн человек в год. Поля «насколько этому человеку нужна помощь» в данных не существует: чтобы его заполнить, каждого надо обследовать.</a:t>
            </a:r>
          </a:p>
        </p:txBody>
      </p:sp>
      <p:sp>
        <p:nvSpPr>
          <p:cNvPr id="6" name="Rounded Rectangle 5"/>
          <p:cNvSpPr/>
          <p:nvPr/>
        </p:nvSpPr>
        <p:spPr>
          <a:xfrm>
            <a:off x="502920" y="2438038"/>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492902"/>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75198"/>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Значит, нужна доступная величина, которая измерима для всех и связана с нужной.</a:t>
            </a:r>
          </a:p>
        </p:txBody>
      </p:sp>
      <p:sp>
        <p:nvSpPr>
          <p:cNvPr id="9" name="Rounded Rectangle 8"/>
          <p:cNvSpPr/>
          <p:nvPr/>
        </p:nvSpPr>
        <p:spPr>
          <a:xfrm>
            <a:off x="502920" y="354436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67238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Какую возьмёте?</a:t>
            </a:r>
          </a:p>
        </p:txBody>
      </p:sp>
      <p:sp>
        <p:nvSpPr>
          <p:cNvPr id="11" name="Rounded Rectangle 10"/>
          <p:cNvSpPr/>
          <p:nvPr/>
        </p:nvSpPr>
        <p:spPr>
          <a:xfrm>
            <a:off x="502920" y="4997024"/>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997024"/>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прошлые расходы на лечение</a:t>
            </a:r>
          </a:p>
        </p:txBody>
      </p:sp>
      <p:sp>
        <p:nvSpPr>
          <p:cNvPr id="13" name="Rounded Rectangle 12"/>
          <p:cNvSpPr/>
          <p:nvPr/>
        </p:nvSpPr>
        <p:spPr>
          <a:xfrm>
            <a:off x="3335274" y="4997024"/>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45002" y="4997024"/>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диагнозов</a:t>
            </a:r>
          </a:p>
        </p:txBody>
      </p:sp>
      <p:sp>
        <p:nvSpPr>
          <p:cNvPr id="15" name="Rounded Rectangle 14"/>
          <p:cNvSpPr/>
          <p:nvPr/>
        </p:nvSpPr>
        <p:spPr>
          <a:xfrm>
            <a:off x="6167628" y="4997024"/>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77356" y="4997024"/>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обращений в больницу</a:t>
            </a:r>
          </a:p>
        </p:txBody>
      </p:sp>
      <p:sp>
        <p:nvSpPr>
          <p:cNvPr id="17" name="Rounded Rectangle 16"/>
          <p:cNvSpPr/>
          <p:nvPr/>
        </p:nvSpPr>
        <p:spPr>
          <a:xfrm>
            <a:off x="8999982" y="4997024"/>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9710" y="4997024"/>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выписанных препаратов</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каждая величина считает, кроме болезни</a:t>
            </a:r>
          </a:p>
        </p:txBody>
      </p:sp>
      <p:sp>
        <p:nvSpPr>
          <p:cNvPr id="3" name="Rounded Rectangle 2"/>
          <p:cNvSpPr/>
          <p:nvPr/>
        </p:nvSpPr>
        <p:spPr>
          <a:xfrm>
            <a:off x="502920" y="1643761"/>
            <a:ext cx="11183112" cy="2219007"/>
          </a:xfrm>
          <a:prstGeom prst="roundRect">
            <a:avLst>
              <a:gd name="adj" fmla="val 137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26641"/>
            <a:ext cx="207844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ВЕЛИЧИНА</a:t>
            </a:r>
          </a:p>
        </p:txBody>
      </p:sp>
      <p:sp>
        <p:nvSpPr>
          <p:cNvPr id="5" name="TextBox 4"/>
          <p:cNvSpPr txBox="1"/>
          <p:nvPr/>
        </p:nvSpPr>
        <p:spPr>
          <a:xfrm>
            <a:off x="2910547" y="1826641"/>
            <a:ext cx="84463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НЕЁ ПОПАДАЕТ ПОМИМО БОЛЕЗНИ</a:t>
            </a:r>
          </a:p>
        </p:txBody>
      </p:sp>
      <p:sp>
        <p:nvSpPr>
          <p:cNvPr id="6" name="TextBox 5"/>
          <p:cNvSpPr txBox="1"/>
          <p:nvPr/>
        </p:nvSpPr>
        <p:spPr>
          <a:xfrm>
            <a:off x="685800" y="2108708"/>
            <a:ext cx="207844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прошлые расходы</a:t>
            </a:r>
          </a:p>
        </p:txBody>
      </p:sp>
      <p:sp>
        <p:nvSpPr>
          <p:cNvPr id="7" name="TextBox 6"/>
          <p:cNvSpPr txBox="1"/>
          <p:nvPr/>
        </p:nvSpPr>
        <p:spPr>
          <a:xfrm>
            <a:off x="2910547" y="2108708"/>
            <a:ext cx="84463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дорога до клиники, отпрошенный рабочий день, соплата, доверие к врачу — вся история доступа, с ценами</a:t>
            </a:r>
          </a:p>
        </p:txBody>
      </p:sp>
      <p:cxnSp>
        <p:nvCxnSpPr>
          <p:cNvPr id="8" name="Connector 7"/>
          <p:cNvCxnSpPr/>
          <p:nvPr/>
        </p:nvCxnSpPr>
        <p:spPr>
          <a:xfrm>
            <a:off x="685800" y="26384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38425"/>
            <a:ext cx="207844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число диагнозов</a:t>
            </a:r>
          </a:p>
        </p:txBody>
      </p:sp>
      <p:sp>
        <p:nvSpPr>
          <p:cNvPr id="10" name="TextBox 9"/>
          <p:cNvSpPr txBox="1"/>
          <p:nvPr/>
        </p:nvSpPr>
        <p:spPr>
          <a:xfrm>
            <a:off x="2910547" y="2638425"/>
            <a:ext cx="84463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перекос слабее: диагноз ставят, когда человек дошёл до врача</a:t>
            </a:r>
          </a:p>
        </p:txBody>
      </p:sp>
      <p:cxnSp>
        <p:nvCxnSpPr>
          <p:cNvPr id="11" name="Connector 10"/>
          <p:cNvCxnSpPr/>
          <p:nvPr/>
        </p:nvCxnSpPr>
        <p:spPr>
          <a:xfrm>
            <a:off x="685800" y="2985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85579"/>
            <a:ext cx="207844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обращения в больницу</a:t>
            </a:r>
          </a:p>
        </p:txBody>
      </p:sp>
      <p:sp>
        <p:nvSpPr>
          <p:cNvPr id="13" name="TextBox 12"/>
          <p:cNvSpPr txBox="1"/>
          <p:nvPr/>
        </p:nvSpPr>
        <p:spPr>
          <a:xfrm>
            <a:off x="2910547" y="2985579"/>
            <a:ext cx="84463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туда же транспорт, больничный и возможность оставить детей</a:t>
            </a:r>
          </a:p>
        </p:txBody>
      </p:sp>
      <p:cxnSp>
        <p:nvCxnSpPr>
          <p:cNvPr id="14" name="Connector 13"/>
          <p:cNvCxnSpPr/>
          <p:nvPr/>
        </p:nvCxnSpPr>
        <p:spPr>
          <a:xfrm>
            <a:off x="685800" y="33327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32734"/>
            <a:ext cx="207844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выписанные препараты</a:t>
            </a:r>
          </a:p>
        </p:txBody>
      </p:sp>
      <p:sp>
        <p:nvSpPr>
          <p:cNvPr id="16" name="TextBox 15"/>
          <p:cNvSpPr txBox="1"/>
          <p:nvPr/>
        </p:nvSpPr>
        <p:spPr>
          <a:xfrm>
            <a:off x="2910547" y="3332734"/>
            <a:ext cx="84463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двери между болезнью и числом, последняя упирается в кошелёк</a:t>
            </a:r>
          </a:p>
        </p:txBody>
      </p:sp>
      <p:sp>
        <p:nvSpPr>
          <p:cNvPr id="17" name="Rounded Rectangle 16"/>
          <p:cNvSpPr/>
          <p:nvPr/>
        </p:nvSpPr>
        <p:spPr>
          <a:xfrm>
            <a:off x="502920" y="45302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65829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Все четыре увели бы результат в одну сторону. Расходы собирают эту историю полнее остальных — за это их и выбрали, за это же они и перекосили.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 одном балле — на 26,3% больше заболеваний</a:t>
            </a:r>
          </a:p>
        </p:txBody>
      </p:sp>
      <p:pic>
        <p:nvPicPr>
          <p:cNvPr id="3" name="Picture 2" descr="optum-c5-odin-ball-dva-stolbika.png"/>
          <p:cNvPicPr>
            <a:picLocks noChangeAspect="1"/>
          </p:cNvPicPr>
          <p:nvPr/>
        </p:nvPicPr>
        <p:blipFill>
          <a:blip r:embed="rId2"/>
          <a:stretch>
            <a:fillRect/>
          </a:stretch>
        </p:blipFill>
        <p:spPr>
          <a:xfrm>
            <a:off x="502920" y="1038819"/>
            <a:ext cx="11183112" cy="2609392"/>
          </a:xfrm>
          <a:prstGeom prst="rect">
            <a:avLst/>
          </a:prstGeom>
        </p:spPr>
      </p:pic>
      <p:sp>
        <p:nvSpPr>
          <p:cNvPr id="4" name="Rounded Rectangle 3"/>
          <p:cNvSpPr/>
          <p:nvPr/>
        </p:nvSpPr>
        <p:spPr>
          <a:xfrm>
            <a:off x="502920" y="405146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17947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Как считали честную долю:</a:t>
            </a:r>
            <a:r>
              <a:rPr sz="1500" b="1" i="0">
                <a:solidFill>
                  <a:srgbClr val="141B2E"/>
                </a:solidFill>
                <a:latin typeface="Arial"/>
              </a:rPr>
              <a:t> взяли тот же алгоритм и те же данные, на место предсказываемой величины поставили число активных хронических заболеваний, заново отранжировали пациентов, применили тот же порог отбора.</a:t>
            </a:r>
          </a:p>
        </p:txBody>
      </p:sp>
      <p:sp>
        <p:nvSpPr>
          <p:cNvPr id="6" name="Rounded Rectangle 5"/>
          <p:cNvSpPr/>
          <p:nvPr/>
        </p:nvSpPr>
        <p:spPr>
          <a:xfrm>
            <a:off x="502920" y="54376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657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получилось:</a:t>
            </a:r>
            <a:r>
              <a:rPr sz="1500" b="1" i="0">
                <a:solidFill>
                  <a:srgbClr val="141B2E"/>
                </a:solidFill>
                <a:latin typeface="Arial"/>
              </a:rPr>
              <a:t> доля чёрных пациентов в программе выросла бы </a:t>
            </a:r>
            <a:r>
              <a:rPr sz="1500" b="1" i="0">
                <a:solidFill>
                  <a:srgbClr val="141B2E"/>
                </a:solidFill>
                <a:latin typeface="Arial"/>
              </a:rPr>
              <a:t>с 17,7% до 46,5%</a:t>
            </a:r>
            <a:r>
              <a:rPr sz="1500" b="1" i="0">
                <a:solidFill>
                  <a:srgbClr val="141B2E"/>
                </a:solidFill>
                <a:latin typeface="Arial"/>
              </a:rPr>
              <a:t>. Никого дополнительно обследовать для этого не пришлось.</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Назовите вслух, с чем ещё связана выбранная величина</a:t>
            </a:r>
          </a:p>
        </p:txBody>
      </p:sp>
      <p:sp>
        <p:nvSpPr>
          <p:cNvPr id="3" name="Rounded Rectangle 2"/>
          <p:cNvSpPr/>
          <p:nvPr/>
        </p:nvSpPr>
        <p:spPr>
          <a:xfrm>
            <a:off x="502920" y="1417015"/>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45031"/>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a:t>
            </a:r>
            <a:r>
              <a:rPr sz="1500" b="1" i="0">
                <a:solidFill>
                  <a:srgbClr val="141B2E"/>
                </a:solidFill>
                <a:latin typeface="Arial"/>
              </a:rPr>
              <a:t> Возьмите величину, которую используете вместо нужной.</a:t>
            </a:r>
          </a:p>
          <a:p>
            <a:pPr algn="l">
              <a:lnSpc>
                <a:spcPts val="1860"/>
              </a:lnSpc>
              <a:spcAft>
                <a:spcPts val="300"/>
              </a:spcAft>
            </a:pPr>
            <a:r>
              <a:rPr sz="1500" b="1" i="0">
                <a:solidFill>
                  <a:srgbClr val="141B2E"/>
                </a:solidFill>
                <a:latin typeface="Arial"/>
              </a:rPr>
              <a:t>2.</a:t>
            </a:r>
            <a:r>
              <a:rPr sz="1500" b="1" i="0">
                <a:solidFill>
                  <a:srgbClr val="141B2E"/>
                </a:solidFill>
                <a:latin typeface="Arial"/>
              </a:rPr>
              <a:t> Возьмите прямое измерение нужной величины — хотя бы на выборке в сотню человек, где его можно получить руками.</a:t>
            </a:r>
          </a:p>
          <a:p>
            <a:pPr algn="l">
              <a:lnSpc>
                <a:spcPts val="1860"/>
              </a:lnSpc>
              <a:spcAft>
                <a:spcPts val="300"/>
              </a:spcAft>
            </a:pPr>
            <a:r>
              <a:rPr sz="1500" b="1" i="0">
                <a:solidFill>
                  <a:srgbClr val="141B2E"/>
                </a:solidFill>
                <a:latin typeface="Arial"/>
              </a:rPr>
              <a:t>3.</a:t>
            </a:r>
            <a:r>
              <a:rPr sz="1500" b="1" i="0">
                <a:solidFill>
                  <a:srgbClr val="141B2E"/>
                </a:solidFill>
                <a:latin typeface="Arial"/>
              </a:rPr>
              <a:t> Сравните, кого эти две величины ставят наверх. Расхождение и есть ваш перекос.</a:t>
            </a:r>
          </a:p>
        </p:txBody>
      </p:sp>
      <p:sp>
        <p:nvSpPr>
          <p:cNvPr id="5" name="Rounded Rectangle 4"/>
          <p:cNvSpPr/>
          <p:nvPr/>
        </p:nvSpPr>
        <p:spPr>
          <a:xfrm>
            <a:off x="502920" y="337992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0794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Замещающая величина допустима, когда вы можете вслух назвать, с чем ещё она связана, и проверили, что эта связь не бьёт по группе людей.</a:t>
            </a:r>
          </a:p>
        </p:txBody>
      </p:sp>
      <p:sp>
        <p:nvSpPr>
          <p:cNvPr id="7" name="Rounded Rectangle 6"/>
          <p:cNvSpPr/>
          <p:nvPr/>
        </p:nvSpPr>
        <p:spPr>
          <a:xfrm>
            <a:off x="502920" y="479419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492221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Какую величину ваш процесс использует вместо той, которая вам нужна?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Проверка, которая вскрыла прошлый случай, здесь проходит чисто</a:t>
            </a:r>
          </a:p>
        </p:txBody>
      </p:sp>
      <p:sp>
        <p:nvSpPr>
          <p:cNvPr id="4" name="Rounded Rectangle 3"/>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Случайная выборка</a:t>
            </a:r>
          </a:p>
        </p:txBody>
      </p:sp>
      <p:sp>
        <p:nvSpPr>
          <p:cNvPr id="3" name="Rounded Rectangle 2"/>
          <p:cNvSpPr/>
          <p:nvPr/>
        </p:nvSpPr>
        <p:spPr>
          <a:xfrm>
            <a:off x="502920" y="173095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5897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Берём случайные декларации и проверяем их.</a:t>
            </a:r>
          </a:p>
        </p:txBody>
      </p:sp>
      <p:sp>
        <p:nvSpPr>
          <p:cNvPr id="5" name="Rounded Rectangle 4"/>
          <p:cNvSpPr/>
          <p:nvPr/>
        </p:nvSpPr>
        <p:spPr>
          <a:xfrm>
            <a:off x="502920" y="2909011"/>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37027"/>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честно: у каждого равный шанс</a:t>
            </a:r>
          </a:p>
          <a:p>
            <a:pPr algn="l">
              <a:lnSpc>
                <a:spcPts val="1860"/>
              </a:lnSpc>
              <a:spcAft>
                <a:spcPts val="300"/>
              </a:spcAft>
            </a:pPr>
            <a:r>
              <a:rPr sz="1500" b="1" i="0">
                <a:solidFill>
                  <a:srgbClr val="141B2E"/>
                </a:solidFill>
                <a:latin typeface="Arial"/>
              </a:rPr>
              <a:t>непредвзято: систематического перекоса нет по построению</a:t>
            </a:r>
          </a:p>
          <a:p>
            <a:pPr algn="l">
              <a:lnSpc>
                <a:spcPts val="1860"/>
              </a:lnSpc>
              <a:spcAft>
                <a:spcPts val="300"/>
              </a:spcAft>
            </a:pPr>
            <a:r>
              <a:rPr sz="1500" b="1" i="0">
                <a:solidFill>
                  <a:srgbClr val="141B2E"/>
                </a:solidFill>
                <a:latin typeface="Arial"/>
              </a:rPr>
              <a:t>статистически корректно: по результатам можно судить обо всей совокупности</a:t>
            </a:r>
          </a:p>
        </p:txBody>
      </p:sp>
      <p:sp>
        <p:nvSpPr>
          <p:cNvPr id="7" name="Rounded Rectangle 6"/>
          <p:cNvSpPr/>
          <p:nvPr/>
        </p:nvSpPr>
        <p:spPr>
          <a:xfrm>
            <a:off x="502920" y="463570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76371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Единственный способ отбора, который не может систематически бить по какой-то группе людей.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Большинство деклараций в порядке, и часы уходят впустую</a:t>
            </a:r>
          </a:p>
        </p:txBody>
      </p:sp>
      <p:sp>
        <p:nvSpPr>
          <p:cNvPr id="3" name="Rounded Rectangle 2"/>
          <p:cNvSpPr/>
          <p:nvPr/>
        </p:nvSpPr>
        <p:spPr>
          <a:xfrm>
            <a:off x="502920" y="13497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045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868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Инспектор тратит одинаковое время на декларацию с нарушением и без. При случайном отборе большинство проверок заканчивается ничем.</a:t>
            </a:r>
          </a:p>
        </p:txBody>
      </p:sp>
      <p:sp>
        <p:nvSpPr>
          <p:cNvPr id="6" name="Rounded Rectangle 5"/>
          <p:cNvSpPr/>
          <p:nvPr/>
        </p:nvSpPr>
        <p:spPr>
          <a:xfrm>
            <a:off x="502920" y="226807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9609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велеть системе максимизировать?</a:t>
            </a:r>
          </a:p>
        </p:txBody>
      </p:sp>
      <p:sp>
        <p:nvSpPr>
          <p:cNvPr id="8" name="Rounded Rectangle 7"/>
          <p:cNvSpPr/>
          <p:nvPr/>
        </p:nvSpPr>
        <p:spPr>
          <a:xfrm>
            <a:off x="502920" y="3330458"/>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330458"/>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долю проверок, нашедших нарушение</a:t>
            </a:r>
          </a:p>
        </p:txBody>
      </p:sp>
      <p:sp>
        <p:nvSpPr>
          <p:cNvPr id="10" name="Rounded Rectangle 9"/>
          <p:cNvSpPr/>
          <p:nvPr/>
        </p:nvSpPr>
        <p:spPr>
          <a:xfrm>
            <a:off x="4279392" y="3330458"/>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3330458"/>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сумму доначислений</a:t>
            </a:r>
          </a:p>
        </p:txBody>
      </p:sp>
      <p:sp>
        <p:nvSpPr>
          <p:cNvPr id="12" name="Rounded Rectangle 11"/>
          <p:cNvSpPr/>
          <p:nvPr/>
        </p:nvSpPr>
        <p:spPr>
          <a:xfrm>
            <a:off x="8055863" y="3330458"/>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65591" y="3330458"/>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отдачу от часа инспектора</a:t>
            </a:r>
          </a:p>
        </p:txBody>
      </p:sp>
      <p:sp>
        <p:nvSpPr>
          <p:cNvPr id="14" name="Rectangle 13"/>
          <p:cNvSpPr/>
          <p:nvPr/>
        </p:nvSpPr>
        <p:spPr>
          <a:xfrm>
            <a:off x="502920" y="465801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8" y="4712878"/>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Оговорка: верного целиком варианта среди этих трёх нет. Поломка, о которой пойдёт речь, лежит в стороне от всех трёх.</a:t>
            </a:r>
          </a:p>
        </p:txBody>
      </p:sp>
      <p:sp>
        <p:nvSpPr>
          <p:cNvPr id="16" name="Rounded Rectangle 15"/>
          <p:cNvSpPr/>
          <p:nvPr/>
        </p:nvSpPr>
        <p:spPr>
          <a:xfrm>
            <a:off x="502920" y="54597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5878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ближайший и сформулируйте довод — довод здесь весит больше выбора.</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Выбрали отдачу от часа инспектора</a:t>
            </a:r>
          </a:p>
        </p:txBody>
      </p:sp>
      <p:sp>
        <p:nvSpPr>
          <p:cNvPr id="3" name="Rounded Rectangle 2"/>
          <p:cNvSpPr/>
          <p:nvPr/>
        </p:nvSpPr>
        <p:spPr>
          <a:xfrm>
            <a:off x="502920" y="145026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7827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долю</a:t>
            </a:r>
            <a:r>
              <a:rPr sz="1500" b="1" i="0">
                <a:solidFill>
                  <a:srgbClr val="141B2E"/>
                </a:solidFill>
                <a:latin typeface="Arial"/>
              </a:rPr>
              <a:t> </a:t>
            </a:r>
            <a:r>
              <a:rPr sz="1500" b="1" i="0">
                <a:solidFill>
                  <a:srgbClr val="141B2E"/>
                </a:solidFill>
                <a:latin typeface="Consolas"/>
              </a:rPr>
              <a:t>найденных</a:t>
            </a:r>
            <a:r>
              <a:rPr sz="1500" b="1" i="0">
                <a:solidFill>
                  <a:srgbClr val="141B2E"/>
                </a:solidFill>
                <a:latin typeface="Arial"/>
              </a:rPr>
              <a:t> </a:t>
            </a:r>
            <a:r>
              <a:rPr sz="1500" b="1" i="0">
                <a:solidFill>
                  <a:srgbClr val="141B2E"/>
                </a:solidFill>
                <a:latin typeface="Consolas"/>
              </a:rPr>
              <a:t>нарушений</a:t>
            </a:r>
            <a:r>
              <a:rPr sz="1500" b="1" i="0">
                <a:solidFill>
                  <a:srgbClr val="141B2E"/>
                </a:solidFill>
                <a:latin typeface="Arial"/>
              </a:rPr>
              <a:t> · </a:t>
            </a:r>
            <a:r>
              <a:rPr sz="1500" b="1" i="0">
                <a:solidFill>
                  <a:srgbClr val="141B2E"/>
                </a:solidFill>
                <a:latin typeface="Consolas"/>
              </a:rPr>
              <a:t>сумму</a:t>
            </a:r>
            <a:r>
              <a:rPr sz="1500" b="1" i="0">
                <a:solidFill>
                  <a:srgbClr val="141B2E"/>
                </a:solidFill>
                <a:latin typeface="Arial"/>
              </a:rPr>
              <a:t> </a:t>
            </a:r>
            <a:r>
              <a:rPr sz="1500" b="1" i="0">
                <a:solidFill>
                  <a:srgbClr val="141B2E"/>
                </a:solidFill>
                <a:latin typeface="Consolas"/>
              </a:rPr>
              <a:t>доначислений</a:t>
            </a:r>
            <a:r>
              <a:rPr sz="1500" b="1" i="0">
                <a:solidFill>
                  <a:srgbClr val="141B2E"/>
                </a:solidFill>
                <a:latin typeface="Arial"/>
              </a:rPr>
              <a:t> · </a:t>
            </a:r>
            <a:r>
              <a:rPr sz="1500" b="1" i="0">
                <a:solidFill>
                  <a:srgbClr val="141B2E"/>
                </a:solidFill>
                <a:latin typeface="Consolas"/>
              </a:rPr>
              <a:t>отдачу</a:t>
            </a:r>
            <a:r>
              <a:rPr sz="1500" b="1" i="0">
                <a:solidFill>
                  <a:srgbClr val="141B2E"/>
                </a:solidFill>
                <a:latin typeface="Arial"/>
              </a:rPr>
              <a:t> </a:t>
            </a:r>
            <a:r>
              <a:rPr sz="1500" b="1" i="0">
                <a:solidFill>
                  <a:srgbClr val="141B2E"/>
                </a:solidFill>
                <a:latin typeface="Consolas"/>
              </a:rPr>
              <a:t>от</a:t>
            </a:r>
            <a:r>
              <a:rPr sz="1500" b="1" i="0">
                <a:solidFill>
                  <a:srgbClr val="141B2E"/>
                </a:solidFill>
                <a:latin typeface="Arial"/>
              </a:rPr>
              <a:t> </a:t>
            </a:r>
            <a:r>
              <a:rPr sz="1500" b="1" i="0">
                <a:solidFill>
                  <a:srgbClr val="141B2E"/>
                </a:solidFill>
                <a:latin typeface="Consolas"/>
              </a:rPr>
              <a:t>часа</a:t>
            </a:r>
            <a:r>
              <a:rPr sz="1500" b="1" i="0">
                <a:solidFill>
                  <a:srgbClr val="141B2E"/>
                </a:solidFill>
                <a:latin typeface="Arial"/>
              </a:rPr>
              <a:t> </a:t>
            </a:r>
            <a:r>
              <a:rPr sz="1500" b="1" i="0">
                <a:solidFill>
                  <a:srgbClr val="141B2E"/>
                </a:solidFill>
                <a:latin typeface="Consolas"/>
              </a:rPr>
              <a:t>инспектора</a:t>
            </a:r>
          </a:p>
        </p:txBody>
      </p:sp>
      <p:sp>
        <p:nvSpPr>
          <p:cNvPr id="5" name="Rounded Rectangle 4"/>
          <p:cNvSpPr/>
          <p:nvPr/>
        </p:nvSpPr>
        <p:spPr>
          <a:xfrm>
            <a:off x="502920" y="2628315"/>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11195"/>
            <a:ext cx="44863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СЧИТАЕТ СИСТЕМА</a:t>
            </a:r>
          </a:p>
        </p:txBody>
      </p:sp>
      <p:sp>
        <p:nvSpPr>
          <p:cNvPr id="7" name="TextBox 6"/>
          <p:cNvSpPr txBox="1"/>
          <p:nvPr/>
        </p:nvSpPr>
        <p:spPr>
          <a:xfrm>
            <a:off x="5318406" y="2811195"/>
            <a:ext cx="60384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ОТКУДА ЭТО БЕРЁТСЯ</a:t>
            </a:r>
          </a:p>
        </p:txBody>
      </p:sp>
      <p:sp>
        <p:nvSpPr>
          <p:cNvPr id="8" name="TextBox 7"/>
          <p:cNvSpPr txBox="1"/>
          <p:nvPr/>
        </p:nvSpPr>
        <p:spPr>
          <a:xfrm>
            <a:off x="685800" y="3093262"/>
            <a:ext cx="44863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сколько времени займёт проверка этой декларации</a:t>
            </a:r>
          </a:p>
        </p:txBody>
      </p:sp>
      <p:sp>
        <p:nvSpPr>
          <p:cNvPr id="9" name="TextBox 8"/>
          <p:cNvSpPr txBox="1"/>
          <p:nvPr/>
        </p:nvSpPr>
        <p:spPr>
          <a:xfrm>
            <a:off x="5318406" y="3093262"/>
            <a:ext cx="603844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число источников дохода, наличие сложных активов, объём приложений</a:t>
            </a:r>
          </a:p>
        </p:txBody>
      </p:sp>
      <p:cxnSp>
        <p:nvCxnSpPr>
          <p:cNvPr id="10" name="Connector 9"/>
          <p:cNvCxnSpPr/>
          <p:nvPr/>
        </p:nvCxnSpPr>
        <p:spPr>
          <a:xfrm>
            <a:off x="685800" y="36229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622979"/>
            <a:ext cx="44863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отношение заявленного возврата к доходу</a:t>
            </a:r>
          </a:p>
        </p:txBody>
      </p:sp>
      <p:sp>
        <p:nvSpPr>
          <p:cNvPr id="12" name="TextBox 11"/>
          <p:cNvSpPr txBox="1"/>
          <p:nvPr/>
        </p:nvSpPr>
        <p:spPr>
          <a:xfrm>
            <a:off x="5318406" y="3622979"/>
            <a:ext cx="60384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две цифры из самой декларации</a:t>
            </a:r>
          </a:p>
        </p:txBody>
      </p:sp>
      <p:sp>
        <p:nvSpPr>
          <p:cNvPr id="13" name="Rounded Rectangle 12"/>
          <p:cNvSpPr/>
          <p:nvPr/>
        </p:nvSpPr>
        <p:spPr>
          <a:xfrm>
            <a:off x="502920" y="482052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94854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Замещающей величины здесь нет. Ни одно из этих чисел не стоит вместо чего-то другого — они и есть то, что система должна была считать. Проверка прошлого кейса проходит чисто.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 2,9–4,7 раза чаще — при сопоставимых декларациях</a:t>
            </a:r>
          </a:p>
        </p:txBody>
      </p:sp>
      <p:pic>
        <p:nvPicPr>
          <p:cNvPr id="3" name="Picture 2" descr="irs-c6-lestnitsa-deshevizny.png"/>
          <p:cNvPicPr>
            <a:picLocks noChangeAspect="1"/>
          </p:cNvPicPr>
          <p:nvPr/>
        </p:nvPicPr>
        <p:blipFill>
          <a:blip r:embed="rId2"/>
          <a:stretch>
            <a:fillRect/>
          </a:stretch>
        </p:blipFill>
        <p:spPr>
          <a:xfrm>
            <a:off x="1675650" y="943356"/>
            <a:ext cx="8837650" cy="2283059"/>
          </a:xfrm>
          <a:prstGeom prst="rect">
            <a:avLst/>
          </a:prstGeom>
        </p:spPr>
      </p:pic>
      <p:sp>
        <p:nvSpPr>
          <p:cNvPr id="4" name="Rounded Rectangle 3"/>
          <p:cNvSpPr/>
          <p:nvPr/>
        </p:nvSpPr>
        <p:spPr>
          <a:xfrm>
            <a:off x="502920" y="3391007"/>
            <a:ext cx="82296" cy="1372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19023"/>
            <a:ext cx="10643616" cy="1116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велели:</a:t>
            </a:r>
            <a:r>
              <a:rPr sz="1250" b="1" i="0">
                <a:solidFill>
                  <a:srgbClr val="141B2E"/>
                </a:solidFill>
                <a:latin typeface="Arial"/>
              </a:rPr>
              <a:t> максимизировать отдачу от часа инспектора — верно</a:t>
            </a:r>
          </a:p>
          <a:p>
            <a:pPr algn="l">
              <a:lnSpc>
                <a:spcPts val="1550"/>
              </a:lnSpc>
              <a:spcAft>
                <a:spcPts val="300"/>
              </a:spcAft>
            </a:pPr>
            <a:r>
              <a:rPr sz="1250" b="1" i="0">
                <a:solidFill>
                  <a:srgbClr val="141B2E"/>
                </a:solidFill>
                <a:latin typeface="Arial"/>
              </a:rPr>
              <a:t>система подняла наверх:</a:t>
            </a:r>
            <a:r>
              <a:rPr sz="1250" b="1" i="0">
                <a:solidFill>
                  <a:srgbClr val="141B2E"/>
                </a:solidFill>
                <a:latin typeface="Arial"/>
              </a:rPr>
              <a:t> декларации, которые проверяются быстрее всего — верно</a:t>
            </a:r>
          </a:p>
          <a:p>
            <a:pPr algn="l">
              <a:lnSpc>
                <a:spcPts val="1550"/>
              </a:lnSpc>
              <a:spcAft>
                <a:spcPts val="300"/>
              </a:spcAft>
            </a:pPr>
            <a:r>
              <a:rPr sz="1250" b="1" i="0">
                <a:solidFill>
                  <a:srgbClr val="141B2E"/>
                </a:solidFill>
                <a:latin typeface="Arial"/>
              </a:rPr>
              <a:t>быстрее всего проверяются:</a:t>
            </a:r>
            <a:r>
              <a:rPr sz="1250" b="1" i="0">
                <a:solidFill>
                  <a:srgbClr val="141B2E"/>
                </a:solidFill>
                <a:latin typeface="Arial"/>
              </a:rPr>
              <a:t> декларации с вычетом для работников с низким доходом (мало источников дохода, нет сложных активов, проверка укладывается в переписку) — верно</a:t>
            </a:r>
          </a:p>
          <a:p>
            <a:pPr algn="l">
              <a:lnSpc>
                <a:spcPts val="1550"/>
              </a:lnSpc>
              <a:spcAft>
                <a:spcPts val="300"/>
              </a:spcAft>
            </a:pPr>
            <a:r>
              <a:rPr sz="1250" b="1" i="0">
                <a:solidFill>
                  <a:srgbClr val="141B2E"/>
                </a:solidFill>
                <a:latin typeface="Arial"/>
              </a:rPr>
              <a:t>среди претендентов на этот вычет:</a:t>
            </a:r>
            <a:r>
              <a:rPr sz="1250" b="1" i="0">
                <a:solidFill>
                  <a:srgbClr val="141B2E"/>
                </a:solidFill>
                <a:latin typeface="Arial"/>
              </a:rPr>
              <a:t> доля чернокожих налогоплательщиков выше средней — факт о стране, не о системе</a:t>
            </a:r>
          </a:p>
        </p:txBody>
      </p:sp>
      <p:sp>
        <p:nvSpPr>
          <p:cNvPr id="6" name="Rounded Rectangle 5"/>
          <p:cNvSpPr/>
          <p:nvPr/>
        </p:nvSpPr>
        <p:spPr>
          <a:xfrm>
            <a:off x="502920" y="4928469"/>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056485"/>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Итог: в 2,9–4,7 раза чаще при сопоставимых декларациях.</a:t>
            </a:r>
            <a:r>
              <a:rPr sz="1450" b="1" i="0">
                <a:solidFill>
                  <a:srgbClr val="141B2E"/>
                </a:solidFill>
                <a:latin typeface="Arial"/>
              </a:rPr>
              <a:t> Поля расы в декларации не существует.</a:t>
            </a:r>
          </a:p>
        </p:txBody>
      </p:sp>
      <p:sp>
        <p:nvSpPr>
          <p:cNvPr id="8" name="Rounded Rectangle 7"/>
          <p:cNvSpPr/>
          <p:nvPr/>
        </p:nvSpPr>
        <p:spPr>
          <a:xfrm>
            <a:off x="502920" y="5595727"/>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3743"/>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Stanford Institute for Economic Policy Research совместно с IRS, 2023. IRS результат подтвердила и объявила о намерении исправить отбор.</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Сломана мера или сломана величина</a:t>
            </a:r>
          </a:p>
        </p:txBody>
      </p:sp>
      <p:sp>
        <p:nvSpPr>
          <p:cNvPr id="3" name="Rounded Rectangle 2"/>
          <p:cNvSpPr/>
          <p:nvPr/>
        </p:nvSpPr>
        <p:spPr>
          <a:xfrm>
            <a:off x="502920" y="176143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8945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Optum</a:t>
            </a:r>
            <a:r>
              <a:rPr sz="1500" b="1" i="0">
                <a:solidFill>
                  <a:srgbClr val="141B2E"/>
                </a:solidFill>
                <a:latin typeface="Arial"/>
              </a:rPr>
              <a:t> — сломана </a:t>
            </a:r>
            <a:r>
              <a:rPr sz="1500" b="1" i="0">
                <a:solidFill>
                  <a:srgbClr val="141B2E"/>
                </a:solidFill>
                <a:latin typeface="Arial"/>
              </a:rPr>
              <a:t>мера</a:t>
            </a:r>
            <a:r>
              <a:rPr sz="1500" b="1" i="0">
                <a:solidFill>
                  <a:srgbClr val="141B2E"/>
                </a:solidFill>
                <a:latin typeface="Arial"/>
              </a:rPr>
              <a:t>: нужна была потребность в помощи, измеряли расходами.</a:t>
            </a:r>
          </a:p>
        </p:txBody>
      </p:sp>
      <p:sp>
        <p:nvSpPr>
          <p:cNvPr id="5" name="Rounded Rectangle 4"/>
          <p:cNvSpPr/>
          <p:nvPr/>
        </p:nvSpPr>
        <p:spPr>
          <a:xfrm>
            <a:off x="502920" y="29394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6750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IRS</a:t>
            </a:r>
            <a:r>
              <a:rPr sz="1500" b="1" i="0">
                <a:solidFill>
                  <a:srgbClr val="141B2E"/>
                </a:solidFill>
                <a:latin typeface="Arial"/>
              </a:rPr>
              <a:t> — сломана </a:t>
            </a:r>
            <a:r>
              <a:rPr sz="1500" b="1" i="0">
                <a:solidFill>
                  <a:srgbClr val="141B2E"/>
                </a:solidFill>
                <a:latin typeface="Arial"/>
              </a:rPr>
              <a:t>величина</a:t>
            </a:r>
            <a:r>
              <a:rPr sz="1500" b="1" i="0">
                <a:solidFill>
                  <a:srgbClr val="141B2E"/>
                </a:solidFill>
                <a:latin typeface="Arial"/>
              </a:rPr>
              <a:t>: измеряли дешевизну проверки, и измеряли её точно. Выбрана была не та величина.</a:t>
            </a:r>
          </a:p>
        </p:txBody>
      </p:sp>
      <p:sp>
        <p:nvSpPr>
          <p:cNvPr id="7" name="Rounded Rectangle 6"/>
          <p:cNvSpPr/>
          <p:nvPr/>
        </p:nvSpPr>
        <p:spPr>
          <a:xfrm>
            <a:off x="502920" y="435376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48177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Ни один тест модели второго не ловит: тест сверяет ответ с поставленной целью, а цель приходит снаружи.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вопроса к своей задаче</a:t>
            </a:r>
          </a:p>
        </p:txBody>
      </p:sp>
      <p:sp>
        <p:nvSpPr>
          <p:cNvPr id="3" name="Rounded Rectangle 2"/>
          <p:cNvSpPr/>
          <p:nvPr/>
        </p:nvSpPr>
        <p:spPr>
          <a:xfrm>
            <a:off x="502920" y="1570736"/>
            <a:ext cx="11183112" cy="2401570"/>
          </a:xfrm>
          <a:prstGeom prst="roundRect">
            <a:avLst>
              <a:gd name="adj" fmla="val 126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53616"/>
            <a:ext cx="50101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5" name="TextBox 4"/>
          <p:cNvSpPr txBox="1"/>
          <p:nvPr/>
        </p:nvSpPr>
        <p:spPr>
          <a:xfrm>
            <a:off x="5842209" y="1753616"/>
            <a:ext cx="551463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ТРЕВОЖНЫЙ ОТВЕТ</a:t>
            </a:r>
          </a:p>
        </p:txBody>
      </p:sp>
      <p:sp>
        <p:nvSpPr>
          <p:cNvPr id="6" name="TextBox 5"/>
          <p:cNvSpPr txBox="1"/>
          <p:nvPr/>
        </p:nvSpPr>
        <p:spPr>
          <a:xfrm>
            <a:off x="685800" y="2035683"/>
            <a:ext cx="5010105"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На чём кончается список категорий?</a:t>
            </a:r>
          </a:p>
        </p:txBody>
      </p:sp>
      <p:sp>
        <p:nvSpPr>
          <p:cNvPr id="7" name="TextBox 6"/>
          <p:cNvSpPr txBox="1"/>
          <p:nvPr/>
        </p:nvSpPr>
        <p:spPr>
          <a:xfrm>
            <a:off x="5842209" y="2035683"/>
            <a:ext cx="55146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кончается словом «прочее», и у «прочего» нет живого адресата</a:t>
            </a:r>
          </a:p>
        </p:txBody>
      </p:sp>
      <p:cxnSp>
        <p:nvCxnSpPr>
          <p:cNvPr id="8" name="Connector 7"/>
          <p:cNvCxnSpPr/>
          <p:nvPr/>
        </p:nvCxnSpPr>
        <p:spPr>
          <a:xfrm>
            <a:off x="685800" y="23828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82837"/>
            <a:ext cx="501010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a:t>
            </a:r>
            <a:r>
              <a:rPr sz="1250" b="0" i="0">
                <a:solidFill>
                  <a:srgbClr val="141B2E"/>
                </a:solidFill>
                <a:latin typeface="Arial"/>
              </a:rPr>
              <a:t> Что ваш классификатор считает помимо того, что должен?</a:t>
            </a:r>
          </a:p>
        </p:txBody>
      </p:sp>
      <p:sp>
        <p:nvSpPr>
          <p:cNvPr id="10" name="TextBox 9"/>
          <p:cNvSpPr txBox="1"/>
          <p:nvPr/>
        </p:nvSpPr>
        <p:spPr>
          <a:xfrm>
            <a:off x="5842209" y="2382837"/>
            <a:ext cx="551463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 ответ, который стоит перепроверить на выборке</a:t>
            </a:r>
          </a:p>
        </p:txBody>
      </p:sp>
      <p:cxnSp>
        <p:nvCxnSpPr>
          <p:cNvPr id="11" name="Connector 10"/>
          <p:cNvCxnSpPr/>
          <p:nvPr/>
        </p:nvCxnSpPr>
        <p:spPr>
          <a:xfrm>
            <a:off x="685800" y="29125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12554"/>
            <a:ext cx="5010105"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r>
              <a:rPr sz="1250" b="0" i="0">
                <a:solidFill>
                  <a:srgbClr val="141B2E"/>
                </a:solidFill>
                <a:latin typeface="Arial"/>
              </a:rPr>
              <a:t> Какая ветка стоит по умолчанию?</a:t>
            </a:r>
          </a:p>
        </p:txBody>
      </p:sp>
      <p:sp>
        <p:nvSpPr>
          <p:cNvPr id="13" name="TextBox 12"/>
          <p:cNvSpPr txBox="1"/>
          <p:nvPr/>
        </p:nvSpPr>
        <p:spPr>
          <a:xfrm>
            <a:off x="5842209" y="2912554"/>
            <a:ext cx="55146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из которой ничего не возвращается</a:t>
            </a:r>
          </a:p>
        </p:txBody>
      </p:sp>
      <p:cxnSp>
        <p:nvCxnSpPr>
          <p:cNvPr id="14" name="Connector 13"/>
          <p:cNvCxnSpPr/>
          <p:nvPr/>
        </p:nvCxnSpPr>
        <p:spPr>
          <a:xfrm>
            <a:off x="685800" y="32597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9709"/>
            <a:ext cx="501010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Какую величину системе велено максимизировать, и кто её выбрал?</a:t>
            </a:r>
          </a:p>
        </p:txBody>
      </p:sp>
      <p:sp>
        <p:nvSpPr>
          <p:cNvPr id="16" name="TextBox 15"/>
          <p:cNvSpPr txBox="1"/>
          <p:nvPr/>
        </p:nvSpPr>
        <p:spPr>
          <a:xfrm>
            <a:off x="5842209" y="3259709"/>
            <a:ext cx="551463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величину выбрал не тот, кто отвечает за последствия</a:t>
            </a:r>
          </a:p>
        </p:txBody>
      </p:sp>
      <p:sp>
        <p:nvSpPr>
          <p:cNvPr id="17" name="Rounded Rectangle 16"/>
          <p:cNvSpPr/>
          <p:nvPr/>
        </p:nvSpPr>
        <p:spPr>
          <a:xfrm>
            <a:off x="502920" y="46398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7678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Четвёртый вопрос задают не себе. Его задают тому, кто ставил задачу, — и это единственное место, где поломку выбора цели ещё можно поймать до запуска.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ступени закрыты</a:t>
            </a:r>
          </a:p>
        </p:txBody>
      </p:sp>
      <p:pic>
        <p:nvPicPr>
          <p:cNvPr id="3" name="Picture 2" descr="os-n37-lestnitsa-tri-zakryty.png"/>
          <p:cNvPicPr>
            <a:picLocks noChangeAspect="1"/>
          </p:cNvPicPr>
          <p:nvPr/>
        </p:nvPicPr>
        <p:blipFill>
          <a:blip r:embed="rId2"/>
          <a:stretch>
            <a:fillRect/>
          </a:stretch>
        </p:blipFill>
        <p:spPr>
          <a:xfrm>
            <a:off x="502920" y="1112093"/>
            <a:ext cx="11183112" cy="3354933"/>
          </a:xfrm>
          <a:prstGeom prst="rect">
            <a:avLst/>
          </a:prstGeom>
        </p:spPr>
      </p:pic>
      <p:sp>
        <p:nvSpPr>
          <p:cNvPr id="4" name="Rounded Rectangle 3"/>
          <p:cNvSpPr/>
          <p:nvPr/>
        </p:nvSpPr>
        <p:spPr>
          <a:xfrm>
            <a:off x="502920" y="5053462"/>
            <a:ext cx="82296" cy="10210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81478"/>
            <a:ext cx="10643616" cy="7650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Порядок, который работает на любой новой задаче:</a:t>
            </a:r>
          </a:p>
          <a:p>
            <a:pPr algn="l">
              <a:lnSpc>
                <a:spcPts val="1860"/>
              </a:lnSpc>
              <a:spcAft>
                <a:spcPts val="300"/>
              </a:spcAft>
            </a:pPr>
            <a:r>
              <a:rPr sz="1500" b="1" i="0">
                <a:solidFill>
                  <a:srgbClr val="141B2E"/>
                </a:solidFill>
                <a:latin typeface="Arial"/>
              </a:rPr>
              <a:t>справится ли один вызов → распадается ли задача на известные шаги → приходят ли входы разных типов → и только потом всё остальное.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