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работающий сценарий,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Начну не с нового, а с напоминания — всё, что на этом экране, было в Лекции 3, и сегодняшнее занятие стоит ровно на одной ступени той лестницы.</a:t>
            </a:r>
          </a:p>
          <a:p/>
          <a:p>
            <a:r>
              <a:t>Лестница такая: обычный код без ИИ, один вызов модели, поиск по документам, workflow, агент, мульти-агент. Правило движения по ней было сформулировано в лекции прямо: не поднимайся без требования, которого ступень ниже не закрывает. Это то же самое, что инженерные «делай простейшее, что работает» и «не делай впрок», переведённое на язык ИИ-систем.</a:t>
            </a:r>
          </a:p>
          <a:p/>
          <a:p>
            <a:r>
              <a:t>Мы сегодня на ступени </a:t>
            </a:r>
            <a:r>
              <a:rPr b="1"/>
              <a:t>workflow</a:t>
            </a:r>
            <a:r>
              <a:t>, и будем на ней все полтора часа. Агент — одиннадцатое занятие, мульти-агент — двенадцатое.</a:t>
            </a:r>
          </a:p>
          <a:p/>
          <a:p>
            <a:r>
              <a:t>Теперь различение, которое в лекции названо одним из самых важных. </a:t>
            </a:r>
            <a:r>
              <a:rPr b="1"/>
              <a:t>Workflow</a:t>
            </a:r>
            <a:r>
              <a:t> — система, где вызовы модели и инструменты оркеструются по путям, </a:t>
            </a:r>
            <a:r>
              <a:rPr b="1"/>
              <a:t>заданным заранее, в коде</a:t>
            </a:r>
            <a:r>
              <a:t>: модель вызывается на конкретных шагах, но не решает, какие шаги и в каком порядке делать. </a:t>
            </a:r>
            <a:r>
              <a:rPr b="1"/>
              <a:t>Агент</a:t>
            </a:r>
            <a:r>
              <a:t> — система, где модель </a:t>
            </a:r>
            <a:r>
              <a:rPr b="1"/>
              <a:t>сама</a:t>
            </a:r>
            <a:r>
              <a:t> определяет свой процесс по ходу, и последовательность шагов заранее не зафиксирована.</a:t>
            </a:r>
          </a:p>
          <a:p/>
          <a:p>
            <a:r>
              <a:t>Различение операциональное: из него прямо следует критерий выбора. Задача предсказуема, последовательность шагов известна заранее, пусть даже с ветвлениями, — workflow. Последовательность принципиально зависит от промежуточных результатов, и ценность задачи оправдывает кратный рост стоимости — агент.</a:t>
            </a:r>
          </a:p>
          <a:p/>
          <a:p>
            <a:r>
              <a:t>И чтобы слово «workflow» не звучало как «примитив»: у него своя развитая палитра, пять паттернов, все пять были в лекции. Цепочка — шаги друг за другом, и между ними можно поставить проверку. Маршрут — первый шаг относит вход к классу, дальше свой путь на каждый. Параллель — независимые подзадачи сразу, результат сводится. Дирижёр и исполнители — центральный шаг делит задачу в заданных рамках. Эталон и переделка — один делает, другой оценивает, цикл до порога.</a:t>
            </a:r>
          </a:p>
          <a:p/>
          <a:p>
            <a:r>
              <a:t>Запомните эту таблицу: сегодня мы соберём </a:t>
            </a:r>
            <a:r>
              <a:rPr b="1"/>
              <a:t>цепочку</a:t>
            </a:r>
            <a:r>
              <a:t>, на следующем занятии — </a:t>
            </a:r>
            <a:r>
              <a:rPr b="1"/>
              <a:t>маршрут</a:t>
            </a:r>
            <a:r>
              <a:t>, дальше по списку. Шесть занятий дуги — это шесть строк этой таблицы и то, во что они превращаются в живом инструменте.</a:t>
            </a:r>
          </a:p>
          <a:p/>
          <a:p>
            <a:r>
              <a:t>И фраза из лекции, которую стоит повторить дословно: большинство надёжных продакшн-систем — это workflow с предопределёнными путями, а не полностью динамические агенты.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экран — тоже пересказ, и тоже из Лекции 3. Он объясняет, почему дуга из шести занятий идёт снизу вверх, а не начинается с агентов, которые сейчас на слуху.</a:t>
            </a:r>
          </a:p>
          <a:p/>
          <a:p>
            <a:r>
              <a:t>Главная арифметика в одной фразе: </a:t>
            </a:r>
            <a:r>
              <a:rPr b="1"/>
              <a:t>надёжность последовательных шагов перемножается, а не усредняется.</a:t>
            </a:r>
            <a:r>
              <a:t> Если в конвейере десять шагов и сбой любого портит результат, общая надёжность примерно равна надёжности шага в десятой степени.</a:t>
            </a:r>
          </a:p>
          <a:p/>
          <a:p>
            <a:r>
              <a:t>Подставьте числа. Девяносто пять процентов на шаг — цифра, которая звучит прилично. Десять шагов: шестьдесят процентов. Девяносто процентов на шаг, тоже вроде нормально, — тридцать пять процентов на десяти шагах. Инженерная интуиция «каждый шаг почти всегда работает, значит и цепочка почти всегда работает» математически ложна, и это одна из самых дорогих ошибок отрасли.</a:t>
            </a:r>
          </a:p>
          <a:p/>
          <a:p>
            <a:r>
              <a:t>Отсюда два практических вывода, которые мы сегодня применим: цепочки держат короткими, и между шагами ставят проверки. Ровно это мы и будем делать в первом кейсе, и когда я поставлю лишний на вид узел проверки — вспомните этот экран.</a:t>
            </a:r>
          </a:p>
          <a:p/>
          <a:p>
            <a:r>
              <a:t>Дальше стоимость. Относительно обычного чата одиночный агент тратит порядка четырёх раз больше токенов, мульти-агент — порядка пятнадцати. И цитата из лекции, которая отрезвляет: мульти-агентные системы работают во многом потому, что помогают потратить достаточно токенов на задачу. Не «магия координации», а объём.</a:t>
            </a:r>
          </a:p>
          <a:p/>
          <a:p>
            <a:r>
              <a:t>И топология, цифра контринтуитивная. При одном и том же числе агентов «рой» равноправных усиливал ошибки в семнадцать целых две десятых раза, а централизованная оркестрация с одним координатором сдерживала их до четырёх целых четырёх десятых. То есть дирижёр надёжнее роя — обратное тому, что обычно предполагают.</a:t>
            </a:r>
          </a:p>
          <a:p/>
          <a:p>
            <a:r>
              <a:t>Правило из лекции, одной строкой: начинай с одного сильного. Многим задачам хватает одиночных вызовов плюс поиск по документам, а команды месяцами строили мульти-агентные схемы и потом обнаруживали, что улучшенный запрос к одному даёт то же самое.</a:t>
            </a:r>
          </a:p>
          <a:p/>
          <a:p>
            <a:r>
              <a:t>Вот поэтому мы сегодня на ступени workflow. Не потому, что агенты сложные, а потому, что это та ступень, на которой заканчивается большинство реальных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 то, в чём такие процессы собирают. Мы отобрали и разобрали пять инструментов, и классов вышло три.</a:t>
            </a:r>
          </a:p>
          <a:p/>
          <a:p>
            <a:r>
              <a:t>Первый класс по-человечески называется так: </a:t>
            </a:r>
            <a:r>
              <a:rPr b="1"/>
              <a:t>конвейеры между системами</a:t>
            </a:r>
            <a:r>
              <a:t>. Берут их, когда задача звучит «возьми оттуда, преобразуй, положи сюда и уведоми кого надо». Почта, таблицы, CRM, мессенджеры, базы. n8n, Activepieces, Make, Zapier. Это самый старый и самый массовый класс: такие инструменты существовали задолго до языковых моделей и просто получили новый тип блока.</a:t>
            </a:r>
          </a:p>
          <a:p/>
          <a:p>
            <a:r>
              <a:t>Второй — </a:t>
            </a:r>
            <a:r>
              <a:rPr b="1"/>
              <a:t>платформы для агентов</a:t>
            </a:r>
            <a:r>
              <a:t>. Берут, когда задача звучит «дай агенту инструменты и проверки и поручи ему задачу». Молодой класс, и в нём есть то, чего у первого нет: ограждения на выходе, оценка ответа, базы знаний, которые сами синхронизируются. Цена входа — ресурсы: двенадцать гигабайт памяти и выше, дома поднимается тяжело.</a:t>
            </a:r>
          </a:p>
          <a:p/>
          <a:p>
            <a:r>
              <a:t>Третий — </a:t>
            </a:r>
            <a:r>
              <a:rPr b="1"/>
              <a:t>конструкторы LLM-приложений</a:t>
            </a:r>
            <a:r>
              <a:t>. Берут, когда задача звучит «собери чат по своим документам»: цепочка вызовов, поиск, память диалога. LangFlow, Dify.</a:t>
            </a:r>
          </a:p>
          <a:p/>
          <a:p>
            <a:r>
              <a:t>Теперь два вопроса, которые на самом деле решают выбор, — и обратите внимание, что ни один из них не про ИИ. Он есть во всех трёх классах.</a:t>
            </a:r>
          </a:p>
          <a:p/>
          <a:p>
            <a:r>
              <a:t>Первый вопрос: </a:t>
            </a:r>
            <a:r>
              <a:rPr b="1"/>
              <a:t>кто запускает</a:t>
            </a:r>
            <a:r>
              <a:t>. Человек, расписание или чужая система? Если в задаче есть слова «каждое утро» или «когда придёт письмо» — третий класс отпадает сразу: расписания у него нет вовсе, запуск только снаружи, вызовом или из чата. Это одна проверка, и она отсекает целый класс.</a:t>
            </a:r>
          </a:p>
          <a:p/>
          <a:p>
            <a:r>
              <a:t>Второй: </a:t>
            </a:r>
            <a:r>
              <a:rPr b="1"/>
              <a:t>что у вас считается шагом</a:t>
            </a:r>
            <a:r>
              <a:t>. Шаг рабочего процесса — первый класс. Задача, которую решает агент, — второй. Вызов модели внутри приложения — третий.</a:t>
            </a:r>
          </a:p>
          <a:p/>
          <a:p>
            <a:r>
              <a:t>Одно замечание к устойчивости этого рынка, и я скажу его голосом, а не вынесу на экран. Flowise — был одним из двух самых известных конструкторов третьего класса, его знали все, кто смотрел в эту сторону. Тридцать первого августа этого года он закрыт: не заброшен, а официально закрыт, с объявлением, архивацией кода и названной датой конца жизни. Причина, которую назвали сами авторы: жёсткий визуальный low-code упирается в предел по сложности, а разработчики к этому моменту ушли к кодинг-агентам. Я это говорю не как курьёз: выбирая, на чём строить, учитывайте, что целый класс инструментов может закрыться.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экран введения — про инструмент, в котором будем смотреть, и про слова, которые дальше я начну употреблять как известные.</a:t>
            </a:r>
          </a:p>
          <a:p/>
          <a:p>
            <a:r>
              <a:t>Смотрите на снимок. </a:t>
            </a:r>
            <a:r>
              <a:rPr b="1"/>
              <a:t>Холст</a:t>
            </a:r>
            <a:r>
              <a:t> — поле, на котором процесс рисуется мышкой; вот он, занимает весь экран. Процесс здесь не текст, а схема, и это главная причина популярности таких инструментов: на схему можно показать пальцем коллеге, который не программист, и он поймёт.</a:t>
            </a:r>
          </a:p>
          <a:p/>
          <a:p>
            <a:r>
              <a:rPr b="1"/>
              <a:t>Узел</a:t>
            </a:r>
            <a:r>
              <a:t> — один шаг, вот эти прямоугольники. У каждого карточка с параметрами: щёлкнул — открылась. Добавить шаг означает поставить узел и соединить стрелкой. И обратите внимание, чего здесь нет: между правкой и проверкой нет ни сборки, ни развёртывания. Нажал «выполнить» и смотришь.</a:t>
            </a:r>
          </a:p>
          <a:p/>
          <a:p>
            <a:r>
              <a:t>Третье — </a:t>
            </a:r>
            <a:r>
              <a:rPr b="1"/>
              <a:t>учётные данные</a:t>
            </a:r>
            <a:r>
              <a:t>, и это важнее, чем кажется. Ключи и доступы живут </a:t>
            </a:r>
            <a:r>
              <a:rPr b="1"/>
              <a:t>отдельно от сценария</a:t>
            </a:r>
            <a:r>
              <a:t>: вы заводите их один раз, а узел ссылается на них по имени. Отсюда два следствия. Первое: в файле сценария ключей нет, и файл можно отдать коллеге или студенту — мы на этом построим домашнее задание. Второе: один ключ переиспользуется во всех ваших процессах, и менять его при ротации надо в одном месте, а не в двадцати.</a:t>
            </a:r>
          </a:p>
          <a:p/>
          <a:p>
            <a:r>
              <a:t>Четвёртое — </a:t>
            </a:r>
            <a:r>
              <a:rPr b="1"/>
              <a:t>готовые интеграции</a:t>
            </a:r>
            <a:r>
              <a:t>. Больше четырёхсот сервисов из коробки: почта, таблицы, мессенджеры, CRM, базы, облака, и для всего остального есть узел обычного HTTP-запроса. Это и есть главная ценность класса: «взять из Google Таблиц и положить в Телеграм» — два узла, а не два дня чтения чужой документации. Вы не пишете клиент к API, вы заполняете поля.</a:t>
            </a:r>
          </a:p>
          <a:p/>
          <a:p>
            <a:r>
              <a:t>Пятое — то, чего от такого инструмента обычно не ждут: </a:t>
            </a:r>
            <a:r>
              <a:rPr b="1"/>
              <a:t>простые интерфейсы встроены</a:t>
            </a:r>
            <a:r>
              <a:t>. Узел формы даёт настоящую веб-страницу с полями, валидацией и экраном результата — по адресу, который можно отправить человеку. То есть вы можете отдать людям рабочий вход в процесс, не поднимая ни фронтенда, ни хостинга, ни дизайна. Мы этим сегодня воспользуемся: и вход нашего процесса, и экран, на котором зал увидит результат, — это он.</a:t>
            </a:r>
          </a:p>
          <a:p/>
          <a:p>
            <a:r>
              <a:t>И шестое — </a:t>
            </a:r>
            <a:r>
              <a:rPr b="1"/>
              <a:t>прогон и журнал</a:t>
            </a:r>
            <a:r>
              <a:t>. Прогон это одно исполнение, от триггера до конца, у него свой номер. Журнал хранит их целиком: можно открыть прогон недельной давности и посмотреть, что именно пришло на вход третьего узла и что он отдал. Мы в этот журнал заглянем сегодня трижды, и дважды он покажет неприятное.</a:t>
            </a:r>
          </a:p>
          <a:p/>
          <a:p>
            <a:r>
              <a:t>Теперь зачем именно он выбран для курса. Ставится локально и бесплатно — значит, вы повторите дома, и это условие было главным. ИИ-блоки в коробке, отдельной подписки не нужно. Запускается по расписанию и по событию — то, чего нет у третьего класса с предыдущего экрана. И процесс выгружается одним файлом: этот файл вы унесёте.</a:t>
            </a:r>
          </a:p>
          <a:p/>
          <a:p>
            <a:r>
              <a:t>Честно про то, чего ждать не надо. Лицензия ядра не вполне свободная — у Activepieces в этом смысле чище, и если это для вас критерий, смотрите туда. Установка без контейнера объявлена устаревшей. И интерфейс меняется между версиями заметно: поэтому принципиальные схемы мы рисуем отдельно от снимков — схема переживёт смену версии, снимок нет.</a:t>
            </a:r>
          </a:p>
          <a:p/>
          <a:p>
            <a:r>
              <a:t>Всё. Дальше — ось занятия, и потом внутрь.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что-то собирать, одна мысль, на которой держится всё занятие.</a:t>
            </a:r>
          </a:p>
          <a:p/>
          <a:p>
            <a:r>
              <a:t>Процесс, который </a:t>
            </a:r>
            <a:r>
              <a:rPr b="1"/>
              <a:t>работает</a:t>
            </a:r>
            <a:r>
              <a:t>, и процесс, за который можно </a:t>
            </a:r>
            <a:r>
              <a:rPr b="1"/>
              <a:t>ручаться</a:t>
            </a:r>
            <a:r>
              <a:t>, — это два разных процесса. Первый доезжает до конца и не падает. Про второй вы знаете, что окажется в каждой строке результата и что произойдёт, когда он сломается.</a:t>
            </a:r>
          </a:p>
          <a:p/>
          <a:p>
            <a:r>
              <a:t>Собрать первый легко. Почти все на нём и останавливаются — не из лени, а потому что он выглядит готовым. Он работает. Его показывают руководителю, и руководитель видит, что работает.</a:t>
            </a:r>
          </a:p>
          <a:p/>
          <a:p>
            <a:r>
              <a:t>Посмотрите на таблицу. В левой колонке четыре вещи, каждую из которых вы увидите своими глазами и совершенно справедливо сочтёте успехом: заявка доехала до таблицы; клетка заполнена, и значение в ней законное; прогон зелёный, ни одной ошибки в журнале; правка на холсте стоит, никто её не откатывал.</a:t>
            </a:r>
          </a:p>
          <a:p/>
          <a:p>
            <a:r>
              <a:t>Правая колонка пустая. В ней будет то, чем каждая из этих четырёх радостей оказывается на самом деле. Мы заполним её своими руками — по одной строке за кейс, и каждый раз не моим рассказом, а тем, что увидим на экране.</a:t>
            </a:r>
          </a:p>
          <a:p/>
          <a:p>
            <a:r>
              <a:t>И вот зачем я прошу запомнить эту таблицу. В конце занятия мы к ней вернёмся, и вы увидите все четыре пары рядом. Если после этого вы станете спрашивать себя про любой свой процесс «он работает или за него можно ручаться» — занятие удалось, даже если вы забудете, как называется каждый блок.</a:t>
            </a:r>
          </a:p>
          <a:p/>
          <a:p>
            <a:r>
              <a:t>Вопрос занятия я задаю сейчас и прошу держать его в голове полтора часа: </a:t>
            </a:r>
            <a:r>
              <a:rPr b="1"/>
              <a:t>возьмите процесс, который у вас на работе уже работает — он работает или за него можно ручаться?</a:t>
            </a:r>
            <a:r>
              <a:t> Отвечать сейчас не надо, у вас пока нет способа проверить. К концу занятия будет четыре.</a:t>
            </a:r>
          </a:p>
          <a:p/>
          <a:p>
            <a:r>
              <a:t>Сегодняшняя задача маленькая намеренно: заявка с формы сайта должна попадать в таблицу уже разобранной. На ней все четыре различия видно целиком, за полтора часа, на живом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Форма работает, заявки приходят — и дальше их читает человек и перекладывает в таблицу руками.</a:t>
            </a:r>
          </a:p>
          <a:p/>
          <a:p>
            <a:r>
              <a:t>Это та самая ситуация, в которой автоматизацию обычно и заводят: не потому, что что-то сломалось, а потому, что работа скучная и её много. И именно поэтому её чаще всего делают наполовину.</a:t>
            </a:r>
          </a:p>
          <a:p/>
          <a:p>
            <a:r>
              <a:t>Кто этот человек и чего ему это стоит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Сцена, на которой мы проведём почти всё занятие. Она маленькая намеренно: на ней видно всё устройство целиком.</a:t>
            </a:r>
          </a:p>
          <a:p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 Форма складывает всё это письмами — и дальше ничего не происходит, письма просто лежат.</a:t>
            </a:r>
          </a:p>
          <a:p/>
          <a:p>
            <a:r>
              <a:t>Дальше работает администратор. Открывает каждое письмо, читает, понимает, о чём оно, и переносит в таблицу. Двадцать заявок в день, около сорока минут. И самое важное про эти сорок минут: работа такая, что к концу её делают механически — не потому, что человек плохой, а потому, что двадцатое письмо похоже на пятое.</a:t>
            </a:r>
          </a:p>
          <a:p/>
          <a:p>
            <a:r>
              <a:t>В таблице она ставит руками два столбца: тема и срочность. И вот тут цена становится настоящей: по этим двум столбцам потом сортируют, считают и раскладывают заявки по людям. Ошибка в них стоит не минуты работы — она стоит потерянной заявки. Человек, записавшийся на курс, не получает звонка.</a:t>
            </a:r>
          </a:p>
          <a:p/>
          <a:p>
            <a:r>
              <a:t>И последняя строка, которую стоит произнести вслух, потому что она узнаваемая: в пятницу вечером заявок больше, а времени меньше. Именно тогда появляется «потом разберу», и именно тогда что-то теряется.</a:t>
            </a:r>
          </a:p>
          <a:p/>
          <a:p>
            <a:r>
              <a:t>Что должно получиться. Заявка попадает в таблицу сама, и тема со срочностью заполнены всегда — значениями из закрытого списка, а не любыми подходящими словами. Обратите внимание на это требование: не «обычно заполнены» и не «каким-нибудь разумным словом». Столбец, в котором иногда пусто, а иногда «интересуется аналитикой», для сортировки не годится, и вся затея теряет смысл.</a:t>
            </a:r>
          </a:p>
          <a:p/>
          <a:p>
            <a:r>
              <a:t>Это и есть задача. Теперь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перед вами, требование названо. Вопрос: из скольких узлов соберётся процесс, который решает это полностью?</a:t>
            </a:r>
          </a:p>
          <a:p/>
          <a:p>
            <a:r>
              <a:t>Узел — это шаг на холсте, который придётся поставить и настроить. Считаем именно их.</a:t>
            </a:r>
          </a:p>
          <a:p/>
          <a:p>
            <a:r>
              <a:t>Четыре ответа, и у каждого на экране только довод за него — без разбора, разбор на следующем экране.</a:t>
            </a:r>
          </a:p>
          <a:p/>
          <a:p>
            <a:r>
              <a:t>Два: форма уже есть, таблица уже есть, осталось соединить. Три: между ними нужен шаг модели, он прочитает заявку и назовёт тему. Шесть: если решением считать то, за что можно отвечать перед человеком, который этот столбец читает. И «зависит»: смотря что считать решением задачи.</a:t>
            </a:r>
          </a:p>
          <a:p/>
          <a:p>
            <a:r>
              <a:t>Выбирайте и формулируйте довод. И думайте не про то, сколько нужно, чтобы заработало, а про то, сколько нужно, чтобы вы могли поручиться за каждую строку в этой таблице. Это разные числа, и разница между ними — содержание следующего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ответам, и начну с того, который выбирает большинство.</a:t>
            </a:r>
          </a:p>
          <a:p/>
          <a:p>
            <a:r>
              <a:t>Два узла — форма и таблица. Мгновенно, бесплатно, ломаться нечему. И задача не решена: тему и срочность по-прежнему ставит человек, читая каждую заявку. Это не процесс, это труба.</a:t>
            </a:r>
          </a:p>
          <a:p/>
          <a:p>
            <a:r>
              <a:t>Три узла — форма, шаг модели, таблица. Заявка доезжает, в столбце что-то появляется, и выглядит это как успех. Вот чего здесь нет.</a:t>
            </a:r>
          </a:p>
          <a:p/>
          <a:p>
            <a:r>
              <a:t>Во-первых, тема будет какой угодно. Я это проверял на стенде: на одну и ту же заявку модель отвечала «запись», «обучение», «интересуется аналитикой» и однажды «Аналитика.» — с большой буквы и с точкой на конце. Каждый ответ разумный. Ни одна сортировка по такому столбцу не соберётся.</a:t>
            </a:r>
          </a:p>
          <a:p/>
          <a:p>
            <a:r>
              <a:t>Во-вторых, срочности не будет вовсе, если её отдельно не попросить. Модель отвечает на то, о чём спросили.</a:t>
            </a:r>
          </a:p>
          <a:p/>
          <a:p>
            <a:r>
              <a:t>В-третьих, чтобы узнать, что получилось, надо идти в таблицу. На занятии это переключение экрана на каждый прогон, а на отладке таких прогонов десятки.</a:t>
            </a:r>
          </a:p>
          <a:p/>
          <a:p>
            <a:r>
              <a:t>Шесть узлов — то, что мы сейчас соберём, и это именно решение. Между шагом модели и таблицей встаёт </a:t>
            </a:r>
            <a:r>
              <a:rPr b="1"/>
              <a:t>сверка со списком</a:t>
            </a:r>
            <a:r>
              <a:t>: она не даст ни пустой темы, ни темы вне списка. А в конце встаёт </a:t>
            </a:r>
            <a:r>
              <a:rPr b="1"/>
              <a:t>экран результата</a:t>
            </a:r>
            <a:r>
              <a:t>: в том же окне браузера, где заявку отправили, печатается вход, что вернула модель, что решила сверка и номер строки.</a:t>
            </a:r>
          </a:p>
          <a:p/>
          <a:p>
            <a:r>
              <a:t>Эти два узла и есть вся разница между «работает» и «можно ручаться». Они выглядят лишними — ровно до того момента, когда кто-нибудь спросит, кто отвечает за содержимое столбца «тема».</a:t>
            </a:r>
          </a:p>
          <a:p/>
          <a:p>
            <a:r>
              <a:t>Кто ответил «зависит» — вы правы по сути, и я приму этот ответ, если скажете, от чего. Ответ: от того, считаем ли мы решением то, что заработало, или то, за что можно поручиться. Это первая строка нашей оси, и мы её сейчас закроем.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Шесть узлов, и смотрите на холст: под узлом извлечения висит </a:t>
            </a:r>
            <a:r>
              <a:rPr b="1"/>
              <a:t>отдельная коробка</a:t>
            </a:r>
            <a:r>
              <a:t>, называется «модель».</a:t>
            </a:r>
          </a:p>
          <a:p/>
          <a:p>
            <a:r>
              <a:t>Это устройство всех ИИ-блоков в этом инструменте. Шаг модели — всегда </a:t>
            </a:r>
            <a:r>
              <a:rPr b="1"/>
              <a:t>два</a:t>
            </a:r>
            <a:r>
              <a:t> узла: сам шаг и подключённая к нему модель. Точно так же потом подключают память и инструменты, и когда на одиннадцатом занятии мы соберём агента, у него под брюхом будет висеть три таких коробки.</a:t>
            </a:r>
          </a:p>
          <a:p/>
          <a:p>
            <a:r>
              <a:t>Запомните это сейчас по двум причинам. Первая: когда считаете узлы, считайте и модель — её видно, и она займёт место на холсте. Вторая, важнее: повтор и расход считаются </a:t>
            </a:r>
            <a:r>
              <a:rPr b="1"/>
              <a:t>на узле модели</a:t>
            </a:r>
            <a:r>
              <a:t>, а не на том, где вы поставили галочку. В третьем кейсе мы на это наткнёмся, и я хочу, чтобы это не было сюрпризом.</a:t>
            </a:r>
          </a:p>
          <a:p/>
          <a:p>
            <a:r>
              <a:t>Теперь по порядку, зачем каждый. Форма — вход: три поля, все обязательные.</a:t>
            </a:r>
          </a:p>
          <a:p/>
          <a:p>
            <a:r>
              <a:t>Извлечение полей — достаёт из текста значения, а не пересказ. Как устроена его схема, разберём на следующем экране: это главное в кейсе.</a:t>
            </a:r>
          </a:p>
          <a:p/>
          <a:p>
            <a:r>
              <a:t>Сверка со списком — последняя инстанция: что пришло не из списка или пустым, становится «другое» и «не указано».</a:t>
            </a:r>
          </a:p>
          <a:p/>
          <a:p>
            <a:r>
              <a:t>Запись строки — и обратите внимание, откуда берутся значения: у предыдущего узла, то есть у сверки, а не у модели. Поэтому в таблице не бывает ни пустой темы, ни темы вне списка.</a:t>
            </a:r>
          </a:p>
          <a:p/>
          <a:p>
            <a:r>
              <a:t>Экран результата — тот же узел формы, в режиме завершения. Печатает всю дорогу в том же окне, где отправили заявку: ходить в журнал и в таблицу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узла, на которых держится кейс, и по одному параметру в каждом.</a:t>
            </a:r>
          </a:p>
          <a:p/>
          <a:p>
            <a:r>
              <a:t>Схему в узле извлечения задаю </a:t>
            </a:r>
            <a:r>
              <a:rPr b="1"/>
              <a:t>вручную</a:t>
            </a:r>
            <a:r>
              <a:t>, и вот зачем. Её можно задать описаниями словами, и это проще, — но описание допустимые значения только </a:t>
            </a:r>
            <a:r>
              <a:rPr b="1"/>
              <a:t>предлагает</a:t>
            </a:r>
            <a:r>
              <a:t>. Мне нужно, чтобы инструмент их </a:t>
            </a:r>
            <a:r>
              <a:rPr b="1"/>
              <a:t>перечислил</a:t>
            </a:r>
            <a:r>
              <a:t>, и для этого в схеме есть перечисление: тема — одно из четырёх, срочность — одно из трёх, оба поля обязательны.</a:t>
            </a:r>
          </a:p>
          <a:p/>
          <a:p>
            <a:r>
              <a:t>Последние значения в списках — «другое» и «не указано». Это не формальность и не вежливость: без них классификация упирается в пустую клетку на первой же непонятной заявке, а модель, которой не дали законного «не знаю», поставит ближайшее подходящее и не скажет об этом.</a:t>
            </a:r>
          </a:p>
          <a:p/>
          <a:p>
            <a:r>
              <a:t>Второй узел — сверка. Обычный «задать поля», никакого кода, и в нём стоит выражение: доллар-json, точка, тема, две вертикальные черты, «другое». Читается буквально: возьми тему, а если её нет — поставь «другое». И то же для срочности.</a:t>
            </a:r>
          </a:p>
          <a:p/>
          <a:p>
            <a:r>
              <a:t>Зачем он, если перечисление уже в схеме? Потому что схема — просьба к модели, пусть и строгая, а это — последняя инстанция. Схему можно обойти: она действует не во всех режимах, а на отказ модели по безопасности придёт вообще не ваше поле. Этот узел обойти нельзя. Отсюда формулировка, которую я прошу унести: </a:t>
            </a:r>
            <a:r>
              <a:rPr b="1"/>
              <a:t>модель предлагает, список решает.</a:t>
            </a:r>
          </a:p>
          <a:p/>
          <a:p>
            <a:r>
              <a:t>Теперь, прежде чем я нажму «отправить», — предскажите. Заявка: «хочу на курс по аналитике, перезвоните сегодня после шести, телефон в конце». Что напечатает экран в строке «что предложила модель»: какая тема, какая срочность, что окажется в контакте из текста? Говорите вслух, у вас пятнадцать секунд.</a:t>
            </a:r>
          </a:p>
          <a:p/>
          <a:p>
            <a:r>
              <a:t>Отправляю. Смотрим: тема «курс», срочность «сегодня», телефон вытащен из текста. У кого совпало — вы только что предсказали поведение шага модели, и это ровно то умение, за которым мы здесь собрались.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критерий — то, с чем можно выйти отсюда и применить к своей работе, не помня ни одного имени блока.</a:t>
            </a:r>
          </a:p>
          <a:p/>
          <a:p>
            <a:r>
              <a:t>Закрытый список нужен, когда результат шага читает </a:t>
            </a:r>
            <a:r>
              <a:rPr b="1"/>
              <a:t>следующий шаг</a:t>
            </a:r>
            <a:r>
              <a:t>: по нему фильтруют, сортируют, считают или решают, куда заявку отправить. Машина не умеет сравнивать свободный текст, и ей нужно конечное множество значений, известное заранее.</a:t>
            </a:r>
          </a:p>
          <a:p/>
          <a:p>
            <a:r>
              <a:t>Не нужен, когда результат читает </a:t>
            </a:r>
            <a:r>
              <a:rPr b="1"/>
              <a:t>человек</a:t>
            </a:r>
            <a:r>
              <a:t> и он же решает, что делать. Ему свободный текст помогает: в пересказе может оказаться деталь, которой в вашем списке нет. Не загоняйте в список то, что читают глазами.</a:t>
            </a:r>
          </a:p>
          <a:p/>
          <a:p>
            <a:r>
              <a:t>Вторая строка про отчётность. Если по полю когда-нибудь будет отчёт — «сколько заявок про оплату за месяц» — список нужен, и нужен с самого начала, потому что задним числом он не появится: старые строки останутся свободным текстом, и годовой отчёт сложит несравнимое. Если поле нужно один раз для одного письма — не тратьте время.</a:t>
            </a:r>
          </a:p>
          <a:p/>
          <a:p>
            <a:r>
              <a:t>Третья — про ответственность. Результат уходит в начисление, в рассылку, в обязательство перед клиентом: список обязателен. Ошибку заметит тот же человек в тот же день и поправит за минуту: обойдётесь.</a:t>
            </a:r>
          </a:p>
          <a:p/>
          <a:p>
            <a:r>
              <a:t>Четвёртая — про рост. Поток растёт, типов входа становится больше одного: нужен. Двадцать обращений в неделю и пять минут в день, и так будет дальше: подумайте дважды, прежде чем строить процесс, который придётся поддерживать.</a:t>
            </a:r>
          </a:p>
          <a:p/>
          <a:p>
            <a:r>
              <a:t>И предел, после которого список перестаёт работать, — одна фраза, но она дорогая. </a:t>
            </a:r>
            <a:r>
              <a:rPr b="1"/>
              <a:t>Список, в котором нет «иначе», не отказывает.</a:t>
            </a:r>
            <a:r>
              <a:t> Он заставляет модель выбрать ближайшее из того, что есть. Вы получите совершенно законное значение на заявке, которой в вашем списке не место, и не узнаете об этом никогда — ни одна проверка формата этого не поймает, потому что формат в порядке.</a:t>
            </a:r>
          </a:p>
          <a:p/>
          <a:p>
            <a:r>
              <a:t>Возвращаемся к оси. Первая строка: три узла заявку довозят, и это выглядит успехом. Чем оказалось: тема какая угодно, срочности нет вовсе, ручаться нечем. Разница между «работает» и «можно ручаться» здесь ровно в двух узлах — том, что сверяет со списком, и том, что показывает результат. Два узла из шести, и без них процесс работает, а отвечать за него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вы собрали — теперь словарь. Я ставлю его здесь, а не в начале, намеренно: девятнадцать незнакомых имён до того, как вы увидели хоть один работающий процесс, не ложатся никуда. А сейчас у вас в голове есть шесть коробок на холсте, и имена цепляются за них.</a:t>
            </a:r>
          </a:p>
          <a:p/>
          <a:p>
            <a:r>
              <a:t>Слева девять типов блоков. Это словарь, и он не про n8n: с этими же девятью типами вы встретитесь в любом инструменте автоматизации процессов, под другими именами. Справа — чем каждый является в n8n, потому что смотреть мы будем в нём.</a:t>
            </a:r>
          </a:p>
          <a:p/>
          <a:p>
            <a:r>
              <a:t>Пройду по строкам быстро, задерживаясь там, где есть что сказать.</a:t>
            </a:r>
          </a:p>
          <a:p/>
          <a:p>
            <a:r>
              <a:t>Триггер — то, что запускает процесс. Без него процесса нет, он просто не начнётся. Триггеры бывают трёх родов: по действию человека, по событию снаружи, по времени. В n8n это форма, вебхук и расписание соответственно. Есть и четвёртый, искусственный — ручной запуск, «выполнить, потому что я нажал кнопку»; он для отладки, и в бою его не бывает.</a:t>
            </a:r>
          </a:p>
          <a:p/>
          <a:p>
            <a:r>
              <a:t>Действие — блок, который что-то делает: вызывает чужой сервис, пишет строку, отправляет письмо. Это то, ради чего процесс существует.</a:t>
            </a:r>
          </a:p>
          <a:p/>
          <a:p>
            <a:r>
              <a:t>Преобразование — меняет форму данных, не трогая смысл: переименовать поле, собрать значение из двух, привести к нужному виду. В n8n это «задать поля», и мы им сегодня воспользуемся в неочевидном месте.</a:t>
            </a:r>
          </a:p>
          <a:p/>
          <a:p>
            <a:r>
              <a:t>Условие — выбор пути. Два пути или много. Следующее занятие целиком про эту строку.</a:t>
            </a:r>
          </a:p>
          <a:p/>
          <a:p>
            <a:r>
              <a:t>Цикл — повторить шаги по элементам списка. И сразу забегу вперёд: в n8n отдельный цикл нужен реже, чем вы думаете, и почему — следующий экран.</a:t>
            </a:r>
          </a:p>
          <a:p/>
          <a:p>
            <a:r>
              <a:t>Слияние — свести разошедшиеся ветки обратно в один поток. У него есть неприятная особенность, из-за которой теряют данные, и это тоже следующее занятие.</a:t>
            </a:r>
          </a:p>
          <a:p/>
          <a:p>
            <a:r>
              <a:t>Подпроцесс — вызов другого процесса как шага. Это то, что превращает процесс из простыни в структуру.</a:t>
            </a:r>
          </a:p>
          <a:p/>
          <a:p>
            <a:r>
              <a:t>Обработчик сбоя. Обратите внимание: в n8n это не один блок, а три разных механизма — настройки на каждом узле, отдельный сценарий-обработчик и блок принудительной остановки. Третий кейс сегодня про первый из трёх.</a:t>
            </a:r>
          </a:p>
          <a:p/>
          <a:p>
            <a:r>
              <a:t>И последняя строка, выделенная. Шаг модели — единственный новый тип блока в этой таблице. Все остальные восемь были и двадцать лет назад. Нов он тем, что принимает решение на неструктурированном входе, и тем, что может ошибиться незаметно.</a:t>
            </a:r>
          </a:p>
          <a:p/>
          <a:p>
            <a:r>
              <a:t>Четыре строки вы уже закрыли своими руками, пятнадцать минут назад. Триггер — это была форма. Действие — запись строки и показ результата. Преобразование — сверка со списком, тот самый узел «задать поля». Шаг модели — извлечение и подключённая к нему модель, две коробки. Обработчик сбоя закроем через два кейса, тоже сегодня.</a:t>
            </a:r>
          </a:p>
          <a:p/>
          <a:p>
            <a:r>
              <a:t>Остальные четыре — расписание дуги, и я называю его, чтобы вы знали, куда мы идём. Условие и слияние — следующее занятие. Цикл и подпроцесс — через два. Агент — это та же строка «шаг модели», но с подключёнными инструментами, и это одиннадцатое занятие.</a:t>
            </a:r>
          </a:p>
          <a:p/>
          <a:p>
            <a:r>
              <a:t>К этой таблице мы будем возвращаться каждый раз, и каждый раз в ней будет закрашено больше. Если через шесть занятий вы будете держать её в голове — вы умеете читать любой процесс в любом таком инструменте, а не только в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то, без чего всё дальнейшее читается как магия. И сразу предупреждаю: это не общее свойство автоматизации процессов, это особенность n8n, и подавать я её буду именно так.</a:t>
            </a:r>
          </a:p>
          <a:p/>
          <a:p>
            <a:r>
              <a:t>В n8n между узлами всегда идёт список элементов. Всегда. Даже когда элемент один — это список из одного.</a:t>
            </a:r>
          </a:p>
          <a:p/>
          <a:p>
            <a:r>
              <a:t>И отсюда правило, выделенное на экране, которое объясняет половину странностей инструмента: </a:t>
            </a:r>
            <a:r>
              <a:rPr b="1"/>
              <a:t>узел выполняется по разу на каждый элемент списка</a:t>
            </a:r>
            <a:r>
              <a:t>. Не один раз на прогон. По разу на элемент.</a:t>
            </a:r>
          </a:p>
          <a:p/>
          <a:p>
            <a:r>
              <a:t>Посмотрите на схему: слева список из трёх заявок, справа один узел на холсте — и три его выполнения. Узел нарисован один, сработал трижды.</a:t>
            </a:r>
          </a:p>
          <a:p/>
          <a:p>
            <a:r>
              <a:t>И третья строка, техническая, но без неё вы будете спотыкаться на выражениях весь день. Каждый элемент — это объект с обязательной обёрткой: содержательная часть лежит в поле </a:t>
            </a:r>
            <a:r>
              <a:rPr>
                <a:latin typeface="Consolas"/>
              </a:rPr>
              <a:t>json</a:t>
            </a:r>
            <a:r>
              <a:t>, а если это файл — отдельно, в </a:t>
            </a:r>
            <a:r>
              <a:rPr>
                <a:latin typeface="Consolas"/>
              </a:rPr>
              <a:t>binary</a:t>
            </a:r>
            <a:r>
              <a:t>. Из-за этой обёртки в выражениях вы везде пишете </a:t>
            </a:r>
            <a:r>
              <a:rPr>
                <a:latin typeface="Consolas"/>
              </a:rPr>
              <a:t>$json</a:t>
            </a:r>
            <a:r>
              <a:t> точка имя поля, а не просто имя: вы спускаетесь на один уровень внутрь элемента.</a:t>
            </a:r>
          </a:p>
          <a:p/>
          <a:p>
            <a:r>
              <a:t>Что из правила следует практически — две строки в таблице перед вами, и обе вы увидите в первый же месяц работы.</a:t>
            </a:r>
          </a:p>
          <a:p/>
          <a:p>
            <a:r>
              <a:t>И последнее, что понадобится, когда захотите сработать </a:t>
            </a:r>
            <a:r>
              <a:rPr b="1"/>
              <a:t>один раз на весь список</a:t>
            </a:r>
            <a:r>
              <a:t> — скажем, отправить одно сводное письмо по всем заявкам. Для этого есть настройка на узле, «выполнить один раз»: он сработает единожды, с данными первого элемента. Лежит она в настройках узла, не в параметрах, и запомнить, где именно, стоит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Процесс, который мы собрали, работает честно: пустых клеток нет, значения из списка, прогон зелёный. За это мы ручались и ручаемся.</a:t>
            </a:r>
          </a:p>
          <a:p/>
          <a:p>
            <a:r>
              <a:t>А теперь посмотрим, за что мы </a:t>
            </a:r>
            <a:r>
              <a:rPr b="1"/>
              <a:t>не</a:t>
            </a:r>
            <a:r>
              <a:t> ручались, — и обнаружится это не в журнале и не на моём экране, а в разговоре с человеком, который звонит и спрашивает, почему ему ответили на половину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второго кейса, и она из того, что мы собрали минуту назад.</a:t>
            </a:r>
          </a:p>
          <a:p/>
          <a:p>
            <a:r>
              <a:t>Вторник. Приходит заявка: «можно перенести занятие со вторника? И подскажите, как оплатить». Две темы в одном сообщении, обе наши, обе есть в списке.</a:t>
            </a:r>
          </a:p>
          <a:p/>
          <a:p>
            <a:r>
              <a:t>Процесс отрабатывает — и отрабатывает честно. В таблице строка, тема «перенос занятия», срочность «не указано». Всё заполнено, значение из списка, прогон зелёный. По всем нашим обещаниям — успех.</a:t>
            </a:r>
          </a:p>
          <a:p/>
          <a:p>
            <a:r>
              <a:t>Администратор видит тему «перенос занятия». Переносит занятие. Закрывает заявку.</a:t>
            </a:r>
          </a:p>
          <a:p/>
          <a:p>
            <a:r>
              <a:t>Про оплату не узнал никто. Её нет ни в таблице, ни в журнале, ни на экране результата — вторая тема не потерялась с ошибкой, её просто нет нигде.</a:t>
            </a:r>
          </a:p>
          <a:p/>
          <a:p>
            <a:r>
              <a:t>Человек прождал ответа про счёт три дня и позвонил сам. Спросил, почему на половину его вопроса не ответили. Это та самая цена, которую мы считаем не в минутах: заявка обслужена наполовину, и узнали мы об этом от клиента, а не от системы.</a:t>
            </a:r>
          </a:p>
          <a:p/>
          <a:p>
            <a:r>
              <a:t>И вот что важно про эту сцену: </a:t>
            </a:r>
            <a:r>
              <a:rPr b="1"/>
              <a:t>это не ошибка процесса</a:t>
            </a:r>
            <a:r>
              <a:t>. Мы ручались, что клетка не пуста и значение в ней из списка, — и это выполнено. Что в клетке окажется </a:t>
            </a:r>
            <a:r>
              <a:rPr b="1"/>
              <a:t>всё</a:t>
            </a:r>
            <a:r>
              <a:t>, что было в заявке, мы не обещали. Это граница того, за что мы отвечали, и она обнаружилась при первом же столкновении с живой заявкой.</a:t>
            </a:r>
          </a:p>
          <a:p/>
          <a:p>
            <a:r>
              <a:t>Теперь вопрос — он про то, что с этим делать.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в нём нет технической части: все четыре варианта собираются одинаково легко. Выбор тут содержательный.</a:t>
            </a:r>
          </a:p>
          <a:p/>
          <a:p>
            <a:r>
              <a:t>Первый: писать первую из найденных тем. Второй: писать «другое» — раз тем несколько, автоматика не справилась, пусть разбирает человек. Третий: сделать из одной заявки две строки, по теме на каждую. Четвёртый: писать главную тему и рядом пометку, что в заявке есть ещё что-то.</a:t>
            </a:r>
          </a:p>
          <a:p/>
          <a:p>
            <a:r>
              <a:t>Выбирайте и формулируйте довод. И думайте не про то, что красивее на схеме, а про человека, который завтра утром работает с этой таблицей. Что он должен увидеть, чтобы не упустить вопрос про оплату?</a:t>
            </a:r>
          </a:p>
          <a:p/>
          <a:p>
            <a:r>
              <a:t>Сразу скажу: неправильного ответа здесь нет. Все четыре живут в настоящих системах, и у каждого своя цена. Что меня интересует — кто из вас выберет второй вариант и сможет его защитить вслух.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смотрите на средний столбец — он и есть ответ на вопрос.</a:t>
            </a:r>
          </a:p>
          <a:p/>
          <a:p>
            <a:r>
              <a:t>Первый, писать первую из найденных. Остаток разбирает никто. Мы это только что видели: вторая тема исчезает, и нигде не остаётся следа. Самый дешёвый вариант и самый опасный, потому что он выглядит как работающий.</a:t>
            </a:r>
          </a:p>
          <a:p/>
          <a:p>
            <a:r>
              <a:t>Второй, писать «другое», — и его я называю самым честным из четырёх, хотя он и выглядит отказом от автоматизации. Остаток разбирает человек — и, что важнее, он об этом </a:t>
            </a:r>
            <a:r>
              <a:rPr b="1"/>
              <a:t>знает</a:t>
            </a:r>
            <a:r>
              <a:t>: он видит «другое» и идёт читать текст. Вот почему я называю этот ответ самым честным из четырёх: разница между ним и первым не в точности, а в знании о своём незнании. Первый уверен и неправ. Второй не знает и говорит об этом. Цена — в «другое» начинает сваливаться всё: и многотемье, и настоящая экзотика про юрлица, и заявка из одного слова «ок». Столбец «другое» разрастается, и по нему уже не видно, что именно непонятно.</a:t>
            </a:r>
          </a:p>
          <a:p/>
          <a:p>
            <a:r>
              <a:t>Третий, две строки из одной заявки. Остаток разбирает следующий шаг, без человека. Это правильный ответ для зрелой системы, и у него своя цена: одна заявка превращается в две судьбы, и надо решать, кому звонить и кто закрывает вопрос. Как из одного элемента сделать несколько — тема девятого занятия, и сегодня мы туда не идём.</a:t>
            </a:r>
          </a:p>
          <a:p/>
          <a:p>
            <a:r>
              <a:t>Четвёртый, главная тема плюс пометка. Остаток разбирает тот, кто читает пометку. Хороший вариант, и у него есть незаметное условие: пометку надо куда-то положить — отдельным столбцом, — и кому-то её читать. Столбец, который никто не читает, работает так же, как первый вариант.</a:t>
            </a:r>
          </a:p>
          <a:p/>
          <a:p>
            <a:r>
              <a:t>Что мы возьмём и почему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два узла из шести. В схеме извлечения появляется ещё одно поле — «ещё в заявке», список тем кроме главной. И в сверке со списком появляется ещё один столбец, который проходит ту же проверку, что тема. Форму, модель, запись и экран не трогаем вовсе.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четыре заявки подряд — те самые,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И четвёртая,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второго кейса, и он не про инструмент вовсе — он про то, как вы делите мир на части.</a:t>
            </a:r>
          </a:p>
          <a:p/>
          <a:p>
            <a:r>
              <a:t>Законный отказ нужен, когда вход приходит снаружи и вы не можете запретить людям писать то, чего в вашем списке нет. Это почти всегда так, если на входе человек: он пишет как умеет, и про юрлица он напишет, не спросив у вас разрешения.</a:t>
            </a:r>
          </a:p>
          <a:p/>
          <a:p>
            <a:r>
              <a:t>Не нужен, когда вход вы формируете сами. Выпадающий список в форме, фиксированный набор событий от системы — тогда непредусмотренного не будет по построению, и «другое» в нём лишнее.</a:t>
            </a:r>
          </a:p>
          <a:p/>
          <a:p>
            <a:r>
              <a:t>Вторая строка про многозначность. Если одна запись может относиться к нескольким категориям сразу и вы это уже видели — отказ нужен, и с ним надо решить, что делать с остатком. Если категории заведомо исключают друг друга — состояние заказа, тип документа — не усложняйте.</a:t>
            </a:r>
          </a:p>
          <a:p/>
          <a:p>
            <a:r>
              <a:t>Третья строка самая важная и самая пропускаемая. Отказ нужен, когда </a:t>
            </a:r>
            <a:r>
              <a:rPr b="1"/>
              <a:t>есть человек, которому поручено разбирать отложенное</a:t>
            </a:r>
            <a:r>
              <a:t>. Если разбирать некому — «другое» станет кладбищем, и честнее этого не делать: не строить процесс, который делает вид, что работает.</a:t>
            </a:r>
          </a:p>
          <a:p/>
          <a:p>
            <a:r>
              <a:t>Четвёртая — про цену. Если неверный ответ дороже задержки, воздерживаться правильно. Если задержка дороже ошибки — а бывает и так, например в поддержке, где ответить приблизительно сразу лучше, чем точно через сутки, — тогда пусть решает приблизительно.</a:t>
            </a:r>
          </a:p>
          <a:p/>
          <a:p>
            <a:r>
              <a:t>Предел называю прямо: </a:t>
            </a:r>
            <a:r>
              <a:rPr b="1"/>
              <a:t>очередь без владельца</a:t>
            </a:r>
            <a:r>
              <a:t>. «Другое» работает, пока есть человек, который в неё смотрит, и метрика, по которой видно её рост. Очередь, в которую никто не заглядывает, ничем не лучше молча потерянной заявки — разница только в том, что в ней есть запись, которую тоже никто не читает.</a:t>
            </a:r>
          </a:p>
          <a:p/>
          <a:p>
            <a:r>
              <a:t>И вторая строка оси. Клетка заполнена, значение законное — выглядит успехом, и его даже можно показать руководителю. Чем оказалось: вторая тема заявки исчезла молча. Мы это видели на экране своими глазами: отправили заявку про перенос и оплату, получили одну тему. Ни один сторож этого не поймает, потому что формально всё в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 Или, точнее, с того, чего в ней не видно.</a:t>
            </a:r>
          </a:p>
          <a:p/>
          <a:p>
            <a:r>
              <a:t>Процесс работает неделю, к нему привыкли, заглядывают по делу. И в одно утро в таблице обнаруживается дырка — не ошибка, не сбой, а именно пропуск.</a:t>
            </a:r>
          </a:p>
          <a:p/>
          <a:p>
            <a:r>
              <a:t>Что это за утро и чего мы про него не знаем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третьего кейса. Утро понедельника, девять часов.</a:t>
            </a:r>
          </a:p>
          <a:p/>
          <a:p>
            <a:r>
              <a:t>Администратор открывает таблицу — по другому делу, просто посмотреть вчерашние заявки. И видит: строки за пятницу есть, строки за понедельник есть, а за субботу и воскресенье — ни одной.</a:t>
            </a:r>
          </a:p>
          <a:p/>
          <a:p>
            <a:r>
              <a:t>Теперь смотрите на правый столбец, он здесь важнее левого. Половина этой сцены — про то, чего мы </a:t>
            </a:r>
            <a:r>
              <a:rPr b="1"/>
              <a:t>не знаем</a:t>
            </a:r>
            <a:r>
              <a:t>.</a:t>
            </a:r>
          </a:p>
          <a:p/>
          <a:p>
            <a:r>
              <a:t>Сколько заявок пришло за выходные? Журнал формы на сайте говорит, что приходили. Сколько и каких — надо идти и смотреть, и это отдельная работа.</a:t>
            </a:r>
          </a:p>
          <a:p/>
          <a:p>
            <a:r>
              <a:t>Почему никто не узнал раньше? Письма об ошибке никто не получал. И вот тонкость, которую стоит проговорить: </a:t>
            </a:r>
            <a:r>
              <a:rPr b="1"/>
              <a:t>отсутствие письма ничего не значит</a:t>
            </a:r>
            <a:r>
              <a:t>, потому что никто не настраивал, кому его отправлять. Мы не получили сигнал не потому, что всё было хорошо.</a:t>
            </a:r>
          </a:p>
          <a:p/>
          <a:p>
            <a:r>
              <a:t>Что процесс делал эти два дня? Он был опубликован и включён. Падал на каждой заявке? На части? Писал куда-то не туда? Неизвестно. Журнал прогонов посмотреть можно, и мы посмотрим, но на этот момент — неизвестно.</a:t>
            </a:r>
          </a:p>
          <a:p/>
          <a:p>
            <a:r>
              <a:t>И последнее: заметила она это случайно. Сколько бы это продолжалось, если бы она не заглянула в таблицу по другому делу, — тоже неизвестно.</a:t>
            </a:r>
          </a:p>
          <a:p/>
          <a:p>
            <a:r>
              <a:t>Главное свойство этой сцены, и оно общее для всего класса таких сбоев: </a:t>
            </a:r>
            <a:r>
              <a:rPr b="1"/>
              <a:t>ни один сторож не сработал, и не мог сработать</a:t>
            </a:r>
            <a:r>
              <a:t>. Сторожа срабатывают на ошибки. Здесь нет ошибок — здесь нет записей. На отсутствие чего-то сработать нечем, и это делает такой сбой дороже любой ошибки, которая видна.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не это, а что процесс должен был сделать вместо того, что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 Все четыре варианта, которые вы выбирали, — не абстракции.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третьего кейса, и он шире нашего инструмента: это правила из инженерной практики распределённых систем. Вы встретите их в очередях сообщений, в клиентах к чужому API, в платёжных интеграциях.</a:t>
            </a:r>
          </a:p>
          <a:p/>
          <a:p>
            <a:r>
              <a:t>Повторять нужно, когда отказ </a:t>
            </a:r>
            <a:r>
              <a:rPr b="1"/>
              <a:t>временный</a:t>
            </a:r>
            <a:r>
              <a:t>: таймаут, превышение лимита запросов, «сервис временно перегружен». Со второй попытки обычно проходит.</a:t>
            </a:r>
          </a:p>
          <a:p/>
          <a:p>
            <a:r>
              <a:t>Нельзя, когда отказ </a:t>
            </a:r>
            <a:r>
              <a:rPr b="1"/>
              <a:t>постоянный</a:t>
            </a:r>
            <a:r>
              <a:t>: неверный ключ, негодный запрос, отсутствует обязательное поле. Повтор не поможет никогда и лишь утроит расход на ту же ошибку. И обратите внимание: инструмент эти два класса сам не различает — он повторяет всё, на чём вы поставили галочку. Различать по коду ответа приходится вам, заранее.</a:t>
            </a:r>
          </a:p>
          <a:p/>
          <a:p>
            <a:r>
              <a:t>Вторая строка — про идемпотентность, и слово стоит запомнить. Идемпотентная операция — та, которую можно выполнить дважды с тем же результатом. Чтение идемпотентно всегда. Отправить письмо, создать заказ, списать деньги — нет. И вот ловушка: таймаут означает ровно одно, «ответ не пришёл». Произошло ли действие, он не говорит. Письмо могло уйти, деньги могли списаться, а потеряться мог только ответ — и повтор тогда сделает это второй раз.</a:t>
            </a:r>
          </a:p>
          <a:p/>
          <a:p>
            <a:r>
              <a:t>Третья строка — про слои, и здесь есть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Поэтому повторяют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Четвёртая — про разброс. Фиксированная задержка означает, что все клиенты повторят синхронно и добьют сервис, который только начал подниматься. Нужен случайный разброс;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Предел: </a:t>
            </a:r>
            <a:r>
              <a:rPr b="1"/>
              <a:t>отказ, которому некуда идти</a:t>
            </a:r>
            <a:r>
              <a:t>. Он не исчезает, он превращается в отсутствие записи. А отсутствие записи не мониторит никто — ни один сторож не умеет сработать на то, чего нет. Ровно так и получаются двое суток пропуска, с которых мы начали.</a:t>
            </a:r>
          </a:p>
          <a:p/>
          <a:p>
            <a:r>
              <a:t>Третья строка оси. Прогон зелёный, в журнале ни одной ошибки — выглядит успехом, и именно так это выглядело в пятницу вечером. Чем оказалось: три отказа подряд и заявки за выходные неразобранные. Мы это видели вместе: я испортил ключ при вас, и статус прогона остался успешным.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Процесс уже собран, работает и проверен.</a:t>
            </a:r>
          </a:p>
          <a:p/>
          <a:p>
            <a:r>
              <a:t>Здесь мы разберём другое: почему собранное работает не так, как выглядит, — и почему проверка, которой мы пользовались весь последний час, этого не показывает.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четвёртого кейса, и это единственный кейс, где мы ничего не будем достраивать: здесь мы разберём, почему уже собранное работает не так, как выглядит.</a:t>
            </a:r>
          </a:p>
          <a:p/>
          <a:p>
            <a:r>
              <a:t>И здесь у истории есть лицо, та же администратор. Она говорит: тема определяется слишком общо — «курс» стоит там, где речь про конкретную программу, и заявки уходят не тому человеку.</a:t>
            </a:r>
          </a:p>
          <a:p/>
          <a:p>
            <a:r>
              <a:t>Вы поправили формулировку запроса в узле извлечения. В карточке стоит новый текст, никто его не откатывал.</a:t>
            </a:r>
          </a:p>
          <a:p/>
          <a:p>
            <a:r>
              <a:t>Проверили ручным запуском на трёх её заявках, при ней. Все три разобраны правильно, именно так, как она просила. Закрыли и пошли дальше — и, обратите внимание, сделали всё, что обычно считается достаточным, и даже показали человеку результат.</a:t>
            </a:r>
          </a:p>
          <a:p/>
          <a:p>
            <a:r>
              <a:t>На следующий день она открывает таблицу за сутки. Все заявки разобраны по-старому. Ни одной по новой формулировке — и она приходит с этим к вам.</a:t>
            </a:r>
          </a:p>
          <a:p/>
          <a:p>
            <a:r>
              <a:t>Вы открываете холст: правка на месте. Запускаете руками: снова правильно. И объяснить ей это нечем.</a:t>
            </a:r>
          </a:p>
          <a:p/>
          <a:p>
            <a:r>
              <a:t>Вот эти два утверждения и держат кейс: </a:t>
            </a:r>
            <a:r>
              <a:rPr b="1"/>
              <a:t>правка есть и работает</a:t>
            </a:r>
            <a:r>
              <a:t> — и </a:t>
            </a:r>
            <a:r>
              <a:rPr b="1"/>
              <a:t>в бою её нет</a:t>
            </a:r>
            <a:r>
              <a:t>. Оба верны одновременно, и это не чья-то забывчивость и не чья-то ошибка.</a:t>
            </a:r>
          </a:p>
          <a:p/>
          <a:p>
            <a:r>
              <a:t>И самое неприятное в этой сцене: проверка руками показывала правильный результат всё это время, и показывала </a:t>
            </a:r>
            <a:r>
              <a:rPr b="1"/>
              <a:t>честно</a:t>
            </a:r>
            <a:r>
              <a:t>. Она не врала. Она просто проверяла не то, что работало в бою.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Выбирайте и формулируйте довод. В разборе будет неожиданное — про то, сколько здесь правильных ответов.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сразу то, что я придержал: </a:t>
            </a:r>
            <a:r>
              <a:rPr b="1"/>
              <a:t>правильных карточек здесь две</a:t>
            </a:r>
            <a:r>
              <a:t> — не потому, что я схитрил с формулировками, а потому что две из четырёх описывают одно явление с разных сторон. Сначала механика, в ней три утверждения, и из неё обе станут видны.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четвёртого кейса — про то, что проверять настоящим событием, а что хватит проверить руками. Это разделение экономит часы, и его почти никто не делает сознательно.</a:t>
            </a:r>
          </a:p>
          <a:p/>
          <a:p>
            <a:r>
              <a:t>Настоящим событием проверяют обработчик ошибок. Его триггер срабатывает только на автоматическом прогоне: нажмёте «выполнить» — не произойдёт ничего, вообще ничего, и это правильное поведение. На следующем занятии мы это соберём, и я говорю заранее, чтобы там не разбираться полчаса.</a:t>
            </a:r>
          </a:p>
          <a:p/>
          <a:p>
            <a:r>
              <a:t>Так же — расписание. Сработает ли в нужный момент, и, что важнее, что будет, если прогон не успел закончиться до следующего запуска. Руками этого не увидеть.</a:t>
            </a:r>
          </a:p>
          <a:p/>
          <a:p>
            <a:r>
              <a:t>Так же — реакция на вызов чужой системы: тот ли адрес, та ли авторизация, тот ли формат. И поведение на объёме: тут неожиданно наоборот, ручной прогон </a:t>
            </a:r>
            <a:r>
              <a:rPr b="1"/>
              <a:t>тяжелее</a:t>
            </a:r>
            <a:r>
              <a:t> боевого, потому что инструмент копирует все промежуточные данные, чтобы показать их вам. На больших объёмах ручной падает там, где боевой проходит. То есть «проверил руками — упало» тоже не всегда правда о бое.</a:t>
            </a:r>
          </a:p>
          <a:p/>
          <a:p>
            <a:r>
              <a:t>Руками хватает проверять логику шагов на обычных данных, форму и её поля, выражения и преобразования — всё, что видно прямо в данных узла.</a:t>
            </a:r>
          </a:p>
          <a:p/>
          <a:p>
            <a:r>
              <a:t>Предел этого кейса — единственный пункт занятия про безопасность, и он нужен вам прямо сегодня, потому что файл вы унесёте. Вместе с файлом сценария уезжает больше, чем кажется. Секретов в нём нет: пароли и ключи инструмент хранит отдельно, в файл они не попадают. А вот идентификаторы и имена подключений, адреса, пути, имена таблиц и внутренних сервисов — попадают. Я это обнаружил на нашем же файле: студенческий пришлось собирать отдельно, со снятыми привязками, иначе он утащил бы ссылки на мой стенд.</a:t>
            </a:r>
          </a:p>
          <a:p/>
          <a:p>
            <a:r>
              <a:t>Правило простое, и выполняйте его механически, без размышлений: прежде чем отдать файл сценария кому-то — откройте его и прочитайте глазами. Тридцать секунд. Паролей там нет, а лишнее бывает, и чаще всего это лишнее про вашу инфраструктуру.</a:t>
            </a:r>
          </a:p>
          <a:p/>
          <a:p>
            <a:r>
              <a:t>Четвёртая строка оси. Правка на холсте есть, никто её не откатывал — выглядит успехом, и выглядит настолько убедительно, что проверять не хочется. Чем оказалось: сутки работы по старой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таблице, с которой начинали. Правая колонка больше не пустая, и заполняли её не мои слова, а экран.</a:t>
            </a:r>
          </a:p>
          <a:p/>
          <a:p>
            <a:r>
              <a:t>Три узла — заявка доезжает до таблицы. Чем оказалось: тема будет какой угодно, срочности не будет вовсе. Мы это видели в первом кейсе до того, как поставили справочник.</a:t>
            </a:r>
          </a:p>
          <a:p/>
          <a:p>
            <a:r>
              <a:t>Клетка заполнена, значение законное. Чем оказалось: вторая тема заявки исчезла молча. Мы отправили заявку про перенос и оплату и увидели на экране одну тему.</a:t>
            </a:r>
          </a:p>
          <a:p/>
          <a:p>
            <a:r>
              <a:t>Прогон зелёный, ни одной ошибки в журнале. Чем оказалось: три отказа подряд и заявки за выходные неразобранные. Я при вас испортил ключ и мы вместе смотрели, как статус прогона остался успешным.</a:t>
            </a:r>
          </a:p>
          <a:p/>
          <a:p>
            <a:r>
              <a:t>Правка на холсте есть, никто её не откатывал. Чем оказалось: сутки работы по старой версии, потому что опубликовать — отдельное действие.</a:t>
            </a:r>
          </a:p>
          <a:p/>
          <a:p>
            <a:r>
              <a:t>Теперь главный вопрос, тот же, что я задавал в начале, и теперь он не риторический. </a:t>
            </a:r>
            <a:r>
              <a:rPr b="1"/>
              <a:t>Возьмите процесс, который у вас на работе уже работает. Он работает — или за него можно ручаться?</a:t>
            </a:r>
          </a:p>
          <a:p/>
          <a:p>
            <a:r>
              <a:t>Проверить это можно четырьмя способами, которые вы теперь знаете, и ни один не требует верить мне на слово. Первый: посмотрите, может ли результат шага оказаться значением вне списка. Второй: посмотрите, что происходит с тем, что в список не влезло. Третий: посмотрите, чем отличается «прогон завершился» от «результат годен», и что у вас проверяет второе. Четвёртый: посмотрите, что сейчас работает в бою и совпадает ли это с тем, что открыто у вас в редакторе.</a:t>
            </a:r>
          </a:p>
          <a:p/>
          <a:p>
            <a:r>
              <a:t>Если вы зададите эти четыре вопроса своему процессу на этой неделе — занятие удалось, даже если имена блоков вы забудете к пятнице.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видели: «а вы сотрудничаете с юрлицами?» дала законное «другое», и это была победа списка. А на развилке её придётся куда-то отправить — и «другое» само по себе не говорит, в какую ветку. У инструмента на этот случай есть ответ по умолчанию, и он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лестница и пять паттернов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9329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7345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обычный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код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один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вызов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RAG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workflow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← сегодня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агент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мульти-агент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лестницы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поднимайся без требования, которого ступень ниже не закрывает.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39936"/>
            <a:ext cx="11183112" cy="3468750"/>
          </a:xfrm>
          <a:prstGeom prst="roundRect">
            <a:avLst>
              <a:gd name="adj" fmla="val 8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22816"/>
            <a:ext cx="1296657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ПАТТЕРН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8761" y="2822816"/>
            <a:ext cx="56524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7519" y="2822816"/>
            <a:ext cx="342932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77222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цепочка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8761" y="3277222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шаги друг за другом, выход одного — вход следующего; между ними можно поставить проверку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519" y="3277222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заявку → проверить → записать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8069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806939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маршрут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8761" y="3806939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относит вход к классу, дальше свой путь на каждый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519" y="3806939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жалоба → в поддержку, счёт → в бухгалтерию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366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36656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параллель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8761" y="4336656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независимые подзадачи сразу, результат сводится детерминированно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519" y="4336656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проверки документа одновременно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8663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866373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дирижёр и исполнители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8761" y="4866373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центральный шаг делит задачу на части в заданных рамках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519" y="4866373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разбить длинный текст и раздать по частям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3960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396090"/>
            <a:ext cx="12966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эталон и переделка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8761" y="5396090"/>
            <a:ext cx="56524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 шаг делает, другой оценивает, цикл до порога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519" y="5396090"/>
            <a:ext cx="34293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черновик → оценка → правка → снова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Лекции 3: почему не сразу агенты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0198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13078"/>
            <a:ext cx="23331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СЧИТАЕМ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5207" y="1513078"/>
            <a:ext cx="28463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ЧИСЛО ИЗ ЛЕКЦИИ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7817" y="1513078"/>
            <a:ext cx="51990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95145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десять шагов по 95% каждый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5207" y="1795145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60%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общей надёжности (0,95¹⁰)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7817" y="1795145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интуиция «каждый шаг почти всегда работает, значит и цепочка почти всегда» — ложна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24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324862"/>
            <a:ext cx="233310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десять шагов по 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5207" y="2324862"/>
            <a:ext cx="28463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≈ 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7817" y="2324862"/>
            <a:ext cx="51990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цепочки держат короткими, между шагами ставят проверки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720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672016"/>
            <a:ext cx="233310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 токенов против обычного чата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65207" y="2672016"/>
            <a:ext cx="28463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одиночный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4×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мульти-агент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 15×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7817" y="2672016"/>
            <a:ext cx="519903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мульти-агент покупает качество, сжигая токены, а не «умной координацией»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017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01733"/>
            <a:ext cx="23331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топология при том же числе агентов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5207" y="3201733"/>
            <a:ext cx="28463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«рой» равноправных усиливает ошибки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17,2×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один координатор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4,4×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7817" y="3201733"/>
            <a:ext cx="519903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централизованная оркестрация надёжнее роя, а не наоборот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6440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89242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из лекции: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начинай с одного сильного.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Многим задачам хватает одиночных вызовов плюс поиск по документам; команды месяцами строили мульти-агентные схемы и затем обнаруживали, что улучшенный запрос к одному даёт то же.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класса инструментов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65402"/>
            <a:ext cx="11183112" cy="2602102"/>
          </a:xfrm>
          <a:prstGeom prst="roundRect">
            <a:avLst>
              <a:gd name="adj" fmla="val 117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48282"/>
            <a:ext cx="15373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КЛАСС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9445" y="1548282"/>
            <a:ext cx="4149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ДЛЯ ЧЕГО БЕРУТ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4755" y="1548282"/>
            <a:ext cx="28263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МОЖЕТ ЗАПУСТИТЬ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7395" y="1548282"/>
            <a:ext cx="17194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В КЛАССЕ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30349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Конвейеры между системами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9445" y="1830349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«возьми оттуда, преобразуй, положи сюда, уведоми» — почта, таблицы, CRM, мессенджеры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4755" y="1830349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расписание · событие в чужой системе · человек через форму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7395" y="1830349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n8n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Activepieces · Make · Zapier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426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42628"/>
            <a:ext cx="15373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Платформы для агентов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9445" y="2542628"/>
            <a:ext cx="41490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«дай агенту инструменты и проверки и поручи задачу»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4755" y="2542628"/>
            <a:ext cx="282633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плюс диалог с агентом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395" y="2542628"/>
            <a:ext cx="17194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sim · Agent Builder у крупных поставщиков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549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54908"/>
            <a:ext cx="15373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Конструкторы LLM-приложений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9445" y="3254908"/>
            <a:ext cx="41490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«собери чат по своим документам» — цепочка, поиск, память диалога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4755" y="3254908"/>
            <a:ext cx="282633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только снаружи: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вызов или чат. Расписания 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7395" y="3254908"/>
            <a:ext cx="17194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LangFlow · Dify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3501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76303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Два вопроса, которые решают выбор.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Первый: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кто запускает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человек, расписание или чужая система? Если расписание, третий класс отпадает сразу. Второй: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что у вас шаг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шаг рабочего процесса, задача агента или вызов модели внутри приложения?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n8n: зачем он здесь и как устроен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36550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506486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КАК УСТРОЕН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96965" y="1126236"/>
            <a:ext cx="545988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ЭТО ЗНАЧИТ НА ПРАКТИКЕ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5824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холст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поле, на котором процесс рисуется мышкой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6965" y="1385824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процесс читается как схема, на него можно показать пальцем коллеге-непрограммисту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42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842516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узел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один шаг; у каждого своя карточка с параметрами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6965" y="1842516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добавить шаг = поставить узел и соединить. Между правкой и проверкой нет ни сборки, ни развёртывания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992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99208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учётные данные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ключи и доступы живут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отдельно от сценария</a:t>
            </a:r>
            <a:r>
              <a:rPr sz="1000" b="0" i="0">
                <a:solidFill>
                  <a:srgbClr val="141B2E"/>
                </a:solidFill>
                <a:latin typeface="Arial"/>
              </a:rPr>
              <a:t>, заводятся один раз и подключаются к узлу по имени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965" y="2299208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 файле сценария ключей нет: его можно отдать коллеге. И один ключ переиспользуется во всех процессах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559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55900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готовые интеграции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более 400 сервисов из коробки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почта, таблицы, мессенджеры, CRM, базы, облака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6965" y="2755900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«взять из Google Таблиц и положить в Телеграм» — это два узла, а не два дня с чужими 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12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12592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простые интерфейсы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форма и чат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встроены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узел формы даёт работающую веб-страницу с полями и экраном результата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6965" y="3212592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можно отдать людям рабочий вход, не поднимая ни фронтенда, ни хостинга. Мы этим сегодня и воспользуемся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692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69284"/>
            <a:ext cx="506486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прогон и журнал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каждое исполнение сохраняется целиком, с данными на входе и выходе каждого узла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6965" y="3669284"/>
            <a:ext cx="545988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можно открыть прогон недельной давности и посмотреть, что пришло в третий узел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7344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60146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Почему он для курса: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ставится локально и бесплатно · ИИ-блоки в коробке, отдельной подписки не нужно · запускается по расписанию и по событию · процесс выгружается одним файлом, и этот файл вы унесёте.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353304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481320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Чего ждать не надо: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лицензия ядра не вполне свободная (у Activepieces свободнее) · установка без контейнера объявлена устаревшей · интерфейс меняется между версиями, поэтому схемы мы рисуем отдельно от снимков.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Работает — и можно ручаться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683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97699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Процесс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работает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он доезжает до конца и не падает.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 процесс можно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ручаться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если вы знаете, что в нём будет в каждой строке — и что будет, когда он сломается.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21172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04052"/>
            <a:ext cx="6625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7567" y="2404052"/>
            <a:ext cx="3899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6119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75855" y="2759271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85800" y="30332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33274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5855" y="3106426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33804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380428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5855" y="3453580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85800" y="37275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727583"/>
            <a:ext cx="6625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5855" y="3800735"/>
            <a:ext cx="3862704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448802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61604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Вопрос занятия, и к нему мы вернёмся в конце: возьмите процесс, который у вас на работе уже работает — он работает или за него можно ручаться?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4139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66941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Четыре строки. Левая колонка — то, что вы увидите своими глазами и сочтёте успехом. Правую мы заполним сами, по одной за кейс, и вернёмся к этой таблице в конце.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Двадцать заявок в день, сорок минут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78636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1516"/>
            <a:ext cx="49638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ПРОИСХОДИТ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5955" y="1461516"/>
            <a:ext cx="55608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ВО ЧТО ОБХОДИТСЯ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43583"/>
            <a:ext cx="49638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оставляет на сайте имя, контакт и свободный текст: «хочу на курс по аналитике», «можно перенести занятие», «выставьте счёт на организацию»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5955" y="1743583"/>
            <a:ext cx="55608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складывает всё это письмами, и дальше с ними никто ничего не делает автоматически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55862"/>
            <a:ext cx="49638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открывает каждое письмо, читает, понимает, о чём оно, и переносит в таблицу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95955" y="2455862"/>
            <a:ext cx="55608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двадцать заявок в день, около сорока минут.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 такая, что к концу её делают механически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8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85579"/>
            <a:ext cx="49638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она ставит два столбца руками: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тема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срочность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5955" y="2985579"/>
            <a:ext cx="55608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этим двум столбцам потом сортируют, считают и раскладывают заявки по людям — то есть ошибка в них стоит не минуты, а потерянной заявки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978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97859"/>
            <a:ext cx="49638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пятницу вечером заявок больше, а времени меньше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5955" y="3697859"/>
            <a:ext cx="55608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именно тогда и появляется «потом разберу», и именно тогда что-то теряется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779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2059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должно получиться: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заявка попадает в таблицу сама, и тема со срочностью заполнены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значениями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из закрытого списка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а не любыми подходящими словами.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8648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283512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5808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Напомню требование: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тема и срочность заполнены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всегда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всегда значениями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из закрытого списка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2791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00807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Из скольких узлов соберётся процесс, который решает эту задачу полностью?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63263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46143"/>
            <a:ext cx="13982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0401" y="4046143"/>
            <a:ext cx="912644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ДОВОД ЗА ЭТОТ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28210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0401" y="4328210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форма уже есть, таблица уже есть — осталось их соединить, и всё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753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675365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0401" y="4675365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между ними нужен один шаг модели: он и прочитает заявку, и назовёт тему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22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22519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0401" y="5022519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если решением считать то, за что можно отвечать перед человеком, который этот столбец читает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53696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5369674"/>
            <a:ext cx="13982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0401" y="5369674"/>
            <a:ext cx="912644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смотря что считать решением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хватает трём узлам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4148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67028"/>
            <a:ext cx="6979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0072" y="1367028"/>
            <a:ext cx="3353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688" y="1367028"/>
            <a:ext cx="63271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9095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72" y="1649095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 и бесплатно, нечему ломаться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688" y="1649095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 не решена: человек по-прежнему читает каждую заявку и ставит пометку руками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7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78812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0072" y="2178812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 сама, в столбце что-то появляется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688" y="2178812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будет какой угодно — «запись», «обучение», «Аналитика.» с точкой; срочности не будет вовсе, если её не попросить; результат видно только в таблице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9109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91091"/>
            <a:ext cx="69796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шесть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0072" y="2891091"/>
            <a:ext cx="335331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значения из списка, заполнены всегда, результат виден там же, где отправили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688" y="2891091"/>
            <a:ext cx="63271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 узла выглядят лишними, пока не спросишь, кто отвечает за содержимое столбца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033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03370"/>
            <a:ext cx="69796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зависит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72" y="3603370"/>
            <a:ext cx="33533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сути: ответ правда зависит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688" y="3603370"/>
            <a:ext cx="63271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того, считаем ли мы решением то, что заработало, или то, за что можно поручиться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8347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11149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Трём узлам не хватает двух вещей.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Сверки со списком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в клетке окажется любое правдоподобное слово, и ни одна проверка этого не заметит.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места, где результат видно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каждая проверка стоит двух переключений: журнал прогонов и таблица.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узлов на холсте</a:t>
            </a:r>
          </a:p>
        </p:txBody>
      </p:sp>
      <p:pic>
        <p:nvPicPr>
          <p:cNvPr id="3" name="Picture 2" descr="k1-shema-shes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38" y="943356"/>
            <a:ext cx="10224474" cy="25561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64066"/>
            <a:ext cx="11183112" cy="2643124"/>
          </a:xfrm>
          <a:prstGeom prst="roundRect">
            <a:avLst>
              <a:gd name="adj" fmla="val 115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846946"/>
            <a:ext cx="252242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ИМЯ НА ХОЛСТЕ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4525" y="3846946"/>
            <a:ext cx="80023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ЗАЧЕМ ОН ЗДЕСЬ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2901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Request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4525" y="412901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процесса: имя, контакт и свободный текст, все поля обязательные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4615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461563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Extract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4525" y="4461563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достаёт из текста значения вместо пересказа, по схеме с перечислением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941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9411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Model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(подключён снизу)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4525" y="479411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второй узел шага модели.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Повтор и расход считаются здесь — в кейсе 3 это окажется важным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1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126662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Vocabulary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4525" y="5126662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последняя инстанция списка: пустое и чужое становится «другое» / «не указано»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54592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545921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Write 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4525" y="545921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берёт значения у предыдущего узла, не у модели — поэтому пустых тем не бывает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57917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791761"/>
            <a:ext cx="2522421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Result 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4525" y="5791761"/>
            <a:ext cx="8002322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всю дорогу там же, где отправили заявку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настраиваем в двух несущих узлах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6263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24279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Extract fields — схема задана вручную: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"другое"]}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"urgency":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["сегодня",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"на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неделе",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"не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указано"]}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оба поля обязательны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222955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50971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Vocabulary check — обычный узел «задать поля»: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$json.topic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||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'другое'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возьми тему, а если её нет, поставь «другое». То же для срочности.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7532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80334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«Хочу на курс по аналитике, перезвоните сегодня после шести, телефон в конце». Что напечатает экран в строке «что предложила модель»?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закрытый список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Предел, после которого список перестаёт работать: в нём нет «иначе».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Список без значения «другое» и «не указано» не отказывает — он заставляет модель выбрать ближайшее. Вы получите законное значение на заявке, которой в вашем списке не место, и не узнаете об этом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Первая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Три узла заявку довозят. Тема при этом будет какой угодно, срочности не будет вовсе — ручаться нечем. Разница между «работает» и «можно ручаться» здесь ровно в двух узлах: тот, что сверяет со списком, и тот, что показывает результат.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ЗАКРЫТЫЙ СПИСОК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шага читает следующий шаг: по нему фильтруют, сортируют, считают или маршрутизируют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полю будет отчёт: «сколько заявок про оплату за месяц»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87880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 результат надо отвечать: он уходит в начисление, рассылку, обязательство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36978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36978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поток растёт и типов входа становится больше одного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ЗАКРЫТЫЙ СПИСОК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результат читает человек и он же решает, что с ним делать — свободный текст ему помогает, а не мешает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поле нужно один раз, для одного письма, и больше его никто не откроет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ошибку заметит тот же человек в тот же день, и исправит её руками за минуту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двадцать обращений в неделю, пять минут в день, и так будет дальше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Словарь: девять типов блоков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481006"/>
          </a:xfrm>
          <a:prstGeom prst="roundRect">
            <a:avLst>
              <a:gd name="adj" fmla="val 87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98804"/>
            <a:ext cx="1250680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ТИП БЛОКА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5352" y="1098804"/>
            <a:ext cx="380124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2903" y="1098804"/>
            <a:ext cx="538137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 N8N ЭТО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6588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триггер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352" y="136588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запускает процесс: событие, расписание, вызов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2903" y="136588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Form Trigger · Webhook · Schedule Trigger · Manual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164020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164020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действие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5352" y="164020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что-то делает во внешнем мире или с данными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2903" y="164020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HTTP Request · Data Table · отправка письма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191452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191452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преобразование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5352" y="191452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меняет форму данных, не трогая смысл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2903" y="191452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Edit Fields (Set) · Code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218884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2188845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условие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5352" y="2188845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выбирает один путь из двух или из многих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2903" y="2188845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If · Switch · Filter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246316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246316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цикл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5352" y="246316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повторяет шаги по элементам списка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2903" y="246316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Loop Over Items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273748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273748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слияние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5352" y="273748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сводит разошедшиеся ветки обратно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2903" y="273748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Merge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301180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3011804"/>
            <a:ext cx="1250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подпроцесс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5352" y="3011804"/>
            <a:ext cx="38012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вызывает другой процесс как шаг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2903" y="3011804"/>
            <a:ext cx="5381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Execute Sub-workflow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3286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58368" y="3286124"/>
            <a:ext cx="1250680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обработчик сбоя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5352" y="3286124"/>
            <a:ext cx="380124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ловит отказ и решает, что делать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2903" y="3286124"/>
            <a:ext cx="5381376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настройки узла · Error Trigger · Stop and Error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370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3704843"/>
            <a:ext cx="1250680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шаг модели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5352" y="3704843"/>
            <a:ext cx="380124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принимает решение на неструктурированном входе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02903" y="3704843"/>
            <a:ext cx="5381376" cy="564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44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Basic LLM Chain · Information Extractor · Text Classifier · AI Agent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 к каждому подключается отдельный узел модели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как вы только что видели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588954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4716970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Четыре строки вы уже закрыли своими руками: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триггер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(форма),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действие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(запись и показ),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преобразование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(сверка со списком),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шаг модели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(извлечение и подключённая модель).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Обработчик сбоя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закроем через два кейса, сегодня же.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2156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54958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Остальные четыре — расписание дуги: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условие и слияние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на следующем занятии,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цикл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подпроцесс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через два. К этой таблице мы будем возвращаться каждое занятие, и каждый раз в ней будет закрашено больше.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данные ходят в n8n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261" y="943356"/>
            <a:ext cx="9120428" cy="22801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388055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516071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В n8n между узлами всегда идёт </a:t>
            </a:r>
            <a:r>
              <a:rPr sz="1400" b="1" i="0">
                <a:solidFill>
                  <a:srgbClr val="141B2E"/>
                </a:solidFill>
                <a:latin typeface="Arial"/>
              </a:rPr>
              <a:t>список элементов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— даже когда элемент один. Каждый элемент — объект с обязательной обёрткой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json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(и отдельной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binary</a:t>
            </a:r>
            <a:r>
              <a:rPr sz="1400" b="1" i="0">
                <a:solidFill>
                  <a:srgbClr val="141B2E"/>
                </a:solidFill>
                <a:latin typeface="Arial"/>
              </a:rPr>
              <a:t>, если это файл), поэтому в выражениях везде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679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959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87925"/>
            <a:ext cx="11183112" cy="1312926"/>
          </a:xfrm>
          <a:prstGeom prst="roundRect">
            <a:avLst>
              <a:gd name="adj" fmla="val 2321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070805"/>
            <a:ext cx="23888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ВЫ УВИДИТЕ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0952" y="5070805"/>
            <a:ext cx="81358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52872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«узел отработал 5 раз»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0952" y="5352872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пришло пять элементов — перебор встроенный, и отдельный блок цикла нужен реже, чем кажется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685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685421"/>
            <a:ext cx="2388848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пять писем вместо одного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952" y="5685421"/>
            <a:ext cx="8135895" cy="33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узел отправки сработал на каждом элементе и ни у кого не 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Вторник: половина заявки обслужена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0736"/>
            <a:ext cx="11183112" cy="2401570"/>
          </a:xfrm>
          <a:prstGeom prst="roundRect">
            <a:avLst>
              <a:gd name="adj" fmla="val 126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53616"/>
            <a:ext cx="49567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 ПРОЦЕСС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88828" y="1753616"/>
            <a:ext cx="55680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ЭТО КОНЧИЛОСЬ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35683"/>
            <a:ext cx="49567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пришла заявка: «можно перенести занятие со вторника? И подскажите, как оплатить»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88828" y="2035683"/>
            <a:ext cx="556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строка, тема «перенос занятия», срочность «не указано» — всё заполнено, всё из списка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5654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565400"/>
            <a:ext cx="49567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увидела тему «перенос занятия», перенесла занятие и закрыла заявку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88828" y="2565400"/>
            <a:ext cx="55680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 оплату не узнал никто.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в таблице, ни в журнале, ни на экране результата про неё нет ни слова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951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95117"/>
            <a:ext cx="495672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прождал ответа про счёт три дня и позвонил сам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828" y="3095117"/>
            <a:ext cx="556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спросил, почему на половину вопроса не ответили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42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42271"/>
            <a:ext cx="495672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журнале прогон за эту заявку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зелёный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828" y="3442271"/>
            <a:ext cx="55680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никакой сторож не сработает: формально всё в порядке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3981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76783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не ошибка процесса.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граница того, за что мы ручались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мы ручались, что клетка не пуста и значение из списка. Что в клетке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что было в заявке, — мы не обещали.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6438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81302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63598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заявке: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оплата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таблице: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одна клетка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1099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900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из одной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главную + пометку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Кто разбирает остаток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43761"/>
            <a:ext cx="11183112" cy="2219007"/>
          </a:xfrm>
          <a:prstGeom prst="roundRect">
            <a:avLst>
              <a:gd name="adj" fmla="val 1373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6641"/>
            <a:ext cx="243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0126" y="1826641"/>
            <a:ext cx="2651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ОСТАТОК РАЗБИРАЕТ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8319" y="1826641"/>
            <a:ext cx="52885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8708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0126" y="2108708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8319" y="2108708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исчезает молча — то, что мы только что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5862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0126" y="2455862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и он об этом знает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319" y="2455862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«другое» сваливается и многотемье, и настоящая экзотика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03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03017"/>
            <a:ext cx="243802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две строки из одной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126" y="2803017"/>
            <a:ext cx="2651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следующий шаг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8319" y="2803017"/>
            <a:ext cx="52885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— две судьбы: кому звонить и кто закрывает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3327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32734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главная + пометка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126" y="3332734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тот, кто читает пометку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319" y="3332734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надо куда-то положить и кому-то читать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02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582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между первым и вторым ответом — не точность, а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знание о своём незнании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Первый уверен и неправ; второй не знает и говорит об этом.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k2-shema-trudnye-zayav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60" y="943356"/>
            <a:ext cx="8238431" cy="20596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167555"/>
            <a:ext cx="11183112" cy="1480185"/>
          </a:xfrm>
          <a:prstGeom prst="roundRect">
            <a:avLst>
              <a:gd name="adj" fmla="val 2059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3295571"/>
            <a:ext cx="414357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0814" y="3295571"/>
            <a:ext cx="286399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1117" y="3295571"/>
            <a:ext cx="348059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562652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0814" y="3562652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1117" y="3562652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801920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801920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0814" y="3801920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1117" y="3801920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404118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4041188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сотрудничаете с юрлицами?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0814" y="4041188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1117" y="4041188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" y="428045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" y="4280456"/>
            <a:ext cx="414357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0814" y="4280456"/>
            <a:ext cx="2863999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1117" y="4280456"/>
            <a:ext cx="3480594" cy="239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92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12332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940348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Меняем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два узла из шести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: в схеме извлечения — ещё поле, в сверке — ещё столбец. Остальные четыре не трогаем.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55968"/>
            <a:ext cx="11183112" cy="78056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83984"/>
            <a:ext cx="10634472" cy="524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Предскажите до прогона.</a:t>
            </a:r>
            <a:r>
              <a:rPr sz="1550" b="1" i="0">
                <a:solidFill>
                  <a:srgbClr val="141B2E"/>
                </a:solidFill>
                <a:latin typeface="Arial"/>
              </a:rPr>
              <a:t> Заявка: «хочу оплатить, перенести занятие и узнать про скидки для сотрудников». Три темы, и одной из них в списке нет. Что встанет в «тему», а что в «ещё в заявке»?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нужно законное «не знаю»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очередь без владельца.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работает ровно до тех пор, пока есть человек, который в неё смотрит, и метрика, по которой видно её рост. Очередь, в которую никто не заглядывает, ничем не отличается от молча потерянной заявки — только в ней есть запись, которую тоже никто не читает.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5146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7948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Клетка заполнена, значение законное — и это выглядит успехом. Чем оказалось: вторая тема заявки исчезла молча, и ни один сторож этого не заметил, потому что формально всё в порядке.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ЗАКОННЫЙ ОТКАЗ **НУЖЕН**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приходит снаружи, и вы не можете запретить людям писать то, чего в списке нет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одна запись может относиться к нескольким категориям сразу, и вы это уже видели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есть человек, который разберёт отложенное, и ему это поручено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неверного ответа выше цены задержки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ЗАКОННЫЙ ОТКАЗ **НЕ НУЖЕН**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вы формируете сами: выпадающий список в форме, фиксированный набор событий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категории заведомо исключают друг друга — состояние заказа, тип документа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разбирать некому: тогда «другое» станет кладбищем, и честнее не делать вид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задержка дороже ошибки, и лучше решить приблизительно, но сразу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Понедельник: выходных в таблице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44627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94831" y="1607566"/>
            <a:ext cx="60620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НЕИЗВЕСТНО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таблице строки за пятницу и за понедельник. За субботу и воскресенье — ни одной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4831" y="1889633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заявок пришло за выходные: журнал формы говорит, что приходили, а сколько и каких — надо идти смотреть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19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19350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письма об ошибке никто не получал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4831" y="2419350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потому что никто не настраивал, кому его отправлять. Отсутствие письма ничего не значит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490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49067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 всё это время был опубликован и включён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831" y="2949067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именно он делал: падал на каждой заявке, на части, или писал не туда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87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8784"/>
            <a:ext cx="446272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понедельник это заметила администратор — случайно, заглянув в таблицу по другому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4831" y="3478784"/>
            <a:ext cx="606201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бы ещё это продолжалось, если бы она не заглянула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один сторож не сработал — и не мог.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Сторожа срабатывают на ошибки, а здесь нет ошибок: здесь нет записей.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На отсутствие чего-то сработать нечем.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133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9352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2448839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2448839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отдельная ветка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3494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08980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17210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6116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74132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 вопрос к себе, пока голосуете: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у вас на работе в каком-нибудь процессе стоит повтор при отказе?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Знаете ли вы, что там выбрано по умолчанию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— или оно просто стоит как поставилось?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k3-shema-dve-v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96" y="943356"/>
            <a:ext cx="10640958" cy="332529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3247"/>
            <a:ext cx="11183112" cy="9362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616127"/>
            <a:ext cx="4724804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ВО ВКЛАДКЕ НАСТРОЕК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56908" y="4616127"/>
            <a:ext cx="5799939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75715"/>
            <a:ext cx="47248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Retry On Fail · On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6908" y="4875715"/>
            <a:ext cx="57999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3 попытки, пауза 2 с →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Continue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(using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error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output)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34083"/>
            <a:ext cx="11183112" cy="783063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5662099"/>
            <a:ext cx="10634472" cy="527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91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Предскажите.</a:t>
            </a:r>
            <a:r>
              <a:rPr sz="1550" b="1" i="0">
                <a:solidFill>
                  <a:srgbClr val="141B2E"/>
                </a:solidFill>
                <a:latin typeface="Arial"/>
              </a:rPr>
              <a:t> Сейчас испорчу ключ и отправлю заявку. Какой статус будет у прогона — «ошибка» или «успех»?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повторять, а когда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243-кратную нагрузку на нижний.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Поэтому повторяют в одном месте — и там, где знают, что повторять безопасно.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07464"/>
            <a:ext cx="82296" cy="91211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35480"/>
            <a:ext cx="10643616" cy="6560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Предел: отказ, которому некуда идти.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Такой отказ не исчезает — он превращается в отсутствие записи, а отсутствие записи не мониторит никто: ни один сторож не умеет сработать на то, чего нет. Отсюда и двое суток пропуска.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4170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012186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Третья строка оси закрыта.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Прогон зелёный, в журнале ни одной ошибки — выглядит успехом. Чем оказалось: три отказа подряд и заявки за выходные неразобранные.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ПОВТОРЯТЬ **НУЖНО**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3232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отказ временный: таймаут, превышение лимита запросов, «сервис перегружен» — со второй попытки обычно проходит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2330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23308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операция идемпотентна: её можно выполнить дважды с тем же результатом — чтение, пересчёт, идемпотентная запись по ключу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28662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8662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 стоит здесь и только здесь, в одном месте стека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0527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0527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задержки с разбросом, и общее число попыток ограничено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3748278"/>
            <a:ext cx="5454396" cy="2358517"/>
          </a:xfrm>
          <a:prstGeom prst="roundRect">
            <a:avLst>
              <a:gd name="adj" fmla="val 129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4516" y="385800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ПОВТОРЯТЬ **НЕЛЬЗЯ**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4132326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отказ постоянный: неверный ключ, негодный запрос, нет обязательного поля. Повтор лишь утроит расход на ту же ошибку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60832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608322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у операции есть последствия: отправить письмо, создать заказ, списать деньги. Таймаут не говорит, произошло ли действие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08431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084318"/>
            <a:ext cx="5088636" cy="311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повтор уже стоит слоем ниже или выше: слои множат друг друга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14516" y="539546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14516" y="5395468"/>
            <a:ext cx="5088636" cy="475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задержка фиксированная: все клиенты повторят синхронно и добьют сервис, который начал подниматься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есть, работает старое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468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7566"/>
            <a:ext cx="56068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9003" y="1607566"/>
            <a:ext cx="49178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ПОЛУЧИЛОСЬ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89633"/>
            <a:ext cx="56068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администратор сказала: тема определяется слишком общо, «курс» стоит там, где речь про конкретную программу. Вы поправили формулировку запроса в узле извлечения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9003" y="1889633"/>
            <a:ext cx="49178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карточке узла новый текст, никто его не откатывал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019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01912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проверили ручным запуском на трёх её заявках, при ней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9003" y="2601912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три разобраны правильно, именно так, как она просила. Закрыли, пошли дальше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31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31629"/>
            <a:ext cx="560689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следующий день она открывает таблицу за сутки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9003" y="3131629"/>
            <a:ext cx="49178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все заявки разобраны по-старому.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Ни одной по новой формулировке — и она приходит с этим к вам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61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61346"/>
            <a:ext cx="560689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 открываете холст, запускаете руками ещё раз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9003" y="3661346"/>
            <a:ext cx="491784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снова правильно. И теперь объяснить это ей нечем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5889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8690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показывала правильный результат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всё это время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показывала честно. Она просто проверяла не то, что работало в бою.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8A62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8A6200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и боевой —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в бою, а что хватит руками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7794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45810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Предел: вместе с файлом сценария уезжает больше, чем кажется.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Секретов в нём нет — пароли и ключи инструмент хранит отдельно. А идентификаторы и имена подключений, адреса, пути, имена таблиц и внутренних сервисов — есть. Правило, которое стоит выполнять механически: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прежде чем отдать файл сценария — откройте его и прочитайте глазами.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Это тридцать секунд.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8768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570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Четвёртая строка оси закрыта.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Правка на холсте есть, никто её не откатывал — выглядит успехом. Чем оказалось: сутки работы по старой версии.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НУЖНА ПРОВЕРКА **НАСТОЯЩИМ СОБЫТИЕМ**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обработчик ошибок: его триггер срабатывает только на автоматическом прогоне, и вручную не произойдёт ничего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601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расписание: сработает ли в нужный момент и что будет, если прогон не успел до следующего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0511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511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реакция на вызов чужой системы: тот ли адрес, та ли авторизация, тот ли формат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5421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5421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поведение на объёме: ручной прогон копирует данные для показа и на больших объёмах падает там, где боевой проходит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685133"/>
            <a:ext cx="5454396" cy="2530856"/>
          </a:xfrm>
          <a:prstGeom prst="roundRect">
            <a:avLst>
              <a:gd name="adj" fmla="val 1204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379486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ХВАТИТ **РУЧНОГО ЗАПУСКА**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406918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логика шагов на обычных данных: что пришло, что вернулось, что записалось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5601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56016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форма и её поля: что видит человек, что приходит в процесс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7880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7880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выражения и преобразования: видно сразу, в данных узла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14516" y="519744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14516" y="5197449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один элемент, одна заявка, один файл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298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05178"/>
            <a:ext cx="48097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ВЫГЛЯДИТ РАБОЧИМ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41889" y="1805178"/>
            <a:ext cx="571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ОКАЗАЛСЯ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87245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узла, заявка доезжает до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1889" y="2087245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какая угодно, срочности нет вовсе, ручаться нечем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4343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434399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клетка заполнена, значение законное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1889" y="2434399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заявки исчезла молча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81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81554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зелёный, в журнале ни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89" y="2781554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отказа подряд, заявки за выходные не разобраны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1287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128708"/>
            <a:ext cx="48097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правка на холсте есть, никто её не откатывал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89" y="3128708"/>
            <a:ext cx="571495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сутки работы по старой версии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262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542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Тот же вопрос, что в начале: ваш процесс на работе — он работает или за него можно ручаться?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Теперь у вас есть четыре способа это проверить, и ни один из них не требует верить мне на слово.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88" y="943356"/>
            <a:ext cx="10553375" cy="32979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05877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588757"/>
            <a:ext cx="32557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7875" y="4588757"/>
            <a:ext cx="726897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55838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875" y="4855838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1737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173783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875" y="5173783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917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91727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875" y="5491727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8096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809672"/>
            <a:ext cx="32557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875" y="5809672"/>
            <a:ext cx="7268971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