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предыдущих занятий были про одного исполнителя: как дать кодинг-агенту права, память и инструменты. Эта дуга — про уровень выше: как устроен процесс, который таким исполнителем или просто вызовом модели пользуется.</a:t>
            </a:r>
          </a:p>
          <a:p/>
          <a:p>
            <a:r>
              <a:t>Сегодня мы соберём работающий процесс с нуля. К концу занятия у нас будет работающий сценарий, который принимает заявку, разбирает её моделью и кладёт результат в таблицу. Он будет работать, и мы несколько раз его сломаем, чтобы понять, где он хрупкий.</a:t>
            </a:r>
          </a:p>
          <a:p/>
          <a:p>
            <a:r>
              <a:t>Занятие практическое. Я буду собирать прямо на своей машине, вы смотрите на экран. Файл сценария выложу после занятия — его можно будет открыть у себя и потрогать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экран, и он отвечает на вопрос, который стоит задать в самом начале: куда мы вообще идём шесть занятий подряд.</a:t>
            </a:r>
          </a:p>
          <a:p/>
          <a:p>
            <a:r>
              <a:t>Вот лестница. Девять ступеней, снизу вверх — от простого к сложному, и справа у каждой написано, какое занятие её закрывает.</a:t>
            </a:r>
          </a:p>
          <a:p/>
          <a:p>
            <a:r>
              <a:t>Внизу, бледным, — пройденное: когда хватает одного вызова модели или поиска по своим документам. Это вы знаете с Лекции 3.</a:t>
            </a:r>
          </a:p>
          <a:p/>
          <a:p>
            <a:r>
              <a:t>Золотая — сегодняшняя. Цепочка: несколько шагов в известном заранее порядке, и данные, которые идут между ними. Всё занятие мы проведём на ней.</a:t>
            </a:r>
          </a:p>
          <a:p/>
          <a:p>
            <a:r>
              <a:t>Дальше вверх. Маршрут — путь задаёт категория входа, это следующее занятие. Параллель — независимые проверки одного входа. Цикл и подпроцесс — через два занятия. Агент, который сам выбирает порядок шагов, — одиннадцатое. Несколько агентов вместе и аварийный выключатель — двенадцатое.</a:t>
            </a:r>
          </a:p>
          <a:p/>
          <a:p>
            <a:r>
              <a:t>Теперь главное про эту картинку, и это не оформление. Правило движения по лестнице из Лекции 3 звучит дословно так: </a:t>
            </a:r>
            <a:r>
              <a:rPr b="1"/>
              <a:t>не поднимайся без требования, которого ступень ниже не закрывает.</a:t>
            </a:r>
            <a:r>
              <a:t> То есть лестница — не план развития, по которому надо дойти до верха. Это шкала, на которой надо остановиться как можно ниже.</a:t>
            </a:r>
          </a:p>
          <a:p/>
          <a:p>
            <a:r>
              <a:t>И отсюда — почему целому занятию отведена одна ступень. Не потому, что цепочка сложная: она простая. А потому, что на ней </a:t>
            </a:r>
            <a:r>
              <a:rPr b="1"/>
              <a:t>заканчивается большинство реальных задач</a:t>
            </a:r>
            <a:r>
              <a:t>, и ошибаются чаще всего именно здесь — строя агента там, где хватило бы пяти узлов подряд.</a:t>
            </a:r>
          </a:p>
          <a:p/>
          <a:p>
            <a:r>
              <a:t>Запомните место, где стоит золотая полоса. Мы вернёмся к этой картинке на каждом из шести занятий, и каждый раз золотая будет на одну выше.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различение, на котором стоит всё занятие. Оно было в Лекции 3, и я повторю его дословно.</a:t>
            </a:r>
          </a:p>
          <a:p/>
          <a:p>
            <a:r>
              <a:t>Workflow — это система, где шаги и их порядок заданы заранее, в коде. Модель здесь вызывается на конкретном шаге и делает конкретную работу, но она не решает, какие шаги делать и в каком порядке. Порядок решили вы, когда рисовали схему.</a:t>
            </a:r>
          </a:p>
          <a:p/>
          <a:p>
            <a:r>
              <a:t>Агент — система, где этот порядок модель определяет сама, по ходу, глядя на промежуточные результаты.</a:t>
            </a:r>
          </a:p>
          <a:p/>
          <a:p>
            <a:r>
              <a:t>Различение операциональное, и из него прямо следует критерий выбора: </a:t>
            </a:r>
            <a:r>
              <a:rPr b="1"/>
              <a:t>задача предсказуема — workflow. Последовательность шагов принципиально зависит от промежуточных результатов, и задача оправдывает кратный рост стоимости — агент.</a:t>
            </a:r>
          </a:p>
          <a:p/>
          <a:p>
            <a:r>
              <a:t>И чтобы слово «workflow» не звучало как «примитивный вариант агента», назову пять его схем. У всех пяти путь задан заранее.</a:t>
            </a:r>
          </a:p>
          <a:p/>
          <a:p>
            <a:r>
              <a:t>Первая — цепочка. Шаги друг за другом, выход одного становится входом следующего, и между ними можно поставить проверку. Её мы сегодня и соберём.</a:t>
            </a:r>
          </a:p>
          <a:p/>
          <a:p>
            <a:r>
              <a:t>Вторая — маршрут. Первый шаг относит вход к классу, дальше у каждого класса свой путь. Это следующее занятие.</a:t>
            </a:r>
          </a:p>
          <a:p/>
          <a:p>
            <a:r>
              <a:t>Третья — параллель. Независимые подзадачи выполняются сразу, результаты сводятся детерминированно: голосованием или объединением.</a:t>
            </a:r>
          </a:p>
          <a:p/>
          <a:p>
            <a:r>
              <a:t>Четвёртая — дирижёр и исполнители. Центральный шаг делит задачу на части — гибко, но в заданных рамках — и раздаёт исполнителям. Это уже граница между workflow и агентом.</a:t>
            </a:r>
          </a:p>
          <a:p/>
          <a:p>
            <a:r>
              <a:t>Пятая — эталон и переделка. Один шаг делает, другой оценивает по критериям, и цикл повторяется, пока не пройдёт порог.</a:t>
            </a:r>
          </a:p>
          <a:p/>
          <a:p>
            <a:r>
              <a:t>И фраза, которая объясняет устройство всей дуги: большинство надёжных продакшн-систем — это workflow с предопределёнными путями, а не полностью динамические агенты.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кусок из Лекции 3, и он объясняет, почему дуга идёт снизу вверх, а не начинается с агентов, которые сейчас на слуху.</a:t>
            </a:r>
          </a:p>
          <a:p/>
          <a:p>
            <a:r>
              <a:t>Главное — одной фразой: надёжность последовательных шагов </a:t>
            </a:r>
            <a:r>
              <a:rPr b="1"/>
              <a:t>перемножается</a:t>
            </a:r>
            <a:r>
              <a:t>, а не усредняется.</a:t>
            </a:r>
          </a:p>
          <a:p/>
          <a:p>
            <a:r>
              <a:t>Подставьте числа. Если в конвейере десять шагов и сбой любого портит результат, общая надёжность равна надёжности шага в десятой степени. Девяносто пять процентов на шаг — цифра, которая звучит прилично, почти хорошо. Десять шагов: шестьдесят процентов. Девяносто процентов на шаг, тоже вроде нормально, — тридцать пять процентов на десяти шагах.</a:t>
            </a:r>
          </a:p>
          <a:p/>
          <a:p>
            <a:r>
              <a:t>Инженерная интуиция говорит: каждый шаг почти всегда работает, значит и цепочка почти всегда работает. Математически это ложно, и это одна из самых дорогих ошибок отрасли.</a:t>
            </a:r>
          </a:p>
          <a:p/>
          <a:p>
            <a:r>
              <a:t>Отсюда два правила, которые мы сегодня применим прямо руками. Цепочки держат короткими. И между шагами ставят проверки — когда я поставлю лишний на вид узел сверки, вспомните этот экран.</a:t>
            </a:r>
          </a:p>
          <a:p/>
          <a:p>
            <a:r>
              <a:t>Теперь стоимость. Относительно обычного чата одиночный агент тратит примерно вчетверо больше токенов, мульти-агент — впятнадцатеро. И цитата из лекции, которая отрезвляет: мульти-агентные системы работают во многом потому, что помогают потратить на задачу достаточно токенов. Не магия координации, а объём.</a:t>
            </a:r>
          </a:p>
          <a:p/>
          <a:p>
            <a:r>
              <a:t>И контринтуитивное про устройство. При одном и том же числе агентов «рой» равноправных усиливал ошибки в семнадцать целых две десятых раза, а централизованная оркестрация с одним координатором сдерживала их до четырёх целых четырёх десятых. То есть дирижёр надёжнее роя — ровно обратное тому, что обычно предполагают.</a:t>
            </a:r>
          </a:p>
          <a:p/>
          <a:p>
            <a:r>
              <a:t>Правило из лекции, которым закрою: начинай с одного сильного. Команды месяцами строили мульти-агентные схемы и потом обнаруживали, что улучшенный запрос к одному даёт то же самое.</a:t>
            </a:r>
          </a:p>
          <a:p/>
          <a:p>
            <a:r>
              <a:t>Вот поэтому мы сегодня на второй ступени снизу. Не потому, что агенты сложные, а потому, что это ступень, на которой заканчивается большинство задач.</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 то, в чём такие процессы вообще собирают. Мы отобрали и разобрали пять инструментов, и классов вышло три.</a:t>
            </a:r>
          </a:p>
          <a:p/>
          <a:p>
            <a:r>
              <a:t>Первый класс по-человечески звучит так: возьми оттуда, преобразуй, положи сюда и уведоми кого надо. Почта, таблицы, CRM, мессенджеры, базы. Это конвейеры между системами — n8n, Activepieces, Make, Zapier. Самый старый и самый массовый класс: такие инструменты существовали задолго до языковых моделей и просто получили новый тип блока. Запускаются они тремя способами: по расписанию, по событию в чужой системе и руками человека через форму.</a:t>
            </a:r>
          </a:p>
          <a:p/>
          <a:p>
            <a:r>
              <a:t>Второй — платформы для агентов. Задача звучит иначе: дай агенту инструменты и проверки и поручи ему задачу. Класс молодой, и в нём есть то, чего у первого нет: ограждения на выходе, оценка ответа, базы знаний, которые сами обновляются. Цена входа — ресурсы, от двенадцати гигабайт памяти, дома поднимается тяжело.</a:t>
            </a:r>
          </a:p>
          <a:p/>
          <a:p>
            <a:r>
              <a:t>Третий — конструкторы LLM-приложений. Собери чат по моим документам: цепочка вызовов, поиск, память диалога. LangFlow, Dify.</a:t>
            </a:r>
          </a:p>
          <a:p/>
          <a:p>
            <a:r>
              <a:t>Теперь два вопроса, которые на самом деле решают выбор, — и обратите внимание, что ни один из них не про ИИ. Он есть во всех трёх классах.</a:t>
            </a:r>
          </a:p>
          <a:p/>
          <a:p>
            <a:r>
              <a:t>Первый: кто запускает. Человек, расписание или чужая система? Если в задаче есть слова «каждое утро» или «когда придёт письмо» — третий класс отпадает сразу: расписания у него нет, запуск только снаружи. Одна проверка отсекает целый класс.</a:t>
            </a:r>
          </a:p>
          <a:p/>
          <a:p>
            <a:r>
              <a:t>Второй: что у вас считается шагом. Шаг рабочего процесса — первый класс. Задача, которую решает агент, — второй. Вызов модели внутри приложения — третий.</a:t>
            </a:r>
          </a:p>
          <a:p/>
          <a:p>
            <a:r>
              <a:t>У нас сегодня вход — человек через форму, а шаг — шаг процесса. Поэтому первый класс, и из него n8n.</a:t>
            </a:r>
          </a:p>
          <a:p/>
          <a:p>
            <a:r>
              <a:t>И одно замечание про устойчивость этого рынка, голосом, не на экран. Flowise был одним из двух самых известных конструкторов третьего класса. Тридцать первого августа этого года он закрыт — не заброшен, а официально закрыт, с объявлением, архивацией кода и названной датой конца жизни. Причина, которую назвали сами авторы: жёсткий визуальный low-code упирается в предел по сложности, а разработчики к этому моменту ушли к кодинг-агентам. Я говорю это не как курьёз: выбирая, на чём строить, учитывайте, что целый класс инструментов может закрыться.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экран введения — про инструмент, в котором будем смотреть, и про слова, которые дальше я начну употреблять как известные.</a:t>
            </a:r>
          </a:p>
          <a:p/>
          <a:p>
            <a:r>
              <a:t>Смотрите на снимок. </a:t>
            </a:r>
            <a:r>
              <a:rPr b="1"/>
              <a:t>Холст</a:t>
            </a:r>
            <a:r>
              <a:t> — поле, на котором процесс рисуется мышкой; вот он, занимает весь экран. Процесс здесь не текст, а схема, и это главная причина популярности таких инструментов: на схему можно показать пальцем коллеге, который не программист, и он поймёт.</a:t>
            </a:r>
          </a:p>
          <a:p/>
          <a:p>
            <a:r>
              <a:rPr b="1"/>
              <a:t>Узел</a:t>
            </a:r>
            <a:r>
              <a:t> — один шаг, вот эти прямоугольники. У каждого карточка с параметрами: щёлкнул — открылась. Добавить шаг означает поставить узел и соединить стрелкой. И обратите внимание, чего здесь нет: между правкой и проверкой нет ни сборки, ни развёртывания. Нажал «выполнить» и смотришь.</a:t>
            </a:r>
          </a:p>
          <a:p/>
          <a:p>
            <a:r>
              <a:t>Третье — </a:t>
            </a:r>
            <a:r>
              <a:rPr b="1"/>
              <a:t>учётные данные</a:t>
            </a:r>
            <a:r>
              <a:t>, и это важнее, чем кажется. Ключи и доступы живут </a:t>
            </a:r>
            <a:r>
              <a:rPr b="1"/>
              <a:t>отдельно от сценария</a:t>
            </a:r>
            <a:r>
              <a:t>: вы заводите их один раз, а узел ссылается на них по имени. Отсюда два следствия. Первое: в файле сценария ключей нет, и файл можно отдать коллеге или студенту — мы на этом построим домашнее задание. Второе: один ключ переиспользуется во всех ваших процессах, и менять его при ротации надо в одном месте, а не в двадцати.</a:t>
            </a:r>
          </a:p>
          <a:p/>
          <a:p>
            <a:r>
              <a:t>Четвёртое — </a:t>
            </a:r>
            <a:r>
              <a:rPr b="1"/>
              <a:t>готовые интеграции</a:t>
            </a:r>
            <a:r>
              <a:t>. Больше четырёхсот сервисов из коробки: почта, таблицы, мессенджеры, CRM, базы, облака, и для всего остального есть узел обычного HTTP-запроса. Это и есть главная ценность класса: «взять из Google Таблиц и положить в Телеграм» — два узла, а не два дня чтения чужой документации. Вы не пишете клиент к API, вы заполняете поля.</a:t>
            </a:r>
          </a:p>
          <a:p/>
          <a:p>
            <a:r>
              <a:t>Пятое — то, чего от такого инструмента обычно не ждут: </a:t>
            </a:r>
            <a:r>
              <a:rPr b="1"/>
              <a:t>простые интерфейсы встроены</a:t>
            </a:r>
            <a:r>
              <a:t>. Узел формы даёт настоящую веб-страницу с полями, валидацией и экраном результата — по адресу, который можно отправить человеку. То есть вы можете отдать людям рабочий вход в процесс, не поднимая ни фронтенда, ни хостинга, ни дизайна. Мы этим сегодня воспользуемся: и вход нашего процесса, и экран, на котором зал увидит результат, — это он.</a:t>
            </a:r>
          </a:p>
          <a:p/>
          <a:p>
            <a:r>
              <a:t>И шестое — </a:t>
            </a:r>
            <a:r>
              <a:rPr b="1"/>
              <a:t>прогон и журнал</a:t>
            </a:r>
            <a:r>
              <a:t>. Прогон это одно исполнение, от триггера до конца, у него свой номер. Журнал хранит их целиком: можно открыть прогон недельной давности и посмотреть, что именно пришло на вход третьего узла и что он отдал. Мы в этот журнал заглянем сегодня трижды, и дважды он покажет неприятное.</a:t>
            </a:r>
          </a:p>
          <a:p/>
          <a:p>
            <a:r>
              <a:t>Теперь зачем именно он выбран для курса. Ставится локально и бесплатно — значит, вы повторите дома, и это условие было главным. ИИ-блоки в коробке, отдельной подписки не нужно. Запускается по расписанию и по событию — то, чего нет у третьего класса с предыдущего экрана. И процесс выгружается одним файлом: этот файл вы унесёте.</a:t>
            </a:r>
          </a:p>
          <a:p/>
          <a:p>
            <a:r>
              <a:t>Честно про то, чего ждать не надо. Лицензия ядра не вполне свободная — у Activepieces в этом смысле чище, и если это для вас критерий, смотрите туда. Установка без контейнера объявлена устаревшей. И интерфейс меняется между версиями заметно: поэтому принципиальные схемы мы рисуем отдельно от снимков — схема переживёт смену версии, снимок нет.</a:t>
            </a:r>
          </a:p>
          <a:p/>
          <a:p>
            <a:r>
              <a:t>Всё. Дальше — ось занятия, и потом внутрь.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устроено занятие. Мы собираем один процесс — заявка с формы сайта должна попадать в таблицу уже разобранной, — и собираем его в четыре приёма. Каждый кейс добавляет к процессу ровно одно.</a:t>
            </a:r>
          </a:p>
          <a:p/>
          <a:p>
            <a:r>
              <a:t>Кейс первый: классификация и сохранение писем. Форма, шаг модели, сверка со справочником, запись в таблицу, экран результата. К концу первого кейса процесс работает целиком.</a:t>
            </a:r>
          </a:p>
          <a:p/>
          <a:p>
            <a:r>
              <a:t>Кейс второй: заявки, в которых тем больше одной. Что делать со справочником и с тем, что в него не влезло.</a:t>
            </a:r>
          </a:p>
          <a:p/>
          <a:p>
            <a:r>
              <a:t>Кейс третий: отказ модели. Что происходит, когда шаг не отработал, и что с этим делает повтор попыток и отдельная ветка отказа.</a:t>
            </a:r>
          </a:p>
          <a:p/>
          <a:p>
            <a:r>
              <a:t>Кейс четвёртый: тема определена неверно. Значение законное, из справочника, прогон зелёный — а тема не та. Разберём, чем поднимают качество распознавания и почему без одного столбца в таблице ни одно улучшение не проверяется. После него — один экран про публикацию: чем то, что вы правите на холсте, отличается от того, что работает в бою.</a:t>
            </a:r>
          </a:p>
          <a:p/>
          <a:p>
            <a:r>
              <a:t>Теперь про две правые колонки, потому что в них смысл всего занятия.</a:t>
            </a:r>
          </a:p>
          <a:p/>
          <a:p>
            <a:r>
              <a:t>Третья колонка — то, что вы увидите своими глазами после каждого кейса и совершенно справедливо сочтёте успехом. Заявка доехала до таблицы. Клетка заполнена, и значение в ней законное. Прогон зелёный, ни одной ошибки в журнале. Значение из справочника, и прогон зелёный.</a:t>
            </a:r>
          </a:p>
          <a:p/>
          <a:p>
            <a:r>
              <a:t>Четвёртая пустая. В ней окажется то, чем каждая из этих четырёх радостей оказывается на самом деле. Мы заполним её своими руками — по одной строке за кейс, и каждый раз не моим рассказом, а тем, что увидим на экране.</a:t>
            </a:r>
          </a:p>
          <a:p/>
          <a:p>
            <a:r>
              <a:t>Разница, которую эта таблица измеряет, одна: процесс, который </a:t>
            </a:r>
            <a:r>
              <a:rPr b="1"/>
              <a:t>работает</a:t>
            </a:r>
            <a:r>
              <a:t>, и процесс, за который можно </a:t>
            </a:r>
            <a:r>
              <a:rPr b="1"/>
              <a:t>ручаться</a:t>
            </a:r>
            <a:r>
              <a:t>, — это два разных процесса. Первый доезжает до конца и не падает; про второй вы знаете, что окажется в каждой строке результата и что произойдёт, когда он сломается. Собрать первый легко, и почти все на нём останавливаются — не из лени, а потому что он выглядит готовым.</a:t>
            </a:r>
          </a:p>
          <a:p/>
          <a:p>
            <a:r>
              <a:t>К этой таблице мы вернёмся в конце и посмотрим на все четыре пары рядом.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на сайте форма записи. Форма работает, заявки приходят — и дальше их читает человек и перекладывает в таблицу руками.</a:t>
            </a:r>
          </a:p>
          <a:p/>
          <a:p>
            <a:r>
              <a:t>Это та самая ситуация, в которой автоматизацию обычно и заводят: не потому, что что-то сломалось, а потому, что работа скучная и её много. И именно поэтому её чаще всего делают наполовину.</a:t>
            </a:r>
          </a:p>
          <a:p/>
          <a:p>
            <a:r>
              <a:t>Кто этот человек и чего ему это стоит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на которой мы проведём почти всё занятие. Она маленькая намеренно: на ней видно всё устройство целиком.</a:t>
            </a:r>
          </a:p>
          <a:p/>
          <a:p>
            <a:r>
              <a:t>Учебный центр, на сайте форма записи. Человек оставляет имя, контакт и пишет свободным текстом, что ему нужно. Форма работает третий год, заявок двадцать в день, и дальше с ними работает один человек — пусть будет Ольга, администратор.</a:t>
            </a:r>
          </a:p>
          <a:p/>
          <a:p>
            <a:r>
              <a:t>Что она делает. Открывает каждое письмо, читает, понимает, о чём оно, и переносит в таблицу: отдельно контакт, отдельно тема, отдельно срочность. Сорок минут в день.</a:t>
            </a:r>
          </a:p>
          <a:p/>
          <a:p>
            <a:r>
              <a:t>Зачем именно эти два столбца. По ним вечером раскладывают заявки: кому звонить сегодня, кому на неделе, что отдать в бухгалтерию. То есть это не украшение таблицы, а то, по чему принимают решения.</a:t>
            </a:r>
          </a:p>
          <a:p/>
          <a:p>
            <a:r>
              <a:t>И вот отсюда настоящая цена, которая считается не в минутах. Проследите цепочку. Тема проставлена неверно — значит, заявку смотрит не тот человек. Он разбирается, понимает, что это не к нему, и передаёт дальше: появляются лишние передачи из рук в руки. Каждая передача — это часы, а чаще следующий рабочий день. То есть ошибка в одной клетке стоит задержки обработки минимум на день.</a:t>
            </a:r>
          </a:p>
          <a:p/>
          <a:p>
            <a:r>
              <a:t>А дальше арифметика, которая знакома всем, кто работал с входящим потоком: каждый день просрочки в ответе снижает вероятность, что человек всё-таки купит. Он за это время успевает написать в два других места. Поэтому ошибка в этих двух столбцах — это не неаккуратная таблица, это несостоявшаяся продажа.</a:t>
            </a:r>
          </a:p>
          <a:p/>
          <a:p>
            <a:r>
              <a:t>Последнее, и оно узнаваемое: в пятницу заявок больше, а времени меньше. Появляется «потом разберу». И к двадцатому письму подряд работа делается механически — не потому, что Ольга плохая, а потому что двадцатое письмо похоже на пятое.</a:t>
            </a:r>
          </a:p>
          <a:p/>
          <a:p>
            <a:r>
              <a:t>Теперь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из-за чего эта сцена вообще стала задачей.</a:t>
            </a:r>
          </a:p>
          <a:p/>
          <a:p>
            <a:r>
              <a:t>Центр расширился и дал активную рекламу. Писем стало двести в день вместо двадцати. Ольга теперь не «тратит сорок минут» — она занимается только письмами, весь день, и больше ничем. И качество при этом падает: к сотому письму глаз замыливается, а двухсотое похоже на сотое ещё сильнее, чем двадцатое было похоже на пятое.</a:t>
            </a:r>
          </a:p>
          <a:p/>
          <a:p>
            <a:r>
              <a:t>Вопрос: что сделать, чтобы разбирать этот поток своевременно и качественно.</a:t>
            </a:r>
          </a:p>
          <a:p/>
          <a:p>
            <a:r>
              <a:t>Четыре карточки. Первая — добавить сотрудников. Вторая — алгоритмическая классификация по ключевым словам: правила, написанные руками. Третья — один шаг модели. Четвёртая — шаг модели плюс алгоритмическая сверка со справочником, и всё, что в справочник не попало, уходит в «не определено».</a:t>
            </a:r>
          </a:p>
          <a:p/>
          <a:p>
            <a:r>
              <a:t>Выбирайте и формулируйте не «мне так нравится», а ответ на конкретный вопрос: </a:t>
            </a:r>
            <a:r>
              <a:rPr b="1"/>
              <a:t>выдержит ли ваш способ двести писем в день так, чтобы тема и срочность были заполнены всегда и только значениями из списка.</a:t>
            </a:r>
            <a:r>
              <a:t> Не «обычно заполнены» — всегда.</a:t>
            </a:r>
          </a:p>
          <a:p/>
          <a:p>
            <a:r>
              <a:t>И сразу скажу то, что обычно говорят в конце: </a:t>
            </a:r>
            <a:r>
              <a:rPr b="1"/>
              <a:t>правильных ответов здесь больше одного.</a:t>
            </a:r>
            <a:r>
              <a:t> Все четыре живут в настоящих системах, и у каждого есть область, где он лучший. Разбирать будем не «кто угадал», а что каждый способ даёт и чего не даёт — в том числе в процентах.</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И первое, что скажу: </a:t>
            </a:r>
            <a:r>
              <a:rPr b="1"/>
              <a:t>ни один из четырёх не глуп, и ни один не «неправильный ответ»</a:t>
            </a:r>
            <a:r>
              <a:t>. У каждого есть область, где он лучший.</a:t>
            </a:r>
          </a:p>
          <a:p/>
          <a:p>
            <a:r>
              <a:t>Про колонку с процентами сразу оговорюсь честно, потому что вы инженеры и спросите. </a:t>
            </a:r>
            <a:r>
              <a:rPr b="1"/>
              <a:t>Замера, в котором все четыре способа мерили бы на одном и том же потоке, не существует.</a:t>
            </a:r>
            <a:r>
              <a:t> Я свёл цифры из разных работ и разных доменов, и это именно прикидка порядка, а не сравнение. Ссылки в заметках.</a:t>
            </a:r>
          </a:p>
          <a:p/>
          <a:p>
            <a:r>
              <a:t>Добавить сотрудников. Точность человека на живом потоке — около восьмидесяти пяти процентов. Это не опрос и не самооценка: цифру получили майнингом журналов трёх настоящих служб поддержки, сотни тысяч писем. То есть человек, которого мы интуитивно считаем эталоном, ошибается примерно в каждом седьмом письме. И отдельно замерено, что согласованность разметки падает к концу работы — у разметчиков длина серии одинаковых меток растёт, это и есть замыленный глаз в числах. Плюс простая арифметика: двести писем в день — это уже не один человек.</a:t>
            </a:r>
          </a:p>
          <a:p/>
          <a:p>
            <a:r>
              <a:t>Алгоритмическая классификация — правила и регулярные выражения. Порядка пятидесяти процентов, причём в том замере на двух категориях из семи правила не дали вообще ничего, ноль. Что они дают: предсказуемость за ноль денег и отладку глазами — одно и то же слово всегда даёт одну и ту же тему. Чего не дают: живого языка. «Хочу учиться», «а можно к вам», «счёт на ООО» — ни одного вашего ключевого слова. И вторая беда коварнее: правил становится много, и однажды два начинают противоречить друг другу, а заметить это можно только случайно.</a:t>
            </a:r>
          </a:p>
          <a:p/>
          <a:p>
            <a:r>
              <a:t>Если спросят про обученную классификатор-модель — она в этом ряду сильнее, восемьдесят, восемьдесят восемь процентов на реальных потоках. Я не выношу её в варианты, потому что ей нужна размеченная история: тысячи писем, у которых кто-то уже проставил правильную тему. У нашего центра её нет — в таблице лежит то, что Ольга набивала руками, и мы только что выяснили, какого оно качества. Это и есть ответ на вопрос «почему сразу модель, а не классика»: не потому, что модель лучше, а потому, что классике не на чем учиться.</a:t>
            </a:r>
          </a:p>
          <a:p/>
          <a:p>
            <a:r>
              <a:t>Один шаг модели. На чистых задачах с семью категориями — семьдесят пять, восемьдесят процентов. На живом потоке бывает и хуже обученной модели: в одной продакшн-работе дообученный BERT дал ноль шестьдесят пять, а GPT-4 без примеров — ноль пятьдесят семь. Главное достоинство в другом: модель работает </a:t>
            </a:r>
            <a:r>
              <a:rPr b="1"/>
              <a:t>без размеченной истории</a:t>
            </a:r>
            <a:r>
              <a:t>, по описанию категорий словами. Для центра, у которого истории нет, это и решает. Чего не даёт — формата. Она отвечает текстом, и в клетке окажется «запись», «обучение», «Аналитика.» с большой буквы и точкой.</a:t>
            </a:r>
          </a:p>
          <a:p/>
          <a:p>
            <a:r>
              <a:t>Четвёртый — шаг модели плюс сверка со справочником. Смысловая точность у него та же, что у третьего: сверка не делает модель умнее. А добавляет он одно — </a:t>
            </a:r>
            <a:r>
              <a:rPr b="1"/>
              <a:t>сто процентов значений из справочника</a:t>
            </a:r>
            <a:r>
              <a:t>. Всегда. Пустых клеток не бывает, посторонних значений не бывает, и поведение сверки известно заранее, в отличие от модели.</a:t>
            </a:r>
          </a:p>
          <a:p/>
          <a:p>
            <a:r>
              <a:t>И вот почему эти сто процентов стоят отдельного узла, хотя смысловую ошибку они не чинят. Столбец «тема» читает </a:t>
            </a:r>
            <a:r>
              <a:rPr b="1"/>
              <a:t>не человек, а следующий шаг</a:t>
            </a:r>
            <a:r>
              <a:t>: сортировка, маршрутизация, вечерняя раскладка по людям, отчёт. Человек прочитает «Аналитика.» и «аналитика» как одно слово. Система — как два разных значения, и одно из них просто не найдётся фильтром. Поэтому там, где результат уходит в машину, важна не только правильность, но и </a:t>
            </a:r>
            <a:r>
              <a:rPr b="1"/>
              <a:t>форма</a:t>
            </a:r>
            <a:r>
              <a:t>.</a:t>
            </a:r>
          </a:p>
          <a:p/>
          <a:p>
            <a:r>
              <a:t>Теперь поворот, ради которого стоило разбирать. Первые два ломаются </a:t>
            </a:r>
            <a:r>
              <a:rPr b="1"/>
              <a:t>громко</a:t>
            </a:r>
            <a:r>
              <a:t>: правило не нашло слово, клетка пустая, это видно сразу. Модель ломается </a:t>
            </a:r>
            <a:r>
              <a:rPr b="1"/>
              <a:t>тихо</a:t>
            </a:r>
            <a:r>
              <a:t>: в клетке стоит правдоподобное слово, прогон зелёный, и ни одна проверка формата этого не поймает. Громкий отказ дешёвый. Тихий дорогой. Весь сегодняшний день — про перевод тихих отказов в громкие.</a:t>
            </a:r>
          </a:p>
          <a:p/>
          <a:p>
            <a:r>
              <a:t>Собирать будем четвёртый. Почему именно его — следующий экран.</a:t>
            </a:r>
          </a:p>
          <a:p/>
          <a:p>
            <a:r>
              <a:rPr b="1"/>
              <a:t>Источники цифр (для вопросов из зала).</a:t>
            </a:r>
            <a:r>
              <a:t> Человек ≈85%: arXiv:1808.02636, замер по журналам трёх служб поддержки, 70–428 групп исполнителей. Правила 52,7%: arXiv:2605.20368, 48 регулярных выражений, 7 категорий, другой домен. Обученная модель 79,5–88,2%: arXiv:1808.02636 и arXiv:2103.15822 (18 классов). Модель без примеров 75–80%: arXiv:2605.20368; 0,57 против 0,65 у BERT — CEUR Vol-3551 paper 4, настоящий поток, 3 класса. Принудительная схема даёт 100% форматной валидности: arXiv:2609.23742 — но на коротком списке из четырёх значений обычный запрос и так даёт 0–2,7% сбоев разбора (arXiv:2605.15680), так что выигрыш именно в гарантии, а не в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отдельный процесс, посмотрим, где вообще что лежит. Это обзорный экран, первое, что видно после входа.</a:t>
            </a:r>
          </a:p>
          <a:p/>
          <a:p>
            <a:r>
              <a:t>Вкладки сверху — это всё хозяйство. Процессы: список того, что собрано. Учётные данные: ключи и доступы, о них следующий экран. Прогоны: журнал всех исполнений. Переменные: значения, общие для всех процессов. Таблицы данных: встроенное хранилище, в него мы и будем писать заявки.</a:t>
            </a:r>
          </a:p>
          <a:p/>
          <a:p>
            <a:r>
              <a:t>Смотрите на список процессов. У каждого видно три вещи: как он называется, кто владелец и — справа — </a:t>
            </a:r>
            <a:r>
              <a:rPr b="1"/>
              <a:t>опубликован</a:t>
            </a:r>
            <a:r>
              <a:t> он или нет. Эта зелёная отметка «Published» важнее, чем кажется сейчас; весь четвёртый кейс будет про неё.</a:t>
            </a:r>
          </a:p>
          <a:p/>
          <a:p>
            <a:r>
              <a:t>Четыре строки на снимке — это четыре стадии процесса, который мы сегодня соберём. Я сделал их заранее, чтобы на занятии не ждать, пока я наберу текст: мы будем открывать готовую стадию и смотреть, что в ней изменилось относительно предыдущей.</a:t>
            </a:r>
          </a:p>
          <a:p/>
          <a:p>
            <a:r>
              <a:t>И счётчики сверху, они читаются буквально. Сколько прогонов прошло в бою, сколько упало, какая доля падений, сколько в среднем длится прогон. Половина падений на этом снимке — моя собственная: стенд я ломал специально, готовя третий кейс. Там мы это повторим, и вы увидите, как падение выглядит в журнале.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экран обзора — учётные данные, и это тот механизм, который в курсах обычно проскакивают одной строкой, а он того не стоит.</a:t>
            </a:r>
          </a:p>
          <a:p/>
          <a:p>
            <a:r>
              <a:t>Что на снимке. Отдельная карточка: имя, которое придумали вы, тип — здесь OpenRouter, — и поле ключа. Ключ показан точками, и это не ради снимка: он скрыт всегда, в том числе от того, кто его завёл. Посмотреть его нельзя, можно только заменить новым. Если вы потеряли ключ, вы идёте не сюда, а в сервис, где его выписывали.</a:t>
            </a:r>
          </a:p>
          <a:p/>
          <a:p>
            <a:r>
              <a:t>Зелёная строка сверху — «соединение проверено успешно». Обратите внимание, что это утверждение не про сохранение, а про сервис: инструмент сходил в OpenRouter с этим ключом и получил ответ. Проверка делается здесь, до того как вы соберёте процесс, — а не выясняется на первом прогоне посреди демонстрации.</a:t>
            </a:r>
          </a:p>
          <a:p/>
          <a:p>
            <a:r>
              <a:t>Теперь главное следствие, ради которого это вообще отдельная сущность. Узел в процессе ссылается на эти учётные данные </a:t>
            </a:r>
            <a:r>
              <a:rPr b="1"/>
              <a:t>по имени</a:t>
            </a:r>
            <a:r>
              <a:t>. В файле самого процесса ключа нет — там написано «использовать учётные данные с таким-то именем». Из этого выходит две вещи сразу.</a:t>
            </a:r>
          </a:p>
          <a:p/>
          <a:p>
            <a:r>
              <a:t>Первая: процесс можно выгрузить одним файлом и отдать другому человеку, и вы при этом ничего не раскрыли. Он подставит свой ключ. Ровно на этом построено ваше домашнее задание: я отдам вам файл процесса, а ключ вы заведёте свой.</a:t>
            </a:r>
          </a:p>
          <a:p/>
          <a:p>
            <a:r>
              <a:t>Вторая: когда ключ протухает или его надо сменить — а это случается, — вы меняете его в одном месте, и все процессы, которые на него ссылаются, продолжают работать. Без этого пришлось бы править каждый сценарий, в котором он зашит, и один вы бы точно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нырять в параметры — взгляд сверху. Это настоящий холст, не схема: так процесс выглядит у меня на экране прямо сейчас.</a:t>
            </a:r>
          </a:p>
          <a:p/>
          <a:p>
            <a:r>
              <a:t>Слева направо шесть узлов, и у каждого номер.</a:t>
            </a:r>
          </a:p>
          <a:p/>
          <a:p>
            <a:r>
              <a:t>Первый — форма. Это вход процесса: человек заполняет её на сайте, и с этого момента начинается всё остальное. Обратите внимание на значок молнии слева от него: так на холсте помечается триггер, то, с чего процесс запускается.</a:t>
            </a:r>
          </a:p>
          <a:p/>
          <a:p>
            <a:r>
              <a:t>Второй — извлечение полей. Он достаёт из свободного текста значения: тему, срочность, контакт.</a:t>
            </a:r>
          </a:p>
          <a:p/>
          <a:p>
            <a:r>
              <a:t>Третий — модель, и смотрите, где она. Не внутри второго узла, а </a:t>
            </a:r>
            <a:r>
              <a:rPr b="1"/>
              <a:t>отдельной коробкой, подвешенной под ним</a:t>
            </a:r>
            <a:r>
              <a:t>. Шаг модели в этом инструменте — всегда два узла: сам шаг и подключённая к нему модель. Запомните это: когда на одиннадцатом занятии мы соберём агента, под ним будут висеть три таких коробки — модель, память, инструменты.</a:t>
            </a:r>
          </a:p>
          <a:p/>
          <a:p>
            <a:r>
              <a:t>Четвёртый — сверка со списком. Обычный узел «задать поля», и именно он не даст появиться в таблице значению вне нашего справочника.</a:t>
            </a:r>
          </a:p>
          <a:p/>
          <a:p>
            <a:r>
              <a:t>Пятый — запись строки в таблицу. И обратите внимание, откуда он берёт значения: у четвёртого узла, то есть у сверки, а не у модели напрямую. Поэтому в таблице не бывает ни пустой темы, ни темы вне списка — между моделью и таблицей всегда стоит проверка.</a:t>
            </a:r>
          </a:p>
          <a:p/>
          <a:p>
            <a:r>
              <a:t>Шестой — экран результата. Тот же узел формы, в режиме завершения: он печатает всю дорогу в том же окне, где заявку отправили.</a:t>
            </a:r>
          </a:p>
          <a:p/>
          <a:p>
            <a:r>
              <a:t>И ещё одно, что стоит заметить на этом кадре: между узлами тянутся стрелки, и каждая — это данные, уходящие из одного в другой. Процесс читается как схема, на него можно показать пальцем коллеге, и в этом половина ценности таких инструментов.</a:t>
            </a:r>
          </a:p>
          <a:p/>
          <a:p>
            <a:r>
              <a:t>Теперь откроем два узла из шести — те, на которых держится весь кейс.</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узла, на которых держится кейс, и по одному параметру в каждом.</a:t>
            </a:r>
          </a:p>
          <a:p/>
          <a:p>
            <a:r>
              <a:t>Схему в узле извлечения задаю </a:t>
            </a:r>
            <a:r>
              <a:rPr b="1"/>
              <a:t>вручную</a:t>
            </a:r>
            <a:r>
              <a:t>, и вот зачем. Её можно задать описаниями словами, и это проще, — но описание допустимые значения только </a:t>
            </a:r>
            <a:r>
              <a:rPr b="1"/>
              <a:t>предлагает</a:t>
            </a:r>
            <a:r>
              <a:t>. Мне нужно, чтобы инструмент их </a:t>
            </a:r>
            <a:r>
              <a:rPr b="1"/>
              <a:t>перечислил</a:t>
            </a:r>
            <a:r>
              <a:t>, и для этого в схеме есть перечисление: тема — одно из четырёх, срочность — одно из трёх, оба поля обязательны.</a:t>
            </a:r>
          </a:p>
          <a:p/>
          <a:p>
            <a:r>
              <a:t>Последние значения в списках — «другое» и «не указано». Это не формальность и не вежливость: без них классификация упирается в пустую клетку на первой же непонятной заявке, а модель, которой не дали законного «не знаю», поставит ближайшее подходящее и не скажет об этом.</a:t>
            </a:r>
          </a:p>
          <a:p/>
          <a:p>
            <a:r>
              <a:t>Второй узел — сверка. Обычный «задать поля», никакого кода, и в нём стоит выражение: доллар-json, точка, тема, две вертикальные черты, «другое». Читается буквально: возьми тему, а если её нет — поставь «другое». И то же для срочности.</a:t>
            </a:r>
          </a:p>
          <a:p/>
          <a:p>
            <a:r>
              <a:t>Зачем он, если перечисление уже в схеме? Потому что схема — просьба к модели, пусть и строгая, а это — последняя инстанция. Схему можно обойти: она действует не во всех режимах, а на отказ модели по безопасности придёт вообще не ваше поле. Этот узел обойти нельзя. Отсюда формулировка, которую я прошу унести: </a:t>
            </a:r>
            <a:r>
              <a:rPr b="1"/>
              <a:t>модель предлагает, список решает.</a:t>
            </a:r>
          </a:p>
          <a:p/>
          <a:p>
            <a:r>
              <a:t>Теперь, прежде чем я нажму «отправить», — предскажите. Заявка: «хочу на курс по аналитике, перезвоните сегодня после шести, телефон в конце». Что напечатает экран в строке «что предложила модель»: какая тема, какая срочность, что окажется в контакте из текста? Говорите вслух, у вас пятнадцать секунд.</a:t>
            </a:r>
          </a:p>
          <a:p/>
          <a:p>
            <a:r>
              <a:t>Отправляю. Смотрим: тема «курс», срочность «сегодня», телефон вытащен из текста. У кого совпало — вы только что предсказали поведение шага модели, и это ровно то умение, за которым мы здесь собрались.</a:t>
            </a:r>
          </a:p>
          <a:p/>
          <a:p>
            <a:r>
              <a:rPr b="1"/>
              <a:t>Если спросят точные формулировки</a:t>
            </a:r>
            <a:r>
              <a:t> (в карточке они видны на снимке): поле Text — </a:t>
            </a:r>
            <a:r>
              <a:rPr>
                <a:latin typeface="Consolas"/>
              </a:rPr>
              <a:t>{{ $json['Что нужно'] }}</a:t>
            </a:r>
            <a:r>
              <a:t>; схема темы — </a:t>
            </a:r>
            <a:r>
              <a:rPr>
                <a:latin typeface="Consolas"/>
              </a:rPr>
              <a:t>"enum": ["курс", "перенос занятия", "оплата", "другое"]</a:t>
            </a:r>
            <a:r>
              <a:t>, схемы срочности — </a:t>
            </a:r>
            <a:r>
              <a:rPr>
                <a:latin typeface="Consolas"/>
              </a:rPr>
              <a:t>["сегодня", "на неделе", "не указано"]</a:t>
            </a:r>
            <a:r>
              <a:t>, оба поля в </a:t>
            </a:r>
            <a:r>
              <a:rPr>
                <a:latin typeface="Consolas"/>
              </a:rPr>
              <a:t>required</a:t>
            </a:r>
            <a:r>
              <a:t>. Выражение сверки — </a:t>
            </a:r>
            <a:r>
              <a:rPr>
                <a:latin typeface="Consolas"/>
              </a:rPr>
              <a:t>{{ список.includes($json.output.topic) ? $json.output.topic : 'другое' }}</a:t>
            </a:r>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в параметры, посмотрим на процесс с той стороны, с которой его видит человек. Потому что пока мы смотрели на схему, а человеку схема не показывается никогда.</a:t>
            </a:r>
          </a:p>
          <a:p/>
          <a:p>
            <a:r>
              <a:t>Слева — вход. Это обычная веб-страница по обычному адресу, и сделал её узел формы: поля, проверка ввода, кнопка. Ни фронтенда, ни хостинга, ни дизайнера. Обратите внимание на текст наверху: форма объясняет, что произойдёт с заявкой. Это не вежливость. Человек, который знает, что его текст будут разбирать автоматически, пишет иначе — короче и конкретнее, — и разбирать становится заметно легче. Объяснение на входе — это способ улучшить вход, а не украсить его.</a:t>
            </a:r>
          </a:p>
          <a:p/>
          <a:p>
            <a:r>
              <a:t>Справа — выход, и это тот же самый механизм: экран завершения формы. Смотрите, что на нём напечатано. Шаг один — что пришло из формы. Шаг два — что предложила модель: тема, срочность, контакт, вытащенный прямо из текста. Шаг три — что осталось после сверки со справочником. Шаг четыре — куда легла строка: номер строки в таблице и статус.</a:t>
            </a:r>
          </a:p>
          <a:p/>
          <a:p>
            <a:r>
              <a:t>Здесь принципиальный момент, и он переносится в любой инструмент. Промежуточные шаги печатаются на экране намеренно. Обычный соблазн — показать только ответ, он же красивее. Но если на экране только ответ, то ошибку вы увидите ровно там, где она уже стала результатом: тема неверная, а почему — идите в журнал. Когда на экране видны все четыре шага, расхождение между тем, что предложила модель, и тем, что осталось после справочника, видно сразу и без расследования.</a:t>
            </a:r>
          </a:p>
          <a:p/>
          <a:p>
            <a:r>
              <a:t>И третье, самое переносимое. Сделайте выход видимым на том же экране, где был вход. Необходимость переключиться в другую вкладку, чтобы посмотреть, сработало ли, — это главный способ не заметить, что сработало неправильно. Мы это сегодня покажем вживую: я отправлю заявку с этой формы, и ответ появится здесь же, на этом же экране, через несколько секунд.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критерий — то, с чем можно выйти отсюда и применить к своей работе, не помня ни одного имени блока.</a:t>
            </a:r>
          </a:p>
          <a:p/>
          <a:p>
            <a:r>
              <a:t>Закрытый список нужен, когда результат шага читает </a:t>
            </a:r>
            <a:r>
              <a:rPr b="1"/>
              <a:t>следующий шаг</a:t>
            </a:r>
            <a:r>
              <a:t>: по нему фильтруют, сортируют, считают или решают, куда заявку отправить. Машина не умеет сравнивать свободный текст, и ей нужно конечное множество значений, известное заранее.</a:t>
            </a:r>
          </a:p>
          <a:p/>
          <a:p>
            <a:r>
              <a:t>Не нужен, когда результат читает </a:t>
            </a:r>
            <a:r>
              <a:rPr b="1"/>
              <a:t>человек</a:t>
            </a:r>
            <a:r>
              <a:t> и он же решает, что делать. Ему свободный текст помогает: в пересказе может оказаться деталь, которой в вашем списке нет. Не загоняйте в список то, что читают глазами.</a:t>
            </a:r>
          </a:p>
          <a:p/>
          <a:p>
            <a:r>
              <a:t>Вторая строка про отчётность. Если по полю когда-нибудь будет отчёт — «сколько заявок про оплату за месяц» — список нужен, и нужен с самого начала, потому что задним числом он не появится: старые строки останутся свободным текстом, и годовой отчёт сложит несравнимое. Если поле нужно один раз для одного письма — не тратьте время.</a:t>
            </a:r>
          </a:p>
          <a:p/>
          <a:p>
            <a:r>
              <a:t>Третья — про ответственность. Результат уходит в начисление, в рассылку, в обязательство перед клиентом: список обязателен. Ошибку заметит тот же человек в тот же день и поправит за минуту: обойдётесь.</a:t>
            </a:r>
          </a:p>
          <a:p/>
          <a:p>
            <a:r>
              <a:t>Четвёртая — про рост. Поток растёт, типов входа становится больше одного: нужен. Двадцать обращений в неделю и пять минут в день, и так будет дальше: подумайте дважды, прежде чем строить процесс, который придётся поддерживать.</a:t>
            </a:r>
          </a:p>
          <a:p/>
          <a:p>
            <a:r>
              <a:t>И предел, после которого список перестаёт работать, — одна фраза, но она дорогая. </a:t>
            </a:r>
            <a:r>
              <a:rPr b="1"/>
              <a:t>Список, в котором нет «иначе», не отказывает.</a:t>
            </a:r>
            <a:r>
              <a:t> Он заставляет модель выбрать ближайшее из того, что есть. Вы получите совершенно законное значение на заявке, которой в вашем списке не место, и не узнаете об этом никогда — ни одна проверка формата этого не поймает, потому что формат в порядке.</a:t>
            </a:r>
          </a:p>
          <a:p/>
          <a:p>
            <a:r>
              <a:t>Возвращаемся к оси. Первая строка: три узла заявку довозят, и это выглядит успехом. Чем оказалось: тема какая угодно, срочности нет вовсе, ручаться нечем. Разница между «работает» и «можно ручаться» здесь ровно в двух узлах — том, что сверяет со списком, и том, что показывает результат. Два узла из шести, и без них процесс работает, а отвечать за него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который мы собрали, работает честно: пустых клеток нет, значения из списка, прогон зелёный. За это мы ручались и ручаемся.</a:t>
            </a:r>
          </a:p>
          <a:p/>
          <a:p>
            <a:r>
              <a:t>А теперь посмотрим, за что мы </a:t>
            </a:r>
            <a:r>
              <a:rPr b="1"/>
              <a:t>не</a:t>
            </a:r>
            <a:r>
              <a:t> ручались, — и обнаружится это не в журнале и не на моём экране, а в разговоре с человеком, который звонит и спрашивает, почему ему ответили на половину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второго кейса, и она из того, что мы собрали пятнадцать минут назад.</a:t>
            </a:r>
          </a:p>
          <a:p/>
          <a:p>
            <a:r>
              <a:t>Процесс работает неделю. Ольга к нему привыкла: смотрит таблицу утром, звонит по срочным, остальное раскладывает после обеда. Жалоб нет, и это важно — всё выглядит хорошо.</a:t>
            </a:r>
          </a:p>
          <a:p/>
          <a:p>
            <a:r>
              <a:t>Вторник, двадцать минут двенадцатого. Приходит заявка: «можно перенести занятие со вторника? И подскажите, как оплатить». Две темы в одном сообщении, обе наши, обе есть в списке.</a:t>
            </a:r>
          </a:p>
          <a:p/>
          <a:p>
            <a:r>
              <a:t>В таблице появляется строка: тема «перенос занятия», срочность «не указано». Всё заполнено, значение из списка, прогон зелёный. По всем нашим обещаниям — успех, и его даже можно показать руководителю.</a:t>
            </a:r>
          </a:p>
          <a:p/>
          <a:p>
            <a:r>
              <a:t>Ольга видит тему, переносит занятие, закрывает заявку. Обратите внимание: она делает ровно то, что написано в столбце. Никакой халатности.</a:t>
            </a:r>
          </a:p>
          <a:p/>
          <a:p>
            <a:r>
              <a:t>Пятница. Человек звонит сам и спрашивает: а со счётом-то что? Про оплату не узнал никто. Её нет ни в таблице, ни в журнале, ни на экране результата — вторая тема не потерялась с ошибкой, её просто нет нигде.</a:t>
            </a:r>
          </a:p>
          <a:p/>
          <a:p>
            <a:r>
              <a:t>И вот что я прошу услышать точно. </a:t>
            </a:r>
            <a:r>
              <a:rPr b="1"/>
              <a:t>Это не ошибка процесса.</a:t>
            </a:r>
            <a:r>
              <a:t> Мы ручались, что клетка не пуста и значение из списка, — это выполнено. Что в клетке окажется всё, что было в заявке, мы не обещали никогда.</a:t>
            </a:r>
          </a:p>
          <a:p/>
          <a:p>
            <a:r>
              <a:t>Беда в другом: граница наших обещаний обнаружилась не на разборе и не в журнале, а в разговоре с клиентом. И ни один сторож сработать не мог — формально всё в порядке.</a:t>
            </a:r>
          </a:p>
          <a:p/>
          <a:p>
            <a:r>
              <a:t>Теперь вопрос: что с этим делать.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заявка, на которой процесс оступился: «можно перенести занятие со вторника? И подскажите, как оплатить». Две темы. Обе, подчеркну, есть в справочнике — то есть это не экзотика и не мусор, это ровно то, что мы умеем. А клетка в таблице одна.</a:t>
            </a:r>
          </a:p>
          <a:p/>
          <a:p>
            <a:r>
              <a:t>Вопрос: как мы корректируем устройство процесса.</a:t>
            </a:r>
          </a:p>
          <a:p/>
          <a:p>
            <a:r>
              <a:t>Четыре карточки. Писать первую из найденных. Писать «не определено». Делать две строки из одного письма. Или расширять справочник всеми сочетаниями тем — то есть завести значения «перенос плюс оплата», «курс плюс оплата» и так далее.</a:t>
            </a:r>
          </a:p>
          <a:p/>
          <a:p>
            <a:r>
              <a:t>Выбирайте. И как в прошлый раз: правильных ответов здесь больше одного, все четыре встречаются в живых системах. Разбирать будем, что каждый даёт и чем за это платят.</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Как и в прошлый раз: ни один из четырёх не глуп, все четыре встречаются в живых системах.</a:t>
            </a:r>
          </a:p>
          <a:p/>
          <a:p>
            <a:r>
              <a:t>Первый — писать первую из найденных. Что даёт: не стоит вообще ничего, в процессе менять нечего. Чего не даёт: вторая тема не остаётся </a:t>
            </a:r>
            <a:r>
              <a:rPr b="1"/>
              <a:t>нигде</a:t>
            </a:r>
            <a:r>
              <a:t> — ни в таблице, ни в журнале, ни на экране результата. Это ровно то, что мы только что видели: про оплату не узнал никто, и напомнил о ней человек через три дня.</a:t>
            </a:r>
          </a:p>
          <a:p/>
          <a:p>
            <a:r>
              <a:t>Второй — писать «не определено». Что даёт: честность. Процесс говорит «я не справился», это видно в столбце, заявка видна и ждёт человека. Чего не даёт: разделения причин. В «не определено» попадает и заявка с двумя знакомыми темами, и настоящая экзотика, которой в справочнике нет вовсе. Очередь растёт, а что именно в ней непонятного — не видно.</a:t>
            </a:r>
          </a:p>
          <a:p/>
          <a:p>
            <a:r>
              <a:t>Третий — две строки из одного письма. Что даёт: каждая тема получает свой маршрут, своего ответственного и свой срок, и закрывается независимо. Сортировка по теме, на которой у Ольги держится весь день, продолжает работать. Чего не даёт: простоты учёта. Одна заявка превратилась в две записи, и надо решить, что считать выполненной заявкой и как не позвонить человеку дважды по одному письму.</a:t>
            </a:r>
          </a:p>
          <a:p/>
          <a:p>
            <a:r>
              <a:t>Четвёртый — расширять справочник всеми сочетаниями. Он выглядит самым дешёвым: клетка остаётся одна, в процессе менять нечего. Посчитайте вместе со мной. Четыре темы — это одиннадцать возможных пар и троек. Пятая тема — и их уже двадцать шесть. Сортировать по такому столбцу нельзя: «перенос плюс оплата» и «оплата плюс перенос» для компьютера разные значения, а для человека одно. И каждая новая тема удваивает справочник. Этот вариант умирает не от того, что он неправильный, а от арифметики.</a:t>
            </a:r>
          </a:p>
          <a:p/>
          <a:p>
            <a:r>
              <a:t>Берём третий. Две строки — единственный способ, при котором обе темы получают маршрут и срок, а не одна из них. И у него есть приятное свойство, которое мы сейчас увидим: в n8n это делается не новым блоком, а тем, как в нём вообще устроены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Снова взгляд сверху, и это сознательно тот же кадр — чтобы было видно: процесс мы не пересобираем.</a:t>
            </a:r>
          </a:p>
          <a:p/>
          <a:p>
            <a:r>
              <a:t>Золотым отмечены два узла, и только они меняются.</a:t>
            </a:r>
          </a:p>
          <a:p/>
          <a:p>
            <a:r>
              <a:t>Второй, извлечение. В его схеме появляется ещё одно поле — «ещё в заявке»: остальные темы из того же списка, если их в тексте несколько.</a:t>
            </a:r>
          </a:p>
          <a:p/>
          <a:p>
            <a:r>
              <a:t>Четвёртый, сверка со списком. Она получает ещё один столбец и проверяет его тем же справочником — то есть в пометку тоже не может попасть значение со стороны.</a:t>
            </a:r>
          </a:p>
          <a:p/>
          <a:p>
            <a:r>
              <a:t>Форма не трогается. Модель не трогается. Запись строки и экран результата — как были.</a:t>
            </a:r>
          </a:p>
          <a:p/>
          <a:p>
            <a:r>
              <a:t>Это важно не как техническая деталь, а как привычка: когда задача меняется, первым делом стоит спросить, </a:t>
            </a:r>
            <a:r>
              <a:rPr b="1"/>
              <a:t>сколько узлов из существующих придётся тронуть</a:t>
            </a:r>
            <a:r>
              <a:t>. Если ответ «почти все» — скорее всего, вы собираете второй процесс под видом правки первого, и честнее это признать.</a:t>
            </a:r>
          </a:p>
          <a:p/>
          <a:p>
            <a:r>
              <a:t>У нас ответ — два из шести. Открываем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механика, и она объясняет сразу две вещи: как получается расщепление и почему узел записи при этом не меняется.</a:t>
            </a:r>
          </a:p>
          <a:p/>
          <a:p>
            <a:r>
              <a:t>В n8n между узлами всегда идёт </a:t>
            </a:r>
            <a:r>
              <a:rPr b="1"/>
              <a:t>список элементов</a:t>
            </a:r>
            <a:r>
              <a:t>. Всегда. Даже когда элемент один — это список из одного. В первом кейсе так и было: одно письмо, один элемент, и список был незаметен. Каждый элемент — объект с обязательной обёрткой </a:t>
            </a:r>
            <a:r>
              <a:rPr>
                <a:latin typeface="Consolas"/>
              </a:rPr>
              <a:t>json</a:t>
            </a:r>
            <a:r>
              <a:t>, поэтому в выражениях везде пишется </a:t>
            </a:r>
            <a:r>
              <a:rPr>
                <a:latin typeface="Consolas"/>
              </a:rPr>
              <a:t>$json</a:t>
            </a:r>
            <a:r>
              <a:t> и дальше имя поля.</a:t>
            </a:r>
          </a:p>
          <a:p/>
          <a:p>
            <a:r>
              <a:t>Второе правило, из которого всё следует: </a:t>
            </a:r>
            <a:r>
              <a:rPr b="1"/>
              <a:t>узел выполняется по разу на каждый элемент списка</a:t>
            </a:r>
            <a:r>
              <a:t>. Перебор встроен в инструмент. Отдельный блок цикла нужен заметно реже, чем ожидают люди, пришедшие из программирования.</a:t>
            </a:r>
          </a:p>
          <a:p/>
          <a:p>
            <a:r>
              <a:t>Теперь смотрите, что делает узел расщепления. На вход ему приходит один элемент, в котором тема — не строка, а список из двух значений: «перенос занятия» и «оплата». Узел берёт это поле и разворачивает: на выходе </a:t>
            </a:r>
            <a:r>
              <a:rPr b="1"/>
              <a:t>два элемента</a:t>
            </a:r>
            <a:r>
              <a:t>, в каждом по одной теме. Все остальные поля — имя, контакт, текст письма, срочность — копируются в оба.</a:t>
            </a:r>
          </a:p>
          <a:p/>
          <a:p>
            <a:r>
              <a:t>И дальше не меняется ничего. Сверка со справочником срабатывает дважды. Узел записи срабатывает дважды. Их никто не переписывал — просто элементов стало два, а узел выполняется по разу на каждый. Вот откуда берутся две строки из одного письма.</a:t>
            </a:r>
          </a:p>
          <a:p/>
          <a:p>
            <a:r>
              <a:t>Это же правило — источник известной беды, и назову её сразу, пока она выглядит безобидной. Если в конце цепочки стоит узел отправки письма, а элементов пришло пять, то писем уйдёт пять. Узел не спросит и не предупредит: он честно сделал то, что ему сказано, по разу на элемент. Люди обнаруживают это, когда клиент получает пять одинаковых писем.</a:t>
            </a:r>
          </a:p>
          <a:p/>
          <a:p>
            <a:r>
              <a:t>Поэтому правило, которое стоит унести: </a:t>
            </a:r>
            <a:r>
              <a:rPr b="1"/>
              <a:t>прежде чем ставить узел, который делает что-то наружу — письмо, звонок, платёж, — посмотрите, сколько элементов к нему придёт.</a:t>
            </a:r>
            <a:r>
              <a:t> Ответ на этот вопрос всегда виден в журнале прогона, на связи между узлами написано число.</a:t>
            </a:r>
          </a:p>
          <a:p/>
          <a:p>
            <a:r>
              <a:t>И последнее, честное. Это свойство </a:t>
            </a:r>
            <a:r>
              <a:rPr b="1"/>
              <a:t>конкретного инструмента</a:t>
            </a:r>
            <a:r>
              <a:t>, не общее свойство автоматизации процессов. В других оркестраторах модель данных другая: где-то между шагами идёт один объект, и перебор вы пишете явно. Переносится отсюда не синтаксис, а вопрос: </a:t>
            </a:r>
            <a:r>
              <a:rPr b="1"/>
              <a:t>что у моего инструмента ходит между шагами — один объект или список?</a:t>
            </a:r>
            <a:r>
              <a:t> Ответ на него определяет, получите вы одну строку или пять.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 он занимает две строки.</a:t>
            </a:r>
          </a:p>
          <a:p/>
          <a:p>
            <a:r>
              <a:t>Строки девятнадцать и двадцать. Посмотрите на них внимательно: одно и то же имя, один и тот же контакт, один и тот же текст письма, и время записи совпадает до миллисекунд — десять пятнадцать сорок, восемьсот пятьдесят девять и восемьсот семьдесят три. Это не два письма. Это одно письмо, из которого процесс сделал две записи.</a:t>
            </a:r>
          </a:p>
          <a:p/>
          <a:p>
            <a:r>
              <a:t>Различаются они одной клеткой — темой. В первой «перенос занятия», во второй «оплата». Обе темы из справочника, обе законные, ни одна не потерялась.</a:t>
            </a:r>
          </a:p>
          <a:p/>
          <a:p>
            <a:r>
              <a:t>Что это даёт Ольге практически. Переносом занятия занимается расписание, оплатой — бухгалтерия. Теперь каждая строка уходит своему человеку и закрывается в свой срок. Ни одна не ждёт, пока разберутся с другой, и ни одна не исчезает молча — а исчезала она, напомню, в прошлой версии, где мы писали только первую найденную тему.</a:t>
            </a:r>
          </a:p>
          <a:p/>
          <a:p>
            <a:r>
              <a:t>Теперь чем за это платят, и это честный разговор, который стоит провести до запуска, а не после.</a:t>
            </a:r>
          </a:p>
          <a:p/>
          <a:p>
            <a:r>
              <a:t>Одна заявка превратилась в две записи. Из этого сразу три вопроса. Что считать выполненной заявкой — когда закрыты обе строки или когда закрыта любая? Как не позвонить человеку дважды по одному письму — расписание позвонит про перенос, бухгалтерия про оплату, и для него это два звонка из одной компании? И что показывать в отчёте «сколько заявок пришло» — двадцать писем или двадцать три строки?</a:t>
            </a:r>
          </a:p>
          <a:p/>
          <a:p>
            <a:r>
              <a:t>Обратите внимание: ни один из этих вопросов не технический. Процесс отработал правильно, в таблице ровно то, что мы просили. Это вопросы к договорённости в команде, и расщепление записи их создаёт неизбежно. Поэтому правило, которое стоит унести: </a:t>
            </a:r>
            <a:r>
              <a:rPr b="1"/>
              <a:t>решение, которое размножает записи, обязано сопровождаться решением, что считать выполненным.</a:t>
            </a:r>
            <a:r>
              <a:t> Если второго нет, вы получите спор между отделами через неделю после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край кейса — что видит человек, отправивший письмо.</a:t>
            </a:r>
          </a:p>
          <a:p/>
          <a:p>
            <a:r>
              <a:t>Экран тот же, что в первом кейсе, и собран тем же узлом завершения формы. Четыре блока: что пришло из формы, что предложила модель, что вышло после расщепления, и что записано.</a:t>
            </a:r>
          </a:p>
          <a:p/>
          <a:p>
            <a:r>
              <a:t>Новый здесь третий блок, и он единственный, ради которого я этот экран показываю. На нём написано: элементов после расщепления — два. А в четвёртом: строк добавлено в таблицу — два, темы «перенос занятия» и «оплата».</a:t>
            </a:r>
          </a:p>
          <a:p/>
          <a:p>
            <a:r>
              <a:t>Зачем печатать число элементов, если темы и так видны ниже. Затем, что это </a:t>
            </a:r>
            <a:r>
              <a:rPr b="1"/>
              <a:t>проверка</a:t>
            </a:r>
            <a:r>
              <a:t>, и она ловит ровно ту ошибку, которую иначе не видно. Представьте, что в третьем блоке написано «два», а в четвёртом «одна строка». Темы при этом найдены правильно, модель отработала, прогон зелёный. Где-то между расщеплением и записью половина данных потерялась — например, узел записи настроен так, что берёт только первый элемент. На экране это видно мгновенно. Без экрана это обнаружится через неделю, когда кто-нибудь сверит число писем с числом строк.</a:t>
            </a:r>
          </a:p>
          <a:p/>
          <a:p>
            <a:r>
              <a:t>Отсюда правило, которое переносится в любой инструмент, не только в n8n. </a:t>
            </a:r>
            <a:r>
              <a:rPr b="1"/>
              <a:t>Если шаг размножает или схлопывает записи — покажите число до и после.</a:t>
            </a:r>
            <a:r>
              <a:t> Тихая потеря половины данных выглядит ровно так же, как успешная работа. Отличить их можно только числом, и дешевле всего напечатать его там же, где человек и так смотрит.</a:t>
            </a:r>
          </a:p>
          <a:p/>
          <a:p>
            <a:r>
              <a:t>Это второе появление одной и той же мысли за занятие, и дальше она будет третий раз: в кейсе 3 мы будем переводить тихий отказ в громкий. Здесь тот же приём, только про количество, а не про ошибку.</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как всегда — прямой формой: когда расщеплять запись, а когда не надо.</a:t>
            </a:r>
          </a:p>
          <a:p/>
          <a:p>
            <a:r>
              <a:t>Расщеплять нужно, если у частей </a:t>
            </a:r>
            <a:r>
              <a:rPr b="1"/>
              <a:t>разные исполнители или разные сроки</a:t>
            </a:r>
            <a:r>
              <a:t>. Это наш случай: перенос занятия уходит в расписание, оплата в бухгалтерию, и ждать друг друга им незачем.</a:t>
            </a:r>
          </a:p>
          <a:p/>
          <a:p>
            <a:r>
              <a:t>Нужно, если по этому столбцу </a:t>
            </a:r>
            <a:r>
              <a:rPr b="1"/>
              <a:t>сортируют или маршрутизируют</a:t>
            </a:r>
            <a:r>
              <a:t>. Смешанное значение ломает сортировку: «перенос и оплата» не найдётся ни фильтром «перенос», ни фильтром «оплата».</a:t>
            </a:r>
          </a:p>
          <a:p/>
          <a:p>
            <a:r>
              <a:t>Нужно, если части </a:t>
            </a:r>
            <a:r>
              <a:rPr b="1"/>
              <a:t>закрываются независимо</a:t>
            </a:r>
            <a:r>
              <a:t> и одна не должна ждать другую. И нужно, если </a:t>
            </a:r>
            <a:r>
              <a:rPr b="1"/>
              <a:t>потеря части дороже двойного учёта</a:t>
            </a:r>
            <a:r>
              <a:t> — а это как раз про входящие заявки, где потерянная тема означает потерянного клиента.</a:t>
            </a:r>
          </a:p>
          <a:p/>
          <a:p>
            <a:r>
              <a:t>Теперь обратная сторона, и она не формальная.</a:t>
            </a:r>
          </a:p>
          <a:p/>
          <a:p>
            <a:r>
              <a:t>Не надо расщеплять, если части делает </a:t>
            </a:r>
            <a:r>
              <a:rPr b="1"/>
              <a:t>один человек за один раз</a:t>
            </a:r>
            <a:r>
              <a:t>. Вы разделите заявку на две, и он дважды откроет одно и то же письмо. Это чистый вред.</a:t>
            </a:r>
          </a:p>
          <a:p/>
          <a:p>
            <a:r>
              <a:t>Не надо, если столбец </a:t>
            </a:r>
            <a:r>
              <a:rPr b="1"/>
              <a:t>читает глазами человек</a:t>
            </a:r>
            <a:r>
              <a:t>. Человек прекрасно поймёт «перенос и оплата» в одной клетке — ему не нужен отдельный ряд.</a:t>
            </a:r>
          </a:p>
          <a:p/>
          <a:p>
            <a:r>
              <a:t>Не надо, если заявка имеет смысл </a:t>
            </a:r>
            <a:r>
              <a:rPr b="1"/>
              <a:t>только целиком</a:t>
            </a:r>
            <a:r>
              <a:t>. Половина отгрузки — не отгрузка, и две строки здесь создадут иллюзию, что часть работы сделана.</a:t>
            </a:r>
          </a:p>
          <a:p/>
          <a:p>
            <a:r>
              <a:t>И не надо, если </a:t>
            </a:r>
            <a:r>
              <a:rPr b="1"/>
              <a:t>двойной звонок клиенту дороже</a:t>
            </a:r>
            <a:r>
              <a:t>, чем задержка по второй теме. Это ровно тот случай, когда расщепление технически правильно, а по делу вредно.</a:t>
            </a:r>
          </a:p>
          <a:p/>
          <a:p>
            <a:r>
              <a:t>Предел, за которым приём перестаёт работать: </a:t>
            </a:r>
            <a:r>
              <a:rPr b="1"/>
              <a:t>учёт без договорённости</a:t>
            </a:r>
            <a:r>
              <a:t>. Расщепление неизбежно создаёт вопрос, что считать выполненной заявкой, и процесс на него ответить не может — отвечает команда. Две строки без такой договорённости хуже одной: по ним нельзя ни отчитаться, ни понять, кто кому звонит. Если вы уходите с занятия с одним практическим выводом из этого кейса, пусть он будет такой: </a:t>
            </a:r>
            <a:r>
              <a:rPr b="1"/>
              <a:t>решение, которое размножает записи, вводится вместе с решением, что считать выполненным.</a:t>
            </a:r>
          </a:p>
          <a:p/>
          <a:p>
            <a:r>
              <a:t>И закрываем вторую строку нашей таблицы. Что выглядело успехом: клетка заполнена, значение законное, прогон зелёный. Чем оказалось: в заявке было две темы, а записали одну — и вторая не осталась </a:t>
            </a:r>
            <a:r>
              <a:rPr b="1"/>
              <a:t>нигде</a:t>
            </a:r>
            <a:r>
              <a:t>. Ни в таблице, ни в журнале, ни на экране результата. Сторож не мог сработать, потому что формально всё было в порядке.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начинается не с чьих-то слов, а с того, что видно в таблице. Или, точнее, с того, чего в ней не видно.</a:t>
            </a:r>
          </a:p>
          <a:p/>
          <a:p>
            <a:r>
              <a:t>Процесс работает неделю, к нему привыкли, заглядывают по делу. И в одно утро в таблице обнаруживается дырка — не ошибка, не сбой, а именно пропуск.</a:t>
            </a:r>
          </a:p>
          <a:p/>
          <a:p>
            <a:r>
              <a:t>Что это за утро и чего мы про него не знаем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третьего кейса. Процесс работает три недели, Ольга к нему привыкла, в пятницу вечером всё было как обычно.</a:t>
            </a:r>
          </a:p>
          <a:p/>
          <a:p>
            <a:r>
              <a:t>Понедельник, девять утра. Ольга открывает таблицу — не проверять процесс, а просто посмотреть вчерашние заявки, по другому делу.</a:t>
            </a:r>
          </a:p>
          <a:p/>
          <a:p>
            <a:r>
              <a:t>И видит: строки за пятницу есть, строки за понедельник есть, а за субботу и воскресенье — ни одной.</a:t>
            </a:r>
          </a:p>
          <a:p/>
          <a:p>
            <a:r>
              <a:t>Теперь смотрите на то, чего в этой сцене </a:t>
            </a:r>
            <a:r>
              <a:rPr b="1"/>
              <a:t>нет</a:t>
            </a:r>
            <a:r>
              <a:t>, — это важнее того, что есть.</a:t>
            </a:r>
          </a:p>
          <a:p/>
          <a:p>
            <a:r>
              <a:t>Сколько заявок пришло за выходные? По журналу формы на сайте — приходили. Сколько именно и каких, надо идти смотреть, и это отдельная работа.</a:t>
            </a:r>
          </a:p>
          <a:p/>
          <a:p>
            <a:r>
              <a:t>Почему не узнали раньше? Письма об ошибке никто не получал. И вот тонкость, которую стоит проговорить вслух: </a:t>
            </a:r>
            <a:r>
              <a:rPr b="1"/>
              <a:t>отсутствие письма ничего не значит</a:t>
            </a:r>
            <a:r>
              <a:t>. Мы не получили сигнал не потому, что всё было хорошо, а потому, что кому его отправлять, никто не настраивал.</a:t>
            </a:r>
          </a:p>
          <a:p/>
          <a:p>
            <a:r>
              <a:t>Что процесс делал эти два дня? Он был опубликован и включён. Падал на каждой заявке? На части? Писал куда-то не туда? Неизвестно. Журнал прогонов посмотреть можно, и мы посмотрим, но на этот момент — неизвестно.</a:t>
            </a:r>
          </a:p>
          <a:p/>
          <a:p>
            <a:r>
              <a:t>И главное свойство этого класса сбоев, ради которого сцена и нужна: </a:t>
            </a:r>
            <a:r>
              <a:rPr b="1"/>
              <a:t>ни один сторож не сработал, и сработать не мог</a:t>
            </a:r>
            <a:r>
              <a:t>. Сторожа срабатывают на ошибки. Здесь ошибок нет — здесь нет записей. На отсутствие чего-то сработать нечем.</a:t>
            </a:r>
          </a:p>
          <a:p/>
          <a:p>
            <a:r>
              <a:t>А заметили случайно. Ольга зашла в таблицу по другому поводу. Сколько бы это продолжалось, не зайди она, — тоже неизвестно.</a:t>
            </a:r>
          </a:p>
          <a:p/>
          <a:p>
            <a:r>
              <a:t>Причина, кстати, выяснится скучная. Интересно не она, а что процесс должен был сделать вместо того, что сделал.</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третий. Четыре варианта поведения, выбирайте один и готовьте довод.</a:t>
            </a:r>
          </a:p>
          <a:p/>
          <a:p>
            <a:r>
              <a:t>Пока голосуют, стоит сказать голосом, не вынося на экран: в любом процессе, где стоит повтор при отказе, что-то выбрано по умолчанию. Вопрос в том, выбрали это осознанно или оно просто стоит как поставилось.</a:t>
            </a:r>
          </a:p>
          <a:p/>
          <a:p>
            <a:r>
              <a:t>Остановить весь процесс: отказ — это отказ, дальше ехать незачем. Пропустить и идти дальше: одна заявка не разобралась, остальные не виноваты. Повторить: сеть моргнула, попробуем ещё раз. Отправить в отдельную ветку: пусть неудачные идут своей дорогой, разберём их отдельно.</a:t>
            </a:r>
          </a:p>
          <a:p/>
          <a:p>
            <a:r>
              <a:t>Одна подсказка, и она же проверка на внимательность. Правильный ответ задаётся тем, что стоит дальше по процессу. У нас дальше — запись строки в таблицу. Если бы дальше стояла, скажем, отправка счёта или увольнение сотрудника по итогам разбора, ответ был бы другим. Поэтому формулируйте не «надо повторять», а «надо повторять, потому что дальше у нас…».</a:t>
            </a:r>
          </a:p>
          <a:p/>
          <a:p>
            <a:r>
              <a:t>И вопрос в сторону, пока голосуете: кто-нибудь ставил такое поведение в своей системе сознательно, а не по умолчанию? Что стояло по умолчанию, знаете?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поворот, ради которого вопрос задавался именно так. Все четыре варианта, которые вы выбирали, — не абстракции.</a:t>
            </a:r>
          </a:p>
          <a:p/>
          <a:p>
            <a:r>
              <a:t>Вы сейчас голосовали за поведение — а выбирали, не зная того, из выпадающего списка. Все четыре варианта это значения настройки On Error в карточке любого узла. Не только узла модели — любого. Это стандартная часть устройства инструмента, и она есть у каждого шага.</a:t>
            </a:r>
          </a:p>
          <a:p/>
          <a:p>
            <a:r>
              <a:t>Пройдём по ним с ценой каждого.</a:t>
            </a:r>
          </a:p>
          <a:p/>
          <a:p>
            <a:r>
              <a:t>Stop Workflow — остановить всё. Стоит по умолчанию, то есть это то, что происходило в наши выходные. Уместно, когда дальше по процессу необратимое: счёт, письмо клиенту, списание. Лучше не сделать ничего, чем сделать половину.</a:t>
            </a:r>
          </a:p>
          <a:p/>
          <a:p>
            <a:r>
              <a:t>Continue — пропустить и идти дальше. Выглядит безобидно и является худшим из четырёх. Потому что «идти дальше» означает: текст ошибки поедет следующему узлу как обычные данные. То есть в столбце «тема» у вас окажется строка про таймаут соединения. Процесс при этом зелёный. Это та же беда, что в кейсе два, и теперь вы её узнаёте.</a:t>
            </a:r>
          </a:p>
          <a:p/>
          <a:p>
            <a:r>
              <a:t>Continue using error output — у узла появляется второй выход, подписанный error, и неудачные элементы идут в него. Это то, что нужно, когда отказы хочется видеть и разбирать.</a:t>
            </a:r>
          </a:p>
          <a:p/>
          <a:p>
            <a:r>
              <a:t>И отдельно Retry On Fail — это не альтернатива трём предыдущим, а то, что происходит до них. Повторяет N раз, и только если все попытки провалились, применяется выбранное поведение. Для сетевых отказов это первая линия: таймаут в большинстве случаев проходит со второй попытки.</a:t>
            </a:r>
          </a:p>
          <a:p/>
          <a:p>
            <a:r>
              <a:t>Кто голосовал за остановку всего процесса — вы выбрали то, что и так стояло. Именно поэтому таблица пустая.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Взгляд сверху на то, что получилось после правки, — и здесь он нужнее, чем в прошлых кейсах, потому что форма процесса изменилась.</a:t>
            </a:r>
          </a:p>
          <a:p/>
          <a:p>
            <a:r>
              <a:t>Метка один — на узле извлечения. Присмотритесь к самому узлу: в правом верхнем углу появился маленький значок, две стрелки по кругу. Это повтор. И вот что в нём интересно помимо смысла: </a:t>
            </a:r>
            <a:r>
              <a:rPr b="1"/>
              <a:t>это одна из немногих настроек, которую видно снаружи</a:t>
            </a:r>
            <a:r>
              <a:t>, не открывая карточку. Большинство настроек так не увидишь — узел выглядит обычным, а внутри у него может стоять что угодно. Отсюда простое правило: если вы разбираетесь в чужом процессе, значки на узлах — первое, что стоит прочитать.</a:t>
            </a:r>
          </a:p>
          <a:p/>
          <a:p>
            <a:r>
              <a:t>Метка два — второй выход узла, подписан </a:t>
            </a:r>
            <a:r>
              <a:rPr>
                <a:latin typeface="Consolas"/>
              </a:rPr>
              <a:t>Error</a:t>
            </a:r>
            <a:r>
              <a:t>. Был один выход, стало два. Это и есть то, что мы настроили: элемент, на котором вызов не удался, уходит не дальше по общей дороге, а в свою.</a:t>
            </a:r>
          </a:p>
          <a:p/>
          <a:p>
            <a:r>
              <a:t>Метка три — сама ветка отказа. И обратите внимание, куда она ведёт: не в тупик и не в никуда, а в ту же таблицу, только со своей пометкой, и дальше в свой экран результата.</a:t>
            </a:r>
          </a:p>
          <a:p/>
          <a:p>
            <a:r>
              <a:t>Почему в ту же таблицу, а не в отдельное место: потому что Ольга смотрит одну таблицу. Если неудачные заявки лежат в другой, она туда не пойдёт, пока не заподозрит, что надо. А чем это кончается, мы только что видели на сцене — двое суток пропуска.</a:t>
            </a:r>
          </a:p>
          <a:p/>
          <a:p>
            <a:r>
              <a:t>Теперь открываем вкладку настроек и смотрим, какими двумя параметрами это сделано.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Собираю. Открываю карточку узла извлечения, иду в настройки — это отдельная вкладка, не параметры.</a:t>
            </a:r>
          </a:p>
          <a:p/>
          <a:p>
            <a:r>
              <a:t>Включаю Retry On Fail. Появляются два поля: сколько попыток и сколько ждать между ними. Ставлю три попытки и две секунды.</a:t>
            </a:r>
          </a:p>
          <a:p/>
          <a:p>
            <a:r>
              <a:t>Ниже On Error, выбираю Continue using error output. Смотрите на холст: у узла появился второй выход, подписанный и отрисованный красным.</a:t>
            </a:r>
          </a:p>
          <a:p/>
          <a:p>
            <a:r>
              <a:t>Теперь куда его вести. В ту же таблицу, только значения другие: тема «другое», срочность «не указано», </a:t>
            </a:r>
            <a:r>
              <a:rPr>
                <a:latin typeface="Consolas"/>
              </a:rPr>
              <a:t>status</a:t>
            </a:r>
            <a:r>
              <a:t> становится </a:t>
            </a:r>
            <a:r>
              <a:rPr>
                <a:latin typeface="Consolas"/>
              </a:rPr>
              <a:t>not_parsed</a:t>
            </a:r>
            <a:r>
              <a:t> вместо </a:t>
            </a:r>
            <a:r>
              <a:rPr>
                <a:latin typeface="Consolas"/>
              </a:rPr>
              <a:t>ok</a:t>
            </a:r>
            <a:r>
              <a:t>. И дальше свой экран результата, который честно печатает: вызов не удался после трёх попыток, строка записана, вот её номер.</a:t>
            </a:r>
          </a:p>
          <a:p/>
          <a:p>
            <a:r>
              <a:t>Почему в ту же таблицу, а не в отдельное место: потому что человек, который утром смотрит заявки, смотрит одну таблицу. Если неудачные лежат в другом месте, он туда не пойдёт, пока не заподозрит. А мы только что видели, во что это обходится — двое суток пропуска.</a:t>
            </a:r>
          </a:p>
          <a:p/>
          <a:p>
            <a:r>
              <a:t>Теперь показываю, что это работает, и показываю настоящим отказом. Порчу ключ провайдера: добавляю лишний символ. Отправляю заявку.</a:t>
            </a:r>
          </a:p>
          <a:p/>
          <a:p>
            <a:r>
              <a:t>Смотрите на журнал. Три попытки с паузами, все три неудачны — и обратите внимание, где они показаны: на узле модели, а не на узле извлечения. Повтор стоит на извлечении, а платим мы тремя вызовами модели. Запомните это к следующему экрану.</a:t>
            </a:r>
          </a:p>
          <a:p/>
          <a:p>
            <a:r>
              <a:t>Дальше элемент уходит в красную ветку, и в ней он несёт исходные данные формы плюс поле с текстом ошибки — то есть в таблицу можно записать и саму заявку, и причину. Экран печатает «заявка принята, но не разобрана».</a:t>
            </a:r>
          </a:p>
          <a:p/>
          <a:p>
            <a:r>
              <a:t>И главное число: статус всего прогона — успех. Три отказа подряд, а прогон зелёный.</a:t>
            </a:r>
          </a:p>
          <a:p/>
          <a:p>
            <a:r>
              <a:t>Возвращаю ключ, отправляю ещё раз. Экран обычный, строка нормальная. Один узел, две судьбы, и обе видны там, где заявку отправили.</a:t>
            </a:r>
          </a:p>
          <a:p/>
          <a:p>
            <a:r>
              <a:t>Перед показом, голосом: сейчас я испорчу ключ и отправлю заявку. Прежде чем смотреть на экран — как думаете, какой статус будет у прогона: «ошибка» или «успех»?</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третьего кейса, и он шире нашего инструмента: это правила из инженерной практики распределённых систем. Вы встретите их в очередях сообщений, в клиентах к чужому API, в платёжных интеграциях.</a:t>
            </a:r>
          </a:p>
          <a:p/>
          <a:p>
            <a:r>
              <a:t>Повторять нужно, когда отказ </a:t>
            </a:r>
            <a:r>
              <a:rPr b="1"/>
              <a:t>временный</a:t>
            </a:r>
            <a:r>
              <a:t>: таймаут, превышение лимита запросов, «сервис временно перегружен». Со второй попытки обычно проходит.</a:t>
            </a:r>
          </a:p>
          <a:p/>
          <a:p>
            <a:r>
              <a:t>Нельзя, когда отказ </a:t>
            </a:r>
            <a:r>
              <a:rPr b="1"/>
              <a:t>постоянный</a:t>
            </a:r>
            <a:r>
              <a:t>: неверный ключ, негодный запрос, отсутствует обязательное поле. Повтор не поможет никогда и лишь утроит расход на ту же ошибку. И обратите внимание: инструмент эти два класса сам не различает — он повторяет всё, на чём вы поставили галочку. Различать по коду ответа приходится вам, заранее.</a:t>
            </a:r>
          </a:p>
          <a:p/>
          <a:p>
            <a:r>
              <a:t>Вторая строка — про идемпотентность, и слово стоит запомнить. Идемпотентная операция — та, которую можно выполнить дважды с тем же результатом. Чтение идемпотентно всегда. Отправить письмо, создать заказ, списать деньги — нет. И вот ловушка: таймаут означает ровно одно, «ответ не пришёл». Произошло ли действие, он не говорит. Письмо могло уйти, деньги могли списаться, а потеряться мог только ответ — и повтор тогда сделает это второй раз.</a:t>
            </a:r>
          </a:p>
          <a:p/>
          <a:p>
            <a:r>
              <a:t>Третья строка — про слои, и здесь есть число, которое стоит запомнить. Если повтор включён на каждом слое, слои множат друг друга: три попытки на каждом из пяти слоёв дают двести сорок три обращения вместо одного. Поэтому повторяют в одном месте стека. У нас в оркестраторе галочка «повторить» есть на каждом узле, и соблазн поставить её всюду прямой.</a:t>
            </a:r>
          </a:p>
          <a:p/>
          <a:p>
            <a:r>
              <a:t>Четвёртая — про разброс. Фиксированная задержка означает, что все клиенты повторят синхронно и добьют сервис, который только начал подниматься. Нужен случайный разброс; в простых оркестраторах его обычно нет, и это повод не ставить повтор на горячий путь без размышления.</a:t>
            </a:r>
          </a:p>
          <a:p/>
          <a:p>
            <a:r>
              <a:t>Предел: </a:t>
            </a:r>
            <a:r>
              <a:rPr b="1"/>
              <a:t>отказ, которому некуда идти</a:t>
            </a:r>
            <a:r>
              <a:t>. Он не исчезает, он превращается в отсутствие записи. А отсутствие записи не мониторит никто — ни один сторож не умеет сработать на то, чего нет. Ровно так и получаются двое суток пропуска, с которых мы начали.</a:t>
            </a:r>
          </a:p>
          <a:p/>
          <a:p>
            <a:r>
              <a:t>Третья строка оси. Прогон зелёный, в журнале ни одной ошибки — выглядит успехом, и именно так это выглядело в пятницу вечером. Чем оказалось: три отказа подряд и заявки за выходные неразобранные. Мы это видели вместе: я испортил ключ при вас, и статус прогона остался успешным.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 тот самый вопрос, который задаёт каждый, кто собрал такой процесс и посмотрел на результат внимательно.</a:t>
            </a:r>
          </a:p>
          <a:p/>
          <a:p>
            <a:r>
              <a:t>Всё, что мы делали до сих пор, защищало </a:t>
            </a:r>
            <a:r>
              <a:rPr b="1"/>
              <a:t>форму</a:t>
            </a:r>
            <a:r>
              <a:t>. Значение не пустое. Значение из справочника. Прогон не упал, а если упал — заявка не потерялась. Три строки оси закрыты, и все три про форму.</a:t>
            </a:r>
          </a:p>
          <a:p/>
          <a:p>
            <a:r>
              <a:t>А теперь Ольга смотрит в таблицу и говорит: тут написано «курс», а человек спрашивал про счёт. И так раза три за день.</a:t>
            </a:r>
          </a:p>
          <a:p/>
          <a:p>
            <a:r>
              <a:t>Процесс отработал правильно во всех смыслах, которые мы умеем проверять. Значение законное, из списка, записано. Оно просто неверное — и ни один наш сторож этого не ловит, потому что все они проверяют форму, а не смысл.</a:t>
            </a:r>
          </a:p>
          <a:p/>
          <a:p>
            <a:r>
              <a:t>Что с этим делать — разбираем весь оставшийся час.</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конкретную заявку, потому что «модель ошибается» — слишком общие слова, чтобы с ними что-то делать.</a:t>
            </a:r>
          </a:p>
          <a:p/>
          <a:p>
            <a:r>
              <a:t>Вот текст: «Подскажите, сколько стоит обучение для группы из восьми человек, и можно ли выставить счёт на ООО?»</a:t>
            </a:r>
          </a:p>
          <a:p/>
          <a:p>
            <a:r>
              <a:t>Процесс записал тему «курс», срочность «не указано». Посмотрите на это как инженер: придраться не к чему. Значение из справочника — мы это гарантировали узлом сверки. Клетка не пустая — гарантировали. Прогон зелёный, в журнале чисто — про это был весь третий кейс.</a:t>
            </a:r>
          </a:p>
          <a:p/>
          <a:p>
            <a:r>
              <a:t>А человеку нужен счёт. Слово «обучение» стоит в первом предложении, и модель зацепилась за него; дело — во втором. Это «оплата», и заявка должна была уйти в бухгалтерию.</a:t>
            </a:r>
          </a:p>
          <a:p/>
          <a:p>
            <a:r>
              <a:t>Что происходит дальше, вы уже знаете из первого кейса. Заявка попала в список к тому, кто обзванивает интересующихся курсами. Он звонит, выясняет, что речь про счёт, передаёт в бухгалтерию. Лишняя передача — день. День просрочки снижает вероятность, что человек купит.</a:t>
            </a:r>
          </a:p>
          <a:p/>
          <a:p>
            <a:r>
              <a:t>Теперь главное, ради чего этот кейс стоит после трёх предыдущих. Все три сторожа, которые мы построили, </a:t>
            </a:r>
            <a:r>
              <a:rPr b="1"/>
              <a:t>молчат — и все три правы</a:t>
            </a:r>
            <a:r>
              <a:t>. Пустых клеток нет. Посторонних значений нет. Отказов нет. Мы всё занятие учились проверять </a:t>
            </a:r>
            <a:r>
              <a:rPr b="1"/>
              <a:t>форму</a:t>
            </a:r>
            <a:r>
              <a:t> ответа и ни разу не проверили его </a:t>
            </a:r>
            <a:r>
              <a:rPr b="1"/>
              <a:t>смысл</a:t>
            </a:r>
            <a:r>
              <a:t>.</a:t>
            </a:r>
          </a:p>
          <a:p/>
          <a:p>
            <a:r>
              <a:t>И есть вещь похуже самой ошибки. Ольга её заметила — глазами, случайно, потому что она помнит эту заявку. Записать её некуда: в таблице нет столбца, куда можно поставить отметку «тема неверная». Значит, завтра эта ошибка не существует ни для кого. Мы не знаем, случается она раз в день или двадцать раз в день. А без этого </a:t>
            </a:r>
            <a:r>
              <a:rPr b="1"/>
              <a:t>любое улучшение, которое мы сейчас придумаем, будет верой, а не инженерией</a:t>
            </a:r>
            <a:r>
              <a:t>: мы не сможем сказать, стало лучше или хуже.</a:t>
            </a:r>
          </a:p>
          <a:p/>
          <a:p>
            <a:r>
              <a:t>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четвёртый, и он единственный за занятие, который про </a:t>
            </a:r>
            <a:r>
              <a:rPr b="1"/>
              <a:t>смысл</a:t>
            </a:r>
            <a:r>
              <a:t>, а не про устройство.</a:t>
            </a:r>
          </a:p>
          <a:p/>
          <a:p>
            <a:r>
              <a:t>Как сделать, чтобы тема определялась верно чаще?</a:t>
            </a:r>
          </a:p>
          <a:p/>
          <a:p>
            <a:r>
              <a:t>Четыре карточки. Усилить запрос — то есть переписать то, что мы говорим модели о категориях. Вторая модель проверяет первую. Алгоритмические правила поверх ответа модели. И четвёртая — взять модель помощнее.</a:t>
            </a:r>
          </a:p>
          <a:p/>
          <a:p>
            <a:r>
              <a:t>Как и раньше: правильных ответов здесь больше одного, все четыре живут в настоящих системах, и они не исключают друг друга — в зрелых системах обычно стоят два или три сразу. Разбирать будем, что каждый даёт, сколько стоит и когда окупается.</a:t>
            </a:r>
          </a:p>
          <a:p/>
          <a:p>
            <a:r>
              <a:t>Пятнадцать секунд, потом по рукам.</a:t>
            </a:r>
          </a:p>
          <a:p/>
          <a:p>
            <a:r>
              <a:t>И пока выбирают, держите в голове то, чем кончился прошлый экран: </a:t>
            </a:r>
            <a:r>
              <a:rPr b="1"/>
              <a:t>мы пока не умеем измерить, стало ли лучше.</a:t>
            </a:r>
            <a:r>
              <a:t> К этому вернёмся в решении.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Как и прежде, ни один из четырёх не глуп, и они не исключают друг друга.</a:t>
            </a:r>
          </a:p>
          <a:p/>
          <a:p>
            <a:r>
              <a:t>Усилить запрос. Это значит переписать то, что мы говорим модели: не просто перечислить четыре темы, а объяснить словами, чем они отличаются, и дать примеры настоящих заявок с правильными ответами. Прирост измеряли: на задаче разбора обращений с четырьмя категориями без примеров выходило ноль тридцать пять, с двенадцатью примерами — ноль сорок один, лучшая сборка дала ноль сорок восемь. Это пять-двенадцать пунктов. Цена — час вашей работы один раз.</a:t>
            </a:r>
          </a:p>
          <a:p/>
          <a:p>
            <a:r>
              <a:t>Вторая модель проверяет первую. В замеренном варианте разбирали одну заявку четырьмя разными запросами и брали то, что чаще совпало: ноль пятьдесят семь превратилось в ноль шестьдесят один. Прирост скромнее, чем от примеров, а цена выше: каждый прогон вдвое дороже и вдвое дольше, и надо решить, что делать, когда две модели не согласны. Этот способ хорош не ради среднего прироста, а против </a:t>
            </a:r>
            <a:r>
              <a:rPr b="1"/>
              <a:t>разовых срывов</a:t>
            </a:r>
            <a:r>
              <a:t>: когда модель один раз из ста отвечает ерундой, вторая это ловит.</a:t>
            </a:r>
          </a:p>
          <a:p/>
          <a:p>
            <a:r>
              <a:t>Алгоритмические правила поверх. Не вместо модели, а после неё: есть в тексте слово «счёт» или «ООО» — тема «оплата», что бы ни сказала модель. Замерено как добавка к обученной модели: плюс два-три пункта, предсказуемо и дёшево. Наш случай, кстати, ровно такой — заявка про счёт. Ограничение известно из первого кейса: правил становится много, они начинают противоречить друг другу, а живой язык всё равно шире любого их набора.</a:t>
            </a:r>
          </a:p>
          <a:p/>
          <a:p>
            <a:r>
              <a:t>Модель помощнее. Обычно действительно лучше, особенно на длинном и запутанном тексте. Но платите вы за неё </a:t>
            </a:r>
            <a:r>
              <a:rPr b="1"/>
              <a:t>на каждом прогоне и навсегда</a:t>
            </a:r>
            <a:r>
              <a:t>, а на коротких заявках вроде наших разница часто в пределах шума. Это не запрет — это предупреждение, что здесь легко купить спокойствие вместо качества.</a:t>
            </a:r>
          </a:p>
          <a:p/>
          <a:p>
            <a:r>
              <a:t>Если спросят про пятый способ — дообучить свою модель на своих данных. Он сильный: в сравнениях дообученная небольшая модель обгоняла большую без примеров во всех проверенных случаях. Но ему нужна размеченная история: тысячи заявок с правильными темами. У центра её нет — и вот тут всё сходится с тем, что мы сейчас сделаем.</a:t>
            </a:r>
          </a:p>
          <a:p/>
          <a:p>
            <a:r>
              <a:t>Теперь поворот. Первые три способа стоят один раз, четвёртый — каждый день. Отсюда порядок, в котором их почти всегда применяют: сначала запрос, потом правила на узкие случаи, потом вторая модель там, где цена ошибки высока, и только потом более дорогая модель.</a:t>
            </a:r>
          </a:p>
          <a:p/>
          <a:p>
            <a:r>
              <a:t>И последнее, без чего всё это бессмысленно. Ни один из четырёх способов вы не сможете оценить, пока ошибки нигде не отмечаются. Вы поменяете запрос, посмотрите на три заявки, вам покажется, что стало лучше, — и это будет вера, а не измерение. Поэтому в решении будет две части, и вторая важнее первой.</a:t>
            </a:r>
          </a:p>
          <a:p/>
          <a:p>
            <a:r>
              <a:rPr b="1"/>
              <a:t>Источники:</a:t>
            </a:r>
            <a:r>
              <a:t> примеры в запросе 0,351 → 0,406 → 0,475 — arXiv:2605.15680, macro-F1, четыре класса. Голосование четырьмя запросами 0,57 → 0,61 — CEUR Vol-3551 paper 4, настоящий поток. Правила как добавка +2-3 п.п. — arXiv:1808.02636. Дообученная модель против модели без примеров — arXiv:2406.08660.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из двух частей, и вторая важнее первой — хотя выглядит мельче.</a:t>
            </a:r>
          </a:p>
          <a:p/>
          <a:p>
            <a:r>
              <a:t>Первая часть: усиливаем запрос. Обратите внимание на рисунок — это тот же узел извлечения, который мы настраивали в первом кейсе. Новых узлов не появляется, меняется текст внутри поля, которое вы уже видели. Дописываем туда три вещи.</a:t>
            </a:r>
          </a:p>
          <a:p/>
          <a:p>
            <a:r>
              <a:t>Описания категорий словами. Было просто «о чём заявка». Становится: «оплата — человек спрашивает про счёт, реквизиты, безналичный расчёт или возврат денег, даже если в той же фразе упомянут курс». Вот эта оговорка — «даже если упомянут курс» — и чинит нашу заявку. Заметьте, что я не угадал её: она взята из разобранной ошибки.</a:t>
            </a:r>
          </a:p>
          <a:p/>
          <a:p>
            <a:r>
              <a:t>Примеры заявок прямо в запросе. Три-пять настоящих коротких заявок с правильным ответом. И здесь есть тонкость, которая решает всё: примеры должны быть </a:t>
            </a:r>
            <a:r>
              <a:rPr b="1"/>
              <a:t>трудные</a:t>
            </a:r>
            <a:r>
              <a:t>, а не очевидные. Пример «хочу на курс по аналитике — тема курс» не добавляет ничего: это модель и так знает. Пример «сколько стоит обучение и можно ли счёт на ООО — тема оплата» стоит десятка очевидных.</a:t>
            </a:r>
          </a:p>
          <a:p/>
          <a:p>
            <a:r>
              <a:t>Правило воздержания. Дописываем: если подходит больше одной темы и ни одна не очевидна — ставь «не определено». Это законный отказ из второго кейса, только включается он теперь не по пустоте, а по неуверенности. Цена честная: таких заявок станет больше, и их будет разбирать человек. Зато уверенно неверных станет меньше, а это, как мы выяснили, самая дорогая ошибка.</a:t>
            </a:r>
          </a:p>
          <a:p/>
          <a:p>
            <a:r>
              <a:t>Теперь вторая часть, и ради неё стоило разбирать весь кейс. </a:t>
            </a:r>
            <a:r>
              <a:rPr b="1"/>
              <a:t>Добавляем в таблицу столбец `topic_wrong`</a:t>
            </a:r>
            <a:r>
              <a:t> — один флажок. Ольга, увидев неверную тему, ставит галочку. Всё.</a:t>
            </a:r>
          </a:p>
          <a:p/>
          <a:p>
            <a:r>
              <a:t>Что это даёт. Первое: с завтрашнего дня у вас есть </a:t>
            </a:r>
            <a:r>
              <a:rPr b="1"/>
              <a:t>число</a:t>
            </a:r>
            <a:r>
              <a:t> — доля ошибок за неделю. Не ощущение «вроде часто», а доля. Второе: любое следующее улучшение становится проверяемым — поменяли запрос, посмотрели долю через неделю, сравнили. Третье, и самое ценное в долгую: через месяц у вас накопится список заявок, которые разобраны неверно, с правильным ответом от человека. Это и есть </a:t>
            </a:r>
            <a:r>
              <a:rPr b="1"/>
              <a:t>та самая размеченная история</a:t>
            </a:r>
            <a:r>
              <a:t>, которой у центра не было, — и именно её не хватало и обученной модели, и хорошим примерам в запросе. Она появляется сама, из работы, если один раз завести столбец.</a:t>
            </a:r>
          </a:p>
          <a:p/>
          <a:p>
            <a:r>
              <a:t>И обратная сторона, про которую надо сказать честно, потому что она такая же, как у очереди «не определено» из второго кейса: </a:t>
            </a:r>
            <a:r>
              <a:rPr b="1"/>
              <a:t>столбец, в который никто не ставит галочки, бесполезен ровно так же, как его отсутствие.</a:t>
            </a:r>
            <a:r>
              <a:t> Отметка должна стоить человеку один клик и быть на том же экране, где он и так работает. Если ради неё надо открыть другую систему — её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когда хватит усиления запроса, а когда нужно что-то сверх него.</a:t>
            </a:r>
          </a:p>
          <a:p/>
          <a:p>
            <a:r>
              <a:t>Хватит запроса, если ошибки </a:t>
            </a:r>
            <a:r>
              <a:rPr b="1"/>
              <a:t>разные и каждая объяснима словами</a:t>
            </a:r>
            <a:r>
              <a:t>. Наш случай ровно такой: модель не знала, что вопрос про счёт — это оплата, даже когда рядом стоит слово «обучение». Это чинится одной фразой в описании категории.</a:t>
            </a:r>
          </a:p>
          <a:p/>
          <a:p>
            <a:r>
              <a:t>Хватит, если вы </a:t>
            </a:r>
            <a:r>
              <a:rPr b="1"/>
              <a:t>можете назвать правильный ответ</a:t>
            </a:r>
            <a:r>
              <a:t> для каждой разобранной ошибки. Это звучит очевидно, но часто оказывается неправдой: половина «ошибок модели» на разборе оказывается заявками, про которые два человека в команде спорят, какая там тема. Такое запросом не чинится — сначала договоритесь сами.</a:t>
            </a:r>
          </a:p>
          <a:p/>
          <a:p>
            <a:r>
              <a:t>Хватит, если заявки </a:t>
            </a:r>
            <a:r>
              <a:rPr b="1"/>
              <a:t>короткие и однородные</a:t>
            </a:r>
            <a:r>
              <a:t>. На них разница между моделями обычно в пределах шума, и платить за более сильную незачем.</a:t>
            </a:r>
          </a:p>
          <a:p/>
          <a:p>
            <a:r>
              <a:t>И хватит, если у вас </a:t>
            </a:r>
            <a:r>
              <a:rPr b="1"/>
              <a:t>нет размеченной истории</a:t>
            </a:r>
            <a:r>
              <a:t>: запрос — единственный способ, который работает без неё.</a:t>
            </a:r>
          </a:p>
          <a:p/>
          <a:p>
            <a:r>
              <a:t>Теперь обратная сторона. Нужно что-то сверх запроса, если </a:t>
            </a:r>
            <a:r>
              <a:rPr b="1"/>
              <a:t>одна и та же ошибка повторяется дословно</a:t>
            </a:r>
            <a:r>
              <a:t>. Тут дешевле поставить правило, чем уговаривать модель: есть слово «счёт» — тема «оплата», и закрыли вопрос.</a:t>
            </a:r>
          </a:p>
          <a:p/>
          <a:p>
            <a:r>
              <a:t>Нужно, если </a:t>
            </a:r>
            <a:r>
              <a:rPr b="1"/>
              <a:t>цена одной ошибки высока</a:t>
            </a:r>
            <a:r>
              <a:t>: деньги, здоровье, юридические последствия. Там вторая проверка окупается, даже если средний прирост у неё скромный, — потому что вы покупаете не средний прирост, а защиту от разового срыва.</a:t>
            </a:r>
          </a:p>
          <a:p/>
          <a:p>
            <a:r>
              <a:t>Нужно, если </a:t>
            </a:r>
            <a:r>
              <a:rPr b="1"/>
              <a:t>текст длинный и запутанный</a:t>
            </a:r>
            <a:r>
              <a:t> — тогда более сильная модель действительно даёт заметную разницу.</a:t>
            </a:r>
          </a:p>
          <a:p/>
          <a:p>
            <a:r>
              <a:t>И нужно, если </a:t>
            </a:r>
            <a:r>
              <a:rPr b="1"/>
              <a:t>история накопилась</a:t>
            </a:r>
            <a:r>
              <a:t>: тысячи заявок с правильными ответами делают дообучение осмысленным. Заметьте, что эта строка появляется у вас сама, если сегодня завести столбец отметки.</a:t>
            </a:r>
          </a:p>
          <a:p/>
          <a:p>
            <a:r>
              <a:t>Предел, за которым всё это перестаёт быть инженерией: </a:t>
            </a:r>
            <a:r>
              <a:rPr b="1"/>
              <a:t>улучшение без замера</a:t>
            </a:r>
            <a:r>
              <a:t>. Пока ошибки нигде не отмечаются, любой из четырёх способов даёт вам ощущение, а не результат. Поэтому порядок именно такой: сначала столбец отметки, потом улучшения. Иначе вы будете честно работать и не сможете сказать, помогло ли.</a:t>
            </a:r>
          </a:p>
          <a:p/>
          <a:p>
            <a:r>
              <a:t>Закрываем четвёртую строку. Что выглядело успехом: значение из справочника, прогон зелёный, в журнале чисто. Чем оказалось: тема неверная — и узнать об этом неоткуда, потому что все три сторожа, которые мы построили, проверяют форму ответа, а не его смысл. Четвёртый сторож — человек, и ему нужен один столбец.</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Последнее устройство за сегодня, и оно занимает один экран, хотя стоит целого вечера отладки у того, кто про него не знает.</a:t>
            </a:r>
          </a:p>
          <a:p/>
          <a:p>
            <a:r>
              <a:t>Правки на холсте сохраняются </a:t>
            </a:r>
            <a:r>
              <a:rPr b="1"/>
              <a:t>сами</a:t>
            </a:r>
            <a:r>
              <a:t>, постоянно, в черновик. Кнопки «Сохранить» в интерфейсе нет вовсе. Это удобно и это же создаёт ровно ту уверенность, из-за которой люди потом теряют сутки: раз сохранять не надо, значит, всё уже работает.</a:t>
            </a:r>
          </a:p>
          <a:p/>
          <a:p>
            <a:r>
              <a:t>Не работает. В бой правка уходит </a:t>
            </a:r>
            <a:r>
              <a:rPr b="1"/>
              <a:t>отдельным действием</a:t>
            </a:r>
            <a:r>
              <a:t> — Publish, вот этот значок на полосе сверху. До него боевые прогоны исполняют предыдущую опубликованную версию.</a:t>
            </a:r>
          </a:p>
          <a:p/>
          <a:p>
            <a:r>
              <a:t>А теперь то, что делает эту ошибку по-настоящему коварной. </a:t>
            </a:r>
            <a:r>
              <a:rPr b="1"/>
              <a:t>Ручной запуск идёт по черновику. Боевые прогоны — по опубликованной версии.</a:t>
            </a:r>
            <a:r>
              <a:t> То есть вы правите, запускаете руками, видите правильный результат, показываете его заказчику — и всё это честно. Просто проверяли вы не то, что работает в бою. Расхождение может жить сутками: на холсте правка есть, никто её не откатывал, а в таблице все заявки разобраны по-старому.</a:t>
            </a:r>
          </a:p>
          <a:p/>
          <a:p>
            <a:r>
              <a:t>Кстати, слова «активировать» в этой версии больше нет — его место занял Publish, и значит он другое. Если вы читали инструкцию годичной давности, перечитайте этот кусок.</a:t>
            </a:r>
          </a:p>
          <a:p/>
          <a:p>
            <a:r>
              <a:t>Отсюда правило про проверку. Руками проверяется логика шагов: что пришло, что вернулось, что записалось, правильно ли посчиталось выражение. Этого достаточно, чтобы отладить процесс, и недостаточно, чтобы выпустить его в бой.</a:t>
            </a:r>
          </a:p>
          <a:p/>
          <a:p>
            <a:r>
              <a:t>Настоящим событием проверяется четыре вещи. Обработчик ошибок — его триггер при ручном запуске не срабатывает </a:t>
            </a:r>
            <a:r>
              <a:rPr b="1"/>
              <a:t>вовсе</a:t>
            </a:r>
            <a:r>
              <a:t>, то есть вы не проверите его никак, кроме как уронив настоящий прогон. Расписание — сработает ли в нужный момент и что будет, если прогон не успел до следующего. Обращение к чужой системе — тот ли адрес, та ли авторизация, тот ли формат. И поведение на объёме: ручной прогон копирует данные для показа и на больших объёмах падает там, где боевой спокойно проходит.</a:t>
            </a:r>
          </a:p>
          <a:p/>
          <a:p>
            <a:r>
              <a:t>И последнее — про передачу, потому что файл процесса вы сегодня унесёте. Секретов в нём нет: ключи и доступы инструмент хранит отдельно, мы это видели на экране учётных данных. А вот имена подключений, адреса, пути, названия таблиц и внутренних сервисов в нём есть. Правило, которое стоит выполнять механически, не раздумывая: </a:t>
            </a:r>
            <a:r>
              <a:rPr b="1"/>
              <a:t>прежде чем отдать файл сценария кому бы то ни было — откройте его и прочитайте глазами.</a:t>
            </a:r>
            <a:r>
              <a:t> Тридцать секунд.</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a:t>
            </a:r>
          </a:p>
          <a:p/>
          <a:p>
            <a:r>
              <a:t>Три узла — заявка доезжает до таблицы. Чем оказалось: тема будет какой угодно, срочности не будет вовсе. Мы это видели в первом кейсе до того, как поставили справочник.</a:t>
            </a:r>
          </a:p>
          <a:p/>
          <a:p>
            <a:r>
              <a:t>Клетка заполнена, значение законное. Чем оказалось: вторая тема заявки исчезла молча. Мы отправили заявку про перенос и оплату и увидели на экране одну тему.</a:t>
            </a:r>
          </a:p>
          <a:p/>
          <a:p>
            <a:r>
              <a:t>Прогон зелёный, ни одной ошибки в журнале. Чем оказалось: три отказа подряд и заявки за выходные неразобранные. Я при вас испортил ключ и мы вместе смотрели, как статус прогона остался успешным.</a:t>
            </a:r>
          </a:p>
          <a:p/>
          <a:p>
            <a:r>
              <a:t>Значение из справочника, прогон зелёный, в журнале чисто. Чем оказалось: тема неверная — и узнать об этом неоткуда. Это самая неприятная строка из четырёх, потому что первые три сторожа мы построили сами и они работают, а ловят они форму ответа, а не его смысл. Смысл ловит человек, и ему для этого нужен один столбец в таблице.</a:t>
            </a:r>
          </a:p>
          <a:p/>
          <a:p>
            <a:r>
              <a:t>Теперь главное, ради чего мы заполняли эту таблицу. Разница между «работает» и «можно ручаться» — это и есть четыре строки справа, и каждая из них проверяется руками за несколько минут. Если вы вернётесь к любому своему процессу и пройдёте по ним — занятие удалось, даже если вы забудете, как называется каждый узел.</a:t>
            </a:r>
          </a:p>
          <a:p/>
          <a:p>
            <a:r>
              <a:t>Проверить это можно четырьмя способами, которые вы теперь знаете, и ни один не требует верить мне на слово. Первый: посмотрите, может ли результат шага оказаться значением вне списка. Второй: посмотрите, что происходит с тем, что в список не влезло. Третий: посмотрите, чем отличается «прогон завершился» от «результат годен», и что у вас проверяет второе. Четвёртый: посмотрите, что сейчас работает в бою и совпадает ли это с тем, что открыто у вас в редакторе.</a:t>
            </a:r>
          </a:p>
          <a:p/>
          <a:p>
            <a:r>
              <a:t>Если вы зададите эти четыре вопроса своему процессу на этой неделе — занятие удалось, даже если имена блоков вы забудете к пятнице.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получилось за полтора часа.</a:t>
            </a:r>
          </a:p>
          <a:p/>
          <a:p>
            <a:r>
              <a:t>Форма принимает заявку и сама объясняет человеку, что с его текстом произойдёт. Узел извлечения достаёт тему, срочность, контакт из текста и пометку о других темах — всё по схеме с перечислением. Справочник сверяет и не оставляет ни пустых клеток, ни значений вне списка. Строка уходит в таблицу. Экран результата печатает всю дорогу в том же окне. А на узле извлечения стоят повтор и вторая ветка, так что отказ вызова тоже доезжает — с пометкой, а не в тишину.</a:t>
            </a:r>
          </a:p>
          <a:p/>
          <a:p>
            <a:r>
              <a:t>Это не учебная заготовка. Такой процесс можно поставить в небольшом центре, и он будет приносить пользу, пока поток не вырастет. За каждую строку в этой таблице можно отвечать — ровно это мы и обсуждали в первом кейсе.</a:t>
            </a:r>
          </a:p>
          <a:p/>
          <a:p>
            <a:r>
              <a:t>Файл называется так, как на экране. Ставится одним импортом через меню сценария. Что нужно с вашей стороны: свой n8n и ключ провайдера модели. Инструкция по подъёму идёт вместе с файлом, там оба способа — с контейнером и без.</a:t>
            </a:r>
          </a:p>
          <a:p/>
          <a:p>
            <a:r>
              <a:t>Два узла в файле придётся настроить самим, и это сделано намеренно: в узле модели пустые учётные данные, в узле таблицы — пустой выбор таблицы. Мой стенд вам недоступен, и чужой идентификатор в этих полях выглядел бы сломанным узлом — десять минут недоумения на ровном месте.</a:t>
            </a:r>
          </a:p>
          <a:p/>
          <a:p>
            <a:r>
              <a:t>Задание на дом не письменное, и его никто не проверяет. Просьба такая: поставьте, отправьте три заявки, похожие на вашу настоящую работу, и посмотрите на экран результата. Где развалится первым? Оно развалится, у меня на этот счёт иллюзий нет.</a:t>
            </a:r>
          </a:p>
          <a:p/>
          <a:p>
            <a:r>
              <a:t>С этого мы и начнём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не хватает.</a:t>
            </a:r>
          </a:p>
          <a:p/>
          <a:p>
            <a:r>
              <a:t>Сейчас у нас одна дорога. Любая заявка идёт через один и тот же шаг и попадает в одну и ту же таблицу. Пока заявки однотипные — этого достаточно, мы только что это и обсуждали.</a:t>
            </a:r>
          </a:p>
          <a:p/>
          <a:p>
            <a:r>
              <a:t>Но тема у нас уже выделена отдельным полем. И как только она выделена, сразу видно, что заявка про оплату и заявка про перенос занятия должны ехать дальше по-разному: одна бухгалтеру, другая в расписание. Одной дорогой это не делается.</a:t>
            </a:r>
          </a:p>
          <a:p/>
          <a:p>
            <a:r>
              <a:t>Следующее занятие про развилку. Как она устроена, по какому полю разводит, и главный вопрос, который на ней обычно забывают: что делать с тем, что не подошло ни под одну ветку. Мы такую заявку уже видели: «а вы сотрудничаете с юрлицами?» дала законное «другое», и это была победа списка. А на развилке её придётся куда-то отправить — и «другое» само по себе не говорит, в какую ветку. У инструмента на этот случай есть ответ по умолчанию, и он вам не понравится.</a:t>
            </a:r>
          </a:p>
          <a:p/>
          <a:p>
            <a:r>
              <a:t>Там же будет проверка результата шага до того, как он уехал дальше: сегодня мы ловили отказ вызова, а это другое — вызов прошёл, а результат негодный.</a:t>
            </a:r>
          </a:p>
          <a:p/>
          <a:p>
            <a:r>
              <a:t>И одна вещь, которую я скажу заранее, чтобы вы заранее не поверили в обратное. Ветки, которые на холсте выглядят параллельными, выполняются по очереди, одна за другой, в порядке их положения на экране. Разберём почему.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Первый работающий процесс</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(LLM): занятие первое из шести.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Куда мы идём: шесть занятий, девять ступеней</a:t>
            </a:r>
          </a:p>
        </p:txBody>
      </p:sp>
      <p:pic>
        <p:nvPicPr>
          <p:cNvPr id="3" name="Picture 2" descr="lestnitsa-dugi.png"/>
          <p:cNvPicPr>
            <a:picLocks noChangeAspect="1"/>
          </p:cNvPicPr>
          <p:nvPr/>
        </p:nvPicPr>
        <p:blipFill>
          <a:blip r:embed="rId2"/>
          <a:stretch>
            <a:fillRect/>
          </a:stretch>
        </p:blipFill>
        <p:spPr>
          <a:xfrm>
            <a:off x="732001" y="943356"/>
            <a:ext cx="10724949" cy="3396233"/>
          </a:xfrm>
          <a:prstGeom prst="rect">
            <a:avLst/>
          </a:prstGeom>
        </p:spPr>
      </p:pic>
      <p:sp>
        <p:nvSpPr>
          <p:cNvPr id="4" name="Rounded Rectangle 3"/>
          <p:cNvSpPr/>
          <p:nvPr/>
        </p:nvSpPr>
        <p:spPr>
          <a:xfrm>
            <a:off x="502920" y="4504181"/>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32197"/>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Правило движения по ней, из Лекции 3: </a:t>
            </a:r>
            <a:r>
              <a:rPr sz="1450" b="1" i="0">
                <a:solidFill>
                  <a:srgbClr val="141B2E"/>
                </a:solidFill>
                <a:latin typeface="Arial"/>
              </a:rPr>
              <a:t>не поднимайся без требования, которого ступень ниже не закрывает.</a:t>
            </a:r>
            <a:r>
              <a:rPr sz="1450" b="1" i="0">
                <a:solidFill>
                  <a:srgbClr val="141B2E"/>
                </a:solidFill>
                <a:latin typeface="Arial"/>
              </a:rPr>
              <a:t> Это то же инженерное «делай простейшее, что работает», переведённое на язык процессов.</a:t>
            </a:r>
          </a:p>
        </p:txBody>
      </p:sp>
      <p:sp>
        <p:nvSpPr>
          <p:cNvPr id="6" name="Rounded Rectangle 5"/>
          <p:cNvSpPr/>
          <p:nvPr/>
        </p:nvSpPr>
        <p:spPr>
          <a:xfrm>
            <a:off x="502920" y="5399785"/>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27801"/>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Сегодня мы закрываем </a:t>
            </a:r>
            <a:r>
              <a:rPr sz="1400" b="1" i="0">
                <a:solidFill>
                  <a:srgbClr val="141B2E"/>
                </a:solidFill>
                <a:latin typeface="Arial"/>
              </a:rPr>
              <a:t>вторую ступень снизу</a:t>
            </a:r>
            <a:r>
              <a:rPr sz="1400" b="1" i="0">
                <a:solidFill>
                  <a:srgbClr val="141B2E"/>
                </a:solidFill>
                <a:latin typeface="Arial"/>
              </a:rPr>
              <a:t> — цепочку. На ней заканчивается большинство реальных задач, и поэтому ей отведено целое занятие, а не десять минут.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Workflow и агент</a:t>
            </a:r>
          </a:p>
        </p:txBody>
      </p:sp>
      <p:sp>
        <p:nvSpPr>
          <p:cNvPr id="3" name="Rounded Rectangle 2"/>
          <p:cNvSpPr/>
          <p:nvPr/>
        </p:nvSpPr>
        <p:spPr>
          <a:xfrm>
            <a:off x="502920" y="943356"/>
            <a:ext cx="82296" cy="60954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5351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Workflow.</a:t>
            </a:r>
            <a:r>
              <a:rPr sz="1100" b="1" i="0">
                <a:solidFill>
                  <a:srgbClr val="141B2E"/>
                </a:solidFill>
                <a:latin typeface="Arial"/>
              </a:rPr>
              <a:t> Путь задан заранее. Модель — один из шагов: ей дают вход, берут выход, передают дальше. Поменять порядок может только тот, кто правит схему.</a:t>
            </a:r>
          </a:p>
        </p:txBody>
      </p:sp>
      <p:sp>
        <p:nvSpPr>
          <p:cNvPr id="5" name="Rounded Rectangle 4"/>
          <p:cNvSpPr/>
          <p:nvPr/>
        </p:nvSpPr>
        <p:spPr>
          <a:xfrm>
            <a:off x="502920" y="1717493"/>
            <a:ext cx="82296" cy="60954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5509"/>
            <a:ext cx="10643616" cy="35351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Агент.</a:t>
            </a:r>
            <a:r>
              <a:rPr sz="1100" b="1" i="0">
                <a:solidFill>
                  <a:srgbClr val="141B2E"/>
                </a:solidFill>
                <a:latin typeface="Arial"/>
              </a:rPr>
              <a:t> Путь определяется по ходу. Модель на каждом круге смотрит на промежуточный результат и выбирает следующее действие сама — из тех, что ей дали.</a:t>
            </a:r>
          </a:p>
        </p:txBody>
      </p:sp>
      <p:sp>
        <p:nvSpPr>
          <p:cNvPr id="7" name="Rounded Rectangle 6"/>
          <p:cNvSpPr/>
          <p:nvPr/>
        </p:nvSpPr>
        <p:spPr>
          <a:xfrm>
            <a:off x="502920" y="2491631"/>
            <a:ext cx="82296" cy="60954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619647"/>
            <a:ext cx="10643616" cy="35351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Выбор:</a:t>
            </a:r>
            <a:r>
              <a:rPr sz="1100" b="1" i="0">
                <a:solidFill>
                  <a:srgbClr val="141B2E"/>
                </a:solidFill>
                <a:latin typeface="Arial"/>
              </a:rPr>
              <a:t> задача предсказуема — workflow; последовательность шагов принципиально зависит от промежуточных результатов и задача оправдывает кратный рост стоимости — агент.</a:t>
            </a:r>
          </a:p>
        </p:txBody>
      </p:sp>
      <p:sp>
        <p:nvSpPr>
          <p:cNvPr id="9" name="Rounded Rectangle 8"/>
          <p:cNvSpPr/>
          <p:nvPr/>
        </p:nvSpPr>
        <p:spPr>
          <a:xfrm>
            <a:off x="502920" y="326576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39378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Пять схем workflow — все с заранее заданным путём:</a:t>
            </a:r>
          </a:p>
        </p:txBody>
      </p:sp>
      <p:sp>
        <p:nvSpPr>
          <p:cNvPr id="11" name="Rounded Rectangle 10"/>
          <p:cNvSpPr/>
          <p:nvPr/>
        </p:nvSpPr>
        <p:spPr>
          <a:xfrm>
            <a:off x="502920" y="3885783"/>
            <a:ext cx="11183112" cy="1790827"/>
          </a:xfrm>
          <a:prstGeom prst="roundRect">
            <a:avLst>
              <a:gd name="adj" fmla="val 170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105239"/>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13" name="TextBox 12"/>
          <p:cNvSpPr txBox="1"/>
          <p:nvPr/>
        </p:nvSpPr>
        <p:spPr>
          <a:xfrm>
            <a:off x="1106424" y="410523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Цепочка</a:t>
            </a:r>
            <a:r>
              <a:rPr sz="950" b="0" i="0">
                <a:solidFill>
                  <a:srgbClr val="141B2E"/>
                </a:solidFill>
                <a:latin typeface="Arial"/>
              </a:rPr>
              <a:t> — шаги друг за другом, выход одного на вход следующему. Сегодня.</a:t>
            </a:r>
          </a:p>
        </p:txBody>
      </p:sp>
      <p:sp>
        <p:nvSpPr>
          <p:cNvPr id="14" name="TextBox 13"/>
          <p:cNvSpPr txBox="1"/>
          <p:nvPr/>
        </p:nvSpPr>
        <p:spPr>
          <a:xfrm>
            <a:off x="722376" y="437562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5" name="TextBox 14"/>
          <p:cNvSpPr txBox="1"/>
          <p:nvPr/>
        </p:nvSpPr>
        <p:spPr>
          <a:xfrm>
            <a:off x="1106424" y="437562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Маршрут</a:t>
            </a:r>
            <a:r>
              <a:rPr sz="950" b="0" i="0">
                <a:solidFill>
                  <a:srgbClr val="141B2E"/>
                </a:solidFill>
                <a:latin typeface="Arial"/>
              </a:rPr>
              <a:t> — первый шаг относит вход к классу, дальше у каждого класса свой путь.</a:t>
            </a:r>
          </a:p>
        </p:txBody>
      </p:sp>
      <p:sp>
        <p:nvSpPr>
          <p:cNvPr id="16" name="TextBox 15"/>
          <p:cNvSpPr txBox="1"/>
          <p:nvPr/>
        </p:nvSpPr>
        <p:spPr>
          <a:xfrm>
            <a:off x="722376" y="464600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7" name="TextBox 16"/>
          <p:cNvSpPr txBox="1"/>
          <p:nvPr/>
        </p:nvSpPr>
        <p:spPr>
          <a:xfrm>
            <a:off x="1106424" y="464600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Параллель</a:t>
            </a:r>
            <a:r>
              <a:rPr sz="950" b="0" i="0">
                <a:solidFill>
                  <a:srgbClr val="141B2E"/>
                </a:solidFill>
                <a:latin typeface="Arial"/>
              </a:rPr>
              <a:t> — независимые подзадачи сразу, результат сводится детерминированно.</a:t>
            </a:r>
          </a:p>
        </p:txBody>
      </p:sp>
      <p:sp>
        <p:nvSpPr>
          <p:cNvPr id="18" name="TextBox 17"/>
          <p:cNvSpPr txBox="1"/>
          <p:nvPr/>
        </p:nvSpPr>
        <p:spPr>
          <a:xfrm>
            <a:off x="722376" y="4916388"/>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9" name="TextBox 18"/>
          <p:cNvSpPr txBox="1"/>
          <p:nvPr/>
        </p:nvSpPr>
        <p:spPr>
          <a:xfrm>
            <a:off x="1106424" y="4916388"/>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Дирижёр и исполнители</a:t>
            </a:r>
            <a:r>
              <a:rPr sz="950" b="0" i="0">
                <a:solidFill>
                  <a:srgbClr val="141B2E"/>
                </a:solidFill>
                <a:latin typeface="Arial"/>
              </a:rPr>
              <a:t> — центральный шаг делит задачу в заданных рамках и раздаёт.</a:t>
            </a:r>
          </a:p>
        </p:txBody>
      </p:sp>
      <p:sp>
        <p:nvSpPr>
          <p:cNvPr id="20" name="TextBox 19"/>
          <p:cNvSpPr txBox="1"/>
          <p:nvPr/>
        </p:nvSpPr>
        <p:spPr>
          <a:xfrm>
            <a:off x="722376" y="518677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5</a:t>
            </a:r>
          </a:p>
        </p:txBody>
      </p:sp>
      <p:sp>
        <p:nvSpPr>
          <p:cNvPr id="21" name="TextBox 20"/>
          <p:cNvSpPr txBox="1"/>
          <p:nvPr/>
        </p:nvSpPr>
        <p:spPr>
          <a:xfrm>
            <a:off x="1106424" y="5186771"/>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Эталон и переделка</a:t>
            </a:r>
            <a:r>
              <a:rPr sz="950" b="0" i="0">
                <a:solidFill>
                  <a:srgbClr val="141B2E"/>
                </a:solidFill>
                <a:latin typeface="Arial"/>
              </a:rPr>
              <a:t> — один делает, другой оценивает, по кругу до порога.</a:t>
            </a:r>
          </a:p>
        </p:txBody>
      </p:sp>
      <p:sp>
        <p:nvSpPr>
          <p:cNvPr id="22" name="Rounded Rectangle 21"/>
          <p:cNvSpPr/>
          <p:nvPr/>
        </p:nvSpPr>
        <p:spPr>
          <a:xfrm>
            <a:off x="502920" y="5841202"/>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969218"/>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Большинство надёжных продакшн-систем — это workflow с предопределёнными путями, а не полностью динамические агенты.</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Надёжность и цена: четыре числа</a:t>
            </a:r>
          </a:p>
        </p:txBody>
      </p:sp>
      <p:sp>
        <p:nvSpPr>
          <p:cNvPr id="3" name="Rounded Rectangle 2"/>
          <p:cNvSpPr/>
          <p:nvPr/>
        </p:nvSpPr>
        <p:spPr>
          <a:xfrm>
            <a:off x="502920" y="943356"/>
            <a:ext cx="11183112" cy="2179828"/>
          </a:xfrm>
          <a:prstGeom prst="roundRect">
            <a:avLst>
              <a:gd name="adj" fmla="val 1398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16704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95%</a:t>
            </a:r>
            <a:r>
              <a:rPr sz="1000" b="1" i="0">
                <a:solidFill>
                  <a:srgbClr val="6B7685"/>
                </a:solidFill>
                <a:latin typeface="Arial"/>
              </a:rPr>
              <a:t> НА ШАГ</a:t>
            </a:r>
          </a:p>
        </p:txBody>
      </p:sp>
      <p:sp>
        <p:nvSpPr>
          <p:cNvPr id="5" name="TextBox 4"/>
          <p:cNvSpPr txBox="1"/>
          <p:nvPr/>
        </p:nvSpPr>
        <p:spPr>
          <a:xfrm>
            <a:off x="5999151" y="1126236"/>
            <a:ext cx="53576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60%</a:t>
            </a:r>
            <a:r>
              <a:rPr sz="1000" b="1" i="0">
                <a:solidFill>
                  <a:srgbClr val="6B7685"/>
                </a:solidFill>
                <a:latin typeface="Arial"/>
              </a:rPr>
              <a:t> НА ДЕСЯТИ ШАГАХ</a:t>
            </a:r>
          </a:p>
        </p:txBody>
      </p:sp>
      <p:sp>
        <p:nvSpPr>
          <p:cNvPr id="6" name="TextBox 5"/>
          <p:cNvSpPr txBox="1"/>
          <p:nvPr/>
        </p:nvSpPr>
        <p:spPr>
          <a:xfrm>
            <a:off x="685800" y="1385824"/>
            <a:ext cx="5167047"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90%</a:t>
            </a:r>
            <a:r>
              <a:rPr sz="1000" b="0" i="0">
                <a:solidFill>
                  <a:srgbClr val="141B2E"/>
                </a:solidFill>
                <a:latin typeface="Arial"/>
              </a:rPr>
              <a:t> на шаг</a:t>
            </a:r>
          </a:p>
        </p:txBody>
      </p:sp>
      <p:sp>
        <p:nvSpPr>
          <p:cNvPr id="7" name="TextBox 6"/>
          <p:cNvSpPr txBox="1"/>
          <p:nvPr/>
        </p:nvSpPr>
        <p:spPr>
          <a:xfrm>
            <a:off x="5999151" y="1385824"/>
            <a:ext cx="5357696"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35%</a:t>
            </a:r>
            <a:r>
              <a:rPr sz="1000" b="0" i="0">
                <a:solidFill>
                  <a:srgbClr val="141B2E"/>
                </a:solidFill>
                <a:latin typeface="Arial"/>
              </a:rPr>
              <a:t> на десяти шагах</a:t>
            </a:r>
          </a:p>
        </p:txBody>
      </p:sp>
      <p:cxnSp>
        <p:nvCxnSpPr>
          <p:cNvPr id="8" name="Connector 7"/>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696720"/>
            <a:ext cx="516704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одиночный агент</a:t>
            </a:r>
          </a:p>
        </p:txBody>
      </p:sp>
      <p:sp>
        <p:nvSpPr>
          <p:cNvPr id="10" name="TextBox 9"/>
          <p:cNvSpPr txBox="1"/>
          <p:nvPr/>
        </p:nvSpPr>
        <p:spPr>
          <a:xfrm>
            <a:off x="5999151" y="1696720"/>
            <a:ext cx="5357696"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4×</a:t>
            </a:r>
            <a:r>
              <a:rPr sz="1000" b="0" i="0">
                <a:solidFill>
                  <a:srgbClr val="141B2E"/>
                </a:solidFill>
                <a:latin typeface="Arial"/>
              </a:rPr>
              <a:t> токенов к обычному чату</a:t>
            </a:r>
          </a:p>
        </p:txBody>
      </p:sp>
      <p:cxnSp>
        <p:nvCxnSpPr>
          <p:cNvPr id="11" name="Connector 10"/>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007616"/>
            <a:ext cx="516704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мульти-агент</a:t>
            </a:r>
          </a:p>
        </p:txBody>
      </p:sp>
      <p:sp>
        <p:nvSpPr>
          <p:cNvPr id="13" name="TextBox 12"/>
          <p:cNvSpPr txBox="1"/>
          <p:nvPr/>
        </p:nvSpPr>
        <p:spPr>
          <a:xfrm>
            <a:off x="5999151" y="2007616"/>
            <a:ext cx="5357696"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15×</a:t>
            </a:r>
            <a:r>
              <a:rPr sz="1000" b="0" i="0">
                <a:solidFill>
                  <a:srgbClr val="141B2E"/>
                </a:solidFill>
                <a:latin typeface="Arial"/>
              </a:rPr>
              <a:t> токенов к обычному чату</a:t>
            </a:r>
          </a:p>
        </p:txBody>
      </p:sp>
      <p:cxnSp>
        <p:nvCxnSpPr>
          <p:cNvPr id="14" name="Connector 13"/>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18512"/>
            <a:ext cx="516704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рой равноправных агентов</a:t>
            </a:r>
          </a:p>
        </p:txBody>
      </p:sp>
      <p:sp>
        <p:nvSpPr>
          <p:cNvPr id="16" name="TextBox 15"/>
          <p:cNvSpPr txBox="1"/>
          <p:nvPr/>
        </p:nvSpPr>
        <p:spPr>
          <a:xfrm>
            <a:off x="5999151" y="2318512"/>
            <a:ext cx="53576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растёт в </a:t>
            </a:r>
            <a:r>
              <a:rPr sz="1000" b="1" i="0">
                <a:solidFill>
                  <a:srgbClr val="141B2E"/>
                </a:solidFill>
                <a:latin typeface="Arial"/>
              </a:rPr>
              <a:t>17,2×</a:t>
            </a:r>
          </a:p>
        </p:txBody>
      </p:sp>
      <p:cxnSp>
        <p:nvCxnSpPr>
          <p:cNvPr id="17" name="Connector 1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629407"/>
            <a:ext cx="516704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координатор</a:t>
            </a:r>
          </a:p>
        </p:txBody>
      </p:sp>
      <p:sp>
        <p:nvSpPr>
          <p:cNvPr id="19" name="TextBox 18"/>
          <p:cNvSpPr txBox="1"/>
          <p:nvPr/>
        </p:nvSpPr>
        <p:spPr>
          <a:xfrm>
            <a:off x="5999151" y="2629407"/>
            <a:ext cx="53576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растёт в </a:t>
            </a:r>
            <a:r>
              <a:rPr sz="1000" b="1" i="0">
                <a:solidFill>
                  <a:srgbClr val="141B2E"/>
                </a:solidFill>
                <a:latin typeface="Arial"/>
              </a:rPr>
              <a:t>4,4×</a:t>
            </a:r>
          </a:p>
        </p:txBody>
      </p:sp>
      <p:sp>
        <p:nvSpPr>
          <p:cNvPr id="20" name="Rounded Rectangle 19"/>
          <p:cNvSpPr/>
          <p:nvPr/>
        </p:nvSpPr>
        <p:spPr>
          <a:xfrm>
            <a:off x="502920" y="328777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41579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Первые две строки.</a:t>
            </a:r>
            <a:r>
              <a:rPr sz="1300" b="1" i="0">
                <a:solidFill>
                  <a:srgbClr val="141B2E"/>
                </a:solidFill>
                <a:latin typeface="Arial"/>
              </a:rPr>
              <a:t> Если сбой любого шага портит результат, надёжность цепочки — надёжность шага в степени числа шагов. «Каждый шаг почти всегда работает, значит и цепочка почти всегда» — математически ложно. Отсюда два правила, которые мы применим руками: </a:t>
            </a:r>
            <a:r>
              <a:rPr sz="1300" b="1" i="0">
                <a:solidFill>
                  <a:srgbClr val="141B2E"/>
                </a:solidFill>
                <a:latin typeface="Arial"/>
              </a:rPr>
              <a:t>цепочки держат короткими, между шагами ставят проверки.</a:t>
            </a:r>
          </a:p>
        </p:txBody>
      </p:sp>
      <p:sp>
        <p:nvSpPr>
          <p:cNvPr id="22" name="Rounded Rectangle 21"/>
          <p:cNvSpPr/>
          <p:nvPr/>
        </p:nvSpPr>
        <p:spPr>
          <a:xfrm>
            <a:off x="502920" y="434086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6887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Вторые две.</a:t>
            </a:r>
            <a:r>
              <a:rPr sz="1300" b="1" i="0">
                <a:solidFill>
                  <a:srgbClr val="141B2E"/>
                </a:solidFill>
                <a:latin typeface="Arial"/>
              </a:rPr>
              <a:t> Мульти-агентные системы работают во многом потому, что помогают потратить на задачу достаточно токенов. Не магия координации, а объём.</a:t>
            </a:r>
          </a:p>
        </p:txBody>
      </p:sp>
      <p:sp>
        <p:nvSpPr>
          <p:cNvPr id="24" name="Rounded Rectangle 23"/>
          <p:cNvSpPr/>
          <p:nvPr/>
        </p:nvSpPr>
        <p:spPr>
          <a:xfrm>
            <a:off x="502920" y="518922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31723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Последние две.</a:t>
            </a:r>
            <a:r>
              <a:rPr sz="1300" b="1" i="0">
                <a:solidFill>
                  <a:srgbClr val="141B2E"/>
                </a:solidFill>
                <a:latin typeface="Arial"/>
              </a:rPr>
              <a:t> При одном и том же числе агентов дирижёр надёжнее роя — обратное тому, что обычно предполагают. </a:t>
            </a:r>
            <a:r>
              <a:rPr sz="1300" b="1" i="0">
                <a:solidFill>
                  <a:srgbClr val="141B2E"/>
                </a:solidFill>
                <a:latin typeface="Arial"/>
              </a:rPr>
              <a:t>Начинай с одного сильного:</a:t>
            </a:r>
            <a:r>
              <a:rPr sz="1300" b="1" i="0">
                <a:solidFill>
                  <a:srgbClr val="141B2E"/>
                </a:solidFill>
                <a:latin typeface="Arial"/>
              </a:rPr>
              <a:t> команды месяцами строили мульти-агентные схемы и обнаруживали, что улучшенный запрос к одному даёт то же самое.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Классы инструментов</a:t>
            </a:r>
          </a:p>
        </p:txBody>
      </p:sp>
      <p:sp>
        <p:nvSpPr>
          <p:cNvPr id="3" name="Rounded Rectangle 2"/>
          <p:cNvSpPr/>
          <p:nvPr/>
        </p:nvSpPr>
        <p:spPr>
          <a:xfrm>
            <a:off x="502920" y="1636572"/>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19452"/>
            <a:ext cx="49868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 ЗАДАЧИ</a:t>
            </a:r>
          </a:p>
        </p:txBody>
      </p:sp>
      <p:sp>
        <p:nvSpPr>
          <p:cNvPr id="5" name="TextBox 4"/>
          <p:cNvSpPr txBox="1"/>
          <p:nvPr/>
        </p:nvSpPr>
        <p:spPr>
          <a:xfrm>
            <a:off x="5818965" y="1819452"/>
            <a:ext cx="346232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6" name="TextBox 5"/>
          <p:cNvSpPr txBox="1"/>
          <p:nvPr/>
        </p:nvSpPr>
        <p:spPr>
          <a:xfrm>
            <a:off x="9427597" y="1819452"/>
            <a:ext cx="1929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СИСТЕМЫ</a:t>
            </a:r>
          </a:p>
        </p:txBody>
      </p:sp>
      <p:sp>
        <p:nvSpPr>
          <p:cNvPr id="7" name="TextBox 6"/>
          <p:cNvSpPr txBox="1"/>
          <p:nvPr/>
        </p:nvSpPr>
        <p:spPr>
          <a:xfrm>
            <a:off x="685800" y="2101519"/>
            <a:ext cx="49868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Перенос между системами</a:t>
            </a:r>
            <a:r>
              <a:rPr sz="1250" b="0" i="0">
                <a:solidFill>
                  <a:srgbClr val="141B2E"/>
                </a:solidFill>
                <a:latin typeface="Arial"/>
              </a:rPr>
              <a:t> — возьми оттуда, преобразуй, положи сюда, уведоми</a:t>
            </a:r>
          </a:p>
        </p:txBody>
      </p:sp>
      <p:sp>
        <p:nvSpPr>
          <p:cNvPr id="8" name="TextBox 7"/>
          <p:cNvSpPr txBox="1"/>
          <p:nvPr/>
        </p:nvSpPr>
        <p:spPr>
          <a:xfrm>
            <a:off x="5818965" y="2101519"/>
            <a:ext cx="346232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с формы → строка в таблице → письмо менеджеру</a:t>
            </a:r>
          </a:p>
        </p:txBody>
      </p:sp>
      <p:sp>
        <p:nvSpPr>
          <p:cNvPr id="9" name="TextBox 8"/>
          <p:cNvSpPr txBox="1"/>
          <p:nvPr/>
        </p:nvSpPr>
        <p:spPr>
          <a:xfrm>
            <a:off x="9427597" y="2101519"/>
            <a:ext cx="192925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n8n</a:t>
            </a:r>
            <a:r>
              <a:rPr sz="1250" b="0" i="0">
                <a:solidFill>
                  <a:srgbClr val="141B2E"/>
                </a:solidFill>
                <a:latin typeface="Arial"/>
              </a:rPr>
              <a:t> · Activepieces · Make · Zapier</a:t>
            </a:r>
          </a:p>
        </p:txBody>
      </p:sp>
      <p:cxnSp>
        <p:nvCxnSpPr>
          <p:cNvPr id="10" name="Connector 9"/>
          <p:cNvCxnSpPr/>
          <p:nvPr/>
        </p:nvCxnSpPr>
        <p:spPr>
          <a:xfrm>
            <a:off x="685800" y="2631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31236"/>
            <a:ext cx="49868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Задача агенту</a:t>
            </a:r>
            <a:r>
              <a:rPr sz="1250" b="0" i="0">
                <a:solidFill>
                  <a:srgbClr val="141B2E"/>
                </a:solidFill>
                <a:latin typeface="Arial"/>
              </a:rPr>
              <a:t> — дай инструменты и проверки, поручи задачу</a:t>
            </a:r>
          </a:p>
        </p:txBody>
      </p:sp>
      <p:sp>
        <p:nvSpPr>
          <p:cNvPr id="12" name="TextBox 11"/>
          <p:cNvSpPr txBox="1"/>
          <p:nvPr/>
        </p:nvSpPr>
        <p:spPr>
          <a:xfrm>
            <a:off x="5818965" y="2631236"/>
            <a:ext cx="346232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разобраться в обращении, сходить в три системы, предложить ответ</a:t>
            </a:r>
          </a:p>
        </p:txBody>
      </p:sp>
      <p:sp>
        <p:nvSpPr>
          <p:cNvPr id="13" name="TextBox 12"/>
          <p:cNvSpPr txBox="1"/>
          <p:nvPr/>
        </p:nvSpPr>
        <p:spPr>
          <a:xfrm>
            <a:off x="9427597" y="2631236"/>
            <a:ext cx="19292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sim · Agent Builder у крупных поставщиков</a:t>
            </a:r>
          </a:p>
        </p:txBody>
      </p:sp>
      <p:cxnSp>
        <p:nvCxnSpPr>
          <p:cNvPr id="14" name="Connector 13"/>
          <p:cNvCxnSpPr/>
          <p:nvPr/>
        </p:nvCxnSpPr>
        <p:spPr>
          <a:xfrm>
            <a:off x="685800" y="3160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0953"/>
            <a:ext cx="49868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Приложение на модели</a:t>
            </a:r>
            <a:r>
              <a:rPr sz="1250" b="0" i="0">
                <a:solidFill>
                  <a:srgbClr val="141B2E"/>
                </a:solidFill>
                <a:latin typeface="Arial"/>
              </a:rPr>
              <a:t> — цепочка вызовов, поиск по документам, память диалога</a:t>
            </a:r>
          </a:p>
        </p:txBody>
      </p:sp>
      <p:sp>
        <p:nvSpPr>
          <p:cNvPr id="16" name="TextBox 15"/>
          <p:cNvSpPr txBox="1"/>
          <p:nvPr/>
        </p:nvSpPr>
        <p:spPr>
          <a:xfrm>
            <a:off x="5818965" y="3160953"/>
            <a:ext cx="346232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чат по корпоративной базе знаний</a:t>
            </a:r>
          </a:p>
        </p:txBody>
      </p:sp>
      <p:sp>
        <p:nvSpPr>
          <p:cNvPr id="17" name="TextBox 16"/>
          <p:cNvSpPr txBox="1"/>
          <p:nvPr/>
        </p:nvSpPr>
        <p:spPr>
          <a:xfrm>
            <a:off x="9427597" y="3160953"/>
            <a:ext cx="19292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LangFlow · Dify</a:t>
            </a:r>
          </a:p>
        </p:txBody>
      </p:sp>
      <p:sp>
        <p:nvSpPr>
          <p:cNvPr id="18" name="Rounded Rectangle 17"/>
          <p:cNvSpPr/>
          <p:nvPr/>
        </p:nvSpPr>
        <p:spPr>
          <a:xfrm>
            <a:off x="502920" y="45410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690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Запуск по расписанию и по событию есть у первого и второго класса. У третьего — только снаружи, вызовом или из чата.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Устройство n8n</a:t>
            </a:r>
          </a:p>
        </p:txBody>
      </p:sp>
      <p:pic>
        <p:nvPicPr>
          <p:cNvPr id="3" name="Picture 2" descr="n8n-holst-stage1.png"/>
          <p:cNvPicPr>
            <a:picLocks noChangeAspect="1"/>
          </p:cNvPicPr>
          <p:nvPr/>
        </p:nvPicPr>
        <p:blipFill>
          <a:blip r:embed="rId2"/>
          <a:stretch>
            <a:fillRect/>
          </a:stretch>
        </p:blipFill>
        <p:spPr>
          <a:xfrm>
            <a:off x="2605706" y="943356"/>
            <a:ext cx="6977538" cy="2231682"/>
          </a:xfrm>
          <a:prstGeom prst="rect">
            <a:avLst/>
          </a:prstGeom>
        </p:spPr>
      </p:pic>
      <p:sp>
        <p:nvSpPr>
          <p:cNvPr id="4" name="Rounded Rectangle 3"/>
          <p:cNvSpPr/>
          <p:nvPr/>
        </p:nvSpPr>
        <p:spPr>
          <a:xfrm>
            <a:off x="502920" y="3339630"/>
            <a:ext cx="82296" cy="46592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646"/>
            <a:ext cx="10643616" cy="20989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Холст и узлы</a:t>
            </a:r>
            <a:r>
              <a:rPr sz="1100" b="1" i="0">
                <a:solidFill>
                  <a:srgbClr val="141B2E"/>
                </a:solidFill>
                <a:latin typeface="Arial"/>
              </a:rPr>
              <a:t> — процесс не текст, а схема. Узел — шаг, щёлкнул — открылась карточка. </a:t>
            </a:r>
            <a:r>
              <a:rPr sz="1100" b="1" i="0">
                <a:solidFill>
                  <a:srgbClr val="141B2E"/>
                </a:solidFill>
                <a:latin typeface="Arial"/>
              </a:rPr>
              <a:t>Между правкой и проверкой нет ни сборки, ни развёртывания.</a:t>
            </a:r>
          </a:p>
        </p:txBody>
      </p:sp>
      <p:sp>
        <p:nvSpPr>
          <p:cNvPr id="6" name="Rounded Rectangle 5"/>
          <p:cNvSpPr/>
          <p:nvPr/>
        </p:nvSpPr>
        <p:spPr>
          <a:xfrm>
            <a:off x="502920" y="3970152"/>
            <a:ext cx="82296" cy="46592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98168"/>
            <a:ext cx="10643616" cy="20989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Учётные данные — отдельно от сценария.</a:t>
            </a:r>
            <a:r>
              <a:rPr sz="1100" b="1" i="0">
                <a:solidFill>
                  <a:srgbClr val="141B2E"/>
                </a:solidFill>
                <a:latin typeface="Arial"/>
              </a:rPr>
              <a:t> В файле процесса ключей нет: файл можно отдать студенту, а при ротации ключ меняется </a:t>
            </a:r>
            <a:r>
              <a:rPr sz="1100" b="1" i="0">
                <a:solidFill>
                  <a:srgbClr val="141B2E"/>
                </a:solidFill>
                <a:latin typeface="Arial"/>
              </a:rPr>
              <a:t>в одном месте</a:t>
            </a:r>
            <a:r>
              <a:rPr sz="1100" b="1" i="0">
                <a:solidFill>
                  <a:srgbClr val="141B2E"/>
                </a:solidFill>
                <a:latin typeface="Arial"/>
              </a:rPr>
              <a:t>.</a:t>
            </a:r>
          </a:p>
        </p:txBody>
      </p:sp>
      <p:sp>
        <p:nvSpPr>
          <p:cNvPr id="8" name="Rounded Rectangle 7"/>
          <p:cNvSpPr/>
          <p:nvPr/>
        </p:nvSpPr>
        <p:spPr>
          <a:xfrm>
            <a:off x="502920" y="460067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28690"/>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Больше 400 интеграций из коробки</a:t>
            </a:r>
            <a:r>
              <a:rPr sz="1150" b="1" i="0">
                <a:solidFill>
                  <a:srgbClr val="141B2E"/>
                </a:solidFill>
                <a:latin typeface="Arial"/>
              </a:rPr>
              <a:t> — «взять из Таблиц и положить в Телеграм» — </a:t>
            </a:r>
            <a:r>
              <a:rPr sz="1150" b="1" i="0">
                <a:solidFill>
                  <a:srgbClr val="141B2E"/>
                </a:solidFill>
                <a:latin typeface="Arial"/>
              </a:rPr>
              <a:t>два узла</a:t>
            </a:r>
            <a:r>
              <a:rPr sz="1150" b="1" i="0">
                <a:solidFill>
                  <a:srgbClr val="141B2E"/>
                </a:solidFill>
                <a:latin typeface="Arial"/>
              </a:rPr>
              <a:t>, а не два дня с чужой документацией.</a:t>
            </a:r>
          </a:p>
        </p:txBody>
      </p:sp>
      <p:sp>
        <p:nvSpPr>
          <p:cNvPr id="10" name="Rounded Rectangle 9"/>
          <p:cNvSpPr/>
          <p:nvPr/>
        </p:nvSpPr>
        <p:spPr>
          <a:xfrm>
            <a:off x="502920" y="522068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4870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Форма и чат встроены</a:t>
            </a:r>
            <a:r>
              <a:rPr sz="1200" b="1" i="0">
                <a:solidFill>
                  <a:srgbClr val="141B2E"/>
                </a:solidFill>
                <a:latin typeface="Arial"/>
              </a:rPr>
              <a:t> — веб-страница с проверкой ввода и экраном результата </a:t>
            </a:r>
            <a:r>
              <a:rPr sz="1200" b="1" i="0">
                <a:solidFill>
                  <a:srgbClr val="141B2E"/>
                </a:solidFill>
                <a:latin typeface="Arial"/>
              </a:rPr>
              <a:t>без фронтенда и хостинга</a:t>
            </a:r>
            <a:r>
              <a:rPr sz="1200" b="1" i="0">
                <a:solidFill>
                  <a:srgbClr val="141B2E"/>
                </a:solidFill>
                <a:latin typeface="Arial"/>
              </a:rPr>
              <a:t>.</a:t>
            </a:r>
          </a:p>
        </p:txBody>
      </p:sp>
      <p:sp>
        <p:nvSpPr>
          <p:cNvPr id="12" name="Rounded Rectangle 11"/>
          <p:cNvSpPr/>
          <p:nvPr/>
        </p:nvSpPr>
        <p:spPr>
          <a:xfrm>
            <a:off x="502920" y="5848576"/>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76592"/>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Журнал прогонов</a:t>
            </a:r>
            <a:r>
              <a:rPr sz="1200" b="1" i="0">
                <a:solidFill>
                  <a:srgbClr val="141B2E"/>
                </a:solidFill>
                <a:latin typeface="Arial"/>
              </a:rPr>
              <a:t> — каждое исполнение хранится целиком: видно, что пришло на вход любого узла и что он отдал.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Карта занятия: четыре кейса</a:t>
            </a:r>
          </a:p>
        </p:txBody>
      </p:sp>
      <p:sp>
        <p:nvSpPr>
          <p:cNvPr id="3" name="Rounded Rectangle 2"/>
          <p:cNvSpPr/>
          <p:nvPr/>
        </p:nvSpPr>
        <p:spPr>
          <a:xfrm>
            <a:off x="502920" y="1428775"/>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11655"/>
            <a:ext cx="215819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2990296" y="1611655"/>
            <a:ext cx="343031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СОБИРАЕМ</a:t>
            </a:r>
          </a:p>
        </p:txBody>
      </p:sp>
      <p:sp>
        <p:nvSpPr>
          <p:cNvPr id="6" name="TextBox 5"/>
          <p:cNvSpPr txBox="1"/>
          <p:nvPr/>
        </p:nvSpPr>
        <p:spPr>
          <a:xfrm>
            <a:off x="6566916" y="1611655"/>
            <a:ext cx="36679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ВЫГЛЯДИТ РАБОЧИМ</a:t>
            </a:r>
          </a:p>
        </p:txBody>
      </p:sp>
      <p:sp>
        <p:nvSpPr>
          <p:cNvPr id="7" name="TextBox 6"/>
          <p:cNvSpPr txBox="1"/>
          <p:nvPr/>
        </p:nvSpPr>
        <p:spPr>
          <a:xfrm>
            <a:off x="10381216" y="1611655"/>
            <a:ext cx="97563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ОКАЗАЛОСЬ</a:t>
            </a:r>
          </a:p>
        </p:txBody>
      </p:sp>
      <p:sp>
        <p:nvSpPr>
          <p:cNvPr id="8" name="TextBox 7"/>
          <p:cNvSpPr txBox="1"/>
          <p:nvPr/>
        </p:nvSpPr>
        <p:spPr>
          <a:xfrm>
            <a:off x="685800" y="2066061"/>
            <a:ext cx="215819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 Классификация и сохранение писем</a:t>
            </a:r>
          </a:p>
        </p:txBody>
      </p:sp>
      <p:sp>
        <p:nvSpPr>
          <p:cNvPr id="9" name="TextBox 8"/>
          <p:cNvSpPr txBox="1"/>
          <p:nvPr/>
        </p:nvSpPr>
        <p:spPr>
          <a:xfrm>
            <a:off x="2990296" y="2066061"/>
            <a:ext cx="343031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 → модель → сверка → таблица → экран</a:t>
            </a:r>
          </a:p>
        </p:txBody>
      </p:sp>
      <p:sp>
        <p:nvSpPr>
          <p:cNvPr id="10" name="TextBox 9"/>
          <p:cNvSpPr txBox="1"/>
          <p:nvPr/>
        </p:nvSpPr>
        <p:spPr>
          <a:xfrm>
            <a:off x="6566916" y="2066061"/>
            <a:ext cx="36679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доезжает до таблицы</a:t>
            </a:r>
          </a:p>
        </p:txBody>
      </p:sp>
      <p:sp>
        <p:nvSpPr>
          <p:cNvPr id="11" name="Rounded Rectangle 10"/>
          <p:cNvSpPr/>
          <p:nvPr/>
        </p:nvSpPr>
        <p:spPr>
          <a:xfrm>
            <a:off x="10399504" y="2139213"/>
            <a:ext cx="939055" cy="38341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85800" y="25957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95778"/>
            <a:ext cx="215819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 Заявки с двумя темами</a:t>
            </a:r>
          </a:p>
        </p:txBody>
      </p:sp>
      <p:sp>
        <p:nvSpPr>
          <p:cNvPr id="14" name="TextBox 13"/>
          <p:cNvSpPr txBox="1"/>
          <p:nvPr/>
        </p:nvSpPr>
        <p:spPr>
          <a:xfrm>
            <a:off x="2990296" y="2595778"/>
            <a:ext cx="343031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справочник и то, что в него не влезло</a:t>
            </a:r>
          </a:p>
        </p:txBody>
      </p:sp>
      <p:sp>
        <p:nvSpPr>
          <p:cNvPr id="15" name="TextBox 14"/>
          <p:cNvSpPr txBox="1"/>
          <p:nvPr/>
        </p:nvSpPr>
        <p:spPr>
          <a:xfrm>
            <a:off x="6566916" y="2595778"/>
            <a:ext cx="36679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клетка заполнена, значение законное</a:t>
            </a:r>
          </a:p>
        </p:txBody>
      </p:sp>
      <p:sp>
        <p:nvSpPr>
          <p:cNvPr id="16" name="Rounded Rectangle 15"/>
          <p:cNvSpPr/>
          <p:nvPr/>
        </p:nvSpPr>
        <p:spPr>
          <a:xfrm>
            <a:off x="10399504" y="2668930"/>
            <a:ext cx="939055" cy="38341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31254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25495"/>
            <a:ext cx="2158192"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 Отказ модели</a:t>
            </a:r>
          </a:p>
        </p:txBody>
      </p:sp>
      <p:sp>
        <p:nvSpPr>
          <p:cNvPr id="19" name="TextBox 18"/>
          <p:cNvSpPr txBox="1"/>
          <p:nvPr/>
        </p:nvSpPr>
        <p:spPr>
          <a:xfrm>
            <a:off x="2990296" y="3125495"/>
            <a:ext cx="343031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повтор попыток и ветка отказа</a:t>
            </a:r>
          </a:p>
        </p:txBody>
      </p:sp>
      <p:sp>
        <p:nvSpPr>
          <p:cNvPr id="20" name="TextBox 19"/>
          <p:cNvSpPr txBox="1"/>
          <p:nvPr/>
        </p:nvSpPr>
        <p:spPr>
          <a:xfrm>
            <a:off x="6566916" y="3125495"/>
            <a:ext cx="36679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зелёный, ошибок в журнале нет</a:t>
            </a:r>
          </a:p>
        </p:txBody>
      </p:sp>
      <p:sp>
        <p:nvSpPr>
          <p:cNvPr id="21" name="Rounded Rectangle 20"/>
          <p:cNvSpPr/>
          <p:nvPr/>
        </p:nvSpPr>
        <p:spPr>
          <a:xfrm>
            <a:off x="10399504" y="3198647"/>
            <a:ext cx="93905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472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72649"/>
            <a:ext cx="215819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 Тема определена неверно</a:t>
            </a:r>
          </a:p>
        </p:txBody>
      </p:sp>
      <p:sp>
        <p:nvSpPr>
          <p:cNvPr id="24" name="TextBox 23"/>
          <p:cNvSpPr txBox="1"/>
          <p:nvPr/>
        </p:nvSpPr>
        <p:spPr>
          <a:xfrm>
            <a:off x="2990296" y="3472649"/>
            <a:ext cx="343031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усиленный запрос и отметка ошибки человеком</a:t>
            </a:r>
          </a:p>
        </p:txBody>
      </p:sp>
      <p:sp>
        <p:nvSpPr>
          <p:cNvPr id="25" name="TextBox 24"/>
          <p:cNvSpPr txBox="1"/>
          <p:nvPr/>
        </p:nvSpPr>
        <p:spPr>
          <a:xfrm>
            <a:off x="6566916" y="3472649"/>
            <a:ext cx="36679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значение из справочника, прогон зелёный</a:t>
            </a:r>
          </a:p>
        </p:txBody>
      </p:sp>
      <p:sp>
        <p:nvSpPr>
          <p:cNvPr id="26" name="Rounded Rectangle 25"/>
          <p:cNvSpPr/>
          <p:nvPr/>
        </p:nvSpPr>
        <p:spPr>
          <a:xfrm>
            <a:off x="10399504" y="3545801"/>
            <a:ext cx="939055" cy="38341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85275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498077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Третья колонка — то, что вы увидите своими глазами и сочтёте успехом. Четвёртую заполним по одной строке за кейс и вернёмся к ней в конце.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2610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Классификация и сохранение писем</a:t>
            </a:r>
          </a:p>
        </p:txBody>
      </p:sp>
      <p:sp>
        <p:nvSpPr>
          <p:cNvPr id="4" name="TextBox 3"/>
          <p:cNvSpPr txBox="1"/>
          <p:nvPr/>
        </p:nvSpPr>
        <p:spPr>
          <a:xfrm>
            <a:off x="1234440" y="370814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«Форма-то есть. Их всё равно потом руками в таблицу перекладывают.»</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Текущий процесс</a:t>
            </a:r>
          </a:p>
        </p:txBody>
      </p:sp>
      <p:sp>
        <p:nvSpPr>
          <p:cNvPr id="3" name="Rounded Rectangle 2"/>
          <p:cNvSpPr/>
          <p:nvPr/>
        </p:nvSpPr>
        <p:spPr>
          <a:xfrm>
            <a:off x="502920" y="9480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60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на сайте форма записи: имя, контакт и свободный текст «что нужно». Форма работает третий год, заявок двадцать в день. Дальше с ними работает один человек — администратор Ольга.</a:t>
            </a:r>
          </a:p>
        </p:txBody>
      </p:sp>
      <p:sp>
        <p:nvSpPr>
          <p:cNvPr id="5" name="Rounded Rectangle 4"/>
          <p:cNvSpPr/>
          <p:nvPr/>
        </p:nvSpPr>
        <p:spPr>
          <a:xfrm>
            <a:off x="502920" y="1871110"/>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9056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09056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своими словами: «хочу на курс по аналитике, перезвоните сегодня после шести», «можно перенести занятие со вторника», «выставьте счёт на организацию».</a:t>
            </a:r>
          </a:p>
        </p:txBody>
      </p:sp>
      <p:sp>
        <p:nvSpPr>
          <p:cNvPr id="8" name="TextBox 7"/>
          <p:cNvSpPr txBox="1"/>
          <p:nvPr/>
        </p:nvSpPr>
        <p:spPr>
          <a:xfrm>
            <a:off x="722376" y="262320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262320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Ольга открывает каждое письмо, читает, понимает, о чём оно, и переносит в таблицу — отдельно контакт, отдельно тема, отдельно срочность.</a:t>
            </a:r>
          </a:p>
        </p:txBody>
      </p:sp>
      <p:sp>
        <p:nvSpPr>
          <p:cNvPr id="10" name="TextBox 9"/>
          <p:cNvSpPr txBox="1"/>
          <p:nvPr/>
        </p:nvSpPr>
        <p:spPr>
          <a:xfrm>
            <a:off x="722376" y="315584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15584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 этим двум столбцам вечером раскладывают заявки: кому звонить сегодня, кому на неделе, что отдать в бухгалтерию.</a:t>
            </a:r>
          </a:p>
        </p:txBody>
      </p:sp>
      <p:sp>
        <p:nvSpPr>
          <p:cNvPr id="12" name="TextBox 11"/>
          <p:cNvSpPr txBox="1"/>
          <p:nvPr/>
        </p:nvSpPr>
        <p:spPr>
          <a:xfrm>
            <a:off x="722376" y="3688480"/>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68848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 пятницу заявок больше, а времени меньше. Появляется «потом разберу» — и что-то не разбирается.</a:t>
            </a:r>
          </a:p>
        </p:txBody>
      </p:sp>
      <p:sp>
        <p:nvSpPr>
          <p:cNvPr id="14" name="Rounded Rectangle 13"/>
          <p:cNvSpPr/>
          <p:nvPr/>
        </p:nvSpPr>
        <p:spPr>
          <a:xfrm>
            <a:off x="502920" y="441457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4258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платят за ошибку в теме и срочности.</a:t>
            </a:r>
            <a:r>
              <a:rPr sz="1500" b="1" i="0">
                <a:solidFill>
                  <a:srgbClr val="141B2E"/>
                </a:solidFill>
                <a:latin typeface="Arial"/>
              </a:rPr>
              <a:t> Заявку смотрит не тот человек → она идёт лишними передачами из рук в руки → обработка задерживается </a:t>
            </a:r>
            <a:r>
              <a:rPr sz="1500" b="1" i="0">
                <a:solidFill>
                  <a:srgbClr val="141B2E"/>
                </a:solidFill>
                <a:latin typeface="Arial"/>
              </a:rPr>
              <a:t>минимум на день</a:t>
            </a:r>
            <a:r>
              <a:rPr sz="1500" b="1" i="0">
                <a:solidFill>
                  <a:srgbClr val="141B2E"/>
                </a:solidFill>
                <a:latin typeface="Arial"/>
              </a:rPr>
              <a:t>. А каждый день просрочки в ответе снижает вероятность, что человек всё-таки купит.</a:t>
            </a:r>
          </a:p>
        </p:txBody>
      </p:sp>
      <p:sp>
        <p:nvSpPr>
          <p:cNvPr id="16" name="Rounded Rectangle 15"/>
          <p:cNvSpPr/>
          <p:nvPr/>
        </p:nvSpPr>
        <p:spPr>
          <a:xfrm>
            <a:off x="502920" y="557385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70187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Сорок минут в день — меньшая часть цены. К двадцатому письму подряд работа делается механически: не потому, что Ольга плохая, а потому что двадцатое похоже на пятое.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потоком писем</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своевременно и качественно разбирать 200 писем в день?</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сотрудников</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алгоритмическая NLP-классификация по ключевым словам</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один шаг модели</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шаг модели + алгоритмическая сверка со справочником, что не вошло — в «не определено»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способ</a:t>
            </a:r>
          </a:p>
        </p:txBody>
      </p:sp>
      <p:sp>
        <p:nvSpPr>
          <p:cNvPr id="3" name="Rounded Rectangle 2"/>
          <p:cNvSpPr/>
          <p:nvPr/>
        </p:nvSpPr>
        <p:spPr>
          <a:xfrm>
            <a:off x="502920" y="943356"/>
            <a:ext cx="11183112" cy="3442144"/>
          </a:xfrm>
          <a:prstGeom prst="roundRect">
            <a:avLst>
              <a:gd name="adj" fmla="val 8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376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СПОСОБ</a:t>
            </a:r>
          </a:p>
        </p:txBody>
      </p:sp>
      <p:sp>
        <p:nvSpPr>
          <p:cNvPr id="5" name="TextBox 4"/>
          <p:cNvSpPr txBox="1"/>
          <p:nvPr/>
        </p:nvSpPr>
        <p:spPr>
          <a:xfrm>
            <a:off x="2269797" y="1126236"/>
            <a:ext cx="219382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ТОЧНОСТЬ НА ЖИВОМ ПОТОКЕ</a:t>
            </a:r>
          </a:p>
        </p:txBody>
      </p:sp>
      <p:sp>
        <p:nvSpPr>
          <p:cNvPr id="6" name="TextBox 5"/>
          <p:cNvSpPr txBox="1"/>
          <p:nvPr/>
        </p:nvSpPr>
        <p:spPr>
          <a:xfrm>
            <a:off x="4609929" y="1126236"/>
            <a:ext cx="271279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ДЕЛАЕТ</a:t>
            </a:r>
          </a:p>
        </p:txBody>
      </p:sp>
      <p:sp>
        <p:nvSpPr>
          <p:cNvPr id="7" name="TextBox 6"/>
          <p:cNvSpPr txBox="1"/>
          <p:nvPr/>
        </p:nvSpPr>
        <p:spPr>
          <a:xfrm>
            <a:off x="7469031" y="1126236"/>
            <a:ext cx="388781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ЧЕГО НЕ ДЕЛАЕТ</a:t>
            </a:r>
          </a:p>
        </p:txBody>
      </p:sp>
      <p:sp>
        <p:nvSpPr>
          <p:cNvPr id="8" name="TextBox 7"/>
          <p:cNvSpPr txBox="1"/>
          <p:nvPr/>
        </p:nvSpPr>
        <p:spPr>
          <a:xfrm>
            <a:off x="685800" y="1550670"/>
            <a:ext cx="1437693"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добавить сотрудников</a:t>
            </a:r>
          </a:p>
        </p:txBody>
      </p:sp>
      <p:sp>
        <p:nvSpPr>
          <p:cNvPr id="9" name="TextBox 8"/>
          <p:cNvSpPr txBox="1"/>
          <p:nvPr/>
        </p:nvSpPr>
        <p:spPr>
          <a:xfrm>
            <a:off x="2269797" y="1550670"/>
            <a:ext cx="2193827"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≈85%</a:t>
            </a:r>
            <a:r>
              <a:rPr sz="1050" b="0" i="0">
                <a:solidFill>
                  <a:srgbClr val="141B2E"/>
                </a:solidFill>
                <a:latin typeface="Arial"/>
              </a:rPr>
              <a:t> — замер по журналам трёх служб поддержки</a:t>
            </a:r>
          </a:p>
        </p:txBody>
      </p:sp>
      <p:sp>
        <p:nvSpPr>
          <p:cNvPr id="10" name="TextBox 9"/>
          <p:cNvSpPr txBox="1"/>
          <p:nvPr/>
        </p:nvSpPr>
        <p:spPr>
          <a:xfrm>
            <a:off x="4609929" y="1550670"/>
            <a:ext cx="271279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видит контекст целиком и замечает то, чего в списке нет вовсе</a:t>
            </a:r>
          </a:p>
        </p:txBody>
      </p:sp>
      <p:sp>
        <p:nvSpPr>
          <p:cNvPr id="11" name="TextBox 10"/>
          <p:cNvSpPr txBox="1"/>
          <p:nvPr/>
        </p:nvSpPr>
        <p:spPr>
          <a:xfrm>
            <a:off x="7469031" y="1550670"/>
            <a:ext cx="388781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линейно дорожает: двести писем — это уже не один человек. И согласованность падает к концу смены</a:t>
            </a:r>
          </a:p>
        </p:txBody>
      </p:sp>
      <p:cxnSp>
        <p:nvCxnSpPr>
          <p:cNvPr id="12" name="Connector 11"/>
          <p:cNvCxnSpPr/>
          <p:nvPr/>
        </p:nvCxnSpPr>
        <p:spPr>
          <a:xfrm>
            <a:off x="685800" y="2021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021966"/>
            <a:ext cx="1437693"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алгоритмическая NLP-классификация</a:t>
            </a:r>
          </a:p>
        </p:txBody>
      </p:sp>
      <p:sp>
        <p:nvSpPr>
          <p:cNvPr id="14" name="TextBox 13"/>
          <p:cNvSpPr txBox="1"/>
          <p:nvPr/>
        </p:nvSpPr>
        <p:spPr>
          <a:xfrm>
            <a:off x="2269797" y="2021966"/>
            <a:ext cx="2193827"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53%</a:t>
            </a:r>
            <a:r>
              <a:rPr sz="1050" b="0" i="0">
                <a:solidFill>
                  <a:srgbClr val="141B2E"/>
                </a:solidFill>
                <a:latin typeface="Arial"/>
              </a:rPr>
              <a:t> на семи категориях, причём на двух из них — </a:t>
            </a:r>
            <a:r>
              <a:rPr sz="1050" b="1" i="0">
                <a:solidFill>
                  <a:srgbClr val="141B2E"/>
                </a:solidFill>
                <a:latin typeface="Arial"/>
              </a:rPr>
              <a:t>0%</a:t>
            </a:r>
          </a:p>
        </p:txBody>
      </p:sp>
      <p:sp>
        <p:nvSpPr>
          <p:cNvPr id="15" name="TextBox 14"/>
          <p:cNvSpPr txBox="1"/>
          <p:nvPr/>
        </p:nvSpPr>
        <p:spPr>
          <a:xfrm>
            <a:off x="4609929" y="2021966"/>
            <a:ext cx="271279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предсказуема, дёшева и отлаживается глазами: одно слово всегда даёт одну тему</a:t>
            </a:r>
          </a:p>
        </p:txBody>
      </p:sp>
      <p:sp>
        <p:nvSpPr>
          <p:cNvPr id="16" name="TextBox 15"/>
          <p:cNvSpPr txBox="1"/>
          <p:nvPr/>
        </p:nvSpPr>
        <p:spPr>
          <a:xfrm>
            <a:off x="7469031" y="2021966"/>
            <a:ext cx="388781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ломается на живом языке: «а можно к вам», «счёт на ООО» — ни одного ключевого слова. Правил становится много, и они начинают противоречить друг другу</a:t>
            </a:r>
          </a:p>
        </p:txBody>
      </p:sp>
      <p:cxnSp>
        <p:nvCxnSpPr>
          <p:cNvPr id="17" name="Connector 16"/>
          <p:cNvCxnSpPr/>
          <p:nvPr/>
        </p:nvCxnSpPr>
        <p:spPr>
          <a:xfrm>
            <a:off x="685800" y="2799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799968"/>
            <a:ext cx="1437693"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один шаг модели</a:t>
            </a:r>
          </a:p>
        </p:txBody>
      </p:sp>
      <p:sp>
        <p:nvSpPr>
          <p:cNvPr id="19" name="TextBox 18"/>
          <p:cNvSpPr txBox="1"/>
          <p:nvPr/>
        </p:nvSpPr>
        <p:spPr>
          <a:xfrm>
            <a:off x="2269797" y="2799968"/>
            <a:ext cx="2193827"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75–80%</a:t>
            </a:r>
            <a:r>
              <a:rPr sz="1050" b="0" i="0">
                <a:solidFill>
                  <a:srgbClr val="141B2E"/>
                </a:solidFill>
                <a:latin typeface="Arial"/>
              </a:rPr>
              <a:t> на семи категориях; на живом потоке бывает и ниже обученной модели</a:t>
            </a:r>
          </a:p>
        </p:txBody>
      </p:sp>
      <p:sp>
        <p:nvSpPr>
          <p:cNvPr id="20" name="TextBox 19"/>
          <p:cNvSpPr txBox="1"/>
          <p:nvPr/>
        </p:nvSpPr>
        <p:spPr>
          <a:xfrm>
            <a:off x="4609929" y="2799968"/>
            <a:ext cx="271279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a:t>
            </a:r>
            <a:r>
              <a:rPr sz="1050" b="1" i="0">
                <a:solidFill>
                  <a:srgbClr val="141B2E"/>
                </a:solidFill>
                <a:latin typeface="Arial"/>
              </a:rPr>
              <a:t>без размеченной истории</a:t>
            </a:r>
            <a:r>
              <a:rPr sz="1050" b="0" i="0">
                <a:solidFill>
                  <a:srgbClr val="141B2E"/>
                </a:solidFill>
                <a:latin typeface="Arial"/>
              </a:rPr>
              <a:t> — на описании категорий словами</a:t>
            </a:r>
          </a:p>
        </p:txBody>
      </p:sp>
      <p:sp>
        <p:nvSpPr>
          <p:cNvPr id="21" name="TextBox 20"/>
          <p:cNvSpPr txBox="1"/>
          <p:nvPr/>
        </p:nvSpPr>
        <p:spPr>
          <a:xfrm>
            <a:off x="7469031" y="2799968"/>
            <a:ext cx="388781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обещает формат: в клетке окажется «запись», «обучение», «Аналитика.» — каждый ответ разумный, а столбец негодный</a:t>
            </a:r>
          </a:p>
        </p:txBody>
      </p:sp>
      <p:cxnSp>
        <p:nvCxnSpPr>
          <p:cNvPr id="22" name="Connector 21"/>
          <p:cNvCxnSpPr/>
          <p:nvPr/>
        </p:nvCxnSpPr>
        <p:spPr>
          <a:xfrm>
            <a:off x="685800" y="3424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24618"/>
            <a:ext cx="1437693"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шаг модели + сверка со справочником</a:t>
            </a:r>
          </a:p>
        </p:txBody>
      </p:sp>
      <p:sp>
        <p:nvSpPr>
          <p:cNvPr id="24" name="TextBox 23"/>
          <p:cNvSpPr txBox="1"/>
          <p:nvPr/>
        </p:nvSpPr>
        <p:spPr>
          <a:xfrm>
            <a:off x="2269797" y="3424618"/>
            <a:ext cx="219382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смысловая та же, что у шага модели, </a:t>
            </a:r>
            <a:r>
              <a:rPr sz="1050" b="1" i="0">
                <a:solidFill>
                  <a:srgbClr val="141B2E"/>
                </a:solidFill>
                <a:latin typeface="Arial"/>
              </a:rPr>
              <a:t>плюс 100% значений из справочника</a:t>
            </a:r>
          </a:p>
        </p:txBody>
      </p:sp>
      <p:sp>
        <p:nvSpPr>
          <p:cNvPr id="25" name="TextBox 24"/>
          <p:cNvSpPr txBox="1"/>
          <p:nvPr/>
        </p:nvSpPr>
        <p:spPr>
          <a:xfrm>
            <a:off x="4609929" y="3424618"/>
            <a:ext cx="271279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значение в таблице </a:t>
            </a:r>
            <a:r>
              <a:rPr sz="1050" b="1" i="0">
                <a:solidFill>
                  <a:srgbClr val="141B2E"/>
                </a:solidFill>
                <a:latin typeface="Arial"/>
              </a:rPr>
              <a:t>всегда</a:t>
            </a:r>
            <a:r>
              <a:rPr sz="1050" b="0" i="0">
                <a:solidFill>
                  <a:srgbClr val="141B2E"/>
                </a:solidFill>
                <a:latin typeface="Arial"/>
              </a:rPr>
              <a:t> из списка, пустых клеток не бывает; детерминированная сверка — её поведение известно заранее</a:t>
            </a:r>
          </a:p>
        </p:txBody>
      </p:sp>
      <p:sp>
        <p:nvSpPr>
          <p:cNvPr id="26" name="TextBox 25"/>
          <p:cNvSpPr txBox="1"/>
          <p:nvPr/>
        </p:nvSpPr>
        <p:spPr>
          <a:xfrm>
            <a:off x="7469031" y="3424618"/>
            <a:ext cx="388781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смысловую ошибку не чинит: уверенно неверная тема пройдёт сверку, потому что она из списка</a:t>
            </a:r>
          </a:p>
        </p:txBody>
      </p:sp>
      <p:sp>
        <p:nvSpPr>
          <p:cNvPr id="27" name="Rounded Rectangle 26"/>
          <p:cNvSpPr/>
          <p:nvPr/>
        </p:nvSpPr>
        <p:spPr>
          <a:xfrm>
            <a:off x="502920" y="4550092"/>
            <a:ext cx="82296" cy="780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4678108"/>
            <a:ext cx="10643616" cy="52459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Поворот.</a:t>
            </a:r>
            <a:r>
              <a:rPr sz="1100" b="1" i="0">
                <a:solidFill>
                  <a:srgbClr val="141B2E"/>
                </a:solidFill>
                <a:latin typeface="Arial"/>
              </a:rPr>
              <a:t> Первые два ломаются </a:t>
            </a:r>
            <a:r>
              <a:rPr sz="1100" b="1" i="0">
                <a:solidFill>
                  <a:srgbClr val="141B2E"/>
                </a:solidFill>
                <a:latin typeface="Arial"/>
              </a:rPr>
              <a:t>громко</a:t>
            </a:r>
            <a:r>
              <a:rPr sz="1100" b="1" i="0">
                <a:solidFill>
                  <a:srgbClr val="141B2E"/>
                </a:solidFill>
                <a:latin typeface="Arial"/>
              </a:rPr>
              <a:t>: правило не нашло слово — клетка пустая, это видно. Модель ломается </a:t>
            </a:r>
            <a:r>
              <a:rPr sz="1100" b="1" i="0">
                <a:solidFill>
                  <a:srgbClr val="141B2E"/>
                </a:solidFill>
                <a:latin typeface="Arial"/>
              </a:rPr>
              <a:t>тихо</a:t>
            </a:r>
            <a:r>
              <a:rPr sz="1100" b="1" i="0">
                <a:solidFill>
                  <a:srgbClr val="141B2E"/>
                </a:solidFill>
                <a:latin typeface="Arial"/>
              </a:rPr>
              <a:t>: в клетке правдоподобное слово, которого нет в вашем списке, прогон зелёный, и ни одна проверка формата этого не поймает. Громкий отказ дешёвый, тихий дорогой.</a:t>
            </a:r>
          </a:p>
        </p:txBody>
      </p:sp>
      <p:sp>
        <p:nvSpPr>
          <p:cNvPr id="29" name="Rounded Rectangle 28"/>
          <p:cNvSpPr/>
          <p:nvPr/>
        </p:nvSpPr>
        <p:spPr>
          <a:xfrm>
            <a:off x="502920" y="5495310"/>
            <a:ext cx="82296" cy="780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623326"/>
            <a:ext cx="10643616" cy="52459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Почему 100% из справочника стоит отдельного узла.</a:t>
            </a:r>
            <a:r>
              <a:rPr sz="1100" b="1" i="0">
                <a:solidFill>
                  <a:srgbClr val="141B2E"/>
                </a:solidFill>
                <a:latin typeface="Arial"/>
              </a:rPr>
              <a:t> Столбец читает </a:t>
            </a:r>
            <a:r>
              <a:rPr sz="1100" b="1" i="0">
                <a:solidFill>
                  <a:srgbClr val="141B2E"/>
                </a:solidFill>
                <a:latin typeface="Arial"/>
              </a:rPr>
              <a:t>не человек, а следующий шаг</a:t>
            </a:r>
            <a:r>
              <a:rPr sz="1100" b="1" i="0">
                <a:solidFill>
                  <a:srgbClr val="141B2E"/>
                </a:solidFill>
                <a:latin typeface="Arial"/>
              </a:rPr>
              <a:t>: сортировка, маршрутизация, отчёт. Человек поймёт «Аналитика.» и «аналитика» как одно; система — как два разных значения, и одно из них просто не найдётся фильтром.</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Обзор: где что лежит</a:t>
            </a:r>
          </a:p>
        </p:txBody>
      </p:sp>
      <p:pic>
        <p:nvPicPr>
          <p:cNvPr id="3" name="Picture 2" descr="n8n-spisok-protsessov.png"/>
          <p:cNvPicPr>
            <a:picLocks noChangeAspect="1"/>
          </p:cNvPicPr>
          <p:nvPr/>
        </p:nvPicPr>
        <p:blipFill>
          <a:blip r:embed="rId2"/>
          <a:stretch>
            <a:fillRect/>
          </a:stretch>
        </p:blipFill>
        <p:spPr>
          <a:xfrm>
            <a:off x="1311173" y="943356"/>
            <a:ext cx="9566604" cy="3510680"/>
          </a:xfrm>
          <a:prstGeom prst="rect">
            <a:avLst/>
          </a:prstGeom>
        </p:spPr>
      </p:pic>
      <p:sp>
        <p:nvSpPr>
          <p:cNvPr id="4" name="Rounded Rectangle 3"/>
          <p:cNvSpPr/>
          <p:nvPr/>
        </p:nvSpPr>
        <p:spPr>
          <a:xfrm>
            <a:off x="502920" y="461862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46644"/>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Процессы</a:t>
            </a:r>
            <a:r>
              <a:rPr sz="1200" b="1" i="0">
                <a:solidFill>
                  <a:srgbClr val="141B2E"/>
                </a:solidFill>
                <a:latin typeface="Arial"/>
              </a:rPr>
              <a:t> — список того, что собрано. У каждого видно, </a:t>
            </a:r>
            <a:r>
              <a:rPr sz="1200" b="1" i="0">
                <a:solidFill>
                  <a:srgbClr val="141B2E"/>
                </a:solidFill>
                <a:latin typeface="Arial"/>
              </a:rPr>
              <a:t>опубликован</a:t>
            </a:r>
            <a:r>
              <a:rPr sz="1200" b="1" i="0">
                <a:solidFill>
                  <a:srgbClr val="141B2E"/>
                </a:solidFill>
                <a:latin typeface="Arial"/>
              </a:rPr>
              <a:t> он или нет, кто владелец и когда правили последний раз. Четыре строки на снимке — четыре стадии процесса этого занятия.</a:t>
            </a:r>
          </a:p>
        </p:txBody>
      </p:sp>
      <p:sp>
        <p:nvSpPr>
          <p:cNvPr id="6" name="Rounded Rectangle 5"/>
          <p:cNvSpPr/>
          <p:nvPr/>
        </p:nvSpPr>
        <p:spPr>
          <a:xfrm>
            <a:off x="502920" y="5435492"/>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63508"/>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Счётчики сверху</a:t>
            </a:r>
            <a:r>
              <a:rPr sz="1250" b="1" i="0">
                <a:solidFill>
                  <a:srgbClr val="141B2E"/>
                </a:solidFill>
                <a:latin typeface="Arial"/>
              </a:rPr>
              <a:t> читаются буквально: сколько прогонов прошло в бою, сколько из них упало, какая доля и сколько в среднем занимает прогон. Половина падений на снимке — наша: стенд ломали специально, и в третьем кейсе мы это повторим.</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Учётные данные</a:t>
            </a:r>
          </a:p>
        </p:txBody>
      </p:sp>
      <p:pic>
        <p:nvPicPr>
          <p:cNvPr id="3" name="Picture 2" descr="n8n-kredy-karta.png"/>
          <p:cNvPicPr>
            <a:picLocks noChangeAspect="1"/>
          </p:cNvPicPr>
          <p:nvPr/>
        </p:nvPicPr>
        <p:blipFill>
          <a:blip r:embed="rId2"/>
          <a:stretch>
            <a:fillRect/>
          </a:stretch>
        </p:blipFill>
        <p:spPr>
          <a:xfrm>
            <a:off x="1974273" y="943356"/>
            <a:ext cx="8240405" cy="3115439"/>
          </a:xfrm>
          <a:prstGeom prst="rect">
            <a:avLst/>
          </a:prstGeom>
        </p:spPr>
      </p:pic>
      <p:sp>
        <p:nvSpPr>
          <p:cNvPr id="4" name="Rounded Rectangle 3"/>
          <p:cNvSpPr/>
          <p:nvPr/>
        </p:nvSpPr>
        <p:spPr>
          <a:xfrm>
            <a:off x="502920" y="4223387"/>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Соединение проверяется здесь же.</a:t>
            </a:r>
            <a:r>
              <a:rPr sz="1100" b="1" i="0">
                <a:solidFill>
                  <a:srgbClr val="141B2E"/>
                </a:solidFill>
                <a:latin typeface="Arial"/>
              </a:rPr>
              <a:t> Зелёная строка на снимке — это не «сохранено», а «мы сходили в сервис и он ответил». Проверка до первого прогона, а не вместо него.</a:t>
            </a:r>
          </a:p>
        </p:txBody>
      </p:sp>
      <p:sp>
        <p:nvSpPr>
          <p:cNvPr id="6" name="Rounded Rectangle 5"/>
          <p:cNvSpPr/>
          <p:nvPr/>
        </p:nvSpPr>
        <p:spPr>
          <a:xfrm>
            <a:off x="502920" y="4979671"/>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107687"/>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Ключ скрыт и после сохранения не показывается</a:t>
            </a:r>
            <a:r>
              <a:rPr sz="1300" b="1" i="0">
                <a:solidFill>
                  <a:srgbClr val="141B2E"/>
                </a:solidFill>
                <a:latin typeface="Arial"/>
              </a:rPr>
              <a:t> — даже владельцу. Посмотреть нельзя, можно только заменить.</a:t>
            </a:r>
          </a:p>
        </p:txBody>
      </p:sp>
      <p:sp>
        <p:nvSpPr>
          <p:cNvPr id="8" name="Rounded Rectangle 7"/>
          <p:cNvSpPr/>
          <p:nvPr/>
        </p:nvSpPr>
        <p:spPr>
          <a:xfrm>
            <a:off x="502920" y="5623307"/>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51323"/>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 файле процесса ключа нет</a:t>
            </a:r>
            <a:r>
              <a:rPr sz="1100" b="1" i="0">
                <a:solidFill>
                  <a:srgbClr val="141B2E"/>
                </a:solidFill>
                <a:latin typeface="Arial"/>
              </a:rPr>
              <a:t> — только имя учётных данных. Поэтому процесс можно выгрузить и отдать: получивший подставит </a:t>
            </a:r>
            <a:r>
              <a:rPr sz="1100" b="1" i="0">
                <a:solidFill>
                  <a:srgbClr val="141B2E"/>
                </a:solidFill>
                <a:latin typeface="Arial"/>
              </a:rPr>
              <a:t>свой</a:t>
            </a:r>
            <a:r>
              <a:rPr sz="1100" b="1" i="0">
                <a:solidFill>
                  <a:srgbClr val="141B2E"/>
                </a:solidFill>
                <a:latin typeface="Arial"/>
              </a:rPr>
              <a:t> ключ. На этом построено домашнее задание.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целиком</a:t>
            </a:r>
          </a:p>
        </p:txBody>
      </p:sp>
      <p:pic>
        <p:nvPicPr>
          <p:cNvPr id="3" name="Picture 2" descr="obzor-k1.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Дальше мы откроем два узла из шести и посмотрим, что в них настроено.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извлечения</a:t>
            </a:r>
          </a:p>
        </p:txBody>
      </p:sp>
      <p:pic>
        <p:nvPicPr>
          <p:cNvPr id="3" name="Picture 2" descr="n8n-uzel-izvlecheniya.png"/>
          <p:cNvPicPr>
            <a:picLocks noChangeAspect="1"/>
          </p:cNvPicPr>
          <p:nvPr/>
        </p:nvPicPr>
        <p:blipFill>
          <a:blip r:embed="rId2"/>
          <a:stretch>
            <a:fillRect/>
          </a:stretch>
        </p:blipFill>
        <p:spPr>
          <a:xfrm>
            <a:off x="3890387" y="943356"/>
            <a:ext cx="4408176" cy="2513996"/>
          </a:xfrm>
          <a:prstGeom prst="rect">
            <a:avLst/>
          </a:prstGeom>
        </p:spPr>
      </p:pic>
      <p:sp>
        <p:nvSpPr>
          <p:cNvPr id="4" name="Rounded Rectangle 3"/>
          <p:cNvSpPr/>
          <p:nvPr/>
        </p:nvSpPr>
        <p:spPr>
          <a:xfrm>
            <a:off x="502920" y="3621944"/>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9960"/>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Text — что читаем.</a:t>
            </a:r>
            <a:r>
              <a:rPr sz="1250" b="1" i="0">
                <a:solidFill>
                  <a:srgbClr val="141B2E"/>
                </a:solidFill>
                <a:latin typeface="Arial"/>
              </a:rPr>
              <a:t> Указываем одно поле формы: свободный текст заявки. Не всё письмо целиком, а именно его.</a:t>
            </a:r>
          </a:p>
        </p:txBody>
      </p:sp>
      <p:sp>
        <p:nvSpPr>
          <p:cNvPr id="6" name="Rounded Rectangle 5"/>
          <p:cNvSpPr/>
          <p:nvPr/>
        </p:nvSpPr>
        <p:spPr>
          <a:xfrm>
            <a:off x="502920" y="4257706"/>
            <a:ext cx="82296" cy="62849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85722"/>
            <a:ext cx="10643616" cy="3724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Схема — какие значения разрешены.</a:t>
            </a:r>
            <a:r>
              <a:rPr sz="1100" b="1" i="0">
                <a:solidFill>
                  <a:srgbClr val="141B2E"/>
                </a:solidFill>
                <a:latin typeface="Arial"/>
              </a:rPr>
              <a:t> Для темы перечисляем четыре допустимых значения, для срочности три. Модель выбирает </a:t>
            </a:r>
            <a:r>
              <a:rPr sz="1100" b="1" i="0">
                <a:solidFill>
                  <a:srgbClr val="141B2E"/>
                </a:solidFill>
                <a:latin typeface="Arial"/>
              </a:rPr>
              <a:t>из перечисленного</a:t>
            </a:r>
            <a:r>
              <a:rPr sz="1100" b="1" i="0">
                <a:solidFill>
                  <a:srgbClr val="141B2E"/>
                </a:solidFill>
                <a:latin typeface="Arial"/>
              </a:rPr>
              <a:t>, а не придумывает формулировку. Рядом с каждым полем — описание словами: по нему модель и понимает, что такое «срочность».</a:t>
            </a:r>
          </a:p>
        </p:txBody>
      </p:sp>
      <p:sp>
        <p:nvSpPr>
          <p:cNvPr id="8" name="Rounded Rectangle 7"/>
          <p:cNvSpPr/>
          <p:nvPr/>
        </p:nvSpPr>
        <p:spPr>
          <a:xfrm>
            <a:off x="502920" y="5050797"/>
            <a:ext cx="82296" cy="4774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78813"/>
            <a:ext cx="10643616" cy="2214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Обязательность.</a:t>
            </a:r>
            <a:r>
              <a:rPr sz="1100" b="1" i="0">
                <a:solidFill>
                  <a:srgbClr val="141B2E"/>
                </a:solidFill>
                <a:latin typeface="Arial"/>
              </a:rPr>
              <a:t> Тема и срочность помечены обязательными — пустыми не придут. Контакт из текста не помечен: его в заявке может не быть.</a:t>
            </a:r>
          </a:p>
        </p:txBody>
      </p:sp>
      <p:sp>
        <p:nvSpPr>
          <p:cNvPr id="10" name="Rounded Rectangle 9"/>
          <p:cNvSpPr/>
          <p:nvPr/>
        </p:nvSpPr>
        <p:spPr>
          <a:xfrm>
            <a:off x="502920" y="569285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2087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Сверка — отдельный узел.</a:t>
            </a:r>
            <a:r>
              <a:rPr sz="1100" b="1" i="0">
                <a:solidFill>
                  <a:srgbClr val="141B2E"/>
                </a:solidFill>
                <a:latin typeface="Arial"/>
              </a:rPr>
              <a:t> Обычный «задать поля»: если пришедшее значение есть в списке — оставить, иначе подставить </a:t>
            </a:r>
            <a:r>
              <a:rPr sz="1100" b="1" i="0">
                <a:solidFill>
                  <a:srgbClr val="141B2E"/>
                </a:solidFill>
                <a:latin typeface="Consolas"/>
              </a:rPr>
              <a:t>другое</a:t>
            </a:r>
            <a:r>
              <a:rPr sz="1100" b="1" i="0">
                <a:solidFill>
                  <a:srgbClr val="141B2E"/>
                </a:solidFill>
                <a:latin typeface="Arial"/>
              </a:rPr>
              <a:t>. Два уровня, и оба нужны: схема говорит модели, что от неё хотят, сверка </a:t>
            </a:r>
            <a:r>
              <a:rPr sz="1100" b="1" i="0">
                <a:solidFill>
                  <a:srgbClr val="141B2E"/>
                </a:solidFill>
                <a:latin typeface="Arial"/>
              </a:rPr>
              <a:t>проверяет</a:t>
            </a:r>
            <a:r>
              <a:rPr sz="1100" b="1" i="0">
                <a:solidFill>
                  <a:srgbClr val="141B2E"/>
                </a:solidFill>
                <a:latin typeface="Arial"/>
              </a:rPr>
              <a:t>, что она это сделала.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человек</a:t>
            </a:r>
          </a:p>
        </p:txBody>
      </p:sp>
      <p:pic>
        <p:nvPicPr>
          <p:cNvPr id="3" name="Picture 2" descr="n8n-vhod-i-rezultat.png"/>
          <p:cNvPicPr>
            <a:picLocks noChangeAspect="1"/>
          </p:cNvPicPr>
          <p:nvPr/>
        </p:nvPicPr>
        <p:blipFill>
          <a:blip r:embed="rId2"/>
          <a:stretch>
            <a:fillRect/>
          </a:stretch>
        </p:blipFill>
        <p:spPr>
          <a:xfrm>
            <a:off x="2330744" y="943356"/>
            <a:ext cx="7527462" cy="3370072"/>
          </a:xfrm>
          <a:prstGeom prst="rect">
            <a:avLst/>
          </a:prstGeom>
        </p:spPr>
      </p:pic>
      <p:sp>
        <p:nvSpPr>
          <p:cNvPr id="4" name="Rounded Rectangle 3"/>
          <p:cNvSpPr/>
          <p:nvPr/>
        </p:nvSpPr>
        <p:spPr>
          <a:xfrm>
            <a:off x="502920" y="447802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0603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Слева вход:</a:t>
            </a:r>
            <a:r>
              <a:rPr sz="1300" b="1" i="0">
                <a:solidFill>
                  <a:srgbClr val="141B2E"/>
                </a:solidFill>
                <a:latin typeface="Arial"/>
              </a:rPr>
              <a:t> форма объясняет, что произойдёт с заявкой, прежде чем её отправят. </a:t>
            </a:r>
            <a:r>
              <a:rPr sz="1300" b="1" i="0">
                <a:solidFill>
                  <a:srgbClr val="141B2E"/>
                </a:solidFill>
                <a:latin typeface="Arial"/>
              </a:rPr>
              <a:t>Справа выход:</a:t>
            </a:r>
            <a:r>
              <a:rPr sz="1300" b="1" i="0">
                <a:solidFill>
                  <a:srgbClr val="141B2E"/>
                </a:solidFill>
                <a:latin typeface="Arial"/>
              </a:rPr>
              <a:t> все четыре шага, а не только ответ — что пришло, что предложила модель, что осталось после справочника, куда легла строка.</a:t>
            </a:r>
          </a:p>
        </p:txBody>
      </p:sp>
      <p:sp>
        <p:nvSpPr>
          <p:cNvPr id="6" name="Rounded Rectangle 5"/>
          <p:cNvSpPr/>
          <p:nvPr/>
        </p:nvSpPr>
        <p:spPr>
          <a:xfrm>
            <a:off x="502920" y="53263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5439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Промежуточные шаги печатаются намеренно: иначе ошибку видно только там, где она уже стала результатом.</a:t>
            </a:r>
            <a:r>
              <a:rPr sz="1200" b="1" i="0">
                <a:solidFill>
                  <a:srgbClr val="141B2E"/>
                </a:solidFill>
                <a:latin typeface="Arial"/>
              </a:rPr>
              <a:t> И выход показывают на том же экране, где был вход, — переключение во вкладку «посмотреть, сработало ли» есть главный способ не заметить, что сработало неправильно.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закрытый список нужен</a:t>
            </a:r>
          </a:p>
        </p:txBody>
      </p:sp>
      <p:sp>
        <p:nvSpPr>
          <p:cNvPr id="3" name="Rounded Rectangle 2"/>
          <p:cNvSpPr/>
          <p:nvPr/>
        </p:nvSpPr>
        <p:spPr>
          <a:xfrm>
            <a:off x="502920" y="1017794"/>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752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ЗАКРЫТЫЙ СПИСОК НУЖЕН</a:t>
            </a:r>
          </a:p>
        </p:txBody>
      </p:sp>
      <p:sp>
        <p:nvSpPr>
          <p:cNvPr id="5" name="TextBox 4"/>
          <p:cNvSpPr txBox="1"/>
          <p:nvPr/>
        </p:nvSpPr>
        <p:spPr>
          <a:xfrm>
            <a:off x="685800" y="140184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результат шага читает следующий шаг: по нему фильтруют, сортируют, считают или маршрутизируют</a:t>
            </a:r>
          </a:p>
        </p:txBody>
      </p:sp>
      <p:cxnSp>
        <p:nvCxnSpPr>
          <p:cNvPr id="6" name="Connector 5"/>
          <p:cNvCxnSpPr/>
          <p:nvPr/>
        </p:nvCxnSpPr>
        <p:spPr>
          <a:xfrm>
            <a:off x="685800" y="18928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9282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 полю будет отчёт: «сколько заявок про оплату за месяц»</a:t>
            </a:r>
          </a:p>
        </p:txBody>
      </p:sp>
      <p:cxnSp>
        <p:nvCxnSpPr>
          <p:cNvPr id="8" name="Connector 7"/>
          <p:cNvCxnSpPr/>
          <p:nvPr/>
        </p:nvCxnSpPr>
        <p:spPr>
          <a:xfrm>
            <a:off x="685800" y="22114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1146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результат надо отвечать: он уходит в начисление, рассылку, обязательство</a:t>
            </a:r>
          </a:p>
        </p:txBody>
      </p:sp>
      <p:cxnSp>
        <p:nvCxnSpPr>
          <p:cNvPr id="10" name="Connector 9"/>
          <p:cNvCxnSpPr/>
          <p:nvPr/>
        </p:nvCxnSpPr>
        <p:spPr>
          <a:xfrm>
            <a:off x="685800" y="27024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0244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поток растёт и типов входа становится больше одного</a:t>
            </a:r>
          </a:p>
        </p:txBody>
      </p:sp>
      <p:sp>
        <p:nvSpPr>
          <p:cNvPr id="12" name="Rounded Rectangle 11"/>
          <p:cNvSpPr/>
          <p:nvPr/>
        </p:nvSpPr>
        <p:spPr>
          <a:xfrm>
            <a:off x="6231636" y="1017794"/>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2752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ЗАКРЫТЫЙ СПИСОК НЕ НУЖЕН</a:t>
            </a:r>
          </a:p>
        </p:txBody>
      </p:sp>
      <p:sp>
        <p:nvSpPr>
          <p:cNvPr id="14" name="TextBox 13"/>
          <p:cNvSpPr txBox="1"/>
          <p:nvPr/>
        </p:nvSpPr>
        <p:spPr>
          <a:xfrm>
            <a:off x="6414516" y="140184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результат читает человек и он же решает, что с ним делать — свободный текст ему помогает, а не мешает</a:t>
            </a:r>
          </a:p>
        </p:txBody>
      </p:sp>
      <p:cxnSp>
        <p:nvCxnSpPr>
          <p:cNvPr id="15" name="Connector 14"/>
          <p:cNvCxnSpPr/>
          <p:nvPr/>
        </p:nvCxnSpPr>
        <p:spPr>
          <a:xfrm>
            <a:off x="6414516" y="18928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89282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поле нужно один раз, для одного письма, и больше его никто не откроет</a:t>
            </a:r>
          </a:p>
        </p:txBody>
      </p:sp>
      <p:cxnSp>
        <p:nvCxnSpPr>
          <p:cNvPr id="17" name="Connector 16"/>
          <p:cNvCxnSpPr/>
          <p:nvPr/>
        </p:nvCxnSpPr>
        <p:spPr>
          <a:xfrm>
            <a:off x="6414516" y="23838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8380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ошибку заметит тот же человек в тот же день, и исправит её руками за минуту</a:t>
            </a:r>
          </a:p>
        </p:txBody>
      </p:sp>
      <p:cxnSp>
        <p:nvCxnSpPr>
          <p:cNvPr id="19" name="Connector 18"/>
          <p:cNvCxnSpPr/>
          <p:nvPr/>
        </p:nvCxnSpPr>
        <p:spPr>
          <a:xfrm>
            <a:off x="6414516" y="28747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7478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двадцать обращений в неделю, пять минут в день, и так будет дальше</a:t>
            </a:r>
          </a:p>
        </p:txBody>
      </p:sp>
      <p:sp>
        <p:nvSpPr>
          <p:cNvPr id="21" name="Rounded Rectangle 20"/>
          <p:cNvSpPr/>
          <p:nvPr/>
        </p:nvSpPr>
        <p:spPr>
          <a:xfrm>
            <a:off x="502920" y="389934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02735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Предел, после которого список перестаёт работать: в нём нет «иначе».</a:t>
            </a:r>
            <a:r>
              <a:rPr sz="1500" b="1" i="0">
                <a:solidFill>
                  <a:srgbClr val="141B2E"/>
                </a:solidFill>
                <a:latin typeface="Arial"/>
              </a:rPr>
              <a:t> Список без значения «другое» и «не указано» не отказывает — он заставляет модель выбрать ближайшее. Вы получите законное значение на заявке, которой в вашем списке не место, и не узнаете об этом никогда.</a:t>
            </a:r>
          </a:p>
        </p:txBody>
      </p:sp>
      <p:sp>
        <p:nvSpPr>
          <p:cNvPr id="23" name="Rounded Rectangle 22"/>
          <p:cNvSpPr/>
          <p:nvPr/>
        </p:nvSpPr>
        <p:spPr>
          <a:xfrm>
            <a:off x="502920" y="523300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36102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Три узла заявку довозят. Тема при этом будет какой угодно, срочности не будет вовсе — ручаться нечем. Разница между «работает» и «можно ручаться» здесь ровно в двух узлах: тот, что сверяет со списком, и тот, что показывает результат.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Заявки с несколькими темами</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заявке две темы, а в таблице одна.»</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половина заявки обслужена</a:t>
            </a:r>
          </a:p>
        </p:txBody>
      </p:sp>
      <p:sp>
        <p:nvSpPr>
          <p:cNvPr id="3" name="Rounded Rectangle 2"/>
          <p:cNvSpPr/>
          <p:nvPr/>
        </p:nvSpPr>
        <p:spPr>
          <a:xfrm>
            <a:off x="502920" y="106659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работает неделю. Ольга к нему привыкла: смотрит таблицу утром, звонит по срочным, остальное раскладывает после обеда. Жалоб нет.</a:t>
            </a:r>
          </a:p>
        </p:txBody>
      </p:sp>
      <p:sp>
        <p:nvSpPr>
          <p:cNvPr id="5" name="Rounded Rectangle 4"/>
          <p:cNvSpPr/>
          <p:nvPr/>
        </p:nvSpPr>
        <p:spPr>
          <a:xfrm>
            <a:off x="502920" y="228605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50550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50550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Вторник, 11:20. Приходит заявка: «можно перенести занятие со вторника? И подскажите, как оплатить».</a:t>
            </a:r>
          </a:p>
        </p:txBody>
      </p:sp>
      <p:sp>
        <p:nvSpPr>
          <p:cNvPr id="8" name="TextBox 7"/>
          <p:cNvSpPr txBox="1"/>
          <p:nvPr/>
        </p:nvSpPr>
        <p:spPr>
          <a:xfrm>
            <a:off x="722376" y="283583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283583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 таблице появляется строка: тема «перенос занятия», срочность «не указано». Всё заполнено, значение из списка, прогон зелёный.</a:t>
            </a:r>
          </a:p>
        </p:txBody>
      </p:sp>
      <p:sp>
        <p:nvSpPr>
          <p:cNvPr id="10" name="TextBox 9"/>
          <p:cNvSpPr txBox="1"/>
          <p:nvPr/>
        </p:nvSpPr>
        <p:spPr>
          <a:xfrm>
            <a:off x="722376" y="336847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36847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Ольга видит тему, переносит занятие, закрывает заявку. Делает ровно то, что написано в столбце.</a:t>
            </a:r>
          </a:p>
        </p:txBody>
      </p:sp>
      <p:sp>
        <p:nvSpPr>
          <p:cNvPr id="12" name="TextBox 11"/>
          <p:cNvSpPr txBox="1"/>
          <p:nvPr/>
        </p:nvSpPr>
        <p:spPr>
          <a:xfrm>
            <a:off x="722376" y="369879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69879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Пятница. Человек звонит сам: «а со счётом что?» Про оплату не узнал никто — ни таблица, ни журнал, ни экран результата о ней не сказали.</a:t>
            </a:r>
          </a:p>
        </p:txBody>
      </p:sp>
      <p:sp>
        <p:nvSpPr>
          <p:cNvPr id="14" name="Rounded Rectangle 13"/>
          <p:cNvSpPr/>
          <p:nvPr/>
        </p:nvSpPr>
        <p:spPr>
          <a:xfrm>
            <a:off x="502920" y="492358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5160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ошибка процесса.</a:t>
            </a:r>
            <a:r>
              <a:rPr sz="1500" b="1" i="0">
                <a:solidFill>
                  <a:srgbClr val="141B2E"/>
                </a:solidFill>
                <a:latin typeface="Arial"/>
              </a:rPr>
              <a:t> Мы обещали, что клетка не будет пустой и значение будет из списка, — обещание выполнено. Что в клетке окажется </a:t>
            </a:r>
            <a:r>
              <a:rPr sz="1500" b="1" i="0">
                <a:solidFill>
                  <a:srgbClr val="141B2E"/>
                </a:solidFill>
                <a:latin typeface="Arial"/>
              </a:rPr>
              <a:t>всё</a:t>
            </a:r>
            <a:r>
              <a:rPr sz="1500" b="1" i="0">
                <a:solidFill>
                  <a:srgbClr val="141B2E"/>
                </a:solidFill>
                <a:latin typeface="Arial"/>
              </a:rPr>
              <a:t>, что было в заявке, мы не обещали. Беда в том, что граница наших обещаний обнаружилась не на разборе, а в разговоре с клиентом — и ни один сторож не мог сработать, потому что формально всё в порядке.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корректируем устройство процесса</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корректируем устройство процесса?</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писать первую из найденных</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писать «не определено»</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две строки из одного письма</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расширять справочник всеми сочетаниями тем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способ</a:t>
            </a:r>
          </a:p>
        </p:txBody>
      </p:sp>
      <p:sp>
        <p:nvSpPr>
          <p:cNvPr id="3" name="Rounded Rectangle 2"/>
          <p:cNvSpPr/>
          <p:nvPr/>
        </p:nvSpPr>
        <p:spPr>
          <a:xfrm>
            <a:off x="502920" y="943356"/>
            <a:ext cx="11183112" cy="3065906"/>
          </a:xfrm>
          <a:prstGeom prst="roundRect">
            <a:avLst>
              <a:gd name="adj" fmla="val 99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0817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СПОСОБ</a:t>
            </a:r>
          </a:p>
        </p:txBody>
      </p:sp>
      <p:sp>
        <p:nvSpPr>
          <p:cNvPr id="5" name="TextBox 4"/>
          <p:cNvSpPr txBox="1"/>
          <p:nvPr/>
        </p:nvSpPr>
        <p:spPr>
          <a:xfrm>
            <a:off x="1840279" y="1126236"/>
            <a:ext cx="339142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5378005" y="1126236"/>
            <a:ext cx="5978842"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008175"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первую из найденных</a:t>
            </a:r>
          </a:p>
        </p:txBody>
      </p:sp>
      <p:sp>
        <p:nvSpPr>
          <p:cNvPr id="8" name="TextBox 7"/>
          <p:cNvSpPr txBox="1"/>
          <p:nvPr/>
        </p:nvSpPr>
        <p:spPr>
          <a:xfrm>
            <a:off x="1840279" y="1400810"/>
            <a:ext cx="339142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не меняет в процессе и не стоит ни минуты работы</a:t>
            </a:r>
          </a:p>
        </p:txBody>
      </p:sp>
      <p:sp>
        <p:nvSpPr>
          <p:cNvPr id="9" name="TextBox 8"/>
          <p:cNvSpPr txBox="1"/>
          <p:nvPr/>
        </p:nvSpPr>
        <p:spPr>
          <a:xfrm>
            <a:off x="5378005" y="1400810"/>
            <a:ext cx="597884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вторая тема не остаётся нигде: ни в таблице, ни в журнале, ни на экране. Через три дня о ней напомнит человек — это ровно то, что мы видели</a:t>
            </a:r>
          </a:p>
        </p:txBody>
      </p:sp>
      <p:cxnSp>
        <p:nvCxnSpPr>
          <p:cNvPr id="10" name="Connector 9"/>
          <p:cNvCxnSpPr/>
          <p:nvPr/>
        </p:nvCxnSpPr>
        <p:spPr>
          <a:xfrm>
            <a:off x="685800" y="18867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86712"/>
            <a:ext cx="1008175"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 определено»</a:t>
            </a:r>
          </a:p>
        </p:txBody>
      </p:sp>
      <p:sp>
        <p:nvSpPr>
          <p:cNvPr id="12" name="TextBox 11"/>
          <p:cNvSpPr txBox="1"/>
          <p:nvPr/>
        </p:nvSpPr>
        <p:spPr>
          <a:xfrm>
            <a:off x="1840279" y="1886712"/>
            <a:ext cx="339142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честно говорит «автоматика не справилась»: заявка видна и ждёт человека</a:t>
            </a:r>
          </a:p>
        </p:txBody>
      </p:sp>
      <p:sp>
        <p:nvSpPr>
          <p:cNvPr id="13" name="TextBox 12"/>
          <p:cNvSpPr txBox="1"/>
          <p:nvPr/>
        </p:nvSpPr>
        <p:spPr>
          <a:xfrm>
            <a:off x="5378005" y="1886712"/>
            <a:ext cx="597884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«не определено» валится и многотемье, и настоящая экзотика — очередь растёт, и уже не видно, что именно непонятно</a:t>
            </a:r>
          </a:p>
        </p:txBody>
      </p:sp>
      <p:cxnSp>
        <p:nvCxnSpPr>
          <p:cNvPr id="14" name="Connector 13"/>
          <p:cNvCxnSpPr/>
          <p:nvPr/>
        </p:nvCxnSpPr>
        <p:spPr>
          <a:xfrm>
            <a:off x="685800" y="23726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2614"/>
            <a:ext cx="1008175" cy="807211"/>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две строки из одного письма</a:t>
            </a:r>
          </a:p>
        </p:txBody>
      </p:sp>
      <p:sp>
        <p:nvSpPr>
          <p:cNvPr id="16" name="TextBox 15"/>
          <p:cNvSpPr txBox="1"/>
          <p:nvPr/>
        </p:nvSpPr>
        <p:spPr>
          <a:xfrm>
            <a:off x="1840279" y="2372614"/>
            <a:ext cx="3391421"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каждая тема получает свой маршрут и своего ответственного, закрывается независимо, сортировка по теме не ломается</a:t>
            </a:r>
          </a:p>
        </p:txBody>
      </p:sp>
      <p:sp>
        <p:nvSpPr>
          <p:cNvPr id="17" name="TextBox 16"/>
          <p:cNvSpPr txBox="1"/>
          <p:nvPr/>
        </p:nvSpPr>
        <p:spPr>
          <a:xfrm>
            <a:off x="5378005" y="2372614"/>
            <a:ext cx="5978842"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заявка превращается в две записи: надо решить, что считать выполненным, и не звонить человеку дважды</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9826"/>
            <a:ext cx="1008175" cy="64655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справочник всеми сочетаниями</a:t>
            </a:r>
          </a:p>
        </p:txBody>
      </p:sp>
      <p:sp>
        <p:nvSpPr>
          <p:cNvPr id="20" name="TextBox 19"/>
          <p:cNvSpPr txBox="1"/>
          <p:nvPr/>
        </p:nvSpPr>
        <p:spPr>
          <a:xfrm>
            <a:off x="1840279" y="3179826"/>
            <a:ext cx="3391421"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формально клетка остаётся одна, и ничего в процессе менять не надо</a:t>
            </a:r>
          </a:p>
        </p:txBody>
      </p:sp>
      <p:sp>
        <p:nvSpPr>
          <p:cNvPr id="21" name="TextBox 20"/>
          <p:cNvSpPr txBox="1"/>
          <p:nvPr/>
        </p:nvSpPr>
        <p:spPr>
          <a:xfrm>
            <a:off x="5378005" y="3179826"/>
            <a:ext cx="5978842"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число значений растёт как число сочетаний: четыре темы дают одиннадцать пар и троек. Сортировать по такому столбцу нельзя, и каждая новая тема удваивает справочник</a:t>
            </a:r>
          </a:p>
        </p:txBody>
      </p:sp>
      <p:sp>
        <p:nvSpPr>
          <p:cNvPr id="22" name="Rounded Rectangle 21"/>
          <p:cNvSpPr/>
          <p:nvPr/>
        </p:nvSpPr>
        <p:spPr>
          <a:xfrm>
            <a:off x="502920" y="4173855"/>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01871"/>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Поворот.</a:t>
            </a:r>
            <a:r>
              <a:rPr sz="1350" b="1" i="0">
                <a:solidFill>
                  <a:srgbClr val="141B2E"/>
                </a:solidFill>
                <a:latin typeface="Arial"/>
              </a:rPr>
              <a:t> Первый и второй различаются не точностью, а </a:t>
            </a:r>
            <a:r>
              <a:rPr sz="1350" b="1" i="0">
                <a:solidFill>
                  <a:srgbClr val="141B2E"/>
                </a:solidFill>
                <a:latin typeface="Arial"/>
              </a:rPr>
              <a:t>знанием о своём незнании</a:t>
            </a:r>
            <a:r>
              <a:rPr sz="1350" b="1" i="0">
                <a:solidFill>
                  <a:srgbClr val="141B2E"/>
                </a:solidFill>
                <a:latin typeface="Arial"/>
              </a:rPr>
              <a:t>. Первый уверен и неправ. Второй не знает — и говорит об этом вслух, в столбце. Второе дороже в разработке и дешевле в эксплуатации.</a:t>
            </a:r>
          </a:p>
        </p:txBody>
      </p:sp>
      <p:sp>
        <p:nvSpPr>
          <p:cNvPr id="24" name="Rounded Rectangle 23"/>
          <p:cNvSpPr/>
          <p:nvPr/>
        </p:nvSpPr>
        <p:spPr>
          <a:xfrm>
            <a:off x="502920" y="5037963"/>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165979"/>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Берём третий.</a:t>
            </a:r>
            <a:r>
              <a:rPr sz="1250" b="1" i="0">
                <a:solidFill>
                  <a:srgbClr val="141B2E"/>
                </a:solidFill>
                <a:latin typeface="Arial"/>
              </a:rPr>
              <a:t> Две строки — единственный способ, при котором обе темы получают маршрут и срок. Четвёртый ломается на арифметике сочетаний, второй годится, если очередь «не определено» кто-то разбирает, первый — молчаливая потеря.</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меняем в процессе</a:t>
            </a:r>
          </a:p>
        </p:txBody>
      </p:sp>
      <p:pic>
        <p:nvPicPr>
          <p:cNvPr id="3" name="Picture 2" descr="n8n-holst-2b.png"/>
          <p:cNvPicPr>
            <a:picLocks noChangeAspect="1"/>
          </p:cNvPicPr>
          <p:nvPr/>
        </p:nvPicPr>
        <p:blipFill>
          <a:blip r:embed="rId2"/>
          <a:stretch>
            <a:fillRect/>
          </a:stretch>
        </p:blipFill>
        <p:spPr>
          <a:xfrm>
            <a:off x="502920" y="1402357"/>
            <a:ext cx="11183112" cy="1408243"/>
          </a:xfrm>
          <a:prstGeom prst="rect">
            <a:avLst/>
          </a:prstGeom>
        </p:spPr>
      </p:pic>
      <p:sp>
        <p:nvSpPr>
          <p:cNvPr id="4" name="Rounded Rectangle 3"/>
          <p:cNvSpPr/>
          <p:nvPr/>
        </p:nvSpPr>
        <p:spPr>
          <a:xfrm>
            <a:off x="502920" y="347811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0612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модель, сверка, запись и экран результата остаются ровно такими, какими были. Новый узел стоит сразу после извлечения: </a:t>
            </a:r>
            <a:r>
              <a:rPr sz="1500" b="1" i="0">
                <a:solidFill>
                  <a:srgbClr val="141B2E"/>
                </a:solidFill>
                <a:latin typeface="Arial"/>
              </a:rPr>
              <a:t>Split topics</a:t>
            </a:r>
            <a:r>
              <a:rPr sz="1500" b="1" i="0">
                <a:solidFill>
                  <a:srgbClr val="141B2E"/>
                </a:solidFill>
                <a:latin typeface="Arial"/>
              </a:rPr>
              <a:t>.</a:t>
            </a:r>
          </a:p>
        </p:txBody>
      </p:sp>
      <p:sp>
        <p:nvSpPr>
          <p:cNvPr id="6" name="Rounded Rectangle 5"/>
          <p:cNvSpPr/>
          <p:nvPr/>
        </p:nvSpPr>
        <p:spPr>
          <a:xfrm>
            <a:off x="502920" y="489238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02040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записи не меняется вовсе — и всё-таки пишет две строки вместо одной. Почему, разберём на следующем экране: это не свойство узла, а свойство того, как в n8n ходят данные.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расщепляется запись</a:t>
            </a:r>
          </a:p>
        </p:txBody>
      </p:sp>
      <p:pic>
        <p:nvPicPr>
          <p:cNvPr id="3" name="Picture 2" descr="teoriya-dannye-spiskom.png"/>
          <p:cNvPicPr>
            <a:picLocks noChangeAspect="1"/>
          </p:cNvPicPr>
          <p:nvPr/>
        </p:nvPicPr>
        <p:blipFill>
          <a:blip r:embed="rId2"/>
          <a:stretch>
            <a:fillRect/>
          </a:stretch>
        </p:blipFill>
        <p:spPr>
          <a:xfrm>
            <a:off x="907800" y="943356"/>
            <a:ext cx="10373350" cy="2593337"/>
          </a:xfrm>
          <a:prstGeom prst="rect">
            <a:avLst/>
          </a:prstGeom>
        </p:spPr>
      </p:pic>
      <p:sp>
        <p:nvSpPr>
          <p:cNvPr id="4" name="Rounded Rectangle 3"/>
          <p:cNvSpPr/>
          <p:nvPr/>
        </p:nvSpPr>
        <p:spPr>
          <a:xfrm>
            <a:off x="502920" y="3701285"/>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29301"/>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Модель данных.</a:t>
            </a:r>
            <a:r>
              <a:rPr sz="1300" b="1" i="0">
                <a:solidFill>
                  <a:srgbClr val="141B2E"/>
                </a:solidFill>
                <a:latin typeface="Arial"/>
              </a:rPr>
              <a:t> Каждый элемент — объект с обязательной обёрткой </a:t>
            </a:r>
            <a:r>
              <a:rPr sz="1300" b="1" i="0">
                <a:solidFill>
                  <a:srgbClr val="141B2E"/>
                </a:solidFill>
                <a:latin typeface="Consolas"/>
              </a:rPr>
              <a:t>json</a:t>
            </a:r>
            <a:r>
              <a:rPr sz="1300" b="1" i="0">
                <a:solidFill>
                  <a:srgbClr val="141B2E"/>
                </a:solidFill>
                <a:latin typeface="Arial"/>
              </a:rPr>
              <a:t>, поэтому в выражениях везде </a:t>
            </a:r>
            <a:r>
              <a:rPr sz="1300" b="1" i="0">
                <a:solidFill>
                  <a:srgbClr val="141B2E"/>
                </a:solidFill>
                <a:latin typeface="Consolas"/>
              </a:rPr>
              <a:t>$json.поле</a:t>
            </a:r>
            <a:r>
              <a:rPr sz="1300" b="1" i="0">
                <a:solidFill>
                  <a:srgbClr val="141B2E"/>
                </a:solidFill>
                <a:latin typeface="Arial"/>
              </a:rPr>
              <a:t>. В кейсе 1 список всегда состоял из одного элемента, и это было незаметно.</a:t>
            </a:r>
          </a:p>
        </p:txBody>
      </p:sp>
      <p:sp>
        <p:nvSpPr>
          <p:cNvPr id="6" name="Rounded Rectangle 5"/>
          <p:cNvSpPr/>
          <p:nvPr/>
        </p:nvSpPr>
        <p:spPr>
          <a:xfrm>
            <a:off x="502920" y="4549645"/>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77661"/>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делает узел расщепления.</a:t>
            </a:r>
            <a:r>
              <a:rPr sz="1300" b="1" i="0">
                <a:solidFill>
                  <a:srgbClr val="141B2E"/>
                </a:solidFill>
                <a:latin typeface="Arial"/>
              </a:rPr>
              <a:t> Берёт поле-массив — у нас это список тем — и превращает </a:t>
            </a:r>
            <a:r>
              <a:rPr sz="1300" b="1" i="0">
                <a:solidFill>
                  <a:srgbClr val="141B2E"/>
                </a:solidFill>
                <a:latin typeface="Arial"/>
              </a:rPr>
              <a:t>один элемент со списком из двух тем</a:t>
            </a:r>
            <a:r>
              <a:rPr sz="1300" b="1" i="0">
                <a:solidFill>
                  <a:srgbClr val="141B2E"/>
                </a:solidFill>
                <a:latin typeface="Arial"/>
              </a:rPr>
              <a:t> в </a:t>
            </a:r>
            <a:r>
              <a:rPr sz="1300" b="1" i="0">
                <a:solidFill>
                  <a:srgbClr val="141B2E"/>
                </a:solidFill>
                <a:latin typeface="Arial"/>
              </a:rPr>
              <a:t>два элемента по одной теме</a:t>
            </a:r>
            <a:r>
              <a:rPr sz="1300" b="1" i="0">
                <a:solidFill>
                  <a:srgbClr val="141B2E"/>
                </a:solidFill>
                <a:latin typeface="Arial"/>
              </a:rPr>
              <a:t>. Остальные поля копируются в оба.</a:t>
            </a:r>
          </a:p>
        </p:txBody>
      </p:sp>
      <p:sp>
        <p:nvSpPr>
          <p:cNvPr id="8" name="Rounded Rectangle 7"/>
          <p:cNvSpPr/>
          <p:nvPr/>
        </p:nvSpPr>
        <p:spPr>
          <a:xfrm>
            <a:off x="502920" y="5398005"/>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526021"/>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Дальше не меняется ничего.</a:t>
            </a:r>
            <a:r>
              <a:rPr sz="1300" b="1" i="0">
                <a:solidFill>
                  <a:srgbClr val="141B2E"/>
                </a:solidFill>
                <a:latin typeface="Arial"/>
              </a:rPr>
              <a:t> Сверка срабатывает дважды, запись срабатывает дважды — не потому, что их переписали, а потому, что элементов стало два. Отсюда же известная беда: </a:t>
            </a:r>
            <a:r>
              <a:rPr sz="1300" b="1" i="0">
                <a:solidFill>
                  <a:srgbClr val="141B2E"/>
                </a:solidFill>
                <a:latin typeface="Arial"/>
              </a:rPr>
              <a:t>пять писем вместо одного</a:t>
            </a:r>
            <a:r>
              <a:rPr sz="1300" b="1" i="0">
                <a:solidFill>
                  <a:srgbClr val="141B2E"/>
                </a:solidFill>
                <a:latin typeface="Arial"/>
              </a:rPr>
              <a:t>, когда узел отправки сработал на каждом элементе и ни у кого не спросил.</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получилось в таблице</a:t>
            </a:r>
          </a:p>
        </p:txBody>
      </p:sp>
      <p:pic>
        <p:nvPicPr>
          <p:cNvPr id="3" name="Picture 2" descr="n8n-razbitye-stroki.png"/>
          <p:cNvPicPr>
            <a:picLocks noChangeAspect="1"/>
          </p:cNvPicPr>
          <p:nvPr/>
        </p:nvPicPr>
        <p:blipFill>
          <a:blip r:embed="rId2"/>
          <a:stretch>
            <a:fillRect/>
          </a:stretch>
        </p:blipFill>
        <p:spPr>
          <a:xfrm>
            <a:off x="502920" y="1092136"/>
            <a:ext cx="11183112" cy="926208"/>
          </a:xfrm>
          <a:prstGeom prst="rect">
            <a:avLst/>
          </a:prstGeom>
        </p:spPr>
      </p:pic>
      <p:sp>
        <p:nvSpPr>
          <p:cNvPr id="4" name="Rounded Rectangle 3"/>
          <p:cNvSpPr/>
          <p:nvPr/>
        </p:nvSpPr>
        <p:spPr>
          <a:xfrm>
            <a:off x="502920" y="255488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268290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Строки </a:t>
            </a:r>
            <a:r>
              <a:rPr sz="1500" b="1" i="0">
                <a:solidFill>
                  <a:srgbClr val="141B2E"/>
                </a:solidFill>
                <a:latin typeface="Arial"/>
              </a:rPr>
              <a:t>19</a:t>
            </a:r>
            <a:r>
              <a:rPr sz="1500" b="1" i="0">
                <a:solidFill>
                  <a:srgbClr val="141B2E"/>
                </a:solidFill>
                <a:latin typeface="Arial"/>
              </a:rPr>
              <a:t> и </a:t>
            </a:r>
            <a:r>
              <a:rPr sz="1500" b="1" i="0">
                <a:solidFill>
                  <a:srgbClr val="141B2E"/>
                </a:solidFill>
                <a:latin typeface="Arial"/>
              </a:rPr>
              <a:t>20</a:t>
            </a:r>
            <a:r>
              <a:rPr sz="1500" b="1" i="0">
                <a:solidFill>
                  <a:srgbClr val="141B2E"/>
                </a:solidFill>
                <a:latin typeface="Arial"/>
              </a:rPr>
              <a:t>: тот же текст, тот же контакт, та же секунда. Разные темы — </a:t>
            </a:r>
            <a:r>
              <a:rPr sz="1500" b="1" i="0">
                <a:solidFill>
                  <a:srgbClr val="141B2E"/>
                </a:solidFill>
                <a:latin typeface="Consolas"/>
              </a:rPr>
              <a:t>перенос</a:t>
            </a:r>
            <a:r>
              <a:rPr sz="1500" b="1" i="0">
                <a:solidFill>
                  <a:srgbClr val="141B2E"/>
                </a:solidFill>
                <a:latin typeface="Arial"/>
              </a:rPr>
              <a:t> </a:t>
            </a:r>
            <a:r>
              <a:rPr sz="1500" b="1" i="0">
                <a:solidFill>
                  <a:srgbClr val="141B2E"/>
                </a:solidFill>
                <a:latin typeface="Consolas"/>
              </a:rPr>
              <a:t>занятия</a:t>
            </a:r>
            <a:r>
              <a:rPr sz="1500" b="1" i="0">
                <a:solidFill>
                  <a:srgbClr val="141B2E"/>
                </a:solidFill>
                <a:latin typeface="Arial"/>
              </a:rPr>
              <a:t> и </a:t>
            </a:r>
            <a:r>
              <a:rPr sz="1500" b="1" i="0">
                <a:solidFill>
                  <a:srgbClr val="141B2E"/>
                </a:solidFill>
                <a:latin typeface="Consolas"/>
              </a:rPr>
              <a:t>оплата</a:t>
            </a:r>
            <a:r>
              <a:rPr sz="1500" b="1" i="0">
                <a:solidFill>
                  <a:srgbClr val="141B2E"/>
                </a:solidFill>
                <a:latin typeface="Arial"/>
              </a:rPr>
              <a:t>.</a:t>
            </a:r>
          </a:p>
        </p:txBody>
      </p:sp>
      <p:sp>
        <p:nvSpPr>
          <p:cNvPr id="6" name="Rounded Rectangle 5"/>
          <p:cNvSpPr/>
          <p:nvPr/>
        </p:nvSpPr>
        <p:spPr>
          <a:xfrm>
            <a:off x="502920" y="383819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96620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это даёт Ольге.</a:t>
            </a:r>
            <a:r>
              <a:rPr sz="1500" b="1" i="0">
                <a:solidFill>
                  <a:srgbClr val="141B2E"/>
                </a:solidFill>
                <a:latin typeface="Arial"/>
              </a:rPr>
              <a:t> Переносом занимается расписание, оплатой бухгалтерия. Каждая строка закрывается своим человеком и в свой срок; ни одна не ждёт, пока разберутся с другой.</a:t>
            </a:r>
          </a:p>
        </p:txBody>
      </p:sp>
      <p:sp>
        <p:nvSpPr>
          <p:cNvPr id="8" name="Rounded Rectangle 7"/>
          <p:cNvSpPr/>
          <p:nvPr/>
        </p:nvSpPr>
        <p:spPr>
          <a:xfrm>
            <a:off x="502920" y="51214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495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платим.</a:t>
            </a:r>
            <a:r>
              <a:rPr sz="1500" b="1" i="0">
                <a:solidFill>
                  <a:srgbClr val="141B2E"/>
                </a:solidFill>
                <a:latin typeface="Arial"/>
              </a:rPr>
              <a:t> Одна заявка — две записи. Нужно решить, что считать выполненной заявкой, и не позвонить человеку дважды по одному письму. Это вопрос не к процессу, а к договорённости в команде, и решить его придётся до запуска.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человек</a:t>
            </a:r>
          </a:p>
        </p:txBody>
      </p:sp>
      <p:pic>
        <p:nvPicPr>
          <p:cNvPr id="3" name="Picture 2" descr="n8n-split-rezultat.png"/>
          <p:cNvPicPr>
            <a:picLocks noChangeAspect="1"/>
          </p:cNvPicPr>
          <p:nvPr/>
        </p:nvPicPr>
        <p:blipFill>
          <a:blip r:embed="rId2"/>
          <a:stretch>
            <a:fillRect/>
          </a:stretch>
        </p:blipFill>
        <p:spPr>
          <a:xfrm>
            <a:off x="4120093" y="943356"/>
            <a:ext cx="3948765" cy="3830302"/>
          </a:xfrm>
          <a:prstGeom prst="rect">
            <a:avLst/>
          </a:prstGeom>
        </p:spPr>
      </p:pic>
      <p:sp>
        <p:nvSpPr>
          <p:cNvPr id="4" name="Rounded Rectangle 3"/>
          <p:cNvSpPr/>
          <p:nvPr/>
        </p:nvSpPr>
        <p:spPr>
          <a:xfrm>
            <a:off x="502920" y="4938250"/>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66266"/>
            <a:ext cx="10643616" cy="238759"/>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Счётчик — проверка, а не украшение.</a:t>
            </a:r>
            <a:r>
              <a:rPr sz="1400" b="1" i="0">
                <a:solidFill>
                  <a:srgbClr val="141B2E"/>
                </a:solidFill>
                <a:latin typeface="Arial"/>
              </a:rPr>
              <a:t> «Тем две, а строка одна» видно сразу, без журнала.</a:t>
            </a:r>
          </a:p>
        </p:txBody>
      </p:sp>
      <p:sp>
        <p:nvSpPr>
          <p:cNvPr id="6" name="Rounded Rectangle 5"/>
          <p:cNvSpPr/>
          <p:nvPr/>
        </p:nvSpPr>
        <p:spPr>
          <a:xfrm>
            <a:off x="502920" y="559763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2565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Если шаг размножает или схлопывает записи — покажите число до и после.</a:t>
            </a:r>
            <a:r>
              <a:rPr sz="1400" b="1" i="0">
                <a:solidFill>
                  <a:srgbClr val="141B2E"/>
                </a:solidFill>
                <a:latin typeface="Arial"/>
              </a:rPr>
              <a:t> Тихая потеря половины данных выглядит как успешная работа.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запись расщепляют</a:t>
            </a:r>
          </a:p>
        </p:txBody>
      </p:sp>
      <p:sp>
        <p:nvSpPr>
          <p:cNvPr id="3" name="Rounded Rectangle 2"/>
          <p:cNvSpPr/>
          <p:nvPr/>
        </p:nvSpPr>
        <p:spPr>
          <a:xfrm>
            <a:off x="502920" y="1040773"/>
            <a:ext cx="5454396" cy="2358517"/>
          </a:xfrm>
          <a:prstGeom prst="roundRect">
            <a:avLst>
              <a:gd name="adj" fmla="val 1292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501"/>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РАСЩЕПЛЯТЬ НУЖНО</a:t>
            </a:r>
          </a:p>
        </p:txBody>
      </p:sp>
      <p:sp>
        <p:nvSpPr>
          <p:cNvPr id="5" name="TextBox 4"/>
          <p:cNvSpPr txBox="1"/>
          <p:nvPr/>
        </p:nvSpPr>
        <p:spPr>
          <a:xfrm>
            <a:off x="685800" y="142482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частей разные исполнители или разные сроки — перенос в расписание, оплата в бухгалтерию</a:t>
            </a:r>
          </a:p>
        </p:txBody>
      </p:sp>
      <p:cxnSp>
        <p:nvCxnSpPr>
          <p:cNvPr id="6" name="Connector 5"/>
          <p:cNvCxnSpPr/>
          <p:nvPr/>
        </p:nvCxnSpPr>
        <p:spPr>
          <a:xfrm>
            <a:off x="685800" y="19158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91580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 этому столбцу сортируют или маршрутизируют, и смешанное значение ломает сортировку</a:t>
            </a:r>
          </a:p>
        </p:txBody>
      </p:sp>
      <p:cxnSp>
        <p:nvCxnSpPr>
          <p:cNvPr id="8" name="Connector 7"/>
          <p:cNvCxnSpPr/>
          <p:nvPr/>
        </p:nvCxnSpPr>
        <p:spPr>
          <a:xfrm>
            <a:off x="685800" y="240678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678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части закрываются независимо, и одна не должна ждать другую</a:t>
            </a:r>
          </a:p>
        </p:txBody>
      </p:sp>
      <p:cxnSp>
        <p:nvCxnSpPr>
          <p:cNvPr id="10" name="Connector 9"/>
          <p:cNvCxnSpPr/>
          <p:nvPr/>
        </p:nvCxnSpPr>
        <p:spPr>
          <a:xfrm>
            <a:off x="685800" y="28977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9776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потеря части дороже, чем двойной учёт</a:t>
            </a:r>
          </a:p>
        </p:txBody>
      </p:sp>
      <p:sp>
        <p:nvSpPr>
          <p:cNvPr id="12" name="Rounded Rectangle 11"/>
          <p:cNvSpPr/>
          <p:nvPr/>
        </p:nvSpPr>
        <p:spPr>
          <a:xfrm>
            <a:off x="6231636" y="1040773"/>
            <a:ext cx="5454396" cy="2358517"/>
          </a:xfrm>
          <a:prstGeom prst="roundRect">
            <a:avLst>
              <a:gd name="adj" fmla="val 1292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50501"/>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РАСЩЕПЛЯТЬ НЕ НУЖНО</a:t>
            </a:r>
          </a:p>
        </p:txBody>
      </p:sp>
      <p:sp>
        <p:nvSpPr>
          <p:cNvPr id="14" name="TextBox 13"/>
          <p:cNvSpPr txBox="1"/>
          <p:nvPr/>
        </p:nvSpPr>
        <p:spPr>
          <a:xfrm>
            <a:off x="6414516" y="142482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части делает один человек за один раз: дробление только добавит ему работы</a:t>
            </a:r>
          </a:p>
        </p:txBody>
      </p:sp>
      <p:cxnSp>
        <p:nvCxnSpPr>
          <p:cNvPr id="15" name="Connector 14"/>
          <p:cNvCxnSpPr/>
          <p:nvPr/>
        </p:nvCxnSpPr>
        <p:spPr>
          <a:xfrm>
            <a:off x="6414516" y="19158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1580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столбец читает глазами человек — он поймёт «перенос и оплата» в одной клетке</a:t>
            </a:r>
          </a:p>
        </p:txBody>
      </p:sp>
      <p:cxnSp>
        <p:nvCxnSpPr>
          <p:cNvPr id="17" name="Connector 16"/>
          <p:cNvCxnSpPr/>
          <p:nvPr/>
        </p:nvCxnSpPr>
        <p:spPr>
          <a:xfrm>
            <a:off x="6414516" y="240678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0678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заявка имеет смысл только целиком: половина отгрузки — не отгрузка</a:t>
            </a:r>
          </a:p>
        </p:txBody>
      </p:sp>
      <p:cxnSp>
        <p:nvCxnSpPr>
          <p:cNvPr id="19" name="Connector 18"/>
          <p:cNvCxnSpPr/>
          <p:nvPr/>
        </p:nvCxnSpPr>
        <p:spPr>
          <a:xfrm>
            <a:off x="6414516" y="28977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9776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двойной звонок клиенту дороже, чем задержка по второй теме</a:t>
            </a:r>
          </a:p>
        </p:txBody>
      </p:sp>
      <p:sp>
        <p:nvSpPr>
          <p:cNvPr id="21" name="Rounded Rectangle 20"/>
          <p:cNvSpPr/>
          <p:nvPr/>
        </p:nvSpPr>
        <p:spPr>
          <a:xfrm>
            <a:off x="502920" y="38074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93544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Предел: учёт без договорённости.</a:t>
            </a:r>
            <a:r>
              <a:rPr sz="1500" b="1" i="0">
                <a:solidFill>
                  <a:srgbClr val="141B2E"/>
                </a:solidFill>
                <a:latin typeface="Arial"/>
              </a:rPr>
              <a:t> Расщепление создаёт вопрос «что считать выполненной заявкой», и ответ на него процесс дать не может — его даёт команда. Две строки без такой договорённости хуже одной: по ним нельзя ни отчитаться, ни понять, кто кому звонит.</a:t>
            </a:r>
          </a:p>
        </p:txBody>
      </p:sp>
      <p:sp>
        <p:nvSpPr>
          <p:cNvPr id="23" name="Rounded Rectangle 22"/>
          <p:cNvSpPr/>
          <p:nvPr/>
        </p:nvSpPr>
        <p:spPr>
          <a:xfrm>
            <a:off x="502920" y="519854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32655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 закрыта.</a:t>
            </a:r>
            <a:r>
              <a:rPr sz="1500" b="1" i="0">
                <a:solidFill>
                  <a:srgbClr val="141B2E"/>
                </a:solidFill>
                <a:latin typeface="Arial"/>
              </a:rPr>
              <a:t> Клетка заполнена, значение законное — и это выглядит успехом. Чем оказалось: </a:t>
            </a:r>
            <a:r>
              <a:rPr sz="1500" b="1" i="0">
                <a:solidFill>
                  <a:srgbClr val="141B2E"/>
                </a:solidFill>
                <a:latin typeface="Arial"/>
              </a:rPr>
              <a:t>в заявке было две темы, а записали одну, и вторая не осталась нигде</a:t>
            </a:r>
            <a:r>
              <a:rPr sz="1500" b="1" i="0">
                <a:solidFill>
                  <a:srgbClr val="141B2E"/>
                </a:solidFill>
                <a:latin typeface="Arial"/>
              </a:rPr>
              <a:t> — ни в таблице, ни в журнале, ни на экране.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Отказ модели</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Пятница заполнена, понедельник заполнен, выходных в таблице нет вовсе.</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произошло за выходные</a:t>
            </a:r>
          </a:p>
        </p:txBody>
      </p:sp>
      <p:sp>
        <p:nvSpPr>
          <p:cNvPr id="3" name="Rounded Rectangle 2"/>
          <p:cNvSpPr/>
          <p:nvPr/>
        </p:nvSpPr>
        <p:spPr>
          <a:xfrm>
            <a:off x="502920" y="118064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308658"/>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работает три недели. Ольга смотрит таблицу утром. В пятницу вечером всё было как обычно.</a:t>
            </a:r>
          </a:p>
        </p:txBody>
      </p:sp>
      <p:sp>
        <p:nvSpPr>
          <p:cNvPr id="5" name="Rounded Rectangle 4"/>
          <p:cNvSpPr/>
          <p:nvPr/>
        </p:nvSpPr>
        <p:spPr>
          <a:xfrm>
            <a:off x="502920" y="2358694"/>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578150"/>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57815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9:00. Ольга открывает таблицу — по другому делу, посмотреть вчерашние заявки.</a:t>
            </a:r>
          </a:p>
        </p:txBody>
      </p:sp>
      <p:sp>
        <p:nvSpPr>
          <p:cNvPr id="8" name="TextBox 7"/>
          <p:cNvSpPr txBox="1"/>
          <p:nvPr/>
        </p:nvSpPr>
        <p:spPr>
          <a:xfrm>
            <a:off x="722376" y="2908477"/>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2908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Видит: строки за пятницу есть, строки за понедельник есть. </a:t>
            </a:r>
            <a:r>
              <a:rPr sz="1350" b="1" i="0">
                <a:solidFill>
                  <a:srgbClr val="141B2E"/>
                </a:solidFill>
                <a:latin typeface="Arial"/>
              </a:rPr>
              <a:t>За субботу и воскресенье — ни одной.</a:t>
            </a:r>
          </a:p>
        </p:txBody>
      </p:sp>
      <p:sp>
        <p:nvSpPr>
          <p:cNvPr id="10" name="TextBox 9"/>
          <p:cNvSpPr txBox="1"/>
          <p:nvPr/>
        </p:nvSpPr>
        <p:spPr>
          <a:xfrm>
            <a:off x="722376" y="323880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23880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Письма об ошибке никто не получал. И это ничего не значит: кому его отправлять, никто не настраивал.</a:t>
            </a:r>
          </a:p>
        </p:txBody>
      </p:sp>
      <p:sp>
        <p:nvSpPr>
          <p:cNvPr id="12" name="TextBox 11"/>
          <p:cNvSpPr txBox="1"/>
          <p:nvPr/>
        </p:nvSpPr>
        <p:spPr>
          <a:xfrm>
            <a:off x="722376" y="356913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56913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всё это время был опубликован и включён. Падал ли он на каждой заявке, на части или писал не туда — неизвестно.</a:t>
            </a:r>
          </a:p>
        </p:txBody>
      </p:sp>
      <p:sp>
        <p:nvSpPr>
          <p:cNvPr id="14" name="Rounded Rectangle 13"/>
          <p:cNvSpPr/>
          <p:nvPr/>
        </p:nvSpPr>
        <p:spPr>
          <a:xfrm>
            <a:off x="502920" y="49887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167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Ни один сторож не сработал, и не мог.</a:t>
            </a:r>
            <a:r>
              <a:rPr sz="1500" b="1" i="0">
                <a:solidFill>
                  <a:srgbClr val="141B2E"/>
                </a:solidFill>
                <a:latin typeface="Arial"/>
              </a:rPr>
              <a:t> Сторожа срабатывают на ошибки, а здесь нет ошибок — здесь </a:t>
            </a:r>
            <a:r>
              <a:rPr sz="1500" b="1" i="0">
                <a:solidFill>
                  <a:srgbClr val="141B2E"/>
                </a:solidFill>
                <a:latin typeface="Arial"/>
              </a:rPr>
              <a:t>нет записей</a:t>
            </a:r>
            <a:r>
              <a:rPr sz="1500" b="1" i="0">
                <a:solidFill>
                  <a:srgbClr val="141B2E"/>
                </a:solidFill>
                <a:latin typeface="Arial"/>
              </a:rPr>
              <a:t>. На отсутствие чего-то сработать нечем. Заметили случайно: Ольга зашла в таблицу по другому поводу. Сколько бы это продолжалось иначе — тоже неизвестно.</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Поведение узла при неудачном вызове</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должен делать узел, когда вызов не удался?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остановить весь процесс</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пропустить и идти дальше</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повторить</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отдельная ветка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каждая настройка</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24254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НАСТРОЙКА УЗЛА</a:t>
            </a:r>
          </a:p>
        </p:txBody>
      </p:sp>
      <p:sp>
        <p:nvSpPr>
          <p:cNvPr id="5" name="TextBox 4"/>
          <p:cNvSpPr txBox="1"/>
          <p:nvPr/>
        </p:nvSpPr>
        <p:spPr>
          <a:xfrm>
            <a:off x="3257523" y="2246299"/>
            <a:ext cx="3758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ПОВЕДЕНИЕ</a:t>
            </a:r>
          </a:p>
        </p:txBody>
      </p:sp>
      <p:sp>
        <p:nvSpPr>
          <p:cNvPr id="6" name="TextBox 5"/>
          <p:cNvSpPr txBox="1"/>
          <p:nvPr/>
        </p:nvSpPr>
        <p:spPr>
          <a:xfrm>
            <a:off x="7162737" y="2246299"/>
            <a:ext cx="4194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УМЕСТНО</a:t>
            </a:r>
          </a:p>
        </p:txBody>
      </p:sp>
      <p:sp>
        <p:nvSpPr>
          <p:cNvPr id="7" name="TextBox 6"/>
          <p:cNvSpPr txBox="1"/>
          <p:nvPr/>
        </p:nvSpPr>
        <p:spPr>
          <a:xfrm>
            <a:off x="685800" y="2528366"/>
            <a:ext cx="242541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On Error = Stop Workflow</a:t>
            </a:r>
            <a:r>
              <a:rPr sz="1250" b="0" i="0">
                <a:solidFill>
                  <a:srgbClr val="141B2E"/>
                </a:solidFill>
                <a:latin typeface="Arial"/>
              </a:rPr>
              <a:t> (по умолчанию)</a:t>
            </a:r>
          </a:p>
        </p:txBody>
      </p:sp>
      <p:sp>
        <p:nvSpPr>
          <p:cNvPr id="8" name="TextBox 7"/>
          <p:cNvSpPr txBox="1"/>
          <p:nvPr/>
        </p:nvSpPr>
        <p:spPr>
          <a:xfrm>
            <a:off x="3257523" y="2528366"/>
            <a:ext cx="3758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падает целиком, дальше ничего не идёт</a:t>
            </a:r>
          </a:p>
        </p:txBody>
      </p:sp>
      <p:sp>
        <p:nvSpPr>
          <p:cNvPr id="9" name="TextBox 8"/>
          <p:cNvSpPr txBox="1"/>
          <p:nvPr/>
        </p:nvSpPr>
        <p:spPr>
          <a:xfrm>
            <a:off x="7162737" y="2528366"/>
            <a:ext cx="41941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следующий шаг необратим и дорог: счёт, письмо клиенту, платёж</a:t>
            </a:r>
          </a:p>
        </p:txBody>
      </p:sp>
      <p:cxnSp>
        <p:nvCxnSpPr>
          <p:cNvPr id="10" name="Connector 9"/>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58083"/>
            <a:ext cx="24254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Error = Continue</a:t>
            </a:r>
          </a:p>
        </p:txBody>
      </p:sp>
      <p:sp>
        <p:nvSpPr>
          <p:cNvPr id="12" name="TextBox 11"/>
          <p:cNvSpPr txBox="1"/>
          <p:nvPr/>
        </p:nvSpPr>
        <p:spPr>
          <a:xfrm>
            <a:off x="3257523" y="3058083"/>
            <a:ext cx="3758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ошибки идёт дальше </a:t>
            </a:r>
            <a:r>
              <a:rPr sz="1250" b="1" i="0">
                <a:solidFill>
                  <a:srgbClr val="141B2E"/>
                </a:solidFill>
                <a:latin typeface="Arial"/>
              </a:rPr>
              <a:t>как обычные данные</a:t>
            </a:r>
          </a:p>
        </p:txBody>
      </p:sp>
      <p:sp>
        <p:nvSpPr>
          <p:cNvPr id="13" name="TextBox 12"/>
          <p:cNvSpPr txBox="1"/>
          <p:nvPr/>
        </p:nvSpPr>
        <p:spPr>
          <a:xfrm>
            <a:off x="7162737" y="3058083"/>
            <a:ext cx="41941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почти никогда: ошибка молча доедет до таблицы</a:t>
            </a:r>
          </a:p>
        </p:txBody>
      </p:sp>
      <p:cxnSp>
        <p:nvCxnSpPr>
          <p:cNvPr id="14" name="Connector 13"/>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87800"/>
            <a:ext cx="242541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On Error = Continue (using error output)</a:t>
            </a:r>
          </a:p>
        </p:txBody>
      </p:sp>
      <p:sp>
        <p:nvSpPr>
          <p:cNvPr id="16" name="TextBox 15"/>
          <p:cNvSpPr txBox="1"/>
          <p:nvPr/>
        </p:nvSpPr>
        <p:spPr>
          <a:xfrm>
            <a:off x="3257523" y="3587800"/>
            <a:ext cx="3758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элемент уходит в отдельный выход </a:t>
            </a:r>
            <a:r>
              <a:rPr sz="1250" b="0" i="0">
                <a:solidFill>
                  <a:srgbClr val="141B2E"/>
                </a:solidFill>
                <a:latin typeface="Consolas"/>
              </a:rPr>
              <a:t>error</a:t>
            </a:r>
          </a:p>
        </p:txBody>
      </p:sp>
      <p:sp>
        <p:nvSpPr>
          <p:cNvPr id="17" name="TextBox 16"/>
          <p:cNvSpPr txBox="1"/>
          <p:nvPr/>
        </p:nvSpPr>
        <p:spPr>
          <a:xfrm>
            <a:off x="7162737" y="3587800"/>
            <a:ext cx="41941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разбирать отказы своей веткой</a:t>
            </a:r>
          </a:p>
        </p:txBody>
      </p:sp>
      <p:cxnSp>
        <p:nvCxnSpPr>
          <p:cNvPr id="18" name="Connector 17"/>
          <p:cNvCxnSpPr/>
          <p:nvPr/>
        </p:nvCxnSpPr>
        <p:spPr>
          <a:xfrm>
            <a:off x="685800" y="41175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117517"/>
            <a:ext cx="2425419"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Retry On Fail</a:t>
            </a:r>
          </a:p>
        </p:txBody>
      </p:sp>
      <p:sp>
        <p:nvSpPr>
          <p:cNvPr id="20" name="TextBox 19"/>
          <p:cNvSpPr txBox="1"/>
          <p:nvPr/>
        </p:nvSpPr>
        <p:spPr>
          <a:xfrm>
            <a:off x="3257523" y="4117517"/>
            <a:ext cx="3758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повтор N раз, затем одно из трёх выше</a:t>
            </a:r>
          </a:p>
        </p:txBody>
      </p:sp>
      <p:sp>
        <p:nvSpPr>
          <p:cNvPr id="21" name="TextBox 20"/>
          <p:cNvSpPr txBox="1"/>
          <p:nvPr/>
        </p:nvSpPr>
        <p:spPr>
          <a:xfrm>
            <a:off x="7162737" y="4117517"/>
            <a:ext cx="4194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сетевые отказы, таймауты, лимиты провайдера</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веткой отказа</a:t>
            </a:r>
          </a:p>
        </p:txBody>
      </p:sp>
      <p:pic>
        <p:nvPicPr>
          <p:cNvPr id="3" name="Picture 2" descr="obzor-k3.png"/>
          <p:cNvPicPr>
            <a:picLocks noChangeAspect="1"/>
          </p:cNvPicPr>
          <p:nvPr/>
        </p:nvPicPr>
        <p:blipFill>
          <a:blip r:embed="rId2"/>
          <a:stretch>
            <a:fillRect/>
          </a:stretch>
        </p:blipFill>
        <p:spPr>
          <a:xfrm>
            <a:off x="2092964" y="1051560"/>
            <a:ext cx="8003023"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Заметьте: повтор виден </a:t>
            </a:r>
            <a:r>
              <a:rPr sz="1500" b="1" i="0">
                <a:solidFill>
                  <a:srgbClr val="141B2E"/>
                </a:solidFill>
                <a:latin typeface="Arial"/>
              </a:rPr>
              <a:t>снаружи</a:t>
            </a:r>
            <a:r>
              <a:rPr sz="1500" b="1" i="0">
                <a:solidFill>
                  <a:srgbClr val="141B2E"/>
                </a:solidFill>
                <a:latin typeface="Arial"/>
              </a:rPr>
              <a:t>, значком на самом узле. Большинство настроек так не видно — за ними надо открывать карточку.</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 попыток и ветка отказа</a:t>
            </a:r>
          </a:p>
        </p:txBody>
      </p:sp>
      <p:pic>
        <p:nvPicPr>
          <p:cNvPr id="3" name="Picture 2" descr="n8n-holst-vetka-otkaza.png"/>
          <p:cNvPicPr>
            <a:picLocks noChangeAspect="1"/>
          </p:cNvPicPr>
          <p:nvPr/>
        </p:nvPicPr>
        <p:blipFill>
          <a:blip r:embed="rId2"/>
          <a:stretch>
            <a:fillRect/>
          </a:stretch>
        </p:blipFill>
        <p:spPr>
          <a:xfrm>
            <a:off x="1480488" y="1001915"/>
            <a:ext cx="9227975" cy="3931920"/>
          </a:xfrm>
          <a:prstGeom prst="rect">
            <a:avLst/>
          </a:prstGeom>
        </p:spPr>
      </p:pic>
      <p:sp>
        <p:nvSpPr>
          <p:cNvPr id="4" name="Rounded Rectangle 3"/>
          <p:cNvSpPr/>
          <p:nvPr/>
        </p:nvSpPr>
        <p:spPr>
          <a:xfrm>
            <a:off x="502920" y="5244826"/>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427706"/>
            <a:ext cx="44443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 ВКЛАДКЕ НАСТРОЕК УЗЛА ИЗВЛЕЧЕНИЯ</a:t>
            </a:r>
          </a:p>
        </p:txBody>
      </p:sp>
      <p:sp>
        <p:nvSpPr>
          <p:cNvPr id="6" name="TextBox 5"/>
          <p:cNvSpPr txBox="1"/>
          <p:nvPr/>
        </p:nvSpPr>
        <p:spPr>
          <a:xfrm>
            <a:off x="5276442" y="5427706"/>
            <a:ext cx="60804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7" name="TextBox 6"/>
          <p:cNvSpPr txBox="1"/>
          <p:nvPr/>
        </p:nvSpPr>
        <p:spPr>
          <a:xfrm>
            <a:off x="685800" y="5709773"/>
            <a:ext cx="44443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Retry On Fail · On Error</a:t>
            </a:r>
          </a:p>
        </p:txBody>
      </p:sp>
      <p:sp>
        <p:nvSpPr>
          <p:cNvPr id="8" name="TextBox 7"/>
          <p:cNvSpPr txBox="1"/>
          <p:nvPr/>
        </p:nvSpPr>
        <p:spPr>
          <a:xfrm>
            <a:off x="5276442" y="5709773"/>
            <a:ext cx="60804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попытки, пауза 2 с → </a:t>
            </a:r>
            <a:r>
              <a:rPr sz="1250" b="0" i="0">
                <a:solidFill>
                  <a:srgbClr val="141B2E"/>
                </a:solidFill>
                <a:latin typeface="Consolas"/>
              </a:rPr>
              <a:t>Continue</a:t>
            </a:r>
            <a:r>
              <a:rPr sz="1250" b="0" i="0">
                <a:solidFill>
                  <a:srgbClr val="141B2E"/>
                </a:solidFill>
                <a:latin typeface="Arial"/>
              </a:rPr>
              <a:t> </a:t>
            </a:r>
            <a:r>
              <a:rPr sz="1250" b="0" i="0">
                <a:solidFill>
                  <a:srgbClr val="141B2E"/>
                </a:solidFill>
                <a:latin typeface="Consolas"/>
              </a:rPr>
              <a:t>(using</a:t>
            </a:r>
            <a:r>
              <a:rPr sz="1250" b="0" i="0">
                <a:solidFill>
                  <a:srgbClr val="141B2E"/>
                </a:solidFill>
                <a:latin typeface="Arial"/>
              </a:rPr>
              <a:t> </a:t>
            </a:r>
            <a:r>
              <a:rPr sz="1250" b="0" i="0">
                <a:solidFill>
                  <a:srgbClr val="141B2E"/>
                </a:solidFill>
                <a:latin typeface="Consolas"/>
              </a:rPr>
              <a:t>error</a:t>
            </a:r>
            <a:r>
              <a:rPr sz="1250" b="0" i="0">
                <a:solidFill>
                  <a:srgbClr val="141B2E"/>
                </a:solidFill>
                <a:latin typeface="Arial"/>
              </a:rPr>
              <a:t> </a:t>
            </a:r>
            <a:r>
              <a:rPr sz="1250" b="0" i="0">
                <a:solidFill>
                  <a:srgbClr val="141B2E"/>
                </a:solidFill>
                <a:latin typeface="Consolas"/>
              </a:rPr>
              <a:t>output)</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повторять, а когда нет</a:t>
            </a:r>
          </a:p>
        </p:txBody>
      </p:sp>
      <p:sp>
        <p:nvSpPr>
          <p:cNvPr id="3" name="Rounded Rectangle 2"/>
          <p:cNvSpPr/>
          <p:nvPr/>
        </p:nvSpPr>
        <p:spPr>
          <a:xfrm>
            <a:off x="502920" y="943356"/>
            <a:ext cx="5454396" cy="2358517"/>
          </a:xfrm>
          <a:prstGeom prst="roundRect">
            <a:avLst>
              <a:gd name="adj" fmla="val 1292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ПОВТОРЯТЬ НУЖНО</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отказ временный: таймаут, превышение лимита запросов, «сервис перегружен» — со второй попытки обычно проходит</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операция идемпотентна: её можно выполнить дважды с тем же результатом — чтение, пересчёт, идемпотентная запись по ключу</a:t>
            </a:r>
          </a:p>
        </p:txBody>
      </p:sp>
      <p:cxnSp>
        <p:nvCxnSpPr>
          <p:cNvPr id="8" name="Connector 7"/>
          <p:cNvCxnSpPr/>
          <p:nvPr/>
        </p:nvCxnSpPr>
        <p:spPr>
          <a:xfrm>
            <a:off x="685800" y="24817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8170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 стоит здесь и только здесь, в одном месте стека</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задержки с разбросом, и общее число попыток ограничено</a:t>
            </a:r>
          </a:p>
        </p:txBody>
      </p:sp>
      <p:sp>
        <p:nvSpPr>
          <p:cNvPr id="12" name="Rounded Rectangle 11"/>
          <p:cNvSpPr/>
          <p:nvPr/>
        </p:nvSpPr>
        <p:spPr>
          <a:xfrm>
            <a:off x="6231636" y="943356"/>
            <a:ext cx="5454396" cy="2358517"/>
          </a:xfrm>
          <a:prstGeom prst="roundRect">
            <a:avLst>
              <a:gd name="adj" fmla="val 1292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ПОВТОРЯТЬ НЕЛЬЗЯ</a:t>
            </a:r>
          </a:p>
        </p:txBody>
      </p:sp>
      <p:sp>
        <p:nvSpPr>
          <p:cNvPr id="14" name="TextBox 13"/>
          <p:cNvSpPr txBox="1"/>
          <p:nvPr/>
        </p:nvSpPr>
        <p:spPr>
          <a:xfrm>
            <a:off x="6414516" y="1327404"/>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отказ постоянный: неверный ключ, негодный запрос, нет обязательного поля. Повтор лишь утроит расход на ту же ошибку</a:t>
            </a:r>
          </a:p>
        </p:txBody>
      </p:sp>
      <p:cxnSp>
        <p:nvCxnSpPr>
          <p:cNvPr id="15" name="Connector 14"/>
          <p:cNvCxnSpPr/>
          <p:nvPr/>
        </p:nvCxnSpPr>
        <p:spPr>
          <a:xfrm>
            <a:off x="6414516" y="180340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803400"/>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у операции есть последствия: отправить письмо, создать заказ, списать деньги. Таймаут не говорит, произошло ли действие</a:t>
            </a:r>
          </a:p>
        </p:txBody>
      </p:sp>
      <p:cxnSp>
        <p:nvCxnSpPr>
          <p:cNvPr id="17" name="Connector 16"/>
          <p:cNvCxnSpPr/>
          <p:nvPr/>
        </p:nvCxnSpPr>
        <p:spPr>
          <a:xfrm>
            <a:off x="6414516" y="22793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79396"/>
            <a:ext cx="5088636" cy="311150"/>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повтор уже стоит слоем ниже или выше: слои множат друг друга</a:t>
            </a:r>
          </a:p>
        </p:txBody>
      </p:sp>
      <p:cxnSp>
        <p:nvCxnSpPr>
          <p:cNvPr id="19" name="Connector 18"/>
          <p:cNvCxnSpPr/>
          <p:nvPr/>
        </p:nvCxnSpPr>
        <p:spPr>
          <a:xfrm>
            <a:off x="6414516" y="25905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90546"/>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задержка фиксированная: все клиенты повторят синхронно и добьют сервис, который начал подниматься</a:t>
            </a:r>
          </a:p>
        </p:txBody>
      </p:sp>
      <p:sp>
        <p:nvSpPr>
          <p:cNvPr id="21" name="Rounded Rectangle 20"/>
          <p:cNvSpPr/>
          <p:nvPr/>
        </p:nvSpPr>
        <p:spPr>
          <a:xfrm>
            <a:off x="502920" y="3466465"/>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94481"/>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Три попытки на каждом из пяти слоёв дают 243-кратную нагрузку на нижний.</a:t>
            </a:r>
            <a:r>
              <a:rPr sz="1350" b="1" i="0">
                <a:solidFill>
                  <a:srgbClr val="141B2E"/>
                </a:solidFill>
                <a:latin typeface="Arial"/>
              </a:rPr>
              <a:t> Поэтому повторяют в одном месте — и там, где знают, что повторять безопасно.</a:t>
            </a:r>
          </a:p>
        </p:txBody>
      </p:sp>
      <p:sp>
        <p:nvSpPr>
          <p:cNvPr id="23" name="Rounded Rectangle 22"/>
          <p:cNvSpPr/>
          <p:nvPr/>
        </p:nvSpPr>
        <p:spPr>
          <a:xfrm>
            <a:off x="502920" y="4330573"/>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589"/>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отказ, которому некуда идти.</a:t>
            </a:r>
            <a:r>
              <a:rPr sz="1350" b="1" i="0">
                <a:solidFill>
                  <a:srgbClr val="141B2E"/>
                </a:solidFill>
                <a:latin typeface="Arial"/>
              </a:rPr>
              <a:t> Такой отказ не исчезает — он превращается в отсутствие записи, а отсутствие записи не мониторит никто: ни один сторож не умеет сработать на то, чего нет. Отсюда и двое суток пропуска.</a:t>
            </a:r>
          </a:p>
        </p:txBody>
      </p:sp>
      <p:sp>
        <p:nvSpPr>
          <p:cNvPr id="25" name="Rounded Rectangle 24"/>
          <p:cNvSpPr/>
          <p:nvPr/>
        </p:nvSpPr>
        <p:spPr>
          <a:xfrm>
            <a:off x="502920" y="540727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53529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Третья строка оси закрыта.</a:t>
            </a:r>
            <a:r>
              <a:rPr sz="1350" b="1" i="0">
                <a:solidFill>
                  <a:srgbClr val="141B2E"/>
                </a:solidFill>
                <a:latin typeface="Arial"/>
              </a:rPr>
              <a:t> Прогон зелёный, в журнале ни одной ошибки — выглядит успехом. Чем оказалось: три отказа подряд и заявки за выходные неразобранные.</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Тема определена неверно</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«Тут написано „курс“, а человек про счёт спрашивал. И так раза три за день.»</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значит «тема не та»</a:t>
            </a:r>
          </a:p>
        </p:txBody>
      </p:sp>
      <p:sp>
        <p:nvSpPr>
          <p:cNvPr id="3" name="Rounded Rectangle 2"/>
          <p:cNvSpPr/>
          <p:nvPr/>
        </p:nvSpPr>
        <p:spPr>
          <a:xfrm>
            <a:off x="502920" y="1024940"/>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2956"/>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Заявка:</a:t>
            </a:r>
            <a:r>
              <a:rPr sz="1500" b="1" i="0">
                <a:solidFill>
                  <a:srgbClr val="141B2E"/>
                </a:solidFill>
                <a:latin typeface="Arial"/>
              </a:rPr>
              <a:t> «Подскажите, сколько стоит обучение для группы из восьми человек, и можно ли выставить счёт на ООО?»</a:t>
            </a:r>
          </a:p>
          <a:p>
            <a:pPr algn="l">
              <a:lnSpc>
                <a:spcPts val="1860"/>
              </a:lnSpc>
              <a:spcAft>
                <a:spcPts val="300"/>
              </a:spcAft>
            </a:pPr>
            <a:r>
              <a:rPr sz="1500" b="1" i="0">
                <a:solidFill>
                  <a:srgbClr val="141B2E"/>
                </a:solidFill>
                <a:latin typeface="Arial"/>
              </a:rPr>
              <a:t>Процесс записал:</a:t>
            </a:r>
            <a:r>
              <a:rPr sz="1500" b="1" i="0">
                <a:solidFill>
                  <a:srgbClr val="141B2E"/>
                </a:solidFill>
                <a:latin typeface="Arial"/>
              </a:rPr>
              <a:t> тема </a:t>
            </a:r>
            <a:r>
              <a:rPr sz="1500" b="1" i="0">
                <a:solidFill>
                  <a:srgbClr val="141B2E"/>
                </a:solidFill>
                <a:latin typeface="Consolas"/>
              </a:rPr>
              <a:t>курс</a:t>
            </a:r>
            <a:r>
              <a:rPr sz="1500" b="1" i="0">
                <a:solidFill>
                  <a:srgbClr val="141B2E"/>
                </a:solidFill>
                <a:latin typeface="Arial"/>
              </a:rPr>
              <a:t>, срочность </a:t>
            </a:r>
            <a:r>
              <a:rPr sz="1500" b="1" i="0">
                <a:solidFill>
                  <a:srgbClr val="141B2E"/>
                </a:solidFill>
                <a:latin typeface="Consolas"/>
              </a:rPr>
              <a:t>не</a:t>
            </a:r>
            <a:r>
              <a:rPr sz="1500" b="1" i="0">
                <a:solidFill>
                  <a:srgbClr val="141B2E"/>
                </a:solidFill>
                <a:latin typeface="Arial"/>
              </a:rPr>
              <a:t> </a:t>
            </a:r>
            <a:r>
              <a:rPr sz="1500" b="1" i="0">
                <a:solidFill>
                  <a:srgbClr val="141B2E"/>
                </a:solidFill>
                <a:latin typeface="Consolas"/>
              </a:rPr>
              <a:t>указано</a:t>
            </a:r>
            <a:r>
              <a:rPr sz="1500" b="1" i="0">
                <a:solidFill>
                  <a:srgbClr val="141B2E"/>
                </a:solidFill>
                <a:latin typeface="Arial"/>
              </a:rPr>
              <a:t>.</a:t>
            </a:r>
          </a:p>
          <a:p>
            <a:pPr algn="l">
              <a:lnSpc>
                <a:spcPts val="1860"/>
              </a:lnSpc>
              <a:spcAft>
                <a:spcPts val="300"/>
              </a:spcAft>
            </a:pPr>
            <a:r>
              <a:rPr sz="1500" b="1" i="0">
                <a:solidFill>
                  <a:srgbClr val="141B2E"/>
                </a:solidFill>
                <a:latin typeface="Arial"/>
              </a:rPr>
              <a:t>На самом деле:</a:t>
            </a:r>
            <a:r>
              <a:rPr sz="1500" b="1" i="0">
                <a:solidFill>
                  <a:srgbClr val="141B2E"/>
                </a:solidFill>
                <a:latin typeface="Arial"/>
              </a:rPr>
              <a:t> человеку нужен счёт. Это </a:t>
            </a:r>
            <a:r>
              <a:rPr sz="1500" b="1" i="0">
                <a:solidFill>
                  <a:srgbClr val="141B2E"/>
                </a:solidFill>
                <a:latin typeface="Consolas"/>
              </a:rPr>
              <a:t>оплата</a:t>
            </a:r>
            <a:r>
              <a:rPr sz="1500" b="1" i="0">
                <a:solidFill>
                  <a:srgbClr val="141B2E"/>
                </a:solidFill>
                <a:latin typeface="Arial"/>
              </a:rPr>
              <a:t>, и заявка должна была уйти в бухгалтерию.</a:t>
            </a:r>
          </a:p>
        </p:txBody>
      </p:sp>
      <p:sp>
        <p:nvSpPr>
          <p:cNvPr id="5" name="Rounded Rectangle 4"/>
          <p:cNvSpPr/>
          <p:nvPr/>
        </p:nvSpPr>
        <p:spPr>
          <a:xfrm>
            <a:off x="502920" y="2688894"/>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0835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90835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увидела в первом предложении «обучение» и «стоит» — и выбрала </a:t>
            </a:r>
            <a:r>
              <a:rPr sz="1350" b="0" i="0">
                <a:solidFill>
                  <a:srgbClr val="141B2E"/>
                </a:solidFill>
                <a:latin typeface="Consolas"/>
              </a:rPr>
              <a:t>курс</a:t>
            </a:r>
            <a:r>
              <a:rPr sz="1350" b="0" i="0">
                <a:solidFill>
                  <a:srgbClr val="141B2E"/>
                </a:solidFill>
                <a:latin typeface="Arial"/>
              </a:rPr>
              <a:t>. Значение законное, из справочника.</a:t>
            </a:r>
          </a:p>
        </p:txBody>
      </p:sp>
      <p:sp>
        <p:nvSpPr>
          <p:cNvPr id="8" name="TextBox 7"/>
          <p:cNvSpPr txBox="1"/>
          <p:nvPr/>
        </p:nvSpPr>
        <p:spPr>
          <a:xfrm>
            <a:off x="722376" y="3440988"/>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44098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Заявка легла в список к тому, кто обзванивает интересующихся курсами.</a:t>
            </a:r>
          </a:p>
        </p:txBody>
      </p:sp>
      <p:sp>
        <p:nvSpPr>
          <p:cNvPr id="10" name="TextBox 9"/>
          <p:cNvSpPr txBox="1"/>
          <p:nvPr/>
        </p:nvSpPr>
        <p:spPr>
          <a:xfrm>
            <a:off x="722376" y="377131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77131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Он звонит, выясняет, что нужен счёт, и передаёт в бухгалтерию. Это та самая лишняя передача из кейса 1 — день.</a:t>
            </a:r>
          </a:p>
        </p:txBody>
      </p:sp>
      <p:sp>
        <p:nvSpPr>
          <p:cNvPr id="12" name="TextBox 11"/>
          <p:cNvSpPr txBox="1"/>
          <p:nvPr/>
        </p:nvSpPr>
        <p:spPr>
          <a:xfrm>
            <a:off x="722376" y="4303953"/>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30395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Ольга замечает ошибку в таблице глазами. </a:t>
            </a:r>
            <a:r>
              <a:rPr sz="1350" b="1" i="0">
                <a:solidFill>
                  <a:srgbClr val="141B2E"/>
                </a:solidFill>
                <a:latin typeface="Arial"/>
              </a:rPr>
              <a:t>И не может никуда её записать:</a:t>
            </a:r>
            <a:r>
              <a:rPr sz="1350" b="0" i="0">
                <a:solidFill>
                  <a:srgbClr val="141B2E"/>
                </a:solidFill>
                <a:latin typeface="Arial"/>
              </a:rPr>
              <a:t> столбца для этого нет.</a:t>
            </a:r>
          </a:p>
        </p:txBody>
      </p:sp>
      <p:sp>
        <p:nvSpPr>
          <p:cNvPr id="14" name="Rounded Rectangle 13"/>
          <p:cNvSpPr/>
          <p:nvPr/>
        </p:nvSpPr>
        <p:spPr>
          <a:xfrm>
            <a:off x="502920" y="52222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503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наших сторожа молчат, и все три правы.</a:t>
            </a:r>
            <a:r>
              <a:rPr sz="1500" b="1" i="0">
                <a:solidFill>
                  <a:srgbClr val="141B2E"/>
                </a:solidFill>
                <a:latin typeface="Arial"/>
              </a:rPr>
              <a:t> Значение не пустое, значение из справочника, прогон зелёный. Мы научились проверять форму ответа — </a:t>
            </a:r>
            <a:r>
              <a:rPr sz="1500" b="1" i="0">
                <a:solidFill>
                  <a:srgbClr val="141B2E"/>
                </a:solidFill>
                <a:latin typeface="Arial"/>
              </a:rPr>
              <a:t>и ни разу не проверили его смысл</a:t>
            </a:r>
            <a:r>
              <a:rPr sz="1500" b="1" i="0">
                <a:solidFill>
                  <a:srgbClr val="141B2E"/>
                </a:solidFill>
                <a:latin typeface="Arial"/>
              </a:rPr>
              <a:t>. Хуже другое: пока ошибка нигде не отмечена, </a:t>
            </a:r>
            <a:r>
              <a:rPr sz="1500" b="1" i="0">
                <a:solidFill>
                  <a:srgbClr val="141B2E"/>
                </a:solidFill>
                <a:latin typeface="Arial"/>
              </a:rPr>
              <a:t>мы не знаем даже, как часто она случается</a:t>
            </a:r>
            <a:r>
              <a:rPr sz="1500" b="1" i="0">
                <a:solidFill>
                  <a:srgbClr val="141B2E"/>
                </a:solidFill>
                <a:latin typeface="Arial"/>
              </a:rPr>
              <a:t>.</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поднять качество распознавания</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сделать, чтобы тема определялась верно чаще?</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запрос</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вторая модель проверяет первую</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алгоритмические правила поверх</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помощнее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каждый способ</a:t>
            </a:r>
          </a:p>
        </p:txBody>
      </p:sp>
      <p:sp>
        <p:nvSpPr>
          <p:cNvPr id="3" name="Rounded Rectangle 2"/>
          <p:cNvSpPr/>
          <p:nvPr/>
        </p:nvSpPr>
        <p:spPr>
          <a:xfrm>
            <a:off x="502920" y="993504"/>
            <a:ext cx="11183112" cy="2949257"/>
          </a:xfrm>
          <a:prstGeom prst="roundRect">
            <a:avLst>
              <a:gd name="adj" fmla="val 103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6384"/>
            <a:ext cx="15107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СПОСОБ</a:t>
            </a:r>
          </a:p>
        </p:txBody>
      </p:sp>
      <p:sp>
        <p:nvSpPr>
          <p:cNvPr id="5" name="TextBox 4"/>
          <p:cNvSpPr txBox="1"/>
          <p:nvPr/>
        </p:nvSpPr>
        <p:spPr>
          <a:xfrm>
            <a:off x="2342822" y="1176384"/>
            <a:ext cx="40059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6" name="TextBox 5"/>
          <p:cNvSpPr txBox="1"/>
          <p:nvPr/>
        </p:nvSpPr>
        <p:spPr>
          <a:xfrm>
            <a:off x="6495112" y="1176384"/>
            <a:ext cx="4861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ПЛАТИМ</a:t>
            </a:r>
          </a:p>
        </p:txBody>
      </p:sp>
      <p:sp>
        <p:nvSpPr>
          <p:cNvPr id="7" name="TextBox 6"/>
          <p:cNvSpPr txBox="1"/>
          <p:nvPr/>
        </p:nvSpPr>
        <p:spPr>
          <a:xfrm>
            <a:off x="685800" y="1458451"/>
            <a:ext cx="151071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усилить запрос</a:t>
            </a:r>
          </a:p>
        </p:txBody>
      </p:sp>
      <p:sp>
        <p:nvSpPr>
          <p:cNvPr id="8" name="TextBox 7"/>
          <p:cNvSpPr txBox="1"/>
          <p:nvPr/>
        </p:nvSpPr>
        <p:spPr>
          <a:xfrm>
            <a:off x="2342822" y="1458451"/>
            <a:ext cx="400598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+5–12 п.п.</a:t>
            </a:r>
            <a:r>
              <a:rPr sz="1250" b="0" i="0">
                <a:solidFill>
                  <a:srgbClr val="141B2E"/>
                </a:solidFill>
                <a:latin typeface="Arial"/>
              </a:rPr>
              <a:t> от примеров: 0,35 без примеров → 0,41 на двенадцати, лучшая сборка 0,48</a:t>
            </a:r>
          </a:p>
        </p:txBody>
      </p:sp>
      <p:sp>
        <p:nvSpPr>
          <p:cNvPr id="9" name="TextBox 8"/>
          <p:cNvSpPr txBox="1"/>
          <p:nvPr/>
        </p:nvSpPr>
        <p:spPr>
          <a:xfrm>
            <a:off x="6495112" y="1458451"/>
            <a:ext cx="48617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час работы один раз; запрос становится длиннее, и его надо держать в порядке</a:t>
            </a:r>
          </a:p>
        </p:txBody>
      </p:sp>
      <p:cxnSp>
        <p:nvCxnSpPr>
          <p:cNvPr id="10" name="Connector 9"/>
          <p:cNvCxnSpPr/>
          <p:nvPr/>
        </p:nvCxnSpPr>
        <p:spPr>
          <a:xfrm>
            <a:off x="685800" y="1988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168"/>
            <a:ext cx="15107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вторая модель проверяет первую</a:t>
            </a:r>
          </a:p>
        </p:txBody>
      </p:sp>
      <p:sp>
        <p:nvSpPr>
          <p:cNvPr id="12" name="TextBox 11"/>
          <p:cNvSpPr txBox="1"/>
          <p:nvPr/>
        </p:nvSpPr>
        <p:spPr>
          <a:xfrm>
            <a:off x="2342822" y="1988168"/>
            <a:ext cx="400598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0,57 → 0,61</a:t>
            </a:r>
            <a:r>
              <a:rPr sz="1250" b="0" i="0">
                <a:solidFill>
                  <a:srgbClr val="141B2E"/>
                </a:solidFill>
                <a:latin typeface="Arial"/>
              </a:rPr>
              <a:t> у разбора четырьмя запросами с голосованием; ловит разовые срывы</a:t>
            </a:r>
          </a:p>
        </p:txBody>
      </p:sp>
      <p:sp>
        <p:nvSpPr>
          <p:cNvPr id="13" name="TextBox 12"/>
          <p:cNvSpPr txBox="1"/>
          <p:nvPr/>
        </p:nvSpPr>
        <p:spPr>
          <a:xfrm>
            <a:off x="6495112" y="1988168"/>
            <a:ext cx="48617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каждый прогон вдвое дороже и вдвое дольше; расхождение двух моделей надо как-то разрешать</a:t>
            </a:r>
          </a:p>
        </p:txBody>
      </p:sp>
      <p:cxnSp>
        <p:nvCxnSpPr>
          <p:cNvPr id="14" name="Connector 13"/>
          <p:cNvCxnSpPr/>
          <p:nvPr/>
        </p:nvCxnSpPr>
        <p:spPr>
          <a:xfrm>
            <a:off x="685800" y="27004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00447"/>
            <a:ext cx="151071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алгоритмические правила поверх</a:t>
            </a:r>
          </a:p>
        </p:txBody>
      </p:sp>
      <p:sp>
        <p:nvSpPr>
          <p:cNvPr id="16" name="TextBox 15"/>
          <p:cNvSpPr txBox="1"/>
          <p:nvPr/>
        </p:nvSpPr>
        <p:spPr>
          <a:xfrm>
            <a:off x="2342822" y="2700447"/>
            <a:ext cx="400598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+2–3 п.п.</a:t>
            </a:r>
            <a:r>
              <a:rPr sz="1250" b="0" i="0">
                <a:solidFill>
                  <a:srgbClr val="141B2E"/>
                </a:solidFill>
                <a:latin typeface="Arial"/>
              </a:rPr>
              <a:t> точно и предсказуемо: «есть слово „счёт“ или „ООО“ — тема </a:t>
            </a:r>
            <a:r>
              <a:rPr sz="1250" b="0" i="0">
                <a:solidFill>
                  <a:srgbClr val="141B2E"/>
                </a:solidFill>
                <a:latin typeface="Consolas"/>
              </a:rPr>
              <a:t>оплата</a:t>
            </a:r>
            <a:r>
              <a:rPr sz="1250" b="0" i="0">
                <a:solidFill>
                  <a:srgbClr val="141B2E"/>
                </a:solidFill>
                <a:latin typeface="Arial"/>
              </a:rPr>
              <a:t>»</a:t>
            </a:r>
          </a:p>
        </p:txBody>
      </p:sp>
      <p:sp>
        <p:nvSpPr>
          <p:cNvPr id="17" name="TextBox 16"/>
          <p:cNvSpPr txBox="1"/>
          <p:nvPr/>
        </p:nvSpPr>
        <p:spPr>
          <a:xfrm>
            <a:off x="6495112" y="2700447"/>
            <a:ext cx="48617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правил становится много, они начинают противоречить друг другу, и живой язык всё равно шире</a:t>
            </a:r>
          </a:p>
        </p:txBody>
      </p:sp>
      <p:cxnSp>
        <p:nvCxnSpPr>
          <p:cNvPr id="18" name="Connector 17"/>
          <p:cNvCxnSpPr/>
          <p:nvPr/>
        </p:nvCxnSpPr>
        <p:spPr>
          <a:xfrm>
            <a:off x="685800" y="32301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30164"/>
            <a:ext cx="151071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помощнее</a:t>
            </a:r>
          </a:p>
        </p:txBody>
      </p:sp>
      <p:sp>
        <p:nvSpPr>
          <p:cNvPr id="20" name="TextBox 19"/>
          <p:cNvSpPr txBox="1"/>
          <p:nvPr/>
        </p:nvSpPr>
        <p:spPr>
          <a:xfrm>
            <a:off x="2342822" y="3230164"/>
            <a:ext cx="40059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обычно заметно лучше на длинном и запутанном тексте</a:t>
            </a:r>
          </a:p>
        </p:txBody>
      </p:sp>
      <p:sp>
        <p:nvSpPr>
          <p:cNvPr id="21" name="TextBox 20"/>
          <p:cNvSpPr txBox="1"/>
          <p:nvPr/>
        </p:nvSpPr>
        <p:spPr>
          <a:xfrm>
            <a:off x="6495112" y="3230164"/>
            <a:ext cx="48617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платите на </a:t>
            </a:r>
            <a:r>
              <a:rPr sz="1250" b="1" i="0">
                <a:solidFill>
                  <a:srgbClr val="141B2E"/>
                </a:solidFill>
                <a:latin typeface="Arial"/>
              </a:rPr>
              <a:t>каждом</a:t>
            </a:r>
            <a:r>
              <a:rPr sz="1250" b="0" i="0">
                <a:solidFill>
                  <a:srgbClr val="141B2E"/>
                </a:solidFill>
                <a:latin typeface="Arial"/>
              </a:rPr>
              <a:t> прогоне, навсегда; на коротких заявках разница часто в пределах шума</a:t>
            </a:r>
          </a:p>
        </p:txBody>
      </p:sp>
      <p:sp>
        <p:nvSpPr>
          <p:cNvPr id="22" name="Rounded Rectangle 21"/>
          <p:cNvSpPr/>
          <p:nvPr/>
        </p:nvSpPr>
        <p:spPr>
          <a:xfrm>
            <a:off x="502920" y="42327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607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Первые три стоят </a:t>
            </a:r>
            <a:r>
              <a:rPr sz="1500" b="1" i="0">
                <a:solidFill>
                  <a:srgbClr val="141B2E"/>
                </a:solidFill>
                <a:latin typeface="Arial"/>
              </a:rPr>
              <a:t>один раз</a:t>
            </a:r>
            <a:r>
              <a:rPr sz="1500" b="1" i="0">
                <a:solidFill>
                  <a:srgbClr val="141B2E"/>
                </a:solidFill>
                <a:latin typeface="Arial"/>
              </a:rPr>
              <a:t>, четвёртый — </a:t>
            </a:r>
            <a:r>
              <a:rPr sz="1500" b="1" i="0">
                <a:solidFill>
                  <a:srgbClr val="141B2E"/>
                </a:solidFill>
                <a:latin typeface="Arial"/>
              </a:rPr>
              <a:t>каждый день</a:t>
            </a:r>
            <a:r>
              <a:rPr sz="1500" b="1" i="0">
                <a:solidFill>
                  <a:srgbClr val="141B2E"/>
                </a:solidFill>
                <a:latin typeface="Arial"/>
              </a:rPr>
              <a:t>. Поэтому порядок почти всегда такой: сначала запрос, потом правила на узкие случаи, потом вторая модель там, где цена ошибки высока, и только потом более дорогая модель.</a:t>
            </a:r>
          </a:p>
        </p:txBody>
      </p:sp>
      <p:sp>
        <p:nvSpPr>
          <p:cNvPr id="24" name="Rounded Rectangle 23"/>
          <p:cNvSpPr/>
          <p:nvPr/>
        </p:nvSpPr>
        <p:spPr>
          <a:xfrm>
            <a:off x="502920" y="550566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63368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без чего всё перечисленное бессмысленно:</a:t>
            </a:r>
            <a:r>
              <a:rPr sz="1500" b="1" i="0">
                <a:solidFill>
                  <a:srgbClr val="141B2E"/>
                </a:solidFill>
                <a:latin typeface="Arial"/>
              </a:rPr>
              <a:t> ни один из четырёх способов нельзя оценить, пока ошибки нигде не отмечаются. «Стало лучше» без числа — это вера.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усиленный запрос и отметка ошибки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Описания категорий словами.</a:t>
            </a:r>
            <a:r>
              <a:rPr sz="1500" b="1" i="0">
                <a:solidFill>
                  <a:srgbClr val="141B2E"/>
                </a:solidFill>
                <a:latin typeface="Arial"/>
              </a:rPr>
              <a:t> Было: «о чём заявка». Стало: «</a:t>
            </a:r>
            <a:r>
              <a:rPr sz="1500" b="1" i="0">
                <a:solidFill>
                  <a:srgbClr val="141B2E"/>
                </a:solidFill>
                <a:latin typeface="Consolas"/>
              </a:rPr>
              <a:t>оплата</a:t>
            </a:r>
            <a:r>
              <a:rPr sz="1500" b="1" i="0">
                <a:solidFill>
                  <a:srgbClr val="141B2E"/>
                </a:solidFill>
                <a:latin typeface="Arial"/>
              </a:rPr>
              <a:t> — человек спрашивает про счёт, реквизиты, безналичный расчёт или возврат денег, </a:t>
            </a:r>
            <a:r>
              <a:rPr sz="1500" b="1" i="0">
                <a:solidFill>
                  <a:srgbClr val="141B2E"/>
                </a:solidFill>
                <a:latin typeface="Arial"/>
              </a:rPr>
              <a:t>даже если в той же фразе упомянут курс</a:t>
            </a:r>
            <a:r>
              <a:rPr sz="1500" b="1" i="0">
                <a:solidFill>
                  <a:srgbClr val="141B2E"/>
                </a:solidFill>
                <a:latin typeface="Arial"/>
              </a:rPr>
              <a:t>». Именно эта оговорка чинит нашу заявку.</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Примеры заявок прямо в запросе.</a:t>
            </a:r>
            <a:r>
              <a:rPr sz="1500" b="1" i="0">
                <a:solidFill>
                  <a:srgbClr val="141B2E"/>
                </a:solidFill>
                <a:latin typeface="Arial"/>
              </a:rPr>
              <a:t> Три-пять настоящих коротких заявок с правильным ответом, и обязательно — </a:t>
            </a:r>
            <a:r>
              <a:rPr sz="1500" b="1" i="0">
                <a:solidFill>
                  <a:srgbClr val="141B2E"/>
                </a:solidFill>
                <a:latin typeface="Arial"/>
              </a:rPr>
              <a:t>трудные</a:t>
            </a:r>
            <a:r>
              <a:rPr sz="1500" b="1" i="0">
                <a:solidFill>
                  <a:srgbClr val="141B2E"/>
                </a:solidFill>
                <a:latin typeface="Arial"/>
              </a:rPr>
              <a:t>, а не очевидные: та самая, про счёт на ООО. Замеренный прирост даёт не количество примеров, а их трудность.</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Правило воздержания.</a:t>
            </a:r>
            <a:r>
              <a:rPr sz="1500" b="1" i="0">
                <a:solidFill>
                  <a:srgbClr val="141B2E"/>
                </a:solidFill>
                <a:latin typeface="Arial"/>
              </a:rPr>
              <a:t> «Если подходит больше одной темы и ни одна не очевидна — ставь </a:t>
            </a:r>
            <a:r>
              <a:rPr sz="1500" b="1" i="0">
                <a:solidFill>
                  <a:srgbClr val="141B2E"/>
                </a:solidFill>
                <a:latin typeface="Consolas"/>
              </a:rPr>
              <a:t>не</a:t>
            </a:r>
            <a:r>
              <a:rPr sz="1500" b="1" i="0">
                <a:solidFill>
                  <a:srgbClr val="141B2E"/>
                </a:solidFill>
                <a:latin typeface="Arial"/>
              </a:rPr>
              <a:t> </a:t>
            </a:r>
            <a:r>
              <a:rPr sz="1500" b="1" i="0">
                <a:solidFill>
                  <a:srgbClr val="141B2E"/>
                </a:solidFill>
                <a:latin typeface="Consolas"/>
              </a:rPr>
              <a:t>определено</a:t>
            </a:r>
            <a:r>
              <a:rPr sz="1500" b="1" i="0">
                <a:solidFill>
                  <a:srgbClr val="141B2E"/>
                </a:solidFill>
                <a:latin typeface="Arial"/>
              </a:rPr>
              <a:t>». Законный отказ из кейса 2, только теперь он включается не по пустоте, а по </a:t>
            </a:r>
            <a:r>
              <a:rPr sz="1500" b="1" i="0">
                <a:solidFill>
                  <a:srgbClr val="141B2E"/>
                </a:solidFill>
                <a:latin typeface="Arial"/>
              </a:rPr>
              <a:t>неуверенности</a:t>
            </a:r>
            <a:r>
              <a:rPr sz="1500" b="1" i="0">
                <a:solidFill>
                  <a:srgbClr val="141B2E"/>
                </a:solidFill>
                <a:latin typeface="Arial"/>
              </a:rPr>
              <a:t>.</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Столбец </a:t>
            </a:r>
            <a:r>
              <a:rPr sz="1500" b="1" i="0">
                <a:solidFill>
                  <a:srgbClr val="141B2E"/>
                </a:solidFill>
                <a:latin typeface="Consolas"/>
              </a:rPr>
              <a:t>topic_wrong</a:t>
            </a:r>
            <a:r>
              <a:rPr sz="1500" b="1" i="0">
                <a:solidFill>
                  <a:srgbClr val="141B2E"/>
                </a:solidFill>
                <a:latin typeface="Arial"/>
              </a:rPr>
              <a:t> в таблице.</a:t>
            </a:r>
            <a:r>
              <a:rPr sz="1500" b="1" i="0">
                <a:solidFill>
                  <a:srgbClr val="141B2E"/>
                </a:solidFill>
                <a:latin typeface="Arial"/>
              </a:rPr>
              <a:t> Один флажок, который Ольга ставит, увидев неверную тему. С этого дня у вас есть доля ошибок, и любое следующее улучшение — измеримо. Это и есть та размеченная история, которой у центра нет: через месяц она появится сама.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поднимать качество</a:t>
            </a:r>
          </a:p>
        </p:txBody>
      </p:sp>
      <p:sp>
        <p:nvSpPr>
          <p:cNvPr id="3" name="Rounded Rectangle 2"/>
          <p:cNvSpPr/>
          <p:nvPr/>
        </p:nvSpPr>
        <p:spPr>
          <a:xfrm>
            <a:off x="502920" y="1017794"/>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752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ХВАТИТ УСИЛЕНИЯ ЗАПРОСА</a:t>
            </a:r>
          </a:p>
        </p:txBody>
      </p:sp>
      <p:sp>
        <p:nvSpPr>
          <p:cNvPr id="5" name="TextBox 4"/>
          <p:cNvSpPr txBox="1"/>
          <p:nvPr/>
        </p:nvSpPr>
        <p:spPr>
          <a:xfrm>
            <a:off x="685800" y="140184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ошибки разные и каждая объяснима словами: модель не знала, что считать оплатой</a:t>
            </a:r>
          </a:p>
        </p:txBody>
      </p:sp>
      <p:cxnSp>
        <p:nvCxnSpPr>
          <p:cNvPr id="6" name="Connector 5"/>
          <p:cNvCxnSpPr/>
          <p:nvPr/>
        </p:nvCxnSpPr>
        <p:spPr>
          <a:xfrm>
            <a:off x="685800" y="18928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9282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можете назвать правильный ответ для каждой разобранной ошибки</a:t>
            </a:r>
          </a:p>
        </p:txBody>
      </p:sp>
      <p:cxnSp>
        <p:nvCxnSpPr>
          <p:cNvPr id="8" name="Connector 7"/>
          <p:cNvCxnSpPr/>
          <p:nvPr/>
        </p:nvCxnSpPr>
        <p:spPr>
          <a:xfrm>
            <a:off x="685800" y="23838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8380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заявки короткие и однородные — на них разница между моделями в пределах шума</a:t>
            </a:r>
          </a:p>
        </p:txBody>
      </p:sp>
      <p:cxnSp>
        <p:nvCxnSpPr>
          <p:cNvPr id="10" name="Connector 9"/>
          <p:cNvCxnSpPr/>
          <p:nvPr/>
        </p:nvCxnSpPr>
        <p:spPr>
          <a:xfrm>
            <a:off x="685800" y="28747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7478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вас нет размеченной истории — запрос работает без неё</a:t>
            </a:r>
          </a:p>
        </p:txBody>
      </p:sp>
      <p:sp>
        <p:nvSpPr>
          <p:cNvPr id="12" name="Rounded Rectangle 11"/>
          <p:cNvSpPr/>
          <p:nvPr/>
        </p:nvSpPr>
        <p:spPr>
          <a:xfrm>
            <a:off x="6231636" y="1017794"/>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2752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ЧТО-ТО СВЕРХ ЗАПРОСА</a:t>
            </a:r>
          </a:p>
        </p:txBody>
      </p:sp>
      <p:sp>
        <p:nvSpPr>
          <p:cNvPr id="14" name="TextBox 13"/>
          <p:cNvSpPr txBox="1"/>
          <p:nvPr/>
        </p:nvSpPr>
        <p:spPr>
          <a:xfrm>
            <a:off x="6414516" y="140184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одна и та же ошибка повторяется дословно — дешевле поставить правило, чем уговаривать модель</a:t>
            </a:r>
          </a:p>
        </p:txBody>
      </p:sp>
      <p:cxnSp>
        <p:nvCxnSpPr>
          <p:cNvPr id="15" name="Connector 14"/>
          <p:cNvCxnSpPr/>
          <p:nvPr/>
        </p:nvCxnSpPr>
        <p:spPr>
          <a:xfrm>
            <a:off x="6414516" y="18928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89282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высока: деньги, здоровье, юридические последствия — тогда вторая проверка окупается</a:t>
            </a:r>
          </a:p>
        </p:txBody>
      </p:sp>
      <p:cxnSp>
        <p:nvCxnSpPr>
          <p:cNvPr id="17" name="Connector 16"/>
          <p:cNvCxnSpPr/>
          <p:nvPr/>
        </p:nvCxnSpPr>
        <p:spPr>
          <a:xfrm>
            <a:off x="6414516" y="23838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8380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текст длинный и запутанный: здесь более сильная модель даёт заметный прирост, и за него есть смысл платить</a:t>
            </a:r>
          </a:p>
        </p:txBody>
      </p:sp>
      <p:cxnSp>
        <p:nvCxnSpPr>
          <p:cNvPr id="19" name="Connector 18"/>
          <p:cNvCxnSpPr/>
          <p:nvPr/>
        </p:nvCxnSpPr>
        <p:spPr>
          <a:xfrm>
            <a:off x="6414516" y="28747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7478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история накопилась: тысячи заявок с правильными ответами делают дообучение осмысленным</a:t>
            </a:r>
          </a:p>
        </p:txBody>
      </p:sp>
      <p:sp>
        <p:nvSpPr>
          <p:cNvPr id="21" name="Rounded Rectangle 20"/>
          <p:cNvSpPr/>
          <p:nvPr/>
        </p:nvSpPr>
        <p:spPr>
          <a:xfrm>
            <a:off x="502920" y="389934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02735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Предел: улучшение без замера.</a:t>
            </a:r>
            <a:r>
              <a:rPr sz="1500" b="1" i="0">
                <a:solidFill>
                  <a:srgbClr val="141B2E"/>
                </a:solidFill>
                <a:latin typeface="Arial"/>
              </a:rPr>
              <a:t> Пока ошибки нигде не отмечаются, любой из четырёх способов даёт только ощущение. Сначала столбец отметки — потом улучшения; иначе вы будете честно работать и не сможете сказать, помогло ли.</a:t>
            </a:r>
          </a:p>
        </p:txBody>
      </p:sp>
      <p:sp>
        <p:nvSpPr>
          <p:cNvPr id="23" name="Rounded Rectangle 22"/>
          <p:cNvSpPr/>
          <p:nvPr/>
        </p:nvSpPr>
        <p:spPr>
          <a:xfrm>
            <a:off x="502920" y="523300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36102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Значение из справочника, прогон зелёный — и это выглядит успехом. Чем оказалось: </a:t>
            </a:r>
            <a:r>
              <a:rPr sz="1500" b="1" i="0">
                <a:solidFill>
                  <a:srgbClr val="141B2E"/>
                </a:solidFill>
                <a:latin typeface="Arial"/>
              </a:rPr>
              <a:t>тема неверная, и узнать об этом неоткуда</a:t>
            </a:r>
            <a:r>
              <a:rPr sz="1500" b="1" i="0">
                <a:solidFill>
                  <a:srgbClr val="141B2E"/>
                </a:solidFill>
                <a:latin typeface="Arial"/>
              </a:rPr>
              <a:t> — все наши сторожа проверяют форму, а не смысл.</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Черновик и опубликованная версия</a:t>
            </a:r>
          </a:p>
        </p:txBody>
      </p:sp>
      <p:pic>
        <p:nvPicPr>
          <p:cNvPr id="3" name="Picture 2" descr="obzor-k4.png"/>
          <p:cNvPicPr>
            <a:picLocks noChangeAspect="1"/>
          </p:cNvPicPr>
          <p:nvPr/>
        </p:nvPicPr>
        <p:blipFill>
          <a:blip r:embed="rId2"/>
          <a:stretch>
            <a:fillRect/>
          </a:stretch>
        </p:blipFill>
        <p:spPr>
          <a:xfrm>
            <a:off x="2533297" y="943356"/>
            <a:ext cx="7122357" cy="2071297"/>
          </a:xfrm>
          <a:prstGeom prst="rect">
            <a:avLst/>
          </a:prstGeom>
        </p:spPr>
      </p:pic>
      <p:sp>
        <p:nvSpPr>
          <p:cNvPr id="4" name="Rounded Rectangle 3"/>
          <p:cNvSpPr/>
          <p:nvPr/>
        </p:nvSpPr>
        <p:spPr>
          <a:xfrm>
            <a:off x="502920" y="3179245"/>
            <a:ext cx="82296" cy="4756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07261"/>
            <a:ext cx="10643616" cy="21956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Правки идут в черновик постоянно и сами.</a:t>
            </a:r>
            <a:r>
              <a:rPr sz="1100" b="1" i="0">
                <a:solidFill>
                  <a:srgbClr val="141B2E"/>
                </a:solidFill>
                <a:latin typeface="Arial"/>
              </a:rPr>
              <a:t> Кнопки «Сохранить» в интерфейсе нет вовсе — и именно поэтому возникает уверенность, что всё уже в деле.</a:t>
            </a:r>
          </a:p>
        </p:txBody>
      </p:sp>
      <p:sp>
        <p:nvSpPr>
          <p:cNvPr id="6" name="Rounded Rectangle 5"/>
          <p:cNvSpPr/>
          <p:nvPr/>
        </p:nvSpPr>
        <p:spPr>
          <a:xfrm>
            <a:off x="502920" y="3819438"/>
            <a:ext cx="82296" cy="77649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947454"/>
            <a:ext cx="10643616" cy="52045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 бой правка уходит отдельным действием — Publish.</a:t>
            </a:r>
            <a:r>
              <a:rPr sz="1100" b="1" i="0">
                <a:solidFill>
                  <a:srgbClr val="141B2E"/>
                </a:solidFill>
                <a:latin typeface="Arial"/>
              </a:rPr>
              <a:t> Боевые прогоны исполняют </a:t>
            </a:r>
            <a:r>
              <a:rPr sz="1100" b="1" i="0">
                <a:solidFill>
                  <a:srgbClr val="141B2E"/>
                </a:solidFill>
                <a:latin typeface="Arial"/>
              </a:rPr>
              <a:t>опубликованную</a:t>
            </a:r>
            <a:r>
              <a:rPr sz="1100" b="1" i="0">
                <a:solidFill>
                  <a:srgbClr val="141B2E"/>
                </a:solidFill>
                <a:latin typeface="Arial"/>
              </a:rPr>
              <a:t> версию, а ручной запуск — </a:t>
            </a:r>
            <a:r>
              <a:rPr sz="1100" b="1" i="0">
                <a:solidFill>
                  <a:srgbClr val="141B2E"/>
                </a:solidFill>
                <a:latin typeface="Arial"/>
              </a:rPr>
              <a:t>черновик</a:t>
            </a:r>
            <a:r>
              <a:rPr sz="1100" b="1" i="0">
                <a:solidFill>
                  <a:srgbClr val="141B2E"/>
                </a:solidFill>
                <a:latin typeface="Arial"/>
              </a:rPr>
              <a:t>. Отсюда вся путаница: вы правите, запускаете руками, видите правильный результат — и он честный, просто не тот, что работает в бою. Слова «активировать» в n8n 2.x больше нет.</a:t>
            </a:r>
          </a:p>
        </p:txBody>
      </p:sp>
      <p:sp>
        <p:nvSpPr>
          <p:cNvPr id="8" name="Rounded Rectangle 7"/>
          <p:cNvSpPr/>
          <p:nvPr/>
        </p:nvSpPr>
        <p:spPr>
          <a:xfrm>
            <a:off x="502920" y="4760520"/>
            <a:ext cx="82296" cy="77649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888536"/>
            <a:ext cx="10643616" cy="52045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проверяется только настоящим событием:</a:t>
            </a:r>
            <a:r>
              <a:rPr sz="1100" b="1" i="0">
                <a:solidFill>
                  <a:srgbClr val="141B2E"/>
                </a:solidFill>
                <a:latin typeface="Arial"/>
              </a:rPr>
              <a:t> обработчик ошибок (его триггер при ручном запуске не срабатывает вовсе) · расписание · обращение к чужой системе · поведение на объёме. Руками проверяются шаги, выражения и форма — этого достаточно для логики и недостаточно для боя.</a:t>
            </a:r>
          </a:p>
        </p:txBody>
      </p:sp>
      <p:sp>
        <p:nvSpPr>
          <p:cNvPr id="10" name="Rounded Rectangle 9"/>
          <p:cNvSpPr/>
          <p:nvPr/>
        </p:nvSpPr>
        <p:spPr>
          <a:xfrm>
            <a:off x="502920" y="570160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2961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Перед тем как отдать файл сценария — прочитайте его глазами.</a:t>
            </a:r>
            <a:r>
              <a:rPr sz="1100" b="1" i="0">
                <a:solidFill>
                  <a:srgbClr val="141B2E"/>
                </a:solidFill>
                <a:latin typeface="Arial"/>
              </a:rPr>
              <a:t> Ключей в нём нет, их инструмент держит отдельно. А имена подключений, адреса, пути, названия таблиц и внутренних сервисов — есть. Это тридцать секунд.</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477396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РАБОЧИМ</a:t>
            </a:r>
          </a:p>
        </p:txBody>
      </p:sp>
      <p:sp>
        <p:nvSpPr>
          <p:cNvPr id="5" name="TextBox 4"/>
          <p:cNvSpPr txBox="1"/>
          <p:nvPr/>
        </p:nvSpPr>
        <p:spPr>
          <a:xfrm>
            <a:off x="5606071" y="1899666"/>
            <a:ext cx="57507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181733"/>
            <a:ext cx="477396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узла, заявка доезжает до таблицы</a:t>
            </a:r>
          </a:p>
        </p:txBody>
      </p:sp>
      <p:sp>
        <p:nvSpPr>
          <p:cNvPr id="7" name="TextBox 6"/>
          <p:cNvSpPr txBox="1"/>
          <p:nvPr/>
        </p:nvSpPr>
        <p:spPr>
          <a:xfrm>
            <a:off x="5606071" y="2181733"/>
            <a:ext cx="575077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тема какая угодно, срочности нет вовсе, ручаться нечем</a:t>
            </a:r>
          </a:p>
        </p:txBody>
      </p:sp>
      <p:cxnSp>
        <p:nvCxnSpPr>
          <p:cNvPr id="8" name="Connector 7"/>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28887"/>
            <a:ext cx="477396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клетка заполнена, значение законное</a:t>
            </a:r>
          </a:p>
        </p:txBody>
      </p:sp>
      <p:sp>
        <p:nvSpPr>
          <p:cNvPr id="10" name="TextBox 9"/>
          <p:cNvSpPr txBox="1"/>
          <p:nvPr/>
        </p:nvSpPr>
        <p:spPr>
          <a:xfrm>
            <a:off x="5606071" y="2528887"/>
            <a:ext cx="575077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тема заявки исчезла молча</a:t>
            </a:r>
          </a:p>
        </p:txBody>
      </p:sp>
      <p:cxnSp>
        <p:nvCxnSpPr>
          <p:cNvPr id="11" name="Connector 10"/>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76042"/>
            <a:ext cx="477396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зелёный, в журнале ни одной ошибки</a:t>
            </a:r>
          </a:p>
        </p:txBody>
      </p:sp>
      <p:sp>
        <p:nvSpPr>
          <p:cNvPr id="13" name="TextBox 12"/>
          <p:cNvSpPr txBox="1"/>
          <p:nvPr/>
        </p:nvSpPr>
        <p:spPr>
          <a:xfrm>
            <a:off x="5606071" y="2876042"/>
            <a:ext cx="575077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отказа подряд, заявки за выходные не разобраны</a:t>
            </a:r>
          </a:p>
        </p:txBody>
      </p:sp>
      <p:cxnSp>
        <p:nvCxnSpPr>
          <p:cNvPr id="14" name="Connector 13"/>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23196"/>
            <a:ext cx="477396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значение из справочника, прогон зелёный</a:t>
            </a:r>
          </a:p>
        </p:txBody>
      </p:sp>
      <p:sp>
        <p:nvSpPr>
          <p:cNvPr id="16" name="TextBox 15"/>
          <p:cNvSpPr txBox="1"/>
          <p:nvPr/>
        </p:nvSpPr>
        <p:spPr>
          <a:xfrm>
            <a:off x="5606071" y="3223196"/>
            <a:ext cx="575077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тема неверная, и узнать об этом неоткуда</a:t>
            </a:r>
          </a:p>
        </p:txBody>
      </p:sp>
      <p:sp>
        <p:nvSpPr>
          <p:cNvPr id="17" name="Rounded Rectangle 16"/>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работает — или за него можно ручаться?</a:t>
            </a:r>
            <a:r>
              <a:rPr sz="1500" b="1" i="0">
                <a:solidFill>
                  <a:srgbClr val="141B2E"/>
                </a:solidFill>
                <a:latin typeface="Arial"/>
              </a:rPr>
              <a:t> Четыре строки справа и есть четыре способа это проверить, и ни один не требует верить на слово.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pic>
        <p:nvPicPr>
          <p:cNvPr id="3" name="Picture 2" descr="vyhod-shema-protsess.png"/>
          <p:cNvPicPr>
            <a:picLocks noChangeAspect="1"/>
          </p:cNvPicPr>
          <p:nvPr/>
        </p:nvPicPr>
        <p:blipFill>
          <a:blip r:embed="rId2"/>
          <a:stretch>
            <a:fillRect/>
          </a:stretch>
        </p:blipFill>
        <p:spPr>
          <a:xfrm>
            <a:off x="817788" y="943356"/>
            <a:ext cx="10553375" cy="3297929"/>
          </a:xfrm>
          <a:prstGeom prst="rect">
            <a:avLst/>
          </a:prstGeom>
        </p:spPr>
      </p:pic>
      <p:sp>
        <p:nvSpPr>
          <p:cNvPr id="4" name="Rounded Rectangle 3"/>
          <p:cNvSpPr/>
          <p:nvPr/>
        </p:nvSpPr>
        <p:spPr>
          <a:xfrm>
            <a:off x="502920" y="4405877"/>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588757"/>
            <a:ext cx="32557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ФАЙЛ</a:t>
            </a:r>
          </a:p>
        </p:txBody>
      </p:sp>
      <p:sp>
        <p:nvSpPr>
          <p:cNvPr id="6" name="TextBox 5"/>
          <p:cNvSpPr txBox="1"/>
          <p:nvPr/>
        </p:nvSpPr>
        <p:spPr>
          <a:xfrm>
            <a:off x="4087875" y="4588757"/>
            <a:ext cx="72689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Consolas"/>
              </a:rPr>
              <a:t>STUDENT.JSON</a:t>
            </a:r>
          </a:p>
        </p:txBody>
      </p:sp>
      <p:sp>
        <p:nvSpPr>
          <p:cNvPr id="7" name="TextBox 6"/>
          <p:cNvSpPr txBox="1"/>
          <p:nvPr/>
        </p:nvSpPr>
        <p:spPr>
          <a:xfrm>
            <a:off x="685800" y="4855838"/>
            <a:ext cx="3255771"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как поставить</a:t>
            </a:r>
          </a:p>
        </p:txBody>
      </p:sp>
      <p:sp>
        <p:nvSpPr>
          <p:cNvPr id="8" name="TextBox 7"/>
          <p:cNvSpPr txBox="1"/>
          <p:nvPr/>
        </p:nvSpPr>
        <p:spPr>
          <a:xfrm>
            <a:off x="4087875" y="4855838"/>
            <a:ext cx="72689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меню сценария → Import from File → выбрать файл</a:t>
            </a:r>
          </a:p>
        </p:txBody>
      </p:sp>
      <p:cxnSp>
        <p:nvCxnSpPr>
          <p:cNvPr id="9" name="Connector 8"/>
          <p:cNvCxnSpPr/>
          <p:nvPr/>
        </p:nvCxnSpPr>
        <p:spPr>
          <a:xfrm>
            <a:off x="685800" y="51737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5173783"/>
            <a:ext cx="3255771"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что нужно</a:t>
            </a:r>
          </a:p>
        </p:txBody>
      </p:sp>
      <p:sp>
        <p:nvSpPr>
          <p:cNvPr id="11" name="TextBox 10"/>
          <p:cNvSpPr txBox="1"/>
          <p:nvPr/>
        </p:nvSpPr>
        <p:spPr>
          <a:xfrm>
            <a:off x="4087875" y="5173783"/>
            <a:ext cx="72689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свой n8n и ключ провайдера модели (инструкция)</a:t>
            </a:r>
          </a:p>
        </p:txBody>
      </p:sp>
      <p:cxnSp>
        <p:nvCxnSpPr>
          <p:cNvPr id="12" name="Connector 11"/>
          <p:cNvCxnSpPr/>
          <p:nvPr/>
        </p:nvCxnSpPr>
        <p:spPr>
          <a:xfrm>
            <a:off x="685800" y="5491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5491727"/>
            <a:ext cx="3255771"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что делать</a:t>
            </a:r>
          </a:p>
        </p:txBody>
      </p:sp>
      <p:sp>
        <p:nvSpPr>
          <p:cNvPr id="14" name="TextBox 13"/>
          <p:cNvSpPr txBox="1"/>
          <p:nvPr/>
        </p:nvSpPr>
        <p:spPr>
          <a:xfrm>
            <a:off x="4087875" y="5491727"/>
            <a:ext cx="72689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прогнать на своих трёх заявках и посмотреть, где развалится</a:t>
            </a:r>
          </a:p>
        </p:txBody>
      </p:sp>
      <p:cxnSp>
        <p:nvCxnSpPr>
          <p:cNvPr id="15" name="Connector 14"/>
          <p:cNvCxnSpPr/>
          <p:nvPr/>
        </p:nvCxnSpPr>
        <p:spPr>
          <a:xfrm>
            <a:off x="685800" y="58096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809672"/>
            <a:ext cx="3255771"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что завести своё</a:t>
            </a:r>
          </a:p>
        </p:txBody>
      </p:sp>
      <p:sp>
        <p:nvSpPr>
          <p:cNvPr id="17" name="TextBox 16"/>
          <p:cNvSpPr txBox="1"/>
          <p:nvPr/>
        </p:nvSpPr>
        <p:spPr>
          <a:xfrm>
            <a:off x="4087875" y="5809672"/>
            <a:ext cx="72689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учётные данные модели и свою таблицу: в файле они пустые намеренно</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12293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5094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Сейчас: </a:t>
            </a:r>
            <a:r>
              <a:rPr sz="1500" b="1" i="0">
                <a:solidFill>
                  <a:srgbClr val="141B2E"/>
                </a:solidFill>
                <a:latin typeface="Arial"/>
              </a:rPr>
              <a:t>любая заявка</a:t>
            </a:r>
            <a:r>
              <a:rPr sz="1500" b="1" i="0">
                <a:solidFill>
                  <a:srgbClr val="141B2E"/>
                </a:solidFill>
                <a:latin typeface="Arial"/>
              </a:rPr>
              <a:t> → один и тот же шаг → таблица</a:t>
            </a:r>
          </a:p>
          <a:p>
            <a:pPr algn="l">
              <a:lnSpc>
                <a:spcPts val="1860"/>
              </a:lnSpc>
              <a:spcAft>
                <a:spcPts val="300"/>
              </a:spcAft>
            </a:pPr>
            <a:r>
              <a:rPr sz="1500" b="1" i="0">
                <a:solidFill>
                  <a:srgbClr val="141B2E"/>
                </a:solidFill>
                <a:latin typeface="Arial"/>
              </a:rPr>
              <a:t>Дальше: </a:t>
            </a:r>
            <a:r>
              <a:rPr sz="1500" b="1" i="0">
                <a:solidFill>
                  <a:srgbClr val="141B2E"/>
                </a:solidFill>
                <a:latin typeface="Arial"/>
              </a:rPr>
              <a:t>заявка про оплату</a:t>
            </a:r>
            <a:r>
              <a:rPr sz="1500" b="1" i="0">
                <a:solidFill>
                  <a:srgbClr val="141B2E"/>
                </a:solidFill>
                <a:latin typeface="Arial"/>
              </a:rPr>
              <a:t> → одно · </a:t>
            </a:r>
            <a:r>
              <a:rPr sz="1500" b="1" i="0">
                <a:solidFill>
                  <a:srgbClr val="141B2E"/>
                </a:solidFill>
                <a:latin typeface="Arial"/>
              </a:rPr>
              <a:t>про перенос</a:t>
            </a:r>
            <a:r>
              <a:rPr sz="1500" b="1" i="0">
                <a:solidFill>
                  <a:srgbClr val="141B2E"/>
                </a:solidFill>
                <a:latin typeface="Arial"/>
              </a:rPr>
              <a:t> → другое · </a:t>
            </a:r>
            <a:r>
              <a:rPr sz="1500" b="1" i="0">
                <a:solidFill>
                  <a:srgbClr val="141B2E"/>
                </a:solidFill>
                <a:latin typeface="Arial"/>
              </a:rPr>
              <a:t>непонятная</a:t>
            </a:r>
            <a:r>
              <a:rPr sz="1500" b="1" i="0">
                <a:solidFill>
                  <a:srgbClr val="141B2E"/>
                </a:solidFill>
                <a:latin typeface="Arial"/>
              </a:rPr>
              <a:t> → третье</a:t>
            </a:r>
          </a:p>
        </p:txBody>
      </p:sp>
      <p:sp>
        <p:nvSpPr>
          <p:cNvPr id="5" name="Rounded Rectangle 4"/>
          <p:cNvSpPr/>
          <p:nvPr/>
        </p:nvSpPr>
        <p:spPr>
          <a:xfrm>
            <a:off x="502920" y="35753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7033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8:</a:t>
            </a:r>
            <a:r>
              <a:rPr sz="1500" b="1" i="0">
                <a:solidFill>
                  <a:srgbClr val="141B2E"/>
                </a:solidFill>
                <a:latin typeface="Arial"/>
              </a:rPr>
              <a:t> развилка и как она устроена · что делать с тем, что не подошло ни под одну ветку · проверка результата шага до того, как он уехал дальше · и почему ветки, которые выглядят параллельными, выполняются по очереди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