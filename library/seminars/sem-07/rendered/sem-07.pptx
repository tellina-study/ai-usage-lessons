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Шесть предыдущих занятий были про одного исполнителя: как дать кодинг-агенту права, память и инструменты. Эта дуга — про уровень выше: как устроен процесс, который таким исполнителем или просто вызовом модели пользуется.</a:t>
            </a:r>
          </a:p>
          <a:p/>
          <a:p>
            <a:r>
              <a:t>Сегодня мы соберём работающий процесс с нуля. К концу занятия у нас будет сценарий из пяти-шести блоков, который принимает заявку, разбирает её моделью и кладёт результат в таблицу. Он будет работать, и мы несколько раз его сломаем, чтобы понять, где он хрупкий.</a:t>
            </a:r>
          </a:p>
          <a:p/>
          <a:p>
            <a:r>
              <a:t>Занятие практическое. Я буду собирать прямо на своей машине, вы смотрите на экран. Файл сценария выложу после занятия — его можно будет открыть у себя и потрогать руками.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Начну с того, что вы и так знаете, — чтобы дальше было понятно, что именно в этой картине изменилось.</a:t>
            </a:r>
          </a:p>
          <a:p/>
          <a:p>
            <a:r>
              <a:t>Автоматизация процессов — дисциплина старая, ей несколько десятилетий. Процесс в ней — это описанная последовательность шагов: что делаем, в каком порядке, при каких условиях, и что происходит, когда шаг не отработал. Автоматизация — это когда шаги выполняет механизм, а человек смотрит на результат и вмешивается только в исключениях.</a:t>
            </a:r>
          </a:p>
          <a:p/>
          <a:p>
            <a:r>
              <a:t>Четыре примера на экране, и, думаю, минимум с двумя из них кто-то в зале работает прямо сейчас.</a:t>
            </a:r>
          </a:p>
          <a:p/>
          <a:p>
            <a:r>
              <a:t>Сборка и доставка кода. Запускает коммит или расписание. Внутри — шаги сборки, проверки, развёртывания, и обязательно откат, если что-то упало.</a:t>
            </a:r>
          </a:p>
          <a:p/>
          <a:p>
            <a:r>
              <a:t>Перенос данных между системами. Запускает расписание или появление файла. Внутри — взять, преобразовать, положить, и повтор, если источник не ответил.</a:t>
            </a:r>
          </a:p>
          <a:p/>
          <a:p>
            <a:r>
              <a:t>Заявки и согласования. Запускает человек. Внутри — маршрут по условиям, ожидание чьего-то решения, уведомления.</a:t>
            </a:r>
          </a:p>
          <a:p/>
          <a:p>
            <a:r>
              <a:t>Интеграции между сервисами. Запускает событие в чужой системе. Внутри — вызов по адресу, разбор ответа, запись результата.</a:t>
            </a:r>
          </a:p>
          <a:p/>
          <a:p>
            <a:r>
              <a:t>Теперь посмотрите на эти четыре строки вместе. У них одно устройство: что-то процесс запускает, дальше идут шаги, между шагами условия, а на сбое — заранее описанное поведение. Слова в разных инструментах разные: где-то «джоба» и «стейдж», где-то «пайплайн», где-то «воркфлоу». Устройство одно, и оно старше любого из этих инструментов.</a:t>
            </a:r>
          </a:p>
          <a:p/>
          <a:p>
            <a:r>
              <a:t>Это важно, потому что следующие шесть занятий — не про новую дисциплину. Они про один новый тип блока внутри старой.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изменили языковые модели в этой старой картине. Ровно одно: появился блок, который принимает решение на неструктурированном входе. На тексте, письме, картинке, записи разговора — на том, что раньше машине было недоступно.</a:t>
            </a:r>
          </a:p>
          <a:p/>
          <a:p>
            <a:r>
              <a:t>Посмотрите на таблицу: четыре строки про то, кто делал эту работу раньше.</a:t>
            </a:r>
          </a:p>
          <a:p/>
          <a:p>
            <a:r>
              <a:t>Первая — человек. Читал письмо, понимал, о чём оно, ставил пометку. Медленно, дорого, и к концу дня механически.</a:t>
            </a:r>
          </a:p>
          <a:p/>
          <a:p>
            <a:r>
              <a:t>Вторая — набор правил. Искали ключевые слова: есть слово «счёт» — значит про оплату. Работало, пока текст писали предсказуемо, и ломалось на любой живой формулировке.</a:t>
            </a:r>
          </a:p>
          <a:p/>
          <a:p>
            <a:r>
              <a:t>Третья — отдельная обученная модель под одну задачу. Работала хорошо и стоила месяцев: собрать разметку, обучить, внедрить. Новая задача — всё заново.</a:t>
            </a:r>
          </a:p>
          <a:p/>
          <a:p>
            <a:r>
              <a:t>Четвёртая, и она самая интересная: никто. Работу просто не делали, потому что она не стоила своих денег. Вот эта строка и объясняет, почему тема вообще возникла: дело не в том, что модели умеют что-то небывалое, а в том, что порог стоимости упал на порядки, и в автоматизацию попало то, что раньше в неё не попадало.</a:t>
            </a:r>
          </a:p>
          <a:p/>
          <a:p>
            <a:r>
              <a:t>И отсюда прямо следует, как устроена наша дуга. Триггеры, условия, циклы, слияние, обработка ошибок — всё это старое, и правила для них выработаны за десятилетия. Мы их не будем выдумывать, мы их возьмём. Нов только шаг модели, и нов он не тем, что умный, а тем, что </a:t>
            </a:r>
            <a:r>
              <a:rPr b="1"/>
              <a:t>может ошибиться незаметно</a:t>
            </a:r>
            <a:r>
              <a:t>: вернуть правдоподобный и неверный ответ, на котором ни одна проверка не сработает.</a:t>
            </a:r>
          </a:p>
          <a:p/>
          <a:p>
            <a:r>
              <a:t>Где мы находимся. На прошлых трёх занятиях мы разбирали одного исполнителя: что агенту разрешено, что он помнит, чем пользуется. Сегодня взгляд меняется — исполнитель становится одним шагом, и вопрос в том, как устроено всё вокруг него. Знать прошлые занятия не требуется, всё нужное будет на экране.</a:t>
            </a:r>
          </a:p>
          <a:p/>
          <a:p>
            <a:r>
              <a:t>Задача дня маленькая намеренно. Заявка с формы сайта должна попадать в таблицу уже разобранной: с темой и срочностью, и чтобы оба поля были заполнены всегда и значениями из справочника. На такой задаче видно всё устройство целиком, и за занятие мы успеем её собрать и три раза сломать.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главный экран теории, и к нему мы будем возвращаться все шесть занятий.</a:t>
            </a:r>
          </a:p>
          <a:p/>
          <a:p>
            <a:r>
              <a:t>Слева девять типов блоков. Это словарь, и он не про n8n: с этими же девятью типами вы встретитесь в любом инструменте автоматизации процессов, под другими именами. Справа — чем каждый является в n8n, потому что смотреть мы будем в нём.</a:t>
            </a:r>
          </a:p>
          <a:p/>
          <a:p>
            <a:r>
              <a:t>Пройду по строкам быстро, задерживаясь там, где есть что сказать.</a:t>
            </a:r>
          </a:p>
          <a:p/>
          <a:p>
            <a:r>
              <a:t>Триггер — то, что запускает процесс. Без него процесса нет, он просто не начнётся. Триггеры бывают трёх родов: по действию человека, по событию снаружи, по времени. В n8n это форма, вебхук и расписание соответственно. Есть и четвёртый, искусственный — ручной запуск, «выполнить, потому что я нажал кнопку»; он для отладки, и в бою его не бывает.</a:t>
            </a:r>
          </a:p>
          <a:p/>
          <a:p>
            <a:r>
              <a:t>Действие — блок, который что-то делает: вызывает чужой сервис, пишет строку, отправляет письмо. Это то, ради чего процесс существует.</a:t>
            </a:r>
          </a:p>
          <a:p/>
          <a:p>
            <a:r>
              <a:t>Преобразование — меняет форму данных, не трогая смысл: переименовать поле, собрать значение из двух, привести к нужному виду. В n8n это «задать поля», и мы им сегодня воспользуемся в неочевидном месте.</a:t>
            </a:r>
          </a:p>
          <a:p/>
          <a:p>
            <a:r>
              <a:t>Условие — выбор пути. Два пути или много. Следующее занятие целиком про эту строку.</a:t>
            </a:r>
          </a:p>
          <a:p/>
          <a:p>
            <a:r>
              <a:t>Цикл — повторить шаги по элементам списка. И сразу забегу вперёд: в n8n отдельный цикл нужен реже, чем вы думаете, и почему — следующий экран.</a:t>
            </a:r>
          </a:p>
          <a:p/>
          <a:p>
            <a:r>
              <a:t>Слияние — свести разошедшиеся ветки обратно в один поток. У него есть неприятная особенность, из-за которой теряют данные, и это тоже следующее занятие.</a:t>
            </a:r>
          </a:p>
          <a:p/>
          <a:p>
            <a:r>
              <a:t>Подпроцесс — вызов другого процесса как шага. Это то, что превращает процесс из простыни в структуру.</a:t>
            </a:r>
          </a:p>
          <a:p/>
          <a:p>
            <a:r>
              <a:t>Обработчик сбоя. Обратите внимание: в n8n это не один блок, а три разных механизма — настройки на каждом узле, отдельный сценарий-обработчик и блок принудительной остановки. Третий кейс сегодня про первый из трёх.</a:t>
            </a:r>
          </a:p>
          <a:p/>
          <a:p>
            <a:r>
              <a:t>И последняя строка, выделенная. Шаг модели — единственный новый тип блока в этой таблице. Все остальные восемь были и двадцать лет назад. Нов он тем, что принимает решение на неструктурированном входе, и тем, что может ошибиться незаметно.</a:t>
            </a:r>
          </a:p>
          <a:p/>
          <a:p>
            <a:r>
              <a:t>Сегодня мы закрываем четыре строки: триггер, действие, преобразование, шаг модели — и захватим обработчик сбоя. Остальные пять — на следующих занятиях, по этой же таблице.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то, без чего всё дальнейшее читается как магия. И сразу предупреждаю: это не общее свойство автоматизации процессов, это особенность n8n, и подавать я её буду именно так.</a:t>
            </a:r>
          </a:p>
          <a:p/>
          <a:p>
            <a:r>
              <a:t>В n8n между узлами всегда идёт список элементов. Всегда. Даже когда элемент один — это список из одного.</a:t>
            </a:r>
          </a:p>
          <a:p/>
          <a:p>
            <a:r>
              <a:t>И отсюда правило, выделенное на экране, которое объясняет половину странностей инструмента: </a:t>
            </a:r>
            <a:r>
              <a:rPr b="1"/>
              <a:t>узел выполняется по разу на каждый элемент списка</a:t>
            </a:r>
            <a:r>
              <a:t>. Не один раз на прогон. По разу на элемент.</a:t>
            </a:r>
          </a:p>
          <a:p/>
          <a:p>
            <a:r>
              <a:t>Посмотрите на схему: слева список из трёх заявок, справа один узел на холсте — и три его выполнения. Узел нарисован один, сработал трижды.</a:t>
            </a:r>
          </a:p>
          <a:p/>
          <a:p>
            <a:r>
              <a:t>И третья строка, техническая, но без неё вы будете спотыкаться на выражениях весь день. Каждый элемент — это объект с обязательной обёрткой: содержательная часть лежит в поле </a:t>
            </a:r>
            <a:r>
              <a:rPr>
                <a:latin typeface="Consolas"/>
              </a:rPr>
              <a:t>json</a:t>
            </a:r>
            <a:r>
              <a:t>, а если это файл — отдельно, в </a:t>
            </a:r>
            <a:r>
              <a:rPr>
                <a:latin typeface="Consolas"/>
              </a:rPr>
              <a:t>binary</a:t>
            </a:r>
            <a:r>
              <a:t>. Из-за этой обёртки в выражениях вы везде пишете </a:t>
            </a:r>
            <a:r>
              <a:rPr>
                <a:latin typeface="Consolas"/>
              </a:rPr>
              <a:t>$json</a:t>
            </a:r>
            <a:r>
              <a:t> точка имя поля, а не просто имя: вы спускаетесь на один уровень внутрь элемента.</a:t>
            </a:r>
          </a:p>
          <a:p/>
          <a:p>
            <a:r>
              <a:t>Что из правила следует практически — следующий экран, там четыре вещи, и все четыре вы увидите в первый же месяц работы.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следствия, и все четыре вы увидите в первый же месяц.</a:t>
            </a:r>
          </a:p>
          <a:p/>
          <a:p>
            <a:r>
              <a:t>Первое: в журнале написано «узел отработал пять раз». Это не ошибка и не сбой — пришло пять элементов, узел отработал на каждом. Перебор здесь встроенный, и первые пару раз это пугает.</a:t>
            </a:r>
          </a:p>
          <a:p/>
          <a:p>
            <a:r>
              <a:t>Второе, и оно дороже: пять писем вместо одного. Логика та же, цена другая — клиент получил пять одинаковых писем, потому что в списке было пять элементов, а узел отправки об этом не спрашивал. Это самая частая дорогая ошибка новичка в этом инструменте.</a:t>
            </a:r>
          </a:p>
          <a:p/>
          <a:p>
            <a:r>
              <a:t>Третье: «а где отдельный блок цикла?» Он есть, но нужен реже, чем кажется, — именно потому, что перебор уже встроен. Отдельный цикл нужен в двух случаях: когда элементы надо обрабатывать не по одному, а порциями, и когда внутри цикла стоит проверка выхода — «повторяй, пока не станет хорошо». Это занятие десятое.</a:t>
            </a:r>
          </a:p>
          <a:p/>
          <a:p>
            <a:r>
              <a:t>Четвёртое: вам нужно сработать один раз на весь список — скажем, отправить одно сводное письмо по всем заявкам. Для этого есть настройка на узле, «выполнить один раз»: узел сработает единожды, с данными первого элемента. Запомните, где она лежит, — она в настройках узла, не в параметрах.</a:t>
            </a:r>
          </a:p>
          <a:p/>
          <a:p>
            <a:r>
              <a:t>И сравнение, чтобы было видно, что это именно свойство инструмента, а не закон природы. В Activepieces наоборот: шаг получает один объект, а перебор списка вы задаёте отдельным блоком явно. То есть приём «один вход — одно выполнение» там надо включать, а здесь — выключать. Устройство процесса от этого не меняется. Меняется, где вы напишете одну галочку, — и забытая галочка стоит пяти писем.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Последняя часть теории, и тоже про n8n: как один шаг достаёт данные у другого.</a:t>
            </a:r>
          </a:p>
          <a:p/>
          <a:p>
            <a:r>
              <a:t>У каждого поля в карточке узла есть переключатель — фиксированное значение или выражение. Покажу его пальцем на стенде, потому что он маленький и его не замечают. Фиксированное — вы вписали текст, он такой и будет. Выражение — значение вычисляется на каждом прогоне, и вот это и есть то, чем шаги связаны между собой.</a:t>
            </a:r>
          </a:p>
          <a:p/>
          <a:p>
            <a:r>
              <a:t>Четыре строки, которые закрывают почти всё, что вам понадобится сегодня.</a:t>
            </a:r>
          </a:p>
          <a:p/>
          <a:p>
            <a:r>
              <a:t>Первая: доллар-json, точка, имя поля. Это поле текущего элемента — того, который пришёл в этот узел. Короткая форма, пользуетесь ей чаще всего.</a:t>
            </a:r>
          </a:p>
          <a:p/>
          <a:p>
            <a:r>
              <a:t>Вторая, длинная: доллар, в скобках имя узла в кавычках, дальше </a:t>
            </a:r>
            <a:r>
              <a:rPr>
                <a:latin typeface="Consolas"/>
              </a:rPr>
              <a:t>item.json</a:t>
            </a:r>
            <a:r>
              <a:t> и имя поля. Это обращение к любому предыдущему узлу, не только к соседнему. Нам это понадобится в первом же кейсе: запись в таблицу будет брать текст заявки прямо у формы, через два узла.</a:t>
            </a:r>
          </a:p>
          <a:p/>
          <a:p>
            <a:r>
              <a:t>Обратите внимание на имя поля в квадратных скобках. Так пишут, когда в имени есть пробел или русские буквы, — а поля формы у нас называются по подписям: «Имя», «Контакт», «Что нужно». Через точку так не напишешь.</a:t>
            </a:r>
          </a:p>
          <a:p/>
          <a:p>
            <a:r>
              <a:t>Третья: встроенные величины, вроде текущего времени. Они не из данных, они от инструмента.</a:t>
            </a:r>
          </a:p>
          <a:p/>
          <a:p>
            <a:r>
              <a:t>Четвёртая — две вертикальные черты, и это самая полезная строка во всём занятии. «Возьми значение, а если его нет — возьми вот это». Запас на случай пустоты. Половина сегодняшних проблем лечится ровно этим, и ещё половина — тем, что мы поставим отдельный узел проверки.</a:t>
            </a:r>
          </a:p>
          <a:p/>
          <a:p>
            <a:r>
              <a:t>И предупреждение, которое стоит сказать до того, как вы в это вляпаетесь. Обращение к узлу идёт по его имени на холсте. Переименовали узел — все выражения, которые на него ссылались, сломались. Инструмент об этом не предупредит: прогон упадёт, когда до него дойдёт, с сообщением, из которого причина не очевидна. Переименовываете узел — проверьте, кто на него ссылался.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Учебный центр, на сайте форма записи. Человек оставляет имя, контакт и пишет свободным текстом, что ему нужно: «хочу на курс по аналитике», «можно ли перенести занятие», «выставьте счёт на организацию».</a:t>
            </a:r>
          </a:p>
          <a:p/>
          <a:p>
            <a:r>
              <a:t>Форма складывает всё это письмами. Дальше администратор открывает каждое, читает, понимает, о чём оно, и переносит в таблицу: отдельно контакт, отдельно тема, отдельно пометка, срочное или нет. Двадцать заявок в день, минут сорок работы, и работа такая, что к концу её делают механически.</a:t>
            </a:r>
          </a:p>
          <a:p/>
          <a:p>
            <a:r>
              <a:t>Задача выглядит очевидной, и в этом ловушка — но не та, которую вы ждёте. Очевидные задачи обычно собирают не сложнее, чем нужно, а проще: до состояния «вроде работает». Поэтому первый вопрос сегодня — из скольких узлов собирается процесс, за который можно отвечать.</a:t>
            </a:r>
          </a:p>
          <a:p/>
          <a:p>
            <a:r>
              <a:t>Обратите внимание, что в постановке не названо ни одного инструмента. Там нет слов «модель», «автоматизация», «процесс». Есть только то, что сейчас происходит, и то, что должно происходить вместо этого. С такой формулировки начинается почти любая задача на работе, и первое решение инженера — выбрать, насколько сложным будет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Задача. В учебный центр приходят заявки через форму на сайте: имя, контакт и свободный текст — что человеку нужно. Сейчас их читают руками и переносят в таблицу, помечая, о чём заявка и насколько это срочно. По этим двум столбцам потом сортируют, считают и раскладывают заявки по людям.</a:t>
            </a:r>
          </a:p>
          <a:p/>
          <a:p>
            <a:r>
              <a:t>Задача — чтобы это происходило само. И обратите внимание на требование, которое я ставлю сразу: тема и срочность заполнены </a:t>
            </a:r>
            <a:r>
              <a:rPr b="1"/>
              <a:t>всегда</a:t>
            </a:r>
            <a:r>
              <a:t>, и значения в них </a:t>
            </a:r>
            <a:r>
              <a:rPr b="1"/>
              <a:t>из справочника</a:t>
            </a:r>
            <a:r>
              <a:t>. Не «обычно заполнены». Не «какое-то слово». Потому что столбец, в котором иногда пусто, а иногда «интересуется аналитикой», для сортировки не годится — по нему ничего не посчитать, и вся затея теряет смысл.</a:t>
            </a:r>
          </a:p>
          <a:p/>
          <a:p>
            <a:r>
              <a:t>Вопрос: из скольких узлов соберётся процесс, который решает это полностью?</a:t>
            </a:r>
          </a:p>
          <a:p/>
          <a:p>
            <a:r>
              <a:t>Четыре карточки: два, три, пять, и «зависит от того, что считать решением». Выбирайте и формулируйте довод — почему именно столько.</a:t>
            </a:r>
          </a:p>
          <a:p/>
          <a:p>
            <a:r>
              <a:t>Пока голосуете, подскажу, в какую сторону думать. Не «сколько узлов нужно, чтобы заработало», а «сколько нужно, чтобы я мог поручиться за каждую строку в этой таблице». Это разные числа, и разница между ними — содержание следующего экрана.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Пройдём по ответам, и начну с того, который выбирает большинство.</a:t>
            </a:r>
          </a:p>
          <a:p/>
          <a:p>
            <a:r>
              <a:t>Два узла — форма и таблица. Мгновенно, бесплатно, ничего не ломается. И задача не решена: тема и срочность сами не появятся, их по-прежнему ставит человек. Это не процесс, это труба.</a:t>
            </a:r>
          </a:p>
          <a:p/>
          <a:p>
            <a:r>
              <a:t>Три узла — форма, шаг модели, таблица. Заявка доезжает, в столбце что-то появляется. Вот чего здесь нет. Во-первых, тема будет какой угодно: «запись», «обучение», «интересуется аналитикой», «Аналитика.» с точкой — и ни одна сортировка по такому столбцу не соберётся. Во-вторых, срочности не будет вовсе, если её отдельно не попросить. В-третьих, чтобы узнать, что получилось, надо идти в таблицу — а на занятии это переключение экрана на каждый прогон.</a:t>
            </a:r>
          </a:p>
          <a:p/>
          <a:p>
            <a:r>
              <a:t>Пять узлов — то, что мы сейчас соберём, и это именно решение. Между шагом модели и таблицей встаёт </a:t>
            </a:r>
            <a:r>
              <a:rPr b="1"/>
              <a:t>справочник</a:t>
            </a:r>
            <a:r>
              <a:t>: он не даст ни пустой темы, ни темы вне списка. А в конце встаёт </a:t>
            </a:r>
            <a:r>
              <a:rPr b="1"/>
              <a:t>экран результата</a:t>
            </a:r>
            <a:r>
              <a:t> — в том же окне браузера, где заявку отправили, печатается вход, что вернула модель, что решил справочник и что легло в таблицу.</a:t>
            </a:r>
          </a:p>
          <a:p/>
          <a:p>
            <a:r>
              <a:t>Кто ответил «зависит» — вы правы по сути, и я приму этот ответ, если вы скажете, от чего. Ответ: от того, считаем ли мы решением то, что заработало, или то, за что можно поручиться.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Собираю. Пять узлов, и про каждый скажу, зачем он, а не только что в нём нажать.</a:t>
            </a:r>
          </a:p>
          <a:p/>
          <a:p>
            <a:r>
              <a:t>Первый — форма. Три поля, все обязательные: имя, контакт, свободный текст.</a:t>
            </a:r>
          </a:p>
          <a:p/>
          <a:p>
            <a:r>
              <a:t>Второй — извлечение полей. Схему задаю </a:t>
            </a:r>
            <a:r>
              <a:rPr b="1"/>
              <a:t>вручную</a:t>
            </a:r>
            <a:r>
              <a:t>, и вот зачем. Схему тут можно задать описаниями словами, и это проще. Но описание допустимые значения только </a:t>
            </a:r>
            <a:r>
              <a:rPr b="1"/>
              <a:t>предлагает</a:t>
            </a:r>
            <a:r>
              <a:t>. А мне нужно, чтобы инструмент их </a:t>
            </a:r>
            <a:r>
              <a:rPr b="1"/>
              <a:t>перечислил</a:t>
            </a:r>
            <a:r>
              <a:t>, — и для этого в схеме есть перечисление. Смотрите: тема — одно из четырёх, срочность — одно из трёх, оба обязательны. Последнее значение в каждом списке — «другое» и «не указано», и это не формальность: без них классификация упирается в пустую клетку на первой же непонятной заявке.</a:t>
            </a:r>
          </a:p>
          <a:p/>
          <a:p>
            <a:r>
              <a:t>Третий — справочник. Обычный узел «задать поля», никакого кода. Он делает одно: если пришло не из списка или пришло пустым — ставит «другое» или «не указано». Зачем он, если перечисление уже в схеме? Потому что схема — просьба к модели, пусть и строгая, а справочник — последняя инстанция. Схему можно обойти, справочник нельзя. В живой классификации всегда есть оба, и мысль, которую стоит унести: </a:t>
            </a:r>
            <a:r>
              <a:rPr b="1"/>
              <a:t>модель предлагает, справочник решает</a:t>
            </a:r>
            <a:r>
              <a:t>.</a:t>
            </a:r>
          </a:p>
          <a:p/>
          <a:p>
            <a:r>
              <a:t>Четвёртый — запись строки. Обратите внимание, откуда берутся значения: от справочника, не от модели. Поэтому в таблице не бывает ни пустой темы, ни темы вне списка.</a:t>
            </a:r>
          </a:p>
          <a:p/>
          <a:p>
            <a:r>
              <a:t>Пятый — экран результата. Тот же узел формы, только режим «завершение». И вот что он печатает: что пришло, что вернул шаг модели, что решил справочник, и номер строки в таблице. В том же окне, где заявку отправили.</a:t>
            </a:r>
          </a:p>
          <a:p/>
          <a:p>
            <a:r>
              <a:t>Отправляю заявку. Смотрите на один экран — вся дорога от текста до строки здесь, и ни в журнал, ни в таблицу идти не нужно.</a:t>
            </a:r>
          </a:p>
          <a:p/>
          <a:p>
            <a:r>
              <a:t>Пять узлов вместо трёх. Два лишних — это ровно та разница, из-за которой за эту таблицу можно отвечать.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поднимемся на уровень выше блоков, потому что блоки вы забудете, а это нет.</a:t>
            </a:r>
          </a:p>
          <a:p/>
          <a:p>
            <a:r>
              <a:t>Сначала назовём класс задачи. Мы собирали классификацию входящего потока в закрытый справочник. «Обработка заявок учебного центра» — это её частный случай, один из многих. Тикеты поддержки, резюме, входящие письма, банковские транзакции, обращения в госуслуги — то же устройство, те же пять шагов, другие слова в справочнике. Если вы поймёте это занятие как частный случай, вы собрали одну автоматизацию; если как класс — вы умеете собирать их все.</a:t>
            </a:r>
          </a:p>
          <a:p/>
          <a:p>
            <a:r>
              <a:t>Первое правило. Выход шага модели, который читает машина, обязан иметь конечное и заранее известное множество значений. Это разделение, которое стоит держать в голове постоянно: результат для человека и результат для следующего шага — разные требования. Человеку свободный текст помогает. Машине он не нужен никогда — она не умеет его сравнивать.</a:t>
            </a:r>
          </a:p>
          <a:p/>
          <a:p>
            <a:r>
              <a:t>Второе правило, и оно самое ценное. Гарантия всегда двухуровневая: просьба и проверка. Схема с перечислением — сильная просьба; проверка после — гарантия. Почему нельзя одним. Просьбу модель иногда не сдерживает. А проверка без просьбы начинает отбраковывать слишком много и превращается в поток «другого». Два уровня дают и качество, и предсказуемость. Этот приём вы встретите везде, где машина читает выход модели.</a:t>
            </a:r>
          </a:p>
          <a:p/>
          <a:p>
            <a:r>
              <a:t>Третье. Наблюдаемость закладывается в первый проход, не в последний. И не только ради удобства отладки: решая, что печатать на экране результата, вы формулируете, за что отвечаете. Это проектная работа, замаскированная под оформление.</a:t>
            </a:r>
          </a:p>
          <a:p/>
          <a:p>
            <a:r>
              <a:t>Имена блоков — внизу экрана, и они разные в каждом инструменте. Устройство одно.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нюансы, и я подам их не списком грабель, а тремя классами: почти всё, что ломается в классификации, попадает в один из трёх, и инструмент при этом может быть любым.</a:t>
            </a:r>
          </a:p>
          <a:p/>
          <a:p>
            <a:r>
              <a:t>Класс первый: гарантия уже́, чем обещание. Когда инструмент говорит «я гарантирую соответствие схеме», он гарантирует форму ответа и ничего не говорит о его правильности. Это написано прямым текстом в документации поставщика, и я ставлю это на слайд как его слова, а не как своё мнение.</a:t>
            </a:r>
          </a:p>
          <a:p/>
          <a:p>
            <a:r>
              <a:t>И у самой этой гарантии есть условия, три штуки. Она действует в строгом режиме; в обычном схема превращается в пожелание, и по виду ответа этого не отличить. Если у модели сработала защита — текст оказался таким, на который она отвечать не станет, — придёт отдельное поле отказа вместо ваших полей. И если ответ оборвался по лимиту, схемы в нём уже нет.</a:t>
            </a:r>
          </a:p>
          <a:p/>
          <a:p>
            <a:r>
              <a:t>Как это выглядит в жизни: ответ валидный, поля на месте, значение из списка — и неверное. Ни одна проверка формата этого не поймает, потому что формат в порядке.</a:t>
            </a:r>
          </a:p>
          <a:p/>
          <a:p>
            <a:r>
              <a:t>Класс второй, и его почти никогда не предусматривают: поведение меняется само. Вы ничего не трогали. Обновилась версия модели, или провайдер поменял настройки по умолчанию, или просто изменился характер входящего потока — пришёл сезон, и заявки стали другими. Классификация поехала, процесс зелёный, в журнале ни одной ошибки. Единственный способ это заметить — замерять качество регулярно, и это тема двенадцатого занятия.</a:t>
            </a:r>
          </a:p>
          <a:p/>
          <a:p>
            <a:r>
              <a:t>Класс третий — наш собственный, из устройства, которое мы только что собрали. Справочник у нас записан дважды: перечислением в схеме и списком в узле проверки. Это сознательная цена двух уровней гарантии, я на неё согласился осознанно. Но правило общее: любое описание, живущее в двух местах, однажды расходится. Поправили в одном, забыли во втором — и проверка начинает переписывать то, что модель вернула правильно. Если инструмент позволяет хранить список один раз — храните один раз. Если нет — знайте, где у вас второе 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Процесс работает, и работает честно: тема и срочность заполнены, значения из справочника, пустых клеток нет. Мы за это ручались и ручаемся.</a:t>
            </a:r>
          </a:p>
          <a:p/>
          <a:p>
            <a:r>
              <a:t>Теперь смотрите, за что мы не ручались. Отправляю заявку: «Можно перенести занятие со вторника? И подскажите, как оплатить». Две темы в одном сообщении, обе наши, обе из справочника.</a:t>
            </a:r>
          </a:p>
          <a:p/>
          <a:p>
            <a:r>
              <a:t>На экране результата: тема «перенос занятия». Одна. Про оплату не сказано ничего — ни на экране, ни в таблице, ни в журнале. Вторая тема не потерялась с ошибкой, её просто нет.</a:t>
            </a:r>
          </a:p>
          <a:p/>
          <a:p>
            <a:r>
              <a:t>Это другой класс беды, чем в первом кейсе. Там клетка могла остаться пустой, и мы это починили. Здесь клетка заполнена, значение законное, а заявка обслужена наполовину — и ни один сторож этого не заметит, потому что формально всё в порядке.</a:t>
            </a:r>
          </a:p>
          <a:p/>
          <a:p>
            <a:r>
              <a:t>Кейс второй про то, что справочник даёт гарантию формы, а гарантию смысла не даёт. И про то, какие ещё заявки ломают классификацию, которая минуту назад казалась надёжной.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второй, и в нём нет технической части: все четыре варианта собираются одинаково легко. Выбор тут содержательный.</a:t>
            </a:r>
          </a:p>
          <a:p/>
          <a:p>
            <a:r>
              <a:t>Первый: писать первую из найденных тем. Второй: писать «другое» — раз тем несколько, автоматика не справилась, пусть разбирает человек. Третий: сделать из одной заявки две строки, по теме на каждую. Четвёртый: писать главную тему и рядом пометку, что в заявке есть ещё что-то.</a:t>
            </a:r>
          </a:p>
          <a:p/>
          <a:p>
            <a:r>
              <a:t>Выбирайте и формулируйте довод. И думайте не про то, что красивее на схеме, а про человека, который завтра утром работает с этой таблицей. Что он должен увидеть, чтобы не упустить вопрос про оплату?</a:t>
            </a:r>
          </a:p>
          <a:p/>
          <a:p>
            <a:r>
              <a:t>Сразу скажу: неправильного ответа здесь нет. Все четыре живут в настоящих системах, и у каждого своя цена. Что меня интересует — кто из вас выберет второй вариант и сможет его защитить. Потому что он выглядит как отказ от автоматизации, а на самом деле это самый честный из четырёх.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Пройдём по четырём, и смотрите на средний столбец — он и есть ответ на вопрос.</a:t>
            </a:r>
          </a:p>
          <a:p/>
          <a:p>
            <a:r>
              <a:t>Первый, писать первую из найденных. Остаток разбирает никто. Мы это только что видели: вторая тема исчезает, и нигде не остаётся следа. Самый дешёвый вариант и самый опасный, потому что он выглядит как работающий.</a:t>
            </a:r>
          </a:p>
          <a:p/>
          <a:p>
            <a:r>
              <a:t>Второй, писать «другое». Остаток разбирает человек — и, что важнее, он об этом </a:t>
            </a:r>
            <a:r>
              <a:rPr b="1"/>
              <a:t>знает</a:t>
            </a:r>
            <a:r>
              <a:t>: он видит «другое» и идёт читать текст. Вот почему я называю этот ответ самым честным из четырёх: разница между ним и первым не в точности, а в знании о своём незнании. Первый уверен и неправ. Второй не знает и говорит об этом. Цена — в «другое» начинает сваливаться всё: и многотемье, и настоящая экзотика про юрлица, и заявка из одного слова «ок». Столбец «другое» разрастается, и по нему уже не видно, что именно непонятно.</a:t>
            </a:r>
          </a:p>
          <a:p/>
          <a:p>
            <a:r>
              <a:t>Третий, две строки из одной заявки. Остаток разбирает следующий шаг, без человека. Это правильный ответ для зрелой системы, и у него своя цена: одна заявка превращается в две судьбы, и надо решать, кому звонить и кто закрывает вопрос. Как из одного элемента сделать несколько — тема девятого занятия, и сегодня мы туда не идём.</a:t>
            </a:r>
          </a:p>
          <a:p/>
          <a:p>
            <a:r>
              <a:t>Четвёртый, главная тема плюс пометка. Остаток разбирает тот, кто читает пометку. Хороший вариант, и у него есть незаметное условие: пометку надо куда-то положить — отдельным столбцом, — и кому-то её читать. Столбец, который никто не читает, работает так же, как первый вариант.</a:t>
            </a:r>
          </a:p>
          <a:p/>
          <a:p>
            <a:r>
              <a:t>Что мы возьмём и почему — следующий экран.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Берём четвёртый вариант — главная тема плюс пометка. И смотрите, что для этого меняется: один узел из пяти, справочник. Форму не трогаем, извлечение не трогаем, запись и экран остаются как были.</a:t>
            </a:r>
          </a:p>
          <a:p/>
          <a:p>
            <a:r>
              <a:t>В схеме извлечения появляется ещё одно поле — «ещё в заявке»: список тем, которые в тексте есть, кроме главной. В справочнике это поле проходит ту же сверку, что и тема, и попадает в отдельный столбец.</a:t>
            </a:r>
          </a:p>
          <a:p/>
          <a:p>
            <a:r>
              <a:t>Теперь прогоняю пять заявок подряд, и это те самые заявки, на которых классификация обычно и ломается.</a:t>
            </a:r>
          </a:p>
          <a:p/>
          <a:p>
            <a:r>
              <a:t>Первая — две темы. Тема «перенос занятия», и в столбце «ещё в заявке» теперь стоит «оплата». Вторая тема перестала исчезать.</a:t>
            </a:r>
          </a:p>
          <a:p/>
          <a:p>
            <a:r>
              <a:t>Вторая — три темы, и одна из них не наша: «хочу оплатить, перенести занятие и узнать про скидки для сотрудников». Смотрите на пометку: «перенос занятия · другое». Про скидки в справочнике нет ничего, и третья тема честно стала «другим» — не выдумкой и не пропуском.</a:t>
            </a:r>
          </a:p>
          <a:p/>
          <a:p>
            <a:r>
              <a:t>Третья — про юрлица. Такой темы в справочнике нет вовсе, и это правильно: мы не обязаны предусмотреть всё. Смотрите на экран: тема «другое». Честное «это не из нашего списка» — вместо пустой клетки и вместо выдумки.</a:t>
            </a:r>
          </a:p>
          <a:p/>
          <a:p>
            <a:r>
              <a:t>Четвёртая — «расскажите про курс», без всякой срочности. Тема «курс», срочность «не указано». Обратите внимание: модель не придумала срочность, потому что в справочнике для этого есть законное значение. Если бы его не было, она бы что-нибудь поставила — это самый частый способ получить выдумку в данных.</a:t>
            </a:r>
          </a:p>
          <a:p/>
          <a:p>
            <a:r>
              <a:t>И пятая, моя любимая. Заявка из одного слова: «ок». Прогоняю. Тема «другое», срочность «не указано», строка в таблице есть. Процесс не упал, клетки не пусты, и никто не соврал.</a:t>
            </a:r>
          </a:p>
          <a:p/>
          <a:p>
            <a:r>
              <a:t>Вот что я хочу, чтобы вы отсюда унесли. Классификация надёжна не тогда, когда модель всегда права, а тогда, когда у неё есть законный способ сказать «не знаю» — и этот способ ведёт к человеку, а не в пустую клетку.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Обобщаем, и здесь обобщение важнее техники — техники в этом кейсе было на один узел.</a:t>
            </a:r>
          </a:p>
          <a:p/>
          <a:p>
            <a:r>
              <a:t>Первое правило. «Не знаю» должно быть значением — таким же, как остальные, а не отсутствием значения в клетке. Разница в том, где платишь. Система, которая умеет законно воздержаться, дороже в разработке: нужно предусмотреть значение, место для разбора и человека. Система без этого дешевле собирается и дороже живёт, потому что модель всегда что-нибудь ответит, а неверный ответ по виду не отличается от верного. Это общее правило для всего, что классифицирует, — и для людей тоже, кстати.</a:t>
            </a:r>
          </a:p>
          <a:p/>
          <a:p>
            <a:r>
              <a:t>Второе. Многозначность входа — проектное решение, которое принимают до сборки. Один вход даёт ровно один класс или может дать несколько? Это не вопрос схемы, это вопрос про то, кто закрывает заявку: если тема одна, у заявки один адресат и одно завершение; если несколько — надо решить, закрывается она целиком или по частям. Переделка этого решения потом идёт по всей цепочке, вплоть до отчётности.</a:t>
            </a:r>
          </a:p>
          <a:p/>
          <a:p>
            <a:r>
              <a:t>Третье. У очереди на разбор обязан быть владелец и метрика. Доля «другого» — показатель, который смотрят регулярно. Очередь без человека ничем не лучше потерянной темы: там и там работа не сделана, только в одном случае об этом есть запись.</a:t>
            </a:r>
          </a:p>
          <a:p/>
          <a:p>
            <a:r>
              <a:t>Про инструменты одна строка, но с важной деталью. В n8n ветка по умолчанию есть и у переключателя, и у классификатора текста — и у классификатора по умолчанию элемент, не попавший ни в одну категорию, </a:t>
            </a:r>
            <a:r>
              <a:rPr b="1"/>
              <a:t>отбрасывается</a:t>
            </a:r>
            <a:r>
              <a:t>. Бесследно. Это первая настройка, которую в нём меняют, и мы вернёмся к ней на девятом занятии. В sim для этого есть отдельный примитив — guardrails. В Activepieces то же делается условием после шага.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класса, и опять не список грабель. Справочник — это договорённость о том, как мы делим мир на части, и ломается она тремя способами.</a:t>
            </a:r>
          </a:p>
          <a:p/>
          <a:p>
            <a:r>
              <a:t>Класс первый, и он коварнее всего, потому что ловит именно аккуратных людей. Доля «другого» — главный показатель здоровья классификации, и смотрят его обычно в одну сторону. Растёт — замечают: очередь на разбор пухнет, человек жалуется, идут разбираться. Падает — радуются.</a:t>
            </a:r>
          </a:p>
          <a:p/>
          <a:p>
            <a:r>
              <a:t>А радоваться нельзя. Падение означает одно из двух, и различить их по показателю нельзя. Либо список действительно стал полнее — тогда хорошо. Либо модель стала решительнее: перестала воздерживаться и начала раскладывать по классам то, в чём не уверена. Второе выглядит как улучшение по всем показателям, кроме правильности, — а правильность по показателю не видна, её проверяют выборкой руками. Других способов нет.</a:t>
            </a:r>
          </a:p>
          <a:p/>
          <a:p>
            <a:r>
              <a:t>Класс второй. Границы списка — это договорённость, а не факт о мире. Что считать переносом, что оплатой, а что «другим» — решили вы, и решение со временем меняется: добавился класс, переименовался другой, один разделился на два. И вот тут появляется проблема, которую замечают через год: если у справочника нет версии, строки за разные месяцы перестают быть сопоставимыми. Годовой отчёт складывает несравнимое и об этом не сообщает. Версионируйте справочник так же, как версионируете схему базы данных, — и записывайте, когда что изменилось.</a:t>
            </a:r>
          </a:p>
          <a:p/>
          <a:p>
            <a:r>
              <a:t>Класс третий. Вход всегда шире, чем вы думали, когда собирали справочник. Собирали на одном языке и на аккуратных текстах — приходят три языка, пересланные переписки с цитатами, голосовые сообщения, снимки экрана вместо текста, и заявки, где тем сразу три. Классификация от этого тихо деградирует, и, обратите внимание, в журнале при этом ни одной ошибки: процесс исправно раскладывает по классам то, что раскладывать не умеет.</a:t>
            </a:r>
          </a:p>
          <a:p/>
          <a:p>
            <a:r>
              <a:t>И это, кстати, не про модели. То же самое происходит с классификацией, которую делают люди по инструкции: инструкцию писали под один поток, пришёл другой, а показателей никто не смотрит.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начинается не с чьих-то слов, а с того, что видно в таблице.</a:t>
            </a:r>
          </a:p>
          <a:p/>
          <a:p>
            <a:r>
              <a:t>Утро понедельника. Процесс работает неделю, к нему привыкли, в таблицу заглядывают по делу. Заглядывают — и видят: пятница заполнена, понедельник заполнен, выходных нет вовсе. Открою сейчас таблицу на стенде, посмотрим на эту дырку вместе.</a:t>
            </a:r>
          </a:p>
          <a:p/>
          <a:p>
            <a:r>
              <a:t>Что мы знаем на этот момент. Заявки за выходные приходили — это видно по журналу формы на сайте. В таблице их нет. Процесс не останавливался и ни на что не жаловался: письма об ошибке никто не получал, потому что никто не настраивал, кому его отправлять.</a:t>
            </a:r>
          </a:p>
          <a:p/>
          <a:p>
            <a:r>
              <a:t>Чего мы не знаем, и это важнее: что именно процесс делал эти два дня. Падал на каждой заявке? На части? Писал куда-то не туда? Журнал прогонов посмотреть можно, и мы посмотрим.</a:t>
            </a:r>
          </a:p>
          <a:p/>
          <a:p>
            <a:r>
              <a:t>Причина, кстати, выяснится скучная: провайдер модели два часа отдавал таймауты. Интересно здесь другое — что процесс должен был сделать вместо того, что он сделал.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третий. Четыре варианта поведения, выбирайте один и готовьте довод.</a:t>
            </a:r>
          </a:p>
          <a:p/>
          <a:p>
            <a:r>
              <a:t>Остановить весь процесс: отказ — это отказ, дальше ехать незачем. Пропустить и идти дальше: одна заявка не разобралась, остальные не виноваты. Повторить: сеть моргнула, попробуем ещё раз. Отправить в отдельную ветку: пусть неудачные идут своей дорогой, разберём их отдельно.</a:t>
            </a:r>
          </a:p>
          <a:p/>
          <a:p>
            <a:r>
              <a:t>Одна подсказка, и она же проверка на внимательность. Правильный ответ задаётся тем, что стоит дальше по процессу. У нас дальше — запись строки в таблицу. Если бы дальше стояла, скажем, отправка счёта или увольнение сотрудника по итогам разбора, ответ был бы другим. Поэтому формулируйте не «надо повторять», а «надо повторять, потому что дальше у нас…».</a:t>
            </a:r>
          </a:p>
          <a:p/>
          <a:p>
            <a:r>
              <a:t>И вопрос в сторону, пока голосуете: кто-нибудь ставил такое поведение в своей системе сознательно, а не по умолчанию? Что стояло по умолчанию, знаете?</a:t>
            </a:r>
          </a:p>
          <a:p/>
          <a:p>
            <a:r>
              <a:t>Я спрашиваю не для красоты. Все четыре варианта, которые вы сейчас выбираете, — это не абстракции. Это буквально значения одной настройки в карточке узла, и один из них стоит там по умолчанию. Какой именно — скажу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поворот, ради которого вопрос задавался именно так.</a:t>
            </a:r>
          </a:p>
          <a:p/>
          <a:p>
            <a:r>
              <a:t>Вы сейчас голосовали за поведение — а выбирали, не зная того, из выпадающего списка. Все четыре варианта это значения настройки On Error в карточке любого узла. Не только узла модели — любого. Это стандартная часть устройства инструмента, и она есть у каждого шага.</a:t>
            </a:r>
          </a:p>
          <a:p/>
          <a:p>
            <a:r>
              <a:t>Пройдём по ним с ценой каждого.</a:t>
            </a:r>
          </a:p>
          <a:p/>
          <a:p>
            <a:r>
              <a:t>Stop Workflow — остановить всё. Стоит по умолчанию, то есть это то, что происходило в наши выходные. Уместно, когда дальше по процессу необратимое: счёт, письмо клиенту, списание. Лучше не сделать ничего, чем сделать половину.</a:t>
            </a:r>
          </a:p>
          <a:p/>
          <a:p>
            <a:r>
              <a:t>Continue — пропустить и идти дальше. Выглядит безобидно и является худшим из четырёх. Потому что «идти дальше» означает: текст ошибки поедет следующему узлу как обычные данные. То есть в столбце «тема» у вас окажется строка про таймаут соединения. Процесс при этом зелёный. Это та же беда, что в кейсе два, и теперь вы её узнаёте.</a:t>
            </a:r>
          </a:p>
          <a:p/>
          <a:p>
            <a:r>
              <a:t>Continue using error output — у узла появляется второй выход, подписанный error, и неудачные элементы идут в него. Это то, что нужно, когда отказы хочется видеть и разбирать.</a:t>
            </a:r>
          </a:p>
          <a:p/>
          <a:p>
            <a:r>
              <a:t>И отдельно Retry On Fail — это не альтернатива трём предыдущим, а то, что происходит до них. Повторяет N раз, и только если все попытки провалились, применяется выбранное поведение. Для сетевых отказов это первая линия: таймаут в большинстве случаев проходит со второй попытки.</a:t>
            </a:r>
          </a:p>
          <a:p/>
          <a:p>
            <a:r>
              <a:t>Кто голосовал за остановку всего процесса — вы выбрали то, что и так стояло. Именно поэтому таблица пустая.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Собираю. Открываю карточку узла извлечения, иду в настройки — это отдельная вкладка, не параметры.</a:t>
            </a:r>
          </a:p>
          <a:p/>
          <a:p>
            <a:r>
              <a:t>Включаю Retry On Fail. Появляются два поля: сколько попыток и сколько ждать между ними. Ставлю три попытки и две секунды.</a:t>
            </a:r>
          </a:p>
          <a:p/>
          <a:p>
            <a:r>
              <a:t>Ниже On Error, выбираю Continue using error output. Смотрите на холст: у узла появился второй выход, подписанный и отрисованный красным.</a:t>
            </a:r>
          </a:p>
          <a:p/>
          <a:p>
            <a:r>
              <a:t>Теперь куда его вести. В ту же таблицу, только значения другие: тема «другое», срочность «не указано», </a:t>
            </a:r>
            <a:r>
              <a:rPr>
                <a:latin typeface="Consolas"/>
              </a:rPr>
              <a:t>status</a:t>
            </a:r>
            <a:r>
              <a:t> становится </a:t>
            </a:r>
            <a:r>
              <a:rPr>
                <a:latin typeface="Consolas"/>
              </a:rPr>
              <a:t>not_parsed</a:t>
            </a:r>
            <a:r>
              <a:t> вместо </a:t>
            </a:r>
            <a:r>
              <a:rPr>
                <a:latin typeface="Consolas"/>
              </a:rPr>
              <a:t>ok</a:t>
            </a:r>
            <a:r>
              <a:t>. И дальше свой экран результата, который честно печатает: вызов не удался после трёх попыток, строка записана, вот её номер.</a:t>
            </a:r>
          </a:p>
          <a:p/>
          <a:p>
            <a:r>
              <a:t>Почему в ту же таблицу, а не в отдельное место: потому что человек, который утром смотрит заявки, смотрит одну таблицу. Если неудачные лежат в другом месте, он туда не пойдёт, пока не заподозрит. А мы только что видели, во что это обходится — двое суток пропуска.</a:t>
            </a:r>
          </a:p>
          <a:p/>
          <a:p>
            <a:r>
              <a:t>Теперь показываю, что это работает, и показываю настоящим отказом. Порчу ключ провайдера: добавляю лишний символ. Отправляю заявку.</a:t>
            </a:r>
          </a:p>
          <a:p/>
          <a:p>
            <a:r>
              <a:t>Смотрите на журнал. Три попытки с паузами, все три неудачны — и обратите внимание, где они показаны: на узле модели, а не на узле извлечения. Повтор стоит на извлечении, а платим мы тремя вызовами модели. Запомните это к следующему экрану.</a:t>
            </a:r>
          </a:p>
          <a:p/>
          <a:p>
            <a:r>
              <a:t>Дальше элемент уходит в красную ветку, и в ней он несёт исходные данные формы плюс поле с текстом ошибки — то есть в таблицу можно записать и саму заявку, и причину. Экран печатает «заявка принята, но не разобрана».</a:t>
            </a:r>
          </a:p>
          <a:p/>
          <a:p>
            <a:r>
              <a:t>И главное число: статус всего прогона — успех. Три отказа подряд, а прогон зелёный.</a:t>
            </a:r>
          </a:p>
          <a:p/>
          <a:p>
            <a:r>
              <a:t>Возвращаю ключ, отправляю ещё раз. Экран обычный, строка нормальная. Один узел, две судьбы, и обе видны там, где заявку отправили.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Обобщаем, и это обобщение шире нашего инструмента: три правила из них живут в любой системе, где один шаг зовёт другой по сети. Вы встретите их в очередях сообщений, в клиентах к чужому API, в платёжных интеграциях.</a:t>
            </a:r>
          </a:p>
          <a:p/>
          <a:p>
            <a:r>
              <a:t>Первое. Повтор лечит временный отказ и только его. Таймаут, превышение лимита запросов, «сервис временно недоступен» — повторяйте, со второй попытки обычно проходит. Неверный ключ, негодный запрос, отсутствующее обязательное поле — повтор не поможет никогда и лишь утроит расход на ту же ошибку. Эти два класса различают заранее, по коду ответа. Глазами в журнале — это уже после того, как заплатили. Инструмент сам их не различает: он повторяет всё, на чём вы включили повтор.</a:t>
            </a:r>
          </a:p>
          <a:p/>
          <a:p>
            <a:r>
              <a:t>Второе. У отказа должен быть адресат. Любой отказ попадает либо прямо на человека, либо в очередь неразобранного — и обязательно с исходными данными и причиной, иначе разбирать нечего. У этого приёма есть устоявшееся имя, запомните его: </a:t>
            </a:r>
            <a:r>
              <a:rPr b="1"/>
              <a:t>очередь неразобранного</a:t>
            </a:r>
            <a:r>
              <a:t>, по-английски dead letter queue. Встретите в любой системе очередей. Отказ, которому некуда идти, превращается в тишину — а тишину не мониторит никто, и это те самые двое суток пропуска.</a:t>
            </a:r>
          </a:p>
          <a:p/>
          <a:p>
            <a:r>
              <a:t>Третье, и это самое ценное за занятие. Технический успех и деловой — независимые утверждения. «Прогон завершился» и «результат годен» — две разные вещи, и журнал показывает первое. Мы это видели своими глазами: три отказа подряд, статус успех. Вывод не про n8n: любая система, которая докладывает только о своих исключениях, молчит про негодные результаты. Проверять надо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класса, и они из инженерной практики больших распределённых систем, а не из нашего оркестратора. Применимы всюду, где один шаг зовёт другой по сети: в очередях сообщений, в клиентах к чужому API, в платёжных интеграциях.</a:t>
            </a:r>
          </a:p>
          <a:p/>
          <a:p>
            <a:r>
              <a:t>Класс первый: повтор небезопасен по умолчанию. Повторять можно то, что можно сделать дважды без последствий, — это свойство называется идемпотентностью, и запомнить слово стоит, оно вам встретится. Чтение идемпотентно всегда. «Отправить письмо», «создать заказ», «списать деньги» — нет.</a:t>
            </a:r>
          </a:p>
          <a:p/>
          <a:p>
            <a:r>
              <a:t>И вот ловушка, из-за которой на этом спотыкаются даже аккуратные. Таймаут означает ровно одно: ответ не пришёл. Про то, произошло ли действие, он не говорит ничего. Письмо могло уйти, деньги могли списаться, а потеряться мог только ответ — и повтор тогда сделает это второй раз. Как это выглядит: клиент получил два письма, и в журнале при этом один прогон, успешный.</a:t>
            </a:r>
          </a:p>
          <a:p/>
          <a:p>
            <a:r>
              <a:t>Класс второй: повтор — это нагрузка, а не только задержка. Повторы складываются. Если они включены на каждом слое, слои множат друг друга: три попытки на каждом из пяти слоёв дают двести сорок три обращения вместо одного. Это пример из инженерной библиотеки Amazon, и вывод оттуда же — повторять надо в одном месте стека. У нас в оркестраторе галочка «повторить» есть на каждом узле, и соблазн поставить её везде прямой.</a:t>
            </a:r>
          </a:p>
          <a:p/>
          <a:p>
            <a:r>
              <a:t>Вторая половина того же класса: если все клиенты повторяют через ровно одинаковый интервал, они повторяют синхронно — и добивают сервис, который только начал подниматься. Нужен случайный разброс задержек. В простых оркестраторах его обычно нет, и это повод не ставить повтор на горячий путь без размышления.</a:t>
            </a:r>
          </a:p>
          <a:p/>
          <a:p>
            <a:r>
              <a:t>Класс третий, и он про нас сегодняшних. Отказ, которому некуда идти, не исчезает — он превращается в отсутствие записи. А отсутствие записи не мониторит никто: ни один сторож не умеет сработать на то, чего нет. Именно так и получаются двое суток пропуска, с которых мы начали этот кейс. Поэтому у отказа обязан быть адресат — человек или очередь неразобранного, но обязательно что-то, что оставляет след.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Четвёртый кейс, и он единственный, где мы ничего не будем достраивать. Здесь разберём, почему уже собранное работает не так, как выглядит.</a:t>
            </a:r>
          </a:p>
          <a:p/>
          <a:p>
            <a:r>
              <a:t>Ситуация. Промпт получился неточным: тема иногда определялась слишком общо. Поправили, проверили ручным запуском — хорошо, именно то, что хотели. Закрыли, пошли дальше.</a:t>
            </a:r>
          </a:p>
          <a:p/>
          <a:p>
            <a:r>
              <a:t>На следующий день смотрят таблицу за сутки. Все заявки разобраны по-старому. Открывают холст — правка на месте, никто её не откатывал. Запускают руками — работает по-новому.</a:t>
            </a:r>
          </a:p>
          <a:p/>
          <a:p>
            <a:r>
              <a:t>Оба утверждения на экране верны одновременно, и это не чья-то ошибка и не чья-то забывчивость. Это устройство инструмента, про которое не сказали.</a:t>
            </a:r>
          </a:p>
          <a:p/>
          <a:p>
            <a:r>
              <a:t>Я ставлю этот кейс последним намеренно. На первых трёх мы собирали, и всё, что собирали, проверяли ручным запуском — тем самым способом, который здесь оказывается недостаточным. Скажи я про это в начале, вы бы запомнили правило. А сейчас вы сначала увидели цену его незнания.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четвёртый, и голосуем так же: один вариант, довод.</a:t>
            </a:r>
          </a:p>
          <a:p/>
          <a:p>
            <a:r>
              <a:t>Правку не сохранили — забыли нажать кнопку, бывает. Сохранили, но не опубликовали — есть какой-то отдельный шаг, который не сделали. Кэш — где-то лежит старая версия, само пройдёт. Ручной запуск и боевой — разные пути, и правка попала только в один из них.</a:t>
            </a:r>
          </a:p>
          <a:p/>
          <a:p>
            <a:r>
              <a:t>Подсказка одна, и она честная: правильных карточек здесь две. Не потому что я схитрил с формулировками, а потому что две из четырёх описывают одно и то же явление с разных сторон — со стороны того, что надо сделать, и со стороны того, как оно устроено. Найдите обе.</a:t>
            </a:r>
          </a:p>
          <a:p/>
          <a:p>
            <a:r>
              <a:t>И тот, кто выберет первую, пусть скажет: а вы вообще видели в этом инструменте кнопку «Сохранить»? Вспомните последний час. Мы тут собрали три процесса, и ни один из нас ни разу ничего не сохранял.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механика, и в ней три утверждения.</a:t>
            </a:r>
          </a:p>
          <a:p/>
          <a:p>
            <a:r>
              <a:t>Первое: правки сохраняются сами и постоянно, в черновик. Кнопки «Сохранить» в этом инструменте нет вовсе — вы её не искали, потому что она не нужна.</a:t>
            </a:r>
          </a:p>
          <a:p/>
          <a:p>
            <a:r>
              <a:t>Второе: в боевой режим правка уходит отдельным действием, которое называется Publish.</a:t>
            </a:r>
          </a:p>
          <a:p/>
          <a:p>
            <a:r>
              <a:t>Третье, и оно главное: боевые прогоны исполняют опубликованную версию, а не ту, что открыта у вас в редакторе. Это две разные версии сценария, обе существуют одновременно, и обе живые.</a:t>
            </a:r>
          </a:p>
          <a:p/>
          <a:p>
            <a:r>
              <a:t>Теперь понятно, почему верны вторая и четвёртая карточки и почему это одно и то же. Вторая говорит, чего не сделали: не опубликовали. Четвёртая говорит, как это устроено: ручной запуск идёт по черновику, боевой — по опубликованному. Одно явление, два описания.</a:t>
            </a:r>
          </a:p>
          <a:p/>
          <a:p>
            <a:r>
              <a:t>Первая неверна: сохранять нечего. Третья неверна, и это полезная неверность — ждать можно сутки, ничего не изменится, потому что никакого кэша здесь нет. Есть две версии, и одна из них старая по вашему же решению.</a:t>
            </a:r>
          </a:p>
          <a:p/>
          <a:p>
            <a:r>
              <a:t>Отдельно про слово. Раньше в этом инструменте была кнопка «Активировать», и многие курсы и статьи до сих пор говорят «активируй сценарий». В версии 2 этого слова в интерфейсе нет: его место занял Publish, и значит он другое. Активация включала сценарий; публикация выкладывает версию. Если найдёте инструкцию со словом «активировать» — она про старую версию, и дальше в ней могут быть расхождения серьёзнее одного слова.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Обобщаем, и это обобщение самое короткое и самое дорогое.</a:t>
            </a:r>
          </a:p>
          <a:p/>
          <a:p>
            <a:r>
              <a:t>Первое. Среда редактирования и среда исполнения — разные, и так устроен каждый инструмент, в котором есть редактор. Называется по-разному: черновик и опубликованное, ветка и прод, тест и бой. Важно одно: правка переходит из одной в другую отдельным действием, и это действие легко не сделать — особенно когда предыдущий инструмент, которым вы пользовались, сохранял и публиковал одной кнопкой.</a:t>
            </a:r>
          </a:p>
          <a:p/>
          <a:p>
            <a:r>
              <a:t>Второе, и это пригодится вам уже на следующем занятии. Проверка руками не покрывает путей, которые существуют только в боевом режиме. Обработчик ошибок, расписание, реакция на вызов чужой системы — ни один из них ручным запуском не проверяется, и это свойство самих путей, а не недоработка инструмента: их запускает событие, которого при ручном прогоне не происходит. Значит, их проверка — отдельная работа: вызвать настоящее событие и посмотреть, что было.</a:t>
            </a:r>
          </a:p>
          <a:p/>
          <a:p>
            <a:r>
              <a:t>Третье. На вопрос «что сейчас работает в бою» должен быть ответ за секунду, а откат на предыдущую версию — за минуту. Если ответа нет, то любая правка — это ставка. Инструменты это умеют: история версий есть, откат есть. Пользуются ими ровно те, кто один раз обжёгся.</a:t>
            </a:r>
          </a:p>
          <a:p/>
          <a:p>
            <a:r>
              <a:t>Про инструменты: в n8n это черновик и Publish, и обратите внимание на слово — «активировать» в версии два из интерфейса исчезло. Нашли инструкцию со словом «активируй» — она про старую версию, и расхождения в ней могут быть серьёзнее одного слова. В LangFlow боевого режима нет вовсе: что открыто, то и исполняется. Это та же граница класса инструментов, о которой мы говорили в первом кейсе.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класса, и все три про один и тот же разрыв: между тем, что вы видите, и тем, что работает.</a:t>
            </a:r>
          </a:p>
          <a:p/>
          <a:p>
            <a:r>
              <a:t>Класс первый: среды ведут себя по-разному. Мы уже разобрали главный случай — правка в черновике, бой идёт по опубликованному. Но различие шире. Ручной прогон и боевой различаются ещё и расходом памяти: инструмент копирует все промежуточные данные, чтобы вы могли щёлкнуть по узлу и посмотреть, что в нём было. Удобно и дорого. Следствие неприятное и обратное тому, что ожидается: на больших объёмах ручной прогон падает ровно там, где боевой проходит нормально. То есть «проверил руками — упало» тоже не всегда правда о боевом поведении.</a:t>
            </a:r>
          </a:p>
          <a:p/>
          <a:p>
            <a:r>
              <a:t>Класс второй: часть путей существует только в бою. Обработчик ошибок, расписание, реакция на вызов чужой системы — ни один из них ручным запуском не проверяется. И это не недоработка инструмента, а свойство самих путей: их запускает событие, которого при ручном прогоне просто не происходит. Отсюда практический вывод: проверка таких путей — отдельная работа, и она состоит в том, чтобы вызвать настоящее событие и посмотреть, что было. На следующем занятии мы будем делать обработчик ошибок, и там это всплывёт сразу: нажмёте «выполнить» и не увидите ничего.</a:t>
            </a:r>
          </a:p>
          <a:p/>
          <a:p>
            <a:r>
              <a:t>Класс третий, и это единственный пункт сегодня про безопасность. Вместе с файлом сценария уезжает больше, чем кажется. Секретов там нет — пароли и ключи инструмент хранит отдельно. А вот идентификаторы и имена подключений, адреса, пути, имена таблиц и внутренних сервисов — есть. Я это обнаружил на нашем же файле: студенческий пришлось собирать отдельно, со снятыми привязками, иначе он утащил бы ссылки на мой стенд.</a:t>
            </a:r>
          </a:p>
          <a:p/>
          <a:p>
            <a:r>
              <a:t>Правило простое, и его стоит выполнять механически, без размышлений: перед тем как отдать файл сценария кому-то — откройте его и прочитайте глазами. Это тридцать секунд. Паролей там нет, а лишнее бывает — и чаще всего это лишнее про вашу инфраструктуру, а не про ваши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раз за занятие отвлечёмся от блоков, и ненадолго.</a:t>
            </a:r>
          </a:p>
          <a:p/>
          <a:p>
            <a:r>
              <a:t>В том же центре есть второй поток. Преподаватели присылают по почте отчёт о проведённом занятии: сколько пришло, что прошли. Двадцать писем в неделю. Их читает одна сотрудница и переносит две цифры в таблицу. Пять минут в день, иногда меньше.</a:t>
            </a:r>
          </a:p>
          <a:p/>
          <a:p>
            <a:r>
              <a:t>Приходят и просят: сделайте так же, автоматически, а то руками.</a:t>
            </a:r>
          </a:p>
          <a:p/>
          <a:p>
            <a:r>
              <a:t>И вот это ровно тот момент, в котором половина автоматизаций в жизни зарождается и потом живёт годами, никому не принося пользы и требуя внимания. Вопрос: по какому признаку видно, что строить не надо?</a:t>
            </a:r>
          </a:p>
          <a:p/>
          <a:p>
            <a:r>
              <a:t>Четыре карточки. Объём маленький. Результат читает человек. Вход однотипный и шаг один. И четвёртая, с подвохом: не строить вообще, а один раз спросить модель.</a:t>
            </a:r>
          </a:p>
          <a:p/>
          <a:p>
            <a:r>
              <a:t>Выбирайте, и у кого есть довод против своего же выбора — говорите и его тоже, этот вопрос того стоит.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Разберём, и начну с карточки, которая выглядела подвохом, а была правильной.</a:t>
            </a:r>
          </a:p>
          <a:p/>
          <a:p>
            <a:r>
              <a:t>«Не строить вообще, а один раз спросить модель» — это законный ответ, и это нижняя ступень той лестницы, по которой мы шесть занятий будем идти вверх. Открыть чат, вставить двадцать писем, получить таблицу, вставить в документ. Пять минут раз в неделю, ноль поддержки, ноль узлов, которые кто-то должен помнить. Для этой задачи это, скорее всего, правильное решение, и важно уметь его называть вслух — потому что на курсе про построение процессов соблазн строить есть всегда.</a:t>
            </a:r>
          </a:p>
          <a:p/>
          <a:p>
            <a:r>
              <a:t>Теперь про объём. «Мало» — не критерий, и это главное, что я хочу оставить. Пять минут в день не аргумент ни за, ни против: они одинаково хорошо обосновывают и «не стоит возни», и «так почему не убрать эти пять минут». На объёме спор не решается.</a:t>
            </a:r>
          </a:p>
          <a:p/>
          <a:p>
            <a:r>
              <a:t>Признак другой: куда уходит результат. Если цифры читает человек и он же решает, что с ними делать, — он же заметит, если они странные, в тот же день. Процесс строить незачем: вы не убираете работу, вы добавляете к ней надзор. Если результат уходит дальше без человека — в отчёт, в начисление, в рассылку, — то проверять его должен уже механизм, и вот здесь процесс начинается.</a:t>
            </a:r>
          </a:p>
          <a:p/>
          <a:p>
            <a:r>
              <a:t>Второй признак — типы входа. Пока вход однотипный и шаг один, строить нечего. Как только типов становится больше и они расходятся дальше по-разному, появляется ветвление, а с ним и процесс. Это, кстати, ровно тема следующего занятия.</a:t>
            </a:r>
          </a:p>
          <a:p/>
          <a:p>
            <a:r>
              <a:t>И строка, которую стоит запомнить целиком. Самая дорогая автоматизация — та, которую построили из-за слова «руками». Не из-за того, что руками перестало получаться, а из-за того, что слово неприятное.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Соберём, что получилось за полтора часа.</a:t>
            </a:r>
          </a:p>
          <a:p/>
          <a:p>
            <a:r>
              <a:t>Форма принимает заявку и сама объясняет человеку, что с его текстом произойдёт. Узел извлечения достаёт тему, срочность, контакт из текста и пометку о других темах — всё по схеме с перечислением. Справочник сверяет и не оставляет ни пустых клеток, ни значений вне списка. Строка уходит в таблицу. Экран результата печатает всю дорогу в том же окне. А на узле извлечения стоят повтор и вторая ветка, так что отказ вызова тоже доезжает — с пометкой, а не в тишину.</a:t>
            </a:r>
          </a:p>
          <a:p/>
          <a:p>
            <a:r>
              <a:t>Это не учебная заготовка. Такой процесс можно поставить в небольшом центре, и он будет приносить пользу, пока поток не вырастет. За каждую строку в этой таблице можно отвечать — ровно это мы и обсуждали в первом кейсе.</a:t>
            </a:r>
          </a:p>
          <a:p/>
          <a:p>
            <a:r>
              <a:t>Файл называется так, как на экране. Ставится одним импортом через меню сценария. Что нужно с вашей стороны: свой n8n и ключ провайдера модели. Инструкция по подъёму идёт вместе с файлом, там оба способа — с контейнером и без.</a:t>
            </a:r>
          </a:p>
          <a:p/>
          <a:p>
            <a:r>
              <a:t>Два узла в файле придётся настроить самим, и это сделано намеренно: в узле модели пустые учётные данные, в узле таблицы — пустой выбор таблицы. Мой стенд вам недоступен, и чужой идентификатор в этих полях выглядел бы сломанным узлом — десять минут недоумения на ровном месте.</a:t>
            </a:r>
          </a:p>
          <a:p/>
          <a:p>
            <a:r>
              <a:t>Задание на дом не письменное, и его никто не проверяет. Просьба такая: поставьте, отправьте три заявки, похожие на вашу настоящую работу, и посмотрите на экран результата. Где развалится первым? Оно развалится, у меня на этот счёт иллюзий нет.</a:t>
            </a:r>
          </a:p>
          <a:p/>
          <a:p>
            <a:r>
              <a:t>С этого мы и начнём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Чем мы заканчиваем и чего нам не хватает.</a:t>
            </a:r>
          </a:p>
          <a:p/>
          <a:p>
            <a:r>
              <a:t>Сейчас у нас одна дорога. Любая заявка идёт через один и тот же шаг и попадает в одну и ту же таблицу. Пока заявки однотипные — этого достаточно, мы только что это и обсуждали.</a:t>
            </a:r>
          </a:p>
          <a:p/>
          <a:p>
            <a:r>
              <a:t>Но тема у нас уже выделена отдельным полем. И как только она выделена, сразу видно, что заявка про оплату и заявка про перенос занятия должны ехать дальше по-разному: одна бухгалтеру, другая в расписание. Одной дорогой это не делается.</a:t>
            </a:r>
          </a:p>
          <a:p/>
          <a:p>
            <a:r>
              <a:t>Следующее занятие про развилку. Как она устроена, по какому полю разводит, и главный вопрос, который на ней обычно забывают: что делать с тем, что не подошло ни под одну ветку. Мы такую заявку уже видели — помните, я прогонял «а вы сотрудничаете с юрлицами?». Тема у неё получилась какая угодно, а правильный ответ был «не знаю». Куда её девать — вопрос восьмого занятия, и у инструмента на него есть ответ по умолчанию, который вам не понравится.</a:t>
            </a:r>
          </a:p>
          <a:p/>
          <a:p>
            <a:r>
              <a:t>Там же будет проверка результата шага до того, как он уехал дальше: сегодня мы ловили отказ вызова, а это другое — вызов прошёл, а результат негодный.</a:t>
            </a:r>
          </a:p>
          <a:p/>
          <a:p>
            <a:r>
              <a:t>И одна вещь, которую я скажу заранее, чтобы вы заранее не поверили в обратное. Ветки, которые на холсте выглядят параллельными, выполняются по очереди, одна за другой, в порядке их положения на экране. Разберём почему.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515600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456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Первый работающий процесс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098798"/>
            <a:ext cx="10515600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24"/>
              </a:lnSpc>
              <a:spcAft>
                <a:spcPts val="400"/>
              </a:spcAft>
            </a:pPr>
            <a:r>
              <a:rPr sz="1800" b="0" i="0">
                <a:solidFill>
                  <a:srgbClr val="D6E2EC"/>
                </a:solidFill>
                <a:latin typeface="Arial"/>
              </a:rPr>
              <a:t>Процессы на больших языковых моделях (LLM): занятие первое из шести.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Автоматизация процессов — дисциплина старая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76248"/>
            <a:ext cx="11183112" cy="2401570"/>
          </a:xfrm>
          <a:prstGeom prst="roundRect">
            <a:avLst>
              <a:gd name="adj" fmla="val 1269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59128"/>
            <a:ext cx="267079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ВЫ ЭТО ВИДЕЛИ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02902" y="1659128"/>
            <a:ext cx="258170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ЗАПУСКАЕТ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0912" y="1659128"/>
            <a:ext cx="512593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ИЗ ЧЕГО СОСТОИТ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41195"/>
            <a:ext cx="267079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сборка и доставка кода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2902" y="1941195"/>
            <a:ext cx="258170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или расписание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0912" y="1941195"/>
            <a:ext cx="512593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шаги сборки, проверки, развёртывания; откат при сбое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8834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88349"/>
            <a:ext cx="267079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перенос данных между системами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902" y="2288349"/>
            <a:ext cx="25817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расписание или появление файла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0912" y="2288349"/>
            <a:ext cx="51259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взять, преобразовать, положить; повтор при отказе источника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1806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18066"/>
            <a:ext cx="267079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заявки и согласования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902" y="2818066"/>
            <a:ext cx="258170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человек нажал «отправить»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0912" y="2818066"/>
            <a:ext cx="512593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маршрут по условиям, ожидание решения, уведомления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1652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165221"/>
            <a:ext cx="267079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интеграции между сервисами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2902" y="3165221"/>
            <a:ext cx="25817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событие в чужой системе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0912" y="3165221"/>
            <a:ext cx="51259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вызов по адресу, разбор ответа, запись результата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545330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673346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 всех четырёх одно устройство: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что-то запускает процесс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дальше идут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шаги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между ними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условия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на сбое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заранее описанное поведение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Инструменты называют это по-разному; устройство одно и ему много лет.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в неё добавили языковые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15212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98092"/>
            <a:ext cx="450488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ТАКУЮ РАБОТУ РАНЬШЕ ДЕЛАЛ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6990" y="1298092"/>
            <a:ext cx="60198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ОНА СТАЛА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80159"/>
            <a:ext cx="45048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человек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читает письмо и ставит пометку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6990" y="1580159"/>
            <a:ext cx="601985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модели возвращает пометку из списка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92731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1927313"/>
            <a:ext cx="45048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набор правил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ищет ключевые слова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6990" y="1927313"/>
            <a:ext cx="601985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модели понимает смысл; правила искали совпадение строк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2744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274468"/>
            <a:ext cx="45048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отдельная обученная модель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под одну задачу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6990" y="2274468"/>
            <a:ext cx="601985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шаг решает новую задачу переписанным запросом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6216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621622"/>
            <a:ext cx="45048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никто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работу просто не делали, дорого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6990" y="2621622"/>
            <a:ext cx="601985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делается, потому что подешевело на порядки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45890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3873906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Отсюда и устройство дуги: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триггеры, условия, циклы, обработка ошибок — старые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и правила для них выработаны десятилетиями. Нов только шаг модели, и нов он ровно тем, что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может ошибиться незаметно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32310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45111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Задача на сегодня: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заявка с формы попадает в таблицу уже разобранной — с темой и срочностью из справочника, без участия человека.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Девять типов блоков и их имена в n8n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3231"/>
            <a:ext cx="11183112" cy="4137342"/>
          </a:xfrm>
          <a:prstGeom prst="roundRect">
            <a:avLst>
              <a:gd name="adj" fmla="val 73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46111"/>
            <a:ext cx="14089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ТИП БЛОКА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1024" y="1146111"/>
            <a:ext cx="45114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98782" y="1146111"/>
            <a:ext cx="445806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 N8N ЭТО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28178"/>
            <a:ext cx="14089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триггер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1024" y="1428178"/>
            <a:ext cx="45114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запускает процесс: событие, расписание, вызов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98782" y="1428178"/>
            <a:ext cx="445806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Form Trigger · Webhook · Schedule Trigger · Manual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77533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775333"/>
            <a:ext cx="14089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действие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1024" y="1775333"/>
            <a:ext cx="45114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что-то делает во внешнем мире или с данными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8782" y="1775333"/>
            <a:ext cx="445806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HTTP Request · Data Table · отправка письма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12248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122487"/>
            <a:ext cx="14089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преобразование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1024" y="2122487"/>
            <a:ext cx="45114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меняет форму данных, не трогая смысл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8782" y="2122487"/>
            <a:ext cx="445806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Edit Fields (Set) · Code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4696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2469642"/>
            <a:ext cx="14089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условие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1024" y="2469642"/>
            <a:ext cx="45114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выбирает один путь из двух или из многих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8782" y="2469642"/>
            <a:ext cx="445806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If · Switch · Filter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28167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2816796"/>
            <a:ext cx="14089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цикл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1024" y="2816796"/>
            <a:ext cx="45114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повторяет шаги по элементам списка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98782" y="2816796"/>
            <a:ext cx="445806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Loop Over Items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31639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3163951"/>
            <a:ext cx="14089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слияние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1024" y="3163951"/>
            <a:ext cx="45114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сводит разошедшиеся ветки обратно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8782" y="3163951"/>
            <a:ext cx="445806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Merge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351110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3511105"/>
            <a:ext cx="14089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подпроцесс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1024" y="3511105"/>
            <a:ext cx="45114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вызывает другой процесс как шаг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8782" y="3511105"/>
            <a:ext cx="445806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Execute Sub-workflow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5800" y="38582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85800" y="3858260"/>
            <a:ext cx="14089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обработчик сбоя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41024" y="3858260"/>
            <a:ext cx="4511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ловит отказ и решает, что делать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98782" y="3858260"/>
            <a:ext cx="445806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настройки узла · Error Trigger · Stop and Error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85800" y="43879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85800" y="4387977"/>
            <a:ext cx="14089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шаг модели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41024" y="4387977"/>
            <a:ext cx="4511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принимает решение на неструктурированном входе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98782" y="4387977"/>
            <a:ext cx="445806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Basic LLM Chain · Information Extractor · Text Classifier · AI Agent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31485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9536" y="544287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Сегодня закрываем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четыре строки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триггер, действие, преобразование и шаг модели — плюс обработчик сбоя во третьем кейсе. Условие и слияние — следующее занятие, цикл и подпроцесс — через два.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данные ходят в n8n</a:t>
            </a:r>
          </a:p>
        </p:txBody>
      </p:sp>
      <p:pic>
        <p:nvPicPr>
          <p:cNvPr id="3" name="Picture 2" descr="teoriya-dannye-spisk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058" y="943356"/>
            <a:ext cx="10478835" cy="301266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120613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248629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 n8n между узлами всегда идёт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список элементов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— даже когда элемент один.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756375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884391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Узел выполняется по разу на каждый элемент списка.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92137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520153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Каждый элемент — объект с обязательной обёрткой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json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(и отдельной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binary</a:t>
            </a:r>
            <a:r>
              <a:rPr sz="1350" b="1" i="0">
                <a:solidFill>
                  <a:srgbClr val="141B2E"/>
                </a:solidFill>
                <a:latin typeface="Arial"/>
              </a:rPr>
              <a:t>, если это файл). Поэтому в выражениях везде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$json.поле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— имя поля само по себе не сработает: вы спускаетесь на уровень внутрь элемента.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из этого следует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1760"/>
            <a:ext cx="11183112" cy="2401570"/>
          </a:xfrm>
          <a:prstGeom prst="roundRect">
            <a:avLst>
              <a:gd name="adj" fmla="val 1269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64640"/>
            <a:ext cx="30315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ВЫ УВИДИТЕ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63673" y="1564640"/>
            <a:ext cx="749317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6707"/>
            <a:ext cx="303156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«узел отработал 5 раз» в журнале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63673" y="1846707"/>
            <a:ext cx="749317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пришло пять элементов — это встроенный перебор; сбоя не было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1938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193861"/>
            <a:ext cx="303156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пять писем вместо одного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3673" y="2193861"/>
            <a:ext cx="749317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узел отправки сработал на каждом элементе, и об этом никто не спросил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5410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541016"/>
            <a:ext cx="303156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«а где блок цикла?»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3673" y="2541016"/>
            <a:ext cx="749317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нужен реже, чем кажется: перебор уже есть. Отдельный цикл — для порций и проверки выхода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07073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070733"/>
            <a:ext cx="303156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надо сработать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один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раз на весь список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63673" y="3070733"/>
            <a:ext cx="749317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настройка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Execute Once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 узле: сработает единожды, с данными первого элемента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50842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578857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других инструментах иначе.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 Activepieces шаг получает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один объект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перебор списка задают отдельным блоком явно. То есть «один вход — одно выполнение» там надо включать, а здесь — выключать. Устройство процесса от этого не меняется; меняется, где вы напишете одну галочку — и забытая галочка стоит пяти писем.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шаг достаёт данные у предыдущего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27823"/>
            <a:ext cx="11183112" cy="3314382"/>
          </a:xfrm>
          <a:prstGeom prst="roundRect">
            <a:avLst>
              <a:gd name="adj" fmla="val 919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10703"/>
            <a:ext cx="29413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НАПИСАТЬ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3454" y="1310703"/>
            <a:ext cx="475085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ПОЛУЧИТЕ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92770"/>
            <a:ext cx="294135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{{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$json.topic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3454" y="1592770"/>
            <a:ext cx="475085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topic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текущего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элемента — того, что пришёл в этот узел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8902" y="1665922"/>
            <a:ext cx="764778" cy="3834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36560" y="1665922"/>
            <a:ext cx="1701999" cy="3834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685800" y="212248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22487"/>
            <a:ext cx="294135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{{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$('Request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form').item.json['Что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нужно']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3454" y="2122487"/>
            <a:ext cx="475085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из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любого предыдущего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узла, по его имени на холсте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8902" y="2195639"/>
            <a:ext cx="764778" cy="565975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36560" y="2195639"/>
            <a:ext cx="1701999" cy="565975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283476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834766"/>
            <a:ext cx="294135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{{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$now.toISO()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3454" y="2834766"/>
            <a:ext cx="475085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текущее время — встроенная величина, не из данных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8902" y="2907918"/>
            <a:ext cx="764778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36560" y="2907918"/>
            <a:ext cx="1701999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85800" y="31819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181921"/>
            <a:ext cx="2941350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`{{ $json.topic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91742" y="3255073"/>
            <a:ext cx="4714280" cy="931100"/>
          </a:xfrm>
          <a:prstGeom prst="roundRect">
            <a:avLst>
              <a:gd name="adj" fmla="val 16367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70614" y="3181921"/>
            <a:ext cx="801354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'другое' }}`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8272" y="3181921"/>
            <a:ext cx="1738575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значение, а если его нет — запас. Самая полезная строка во всём занятии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06796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519598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Обращение к узлу идёт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по его имени на холсте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Переименовали узел — все выражения, которые на него ссылались, сломались. Это самая частая поломка на ровном месте, и инструмент о ней не предупреждает.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626106"/>
            <a:ext cx="9692640" cy="899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«Их всё равно потом руками в таблицу перекладывают»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70814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«Форма-то есть. Их всё равно потом руками в таблицу перекладывают.»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Из скольких узлов?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190750"/>
            <a:ext cx="11183112" cy="7170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2245614"/>
            <a:ext cx="64008" cy="6073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327910"/>
            <a:ext cx="10643616" cy="4427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есть: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форма на сайте — имя, контакт и свободный текст «что нужно»</a:t>
            </a:r>
          </a:p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нужно: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строка в таблице, где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тема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срочность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никогда не пусты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и всегда из списка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575304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3630168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712464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Из скольких узлов соберётся процесс, который решает эту задачу полностью?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два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форма и таблица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три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форма, шаг модели, таблица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пять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и ещё два, про которые вы скажете, какие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зависит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но тогда скажите, от чего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Чего не хватает трём узлам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97711"/>
            <a:ext cx="11183112" cy="2584132"/>
          </a:xfrm>
          <a:prstGeom prst="roundRect">
            <a:avLst>
              <a:gd name="adj" fmla="val 1179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80591"/>
            <a:ext cx="89223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4342" y="1680591"/>
            <a:ext cx="355269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23338" y="1680591"/>
            <a:ext cx="593350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ХВАТАЕТ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2658"/>
            <a:ext cx="89223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4342" y="1962658"/>
            <a:ext cx="355269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мгновенно и бесплатно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23338" y="1962658"/>
            <a:ext cx="593350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тема и срочность не появятся сами — задача не решена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309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309812"/>
            <a:ext cx="89223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24342" y="2309812"/>
            <a:ext cx="355269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заявка доезжает до таблицы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3338" y="2309812"/>
            <a:ext cx="593350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тема будет какой угодно, срочности не будет вовсе, результат видно только в таблице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395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39529"/>
            <a:ext cx="89223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пять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4342" y="2839529"/>
            <a:ext cx="355269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значения из справочника, всегда заполнены, результат виден сразу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23338" y="2839529"/>
            <a:ext cx="593350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лишний узел там, где хватило бы трёх для показа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5518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551809"/>
            <a:ext cx="89223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«зависит»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24342" y="3551809"/>
            <a:ext cx="355269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верно по сути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3338" y="3551809"/>
            <a:ext cx="593350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ответ, пока не сказано, от чего именно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74935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87737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Трём узлам не хватает двух вещей: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справочника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который не даст ни пустой темы, ни темы вне списка, 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места, где виден результат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иначе каждую проверку придётся ходить в таблицу.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узлов и один экран</a:t>
            </a:r>
          </a:p>
        </p:txBody>
      </p:sp>
      <p:pic>
        <p:nvPicPr>
          <p:cNvPr id="3" name="Picture 2" descr="k1-shema-pyat-uzlo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552" y="943356"/>
            <a:ext cx="9531846" cy="178722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2895169"/>
            <a:ext cx="11183112" cy="2029015"/>
          </a:xfrm>
          <a:prstGeom prst="roundRect">
            <a:avLst>
              <a:gd name="adj" fmla="val 1502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050617"/>
            <a:ext cx="320645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УЗЕЛ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11130" y="3050617"/>
            <a:ext cx="737314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НАСТРАИВАЕМ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332684"/>
            <a:ext cx="320645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Request 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11130" y="3332684"/>
            <a:ext cx="7373149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три поля, все обязательные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361989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3619894"/>
            <a:ext cx="320645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Extract fields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1130" y="3619894"/>
            <a:ext cx="7373149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схема вручную: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topic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urgency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перечисления, оба обязательны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90710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3907105"/>
            <a:ext cx="320645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Vocabulary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11130" y="3907105"/>
            <a:ext cx="7373149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из списка или пусто →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другое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не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указано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;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status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=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ok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419431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4194315"/>
            <a:ext cx="320645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Write 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11130" y="4194315"/>
            <a:ext cx="7373149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значения берутся у справочника, не у модели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448152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4481526"/>
            <a:ext cx="320645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Result screen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1130" y="4481526"/>
            <a:ext cx="7373149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вход · что вернула модель · что решил справочник · номер строки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88776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216792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Consolas"/>
              </a:rPr>
              <a:t>"topic":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{"enum":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["курс",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"перенос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занятия",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"оплата",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"другое"]}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справочник объявлен схемой, и инструмент требует от модели одно из этих значений.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874144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6002160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Собираем вживую. Если техника подведёт — всё, что нужно, на этом экране.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переносится в любой 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6283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9085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Машинный выход — в закрытый список.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Если результат шага модели читает человек, свободный текст уместен. Если его читает следующий шаг — множество значений обязано быть конечным и заранее известным. Иначе сортировка, фильтр и счёт не соберутся никогда.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09113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637129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Гарантия двухуровневая: просьба и проверка.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Схема с перечислением — сильная просьба к модели. Гарантию даёт только детерминированная проверка после неё. Один уровень без другого не работает: просьба иногда не сдерживается, проверка без просьбы разрушает слишком много.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5538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08340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Наблюдаемость — с первого прохода.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Результат виден там, где люди уже работают. Пока вы решаете, что показать на экране, вы отвечаете на вопрос «за что я тут отвечаю» — до того, как процесс поехал.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0166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52968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Как это зовётся: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 n8n — Information Extractor плюс Set; в Activepieces — то же двумя шагами; в sim схема живёт внутри блока модели, а проверку добавляют отдельно.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ломается классификация — три класса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137541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1119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1 · Гарантия уже́, чем обещание.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Любая гарантия формата описывает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форму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ответа и ничего не говорит о его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правильности</a:t>
            </a:r>
            <a:r>
              <a:rPr sz="1350" b="1" i="0">
                <a:solidFill>
                  <a:srgbClr val="141B2E"/>
                </a:solidFill>
                <a:latin typeface="Arial"/>
              </a:rPr>
              <a:t>. Вдобавок она действует при условиях: в строгом режиме — да, в обычном схема превращается в пожелание; если сработала защита модели, придёт поле отказа вместо ваших полей; если ответ оборвался по лимиту, схемы в нём уже нет.</a:t>
            </a:r>
          </a:p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Как это выглядит: ответ валидный, поля на месте, значение из списка — и неверное.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83358"/>
            <a:ext cx="82296" cy="11628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611374"/>
            <a:ext cx="10643616" cy="9067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2 · Поведение меняется само.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Вы ничего не трогали — классификация поехала сама: обновилась версия модели, провайдер поменял настройки по умолчанию, изменился характер входящего потока. Процесс при этом зелёный, в журнале ни одной ошибки.</a:t>
            </a:r>
          </a:p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Как это выглядит: распределение по классам другое, чем месяц назад, и узнать об этом можно только замером.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10762"/>
            <a:ext cx="82296" cy="137541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938778"/>
            <a:ext cx="10643616" cy="1119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3 · Правило живёт в двух местах.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У нас справочник записан дважды: перечислением в схеме и списком в проверке. Это сознательная цена двух уровней гарантии — но любое описание, существующее в двух местах, однажды расходится.</a:t>
            </a:r>
          </a:p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Как это выглядит: поправили список в одном месте, забыли во втором, и проверка начала переписывать то, что модель вернула правильно.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50764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478780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Документация поставщика говорит это прямо: структурированный вывод обеспечивает соответствие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формата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 Смысловая правильность в обещание не входит.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3067050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«В заявке две темы, а в таблице одна»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писать в тему, если их две?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190750"/>
            <a:ext cx="11183112" cy="7170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2245614"/>
            <a:ext cx="64008" cy="6073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327910"/>
            <a:ext cx="10643616" cy="4427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 заявке: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перенос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занятия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оплата</a:t>
            </a:r>
          </a:p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 таблице: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одна клетка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тема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575304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3630168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712464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должно попасть в тему?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первую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из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найденных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что модель назвала первым, то и пишем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другое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тем несколько, значит автоматика не справилась, пусть разбирает человек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две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строки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из одной заявки делаем две, по теме на каждую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главную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+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пометку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пишем главную тему и рядом отмечаем, что есть ещё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Кто разбирает остаток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43761"/>
            <a:ext cx="11183112" cy="2219007"/>
          </a:xfrm>
          <a:prstGeom prst="roundRect">
            <a:avLst>
              <a:gd name="adj" fmla="val 1373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6641"/>
            <a:ext cx="24380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70126" y="1826641"/>
            <a:ext cx="26518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ОСТАТОК РАЗБИРАЕТ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68319" y="1826641"/>
            <a:ext cx="528852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ПЛАТИТ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8708"/>
            <a:ext cx="243802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первую из найденных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0126" y="2108708"/>
            <a:ext cx="26518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никто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8319" y="2108708"/>
            <a:ext cx="528852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вторая тема исчезает молча — то, что мы только что видели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558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55862"/>
            <a:ext cx="243802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«другое»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0126" y="2455862"/>
            <a:ext cx="26518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человек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и он об этом знает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68319" y="2455862"/>
            <a:ext cx="528852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«другое» сваливается и многотемье, и настоящая экзотика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030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03017"/>
            <a:ext cx="243802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две строки из одной заявки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0126" y="2803017"/>
            <a:ext cx="26518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следующий шаг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без человека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68319" y="2803017"/>
            <a:ext cx="52885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заявка — две судьбы: кому звонить и кто закрывает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3327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332734"/>
            <a:ext cx="243802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главная + пометка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70126" y="3332734"/>
            <a:ext cx="26518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тот, кто читает пометку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8319" y="3332734"/>
            <a:ext cx="528852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пометку надо куда-то положить и кому-то читать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5302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6582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Разница между первым и вторым ответом — не точность, а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знание о своём незнании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Первый уверен и неправ; второй не знает и говорит об этом.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Трудные заявки</a:t>
            </a:r>
          </a:p>
        </p:txBody>
      </p:sp>
      <p:pic>
        <p:nvPicPr>
          <p:cNvPr id="3" name="Picture 2" descr="k1-shema-pyat-uzlo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626" y="943356"/>
            <a:ext cx="10145699" cy="190231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010266"/>
            <a:ext cx="11183112" cy="1797177"/>
          </a:xfrm>
          <a:prstGeom prst="roundRect">
            <a:avLst>
              <a:gd name="adj" fmla="val 1695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65714"/>
            <a:ext cx="424864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ЗАЯВКА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53320" y="3165714"/>
            <a:ext cx="272529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ТЕМА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917" y="3165714"/>
            <a:ext cx="345936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ЕЩЁ В ЗАЯВКЕ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47781"/>
            <a:ext cx="4248648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перенести занятие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как оплатить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53320" y="3447781"/>
            <a:ext cx="272529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перенос занятия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917" y="3447781"/>
            <a:ext cx="345936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оплата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374883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3748835"/>
            <a:ext cx="4248648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оплатить, перенести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про скидки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3320" y="3748835"/>
            <a:ext cx="272529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оплата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4917" y="3748835"/>
            <a:ext cx="345936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перенос занятия ·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404988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4049888"/>
            <a:ext cx="4248648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сотрудничаете с юрлицами?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3320" y="4049888"/>
            <a:ext cx="272529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4917" y="4049888"/>
            <a:ext cx="345936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4350942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4350942"/>
            <a:ext cx="4248648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«ок»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3320" y="4350942"/>
            <a:ext cx="272529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4917" y="4350942"/>
            <a:ext cx="345936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972035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100051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Меняем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один узел из пяти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— справочник. В него добавляется столбец «ещё в заявке»; остальные четыре не трогаются.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607797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5735813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Собираем вживую. Если техника подведёт — всё, что нужно, на этом экране.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переносится в любой инструмент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3393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148257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«Не знаю» — такое же значение, как остальные.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Законный отказ от классификации стоит дорого при разработке и дешево при эксплуатации. Его отсутствие стоит наоборот: модель всегда что-нибудь ответит, и неверный ответ по виду не отличить от верного.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12022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440038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Многозначность входа — проектное решение.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Один вход даёт один класс или несколько? Ответ меняет не схему — он меняет то, кто закрывает заявку. Решать до сборки: потом переделка идёт по всей цепочке.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4324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87126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У очереди на разбор есть владелец и метрика.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«Другое» — это очередь: у неё должны быть человек и доля в процентах. Очередь, которую никто не смотрит, работает так же, как исчезнувшая вторая тема.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174475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302491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Как это зовётся: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 n8n ветка по умолчанию у Switch и Text Classifier (у второго по умолчанию элемент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отбрасывается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это настройка, которую меняют первым делом); в sim есть guardrails как отдельный примитив; в Activepieces — тот же приём условием после шага.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ломается справочник — три класса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145415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11981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1 · Показатель читают в одну сторону.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Доля «другого» — главный показатель здоровья классификации. Когда она растёт, это замечают: очередь на разбор пухнет и кто-то жалуется. Когда падает — радуются, и это ошибка: падение значит либо «список стал полнее», либо «модель перестала воздерживаться».</a:t>
            </a:r>
          </a:p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Как это выглядит: все показатели улучшились, кроме правильности, и её никто не мерил.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62098"/>
            <a:ext cx="82296" cy="145415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690114"/>
            <a:ext cx="10643616" cy="11981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2 · Границы списка вы устанавливаете сами.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Что считать «переносом», что «оплатой», а что «другим» — ваше решение, а не свойство мира. Оно меняется со временем: добавился класс, переименовался другой, разделился пополам. Если у справочника нет версии, строки за разные месяцы перестают быть сопоставимыми.</a:t>
            </a:r>
          </a:p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Как это выглядит: годовой отчёт по теме складывает несравнимое и не сообщает об этом.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80840"/>
            <a:ext cx="82296" cy="12258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308856"/>
            <a:ext cx="10643616" cy="969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3 · Вход шире, чем вы думали.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Справочник собирали на одном языке и на аккуратных текстах. Приходят три языка, пересланные переписки, голосовые, снимки экрана вместо текста и заявки, где тем сразу три.</a:t>
            </a:r>
          </a:p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Как это выглядит: классификация тихо деградирует, и в журнале при этом ни одной ошибки.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71236"/>
            <a:ext cx="82296" cy="7310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699252"/>
            <a:ext cx="10643616" cy="474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Рост доли «другого» заметят все. </a:t>
            </a:r>
            <a:r>
              <a:rPr sz="1450" b="1" i="0">
                <a:solidFill>
                  <a:srgbClr val="141B2E"/>
                </a:solidFill>
                <a:latin typeface="Arial"/>
              </a:rPr>
              <a:t>Падение не заметит никто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— а оно может означать, что часть неверных ответов теперь выглядит как верные.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85089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Двое суток пропуска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8335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Пятница заполнена, понедельник заполнен, выходных в таблице нет вовсе.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делать узлу, когда вызов не удался?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286914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2341778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424074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должен делать узел, когда вызов не удался?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остановить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весь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процесс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отказ есть отказ, дальше ехать незачем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пропустить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и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идти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дальше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одна заявка не разобралась, остальные не виноваты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повторить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сеть моргнула, попробуем ещё раз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отдельная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ветка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пусть неудачные идут своей дорогой, разберём их отдельно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835679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3890543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72839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Дальше по процессу у нас запись в таблицу. Держите это в уме, выбирая.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Это не четыре мнения, это четыре настройки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63419"/>
            <a:ext cx="11183112" cy="2584132"/>
          </a:xfrm>
          <a:prstGeom prst="roundRect">
            <a:avLst>
              <a:gd name="adj" fmla="val 1179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46299"/>
            <a:ext cx="24254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НАСТРОЙКА УЗЛА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57523" y="2246299"/>
            <a:ext cx="37589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737" y="2246299"/>
            <a:ext cx="41941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УМЕСТНО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28366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Stop Workflow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(по умолчанию)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57523" y="2528366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падает целиком, дальше ничего не идёт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737" y="2528366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следующий шаг необратим и дорог: счёт, письмо клиенту, платёж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0580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058083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On Error = Continue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57523" y="3058083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текст ошибки идёт дальше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как обычные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737" y="3058083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почти никогда: ошибка молча доедет до таблицы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5878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587800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Continue (using error output)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7523" y="3587800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элемент уходит в отдельный выход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737" y="3587800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разбирать отказы своей веткой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1175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17517"/>
            <a:ext cx="24254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Retry On Fail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57523" y="4117517"/>
            <a:ext cx="3758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повтор N раз, затем одно из трёх выше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737" y="4117517"/>
            <a:ext cx="41941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сетевые отказы, таймауты, лимиты провайдера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ветки и два экрана</a:t>
            </a:r>
          </a:p>
        </p:txBody>
      </p:sp>
      <p:pic>
        <p:nvPicPr>
          <p:cNvPr id="3" name="Picture 2" descr="k3-shema-dve-vet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392" y="943356"/>
            <a:ext cx="10056167" cy="276544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873394"/>
            <a:ext cx="11183112" cy="119507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028842"/>
            <a:ext cx="53369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НАСТРОЙКА УЗЛА ИЗВЛЕЧЕНИЯ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41629" y="4028842"/>
            <a:ext cx="52426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310909"/>
            <a:ext cx="533695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Retry On Fail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1629" y="4310909"/>
            <a:ext cx="52426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3 попытки, пауза 2 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4611962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4611962"/>
            <a:ext cx="533695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On Error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41629" y="4611962"/>
            <a:ext cx="52426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Continue (using error output)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33056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5361072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Из выхода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error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в ту же таблицу: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status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=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not_parsed</a:t>
            </a:r>
            <a:r>
              <a:rPr sz="1150" b="1" i="0">
                <a:solidFill>
                  <a:srgbClr val="141B2E"/>
                </a:solidFill>
                <a:latin typeface="Arial"/>
              </a:rPr>
              <a:t>. Экран печатает, что вызов не удался.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85307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98108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Собираем вживую. Если техника подведёт — всё, что нужно, на этом экране.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переносится в любой 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8645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1447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Повтор лечит временный отказ и только его.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Таймаут, лимит, «сервис перегружен» — повторяйте. Неверный ключ, негодный запрос, отсутствующее поле — повтор лишь утроит счёт за одну и ту же ошибку. Эти два класса различают заранее, по коду ответа.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91790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719806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У отказа должен быть адресат.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Любой отказ попадает либо на человека, либо в очередь неразобранного — с исходными данными и причиной. Отказ, которому некуда идти, превращается в тишину, а тишину никто не мониторит.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9712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22513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Технический успех и деловой — разные вещи.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Прогон завершился и результат годен — два независимых утверждения. Проверять надо второе, а показывает журнал первое.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6623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49424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Как это зовётся: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 индустрии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очередь неразобранного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(dead letter queue); в n8n это выход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error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плюс запись с пометкой; в Activepieces — то же; в sim отказ разбирают условием после шага.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ломается повтор — три класса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14147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11587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1 · Повтор небезопасен по умолчанию.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Повторять можно только то, что можно сделать дважды без последствий. Чтение — можно всегда. «Отправить», «создать», «списать» — нет. И ловушка в том, что таймаут означает ровно одно: «ответ не пришёл». Произошло ли действие — он не говорит ничего: письмо могло уйти, деньги могли списаться, потеряться мог только ответ.</a:t>
            </a:r>
          </a:p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Как это выглядит: клиент получил два письма, или заказ создался дважды, и в журнале при этом один прогон.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22728"/>
            <a:ext cx="82296" cy="12258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650744"/>
            <a:ext cx="10643616" cy="969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2 · Повтор добавляет не только задержку, но и нагрузку.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Повторы складываются: если они включены на каждом слое, слои множат друг друга. А если все клиенты повторяют через ровно одинаковый интервал, они повторяют синхронно и добивают сервис, который только начал подниматься.</a:t>
            </a:r>
          </a:p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Как это выглядит: сервис, который моргнул, лежит дольше — из-за тех, кто его вежливо переспрашивал.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13124"/>
            <a:ext cx="82296" cy="97383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041140"/>
            <a:ext cx="10643616" cy="717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3 · Отказ без адресата — это тишина.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Отказ, которому некуда идти, не исчезает: он превращается в отсутствие записи. А отсутствие записи не мониторит никто — ни один сторож не сработает на то, чего нет.</a:t>
            </a:r>
          </a:p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Как это выглядит: в понедельник в таблице нет выходных, и никто не знает, что происходило.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051552"/>
            <a:ext cx="82296" cy="6680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179568"/>
            <a:ext cx="10643616" cy="411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Три попытки на каждом из пяти слоёв дают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243-кратную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нагрузку на нижний. Поэтому повторяют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 одном месте стека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— и там, где знают, что повторять безопасно.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73532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Оба утверждения верны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367786"/>
            <a:ext cx="9692640" cy="663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На холсте промпт поправлен, проверен ручным запуском и никем не откатывался. В таблице за сутки все заявки разобраны по-старому.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Почему боевые прогоны идут по старому?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744571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2799435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881731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Почему боевые прогоны идут по старому варианту?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правку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не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сохранили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забыли нажать кнопку, бывает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сохранили,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но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не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опубликовали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есть отдельный шаг, и его не сделали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кэш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где-то лежит старая версия, само пройдёт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ручной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и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боевой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—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разные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пути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правка попала только в один из них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Черновик и опубликованная версия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6548"/>
            <a:ext cx="82296" cy="10591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64564"/>
            <a:ext cx="10643616" cy="803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Правки сохраняются сами, постоянно, в черновик.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Кнопки «Сохранить» в интерфейсе нет вовсе.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боевой режим правка уходит отдельным действием — Publish.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Боевые прогоны исполняют опубликованную версию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то, что открыто в редакторе.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43301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026181"/>
            <a:ext cx="40897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КАРТОЧКА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21859" y="3026181"/>
            <a:ext cx="64349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ВЕРДИКТ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08248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правку не сохранили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21859" y="3308248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сохранять нечего, сохраняется само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554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655402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сохранили, но не опубликовали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1859" y="3655402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это и произошло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0025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002557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кэш, надо подождать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21859" y="4002557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ждать можно сколько угодно, версий две, и обе живые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3497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349711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ручной запуск и боевой — разные пути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1859" y="4349711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ручной идёт по черновику, боевой по опубликованному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27319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55335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Слова «активировать» в n8n 2.x больше нет: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Publish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занял его место и значит другое.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переносится в любой 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6283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9085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Среда редактирования и среда исполнения — разные.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Как бы это ни называлось: черновик и опубликованное, ветка и прод, тест и бой. Правка переходит из одной в другую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отдельным действием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и это действие легко не сделать.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09113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637129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Проверка руками не покрывает путей, которые есть только в бою.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Обработчик ошибок, расписание, реакция на чужой вызов — всё это ручным запуском не проверяется в принципе. Их проверяют настоящим событием, и это отдельная работа.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5538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08340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Работающая версия опознаваема и откатываема.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«Что сейчас в бою» — вопрос, на который должен быть ответ за секунду, и откат на предыдущее — за минуту.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165445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293461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Как это зовётся: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 n8n — черновик 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Publish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(слова «активировать» в версии 2 больше нет; инструкции с ним — про старую); в Activepieces — то же разделение; в LangFlow боевого режима нет вовсе: что открыто, то и исполняется.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прячется разрыв — три класса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80541"/>
            <a:ext cx="82296" cy="12573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08557"/>
            <a:ext cx="10643616" cy="1001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1 · Среды ведут себя по-разному.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Это не только «правка не опубликована». Ручной прогон и боевой различаются и расходом памяти: инструмент копирует промежуточные данные, чтобы показать их вам. На больших объёмах ручной прогон падает там, где боевой проходит.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Как это выглядит: «проверил руками — упало» тоже не всегда правда о боевом поведении.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95397"/>
            <a:ext cx="82296" cy="12573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623413"/>
            <a:ext cx="10643616" cy="1001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2 · Часть путей существует только в бою.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Обработчик ошибок, расписание, реакция на чужой вызов — их запускает событие, которого при ручном прогоне не происходит. Так устроены сами эти пути, инструмент тут ни при чём: проверить их можно только настоящим событием.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Как это выглядит: нажимаете «выполнить» — не происходит ничего, и это правильное поведение.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10253"/>
            <a:ext cx="82296" cy="12573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138269"/>
            <a:ext cx="10643616" cy="1001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3 · Вместе с файлом уезжает больше, чем кажется.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Экспорт сценария несёт не секреты, но идентификаторы и имена подключений, адреса, пути, имена таблиц и внутренних сервисов.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Как это выглядит: файл, отправленный «просто посмотреть», рассказывает о вашей инфраструктуре больше, чем вы собирались.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2510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65312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Правило, которое стоит выполнять механически: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перед тем как отдать файл сценария — откройте его и прочитайте глазами.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Паролей там нет, а лишнее бывает.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А это вообще надо автоматизировать?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45514"/>
            <a:ext cx="11183112" cy="9193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500378"/>
            <a:ext cx="64008" cy="8096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582674"/>
            <a:ext cx="10643616" cy="645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том же центре есть второй поток: преподаватели присылают по почте отчёт о проведённом занятии. Двадцать писем в неделю. Их читает одна сотрудница и переносит две цифры в таблицу — пять минут в день.</a:t>
            </a:r>
          </a:p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Просят сделать так же, «а то руками».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03237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60395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По какому признаку видно, что процесс строить не надо?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52285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52285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объём маленький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5274" y="452285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5002" y="452285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результат читает человек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452285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7356" y="452285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вход однотипный и шаг один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9982" y="452285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710" y="452285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надо строить вообще — надо один раз спросить 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Признак — не объём, а куда уходит результат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4919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07721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Самая дорогая автоматизация — та, которую построили из-за слова «руками», а не из-за того, что руками перестало получаться.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63468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491484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Строить не надо, когда: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вход однотипный · шаг один · результат читает человек и он же решает, что с ним делать · ошибка замечается тем же человеком в тот же день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Строить надо, когда: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поток растёт и сотрудница становится узким местом · типов входа больше одного и они расходятся по разным дальше · результат уходит следующему шагу без человека · ошибку никто не увидит, пока она не доедет до клиента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уносим с занятия</a:t>
            </a:r>
          </a:p>
        </p:txBody>
      </p:sp>
      <p:pic>
        <p:nvPicPr>
          <p:cNvPr id="3" name="Picture 2" descr="vyhod-shema-prots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64935"/>
            <a:ext cx="11183112" cy="307535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258833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441713"/>
            <a:ext cx="28734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ФАЙЛ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5561" y="4441713"/>
            <a:ext cx="765128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Consolas"/>
              </a:rPr>
              <a:t>STUDENT.JSON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23780"/>
            <a:ext cx="287345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поставить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5561" y="4723780"/>
            <a:ext cx="76512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меню сценария → Import from File → выбрать файл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50709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5070934"/>
            <a:ext cx="287345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нужно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5561" y="5070934"/>
            <a:ext cx="76512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свой n8n и ключ провайдера модели (инструкция)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4180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418089"/>
            <a:ext cx="287345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делать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5561" y="5418089"/>
            <a:ext cx="76512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прогнать на своих трёх заявках и посмотреть, где развалится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576524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5765243"/>
            <a:ext cx="287345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завести своё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5561" y="5765243"/>
            <a:ext cx="76512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учётные данные модели и свою таблицу: в файле они пустые намеренно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122932"/>
            <a:ext cx="82296" cy="784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250948"/>
            <a:ext cx="10643616" cy="528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Сейчас: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любая заявка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один и тот же шаг → таблица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заявка про оплату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одно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про перенос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другое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непонятная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третье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530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70332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Семинар 8: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развилка и как она устроена · что делать с тем, что не подошло ни под одну ветку · проверка результата шага до того, как он уехал дальше · и почему ветки, которые выглядят параллельными, выполняются по очереди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