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Сегодня начинается новая дуга — шесть занятий подряд про то, как инженер строит процесс вокруг вызова модели, вместо того чтобы просто получать от неё один ответ. На С4–С6 вы собирали одного агента: права, память, инструменты, проверяемость каждого шага. Эта дуга смотрит на уровень выше — на то, как выглядит процесс, который таким агентом, или просто одним вызовом модели, пользуется.</a:t>
            </a:r>
          </a:p>
          <a:p/>
          <a:p>
            <a:r>
              <a:t>Название сегодняшнего занятия называет три нижние ступени лестницы, которые мы закрываем за этот час: хватит ли одного вызова, цепочка шагов, маршрут между несколькими путями. Подробный переход и вся лестница целиком — на следующем экране.</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Последние три занятия — С4, С5, С6 — вы собирали одного агента: права, которые он получает, память, которую он ведёт, инструменты, которыми он пользуется, и проверяемость каждого шага, который он делает. Это был взгляд внутрь одного исполнителя — как устроен один агент и как убедиться, что он делает то, что обещано.</a:t>
            </a:r>
          </a:p>
          <a:p/>
          <a:p>
            <a:r>
              <a:t>Сегодня взгляд меняется. Речь не про то, как работает один агент, а про то, как выглядит процесс, который таким агентом — или просто одним вызовом модели — пользуется. LLM здесь — не главный герой. Один шаг из многих в цепочке действий, которую инженер строит и контролирует сам. Разница похожа на разницу между тем, как устроен один работник, и тем, как устроена линия, на которой этот работник стоит одним из звеньев.</a:t>
            </a:r>
          </a:p>
          <a:p/>
          <a:p>
            <a:r>
              <a:t>Участвовать в сегодняшнем занятии можно, даже если С1–С6 прошли мимо. Всё, что нужно знать про предыдущие занятия, печатается прямо на экране — ни одного факта, который не показан здесь же, предполагать не придётся. Это то же правило, что держало семинары с самого начала: вход в занятие не требует памяти о прошлых встречах, только внимания к текущему экрану.</a:t>
            </a:r>
          </a:p>
          <a:p/>
          <a:p>
            <a:r>
              <a:t>На экране — лестница из девяти строк, от самого простого узла процесса до самого сложного. Нижняя строка — ситуация, когда для задачи хватает одного вызова модели и, при необходимости, обращения к базе знаний, а строить вокруг LLM вообще ничего не нужно. Верхние строки — всё более сложные способы организовать процесс: цепочка шагов, маршрут с разбором по категориям, параллельные проверки, переделка по эталону, дирижёр с несколькими исполнителями, один агент, несколько агентов — и, наконец, решение отказаться от автоматизации и вернуться к ручному процессу. Сейчас все девять строк пустые: ни одна ещё не закрыта, это чистый контракт на шесть занятий вперёд — запоминать термины заранее не нужно.</a:t>
            </a:r>
          </a:p>
          <a:p/>
          <a:p>
            <a:r>
              <a:t>Сегодняшнее занятие закрывает три нижние строки — хватит ли одного вызова, цепочка шагов, маршрут с разбором по категориям. Остальные шесть останутся пустыми до следующих встреч этой же серии: каждая закрывает одну-две строки, не все сразу. К концу сегодняшнего занятия та же таблица появится снова, и три нижние строки в ней будут уже закрыты — тот же экран, прочитанный с другим результатом.</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 экране — три коробки и две стрелки, не разговор с моделью. Письмо попадает в почтовый ящик поддержки. Срабатывает правило: «если письмо пришло в этот ящик — создать карточку в трекере задач». Правило отправляет HTTP-запрос, и через секунду в трекере уже лежит новая карточка с темой письма и его текстом. Никто не писал код прямо во время этого события — правило было написано заранее, один раз, и с тех пор просто срабатывает.</a:t>
            </a:r>
          </a:p>
          <a:p/>
          <a:p>
            <a:r>
              <a:t>Фраза «это просто скрипт, я его сам написал в прошлом месяце» принадлежит человеку, который это правило и настроил. Он прав: это действительно скрипт, и ничего в нём не рассуждает. Правило не читает письмо, не решает, важное оно или нет, не формулирует ответ — оно совершает ровно одно и то же действие на любое письмо, которое попадёт в этот ящик, независимо от содержания.</a:t>
            </a:r>
          </a:p>
          <a:p/>
          <a:p>
            <a:r>
              <a:t>Вопрос «где здесь искусственный интеллект» провокационный не потому, что ответ спрятан, а потому что он действительно нигде. Срабатывание триггера, формирование HTTP-запроса, создание карточки — три механических шага, и ни один не требует модели, которая бы что-то «поняла» про письмо. Это не упрощение для примера: огромная доля того, что в разговоре между инженерами называют «автоматизацией процессов», устроена именно так — правило, написанное один раз, выполняющееся одинаково на любом входе своего класса. Отличать это от искусственного интеллекта стоит ровно потому, что граница между ними размывается на словах быстрее, чем в реальности: слова «автоматизация» и «ИИ» в разговоре используют взаимозаменяемо, а поведение систем за ними — принципиально разное.</a:t>
            </a:r>
          </a:p>
          <a:p/>
          <a:p>
            <a:r>
              <a:t>Вопрос, который задаёт эта картинка, не закрывается ответом «нигде» — он переезжает на следующий уровень. Автоматизация без единого вызова модели уже решает часть задачи: создать карточку, уведомить, положить в очередь. Вопрос про остаток задачи — ответить на письмо по существу — был «нужен ли здесь ИИ», стал «какому конкретно шагу он нужен, и какому нет». Этим вопросом открывается первый кейс ступени: человек, который каждый день отвечает на такие письма сам.</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Фраза этого экрана принадлежит человеку, который каждый день отвечает на письма в почте поддержки: «я так и отвечаю: читаю письмо, минуту думаю, печатаю ответ». В этой фразе нет ни слова «модель», ни слова «автоматизация» — сцена описывает ровно то, что человек делает руками, и ни одного инструмента на экране пока не называет.</a:t>
            </a:r>
          </a:p>
          <a:p/>
          <a:p>
            <a:r>
              <a:t>Это осознанный порядок подачи, не случайность: экран называет то, что человек уже делает руками — не инструмент, который должен его заменить. Назвать сразу «цепочку вызовов модели» означало бы вводить структуру раньше, чем видно, какую именно знакомую работу она затрагивает — а материал этого занятия идёт в обратном порядке: сначала узнаваемое действие, потом то, что его автоматизирует.</a:t>
            </a:r>
          </a:p>
          <a:p/>
          <a:p>
            <a:r>
              <a:t>Кейс, который открывает эта фраза, — не документированный публичный случай. Сквозной учебный сценарий: он несёт механику приёма через всю ступень, и дальше к нему возвращаются кейсы B и C этого же занятия, каждый на несопоставимо большей цене ошибки. Называть его чьим-то провалом было бы прямой выдумкой — здесь он называется тем, что он есть: механикой, предъявленной через правдоподобную сцену, ровно тем же способом, каким был устроен первый кейс ступени MCP. Это честный пробел, не два случайных примера: кейсы B и C дальше в этой же ступени — документированные публичные случаи с указанными источниками, и расхождение статуса называется прямо — не прячется за одинаковой формой подачи.</a:t>
            </a:r>
          </a:p>
          <a:p/>
          <a:p>
            <a:r>
              <a:t>То, что человек в этой фразе делает за минуту — читает письмо, вспоминает похожий случай, печатает ответ, — на следующем экране превращается в конкретный вопрос: хватит ли для той же задачи одного вызова модели, или нужно нечто большее. Ответ на этот вопрос и решает, что строить дальше.</a:t>
            </a:r>
          </a:p>
          <a:p/>
          <a:p>
            <a:r>
              <a:t>Сцена выбрана именно про почту поддержки — не про какую-то более эффектную область, по той же причине, по которой кейс MCP Семинара 6 выбирал трекер задач: это узнаваемая, неэффектная, будничная работа — ровно та, в которой приёмы этого курса проверяются каждый день, не раз в квартал на показательном примере.</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Почтовый ящик поддержки небольшого интернет-магазина получает письма каждый день, и большая их часть повторяется по форме: «забыл пароль, как восстановить», «где мой заказ, трек не обновляется третий день», иногда — жалоба на разбитую коробку при доставке с просьбой вернуть деньги, и время от времени — что-то неожиданное, вроде вопроса про оптовую закупку от человека, который никогда ничего у магазина не покупал.</a:t>
            </a:r>
          </a:p>
          <a:p/>
          <a:p>
            <a:r>
              <a:t>На простые письма сотрудник отвечает быстро, минуту-две: он уже видел десятки таких писем, у него в голове или в закреплённом документе лежит готовый ответ, и остаётся его слегка подправить под конкретные детали. На сложные письма уходит заметно больше времени: нужно открыть историю заказа клиента, перечитать актуальную политику возврата, подумать, не противоречит ли один пункт письма другому, и написать ответ так, чтобы не создать компании проблему словом, которое потом процитируют в споре.</a:t>
            </a:r>
          </a:p>
          <a:p/>
          <a:p>
            <a:r>
              <a:t>Вопрос залу разделяет эти два случая по конкретному критерию, не по ощущению: хватит ли для автоматического ответа одного вызова модели, у которой есть доступ к базе знаний компании — retrieval, поиск релевантного кусочка документации перед тем, как модель формулирует ответ, тот самый RAG, уже разобранный на предыдущих занятиях курса. Три карточки держат ответ открытым: «да, одного вызова достаточно», «нет, нужно несколько шагов», «зависит от письма». Голосовать нужно, держа перед глазами именно эти четыре примера писем из сцены, не абстрактно — и для каждого типа ответ может оказаться своим.</a:t>
            </a:r>
          </a:p>
          <a:p/>
          <a:p>
            <a:r>
              <a:t>Четыре письма сцены выбраны не случайно и не ради разнообразия: первые два выглядят скучно предсказуемыми именно потому, что сотрудник отвечает на них автоматически, без раздумий; третье и четвёртое выбраны иначе — так, чтобы на них ответ одним движением дать было нельзя: там нужно сопоставить несколько фактов, прежде чем решить, что писать. Один и тот же вопрос — «хватит ли одного вызова» — применённый к этим четырём письмам по отдельности, и даёт четыре разных ответа, и ровно в этом разбросе ответов — весь смысл вопроса для зала.</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Правильный ответ — «зависит», и дальше кейс разворачивает обе стороны этого ответа по очереди — не оставляет его как уклончивую формулировку.</a:t>
            </a:r>
          </a:p>
          <a:p/>
          <a:p>
            <a:r>
              <a:t>Для доли писем из сцены — «забыл пароль», «где мой заказ» без спора, прямой вопрос про условия возврата без конкретной претензии — одного вызова с доступом к базе знаний действительно достаточно. Это буквально то, что сотрудник делает за минуту: смотрит на письмо, достаёт из памяти или из документа готовый кусок текста, печатает ответ. Модель с доступом к той же базе знаний способна сделать тот же шаг за один вызов, и строить для этого что-то сложнее одного вызова — лишняя работа, не улучшение. Это прямое следствие правила, которое уже вводилось в курсе: если одного промпта или одного вызова с retrieval достаточно для задачи — так и нужно сделать, без того, чтобы добавлять структуру, которая задаче не нужна.</a:t>
            </a:r>
          </a:p>
          <a:p/>
          <a:p>
            <a:r>
              <a:t>Но не все письма такие, и ровно это показывает четвёртый пример сцены — смешанное письмо (жалоба и просьба про возврат в одном тексте), письмо, в котором не хватает контекста, или письмо, которое на самом деле требует решения («вернуть деньги или нет»), не справки («как оформить возврат»). Для таких писем ответ одним вызовом звучит так же уверенно, как и правильный ответ на простое письмо, — но его уверенность ничем не подтверждена: никто не проверил, правильно ли модель поняла суть жалобы, и никто не сверил предложенное решение с политикой компании построчно.</a:t>
            </a:r>
          </a:p>
          <a:p/>
          <a:p>
            <a:r>
              <a:t>Для таких писем компании нужна не «более умная» одна модель. Структура из нескольких шагов, где промежуточный результат можно проверить, прежде чем на нём строится следующий шаг. Что это за структура конкретно — следующий вопрос.</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Прежде чем переходить к устройству структуры, которая обрабатывает письма, стоит назвать её класс точно — потому что он противоположен тому, что собиралось на предыдущих семинарах курса. На занятиях С4–С6 собирался кодинг-агент: внутри его цикла путь не прописан заранее — модель сама, на каждом шаге, решает, что делать дальше, основываясь на том, что уже произошло. Непредсказуемость пути там была сутью, не недостатком: задача разработки заранее не знает, сколько шагов понадобится и в каком порядке.</a:t>
            </a:r>
          </a:p>
          <a:p/>
          <a:p>
            <a:r>
              <a:t>Здесь — ровно наоборот. Путь обработки письма — классифицировать, написать черновик, показать человеку — известен заранее, записан в коде именно в этом порядке, и ни один из трёх шагов не решает сам, «а не сделать ли что-то ещё» или «а не пропустить ли этот шаг». Систему, где путь прописан заранее в коде, принято называть workflow — рабочий поток, сценарий; систему, где путь определяет сама модель по ходу работы, — агентом. Различение операциональное, не терминологическое: оно прямо говорит, что строить. Предсказуемая по форме задача получает workflow; задача, чей путь принципиально нельзя выписать заранее, получает агента. Это же различение, в тех же терминах, уже вводилось в Лекции 3 со ссылкой на работу Anthropic Building Effective Agents (2024); у создателей контента об автоматизации на базе ИИ встречается та же граница, сформулированная для практикующей аудитории: путь предопределён в коде — или модель сама решает путь по ходу дела.</a:t>
            </a:r>
          </a:p>
          <a:p/>
          <a:p>
            <a:r>
              <a:t>Письмо, пришедшее в поддержку, не требует непредсказуемости: три шага всегда одни и те же, меняется только их содержание от письма к письму. Строить здесь динамического агента — покупать гибкость, которая этой задаче не нужна, и терять ровно то, что нужно: предсказуемость и проверяемость каждого шага.</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Механика, которая закрывает задачу этой формы, называется prompt chaining — термин остаётся на английском, с тем же русским пояснением, что уже вводилось в главе Лекции 3: цепочка вызовов, где задача разбита на фиксированную последовательность шагов и выход одного становится входом следующего. В сцене этого кейса цепочка состоит из трёх звеньев, и только два из них — вызовы модели.</a:t>
            </a:r>
          </a:p>
          <a:p/>
          <a:p>
            <a:r>
              <a:t>Первое звено — classify: на входе письмо целиком, на выходе одна метка из заранее зафиксированного, закрытого списка — не текст (например: «пароль», «статус заказа», «возврат», «жалоба», «другое»). Модель здесь не пишет ответ клиенту — она решает одну узкую задачу: к какому из известных классов относится это письмо.</a:t>
            </a:r>
          </a:p>
          <a:p/>
          <a:p>
            <a:r>
              <a:t>Второе звено — draft: на входе письмо, метка класса из первого звена и контекст, извлечённый из базы знаний компании именно по этому классу — тот самый retrieval. На выходе — черновик ответа клиенту, написанный с учётом нужной именно этому классу информации, не общей.</a:t>
            </a:r>
          </a:p>
          <a:p/>
          <a:p>
            <a:r>
              <a:t>Третье звено — человеческий гейт, не вызов модели: черновик кладётся в очередь, и письмо уходит клиенту только после того, как человек его подтвердил или поправил.</a:t>
            </a:r>
          </a:p>
          <a:p/>
          <a:p>
            <a:r>
              <a:t>Ключевой пункт всей механики не в том, что шагов три, а в том, что должно стоять между первым и вторым. Между classify и draft нужна детерминированная, не требующая модели проверка: метка, которую вернула модель, — одна из строк разрешённого списка, или что-то другое (опечатка, свободный текст, пустая строка)? Если ответ classify не входит в список — цепочка должна остановиться именно в этой точке, не пытаясь продолжить со вторым вызовом на основе того, что получилось. Эта проверка не заменяет человеческий гейт в конце и не им заменяется: одна проверяет форму промежуточного результата кодом, до того как на него потрачен второй, более дорогой вызов, другая — проверяет содержание финального результата человеком, до того как письмо реально уйдёт. Там, где стоит только один из двух гейтов, вторая половина ошибок проходит насквозь.</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Минимальная запись этой цепочки — четыре строки кода, без деталей реализации самих вызовов. Здесь важны четыре факта, которые из них видны, не детали синтаксиса.</a:t>
            </a:r>
          </a:p>
          <a:p/>
          <a:p>
            <a:r>
              <a:rPr>
                <a:latin typeface="Consolas"/>
              </a:rPr>
              <a:t>call_classify</a:t>
            </a:r>
            <a:r>
              <a:t> возвращает метку, не свободный текст, — иначе проверку на следующей строке невозможно было бы написать. Если бы classify возвращал произвольный текст, сравнение с разрешённым списком превратилось бы в нечёткое сопоставление, не в точную проверку.</a:t>
            </a:r>
          </a:p>
          <a:p/>
          <a:p>
            <a:r>
              <a:t>Проверка метки стоит до второго вызова, не после него, — иначе цепочка уже потратила бы второй, более дорогой вызов модели на заведомо плохой входной сигнал. Порядок строк здесь не случайный: проверка стоит именно до того, как написана строка с </a:t>
            </a:r>
            <a:r>
              <a:rPr>
                <a:latin typeface="Consolas"/>
              </a:rPr>
              <a:t>call_draft</a:t>
            </a:r>
            <a:r>
              <a:t>.</a:t>
            </a:r>
          </a:p>
          <a:p/>
          <a:p>
            <a:r>
              <a:rPr>
                <a:latin typeface="Consolas"/>
              </a:rPr>
              <a:t>call_draft</a:t>
            </a:r>
            <a:r>
              <a:t> получает на вход метку и извлечённый по ней контекст, не одно голое письмо, — именно это и отличает второй шаг осмысленной цепочки от того же вызова без первого шага вовсе. Без метки draft не знает, какой фрагмент базы знаний релевантен, и придётся либо передавать весь объём документации, либо гадать.</a:t>
            </a:r>
          </a:p>
          <a:p/>
          <a:p>
            <a:r>
              <a:t>И последняя строка не отправляет ничего клиенту напрямую — последнее действие всей цепочки — положить черновик в очередь человека, не вместо него. Строка-комментарий под кодом называет это прямо: письмо уходит клиенту только после действия человека в очереди.</a:t>
            </a:r>
          </a:p>
          <a:p/>
          <a:p>
            <a:r>
              <a:t>Удаление любой из этих четырёх особенностей по отдельности превращает правильно собранную цепочку в цепочку из следующего экрана — ту, которая ломается. Это не абстрактное предупреждение: ровно эти факты будут меняться на следующем экране, и на нём же будет видно, что из этого следует.</a:t>
            </a:r>
          </a:p>
          <a:p/>
          <a:p>
            <a:r>
              <a:t>Четыре строки не описывают готовый продукт — они описывают форму, в которую может быть одета любая конкретная реализация: </a:t>
            </a:r>
            <a:r>
              <a:rPr>
                <a:latin typeface="Consolas"/>
              </a:rPr>
              <a:t>call_classify</a:t>
            </a:r>
            <a:r>
              <a:t> и </a:t>
            </a:r>
            <a:r>
              <a:rPr>
                <a:latin typeface="Consolas"/>
              </a:rPr>
              <a:t>call_draft</a:t>
            </a:r>
            <a:r>
              <a:t> здесь не привязаны ни к одному конкретному провайдеру модели, </a:t>
            </a:r>
            <a:r>
              <a:rPr>
                <a:latin typeface="Consolas"/>
              </a:rPr>
              <a:t>retrieve</a:t>
            </a:r>
            <a:r>
              <a:t> не привязан ни к одной конкретной базе знаний. Меняться могут детали внутри каждого вызова; четыре факта о порядке и о том, что течёт между ними, — не меняются, и именно по ним стоит проверять любую реальную реализацию похожей задачи.</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Возьмём ту же цепочку и уберём из неё одну вещь — проверку между classify и draft — а человеческий гейт в конце превратим в формальность: очередь на подтверждение разрослась настолько, что черновики штампуют не читая, потому что иначе работа стоит.</a:t>
            </a:r>
          </a:p>
          <a:p/>
          <a:p>
            <a:r>
              <a:t>Письмо про разбитую упаковку и просьбу вернуть деньги classify ошибочно помечает как «другое» — метка настолько общая, что под ней в базе знаний лежит нейтральный шаблон: «спасибо за обращение, ответим в течение суток». Второй шаг, draft, делает ровно то, что ему положено: берёт метку «другое» и контекст именно под эту метку, и составляет грамматически безупречный, вежливый, уверенно звучащий ответ. Проблема не в том, что ответ звучит плохо, — проблема в том, что по содержанию он сообщает клиенту, у которого есть законное право на возврат денег за испорченный товар, нейтральную отговорку вместо решения его вопроса.</a:t>
            </a:r>
          </a:p>
          <a:p/>
          <a:p>
            <a:r>
              <a:t>Ошибка первого звена цепочки не исчезает на втором и не становится заметнее — она молча протекает внутрь второго звена в том же формате, что и правильный результат, и внешне неотличима от него: оба черновика выглядят одинаково профессионально написанными. Без проверки метки до второго вызова и без человеческого гейта, который работает по-настоящему, не формально, — этот ответ уходит клиенту ровно таким, каким его написала модель на основе неверной метки.</a:t>
            </a:r>
          </a:p>
          <a:p/>
          <a:p>
            <a:r>
              <a:t>Цена здесь — не катастрофа. Что-то более обычное и более опасное именно этим: недовольный клиент, упущенный возврат, повторное письмо «почему мне не ответили по существу» — ошибка, которая выглядит как единичный сбой, а на самом деле системное следствие пропущенной на этапе разработки проверки.</a:t>
            </a:r>
          </a:p>
          <a:p/>
          <a:p>
            <a:r>
              <a:t>Такая ошибка опасна именно своей неприметностью: катастрофу замечают сразу, а поток нейтральных, грамматически правильных отговорок — не замечают, пока не накопится статистика жалоб или пока один из клиентов не напишет резкий отзыв публично. К моменту, когда проблему увидят, цепочка могла отработать так уже на десятках писем.</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Таблица этого экрана — не абстрактное правило. Прямой вывод из того, что показали оба предыдущих экрана: правильно собранная цепочка с проверкой между шагами и та же цепочка без неё.</a:t>
            </a:r>
          </a:p>
          <a:p/>
          <a:p>
            <a:r>
              <a:t>Цепочка подходит, когда задача раскладывается на фиксированную, известную заранее последовательность шагов — именно так устроена обработка письма: классифицировать, написать черновик, показать человеку, всегда в этом порядке. Подходит она и тогда, когда входы, пусть и разные по содержанию, относятся к одному и тому же классу обработки — все письма из сцены, от простого вопроса про пароль до жалобы на доставку, одинаково проходят через одни и те же три шага, различается только содержание, не форма обработки. И подходит она там, где между шагами можно поставить детерминированную проверку и, в конце, человеческий гейт, — именно это и отделило рабочую цепочку от провалившейся.</a:t>
            </a:r>
          </a:p>
          <a:p/>
          <a:p>
            <a:r>
              <a:t>Цепочки недостаточно, когда шаги или их число зависят от того, что пришло на входе, и не укладываются в один заранее написанный список; когда входы разнородны настолько, что для разных групп нужны принципиально разные шаги, разные промпты или разные инструменты; и когда решение о том, какой путь выбрать, само требует суждения модели — не формальной проверки заранее известного списка значений.</a:t>
            </a:r>
          </a:p>
          <a:p/>
          <a:p>
            <a:r>
              <a:t>Третья и четвёртая строки открывают прямой вопрос на будущее. Что, если письма, приходящие в один и тот же почтовый ящик, на самом деле относятся к принципиально разным группам обработки, не к одной, — скажем, вопросы по оплате требуют одного набора действий и один тон, технические жалобы — другого, а запросы от потенциальных оптовых партнёров — вообще другого отдела и других документов? Единственный шаг classify на входе цепочки в этом случае начинает разрастаться в десятки if-веток внутри самого себя, и это — наблюдаемый сигнал, не теоретическое рассуждение: там, где один и тот же фиксированный порядок шагов перестаёт одинаково хорошо подходить всем входам, прямая цепочка кончается и начинается маршрутизация.</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Фраза этого экрана — «цена дома — это одно число, мы поверили, что знаем его точно» — формулировка наблюдаемой проблемы, не цитата конкретного человека; дальше кейс раскрывает её документированным, публичным случаем, не учебной сценой. В отличие от кейса A этой же ступени, всё, что здесь приводится дальше, — проверяемые факты с указанными источниками.</a:t>
            </a:r>
          </a:p>
          <a:p/>
          <a:p>
            <a:r>
              <a:t>Этот кейс — прямое продолжение того, что уже показал кейс A, не новая отдельная тема: та же самая форма ошибки — промежуточный результат цепочки проходит дальше без проверки — здесь случилась на несопоставимо большей цене. В кейсе A непроверенная метка классификации доходила до черновика письма, который можно переписать. Здесь непроверенная автоматическая оценка доходит до действия, которое одним кликом не отменить.</a:t>
            </a:r>
          </a:p>
          <a:p/>
          <a:p>
            <a:r>
              <a:t>Разница между учебной механикой и документированным случаем здесь не случайна. Кейс A несёт приём через всю ступень, не претендуя на реальный инцидент конкретной компании — называть его чьим-то провалом было бы прямой выдумкой. Кейс B и кейс C дальше в этой же ступени — наоборот, реальные, задокументированные события с цифрами и прямыми источниками, и расхождение между учебной сценой и документированным случаем называется прямо — не прячется за одинаковой формой подачи.</a:t>
            </a:r>
          </a:p>
          <a:p/>
          <a:p>
            <a:r>
              <a:t>Следующий экран называет компанию, бизнес-модель и механизм, который привёл к миллионным списаниям, — и показывает ту же структурную дыру, которую кейс A уже назвал по имени: промежуточный результат без проверки, идущий дальше.</a:t>
            </a:r>
          </a:p>
          <a:p/>
          <a:p>
            <a:r>
              <a:t>Масштаб перехода стоит отметить заранее, не дожидаясь цифр: кейс A обходится без единого реального инцидента и без единого доллара цены ошибки, кейс B — компания из списка крупнейших на своём рынке и списание в сотни миллионов долларов. Структура ошибки от этого не меняется ни на шаг; меняется только то, что происходит, когда та же самая дыра открывается на несопоставимо большем потоке решений.</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 2018 по 2021 год компания Zillow — крупнейшая в США платформа объявлений о продаже недвижимости — вела отдельный бизнес, Zillow Offers, работавший по модели «iBuying»: компания сама покупала дома напрямую у владельцев, а затем перепродавала их после минимального ремонта.</a:t>
            </a:r>
          </a:p>
          <a:p/>
          <a:p>
            <a:r>
              <a:t>Первым шагом в этой цепочке стояла автоматическая оценка — Zestimate, модель, частично построенная на машинном обучении и давно известная пользователям Zillow как оценочная цифра рядом с каждым объявлением на сайте. Для обычного пользователя сайта Zestimate — ориентир, не точная цифра: сама компания годами подчёркивала, что это «компьютерный расчёт стоимости дома сегодня, на основе доступных данных», не оценка эксперта. Но внутри Zillow Offers эта же цифра стала первым шагом цепочки, которая заканчивалась обязывающим денежным предложением о покупке конкретного дома по конкретной цене, не ориентиром, — реальным обязательством компании потратить реальный капитал.</a:t>
            </a:r>
          </a:p>
          <a:p/>
          <a:p>
            <a:r>
              <a:t>Между автоматической оценкой и этим обязывающим финальным шагом не было независимого гейта: никакой человек-андеррайтер не имел права остановить конкретную покупку выше определённого порога риска, и никакой автоматический предохранитель не останавливал темп закупок, если частота ошибок прогноза начинала расти. Это в точности та же структурная дыра, что в провалившейся версии цепочки из кейса A: промежуточный результат — метка класса там, оценка стоимости здесь — течёт дальше без проверки, которая могла бы его остановить, прежде чем на нём построится следующий, более дорогой шаг.</a:t>
            </a:r>
          </a:p>
          <a:p/>
          <a:p>
            <a:r>
              <a:t>Разница не в механизме ошибки. В том, что в кейсе A следующий шаг — черновик письма, который можно переписать после того, как ошибку заметили; здесь следующий шаг — покупка конкретного дома, которую одним действием не отменить. Чем это кончилось — следующий экран.</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Осенью 2021 года Zillow объявила списание запасов на $304,4 млн за третий квартал — компания прямо связала эту цифру с тем, что недавно купленные дома стоят дороже, чем компания сейчас может их продать (CNN Business, 9 ноября 2021). Решение закрыть бизнес Zillow Offers целиком было объявлено 2 ноября 2021 года, и вместе с ним — о сокращении 2000 рабочих мест, 25% штата компании. Генеральный директор и сооснователь Zillow Рич Бартон объяснил закрытие тем, что «непредсказуемость прогнозирования цен на жильё» «намного превысила» то, что компания ожидала.</a:t>
            </a:r>
          </a:p>
          <a:p/>
          <a:p>
            <a:r>
              <a:t>Отдельное независимое исследование аналитиков Bank of America, пересказанное журналом Fortune (3 ноября 2021), разобрало выборку из более чем 300 домов, которые подразделение Zillow Offers купило и выставило на продажу. Результат показал системную переплату по целому ряду городов: в Остине компания платила за дома по ценам, которые подразумевали рост стоимости на 27% в год за предыдущие четыре года владения, — тогда как фактический рост на том же рынке по индексу Case-Shiller составлял порядка 6% в год. Похожий разрыв — рост более 20% в год — аналитики нашли также в Сакраменто, Портленде, Цинциннати, Тампе, Фениксе и Денвере. Компания пыталась выставлять купленные дома на продажу с надбавкой около 5% к цене покупки, но на практике была вынуждена снижать цену в среднем на 6% от первоначального листинга — то есть по итогам всей выборки Zillow двигалась к убытку порядка 2% относительно цены покупки, даже не считая уже признанного списания в $304,4 млн.</a:t>
            </a:r>
          </a:p>
          <a:p/>
          <a:p>
            <a:r>
              <a:t>По итогам всего 2021 года списание составило $407,9 млн — более полная цифра, чем квартальная. Это тот же случай и то же число, которым Лекция 5 уже разбирала этот провал — там через рамку мониторинга жизненного цикла модели, здесь тот же инцидент читается другой линзой: вопрос был «где пропущен мониторинг» — стал «где в цепочке шагов пропущен гейт перед необратимым действием».</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Урок кейса A был в том, что ошибка первого звена цепочки без проверки молча доходит до результата, с которым соприкасается внешний человек. Этот кейс показывает тот же самый механизм там, где результат — не письмо. Решение потратить реальные деньги на актив, который потом не отменить одним действием.</a:t>
            </a:r>
          </a:p>
          <a:p/>
          <a:p>
            <a:r>
              <a:t>Это задаёт прямой, не абстрактный критерий: где в цепочке нужен гейт — вопрос цены и обратимости того шага, который наступит следом, не вкуса и не перфекционизма. Чем дороже и чем менее обратимо действие, которое цепочка готова совершить сразу после текущего шага, тем меньше смысла экономить именно на проверке перед этим шагом. Письмо, ушедшее клиенту с неверным ответом, можно исправить следующим письмом в тот же день. Купленный дом, оценённый неверно, требует либо многомесячной перепродажи с убытком, либо того самого списания в сотни миллионов долларов.</a:t>
            </a:r>
          </a:p>
          <a:p/>
          <a:p>
            <a:r>
              <a:t>Стоит отдельно сказать, чего этот урок не утверждает. Это не довод против автоматической оценки стоимости как инструмента вообще — оценка как входной сигнал для решения человека остаётся вполне уместным применением модели, и Zillow продолжает показывать Zestimate на сайте как ориентир для покупателей и продавцов. Довод — именно против того, чтобы автоматическая оценка сама запускала обязывающее, дорогое, труднообратимое действие без независимого промежуточного гейта между оценкой и обязательством.</a:t>
            </a:r>
          </a:p>
          <a:p/>
          <a:p>
            <a:r>
              <a:t>Там, где цепочка кончается черновиком, который человек прочитает, цена пропущенной проверки — потерянное время и недовольный клиент. Там, где цепочка кончается подписанным обязательством потратить капитал, цена той же самой пропущенной проверки — вопрос совершенно другого порядка. Третий кейс этой ступени показывает ещё одну сторону той же оси: что происходит, когда сложность, которую задача не требовала, добавляют сверху сами.</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Фраза этого экрана — «чтобы поменять одну мелкую деталь — пять слоёв абстракции» — не из самого поста, который кейс разбирает дальше, а из одного из самых поддержанных комментариев в публичном обсуждении этого поста на Hacker News: независимое подтверждение того же симптома тем же сообществом, которое читало исходный материал.</a:t>
            </a:r>
          </a:p>
          <a:p/>
          <a:p>
            <a:r>
              <a:t>Имя компании на этом экране ещё не звучит — по тому же правилу, что и у предыдущих двух дивайдеров ступени: дивайдер называет наблюдаемую проблему — не решение и не источник. Называет их следующий экран.</a:t>
            </a:r>
          </a:p>
          <a:p/>
          <a:p>
            <a:r>
              <a:t>Этот кейс, как и кейс B, — документированный публичный случай с прямыми источниками, оба прочитаны напрямую в этой сессии — не взяты по пересказу. Третий кейс этой ступени держит ту же ось, что первые два, но с новой стороны: кейс A показал, где цепочки достаточно и что её ломает, кейс B показал, во что превращается та же экономия, когда следующий шаг необратим и дорог. Кейс C показывает, что происходит, когда сверху добавляют сложность, которую сама задача не требовала.</a:t>
            </a:r>
          </a:p>
          <a:p/>
          <a:p>
            <a:r>
              <a:t>Компания и фреймворк, о которых идёт речь, отказались от инструмента, который должен был снять с них сложность, и обнаружили, что без него проще, не сложнее. Следующий экран называет компанию, фреймворк и конкретную цифру того, во что превратилось простое действие — перевод одного слова на другой язык — после того, как фреймворк встал между прямым вызовом модели и кодом команды.</a:t>
            </a:r>
          </a:p>
          <a:p/>
          <a:p>
            <a:r>
              <a:t>Почему этот поворот стоит третьим — не первым и не вторым: кейс A и кейс B — оба про нехватку проверки там, где цепочка уже построена правильно по форме. Кейс C — про другую ошибку, случившуюся раньше: сложность добавили туда, где задача её не требовала, и эта добавленная сложность сама стала источником новых мест для ошибки. Один урок ступени держится на трёх разных причинах одного и того же итога — цепочка подвела не потому, что приём плох, а потому что его либо недоверили, либо перегрузили лишним.</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Octomind — компания, чьи агенты на основе нескольких больших языковых моделей автоматически создают и исправляют сквозные (end-to-end) тесты, написанные на Playwright, популярном инструменте для автоматизации браузера. До середины 2024 года эта агентская система строилась на фреймворке LangChain: решение, которое в 2023 году выглядело разумным — у LangChain был большой набор готовых компонентов и прямое обещание «пройти путь от идеи до работающего кода за один вечер».</a:t>
            </a:r>
          </a:p>
          <a:p/>
          <a:p>
            <a:r>
              <a:t>На первых порах фреймворк действительно помогал: простые требования команды совпадали с тем, для чего LangChain был рассчитан. Но по мере того как требования становились более специфичными — в частности, понадобился способ извне наблюдать за внутренним состоянием агента между шагами, — высокоуровневые абстракции фреймворка перестали помогать и начали мешать. Простой пример из самого разбираемого поста показывает масштаб разницы: перевод одного слова на другой язык прямым вызовом API модели — это один класс и один вызов функции; та же самая задача через LangChain — уже три класса и четыре вызова, с появлением трёх новых понятий (шаблон промпта, парсер вывода, «цепочка», переопределяющая оператор </a:t>
            </a:r>
            <a:r>
              <a:rPr>
                <a:latin typeface="Consolas"/>
              </a:rPr>
              <a:t>|</a:t>
            </a:r>
            <a:r>
              <a:t> самого языка Python), ничего не добавляющих к результату по существу. На собственной практике команда обнаружила, что фреймворк не предоставляет способа извне наблюдать за состоянием агента, и это заставило сузить собственную реализацию до того, что LangChain умел показать наружу, вместо того чтобы построить систему, которая была нужна изначально.</a:t>
            </a:r>
          </a:p>
          <a:p/>
          <a:p>
            <a:r>
              <a:t>Решение команды — вынести фреймворк целиком и заменить его прямыми вызовами API модели и обычным кодом вокруг него: условиями, циклами, обработкой текста. Итоговая формулировка авторов поста короткая и прямая: «We could just code» — «мы могли просто написать код».</a:t>
            </a:r>
          </a:p>
          <a:p/>
          <a:p>
            <a:r>
              <a:t>Публикация получила широкий резонанс: обсуждение на Hacker News (20 июня 2024) собрало 480 очков и 297 комментариев. Один из самых поддержанных комментариев независимо подтвердил ту же картину на опыте трёх разных компаний автора комментария: «стоит сделать что-то чуть более оригинальное — и приходится проходить сквозь пять слоёв абстракции, чтобы поменять одну мелкую деталь». Другой участник того же обсуждения назвал собственный </a:t>
            </a:r>
            <a:r>
              <a:rPr>
                <a:latin typeface="Consolas"/>
              </a:rPr>
              <a:t>AgentExecutor</a:t>
            </a:r>
            <a:r>
              <a:t> LangChain «непрозрачным» — ровно тем свойством, которое новый на тот момент инструмент из той же экосистемы, LangGraph, создавался специально, чтобы заменить.</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Фреймворк, который должен был снять сложность с команды — буквально обещанием «от идеи до кода за вечер», — сам стал источником сложности: на то же самое действие требовалось больше кода, не меньше, и понять, что происходит внутри одного шага, стало труднее, не легче. И самое важное — когда фреймворк убрали, сложность не вернулась в каком-то другом виде. Простой код — прямые вызовы модели, обычные ветвления и обычная обработка текста, та же структура, что разобрана в кейсе A этой ступени: явные шаги, явная проверка между ними, без слоя, который прячет, что происходит внутри, — оказался достаточен с самого начала. Именно это имели в виду авторы поста под фразой «we could just code»: не то, что писать код сложнее, чем использовать фреймворк, а то, что фреймворк в их случае решал проблему, которой не было, и создавал проблему, которой не было бы без него.</a:t>
            </a:r>
          </a:p>
          <a:p/>
          <a:p>
            <a:r>
              <a:t>Этот вывод — не изолированное наблюдение одной команды. Прямое, отдельно задокументированное подтверждение того, что формулирует сама компания Anthropic в материале Building Effective Agents (2024): «найди простейшее решение» — начинай с прямых вызовов API, а фреймворк бери только тогда, когда он доказанно снимает реальную сложность, не по умолчанию, просто потому что он существует и обещает решить всё за вечер.</a:t>
            </a:r>
          </a:p>
          <a:p/>
          <a:p>
            <a:r>
              <a:t>Три кейса этой ступени держат одну и ту же ось с трёх разных сторон. Кейс A показал, где прямой цепочки достаточно и что именно ломает её, если сэкономить на проверке между шагами. Кейс B показал, во что превращается та же самая экономия, когда шаг, стоящий после непроверенного результата, — не письмо, которое можно переписать, а необратимое и дорогое действие. Кейс C показал, что происходит, когда сверху добавляют сложность, которую сама задача не требовала — фреймворк, покупающий непрозрачность там, где хватило бы простого кода.</a:t>
            </a:r>
          </a:p>
          <a:p/>
          <a:p>
            <a:r>
              <a:t>Следующий вопрос прямо вырастает из границы, которую назвал конец кейса A: что делать, если входы, приходящие в одну и ту же точку, на самом деле относятся к принципиально разным группам обработки, не к одной, — и единственный фиксированный порядок шагов одной цепочки не может одинаково хорошо подойти им всем? Ответ на этот вопрос — выбор одного из нескольких заранее заданных маршрутов в зависимости от типа входа.</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Ступень 1 этого занятия закончилась письмом, с которым не справился один порядок шагов:</a:t>
            </a:r>
          </a:p>
          <a:p>
            <a:r>
              <a:t>один вызов классифицирует, второй пишет черновик, человек проверяет перед отправкой.</a:t>
            </a:r>
          </a:p>
          <a:p>
            <a:r>
              <a:t>Граница, на которой она остановилась, звучала так: что делать, если входы относятся к</a:t>
            </a:r>
          </a:p>
          <a:p>
            <a:r>
              <a:t>принципиально разным группам и один и тот же порядок шагов не подходит всем. Шаг</a:t>
            </a:r>
          </a:p>
          <a:p>
            <a:r>
              <a:t>классификации в этой цепочке уже существовал — он определял, какой черновик писать дальше,</a:t>
            </a:r>
          </a:p>
          <a:p>
            <a:r>
              <a:t>и его результат оставался внутри одного прогона.</a:t>
            </a:r>
          </a:p>
          <a:p/>
          <a:p>
            <a:r>
              <a:t>Сегодня тот же шаг получает новую работу, и начинается она с того же наблюдения, которое</a:t>
            </a:r>
          </a:p>
          <a:p>
            <a:r>
              <a:t>даёт практика. Цепочка разбирает письма по одному: один вызов решает, к какой из четырёх</a:t>
            </a:r>
          </a:p>
          <a:p>
            <a:r>
              <a:t>категорий письмо относится — биллинг, техподдержка, жалоба, спам, — второй пишет черновик</a:t>
            </a:r>
          </a:p>
          <a:p>
            <a:r>
              <a:t>ответа. Первый вызов должен вернуть одно слово. Возвращает он абзац: модель сначала</a:t>
            </a:r>
          </a:p>
          <a:p>
            <a:r>
              <a:t>объясняет себе, почему письмо похоже на жалобу, и только в конце этого объяснения называет</a:t>
            </a:r>
          </a:p>
          <a:p>
            <a:r>
              <a:t>категорию. Нужное слово приходится выдёргивать из текста, который никто читать не</a:t>
            </a:r>
          </a:p>
          <a:p>
            <a:r>
              <a:t>планировал.</a:t>
            </a:r>
          </a:p>
          <a:p/>
          <a:p>
            <a:r>
              <a:t>Это не мелочь уровня стиля ответа. Поток писем в ящик поддержки растёт — туда свели почту</a:t>
            </a:r>
          </a:p>
          <a:p>
            <a:r>
              <a:t>отдела продаж и форму с сайта, и в день релиза за час приходит уже двести писем, не двадцать.</a:t>
            </a:r>
          </a:p>
          <a:p>
            <a:r>
              <a:t>Дежурный смотрит в конце дня в панель расходов на внешний вызов модели и видит: шаг</a:t>
            </a:r>
          </a:p>
          <a:p>
            <a:r>
              <a:t>классификации стоит почти столько же, сколько шаг черновика. Черновик — это связный абзац</a:t>
            </a:r>
          </a:p>
          <a:p>
            <a:r>
              <a:t>ответа клиенту, написанный заново под письмо. Классификация — это выбор одного слова из уже</a:t>
            </a:r>
          </a:p>
          <a:p>
            <a:r>
              <a:t>известного списка. Цена этих двух задач не должна совпадать, и расходы честно показывают,</a:t>
            </a:r>
          </a:p>
          <a:p>
            <a:r>
              <a:t>что в устройстве что-то перепутано.</a:t>
            </a:r>
          </a:p>
          <a:p/>
          <a:p>
            <a:r>
              <a:t>Перепутана не аккуратность разработчика — перепутана сама форма ответа. Задача шага</a:t>
            </a:r>
          </a:p>
          <a:p>
            <a:r>
              <a:t>классификации — вернуть одно значение из короткого списка известных вариантов, не сочинить</a:t>
            </a:r>
          </a:p>
          <a:p>
            <a:r>
              <a:t>текст заново. Модель, которую сюда подключили просто потому, что она уже стояла на соседнем</a:t>
            </a:r>
          </a:p>
          <a:p>
            <a:r>
              <a:t>шаге, по умолчанию умеет отвечать только текстом и платит за каждое слово этого текста, даже</a:t>
            </a:r>
          </a:p>
          <a:p>
            <a:r>
              <a:t>если дальше используется одна подстрока. Это несоответствие формы ответа форме задачи</a:t>
            </a:r>
          </a:p>
          <a:p>
            <a:r>
              <a:t>разбирается на следующих экранах.</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Разница между «меткой для следующего шага той же цепочки» и «меткой, которая выбирает</a:t>
            </a:r>
          </a:p>
          <a:p>
            <a:r>
              <a:t>ветку» на первый взгляд выглядит организационной. На деле она меняет требования к самому</a:t>
            </a:r>
          </a:p>
          <a:p>
            <a:r>
              <a:t>шагу классификации. Внутри одной цепочки небольшая задержка или не идеальная формулировка</a:t>
            </a:r>
          </a:p>
          <a:p>
            <a:r>
              <a:t>категории не критична — следующий шаг всё равно читает тот же текст письма и может</a:t>
            </a:r>
          </a:p>
          <a:p>
            <a:r>
              <a:t>компенсировать неточность. На развилке решение шага окончательное: письмо физически уезжает</a:t>
            </a:r>
          </a:p>
          <a:p>
            <a:r>
              <a:t>в одну из четырёх веток, и если метка неверна, об этом никто не узнает, пока клиент не</a:t>
            </a:r>
          </a:p>
          <a:p>
            <a:r>
              <a:t>напишет снова с вопросом, почему ему ответили не про то.</a:t>
            </a:r>
          </a:p>
          <a:p/>
          <a:p>
            <a:r>
              <a:t>У каждой из четырёх веток своя дальнейшая логика, и это тоже меняет требования к точности</a:t>
            </a:r>
          </a:p>
          <a:p>
            <a:r>
              <a:t>метки. Биллинг уходит в ветку, которая дальше запрашивает статус оплаты через отдельный</a:t>
            </a:r>
          </a:p>
          <a:p>
            <a:r>
              <a:t>внутренний сервис — неверная метка здесь означает, что запрос к чужому сервису просто не</a:t>
            </a:r>
          </a:p>
          <a:p>
            <a:r>
              <a:t>будет сделан. Жалоба уходит в ветку с обязательной пометкой «срочно» и более коротким сроком</a:t>
            </a:r>
          </a:p>
          <a:p>
            <a:r>
              <a:t>ответа — неверная метка здесь означает нарушенный срок, который никто не отслеживал, потому</a:t>
            </a:r>
          </a:p>
          <a:p>
            <a:r>
              <a:t>что письмо для системы не было жалобой вовсе. Спам уходит в архив без дальнейшей обработки</a:t>
            </a:r>
          </a:p>
          <a:p>
            <a:r>
              <a:t>человеком — неверная метка здесь самая дорогая из всех: настоящее обращение клиента,</a:t>
            </a:r>
          </a:p>
          <a:p>
            <a:r>
              <a:t>помеченное как спам, попросту исчезает из поля зрения.</a:t>
            </a:r>
          </a:p>
          <a:p/>
          <a:p>
            <a:r>
              <a:t>Три ветки — три разных цены одной и той же ошибки классификации, и ни одна цена не</a:t>
            </a:r>
          </a:p>
          <a:p>
            <a:r>
              <a:t>становится меньше оттого, что решение принял дешёвый и быстрый шаг. Это несовпадение — цена</a:t>
            </a:r>
          </a:p>
          <a:p>
            <a:r>
              <a:t>ошибки растёт с тем, что ветка делает дальше, не с тем, сколько стоил сам шаг</a:t>
            </a:r>
          </a:p>
          <a:p>
            <a:r>
              <a:t>классификации — и есть та развилка, на которой стоит следующий вопрос: нужно ли этому шагу</a:t>
            </a:r>
          </a:p>
          <a:p>
            <a:r>
              <a:t>гонять полноценный вызов модели, который сочиняет объяснение, или достаточно того, что сразу</a:t>
            </a:r>
          </a:p>
          <a:p>
            <a:r>
              <a:t>возвращает одну метку.</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Вопрос этого экрана звучит так: тот же самый шаг классификации — только теперь от его</a:t>
            </a:r>
          </a:p>
          <a:p>
            <a:r>
              <a:t>ответа зависит, какой из четырёх маршрутов получит письмо; нужно ли здесь гонять полноценный</a:t>
            </a:r>
          </a:p>
          <a:p>
            <a:r>
              <a:t>вызов модели, который сочиняет объяснение, или достаточно того, что сразу возвращает одну</a:t>
            </a:r>
          </a:p>
          <a:p>
            <a:r>
              <a:t>метку?</a:t>
            </a:r>
          </a:p>
          <a:p/>
          <a:p>
            <a:r>
              <a:t>Четыре карточки без подсказки, какая верная. «Оставить как есть» — ничего не нужно менять,</a:t>
            </a:r>
          </a:p>
          <a:p>
            <a:r>
              <a:t>цепочка уже работает, метку парсим из текстового ответа. «Правила руками» — набор ключевых</a:t>
            </a:r>
          </a:p>
          <a:p>
            <a:r>
              <a:t>слов и условий «если — то»: предсказуемо и дёшево, разработчик точно знает, что происходит</a:t>
            </a:r>
          </a:p>
          <a:p>
            <a:r>
              <a:t>на каждом шаге. «Отдельная маленькая модель» — звучит как технически верное решение:</a:t>
            </a:r>
          </a:p>
          <a:p>
            <a:r>
              <a:t>разделить обязанности, у классификации своя модель, у генерации ответа своя. «Decision-</a:t>
            </a:r>
          </a:p>
          <a:p>
            <a:r>
              <a:t>модель» — вызов, который возвращает типизированное значение, не текст; наименее знакомый</a:t>
            </a:r>
          </a:p>
          <a:p>
            <a:r>
              <a:t>вариант из четырёх, и ровно поэтому его выбирают реже остальных.</a:t>
            </a:r>
          </a:p>
          <a:p/>
          <a:p>
            <a:r>
              <a:t>Прежде чем переходить к разбору, стоит отметить общее у всех четырёх вариантов: ни один не</a:t>
            </a:r>
          </a:p>
          <a:p>
            <a:r>
              <a:t>меняет набор категорий и не меняет письмо. Меняется только то, чем именно шаг классификации</a:t>
            </a:r>
          </a:p>
          <a:p>
            <a:r>
              <a:t>вычисляет свой ответ — и именно это измерение разбор разводит дальше.</a:t>
            </a:r>
          </a:p>
          <a:p/>
          <a:p>
            <a:r>
              <a:t>Стоит также проверить собственный пайплайн, прежде чем слушать разбор: какой из четырёх</a:t>
            </a:r>
          </a:p>
          <a:p>
            <a:r>
              <a:t>вариантов там уже стоит сейчас, выбирался он осознанно или остался случайно от того момента,</a:t>
            </a:r>
          </a:p>
          <a:p>
            <a:r>
              <a:t>когда шаг классификации впервые появился рядом с шагом генерации черновика и показался</a:t>
            </a:r>
          </a:p>
          <a:p>
            <a:r>
              <a:t>самым простым способом не заводить отдельный вызов. Большинство существующих</a:t>
            </a:r>
          </a:p>
          <a:p>
            <a:r>
              <a:t>классификационных шагов в учебных и рабочих пайплайнах — это именно первый вариант, не</a:t>
            </a:r>
          </a:p>
          <a:p>
            <a:r>
              <a:t>потому что его выбрали после сравнения с остальными тремя, а потому что он требовал меньше</a:t>
            </a:r>
          </a:p>
          <a:p>
            <a:r>
              <a:t>всего новых решений в момент написания первой версии кода.</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Поворот этого кейса в том, что первые три варианта спорят не о том, что на самом деле</a:t>
            </a:r>
          </a:p>
          <a:p>
            <a:r>
              <a:t>разводит задачу. «Оставить как есть», «правила руками» и «отдельная маленькая модель» — все</a:t>
            </a:r>
          </a:p>
          <a:p>
            <a:r>
              <a:t>три отвечают на вопрос «как заранее угадать категорию точнее». Настоящий вопрос другой: зачем</a:t>
            </a:r>
          </a:p>
          <a:p>
            <a:r>
              <a:t>вообще просить модель сочинить текст, если в итоге нужно одно значение из четырёх. Модель</a:t>
            </a:r>
          </a:p>
          <a:p>
            <a:r>
              <a:t>отвечает текстом по умолчанию — таково её устройство. Чтобы получить метку из этого текста,</a:t>
            </a:r>
          </a:p>
          <a:p>
            <a:r>
              <a:t>его приходится разбирать: искать нужное слово в чужом объяснении. Разбор молча ломается при</a:t>
            </a:r>
          </a:p>
          <a:p>
            <a:r>
              <a:t>любом отклонении формата — метка один раз оказывается в скобках, один раз написана с</a:t>
            </a:r>
          </a:p>
          <a:p>
            <a:r>
              <a:t>маленькой буквы, и код, искавший строго заданный шаблон, тихо не находит ничего.</a:t>
            </a:r>
          </a:p>
          <a:p/>
          <a:p>
            <a:r>
              <a:t>Четыре способа рядом, по одной мерке — что делает и чего не делает. Полный вызов модели с</a:t>
            </a:r>
          </a:p>
          <a:p>
            <a:r>
              <a:t>парсингом ответа понимает контекст гибко, но платит за токены вывода, которые никто не</a:t>
            </a:r>
          </a:p>
          <a:p>
            <a:r>
              <a:t>читает, и зависит от парсинга, который ломается при любом отклонении формата. Правила руками</a:t>
            </a:r>
          </a:p>
          <a:p>
            <a:r>
              <a:t>дёшевы и прозрачны — видно, какое правило сработало, — но не обобщаются на формулировки,</a:t>
            </a:r>
          </a:p>
          <a:p>
            <a:r>
              <a:t>которых никто не предусмотрел: клиенты формулируют жалобы десятками разных способов.</a:t>
            </a:r>
          </a:p>
          <a:p>
            <a:r>
              <a:t>Отдельная маленькая модель-классификатор быстрее и дешевле полного вызова на этой же задаче,</a:t>
            </a:r>
          </a:p>
          <a:p>
            <a:r>
              <a:t>но требует отдельного обучения и поддержки: новая категория — это переобучение, не правка</a:t>
            </a:r>
          </a:p>
          <a:p>
            <a:r>
              <a:t>промпта.</a:t>
            </a:r>
          </a:p>
          <a:p/>
          <a:p>
            <a:r>
              <a:t>Decision-модель закрывает именно это несоответствие формы задачи и формы ответа: вместо</a:t>
            </a:r>
          </a:p>
          <a:p>
            <a:r>
              <a:t>текста на выходе число, метка, уверенность, распределение вероятностей по заданным</a:t>
            </a:r>
          </a:p>
          <a:p>
            <a:r>
              <a:t>категориям. Один из действующих примеров — Jev, продукт компании TypeSafe AI: письмо</a:t>
            </a:r>
          </a:p>
          <a:p>
            <a:r>
              <a:t>отправляется туда как вход, а в ответ приходит значение — уверенность от 0 до 1 в том, что</a:t>
            </a:r>
          </a:p>
          <a:p>
            <a:r>
              <a:t>письмо жалоба, распределение вероятностей сразу по всем четырём категориям или числовой балл</a:t>
            </a:r>
          </a:p>
          <a:p>
            <a:r>
              <a:t>вдоль заданной шкалы. Такой вызов заметно дешевле и быстрее обычного разговорного вызова на</a:t>
            </a:r>
          </a:p>
          <a:p>
            <a:r>
              <a:t>той же задаче: классификация не требует тех же вычислительных усилий, что связный текст, и</a:t>
            </a:r>
          </a:p>
          <a:p>
            <a:r>
              <a:t>цена это отражает.</a:t>
            </a:r>
          </a:p>
          <a:p/>
          <a:p>
            <a:r>
              <a:t>Своя цена есть и здесь. Decision-модель не объясняет, почему выбрала именно эту метку — на</a:t>
            </a:r>
          </a:p>
          <a:p>
            <a:r>
              <a:t>выходе только число, без причины рядом с ним. И у неё есть риск, которого не было у правил</a:t>
            </a:r>
          </a:p>
          <a:p>
            <a:r>
              <a:t>руками: скрытая предвзятость на неполном наборе категорий, которую не видно по самому</a:t>
            </a:r>
          </a:p>
          <a:p>
            <a:r>
              <a:t>числу — к этому разбор вернётся на следующем экране.</a:t>
            </a:r>
          </a:p>
          <a:p/>
          <a:p>
            <a:r>
              <a:t>Стоит задать этот же вопрос своему пайплайну: сколько в нём шагов, которые гоняют полный</a:t>
            </a:r>
          </a:p>
          <a:p>
            <a:r>
              <a:t>разговорный вызов ради того, чтобы в итоге взять из ответа одно слово или одну цифру? Это</a:t>
            </a:r>
          </a:p>
          <a:p>
            <a:r>
              <a:t>измеримая, сегодня же проверяемая цена, не гипотетическая.</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У decision-модели есть задокументированное ограничение, и оно прямо связано с ценой</a:t>
            </a:r>
          </a:p>
          <a:p>
            <a:r>
              <a:t>непрозрачности, названной на предыдущем экране. Автор Jev сам провёл небольшой эксперимент:</a:t>
            </a:r>
          </a:p>
          <a:p>
            <a:r>
              <a:t>попросил модель ответить «да» или «нет» на вопрос «хороший ли это город» для каждого города</a:t>
            </a:r>
          </a:p>
          <a:p>
            <a:r>
              <a:t>залива Сан-Франциско. Самую высокую оценку получил Купертино, самую низкую — Восточный</a:t>
            </a:r>
          </a:p>
          <a:p>
            <a:r>
              <a:t>Пало-Альто — соседние города с резко разным уровнем достатка. Объяснения к этим двум</a:t>
            </a:r>
          </a:p>
          <a:p>
            <a:r>
              <a:t>оценкам не было и не могло быть: формат ответа Jev — число, не причина. Какой именно</a:t>
            </a:r>
          </a:p>
          <a:p>
            <a:r>
              <a:t>признак потянул оценку вниз — доход жителей, цены на жильё, что-то третье, — определить</a:t>
            </a:r>
          </a:p>
          <a:p>
            <a:r>
              <a:t>напрямую из самого ответа нельзя. Автор эксперимента прямо написал, что ему было от этого</a:t>
            </a:r>
          </a:p>
          <a:p>
            <a:r>
              <a:t>некомфортно и что он не стал бы использовать такой инструмент для оценки кандидатов на</a:t>
            </a:r>
          </a:p>
          <a:p>
            <a:r>
              <a:t>работу: число выглядит объективным, а что за ним стоит — не видно.</a:t>
            </a:r>
          </a:p>
          <a:p/>
          <a:p>
            <a:r>
              <a:t>Это ограничение разбирает один слой провала — непрозрачность конкретного инструмента.</a:t>
            </a:r>
          </a:p>
          <a:p>
            <a:r>
              <a:t>Второй слой — провал самой идеи маршрута по заданным классам, и он не зависит от того, каким</a:t>
            </a:r>
          </a:p>
          <a:p>
            <a:r>
              <a:t>способом вычислена метка: полным вызовом модели, правилами руками или decision-моделью. У</a:t>
            </a:r>
          </a:p>
          <a:p>
            <a:r>
              <a:t>четырёх маршрутов — биллинг, техподдержка, жалоба, спам — есть общее свойство: письмо</a:t>
            </a:r>
          </a:p>
          <a:p>
            <a:r>
              <a:t>обязано попасть в один из них. Когда приходит письмо, которое на самом деле не похоже ни на</a:t>
            </a:r>
          </a:p>
          <a:p>
            <a:r>
              <a:t>одну из четырёх категорий сразу — скажем, партнёрское предложение о сотрудничестве, —</a:t>
            </a:r>
          </a:p>
          <a:p>
            <a:r>
              <a:t>маршрутизатор всё равно должен вернуть что-то. И он возвращает: берёт ближайший по сходству,</a:t>
            </a:r>
          </a:p>
          <a:p>
            <a:r>
              <a:t>но всё равно неверный класс, молча, без сигнала «я не уверен» или «подходящей категории</a:t>
            </a:r>
          </a:p>
          <a:p>
            <a:r>
              <a:t>нет».</a:t>
            </a:r>
          </a:p>
          <a:p/>
          <a:p>
            <a:r>
              <a:t>Здесь и находится настоящая опасность непрозрачности. Если бы маршрутизатор возвращал</a:t>
            </a:r>
          </a:p>
          <a:p>
            <a:r>
              <a:t>низкую уверенность на нетипичном письме, систему можно было бы настроить отправлять такие</a:t>
            </a:r>
          </a:p>
          <a:p>
            <a:r>
              <a:t>случаи человеку напрямую. Но число на выходе у decision-модели не обязано быть низким</a:t>
            </a:r>
          </a:p>
          <a:p>
            <a:r>
              <a:t>именно там, где классификация неверна — уверенность и правильность не одно и то же, и ничто</a:t>
            </a:r>
          </a:p>
          <a:p>
            <a:r>
              <a:t>в самом формате ответа не гарантирует, что они совпадут. Письмо просто уезжает в</a:t>
            </a:r>
          </a:p>
          <a:p>
            <a:r>
              <a:t>неправильную ветку, и узнают об этом обычно от клиента, который спрашивает, почему ему</a:t>
            </a:r>
          </a:p>
          <a:p>
            <a:r>
              <a:t>ответили не про то.</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Неверный маршрут в почтовом пайплайне стоит одно потерянное письмо и одно раздражённое</a:t>
            </a:r>
          </a:p>
          <a:p>
            <a:r>
              <a:t>повторное обращение. Цена ощутима, но обратима: письмо можно переслать в правильную ветку в</a:t>
            </a:r>
          </a:p>
          <a:p>
            <a:r>
              <a:t>тот же день, как только обнаружилась ошибка. У механизма, который только что разобран —</a:t>
            </a:r>
          </a:p>
          <a:p>
            <a:r>
              <a:t>маршрут по удобному, легко вычислимому признаку вместо настоящего, — есть версии с совсем</a:t>
            </a:r>
          </a:p>
          <a:p>
            <a:r>
              <a:t>другой ценой.</a:t>
            </a:r>
          </a:p>
          <a:p/>
          <a:p>
            <a:r>
              <a:t>Та же логика встречается не только в почтовых пайплайнах и не только там, где кто-то</a:t>
            </a:r>
          </a:p>
          <a:p>
            <a:r>
              <a:t>сознательно выбирал decision-модель вместо полноценного вызова модели. Два следующих случая</a:t>
            </a:r>
          </a:p>
          <a:p>
            <a:r>
              <a:t>не из мира разработки программного обеспечения вовсе — это документированные, проверенные</a:t>
            </a:r>
          </a:p>
          <a:p>
            <a:r>
              <a:t>алгоритмы, которые уже работали на реальных людях, и в обоих ни разработчик, ни заказчик не</a:t>
            </a:r>
          </a:p>
          <a:p>
            <a:r>
              <a:t>собирались строить что-то дискриминирующее. Один решал, каких пациентов направить на</a:t>
            </a:r>
          </a:p>
          <a:p>
            <a:r>
              <a:t>дополнительную медицинскую помощь. Второй решал, чьи налоговые декларации проверить. Общее у</a:t>
            </a:r>
          </a:p>
          <a:p>
            <a:r>
              <a:t>них с почтовым маршрутизатором — внутреннее устройство, не область применения:</a:t>
            </a:r>
          </a:p>
          <a:p>
            <a:r>
              <a:t>классификатор выбрал признак, который легко измерить и с которым легко работать, вместо</a:t>
            </a:r>
          </a:p>
          <a:p>
            <a:r>
              <a:t>признака, который на самом деле нужен.</a:t>
            </a:r>
          </a:p>
          <a:p/>
          <a:p>
            <a:r>
              <a:t>Масштаб различается в разы, которые нельзя даже сопоставлять напрямую: ошибка</a:t>
            </a:r>
          </a:p>
          <a:p>
            <a:r>
              <a:t>маршрутизатора стоит одно письмо, ошибка следующих двух алгоритмов считается десятками</a:t>
            </a:r>
          </a:p>
          <a:p>
            <a:r>
              <a:t>миллионов решений. Поэтому следующие два кейса разбираются как напоминание о том, какую цену способен получить</a:t>
            </a:r>
          </a:p>
          <a:p>
            <a:r>
              <a:t>ровно тот же технический выбор, если его не проверять, — не как курьёз из другой отрасли. Там, где в почтовом пайплайне достаточно вопроса «какой способ дешевле и</a:t>
            </a:r>
          </a:p>
          <a:p>
            <a:r>
              <a:t>быстрее», в системах, управляющих распределением медицинской помощи или налоговых проверок,</a:t>
            </a:r>
          </a:p>
          <a:p>
            <a:r>
              <a:t>тот же вопрос обязан идти рядом с другим: что именно эта быстрая и дешёвая метка на самом</a:t>
            </a:r>
          </a:p>
          <a:p>
            <a:r>
              <a:t>деле измеряет, и кого она тихо недооценивает.</a:t>
            </a:r>
          </a:p>
          <a:p/>
          <a:p>
            <a:r>
              <a:t>Держать в голове дальше стоит то, что подмена одного признака другим повторяется из домена в</a:t>
            </a:r>
          </a:p>
          <a:p>
            <a:r>
              <a:t>домен ровно по одной и той же причине и ровно тем же механизмом, который только что разобран</a:t>
            </a:r>
          </a:p>
          <a:p>
            <a:r>
              <a:t>на примере четырёх почтовых маршрутов, — не детали медицины или налогов.</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17,7% → 46,5%. Эти два числа — не две версии одного алгоритма до и после обновления. Это</a:t>
            </a:r>
          </a:p>
          <a:p>
            <a:r>
              <a:t>сегодняшний, работающий результат — и результат, который получился бы, если бы тот же</a:t>
            </a:r>
          </a:p>
          <a:p>
            <a:r>
              <a:t>алгоритм честно считал то, что заявлен считать. Коммерческий алгоритм риск-прогнозирования,</a:t>
            </a:r>
          </a:p>
          <a:p>
            <a:r>
              <a:t>которым пользуются госпитали и страховые компании в США, принимает решения в области,</a:t>
            </a:r>
          </a:p>
          <a:p>
            <a:r>
              <a:t>далёкой от почтовых пайплайнов, но устроен тем же способом, что и маршрутизатор из первого</a:t>
            </a:r>
          </a:p>
          <a:p>
            <a:r>
              <a:t>кейса: он классифицирует людей — здесь пациентов — по уровню риска, и на основании этой</a:t>
            </a:r>
          </a:p>
          <a:p>
            <a:r>
              <a:t>метки решает, кого направить дальше. Внешне это выглядит ничем не похожим на письмо,</a:t>
            </a:r>
          </a:p>
          <a:p>
            <a:r>
              <a:t>падающее в один из четырёх почтовых ящиков. Внутри — та же самая операция: вход, данные</a:t>
            </a:r>
          </a:p>
          <a:p>
            <a:r>
              <a:t>пациента, превращается в одну метку, балл риска, и эта метка определяет дальнейший маршрут</a:t>
            </a:r>
          </a:p>
          <a:p>
            <a:r>
              <a:t>человека через систему здравоохранения, причём без отдельного шага, где кто-то вручную</a:t>
            </a:r>
          </a:p>
          <a:p>
            <a:r>
              <a:t>перепроверяет каждое решение.</a:t>
            </a:r>
          </a:p>
          <a:p/>
          <a:p>
            <a:r>
              <a:t>Направить — куда именно. Это программы усиленного наблюдения: дополнительная медицинская</a:t>
            </a:r>
          </a:p>
          <a:p>
            <a:r>
              <a:t>помощь для пациентов, чья болезнь ещё управляема, но может перейти в тяжёлую стадию без</a:t>
            </a:r>
          </a:p>
          <a:p>
            <a:r>
              <a:t>вмешательства — например, диабет на ранней стадии или начинающаяся сердечная</a:t>
            </a:r>
          </a:p>
          <a:p>
            <a:r>
              <a:t>недостаточность. Попасть в такую программу означает получить персонального координатора</a:t>
            </a:r>
          </a:p>
          <a:p>
            <a:r>
              <a:t>лечения, более частые осмотры, более раннее вмешательство при ухудшении состояния. Не</a:t>
            </a:r>
          </a:p>
          <a:p>
            <a:r>
              <a:t>попасть — значит остаться на обычном режиме наблюдения и обратиться за помощью только тогда,</a:t>
            </a:r>
          </a:p>
          <a:p>
            <a:r>
              <a:t>когда состояние уже обострилось настолько, что его замечают без алгоритма.</a:t>
            </a:r>
          </a:p>
          <a:p/>
          <a:p>
            <a:r>
              <a:t>Масштаб этой развилки — не один госпиталь и не один штат: такие модели риск-прогнозирования</a:t>
            </a:r>
          </a:p>
          <a:p>
            <a:r>
              <a:t>участвуют в решениях о помощи для приблизительно 200 миллионов человек в год в США — это</a:t>
            </a:r>
          </a:p>
          <a:p>
            <a:r>
              <a:t>больше, чем всё население любой отдельной крупной европейской страны, и разница в проценте</a:t>
            </a:r>
          </a:p>
          <a:p>
            <a:r>
              <a:t>направленных на этом масштабе означает миллионы конкретных решений, не статистическую</a:t>
            </a:r>
          </a:p>
          <a:p>
            <a:r>
              <a:t>погрешность. Дальше — конкретная пара пациентов, на которой это видно без статистики.</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Представим двух пациентов с одинаковым баллом риска по этому алгоритму — скажем, оба</a:t>
            </a:r>
          </a:p>
          <a:p>
            <a:r>
              <a:t>попадают в 50-й процентиль, оба система считает одинаково нуждающимися во внимании уже</a:t>
            </a:r>
          </a:p>
          <a:p>
            <a:r>
              <a:t>сейчас, не завтра. Один из них — белый пациент. Второй — чёрный пациент с тем же самым</a:t>
            </a:r>
          </a:p>
          <a:p>
            <a:r>
              <a:t>баллом. Балл риска для обоих означает одно и то же решение координатора программы: включить</a:t>
            </a:r>
          </a:p>
          <a:p>
            <a:r>
              <a:t>или не включить в список на этой неделе — список ограничен числом свободных мест у</a:t>
            </a:r>
          </a:p>
          <a:p>
            <a:r>
              <a:t>координаторов, и выше в списке стоят пациенты с более высоким баллом.</a:t>
            </a:r>
          </a:p>
          <a:p/>
          <a:p>
            <a:r>
              <a:t>При более внимательном измерении состояния здоровья — реальном числе хронических</a:t>
            </a:r>
          </a:p>
          <a:p>
            <a:r>
              <a:t>заболеваний, лабораторных показателях, не в баллах самого алгоритма — чёрный пациент с</a:t>
            </a:r>
          </a:p>
          <a:p>
            <a:r>
              <a:t>этим же баллом оказывается заметно более болен, чем белый пациент с идентичной оценкой</a:t>
            </a:r>
          </a:p>
          <a:p>
            <a:r>
              <a:t>риска. Вслух это означает: по факту более тяжёлое состояние получает ровно такой же шанс</a:t>
            </a:r>
          </a:p>
          <a:p>
            <a:r>
              <a:t>попасть в список, что и более лёгкое, потому что оба спрятаны за одинаковым числом.</a:t>
            </a:r>
          </a:p>
          <a:p/>
          <a:p>
            <a:r>
              <a:t>Алгоритм присвоил двум разным по тяжести состояниям одно и то же число. Одна неверная</a:t>
            </a:r>
          </a:p>
          <a:p>
            <a:r>
              <a:t>оценка для одного человека могла бы быть статистическим шумом, случайностью измерения, с</a:t>
            </a:r>
          </a:p>
          <a:p>
            <a:r>
              <a:t>которой никакая система не застрахована. Эта ошибка — другая по природе: она сидит в самом</a:t>
            </a:r>
          </a:p>
          <a:p>
            <a:r>
              <a:t>принципе, на котором алгоритм вообще определяет, кто нуждается в помощи. Если этот принцип</a:t>
            </a:r>
          </a:p>
          <a:p>
            <a:r>
              <a:t>систематически сдвигает оценку одной группы пациентов вниз относительно их настоящего</a:t>
            </a:r>
          </a:p>
          <a:p>
            <a:r>
              <a:t>состояния, разница проявится у всех пациентов этой группы сразу, не у одного, — в</a:t>
            </a:r>
          </a:p>
          <a:p>
            <a:r>
              <a:t>одном и том же направлении, с одной и той же постоянной ошибкой. Ровно так отличают</a:t>
            </a:r>
          </a:p>
          <a:p>
            <a:r>
              <a:t>случайный шум измерения от систематического смещения: шум гасится при усреднении по</a:t>
            </a:r>
          </a:p>
          <a:p>
            <a:r>
              <a:t>множеству пациентов, смещение от усреднения только крепнет.</a:t>
            </a:r>
          </a:p>
          <a:p/>
          <a:p>
            <a:r>
              <a:t>Именно эту разницу и стоит поискать в механизме алгоритма — расы на входе нет вообще, и</a:t>
            </a:r>
          </a:p>
          <a:p>
            <a:r>
              <a:t>вопрос в том, что встало на её место.</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Расы на входе алгоритма нет вообще — ни в одном из полей, которые он использует,</a:t>
            </a:r>
          </a:p>
          <a:p>
            <a:r>
              <a:t>разработчики не закладывали её туда напрямую, ни прямо, ни через явный суррогат вроде</a:t>
            </a:r>
          </a:p>
          <a:p>
            <a:r>
              <a:t>почтового индекса. Вопрос классу: что из перечисленного алгоритм мог взять в качестве</a:t>
            </a:r>
          </a:p>
          <a:p>
            <a:r>
              <a:t>замены слову «потребность в помощи» — величине, которую нельзя измерить напрямую одним</a:t>
            </a:r>
          </a:p>
          <a:p>
            <a:r>
              <a:t>числом, — и почему именно этот выбор мог пойти не так именно по линии расы, хотя сама раса</a:t>
            </a:r>
          </a:p>
          <a:p>
            <a:r>
              <a:t>нигде в формуле не упоминается?</a:t>
            </a:r>
          </a:p>
          <a:p/>
          <a:p>
            <a:r>
              <a:t>Четыре карточки: число предыдущих диагнозов; прошлые расходы на здравоохранение;</a:t>
            </a:r>
          </a:p>
          <a:p>
            <a:r>
              <a:t>количество выписанных препаратов; число обращений в больницу за год. Все четыре — числа,</a:t>
            </a:r>
          </a:p>
          <a:p>
            <a:r>
              <a:t>которые уже существуют в системе до того, как кто-то начал строить алгоритм: их не нужно</a:t>
            </a:r>
          </a:p>
          <a:p>
            <a:r>
              <a:t>собирать заново, не нужно спрашивать у врача отдельно, не нужно ждать результатов нового</a:t>
            </a:r>
          </a:p>
          <a:p>
            <a:r>
              <a:t>обследования. Именно поэтому они и рассматриваются как кандидаты в первую очередь — цена</a:t>
            </a:r>
          </a:p>
          <a:p>
            <a:r>
              <a:t>получить такой признак практически нулевая по сравнению с ценой организовать прямое</a:t>
            </a:r>
          </a:p>
          <a:p>
            <a:r>
              <a:t>измерение состояния здоровья каждого пациента отдельно.</a:t>
            </a:r>
          </a:p>
          <a:p/>
          <a:p>
            <a:r>
              <a:t>Каждая из четырёх кажется разумным кандидатом на первый взгляд — все четыре измеримы, уже</a:t>
            </a:r>
          </a:p>
          <a:p>
            <a:r>
              <a:t>лежат в истории страховых выплат, не требуют нового сбора данных и не требуют от врача</a:t>
            </a:r>
          </a:p>
          <a:p>
            <a:r>
              <a:t>дополнительно оценивать пациента специально для алгоритма. Сам этот список — это и есть</a:t>
            </a:r>
          </a:p>
          <a:p>
            <a:r>
              <a:t>реальный выбор, перед которым стоят разработчики таких алгоритмов: прямого, однозначного</a:t>
            </a:r>
          </a:p>
          <a:p>
            <a:r>
              <a:t>числового измерения «потребности в медицинской помощи» не существует вообще, и разработчик</a:t>
            </a:r>
          </a:p>
          <a:p>
            <a:r>
              <a:t>обязан взять что-то измеримое в качестве замены.</a:t>
            </a:r>
          </a:p>
          <a:p/>
          <a:p>
            <a:r>
              <a:t>Вопрос этого экрана — какой из четырёх кандидатов реально использовал алгоритм Optum, и что</a:t>
            </a:r>
          </a:p>
          <a:p>
            <a:r>
              <a:t>в его числовой истории способно систематически смещаться из-за истории доступа к медицине у</a:t>
            </a:r>
          </a:p>
          <a:p>
            <a:r>
              <a:t>разных групп пациентов, не из-за тяжести болезни.</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Правильный ответ — прошлые расходы на здравоохранение. Логика, по которой его выбрали,</a:t>
            </a:r>
          </a:p>
          <a:p>
            <a:r>
              <a:t>выглядит разумной: чем больше денег система в прошлом потратила на лечение пациента, тем,</a:t>
            </a:r>
          </a:p>
          <a:p>
            <a:r>
              <a:t>по всей видимости, он больнее и тем больше внимания требует в будущем. Расходы — это число,</a:t>
            </a:r>
          </a:p>
          <a:p>
            <a:r>
              <a:t>которое легко получить из истории страховых выплат, не нужно собирать ничего нового, не</a:t>
            </a:r>
          </a:p>
          <a:p>
            <a:r>
              <a:t>нужно спрашивать врача отдельно. Расходы действительно связаны со здоровьем — болеющий</a:t>
            </a:r>
          </a:p>
          <a:p>
            <a:r>
              <a:t>человек лечится чаще и дороже здорового. Связаны они при этом ещё с кое-чем другим, и в этом</a:t>
            </a:r>
          </a:p>
          <a:p>
            <a:r>
              <a:t>втором слое связи и спрятана ошибка.</a:t>
            </a:r>
          </a:p>
          <a:p/>
          <a:p>
            <a:r>
              <a:t>В США чёрные пациенты исторически получают меньше медицинской помощи при той же тяжести</a:t>
            </a:r>
          </a:p>
          <a:p>
            <a:r>
              <a:t>заболевания, чем белые пациенты, — из-за неравного доступа к медицине, не из-за более лёгкой</a:t>
            </a:r>
          </a:p>
          <a:p>
            <a:r>
              <a:t>болезни: меньше визитов к врачу, меньше диагностических процедур, меньше направлений к</a:t>
            </a:r>
          </a:p>
          <a:p>
            <a:r>
              <a:t>специалистам при одних и тех же симптомах. Значит, прошлые расходы отражают не только</a:t>
            </a:r>
          </a:p>
          <a:p>
            <a:r>
              <a:t>тяжесть болезни — они отражают ещё и то, сколько система заплатила за лечение человека в</a:t>
            </a:r>
          </a:p>
          <a:p>
            <a:r>
              <a:t>прошлом, а это число у чёрных пациентов ниже при той же реальной тяжести состояния.</a:t>
            </a:r>
          </a:p>
          <a:p>
            <a:r>
              <a:t>Алгоритм, обученный на «расходы предсказывают потребность», унаследовал это искажение</a:t>
            </a:r>
          </a:p>
          <a:p>
            <a:r>
              <a:t>целиком: он честно выучил связь между расходами и будущими затратами, и эта связь в его</a:t>
            </a:r>
          </a:p>
          <a:p>
            <a:r>
              <a:t>входных данных уже была перекошена расовым неравенством в доступе к медицине, никем туда</a:t>
            </a:r>
          </a:p>
          <a:p>
            <a:r>
              <a:t>специально не закладывавшимся.</a:t>
            </a:r>
          </a:p>
          <a:p/>
          <a:p>
            <a:r>
              <a:t>Результат — систематическая недооценка риска чёрных пациентов, причём ровно там, где</a:t>
            </a:r>
          </a:p>
          <a:p>
            <a:r>
              <a:t>алгоритм выглядит наиболее нейтральным: ни одного явного указания на расу в формуле нет.</a:t>
            </a:r>
          </a:p>
          <a:p>
            <a:r>
              <a:t>Масштаб искажения измерен прямо: подмена проксёй сократила более чем вдвое число чёрных</a:t>
            </a:r>
          </a:p>
          <a:p>
            <a:r>
              <a:t>пациентов, направленных в программу усиленного наблюдения, при той же фактической тяжести</a:t>
            </a:r>
          </a:p>
          <a:p>
            <a:r>
              <a:t>состояния. Если исправить алгоритм так, чтобы он предсказывал реальную медицинскую</a:t>
            </a:r>
          </a:p>
          <a:p>
            <a:r>
              <a:t>потребность, не прошлые расходы, доля чёрных пациентов в программе выросла бы с 17,7% до</a:t>
            </a:r>
          </a:p>
          <a:p>
            <a:r>
              <a:t>46,5% — тех же самых пациентов, с теми же диагнозами, просто правильно распределённых.</a:t>
            </a:r>
          </a:p>
          <a:p>
            <a:r>
              <a:t>Масштаб — не гипотетический: такие модели применяются к решениям о помощи для приблизительно</a:t>
            </a:r>
          </a:p>
          <a:p>
            <a:r>
              <a:t>200 миллионов человек в год в США.</a:t>
            </a:r>
          </a:p>
          <a:p/>
          <a:p>
            <a:r>
              <a:t>Никто в этой истории поступил злонамеренно: расу в формулу никто не закладывал.</a:t>
            </a:r>
          </a:p>
          <a:p>
            <a:r>
              <a:t>Классификатор использовал удобный, легко измеримый, но неверный сигнал вместо настоящего —</a:t>
            </a:r>
          </a:p>
          <a:p>
            <a:r>
              <a:t>таким способом маршрутизация на практике ломается чаще, чем через умышленную</a:t>
            </a:r>
          </a:p>
          <a:p>
            <a:r>
              <a:t>дискриминацию.</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Как число, в котором расы вообще нет, даёт результат, разный по расе? Кейс</a:t>
            </a:r>
          </a:p>
          <a:p>
            <a:r>
              <a:t>Optum/UnitedHealth разобрал один домен — распределение медицинской помощи, и ответом там</a:t>
            </a:r>
          </a:p>
          <a:p>
            <a:r>
              <a:t>было одно конкретное число: прошлые расходы на лечение. Этот вопрос стоит задать второй раз,</a:t>
            </a:r>
          </a:p>
          <a:p>
            <a:r>
              <a:t>в домене, где ставки измеряются деньгами и потраченным временем, не здоровьем, и где</a:t>
            </a:r>
          </a:p>
          <a:p>
            <a:r>
              <a:t>ответом будет уже не расходы — что-то совсем другое. Домен меняется полностью — другое</a:t>
            </a:r>
          </a:p>
          <a:p>
            <a:r>
              <a:t>ведомство, другая профессиональная культура, другой порядок величин во входных данных,</a:t>
            </a:r>
          </a:p>
          <a:p>
            <a:r>
              <a:t>десятки миллионов деклараций ежегодно, — и единственное, что переносится из одного кейса в</a:t>
            </a:r>
          </a:p>
          <a:p>
            <a:r>
              <a:t>другой без изменений, это сама форма ошибки.</a:t>
            </a:r>
          </a:p>
          <a:p/>
          <a:p>
            <a:r>
              <a:t>Повторить его стоит не из любви к симметрии. Один документированный случай подмены</a:t>
            </a:r>
          </a:p>
          <a:p>
            <a:r>
              <a:t>признака легко прочитать как особенность одной конкретной системы здравоохранения — как</a:t>
            </a:r>
          </a:p>
          <a:p>
            <a:r>
              <a:t>если бы ошибка держалась на том, что именно медицинские данные устроены неудачно, или на</a:t>
            </a:r>
          </a:p>
          <a:p>
            <a:r>
              <a:t>том, что именно эта одна компания собрала их небрежно. Второй случай — расчёт, данные,</a:t>
            </a:r>
          </a:p>
          <a:p>
            <a:r>
              <a:t>ведомство и даже измеряемая величина здесь совсем другие — а итоговый разрыв по расе всё</a:t>
            </a:r>
          </a:p>
          <a:p>
            <a:r>
              <a:t>равно появляется, причём в похожем диапазоне кратности. Это переносит объяснение с</a:t>
            </a:r>
          </a:p>
          <a:p>
            <a:r>
              <a:t>особенностей одной отрасли на сам механизм замены нужного признака удобным: он срабатывает</a:t>
            </a:r>
          </a:p>
          <a:p>
            <a:r>
              <a:t>везде, где такая замена происходит, независимо от предметной области, набора данных или</a:t>
            </a:r>
          </a:p>
          <a:p>
            <a:r>
              <a:t>того, кто именно писал код.</a:t>
            </a:r>
          </a:p>
          <a:p/>
          <a:p>
            <a:r>
              <a:t>Два случая подряд — это минимум, нужный для такого вывода: один случай показывает</a:t>
            </a:r>
          </a:p>
          <a:p>
            <a:r>
              <a:t>инцидент, два случая с разной механикой внутри показывают закономерность. Если бы совпал</a:t>
            </a:r>
          </a:p>
          <a:p>
            <a:r>
              <a:t>ещё и конкретный признак — например, если бы налоговый алгоритм тоже опирался на прошлые</a:t>
            </a:r>
          </a:p>
          <a:p>
            <a:r>
              <a:t>траты налогоплательщика, — вывод был бы слабее: можно было бы заподозрить, что проблема</a:t>
            </a:r>
          </a:p>
          <a:p>
            <a:r>
              <a:t>именно в этом одном признаке, не в самом приёме замены. Совпадает не признак — совпадает</a:t>
            </a:r>
          </a:p>
          <a:p>
            <a:r>
              <a:t>то, что вместо него считается удобным.</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Внутренние алгоритмы налоговой службы США — IRS — выбирают, какие из поданных деклараций</a:t>
            </a:r>
          </a:p>
          <a:p>
            <a:r>
              <a:t>подлежат проверке. Поток деклараций огромен, инспекторов на ручную проверку каждой не</a:t>
            </a:r>
          </a:p>
          <a:p>
            <a:r>
              <a:t>хватает, и алгоритм заранее отбирает тех, у кого проверка с наибольшей вероятностью найдёт</a:t>
            </a:r>
          </a:p>
          <a:p>
            <a:r>
              <a:t>ошибку или нарушение. Значительная часть этого отбора идёт через скрининг заявок на EITC —</a:t>
            </a:r>
          </a:p>
          <a:p>
            <a:r>
              <a:t>налоговый вычет для работников с низким доходом: претендентам на этот вычет декларацию</a:t>
            </a:r>
          </a:p>
          <a:p>
            <a:r>
              <a:t>проверяют заметно чаще, чем остальным налогоплательщикам, и для многих из них письмо о</a:t>
            </a:r>
          </a:p>
          <a:p>
            <a:r>
              <a:t>проверке означает дни, потраченные на сбор документов, и реальный риск потерять часть уже</a:t>
            </a:r>
          </a:p>
          <a:p>
            <a:r>
              <a:t>рассчитанного возврата, которым семья успела распорядиться, — не просто бумажную формальность.</a:t>
            </a:r>
          </a:p>
          <a:p>
            <a:r>
              <a:t>EITC — вычет именно для тех, чей доход невелик и чей бюджет спланирован заранее на весь год</a:t>
            </a:r>
          </a:p>
          <a:p>
            <a:r>
              <a:t>с учётом уже заявленного возврата; задержка или отказ по итогам проверки бьёт по такому</a:t>
            </a:r>
          </a:p>
          <a:p>
            <a:r>
              <a:t>бюджету заметно сильнее, чем по бюджету налогоплательщика с более высоким и более устойчивым</a:t>
            </a:r>
          </a:p>
          <a:p>
            <a:r>
              <a:t>доходом.</a:t>
            </a:r>
          </a:p>
          <a:p/>
          <a:p>
            <a:r>
              <a:t>Представим двух налогоплательщиков с очень похожими декларациями: тот же диапазон дохода,</a:t>
            </a:r>
          </a:p>
          <a:p>
            <a:r>
              <a:t>та же структура вычетов, то же претендование на EITC. Один белый, другой чёрный. По</a:t>
            </a:r>
          </a:p>
          <a:p>
            <a:r>
              <a:t>статистике, собранной на миллионах деклараций, вероятность, что именно второй</a:t>
            </a:r>
          </a:p>
          <a:p>
            <a:r>
              <a:t>налогоплательщик получит письмо о проверке, заметно выше. Алгоритм отбора не видит и не</a:t>
            </a:r>
          </a:p>
          <a:p>
            <a:r>
              <a:t>использует расу налогоплательщика ни на одном шаге — в его входных данных этого поля нет и</a:t>
            </a:r>
          </a:p>
          <a:p>
            <a:r>
              <a:t>не может быть, оно даже не собирается налоговой службой в привязке к декларации.</a:t>
            </a:r>
          </a:p>
          <a:p/>
          <a:p>
            <a:r>
              <a:t>Разница в вероятности проверки держится не на одной декларации и не на одном инспекторе —</a:t>
            </a:r>
          </a:p>
          <a:p>
            <a:r>
              <a:t>это статистика, собранная по всей массе деклараций за несколько лет работы алгоритма,</a:t>
            </a:r>
          </a:p>
          <a:p>
            <a:r>
              <a:t>устойчивая из года в год, не случайный разброс, который можно было бы списать на</a:t>
            </a:r>
          </a:p>
          <a:p>
            <a:r>
              <a:t>совпадение на небольшой выборке.</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Здесь вопрос звучит иначе, чем в кейсах A и B: назвать число вслух, не выбрать карточку.</a:t>
            </a:r>
          </a:p>
          <a:p>
            <a:r>
              <a:t>Во сколько раз чаще, по сравнению с другими налогоплательщиками со схожими декларациями, по</a:t>
            </a:r>
          </a:p>
          <a:p>
            <a:r>
              <a:t>этим данным аудировали чернокожих налогоплательщиков?</a:t>
            </a:r>
          </a:p>
          <a:p/>
          <a:p>
            <a:r>
              <a:t>Форма вопроса меняется намеренно, не для разнообразия. В кейсах A и B вопрос был про признак —</a:t>
            </a:r>
          </a:p>
          <a:p>
            <a:r>
              <a:t>что именно алгоритм взял в качестве замены нужной величины. Здесь, после кейса B, механизм</a:t>
            </a:r>
          </a:p>
          <a:p>
            <a:r>
              <a:t>подмены уже известен — повторять вопрос «какой признак» означало бы спрашивать то, что уже</a:t>
            </a:r>
          </a:p>
          <a:p>
            <a:r>
              <a:t>прозвучало. Неизвестным остаётся другое — масштаб итогового перекоса, и его называют вслух</a:t>
            </a:r>
          </a:p>
          <a:p>
            <a:r>
              <a:t>числом, до того как прозвучит разбор.</a:t>
            </a:r>
          </a:p>
          <a:p/>
          <a:p>
            <a:r>
              <a:t>Называть число до разбора полезно именно потому, что интуиция здесь расходится в обе</a:t>
            </a:r>
          </a:p>
          <a:p>
            <a:r>
              <a:t>стороны: знание механизма не даёт автоматически верной интуиции о его размере. Одно дело</a:t>
            </a:r>
          </a:p>
          <a:p>
            <a:r>
              <a:t>понимать, что искажение существует и в какую сторону оно действует, и совсем другое —</a:t>
            </a:r>
          </a:p>
          <a:p>
            <a:r>
              <a:t>оценить, во сколько раз оно меняет итоговую вероятность конкретного решения для конкретного</a:t>
            </a:r>
          </a:p>
          <a:p>
            <a:r>
              <a:t>человека. Обе крайности интуиции звучат одинаково правдоподобно до того, как прозвучит</a:t>
            </a:r>
          </a:p>
          <a:p>
            <a:r>
              <a:t>число: заниженная оценка опирается на то, что алгоритм не видит расу напрямую и поэтому</a:t>
            </a:r>
          </a:p>
          <a:p>
            <a:r>
              <a:t>перекос обязан быть скромным; завышенная — на то, что раз о перекосе написали в прессе, его</a:t>
            </a:r>
          </a:p>
          <a:p>
            <a:r>
              <a:t>масштаб обязан быть огромным. Ни один из этих доводов не хуже другого на слух, и это стоит</a:t>
            </a:r>
          </a:p>
          <a:p>
            <a:r>
              <a:t>проговорить отдельно от самого числа: оценка масштаба скрытого статистического искажения на</a:t>
            </a:r>
          </a:p>
          <a:p>
            <a:r>
              <a:t>глаз — трудная задача даже для того, кто уже понимает механизм кейса B и ожидает увидеть его</a:t>
            </a:r>
          </a:p>
          <a:p>
            <a:r>
              <a:t>снова здесь.</a:t>
            </a:r>
          </a:p>
          <a:p/>
          <a:p>
            <a:r>
              <a:t>Названные вслух числа стоит записать или хотя бы запомнить: разбор следующего экрана</a:t>
            </a:r>
          </a:p>
          <a:p>
            <a:r>
              <a:t>возвращается именно к ним, не просто называет правильный ответ без контекста угадывания.</a:t>
            </a:r>
          </a:p>
          <a:p>
            <a:r>
              <a:t>Расхождение между тем, что зал сказал вслух, и тем, что покажет разбор, — часть самого</a:t>
            </a:r>
          </a:p>
          <a:p>
            <a:r>
              <a:t>урока, не вступление к нему.</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 совместному исследованию Stanford и самой IRS (2023 год), чёрных налогоплательщиков</a:t>
            </a:r>
          </a:p>
          <a:p>
            <a:r>
              <a:t>аудировали в 2,9–4,7 раза чаще, чем других налогоплательщиков со схожими декларациями.</a:t>
            </a:r>
          </a:p>
          <a:p>
            <a:r>
              <a:t>Цифра — не оценка независимых критиков со стороны: IRS сама подтвердила это открытие после</a:t>
            </a:r>
          </a:p>
          <a:p>
            <a:r>
              <a:t>совместной работы с исследователями и объявила о намерении исправить процесс отбора.</a:t>
            </a:r>
          </a:p>
          <a:p/>
          <a:p>
            <a:r>
              <a:t>Расового признака в алгоритме отбора нет и никогда не было — его там физически негде</a:t>
            </a:r>
          </a:p>
          <a:p>
            <a:r>
              <a:t>разместить, в наборе полей декларации такой графы не существует. Причина лежит в том, как</a:t>
            </a:r>
          </a:p>
          <a:p>
            <a:r>
              <a:t>классификатор взвешивал два других параметра: дешевизну проверки и отношение суммы возврата</a:t>
            </a:r>
          </a:p>
          <a:p>
            <a:r>
              <a:t>к сумме дохода в декларации. Декларации с претензией на EITC в среднем дешевле и быстрее</a:t>
            </a:r>
          </a:p>
          <a:p>
            <a:r>
              <a:t>проверить, чем сложные декларации с множеством статей дохода и вычетов — короче по объёму</a:t>
            </a:r>
          </a:p>
          <a:p>
            <a:r>
              <a:t>документов, менее запутаны, аудитор закрывает такую проверку быстрее. Алгоритм,</a:t>
            </a:r>
          </a:p>
          <a:p>
            <a:r>
              <a:t>оптимизированный так, чтобы находить нарушения при ограниченном числе инспекторских часов,</a:t>
            </a:r>
          </a:p>
          <a:p>
            <a:r>
              <a:t>закономерно смещается к декларациям, которые дешевле проверить, не к декларациям, где</a:t>
            </a:r>
          </a:p>
          <a:p>
            <a:r>
              <a:t>нарушение более вероятно или более финансово значимо. Заявители на EITC — это группа,</a:t>
            </a:r>
          </a:p>
          <a:p>
            <a:r>
              <a:t>несоразмерно затронутая этим смещением просто по структуре своих деклараций, а в составе</a:t>
            </a:r>
          </a:p>
          <a:p>
            <a:r>
              <a:t>этой группы оказывается больше чернокожих налогоплательщиков, чем в среднем по всем</a:t>
            </a:r>
          </a:p>
          <a:p>
            <a:r>
              <a:t>декларациям — не потому что они чаще нарушают правила: состав претендентов на</a:t>
            </a:r>
          </a:p>
          <a:p>
            <a:r>
              <a:t>этот конкретный вычет сам отражает более широкое неравенство в распределении доходов.</a:t>
            </a:r>
          </a:p>
          <a:p/>
          <a:p>
            <a:r>
              <a:t>Это ровно тот же механизм, что в кейсе B, только без общего признака «расходы» — здесь</a:t>
            </a:r>
          </a:p>
          <a:p>
            <a:r>
              <a:t>общий признак «дёшево и быстро обработать». Урок общий для обоих кейсов: маршрутизация и</a:t>
            </a:r>
          </a:p>
          <a:p>
            <a:r>
              <a:t>отбор могут системно ошибаться даже без единого «плохого» сигнала на входе, просто через</a:t>
            </a:r>
          </a:p>
          <a:p>
            <a:r>
              <a:t>то, что дешевле или проще обработать классификатору. Ни Optum, ни IRS не закладывали расу в</a:t>
            </a:r>
          </a:p>
          <a:p>
            <a:r>
              <a:t>формулу — оба алгоритма пришли к расово неравному результату, оптимизируя что-то совсем</a:t>
            </a:r>
          </a:p>
          <a:p>
            <a:r>
              <a:t>другое: предсказание расходов в одном случае, экономию часов инспектора в другом.</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Три кейса этой ступени показывают один и тот же разлом с разных сторон: почтовый</a:t>
            </a:r>
          </a:p>
          <a:p>
            <a:r>
              <a:t>маршрутизатор, который берёт ближайший неверный класс на нестандартном письме; алгоритм</a:t>
            </a:r>
          </a:p>
          <a:p>
            <a:r>
              <a:t>распределения медицинской помощи, который выучил чужое неравенство через расходы; алгоритм</a:t>
            </a:r>
          </a:p>
          <a:p>
            <a:r>
              <a:t>отбора на налоговую проверку, который выучил его же через дешевизну обработки. Из всех трёх</a:t>
            </a:r>
          </a:p>
          <a:p>
            <a:r>
              <a:t>складывается прямая граница, где маршрут по заранее заданным классам работает, а где</a:t>
            </a:r>
          </a:p>
          <a:p>
            <a:r>
              <a:t>перестаёт хватать.</a:t>
            </a:r>
          </a:p>
          <a:p/>
          <a:p>
            <a:r>
              <a:t>Маршрут работает, когда классы известны заранее и не пересекаются, когда правильный ответ —</a:t>
            </a:r>
          </a:p>
          <a:p>
            <a:r>
              <a:t>это выбор одной готовой ветки обработки, и когда ошибку видно по результату: письмо,</a:t>
            </a:r>
          </a:p>
          <a:p>
            <a:r>
              <a:t>попавшее не туда, это заметно сразу. Маршрута не хватает, когда классы неизвестны заранее</a:t>
            </a:r>
          </a:p>
          <a:p>
            <a:r>
              <a:t>или пересекаются и вход не описывается конечным списком; когда правильный ответ зависит от</a:t>
            </a:r>
          </a:p>
          <a:p>
            <a:r>
              <a:t>истории переписки или от сочетания нескольких признаков сразу, не от одной метки; и — это</a:t>
            </a:r>
          </a:p>
          <a:p>
            <a:r>
              <a:t>объединяет кейсы B и C — когда ошибка систематическая, не разовая, и видна только на</a:t>
            </a:r>
          </a:p>
          <a:p>
            <a:r>
              <a:t>статистике по множеству решений, не по одному случаю. Ровно по третьей строке кейсы B и C</a:t>
            </a:r>
          </a:p>
          <a:p>
            <a:r>
              <a:t>отличаются от кейса A: неверно маршрутизированное письмо видно сразу, а смещение на 200</a:t>
            </a:r>
          </a:p>
          <a:p>
            <a:r>
              <a:t>миллионах решений или на миллионах деклараций не видно вообще, пока кто-то не пересчитал</a:t>
            </a:r>
          </a:p>
          <a:p>
            <a:r>
              <a:t>результат по всей популяции.</a:t>
            </a:r>
          </a:p>
          <a:p/>
          <a:p>
            <a:r>
              <a:t>Это и есть предел маршрутизации как приёма: она хорошо решает задачу «выбрать одну из</a:t>
            </a:r>
          </a:p>
          <a:p>
            <a:r>
              <a:t>заранее известных веток» и систематически не замечает собственную ошибку, когда эта ошибка</a:t>
            </a:r>
          </a:p>
          <a:p>
            <a:r>
              <a:t>размазана по множеству мелких решений, не сосредоточена в одном. Там, где нужная</a:t>
            </a:r>
          </a:p>
          <a:p>
            <a:r>
              <a:t>классификация зависит от контекста, которого в заранее заданном списке категорий нет —</a:t>
            </a:r>
          </a:p>
          <a:p>
            <a:r>
              <a:t>например, письмо требует последовательности разных действий в зависимости</a:t>
            </a:r>
          </a:p>
          <a:p>
            <a:r>
              <a:t>от того, что ответит клиент дальше, не одной метки, — маршрут по готовым классам перестаёт быть правильным</a:t>
            </a:r>
          </a:p>
          <a:p>
            <a:r>
              <a:t>инструментом вообще.</a:t>
            </a:r>
          </a:p>
          <a:p/>
          <a:p>
            <a:r>
              <a:t>Это первый предвестник следующего уровня лестницы процесса: одного агента, который сам</a:t>
            </a:r>
          </a:p>
          <a:p>
            <a:r>
              <a:t>решает на каждом шаге, что делать дальше, не выбирает одну из заранее заданных веток.</a:t>
            </a:r>
          </a:p>
          <a:p>
            <a:r>
              <a:t>Этот уровень — отдельная ступень курса, и здесь он только назван, не разобран.</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 начале занятия эта лестница стояла пустой — девять строк, ни одна не закрыта. Сейчас она та же самая, и три нижних строки в ней закрыты.</a:t>
            </a:r>
          </a:p>
          <a:p/>
          <a:p>
            <a:r>
              <a:t>Строка «хватит одного вызова» закрыта: для части задач, где одного обращения к модели и, при необходимости, одного обращения к базе знаний достаточно, строить процесс вокруг LLM не нужно вовсе — такая ситуация встречается не реже, чем кажется на первый взгляд. Строка «цепочка» закрыта: там, где одного вызова не хватает, но порядок шагов известен заранее, шаги выстраиваются друг за другом, и между ними ставится проверка — без неё ошибка первого шага тихо утекает в последний. Строка «маршрут» закрыта: там, где заранее неизвестно, какой из нескольких известных путей подойдёт входящей задаче, по какому пути пойти дальше определяет вызов модели — или классификатора без текстового вывода, вовсе не модели.</a:t>
            </a:r>
          </a:p>
          <a:p/>
          <a:p>
            <a:r>
              <a:t>Эти три строки — нижняя часть лестницы, самые простые способы организовать процесс вокруг LLM. Выше остаются шесть пустых строк: параллельные проверки, переделка по эталону, несколько исполнителей под одним дирижёром, один агент, несколько агентов, и строка про обратное решение, не про усложнение, — выключить автоматизацию там, где ручной процесс справляется лучше. Эти шесть строк останутся пустыми до следующих пяти занятий этой же серии: каждое из них закрывает одну-две строки, не все сразу.</a:t>
            </a:r>
          </a:p>
          <a:p/>
          <a:p>
            <a:r>
              <a:t>Граница, на которой сегодняшние три строки заканчиваются, названа внутри занятия: там, где категории ответа заранее неизвестны или пересекаются друг с другом, маршрутизации уже не хватает — это и есть вход в следующую строку лестницы, в следующее занятие серии.</a:t>
            </a:r>
          </a:p>
          <a:p/>
          <a:p>
            <a:r>
              <a:t>Лестница — не список того, что нужно запомнить. Карта того, какую часть процесса вокруг LLM занятие покрыло сегодня и какая часть остаётся впереди. Три нижние строки работают с этого момента как проверенный, закрытый результат: у вопроса «хватит одного вызова, нужна цепочка или нужен маршрут» для новой задачи теперь есть на что опереться. Остальные шесть строк ждут своего занятия, и форма, в которой лестница появится снова, будет той же самой, прочитанной дальше.</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74320"/>
            <a:ext cx="10515600" cy="1298448"/>
          </a:xfrm>
          <a:prstGeom prst="rect">
            <a:avLst/>
          </a:prstGeom>
          <a:noFill/>
        </p:spPr>
        <p:txBody>
          <a:bodyPr wrap="square" lIns="0" rIns="0" tIns="0" bIns="0" anchor="ctr">
            <a:spAutoFit/>
          </a:bodyPr>
          <a:lstStyle/>
          <a:p>
            <a:pPr algn="ctr">
              <a:lnSpc>
                <a:spcPts val="3456"/>
              </a:lnSpc>
              <a:spcAft>
                <a:spcPts val="0"/>
              </a:spcAft>
            </a:pPr>
            <a:r>
              <a:rPr sz="3200" b="1" i="0">
                <a:solidFill>
                  <a:srgbClr val="FFFFFF"/>
                </a:solidFill>
                <a:latin typeface="Arial"/>
              </a:rPr>
              <a:t>Один вызов, цепочка, маршрут</a:t>
            </a:r>
          </a:p>
        </p:txBody>
      </p:sp>
      <p:sp>
        <p:nvSpPr>
          <p:cNvPr id="4" name="Rectangle 3"/>
          <p:cNvSpPr/>
          <p:nvPr/>
        </p:nvSpPr>
        <p:spPr>
          <a:xfrm>
            <a:off x="0" y="1847088"/>
            <a:ext cx="12191695" cy="6400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963924"/>
            <a:ext cx="10515600" cy="539496"/>
          </a:xfrm>
          <a:prstGeom prst="rect">
            <a:avLst/>
          </a:prstGeom>
          <a:noFill/>
        </p:spPr>
        <p:txBody>
          <a:bodyPr wrap="square" lIns="0" rIns="0" tIns="0" bIns="0" anchor="t">
            <a:spAutoFit/>
          </a:bodyPr>
          <a:lstStyle/>
          <a:p>
            <a:pPr algn="ctr">
              <a:lnSpc>
                <a:spcPts val="2124"/>
              </a:lnSpc>
              <a:spcAft>
                <a:spcPts val="400"/>
              </a:spcAft>
            </a:pPr>
            <a:r>
              <a:rPr sz="1800" b="0" i="0">
                <a:solidFill>
                  <a:srgbClr val="D6E2EC"/>
                </a:solidFill>
                <a:latin typeface="Arial"/>
              </a:rPr>
              <a:t>Первое занятие дуги про процессы на LLM поверх агентов, которых вы собирали на С4–С6.</a:t>
            </a:r>
          </a:p>
        </p:txBody>
      </p:sp>
      <p:sp>
        <p:nvSpPr>
          <p:cNvPr id="6" name="TextBox 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FFFFFF"/>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Один агент → процесс, который пользуется LLM</a:t>
            </a:r>
          </a:p>
        </p:txBody>
      </p:sp>
      <p:sp>
        <p:nvSpPr>
          <p:cNvPr id="3" name="Rounded Rectangle 2"/>
          <p:cNvSpPr/>
          <p:nvPr/>
        </p:nvSpPr>
        <p:spPr>
          <a:xfrm>
            <a:off x="502920" y="943356"/>
            <a:ext cx="11183112" cy="4692142"/>
          </a:xfrm>
          <a:prstGeom prst="roundRect">
            <a:avLst>
              <a:gd name="adj" fmla="val 6495"/>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26236"/>
            <a:ext cx="1259951" cy="274574"/>
          </a:xfrm>
          <a:prstGeom prst="rect">
            <a:avLst/>
          </a:prstGeom>
          <a:noFill/>
        </p:spPr>
        <p:txBody>
          <a:bodyPr wrap="square" lIns="0" rIns="0" tIns="0" bIns="0" anchor="t">
            <a:spAutoFit/>
          </a:bodyPr>
          <a:lstStyle/>
          <a:p>
            <a:pPr algn="l">
              <a:lnSpc>
                <a:spcPts val="1210"/>
              </a:lnSpc>
              <a:spcAft>
                <a:spcPts val="0"/>
              </a:spcAft>
            </a:pPr>
            <a:r>
              <a:rPr sz="1100" b="1" i="0">
                <a:solidFill>
                  <a:srgbClr val="6B7685"/>
                </a:solidFill>
                <a:latin typeface="Arial"/>
              </a:rPr>
              <a:t>СТРОКА</a:t>
            </a:r>
          </a:p>
        </p:txBody>
      </p:sp>
      <p:sp>
        <p:nvSpPr>
          <p:cNvPr id="5" name="TextBox 4"/>
          <p:cNvSpPr txBox="1"/>
          <p:nvPr/>
        </p:nvSpPr>
        <p:spPr>
          <a:xfrm>
            <a:off x="2092055" y="1126236"/>
            <a:ext cx="2774381" cy="274574"/>
          </a:xfrm>
          <a:prstGeom prst="rect">
            <a:avLst/>
          </a:prstGeom>
          <a:noFill/>
        </p:spPr>
        <p:txBody>
          <a:bodyPr wrap="square" lIns="0" rIns="0" tIns="0" bIns="0" anchor="t">
            <a:spAutoFit/>
          </a:bodyPr>
          <a:lstStyle/>
          <a:p>
            <a:pPr algn="l">
              <a:lnSpc>
                <a:spcPts val="1210"/>
              </a:lnSpc>
              <a:spcAft>
                <a:spcPts val="0"/>
              </a:spcAft>
            </a:pPr>
            <a:r>
              <a:rPr sz="1100" b="1" i="0">
                <a:solidFill>
                  <a:srgbClr val="6B7685"/>
                </a:solidFill>
                <a:latin typeface="Arial"/>
              </a:rPr>
              <a:t>ЧТО</a:t>
            </a:r>
          </a:p>
        </p:txBody>
      </p:sp>
      <p:sp>
        <p:nvSpPr>
          <p:cNvPr id="6" name="TextBox 5"/>
          <p:cNvSpPr txBox="1"/>
          <p:nvPr/>
        </p:nvSpPr>
        <p:spPr>
          <a:xfrm>
            <a:off x="5012740" y="1126236"/>
            <a:ext cx="2774381" cy="274574"/>
          </a:xfrm>
          <a:prstGeom prst="rect">
            <a:avLst/>
          </a:prstGeom>
          <a:noFill/>
        </p:spPr>
        <p:txBody>
          <a:bodyPr wrap="square" lIns="0" rIns="0" tIns="0" bIns="0" anchor="t">
            <a:spAutoFit/>
          </a:bodyPr>
          <a:lstStyle/>
          <a:p>
            <a:pPr algn="l">
              <a:lnSpc>
                <a:spcPts val="1210"/>
              </a:lnSpc>
              <a:spcAft>
                <a:spcPts val="0"/>
              </a:spcAft>
            </a:pPr>
            <a:r>
              <a:rPr sz="1100" b="1" i="0">
                <a:solidFill>
                  <a:srgbClr val="6B7685"/>
                </a:solidFill>
                <a:latin typeface="Arial"/>
              </a:rPr>
              <a:t>ЗАКРЫВАЕТ</a:t>
            </a:r>
          </a:p>
        </p:txBody>
      </p:sp>
      <p:sp>
        <p:nvSpPr>
          <p:cNvPr id="7" name="TextBox 6"/>
          <p:cNvSpPr txBox="1"/>
          <p:nvPr/>
        </p:nvSpPr>
        <p:spPr>
          <a:xfrm>
            <a:off x="7933425" y="1126236"/>
            <a:ext cx="3423422" cy="274574"/>
          </a:xfrm>
          <a:prstGeom prst="rect">
            <a:avLst/>
          </a:prstGeom>
          <a:noFill/>
        </p:spPr>
        <p:txBody>
          <a:bodyPr wrap="square" lIns="0" rIns="0" tIns="0" bIns="0" anchor="t">
            <a:spAutoFit/>
          </a:bodyPr>
          <a:lstStyle/>
          <a:p>
            <a:pPr algn="l">
              <a:lnSpc>
                <a:spcPts val="1210"/>
              </a:lnSpc>
              <a:spcAft>
                <a:spcPts val="0"/>
              </a:spcAft>
            </a:pPr>
            <a:r>
              <a:rPr sz="1100" b="1" i="0">
                <a:solidFill>
                  <a:srgbClr val="6B7685"/>
                </a:solidFill>
                <a:latin typeface="Arial"/>
              </a:rPr>
              <a:t>СТАТУС</a:t>
            </a:r>
          </a:p>
        </p:txBody>
      </p:sp>
      <p:sp>
        <p:nvSpPr>
          <p:cNvPr id="8" name="TextBox 7"/>
          <p:cNvSpPr txBox="1"/>
          <p:nvPr/>
        </p:nvSpPr>
        <p:spPr>
          <a:xfrm>
            <a:off x="685800" y="1400810"/>
            <a:ext cx="1259951"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0</a:t>
            </a:r>
          </a:p>
        </p:txBody>
      </p:sp>
      <p:sp>
        <p:nvSpPr>
          <p:cNvPr id="9" name="TextBox 8"/>
          <p:cNvSpPr txBox="1"/>
          <p:nvPr/>
        </p:nvSpPr>
        <p:spPr>
          <a:xfrm>
            <a:off x="2092055" y="1400810"/>
            <a:ext cx="2774381"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Хватит одного вызова (+RAG) — ничего не строим</a:t>
            </a:r>
          </a:p>
        </p:txBody>
      </p:sp>
      <p:sp>
        <p:nvSpPr>
          <p:cNvPr id="10" name="TextBox 9"/>
          <p:cNvSpPr txBox="1"/>
          <p:nvPr/>
        </p:nvSpPr>
        <p:spPr>
          <a:xfrm>
            <a:off x="5012740" y="1400810"/>
            <a:ext cx="2774381"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С7</a:t>
            </a:r>
          </a:p>
        </p:txBody>
      </p:sp>
      <p:sp>
        <p:nvSpPr>
          <p:cNvPr id="11" name="TextBox 10"/>
          <p:cNvSpPr txBox="1"/>
          <p:nvPr/>
        </p:nvSpPr>
        <p:spPr>
          <a:xfrm>
            <a:off x="7933425" y="1400810"/>
            <a:ext cx="3423422"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пусто</a:t>
            </a:r>
          </a:p>
        </p:txBody>
      </p:sp>
      <p:cxnSp>
        <p:nvCxnSpPr>
          <p:cNvPr id="12" name="Connector 11"/>
          <p:cNvCxnSpPr/>
          <p:nvPr/>
        </p:nvCxnSpPr>
        <p:spPr>
          <a:xfrm>
            <a:off x="685800" y="1886712"/>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1886712"/>
            <a:ext cx="1259951" cy="32524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1</a:t>
            </a:r>
          </a:p>
        </p:txBody>
      </p:sp>
      <p:sp>
        <p:nvSpPr>
          <p:cNvPr id="14" name="TextBox 13"/>
          <p:cNvSpPr txBox="1"/>
          <p:nvPr/>
        </p:nvSpPr>
        <p:spPr>
          <a:xfrm>
            <a:off x="2092055" y="1886712"/>
            <a:ext cx="2774381" cy="32524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Workflow · цепочка (prompt chaining)</a:t>
            </a:r>
          </a:p>
        </p:txBody>
      </p:sp>
      <p:sp>
        <p:nvSpPr>
          <p:cNvPr id="15" name="TextBox 14"/>
          <p:cNvSpPr txBox="1"/>
          <p:nvPr/>
        </p:nvSpPr>
        <p:spPr>
          <a:xfrm>
            <a:off x="5012740" y="1886712"/>
            <a:ext cx="2774381" cy="32524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С7</a:t>
            </a:r>
          </a:p>
        </p:txBody>
      </p:sp>
      <p:sp>
        <p:nvSpPr>
          <p:cNvPr id="16" name="TextBox 15"/>
          <p:cNvSpPr txBox="1"/>
          <p:nvPr/>
        </p:nvSpPr>
        <p:spPr>
          <a:xfrm>
            <a:off x="7933425" y="1886712"/>
            <a:ext cx="3423422" cy="32524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пусто</a:t>
            </a:r>
          </a:p>
        </p:txBody>
      </p:sp>
      <p:cxnSp>
        <p:nvCxnSpPr>
          <p:cNvPr id="17" name="Connector 16"/>
          <p:cNvCxnSpPr/>
          <p:nvPr/>
        </p:nvCxnSpPr>
        <p:spPr>
          <a:xfrm>
            <a:off x="685800" y="2211959"/>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85800" y="2211959"/>
            <a:ext cx="1259951"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2</a:t>
            </a:r>
          </a:p>
        </p:txBody>
      </p:sp>
      <p:sp>
        <p:nvSpPr>
          <p:cNvPr id="19" name="TextBox 18"/>
          <p:cNvSpPr txBox="1"/>
          <p:nvPr/>
        </p:nvSpPr>
        <p:spPr>
          <a:xfrm>
            <a:off x="2092055" y="2211959"/>
            <a:ext cx="2774381"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Workflow · маршрут (routing), включая decision-модель вместо LLM</a:t>
            </a:r>
          </a:p>
        </p:txBody>
      </p:sp>
      <p:sp>
        <p:nvSpPr>
          <p:cNvPr id="20" name="TextBox 19"/>
          <p:cNvSpPr txBox="1"/>
          <p:nvPr/>
        </p:nvSpPr>
        <p:spPr>
          <a:xfrm>
            <a:off x="5012740" y="2211959"/>
            <a:ext cx="2774381"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С7</a:t>
            </a:r>
          </a:p>
        </p:txBody>
      </p:sp>
      <p:sp>
        <p:nvSpPr>
          <p:cNvPr id="21" name="TextBox 20"/>
          <p:cNvSpPr txBox="1"/>
          <p:nvPr/>
        </p:nvSpPr>
        <p:spPr>
          <a:xfrm>
            <a:off x="7933425" y="2211959"/>
            <a:ext cx="3423422"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пусто</a:t>
            </a:r>
          </a:p>
        </p:txBody>
      </p:sp>
      <p:cxnSp>
        <p:nvCxnSpPr>
          <p:cNvPr id="22" name="Connector 21"/>
          <p:cNvCxnSpPr/>
          <p:nvPr/>
        </p:nvCxnSpPr>
        <p:spPr>
          <a:xfrm>
            <a:off x="685800" y="2697861"/>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5800" y="2697861"/>
            <a:ext cx="1259951" cy="32524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3</a:t>
            </a:r>
          </a:p>
        </p:txBody>
      </p:sp>
      <p:sp>
        <p:nvSpPr>
          <p:cNvPr id="24" name="TextBox 23"/>
          <p:cNvSpPr txBox="1"/>
          <p:nvPr/>
        </p:nvSpPr>
        <p:spPr>
          <a:xfrm>
            <a:off x="2092055" y="2697861"/>
            <a:ext cx="2774381" cy="32524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Workflow · параллель (parallelization)</a:t>
            </a:r>
          </a:p>
        </p:txBody>
      </p:sp>
      <p:sp>
        <p:nvSpPr>
          <p:cNvPr id="25" name="TextBox 24"/>
          <p:cNvSpPr txBox="1"/>
          <p:nvPr/>
        </p:nvSpPr>
        <p:spPr>
          <a:xfrm>
            <a:off x="5012740" y="2697861"/>
            <a:ext cx="2774381" cy="32524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С8</a:t>
            </a:r>
          </a:p>
        </p:txBody>
      </p:sp>
      <p:sp>
        <p:nvSpPr>
          <p:cNvPr id="26" name="TextBox 25"/>
          <p:cNvSpPr txBox="1"/>
          <p:nvPr/>
        </p:nvSpPr>
        <p:spPr>
          <a:xfrm>
            <a:off x="7933425" y="2697861"/>
            <a:ext cx="3423422" cy="32524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пусто</a:t>
            </a:r>
          </a:p>
        </p:txBody>
      </p:sp>
      <p:cxnSp>
        <p:nvCxnSpPr>
          <p:cNvPr id="27" name="Connector 26"/>
          <p:cNvCxnSpPr/>
          <p:nvPr/>
        </p:nvCxnSpPr>
        <p:spPr>
          <a:xfrm>
            <a:off x="685800" y="302310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85800" y="3023108"/>
            <a:ext cx="1259951"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4</a:t>
            </a:r>
          </a:p>
        </p:txBody>
      </p:sp>
      <p:sp>
        <p:nvSpPr>
          <p:cNvPr id="29" name="TextBox 28"/>
          <p:cNvSpPr txBox="1"/>
          <p:nvPr/>
        </p:nvSpPr>
        <p:spPr>
          <a:xfrm>
            <a:off x="2092055" y="3023108"/>
            <a:ext cx="2774381"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Workflow · эталон-переделка (evaluator-optimizer)</a:t>
            </a:r>
          </a:p>
        </p:txBody>
      </p:sp>
      <p:sp>
        <p:nvSpPr>
          <p:cNvPr id="30" name="TextBox 29"/>
          <p:cNvSpPr txBox="1"/>
          <p:nvPr/>
        </p:nvSpPr>
        <p:spPr>
          <a:xfrm>
            <a:off x="5012740" y="3023108"/>
            <a:ext cx="2774381"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С8</a:t>
            </a:r>
          </a:p>
        </p:txBody>
      </p:sp>
      <p:sp>
        <p:nvSpPr>
          <p:cNvPr id="31" name="TextBox 30"/>
          <p:cNvSpPr txBox="1"/>
          <p:nvPr/>
        </p:nvSpPr>
        <p:spPr>
          <a:xfrm>
            <a:off x="7933425" y="3023108"/>
            <a:ext cx="3423422"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пусто</a:t>
            </a:r>
          </a:p>
        </p:txBody>
      </p:sp>
      <p:cxnSp>
        <p:nvCxnSpPr>
          <p:cNvPr id="32" name="Connector 31"/>
          <p:cNvCxnSpPr/>
          <p:nvPr/>
        </p:nvCxnSpPr>
        <p:spPr>
          <a:xfrm>
            <a:off x="685800" y="350901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85800" y="3509010"/>
            <a:ext cx="1259951"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5</a:t>
            </a:r>
          </a:p>
        </p:txBody>
      </p:sp>
      <p:sp>
        <p:nvSpPr>
          <p:cNvPr id="34" name="TextBox 33"/>
          <p:cNvSpPr txBox="1"/>
          <p:nvPr/>
        </p:nvSpPr>
        <p:spPr>
          <a:xfrm>
            <a:off x="2092055" y="3509010"/>
            <a:ext cx="2774381"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Workflow · дирижёр-исполнители (orchestrator-workers)</a:t>
            </a:r>
          </a:p>
        </p:txBody>
      </p:sp>
      <p:sp>
        <p:nvSpPr>
          <p:cNvPr id="35" name="TextBox 34"/>
          <p:cNvSpPr txBox="1"/>
          <p:nvPr/>
        </p:nvSpPr>
        <p:spPr>
          <a:xfrm>
            <a:off x="5012740" y="3509010"/>
            <a:ext cx="2774381"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С9</a:t>
            </a:r>
          </a:p>
        </p:txBody>
      </p:sp>
      <p:sp>
        <p:nvSpPr>
          <p:cNvPr id="36" name="TextBox 35"/>
          <p:cNvSpPr txBox="1"/>
          <p:nvPr/>
        </p:nvSpPr>
        <p:spPr>
          <a:xfrm>
            <a:off x="7933425" y="3509010"/>
            <a:ext cx="3423422"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пусто</a:t>
            </a:r>
          </a:p>
        </p:txBody>
      </p:sp>
      <p:cxnSp>
        <p:nvCxnSpPr>
          <p:cNvPr id="37" name="Connector 36"/>
          <p:cNvCxnSpPr/>
          <p:nvPr/>
        </p:nvCxnSpPr>
        <p:spPr>
          <a:xfrm>
            <a:off x="685800" y="3994912"/>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685800" y="3994912"/>
            <a:ext cx="1259951"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6</a:t>
            </a:r>
          </a:p>
        </p:txBody>
      </p:sp>
      <p:sp>
        <p:nvSpPr>
          <p:cNvPr id="39" name="TextBox 38"/>
          <p:cNvSpPr txBox="1"/>
          <p:nvPr/>
        </p:nvSpPr>
        <p:spPr>
          <a:xfrm>
            <a:off x="2092055" y="3994912"/>
            <a:ext cx="2774381"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Один агент (в т.ч. вложенный внутри маршрута workflow)</a:t>
            </a:r>
          </a:p>
        </p:txBody>
      </p:sp>
      <p:sp>
        <p:nvSpPr>
          <p:cNvPr id="40" name="TextBox 39"/>
          <p:cNvSpPr txBox="1"/>
          <p:nvPr/>
        </p:nvSpPr>
        <p:spPr>
          <a:xfrm>
            <a:off x="5012740" y="3994912"/>
            <a:ext cx="2774381"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С10</a:t>
            </a:r>
          </a:p>
        </p:txBody>
      </p:sp>
      <p:sp>
        <p:nvSpPr>
          <p:cNvPr id="41" name="TextBox 40"/>
          <p:cNvSpPr txBox="1"/>
          <p:nvPr/>
        </p:nvSpPr>
        <p:spPr>
          <a:xfrm>
            <a:off x="7933425" y="3994912"/>
            <a:ext cx="3423422"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пусто</a:t>
            </a:r>
          </a:p>
        </p:txBody>
      </p:sp>
      <p:cxnSp>
        <p:nvCxnSpPr>
          <p:cNvPr id="42" name="Connector 41"/>
          <p:cNvCxnSpPr/>
          <p:nvPr/>
        </p:nvCxnSpPr>
        <p:spPr>
          <a:xfrm>
            <a:off x="685800" y="448081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85800" y="4480814"/>
            <a:ext cx="1259951"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7</a:t>
            </a:r>
          </a:p>
        </p:txBody>
      </p:sp>
      <p:sp>
        <p:nvSpPr>
          <p:cNvPr id="44" name="TextBox 43"/>
          <p:cNvSpPr txBox="1"/>
          <p:nvPr/>
        </p:nvSpPr>
        <p:spPr>
          <a:xfrm>
            <a:off x="2092055" y="4480814"/>
            <a:ext cx="2774381"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Мульти-агент (оркестрованный vs «рой»)</a:t>
            </a:r>
          </a:p>
        </p:txBody>
      </p:sp>
      <p:sp>
        <p:nvSpPr>
          <p:cNvPr id="45" name="TextBox 44"/>
          <p:cNvSpPr txBox="1"/>
          <p:nvPr/>
        </p:nvSpPr>
        <p:spPr>
          <a:xfrm>
            <a:off x="5012740" y="4480814"/>
            <a:ext cx="2774381"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С11</a:t>
            </a:r>
          </a:p>
        </p:txBody>
      </p:sp>
      <p:sp>
        <p:nvSpPr>
          <p:cNvPr id="46" name="TextBox 45"/>
          <p:cNvSpPr txBox="1"/>
          <p:nvPr/>
        </p:nvSpPr>
        <p:spPr>
          <a:xfrm>
            <a:off x="7933425" y="4480814"/>
            <a:ext cx="3423422"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пусто</a:t>
            </a:r>
          </a:p>
        </p:txBody>
      </p:sp>
      <p:cxnSp>
        <p:nvCxnSpPr>
          <p:cNvPr id="47" name="Connector 46"/>
          <p:cNvCxnSpPr/>
          <p:nvPr/>
        </p:nvCxnSpPr>
        <p:spPr>
          <a:xfrm>
            <a:off x="685800" y="496671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685800" y="4966716"/>
            <a:ext cx="1259951"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8</a:t>
            </a:r>
          </a:p>
        </p:txBody>
      </p:sp>
      <p:sp>
        <p:nvSpPr>
          <p:cNvPr id="49" name="TextBox 48"/>
          <p:cNvSpPr txBox="1"/>
          <p:nvPr/>
        </p:nvSpPr>
        <p:spPr>
          <a:xfrm>
            <a:off x="2092055" y="4966716"/>
            <a:ext cx="2774381"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Выключить — откат к ручному процессу</a:t>
            </a:r>
          </a:p>
        </p:txBody>
      </p:sp>
      <p:sp>
        <p:nvSpPr>
          <p:cNvPr id="50" name="TextBox 49"/>
          <p:cNvSpPr txBox="1"/>
          <p:nvPr/>
        </p:nvSpPr>
        <p:spPr>
          <a:xfrm>
            <a:off x="5012740" y="4966716"/>
            <a:ext cx="2774381"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С11→С12</a:t>
            </a:r>
          </a:p>
        </p:txBody>
      </p:sp>
      <p:sp>
        <p:nvSpPr>
          <p:cNvPr id="51" name="TextBox 50"/>
          <p:cNvSpPr txBox="1"/>
          <p:nvPr/>
        </p:nvSpPr>
        <p:spPr>
          <a:xfrm>
            <a:off x="7933425" y="4966716"/>
            <a:ext cx="3423422"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пусто</a:t>
            </a:r>
          </a:p>
        </p:txBody>
      </p:sp>
      <p:sp>
        <p:nvSpPr>
          <p:cNvPr id="52" name="Rounded Rectangle 51"/>
          <p:cNvSpPr/>
          <p:nvPr/>
        </p:nvSpPr>
        <p:spPr>
          <a:xfrm>
            <a:off x="502920" y="5800089"/>
            <a:ext cx="82296" cy="45542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59536" y="5928105"/>
            <a:ext cx="10643616" cy="199389"/>
          </a:xfrm>
          <a:prstGeom prst="rect">
            <a:avLst/>
          </a:prstGeom>
          <a:noFill/>
        </p:spPr>
        <p:txBody>
          <a:bodyPr wrap="square" lIns="0" rIns="0" tIns="0" bIns="0" anchor="ctr">
            <a:spAutoFit/>
          </a:bodyPr>
          <a:lstStyle/>
          <a:p>
            <a:pPr algn="l">
              <a:lnSpc>
                <a:spcPts val="1426"/>
              </a:lnSpc>
              <a:spcAft>
                <a:spcPts val="300"/>
              </a:spcAft>
            </a:pPr>
            <a:r>
              <a:rPr sz="1150" b="1" i="0">
                <a:solidFill>
                  <a:srgbClr val="141B2E"/>
                </a:solidFill>
                <a:latin typeface="Arial"/>
              </a:rPr>
              <a:t>Девять строк, ни одна не закрыта. Сегодня закрываются три нижние.</a:t>
            </a:r>
          </a:p>
        </p:txBody>
      </p:sp>
      <p:sp>
        <p:nvSpPr>
          <p:cNvPr id="54" name="TextBox 53"/>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Где здесь искусственный интеллект — нигде</a:t>
            </a:r>
          </a:p>
        </p:txBody>
      </p:sp>
      <p:sp>
        <p:nvSpPr>
          <p:cNvPr id="3" name="Rectangle 2"/>
          <p:cNvSpPr/>
          <p:nvPr/>
        </p:nvSpPr>
        <p:spPr>
          <a:xfrm>
            <a:off x="502920" y="1094917"/>
            <a:ext cx="32004" cy="317754"/>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2668" y="1149781"/>
            <a:ext cx="10730484" cy="208025"/>
          </a:xfrm>
          <a:prstGeom prst="rect">
            <a:avLst/>
          </a:prstGeom>
          <a:noFill/>
        </p:spPr>
        <p:txBody>
          <a:bodyPr wrap="square" lIns="0" rIns="0" tIns="0" bIns="0" anchor="ctr">
            <a:spAutoFit/>
          </a:bodyPr>
          <a:lstStyle/>
          <a:p>
            <a:pPr algn="l">
              <a:lnSpc>
                <a:spcPts val="1638"/>
              </a:lnSpc>
              <a:spcAft>
                <a:spcPts val="300"/>
              </a:spcAft>
            </a:pPr>
            <a:r>
              <a:rPr sz="1300" b="0" i="1">
                <a:solidFill>
                  <a:srgbClr val="6B7685"/>
                </a:solidFill>
                <a:latin typeface="Arial"/>
              </a:rPr>
              <a:t>«Это просто скрипт. Я его сам написал в прошлом месяце.»</a:t>
            </a:r>
          </a:p>
        </p:txBody>
      </p:sp>
      <p:sp>
        <p:nvSpPr>
          <p:cNvPr id="5" name="Rounded Rectangle 4"/>
          <p:cNvSpPr/>
          <p:nvPr/>
        </p:nvSpPr>
        <p:spPr>
          <a:xfrm>
            <a:off x="502920" y="1901304"/>
            <a:ext cx="11183112" cy="1315212"/>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2376" y="2029320"/>
            <a:ext cx="10634472" cy="1059180"/>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Письмо падает в почтовый ящик поддержки → срабатывает правило триггера («если письмо попало в этот ящик — создать карточку») → уходит HTTP-запрос → в трекере задач появляется карточка с темой и текстом письма. </a:t>
            </a:r>
            <a:r>
              <a:rPr sz="1650" b="1" i="0">
                <a:solidFill>
                  <a:srgbClr val="141B2E"/>
                </a:solidFill>
                <a:latin typeface="Arial"/>
              </a:rPr>
              <a:t>Где в этой картинке искусственный интеллект?</a:t>
            </a:r>
          </a:p>
        </p:txBody>
      </p:sp>
      <p:sp>
        <p:nvSpPr>
          <p:cNvPr id="7" name="Rounded Rectangle 6"/>
          <p:cNvSpPr/>
          <p:nvPr/>
        </p:nvSpPr>
        <p:spPr>
          <a:xfrm>
            <a:off x="502920" y="3668572"/>
            <a:ext cx="2686050" cy="105156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2648" y="3668572"/>
            <a:ext cx="2466594" cy="105156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в триггере</a:t>
            </a:r>
          </a:p>
        </p:txBody>
      </p:sp>
      <p:sp>
        <p:nvSpPr>
          <p:cNvPr id="9" name="Rounded Rectangle 8"/>
          <p:cNvSpPr/>
          <p:nvPr/>
        </p:nvSpPr>
        <p:spPr>
          <a:xfrm>
            <a:off x="3335274" y="3668572"/>
            <a:ext cx="2686050" cy="105156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45002" y="3668572"/>
            <a:ext cx="2466594" cy="105156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в HTTP-запросе</a:t>
            </a:r>
          </a:p>
        </p:txBody>
      </p:sp>
      <p:sp>
        <p:nvSpPr>
          <p:cNvPr id="11" name="Rounded Rectangle 10"/>
          <p:cNvSpPr/>
          <p:nvPr/>
        </p:nvSpPr>
        <p:spPr>
          <a:xfrm>
            <a:off x="6167628" y="3668572"/>
            <a:ext cx="2686050" cy="105156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77356" y="3668572"/>
            <a:ext cx="2466594" cy="105156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в самой почте</a:t>
            </a:r>
          </a:p>
        </p:txBody>
      </p:sp>
      <p:sp>
        <p:nvSpPr>
          <p:cNvPr id="13" name="Rounded Rectangle 12"/>
          <p:cNvSpPr/>
          <p:nvPr/>
        </p:nvSpPr>
        <p:spPr>
          <a:xfrm>
            <a:off x="8999982" y="3668572"/>
            <a:ext cx="2686050" cy="1051560"/>
          </a:xfrm>
          <a:prstGeom prst="roundRect">
            <a:avLst>
              <a:gd name="adj" fmla="val 25000"/>
            </a:avLst>
          </a:prstGeom>
          <a:solidFill>
            <a:srgbClr val="FEF5E0"/>
          </a:solidFill>
          <a:ln w="19050">
            <a:solidFill>
              <a:srgbClr val="8A62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09710" y="3668572"/>
            <a:ext cx="2466594" cy="1051560"/>
          </a:xfrm>
          <a:prstGeom prst="rect">
            <a:avLst/>
          </a:prstGeom>
          <a:noFill/>
        </p:spPr>
        <p:txBody>
          <a:bodyPr wrap="square" lIns="0" rIns="0" tIns="0" bIns="0" anchor="ctr">
            <a:spAutoFit/>
          </a:bodyPr>
          <a:lstStyle/>
          <a:p>
            <a:pPr algn="ctr">
              <a:lnSpc>
                <a:spcPts val="1565"/>
              </a:lnSpc>
              <a:spcAft>
                <a:spcPts val="0"/>
              </a:spcAft>
            </a:pPr>
            <a:r>
              <a:rPr sz="1350" b="1" i="0">
                <a:solidFill>
                  <a:srgbClr val="8A6200"/>
                </a:solidFill>
                <a:latin typeface="Arial"/>
              </a:rPr>
              <a:t>нигде</a:t>
            </a:r>
          </a:p>
        </p:txBody>
      </p:sp>
      <p:sp>
        <p:nvSpPr>
          <p:cNvPr id="15" name="Rounded Rectangle 14"/>
          <p:cNvSpPr/>
          <p:nvPr/>
        </p:nvSpPr>
        <p:spPr>
          <a:xfrm>
            <a:off x="502920" y="5172189"/>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 y="5300205"/>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Автоматизация и искусственный интеллект — разные вещи: словами их путают чаще, чем в поведении систем за ними. Этот вопрос не закрывается ответом «нигде» — он переезжает на уровень выше. Вопрос был «нужен ли здесь ИИ» — становится «какому конкретно шагу он нужен, и какому нет».</a:t>
            </a:r>
          </a:p>
        </p:txBody>
      </p:sp>
      <p:sp>
        <p:nvSpPr>
          <p:cNvPr id="17" name="TextBox 1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34440" y="2842260"/>
            <a:ext cx="9692640" cy="899160"/>
          </a:xfrm>
          <a:prstGeom prst="rect">
            <a:avLst/>
          </a:prstGeom>
          <a:noFill/>
        </p:spPr>
        <p:txBody>
          <a:bodyPr wrap="square" lIns="0" rIns="0" tIns="0" bIns="0" anchor="t">
            <a:spAutoFit/>
          </a:bodyPr>
          <a:lstStyle/>
          <a:p>
            <a:pPr algn="l">
              <a:lnSpc>
                <a:spcPts val="3540"/>
              </a:lnSpc>
              <a:spcAft>
                <a:spcPts val="0"/>
              </a:spcAft>
            </a:pPr>
            <a:r>
              <a:rPr sz="3000" b="1" i="0">
                <a:solidFill>
                  <a:srgbClr val="FFFFFF"/>
                </a:solidFill>
                <a:latin typeface="Arial"/>
              </a:rPr>
              <a:t>«Я так и отвечаю: читаю письмо, минуту думаю, печатаю ответ»</a:t>
            </a:r>
          </a:p>
        </p:txBody>
      </p:sp>
      <p:sp>
        <p:nvSpPr>
          <p:cNvPr id="4" name="Rounded Rectangle 3"/>
          <p:cNvSpPr/>
          <p:nvPr/>
        </p:nvSpPr>
        <p:spPr>
          <a:xfrm>
            <a:off x="502920" y="5989320"/>
            <a:ext cx="3605784" cy="384048"/>
          </a:xfrm>
          <a:prstGeom prst="roundRect">
            <a:avLst>
              <a:gd name="adj" fmla="val 3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5989320"/>
            <a:ext cx="3605784" cy="384048"/>
          </a:xfrm>
          <a:prstGeom prst="rect">
            <a:avLst/>
          </a:prstGeom>
          <a:noFill/>
        </p:spPr>
        <p:txBody>
          <a:bodyPr wrap="square" lIns="0" rIns="0" tIns="0" bIns="0" anchor="ctr">
            <a:spAutoFit/>
          </a:bodyPr>
          <a:lstStyle/>
          <a:p>
            <a:pPr algn="ctr">
              <a:lnSpc>
                <a:spcPts val="1475"/>
              </a:lnSpc>
              <a:spcAft>
                <a:spcPts val="0"/>
              </a:spcAft>
            </a:pPr>
            <a:r>
              <a:rPr sz="1250" b="1" i="0">
                <a:solidFill>
                  <a:srgbClr val="21295C"/>
                </a:solidFill>
                <a:latin typeface="Arial"/>
              </a:rPr>
              <a:t>Кейс А</a:t>
            </a:r>
          </a:p>
        </p:txBody>
      </p:sp>
      <p:sp>
        <p:nvSpPr>
          <p:cNvPr id="6" name="Rounded Rectangle 5"/>
          <p:cNvSpPr/>
          <p:nvPr/>
        </p:nvSpPr>
        <p:spPr>
          <a:xfrm>
            <a:off x="4291584" y="5989320"/>
            <a:ext cx="3605784" cy="384048"/>
          </a:xfrm>
          <a:prstGeom prst="roundRect">
            <a:avLst>
              <a:gd name="adj" fmla="val 3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291584" y="5989320"/>
            <a:ext cx="3605784"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9FAEC4"/>
                </a:solidFill>
                <a:latin typeface="Arial"/>
              </a:rPr>
              <a:t>Кейс Б</a:t>
            </a:r>
          </a:p>
        </p:txBody>
      </p:sp>
      <p:sp>
        <p:nvSpPr>
          <p:cNvPr id="8" name="Rounded Rectangle 7"/>
          <p:cNvSpPr/>
          <p:nvPr/>
        </p:nvSpPr>
        <p:spPr>
          <a:xfrm>
            <a:off x="8080247" y="5989320"/>
            <a:ext cx="3605784" cy="384048"/>
          </a:xfrm>
          <a:prstGeom prst="roundRect">
            <a:avLst>
              <a:gd name="adj" fmla="val 3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80247" y="5989320"/>
            <a:ext cx="3605784"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9FAEC4"/>
                </a:solidFill>
                <a:latin typeface="Arial"/>
              </a:rPr>
              <a:t>Кейс В</a:t>
            </a:r>
          </a:p>
        </p:txBody>
      </p:sp>
      <p:sp>
        <p:nvSpPr>
          <p:cNvPr id="10" name="TextBox 9"/>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FFFFFF"/>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Четыре письма, один вопрос</a:t>
            </a:r>
          </a:p>
        </p:txBody>
      </p:sp>
      <p:sp>
        <p:nvSpPr>
          <p:cNvPr id="3" name="Rounded Rectangle 2"/>
          <p:cNvSpPr/>
          <p:nvPr/>
        </p:nvSpPr>
        <p:spPr>
          <a:xfrm>
            <a:off x="502920" y="1064361"/>
            <a:ext cx="11183112" cy="2036444"/>
          </a:xfrm>
          <a:prstGeom prst="roundRect">
            <a:avLst>
              <a:gd name="adj" fmla="val 14967"/>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47241"/>
            <a:ext cx="5115205"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ПИСЬМО</a:t>
            </a:r>
          </a:p>
        </p:txBody>
      </p:sp>
      <p:sp>
        <p:nvSpPr>
          <p:cNvPr id="5" name="TextBox 4"/>
          <p:cNvSpPr txBox="1"/>
          <p:nvPr/>
        </p:nvSpPr>
        <p:spPr>
          <a:xfrm>
            <a:off x="5947309" y="1247241"/>
            <a:ext cx="5409538"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ЧТО С НИМ ДЕЛАЕТ СОТРУДНИК</a:t>
            </a:r>
          </a:p>
        </p:txBody>
      </p:sp>
      <p:sp>
        <p:nvSpPr>
          <p:cNvPr id="6" name="TextBox 5"/>
          <p:cNvSpPr txBox="1"/>
          <p:nvPr/>
        </p:nvSpPr>
        <p:spPr>
          <a:xfrm>
            <a:off x="685800" y="1529308"/>
            <a:ext cx="5115205"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«Забыл пароль, как восстановить»</a:t>
            </a:r>
          </a:p>
        </p:txBody>
      </p:sp>
      <p:sp>
        <p:nvSpPr>
          <p:cNvPr id="7" name="TextBox 6"/>
          <p:cNvSpPr txBox="1"/>
          <p:nvPr/>
        </p:nvSpPr>
        <p:spPr>
          <a:xfrm>
            <a:off x="5947309" y="1529308"/>
            <a:ext cx="5409538"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минута-две, готовый ответ по памяти</a:t>
            </a:r>
          </a:p>
        </p:txBody>
      </p:sp>
      <p:cxnSp>
        <p:nvCxnSpPr>
          <p:cNvPr id="8" name="Connector 7"/>
          <p:cNvCxnSpPr/>
          <p:nvPr/>
        </p:nvCxnSpPr>
        <p:spPr>
          <a:xfrm>
            <a:off x="685800" y="1876463"/>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1876463"/>
            <a:ext cx="5115205"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«Где мой заказ, трек не обновляется третий день»</a:t>
            </a:r>
          </a:p>
        </p:txBody>
      </p:sp>
      <p:sp>
        <p:nvSpPr>
          <p:cNvPr id="10" name="TextBox 9"/>
          <p:cNvSpPr txBox="1"/>
          <p:nvPr/>
        </p:nvSpPr>
        <p:spPr>
          <a:xfrm>
            <a:off x="5947309" y="1876463"/>
            <a:ext cx="5409538"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минута-две, готовый ответ по памяти</a:t>
            </a:r>
          </a:p>
        </p:txBody>
      </p:sp>
      <p:cxnSp>
        <p:nvCxnSpPr>
          <p:cNvPr id="11" name="Connector 10"/>
          <p:cNvCxnSpPr/>
          <p:nvPr/>
        </p:nvCxnSpPr>
        <p:spPr>
          <a:xfrm>
            <a:off x="685800" y="222361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223617"/>
            <a:ext cx="5115205"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Жалоба на разбитую упаковку, просьба вернуть деньги</a:t>
            </a:r>
          </a:p>
        </p:txBody>
      </p:sp>
      <p:sp>
        <p:nvSpPr>
          <p:cNvPr id="13" name="TextBox 12"/>
          <p:cNvSpPr txBox="1"/>
          <p:nvPr/>
        </p:nvSpPr>
        <p:spPr>
          <a:xfrm>
            <a:off x="5947309" y="2223617"/>
            <a:ext cx="5409538"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открывает историю заказа, перечитывает политику возврата</a:t>
            </a:r>
          </a:p>
        </p:txBody>
      </p:sp>
      <p:cxnSp>
        <p:nvCxnSpPr>
          <p:cNvPr id="14" name="Connector 13"/>
          <p:cNvCxnSpPr/>
          <p:nvPr/>
        </p:nvCxnSpPr>
        <p:spPr>
          <a:xfrm>
            <a:off x="685800" y="2570772"/>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2570772"/>
            <a:ext cx="5115205"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Вопрос про оптовую закупку от незнакомого отправителя</a:t>
            </a:r>
          </a:p>
        </p:txBody>
      </p:sp>
      <p:sp>
        <p:nvSpPr>
          <p:cNvPr id="16" name="TextBox 15"/>
          <p:cNvSpPr txBox="1"/>
          <p:nvPr/>
        </p:nvSpPr>
        <p:spPr>
          <a:xfrm>
            <a:off x="5947309" y="2570772"/>
            <a:ext cx="5409538"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открывает историю заказа, обдумывает ответ осторожно</a:t>
            </a:r>
          </a:p>
        </p:txBody>
      </p:sp>
      <p:sp>
        <p:nvSpPr>
          <p:cNvPr id="17" name="Rounded Rectangle 16"/>
          <p:cNvSpPr/>
          <p:nvPr/>
        </p:nvSpPr>
        <p:spPr>
          <a:xfrm>
            <a:off x="502920" y="3567912"/>
            <a:ext cx="11183112" cy="1059561"/>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6" y="3695928"/>
            <a:ext cx="10634472" cy="8035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Хватит ли одного вызова модели с доступом к базе знаний компании (RAG — поиск релевантного фрагмента документации перед ответом), чтобы автоматически ответить на такое письмо?</a:t>
            </a:r>
          </a:p>
        </p:txBody>
      </p:sp>
      <p:sp>
        <p:nvSpPr>
          <p:cNvPr id="19" name="Rounded Rectangle 18"/>
          <p:cNvSpPr/>
          <p:nvPr/>
        </p:nvSpPr>
        <p:spPr>
          <a:xfrm>
            <a:off x="502920" y="5094579"/>
            <a:ext cx="3630168" cy="105156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2648" y="5094579"/>
            <a:ext cx="3410712" cy="105156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да, одного вызова достаточно</a:t>
            </a:r>
          </a:p>
        </p:txBody>
      </p:sp>
      <p:sp>
        <p:nvSpPr>
          <p:cNvPr id="21" name="Rounded Rectangle 20"/>
          <p:cNvSpPr/>
          <p:nvPr/>
        </p:nvSpPr>
        <p:spPr>
          <a:xfrm>
            <a:off x="4279392" y="5094579"/>
            <a:ext cx="3630168" cy="105156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89120" y="5094579"/>
            <a:ext cx="3410712" cy="105156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нет, нужно несколько шагов</a:t>
            </a:r>
          </a:p>
        </p:txBody>
      </p:sp>
      <p:sp>
        <p:nvSpPr>
          <p:cNvPr id="23" name="Rounded Rectangle 22"/>
          <p:cNvSpPr/>
          <p:nvPr/>
        </p:nvSpPr>
        <p:spPr>
          <a:xfrm>
            <a:off x="8055863" y="5094579"/>
            <a:ext cx="3630168" cy="105156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65591" y="5094579"/>
            <a:ext cx="3410712" cy="105156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зависит от письма</a:t>
            </a:r>
          </a:p>
        </p:txBody>
      </p:sp>
      <p:sp>
        <p:nvSpPr>
          <p:cNvPr id="25" name="TextBox 24"/>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Зависит — и вот от чего</a:t>
            </a:r>
          </a:p>
        </p:txBody>
      </p:sp>
      <p:sp>
        <p:nvSpPr>
          <p:cNvPr id="3" name="Rounded Rectangle 2"/>
          <p:cNvSpPr/>
          <p:nvPr/>
        </p:nvSpPr>
        <p:spPr>
          <a:xfrm>
            <a:off x="502920" y="1108032"/>
            <a:ext cx="11183112" cy="2236977"/>
          </a:xfrm>
          <a:prstGeom prst="roundRect">
            <a:avLst>
              <a:gd name="adj" fmla="val 13625"/>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0912"/>
            <a:ext cx="5752905"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ОДНОГО ВЫЗОВА С RAG ДОСТАТОЧНО, КОГДА</a:t>
            </a:r>
          </a:p>
        </p:txBody>
      </p:sp>
      <p:sp>
        <p:nvSpPr>
          <p:cNvPr id="5" name="TextBox 4"/>
          <p:cNvSpPr txBox="1"/>
          <p:nvPr/>
        </p:nvSpPr>
        <p:spPr>
          <a:xfrm>
            <a:off x="6585009" y="1290912"/>
            <a:ext cx="4771838"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ОДНОГО ВЫЗОВА НЕДОСТАТОЧНО, КОГДА</a:t>
            </a:r>
          </a:p>
        </p:txBody>
      </p:sp>
      <p:sp>
        <p:nvSpPr>
          <p:cNvPr id="6" name="TextBox 5"/>
          <p:cNvSpPr txBox="1"/>
          <p:nvPr/>
        </p:nvSpPr>
        <p:spPr>
          <a:xfrm>
            <a:off x="685800" y="1572979"/>
            <a:ext cx="5752905"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письмо прямое: пароль, статус заказа, вопрос про условия возврата без конкретной претензии</a:t>
            </a:r>
          </a:p>
        </p:txBody>
      </p:sp>
      <p:sp>
        <p:nvSpPr>
          <p:cNvPr id="7" name="TextBox 6"/>
          <p:cNvSpPr txBox="1"/>
          <p:nvPr/>
        </p:nvSpPr>
        <p:spPr>
          <a:xfrm>
            <a:off x="6585009" y="1572979"/>
            <a:ext cx="4771838"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письмо смешанное: жалоба и просьба про возврат в одном тексте</a:t>
            </a:r>
          </a:p>
        </p:txBody>
      </p:sp>
      <p:cxnSp>
        <p:nvCxnSpPr>
          <p:cNvPr id="8" name="Connector 7"/>
          <p:cNvCxnSpPr/>
          <p:nvPr/>
        </p:nvCxnSpPr>
        <p:spPr>
          <a:xfrm>
            <a:off x="685800" y="210269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2102696"/>
            <a:ext cx="5752905"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ответ — это готовый кусок текста из базы знаний, который нужно просто найти и подставить</a:t>
            </a:r>
          </a:p>
        </p:txBody>
      </p:sp>
      <p:sp>
        <p:nvSpPr>
          <p:cNvPr id="10" name="TextBox 9"/>
          <p:cNvSpPr txBox="1"/>
          <p:nvPr/>
        </p:nvSpPr>
        <p:spPr>
          <a:xfrm>
            <a:off x="6585009" y="2102696"/>
            <a:ext cx="4771838"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письму не хватает контекста для однозначного ответа</a:t>
            </a:r>
          </a:p>
        </p:txBody>
      </p:sp>
      <p:cxnSp>
        <p:nvCxnSpPr>
          <p:cNvPr id="11" name="Connector 10"/>
          <p:cNvCxnSpPr/>
          <p:nvPr/>
        </p:nvCxnSpPr>
        <p:spPr>
          <a:xfrm>
            <a:off x="685800" y="2632413"/>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632413"/>
            <a:ext cx="5752905"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сотрудник решает такие письма за минуту, не открывая историю заказа</a:t>
            </a:r>
          </a:p>
        </p:txBody>
      </p:sp>
      <p:sp>
        <p:nvSpPr>
          <p:cNvPr id="13" name="TextBox 12"/>
          <p:cNvSpPr txBox="1"/>
          <p:nvPr/>
        </p:nvSpPr>
        <p:spPr>
          <a:xfrm>
            <a:off x="6585009" y="2632413"/>
            <a:ext cx="4771838"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письмо требует решения («вернуть деньги или нет») — не справки («как оформить возврат»)</a:t>
            </a:r>
          </a:p>
        </p:txBody>
      </p:sp>
      <p:sp>
        <p:nvSpPr>
          <p:cNvPr id="14" name="Rounded Rectangle 13"/>
          <p:cNvSpPr/>
          <p:nvPr/>
        </p:nvSpPr>
        <p:spPr>
          <a:xfrm>
            <a:off x="502920" y="3921294"/>
            <a:ext cx="11183112" cy="836295"/>
          </a:xfrm>
          <a:prstGeom prst="roundRect">
            <a:avLst>
              <a:gd name="adj" fmla="val 25000"/>
            </a:avLst>
          </a:prstGeom>
          <a:solidFill>
            <a:srgbClr val="E4E9EF"/>
          </a:solidFill>
          <a:ln w="15240">
            <a:solidFill>
              <a:srgbClr val="6B768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0664" y="4058454"/>
            <a:ext cx="10707624" cy="561974"/>
          </a:xfrm>
          <a:prstGeom prst="rect">
            <a:avLst/>
          </a:prstGeom>
          <a:noFill/>
        </p:spPr>
        <p:txBody>
          <a:bodyPr wrap="square" lIns="0" rIns="0" tIns="0" bIns="0" anchor="ctr">
            <a:spAutoFit/>
          </a:bodyPr>
          <a:lstStyle/>
          <a:p>
            <a:pPr algn="l">
              <a:lnSpc>
                <a:spcPts val="1475"/>
              </a:lnSpc>
              <a:spcAft>
                <a:spcPts val="300"/>
              </a:spcAft>
            </a:pPr>
            <a:r>
              <a:rPr sz="1250" b="0" i="1">
                <a:solidFill>
                  <a:srgbClr val="6B7685"/>
                </a:solidFill>
                <a:latin typeface="Arial"/>
              </a:rPr>
              <a:t>Для таких писем ответ одним вызовом звучит так же уверенно, как и правильный ответ на простое письмо, — но его уверенность ничем не подтверждена: никто не проверил, правильно ли модель поняла суть жалобы, и никто не сверил предложенное решение с политикой компании построчно.</a:t>
            </a:r>
          </a:p>
        </p:txBody>
      </p:sp>
      <p:sp>
        <p:nvSpPr>
          <p:cNvPr id="16" name="Rounded Rectangle 15"/>
          <p:cNvSpPr/>
          <p:nvPr/>
        </p:nvSpPr>
        <p:spPr>
          <a:xfrm>
            <a:off x="502920" y="5333873"/>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 y="5461889"/>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Правило уже знакомое курсу: справится ли один вызов (с RAG) — на нём и остановиться; если нет — нужна структура из нескольких шагов с проверяемым промежуточным результатом.</a:t>
            </a:r>
          </a:p>
        </p:txBody>
      </p:sp>
      <p:sp>
        <p:nvSpPr>
          <p:cNvPr id="18" name="TextBox 1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Workflow или агент — вопрос не терминологии</a:t>
            </a:r>
          </a:p>
        </p:txBody>
      </p:sp>
      <p:sp>
        <p:nvSpPr>
          <p:cNvPr id="3" name="Rounded Rectangle 2"/>
          <p:cNvSpPr/>
          <p:nvPr/>
        </p:nvSpPr>
        <p:spPr>
          <a:xfrm>
            <a:off x="502920" y="1330198"/>
            <a:ext cx="11183112" cy="2766695"/>
          </a:xfrm>
          <a:prstGeom prst="roundRect">
            <a:avLst>
              <a:gd name="adj" fmla="val 11016"/>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513078"/>
            <a:ext cx="1528095"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
            </a:r>
          </a:p>
        </p:txBody>
      </p:sp>
      <p:sp>
        <p:nvSpPr>
          <p:cNvPr id="5" name="TextBox 4"/>
          <p:cNvSpPr txBox="1"/>
          <p:nvPr/>
        </p:nvSpPr>
        <p:spPr>
          <a:xfrm>
            <a:off x="2360199" y="1513078"/>
            <a:ext cx="4105379"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АГЕНТ (С4–С6)</a:t>
            </a:r>
          </a:p>
        </p:txBody>
      </p:sp>
      <p:sp>
        <p:nvSpPr>
          <p:cNvPr id="6" name="TextBox 5"/>
          <p:cNvSpPr txBox="1"/>
          <p:nvPr/>
        </p:nvSpPr>
        <p:spPr>
          <a:xfrm>
            <a:off x="6611883" y="1513078"/>
            <a:ext cx="4744964"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WORKFLOW (ЗДЕСЬ)</a:t>
            </a:r>
          </a:p>
        </p:txBody>
      </p:sp>
      <p:sp>
        <p:nvSpPr>
          <p:cNvPr id="7" name="TextBox 6"/>
          <p:cNvSpPr txBox="1"/>
          <p:nvPr/>
        </p:nvSpPr>
        <p:spPr>
          <a:xfrm>
            <a:off x="685800" y="1795145"/>
            <a:ext cx="1528095"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Кто решает, что делать дальше</a:t>
            </a:r>
          </a:p>
        </p:txBody>
      </p:sp>
      <p:sp>
        <p:nvSpPr>
          <p:cNvPr id="8" name="TextBox 7"/>
          <p:cNvSpPr txBox="1"/>
          <p:nvPr/>
        </p:nvSpPr>
        <p:spPr>
          <a:xfrm>
            <a:off x="2360199" y="1795145"/>
            <a:ext cx="4105379"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модель, на каждом шаге, по ходу работы</a:t>
            </a:r>
          </a:p>
        </p:txBody>
      </p:sp>
      <p:sp>
        <p:nvSpPr>
          <p:cNvPr id="9" name="TextBox 8"/>
          <p:cNvSpPr txBox="1"/>
          <p:nvPr/>
        </p:nvSpPr>
        <p:spPr>
          <a:xfrm>
            <a:off x="6611883" y="1795145"/>
            <a:ext cx="4744964"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код — порядок шагов записан заранее</a:t>
            </a:r>
          </a:p>
        </p:txBody>
      </p:sp>
      <p:cxnSp>
        <p:nvCxnSpPr>
          <p:cNvPr id="10" name="Connector 9"/>
          <p:cNvCxnSpPr/>
          <p:nvPr/>
        </p:nvCxnSpPr>
        <p:spPr>
          <a:xfrm>
            <a:off x="685800" y="2324862"/>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2324862"/>
            <a:ext cx="1528095"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Известен ли путь заранее</a:t>
            </a:r>
          </a:p>
        </p:txBody>
      </p:sp>
      <p:sp>
        <p:nvSpPr>
          <p:cNvPr id="12" name="TextBox 11"/>
          <p:cNvSpPr txBox="1"/>
          <p:nvPr/>
        </p:nvSpPr>
        <p:spPr>
          <a:xfrm>
            <a:off x="2360199" y="2324862"/>
            <a:ext cx="4105379"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нет: сколько шагов и в каком порядке — неизвестно до начала</a:t>
            </a:r>
          </a:p>
        </p:txBody>
      </p:sp>
      <p:sp>
        <p:nvSpPr>
          <p:cNvPr id="13" name="TextBox 12"/>
          <p:cNvSpPr txBox="1"/>
          <p:nvPr/>
        </p:nvSpPr>
        <p:spPr>
          <a:xfrm>
            <a:off x="6611883" y="2324862"/>
            <a:ext cx="4744964"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да: классифицировать → черновик → показать человеку, всегда в этом порядке</a:t>
            </a:r>
          </a:p>
        </p:txBody>
      </p:sp>
      <p:cxnSp>
        <p:nvCxnSpPr>
          <p:cNvPr id="14" name="Connector 13"/>
          <p:cNvCxnSpPr/>
          <p:nvPr/>
        </p:nvCxnSpPr>
        <p:spPr>
          <a:xfrm>
            <a:off x="685800" y="2854579"/>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2854579"/>
            <a:ext cx="1528095"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Что покупается</a:t>
            </a:r>
          </a:p>
        </p:txBody>
      </p:sp>
      <p:sp>
        <p:nvSpPr>
          <p:cNvPr id="16" name="TextBox 15"/>
          <p:cNvSpPr txBox="1"/>
          <p:nvPr/>
        </p:nvSpPr>
        <p:spPr>
          <a:xfrm>
            <a:off x="2360199" y="2854579"/>
            <a:ext cx="4105379"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гибкость под задачу, чей путь нельзя выписать заранее</a:t>
            </a:r>
          </a:p>
        </p:txBody>
      </p:sp>
      <p:sp>
        <p:nvSpPr>
          <p:cNvPr id="17" name="TextBox 16"/>
          <p:cNvSpPr txBox="1"/>
          <p:nvPr/>
        </p:nvSpPr>
        <p:spPr>
          <a:xfrm>
            <a:off x="6611883" y="2854579"/>
            <a:ext cx="4744964"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предсказуемость и проверяемость каждого шага</a:t>
            </a:r>
          </a:p>
        </p:txBody>
      </p:sp>
      <p:cxnSp>
        <p:nvCxnSpPr>
          <p:cNvPr id="18" name="Connector 17"/>
          <p:cNvCxnSpPr/>
          <p:nvPr/>
        </p:nvCxnSpPr>
        <p:spPr>
          <a:xfrm>
            <a:off x="685800" y="338429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5800" y="3384296"/>
            <a:ext cx="1528095"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Когда это окупается</a:t>
            </a:r>
          </a:p>
        </p:txBody>
      </p:sp>
      <p:sp>
        <p:nvSpPr>
          <p:cNvPr id="20" name="TextBox 19"/>
          <p:cNvSpPr txBox="1"/>
          <p:nvPr/>
        </p:nvSpPr>
        <p:spPr>
          <a:xfrm>
            <a:off x="2360199" y="3384296"/>
            <a:ext cx="4105379"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задача непредсказуема по форме (разработка — пример С4–С6)</a:t>
            </a:r>
          </a:p>
        </p:txBody>
      </p:sp>
      <p:sp>
        <p:nvSpPr>
          <p:cNvPr id="21" name="TextBox 20"/>
          <p:cNvSpPr txBox="1"/>
          <p:nvPr/>
        </p:nvSpPr>
        <p:spPr>
          <a:xfrm>
            <a:off x="6611883" y="3384296"/>
            <a:ext cx="4744964"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задача предсказуема по форме, меняется только содержание (письмо — пример здесь)</a:t>
            </a:r>
          </a:p>
        </p:txBody>
      </p:sp>
      <p:sp>
        <p:nvSpPr>
          <p:cNvPr id="22" name="Rounded Rectangle 21"/>
          <p:cNvSpPr/>
          <p:nvPr/>
        </p:nvSpPr>
        <p:spPr>
          <a:xfrm>
            <a:off x="502920" y="4764405"/>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9536" y="4892421"/>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Письмо, пришедшее в поддержку, не требует непредсказуемости. Строить здесь динамического агента — покупать гибкость, которая этой задаче не нужна, и терять ровно то, что нужно: предсказуемость и проверяемость каждого шага.</a:t>
            </a:r>
          </a:p>
        </p:txBody>
      </p:sp>
      <p:sp>
        <p:nvSpPr>
          <p:cNvPr id="24" name="TextBox 23"/>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Три звена, и только два из них — модель</a:t>
            </a:r>
          </a:p>
        </p:txBody>
      </p:sp>
      <p:sp>
        <p:nvSpPr>
          <p:cNvPr id="3" name="Rounded Rectangle 2"/>
          <p:cNvSpPr/>
          <p:nvPr/>
        </p:nvSpPr>
        <p:spPr>
          <a:xfrm>
            <a:off x="502920" y="993504"/>
            <a:ext cx="82296" cy="51054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121520"/>
            <a:ext cx="10643616" cy="25450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classify</a:t>
            </a:r>
            <a:r>
              <a:rPr sz="1500" b="1" i="0">
                <a:solidFill>
                  <a:srgbClr val="141B2E"/>
                </a:solidFill>
                <a:latin typeface="Arial"/>
              </a:rPr>
              <a:t> → </a:t>
            </a:r>
            <a:r>
              <a:rPr sz="1500" b="1" i="0">
                <a:solidFill>
                  <a:srgbClr val="141B2E"/>
                </a:solidFill>
                <a:latin typeface="Consolas"/>
              </a:rPr>
              <a:t>проверка:</a:t>
            </a:r>
            <a:r>
              <a:rPr sz="1500" b="1" i="0">
                <a:solidFill>
                  <a:srgbClr val="141B2E"/>
                </a:solidFill>
                <a:latin typeface="Arial"/>
              </a:rPr>
              <a:t> </a:t>
            </a:r>
            <a:r>
              <a:rPr sz="1500" b="1" i="0">
                <a:solidFill>
                  <a:srgbClr val="141B2E"/>
                </a:solidFill>
                <a:latin typeface="Consolas"/>
              </a:rPr>
              <a:t>метка</a:t>
            </a:r>
            <a:r>
              <a:rPr sz="1500" b="1" i="0">
                <a:solidFill>
                  <a:srgbClr val="141B2E"/>
                </a:solidFill>
                <a:latin typeface="Arial"/>
              </a:rPr>
              <a:t> </a:t>
            </a:r>
            <a:r>
              <a:rPr sz="1500" b="1" i="0">
                <a:solidFill>
                  <a:srgbClr val="141B2E"/>
                </a:solidFill>
                <a:latin typeface="Consolas"/>
              </a:rPr>
              <a:t>∈</a:t>
            </a:r>
            <a:r>
              <a:rPr sz="1500" b="1" i="0">
                <a:solidFill>
                  <a:srgbClr val="141B2E"/>
                </a:solidFill>
                <a:latin typeface="Arial"/>
              </a:rPr>
              <a:t> </a:t>
            </a:r>
            <a:r>
              <a:rPr sz="1500" b="1" i="0">
                <a:solidFill>
                  <a:srgbClr val="141B2E"/>
                </a:solidFill>
                <a:latin typeface="Consolas"/>
              </a:rPr>
              <a:t>разрешённый</a:t>
            </a:r>
            <a:r>
              <a:rPr sz="1500" b="1" i="0">
                <a:solidFill>
                  <a:srgbClr val="141B2E"/>
                </a:solidFill>
                <a:latin typeface="Arial"/>
              </a:rPr>
              <a:t> </a:t>
            </a:r>
            <a:r>
              <a:rPr sz="1500" b="1" i="0">
                <a:solidFill>
                  <a:srgbClr val="141B2E"/>
                </a:solidFill>
                <a:latin typeface="Consolas"/>
              </a:rPr>
              <a:t>список?</a:t>
            </a:r>
            <a:r>
              <a:rPr sz="1500" b="1" i="0">
                <a:solidFill>
                  <a:srgbClr val="141B2E"/>
                </a:solidFill>
                <a:latin typeface="Arial"/>
              </a:rPr>
              <a:t> → </a:t>
            </a:r>
            <a:r>
              <a:rPr sz="1500" b="1" i="0">
                <a:solidFill>
                  <a:srgbClr val="141B2E"/>
                </a:solidFill>
                <a:latin typeface="Arial"/>
              </a:rPr>
              <a:t>draft</a:t>
            </a:r>
            <a:r>
              <a:rPr sz="1500" b="1" i="0">
                <a:solidFill>
                  <a:srgbClr val="141B2E"/>
                </a:solidFill>
                <a:latin typeface="Arial"/>
              </a:rPr>
              <a:t> → </a:t>
            </a:r>
            <a:r>
              <a:rPr sz="1500" b="1" i="0">
                <a:solidFill>
                  <a:srgbClr val="141B2E"/>
                </a:solidFill>
                <a:latin typeface="Arial"/>
              </a:rPr>
              <a:t>человеческий гейт</a:t>
            </a:r>
          </a:p>
        </p:txBody>
      </p:sp>
      <p:sp>
        <p:nvSpPr>
          <p:cNvPr id="5" name="Rounded Rectangle 4"/>
          <p:cNvSpPr/>
          <p:nvPr/>
        </p:nvSpPr>
        <p:spPr>
          <a:xfrm>
            <a:off x="502920" y="1794006"/>
            <a:ext cx="11183112" cy="2949257"/>
          </a:xfrm>
          <a:prstGeom prst="roundRect">
            <a:avLst>
              <a:gd name="adj" fmla="val 10334"/>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976886"/>
            <a:ext cx="1352383"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ЗВЕНО</a:t>
            </a:r>
          </a:p>
        </p:txBody>
      </p:sp>
      <p:sp>
        <p:nvSpPr>
          <p:cNvPr id="7" name="TextBox 6"/>
          <p:cNvSpPr txBox="1"/>
          <p:nvPr/>
        </p:nvSpPr>
        <p:spPr>
          <a:xfrm>
            <a:off x="2184487" y="1976886"/>
            <a:ext cx="2366081"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ВХОД</a:t>
            </a:r>
          </a:p>
        </p:txBody>
      </p:sp>
      <p:sp>
        <p:nvSpPr>
          <p:cNvPr id="8" name="TextBox 7"/>
          <p:cNvSpPr txBox="1"/>
          <p:nvPr/>
        </p:nvSpPr>
        <p:spPr>
          <a:xfrm>
            <a:off x="4696872" y="1976886"/>
            <a:ext cx="6659975"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ВЫХОД</a:t>
            </a:r>
          </a:p>
        </p:txBody>
      </p:sp>
      <p:sp>
        <p:nvSpPr>
          <p:cNvPr id="9" name="TextBox 8"/>
          <p:cNvSpPr txBox="1"/>
          <p:nvPr/>
        </p:nvSpPr>
        <p:spPr>
          <a:xfrm>
            <a:off x="685800" y="2258953"/>
            <a:ext cx="1352383"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classify</a:t>
            </a:r>
          </a:p>
        </p:txBody>
      </p:sp>
      <p:sp>
        <p:nvSpPr>
          <p:cNvPr id="10" name="TextBox 9"/>
          <p:cNvSpPr txBox="1"/>
          <p:nvPr/>
        </p:nvSpPr>
        <p:spPr>
          <a:xfrm>
            <a:off x="2184487" y="2258953"/>
            <a:ext cx="2366081"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письмо целиком</a:t>
            </a:r>
          </a:p>
        </p:txBody>
      </p:sp>
      <p:sp>
        <p:nvSpPr>
          <p:cNvPr id="11" name="TextBox 10"/>
          <p:cNvSpPr txBox="1"/>
          <p:nvPr/>
        </p:nvSpPr>
        <p:spPr>
          <a:xfrm>
            <a:off x="4696872" y="2258953"/>
            <a:ext cx="6659975"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одна метка из закрытого списка (</a:t>
            </a:r>
            <a:r>
              <a:rPr sz="1250" b="0" i="0">
                <a:solidFill>
                  <a:srgbClr val="141B2E"/>
                </a:solidFill>
                <a:latin typeface="Consolas"/>
              </a:rPr>
              <a:t>пароль</a:t>
            </a:r>
            <a:r>
              <a:rPr sz="1250" b="0" i="0">
                <a:solidFill>
                  <a:srgbClr val="141B2E"/>
                </a:solidFill>
                <a:latin typeface="Arial"/>
              </a:rPr>
              <a:t> · </a:t>
            </a:r>
            <a:r>
              <a:rPr sz="1250" b="0" i="0">
                <a:solidFill>
                  <a:srgbClr val="141B2E"/>
                </a:solidFill>
                <a:latin typeface="Consolas"/>
              </a:rPr>
              <a:t>статус</a:t>
            </a:r>
            <a:r>
              <a:rPr sz="1250" b="0" i="0">
                <a:solidFill>
                  <a:srgbClr val="141B2E"/>
                </a:solidFill>
                <a:latin typeface="Arial"/>
              </a:rPr>
              <a:t> </a:t>
            </a:r>
            <a:r>
              <a:rPr sz="1250" b="0" i="0">
                <a:solidFill>
                  <a:srgbClr val="141B2E"/>
                </a:solidFill>
                <a:latin typeface="Consolas"/>
              </a:rPr>
              <a:t>заказа</a:t>
            </a:r>
            <a:r>
              <a:rPr sz="1250" b="0" i="0">
                <a:solidFill>
                  <a:srgbClr val="141B2E"/>
                </a:solidFill>
                <a:latin typeface="Arial"/>
              </a:rPr>
              <a:t> · </a:t>
            </a:r>
            <a:r>
              <a:rPr sz="1250" b="0" i="0">
                <a:solidFill>
                  <a:srgbClr val="141B2E"/>
                </a:solidFill>
                <a:latin typeface="Consolas"/>
              </a:rPr>
              <a:t>возврат</a:t>
            </a:r>
            <a:r>
              <a:rPr sz="1250" b="0" i="0">
                <a:solidFill>
                  <a:srgbClr val="141B2E"/>
                </a:solidFill>
                <a:latin typeface="Arial"/>
              </a:rPr>
              <a:t> · </a:t>
            </a:r>
            <a:r>
              <a:rPr sz="1250" b="0" i="0">
                <a:solidFill>
                  <a:srgbClr val="141B2E"/>
                </a:solidFill>
                <a:latin typeface="Consolas"/>
              </a:rPr>
              <a:t>жалоба</a:t>
            </a:r>
            <a:r>
              <a:rPr sz="1250" b="0" i="0">
                <a:solidFill>
                  <a:srgbClr val="141B2E"/>
                </a:solidFill>
                <a:latin typeface="Arial"/>
              </a:rPr>
              <a:t> · </a:t>
            </a:r>
            <a:r>
              <a:rPr sz="1250" b="0" i="0">
                <a:solidFill>
                  <a:srgbClr val="141B2E"/>
                </a:solidFill>
                <a:latin typeface="Consolas"/>
              </a:rPr>
              <a:t>другое</a:t>
            </a:r>
            <a:r>
              <a:rPr sz="1250" b="0" i="0">
                <a:solidFill>
                  <a:srgbClr val="141B2E"/>
                </a:solidFill>
                <a:latin typeface="Arial"/>
              </a:rPr>
              <a:t>)</a:t>
            </a:r>
          </a:p>
        </p:txBody>
      </p:sp>
      <p:cxnSp>
        <p:nvCxnSpPr>
          <p:cNvPr id="12" name="Connector 11"/>
          <p:cNvCxnSpPr/>
          <p:nvPr/>
        </p:nvCxnSpPr>
        <p:spPr>
          <a:xfrm>
            <a:off x="685800" y="278867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2788670"/>
            <a:ext cx="1352383"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проверка (код, не модель)</a:t>
            </a:r>
          </a:p>
        </p:txBody>
      </p:sp>
      <p:sp>
        <p:nvSpPr>
          <p:cNvPr id="14" name="TextBox 13"/>
          <p:cNvSpPr txBox="1"/>
          <p:nvPr/>
        </p:nvSpPr>
        <p:spPr>
          <a:xfrm>
            <a:off x="2184487" y="2788670"/>
            <a:ext cx="2366081"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метка от classify</a:t>
            </a:r>
          </a:p>
        </p:txBody>
      </p:sp>
      <p:sp>
        <p:nvSpPr>
          <p:cNvPr id="15" name="TextBox 14"/>
          <p:cNvSpPr txBox="1"/>
          <p:nvPr/>
        </p:nvSpPr>
        <p:spPr>
          <a:xfrm>
            <a:off x="4696872" y="2788670"/>
            <a:ext cx="6659975"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остановить цепочку, если метка вне списка — не продолжать со вторым вызовом</a:t>
            </a:r>
          </a:p>
        </p:txBody>
      </p:sp>
      <p:cxnSp>
        <p:nvCxnSpPr>
          <p:cNvPr id="16" name="Connector 15"/>
          <p:cNvCxnSpPr/>
          <p:nvPr/>
        </p:nvCxnSpPr>
        <p:spPr>
          <a:xfrm>
            <a:off x="685800" y="331838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85800" y="3318387"/>
            <a:ext cx="1352383"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draft</a:t>
            </a:r>
          </a:p>
        </p:txBody>
      </p:sp>
      <p:sp>
        <p:nvSpPr>
          <p:cNvPr id="18" name="TextBox 17"/>
          <p:cNvSpPr txBox="1"/>
          <p:nvPr/>
        </p:nvSpPr>
        <p:spPr>
          <a:xfrm>
            <a:off x="2184487" y="3318387"/>
            <a:ext cx="2366081"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письмо + метка + контекст из базы знаний по этой метке</a:t>
            </a:r>
          </a:p>
        </p:txBody>
      </p:sp>
      <p:sp>
        <p:nvSpPr>
          <p:cNvPr id="19" name="TextBox 18"/>
          <p:cNvSpPr txBox="1"/>
          <p:nvPr/>
        </p:nvSpPr>
        <p:spPr>
          <a:xfrm>
            <a:off x="4696872" y="3318387"/>
            <a:ext cx="6659975"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черновик ответа клиенту</a:t>
            </a:r>
          </a:p>
        </p:txBody>
      </p:sp>
      <p:cxnSp>
        <p:nvCxnSpPr>
          <p:cNvPr id="20" name="Connector 19"/>
          <p:cNvCxnSpPr/>
          <p:nvPr/>
        </p:nvCxnSpPr>
        <p:spPr>
          <a:xfrm>
            <a:off x="685800" y="403066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85800" y="4030666"/>
            <a:ext cx="1352383"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человеческий гейт</a:t>
            </a:r>
          </a:p>
        </p:txBody>
      </p:sp>
      <p:sp>
        <p:nvSpPr>
          <p:cNvPr id="22" name="TextBox 21"/>
          <p:cNvSpPr txBox="1"/>
          <p:nvPr/>
        </p:nvSpPr>
        <p:spPr>
          <a:xfrm>
            <a:off x="2184487" y="4030666"/>
            <a:ext cx="2366081"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черновик</a:t>
            </a:r>
          </a:p>
        </p:txBody>
      </p:sp>
      <p:sp>
        <p:nvSpPr>
          <p:cNvPr id="23" name="TextBox 22"/>
          <p:cNvSpPr txBox="1"/>
          <p:nvPr/>
        </p:nvSpPr>
        <p:spPr>
          <a:xfrm>
            <a:off x="4696872" y="4030666"/>
            <a:ext cx="6659975"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письмо уходит клиенту только после подтверждения или правки человеком</a:t>
            </a:r>
          </a:p>
        </p:txBody>
      </p:sp>
      <p:sp>
        <p:nvSpPr>
          <p:cNvPr id="24" name="Rounded Rectangle 23"/>
          <p:cNvSpPr/>
          <p:nvPr/>
        </p:nvSpPr>
        <p:spPr>
          <a:xfrm>
            <a:off x="502920" y="5033225"/>
            <a:ext cx="82296" cy="121920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9536" y="5161241"/>
            <a:ext cx="10643616" cy="96316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Два гейта проверяют разное: проверка метки — форму промежуточного результата, кодом, до того как потрачен второй, более дорогой вызов. Человеческий гейт — содержание финального результата, человеком, до того как письмо реально уйдёт. Там, где стоит только один из двух, вторая половина ошибок проходит насквозь.</a:t>
            </a:r>
          </a:p>
        </p:txBody>
      </p:sp>
      <p:sp>
        <p:nvSpPr>
          <p:cNvPr id="26" name="TextBox 2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Четыре строки, четыре факта</a:t>
            </a:r>
          </a:p>
        </p:txBody>
      </p:sp>
      <p:sp>
        <p:nvSpPr>
          <p:cNvPr id="3" name="Rounded Rectangle 2"/>
          <p:cNvSpPr/>
          <p:nvPr/>
        </p:nvSpPr>
        <p:spPr>
          <a:xfrm>
            <a:off x="502920" y="987179"/>
            <a:ext cx="11183112" cy="1578102"/>
          </a:xfrm>
          <a:prstGeom prst="roundRect">
            <a:avLst>
              <a:gd name="adj" fmla="val 12876"/>
            </a:avLst>
          </a:prstGeom>
          <a:solidFill>
            <a:srgbClr val="FFFFFF"/>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1023755"/>
            <a:ext cx="50292" cy="150495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2376" y="1170059"/>
            <a:ext cx="10744200" cy="1212342"/>
          </a:xfrm>
          <a:prstGeom prst="rect">
            <a:avLst/>
          </a:prstGeom>
          <a:noFill/>
        </p:spPr>
        <p:txBody>
          <a:bodyPr wrap="none" lIns="0" rIns="0" tIns="0" bIns="0" anchor="t">
            <a:spAutoFit/>
          </a:bodyPr>
          <a:lstStyle/>
          <a:p>
            <a:pPr algn="l">
              <a:lnSpc>
                <a:spcPts val="1495"/>
              </a:lnSpc>
              <a:spcAft>
                <a:spcPts val="0"/>
              </a:spcAft>
            </a:pPr>
            <a:r>
              <a:rPr sz="1150" b="0" i="0">
                <a:solidFill>
                  <a:srgbClr val="141B2E"/>
                </a:solidFill>
                <a:latin typeface="Consolas"/>
              </a:rPr>
              <a:t>label = call_classify(letter_text)</a:t>
            </a:r>
          </a:p>
          <a:p>
            <a:pPr algn="l">
              <a:lnSpc>
                <a:spcPts val="1495"/>
              </a:lnSpc>
              <a:spcAft>
                <a:spcPts val="0"/>
              </a:spcAft>
            </a:pPr>
            <a:r>
              <a:rPr sz="1150" b="0" i="0">
                <a:solidFill>
                  <a:srgbClr val="141B2E"/>
                </a:solidFill>
                <a:latin typeface="Consolas"/>
              </a:rPr>
              <a:t>if label not in ALLOWED_LABELS:</a:t>
            </a:r>
          </a:p>
          <a:p>
            <a:pPr algn="l">
              <a:lnSpc>
                <a:spcPts val="1495"/>
              </a:lnSpc>
              <a:spcAft>
                <a:spcPts val="0"/>
              </a:spcAft>
            </a:pPr>
            <a:r>
              <a:rPr sz="1150" b="0" i="0">
                <a:solidFill>
                  <a:srgbClr val="141B2E"/>
                </a:solidFill>
                <a:latin typeface="Consolas"/>
              </a:rPr>
              <a:t>    stop_chain("классификация вне списка — на разбор человеку целиком")</a:t>
            </a:r>
          </a:p>
          <a:p>
            <a:pPr algn="l">
              <a:lnSpc>
                <a:spcPts val="1495"/>
              </a:lnSpc>
              <a:spcAft>
                <a:spcPts val="0"/>
              </a:spcAft>
            </a:pPr>
            <a:r>
              <a:rPr sz="1150" b="0" i="0">
                <a:solidFill>
                  <a:srgbClr val="141B2E"/>
                </a:solidFill>
                <a:latin typeface="Consolas"/>
              </a:rPr>
              <a:t>draft = call_draft(letter_text, label, kb_context=retrieve(label))</a:t>
            </a:r>
          </a:p>
          <a:p>
            <a:pPr algn="l">
              <a:lnSpc>
                <a:spcPts val="1495"/>
              </a:lnSpc>
              <a:spcAft>
                <a:spcPts val="0"/>
              </a:spcAft>
            </a:pPr>
            <a:r>
              <a:rPr sz="1150" b="0" i="0">
                <a:solidFill>
                  <a:srgbClr val="141B2E"/>
                </a:solidFill>
                <a:latin typeface="Consolas"/>
              </a:rPr>
              <a:t>send_to_human_review_queue(draft, letter_text, label)</a:t>
            </a:r>
          </a:p>
          <a:p>
            <a:pPr algn="l">
              <a:lnSpc>
                <a:spcPts val="1495"/>
              </a:lnSpc>
              <a:spcAft>
                <a:spcPts val="0"/>
              </a:spcAft>
            </a:pPr>
            <a:r>
              <a:rPr sz="1150" b="0" i="0">
                <a:solidFill>
                  <a:srgbClr val="141B2E"/>
                </a:solidFill>
                <a:latin typeface="Consolas"/>
              </a:rPr>
              <a:t># письмо уходит клиенту только после действия человека в очереди</a:t>
            </a:r>
          </a:p>
        </p:txBody>
      </p:sp>
      <p:sp>
        <p:nvSpPr>
          <p:cNvPr id="6" name="Rounded Rectangle 5"/>
          <p:cNvSpPr/>
          <p:nvPr/>
        </p:nvSpPr>
        <p:spPr>
          <a:xfrm>
            <a:off x="502920" y="2839432"/>
            <a:ext cx="11183112" cy="2401570"/>
          </a:xfrm>
          <a:prstGeom prst="roundRect">
            <a:avLst>
              <a:gd name="adj" fmla="val 12691"/>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3022312"/>
            <a:ext cx="634368"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СТРОКА</a:t>
            </a:r>
          </a:p>
        </p:txBody>
      </p:sp>
      <p:sp>
        <p:nvSpPr>
          <p:cNvPr id="8" name="TextBox 7"/>
          <p:cNvSpPr txBox="1"/>
          <p:nvPr/>
        </p:nvSpPr>
        <p:spPr>
          <a:xfrm>
            <a:off x="1466472" y="3022312"/>
            <a:ext cx="9890375"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ФАКТ</a:t>
            </a:r>
          </a:p>
        </p:txBody>
      </p:sp>
      <p:sp>
        <p:nvSpPr>
          <p:cNvPr id="9" name="TextBox 8"/>
          <p:cNvSpPr txBox="1"/>
          <p:nvPr/>
        </p:nvSpPr>
        <p:spPr>
          <a:xfrm>
            <a:off x="685800" y="3304379"/>
            <a:ext cx="634368"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1</a:t>
            </a:r>
          </a:p>
        </p:txBody>
      </p:sp>
      <p:sp>
        <p:nvSpPr>
          <p:cNvPr id="10" name="TextBox 9"/>
          <p:cNvSpPr txBox="1"/>
          <p:nvPr/>
        </p:nvSpPr>
        <p:spPr>
          <a:xfrm>
            <a:off x="1466472" y="3304379"/>
            <a:ext cx="9890375"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Consolas"/>
              </a:rPr>
              <a:t>call_classify</a:t>
            </a:r>
            <a:r>
              <a:rPr sz="1250" b="0" i="0">
                <a:solidFill>
                  <a:srgbClr val="141B2E"/>
                </a:solidFill>
                <a:latin typeface="Arial"/>
              </a:rPr>
              <a:t> возвращает метку, не свободный текст — иначе проверку на строке 2 невозможно было бы написать</a:t>
            </a:r>
          </a:p>
        </p:txBody>
      </p:sp>
      <p:cxnSp>
        <p:nvCxnSpPr>
          <p:cNvPr id="11" name="Connector 10"/>
          <p:cNvCxnSpPr/>
          <p:nvPr/>
        </p:nvCxnSpPr>
        <p:spPr>
          <a:xfrm>
            <a:off x="685800" y="383409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3834096"/>
            <a:ext cx="634368"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2</a:t>
            </a:r>
          </a:p>
        </p:txBody>
      </p:sp>
      <p:sp>
        <p:nvSpPr>
          <p:cNvPr id="13" name="TextBox 12"/>
          <p:cNvSpPr txBox="1"/>
          <p:nvPr/>
        </p:nvSpPr>
        <p:spPr>
          <a:xfrm>
            <a:off x="1466472" y="3834096"/>
            <a:ext cx="9890375"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проверка метки стоит ДО второго вызова — иначе цепочка уже потратила бы дорогой вызов на заведомо плохой сигнал</a:t>
            </a:r>
          </a:p>
        </p:txBody>
      </p:sp>
      <p:cxnSp>
        <p:nvCxnSpPr>
          <p:cNvPr id="14" name="Connector 13"/>
          <p:cNvCxnSpPr/>
          <p:nvPr/>
        </p:nvCxnSpPr>
        <p:spPr>
          <a:xfrm>
            <a:off x="685800" y="4363813"/>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4363813"/>
            <a:ext cx="634368"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4</a:t>
            </a:r>
          </a:p>
        </p:txBody>
      </p:sp>
      <p:sp>
        <p:nvSpPr>
          <p:cNvPr id="16" name="TextBox 15"/>
          <p:cNvSpPr txBox="1"/>
          <p:nvPr/>
        </p:nvSpPr>
        <p:spPr>
          <a:xfrm>
            <a:off x="1466472" y="4363813"/>
            <a:ext cx="9890375"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Consolas"/>
              </a:rPr>
              <a:t>call_draft</a:t>
            </a:r>
            <a:r>
              <a:rPr sz="1250" b="0" i="0">
                <a:solidFill>
                  <a:srgbClr val="141B2E"/>
                </a:solidFill>
                <a:latin typeface="Arial"/>
              </a:rPr>
              <a:t> получает метку и извлечённый по ней контекст, не одно голое письмо</a:t>
            </a:r>
          </a:p>
        </p:txBody>
      </p:sp>
      <p:cxnSp>
        <p:nvCxnSpPr>
          <p:cNvPr id="17" name="Connector 16"/>
          <p:cNvCxnSpPr/>
          <p:nvPr/>
        </p:nvCxnSpPr>
        <p:spPr>
          <a:xfrm>
            <a:off x="685800" y="471096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85800" y="4710967"/>
            <a:ext cx="634368"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5</a:t>
            </a:r>
          </a:p>
        </p:txBody>
      </p:sp>
      <p:sp>
        <p:nvSpPr>
          <p:cNvPr id="19" name="TextBox 18"/>
          <p:cNvSpPr txBox="1"/>
          <p:nvPr/>
        </p:nvSpPr>
        <p:spPr>
          <a:xfrm>
            <a:off x="1466472" y="4710967"/>
            <a:ext cx="9890375"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последняя операция — положить черновик в очередь человека, не отправить его клиенту напрямую</a:t>
            </a:r>
          </a:p>
        </p:txBody>
      </p:sp>
      <p:sp>
        <p:nvSpPr>
          <p:cNvPr id="20" name="Rounded Rectangle 19"/>
          <p:cNvSpPr/>
          <p:nvPr/>
        </p:nvSpPr>
        <p:spPr>
          <a:xfrm>
            <a:off x="502920" y="5515152"/>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5643168"/>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Четыре факта — не детали синтаксиса: удаление любого из них по отдельности превращает рабочую цепочку в ту, что ломается на следующем экране.</a:t>
            </a:r>
          </a:p>
        </p:txBody>
      </p:sp>
      <p:sp>
        <p:nvSpPr>
          <p:cNvPr id="22" name="TextBox 21"/>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Ошибка первого звена протекает молча</a:t>
            </a:r>
          </a:p>
        </p:txBody>
      </p:sp>
      <p:sp>
        <p:nvSpPr>
          <p:cNvPr id="3" name="Rounded Rectangle 2"/>
          <p:cNvSpPr/>
          <p:nvPr/>
        </p:nvSpPr>
        <p:spPr>
          <a:xfrm>
            <a:off x="502920" y="1358849"/>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486865"/>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Та же цепочка, минус одна вещь: проверки между </a:t>
            </a:r>
            <a:r>
              <a:rPr sz="1500" b="1" i="0">
                <a:solidFill>
                  <a:srgbClr val="141B2E"/>
                </a:solidFill>
                <a:latin typeface="Consolas"/>
              </a:rPr>
              <a:t>classify</a:t>
            </a:r>
            <a:r>
              <a:rPr sz="1500" b="1" i="0">
                <a:solidFill>
                  <a:srgbClr val="141B2E"/>
                </a:solidFill>
                <a:latin typeface="Arial"/>
              </a:rPr>
              <a:t> и </a:t>
            </a:r>
            <a:r>
              <a:rPr sz="1500" b="1" i="0">
                <a:solidFill>
                  <a:srgbClr val="141B2E"/>
                </a:solidFill>
                <a:latin typeface="Consolas"/>
              </a:rPr>
              <a:t>draft</a:t>
            </a:r>
            <a:r>
              <a:rPr sz="1500" b="1" i="0">
                <a:solidFill>
                  <a:srgbClr val="141B2E"/>
                </a:solidFill>
                <a:latin typeface="Arial"/>
              </a:rPr>
              <a:t> нет, а человеческий гейт в конце — формальность: очередь настолько длинная, что черновики подтверждают не читая.</a:t>
            </a:r>
          </a:p>
        </p:txBody>
      </p:sp>
      <p:sp>
        <p:nvSpPr>
          <p:cNvPr id="5" name="Rounded Rectangle 4"/>
          <p:cNvSpPr/>
          <p:nvPr/>
        </p:nvSpPr>
        <p:spPr>
          <a:xfrm>
            <a:off x="502920" y="2773121"/>
            <a:ext cx="11183112" cy="2931286"/>
          </a:xfrm>
          <a:prstGeom prst="roundRect">
            <a:avLst>
              <a:gd name="adj" fmla="val 10398"/>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956001"/>
            <a:ext cx="1428033"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ШАГ</a:t>
            </a:r>
          </a:p>
        </p:txBody>
      </p:sp>
      <p:sp>
        <p:nvSpPr>
          <p:cNvPr id="7" name="TextBox 6"/>
          <p:cNvSpPr txBox="1"/>
          <p:nvPr/>
        </p:nvSpPr>
        <p:spPr>
          <a:xfrm>
            <a:off x="2260137" y="2956001"/>
            <a:ext cx="9096710"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ЧТО ПРОИСХОДИТ</a:t>
            </a:r>
          </a:p>
        </p:txBody>
      </p:sp>
      <p:sp>
        <p:nvSpPr>
          <p:cNvPr id="8" name="TextBox 7"/>
          <p:cNvSpPr txBox="1"/>
          <p:nvPr/>
        </p:nvSpPr>
        <p:spPr>
          <a:xfrm>
            <a:off x="685800" y="3238068"/>
            <a:ext cx="1428033"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classify</a:t>
            </a:r>
          </a:p>
        </p:txBody>
      </p:sp>
      <p:sp>
        <p:nvSpPr>
          <p:cNvPr id="9" name="TextBox 8"/>
          <p:cNvSpPr txBox="1"/>
          <p:nvPr/>
        </p:nvSpPr>
        <p:spPr>
          <a:xfrm>
            <a:off x="2260137" y="3238068"/>
            <a:ext cx="9096710"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письмо про разбитую упаковку и просьбу вернуть деньги ошибочно помечено как </a:t>
            </a:r>
            <a:r>
              <a:rPr sz="1250" b="0" i="0">
                <a:solidFill>
                  <a:srgbClr val="141B2E"/>
                </a:solidFill>
                <a:latin typeface="Consolas"/>
              </a:rPr>
              <a:t>другое</a:t>
            </a:r>
          </a:p>
        </p:txBody>
      </p:sp>
      <p:cxnSp>
        <p:nvCxnSpPr>
          <p:cNvPr id="10" name="Connector 9"/>
          <p:cNvCxnSpPr/>
          <p:nvPr/>
        </p:nvCxnSpPr>
        <p:spPr>
          <a:xfrm>
            <a:off x="685800" y="3585222"/>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3585222"/>
            <a:ext cx="1428033"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(проверки нет)</a:t>
            </a:r>
          </a:p>
        </p:txBody>
      </p:sp>
      <p:sp>
        <p:nvSpPr>
          <p:cNvPr id="12" name="TextBox 11"/>
          <p:cNvSpPr txBox="1"/>
          <p:nvPr/>
        </p:nvSpPr>
        <p:spPr>
          <a:xfrm>
            <a:off x="2260137" y="3585222"/>
            <a:ext cx="9096710"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ошибочная метка проходит дальше без остановки</a:t>
            </a:r>
          </a:p>
        </p:txBody>
      </p:sp>
      <p:cxnSp>
        <p:nvCxnSpPr>
          <p:cNvPr id="13" name="Connector 12"/>
          <p:cNvCxnSpPr/>
          <p:nvPr/>
        </p:nvCxnSpPr>
        <p:spPr>
          <a:xfrm>
            <a:off x="685800" y="393237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85800" y="3932377"/>
            <a:ext cx="1428033"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draft</a:t>
            </a:r>
          </a:p>
        </p:txBody>
      </p:sp>
      <p:sp>
        <p:nvSpPr>
          <p:cNvPr id="15" name="TextBox 14"/>
          <p:cNvSpPr txBox="1"/>
          <p:nvPr/>
        </p:nvSpPr>
        <p:spPr>
          <a:xfrm>
            <a:off x="2260137" y="3932377"/>
            <a:ext cx="9096710"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честно берёт метку </a:t>
            </a:r>
            <a:r>
              <a:rPr sz="1250" b="0" i="0">
                <a:solidFill>
                  <a:srgbClr val="141B2E"/>
                </a:solidFill>
                <a:latin typeface="Consolas"/>
              </a:rPr>
              <a:t>другое</a:t>
            </a:r>
            <a:r>
              <a:rPr sz="1250" b="0" i="0">
                <a:solidFill>
                  <a:srgbClr val="141B2E"/>
                </a:solidFill>
                <a:latin typeface="Arial"/>
              </a:rPr>
              <a:t> и контекст под неё — пишет грамматически безупречный, уверенный ответ: «спасибо за обращение, ответим в течение суток»</a:t>
            </a:r>
          </a:p>
        </p:txBody>
      </p:sp>
      <p:cxnSp>
        <p:nvCxnSpPr>
          <p:cNvPr id="16" name="Connector 15"/>
          <p:cNvCxnSpPr/>
          <p:nvPr/>
        </p:nvCxnSpPr>
        <p:spPr>
          <a:xfrm>
            <a:off x="685800" y="446209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85800" y="4462094"/>
            <a:ext cx="1428033"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человеческий гейт (формальность)</a:t>
            </a:r>
          </a:p>
        </p:txBody>
      </p:sp>
      <p:sp>
        <p:nvSpPr>
          <p:cNvPr id="18" name="TextBox 17"/>
          <p:cNvSpPr txBox="1"/>
          <p:nvPr/>
        </p:nvSpPr>
        <p:spPr>
          <a:xfrm>
            <a:off x="2260137" y="4462094"/>
            <a:ext cx="9096710"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черновик подтверждают не читая</a:t>
            </a:r>
          </a:p>
        </p:txBody>
      </p:sp>
      <p:cxnSp>
        <p:nvCxnSpPr>
          <p:cNvPr id="19" name="Connector 18"/>
          <p:cNvCxnSpPr/>
          <p:nvPr/>
        </p:nvCxnSpPr>
        <p:spPr>
          <a:xfrm>
            <a:off x="685800" y="5174373"/>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85800" y="5174373"/>
            <a:ext cx="1428033"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результат</a:t>
            </a:r>
          </a:p>
        </p:txBody>
      </p:sp>
      <p:sp>
        <p:nvSpPr>
          <p:cNvPr id="21" name="TextBox 20"/>
          <p:cNvSpPr txBox="1"/>
          <p:nvPr/>
        </p:nvSpPr>
        <p:spPr>
          <a:xfrm>
            <a:off x="2260137" y="5174373"/>
            <a:ext cx="9096710"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клиенту с законным правом на возврат уходит нейтральная отговорка вместо решения</a:t>
            </a:r>
          </a:p>
        </p:txBody>
      </p:sp>
      <p:sp>
        <p:nvSpPr>
          <p:cNvPr id="22" name="TextBox 21"/>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Когда цепочки хватает, а когда нет</a:t>
            </a:r>
          </a:p>
        </p:txBody>
      </p:sp>
      <p:sp>
        <p:nvSpPr>
          <p:cNvPr id="3" name="Rounded Rectangle 2"/>
          <p:cNvSpPr/>
          <p:nvPr/>
        </p:nvSpPr>
        <p:spPr>
          <a:xfrm>
            <a:off x="502920" y="1424533"/>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552549"/>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Что, если письма, приходящие в один и тот же ящик, относятся к принципиально разным классам обработки, не к одному, — и единственный </a:t>
            </a:r>
            <a:r>
              <a:rPr sz="1500" b="1" i="0">
                <a:solidFill>
                  <a:srgbClr val="141B2E"/>
                </a:solidFill>
                <a:latin typeface="Consolas"/>
              </a:rPr>
              <a:t>classify</a:t>
            </a:r>
            <a:r>
              <a:rPr sz="1500" b="1" i="0">
                <a:solidFill>
                  <a:srgbClr val="141B2E"/>
                </a:solidFill>
                <a:latin typeface="Arial"/>
              </a:rPr>
              <a:t> на входе начинает разрастаться в десятки </a:t>
            </a:r>
            <a:r>
              <a:rPr sz="1500" b="1" i="0">
                <a:solidFill>
                  <a:srgbClr val="141B2E"/>
                </a:solidFill>
                <a:latin typeface="Consolas"/>
              </a:rPr>
              <a:t>if</a:t>
            </a:r>
            <a:r>
              <a:rPr sz="1500" b="1" i="0">
                <a:solidFill>
                  <a:srgbClr val="141B2E"/>
                </a:solidFill>
                <a:latin typeface="Arial"/>
              </a:rPr>
              <a:t>-веток внутри одного шага?</a:t>
            </a:r>
          </a:p>
        </p:txBody>
      </p:sp>
      <p:sp>
        <p:nvSpPr>
          <p:cNvPr id="5" name="Rounded Rectangle 4"/>
          <p:cNvSpPr/>
          <p:nvPr/>
        </p:nvSpPr>
        <p:spPr>
          <a:xfrm>
            <a:off x="502920" y="3075025"/>
            <a:ext cx="5454396" cy="2530856"/>
          </a:xfrm>
          <a:prstGeom prst="roundRect">
            <a:avLst>
              <a:gd name="adj" fmla="val 12043"/>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3184753"/>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6B7685"/>
                </a:solidFill>
                <a:latin typeface="Arial"/>
              </a:rPr>
              <a:t>ЦЕПОЧКА ПОДХОДИТ, КОГДА</a:t>
            </a:r>
          </a:p>
        </p:txBody>
      </p:sp>
      <p:sp>
        <p:nvSpPr>
          <p:cNvPr id="7" name="TextBox 6"/>
          <p:cNvSpPr txBox="1"/>
          <p:nvPr/>
        </p:nvSpPr>
        <p:spPr>
          <a:xfrm>
            <a:off x="685800" y="3459073"/>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задача раскладывается на фиксированную, известную заранее последовательность шагов</a:t>
            </a:r>
          </a:p>
        </p:txBody>
      </p:sp>
      <p:cxnSp>
        <p:nvCxnSpPr>
          <p:cNvPr id="8" name="Connector 7"/>
          <p:cNvCxnSpPr/>
          <p:nvPr/>
        </p:nvCxnSpPr>
        <p:spPr>
          <a:xfrm>
            <a:off x="685800" y="3950055"/>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3950055"/>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входы, пусть разные по содержанию, относятся к одному и тому же классу обработки</a:t>
            </a:r>
          </a:p>
        </p:txBody>
      </p:sp>
      <p:cxnSp>
        <p:nvCxnSpPr>
          <p:cNvPr id="10" name="Connector 9"/>
          <p:cNvCxnSpPr/>
          <p:nvPr/>
        </p:nvCxnSpPr>
        <p:spPr>
          <a:xfrm>
            <a:off x="685800" y="4441037"/>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4441037"/>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между шагами можно поставить детерминированную проверку и, где нужно, человеческий гейт</a:t>
            </a:r>
          </a:p>
        </p:txBody>
      </p:sp>
      <p:cxnSp>
        <p:nvCxnSpPr>
          <p:cNvPr id="12" name="Connector 11"/>
          <p:cNvCxnSpPr/>
          <p:nvPr/>
        </p:nvCxnSpPr>
        <p:spPr>
          <a:xfrm>
            <a:off x="685800" y="4932019"/>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4932019"/>
            <a:ext cx="5088636" cy="31864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ответственность и аудируемость важнее гибкости</a:t>
            </a:r>
          </a:p>
        </p:txBody>
      </p:sp>
      <p:sp>
        <p:nvSpPr>
          <p:cNvPr id="14" name="Rounded Rectangle 13"/>
          <p:cNvSpPr/>
          <p:nvPr/>
        </p:nvSpPr>
        <p:spPr>
          <a:xfrm>
            <a:off x="6231636" y="3075025"/>
            <a:ext cx="5454396" cy="2530856"/>
          </a:xfrm>
          <a:prstGeom prst="roundRect">
            <a:avLst>
              <a:gd name="adj" fmla="val 12043"/>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14516" y="3184753"/>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8A6200"/>
                </a:solidFill>
                <a:latin typeface="Arial"/>
              </a:rPr>
              <a:t>ЦЕПОЧКИ НЕДОСТАТОЧНО, КОГДА</a:t>
            </a:r>
          </a:p>
        </p:txBody>
      </p:sp>
      <p:sp>
        <p:nvSpPr>
          <p:cNvPr id="16" name="TextBox 15"/>
          <p:cNvSpPr txBox="1"/>
          <p:nvPr/>
        </p:nvSpPr>
        <p:spPr>
          <a:xfrm>
            <a:off x="6414516" y="3459073"/>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шаги или их число зависят от того, что пришло на входе, и не прописываются одним списком заранее</a:t>
            </a:r>
          </a:p>
        </p:txBody>
      </p:sp>
      <p:cxnSp>
        <p:nvCxnSpPr>
          <p:cNvPr id="17" name="Connector 16"/>
          <p:cNvCxnSpPr/>
          <p:nvPr/>
        </p:nvCxnSpPr>
        <p:spPr>
          <a:xfrm>
            <a:off x="6414516" y="3950055"/>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14516" y="3950055"/>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входы разнородны настолько, что для разных групп нужны принципиально разные шаги, промпты или инструменты</a:t>
            </a:r>
          </a:p>
        </p:txBody>
      </p:sp>
      <p:cxnSp>
        <p:nvCxnSpPr>
          <p:cNvPr id="19" name="Connector 18"/>
          <p:cNvCxnSpPr/>
          <p:nvPr/>
        </p:nvCxnSpPr>
        <p:spPr>
          <a:xfrm>
            <a:off x="6414516" y="4441037"/>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14516" y="4441037"/>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решение о том, какой путь выбрать, само требует суждения модели — не формальной проверки</a:t>
            </a:r>
          </a:p>
        </p:txBody>
      </p:sp>
      <p:cxnSp>
        <p:nvCxnSpPr>
          <p:cNvPr id="21" name="Connector 20"/>
          <p:cNvCxnSpPr/>
          <p:nvPr/>
        </p:nvCxnSpPr>
        <p:spPr>
          <a:xfrm>
            <a:off x="6414516" y="4932019"/>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414516" y="4932019"/>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гибкость важнее предсказуемости, и цена ошибки это допускает</a:t>
            </a:r>
          </a:p>
        </p:txBody>
      </p:sp>
      <p:sp>
        <p:nvSpPr>
          <p:cNvPr id="23" name="TextBox 22"/>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34440" y="2842260"/>
            <a:ext cx="9692640" cy="899160"/>
          </a:xfrm>
          <a:prstGeom prst="rect">
            <a:avLst/>
          </a:prstGeom>
          <a:noFill/>
        </p:spPr>
        <p:txBody>
          <a:bodyPr wrap="square" lIns="0" rIns="0" tIns="0" bIns="0" anchor="t">
            <a:spAutoFit/>
          </a:bodyPr>
          <a:lstStyle/>
          <a:p>
            <a:pPr algn="l">
              <a:lnSpc>
                <a:spcPts val="3540"/>
              </a:lnSpc>
              <a:spcAft>
                <a:spcPts val="0"/>
              </a:spcAft>
            </a:pPr>
            <a:r>
              <a:rPr sz="3000" b="1" i="0">
                <a:solidFill>
                  <a:srgbClr val="FFFFFF"/>
                </a:solidFill>
                <a:latin typeface="Arial"/>
              </a:rPr>
              <a:t>«Цена дома — это одно число. Мы поверили, что знаем его точно»</a:t>
            </a:r>
          </a:p>
        </p:txBody>
      </p:sp>
      <p:sp>
        <p:nvSpPr>
          <p:cNvPr id="4" name="Rounded Rectangle 3"/>
          <p:cNvSpPr/>
          <p:nvPr/>
        </p:nvSpPr>
        <p:spPr>
          <a:xfrm>
            <a:off x="502920" y="5989320"/>
            <a:ext cx="3605784" cy="384048"/>
          </a:xfrm>
          <a:prstGeom prst="roundRect">
            <a:avLst>
              <a:gd name="adj" fmla="val 3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5989320"/>
            <a:ext cx="3605784"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FFFFFF"/>
                </a:solidFill>
                <a:latin typeface="Arial"/>
              </a:rPr>
              <a:t>Кейс А</a:t>
            </a:r>
          </a:p>
        </p:txBody>
      </p:sp>
      <p:sp>
        <p:nvSpPr>
          <p:cNvPr id="6" name="Rounded Rectangle 5"/>
          <p:cNvSpPr/>
          <p:nvPr/>
        </p:nvSpPr>
        <p:spPr>
          <a:xfrm>
            <a:off x="4291584" y="5989320"/>
            <a:ext cx="3605784" cy="384048"/>
          </a:xfrm>
          <a:prstGeom prst="roundRect">
            <a:avLst>
              <a:gd name="adj" fmla="val 3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291584" y="5989320"/>
            <a:ext cx="3605784" cy="384048"/>
          </a:xfrm>
          <a:prstGeom prst="rect">
            <a:avLst/>
          </a:prstGeom>
          <a:noFill/>
        </p:spPr>
        <p:txBody>
          <a:bodyPr wrap="square" lIns="0" rIns="0" tIns="0" bIns="0" anchor="ctr">
            <a:spAutoFit/>
          </a:bodyPr>
          <a:lstStyle/>
          <a:p>
            <a:pPr algn="ctr">
              <a:lnSpc>
                <a:spcPts val="1475"/>
              </a:lnSpc>
              <a:spcAft>
                <a:spcPts val="0"/>
              </a:spcAft>
            </a:pPr>
            <a:r>
              <a:rPr sz="1250" b="1" i="0">
                <a:solidFill>
                  <a:srgbClr val="21295C"/>
                </a:solidFill>
                <a:latin typeface="Arial"/>
              </a:rPr>
              <a:t>Кейс Б</a:t>
            </a:r>
          </a:p>
        </p:txBody>
      </p:sp>
      <p:sp>
        <p:nvSpPr>
          <p:cNvPr id="8" name="Rounded Rectangle 7"/>
          <p:cNvSpPr/>
          <p:nvPr/>
        </p:nvSpPr>
        <p:spPr>
          <a:xfrm>
            <a:off x="8080247" y="5989320"/>
            <a:ext cx="3605784" cy="384048"/>
          </a:xfrm>
          <a:prstGeom prst="roundRect">
            <a:avLst>
              <a:gd name="adj" fmla="val 3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80247" y="5989320"/>
            <a:ext cx="3605784"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9FAEC4"/>
                </a:solidFill>
                <a:latin typeface="Arial"/>
              </a:rPr>
              <a:t>Кейс В</a:t>
            </a:r>
          </a:p>
        </p:txBody>
      </p:sp>
      <p:sp>
        <p:nvSpPr>
          <p:cNvPr id="10" name="TextBox 9"/>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FFFFFF"/>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Zestimate без гейта перед обязывающим шагом</a:t>
            </a:r>
          </a:p>
        </p:txBody>
      </p:sp>
      <p:sp>
        <p:nvSpPr>
          <p:cNvPr id="3" name="Rounded Rectangle 2"/>
          <p:cNvSpPr/>
          <p:nvPr/>
        </p:nvSpPr>
        <p:spPr>
          <a:xfrm>
            <a:off x="502920" y="1127607"/>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255623"/>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Zestimate</a:t>
            </a:r>
            <a:r>
              <a:rPr sz="1500" b="1" i="0">
                <a:solidFill>
                  <a:srgbClr val="141B2E"/>
                </a:solidFill>
                <a:latin typeface="Arial"/>
              </a:rPr>
              <a:t> (модель, частично построена на машинном обучении) → (независимого гейта нет) → </a:t>
            </a:r>
            <a:r>
              <a:rPr sz="1500" b="1" i="0">
                <a:solidFill>
                  <a:srgbClr val="141B2E"/>
                </a:solidFill>
                <a:latin typeface="Arial"/>
              </a:rPr>
              <a:t>обязывающее денежное предложение о покупке конкретного дома</a:t>
            </a:r>
          </a:p>
        </p:txBody>
      </p:sp>
      <p:sp>
        <p:nvSpPr>
          <p:cNvPr id="5" name="Rounded Rectangle 4"/>
          <p:cNvSpPr/>
          <p:nvPr/>
        </p:nvSpPr>
        <p:spPr>
          <a:xfrm>
            <a:off x="502920" y="2499588"/>
            <a:ext cx="82296" cy="121920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2627604"/>
            <a:ext cx="10643616" cy="96316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Для обычного пользователя сайта Zestimate — ориентир, не точная цифра: сама компания годами подчёркивала, что это «компьютерный расчёт стоимости дома сегодня, на основе доступных данных», не оценка эксперта. Внутри Zillow Offers та же цифра стала первым шагом цепочки, которая заканчивалась реальным обязательством потратить реальный капитал.</a:t>
            </a:r>
          </a:p>
        </p:txBody>
      </p:sp>
      <p:sp>
        <p:nvSpPr>
          <p:cNvPr id="7" name="Rounded Rectangle 6"/>
          <p:cNvSpPr/>
          <p:nvPr/>
        </p:nvSpPr>
        <p:spPr>
          <a:xfrm>
            <a:off x="502920" y="4344009"/>
            <a:ext cx="11183112" cy="1707261"/>
          </a:xfrm>
          <a:prstGeom prst="roundRect">
            <a:avLst>
              <a:gd name="adj" fmla="val 17853"/>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4526889"/>
            <a:ext cx="5680475"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ЧЕГО НЕ БЫЛО</a:t>
            </a:r>
          </a:p>
        </p:txBody>
      </p:sp>
      <p:sp>
        <p:nvSpPr>
          <p:cNvPr id="9" name="TextBox 8"/>
          <p:cNvSpPr txBox="1"/>
          <p:nvPr/>
        </p:nvSpPr>
        <p:spPr>
          <a:xfrm>
            <a:off x="6512579" y="4526889"/>
            <a:ext cx="4844268"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ЧТО ЭТО ОЗНАЧАЛО</a:t>
            </a:r>
          </a:p>
        </p:txBody>
      </p:sp>
      <p:sp>
        <p:nvSpPr>
          <p:cNvPr id="10" name="TextBox 9"/>
          <p:cNvSpPr txBox="1"/>
          <p:nvPr/>
        </p:nvSpPr>
        <p:spPr>
          <a:xfrm>
            <a:off x="685800" y="4808956"/>
            <a:ext cx="5680475"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человека-андеррайтера с правом остановить покупку выше порога риска</a:t>
            </a:r>
          </a:p>
        </p:txBody>
      </p:sp>
      <p:sp>
        <p:nvSpPr>
          <p:cNvPr id="11" name="TextBox 10"/>
          <p:cNvSpPr txBox="1"/>
          <p:nvPr/>
        </p:nvSpPr>
        <p:spPr>
          <a:xfrm>
            <a:off x="6512579" y="4808956"/>
            <a:ext cx="4844268"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ни одна конкретная покупка не проверялась отдельно перед обязательством</a:t>
            </a:r>
          </a:p>
        </p:txBody>
      </p:sp>
      <p:cxnSp>
        <p:nvCxnSpPr>
          <p:cNvPr id="12" name="Connector 11"/>
          <p:cNvCxnSpPr/>
          <p:nvPr/>
        </p:nvCxnSpPr>
        <p:spPr>
          <a:xfrm>
            <a:off x="685800" y="5338673"/>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5338673"/>
            <a:ext cx="5680475"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автоматического предохранителя, останавливающего темп закупок при росте ошибок прогноза</a:t>
            </a:r>
          </a:p>
        </p:txBody>
      </p:sp>
      <p:sp>
        <p:nvSpPr>
          <p:cNvPr id="14" name="TextBox 13"/>
          <p:cNvSpPr txBox="1"/>
          <p:nvPr/>
        </p:nvSpPr>
        <p:spPr>
          <a:xfrm>
            <a:off x="6512579" y="5338673"/>
            <a:ext cx="4844268"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частота ошибок могла расти без торможения всего процесса</a:t>
            </a:r>
          </a:p>
        </p:txBody>
      </p:sp>
      <p:sp>
        <p:nvSpPr>
          <p:cNvPr id="15" name="TextBox 14"/>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$304,4 млн за квартал, $407,9 млн за год</a:t>
            </a:r>
          </a:p>
        </p:txBody>
      </p:sp>
      <p:sp>
        <p:nvSpPr>
          <p:cNvPr id="3" name="Rounded Rectangle 2"/>
          <p:cNvSpPr/>
          <p:nvPr/>
        </p:nvSpPr>
        <p:spPr>
          <a:xfrm>
            <a:off x="502920" y="962008"/>
            <a:ext cx="11183112" cy="2949257"/>
          </a:xfrm>
          <a:prstGeom prst="roundRect">
            <a:avLst>
              <a:gd name="adj" fmla="val 10334"/>
            </a:avLst>
          </a:prstGeom>
          <a:solidFill>
            <a:srgbClr val="FFFFFF"/>
          </a:solidFill>
          <a:ln w="17780">
            <a:solidFill>
              <a:srgbClr val="8A62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21208" y="1053448"/>
            <a:ext cx="68580" cy="2766377"/>
          </a:xfrm>
          <a:prstGeom prst="roundRect">
            <a:avLst>
              <a:gd name="adj" fmla="val 50000"/>
            </a:avLst>
          </a:prstGeom>
          <a:solidFill>
            <a:srgbClr val="8A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144888"/>
            <a:ext cx="848739" cy="282067"/>
          </a:xfrm>
          <a:prstGeom prst="rect">
            <a:avLst/>
          </a:prstGeom>
          <a:noFill/>
        </p:spPr>
        <p:txBody>
          <a:bodyPr wrap="square" lIns="0" rIns="0" tIns="0" bIns="0" anchor="t">
            <a:spAutoFit/>
          </a:bodyPr>
          <a:lstStyle/>
          <a:p>
            <a:pPr algn="l">
              <a:lnSpc>
                <a:spcPts val="1265"/>
              </a:lnSpc>
              <a:spcAft>
                <a:spcPts val="0"/>
              </a:spcAft>
            </a:pPr>
            <a:r>
              <a:rPr sz="1150" b="1" i="0">
                <a:solidFill>
                  <a:srgbClr val="8A6200"/>
                </a:solidFill>
                <a:latin typeface="Arial"/>
              </a:rPr>
              <a:t>ЦИФРА</a:t>
            </a:r>
          </a:p>
        </p:txBody>
      </p:sp>
      <p:sp>
        <p:nvSpPr>
          <p:cNvPr id="6" name="TextBox 5"/>
          <p:cNvSpPr txBox="1"/>
          <p:nvPr/>
        </p:nvSpPr>
        <p:spPr>
          <a:xfrm>
            <a:off x="1680843" y="1144888"/>
            <a:ext cx="9676004" cy="282067"/>
          </a:xfrm>
          <a:prstGeom prst="rect">
            <a:avLst/>
          </a:prstGeom>
          <a:noFill/>
        </p:spPr>
        <p:txBody>
          <a:bodyPr wrap="square" lIns="0" rIns="0" tIns="0" bIns="0" anchor="t">
            <a:spAutoFit/>
          </a:bodyPr>
          <a:lstStyle/>
          <a:p>
            <a:pPr algn="l">
              <a:lnSpc>
                <a:spcPts val="1265"/>
              </a:lnSpc>
              <a:spcAft>
                <a:spcPts val="0"/>
              </a:spcAft>
            </a:pPr>
            <a:r>
              <a:rPr sz="1150" b="1" i="0">
                <a:solidFill>
                  <a:srgbClr val="8A6200"/>
                </a:solidFill>
                <a:latin typeface="Arial"/>
              </a:rPr>
              <a:t>ЧТО ОНА ЗНАЧИТ</a:t>
            </a:r>
          </a:p>
        </p:txBody>
      </p:sp>
      <p:sp>
        <p:nvSpPr>
          <p:cNvPr id="7" name="TextBox 6"/>
          <p:cNvSpPr txBox="1"/>
          <p:nvPr/>
        </p:nvSpPr>
        <p:spPr>
          <a:xfrm>
            <a:off x="685800" y="1426955"/>
            <a:ext cx="848739" cy="529717"/>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$304,4 млн</a:t>
            </a:r>
          </a:p>
        </p:txBody>
      </p:sp>
      <p:sp>
        <p:nvSpPr>
          <p:cNvPr id="8" name="TextBox 7"/>
          <p:cNvSpPr txBox="1"/>
          <p:nvPr/>
        </p:nvSpPr>
        <p:spPr>
          <a:xfrm>
            <a:off x="1680843" y="1426955"/>
            <a:ext cx="9676004"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списание запасов за третий квартал 2021 года (CNN, 9 ноября 2021) — компания связала его с тем, что купленные дома стоят дороже, чем их можно сейчас продать</a:t>
            </a:r>
          </a:p>
        </p:txBody>
      </p:sp>
      <p:cxnSp>
        <p:nvCxnSpPr>
          <p:cNvPr id="9" name="Connector 8"/>
          <p:cNvCxnSpPr/>
          <p:nvPr/>
        </p:nvCxnSpPr>
        <p:spPr>
          <a:xfrm>
            <a:off x="685800" y="1956672"/>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85800" y="1956672"/>
            <a:ext cx="848739" cy="529717"/>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$407,9 млн</a:t>
            </a:r>
          </a:p>
        </p:txBody>
      </p:sp>
      <p:sp>
        <p:nvSpPr>
          <p:cNvPr id="11" name="TextBox 10"/>
          <p:cNvSpPr txBox="1"/>
          <p:nvPr/>
        </p:nvSpPr>
        <p:spPr>
          <a:xfrm>
            <a:off x="1680843" y="1956672"/>
            <a:ext cx="9676004"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списание по итогам всего 2021 года (форма 10-K перед SEC) — более полная цифра, чем квартальная</a:t>
            </a:r>
          </a:p>
        </p:txBody>
      </p:sp>
      <p:cxnSp>
        <p:nvCxnSpPr>
          <p:cNvPr id="12" name="Connector 11"/>
          <p:cNvCxnSpPr/>
          <p:nvPr/>
        </p:nvCxnSpPr>
        <p:spPr>
          <a:xfrm>
            <a:off x="685800" y="2486389"/>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2486389"/>
            <a:ext cx="848739" cy="529717"/>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2000 / 25%</a:t>
            </a:r>
          </a:p>
        </p:txBody>
      </p:sp>
      <p:sp>
        <p:nvSpPr>
          <p:cNvPr id="14" name="TextBox 13"/>
          <p:cNvSpPr txBox="1"/>
          <p:nvPr/>
        </p:nvSpPr>
        <p:spPr>
          <a:xfrm>
            <a:off x="1680843" y="2486389"/>
            <a:ext cx="9676004"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сокращённые рабочие места при закрытии Zillow Offers (объявлено 2 ноября 2021)</a:t>
            </a:r>
          </a:p>
        </p:txBody>
      </p:sp>
      <p:cxnSp>
        <p:nvCxnSpPr>
          <p:cNvPr id="15" name="Connector 14"/>
          <p:cNvCxnSpPr/>
          <p:nvPr/>
        </p:nvCxnSpPr>
        <p:spPr>
          <a:xfrm>
            <a:off x="685800" y="301610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85800" y="3016106"/>
            <a:ext cx="848739" cy="712279"/>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27% против ~6%</a:t>
            </a:r>
          </a:p>
        </p:txBody>
      </p:sp>
      <p:sp>
        <p:nvSpPr>
          <p:cNvPr id="17" name="TextBox 16"/>
          <p:cNvSpPr txBox="1"/>
          <p:nvPr/>
        </p:nvSpPr>
        <p:spPr>
          <a:xfrm>
            <a:off x="1680843" y="3016106"/>
            <a:ext cx="9676004"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в Остине: цена покупки домов Zillow подразумевала такой годовой рост за 4 года — против фактического роста по индексу Case-Shiller (анализ Bank of America, Fortune, 3 ноября 2021)</a:t>
            </a:r>
          </a:p>
        </p:txBody>
      </p:sp>
      <p:sp>
        <p:nvSpPr>
          <p:cNvPr id="18" name="Rounded Rectangle 17"/>
          <p:cNvSpPr/>
          <p:nvPr/>
        </p:nvSpPr>
        <p:spPr>
          <a:xfrm>
            <a:off x="502920" y="4122487"/>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9536" y="4250503"/>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Генеральный директор Рич Бартон: «непредсказуемость прогнозирования цен на жильё» «намного превысила» то, что компания ожидала (CNN).</a:t>
            </a:r>
          </a:p>
        </p:txBody>
      </p:sp>
      <p:sp>
        <p:nvSpPr>
          <p:cNvPr id="20" name="Rounded Rectangle 19"/>
          <p:cNvSpPr/>
          <p:nvPr/>
        </p:nvSpPr>
        <p:spPr>
          <a:xfrm>
            <a:off x="502920" y="5080469"/>
            <a:ext cx="82296" cy="121920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5208485"/>
            <a:ext cx="10643616" cy="96316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Тот же инцидент уже разбирала Лекция 5 — там через рамку мониторинга жизненного цикла модели: не было постоянного отслеживания в реальном времени дрейфа точности прогноза с автоматическим предохранителем. Здесь — тот же случай под другим вопросом: где в цепочке шагов пропущен гейт перед необратимым действием.</a:t>
            </a:r>
          </a:p>
        </p:txBody>
      </p:sp>
      <p:sp>
        <p:nvSpPr>
          <p:cNvPr id="22" name="TextBox 21"/>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Цена и обратимость решают, где ставить гейт</a:t>
            </a:r>
          </a:p>
        </p:txBody>
      </p:sp>
      <p:sp>
        <p:nvSpPr>
          <p:cNvPr id="3" name="Rounded Rectangle 2"/>
          <p:cNvSpPr/>
          <p:nvPr/>
        </p:nvSpPr>
        <p:spPr>
          <a:xfrm>
            <a:off x="502920" y="1447596"/>
            <a:ext cx="11183112" cy="2236977"/>
          </a:xfrm>
          <a:prstGeom prst="roundRect">
            <a:avLst>
              <a:gd name="adj" fmla="val 13625"/>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630476"/>
            <a:ext cx="2860650"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
            </a:r>
          </a:p>
        </p:txBody>
      </p:sp>
      <p:sp>
        <p:nvSpPr>
          <p:cNvPr id="5" name="TextBox 4"/>
          <p:cNvSpPr txBox="1"/>
          <p:nvPr/>
        </p:nvSpPr>
        <p:spPr>
          <a:xfrm>
            <a:off x="3692754" y="1630476"/>
            <a:ext cx="3375926"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ПИСЬМО (КЕЙС A)</a:t>
            </a:r>
          </a:p>
        </p:txBody>
      </p:sp>
      <p:sp>
        <p:nvSpPr>
          <p:cNvPr id="6" name="TextBox 5"/>
          <p:cNvSpPr txBox="1"/>
          <p:nvPr/>
        </p:nvSpPr>
        <p:spPr>
          <a:xfrm>
            <a:off x="7214984" y="1630476"/>
            <a:ext cx="4141863"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ПОКУПКА ДОМА (КЕЙС B)</a:t>
            </a:r>
          </a:p>
        </p:txBody>
      </p:sp>
      <p:sp>
        <p:nvSpPr>
          <p:cNvPr id="7" name="TextBox 6"/>
          <p:cNvSpPr txBox="1"/>
          <p:nvPr/>
        </p:nvSpPr>
        <p:spPr>
          <a:xfrm>
            <a:off x="685800" y="1912543"/>
            <a:ext cx="2860650"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Что произойдёт после непроверенного шага</a:t>
            </a:r>
          </a:p>
        </p:txBody>
      </p:sp>
      <p:sp>
        <p:nvSpPr>
          <p:cNvPr id="8" name="TextBox 7"/>
          <p:cNvSpPr txBox="1"/>
          <p:nvPr/>
        </p:nvSpPr>
        <p:spPr>
          <a:xfrm>
            <a:off x="3692754" y="1912543"/>
            <a:ext cx="3375926"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черновик, который прочитает человек</a:t>
            </a:r>
          </a:p>
        </p:txBody>
      </p:sp>
      <p:sp>
        <p:nvSpPr>
          <p:cNvPr id="9" name="TextBox 8"/>
          <p:cNvSpPr txBox="1"/>
          <p:nvPr/>
        </p:nvSpPr>
        <p:spPr>
          <a:xfrm>
            <a:off x="7214984" y="1912543"/>
            <a:ext cx="4141863"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обязывающее денежное предложение</a:t>
            </a:r>
          </a:p>
        </p:txBody>
      </p:sp>
      <p:cxnSp>
        <p:nvCxnSpPr>
          <p:cNvPr id="10" name="Connector 9"/>
          <p:cNvCxnSpPr/>
          <p:nvPr/>
        </p:nvCxnSpPr>
        <p:spPr>
          <a:xfrm>
            <a:off x="685800" y="244226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2442260"/>
            <a:ext cx="2860650"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Можно ли отменить одним действием</a:t>
            </a:r>
          </a:p>
        </p:txBody>
      </p:sp>
      <p:sp>
        <p:nvSpPr>
          <p:cNvPr id="12" name="TextBox 11"/>
          <p:cNvSpPr txBox="1"/>
          <p:nvPr/>
        </p:nvSpPr>
        <p:spPr>
          <a:xfrm>
            <a:off x="3692754" y="2442260"/>
            <a:ext cx="3375926"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да — переписать, отправить заново</a:t>
            </a:r>
          </a:p>
        </p:txBody>
      </p:sp>
      <p:sp>
        <p:nvSpPr>
          <p:cNvPr id="13" name="TextBox 12"/>
          <p:cNvSpPr txBox="1"/>
          <p:nvPr/>
        </p:nvSpPr>
        <p:spPr>
          <a:xfrm>
            <a:off x="7214984" y="2442260"/>
            <a:ext cx="4141863"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нет — многомесячная перепродажа с убытком или списание</a:t>
            </a:r>
          </a:p>
        </p:txBody>
      </p:sp>
      <p:cxnSp>
        <p:nvCxnSpPr>
          <p:cNvPr id="14" name="Connector 13"/>
          <p:cNvCxnSpPr/>
          <p:nvPr/>
        </p:nvCxnSpPr>
        <p:spPr>
          <a:xfrm>
            <a:off x="685800" y="297197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2971977"/>
            <a:ext cx="2860650"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Цена пропущенной проверки</a:t>
            </a:r>
          </a:p>
        </p:txBody>
      </p:sp>
      <p:sp>
        <p:nvSpPr>
          <p:cNvPr id="16" name="TextBox 15"/>
          <p:cNvSpPr txBox="1"/>
          <p:nvPr/>
        </p:nvSpPr>
        <p:spPr>
          <a:xfrm>
            <a:off x="3692754" y="2971977"/>
            <a:ext cx="3375926"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потерянное время, недовольный клиент</a:t>
            </a:r>
          </a:p>
        </p:txBody>
      </p:sp>
      <p:sp>
        <p:nvSpPr>
          <p:cNvPr id="17" name="TextBox 16"/>
          <p:cNvSpPr txBox="1"/>
          <p:nvPr/>
        </p:nvSpPr>
        <p:spPr>
          <a:xfrm>
            <a:off x="7214984" y="2971977"/>
            <a:ext cx="4141863"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сотни миллионов долларов списания</a:t>
            </a:r>
          </a:p>
        </p:txBody>
      </p:sp>
      <p:sp>
        <p:nvSpPr>
          <p:cNvPr id="18" name="Rounded Rectangle 17"/>
          <p:cNvSpPr/>
          <p:nvPr/>
        </p:nvSpPr>
        <p:spPr>
          <a:xfrm>
            <a:off x="502920" y="4352086"/>
            <a:ext cx="82296" cy="121920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9536" y="4480102"/>
            <a:ext cx="10643616" cy="96316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Это не довод против автоматической оценки стоимости как инструмента вообще — оценка как входной сигнал для решения человека остаётся уместным применением, и Zillow продолжает показывать Zestimate на сайте как ориентир. Довод — против того, чтобы автоматическая оценка сама запускала обязывающее, труднообратимое действие без независимого промежуточного гейта.</a:t>
            </a:r>
          </a:p>
        </p:txBody>
      </p:sp>
      <p:sp>
        <p:nvSpPr>
          <p:cNvPr id="20" name="TextBox 19"/>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34440" y="2394966"/>
            <a:ext cx="9692640" cy="899160"/>
          </a:xfrm>
          <a:prstGeom prst="rect">
            <a:avLst/>
          </a:prstGeom>
          <a:noFill/>
        </p:spPr>
        <p:txBody>
          <a:bodyPr wrap="square" lIns="0" rIns="0" tIns="0" bIns="0" anchor="t">
            <a:spAutoFit/>
          </a:bodyPr>
          <a:lstStyle/>
          <a:p>
            <a:pPr algn="l">
              <a:lnSpc>
                <a:spcPts val="3540"/>
              </a:lnSpc>
              <a:spcAft>
                <a:spcPts val="0"/>
              </a:spcAft>
            </a:pPr>
            <a:r>
              <a:rPr sz="3000" b="1" i="0">
                <a:solidFill>
                  <a:srgbClr val="FFFFFF"/>
                </a:solidFill>
                <a:latin typeface="Arial"/>
              </a:rPr>
              <a:t>«Чтобы поменять одну мелкую деталь — пять слоёв абстракции»</a:t>
            </a:r>
          </a:p>
        </p:txBody>
      </p:sp>
      <p:sp>
        <p:nvSpPr>
          <p:cNvPr id="4" name="TextBox 3"/>
          <p:cNvSpPr txBox="1"/>
          <p:nvPr/>
        </p:nvSpPr>
        <p:spPr>
          <a:xfrm>
            <a:off x="1234440" y="3477006"/>
            <a:ext cx="9692640" cy="894588"/>
          </a:xfrm>
          <a:prstGeom prst="rect">
            <a:avLst/>
          </a:prstGeom>
          <a:noFill/>
        </p:spPr>
        <p:txBody>
          <a:bodyPr wrap="square" lIns="0" rIns="0" tIns="0" bIns="0" anchor="t">
            <a:spAutoFit/>
          </a:bodyPr>
          <a:lstStyle/>
          <a:p>
            <a:pPr algn="l">
              <a:lnSpc>
                <a:spcPts val="1820"/>
              </a:lnSpc>
              <a:spcAft>
                <a:spcPts val="0"/>
              </a:spcAft>
            </a:pPr>
            <a:r>
              <a:rPr sz="1400" b="0" i="1">
                <a:solidFill>
                  <a:srgbClr val="9FAEC4"/>
                </a:solidFill>
                <a:latin typeface="Arial"/>
              </a:rPr>
              <a:t>(один из самых поддержанных комментариев в обсуждении на Hacker News — независимое подтверждение того же симптома тем же сообществом, которое читало исходный материал, не цитата из самого разбираемого поста)</a:t>
            </a:r>
          </a:p>
        </p:txBody>
      </p:sp>
      <p:sp>
        <p:nvSpPr>
          <p:cNvPr id="5" name="Rounded Rectangle 4"/>
          <p:cNvSpPr/>
          <p:nvPr/>
        </p:nvSpPr>
        <p:spPr>
          <a:xfrm>
            <a:off x="502920" y="5989320"/>
            <a:ext cx="3605784" cy="384048"/>
          </a:xfrm>
          <a:prstGeom prst="roundRect">
            <a:avLst>
              <a:gd name="adj" fmla="val 3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5989320"/>
            <a:ext cx="3605784"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FFFFFF"/>
                </a:solidFill>
                <a:latin typeface="Arial"/>
              </a:rPr>
              <a:t>Кейс А</a:t>
            </a:r>
          </a:p>
        </p:txBody>
      </p:sp>
      <p:sp>
        <p:nvSpPr>
          <p:cNvPr id="7" name="Rounded Rectangle 6"/>
          <p:cNvSpPr/>
          <p:nvPr/>
        </p:nvSpPr>
        <p:spPr>
          <a:xfrm>
            <a:off x="4291584" y="5989320"/>
            <a:ext cx="3605784" cy="384048"/>
          </a:xfrm>
          <a:prstGeom prst="roundRect">
            <a:avLst>
              <a:gd name="adj" fmla="val 3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91584" y="5989320"/>
            <a:ext cx="3605784"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FFFFFF"/>
                </a:solidFill>
                <a:latin typeface="Arial"/>
              </a:rPr>
              <a:t>Кейс Б</a:t>
            </a:r>
          </a:p>
        </p:txBody>
      </p:sp>
      <p:sp>
        <p:nvSpPr>
          <p:cNvPr id="9" name="Rounded Rectangle 8"/>
          <p:cNvSpPr/>
          <p:nvPr/>
        </p:nvSpPr>
        <p:spPr>
          <a:xfrm>
            <a:off x="8080247" y="5989320"/>
            <a:ext cx="3605784" cy="384048"/>
          </a:xfrm>
          <a:prstGeom prst="roundRect">
            <a:avLst>
              <a:gd name="adj" fmla="val 3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80247" y="5989320"/>
            <a:ext cx="3605784" cy="384048"/>
          </a:xfrm>
          <a:prstGeom prst="rect">
            <a:avLst/>
          </a:prstGeom>
          <a:noFill/>
        </p:spPr>
        <p:txBody>
          <a:bodyPr wrap="square" lIns="0" rIns="0" tIns="0" bIns="0" anchor="ctr">
            <a:spAutoFit/>
          </a:bodyPr>
          <a:lstStyle/>
          <a:p>
            <a:pPr algn="ctr">
              <a:lnSpc>
                <a:spcPts val="1475"/>
              </a:lnSpc>
              <a:spcAft>
                <a:spcPts val="0"/>
              </a:spcAft>
            </a:pPr>
            <a:r>
              <a:rPr sz="1250" b="1" i="0">
                <a:solidFill>
                  <a:srgbClr val="21295C"/>
                </a:solidFill>
                <a:latin typeface="Arial"/>
              </a:rPr>
              <a:t>Кейс В</a:t>
            </a:r>
          </a:p>
        </p:txBody>
      </p:sp>
      <p:sp>
        <p:nvSpPr>
          <p:cNvPr id="11" name="TextBox 10"/>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FFFFFF"/>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«We could just code»</a:t>
            </a:r>
          </a:p>
        </p:txBody>
      </p:sp>
      <p:sp>
        <p:nvSpPr>
          <p:cNvPr id="3" name="Rounded Rectangle 2"/>
          <p:cNvSpPr/>
          <p:nvPr/>
        </p:nvSpPr>
        <p:spPr>
          <a:xfrm>
            <a:off x="502920" y="1056978"/>
            <a:ext cx="11183112" cy="2236977"/>
          </a:xfrm>
          <a:prstGeom prst="roundRect">
            <a:avLst>
              <a:gd name="adj" fmla="val 13625"/>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39858"/>
            <a:ext cx="3611764"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
            </a:r>
          </a:p>
        </p:txBody>
      </p:sp>
      <p:sp>
        <p:nvSpPr>
          <p:cNvPr id="5" name="TextBox 4"/>
          <p:cNvSpPr txBox="1"/>
          <p:nvPr/>
        </p:nvSpPr>
        <p:spPr>
          <a:xfrm>
            <a:off x="4443868" y="1239858"/>
            <a:ext cx="1758923"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ПРЯМОЙ ВЫЗОВ API</a:t>
            </a:r>
          </a:p>
        </p:txBody>
      </p:sp>
      <p:sp>
        <p:nvSpPr>
          <p:cNvPr id="6" name="TextBox 5"/>
          <p:cNvSpPr txBox="1"/>
          <p:nvPr/>
        </p:nvSpPr>
        <p:spPr>
          <a:xfrm>
            <a:off x="6349096" y="1239858"/>
            <a:ext cx="5007751"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LANGCHAIN</a:t>
            </a:r>
          </a:p>
        </p:txBody>
      </p:sp>
      <p:sp>
        <p:nvSpPr>
          <p:cNvPr id="7" name="TextBox 6"/>
          <p:cNvSpPr txBox="1"/>
          <p:nvPr/>
        </p:nvSpPr>
        <p:spPr>
          <a:xfrm>
            <a:off x="685800" y="1521925"/>
            <a:ext cx="3611764"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Пример: перевести слово на другой язык</a:t>
            </a:r>
          </a:p>
        </p:txBody>
      </p:sp>
      <p:sp>
        <p:nvSpPr>
          <p:cNvPr id="8" name="TextBox 7"/>
          <p:cNvSpPr txBox="1"/>
          <p:nvPr/>
        </p:nvSpPr>
        <p:spPr>
          <a:xfrm>
            <a:off x="4443868" y="1521925"/>
            <a:ext cx="1758923"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1 класс, 1 вызов функции</a:t>
            </a:r>
          </a:p>
        </p:txBody>
      </p:sp>
      <p:sp>
        <p:nvSpPr>
          <p:cNvPr id="9" name="TextBox 8"/>
          <p:cNvSpPr txBox="1"/>
          <p:nvPr/>
        </p:nvSpPr>
        <p:spPr>
          <a:xfrm>
            <a:off x="6349096" y="1521925"/>
            <a:ext cx="5007751"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3 класса, 4 вызова</a:t>
            </a:r>
          </a:p>
        </p:txBody>
      </p:sp>
      <p:cxnSp>
        <p:nvCxnSpPr>
          <p:cNvPr id="10" name="Connector 9"/>
          <p:cNvCxnSpPr/>
          <p:nvPr/>
        </p:nvCxnSpPr>
        <p:spPr>
          <a:xfrm>
            <a:off x="685800" y="2051642"/>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2051642"/>
            <a:ext cx="3611764"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Новые понятия на том же действии</a:t>
            </a:r>
          </a:p>
        </p:txBody>
      </p:sp>
      <p:sp>
        <p:nvSpPr>
          <p:cNvPr id="12" name="TextBox 11"/>
          <p:cNvSpPr txBox="1"/>
          <p:nvPr/>
        </p:nvSpPr>
        <p:spPr>
          <a:xfrm>
            <a:off x="4443868" y="2051642"/>
            <a:ext cx="1758923"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0</a:t>
            </a:r>
          </a:p>
        </p:txBody>
      </p:sp>
      <p:sp>
        <p:nvSpPr>
          <p:cNvPr id="13" name="TextBox 12"/>
          <p:cNvSpPr txBox="1"/>
          <p:nvPr/>
        </p:nvSpPr>
        <p:spPr>
          <a:xfrm>
            <a:off x="6349096" y="2051642"/>
            <a:ext cx="5007751"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3 — шаблон промпта, парсер вывода, «цепочка» (переопределяет </a:t>
            </a:r>
            <a:r>
              <a:rPr sz="1250" b="0" i="0">
                <a:solidFill>
                  <a:srgbClr val="141B2E"/>
                </a:solidFill>
                <a:latin typeface="Consolas"/>
              </a:rPr>
              <a:t>|</a:t>
            </a:r>
            <a:r>
              <a:rPr sz="1250" b="0" i="0">
                <a:solidFill>
                  <a:srgbClr val="141B2E"/>
                </a:solidFill>
                <a:latin typeface="Arial"/>
              </a:rPr>
              <a:t> самого Python)</a:t>
            </a:r>
          </a:p>
        </p:txBody>
      </p:sp>
      <p:cxnSp>
        <p:nvCxnSpPr>
          <p:cNvPr id="14" name="Connector 13"/>
          <p:cNvCxnSpPr/>
          <p:nvPr/>
        </p:nvCxnSpPr>
        <p:spPr>
          <a:xfrm>
            <a:off x="685800" y="2581359"/>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2581359"/>
            <a:ext cx="3611764"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Наблюдение за состоянием агента между шагами</a:t>
            </a:r>
          </a:p>
        </p:txBody>
      </p:sp>
      <p:sp>
        <p:nvSpPr>
          <p:cNvPr id="16" name="TextBox 15"/>
          <p:cNvSpPr txBox="1"/>
          <p:nvPr/>
        </p:nvSpPr>
        <p:spPr>
          <a:xfrm>
            <a:off x="4443868" y="2581359"/>
            <a:ext cx="1758923"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доступно напрямую</a:t>
            </a:r>
          </a:p>
        </p:txBody>
      </p:sp>
      <p:sp>
        <p:nvSpPr>
          <p:cNvPr id="17" name="TextBox 16"/>
          <p:cNvSpPr txBox="1"/>
          <p:nvPr/>
        </p:nvSpPr>
        <p:spPr>
          <a:xfrm>
            <a:off x="6349096" y="2581359"/>
            <a:ext cx="5007751"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Consolas"/>
              </a:rPr>
              <a:t>AgentExecutor</a:t>
            </a:r>
            <a:r>
              <a:rPr sz="1250" b="0" i="0">
                <a:solidFill>
                  <a:srgbClr val="141B2E"/>
                </a:solidFill>
                <a:latin typeface="Arial"/>
              </a:rPr>
              <a:t> непрозрачен — не предоставляет способа</a:t>
            </a:r>
          </a:p>
        </p:txBody>
      </p:sp>
      <p:sp>
        <p:nvSpPr>
          <p:cNvPr id="18" name="Rounded Rectangle 17"/>
          <p:cNvSpPr/>
          <p:nvPr/>
        </p:nvSpPr>
        <p:spPr>
          <a:xfrm>
            <a:off x="502920" y="3742605"/>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9536" y="3870621"/>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Решение команды: вынести фреймворк целиком, заменить прямыми вызовами API и обычным кодом. </a:t>
            </a:r>
            <a:r>
              <a:rPr sz="1500" b="1" i="0">
                <a:solidFill>
                  <a:srgbClr val="141B2E"/>
                </a:solidFill>
                <a:latin typeface="Arial"/>
              </a:rPr>
              <a:t>«We could just code»</a:t>
            </a:r>
            <a:r>
              <a:rPr sz="1500" b="1" i="0">
                <a:solidFill>
                  <a:srgbClr val="141B2E"/>
                </a:solidFill>
                <a:latin typeface="Arial"/>
              </a:rPr>
              <a:t> — «мы могли просто написать код».</a:t>
            </a:r>
          </a:p>
        </p:txBody>
      </p:sp>
      <p:sp>
        <p:nvSpPr>
          <p:cNvPr id="20" name="Rounded Rectangle 19"/>
          <p:cNvSpPr/>
          <p:nvPr/>
        </p:nvSpPr>
        <p:spPr>
          <a:xfrm>
            <a:off x="502920" y="4938014"/>
            <a:ext cx="82296" cy="121920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5066029"/>
            <a:ext cx="10643616" cy="96316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Обсуждение на Hacker News (20 июня 2024): </a:t>
            </a:r>
            <a:r>
              <a:rPr sz="1500" b="1" i="0">
                <a:solidFill>
                  <a:srgbClr val="141B2E"/>
                </a:solidFill>
                <a:latin typeface="Arial"/>
              </a:rPr>
              <a:t>480 очков, 297 комментариев</a:t>
            </a:r>
            <a:r>
              <a:rPr sz="1500" b="1" i="0">
                <a:solidFill>
                  <a:srgbClr val="141B2E"/>
                </a:solidFill>
                <a:latin typeface="Arial"/>
              </a:rPr>
              <a:t>. Один из самых поддержанных — независимо подтвердил тот же опыт на трёх разных компаниях: «стоит сделать что-то чуть более оригинальное — и приходится проходить сквозь пять слоёв абстракции, чтобы поменять одну мелкую деталь».</a:t>
            </a:r>
          </a:p>
        </p:txBody>
      </p:sp>
      <p:sp>
        <p:nvSpPr>
          <p:cNvPr id="22" name="TextBox 21"/>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Простой код оказался достаточен с самого начала</a:t>
            </a:r>
          </a:p>
        </p:txBody>
      </p:sp>
      <p:sp>
        <p:nvSpPr>
          <p:cNvPr id="3" name="Rounded Rectangle 2"/>
          <p:cNvSpPr/>
          <p:nvPr/>
        </p:nvSpPr>
        <p:spPr>
          <a:xfrm>
            <a:off x="502920" y="1126947"/>
            <a:ext cx="11183112" cy="1871852"/>
          </a:xfrm>
          <a:prstGeom prst="roundRect">
            <a:avLst>
              <a:gd name="adj" fmla="val 16283"/>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09827"/>
            <a:ext cx="610910"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КЕЙС</a:t>
            </a:r>
          </a:p>
        </p:txBody>
      </p:sp>
      <p:sp>
        <p:nvSpPr>
          <p:cNvPr id="5" name="TextBox 4"/>
          <p:cNvSpPr txBox="1"/>
          <p:nvPr/>
        </p:nvSpPr>
        <p:spPr>
          <a:xfrm>
            <a:off x="1443014" y="1309827"/>
            <a:ext cx="9913833"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ПОВОРОТ</a:t>
            </a:r>
          </a:p>
        </p:txBody>
      </p:sp>
      <p:sp>
        <p:nvSpPr>
          <p:cNvPr id="6" name="TextBox 5"/>
          <p:cNvSpPr txBox="1"/>
          <p:nvPr/>
        </p:nvSpPr>
        <p:spPr>
          <a:xfrm>
            <a:off x="685800" y="1591894"/>
            <a:ext cx="610910"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A</a:t>
            </a:r>
          </a:p>
        </p:txBody>
      </p:sp>
      <p:sp>
        <p:nvSpPr>
          <p:cNvPr id="7" name="TextBox 6"/>
          <p:cNvSpPr txBox="1"/>
          <p:nvPr/>
        </p:nvSpPr>
        <p:spPr>
          <a:xfrm>
            <a:off x="1443014" y="1591894"/>
            <a:ext cx="9913833"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где цепочки достаточно, и что именно ломает её, если сэкономить на проверке между шагами</a:t>
            </a:r>
          </a:p>
        </p:txBody>
      </p:sp>
      <p:cxnSp>
        <p:nvCxnSpPr>
          <p:cNvPr id="8" name="Connector 7"/>
          <p:cNvCxnSpPr/>
          <p:nvPr/>
        </p:nvCxnSpPr>
        <p:spPr>
          <a:xfrm>
            <a:off x="685800" y="193904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1939048"/>
            <a:ext cx="610910"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B</a:t>
            </a:r>
          </a:p>
        </p:txBody>
      </p:sp>
      <p:sp>
        <p:nvSpPr>
          <p:cNvPr id="10" name="TextBox 9"/>
          <p:cNvSpPr txBox="1"/>
          <p:nvPr/>
        </p:nvSpPr>
        <p:spPr>
          <a:xfrm>
            <a:off x="1443014" y="1939048"/>
            <a:ext cx="9913833"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во что превращается та же экономия, когда шаг после непроверенного результата — необратимое и дорогое действие</a:t>
            </a:r>
          </a:p>
        </p:txBody>
      </p:sp>
      <p:cxnSp>
        <p:nvCxnSpPr>
          <p:cNvPr id="11" name="Connector 10"/>
          <p:cNvCxnSpPr/>
          <p:nvPr/>
        </p:nvCxnSpPr>
        <p:spPr>
          <a:xfrm>
            <a:off x="685800" y="2468765"/>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468765"/>
            <a:ext cx="610910"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C</a:t>
            </a:r>
          </a:p>
        </p:txBody>
      </p:sp>
      <p:sp>
        <p:nvSpPr>
          <p:cNvPr id="13" name="TextBox 12"/>
          <p:cNvSpPr txBox="1"/>
          <p:nvPr/>
        </p:nvSpPr>
        <p:spPr>
          <a:xfrm>
            <a:off x="1443014" y="2468765"/>
            <a:ext cx="9913833"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что происходит, когда сверху добавляют сложность, которую сама задача не требовала</a:t>
            </a:r>
          </a:p>
        </p:txBody>
      </p:sp>
      <p:sp>
        <p:nvSpPr>
          <p:cNvPr id="14" name="Rounded Rectangle 13"/>
          <p:cNvSpPr/>
          <p:nvPr/>
        </p:nvSpPr>
        <p:spPr>
          <a:xfrm>
            <a:off x="502920" y="3622370"/>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3750386"/>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Anthropic, Building Effective Agents (2024): «найди простейшее решение» — начинай с прямых вызовов API, бери фреймворк только тогда, когда он доказанно снимает реальную сложность, не по умолчанию.</a:t>
            </a:r>
          </a:p>
        </p:txBody>
      </p:sp>
      <p:sp>
        <p:nvSpPr>
          <p:cNvPr id="16" name="Rounded Rectangle 15"/>
          <p:cNvSpPr/>
          <p:nvPr/>
        </p:nvSpPr>
        <p:spPr>
          <a:xfrm>
            <a:off x="502920" y="4992700"/>
            <a:ext cx="11183112" cy="1059561"/>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 y="5120716"/>
            <a:ext cx="10634472" cy="8035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Что делать, если входы, приходящие в одну и ту же точку, относятся к принципиально разным группам обработки, не к одной, — и единственный фиксированный порядок шагов не может одинаково хорошо подойти им всем?</a:t>
            </a:r>
          </a:p>
        </p:txBody>
      </p:sp>
      <p:sp>
        <p:nvSpPr>
          <p:cNvPr id="18" name="TextBox 1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34440" y="2619756"/>
            <a:ext cx="9692640" cy="449580"/>
          </a:xfrm>
          <a:prstGeom prst="rect">
            <a:avLst/>
          </a:prstGeom>
          <a:noFill/>
        </p:spPr>
        <p:txBody>
          <a:bodyPr wrap="square" lIns="0" rIns="0" tIns="0" bIns="0" anchor="t">
            <a:spAutoFit/>
          </a:bodyPr>
          <a:lstStyle/>
          <a:p>
            <a:pPr algn="l">
              <a:lnSpc>
                <a:spcPts val="3540"/>
              </a:lnSpc>
              <a:spcAft>
                <a:spcPts val="0"/>
              </a:spcAft>
            </a:pPr>
            <a:r>
              <a:rPr sz="3000" b="1" i="0">
                <a:solidFill>
                  <a:srgbClr val="FFFFFF"/>
                </a:solidFill>
                <a:latin typeface="Arial"/>
              </a:rPr>
              <a:t>«Я прошу категорию, а получаю абзац»</a:t>
            </a:r>
          </a:p>
        </p:txBody>
      </p:sp>
      <p:sp>
        <p:nvSpPr>
          <p:cNvPr id="4" name="TextBox 3"/>
          <p:cNvSpPr txBox="1"/>
          <p:nvPr/>
        </p:nvSpPr>
        <p:spPr>
          <a:xfrm>
            <a:off x="1234440" y="3252216"/>
            <a:ext cx="9692640" cy="894588"/>
          </a:xfrm>
          <a:prstGeom prst="rect">
            <a:avLst/>
          </a:prstGeom>
          <a:noFill/>
        </p:spPr>
        <p:txBody>
          <a:bodyPr wrap="square" lIns="0" rIns="0" tIns="0" bIns="0" anchor="t">
            <a:spAutoFit/>
          </a:bodyPr>
          <a:lstStyle/>
          <a:p>
            <a:pPr algn="l">
              <a:lnSpc>
                <a:spcPts val="1820"/>
              </a:lnSpc>
              <a:spcAft>
                <a:spcPts val="0"/>
              </a:spcAft>
            </a:pPr>
            <a:r>
              <a:rPr sz="1400" b="0" i="1">
                <a:solidFill>
                  <a:srgbClr val="9FAEC4"/>
                </a:solidFill>
                <a:latin typeface="Arial"/>
              </a:rPr>
              <a:t>Ступень 1 закончилась вопросом: что делать, если входы относятся к принципиально разным группам, и один порядок шагов не подходит всем. Тот же шаг классификации — здесь он решает именно это.</a:t>
            </a:r>
          </a:p>
        </p:txBody>
      </p:sp>
      <p:sp>
        <p:nvSpPr>
          <p:cNvPr id="5" name="Rounded Rectangle 4"/>
          <p:cNvSpPr/>
          <p:nvPr/>
        </p:nvSpPr>
        <p:spPr>
          <a:xfrm>
            <a:off x="502920" y="5989320"/>
            <a:ext cx="3605784" cy="384048"/>
          </a:xfrm>
          <a:prstGeom prst="roundRect">
            <a:avLst>
              <a:gd name="adj" fmla="val 3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5989320"/>
            <a:ext cx="3605784" cy="384048"/>
          </a:xfrm>
          <a:prstGeom prst="rect">
            <a:avLst/>
          </a:prstGeom>
          <a:noFill/>
        </p:spPr>
        <p:txBody>
          <a:bodyPr wrap="square" lIns="0" rIns="0" tIns="0" bIns="0" anchor="ctr">
            <a:spAutoFit/>
          </a:bodyPr>
          <a:lstStyle/>
          <a:p>
            <a:pPr algn="ctr">
              <a:lnSpc>
                <a:spcPts val="1475"/>
              </a:lnSpc>
              <a:spcAft>
                <a:spcPts val="0"/>
              </a:spcAft>
            </a:pPr>
            <a:r>
              <a:rPr sz="1250" b="1" i="0">
                <a:solidFill>
                  <a:srgbClr val="21295C"/>
                </a:solidFill>
                <a:latin typeface="Arial"/>
              </a:rPr>
              <a:t>Кейс А</a:t>
            </a:r>
          </a:p>
        </p:txBody>
      </p:sp>
      <p:sp>
        <p:nvSpPr>
          <p:cNvPr id="7" name="Rounded Rectangle 6"/>
          <p:cNvSpPr/>
          <p:nvPr/>
        </p:nvSpPr>
        <p:spPr>
          <a:xfrm>
            <a:off x="4291584" y="5989320"/>
            <a:ext cx="3605784" cy="384048"/>
          </a:xfrm>
          <a:prstGeom prst="roundRect">
            <a:avLst>
              <a:gd name="adj" fmla="val 3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91584" y="5989320"/>
            <a:ext cx="3605784"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9FAEC4"/>
                </a:solidFill>
                <a:latin typeface="Arial"/>
              </a:rPr>
              <a:t>Кейс Б</a:t>
            </a:r>
          </a:p>
        </p:txBody>
      </p:sp>
      <p:sp>
        <p:nvSpPr>
          <p:cNvPr id="9" name="Rounded Rectangle 8"/>
          <p:cNvSpPr/>
          <p:nvPr/>
        </p:nvSpPr>
        <p:spPr>
          <a:xfrm>
            <a:off x="8080247" y="5989320"/>
            <a:ext cx="3605784" cy="384048"/>
          </a:xfrm>
          <a:prstGeom prst="roundRect">
            <a:avLst>
              <a:gd name="adj" fmla="val 3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80247" y="5989320"/>
            <a:ext cx="3605784"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9FAEC4"/>
                </a:solidFill>
                <a:latin typeface="Arial"/>
              </a:rPr>
              <a:t>Кейс В</a:t>
            </a:r>
          </a:p>
        </p:txBody>
      </p:sp>
      <p:sp>
        <p:nvSpPr>
          <p:cNvPr id="11" name="TextBox 10"/>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FFFFFF"/>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Та же метка — теперь точка развилки с ценой за каждую ветку</a:t>
            </a:r>
          </a:p>
        </p:txBody>
      </p:sp>
      <p:sp>
        <p:nvSpPr>
          <p:cNvPr id="3" name="Rounded Rectangle 2"/>
          <p:cNvSpPr/>
          <p:nvPr/>
        </p:nvSpPr>
        <p:spPr>
          <a:xfrm>
            <a:off x="502920" y="2066264"/>
            <a:ext cx="11183112" cy="1689290"/>
          </a:xfrm>
          <a:prstGeom prst="roundRect">
            <a:avLst>
              <a:gd name="adj" fmla="val 18043"/>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249144"/>
            <a:ext cx="1365307"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ВЕТКА</a:t>
            </a:r>
          </a:p>
        </p:txBody>
      </p:sp>
      <p:sp>
        <p:nvSpPr>
          <p:cNvPr id="5" name="TextBox 4"/>
          <p:cNvSpPr txBox="1"/>
          <p:nvPr/>
        </p:nvSpPr>
        <p:spPr>
          <a:xfrm>
            <a:off x="2197411" y="2249144"/>
            <a:ext cx="9159436"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ЦЕНА НЕВЕРНОЙ МЕТКИ</a:t>
            </a:r>
          </a:p>
        </p:txBody>
      </p:sp>
      <p:sp>
        <p:nvSpPr>
          <p:cNvPr id="6" name="TextBox 5"/>
          <p:cNvSpPr txBox="1"/>
          <p:nvPr/>
        </p:nvSpPr>
        <p:spPr>
          <a:xfrm>
            <a:off x="685800" y="2531211"/>
            <a:ext cx="1365307"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биллинг</a:t>
            </a:r>
          </a:p>
        </p:txBody>
      </p:sp>
      <p:sp>
        <p:nvSpPr>
          <p:cNvPr id="7" name="TextBox 6"/>
          <p:cNvSpPr txBox="1"/>
          <p:nvPr/>
        </p:nvSpPr>
        <p:spPr>
          <a:xfrm>
            <a:off x="2197411" y="2531211"/>
            <a:ext cx="9159436"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запрос к внутреннему сервису статуса оплаты просто не будет сделан</a:t>
            </a:r>
          </a:p>
        </p:txBody>
      </p:sp>
      <p:cxnSp>
        <p:nvCxnSpPr>
          <p:cNvPr id="8" name="Connector 7"/>
          <p:cNvCxnSpPr/>
          <p:nvPr/>
        </p:nvCxnSpPr>
        <p:spPr>
          <a:xfrm>
            <a:off x="685800" y="287836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2878366"/>
            <a:ext cx="1365307"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жалоба</a:t>
            </a:r>
          </a:p>
        </p:txBody>
      </p:sp>
      <p:sp>
        <p:nvSpPr>
          <p:cNvPr id="10" name="TextBox 9"/>
          <p:cNvSpPr txBox="1"/>
          <p:nvPr/>
        </p:nvSpPr>
        <p:spPr>
          <a:xfrm>
            <a:off x="2197411" y="2878366"/>
            <a:ext cx="9159436"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нарушенный срок ответа, который никто не отслеживал — для системы это не было жалобой вовсе</a:t>
            </a:r>
          </a:p>
        </p:txBody>
      </p:sp>
      <p:cxnSp>
        <p:nvCxnSpPr>
          <p:cNvPr id="11" name="Connector 10"/>
          <p:cNvCxnSpPr/>
          <p:nvPr/>
        </p:nvCxnSpPr>
        <p:spPr>
          <a:xfrm>
            <a:off x="685800" y="322552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3225520"/>
            <a:ext cx="1365307"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спам</a:t>
            </a:r>
          </a:p>
        </p:txBody>
      </p:sp>
      <p:sp>
        <p:nvSpPr>
          <p:cNvPr id="13" name="TextBox 12"/>
          <p:cNvSpPr txBox="1"/>
          <p:nvPr/>
        </p:nvSpPr>
        <p:spPr>
          <a:xfrm>
            <a:off x="2197411" y="3225520"/>
            <a:ext cx="9159436"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самая дорогая ошибка: настоящее обращение клиента попросту исчезает из поля зрения</a:t>
            </a:r>
          </a:p>
        </p:txBody>
      </p:sp>
      <p:sp>
        <p:nvSpPr>
          <p:cNvPr id="14" name="Rounded Rectangle 13"/>
          <p:cNvSpPr/>
          <p:nvPr/>
        </p:nvSpPr>
        <p:spPr>
          <a:xfrm>
            <a:off x="502920" y="4423067"/>
            <a:ext cx="82296" cy="7848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4551083"/>
            <a:ext cx="10643616" cy="52882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Три ветки — три разных цены одной и той же ошибки классификации, и ни одна не становится</a:t>
            </a:r>
          </a:p>
          <a:p>
            <a:pPr algn="l">
              <a:lnSpc>
                <a:spcPts val="1860"/>
              </a:lnSpc>
              <a:spcAft>
                <a:spcPts val="300"/>
              </a:spcAft>
            </a:pPr>
            <a:r>
              <a:rPr sz="1500" b="1" i="0">
                <a:solidFill>
                  <a:srgbClr val="141B2E"/>
                </a:solidFill>
                <a:latin typeface="Arial"/>
              </a:rPr>
              <a:t>меньше оттого, что решение принял дешёвый и быстрый шаг.</a:t>
            </a:r>
          </a:p>
        </p:txBody>
      </p:sp>
      <p:sp>
        <p:nvSpPr>
          <p:cNvPr id="16" name="TextBox 1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Нужен ли здесь полноценный вызов модели — или достаточно метки?</a:t>
            </a:r>
          </a:p>
        </p:txBody>
      </p:sp>
      <p:sp>
        <p:nvSpPr>
          <p:cNvPr id="3" name="Rectangle 2"/>
          <p:cNvSpPr/>
          <p:nvPr/>
        </p:nvSpPr>
        <p:spPr>
          <a:xfrm>
            <a:off x="502920" y="1734616"/>
            <a:ext cx="32004" cy="52578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2668" y="1789480"/>
            <a:ext cx="10730484" cy="416052"/>
          </a:xfrm>
          <a:prstGeom prst="rect">
            <a:avLst/>
          </a:prstGeom>
          <a:noFill/>
        </p:spPr>
        <p:txBody>
          <a:bodyPr wrap="square" lIns="0" rIns="0" tIns="0" bIns="0" anchor="ctr">
            <a:spAutoFit/>
          </a:bodyPr>
          <a:lstStyle/>
          <a:p>
            <a:pPr algn="l">
              <a:lnSpc>
                <a:spcPts val="1638"/>
              </a:lnSpc>
              <a:spcAft>
                <a:spcPts val="300"/>
              </a:spcAft>
            </a:pPr>
            <a:r>
              <a:rPr sz="1300" b="0" i="1">
                <a:solidFill>
                  <a:srgbClr val="6B7685"/>
                </a:solidFill>
                <a:latin typeface="Arial"/>
              </a:rPr>
              <a:t>«Тот же самый классификационный шаг — только теперь от его ответа зависит, какой из четырёх маршрутов получит письмо.»</a:t>
            </a:r>
          </a:p>
        </p:txBody>
      </p:sp>
      <p:sp>
        <p:nvSpPr>
          <p:cNvPr id="5" name="Rounded Rectangle 4"/>
          <p:cNvSpPr/>
          <p:nvPr/>
        </p:nvSpPr>
        <p:spPr>
          <a:xfrm>
            <a:off x="502920" y="2964484"/>
            <a:ext cx="11183112" cy="8229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2376" y="3092500"/>
            <a:ext cx="10634472" cy="5669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«Нужно ли здесь гонять полноценный вызов модели, который сочиняет объяснение, или достаточно того, что сразу возвращает одну метку?»</a:t>
            </a:r>
          </a:p>
        </p:txBody>
      </p:sp>
      <p:sp>
        <p:nvSpPr>
          <p:cNvPr id="7" name="Rounded Rectangle 6"/>
          <p:cNvSpPr/>
          <p:nvPr/>
        </p:nvSpPr>
        <p:spPr>
          <a:xfrm>
            <a:off x="502920" y="4454956"/>
            <a:ext cx="2686050" cy="1305306"/>
          </a:xfrm>
          <a:prstGeom prst="roundRect">
            <a:avLst>
              <a:gd name="adj" fmla="val 2335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2648" y="4454956"/>
            <a:ext cx="2466594" cy="1305306"/>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оставить как есть — модель отвечает текстом, метку парсим из ответа</a:t>
            </a:r>
          </a:p>
        </p:txBody>
      </p:sp>
      <p:sp>
        <p:nvSpPr>
          <p:cNvPr id="9" name="Rounded Rectangle 8"/>
          <p:cNvSpPr/>
          <p:nvPr/>
        </p:nvSpPr>
        <p:spPr>
          <a:xfrm>
            <a:off x="3335274" y="4454956"/>
            <a:ext cx="2686050" cy="1305306"/>
          </a:xfrm>
          <a:prstGeom prst="roundRect">
            <a:avLst>
              <a:gd name="adj" fmla="val 2335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45002" y="4454956"/>
            <a:ext cx="2466594" cy="1305306"/>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написать правила руками — ключевые слова и условия если/то</a:t>
            </a:r>
          </a:p>
        </p:txBody>
      </p:sp>
      <p:sp>
        <p:nvSpPr>
          <p:cNvPr id="11" name="Rounded Rectangle 10"/>
          <p:cNvSpPr/>
          <p:nvPr/>
        </p:nvSpPr>
        <p:spPr>
          <a:xfrm>
            <a:off x="6167628" y="4454956"/>
            <a:ext cx="2686050" cy="1305306"/>
          </a:xfrm>
          <a:prstGeom prst="roundRect">
            <a:avLst>
              <a:gd name="adj" fmla="val 2335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77356" y="4454956"/>
            <a:ext cx="2466594" cy="1305306"/>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завести отдельную маленькую модель-классификатор</a:t>
            </a:r>
          </a:p>
        </p:txBody>
      </p:sp>
      <p:sp>
        <p:nvSpPr>
          <p:cNvPr id="13" name="Rounded Rectangle 12"/>
          <p:cNvSpPr/>
          <p:nvPr/>
        </p:nvSpPr>
        <p:spPr>
          <a:xfrm>
            <a:off x="8999982" y="4454956"/>
            <a:ext cx="2686050" cy="1305306"/>
          </a:xfrm>
          <a:prstGeom prst="roundRect">
            <a:avLst>
              <a:gd name="adj" fmla="val 2335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09710" y="4454956"/>
            <a:ext cx="2466594" cy="1305306"/>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использовать decision-модель — вызов, который возвращает типизированное значение, не текст</a:t>
            </a:r>
          </a:p>
        </p:txBody>
      </p:sp>
      <p:sp>
        <p:nvSpPr>
          <p:cNvPr id="15" name="TextBox 14"/>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Текст приходится разбирать, чтобы достать из него одно слово из четырёх</a:t>
            </a:r>
          </a:p>
        </p:txBody>
      </p:sp>
      <p:sp>
        <p:nvSpPr>
          <p:cNvPr id="3" name="Rounded Rectangle 2"/>
          <p:cNvSpPr/>
          <p:nvPr/>
        </p:nvSpPr>
        <p:spPr>
          <a:xfrm>
            <a:off x="502920" y="1319784"/>
            <a:ext cx="11183112" cy="3584574"/>
          </a:xfrm>
          <a:prstGeom prst="roundRect">
            <a:avLst>
              <a:gd name="adj" fmla="val 8503"/>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502664"/>
            <a:ext cx="1929520"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СПОСОБ</a:t>
            </a:r>
          </a:p>
        </p:txBody>
      </p:sp>
      <p:sp>
        <p:nvSpPr>
          <p:cNvPr id="5" name="TextBox 4"/>
          <p:cNvSpPr txBox="1"/>
          <p:nvPr/>
        </p:nvSpPr>
        <p:spPr>
          <a:xfrm>
            <a:off x="2761624" y="1502664"/>
            <a:ext cx="3629078"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ЧТО ДЕЛАЕТ</a:t>
            </a:r>
          </a:p>
        </p:txBody>
      </p:sp>
      <p:sp>
        <p:nvSpPr>
          <p:cNvPr id="6" name="TextBox 5"/>
          <p:cNvSpPr txBox="1"/>
          <p:nvPr/>
        </p:nvSpPr>
        <p:spPr>
          <a:xfrm>
            <a:off x="6537007" y="1502664"/>
            <a:ext cx="4819840"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ЧТО НЕ ДЕЛАЕТ / ОГРАНИЧЕНИЕ</a:t>
            </a:r>
          </a:p>
        </p:txBody>
      </p:sp>
      <p:sp>
        <p:nvSpPr>
          <p:cNvPr id="7" name="TextBox 6"/>
          <p:cNvSpPr txBox="1"/>
          <p:nvPr/>
        </p:nvSpPr>
        <p:spPr>
          <a:xfrm>
            <a:off x="685800" y="1784731"/>
            <a:ext cx="1929520" cy="69037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полный вызов модели, парсинг ответа</a:t>
            </a:r>
          </a:p>
        </p:txBody>
      </p:sp>
      <p:sp>
        <p:nvSpPr>
          <p:cNvPr id="8" name="TextBox 7"/>
          <p:cNvSpPr txBox="1"/>
          <p:nvPr/>
        </p:nvSpPr>
        <p:spPr>
          <a:xfrm>
            <a:off x="2761624" y="1784731"/>
            <a:ext cx="3629078" cy="69037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понимает контекст письма гибко, может объяснить выбор текстом</a:t>
            </a:r>
          </a:p>
        </p:txBody>
      </p:sp>
      <p:sp>
        <p:nvSpPr>
          <p:cNvPr id="9" name="TextBox 8"/>
          <p:cNvSpPr txBox="1"/>
          <p:nvPr/>
        </p:nvSpPr>
        <p:spPr>
          <a:xfrm>
            <a:off x="6537007" y="1784731"/>
            <a:ext cx="4819840" cy="69037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платит за токены вывода, которые никто не читает; текст-объяснение приходится парсить самому, парсинг ломается при любом отклонении формата ответа</a:t>
            </a:r>
          </a:p>
        </p:txBody>
      </p:sp>
      <p:cxnSp>
        <p:nvCxnSpPr>
          <p:cNvPr id="10" name="Connector 9"/>
          <p:cNvCxnSpPr/>
          <p:nvPr/>
        </p:nvCxnSpPr>
        <p:spPr>
          <a:xfrm>
            <a:off x="685800" y="2475103"/>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2475103"/>
            <a:ext cx="1929520" cy="69037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правила руками (ключевые слова, если/то)</a:t>
            </a:r>
          </a:p>
        </p:txBody>
      </p:sp>
      <p:sp>
        <p:nvSpPr>
          <p:cNvPr id="12" name="TextBox 11"/>
          <p:cNvSpPr txBox="1"/>
          <p:nvPr/>
        </p:nvSpPr>
        <p:spPr>
          <a:xfrm>
            <a:off x="2761624" y="2475103"/>
            <a:ext cx="3629078" cy="69037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дёшево, предсказуемо, прозрачно — видно, какое правило сработало</a:t>
            </a:r>
          </a:p>
        </p:txBody>
      </p:sp>
      <p:sp>
        <p:nvSpPr>
          <p:cNvPr id="13" name="TextBox 12"/>
          <p:cNvSpPr txBox="1"/>
          <p:nvPr/>
        </p:nvSpPr>
        <p:spPr>
          <a:xfrm>
            <a:off x="6537007" y="2475103"/>
            <a:ext cx="4819840" cy="69037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не обобщается на формулировки, которых не предвидели; письмо без нужного слова не распознаётся вовсе</a:t>
            </a:r>
          </a:p>
        </p:txBody>
      </p:sp>
      <p:cxnSp>
        <p:nvCxnSpPr>
          <p:cNvPr id="14" name="Connector 13"/>
          <p:cNvCxnSpPr/>
          <p:nvPr/>
        </p:nvCxnSpPr>
        <p:spPr>
          <a:xfrm>
            <a:off x="685800" y="3165475"/>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3165475"/>
            <a:ext cx="1929520" cy="51511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отдельная маленькая модель-классификатор</a:t>
            </a:r>
          </a:p>
        </p:txBody>
      </p:sp>
      <p:sp>
        <p:nvSpPr>
          <p:cNvPr id="16" name="TextBox 15"/>
          <p:cNvSpPr txBox="1"/>
          <p:nvPr/>
        </p:nvSpPr>
        <p:spPr>
          <a:xfrm>
            <a:off x="2761624" y="3165475"/>
            <a:ext cx="3629078" cy="51511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быстрее и дешевле полного вызова модели на этой же задаче</a:t>
            </a:r>
          </a:p>
        </p:txBody>
      </p:sp>
      <p:sp>
        <p:nvSpPr>
          <p:cNvPr id="17" name="TextBox 16"/>
          <p:cNvSpPr txBox="1"/>
          <p:nvPr/>
        </p:nvSpPr>
        <p:spPr>
          <a:xfrm>
            <a:off x="6537007" y="3165475"/>
            <a:ext cx="4819840" cy="51511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требует отдельного обучения и поддержки; новая категория требует переобучения, не правки промпта</a:t>
            </a:r>
          </a:p>
        </p:txBody>
      </p:sp>
      <p:cxnSp>
        <p:nvCxnSpPr>
          <p:cNvPr id="18" name="Connector 17"/>
          <p:cNvCxnSpPr/>
          <p:nvPr/>
        </p:nvCxnSpPr>
        <p:spPr>
          <a:xfrm>
            <a:off x="685800" y="368058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66928" y="3680587"/>
            <a:ext cx="11055096" cy="1040891"/>
          </a:xfrm>
          <a:prstGeom prst="roundRect">
            <a:avLst>
              <a:gd name="adj" fmla="val 8000"/>
            </a:avLst>
          </a:prstGeom>
          <a:solidFill>
            <a:srgbClr val="FE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680587"/>
            <a:ext cx="1929520" cy="1040891"/>
          </a:xfrm>
          <a:prstGeom prst="rect">
            <a:avLst/>
          </a:prstGeom>
          <a:noFill/>
        </p:spPr>
        <p:txBody>
          <a:bodyPr wrap="square" lIns="0" rIns="0" tIns="0" bIns="0" anchor="ctr">
            <a:spAutoFit/>
          </a:bodyPr>
          <a:lstStyle/>
          <a:p>
            <a:pPr algn="l">
              <a:lnSpc>
                <a:spcPts val="1380"/>
              </a:lnSpc>
              <a:spcAft>
                <a:spcPts val="0"/>
              </a:spcAft>
            </a:pPr>
            <a:r>
              <a:rPr sz="1200" b="1" i="0">
                <a:solidFill>
                  <a:srgbClr val="141B2E"/>
                </a:solidFill>
                <a:latin typeface="Arial"/>
              </a:rPr>
              <a:t>decision-модель (вызов с типизированным ответом)</a:t>
            </a:r>
          </a:p>
        </p:txBody>
      </p:sp>
      <p:sp>
        <p:nvSpPr>
          <p:cNvPr id="21" name="TextBox 20"/>
          <p:cNvSpPr txBox="1"/>
          <p:nvPr/>
        </p:nvSpPr>
        <p:spPr>
          <a:xfrm>
            <a:off x="2761624" y="3680587"/>
            <a:ext cx="3629078" cy="1040891"/>
          </a:xfrm>
          <a:prstGeom prst="rect">
            <a:avLst/>
          </a:prstGeom>
          <a:noFill/>
        </p:spPr>
        <p:txBody>
          <a:bodyPr wrap="square" lIns="0" rIns="0" tIns="0" bIns="0" anchor="ctr">
            <a:spAutoFit/>
          </a:bodyPr>
          <a:lstStyle/>
          <a:p>
            <a:pPr algn="l">
              <a:lnSpc>
                <a:spcPts val="1380"/>
              </a:lnSpc>
              <a:spcAft>
                <a:spcPts val="0"/>
              </a:spcAft>
            </a:pPr>
            <a:r>
              <a:rPr sz="1200" b="1" i="0">
                <a:solidFill>
                  <a:srgbClr val="141B2E"/>
                </a:solidFill>
                <a:latin typeface="Arial"/>
              </a:rPr>
              <a:t>возвращает метку без генерации текста — дешевле и быстрее обычного вызова на этой же задаче; вместе с меткой отдаёт уверенность и распределение вероятностей по категориям</a:t>
            </a:r>
          </a:p>
        </p:txBody>
      </p:sp>
      <p:sp>
        <p:nvSpPr>
          <p:cNvPr id="22" name="TextBox 21"/>
          <p:cNvSpPr txBox="1"/>
          <p:nvPr/>
        </p:nvSpPr>
        <p:spPr>
          <a:xfrm>
            <a:off x="6537007" y="3680587"/>
            <a:ext cx="4819840" cy="1040891"/>
          </a:xfrm>
          <a:prstGeom prst="rect">
            <a:avLst/>
          </a:prstGeom>
          <a:noFill/>
        </p:spPr>
        <p:txBody>
          <a:bodyPr wrap="square" lIns="0" rIns="0" tIns="0" bIns="0" anchor="ctr">
            <a:spAutoFit/>
          </a:bodyPr>
          <a:lstStyle/>
          <a:p>
            <a:pPr algn="l">
              <a:lnSpc>
                <a:spcPts val="1380"/>
              </a:lnSpc>
              <a:spcAft>
                <a:spcPts val="0"/>
              </a:spcAft>
            </a:pPr>
            <a:r>
              <a:rPr sz="1200" b="1" i="0">
                <a:solidFill>
                  <a:srgbClr val="141B2E"/>
                </a:solidFill>
                <a:latin typeface="Arial"/>
              </a:rPr>
              <a:t>не объясняет, почему выбрала эту метку, — только число; риск скрытой предвзятости на неполном наборе категорий</a:t>
            </a:r>
          </a:p>
        </p:txBody>
      </p:sp>
      <p:sp>
        <p:nvSpPr>
          <p:cNvPr id="23" name="Rounded Rectangle 22"/>
          <p:cNvSpPr/>
          <p:nvPr/>
        </p:nvSpPr>
        <p:spPr>
          <a:xfrm>
            <a:off x="502920" y="5068950"/>
            <a:ext cx="82296" cy="1035558"/>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9536" y="5196966"/>
            <a:ext cx="10643616" cy="779526"/>
          </a:xfrm>
          <a:prstGeom prst="rect">
            <a:avLst/>
          </a:prstGeom>
          <a:noFill/>
        </p:spPr>
        <p:txBody>
          <a:bodyPr wrap="square" lIns="0" rIns="0" tIns="0" bIns="0" anchor="ctr">
            <a:spAutoFit/>
          </a:bodyPr>
          <a:lstStyle/>
          <a:p>
            <a:pPr algn="l">
              <a:lnSpc>
                <a:spcPts val="1798"/>
              </a:lnSpc>
              <a:spcAft>
                <a:spcPts val="300"/>
              </a:spcAft>
            </a:pPr>
            <a:r>
              <a:rPr sz="1450" b="1" i="0">
                <a:solidFill>
                  <a:srgbClr val="141B2E"/>
                </a:solidFill>
                <a:latin typeface="Arial"/>
              </a:rPr>
              <a:t>Один из действующих примеров такого вызова — Jev, продукт компании TypeSafe AI: письмо</a:t>
            </a:r>
          </a:p>
          <a:p>
            <a:pPr algn="l">
              <a:lnSpc>
                <a:spcPts val="1798"/>
              </a:lnSpc>
              <a:spcAft>
                <a:spcPts val="300"/>
              </a:spcAft>
            </a:pPr>
            <a:r>
              <a:rPr sz="1450" b="1" i="0">
                <a:solidFill>
                  <a:srgbClr val="141B2E"/>
                </a:solidFill>
                <a:latin typeface="Arial"/>
              </a:rPr>
              <a:t>отправляется туда как вход, в ответ приходит значение, не абзац, — уверенность от 0 до 1,</a:t>
            </a:r>
          </a:p>
          <a:p>
            <a:pPr algn="l">
              <a:lnSpc>
                <a:spcPts val="1798"/>
              </a:lnSpc>
              <a:spcAft>
                <a:spcPts val="300"/>
              </a:spcAft>
            </a:pPr>
            <a:r>
              <a:rPr sz="1450" b="1" i="0">
                <a:solidFill>
                  <a:srgbClr val="141B2E"/>
                </a:solidFill>
                <a:latin typeface="Arial"/>
              </a:rPr>
              <a:t>распределение вероятностей по категориям или числовой балл вдоль заданной шкалы.</a:t>
            </a:r>
          </a:p>
        </p:txBody>
      </p:sp>
      <p:sp>
        <p:nvSpPr>
          <p:cNvPr id="25" name="TextBox 24"/>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Маршрут берёт ближайший неверный класс — и делает это молча</a:t>
            </a:r>
          </a:p>
        </p:txBody>
      </p:sp>
      <p:sp>
        <p:nvSpPr>
          <p:cNvPr id="3" name="Rounded Rectangle 2"/>
          <p:cNvSpPr/>
          <p:nvPr/>
        </p:nvSpPr>
        <p:spPr>
          <a:xfrm>
            <a:off x="502920" y="1879396"/>
            <a:ext cx="82296" cy="160782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2007412"/>
            <a:ext cx="10643616" cy="135178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Автор Jev попросил модель ответить «да» или «нет» на вопрос «хороший ли это город» для</a:t>
            </a:r>
          </a:p>
          <a:p>
            <a:pPr algn="l">
              <a:lnSpc>
                <a:spcPts val="1860"/>
              </a:lnSpc>
              <a:spcAft>
                <a:spcPts val="300"/>
              </a:spcAft>
            </a:pPr>
            <a:r>
              <a:rPr sz="1500" b="1" i="0">
                <a:solidFill>
                  <a:srgbClr val="141B2E"/>
                </a:solidFill>
                <a:latin typeface="Arial"/>
              </a:rPr>
              <a:t>каждого города залива Сан-Франциско. Самую высокую оценку получил Купертино, самую</a:t>
            </a:r>
          </a:p>
          <a:p>
            <a:pPr algn="l">
              <a:lnSpc>
                <a:spcPts val="1860"/>
              </a:lnSpc>
              <a:spcAft>
                <a:spcPts val="300"/>
              </a:spcAft>
            </a:pPr>
            <a:r>
              <a:rPr sz="1500" b="1" i="0">
                <a:solidFill>
                  <a:srgbClr val="141B2E"/>
                </a:solidFill>
                <a:latin typeface="Arial"/>
              </a:rPr>
              <a:t>низкую — Восточный Пало-Альто: соседние города с резко разным уровнем достатка.</a:t>
            </a:r>
          </a:p>
          <a:p>
            <a:pPr algn="l">
              <a:lnSpc>
                <a:spcPts val="1860"/>
              </a:lnSpc>
              <a:spcAft>
                <a:spcPts val="300"/>
              </a:spcAft>
            </a:pPr>
            <a:r>
              <a:rPr sz="1500" b="1" i="0">
                <a:solidFill>
                  <a:srgbClr val="141B2E"/>
                </a:solidFill>
                <a:latin typeface="Arial"/>
              </a:rPr>
              <a:t>Объяснения не было и не могло быть — формат ответа Jev — число, не причина (Simon</a:t>
            </a:r>
          </a:p>
          <a:p>
            <a:pPr algn="l">
              <a:lnSpc>
                <a:spcPts val="1860"/>
              </a:lnSpc>
              <a:spcAft>
                <a:spcPts val="300"/>
              </a:spcAft>
            </a:pPr>
            <a:r>
              <a:rPr sz="1500" b="1" i="0">
                <a:solidFill>
                  <a:srgbClr val="141B2E"/>
                </a:solidFill>
                <a:latin typeface="Arial"/>
              </a:rPr>
              <a:t>Willison, 2026).</a:t>
            </a:r>
          </a:p>
        </p:txBody>
      </p:sp>
      <p:sp>
        <p:nvSpPr>
          <p:cNvPr id="5" name="Rounded Rectangle 4"/>
          <p:cNvSpPr/>
          <p:nvPr/>
        </p:nvSpPr>
        <p:spPr>
          <a:xfrm>
            <a:off x="502920" y="4154728"/>
            <a:ext cx="82296" cy="133350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282744"/>
            <a:ext cx="10643616" cy="107746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Второй, более общий слой.</a:t>
            </a:r>
            <a:r>
              <a:rPr sz="1500" b="1" i="0">
                <a:solidFill>
                  <a:srgbClr val="141B2E"/>
                </a:solidFill>
                <a:latin typeface="Arial"/>
              </a:rPr>
              <a:t> У четырёх маршрутов — биллинг, техподдержка, жалоба,</a:t>
            </a:r>
          </a:p>
          <a:p>
            <a:pPr algn="l">
              <a:lnSpc>
                <a:spcPts val="1860"/>
              </a:lnSpc>
              <a:spcAft>
                <a:spcPts val="300"/>
              </a:spcAft>
            </a:pPr>
            <a:r>
              <a:rPr sz="1500" b="1" i="0">
                <a:solidFill>
                  <a:srgbClr val="141B2E"/>
                </a:solidFill>
                <a:latin typeface="Arial"/>
              </a:rPr>
              <a:t>спам — общее свойство: письмо обязано попасть в один из них. Партнёрское предложение, не</a:t>
            </a:r>
          </a:p>
          <a:p>
            <a:pPr algn="l">
              <a:lnSpc>
                <a:spcPts val="1860"/>
              </a:lnSpc>
              <a:spcAft>
                <a:spcPts val="300"/>
              </a:spcAft>
            </a:pPr>
            <a:r>
              <a:rPr sz="1500" b="1" i="0">
                <a:solidFill>
                  <a:srgbClr val="141B2E"/>
                </a:solidFill>
                <a:latin typeface="Arial"/>
              </a:rPr>
              <a:t>похожее ни на одну категорию, всё равно получает метку — маршрутизатор берёт ближайшую по</a:t>
            </a:r>
          </a:p>
          <a:p>
            <a:pPr algn="l">
              <a:lnSpc>
                <a:spcPts val="1860"/>
              </a:lnSpc>
              <a:spcAft>
                <a:spcPts val="300"/>
              </a:spcAft>
            </a:pPr>
            <a:r>
              <a:rPr sz="1500" b="1" i="0">
                <a:solidFill>
                  <a:srgbClr val="141B2E"/>
                </a:solidFill>
                <a:latin typeface="Arial"/>
              </a:rPr>
              <a:t>сходству, но неверную, молча, без сигнала «я не уверен».</a:t>
            </a:r>
          </a:p>
        </p:txBody>
      </p:sp>
      <p:sp>
        <p:nvSpPr>
          <p:cNvPr id="7" name="TextBox 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Тот же механизм, другая цена: от письма к людям</a:t>
            </a:r>
          </a:p>
        </p:txBody>
      </p:sp>
      <p:sp>
        <p:nvSpPr>
          <p:cNvPr id="3" name="Rounded Rectangle 2"/>
          <p:cNvSpPr/>
          <p:nvPr/>
        </p:nvSpPr>
        <p:spPr>
          <a:xfrm>
            <a:off x="502920" y="1872996"/>
            <a:ext cx="82296" cy="7848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2001012"/>
            <a:ext cx="10643616" cy="52882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Неверный маршрут в почтовом пайплайне стоит одно потерянное письмо и одно раздражённое</a:t>
            </a:r>
          </a:p>
          <a:p>
            <a:pPr algn="l">
              <a:lnSpc>
                <a:spcPts val="1860"/>
              </a:lnSpc>
              <a:spcAft>
                <a:spcPts val="300"/>
              </a:spcAft>
            </a:pPr>
            <a:r>
              <a:rPr sz="1500" b="1" i="0">
                <a:solidFill>
                  <a:srgbClr val="141B2E"/>
                </a:solidFill>
                <a:latin typeface="Arial"/>
              </a:rPr>
              <a:t>повторное обращение — цена ощутима, но обратима.</a:t>
            </a:r>
          </a:p>
        </p:txBody>
      </p:sp>
      <p:sp>
        <p:nvSpPr>
          <p:cNvPr id="5" name="Rounded Rectangle 4"/>
          <p:cNvSpPr/>
          <p:nvPr/>
        </p:nvSpPr>
        <p:spPr>
          <a:xfrm>
            <a:off x="502920" y="3325368"/>
            <a:ext cx="82296" cy="160782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3453384"/>
            <a:ext cx="10643616" cy="135178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Два следующих случая — не из мира разработки программного обеспечения. Один решал, каких</a:t>
            </a:r>
          </a:p>
          <a:p>
            <a:pPr algn="l">
              <a:lnSpc>
                <a:spcPts val="1860"/>
              </a:lnSpc>
              <a:spcAft>
                <a:spcPts val="300"/>
              </a:spcAft>
            </a:pPr>
            <a:r>
              <a:rPr sz="1500" b="1" i="0">
                <a:solidFill>
                  <a:srgbClr val="141B2E"/>
                </a:solidFill>
                <a:latin typeface="Arial"/>
              </a:rPr>
              <a:t>пациентов направить на дополнительную медицинскую помощь. Второй решал, чьи налоговые</a:t>
            </a:r>
          </a:p>
          <a:p>
            <a:pPr algn="l">
              <a:lnSpc>
                <a:spcPts val="1860"/>
              </a:lnSpc>
              <a:spcAft>
                <a:spcPts val="300"/>
              </a:spcAft>
            </a:pPr>
            <a:r>
              <a:rPr sz="1500" b="1" i="0">
                <a:solidFill>
                  <a:srgbClr val="141B2E"/>
                </a:solidFill>
                <a:latin typeface="Arial"/>
              </a:rPr>
              <a:t>декларации проверить. Общее с почтовым маршрутизатором — внутреннее устройство, не область</a:t>
            </a:r>
          </a:p>
          <a:p>
            <a:pPr algn="l">
              <a:lnSpc>
                <a:spcPts val="1860"/>
              </a:lnSpc>
              <a:spcAft>
                <a:spcPts val="300"/>
              </a:spcAft>
            </a:pPr>
            <a:r>
              <a:rPr sz="1500" b="1" i="0">
                <a:solidFill>
                  <a:srgbClr val="141B2E"/>
                </a:solidFill>
                <a:latin typeface="Arial"/>
              </a:rPr>
              <a:t>применения: классификатор выбрал признак, который легко измерить, вместо</a:t>
            </a:r>
          </a:p>
          <a:p>
            <a:pPr algn="l">
              <a:lnSpc>
                <a:spcPts val="1860"/>
              </a:lnSpc>
              <a:spcAft>
                <a:spcPts val="300"/>
              </a:spcAft>
            </a:pPr>
            <a:r>
              <a:rPr sz="1500" b="1" i="0">
                <a:solidFill>
                  <a:srgbClr val="141B2E"/>
                </a:solidFill>
                <a:latin typeface="Arial"/>
              </a:rPr>
              <a:t>признака, который на самом деле нужен.</a:t>
            </a:r>
          </a:p>
        </p:txBody>
      </p:sp>
      <p:sp>
        <p:nvSpPr>
          <p:cNvPr id="7" name="TextBox 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34440" y="2619756"/>
            <a:ext cx="9692640" cy="449580"/>
          </a:xfrm>
          <a:prstGeom prst="rect">
            <a:avLst/>
          </a:prstGeom>
          <a:noFill/>
        </p:spPr>
        <p:txBody>
          <a:bodyPr wrap="square" lIns="0" rIns="0" tIns="0" bIns="0" anchor="t">
            <a:spAutoFit/>
          </a:bodyPr>
          <a:lstStyle/>
          <a:p>
            <a:pPr algn="l">
              <a:lnSpc>
                <a:spcPts val="3540"/>
              </a:lnSpc>
              <a:spcAft>
                <a:spcPts val="0"/>
              </a:spcAft>
            </a:pPr>
            <a:r>
              <a:rPr sz="3000" b="1" i="0">
                <a:solidFill>
                  <a:srgbClr val="FFFFFF"/>
                </a:solidFill>
                <a:latin typeface="Arial"/>
              </a:rPr>
              <a:t>17,7% → 46,5%</a:t>
            </a:r>
          </a:p>
        </p:txBody>
      </p:sp>
      <p:sp>
        <p:nvSpPr>
          <p:cNvPr id="4" name="TextBox 3"/>
          <p:cNvSpPr txBox="1"/>
          <p:nvPr/>
        </p:nvSpPr>
        <p:spPr>
          <a:xfrm>
            <a:off x="1234440" y="3252216"/>
            <a:ext cx="9692640" cy="894588"/>
          </a:xfrm>
          <a:prstGeom prst="rect">
            <a:avLst/>
          </a:prstGeom>
          <a:noFill/>
        </p:spPr>
        <p:txBody>
          <a:bodyPr wrap="square" lIns="0" rIns="0" tIns="0" bIns="0" anchor="t">
            <a:spAutoFit/>
          </a:bodyPr>
          <a:lstStyle/>
          <a:p>
            <a:pPr algn="l">
              <a:lnSpc>
                <a:spcPts val="1820"/>
              </a:lnSpc>
              <a:spcAft>
                <a:spcPts val="0"/>
              </a:spcAft>
            </a:pPr>
            <a:r>
              <a:rPr sz="1400" b="0" i="1">
                <a:solidFill>
                  <a:srgbClr val="9FAEC4"/>
                </a:solidFill>
                <a:latin typeface="Arial"/>
              </a:rPr>
              <a:t>17,7% → 46,5% — доля чёрных пациентов в программе усиленного наблюдения сегодня и доля, которая получилась бы, если бы тот же алгоритм честно считал то, что заявлен считать. Решения о помощи для ≈200 миллионов человек в год в США (Obermeyer et al., Science, 2019).</a:t>
            </a:r>
          </a:p>
        </p:txBody>
      </p:sp>
      <p:sp>
        <p:nvSpPr>
          <p:cNvPr id="5" name="Rounded Rectangle 4"/>
          <p:cNvSpPr/>
          <p:nvPr/>
        </p:nvSpPr>
        <p:spPr>
          <a:xfrm>
            <a:off x="502920" y="5989320"/>
            <a:ext cx="3605784" cy="384048"/>
          </a:xfrm>
          <a:prstGeom prst="roundRect">
            <a:avLst>
              <a:gd name="adj" fmla="val 3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5989320"/>
            <a:ext cx="3605784"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FFFFFF"/>
                </a:solidFill>
                <a:latin typeface="Arial"/>
              </a:rPr>
              <a:t>Кейс А</a:t>
            </a:r>
          </a:p>
        </p:txBody>
      </p:sp>
      <p:sp>
        <p:nvSpPr>
          <p:cNvPr id="7" name="Rounded Rectangle 6"/>
          <p:cNvSpPr/>
          <p:nvPr/>
        </p:nvSpPr>
        <p:spPr>
          <a:xfrm>
            <a:off x="4291584" y="5989320"/>
            <a:ext cx="3605784" cy="384048"/>
          </a:xfrm>
          <a:prstGeom prst="roundRect">
            <a:avLst>
              <a:gd name="adj" fmla="val 3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91584" y="5989320"/>
            <a:ext cx="3605784" cy="384048"/>
          </a:xfrm>
          <a:prstGeom prst="rect">
            <a:avLst/>
          </a:prstGeom>
          <a:noFill/>
        </p:spPr>
        <p:txBody>
          <a:bodyPr wrap="square" lIns="0" rIns="0" tIns="0" bIns="0" anchor="ctr">
            <a:spAutoFit/>
          </a:bodyPr>
          <a:lstStyle/>
          <a:p>
            <a:pPr algn="ctr">
              <a:lnSpc>
                <a:spcPts val="1475"/>
              </a:lnSpc>
              <a:spcAft>
                <a:spcPts val="0"/>
              </a:spcAft>
            </a:pPr>
            <a:r>
              <a:rPr sz="1250" b="1" i="0">
                <a:solidFill>
                  <a:srgbClr val="21295C"/>
                </a:solidFill>
                <a:latin typeface="Arial"/>
              </a:rPr>
              <a:t>Кейс Б</a:t>
            </a:r>
          </a:p>
        </p:txBody>
      </p:sp>
      <p:sp>
        <p:nvSpPr>
          <p:cNvPr id="9" name="Rounded Rectangle 8"/>
          <p:cNvSpPr/>
          <p:nvPr/>
        </p:nvSpPr>
        <p:spPr>
          <a:xfrm>
            <a:off x="8080247" y="5989320"/>
            <a:ext cx="3605784" cy="384048"/>
          </a:xfrm>
          <a:prstGeom prst="roundRect">
            <a:avLst>
              <a:gd name="adj" fmla="val 3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80247" y="5989320"/>
            <a:ext cx="3605784"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9FAEC4"/>
                </a:solidFill>
                <a:latin typeface="Arial"/>
              </a:rPr>
              <a:t>Кейс В</a:t>
            </a:r>
          </a:p>
        </p:txBody>
      </p:sp>
      <p:sp>
        <p:nvSpPr>
          <p:cNvPr id="11" name="TextBox 10"/>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FFFFFF"/>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Одинаковый балл, разная настоящая тяжесть</a:t>
            </a:r>
          </a:p>
        </p:txBody>
      </p:sp>
      <p:sp>
        <p:nvSpPr>
          <p:cNvPr id="3" name="Rounded Rectangle 2"/>
          <p:cNvSpPr/>
          <p:nvPr/>
        </p:nvSpPr>
        <p:spPr>
          <a:xfrm>
            <a:off x="502920" y="1979269"/>
            <a:ext cx="11183112" cy="1342135"/>
          </a:xfrm>
          <a:prstGeom prst="roundRect">
            <a:avLst>
              <a:gd name="adj" fmla="val 22710"/>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162149"/>
            <a:ext cx="1817889"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ПАЦИЕНТ</a:t>
            </a:r>
          </a:p>
        </p:txBody>
      </p:sp>
      <p:sp>
        <p:nvSpPr>
          <p:cNvPr id="5" name="TextBox 4"/>
          <p:cNvSpPr txBox="1"/>
          <p:nvPr/>
        </p:nvSpPr>
        <p:spPr>
          <a:xfrm>
            <a:off x="2649993" y="2162149"/>
            <a:ext cx="3132686"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БАЛЛ РИСКА (АЛГОРИТМ)</a:t>
            </a:r>
          </a:p>
        </p:txBody>
      </p:sp>
      <p:sp>
        <p:nvSpPr>
          <p:cNvPr id="6" name="TextBox 5"/>
          <p:cNvSpPr txBox="1"/>
          <p:nvPr/>
        </p:nvSpPr>
        <p:spPr>
          <a:xfrm>
            <a:off x="5928983" y="2162149"/>
            <a:ext cx="5427864"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РЕАЛЬНАЯ ТЯЖЕСТЬ (ПРЯМОЕ ИЗМЕРЕНИЕ)</a:t>
            </a:r>
          </a:p>
        </p:txBody>
      </p:sp>
      <p:sp>
        <p:nvSpPr>
          <p:cNvPr id="7" name="TextBox 6"/>
          <p:cNvSpPr txBox="1"/>
          <p:nvPr/>
        </p:nvSpPr>
        <p:spPr>
          <a:xfrm>
            <a:off x="685800" y="2444216"/>
            <a:ext cx="1817889"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белый</a:t>
            </a:r>
          </a:p>
        </p:txBody>
      </p:sp>
      <p:sp>
        <p:nvSpPr>
          <p:cNvPr id="8" name="TextBox 7"/>
          <p:cNvSpPr txBox="1"/>
          <p:nvPr/>
        </p:nvSpPr>
        <p:spPr>
          <a:xfrm>
            <a:off x="2649993" y="2444216"/>
            <a:ext cx="3132686"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50-й процентиль</a:t>
            </a:r>
          </a:p>
        </p:txBody>
      </p:sp>
      <p:sp>
        <p:nvSpPr>
          <p:cNvPr id="9" name="TextBox 8"/>
          <p:cNvSpPr txBox="1"/>
          <p:nvPr/>
        </p:nvSpPr>
        <p:spPr>
          <a:xfrm>
            <a:off x="5928983" y="2444216"/>
            <a:ext cx="5427864"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соответствует баллу</a:t>
            </a:r>
          </a:p>
        </p:txBody>
      </p:sp>
      <p:cxnSp>
        <p:nvCxnSpPr>
          <p:cNvPr id="10" name="Connector 9"/>
          <p:cNvCxnSpPr/>
          <p:nvPr/>
        </p:nvCxnSpPr>
        <p:spPr>
          <a:xfrm>
            <a:off x="685800" y="2791371"/>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2791371"/>
            <a:ext cx="1817889"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чёрный</a:t>
            </a:r>
          </a:p>
        </p:txBody>
      </p:sp>
      <p:sp>
        <p:nvSpPr>
          <p:cNvPr id="12" name="TextBox 11"/>
          <p:cNvSpPr txBox="1"/>
          <p:nvPr/>
        </p:nvSpPr>
        <p:spPr>
          <a:xfrm>
            <a:off x="2649993" y="2791371"/>
            <a:ext cx="3132686"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тот же 50-й процентиль</a:t>
            </a:r>
          </a:p>
        </p:txBody>
      </p:sp>
      <p:sp>
        <p:nvSpPr>
          <p:cNvPr id="13" name="TextBox 12"/>
          <p:cNvSpPr txBox="1"/>
          <p:nvPr/>
        </p:nvSpPr>
        <p:spPr>
          <a:xfrm>
            <a:off x="5928983" y="2791371"/>
            <a:ext cx="5427864"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заметно тяжелее, чем у пациента с тем же баллом</a:t>
            </a:r>
          </a:p>
        </p:txBody>
      </p:sp>
      <p:sp>
        <p:nvSpPr>
          <p:cNvPr id="14" name="Rounded Rectangle 13"/>
          <p:cNvSpPr/>
          <p:nvPr/>
        </p:nvSpPr>
        <p:spPr>
          <a:xfrm>
            <a:off x="502920" y="3988917"/>
            <a:ext cx="82296" cy="7848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4116933"/>
            <a:ext cx="10643616" cy="52882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Шум измерения гасится при усреднении по множеству пациентов. Систематическое смещение от</a:t>
            </a:r>
          </a:p>
          <a:p>
            <a:pPr algn="l">
              <a:lnSpc>
                <a:spcPts val="1860"/>
              </a:lnSpc>
              <a:spcAft>
                <a:spcPts val="300"/>
              </a:spcAft>
            </a:pPr>
            <a:r>
              <a:rPr sz="1500" b="1" i="0">
                <a:solidFill>
                  <a:srgbClr val="141B2E"/>
                </a:solidFill>
                <a:latin typeface="Arial"/>
              </a:rPr>
              <a:t>усреднения только крепнет — ровно так одно отличают от другого.</a:t>
            </a:r>
          </a:p>
        </p:txBody>
      </p:sp>
      <p:sp>
        <p:nvSpPr>
          <p:cNvPr id="16" name="TextBox 1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Чем алгоритм заменил «потребность в помощи»?</a:t>
            </a:r>
          </a:p>
        </p:txBody>
      </p:sp>
      <p:sp>
        <p:nvSpPr>
          <p:cNvPr id="3" name="Rectangle 2"/>
          <p:cNvSpPr/>
          <p:nvPr/>
        </p:nvSpPr>
        <p:spPr>
          <a:xfrm>
            <a:off x="502920" y="1693468"/>
            <a:ext cx="32004" cy="317754"/>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2668" y="1748332"/>
            <a:ext cx="10730484" cy="208025"/>
          </a:xfrm>
          <a:prstGeom prst="rect">
            <a:avLst/>
          </a:prstGeom>
          <a:noFill/>
        </p:spPr>
        <p:txBody>
          <a:bodyPr wrap="square" lIns="0" rIns="0" tIns="0" bIns="0" anchor="ctr">
            <a:spAutoFit/>
          </a:bodyPr>
          <a:lstStyle/>
          <a:p>
            <a:pPr algn="l">
              <a:lnSpc>
                <a:spcPts val="1638"/>
              </a:lnSpc>
              <a:spcAft>
                <a:spcPts val="300"/>
              </a:spcAft>
            </a:pPr>
            <a:r>
              <a:rPr sz="1300" b="0" i="1">
                <a:solidFill>
                  <a:srgbClr val="6B7685"/>
                </a:solidFill>
                <a:latin typeface="Arial"/>
              </a:rPr>
              <a:t>«Алгоритм не видит расу пациента на входе вообще.»</a:t>
            </a:r>
          </a:p>
        </p:txBody>
      </p:sp>
      <p:sp>
        <p:nvSpPr>
          <p:cNvPr id="5" name="Rounded Rectangle 4"/>
          <p:cNvSpPr/>
          <p:nvPr/>
        </p:nvSpPr>
        <p:spPr>
          <a:xfrm>
            <a:off x="502920" y="2715310"/>
            <a:ext cx="11183112" cy="8229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2376" y="2843326"/>
            <a:ext cx="10634472" cy="5669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«Что из перечисленного он мог взять в качестве замены слову "потребность в помощи" — и почему это могло пойти не так?»</a:t>
            </a:r>
          </a:p>
        </p:txBody>
      </p:sp>
      <p:sp>
        <p:nvSpPr>
          <p:cNvPr id="7" name="Rounded Rectangle 6"/>
          <p:cNvSpPr/>
          <p:nvPr/>
        </p:nvSpPr>
        <p:spPr>
          <a:xfrm>
            <a:off x="502920" y="4205782"/>
            <a:ext cx="2686050" cy="105156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2648" y="4205782"/>
            <a:ext cx="2466594" cy="105156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число предыдущих диагнозов</a:t>
            </a:r>
          </a:p>
        </p:txBody>
      </p:sp>
      <p:sp>
        <p:nvSpPr>
          <p:cNvPr id="9" name="Rounded Rectangle 8"/>
          <p:cNvSpPr/>
          <p:nvPr/>
        </p:nvSpPr>
        <p:spPr>
          <a:xfrm>
            <a:off x="3335274" y="4205782"/>
            <a:ext cx="2686050" cy="105156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45002" y="4205782"/>
            <a:ext cx="2466594" cy="105156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прошлые расходы на здравоохранение</a:t>
            </a:r>
          </a:p>
        </p:txBody>
      </p:sp>
      <p:sp>
        <p:nvSpPr>
          <p:cNvPr id="11" name="Rounded Rectangle 10"/>
          <p:cNvSpPr/>
          <p:nvPr/>
        </p:nvSpPr>
        <p:spPr>
          <a:xfrm>
            <a:off x="6167628" y="4205782"/>
            <a:ext cx="2686050" cy="105156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77356" y="4205782"/>
            <a:ext cx="2466594" cy="105156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количество выписанных препаратов</a:t>
            </a:r>
          </a:p>
        </p:txBody>
      </p:sp>
      <p:sp>
        <p:nvSpPr>
          <p:cNvPr id="13" name="Rounded Rectangle 12"/>
          <p:cNvSpPr/>
          <p:nvPr/>
        </p:nvSpPr>
        <p:spPr>
          <a:xfrm>
            <a:off x="8999982" y="4205782"/>
            <a:ext cx="2686050" cy="105156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09710" y="4205782"/>
            <a:ext cx="2466594" cy="105156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число обращений в больницу за год</a:t>
            </a:r>
          </a:p>
        </p:txBody>
      </p:sp>
      <p:sp>
        <p:nvSpPr>
          <p:cNvPr id="15" name="TextBox 14"/>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Прошлые расходы — замена потребности, не её измерение</a:t>
            </a:r>
          </a:p>
        </p:txBody>
      </p:sp>
      <p:sp>
        <p:nvSpPr>
          <p:cNvPr id="3" name="Rounded Rectangle 2"/>
          <p:cNvSpPr/>
          <p:nvPr/>
        </p:nvSpPr>
        <p:spPr>
          <a:xfrm>
            <a:off x="502920" y="1382606"/>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510622"/>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Все четыре кандидата измеримы без нового сбора данных; различие — в том, что обнаружило исследование.</a:t>
            </a:r>
          </a:p>
        </p:txBody>
      </p:sp>
      <p:sp>
        <p:nvSpPr>
          <p:cNvPr id="5" name="Rounded Rectangle 4"/>
          <p:cNvSpPr/>
          <p:nvPr/>
        </p:nvSpPr>
        <p:spPr>
          <a:xfrm>
            <a:off x="502920" y="2451015"/>
            <a:ext cx="11183112" cy="2401569"/>
          </a:xfrm>
          <a:prstGeom prst="roundRect">
            <a:avLst>
              <a:gd name="adj" fmla="val 12691"/>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633895"/>
            <a:ext cx="3386760"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КАНДИДАТ</a:t>
            </a:r>
          </a:p>
        </p:txBody>
      </p:sp>
      <p:sp>
        <p:nvSpPr>
          <p:cNvPr id="7" name="TextBox 6"/>
          <p:cNvSpPr txBox="1"/>
          <p:nvPr/>
        </p:nvSpPr>
        <p:spPr>
          <a:xfrm>
            <a:off x="4218864" y="2633895"/>
            <a:ext cx="7137983"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ЧТО ОБНАРУЖИЛО ИССЛЕДОВАНИЕ</a:t>
            </a:r>
          </a:p>
        </p:txBody>
      </p:sp>
      <p:sp>
        <p:nvSpPr>
          <p:cNvPr id="8" name="TextBox 7"/>
          <p:cNvSpPr txBox="1"/>
          <p:nvPr/>
        </p:nvSpPr>
        <p:spPr>
          <a:xfrm>
            <a:off x="685800" y="2915962"/>
            <a:ext cx="3386760"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число предыдущих диагнозов</a:t>
            </a:r>
          </a:p>
        </p:txBody>
      </p:sp>
      <p:sp>
        <p:nvSpPr>
          <p:cNvPr id="9" name="TextBox 8"/>
          <p:cNvSpPr txBox="1"/>
          <p:nvPr/>
        </p:nvSpPr>
        <p:spPr>
          <a:xfrm>
            <a:off x="4218864" y="2915962"/>
            <a:ext cx="7137983"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не тот признак, который измерил Obermeyer et al. в алгоритме Optum</a:t>
            </a:r>
          </a:p>
        </p:txBody>
      </p:sp>
      <p:cxnSp>
        <p:nvCxnSpPr>
          <p:cNvPr id="10" name="Connector 9"/>
          <p:cNvCxnSpPr/>
          <p:nvPr/>
        </p:nvCxnSpPr>
        <p:spPr>
          <a:xfrm>
            <a:off x="685800" y="326311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66928" y="3263116"/>
            <a:ext cx="11055096" cy="712279"/>
          </a:xfrm>
          <a:prstGeom prst="roundRect">
            <a:avLst>
              <a:gd name="adj" fmla="val 8000"/>
            </a:avLst>
          </a:prstGeom>
          <a:solidFill>
            <a:srgbClr val="FE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263116"/>
            <a:ext cx="3386760" cy="712279"/>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прошлые расходы на здравоохранение</a:t>
            </a:r>
          </a:p>
        </p:txBody>
      </p:sp>
      <p:sp>
        <p:nvSpPr>
          <p:cNvPr id="13" name="TextBox 12"/>
          <p:cNvSpPr txBox="1"/>
          <p:nvPr/>
        </p:nvSpPr>
        <p:spPr>
          <a:xfrm>
            <a:off x="4218864" y="3263116"/>
            <a:ext cx="7137983" cy="712279"/>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именно этот признак алгоритм использовал как замену потребности в помощи — а расходы ниже у чёрных пациентов при той же тяжести состояния</a:t>
            </a:r>
          </a:p>
        </p:txBody>
      </p:sp>
      <p:cxnSp>
        <p:nvCxnSpPr>
          <p:cNvPr id="14" name="Connector 13"/>
          <p:cNvCxnSpPr/>
          <p:nvPr/>
        </p:nvCxnSpPr>
        <p:spPr>
          <a:xfrm>
            <a:off x="685800" y="397539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3975396"/>
            <a:ext cx="3386760"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количество выписанных препаратов</a:t>
            </a:r>
          </a:p>
        </p:txBody>
      </p:sp>
      <p:sp>
        <p:nvSpPr>
          <p:cNvPr id="16" name="TextBox 15"/>
          <p:cNvSpPr txBox="1"/>
          <p:nvPr/>
        </p:nvSpPr>
        <p:spPr>
          <a:xfrm>
            <a:off x="4218864" y="3975396"/>
            <a:ext cx="7137983"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не тот признак</a:t>
            </a:r>
          </a:p>
        </p:txBody>
      </p:sp>
      <p:cxnSp>
        <p:nvCxnSpPr>
          <p:cNvPr id="17" name="Connector 16"/>
          <p:cNvCxnSpPr/>
          <p:nvPr/>
        </p:nvCxnSpPr>
        <p:spPr>
          <a:xfrm>
            <a:off x="685800" y="432255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85800" y="4322550"/>
            <a:ext cx="3386760"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число обращений в больницу за год</a:t>
            </a:r>
          </a:p>
        </p:txBody>
      </p:sp>
      <p:sp>
        <p:nvSpPr>
          <p:cNvPr id="19" name="TextBox 18"/>
          <p:cNvSpPr txBox="1"/>
          <p:nvPr/>
        </p:nvSpPr>
        <p:spPr>
          <a:xfrm>
            <a:off x="4218864" y="4322550"/>
            <a:ext cx="7137983"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не тот признак</a:t>
            </a:r>
          </a:p>
        </p:txBody>
      </p:sp>
      <p:sp>
        <p:nvSpPr>
          <p:cNvPr id="20" name="Rounded Rectangle 19"/>
          <p:cNvSpPr/>
          <p:nvPr/>
        </p:nvSpPr>
        <p:spPr>
          <a:xfrm>
            <a:off x="502920" y="5174234"/>
            <a:ext cx="82296" cy="10591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5302250"/>
            <a:ext cx="10643616" cy="8031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Подмена проксёй сократила более чем вдвое число чёрных пациентов, направленных в</a:t>
            </a:r>
          </a:p>
          <a:p>
            <a:pPr algn="l">
              <a:lnSpc>
                <a:spcPts val="1860"/>
              </a:lnSpc>
              <a:spcAft>
                <a:spcPts val="300"/>
              </a:spcAft>
            </a:pPr>
            <a:r>
              <a:rPr sz="1500" b="1" i="0">
                <a:solidFill>
                  <a:srgbClr val="141B2E"/>
                </a:solidFill>
                <a:latin typeface="Arial"/>
              </a:rPr>
              <a:t>программу усиленного наблюдения, при той же фактической тяжести состояния. Исправленный</a:t>
            </a:r>
          </a:p>
          <a:p>
            <a:pPr algn="l">
              <a:lnSpc>
                <a:spcPts val="1860"/>
              </a:lnSpc>
              <a:spcAft>
                <a:spcPts val="300"/>
              </a:spcAft>
            </a:pPr>
            <a:r>
              <a:rPr sz="1500" b="1" i="0">
                <a:solidFill>
                  <a:srgbClr val="141B2E"/>
                </a:solidFill>
                <a:latin typeface="Arial"/>
              </a:rPr>
              <a:t>алгоритм дал бы 17,7% → 46,5% на решениях для ≈200 млн человек в год.</a:t>
            </a:r>
          </a:p>
        </p:txBody>
      </p:sp>
      <p:sp>
        <p:nvSpPr>
          <p:cNvPr id="22" name="TextBox 21"/>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34440" y="2394966"/>
            <a:ext cx="9692640" cy="899160"/>
          </a:xfrm>
          <a:prstGeom prst="rect">
            <a:avLst/>
          </a:prstGeom>
          <a:noFill/>
        </p:spPr>
        <p:txBody>
          <a:bodyPr wrap="square" lIns="0" rIns="0" tIns="0" bIns="0" anchor="t">
            <a:spAutoFit/>
          </a:bodyPr>
          <a:lstStyle/>
          <a:p>
            <a:pPr algn="l">
              <a:lnSpc>
                <a:spcPts val="3540"/>
              </a:lnSpc>
              <a:spcAft>
                <a:spcPts val="0"/>
              </a:spcAft>
            </a:pPr>
            <a:r>
              <a:rPr sz="3000" b="1" i="0">
                <a:solidFill>
                  <a:srgbClr val="FFFFFF"/>
                </a:solidFill>
                <a:latin typeface="Arial"/>
              </a:rPr>
              <a:t>Как число, в котором расы вообще нет, даёт результат, разный по расе?</a:t>
            </a:r>
          </a:p>
        </p:txBody>
      </p:sp>
      <p:sp>
        <p:nvSpPr>
          <p:cNvPr id="4" name="TextBox 3"/>
          <p:cNvSpPr txBox="1"/>
          <p:nvPr/>
        </p:nvSpPr>
        <p:spPr>
          <a:xfrm>
            <a:off x="1234440" y="3477006"/>
            <a:ext cx="9692640" cy="894588"/>
          </a:xfrm>
          <a:prstGeom prst="rect">
            <a:avLst/>
          </a:prstGeom>
          <a:noFill/>
        </p:spPr>
        <p:txBody>
          <a:bodyPr wrap="square" lIns="0" rIns="0" tIns="0" bIns="0" anchor="t">
            <a:spAutoFit/>
          </a:bodyPr>
          <a:lstStyle/>
          <a:p>
            <a:pPr algn="l">
              <a:lnSpc>
                <a:spcPts val="1820"/>
              </a:lnSpc>
              <a:spcAft>
                <a:spcPts val="0"/>
              </a:spcAft>
            </a:pPr>
            <a:r>
              <a:rPr sz="1400" b="0" i="1">
                <a:solidFill>
                  <a:srgbClr val="9FAEC4"/>
                </a:solidFill>
                <a:latin typeface="Arial"/>
              </a:rPr>
              <a:t>Второй случай — другое ведомство, другая профессиональная культура, другой порядок величин (десятки миллионов деклараций ежегодно). Переносится не признак — переносится механизм замены.</a:t>
            </a:r>
          </a:p>
        </p:txBody>
      </p:sp>
      <p:sp>
        <p:nvSpPr>
          <p:cNvPr id="5" name="Rounded Rectangle 4"/>
          <p:cNvSpPr/>
          <p:nvPr/>
        </p:nvSpPr>
        <p:spPr>
          <a:xfrm>
            <a:off x="502920" y="5989320"/>
            <a:ext cx="3605784" cy="384048"/>
          </a:xfrm>
          <a:prstGeom prst="roundRect">
            <a:avLst>
              <a:gd name="adj" fmla="val 3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5989320"/>
            <a:ext cx="3605784"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FFFFFF"/>
                </a:solidFill>
                <a:latin typeface="Arial"/>
              </a:rPr>
              <a:t>Кейс А</a:t>
            </a:r>
          </a:p>
        </p:txBody>
      </p:sp>
      <p:sp>
        <p:nvSpPr>
          <p:cNvPr id="7" name="Rounded Rectangle 6"/>
          <p:cNvSpPr/>
          <p:nvPr/>
        </p:nvSpPr>
        <p:spPr>
          <a:xfrm>
            <a:off x="4291584" y="5989320"/>
            <a:ext cx="3605784" cy="384048"/>
          </a:xfrm>
          <a:prstGeom prst="roundRect">
            <a:avLst>
              <a:gd name="adj" fmla="val 3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91584" y="5989320"/>
            <a:ext cx="3605784"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FFFFFF"/>
                </a:solidFill>
                <a:latin typeface="Arial"/>
              </a:rPr>
              <a:t>Кейс Б</a:t>
            </a:r>
          </a:p>
        </p:txBody>
      </p:sp>
      <p:sp>
        <p:nvSpPr>
          <p:cNvPr id="9" name="Rounded Rectangle 8"/>
          <p:cNvSpPr/>
          <p:nvPr/>
        </p:nvSpPr>
        <p:spPr>
          <a:xfrm>
            <a:off x="8080247" y="5989320"/>
            <a:ext cx="3605784" cy="384048"/>
          </a:xfrm>
          <a:prstGeom prst="roundRect">
            <a:avLst>
              <a:gd name="adj" fmla="val 3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80247" y="5989320"/>
            <a:ext cx="3605784" cy="384048"/>
          </a:xfrm>
          <a:prstGeom prst="rect">
            <a:avLst/>
          </a:prstGeom>
          <a:noFill/>
        </p:spPr>
        <p:txBody>
          <a:bodyPr wrap="square" lIns="0" rIns="0" tIns="0" bIns="0" anchor="ctr">
            <a:spAutoFit/>
          </a:bodyPr>
          <a:lstStyle/>
          <a:p>
            <a:pPr algn="ctr">
              <a:lnSpc>
                <a:spcPts val="1475"/>
              </a:lnSpc>
              <a:spcAft>
                <a:spcPts val="0"/>
              </a:spcAft>
            </a:pPr>
            <a:r>
              <a:rPr sz="1250" b="1" i="0">
                <a:solidFill>
                  <a:srgbClr val="21295C"/>
                </a:solidFill>
                <a:latin typeface="Arial"/>
              </a:rPr>
              <a:t>Кейс В</a:t>
            </a:r>
          </a:p>
        </p:txBody>
      </p:sp>
      <p:sp>
        <p:nvSpPr>
          <p:cNvPr id="11" name="TextBox 10"/>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FFFFFF"/>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Похожие декларации, разная вероятность проверки</a:t>
            </a:r>
          </a:p>
        </p:txBody>
      </p:sp>
      <p:sp>
        <p:nvSpPr>
          <p:cNvPr id="3" name="Rounded Rectangle 2"/>
          <p:cNvSpPr/>
          <p:nvPr/>
        </p:nvSpPr>
        <p:spPr>
          <a:xfrm>
            <a:off x="502920" y="1288592"/>
            <a:ext cx="82296" cy="10591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416608"/>
            <a:ext cx="10643616" cy="8031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Поток деклараций огромен, инспекторов на ручную проверку каждой не хватает. Значительная</a:t>
            </a:r>
          </a:p>
          <a:p>
            <a:pPr algn="l">
              <a:lnSpc>
                <a:spcPts val="1860"/>
              </a:lnSpc>
              <a:spcAft>
                <a:spcPts val="300"/>
              </a:spcAft>
            </a:pPr>
            <a:r>
              <a:rPr sz="1500" b="1" i="0">
                <a:solidFill>
                  <a:srgbClr val="141B2E"/>
                </a:solidFill>
                <a:latin typeface="Arial"/>
              </a:rPr>
              <a:t>часть отбора идёт через скрининг заявок на EITC: претендентам на этот вычет декларацию</a:t>
            </a:r>
          </a:p>
          <a:p>
            <a:pPr algn="l">
              <a:lnSpc>
                <a:spcPts val="1860"/>
              </a:lnSpc>
              <a:spcAft>
                <a:spcPts val="300"/>
              </a:spcAft>
            </a:pPr>
            <a:r>
              <a:rPr sz="1500" b="1" i="0">
                <a:solidFill>
                  <a:srgbClr val="141B2E"/>
                </a:solidFill>
                <a:latin typeface="Arial"/>
              </a:rPr>
              <a:t>проверяют заметно чаще, чем остальным налогоплательщикам.</a:t>
            </a:r>
          </a:p>
        </p:txBody>
      </p:sp>
      <p:sp>
        <p:nvSpPr>
          <p:cNvPr id="5" name="Rounded Rectangle 4"/>
          <p:cNvSpPr/>
          <p:nvPr/>
        </p:nvSpPr>
        <p:spPr>
          <a:xfrm>
            <a:off x="502920" y="3015284"/>
            <a:ext cx="11183112" cy="1342135"/>
          </a:xfrm>
          <a:prstGeom prst="roundRect">
            <a:avLst>
              <a:gd name="adj" fmla="val 22710"/>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3198164"/>
            <a:ext cx="2707468"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НАЛОГОПЛАТЕЛЬЩИК</a:t>
            </a:r>
          </a:p>
        </p:txBody>
      </p:sp>
      <p:sp>
        <p:nvSpPr>
          <p:cNvPr id="7" name="TextBox 6"/>
          <p:cNvSpPr txBox="1"/>
          <p:nvPr/>
        </p:nvSpPr>
        <p:spPr>
          <a:xfrm>
            <a:off x="3539572" y="3198164"/>
            <a:ext cx="3892635"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ДОХОД, ВЫЧЕТЫ, EITC</a:t>
            </a:r>
          </a:p>
        </p:txBody>
      </p:sp>
      <p:sp>
        <p:nvSpPr>
          <p:cNvPr id="8" name="TextBox 7"/>
          <p:cNvSpPr txBox="1"/>
          <p:nvPr/>
        </p:nvSpPr>
        <p:spPr>
          <a:xfrm>
            <a:off x="7578512" y="3198164"/>
            <a:ext cx="3778335"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ВЕРОЯТНОСТЬ ПИСЬМА О ПРОВЕРКЕ</a:t>
            </a:r>
          </a:p>
        </p:txBody>
      </p:sp>
      <p:sp>
        <p:nvSpPr>
          <p:cNvPr id="9" name="TextBox 8"/>
          <p:cNvSpPr txBox="1"/>
          <p:nvPr/>
        </p:nvSpPr>
        <p:spPr>
          <a:xfrm>
            <a:off x="685800" y="3480231"/>
            <a:ext cx="2707468"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белый</a:t>
            </a:r>
          </a:p>
        </p:txBody>
      </p:sp>
      <p:sp>
        <p:nvSpPr>
          <p:cNvPr id="10" name="TextBox 9"/>
          <p:cNvSpPr txBox="1"/>
          <p:nvPr/>
        </p:nvSpPr>
        <p:spPr>
          <a:xfrm>
            <a:off x="3539572" y="3480231"/>
            <a:ext cx="3892635"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тот же диапазон, та же структура</a:t>
            </a:r>
          </a:p>
        </p:txBody>
      </p:sp>
      <p:sp>
        <p:nvSpPr>
          <p:cNvPr id="11" name="TextBox 10"/>
          <p:cNvSpPr txBox="1"/>
          <p:nvPr/>
        </p:nvSpPr>
        <p:spPr>
          <a:xfrm>
            <a:off x="7578512" y="3480231"/>
            <a:ext cx="3778335"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базовая</a:t>
            </a:r>
          </a:p>
        </p:txBody>
      </p:sp>
      <p:cxnSp>
        <p:nvCxnSpPr>
          <p:cNvPr id="12" name="Connector 11"/>
          <p:cNvCxnSpPr/>
          <p:nvPr/>
        </p:nvCxnSpPr>
        <p:spPr>
          <a:xfrm>
            <a:off x="685800" y="382738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3827386"/>
            <a:ext cx="2707468"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чёрный</a:t>
            </a:r>
          </a:p>
        </p:txBody>
      </p:sp>
      <p:sp>
        <p:nvSpPr>
          <p:cNvPr id="14" name="TextBox 13"/>
          <p:cNvSpPr txBox="1"/>
          <p:nvPr/>
        </p:nvSpPr>
        <p:spPr>
          <a:xfrm>
            <a:off x="3539572" y="3827386"/>
            <a:ext cx="3892635"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тот же диапазон, та же структура</a:t>
            </a:r>
          </a:p>
        </p:txBody>
      </p:sp>
      <p:sp>
        <p:nvSpPr>
          <p:cNvPr id="15" name="TextBox 14"/>
          <p:cNvSpPr txBox="1"/>
          <p:nvPr/>
        </p:nvSpPr>
        <p:spPr>
          <a:xfrm>
            <a:off x="7578512" y="3827386"/>
            <a:ext cx="3778335"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заметно выше</a:t>
            </a:r>
          </a:p>
        </p:txBody>
      </p:sp>
      <p:sp>
        <p:nvSpPr>
          <p:cNvPr id="16" name="Rounded Rectangle 15"/>
          <p:cNvSpPr/>
          <p:nvPr/>
        </p:nvSpPr>
        <p:spPr>
          <a:xfrm>
            <a:off x="502920" y="5024932"/>
            <a:ext cx="82296" cy="7848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 y="5152948"/>
            <a:ext cx="10643616" cy="52882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Разница держится не на одной декларации — это статистика по миллионам деклараций за</a:t>
            </a:r>
          </a:p>
          <a:p>
            <a:pPr algn="l">
              <a:lnSpc>
                <a:spcPts val="1860"/>
              </a:lnSpc>
              <a:spcAft>
                <a:spcPts val="300"/>
              </a:spcAft>
            </a:pPr>
            <a:r>
              <a:rPr sz="1500" b="1" i="0">
                <a:solidFill>
                  <a:srgbClr val="141B2E"/>
                </a:solidFill>
                <a:latin typeface="Arial"/>
              </a:rPr>
              <a:t>несколько лет работы алгоритма, устойчивая из года в год.</a:t>
            </a:r>
          </a:p>
        </p:txBody>
      </p:sp>
      <p:sp>
        <p:nvSpPr>
          <p:cNvPr id="18" name="TextBox 1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Во сколько раз чаще?</a:t>
            </a:r>
          </a:p>
        </p:txBody>
      </p:sp>
      <p:sp>
        <p:nvSpPr>
          <p:cNvPr id="3" name="Rounded Rectangle 2"/>
          <p:cNvSpPr/>
          <p:nvPr/>
        </p:nvSpPr>
        <p:spPr>
          <a:xfrm>
            <a:off x="502920" y="2673248"/>
            <a:ext cx="11183112" cy="1059561"/>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2801264"/>
            <a:ext cx="10634472" cy="8035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«Не выбирайте карточку — назовите число. Во сколько раз чаще, по сравнению с другими налогоплательщиками со схожими декларациями, по этим данным аудировали чернокожих налогоплательщиков?»</a:t>
            </a:r>
          </a:p>
        </p:txBody>
      </p:sp>
      <p:sp>
        <p:nvSpPr>
          <p:cNvPr id="5" name="TextBox 4"/>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Тот же механизм, другой домен — подтверждено самим IRS</a:t>
            </a:r>
          </a:p>
        </p:txBody>
      </p:sp>
      <p:sp>
        <p:nvSpPr>
          <p:cNvPr id="3" name="Rounded Rectangle 2"/>
          <p:cNvSpPr/>
          <p:nvPr/>
        </p:nvSpPr>
        <p:spPr>
          <a:xfrm>
            <a:off x="502920" y="1949348"/>
            <a:ext cx="82296" cy="10591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2077364"/>
            <a:ext cx="10643616" cy="8031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2,9–4,7×</a:t>
            </a:r>
            <a:r>
              <a:rPr sz="1500" b="1" i="0">
                <a:solidFill>
                  <a:srgbClr val="141B2E"/>
                </a:solidFill>
                <a:latin typeface="Arial"/>
              </a:rPr>
              <a:t> — во столько раз чаще аудировали чернокожих налогоплательщиков при</a:t>
            </a:r>
          </a:p>
          <a:p>
            <a:pPr algn="l">
              <a:lnSpc>
                <a:spcPts val="1860"/>
              </a:lnSpc>
              <a:spcAft>
                <a:spcPts val="300"/>
              </a:spcAft>
            </a:pPr>
            <a:r>
              <a:rPr sz="1500" b="1" i="0">
                <a:solidFill>
                  <a:srgbClr val="141B2E"/>
                </a:solidFill>
                <a:latin typeface="Arial"/>
              </a:rPr>
              <a:t>сравнимых декларациях. Подтверждено совместным исследованием Stanford и самой IRS, 2023;</a:t>
            </a:r>
          </a:p>
          <a:p>
            <a:pPr algn="l">
              <a:lnSpc>
                <a:spcPts val="1860"/>
              </a:lnSpc>
              <a:spcAft>
                <a:spcPts val="300"/>
              </a:spcAft>
            </a:pPr>
            <a:r>
              <a:rPr sz="1500" b="1" i="0">
                <a:solidFill>
                  <a:srgbClr val="141B2E"/>
                </a:solidFill>
                <a:latin typeface="Arial"/>
              </a:rPr>
              <a:t>IRS объявила о намерении исправить процесс отбора.</a:t>
            </a:r>
          </a:p>
        </p:txBody>
      </p:sp>
      <p:sp>
        <p:nvSpPr>
          <p:cNvPr id="5" name="Rounded Rectangle 4"/>
          <p:cNvSpPr/>
          <p:nvPr/>
        </p:nvSpPr>
        <p:spPr>
          <a:xfrm>
            <a:off x="502920" y="3676040"/>
            <a:ext cx="11183112" cy="1707261"/>
          </a:xfrm>
          <a:prstGeom prst="roundRect">
            <a:avLst>
              <a:gd name="adj" fmla="val 17853"/>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3858920"/>
            <a:ext cx="610910"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КЕЙС</a:t>
            </a:r>
          </a:p>
        </p:txBody>
      </p:sp>
      <p:sp>
        <p:nvSpPr>
          <p:cNvPr id="7" name="TextBox 6"/>
          <p:cNvSpPr txBox="1"/>
          <p:nvPr/>
        </p:nvSpPr>
        <p:spPr>
          <a:xfrm>
            <a:off x="1443014" y="3858920"/>
            <a:ext cx="9913833"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МЕХАНИЗМ ПОДМЕНЫ</a:t>
            </a:r>
          </a:p>
        </p:txBody>
      </p:sp>
      <p:sp>
        <p:nvSpPr>
          <p:cNvPr id="8" name="TextBox 7"/>
          <p:cNvSpPr txBox="1"/>
          <p:nvPr/>
        </p:nvSpPr>
        <p:spPr>
          <a:xfrm>
            <a:off x="685800" y="4140987"/>
            <a:ext cx="610910"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B — Optum</a:t>
            </a:r>
          </a:p>
        </p:txBody>
      </p:sp>
      <p:sp>
        <p:nvSpPr>
          <p:cNvPr id="9" name="TextBox 8"/>
          <p:cNvSpPr txBox="1"/>
          <p:nvPr/>
        </p:nvSpPr>
        <p:spPr>
          <a:xfrm>
            <a:off x="1443014" y="4140987"/>
            <a:ext cx="9913833"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алгоритм оптимизировал предсказание будущих расходов на лечение — а прошлые расходы ниже у чёрных пациентов при той же тяжести состояния</a:t>
            </a:r>
          </a:p>
        </p:txBody>
      </p:sp>
      <p:cxnSp>
        <p:nvCxnSpPr>
          <p:cNvPr id="10" name="Connector 9"/>
          <p:cNvCxnSpPr/>
          <p:nvPr/>
        </p:nvCxnSpPr>
        <p:spPr>
          <a:xfrm>
            <a:off x="685800" y="467070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4670704"/>
            <a:ext cx="610910"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C — IRS</a:t>
            </a:r>
          </a:p>
        </p:txBody>
      </p:sp>
      <p:sp>
        <p:nvSpPr>
          <p:cNvPr id="12" name="TextBox 11"/>
          <p:cNvSpPr txBox="1"/>
          <p:nvPr/>
        </p:nvSpPr>
        <p:spPr>
          <a:xfrm>
            <a:off x="1443014" y="4670704"/>
            <a:ext cx="9913833"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алгоритм оптимизировал экономию часов инспектора — а декларации с EITC дешевле и быстрее проверить, и среди претендентов на EITC доля чернокожих налогоплательщиков выше, чем в среднем</a:t>
            </a:r>
          </a:p>
        </p:txBody>
      </p:sp>
      <p:sp>
        <p:nvSpPr>
          <p:cNvPr id="13" name="TextBox 12"/>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Когда маршрут работает, а когда не хватает</a:t>
            </a:r>
          </a:p>
        </p:txBody>
      </p:sp>
      <p:sp>
        <p:nvSpPr>
          <p:cNvPr id="3" name="Rounded Rectangle 2"/>
          <p:cNvSpPr/>
          <p:nvPr/>
        </p:nvSpPr>
        <p:spPr>
          <a:xfrm>
            <a:off x="502920" y="1700174"/>
            <a:ext cx="82296" cy="7848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828190"/>
            <a:ext cx="10643616" cy="52882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Третья строка — главный мостик кейсов B и C к механике кейса A: там, где ошибка</a:t>
            </a:r>
          </a:p>
          <a:p>
            <a:pPr algn="l">
              <a:lnSpc>
                <a:spcPts val="1860"/>
              </a:lnSpc>
              <a:spcAft>
                <a:spcPts val="300"/>
              </a:spcAft>
            </a:pPr>
            <a:r>
              <a:rPr sz="1500" b="1" i="0">
                <a:solidFill>
                  <a:srgbClr val="141B2E"/>
                </a:solidFill>
                <a:latin typeface="Arial"/>
              </a:rPr>
              <a:t>маршрутизации тихая и системная, распознать её на одном случае нельзя вообще.</a:t>
            </a:r>
          </a:p>
        </p:txBody>
      </p:sp>
      <p:sp>
        <p:nvSpPr>
          <p:cNvPr id="5" name="Rounded Rectangle 4"/>
          <p:cNvSpPr/>
          <p:nvPr/>
        </p:nvSpPr>
        <p:spPr>
          <a:xfrm>
            <a:off x="502920" y="3152546"/>
            <a:ext cx="5454396" cy="2039874"/>
          </a:xfrm>
          <a:prstGeom prst="roundRect">
            <a:avLst>
              <a:gd name="adj" fmla="val 14942"/>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3262274"/>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6B7685"/>
                </a:solidFill>
                <a:latin typeface="Arial"/>
              </a:rPr>
              <a:t>МАРШРУТ ПО ЗАДАННЫМ КЛАССАМ РАБОТАЕТ, КОГДА</a:t>
            </a:r>
          </a:p>
        </p:txBody>
      </p:sp>
      <p:sp>
        <p:nvSpPr>
          <p:cNvPr id="7" name="TextBox 6"/>
          <p:cNvSpPr txBox="1"/>
          <p:nvPr/>
        </p:nvSpPr>
        <p:spPr>
          <a:xfrm>
            <a:off x="685800" y="3536594"/>
            <a:ext cx="5088636" cy="31864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классы известны заранее и не пересекаются</a:t>
            </a:r>
          </a:p>
        </p:txBody>
      </p:sp>
      <p:cxnSp>
        <p:nvCxnSpPr>
          <p:cNvPr id="8" name="Connector 7"/>
          <p:cNvCxnSpPr/>
          <p:nvPr/>
        </p:nvCxnSpPr>
        <p:spPr>
          <a:xfrm>
            <a:off x="685800" y="3855237"/>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3855237"/>
            <a:ext cx="5088636" cy="31864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правильный ответ — выбрать одну готовую ветку обработки</a:t>
            </a:r>
          </a:p>
        </p:txBody>
      </p:sp>
      <p:cxnSp>
        <p:nvCxnSpPr>
          <p:cNvPr id="10" name="Connector 9"/>
          <p:cNvCxnSpPr/>
          <p:nvPr/>
        </p:nvCxnSpPr>
        <p:spPr>
          <a:xfrm>
            <a:off x="685800" y="4173880"/>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4173880"/>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ошибка маршрутизации видна по результату — письмо попало не туда, это заметно</a:t>
            </a:r>
          </a:p>
        </p:txBody>
      </p:sp>
      <p:sp>
        <p:nvSpPr>
          <p:cNvPr id="12" name="Rounded Rectangle 11"/>
          <p:cNvSpPr/>
          <p:nvPr/>
        </p:nvSpPr>
        <p:spPr>
          <a:xfrm>
            <a:off x="6231636" y="3152546"/>
            <a:ext cx="5454396" cy="2039874"/>
          </a:xfrm>
          <a:prstGeom prst="roundRect">
            <a:avLst>
              <a:gd name="adj" fmla="val 14942"/>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4516" y="3262274"/>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8A6200"/>
                </a:solidFill>
                <a:latin typeface="Arial"/>
              </a:rPr>
              <a:t>МАРШРУТА НЕ ХВАТАЕТ, КОГДА</a:t>
            </a:r>
          </a:p>
        </p:txBody>
      </p:sp>
      <p:sp>
        <p:nvSpPr>
          <p:cNvPr id="14" name="TextBox 13"/>
          <p:cNvSpPr txBox="1"/>
          <p:nvPr/>
        </p:nvSpPr>
        <p:spPr>
          <a:xfrm>
            <a:off x="6414516" y="3536594"/>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классы неизвестны заранее или пересекаются — вход не описывается конечным списком</a:t>
            </a:r>
          </a:p>
        </p:txBody>
      </p:sp>
      <p:cxnSp>
        <p:nvCxnSpPr>
          <p:cNvPr id="15" name="Connector 14"/>
          <p:cNvCxnSpPr/>
          <p:nvPr/>
        </p:nvCxnSpPr>
        <p:spPr>
          <a:xfrm>
            <a:off x="6414516" y="4027576"/>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14516" y="4027576"/>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правильный ответ зависит от истории переписки или от сочетания нескольких признаков сразу, не от одной метки</a:t>
            </a:r>
          </a:p>
        </p:txBody>
      </p:sp>
      <p:cxnSp>
        <p:nvCxnSpPr>
          <p:cNvPr id="17" name="Connector 16"/>
          <p:cNvCxnSpPr/>
          <p:nvPr/>
        </p:nvCxnSpPr>
        <p:spPr>
          <a:xfrm>
            <a:off x="6414516" y="4518558"/>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14516" y="4518558"/>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ошибка систематическая, не разовая, и видна только на статистике по множеству решений, не по одному</a:t>
            </a:r>
          </a:p>
        </p:txBody>
      </p:sp>
      <p:sp>
        <p:nvSpPr>
          <p:cNvPr id="19" name="TextBox 18"/>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Три строки закрыты — шесть ждут следующих занятий</a:t>
            </a:r>
          </a:p>
        </p:txBody>
      </p:sp>
      <p:sp>
        <p:nvSpPr>
          <p:cNvPr id="3" name="Rounded Rectangle 2"/>
          <p:cNvSpPr/>
          <p:nvPr/>
        </p:nvSpPr>
        <p:spPr>
          <a:xfrm>
            <a:off x="502920" y="943356"/>
            <a:ext cx="11183112" cy="4692142"/>
          </a:xfrm>
          <a:prstGeom prst="roundRect">
            <a:avLst>
              <a:gd name="adj" fmla="val 6495"/>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26236"/>
            <a:ext cx="1259951" cy="274574"/>
          </a:xfrm>
          <a:prstGeom prst="rect">
            <a:avLst/>
          </a:prstGeom>
          <a:noFill/>
        </p:spPr>
        <p:txBody>
          <a:bodyPr wrap="square" lIns="0" rIns="0" tIns="0" bIns="0" anchor="t">
            <a:spAutoFit/>
          </a:bodyPr>
          <a:lstStyle/>
          <a:p>
            <a:pPr algn="l">
              <a:lnSpc>
                <a:spcPts val="1210"/>
              </a:lnSpc>
              <a:spcAft>
                <a:spcPts val="0"/>
              </a:spcAft>
            </a:pPr>
            <a:r>
              <a:rPr sz="1100" b="1" i="0">
                <a:solidFill>
                  <a:srgbClr val="6B7685"/>
                </a:solidFill>
                <a:latin typeface="Arial"/>
              </a:rPr>
              <a:t>СТРОКА</a:t>
            </a:r>
          </a:p>
        </p:txBody>
      </p:sp>
      <p:sp>
        <p:nvSpPr>
          <p:cNvPr id="5" name="TextBox 4"/>
          <p:cNvSpPr txBox="1"/>
          <p:nvPr/>
        </p:nvSpPr>
        <p:spPr>
          <a:xfrm>
            <a:off x="2092055" y="1126236"/>
            <a:ext cx="2774381" cy="274574"/>
          </a:xfrm>
          <a:prstGeom prst="rect">
            <a:avLst/>
          </a:prstGeom>
          <a:noFill/>
        </p:spPr>
        <p:txBody>
          <a:bodyPr wrap="square" lIns="0" rIns="0" tIns="0" bIns="0" anchor="t">
            <a:spAutoFit/>
          </a:bodyPr>
          <a:lstStyle/>
          <a:p>
            <a:pPr algn="l">
              <a:lnSpc>
                <a:spcPts val="1210"/>
              </a:lnSpc>
              <a:spcAft>
                <a:spcPts val="0"/>
              </a:spcAft>
            </a:pPr>
            <a:r>
              <a:rPr sz="1100" b="1" i="0">
                <a:solidFill>
                  <a:srgbClr val="6B7685"/>
                </a:solidFill>
                <a:latin typeface="Arial"/>
              </a:rPr>
              <a:t>ЧТО</a:t>
            </a:r>
          </a:p>
        </p:txBody>
      </p:sp>
      <p:sp>
        <p:nvSpPr>
          <p:cNvPr id="6" name="TextBox 5"/>
          <p:cNvSpPr txBox="1"/>
          <p:nvPr/>
        </p:nvSpPr>
        <p:spPr>
          <a:xfrm>
            <a:off x="5012740" y="1126236"/>
            <a:ext cx="2774381" cy="274574"/>
          </a:xfrm>
          <a:prstGeom prst="rect">
            <a:avLst/>
          </a:prstGeom>
          <a:noFill/>
        </p:spPr>
        <p:txBody>
          <a:bodyPr wrap="square" lIns="0" rIns="0" tIns="0" bIns="0" anchor="t">
            <a:spAutoFit/>
          </a:bodyPr>
          <a:lstStyle/>
          <a:p>
            <a:pPr algn="l">
              <a:lnSpc>
                <a:spcPts val="1210"/>
              </a:lnSpc>
              <a:spcAft>
                <a:spcPts val="0"/>
              </a:spcAft>
            </a:pPr>
            <a:r>
              <a:rPr sz="1100" b="1" i="0">
                <a:solidFill>
                  <a:srgbClr val="6B7685"/>
                </a:solidFill>
                <a:latin typeface="Arial"/>
              </a:rPr>
              <a:t>ЗАКРЫВАЕТ</a:t>
            </a:r>
          </a:p>
        </p:txBody>
      </p:sp>
      <p:sp>
        <p:nvSpPr>
          <p:cNvPr id="7" name="TextBox 6"/>
          <p:cNvSpPr txBox="1"/>
          <p:nvPr/>
        </p:nvSpPr>
        <p:spPr>
          <a:xfrm>
            <a:off x="7933425" y="1126236"/>
            <a:ext cx="3423422" cy="274574"/>
          </a:xfrm>
          <a:prstGeom prst="rect">
            <a:avLst/>
          </a:prstGeom>
          <a:noFill/>
        </p:spPr>
        <p:txBody>
          <a:bodyPr wrap="square" lIns="0" rIns="0" tIns="0" bIns="0" anchor="t">
            <a:spAutoFit/>
          </a:bodyPr>
          <a:lstStyle/>
          <a:p>
            <a:pPr algn="l">
              <a:lnSpc>
                <a:spcPts val="1210"/>
              </a:lnSpc>
              <a:spcAft>
                <a:spcPts val="0"/>
              </a:spcAft>
            </a:pPr>
            <a:r>
              <a:rPr sz="1100" b="1" i="0">
                <a:solidFill>
                  <a:srgbClr val="6B7685"/>
                </a:solidFill>
                <a:latin typeface="Arial"/>
              </a:rPr>
              <a:t>СТАТУС</a:t>
            </a:r>
          </a:p>
        </p:txBody>
      </p:sp>
      <p:sp>
        <p:nvSpPr>
          <p:cNvPr id="8" name="TextBox 7"/>
          <p:cNvSpPr txBox="1"/>
          <p:nvPr/>
        </p:nvSpPr>
        <p:spPr>
          <a:xfrm>
            <a:off x="685800" y="1400810"/>
            <a:ext cx="1259951"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0</a:t>
            </a:r>
          </a:p>
        </p:txBody>
      </p:sp>
      <p:sp>
        <p:nvSpPr>
          <p:cNvPr id="9" name="TextBox 8"/>
          <p:cNvSpPr txBox="1"/>
          <p:nvPr/>
        </p:nvSpPr>
        <p:spPr>
          <a:xfrm>
            <a:off x="2092055" y="1400810"/>
            <a:ext cx="2774381"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Хватит одного вызова (+RAG) — ничего не строим</a:t>
            </a:r>
          </a:p>
        </p:txBody>
      </p:sp>
      <p:sp>
        <p:nvSpPr>
          <p:cNvPr id="10" name="TextBox 9"/>
          <p:cNvSpPr txBox="1"/>
          <p:nvPr/>
        </p:nvSpPr>
        <p:spPr>
          <a:xfrm>
            <a:off x="5012740" y="1400810"/>
            <a:ext cx="2774381"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С7</a:t>
            </a:r>
          </a:p>
        </p:txBody>
      </p:sp>
      <p:sp>
        <p:nvSpPr>
          <p:cNvPr id="11" name="TextBox 10"/>
          <p:cNvSpPr txBox="1"/>
          <p:nvPr/>
        </p:nvSpPr>
        <p:spPr>
          <a:xfrm>
            <a:off x="7933425" y="1400810"/>
            <a:ext cx="3423422"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закрыто</a:t>
            </a:r>
          </a:p>
        </p:txBody>
      </p:sp>
      <p:cxnSp>
        <p:nvCxnSpPr>
          <p:cNvPr id="12" name="Connector 11"/>
          <p:cNvCxnSpPr/>
          <p:nvPr/>
        </p:nvCxnSpPr>
        <p:spPr>
          <a:xfrm>
            <a:off x="685800" y="1886712"/>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1886712"/>
            <a:ext cx="1259951" cy="32524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1</a:t>
            </a:r>
          </a:p>
        </p:txBody>
      </p:sp>
      <p:sp>
        <p:nvSpPr>
          <p:cNvPr id="14" name="TextBox 13"/>
          <p:cNvSpPr txBox="1"/>
          <p:nvPr/>
        </p:nvSpPr>
        <p:spPr>
          <a:xfrm>
            <a:off x="2092055" y="1886712"/>
            <a:ext cx="2774381" cy="32524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Workflow · цепочка (prompt chaining)</a:t>
            </a:r>
          </a:p>
        </p:txBody>
      </p:sp>
      <p:sp>
        <p:nvSpPr>
          <p:cNvPr id="15" name="TextBox 14"/>
          <p:cNvSpPr txBox="1"/>
          <p:nvPr/>
        </p:nvSpPr>
        <p:spPr>
          <a:xfrm>
            <a:off x="5012740" y="1886712"/>
            <a:ext cx="2774381" cy="32524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С7</a:t>
            </a:r>
          </a:p>
        </p:txBody>
      </p:sp>
      <p:sp>
        <p:nvSpPr>
          <p:cNvPr id="16" name="TextBox 15"/>
          <p:cNvSpPr txBox="1"/>
          <p:nvPr/>
        </p:nvSpPr>
        <p:spPr>
          <a:xfrm>
            <a:off x="7933425" y="1886712"/>
            <a:ext cx="3423422" cy="32524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закрыто</a:t>
            </a:r>
          </a:p>
        </p:txBody>
      </p:sp>
      <p:cxnSp>
        <p:nvCxnSpPr>
          <p:cNvPr id="17" name="Connector 16"/>
          <p:cNvCxnSpPr/>
          <p:nvPr/>
        </p:nvCxnSpPr>
        <p:spPr>
          <a:xfrm>
            <a:off x="685800" y="2211959"/>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85800" y="2211959"/>
            <a:ext cx="1259951"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2</a:t>
            </a:r>
          </a:p>
        </p:txBody>
      </p:sp>
      <p:sp>
        <p:nvSpPr>
          <p:cNvPr id="19" name="TextBox 18"/>
          <p:cNvSpPr txBox="1"/>
          <p:nvPr/>
        </p:nvSpPr>
        <p:spPr>
          <a:xfrm>
            <a:off x="2092055" y="2211959"/>
            <a:ext cx="2774381"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Workflow · маршрут (routing), включая decision-модель вместо LLM</a:t>
            </a:r>
          </a:p>
        </p:txBody>
      </p:sp>
      <p:sp>
        <p:nvSpPr>
          <p:cNvPr id="20" name="TextBox 19"/>
          <p:cNvSpPr txBox="1"/>
          <p:nvPr/>
        </p:nvSpPr>
        <p:spPr>
          <a:xfrm>
            <a:off x="5012740" y="2211959"/>
            <a:ext cx="2774381"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С7</a:t>
            </a:r>
          </a:p>
        </p:txBody>
      </p:sp>
      <p:sp>
        <p:nvSpPr>
          <p:cNvPr id="21" name="TextBox 20"/>
          <p:cNvSpPr txBox="1"/>
          <p:nvPr/>
        </p:nvSpPr>
        <p:spPr>
          <a:xfrm>
            <a:off x="7933425" y="2211959"/>
            <a:ext cx="3423422"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закрыто</a:t>
            </a:r>
          </a:p>
        </p:txBody>
      </p:sp>
      <p:cxnSp>
        <p:nvCxnSpPr>
          <p:cNvPr id="22" name="Connector 21"/>
          <p:cNvCxnSpPr/>
          <p:nvPr/>
        </p:nvCxnSpPr>
        <p:spPr>
          <a:xfrm>
            <a:off x="685800" y="2697861"/>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5800" y="2697861"/>
            <a:ext cx="1259951" cy="32524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3</a:t>
            </a:r>
          </a:p>
        </p:txBody>
      </p:sp>
      <p:sp>
        <p:nvSpPr>
          <p:cNvPr id="24" name="TextBox 23"/>
          <p:cNvSpPr txBox="1"/>
          <p:nvPr/>
        </p:nvSpPr>
        <p:spPr>
          <a:xfrm>
            <a:off x="2092055" y="2697861"/>
            <a:ext cx="2774381" cy="32524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Workflow · параллель (parallelization)</a:t>
            </a:r>
          </a:p>
        </p:txBody>
      </p:sp>
      <p:sp>
        <p:nvSpPr>
          <p:cNvPr id="25" name="TextBox 24"/>
          <p:cNvSpPr txBox="1"/>
          <p:nvPr/>
        </p:nvSpPr>
        <p:spPr>
          <a:xfrm>
            <a:off x="5012740" y="2697861"/>
            <a:ext cx="2774381" cy="32524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С8</a:t>
            </a:r>
          </a:p>
        </p:txBody>
      </p:sp>
      <p:sp>
        <p:nvSpPr>
          <p:cNvPr id="26" name="TextBox 25"/>
          <p:cNvSpPr txBox="1"/>
          <p:nvPr/>
        </p:nvSpPr>
        <p:spPr>
          <a:xfrm>
            <a:off x="7933425" y="2697861"/>
            <a:ext cx="3423422" cy="32524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пусто</a:t>
            </a:r>
          </a:p>
        </p:txBody>
      </p:sp>
      <p:cxnSp>
        <p:nvCxnSpPr>
          <p:cNvPr id="27" name="Connector 26"/>
          <p:cNvCxnSpPr/>
          <p:nvPr/>
        </p:nvCxnSpPr>
        <p:spPr>
          <a:xfrm>
            <a:off x="685800" y="302310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85800" y="3023108"/>
            <a:ext cx="1259951"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4</a:t>
            </a:r>
          </a:p>
        </p:txBody>
      </p:sp>
      <p:sp>
        <p:nvSpPr>
          <p:cNvPr id="29" name="TextBox 28"/>
          <p:cNvSpPr txBox="1"/>
          <p:nvPr/>
        </p:nvSpPr>
        <p:spPr>
          <a:xfrm>
            <a:off x="2092055" y="3023108"/>
            <a:ext cx="2774381"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Workflow · эталон-переделка (evaluator-optimizer)</a:t>
            </a:r>
          </a:p>
        </p:txBody>
      </p:sp>
      <p:sp>
        <p:nvSpPr>
          <p:cNvPr id="30" name="TextBox 29"/>
          <p:cNvSpPr txBox="1"/>
          <p:nvPr/>
        </p:nvSpPr>
        <p:spPr>
          <a:xfrm>
            <a:off x="5012740" y="3023108"/>
            <a:ext cx="2774381"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С8</a:t>
            </a:r>
          </a:p>
        </p:txBody>
      </p:sp>
      <p:sp>
        <p:nvSpPr>
          <p:cNvPr id="31" name="TextBox 30"/>
          <p:cNvSpPr txBox="1"/>
          <p:nvPr/>
        </p:nvSpPr>
        <p:spPr>
          <a:xfrm>
            <a:off x="7933425" y="3023108"/>
            <a:ext cx="3423422"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пусто</a:t>
            </a:r>
          </a:p>
        </p:txBody>
      </p:sp>
      <p:cxnSp>
        <p:nvCxnSpPr>
          <p:cNvPr id="32" name="Connector 31"/>
          <p:cNvCxnSpPr/>
          <p:nvPr/>
        </p:nvCxnSpPr>
        <p:spPr>
          <a:xfrm>
            <a:off x="685800" y="350901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85800" y="3509010"/>
            <a:ext cx="1259951"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5</a:t>
            </a:r>
          </a:p>
        </p:txBody>
      </p:sp>
      <p:sp>
        <p:nvSpPr>
          <p:cNvPr id="34" name="TextBox 33"/>
          <p:cNvSpPr txBox="1"/>
          <p:nvPr/>
        </p:nvSpPr>
        <p:spPr>
          <a:xfrm>
            <a:off x="2092055" y="3509010"/>
            <a:ext cx="2774381"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Workflow · дирижёр-исполнители (orchestrator-workers)</a:t>
            </a:r>
          </a:p>
        </p:txBody>
      </p:sp>
      <p:sp>
        <p:nvSpPr>
          <p:cNvPr id="35" name="TextBox 34"/>
          <p:cNvSpPr txBox="1"/>
          <p:nvPr/>
        </p:nvSpPr>
        <p:spPr>
          <a:xfrm>
            <a:off x="5012740" y="3509010"/>
            <a:ext cx="2774381"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С9</a:t>
            </a:r>
          </a:p>
        </p:txBody>
      </p:sp>
      <p:sp>
        <p:nvSpPr>
          <p:cNvPr id="36" name="TextBox 35"/>
          <p:cNvSpPr txBox="1"/>
          <p:nvPr/>
        </p:nvSpPr>
        <p:spPr>
          <a:xfrm>
            <a:off x="7933425" y="3509010"/>
            <a:ext cx="3423422"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пусто</a:t>
            </a:r>
          </a:p>
        </p:txBody>
      </p:sp>
      <p:cxnSp>
        <p:nvCxnSpPr>
          <p:cNvPr id="37" name="Connector 36"/>
          <p:cNvCxnSpPr/>
          <p:nvPr/>
        </p:nvCxnSpPr>
        <p:spPr>
          <a:xfrm>
            <a:off x="685800" y="3994912"/>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685800" y="3994912"/>
            <a:ext cx="1259951"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6</a:t>
            </a:r>
          </a:p>
        </p:txBody>
      </p:sp>
      <p:sp>
        <p:nvSpPr>
          <p:cNvPr id="39" name="TextBox 38"/>
          <p:cNvSpPr txBox="1"/>
          <p:nvPr/>
        </p:nvSpPr>
        <p:spPr>
          <a:xfrm>
            <a:off x="2092055" y="3994912"/>
            <a:ext cx="2774381"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Один агент (в т.ч. вложенный внутри маршрута workflow)</a:t>
            </a:r>
          </a:p>
        </p:txBody>
      </p:sp>
      <p:sp>
        <p:nvSpPr>
          <p:cNvPr id="40" name="TextBox 39"/>
          <p:cNvSpPr txBox="1"/>
          <p:nvPr/>
        </p:nvSpPr>
        <p:spPr>
          <a:xfrm>
            <a:off x="5012740" y="3994912"/>
            <a:ext cx="2774381"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С10</a:t>
            </a:r>
          </a:p>
        </p:txBody>
      </p:sp>
      <p:sp>
        <p:nvSpPr>
          <p:cNvPr id="41" name="TextBox 40"/>
          <p:cNvSpPr txBox="1"/>
          <p:nvPr/>
        </p:nvSpPr>
        <p:spPr>
          <a:xfrm>
            <a:off x="7933425" y="3994912"/>
            <a:ext cx="3423422"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пусто</a:t>
            </a:r>
          </a:p>
        </p:txBody>
      </p:sp>
      <p:cxnSp>
        <p:nvCxnSpPr>
          <p:cNvPr id="42" name="Connector 41"/>
          <p:cNvCxnSpPr/>
          <p:nvPr/>
        </p:nvCxnSpPr>
        <p:spPr>
          <a:xfrm>
            <a:off x="685800" y="448081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85800" y="4480814"/>
            <a:ext cx="1259951"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7</a:t>
            </a:r>
          </a:p>
        </p:txBody>
      </p:sp>
      <p:sp>
        <p:nvSpPr>
          <p:cNvPr id="44" name="TextBox 43"/>
          <p:cNvSpPr txBox="1"/>
          <p:nvPr/>
        </p:nvSpPr>
        <p:spPr>
          <a:xfrm>
            <a:off x="2092055" y="4480814"/>
            <a:ext cx="2774381"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Мульти-агент (оркестрованный vs «рой»)</a:t>
            </a:r>
          </a:p>
        </p:txBody>
      </p:sp>
      <p:sp>
        <p:nvSpPr>
          <p:cNvPr id="45" name="TextBox 44"/>
          <p:cNvSpPr txBox="1"/>
          <p:nvPr/>
        </p:nvSpPr>
        <p:spPr>
          <a:xfrm>
            <a:off x="5012740" y="4480814"/>
            <a:ext cx="2774381"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С11</a:t>
            </a:r>
          </a:p>
        </p:txBody>
      </p:sp>
      <p:sp>
        <p:nvSpPr>
          <p:cNvPr id="46" name="TextBox 45"/>
          <p:cNvSpPr txBox="1"/>
          <p:nvPr/>
        </p:nvSpPr>
        <p:spPr>
          <a:xfrm>
            <a:off x="7933425" y="4480814"/>
            <a:ext cx="3423422"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пусто</a:t>
            </a:r>
          </a:p>
        </p:txBody>
      </p:sp>
      <p:cxnSp>
        <p:nvCxnSpPr>
          <p:cNvPr id="47" name="Connector 46"/>
          <p:cNvCxnSpPr/>
          <p:nvPr/>
        </p:nvCxnSpPr>
        <p:spPr>
          <a:xfrm>
            <a:off x="685800" y="496671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685800" y="4966716"/>
            <a:ext cx="1259951"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8</a:t>
            </a:r>
          </a:p>
        </p:txBody>
      </p:sp>
      <p:sp>
        <p:nvSpPr>
          <p:cNvPr id="49" name="TextBox 48"/>
          <p:cNvSpPr txBox="1"/>
          <p:nvPr/>
        </p:nvSpPr>
        <p:spPr>
          <a:xfrm>
            <a:off x="2092055" y="4966716"/>
            <a:ext cx="2774381"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Выключить — откат к ручному процессу</a:t>
            </a:r>
          </a:p>
        </p:txBody>
      </p:sp>
      <p:sp>
        <p:nvSpPr>
          <p:cNvPr id="50" name="TextBox 49"/>
          <p:cNvSpPr txBox="1"/>
          <p:nvPr/>
        </p:nvSpPr>
        <p:spPr>
          <a:xfrm>
            <a:off x="5012740" y="4966716"/>
            <a:ext cx="2774381"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С11→С12</a:t>
            </a:r>
          </a:p>
        </p:txBody>
      </p:sp>
      <p:sp>
        <p:nvSpPr>
          <p:cNvPr id="51" name="TextBox 50"/>
          <p:cNvSpPr txBox="1"/>
          <p:nvPr/>
        </p:nvSpPr>
        <p:spPr>
          <a:xfrm>
            <a:off x="7933425" y="4966716"/>
            <a:ext cx="3423422"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пусто</a:t>
            </a:r>
          </a:p>
        </p:txBody>
      </p:sp>
      <p:sp>
        <p:nvSpPr>
          <p:cNvPr id="52" name="Rounded Rectangle 51"/>
          <p:cNvSpPr/>
          <p:nvPr/>
        </p:nvSpPr>
        <p:spPr>
          <a:xfrm>
            <a:off x="502920" y="5800089"/>
            <a:ext cx="82296" cy="45542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59536" y="5928105"/>
            <a:ext cx="10643616" cy="199389"/>
          </a:xfrm>
          <a:prstGeom prst="rect">
            <a:avLst/>
          </a:prstGeom>
          <a:noFill/>
        </p:spPr>
        <p:txBody>
          <a:bodyPr wrap="square" lIns="0" rIns="0" tIns="0" bIns="0" anchor="ctr">
            <a:spAutoFit/>
          </a:bodyPr>
          <a:lstStyle/>
          <a:p>
            <a:pPr algn="l">
              <a:lnSpc>
                <a:spcPts val="1426"/>
              </a:lnSpc>
              <a:spcAft>
                <a:spcPts val="300"/>
              </a:spcAft>
            </a:pPr>
            <a:r>
              <a:rPr sz="1150" b="1" i="0">
                <a:solidFill>
                  <a:srgbClr val="141B2E"/>
                </a:solidFill>
                <a:latin typeface="Arial"/>
              </a:rPr>
              <a:t>Три нижние строки закрыты. Шесть над ними ждут следующих пяти занятий.</a:t>
            </a:r>
          </a:p>
        </p:txBody>
      </p:sp>
      <p:sp>
        <p:nvSpPr>
          <p:cNvPr id="54" name="TextBox 53"/>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