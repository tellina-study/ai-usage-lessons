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Шесть предыдущих занятий были про одного исполнителя: как дать кодинг-агенту права, память и инструменты. Эта дуга — про уровень выше: как устроен процесс, который таким исполнителем или просто вызовом модели пользуется.</a:t>
            </a:r>
          </a:p>
          <a:p/>
          <a:p>
            <a:r>
              <a:t>Сегодня мы соберём работающий процесс с нуля. К концу занятия у нас будет сценарий из пяти-шести блоков, который принимает заявку, разбирает её моделью и кладёт результат в таблицу. Он будет работать, и мы несколько раз его сломаем, чтобы понять, где он хрупкий.</a:t>
            </a:r>
          </a:p>
          <a:p/>
          <a:p>
            <a:r>
              <a:t>Занятие практическое. Я буду собирать прямо на своей машине, вы смотрите на экран. Файл сценария выложу после занятия — его можно будет открыть у себя и потрогать руками.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Коротко про то, откуда мы пришли, — знать прошлые занятия для участия сегодня не нужно, всё необходимое будет на экране.</a:t>
            </a:r>
          </a:p>
          <a:p/>
          <a:p>
            <a:r>
              <a:t>Предыдущие три занятия были про одного исполнителя. Мы разбирали, что агенту разрешено делать, что он помнит между запусками, какими инструментами пользуется и как проверить, что он сделал то, о чём отчитался. Это взгляд внутрь одного работника.</a:t>
            </a:r>
          </a:p>
          <a:p/>
          <a:p>
            <a:r>
              <a:t>Сегодня взгляд меняется. Исполнитель — один из шагов, и вопрос в том, как устроено всё вокруг него: что запускает работу, какие шаги идут друг за другом, куда девается результат, что происходит, когда шаг не отработал.</a:t>
            </a:r>
          </a:p>
          <a:p/>
          <a:p>
            <a:r>
              <a:t>Конкретная задача занятия такая. В учебный центр приходят заявки через форму на сайте: имя, контакт и свободный текст, что человеку нужно. Сейчас их перекладывают в таблицу руками и помечают, о чём каждая. Нужно, чтобы заявка попадала в таблицу сама и уже разобранной.</a:t>
            </a:r>
          </a:p>
          <a:p/>
          <a:p>
            <a:r>
              <a:t>Задача намеренно маленькая. На ней видно всё устройство целиком, и за занятие мы успеем не только её собрать, но и три раза сломать.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Устройство у всех таких инструментов одинаковое, имена блоков разные. Начнём с того, что не зависит от инструмента.</a:t>
            </a:r>
          </a:p>
          <a:p/>
          <a:p>
            <a:r>
              <a:t>Любой процесс начинается с триггера — события, которое его запускает. Это не формальность: без триггера процесса буквально нет, он никогда не начнётся. Дальше идут шаги, соединённые так, что выход одного становится входом следующего.</a:t>
            </a:r>
          </a:p>
          <a:p/>
          <a:p>
            <a:r>
              <a:t>Триггеры делятся на три рода, и выбор между ними — первое проектное решение в любой задаче. По действию человека: кто-то отправил форму, написал в чат, нажал кнопку. По событию снаружи: чужая система сама позвала ваш процесс по адресу — так работают уведомления от платёжных систем, от трекеров, от чего угодно. По времени: наступило три часа ночи, пора собрать отчёт.</a:t>
            </a:r>
          </a:p>
          <a:p/>
          <a:p>
            <a:r>
              <a:t>Выбор не косметический. Процесс на расписании проверяет, не появилось ли чего нового, и между проверками данные лежат необработанными. Процесс на событии срабатывает сразу, но зависит от того, умеет ли чужая система звать. Процесс на действии человека вообще не начнётся, пока человек не придёт.</a:t>
            </a:r>
          </a:p>
          <a:p/>
          <a:p>
            <a:r>
              <a:t>Четвёртый род искусственный и нужен только для работы: ручной запуск, «выполнить сейчас, потому что я нажал кнопку». На нём удобно собирать и отлаживать, а настоящий триггер подключать, когда остальное уже работает. Так мы сегодня и сделаем.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главное правило сегодняшнего занятия, и я прошу его запомнить: из него выводится примерно половина того, что в таких инструментах кажется странным.</a:t>
            </a:r>
          </a:p>
          <a:p/>
          <a:p>
            <a:r>
              <a:t>Между узлами всегда идёт список элементов, даже когда элемент ровно один. Каждый элемент — объект с обязательной обёрткой, а если в нём файл, то рядом лежит отдельная часть для двоичных данных.</a:t>
            </a:r>
          </a:p>
          <a:p/>
          <a:p>
            <a:r>
              <a:t>Следствие прямое. Узел выполняется по разу на каждый элемент списка. Пришло пять заявок — узел отправки письма отработает пять раз и отправит пять писем. Это не ошибка и не настройка, это устройство: цикл встроен внутрь, и отдельный блок цикла в большинстве задач просто не нужен.</a:t>
            </a:r>
          </a:p>
          <a:p/>
          <a:p>
            <a:r>
              <a:t>У этого правила две стороны. Хорошая: вы пишете процесс так, как будто обрабатываете одну заявку, а он сам разберётся с пятью. Плохая: когда вам нужно одно действие на весь список, а не на каждый элемент, оно по умолчанию сделает его столько раз, сколько элементов. Самый частый пример — уведомление. Вы хотели одно письмо «обработано пять заявок», а получили пять писем.</a:t>
            </a:r>
          </a:p>
          <a:p/>
          <a:p>
            <a:r>
              <a:t>Выключается это настройкой на самом узле: Execute Once. Тогда узел сработает один раз, с данными первого элемента.</a:t>
            </a:r>
          </a:p>
          <a:p/>
          <a:p>
            <a:r>
              <a:t>Все вопросы вида «почему оно сделало это трижды» и «куда делась половина данных» дальше в курсе разбираются из этого одного правила. Мы к нему вернёмся на следующих занятиях — там оно начнёт ломать вещи всерьёз.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Последний кусок теории, и он про то, чтобы снять с шага модели лишний ореол.</a:t>
            </a:r>
          </a:p>
          <a:p/>
          <a:p>
            <a:r>
              <a:t>Снаружи это обычный узел. На вход пришли данные, на выход ушли данные, между ними что-то произошло. Внутри он собирает текст запроса из того, что вы написали в поле, отправляет его провайдеру модели и кладёт ответ в выход. Всё.</a:t>
            </a:r>
          </a:p>
          <a:p/>
          <a:p>
            <a:r>
              <a:t>Из этого следуют ровно две вещи, и обе мы сегодня увидим в работе.</a:t>
            </a:r>
          </a:p>
          <a:p/>
          <a:p>
            <a:r>
              <a:t>Первая: ответ приходит текстом. Не потому, что инструмент так решил, а потому что текст — это то, что модель порождает по своему устройству. Если вам нужны отдельные поля, их из этого текста надо как-то доставать. Это кейс два.</a:t>
            </a:r>
          </a:p>
          <a:p/>
          <a:p>
            <a:r>
              <a:t>Вторая: вызов уходит наружу по сети, к чужому серверу. Значит, он может не дойти, прийти с задержкой, вернуться ошибкой или не вернуться вовсе — ровно как любой внешний запрос в любой системе. Это кейс три.</a:t>
            </a:r>
          </a:p>
          <a:p/>
          <a:p>
            <a:r>
              <a:t>И последнее, что понадобится прямо сейчас. У каждого поля в любом узле есть переключатель: фиксированное значение или выражение. Выражение — это способ подставить в поле данные, пришедшие с предыдущих шагов. Две формы покрывают почти всё: обращение к полю текущего элемента и обращение к полю из конкретного названного узла.</a:t>
            </a:r>
          </a:p>
          <a:p/>
          <a:p>
            <a:r>
              <a:t>Обратите внимание на вторую форму: узел адресуется по имени, которое вы видите на холсте. Переименовали узел — все выражения, которые на него ссылались, сломались. Это самая частая поломка на ровном месте, и о ней стоит знать до того, как захочется навести порядок в названиях.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Учебный центр, на сайте форма записи. Человек оставляет имя, контакт и пишет свободным текстом, что ему нужно: «хочу на курс по аналитике», «можно ли перенести занятие», «выставьте счёт на организацию».</a:t>
            </a:r>
          </a:p>
          <a:p/>
          <a:p>
            <a:r>
              <a:t>Форма складывает всё это письмами. Дальше администратор открывает каждое, читает, понимает, о чём оно, и переносит в таблицу: отдельно контакт, отдельно тема, отдельно пометка, срочное или нет. Двадцать заявок в день, минут сорок работы, и работа такая, что к концу её делают механически.</a:t>
            </a:r>
          </a:p>
          <a:p/>
          <a:p>
            <a:r>
              <a:t>Задача выглядит очевидной, и в этом ловушка — но не та, которую вы ждёте. Очевидные задачи обычно собирают не сложнее, чем нужно, а проще: до состояния «вроде работает». Поэтому первый вопрос сегодня — из скольких узлов собирается процесс, за который можно отвечать.</a:t>
            </a:r>
          </a:p>
          <a:p/>
          <a:p>
            <a:r>
              <a:t>Обратите внимание, что в постановке не названо ни одного инструмента. Там нет слов «модель», «автоматизация», «процесс». Есть только то, что сейчас происходит, и то, что должно происходить вместо этого. С такой формулировки начинается почти любая задача на работе, и первое решение инженера — выбрать, насколько сложным будет ответ.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Задача. В учебный центр приходят заявки через форму на сайте: имя, контакт и свободный текст — что человеку нужно. Сейчас их читают руками и переносят в таблицу, помечая, о чём заявка и насколько это срочно. По этим двум столбцам потом сортируют, считают и раскладывают заявки по людям.</a:t>
            </a:r>
          </a:p>
          <a:p/>
          <a:p>
            <a:r>
              <a:t>Задача — чтобы это происходило само. И обратите внимание на требование, которое я ставлю сразу: тема и срочность заполнены </a:t>
            </a:r>
            <a:r>
              <a:rPr b="1"/>
              <a:t>всегда</a:t>
            </a:r>
            <a:r>
              <a:t>, и значения в них </a:t>
            </a:r>
            <a:r>
              <a:rPr b="1"/>
              <a:t>из справочника</a:t>
            </a:r>
            <a:r>
              <a:t>. Не «обычно заполнены». Не «какое-то слово». Потому что столбец, в котором иногда пусто, а иногда «интересуется аналитикой», для сортировки не годится — по нему ничего не посчитать, и вся затея теряет смысл.</a:t>
            </a:r>
          </a:p>
          <a:p/>
          <a:p>
            <a:r>
              <a:t>Вопрос: из скольких узлов соберётся процесс, который решает это полностью?</a:t>
            </a:r>
          </a:p>
          <a:p/>
          <a:p>
            <a:r>
              <a:t>Четыре карточки: два, три, пять, и «зависит от того, что считать решением». Выбирайте и формулируйте довод — почему именно столько.</a:t>
            </a:r>
          </a:p>
          <a:p/>
          <a:p>
            <a:r>
              <a:t>Пока голосуете, подскажу, в какую сторону думать. Не «сколько узлов нужно, чтобы заработало», а «сколько нужно, чтобы я мог поручиться за каждую строку в этой таблице». Это разные числа, и разница между ними — содержание следующего экрана.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Пройдём по ответам, и начну с того, который выбирает большинство.</a:t>
            </a:r>
          </a:p>
          <a:p/>
          <a:p>
            <a:r>
              <a:t>Два узла — форма и таблица. Мгновенно, бесплатно, ничего не ломается. И задача не решена: тема и срочность сами не появятся, их по-прежнему ставит человек. Это не процесс, это труба.</a:t>
            </a:r>
          </a:p>
          <a:p/>
          <a:p>
            <a:r>
              <a:t>Три узла — форма, шаг модели, таблица. Заявка доезжает, в столбце что-то появляется. Вот чего здесь нет. Во-первых, тема будет какой угодно: «запись», «обучение», «интересуется аналитикой», «Аналитика.» с точкой — и ни одна сортировка по такому столбцу не соберётся. Во-вторых, срочности не будет вовсе, если её отдельно не попросить. В-третьих, чтобы узнать, что получилось, надо идти в таблицу — а на занятии это переключение экрана на каждый прогон.</a:t>
            </a:r>
          </a:p>
          <a:p/>
          <a:p>
            <a:r>
              <a:t>Пять узлов — то, что мы сейчас соберём, и это именно решение. Между шагом модели и таблицей встаёт </a:t>
            </a:r>
            <a:r>
              <a:rPr b="1"/>
              <a:t>справочник</a:t>
            </a:r>
            <a:r>
              <a:t>: он не даст ни пустой темы, ни темы вне списка. А в конце встаёт </a:t>
            </a:r>
            <a:r>
              <a:rPr b="1"/>
              <a:t>экран результата</a:t>
            </a:r>
            <a:r>
              <a:t> — в том же окне браузера, где заявку отправили, печатается вход, что вернула модель, что решил справочник и что легло в таблицу.</a:t>
            </a:r>
          </a:p>
          <a:p/>
          <a:p>
            <a:r>
              <a:t>Кто ответил «зависит» — вы правы по сути, и я приму этот ответ, если вы скажете, от чего. Ответ: от того, считаем ли мы решением то, что заработало, или то, за что можно поручиться.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Собираю. Пять узлов, и про каждый скажу, зачем он, а не только что в нём нажать.</a:t>
            </a:r>
          </a:p>
          <a:p/>
          <a:p>
            <a:r>
              <a:t>Первый — форма. Три поля, все обязательные: имя, контакт, свободный текст.</a:t>
            </a:r>
          </a:p>
          <a:p/>
          <a:p>
            <a:r>
              <a:t>Второй — извлечение полей. Схему задаю </a:t>
            </a:r>
            <a:r>
              <a:rPr b="1"/>
              <a:t>вручную</a:t>
            </a:r>
            <a:r>
              <a:t>, и вот зачем. Схему тут можно задать описаниями словами, и это проще. Но описание допустимые значения только </a:t>
            </a:r>
            <a:r>
              <a:rPr b="1"/>
              <a:t>предлагает</a:t>
            </a:r>
            <a:r>
              <a:t>. А мне нужно, чтобы инструмент их </a:t>
            </a:r>
            <a:r>
              <a:rPr b="1"/>
              <a:t>перечислил</a:t>
            </a:r>
            <a:r>
              <a:t>, — и для этого в схеме есть перечисление. Смотрите: тема — одно из четырёх, срочность — одно из трёх, оба обязательны. Последнее значение в каждом списке — «другое» и «не указано», и это не формальность: без них классификация упирается в пустую клетку на первой же непонятной заявке.</a:t>
            </a:r>
          </a:p>
          <a:p/>
          <a:p>
            <a:r>
              <a:t>Третий — справочник. Обычный узел «задать поля», никакого кода. Он делает одно: если пришло не из списка или пришло пустым — ставит «другое» или «не указано». Зачем он, если перечисление уже в схеме? Потому что схема — просьба к модели, пусть и строгая, а справочник — последняя инстанция. Схему можно обойти, справочник нельзя. В живой классификации всегда есть оба, и мысль, которую стоит унести: </a:t>
            </a:r>
            <a:r>
              <a:rPr b="1"/>
              <a:t>модель предлагает, справочник решает</a:t>
            </a:r>
            <a:r>
              <a:t>.</a:t>
            </a:r>
          </a:p>
          <a:p/>
          <a:p>
            <a:r>
              <a:t>Четвёртый — запись строки. Обратите внимание, откуда берутся значения: от справочника, не от модели. Поэтому в таблице не бывает ни пустой темы, ни темы вне списка.</a:t>
            </a:r>
          </a:p>
          <a:p/>
          <a:p>
            <a:r>
              <a:t>Пятый — экран результата. Тот же узел формы, только режим «завершение». И вот что он печатает: что пришло, что вернул шаг модели, что решил справочник, и номер строки в таблице. В том же окне, где заявку отправили.</a:t>
            </a:r>
          </a:p>
          <a:p/>
          <a:p>
            <a:r>
              <a:t>Отправляю заявку. Смотрите на один экран — вся дорога от текста до строки здесь, и ни в журнал, ни в таблицу идти не нужно.</a:t>
            </a:r>
          </a:p>
          <a:p/>
          <a:p>
            <a:r>
              <a:t>Пять узлов вместо трёх. Два лишних — это ровно та разница, из-за которой за эту таблицу можно отвечать.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поднимемся на уровень выше блоков, потому что блоки вы забудете, а это нет.</a:t>
            </a:r>
          </a:p>
          <a:p/>
          <a:p>
            <a:r>
              <a:t>Сначала назовём класс задачи. Мы собирали классификацию входящего потока в закрытый справочник. «Обработка заявок учебного центра» — это её частный случай, один из многих. Тикеты поддержки, резюме, входящие письма, банковские транзакции, обращения в госуслуги — то же устройство, те же пять шагов, другие слова в справочнике. Если вы поймёте это занятие как частный случай, вы собрали одну автоматизацию; если как класс — вы умеете собирать их все.</a:t>
            </a:r>
          </a:p>
          <a:p/>
          <a:p>
            <a:r>
              <a:t>Первое правило. Выход шага модели, который читает машина, обязан иметь конечное и заранее известное множество значений. Это разделение, которое стоит держать в голове постоянно: результат для человека и результат для следующего шага — разные требования. Человеку свободный текст помогает. Машине он не нужен никогда — она не умеет его сравнивать.</a:t>
            </a:r>
          </a:p>
          <a:p/>
          <a:p>
            <a:r>
              <a:t>Второе правило, и оно самое ценное. Гарантия всегда двухуровневая: просьба и проверка. Схема с перечислением — сильная просьба; проверка после — гарантия. Почему нельзя одним. Просьбу модель иногда не сдерживает. А проверка без просьбы начинает отбраковывать слишком много и превращается в поток «другого». Два уровня дают и качество, и предсказуемость. Этот приём вы встретите везде, где машина читает выход модели.</a:t>
            </a:r>
          </a:p>
          <a:p/>
          <a:p>
            <a:r>
              <a:t>Третье. Наблюдаемость закладывается в первый проход, не в последний. И не только ради удобства отладки: решая, что печатать на экране результата, вы формулируете, за что отвечаете. Это проектная работа, замаскированная под оформление.</a:t>
            </a:r>
          </a:p>
          <a:p/>
          <a:p>
            <a:r>
              <a:t>Имена блоков — внизу экрана, и они разные в каждом инструменте. Устройство одно.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нюансов. Первые три — границы той самой гарантии, и они написаны в документации поставщика, не выдуманы мной.</a:t>
            </a:r>
          </a:p>
          <a:p/>
          <a:p>
            <a:r>
              <a:t>Гарантия действует в строгом режиме. Включён не строгий — схема становится пожеланием, и по виду ответа этого не отличить: он валидный, значения правдоподобные, просто не обязательно из списка. Поэтому проверка после и нужна.</a:t>
            </a:r>
          </a:p>
          <a:p/>
          <a:p>
            <a:r>
              <a:t>Второе: отказ модели схеме не подчиняется вовсе. Если сработала защита — заявка оказалась текстом, на который модель отказывается отвечать, — вернётся отдельное поле отказа вместо ваших полей. Процесс, который этого не ждёт, пойдёт дальше с пустотой.</a:t>
            </a:r>
          </a:p>
          <a:p/>
          <a:p>
            <a:r>
              <a:t>Третье: обрыв по лимиту ответа. Длинный вход, модель не уложилась — ответ оборван, и схемы в нём нет.</a:t>
            </a:r>
          </a:p>
          <a:p/>
          <a:p>
            <a:r>
              <a:t>Четвёртое — моё любимое, и его почти никогда не проверяют. Поменялась версия модели. Справочник тот же, поля те же, процесс зелёный. А распределение по классам поехало: то, что раньше шло в «курс», теперь идёт в «другое». Узнать об этом можно только замером — и это тема двенадцатого занятия, про оценку качества шага.</a:t>
            </a:r>
          </a:p>
          <a:p/>
          <a:p>
            <a:r>
              <a:t>Пятое — наша собственная грабля, из устройства, которое мы только что собрали. Справочник у нас лежит в двух местах: перечисление в схеме и список в проверке. Это сознательная цена двух уровней гарантии, но за неё платят: поправили список в одном месте, забыли в другом — и проверка начинает переписывать то, что модель вернула правильно. Если инструмент позволяет хранить список один раз — храните один раз.</a:t>
            </a:r>
          </a:p>
          <a:p/>
          <a:p>
            <a:r>
              <a:t>И главное, одной строкой. Документация поставщика говорит прямо: обеспечивается соответствие формата. Смысловая правильность в обещание не входит. Схема не делает ответ верным — она делает его сравнимым.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Процесс работает, и работает честно: тема и срочность заполнены, значения из справочника, пустых клеток нет. Мы за это ручались и ручаемся.</a:t>
            </a:r>
          </a:p>
          <a:p/>
          <a:p>
            <a:r>
              <a:t>Теперь смотрите, за что мы не ручались. Отправляю заявку: «Можно перенести занятие со вторника? И подскажите, как оплатить». Две темы в одном сообщении, обе наши, обе из справочника.</a:t>
            </a:r>
          </a:p>
          <a:p/>
          <a:p>
            <a:r>
              <a:t>На экране результата: тема «перенос занятия». Одна. Про оплату не сказано ничего — ни на экране, ни в таблице, ни в журнале. Вторая тема не потерялась с ошибкой, её просто нет.</a:t>
            </a:r>
          </a:p>
          <a:p/>
          <a:p>
            <a:r>
              <a:t>Это другой класс беды, чем в первом кейсе. Там клетка могла остаться пустой, и мы это починили. Здесь клетка заполнена, значение законное, а заявка обслужена наполовину — и ни один сторож этого не заметит, потому что формально всё в порядке.</a:t>
            </a:r>
          </a:p>
          <a:p/>
          <a:p>
            <a:r>
              <a:t>Кейс второй про то, что справочник даёт гарантию формы, а гарантию смысла не даёт. И про то, какие ещё заявки ломают классификацию, которая минуту назад казалась надёжной.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второй, и в нём нет технической части: все четыре варианта собираются одинаково легко. Выбор тут содержательный.</a:t>
            </a:r>
          </a:p>
          <a:p/>
          <a:p>
            <a:r>
              <a:t>Первый: писать первую из найденных тем. Второй: писать «другое» — раз тем несколько, автоматика не справилась, пусть разбирает человек. Третий: сделать из одной заявки две строки, по теме на каждую. Четвёртый: писать главную тему и рядом пометку, что в заявке есть ещё что-то.</a:t>
            </a:r>
          </a:p>
          <a:p/>
          <a:p>
            <a:r>
              <a:t>Выбирайте и формулируйте довод. И думайте не про то, что красивее на схеме, а про человека, который завтра утром работает с этой таблицей. Что он должен увидеть, чтобы не упустить вопрос про оплату?</a:t>
            </a:r>
          </a:p>
          <a:p/>
          <a:p>
            <a:r>
              <a:t>Сразу скажу: неправильного ответа здесь нет. Все четыре живут в настоящих системах, и у каждого своя цена. Что меня интересует — кто из вас выберет второй вариант и сможет его защитить. Потому что он выглядит как отказ от автоматизации, а на самом деле это самый честный из четырёх.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Пройдём по четырём, и смотрите на средний столбец — он и есть ответ на вопрос.</a:t>
            </a:r>
          </a:p>
          <a:p/>
          <a:p>
            <a:r>
              <a:t>Первый, писать первую из найденных. Остаток разбирает никто. Мы это только что видели: вторая тема исчезает, и нигде не остаётся следа. Самый дешёвый вариант и самый опасный, потому что он выглядит как работающий.</a:t>
            </a:r>
          </a:p>
          <a:p/>
          <a:p>
            <a:r>
              <a:t>Второй, писать «другое». Остаток разбирает человек — и, что важнее, он об этом </a:t>
            </a:r>
            <a:r>
              <a:rPr b="1"/>
              <a:t>знает</a:t>
            </a:r>
            <a:r>
              <a:t>: он видит «другое» и идёт читать текст. Вот почему я называю этот ответ самым честным из четырёх: разница между ним и первым не в точности, а в знании о своём незнании. Первый уверен и неправ. Второй не знает и говорит об этом. Цена — в «другое» начинает сваливаться всё: и многотемье, и настоящая экзотика про юрлица, и заявка из одного слова «ок». Столбец «другое» разрастается, и по нему уже не видно, что именно непонятно.</a:t>
            </a:r>
          </a:p>
          <a:p/>
          <a:p>
            <a:r>
              <a:t>Третий, две строки из одной заявки. Остаток разбирает следующий шаг, без человека. Это правильный ответ для зрелой системы, и у него своя цена: одна заявка превращается в две судьбы, и надо решать, кому звонить и кто закрывает вопрос. Как из одного элемента сделать несколько — тема девятого занятия, и сегодня мы туда не идём.</a:t>
            </a:r>
          </a:p>
          <a:p/>
          <a:p>
            <a:r>
              <a:t>Четвёртый, главная тема плюс пометка. Остаток разбирает тот, кто читает пометку. Хороший вариант, и у него есть незаметное условие: пометку надо куда-то положить — отдельным столбцом, — и кому-то её читать. Столбец, который никто не читает, работает так же, как первый вариант.</a:t>
            </a:r>
          </a:p>
          <a:p/>
          <a:p>
            <a:r>
              <a:t>Что мы возьмём и почему — следующий экран.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Берём четвёртый вариант — главная тема плюс пометка. И смотрите, что для этого меняется: один узел из пяти, справочник. Форму не трогаем, извлечение не трогаем, запись и экран остаются как были.</a:t>
            </a:r>
          </a:p>
          <a:p/>
          <a:p>
            <a:r>
              <a:t>В схеме извлечения появляется ещё одно поле — «ещё в заявке»: список тем, которые в тексте есть, кроме главной. В справочнике это поле проходит ту же сверку, что и тема, и попадает в отдельный столбец.</a:t>
            </a:r>
          </a:p>
          <a:p/>
          <a:p>
            <a:r>
              <a:t>Теперь прогоняю пять заявок подряд, и это те самые заявки, на которых классификация обычно и ломается.</a:t>
            </a:r>
          </a:p>
          <a:p/>
          <a:p>
            <a:r>
              <a:t>Первая — две темы. Тема «перенос занятия», и в столбце «ещё в заявке» теперь стоит «оплата». Вторая тема перестала исчезать.</a:t>
            </a:r>
          </a:p>
          <a:p/>
          <a:p>
            <a:r>
              <a:t>Вторая — три темы, и одна из них не наша: «хочу оплатить, перенести занятие и узнать про скидки для сотрудников». Смотрите на пометку: «перенос занятия · другое». Про скидки в справочнике нет ничего, и третья тема честно стала «другим» — не выдумкой и не пропуском.</a:t>
            </a:r>
          </a:p>
          <a:p/>
          <a:p>
            <a:r>
              <a:t>Третья — про юрлица. Такой темы в справочнике нет вовсе, и это правильно: мы не обязаны предусмотреть всё. Смотрите на экран: тема «другое». Честное «это не из нашего списка» — вместо пустой клетки и вместо выдумки.</a:t>
            </a:r>
          </a:p>
          <a:p/>
          <a:p>
            <a:r>
              <a:t>Четвёртая — «расскажите про курс», без всякой срочности. Тема «курс», срочность «не указано». Обратите внимание: модель не придумала срочность, потому что в справочнике для этого есть законное значение. Если бы его не было, она бы что-нибудь поставила — это самый частый способ получить выдумку в данных.</a:t>
            </a:r>
          </a:p>
          <a:p/>
          <a:p>
            <a:r>
              <a:t>И пятая, моя любимая. Заявка из одного слова: «ок». Прогоняю. Тема «другое», срочность «не указано», строка в таблице есть. Процесс не упал, клетки не пусты, и никто не соврал.</a:t>
            </a:r>
          </a:p>
          <a:p/>
          <a:p>
            <a:r>
              <a:t>Вот что я хочу, чтобы вы отсюда унесли. Классификация надёжна не тогда, когда модель всегда права, а тогда, когда у неё есть законный способ сказать «не знаю» — и этот способ ведёт к человеку, а не в пустую клетку.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Обобщаем, и здесь обобщение важнее техники — техники в этом кейсе было на один узел.</a:t>
            </a:r>
          </a:p>
          <a:p/>
          <a:p>
            <a:r>
              <a:t>Первое правило. «Не знаю» должно быть значением — таким же, как остальные, а не отсутствием значения в клетке. Разница в том, где платишь. Система, которая умеет законно воздержаться, дороже в разработке: нужно предусмотреть значение, место для разбора и человека. Система без этого дешевле собирается и дороже живёт, потому что модель всегда что-нибудь ответит, а неверный ответ по виду не отличается от верного. Это общее правило для всего, что классифицирует, — и для людей тоже, кстати.</a:t>
            </a:r>
          </a:p>
          <a:p/>
          <a:p>
            <a:r>
              <a:t>Второе. Многозначность входа — проектное решение, которое принимают до сборки. Один вход даёт ровно один класс или может дать несколько? Это не вопрос схемы, это вопрос про то, кто закрывает заявку: если тема одна, у заявки один адресат и одно завершение; если несколько — надо решить, закрывается она целиком или по частям. Переделка этого решения потом идёт по всей цепочке, вплоть до отчётности.</a:t>
            </a:r>
          </a:p>
          <a:p/>
          <a:p>
            <a:r>
              <a:t>Третье. У очереди на разбор обязан быть владелец и метрика. Доля «другого» — показатель, который смотрят регулярно. Очередь без человека ничем не лучше потерянной темы: там и там работа не сделана, только в одном случае об этом есть запись.</a:t>
            </a:r>
          </a:p>
          <a:p/>
          <a:p>
            <a:r>
              <a:t>Про инструменты одна строка, но с важной деталью. В n8n ветка по умолчанию есть и у переключателя, и у классификатора текста — и у классификатора по умолчанию элемент, не попавший ни в одну категорию, </a:t>
            </a:r>
            <a:r>
              <a:rPr b="1"/>
              <a:t>отбрасывается</a:t>
            </a:r>
            <a:r>
              <a:t>. Бесследно. Это первая настройка, которую в нём меняют, и мы вернёмся к ней на девятом занятии. В sim для этого есть отдельный примитив — guardrails. В Activepieces то же делается условием после шага.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нюансов, и первый — ловушка, в которую попадают именно аккуратные люди.</a:t>
            </a:r>
          </a:p>
          <a:p/>
          <a:p>
            <a:r>
              <a:t>Доля «другого» — показатель. Когда она растёт, это заметят: очередь на разбор пухнет, человек жалуется. А когда падает — обрадуются. И вот этого делать нельзя. Падение означает одно из двух: либо справочник действительно стал полнее, либо модель стала решительнее — перестала воздерживаться и начала раскладывать по классам то, в чём не уверена. Второе выглядит как улучшение по всем показателям, кроме правильности. Проверяется только выборочной перепроверкой руками, других способов нет.</a:t>
            </a:r>
          </a:p>
          <a:p/>
          <a:p>
            <a:r>
              <a:t>Второе. Справочник со временем меняется — добавляется класс, переименовывается другой. Если у справочника нет версии, старые строки и новые перестают быть сопоставимыми, и годовой отчёт по теме врёт, не сообщая об этом. Версионируйте список так же, как версионируете схему базы.</a:t>
            </a:r>
          </a:p>
          <a:p/>
          <a:p>
            <a:r>
              <a:t>Третье, бытовое и частое. «Другое» без исходного текста рядом бесполезно: человек видит класс, но не видит, что человек написал. Разбирать нечем, очередь встаёт. Поэтому в нашей таблице текст заявки лежит целиком, отдельным столбцом, — и это не избыточность.</a:t>
            </a:r>
          </a:p>
          <a:p/>
          <a:p>
            <a:r>
              <a:t>Четвёртое — вопрос, который мы с вами молча проскочили. Мы записали главную тему и пометку. А что считается главной, если тем три? Первая по порядку упоминания? Самая срочная? Первая по справочнику? Ни один из вариантов не правильнее остальных, но решение принять надо — и записать, иначе его примет модель, по-своему и каждый раз заново.</a:t>
            </a:r>
          </a:p>
          <a:p/>
          <a:p>
            <a:r>
              <a:t>Пятое. Справочник собран на одном языке, а заявки приходят на трёх — и классификация тихо деградирует, без единой ошибки в журнале. То же с форматом: голосовое сообщение, пересланная переписка, скриншот вместо текста.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начинается не с чьих-то слов, а с того, что видно в таблице.</a:t>
            </a:r>
          </a:p>
          <a:p/>
          <a:p>
            <a:r>
              <a:t>Утро понедельника. Процесс работает неделю, к нему привыкли, в таблицу заглядывают по делу. Заглядывают — и видят: пятница заполнена, понедельник заполнен, выходных нет вовсе. Открою сейчас таблицу на стенде, посмотрим на эту дырку вместе.</a:t>
            </a:r>
          </a:p>
          <a:p/>
          <a:p>
            <a:r>
              <a:t>Что мы знаем на этот момент. Заявки за выходные приходили — это видно по журналу формы на сайте. В таблице их нет. Процесс не останавливался и ни на что не жаловался: письма об ошибке никто не получал, потому что никто не настраивал, кому его отправлять.</a:t>
            </a:r>
          </a:p>
          <a:p/>
          <a:p>
            <a:r>
              <a:t>Чего мы не знаем, и это важнее: что именно процесс делал эти два дня. Падал на каждой заявке? На части? Писал куда-то не туда? Журнал прогонов посмотреть можно, и мы посмотрим.</a:t>
            </a:r>
          </a:p>
          <a:p/>
          <a:p>
            <a:r>
              <a:t>Причина, кстати, выяснится скучная: провайдер модели два часа отдавал таймауты. Интересно здесь другое — что процесс должен был сделать вместо того, что он сделал.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третий. Четыре варианта поведения, выбирайте один и готовьте довод.</a:t>
            </a:r>
          </a:p>
          <a:p/>
          <a:p>
            <a:r>
              <a:t>Остановить весь процесс: отказ — это отказ, дальше ехать незачем. Пропустить и идти дальше: одна заявка не разобралась, остальные не виноваты. Повторить: сеть моргнула, попробуем ещё раз. Отправить в отдельную ветку: пусть неудачные идут своей дорогой, разберём их отдельно.</a:t>
            </a:r>
          </a:p>
          <a:p/>
          <a:p>
            <a:r>
              <a:t>Одна подсказка, и она же проверка на внимательность. Правильный ответ задаётся тем, что стоит дальше по процессу. У нас дальше — запись строки в таблицу. Если бы дальше стояла, скажем, отправка счёта или увольнение сотрудника по итогам разбора, ответ был бы другим. Поэтому формулируйте не «надо повторять», а «надо повторять, потому что дальше у нас…».</a:t>
            </a:r>
          </a:p>
          <a:p/>
          <a:p>
            <a:r>
              <a:t>И вопрос в сторону, пока голосуете: кто-нибудь ставил такое поведение в своей системе сознательно, а не по умолчанию? Что стояло по умолчанию, знаете?</a:t>
            </a:r>
          </a:p>
          <a:p/>
          <a:p>
            <a:r>
              <a:t>Я спрашиваю не для красоты. Все четыре варианта, которые вы сейчас выбираете, — это не абстракции. Это буквально значения одной настройки в карточке узла, и один из них стоит там по умолчанию. Какой именно — скажу на разборе.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поворот, ради которого вопрос задавался именно так.</a:t>
            </a:r>
          </a:p>
          <a:p/>
          <a:p>
            <a:r>
              <a:t>Вы сейчас голосовали за поведение — а выбирали, не зная того, из выпадающего списка. Все четыре варианта это значения настройки On Error в карточке любого узла. Не только узла модели — любого. Это стандартная часть устройства инструмента, и она есть у каждого шага.</a:t>
            </a:r>
          </a:p>
          <a:p/>
          <a:p>
            <a:r>
              <a:t>Пройдём по ним с ценой каждого.</a:t>
            </a:r>
          </a:p>
          <a:p/>
          <a:p>
            <a:r>
              <a:t>Stop Workflow — остановить всё. Стоит по умолчанию, то есть это то, что происходило в наши выходные. Уместно, когда дальше по процессу необратимое: счёт, письмо клиенту, списание. Лучше не сделать ничего, чем сделать половину.</a:t>
            </a:r>
          </a:p>
          <a:p/>
          <a:p>
            <a:r>
              <a:t>Continue — пропустить и идти дальше. Выглядит безобидно и является худшим из четырёх. Потому что «идти дальше» означает: текст ошибки поедет следующему узлу как обычные данные. То есть в столбце «тема» у вас окажется строка про таймаут соединения. Процесс при этом зелёный. Это та же беда, что в кейсе два, и теперь вы её узнаёте.</a:t>
            </a:r>
          </a:p>
          <a:p/>
          <a:p>
            <a:r>
              <a:t>Continue using error output — у узла появляется второй выход, подписанный error, и неудачные элементы идут в него. Это то, что нужно, когда отказы хочется видеть и разбирать.</a:t>
            </a:r>
          </a:p>
          <a:p/>
          <a:p>
            <a:r>
              <a:t>И отдельно Retry On Fail — это не альтернатива трём предыдущим, а то, что происходит до них. Повторяет N раз, и только если все попытки провалились, применяется выбранное поведение. Для сетевых отказов это первая линия: таймаут в большинстве случаев проходит со второй попытки.</a:t>
            </a:r>
          </a:p>
          <a:p/>
          <a:p>
            <a:r>
              <a:t>Кто голосовал за остановку всего процесса — вы выбрали то, что и так стояло. Именно поэтому таблица пустая.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Собираю. Открываю карточку узла извлечения, иду в настройки — это отдельная вкладка, не параметры.</a:t>
            </a:r>
          </a:p>
          <a:p/>
          <a:p>
            <a:r>
              <a:t>Включаю Retry On Fail. Появляются два поля: сколько попыток и сколько ждать между ними. Ставлю три попытки и две секунды.</a:t>
            </a:r>
          </a:p>
          <a:p/>
          <a:p>
            <a:r>
              <a:t>Ниже On Error, выбираю Continue using error output. Смотрите на холст: у узла появился второй выход, подписанный и отрисованный красным.</a:t>
            </a:r>
          </a:p>
          <a:p/>
          <a:p>
            <a:r>
              <a:t>Теперь куда его вести. В ту же таблицу, только значения другие: тема «другое», срочность «не указано», </a:t>
            </a:r>
            <a:r>
              <a:rPr>
                <a:latin typeface="Consolas"/>
              </a:rPr>
              <a:t>status</a:t>
            </a:r>
            <a:r>
              <a:t> становится </a:t>
            </a:r>
            <a:r>
              <a:rPr>
                <a:latin typeface="Consolas"/>
              </a:rPr>
              <a:t>not_parsed</a:t>
            </a:r>
            <a:r>
              <a:t> вместо </a:t>
            </a:r>
            <a:r>
              <a:rPr>
                <a:latin typeface="Consolas"/>
              </a:rPr>
              <a:t>ok</a:t>
            </a:r>
            <a:r>
              <a:t>. И дальше свой экран результата, который честно печатает: вызов не удался после трёх попыток, строка записана, вот её номер.</a:t>
            </a:r>
          </a:p>
          <a:p/>
          <a:p>
            <a:r>
              <a:t>Почему в ту же таблицу, а не в отдельное место: потому что человек, который утром смотрит заявки, смотрит одну таблицу. Если неудачные лежат в другом месте, он туда не пойдёт, пока не заподозрит. А мы только что видели, во что это обходится — двое суток пропуска.</a:t>
            </a:r>
          </a:p>
          <a:p/>
          <a:p>
            <a:r>
              <a:t>Теперь показываю, что это работает, и показываю настоящим отказом. Порчу ключ провайдера: добавляю лишний символ. Отправляю заявку.</a:t>
            </a:r>
          </a:p>
          <a:p/>
          <a:p>
            <a:r>
              <a:t>Смотрите на журнал. Три попытки с паузами, все три неудачны — и обратите внимание, где они показаны: на узле модели, а не на узле извлечения. Повтор стоит на извлечении, а платим мы тремя вызовами модели. Запомните это к следующему экрану.</a:t>
            </a:r>
          </a:p>
          <a:p/>
          <a:p>
            <a:r>
              <a:t>Дальше элемент уходит в красную ветку, и в ней он несёт исходные данные формы плюс поле с текстом ошибки — то есть в таблицу можно записать и саму заявку, и причину. Экран печатает «заявка принята, но не разобрана».</a:t>
            </a:r>
          </a:p>
          <a:p/>
          <a:p>
            <a:r>
              <a:t>И главное число: статус всего прогона — успех. Три отказа подряд, а прогон зелёный.</a:t>
            </a:r>
          </a:p>
          <a:p/>
          <a:p>
            <a:r>
              <a:t>Возвращаю ключ, отправляю ещё раз. Экран обычный, строка нормальная. Один узел, две судьбы, и обе видны там, где заявку отправили.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Обобщаем, и это обобщение шире нашего инструмента: три правила из них живут в любой системе, где один шаг зовёт другой по сети. Вы встретите их в очередях сообщений, в клиентах к чужому API, в платёжных интеграциях.</a:t>
            </a:r>
          </a:p>
          <a:p/>
          <a:p>
            <a:r>
              <a:t>Первое. Повтор лечит временный отказ и только его. Таймаут, превышение лимита запросов, «сервис временно недоступен» — повторяйте, со второй попытки обычно проходит. Неверный ключ, негодный запрос, отсутствующее обязательное поле — повтор не поможет никогда и лишь утроит расход на ту же ошибку. Эти два класса различают заранее, по коду ответа. Глазами в журнале — это уже после того, как заплатили. Инструмент сам их не различает: он повторяет всё, на чём вы включили повтор.</a:t>
            </a:r>
          </a:p>
          <a:p/>
          <a:p>
            <a:r>
              <a:t>Второе. У отказа должен быть адресат. Любой отказ попадает либо прямо на человека, либо в очередь неразобранного — и обязательно с исходными данными и причиной, иначе разбирать нечего. У этого приёма есть устоявшееся имя, запомните его: </a:t>
            </a:r>
            <a:r>
              <a:rPr b="1"/>
              <a:t>очередь неразобранного</a:t>
            </a:r>
            <a:r>
              <a:t>, по-английски dead letter queue. Встретите в любой системе очередей. Отказ, которому некуда идти, превращается в тишину — а тишину не мониторит никто, и это те самые двое суток пропуска.</a:t>
            </a:r>
          </a:p>
          <a:p/>
          <a:p>
            <a:r>
              <a:t>Третье, и это самое ценное за занятие. Технический успех и деловой — независимые утверждения. «Прогон завершился» и «результат годен» — две разные вещи, и журнал показывает первое. Мы это видели своими глазами: три отказа подряд, статус успех. Вывод не про n8n: любая система, которая докладывает только о своих исключениях, молчит про негодные результаты. Проверять надо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нюансов, и первые три — из инженерной практики больших распределённых систем, не из нашего оркестратора. Они применимы всюду.</a:t>
            </a:r>
          </a:p>
          <a:p/>
          <a:p>
            <a:r>
              <a:t>Первое: повтор безопасен только на идемпотентной операции. Идемпотентная — та, которую можно выполнить дважды с тем же результатом. Чтение идемпотентно всегда. «Отправить письмо», «создать заказ», «списать деньги» — нет. И вот ловушка. Таймаут означает ровно одно: «ответ не пришёл». Про то, произошло ли действие, он не говорит ничего — письмо могло уйти, деньги могли списаться, а потеряться мог только ответ. Повтор тогда сделает это второй раз. Поэтому на операциях с последствиями нужен ключ идемпотентности, по которому принимающая сторона узнаёт повтор.</a:t>
            </a:r>
          </a:p>
          <a:p/>
          <a:p>
            <a:r>
              <a:t>Второе — число, которое стоит запомнить. Если повтор включён на каждом слое, слои множат друг друга: три попытки на каждом из пяти слоёв дают двести сорок три обращения вместо одного. Это пример из инженерной библиотеки Amazon, и вывод оттуда же: повторять надо в одном месте стека. У нас в оркестраторе галочка «повторить» есть на каждом узле, и соблазн поставить её всюду прямой.</a:t>
            </a:r>
          </a:p>
          <a:p/>
          <a:p>
            <a:r>
              <a:t>Третье: задержка без разброса. Если все клиенты повторяют через ровно две секунды, они повторяют синхронно — и добивают сервис, который только начал вставать. Нужен случайный разброс. В простых оркестраторах его обычно нет, и это повод не ставить повтор на горячий путь без размышления.</a:t>
            </a:r>
          </a:p>
          <a:p/>
          <a:p>
            <a:r>
              <a:t>Четвёртое — наша конкретика, но знать стоит: сколько бы попыток вы ни ввели, в n8n их будет от двух до пяти, а пауза — не больше пяти секунд. Приводится в коде, молча. Нужен длинный повтор — строится отдельно, узлом ожидания.</a:t>
            </a:r>
          </a:p>
          <a:p/>
          <a:p>
            <a:r>
              <a:t>Пятое. Для ключа идемпотентности естественно взять идентификатор прогона, потому что он под рукой. Нельзя: он один на весь прогон, то есть у пяти заявок он одинаковый, а при ручном повторе из журнала — наоборот, новый у той же заявки. Ключ выводят из самих данных: время прихода плюс контакт, например.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Четвёртый кейс, и он единственный, где мы ничего не будем достраивать. Здесь разберём, почему уже собранное работает не так, как выглядит.</a:t>
            </a:r>
          </a:p>
          <a:p/>
          <a:p>
            <a:r>
              <a:t>Ситуация. Промпт получился неточным: тема иногда определялась слишком общо. Поправили, проверили ручным запуском — хорошо, именно то, что хотели. Закрыли, пошли дальше.</a:t>
            </a:r>
          </a:p>
          <a:p/>
          <a:p>
            <a:r>
              <a:t>На следующий день смотрят таблицу за сутки. Все заявки разобраны по-старому. Открывают холст — правка на месте, никто её не откатывал. Запускают руками — работает по-новому.</a:t>
            </a:r>
          </a:p>
          <a:p/>
          <a:p>
            <a:r>
              <a:t>Оба утверждения на экране верны одновременно, и это не чья-то ошибка и не чья-то забывчивость. Это устройство инструмента, про которое не сказали.</a:t>
            </a:r>
          </a:p>
          <a:p/>
          <a:p>
            <a:r>
              <a:t>Я ставлю этот кейс последним намеренно. На первых трёх мы собирали, и всё, что собирали, проверяли ручным запуском — тем самым способом, который здесь оказывается недостаточным. Скажи я про это в начале, вы бы запомнили правило. А сейчас вы сначала увидели цену его незнания.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четвёртый, и голосуем так же: один вариант, довод.</a:t>
            </a:r>
          </a:p>
          <a:p/>
          <a:p>
            <a:r>
              <a:t>Правку не сохранили — забыли нажать кнопку, бывает. Сохранили, но не опубликовали — есть какой-то отдельный шаг, который не сделали. Кэш — где-то лежит старая версия, само пройдёт. Ручной запуск и боевой — разные пути, и правка попала только в один из них.</a:t>
            </a:r>
          </a:p>
          <a:p/>
          <a:p>
            <a:r>
              <a:t>Подсказка одна, и она честная: правильных карточек здесь две. Не потому что я схитрил с формулировками, а потому что две из четырёх описывают одно и то же явление с разных сторон — со стороны того, что надо сделать, и со стороны того, как оно устроено. Найдите обе.</a:t>
            </a:r>
          </a:p>
          <a:p/>
          <a:p>
            <a:r>
              <a:t>И тот, кто выберет первую, пусть скажет: а вы вообще видели в этом инструменте кнопку «Сохранить»? Вспомните последний час. Мы тут собрали три процесса, и ни один из нас ни разу ничего не сохранял.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механика, и в ней три утверждения.</a:t>
            </a:r>
          </a:p>
          <a:p/>
          <a:p>
            <a:r>
              <a:t>Первое: правки сохраняются сами и постоянно, в черновик. Кнопки «Сохранить» в этом инструменте нет вовсе — вы её не искали, потому что она не нужна.</a:t>
            </a:r>
          </a:p>
          <a:p/>
          <a:p>
            <a:r>
              <a:t>Второе: в боевой режим правка уходит отдельным действием, которое называется Publish.</a:t>
            </a:r>
          </a:p>
          <a:p/>
          <a:p>
            <a:r>
              <a:t>Третье, и оно главное: боевые прогоны исполняют опубликованную версию, а не ту, что открыта у вас в редакторе. Это две разные версии сценария, обе существуют одновременно, и обе живые.</a:t>
            </a:r>
          </a:p>
          <a:p/>
          <a:p>
            <a:r>
              <a:t>Теперь понятно, почему верны вторая и четвёртая карточки и почему это одно и то же. Вторая говорит, чего не сделали: не опубликовали. Четвёртая говорит, как это устроено: ручной запуск идёт по черновику, боевой — по опубликованному. Одно явление, два описания.</a:t>
            </a:r>
          </a:p>
          <a:p/>
          <a:p>
            <a:r>
              <a:t>Первая неверна: сохранять нечего. Третья неверна, и это полезная неверность — ждать можно сутки, ничего не изменится, потому что никакого кэша здесь нет. Есть две версии, и одна из них старая по вашему же решению.</a:t>
            </a:r>
          </a:p>
          <a:p/>
          <a:p>
            <a:r>
              <a:t>Отдельно про слово. Раньше в этом инструменте была кнопка «Активировать», и многие курсы и статьи до сих пор говорят «активируй сценарий». В версии 2 этого слова в интерфейсе нет: его место занял Publish, и значит он другое. Активация включала сценарий; публикация выкладывает версию. Если найдёте инструкцию со словом «активировать» — она про старую версию, и дальше в ней могут быть расхождения серьёзнее одного слова.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Обобщаем, и это обобщение самое короткое и самое дорогое.</a:t>
            </a:r>
          </a:p>
          <a:p/>
          <a:p>
            <a:r>
              <a:t>Первое. Среда редактирования и среда исполнения — разные, и так устроен каждый инструмент, в котором есть редактор. Называется по-разному: черновик и опубликованное, ветка и прод, тест и бой. Важно одно: правка переходит из одной в другую отдельным действием, и это действие легко не сделать — особенно когда предыдущий инструмент, которым вы пользовались, сохранял и публиковал одной кнопкой.</a:t>
            </a:r>
          </a:p>
          <a:p/>
          <a:p>
            <a:r>
              <a:t>Второе, и это пригодится вам уже на следующем занятии. Проверка руками не покрывает путей, которые существуют только в боевом режиме. Обработчик ошибок, расписание, реакция на вызов чужой системы — ни один из них ручным запуском не проверяется, и это свойство самих путей, а не недоработка инструмента: их запускает событие, которого при ручном прогоне не происходит. Значит, их проверка — отдельная работа: вызвать настоящее событие и посмотреть, что было.</a:t>
            </a:r>
          </a:p>
          <a:p/>
          <a:p>
            <a:r>
              <a:t>Третье. На вопрос «что сейчас работает в бою» должен быть ответ за секунду, а откат на предыдущую версию — за минуту. Если ответа нет, то любая правка — это ставка. Инструменты это умеют: история версий есть, откат есть. Пользуются ими ровно те, кто один раз обжёгся.</a:t>
            </a:r>
          </a:p>
          <a:p/>
          <a:p>
            <a:r>
              <a:t>Про инструменты: в n8n это черновик и Publish, и обратите внимание на слово — «активировать» в версии два из интерфейса исчезло. Нашли инструкцию со словом «активируй» — она про старую версию, и расхождения в ней могут быть серьёзнее одного слова. В LangFlow боевого режима нет вовсе: что открыто, то и исполняется. Это та же граница класса инструментов, о которой мы говорили в первом кейсе.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нюанса, каждый из которых однажды съедает вечер.</a:t>
            </a:r>
          </a:p>
          <a:p/>
          <a:p>
            <a:r>
              <a:t>Первый: ручной прогон тяжелее боевого. Инструмент копирует все промежуточные данные, чтобы вы могли щёлкнуть по узлу и посмотреть, что в нём было. Удобно и дорого по памяти. Следствие неприятное: на больших объёмах ручной прогон падает ровно там, где боевой проходит нормально. То есть и «проверил руками — упало» не всегда правда о боевом поведении. Проверка руками — хороший инструмент, просто другой.</a:t>
            </a:r>
          </a:p>
          <a:p/>
          <a:p>
            <a:r>
              <a:t>Второй — предупреждение на следующее занятие, произношу заранее, чтобы там не разбираться полчаса. На Семинаре 8 мы будем делать отдельный сценарий-обработчик ошибок. Его триггер срабатывает только на автоматическом прогоне. Нажмёте «выполнить» — и не произойдёт ничего, вообще ничего. Это не вы сломали и не я ошибся.</a:t>
            </a:r>
          </a:p>
          <a:p/>
          <a:p>
            <a:r>
              <a:t>Третий, и это единственный пункт сегодня про безопасность. Экспорт сценария уносит с собой ссылки на учётные данные: идентификаторы и имена подключений. Самих секретов там нет. Плюс адреса, пути, иногда имена таблиц и внутренних сервисов. Я это обнаружил на нашем же файле: студенческий пришлось собирать отдельно, со снятыми привязками, иначе он утащил бы ссылки на мой стенд. Правило простое и его стоит выполнять механически: перед тем как отдать файл сценария кому-то — откройте его и прочитайте глазами. Паролей там нет, а лишнее — бывает.</a:t>
            </a:r>
          </a:p>
          <a:p/>
          <a:p>
            <a:r>
              <a:t>Четвёртый, бытовой: холст редактирует один человек. Второй откроет и увидит только для чтения. Так что «давай вместе поправим» здесь не получится, и это стоит знать до того, как сядете работать вдвоём.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раз за занятие отвлечёмся от блоков, и ненадолго.</a:t>
            </a:r>
          </a:p>
          <a:p/>
          <a:p>
            <a:r>
              <a:t>В том же центре есть второй поток. Преподаватели присылают по почте отчёт о проведённом занятии: сколько пришло, что прошли. Двадцать писем в неделю. Их читает одна сотрудница и переносит две цифры в таблицу. Пять минут в день, иногда меньше.</a:t>
            </a:r>
          </a:p>
          <a:p/>
          <a:p>
            <a:r>
              <a:t>Приходят и просят: сделайте так же, автоматически, а то руками.</a:t>
            </a:r>
          </a:p>
          <a:p/>
          <a:p>
            <a:r>
              <a:t>И вот это ровно тот момент, в котором половина автоматизаций в жизни зарождается и потом живёт годами, никому не принося пользы и требуя внимания. Вопрос: по какому признаку видно, что строить не надо?</a:t>
            </a:r>
          </a:p>
          <a:p/>
          <a:p>
            <a:r>
              <a:t>Четыре карточки. Объём маленький. Результат читает человек. Вход однотипный и шаг один. И четвёртая, с подвохом: не строить вообще, а один раз спросить модель.</a:t>
            </a:r>
          </a:p>
          <a:p/>
          <a:p>
            <a:r>
              <a:t>Выбирайте, и у кого есть довод против своего же выбора — говорите и его тоже, этот вопрос того стоит.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Разберём, и начну с карточки, которая выглядела подвохом, а была правильной.</a:t>
            </a:r>
          </a:p>
          <a:p/>
          <a:p>
            <a:r>
              <a:t>«Не строить вообще, а один раз спросить модель» — это законный ответ, и это нижняя ступень той лестницы, по которой мы шесть занятий будем идти вверх. Открыть чат, вставить двадцать писем, получить таблицу, вставить в документ. Пять минут раз в неделю, ноль поддержки, ноль узлов, которые кто-то должен помнить. Для этой задачи это, скорее всего, правильное решение, и важно уметь его называть вслух — потому что на курсе про построение процессов соблазн строить есть всегда.</a:t>
            </a:r>
          </a:p>
          <a:p/>
          <a:p>
            <a:r>
              <a:t>Теперь про объём. «Мало» — не критерий, и это главное, что я хочу оставить. Пять минут в день не аргумент ни за, ни против: они одинаково хорошо обосновывают и «не стоит возни», и «так почему не убрать эти пять минут». На объёме спор не решается.</a:t>
            </a:r>
          </a:p>
          <a:p/>
          <a:p>
            <a:r>
              <a:t>Признак другой: куда уходит результат. Если цифры читает человек и он же решает, что с ними делать, — он же заметит, если они странные, в тот же день. Процесс строить незачем: вы не убираете работу, вы добавляете к ней надзор. Если результат уходит дальше без человека — в отчёт, в начисление, в рассылку, — то проверять его должен уже механизм, и вот здесь процесс начинается.</a:t>
            </a:r>
          </a:p>
          <a:p/>
          <a:p>
            <a:r>
              <a:t>Второй признак — типы входа. Пока вход однотипный и шаг один, строить нечего. Как только типов становится больше и они расходятся дальше по-разному, появляется ветвление, а с ним и процесс. Это, кстати, ровно тема следующего занятия.</a:t>
            </a:r>
          </a:p>
          <a:p/>
          <a:p>
            <a:r>
              <a:t>И строка, которую стоит запомнить целиком. Самая дорогая автоматизация — та, которую построили из-за слова «руками». Не из-за того, что руками перестало получаться, а из-за того, что слово неприятное.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Соберём, что получилось за полтора часа.</a:t>
            </a:r>
          </a:p>
          <a:p/>
          <a:p>
            <a:r>
              <a:t>Форма принимает заявку и сама объясняет человеку, что с его текстом произойдёт. Узел извлечения достаёт тему, срочность, контакт из текста и пометку о других темах — всё по схеме с перечислением. Справочник сверяет и не оставляет ни пустых клеток, ни значений вне списка. Строка уходит в таблицу. Экран результата печатает всю дорогу в том же окне. А на узле извлечения стоят повтор и вторая ветка, так что отказ вызова тоже доезжает — с пометкой, а не в тишину.</a:t>
            </a:r>
          </a:p>
          <a:p/>
          <a:p>
            <a:r>
              <a:t>Это не учебная заготовка. Такой процесс можно поставить в небольшом центре, и он будет приносить пользу, пока поток не вырастет. За каждую строку в этой таблице можно отвечать — ровно это мы и обсуждали в первом кейсе.</a:t>
            </a:r>
          </a:p>
          <a:p/>
          <a:p>
            <a:r>
              <a:t>Файл называется так, как на экране. Ставится одним импортом через меню сценария. Что нужно с вашей стороны: свой n8n и ключ провайдера модели. Инструкция по подъёму идёт вместе с файлом, там оба способа — с контейнером и без.</a:t>
            </a:r>
          </a:p>
          <a:p/>
          <a:p>
            <a:r>
              <a:t>Два узла в файле придётся настроить самим, и это сделано намеренно: в узле модели пустые учётные данные, в узле таблицы — пустой выбор таблицы. Мой стенд вам недоступен, и чужой идентификатор в этих полях выглядел бы сломанным узлом — десять минут недоумения на ровном месте.</a:t>
            </a:r>
          </a:p>
          <a:p/>
          <a:p>
            <a:r>
              <a:t>Задание на дом не письменное, и его никто не проверяет. Просьба такая: поставьте, отправьте три заявки, похожие на вашу настоящую работу, и посмотрите на экран результата. Где развалится первым? Оно развалится, у меня на этот счёт иллюзий нет.</a:t>
            </a:r>
          </a:p>
          <a:p/>
          <a:p>
            <a:r>
              <a:t>С этого мы и начнём следующее занятие.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Чем мы заканчиваем и чего нам не хватает.</a:t>
            </a:r>
          </a:p>
          <a:p/>
          <a:p>
            <a:r>
              <a:t>Сейчас у нас одна дорога. Любая заявка идёт через один и тот же шаг и попадает в одну и ту же таблицу. Пока заявки однотипные — этого достаточно, мы только что это и обсуждали.</a:t>
            </a:r>
          </a:p>
          <a:p/>
          <a:p>
            <a:r>
              <a:t>Но тема у нас уже выделена отдельным полем. И как только она выделена, сразу видно, что заявка про оплату и заявка про перенос занятия должны ехать дальше по-разному: одна бухгалтеру, другая в расписание. Одной дорогой это не делается.</a:t>
            </a:r>
          </a:p>
          <a:p/>
          <a:p>
            <a:r>
              <a:t>Следующее занятие про развилку. Как она устроена, по какому полю разводит, и главный вопрос, который на ней обычно забывают: что делать с тем, что не подошло ни под одну ветку. Мы такую заявку уже видели — помните, я прогонял «а вы сотрудничаете с юрлицами?». Тема у неё получилась какая угодно, а правильный ответ был «не знаю». Куда её девать — вопрос восьмого занятия, и у инструмента на него есть ответ по умолчанию, который вам не понравится.</a:t>
            </a:r>
          </a:p>
          <a:p/>
          <a:p>
            <a:r>
              <a:t>Там же будет проверка результата шага до того, как он уехал дальше: сегодня мы ловили отказ вызова, а это другое — вызов прошёл, а результат негодный.</a:t>
            </a:r>
          </a:p>
          <a:p/>
          <a:p>
            <a:r>
              <a:t>И одна вещь, которую я скажу заранее, чтобы вы заранее не поверили в обратное. Ветки, которые на холсте выглядят параллельными, выполняются по очереди, одна за другой, в порядке их положения на экране. Разберём почему.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"/>
            <a:ext cx="10515600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456"/>
              </a:lnSpc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Первый работающий процесс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098798"/>
            <a:ext cx="10515600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24"/>
              </a:lnSpc>
              <a:spcAft>
                <a:spcPts val="400"/>
              </a:spcAft>
            </a:pPr>
            <a:r>
              <a:rPr sz="1800" b="0" i="0">
                <a:solidFill>
                  <a:srgbClr val="D6E2EC"/>
                </a:solidFill>
                <a:latin typeface="Arial"/>
              </a:rPr>
              <a:t>Процессы на больших языковых моделях (LLM): занятие первое из шести.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собирали раньше и что собираем теперь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50415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078431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С4–С6: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один агент. Что ему разрешено, что он помнит, чем он пользуется.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28467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256483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С7–С12: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процесс. Что его запускает, из каких шагов он состоит, что он делает с результатом.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306519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434535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Задача на сегодня: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заявка с формы попадает в таблицу разобранной, без участия человека.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Процесс — это триггер и шаги</a:t>
            </a:r>
          </a:p>
        </p:txBody>
      </p:sp>
      <p:pic>
        <p:nvPicPr>
          <p:cNvPr id="3" name="Picture 2" descr="teoriya-protsess-trigger-shag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00" y="943356"/>
            <a:ext cx="9524151" cy="238103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488985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3617001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триггер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шаг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шаг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результат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108999"/>
            <a:ext cx="11183112" cy="1426337"/>
          </a:xfrm>
          <a:prstGeom prst="roundRect">
            <a:avLst>
              <a:gd name="adj" fmla="val 213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264447"/>
            <a:ext cx="3037964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РОД ТРИГГЕРА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2636" y="4264447"/>
            <a:ext cx="3896702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КОГДА СРАБАТЫВАЕТ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5642" y="4264447"/>
            <a:ext cx="3498637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БЛОК В N8N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539021"/>
            <a:ext cx="3037964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 действию человека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2636" y="4539021"/>
            <a:ext cx="389670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отправили форму, написали в чат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5642" y="4539021"/>
            <a:ext cx="3498637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n8n Form Trigger, Chat Trigger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481931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4819310"/>
            <a:ext cx="3037964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 событию снаружи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2636" y="4819310"/>
            <a:ext cx="389670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чужая система позвала по адресу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85642" y="4819310"/>
            <a:ext cx="3498637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Webhook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509959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5099599"/>
            <a:ext cx="3037964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 времени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2636" y="5099599"/>
            <a:ext cx="389670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наступил момент расписания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85642" y="5099599"/>
            <a:ext cx="3498637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Schedule Trigger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699928"/>
            <a:ext cx="82296" cy="48691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5827944"/>
            <a:ext cx="10643616" cy="2308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Для отладки есть четвёртый, искусственный: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Manual Trigger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— «выполнить сейчас, потому что я нажал кнопку».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Данные ходят списком</a:t>
            </a:r>
          </a:p>
        </p:txBody>
      </p:sp>
      <p:pic>
        <p:nvPicPr>
          <p:cNvPr id="3" name="Picture 2" descr="teoriya-dannye-spisk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57731"/>
            <a:ext cx="11183112" cy="321514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373405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501421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три заявки на входе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узел отправки письма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три письма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084475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212491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Узел выполняется по разу на каждый элемент списка.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95545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923561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Выключается настройкой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Execute Once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тогда узел сработает один раз, с данными первого элемента.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Шаг модели — обычный узел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41789"/>
            <a:ext cx="11183112" cy="1524698"/>
          </a:xfrm>
          <a:prstGeom prst="roundRect">
            <a:avLst>
              <a:gd name="adj" fmla="val 1999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24669"/>
            <a:ext cx="470221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ЭТО ЗНАЧИТ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34316" y="1324669"/>
            <a:ext cx="58225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 ЭТОГО СЛЕДУЕТ СЕГОДНЯ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06736"/>
            <a:ext cx="470221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ответ приходит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текстом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текст это то, что модель порождает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4316" y="1606736"/>
            <a:ext cx="582253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значения, поля и категории из него надо как-то доставать →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кейс 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13645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136453"/>
            <a:ext cx="47022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вызов уходит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наружу по сети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4316" y="2136453"/>
            <a:ext cx="58225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может не дойти, прийти с задержкой, вернуть ошибку →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327162"/>
            <a:ext cx="82296" cy="12954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3455178"/>
            <a:ext cx="10643616" cy="1039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Как достать значение из предыдущего шага.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У каждого поля есть переключатель «фиксированное значение / выражение».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{{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$json.поле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}}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поле текущего элемента.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{{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$('Имя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узла').item.json.поле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}}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поле из любого предыдущего узла.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28323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541125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Обращение идёт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по имени узла на холсте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Переименовали узел — выражения, которые на него ссылались, сломались.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626106"/>
            <a:ext cx="9692640" cy="899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«Их всё равно потом руками в таблицу перекладывают»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708146"/>
            <a:ext cx="9692640" cy="43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«Форма-то есть. Их всё равно потом руками в таблицу перекладывают.»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Из скольких узлов?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26438"/>
            <a:ext cx="11183112" cy="7170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581302"/>
            <a:ext cx="64008" cy="6073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663598"/>
            <a:ext cx="10643616" cy="4427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есть: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форма на сайте — имя, контакт и свободный текст «что нужно»</a:t>
            </a:r>
          </a:p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нужно: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строка в таблице, где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тема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срочность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никогда не пусты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и всегда из списка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1099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039008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Из скольких узлов соберётся процесс, который решает эту задачу полностью?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0146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0146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5274" y="440146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5002" y="440146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три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7628" y="440146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7356" y="440146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пять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9982" y="440146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09710" y="440146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зависит от того, что считать решением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Чего не хватает трём узлам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97711"/>
            <a:ext cx="11183112" cy="2584132"/>
          </a:xfrm>
          <a:prstGeom prst="roundRect">
            <a:avLst>
              <a:gd name="adj" fmla="val 1179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80591"/>
            <a:ext cx="89223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24342" y="1680591"/>
            <a:ext cx="355269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ДАЁТ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23338" y="1680591"/>
            <a:ext cx="593350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ЧЕГО НЕ ХВАТАЕТ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62658"/>
            <a:ext cx="89223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24342" y="1962658"/>
            <a:ext cx="355269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мгновенно и бесплатно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23338" y="1962658"/>
            <a:ext cx="593350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тема и срочность не появятся сами — задача не решена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3098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309812"/>
            <a:ext cx="89223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24342" y="2309812"/>
            <a:ext cx="355269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заявка доезжает до таблицы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3338" y="2309812"/>
            <a:ext cx="593350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тема будет какой угодно, срочности не будет вовсе, результат видно только в таблице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8395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839529"/>
            <a:ext cx="89223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пять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24342" y="2839529"/>
            <a:ext cx="355269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решение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значения из справочника, всегда заполнены, результат виден сразу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23338" y="2839529"/>
            <a:ext cx="593350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лишний узел там, где хватило бы трёх для показа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5518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551809"/>
            <a:ext cx="89223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«зависит»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24342" y="3551809"/>
            <a:ext cx="355269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верно по сути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23338" y="3551809"/>
            <a:ext cx="593350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ответ, пока не сказано, от чего именно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74935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87737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Трём узлам не хватает двух вещей: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справочника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который не даст ни пустой темы, ни темы вне списка, 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места, где виден результат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иначе каждую проверку придётся ходить в таблицу.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узлов и один экран</a:t>
            </a:r>
          </a:p>
        </p:txBody>
      </p:sp>
      <p:pic>
        <p:nvPicPr>
          <p:cNvPr id="3" name="Picture 2" descr="k1-shema-pyat-uzlo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552" y="943356"/>
            <a:ext cx="9531846" cy="1787221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2895169"/>
            <a:ext cx="11183112" cy="2029015"/>
          </a:xfrm>
          <a:prstGeom prst="roundRect">
            <a:avLst>
              <a:gd name="adj" fmla="val 1502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050617"/>
            <a:ext cx="320645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УЗЕЛ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11130" y="3050617"/>
            <a:ext cx="737314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НАСТРАИВАЕМ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332684"/>
            <a:ext cx="3206458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53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Request 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11130" y="3332684"/>
            <a:ext cx="7373149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53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три поля, все обязательные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361989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3619894"/>
            <a:ext cx="3206458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53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Extract fields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11130" y="3619894"/>
            <a:ext cx="7373149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53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схема вручную: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topic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urgency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перечисления, оба обязательны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390710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3907105"/>
            <a:ext cx="3206458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53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Vocabulary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11130" y="3907105"/>
            <a:ext cx="7373149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53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из списка или пусто →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другое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не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указано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;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status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=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ok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419431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4194315"/>
            <a:ext cx="3206458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53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Write row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11130" y="4194315"/>
            <a:ext cx="7373149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53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значения берутся у справочника, не у модели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448152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4481526"/>
            <a:ext cx="3206458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53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Result screen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11130" y="4481526"/>
            <a:ext cx="7373149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53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вход · что вернула модель · что решил справочник · номер строки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088776"/>
            <a:ext cx="82296" cy="62077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5216792"/>
            <a:ext cx="10643616" cy="364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4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Consolas"/>
              </a:rPr>
              <a:t>"topic":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{"enum":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["курс",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"перенос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занятия",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"оплата",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"другое"]}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— справочник объявлен схемой, и инструмент требует от модели одно из этих значений.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874144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6002160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Собираем вживую. Если техника подведёт — всё, что нужно, на этом экране.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переносится в любой инструмент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62837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90853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Машинный выход — в закрытый список.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Если результат шага модели читает человек, свободный текст уместен. Если его читает следующий шаг — множество значений обязано быть конечным и заранее известным. Иначе сортировка, фильтр и счёт не соберутся никогда.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09113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637129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Гарантия двухуровневая: просьба и проверка.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Схема с перечислением — сильная просьба к модели. Гарантию даёт только детерминированная проверка после неё. Один уровень без другого не работает: просьба иногда не сдерживается, проверка без просьбы разрушает слишком много.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95538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08340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Наблюдаемость — с первого прохода.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Результат виден там, где люди уже работают. Пока вы решаете, что показать на экране, вы отвечаете на вопрос «за что я тут отвечаю» — до того, как процесс поехал.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40166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552968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Как это зовётся: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в n8n — Information Extractor плюс Set; в Activepieces — то же двумя шагами; в sim схема живёт внутри блока модели, а проверку добавляют отдельно.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Нюансы, которые есть везде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7386"/>
            <a:ext cx="11183112" cy="2748724"/>
          </a:xfrm>
          <a:prstGeom prst="roundRect">
            <a:avLst>
              <a:gd name="adj" fmla="val 1108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20266"/>
            <a:ext cx="270149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НЮАНС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33600" y="1520266"/>
            <a:ext cx="782324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ПРОЯВЛЯЕТСЯ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02333"/>
            <a:ext cx="270149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гарантия — только в строгом режиме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33600" y="1802333"/>
            <a:ext cx="782324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обычном режиме схема превращается в пожелание, и вы об этом не узнаете из ответа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33205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332050"/>
            <a:ext cx="270149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отказ модели схеме не подчиняется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3600" y="2332050"/>
            <a:ext cx="782324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отказ по безопасности приходит отдельное поле вместо ваших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topic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urgency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8617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861767"/>
            <a:ext cx="270149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обрыв по лимиту ответа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3600" y="2861767"/>
            <a:ext cx="782324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ответ оборван на половине, и схемы в нём больше нет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20892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208921"/>
            <a:ext cx="270149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смена версии модели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3600" y="3208921"/>
            <a:ext cx="782324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справочник тот же, распределение по нему другое — и об этом никто не узнает без замера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55607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556076"/>
            <a:ext cx="270149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справочник в двух местах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3600" y="3556076"/>
            <a:ext cx="782324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список в схеме и список в проверке расходятся: поправили в одном, забыли во втором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753622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881638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Документация поставщика говорит это прямо: структурированный вывод обеспечивает соответствие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формата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Смысловая правильность в обещание не входит — модель может вернуть безупречно валидное и неверное.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3067050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«В заявке две темы, а в таблице одна»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писать в тему, если их две?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26438"/>
            <a:ext cx="11183112" cy="7170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581302"/>
            <a:ext cx="64008" cy="6073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663598"/>
            <a:ext cx="10643616" cy="4427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 заявке: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перенос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занятия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и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оплата</a:t>
            </a:r>
          </a:p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 таблице: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одна клетка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тема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1099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039008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должно попасть в тему?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0146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0146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первую из найденных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5274" y="440146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5002" y="440146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другое — пусть разбирает человек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7628" y="440146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7356" y="440146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две строки вместо одной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9982" y="440146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09710" y="440146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главную, и пометить, что есть ещё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Кто разбирает остаток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43761"/>
            <a:ext cx="11183112" cy="2219007"/>
          </a:xfrm>
          <a:prstGeom prst="roundRect">
            <a:avLst>
              <a:gd name="adj" fmla="val 1373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6641"/>
            <a:ext cx="24380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ОТВЕТ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70126" y="1826641"/>
            <a:ext cx="26518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ОСТАТОК РАЗБИРАЕТ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68319" y="1826641"/>
            <a:ext cx="528852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ПЛАТИТ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8708"/>
            <a:ext cx="243802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первую из найденных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70126" y="2108708"/>
            <a:ext cx="26518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никто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8319" y="2108708"/>
            <a:ext cx="528852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вторая тема исчезает молча — то, что мы только что видели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4558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455862"/>
            <a:ext cx="243802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«другое»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0126" y="2455862"/>
            <a:ext cx="26518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человек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и он об этом знает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68319" y="2455862"/>
            <a:ext cx="528852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«другое» сваливается и многотемье, и настоящая экзотика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80301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803017"/>
            <a:ext cx="243802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две строки из одной заявки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70126" y="2803017"/>
            <a:ext cx="265188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следующий шаг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без человека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68319" y="2803017"/>
            <a:ext cx="528852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 заявка — две судьбы: кому звонить и кто закрывает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33273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332734"/>
            <a:ext cx="243802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главная + пометка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70126" y="3332734"/>
            <a:ext cx="26518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тот, кто читает пометку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8319" y="3332734"/>
            <a:ext cx="528852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пометку надо куда-то положить и кому-то читать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5302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6582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Разница между первым и вторым ответом — не точность, а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знание о своём незнании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Первый уверен и неправ; второй не знает и говорит об этом.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Трудные заявки</a:t>
            </a:r>
          </a:p>
        </p:txBody>
      </p:sp>
      <p:pic>
        <p:nvPicPr>
          <p:cNvPr id="3" name="Picture 2" descr="k1-shema-pyat-uzlo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626" y="943356"/>
            <a:ext cx="10145699" cy="190231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010266"/>
            <a:ext cx="11183112" cy="1797177"/>
          </a:xfrm>
          <a:prstGeom prst="roundRect">
            <a:avLst>
              <a:gd name="adj" fmla="val 1695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165714"/>
            <a:ext cx="424864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ЗАЯВКА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53320" y="3165714"/>
            <a:ext cx="272529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ТЕМА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917" y="3165714"/>
            <a:ext cx="345936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ЕЩЁ В ЗАЯВКЕ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47781"/>
            <a:ext cx="4248648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перенести занятие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и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как оплатить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53320" y="3447781"/>
            <a:ext cx="2725293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перенос занятия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917" y="3447781"/>
            <a:ext cx="3459362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оплата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374883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3748835"/>
            <a:ext cx="4248648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оплатить, перенести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и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про скидки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53320" y="3748835"/>
            <a:ext cx="2725293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оплата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4917" y="3748835"/>
            <a:ext cx="3459362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перенос занятия ·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другое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404988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4049888"/>
            <a:ext cx="4248648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сотрудничаете с юрлицами?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3320" y="4049888"/>
            <a:ext cx="2725293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другое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4917" y="4049888"/>
            <a:ext cx="3459362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4350942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4350942"/>
            <a:ext cx="4248648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«ок»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3320" y="4350942"/>
            <a:ext cx="2725293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другое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4917" y="4350942"/>
            <a:ext cx="3459362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972035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5100051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Меняем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один узел из пяти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— справочник. В него добавляется столбец «ещё в заявке»; остальные четыре не трогаются.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607797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5735813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Собираем вживую. Если техника подведёт — всё, что нужно, на этом экране.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переносится в любой инструмент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3393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148257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1" i="1">
                <a:solidFill>
                  <a:srgbClr val="6B7685"/>
                </a:solidFill>
                <a:latin typeface="Arial"/>
              </a:rPr>
              <a:t>«Не знаю» — такое же значение, как остальные.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Законный отказ от классификации стоит дорого при разработке и дешево при эксплуатации. Его отсутствие стоит наоборот: модель всегда что-нибудь ответит, и неверный ответ по виду не отличить от верного.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12022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440038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Многозначность входа — проектное решение.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Один вход даёт один класс или несколько? Ответ меняет не схему — он меняет то, кто закрывает заявку. Решать до сборки: потом переделка идёт по всей цепочке.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4324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87126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У очереди на разбор есть владелец и метрика.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«Другое» — это очередь: у неё должны быть человек и доля в процентах. Очередь, которую никто не смотрит, работает так же, как исчезнувшая вторая тема.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174475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5302491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Как это зовётся: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в n8n ветка по умолчанию у Switch и Text Classifier (у второго по умолчанию элемент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отбрасывается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это настройка, которую меняют первым делом); в sim есть guardrails как отдельный примитив; в Activepieces — тот же приём условием после шага.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Нюансы, которые есть везде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58849"/>
            <a:ext cx="11183112" cy="2931286"/>
          </a:xfrm>
          <a:prstGeom prst="roundRect">
            <a:avLst>
              <a:gd name="adj" fmla="val 1039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41729"/>
            <a:ext cx="194592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НЮАНС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78029" y="1541729"/>
            <a:ext cx="857881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ПРОЯВЛЯЕТСЯ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3796"/>
            <a:ext cx="194592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доля «другого» упала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78029" y="1823796"/>
            <a:ext cx="857881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читают как улучшение, а бывает наоборот: модель стала решительнее, не точнее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35351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353513"/>
            <a:ext cx="194592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справочник поменялся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78029" y="2353513"/>
            <a:ext cx="857881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старые строки и новые больше несопоставимы; без версии справочника отчёт за год врёт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7006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700667"/>
            <a:ext cx="194592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«другое» без исходника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78029" y="2700667"/>
            <a:ext cx="857881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человек видит класс, но не видит текст — разбирать нечем, очередь встаёт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23038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230384"/>
            <a:ext cx="194592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что считать главной темой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78029" y="3230384"/>
            <a:ext cx="857881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заявке из трёх тем «главная» ничем не задана: порядок упоминания, важность или первая по справочнику — это ваше решение, и его надо принять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76010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760101"/>
            <a:ext cx="194592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язык и формат входа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8029" y="3760101"/>
            <a:ext cx="857881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справочник собран на одном языке, а заявки приходят на трёх; классификация тихо деградирует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95764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08566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Рост «другого» заметят все.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Падение не заметит никто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а оно означает, что модель перестала воздерживаться, и часть неверных ответов теперь выглядит как верные.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850896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Двое суток пропуска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83356"/>
            <a:ext cx="9692640" cy="432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Пятница заполнена, понедельник заполнен, выходных в таблице нет вовсе.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делать узлу, когда вызов не удался?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2260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750618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должен делать узел, когда вызов не удался?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1307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11307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остановить весь процесс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5274" y="311307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45002" y="311307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пропустить и идти дальше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311307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7356" y="311307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повторить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9982" y="311307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9710" y="311307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отправить в отдельную ветку для разбора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832146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1208" y="4887010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4969306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Дальше по процессу у нас запись в таблицу. Держите это в уме, выбирая.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Это не четыре мнения, это четыре настройки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63419"/>
            <a:ext cx="11183112" cy="2584132"/>
          </a:xfrm>
          <a:prstGeom prst="roundRect">
            <a:avLst>
              <a:gd name="adj" fmla="val 1179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46299"/>
            <a:ext cx="24254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НАСТРОЙКА УЗЛА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57523" y="2246299"/>
            <a:ext cx="37589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737" y="2246299"/>
            <a:ext cx="41941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КОГДА УМЕСТНО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28366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On Error = Stop Workflow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(по умолчанию)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57523" y="2528366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падает целиком, дальше ничего не идёт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2737" y="2528366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следующий шаг необратим и дорог: счёт, письмо клиенту, платёж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05808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058083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On Error = Continue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57523" y="3058083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текст ошибки идёт дальше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как обычные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2737" y="3058083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почти никогда: ошибка молча доедет до таблицы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5878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587800"/>
            <a:ext cx="242541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On Error = Continue (using error output)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7523" y="3587800"/>
            <a:ext cx="3758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элемент уходит в отдельный выход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error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737" y="3587800"/>
            <a:ext cx="41941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разбирать отказы своей веткой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11751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117517"/>
            <a:ext cx="24254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Retry On Fail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57523" y="4117517"/>
            <a:ext cx="37589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повтор N раз, затем одно из трёх выше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2737" y="4117517"/>
            <a:ext cx="41941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сетевые отказы, таймауты, лимиты провайдера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ветки и два экрана</a:t>
            </a:r>
          </a:p>
        </p:txBody>
      </p:sp>
      <p:pic>
        <p:nvPicPr>
          <p:cNvPr id="3" name="Picture 2" descr="k3-shema-dve-vet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392" y="943356"/>
            <a:ext cx="10056167" cy="276544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873394"/>
            <a:ext cx="11183112" cy="119507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028842"/>
            <a:ext cx="533695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НАСТРОЙКА УЗЛА ИЗВЛЕЧЕНИЯ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41629" y="4028842"/>
            <a:ext cx="52426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ЗНАЧЕНИЕ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310909"/>
            <a:ext cx="533695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Retry On Fail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1629" y="4310909"/>
            <a:ext cx="52426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3 попытки, пауза 2 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4611962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4611962"/>
            <a:ext cx="533695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On Error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41629" y="4611962"/>
            <a:ext cx="52426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62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Continue (using error output)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33056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5361072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Из выхода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error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— в ту же таблицу: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status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=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not_parsed</a:t>
            </a:r>
            <a:r>
              <a:rPr sz="1150" b="1" i="0">
                <a:solidFill>
                  <a:srgbClr val="141B2E"/>
                </a:solidFill>
                <a:latin typeface="Arial"/>
              </a:rPr>
              <a:t>. Экран печатает, что вызов не удался.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853070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981086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Собираем вживую. Если техника подведёт — всё, что нужно, на этом экране.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переносится в любой инструмент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8645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1447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Повтор лечит временный отказ и только его.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Таймаут, лимит, «сервис перегружен» — повторяйте. Неверный ключ, негодный запрос, отсутствующее поле — повтор лишь утроит счёт за одну и ту же ошибку. Эти два класса различают заранее, по коду ответа.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91790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719806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У отказа должен быть адресат.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Любой отказ попадает либо на человека, либо в очередь неразобранного — с исходными данными и причиной. Отказ, которому некуда идти, превращается в тишину, а тишину никто не мониторит.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9712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22513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Технический успех и деловой — разные вещи.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Прогон завершился и результат годен — два независимых утверждения. Проверять надо второе, а показывает журнал первое.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36623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549424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Как это зовётся: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в индустрии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очередь неразобранного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(dead letter queue); в n8n это выход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error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плюс запись с пометкой; в Activepieces — то же; в sim отказ разбирают условием после шага.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Нюансы, которые есть везде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58849"/>
            <a:ext cx="11183112" cy="2931286"/>
          </a:xfrm>
          <a:prstGeom prst="roundRect">
            <a:avLst>
              <a:gd name="adj" fmla="val 1039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41729"/>
            <a:ext cx="225116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НЮАНС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83268" y="1541729"/>
            <a:ext cx="827357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ПРОЯВЛЯЕТСЯ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3796"/>
            <a:ext cx="225116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повтор на неидемпотентной операции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83268" y="1823796"/>
            <a:ext cx="827357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«отправить письмо» при таймауте уходит дважды: ответ потерялся, а действие прошло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5360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536075"/>
            <a:ext cx="225116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повтор на каждом слое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3268" y="2536075"/>
            <a:ext cx="827357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слои множат друг друга, и чужой сервис получает лавину вместо запроса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88323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883230"/>
            <a:ext cx="225116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задержка без разброса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3268" y="2883230"/>
            <a:ext cx="827357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все клиенты повторяют синхронно и добивают сервис, который начал вставать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23038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230384"/>
            <a:ext cx="225116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бюджет повторов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83268" y="3230384"/>
            <a:ext cx="827357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n8n число попыток приводится к 2–5, пауза к 0–5000 мс — что бы вы ни ввели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57753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577539"/>
            <a:ext cx="22511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ключ идемпотентности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3268" y="3577539"/>
            <a:ext cx="82735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идентификатор прогона для этого не годится: он общий для элементов и новый при ручном повторе. Ключ выводят из данных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95764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08566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Три попытки на каждом из пяти слоёв дают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243-кратную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нагрузку на нижний. Поэтому повторяют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в одном месте стека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не всюду, где есть галочка.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735326"/>
            <a:ext cx="969264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40"/>
              </a:lnSpc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Оба утверждения верны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367786"/>
            <a:ext cx="9692640" cy="663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Aft>
                <a:spcPts val="0"/>
              </a:spcAft>
            </a:pPr>
            <a:r>
              <a:rPr sz="1400" b="0" i="1">
                <a:solidFill>
                  <a:srgbClr val="9FAEC4"/>
                </a:solidFill>
                <a:latin typeface="Arial"/>
              </a:rPr>
              <a:t>На холсте промпт поправлен, проверен ручным запуском и никем не откатывался. В таблице за сутки все заявки разобраны по-старому.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4418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44418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85916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Кейс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27414" y="5989320"/>
            <a:ext cx="2658618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7414" y="5989320"/>
            <a:ext cx="2658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Кейс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Почему боевые прогоны идут по старому?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8026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08276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Почему боевые прогоны идут по старому варианту?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правку не сохранили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5274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45002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сохранили, но не опубликовали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7356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кэш, надо подождать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9982" y="3570732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9710" y="3570732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ручной запуск и боевой — это разные пути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Черновик и опубликованная версия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6548"/>
            <a:ext cx="82296" cy="10591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64564"/>
            <a:ext cx="10643616" cy="803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Правки сохраняются сами, постоянно, в черновик.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Кнопки «Сохранить» в интерфейсе нет вовсе.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 боевой режим правка уходит отдельным действием — Publish.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Боевые прогоны исполняют опубликованную версию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то, что открыто в редакторе.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843301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026181"/>
            <a:ext cx="408975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КАРТОЧКА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21859" y="3026181"/>
            <a:ext cx="643498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ВЕРДИКТ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08248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правку не сохранили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21859" y="3308248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сохранять нечего, сохраняется само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6554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655402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сохранили, но не опубликовали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21859" y="3655402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это и произошло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00255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002557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кэш, надо подождать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21859" y="4002557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ждать можно сколько угодно, версий две, и обе живые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43497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349711"/>
            <a:ext cx="408975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ручной запуск и боевой — разные пути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1859" y="4349711"/>
            <a:ext cx="6434988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верно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ручной идёт по черновику, боевой по опубликованному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27319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655335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Слова «активировать» в n8n 2.x больше нет: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Publish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занял его место и значит другое.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переносится в любой инструмент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62837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90853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Среда редактирования и среда исполнения — разные.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Как бы это ни называлось: черновик и опубликованное, ветка и прод, тест и бой. Правка переходит из одной в другую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отдельным действием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и это действие легко не сделать.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09113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637129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Проверка руками не покрывает путей, которые есть только в бою.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Обработчик ошибок, расписание, реакция на чужой вызов — всё это ручным запуском не проверяется в принципе. Их проверяют настоящим событием, и это отдельная работа.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95538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08340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Работающая версия опознаваема и откатываема.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«Что сейчас в бою» — вопрос, на который должен быть ответ за секунду, и откат на предыдущее — за минуту.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165445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5293461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Как это зовётся: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в n8n — черновик 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Publish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(слова «активировать» в версии 2 больше нет; инструкции с ним — про старую); в Activepieces — то же разделение; в LangFlow боевого режима нет вовсе: что открыто, то и исполняется.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Нюансы, которые есть везде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03223"/>
            <a:ext cx="11183112" cy="2584132"/>
          </a:xfrm>
          <a:prstGeom prst="roundRect">
            <a:avLst>
              <a:gd name="adj" fmla="val 1179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86103"/>
            <a:ext cx="252771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НЮАНС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59815" y="1586103"/>
            <a:ext cx="799703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ПРОЯВЛЯЕТСЯ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68170"/>
            <a:ext cx="252771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ручной прогон тяжелее боевого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59815" y="1868170"/>
            <a:ext cx="799703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инструмент копирует данные для показа в интерфейсе; на больших объёмах ручной падает там, где боевой проходит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39788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397887"/>
            <a:ext cx="252771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обработчик ошибок не проверить руками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59815" y="2397887"/>
            <a:ext cx="799703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нажимаете «выполнить» — не происходит ничего; это правильное поведение, хотя выглядит поломкой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92760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927604"/>
            <a:ext cx="252771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экспорт уносит ссылки на учётные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9815" y="2927604"/>
            <a:ext cx="799703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файле сценария остаются идентификаторы и имена подключений: что именно уезжает — смотреть глазами перед отправкой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45732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457321"/>
            <a:ext cx="252771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холст редактирует один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9815" y="3457321"/>
            <a:ext cx="799703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второй откроет только для чтения; «давай вместе поправим» здесь не работает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654867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782883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Перед тем как отдать файл сценария кому-то — откройте его и прочитайте. Там нет паролей, но есть имена и идентификаторы ваших подключений, а иногда адреса и пути, которые вы не собирались показывать.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А это вообще надо автоматизировать?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45514"/>
            <a:ext cx="11183112" cy="9193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500378"/>
            <a:ext cx="64008" cy="8096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582674"/>
            <a:ext cx="10643616" cy="645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том же центре есть второй поток: преподаватели присылают по почте отчёт о проведённом занятии. Двадцать писем в неделю. Их читает одна сотрудница и переносит две цифры в таблицу — пять минут в день.</a:t>
            </a:r>
          </a:p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Просят сделать так же, «а то руками».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03237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60395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По какому признаку видно, что процесс строить не надо?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522851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522851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объём маленький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5274" y="4522851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5002" y="4522851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результат читает человек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7628" y="4522851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7356" y="4522851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вход однотипный и шаг один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9982" y="4522851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09710" y="4522851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не надо строить вообще — надо один раз спросить 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Признак — не объём, а куда уходит результат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4919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07721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Самая дорогая автоматизация — та, которую построили из-за слова «руками», а не из-за того, что руками перестало получаться.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363468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491484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Строить не надо, когда: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вход однотипный · шаг один · результат читает человек и он же решает, что с ним делать · ошибка замечается тем же человеком в тот же день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Строить надо, когда: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поток растёт и сотрудница становится узким местом · типов входа больше одного и они расходятся по разным дальше · результат уходит следующему шагу без человека · ошибку никто не увидит, пока она не доедет до клиента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уносим с занятия</a:t>
            </a:r>
          </a:p>
        </p:txBody>
      </p:sp>
      <p:pic>
        <p:nvPicPr>
          <p:cNvPr id="3" name="Picture 2" descr="vyhod-shema-prots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64935"/>
            <a:ext cx="11183112" cy="307535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258833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441713"/>
            <a:ext cx="287345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ФАЙЛ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5561" y="4441713"/>
            <a:ext cx="765128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Consolas"/>
              </a:rPr>
              <a:t>STUDENT.JSON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723780"/>
            <a:ext cx="287345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поставить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5561" y="4723780"/>
            <a:ext cx="765128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меню сценария → Import from File → выбрать файл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507093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5070934"/>
            <a:ext cx="287345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что нужно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5561" y="5070934"/>
            <a:ext cx="765128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свой n8n и ключ провайдера модели (инструкция)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4180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418089"/>
            <a:ext cx="287345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что делать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5561" y="5418089"/>
            <a:ext cx="765128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прогнать на своих трёх заявках и посмотреть, где развалится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576524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5765243"/>
            <a:ext cx="287345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что завести своё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5561" y="5765243"/>
            <a:ext cx="765128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учётные данные модели и свою таблицу: в файле они пустые намеренно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дальше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122932"/>
            <a:ext cx="82296" cy="7848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250948"/>
            <a:ext cx="10643616" cy="5288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Сейчас: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любая заявка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один и тот же шаг → таблица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Дальше: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заявка про оплату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одно ·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про перенос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другое ·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непонятная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→ третье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530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70332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Семинар 8: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развилка и как она устроена · что делать с тем, что не подошло ни под одну ветку · проверка результата шага до того, как он уехал дальше · и почему ветки, которые выглядят параллельными, выполняются по очереди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