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 начинается новая дуга — шесть занятий подряд про то, как инженер строит процесс вокруг вызова модели вместо того, чтобы взять у неё один ответ и на этом остановиться. На С4–С6 вы собирали одного агента: права, память, инструменты, проверяемость каждого шага. Эта дуга смотрит уровнем выше — на процесс, который таким агентом или просто одним вызовом большой языковой модели пользуется.</a:t>
            </a:r>
          </a:p>
          <a:p/>
          <a:p>
            <a:r>
              <a:t>В названии стоят три приёма, которые мы сегодня и разберём: хватит ли одного вызова, цепочка шагов, маршрут между несколькими путями. Начнём с картинки, в которой искусственного интеллекта нет вовсе, — и с вопроса к ней.</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экране три коробки и две стрелки. Письмо попадает в почтовый ящик поддержки. Срабатывает правило: если письмо пришло в этот ящик — создать карточку в трекере задач. Правило отправляет HTTP-запрос, и через секунду в трекере лежит карточка с темой письма и его текстом. Никто не писал код в момент самого события: правило написано заранее, один раз, и с тех пор просто срабатывает.</a:t>
            </a:r>
          </a:p>
          <a:p/>
          <a:p>
            <a:r>
              <a:t>Реплику под схемой — «это просто скрипт, я сам написал его в прошлом месяце» — сказал инженер, который это правило и настроил. Он прав. Правило не читает письмо, не взвешивает, важное оно или нет, не формулирует ответ; оно совершает одно и то же действие на любое письмо, которое попало в этот ящик, независимо от содержания — на первом письме и на тысячном одинаково.</a:t>
            </a:r>
          </a:p>
          <a:p/>
          <a:p>
            <a:r>
              <a:t>Вопрос «где здесь искусственный интеллект» задан нарочно, и честный ответ на него — «нигде». Срабатывание триггера, сборка HTTP-запроса, создание карточки — три механических шага, и ни одному из них модель не нужна. Так устроена огромная доля того, что в разговоре называют автоматизацией процессов: правило написано один раз и выполняется одинаково на любом входе своего класса. Различать это важно потому, что в словах граница стирается быстрее, чем в самих системах: «автоматизация» и «ИИ» звучат как синонимы, а устроены по-разному.</a:t>
            </a:r>
          </a:p>
          <a:p/>
          <a:p>
            <a:r>
              <a:t>Ответ «нигде» закрывает только эту картинку. Автоматизация без единого вызова модели уже сделала часть работы: карточка создана, ничего не потеряно. Остаётся ответить на письмо по существу, и вот это задача другого рода. Поэтому вопрос звучит теперь иначе: какому шагу процесса нужна модель, а какому хватит правила.</a:t>
            </a:r>
          </a:p>
          <a:p/>
          <a:p>
            <a:r>
              <a:t>И сразу — вопрос про цену. Ошибиться с ним дороже всего там, где сразу за шагом с моделью стоит действие, которое уже не отменить: деньги ушли, письмо улетело, сделка подтверждена. Пока оценка модели только показывается человеку, её можно поправить. Как только она напрямую запускает такое действие, проверять становится нечего и некогда. Во что это обходится, посчитаем во втором кейсе сегодняшнего занятия: там будет конкретная компания, её отчётность и цифра из неё. Порядок такой: сначала разбираем, как устроена цепочка и где в ней стоит проверка, и только потом смотрим на цену той, которую не поставили.</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Последние три занятия — С4, С5, С6 — вы собирали одного агента: права, которые он получает, память, которую он ведёт, инструменты, которыми он пользуется, проверяемость каждого его шага. Это был взгляд внутрь одного исполнителя.</a:t>
            </a:r>
          </a:p>
          <a:p/>
          <a:p>
            <a:r>
              <a:t>Девять ступеней на экране — взгляд уровнем выше: процессы, которые таким исполнителем или просто одним вызовом модели пользуются. Модель здесь один шаг из многих в порядке действий, который инженер строит и контролирует сам. Разница похожа на разницу между устройством одного работника и устройством линии, на которой он стоит одним из звеньев.</a:t>
            </a:r>
          </a:p>
          <a:p/>
          <a:p>
            <a:r>
              <a:t>Нижняя ступень — это когда задаче хватает одного обращения к модели и, если нужно, поиска по своим документам; такой поиск принято называть RAG, и строить вокруг него не требуется вообще ничего. Ступенью выше шаги выстраиваются в цепочку по заранее известному порядку. Ещё выше — маршрут: путь выбирается по тому, что пришло на вход. Дальше идут параллельные проверки, переделка по эталону, дирижёр с несколькими исполнителями, один агент, несколько агентов. Верхняя ступень держит обратное решение: выключить автоматизацию и вернуться к ручному процессу там, где он справляется лучше.</a:t>
            </a:r>
          </a:p>
          <a:p/>
          <a:p>
            <a:r>
              <a:t>Три нижние ступени подсвечены золотом — их мы закрываем сегодня. Идём по ним двумя блоками: первый берёт один вызов и цепочку, второй — маршрут. В каждом блоке по три кейса, помеченных А, Б и В. Это значит, что «кейс А» прозвучит сегодня дважды: во второй раз счёт пошёл заново, потому что начался второй блок.</a:t>
            </a:r>
          </a:p>
          <a:p/>
          <a:p>
            <a:r>
              <a:t>Шесть ступеней выше помечены серой полосой «следующие занятия» — их берут следующие пять занятий дуги, по одной-две за занятие. Написаны они по-русски, одним действием: у каждого приёма есть принятое английское имя, и оно прозвучит там, где приём разбирается. Запоминать названия заранее не нужно.</a:t>
            </a:r>
          </a:p>
          <a:p/>
          <a:p>
            <a:r>
              <a:t>Последний вопрос на этом экране — про вашу собственную работу. Почти у каждого есть процесс, который он уже где-то собрал: разбор заявок, вычитка логов, подготовка отчёта, бот в рабочем чате. На какой из девяти ступеней он стоит сейчас и нужна ли ему следующая? Ответ «на нижней, и следующая не нужна» — тоже полноценный ответ: это первая ступень лестницы, и занятие как раз показывает, когда она верная.</a:t>
            </a:r>
          </a:p>
          <a:p/>
          <a:p>
            <a:r>
              <a:t>Участвовать можно, даже если прошлые занятия прошли мимо: всё, что нужно знать о них, печатается прямо на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Почта поддержки небольшого интернет-магазина — место, где одно и то же действие повторяется десятки раз в день. Приходит письмо. Человек тратит минуту на то, чтобы понять, о чём оно: забыли пароль, потерялся трек-номер, пришла раздавленная коробка. Потом печатает ответ. На половину писем ответ у него в голове, и сочинять там нечего; на другую половину он открывает историю заказа, перечитывает условия возврата и пишет осторожнее, потому что знает: одну неудачную формулировку клиент потом процитирует.</a:t>
            </a:r>
          </a:p>
          <a:p/>
          <a:p>
            <a:r>
              <a:t>Фраза этого экрана сказана человеком, который делает это каждый день, и сказана она без единого слова про инструменты. С этого кейс и начинается: сначала действие, которое выполняет человек, и только потом машина, которая берётся выполнять это действие вместо него.</a:t>
            </a:r>
          </a:p>
          <a:p/>
          <a:p>
            <a:r>
              <a:t>В кейсе машина уже справилась. Письмо пришло, и через секунду в очереди лежал готовый ответ: вежливый, грамотный, без единой ошибки. Весь вопрос в том, что с ним делать. Человек, который эту минуту тратил сам, теперь тратит секунду на то, чтобы прочитать чужой текст и нажать кнопку, — и работа у него от этого поменялась сильнее, чем кажется по описанию. Минута размышления над письмом была его работой. Секунда на подтверждение чужого черновика — уже другая работа, а ответственность за отправленный ответ осталась прежней: клиент получит письмо от магазина, и кто его сочинил, клиента не касается.</a:t>
            </a:r>
          </a:p>
          <a:p/>
          <a:p>
            <a:r>
              <a:t>Дальше на экране будет одно утреннее письмо и один готовый черновик к нему. Зал прочитает оба и решит, отправлять ли клиенту как есть. Решать придётся ровно в тех условиях, в которых решает человек в очереди: один проход глазами по тексту, без разбора, без сверки с документами, потому что таких черновиков за смену сто. Эти условия тут главные: ошибку в таком кейсе совершают при полном внимании к написанному.</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Магазин месяц назад поставил на почту поддержки автоответ на базе модели. Работает он просто с точки зрения того, кто сидит в очереди: письмо приходит, через секунду рядом с ним лежит готовый черновик ответа, человеку остаётся прочитать и нажать «отправить». За месяц очередь привыкла, что черновики приличные.</a:t>
            </a:r>
          </a:p>
          <a:p/>
          <a:p>
            <a:r>
              <a:t>Про сцену сразу стоит сказать, чем она является, потому что от двух следующих кейсов ступени она отличается именно этим. Магазин, письмо и Анна собраны ради механики приёма; инцидента конкретной компании за ними нет, и выдавать сцену за чей-то публичный провал было бы враньём. Zillow Offers и Octomind, которые идут дальше, — документированные случаи с источниками и цифрами, и там цена ошибки измеряется сотнями миллионов долларов. Учебная сцена нужна, чтобы подойти к ним, уже понимая, где в последовательности шагов стоит проверка и что происходит, когда её снимают.</a:t>
            </a:r>
          </a:p>
          <a:p/>
          <a:p>
            <a:r>
              <a:t>Утром пришло письмо от Анны. Заказ приехал в раздавленной коробке, у чайника вмятина, к письму приложены фотографии, просьба — вернуть деньги. Через секунду в очереди лежал черновик, который сейчас на экране справа.</a:t>
            </a:r>
          </a:p>
          <a:p/>
          <a:p>
            <a:r>
              <a:t>Прочитайте его целиком, прежде чем голосовать. Обращение по имени — есть. Благодарность за фотографии — есть. Сожаление о том, что заказ пришёл испорченным, — есть. Обещание, что специалист свяжется в течение суток, — есть. Грамматика безупречная, тон ровный, ни одного лишнего слова. Текст, к которому по форме не придраться: примерно так и пишет хороший сотрудник поддержки в конце рабочего дня.</a:t>
            </a:r>
          </a:p>
          <a:p/>
          <a:p>
            <a:r>
              <a:t>Вопрос голосования — ровно тот, который стоит перед человеком в очереди каждый раз: отправляем клиенту как есть, правим руками или вообще не отправляем. Голосовать стоит так, как голосовали бы на работе: у человека в очереди нет ни пятнадцати минут на разбор, ни условий магазина перед глазами, у него сто таких черновиков за смену и ровно столько времени, сколько нужно, чтобы прочитать текст один раз.</a:t>
            </a:r>
          </a:p>
          <a:p/>
          <a:p>
            <a:r>
              <a:t>Почти все, кто читает этот черновик первый раз, голосуют за отправку. Это честная реакция, и именно она делает следующий экран полезным: в самом тексте нет ничего, за что глаз мог бы зацепиться, поэтому ошибка здесь совершается при полном внимании к написанному. Заметить её можно единственным способом — сверить ответ с тем, о чём просили в письме, и с условиями магазина на этот случай. На следующем экране эти условия будут прямо на нём.</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Голосование за отправку — правильная реакция на этот текст. Теперь разберём его по двум колонкам.</a:t>
            </a:r>
          </a:p>
          <a:p/>
          <a:p>
            <a:r>
              <a:t>Слева — то, что в ответе есть. Обращение по имени. Благодарность за фотографии. Сожаление о том, что заказ пришёл испорченным. Обещание, что специалист свяжется в течение суток. Безупречная грамматика и ровный тон, которым пишет хорошая поддержка.</a:t>
            </a:r>
          </a:p>
          <a:p/>
          <a:p>
            <a:r>
              <a:t>Справа — то, чего в нём нет. Слова «возврат» в тексте нет ни одного раза. Решения о деньгах — вернём или откажем — нет. Срока, в который деньги придут на карту, нет. И главное: нет опоры на условия, которые у магазина написаны ровно про этот случай. Они под таблицей, одной строкой: повреждение при доставке — полная стоимость, товар забирать не нужно, деньги на карту за пять рабочих дней, обратиться можно в течение двух недель, к обращению приложить фотографии. Анна написала про испорченный товар, попросила деньги и приложила фотографии — она выполнила условие целиком. Ответ магазина об этом праве молчит и обещает звонок специалиста в течение суток, а откуда взялись эти сутки, из условий никак не следует.</a:t>
            </a:r>
          </a:p>
          <a:p/>
          <a:p>
            <a:r>
              <a:t>Теперь, откуда у текста такая форма. Автоответ работает в два шага. Первый шаг присваивает письму метку из закрытого списка в пять строк. Второй шаг пишет ответ, и база знаний, из которой он берёт содержание, выбирается по метке. Письмо Анны получило метку «другое», под ней лежит общий шаблон про «спасибо за обращение, ответим в течение суток», и второй шаг честно выполнил свою работу: написал по тому материалу, который ему дали.</a:t>
            </a:r>
          </a:p>
          <a:p/>
          <a:p>
            <a:r>
              <a:t>Остаётся вопрос, который на этом месте задают всегда: почему письмо со словами «прошу вернуть деньги» получило метку «другое». Три строки под условиями отвечают на него. Метка допускается одна. Письмо Анны при этом сразу про две: она жалуется на испорченный товар и просит деньги. А метка «возврат» в инструкции первого шага описана узко — «клиент хочет оформить возврат купленного товара», то есть передумал и возвращает целую вещь. Про повреждение при доставке в описании нет ничего. Письмо, которое подходит к двум строкам и ни к одной полностью, уезжает в последнюю строку списка — ту, которая собирает всё остальное.</a:t>
            </a:r>
          </a:p>
          <a:p/>
          <a:p>
            <a:r>
              <a:t>Отсюда главное свойство этой ошибки. Она не выглядит ошибкой. Первый шаг ошибся на одном слове, второй превратил эту ошибку в гладкий текст, и на выходе получилось нечто, неотличимое по форме от правильного ответа. Текст без единой ошибки и текст без решения с экрана выглядят одинаково — человек в очереди из ста черновиков разницы не увидит.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устройство, стоит назвать класс конструкции, о которой речь. Вопрос этот задают на занятии всегда, и звучит он так: чем то, что мы сейчас собираем, отличается от агента, которого собирали на предыдущих семинарах.</a:t>
            </a:r>
          </a:p>
          <a:p/>
          <a:p>
            <a:r>
              <a:t>Различение простое, и оно проверяется одним вопросом к коду: кто решает, какой шаг будет следующим. Если порядок шагов написан человеком заранее и выполняется всегда одинаково — это рабочий поток, workflow. Классифицировать письмо, проверить метку, написать черновик, показать человеку — четыре действия в известном порядке, и ни одно из них не решает, пропустить ли ему следующее. Если же порядок рождается по ходу работы, модель на каждом шаге сама выбирает, что делать дальше, сколько шагов сделать и когда остановиться — это агент. Кодинг-агент с прошлых занятий устроен именно так: сколько файлов он прочитает, прежде чем начнёт править, заранее неизвестно никому, включая его автора.</a:t>
            </a:r>
          </a:p>
          <a:p/>
          <a:p>
            <a:r>
              <a:t>Дальше важна цена, потому что выбор здесь не бесплатный ни в одну сторону. Заранее записанный путь покупает предсказуемость: каждый шаг виден, каждый шаг проверяем, каждый можно показать аудитору или клиенту и объяснить, почему система сделала то, что сделала. Путь, который выбирает модель, покупает гибкость — и она действительно нужна тем задачам, чей маршрут списком заранее не выписывается. Разведка незнакомого репозитория такова: пока не посмотрел первый файл, непонятно, какой открывать вторым.</a:t>
            </a:r>
          </a:p>
          <a:p/>
          <a:p>
            <a:r>
              <a:t>Письмо в поддержку к этому классу задач не относится. Порядок обработки известен и держится месяцами: понять, о чём письмо, подготовить ответ по этому классу, показать человеку. Покупать здесь гибкость не на что: за неё платят непредсказуемостью, и непредсказуемость в ответе клиенту о его деньгах стоит дорого, ничего не давая взамен. Поэтому дальше на экране будет жёстко записанная последовательность: та самая, в которой каждый шаг стоит на своём месте и между шагами есть место для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та же цепочка целиком, уже собранная правильно. На схеме три формы, и они значат разное: овал — вызов модели, прямоугольник — обычный код, ромб — проверка, которая обходится без модели вовсе.</a:t>
            </a:r>
          </a:p>
          <a:p/>
          <a:p>
            <a:r>
              <a:t>Письмо приходит на классификацию. Это первый вызов модели, и у него узкая работа: вернуть одну метку из закрытого списка. Текста он не пишет. В коде этот шаг называется classify, и дальше по кейсу он будет просто «классификацией».</a:t>
            </a:r>
          </a:p>
          <a:p/>
          <a:p>
            <a:r>
              <a:t>Дальше ромб. Метка, которую вернула модель, сравнивается со списком разрешённых: пароль, статус заказа, возврат, жалоба, другое. Если метка в списке — цепочка идёт вниз, к черновику. Если метки в списке нет — опечатка, свободный текст, пустая строка, выдуманная категория — срабатывает ветка «нет», и письмо целиком уходит человеку: он разбирает его сам, без подсказки от машины. Вся проверка умещается в одну строку и сводится к одному вопросу: метка либо в списке, либо нет. Это самая дешёвая часть всей конструкции: ни вызова модели, ни обращения к базе знаний, ни секунды ожидания.</a:t>
            </a:r>
          </a:p>
          <a:p/>
          <a:p>
            <a:r>
              <a:t>Черновик ответа — второй вызов, в коде он называется draft. Ему дают письмо, метку и тот кусок базы знаний, который к этой метке привязан. Отсюда и берётся содержание ответа: по метке «возврат» он получит условия возврата, те самые, которые мы читали на разборе, по метке «пароль» — инструкцию по восстановлению.</a:t>
            </a:r>
          </a:p>
          <a:p/>
          <a:p>
            <a:r>
              <a:t>Последний узел — очередь человека. Цепочка кладёт туда черновик и на этом заканчивается; отправки клиенту в ней нет ни одной строкой. Письмо уходит после того, как человек его подтвердил или поправил.</a:t>
            </a:r>
          </a:p>
          <a:p/>
          <a:p>
            <a:r>
              <a:t>Стоит заметить, что проверок здесь две и они разные по работе. Ромб между шагами смотрит на форму промежуточного результата и стоит до того, как на него потрачен второй вызов. Очередь человека смотрит на содержание готового ответа и стоит до того, как письмо уйдёт клиенту. Каждая ловит свой класс ошибок, и ни одна не заменяет другую: ромб никогда не заметит, что текст вежливо уклонился от решения, а человек в очереди никогда не узнает, что метка пришла с опечаткой, потому что метку ему не показывают.</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та же схема, что на предыдущем экране, и отличие в ней одно: ромб погашен. Проверки между первым и вторым шагом нет — ни строки кода, ни остановки. Ветка «человеку целиком» при этом формально существует, но дойти до неё невозможно: она отходит от ромба, которого больше нет, и потому молчит на любом письме.</a:t>
            </a:r>
          </a:p>
          <a:p/>
          <a:p>
            <a:r>
              <a:t>Дальше происходит ровно то, что мы читали в начале кейса. Классификация присвоила письму Анны метку «другое» — по трём причинам с разбора: метка допускается одна, письмо сразу про две, а описание метки «возврат» повреждение при доставке не покрывает. Проверять метку нечем, и она пошла дальше как есть. Черновик получил метку «другое» вместе с привязанным к ней куском базы знаний — общим шаблоном — и написал по нему гладкий, вежливый, уверенный текст. Очередь человека на схеме серая: она есть, но за месяц работы очередь выросла настолько, что черновики подтверждают не читая, иначе работа встаёт. Ответ ушёл клиенту.</a:t>
            </a:r>
          </a:p>
          <a:p/>
          <a:p>
            <a:r>
              <a:t>Внизу — два черновика рядом. Левый одобрен голосованием в начале кейса. Правый написался бы тем же вторым шагом, получи он метку «возврат»: возврат оформлен, полная стоимость, деньги на карту за пять рабочих дней, товар забирать не нужно. Каждая из этих цифр стоит в условиях магазина, которые мы читали на разборе, — второй шаг берёт их оттуда и ничего не придумывает. Оба текста вежливые, оба грамотные, оба звучат одинаково уверенно. Разница между ними — решение, и увидеть её может только тот, кто держит в голове условия магазина и помнит, что к письму были приложены фотографии повреждения.</a:t>
            </a:r>
          </a:p>
          <a:p/>
          <a:p>
            <a:r>
              <a:t>Отсюда свойство, ради которого этот кейс стоит в начале занятия. Ошибка первого шага здесь никуда не делась и ничем себя не выдала: второй шаг переработал её в тот же формат, в котором приходит правильный ответ. Катастрофу замечают сразу; поток вежливых отговорок замечают тогда, когда накопится статистика повторных писем или когда один из клиентов напишет публичный отзыв. К этому моменту цепочка успеет отработать так же на всех письмах, которые получили метку «другое», — а эта метка в любом списке стоит последней и собирает всё, что не подошло к остальным.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кейса выносится правило, и правило это проверяется на бумаге за три минуты. Возьмите свою задачу — любую, где на вход приходит текст, а на выходе система что-то делает: заявки в техподдержку, резюме кандидатов, комментарии к релизу, обращения в деканат. Выпишите классы входа одним списком, сверху вниз, пока не кончатся. Дальше всё решает последняя строка.</a:t>
            </a:r>
          </a:p>
          <a:p/>
          <a:p>
            <a:r>
              <a:t>Первый исход: список кончился сам. Пять, восемь, двенадцать строк, за каждой стоят свои шаги, и новых строк в нём давно не появлялось. Цепочки хватает: порядок шагов пишется один раз, и дальше он меняется редко, потому что меняется содержание писем, а устройство обработки держится прежним.</a:t>
            </a:r>
          </a:p>
          <a:p/>
          <a:p>
            <a:r>
              <a:t>Второй исход: список кончился словом «прочее». Так бывает почти всегда, и само по себе это нормально; ненормально оставить эту строку без ромба. Всё, что попадёт в «прочее», пройдёт дальше по цепочке и вернётся наружу тем самым гладким ответом, который сегодня одобрили голосованием. Ромб здесь стоит ради одной ветки: метка вне списка — письмо человеку целиком, и человек разбирает его сам. Стоит эта ветка одну строку кода.</a:t>
            </a:r>
          </a:p>
          <a:p/>
          <a:p>
            <a:r>
              <a:t>Третий исход: список не кончается. Каждую неделю появляется строка, которой вчера не было, и разным строкам нужны разные шаги, разные документы, иногда разные отделы. Одной цепочки тут мало: единственная классификация на входе начинает разрастаться в десятки веток внутри себя, и каждая новая строка требует править общий шаг. Это граница приёма и вход в следующую ступень занятия — маршрут, где выбор пути становится отдельным шагом со своей ценой.</a:t>
            </a:r>
          </a:p>
          <a:p/>
          <a:p>
            <a:r>
              <a:t>Вопрос внизу экрана — к себе, без голосования. Сколько строк в вашем списке и стоит ли в нём «прочее». Ответ полезен прямо сегодня: если «прочее» там есть, ромб и ветка к человеку — первое, что стоит добавить, и обойдётся это в одну строку кода. А если выписать список не получается вовсе, потому что каждое второе обращение не похоже на предыдущее, — это уже третий исход, и ответ на него будет во второй половине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Zestimate — автоматическая оценка стоимости дома, которую Zillow показывает рядом с каждым объявлением на крупнейшей в США платформе недвижимости. Она появилась на сайте задолго до этой истории и стоит там сегодня, на миллионах объявлений одновременно. Компания всё это время описывала её одинаково: компьютерный расчёт стоимости дома на сегодня по доступным данным, и отдельно предупреждала, что за оценку эксперта её принимать не стоит: это ориентир для человека, который решает сам. Люди на неё смотрели, спорили с ней, торговались от неё — она участвовала в решении, которое всё равно оставалось за человеком.</a:t>
            </a:r>
          </a:p>
          <a:p/>
          <a:p>
            <a:r>
              <a:t>В 2018 году Zillow запустила отдельный бизнес — Zillow Offers. Компания стала сама покупать дома у владельцев напрямую, приводить их в порядок и перепродавать — без агента, без показов, без торга. Ту же самую цифру, что годами была лишь ориентиром на экране, подключили к покупке: теперь сделку запускала сама цифра, без совета человеку.</a:t>
            </a:r>
          </a:p>
          <a:p/>
          <a:p>
            <a:r>
              <a:t>Дальше идёт документированный публичный случай 2018–2021 годов с прямыми источниками: репортаж CNN, разбор журнала Fortune со ссылкой на исследование аналитиков Bank of America и годовой отчёт компании перед американской комиссией по ценным бумагам — форма 10-K. Три разных источника, три разных угла: журналистский разбор итогов, независимый финансовый анализ сделок и официальная отчётность самой компании — расходиться им было бы на чём, и тем не менее картина сходится.</a:t>
            </a:r>
          </a:p>
          <a:p/>
          <a:p>
            <a:r>
              <a:t>Следующий экран ставит обе цепочки рядом: ту, что годами работала на сайте как подсказка человеку, и ту, которую собрали внутри Zillow Offers как самостоятельное решение. Внешне в обеих один и тот же первый шаг — одна и та же модель, одна и та же цифра. Само вычисление не менялось. Разошлось то, что произошло с его результатом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 2018 по 2021 год Zillow — крупнейшая в США платформа объявлений о продаже недвижимости — вела отдельный бизнес, Zillow Offers. Работал он по модели прямого выкупа: компания сама покупала дома у владельцев, делала минимальный ремонт и перепродавала их.</a:t>
            </a:r>
          </a:p>
          <a:p/>
          <a:p>
            <a:r>
              <a:t>Первым звеном этой цепочки стоял Zestimate — модель, частично построенная на машинном обучении, та самая оценка, которая давно висит рядом с каждым объявлением на сайте. Верхняя строка схемы показывает, как эта цифра работает там. Человек открывает страницу, видит оценку, сравнивает её с соседними домами, идёт смотреть дом глазами, торгуется. Между числом и действием стоит он сам, и деньги тратит свои. Вся проверка была на этом месте: оценку читал тот, кто мог с ней поспорить и уйти. Так эта цифра стоит на сайте и сегодня, и в этом качестве она работает.</a:t>
            </a:r>
          </a:p>
          <a:p/>
          <a:p>
            <a:r>
              <a:t>Нижняя строка — та же модель внутри Zillow Offers. Цифра уходила в обязывающее денежное предложение: конкретный дом, конкретная цена, реальное обязательство компании потратить капитал. На среднем месте схемы остался пустой слот. Здесь и стоит поворот кейса: модель осталась прежней, способ её считать остался прежним, страница на сайте осталась прежней. Сменилось то, что стояло за её числом дальше по цепочке. Раньше там был человек, который решал сам. Теперь там стояло обязательство компании потратить деньги.</a:t>
            </a:r>
          </a:p>
          <a:p/>
          <a:p>
            <a:r>
              <a:t>Откуда это известно — вопрос законный, и ответ на него стоит на экране. Публичные источники показывают результат и объяснение самой компании: репортаж CNN о закрытии бизнеса, разбор Fortune со ссылкой на исследование аналитиков Bank of America, где системная переплата видна по целому ряду городов, годовой отчёт перед комиссией по ценным бумагам. Генеральный директор Рич Бартон объяснил закрытие тем, что наблюдаемая частота ошибок оказалась куда более волатильной, чем компания считала возможным, — а закупки всё это время шли своим темпом. Внутренних регламентов Zillow ни один из этих источников не разбирает, поэтому утверждение держится на том, что видно снаружи: оценка доходила до обязательства, и остановки между ними не срабатывало — ни на отдельной сделке, ни на потоке сделок целиком.</a:t>
            </a:r>
          </a:p>
          <a:p/>
          <a:p>
            <a:r>
              <a:t>Структурно это ровно та дыра, которую назвал предыдущий кейс. Промежуточный результат цепочки — метка класса там, оценка стоимости здесь — течёт дальше без проверки, способной его остановить, и на нём строится следующий, более дорогой шаг. Механизм ошибки один и тот же. Различается то, что наступает следом. Черновик письма переписывают в тот же день. Купленный дом остаётся купленным. Во что это обошлось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Осенью 2021 года Zillow объявила списание запасов на $304,4 млн за третий квартал. Компания прямо связала эту цифру с тем, что недавно купленные дома стоят дороже, чем их сейчас можно продать. Решение закрыть Zillow Offers целиком объявили 2 ноября 2021 года, вместе с сокращением 2000 рабочих мест — четверти штата. Рич Бартон, генеральный директор и сооснователь Zillow, объяснил закрытие тем, что непредсказуемость прогнозирования цен на жильё намного превысила ожидания компании.</a:t>
            </a:r>
          </a:p>
          <a:p/>
          <a:p>
            <a:r>
              <a:t>Само по себе списание — число без масштаба, поэтому рядом стоит масштаб бизнеса, который его произвёл. За тот же третий квартал Zillow Offers купила 9680 домов, а продала 3032. В пересчёте на объект это около $80 тыс. среднего убытка на дом. Доли списания в выручке всей компании мы здесь не называем: источники по этому случаю выручки не приводят, и выдумывать знаменатель ради красивой доли не стоит. База, которая в источниках есть, — вот эта: сколько домов куплено, сколько продано, сколько потеряно на каждом.</a:t>
            </a:r>
          </a:p>
          <a:p/>
          <a:p>
            <a:r>
              <a:t>Эти 2000 стоит задержать на секунду дольше, чем занимает чтение строки таблицы. Архитектурного решения подключить автоматическую оценку прямо к покупке они не принимали и повлиять на него не могли; закрылись их рабочие места. Цена пропущенной проверки редко приходит туда, где её пропустили.</a:t>
            </a:r>
          </a:p>
          <a:p/>
          <a:p>
            <a:r>
              <a:t>Отдельное независимое исследование аналитиков Bank of America, пересказанное журналом Fortune 3 ноября 2021 года, разобрало выборку больше чем из 300 домов, которые Zillow Offers купила и выставила на продажу. Результат показал системную переплату по целому ряду городов. В Остине компания платила за дома по ценам, которые подразумевали рост стоимости на 27% в год за предыдущие четыре года владения, при фактическом росте на том же рынке около 6% в год по индексу Case-Shiller. Похожий разрыв — рост больше 20% в год — аналитики нашли в Сакраменто, Портленде, Цинциннати, Тампе, Фениксе и Денвере. Выставлять купленные дома компания пыталась с надбавкой около 5% к цене покупки, а снижать цену приходилось в среднем на 6% от первоначального объявления. По итогам всей выборки Zillow двигалась к убытку порядка 2% относительно цены покупки, даже не считая уже признанного списания. Это ещё одна база, уже относительная: потери измеряются долей от того, что компания сама заплатила.</a:t>
            </a:r>
          </a:p>
          <a:p/>
          <a:p>
            <a:r>
              <a:t>По итогам всего 2021 года списание составило $407,9 млн — более полная цифра, чем квартальная, и та же дыра, посчитанная по году.</a:t>
            </a:r>
          </a:p>
          <a:p/>
          <a:p>
            <a:r>
              <a:t>Этот же случай курс уже разбирал в Лекции 5, под другим вопросом: там он читался как провал наблюдения — отслеживания точности прогноза в реальном времени с автоматическим предохранителем. Здесь вопрос другой: где в цепочке шагов пропущен гейт перед необратимым действием. Один инцидент, две разные линзы.</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Предыдущий кейс кончался тем, что ошибка первого звена цепочки без проверки молча доходит до результата, которого касается внешний человек. Здесь тот же механизм доходит до решения потратить реальные деньги на актив, который потом одним движением не возвращается. Проверка пропущена та же самая. Различается то, что идёт сразу после неё: черновик письма переписывают в тот же день, купленный дом остаётся купленным.</a:t>
            </a:r>
          </a:p>
          <a:p/>
          <a:p>
            <a:r>
              <a:t>Отсюда прямой критерий, вполне считаемый заранее. Где в цепочке нужен гейт, определяет цена и обратимость того шага, который наступит следом. Чем дороже и чем менее обратимо действие, которое цепочка совершит сразу после текущего шага, тем меньше смысла экономить именно на проверке перед ним. Письмо с неверным ответом исправляется следующим письмом в тот же день. Купленный дом требует либо многомесячной перепродажи с убытком, либо того самого списания.</a:t>
            </a:r>
          </a:p>
          <a:p/>
          <a:p>
            <a:r>
              <a:t>Спектр на экране для того и нарисован линией. Между двумя его точками лежит всё, с чем инженер имеет дело каждый день: запись в базу, сообщение в чат команды, автоматический счёт клиенту, отправленный отчёт. Каждое из этих действий где-то на этой линии стоит, и место определяет, сколько стоит проверка перед ним.</a:t>
            </a:r>
          </a:p>
          <a:p/>
          <a:p>
            <a:r>
              <a:t>Вторая половина урока — то, чего он не утверждает. Автоматическая оценка стоимости как инструмент здесь ни при чём. Как входной сигнал для решения человека она работает, и Zillow продолжает показывать Zestimate на сайте ровно в этом качестве. Разбирается конструкция, в которой автоматическая оценка сама запускает обязывающее, дорогое, труднообратимое действие, и между ней и этим действием никто не стоит.</a:t>
            </a:r>
          </a:p>
          <a:p/>
          <a:p>
            <a:r>
              <a:t>Граница читается в обе стороны. Там, где цепочка кончается черновиком, который человек прочитает перед любым действием, гейт можно не ставить: человек и есть гейт. Там, где цепочка кончается подписанным обязательством потратить капитал, цена той же самой сэкономленной проверки измеряется другим порядком чисел.</a:t>
            </a:r>
          </a:p>
          <a:p/>
          <a:p>
            <a:r>
              <a:t>Третий кейс ступени показывает ещё одну сторону той же оси: что происходит, когда сложность, которой задача не требовала, добавляют сверху сами.</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случай ступени начинается с обещания, которое инструмент печатал у себя на входе: пройти от идеи до работающего кода за полдня. Обещание адресовано ровно тому, кто собирает агента впервые, и звучит оно разумно. Кто-то уже написал за вас шаблоны промптов, разбор ответов модели, склейку шагов — остаётся собрать своё из готовых частей и выиграть несколько недель.</a:t>
            </a:r>
          </a:p>
          <a:p/>
          <a:p>
            <a:r>
              <a:t>Компания, о которой идёт речь дальше, так и поступила. Фреймворк LangChain встал у неё в промышленную работу в начале 2023 года и простоял больше двенадцати месяцев. Выбор тогда выглядел разумным: большой список готовых компонентов, живое сообщество, прямое обещание выигрыша во времени.</a:t>
            </a:r>
          </a:p>
          <a:p/>
          <a:p>
            <a:r>
              <a:t>Через год та же команда разбирала внутренности этого инструмента, чтобы поменять поведение одного своего шага. Здесь и стоит проблема случая. Сложность, добавленная сверху, предъявляет свой счёт позже — в тот день, когда задача перестала совпадать с замыслом инструмента. Пока требования совпадают, слои абстракции не видны и ничего не стоят; расхождение превращает их в несколько уровней, которые надо прочитать и удержать в голове, чтобы изменить одну строку поведения.</a:t>
            </a:r>
          </a:p>
          <a:p/>
          <a:p>
            <a:r>
              <a:t>Два предыдущих случая ступени стоили цепочке пропущенной проверки: порядок шагов был собран верно, и между шагами не стояло ничего, что отличает годный промежуточный результат от испорченного. Здесь ошибка случилась выше и раньше. Сложность добавили туда, где задача её не просила, и вместе с ней появился набор новых мест, где можно ошибиться. Ломает такая сложность результат тихо: она просто делает каждое следующее изменение дороже предыдущего.</a:t>
            </a:r>
          </a:p>
          <a:p/>
          <a:p>
            <a:r>
              <a:t>Про статус случая стоит сказать сразу, потому что он тот же, что у предыдущего. Всё дальнейшее — документированный публичный случай 2023–2024 годов с прямыми источниками: пост инженерной команды о собственном решении и открытое обсуждение этого поста, оба прочитаны напрямую, с цифрами из первых рук. Учебной постановки, как в первом случае ступени, здесь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Человек, с которого начинается этот случай, три с половиной месяца собирал на стажировке агента с поиском по документам — прямыми вызовами модели, без фреймворка. Всё это время его спрашивали, зачем он так делает. Спрашивала, по его собственным словам, буквально вся компания: остальные собирали таких же агентов на фреймворке, и один из них довели до реальной эксплуатации. Своё состояние он описал одним словом — на него смотрели так, как будто он сумасшедший.</a:t>
            </a:r>
          </a:p>
          <a:p/>
          <a:p>
            <a:r>
              <a:t>Цена здесь именно эта, и она не денежная. Три с половиной месяца человек делал работу, которую вокруг него считали странной, и каждую неделю заново объяснял выбор, по которому у компании уже был готовый ответ. Такое давление снимается одним способом: показать, что выбор оправдан. Поэтому его реплика в обсуждении кончается фразой про то, что пост чужой команды — для него серьёзная поддержка уверенности.</a:t>
            </a:r>
          </a:p>
          <a:p/>
          <a:p>
            <a:r>
              <a:t>Довод у него короткий и инженерный. С фреймворком всё хорошо, пока задача стандартная. Стоит понадобиться чему-то чуть более оригинальному — и, чтобы поменять одну мелкую деталь, приходится пройти сквозь пять слоёв абстракции. Второе, что он добавляет, тяжелее первого: каждый шаг процесса понимаешь не до конца, поэтому любая проблема отправляет разбор к самому началу.</a:t>
            </a:r>
          </a:p>
          <a:p/>
          <a:p>
            <a:r>
              <a:t>Обратите внимание, когда именно предъявляется этот счёт. Пока требования совпадают с тем, под что фреймворк рассчитан, слои абстракции не видны и ничего не стоят. Расхождение требований с замыслом инструмента превращает их в пять уровней, которые надо прочитать и удержать в голове, чтобы изменить одну строку поведения. То есть счёт приходит ровно в тот момент, когда начинается собственно работа.</a:t>
            </a:r>
          </a:p>
          <a:p/>
          <a:p>
            <a:r>
              <a:t>Сам он знал только свою компанию и своих коллег. Про три компании или про отрасль в его реплике нет ничего, и додумывать за него нечего. Важно другое: в те же дни та же жалоба лежала в посте инженерной команды, у которой фреймворк отработал в промышленной эксплуатации больше двенадцати месяцев. С этого поста дальше и идёт разбор — там те же пять слоёв посчитаны на конкретном действии.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сам пост, и начать стоит с действия, в котором нет ничего спорного. Команда взяла из него самый тривиальный пример, какой нашла: перевод одного английского слова на итальянский. Прямым вызовом модели это один класс и один вызов функции — создать клиента, передать два сообщения, забрать текст ответа; всё остальное вокруг обычный код на обычном языке. Через фреймворк то же самое действие стоит трёх классов и четырёх вызовов функций.</a:t>
            </a:r>
          </a:p>
          <a:p/>
          <a:p>
            <a:r>
              <a:t>Счёт сам по себе показателен, но тяжелее здесь другое, и это вторая строка экрана. Вместе с тремя классами появляются три новых понятия, которых в задаче нет. Шаблон промпта — то, чем промпт передаётся модели. Парсер вывода — то, чем обрабатывается её ответ. И «цепочка» — особый синтаксис фреймворка, который переопределяет оператор самого языка программирования. Каждое из трёх надо выучить, держать в голове и уметь отладить. К переводу слова на другой язык ни одно из трёх не добавляет ничего.</a:t>
            </a:r>
          </a:p>
          <a:p/>
          <a:p>
            <a:r>
              <a:t>Отсюда понятно, из чего складываются те самые слои. Слой здесь — понятие, через которое приходится пройти мыслью, прежде чем доберёшься до места, где лежит нужное поведение. Пять слоёв в реплике предыдущего экрана и три новых понятия в этом примере — одна и та же плата, посчитанная разными людьми на разных задачах.</a:t>
            </a:r>
          </a:p>
          <a:p/>
          <a:p>
            <a:r>
              <a:t>Второе наблюдение команды оказалось дороже первого, и оно уже не про объём кода. Пока требования совпадали с тем, под что фреймворк рассчитан, он помогал. Дальше понадобилось менять поведение системы на низком уровне, и команда полезла во внутренности инструмента: фреймворк намеренно скрывает эти детали, поэтому написать нужный низкоуровневый код часто оказывалось попросту невозможно.</a:t>
            </a:r>
          </a:p>
          <a:p/>
          <a:p>
            <a:r>
              <a:t>Стоит удержать масштаб. Разница в один класс и три вызова на переводе слова сама по себе никого не разорит; её стоит читать как замер плотности. На самом простом действии плата втрое. На действии, которого замысел инструмента не предусматривал, плата перестаёт измеряться кодом вообще: сделать его оказывается нельзя. Следующий экран — ровно такая развилка, и у команды она была настоящей.</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на экране — настоящая, она стояла перед реальной командой, и у неё есть документированный ответ. Требование звучит так: набор инструментов, доступных агенту, должен меняться на ходу — по бизнес-логике и по тому, что ответила модель на предыдущем шаге. Чтобы такое сделать, нужно видеть состояние агента между шагами извне. Способа увидеть его фреймворк не даёт.</a:t>
            </a:r>
          </a:p>
          <a:p/>
          <a:p>
            <a:r>
              <a:t>Четыре карточки, ни одна не отмечена как верная. У каждой есть сильная сторона, и честный выбор начинается с них.</a:t>
            </a:r>
          </a:p>
          <a:p/>
          <a:p>
            <a:r>
              <a:t>Первый выход: дописать обёртку поверх фреймворка — вытащить наружу то, что нужно, своими руками. Быстро, работающее переписывать не нужно, закрывает один конкретный случай. Второй: сузить требование до того, что фреймворк показывает наружу. Самый дешёвый на сегодня: ничего переписывать не надо вовсе, система едет дальше на том, что уже работает. Третий: вынести фреймворк целиком и писать прямыми вызовами модели. Самый дорогой сразу и самый прямой по смыслу: поведение системы снова определяет ваш собственный код. Четвёртый: дождаться следующей версии фреймворка. Тоже разумно — инструмент живой, у него активная разработка, и ровно это свойство в нём уже достраивали.</a:t>
            </a:r>
          </a:p>
          <a:p/>
          <a:p>
            <a:r>
              <a:t>Выбирать стоит так, как выбирали бы в своём проекте, с его сроками. Полезно вместе с вариантом назвать срок, на котором он перестанет работать: месяц, квартал, год. Именно это различение дальше и окажется главным, потому что два из четырёх выходов выглядят одинаково разумно на горизонте недели и расходятся на горизонте года.</a:t>
            </a:r>
          </a:p>
          <a:p/>
          <a:p>
            <a:r>
              <a:t>Стоит заметить одну вещь до разбора: ни один из четырёх вариантов не меняет само требование команды. Требование остаётся прежним — видеть состояние агента и переключать его инструменты на ходу. Меняется только то, кто в итоге решает, что видно наружу: автор инструмента или автор системы. Выбор лучше сделать до следующего экрана, даже читая этот текст в одиночку: команда выбрала сначала один вариант, потом другой, и порядок здесь важнее самого выбора.</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Команда применила два варианта из четырёх, по очереди, и порядок здесь — самое полезное в этом случае.</a:t>
            </a:r>
          </a:p>
          <a:p/>
          <a:p>
            <a:r>
              <a:t>Сначала она сузила требование. Способа наблюдать состояние агента извне фреймворк не давал, и реализацию подогнали под то, что инструмент умеет показать наружу. Решение выглядело практичным: ничего не переписываем, система едет дальше. Исходное требование при этом осталось за границей — его просто перестали предъявлять. Вот это и есть провал случая, и он тише любого сбоя. Никто ничего не уронил, ни один клиент не написал жалобу, в отчётах не появилось строки. Систему построили под границу инструмента вместо того, что было нужно изначально, и заметить такую подмену можно только одним способом: сравнить, что собирались сделать, с тем, что в итоге работает.</a:t>
            </a:r>
          </a:p>
          <a:p/>
          <a:p>
            <a:r>
              <a:t>Потом команда вынесла фреймворк целиком и заменила его прямыми вызовами модели с обычным кодом вокруг — условиями, циклами, обработкой текста. Формулировка авторов короткая: «We could just code», «мы могли просто написать код». В начале поста та же мысль другими словами: убрав фреймворк, команда перестала переводить свои требования на язык, который понимает инструмент.</a:t>
            </a:r>
          </a:p>
          <a:p/>
          <a:p>
            <a:r>
              <a:t>Здесь стоит поворот. Интуиция подсказывает, что сложность, которую снял с вас фреймворк, после его выноса вернётся в другом виде — своей склейкой шагов, своими шаблонами, своим разбором ответов. Она не вернулась. Явные шаги и явная проверка между ними — та же форма, что разобрана в первом случае этой ступени — оказались достаточны, причём с самого начала. Фреймворк решал проблему, которой у команды не было, и создавал проблему, которой без него не было бы.</a:t>
            </a:r>
          </a:p>
          <a:p/>
          <a:p>
            <a:r>
              <a:t>Два оставшихся варианта снимаются общей причиной. И обёртка поверх инструмента, и ожидание новой версии оставляют вопрос «что видно наружу» в чужих руках: в первом случае вы подпираете чужое решение своим кодом, во втором ждёте, пока его поменяет кто-то другой, в своём составе и в свой срок.</a:t>
            </a:r>
          </a:p>
          <a:p/>
          <a:p>
            <a:r>
              <a:t>Пост получил широкий резонанс: обсуждение собрало 480 очков и 297 комментариев. Там публично и по существу ответил глава компании-автора фреймворка, а один из участников назвал исполнитель агентов внутри инструмента непрозрачным — ровно то свойство, которое новый на тот момент инструмент из той же экосистемы создавался заменить.</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случая выносится проверка, и она выполняется до того, как инструмент попадёт в проект. Назовите сложность, которую фреймворк у вас снимает, — одной фразой, с цифрой или сроком. Если назвать нечего, он снимает сложность, которой пока нет. Второй вопрос того же порядка: при разборе проблемы вы войдёте в его код или будете угадывать снаружи? Правая колонка экрана — это ровно те ответы, которые означают «обойдитесь своим кодом».</a:t>
            </a:r>
          </a:p>
          <a:p/>
          <a:p>
            <a:r>
              <a:t>Наблюдение этой команды не одиноко. Anthropic в материале Building Effective Agents, вышедшем 19 декабря 2024 года, советует то же самое и почти теми же словами: искать простейшее возможное решение и повышать сложность только тогда, когда она действительно нужна; начинать с прямых вызовов API модели, потому что многие приёмы укладываются в несколько строк кода. Про фреймворки там сказано отдельно: они часто добавляют лишние слои абстракции, которые скрывают сами промпты и ответы и этим усложняют отладку. Слово «слои» здесь то же, что в реплике разработчика, с которой случай начинался, — и это замыкает его на завязку. Фреймворк берут тогда, когда он доказанно снимает реальную сложность, и понимают код под ним.</a:t>
            </a:r>
          </a:p>
          <a:p/>
          <a:p>
            <a:r>
              <a:t>Три случая ступени держат одну ось с трёх сторон. Первый показал, где цепочки хватает и что именно её ломает, если сэкономить на проверке между шагами. Второй — во что превращается та же экономия, когда шаг после непроверенного результата оказывается необратимым и дорогим: списание в сотни миллионов и закрытая программа. Третий — что происходит, когда сверху добавляют сложность, которой задача не требовала: инструмент покупает непрозрачность там, где хватило бы простого кода.</a:t>
            </a:r>
          </a:p>
          <a:p/>
          <a:p>
            <a:r>
              <a:t>Дальше ось поворачивается. У цепочки один фиксированный порядок шагов, и он одинаков для всего, что в неё приходит. Вопрос по оплате, жалоба и запрос в юридический отдел требуют разных шагов, разной базы знаний и разной глубины проверки. Отсюда вопрос, которым кончается ступень: что делать, когда в одну точку приходят входы, которым нужны разные порядки шагов? Ответ — выбор одного из нескольких заранее заданных маршрутов по типу входа.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ступень кончилась на простой вещи: в один ящик приходят письма, которым нужна разная</a:t>
            </a:r>
          </a:p>
          <a:p>
            <a:r>
              <a:t>обработка, и один фиксированный порядок шагов начинает обслуживать их всех через ветвления,</a:t>
            </a:r>
          </a:p>
          <a:p>
            <a:r>
              <a:t>которые копятся внутри шага классификации. Чем разнороднее поток, тем больше таких ветвлений,</a:t>
            </a:r>
          </a:p>
          <a:p>
            <a:r>
              <a:t>и тем хуже видно, что именно происходит внутри. Отсюда начинается вторая ступень: ветвление</a:t>
            </a:r>
          </a:p>
          <a:p>
            <a:r>
              <a:t>выносится наружу, в отдельные маршруты, и метка перестаёт быть внутренней деталью одного</a:t>
            </a:r>
          </a:p>
          <a:p>
            <a:r>
              <a:t>прогона.</a:t>
            </a:r>
          </a:p>
          <a:p/>
          <a:p>
            <a:r>
              <a:t>Прежде чем разбирать сами маршруты, стоит посмотреть на шаг, который их выбирает. Цепочка</a:t>
            </a:r>
          </a:p>
          <a:p>
            <a:r>
              <a:t>разбирает письма по одному: первый вызов решает, к какой из четырёх категорий письмо</a:t>
            </a:r>
          </a:p>
          <a:p>
            <a:r>
              <a:t>относится — биллинг, техподдержка, жалоба, спам, — второй пишет черновик ответа, человек</a:t>
            </a:r>
          </a:p>
          <a:p>
            <a:r>
              <a:t>проверяет перед отправкой. От первого вызова нужно одно слово. Приходит абзац: модель сначала</a:t>
            </a:r>
          </a:p>
          <a:p>
            <a:r>
              <a:t>объясняет себе, почему письмо похоже на жалобу, и называет категорию в конце этого объяснения.</a:t>
            </a:r>
          </a:p>
          <a:p>
            <a:r>
              <a:t>Слово приходится выдёргивать из текста, который никто читать не собирался.</a:t>
            </a:r>
          </a:p>
          <a:p/>
          <a:p>
            <a:r>
              <a:t>Маршрут здесь означает буквальное расхождение путей. Было: один порядок шагов на всё, что</a:t>
            </a:r>
          </a:p>
          <a:p>
            <a:r>
              <a:t>приходит в ящик. Стало: четыре отдельных маршрута, у каждого свой промпт, своя дальнейшая</a:t>
            </a:r>
          </a:p>
          <a:p>
            <a:r>
              <a:t>обработка, иногда свой человек на другом конце. Шаг классификации стоит на входе и</a:t>
            </a:r>
          </a:p>
          <a:p>
            <a:r>
              <a:t>распределяет письма между ними. Оговорка про область этой ступени тоже важна с самого начала:</a:t>
            </a:r>
          </a:p>
          <a:p>
            <a:r>
              <a:t>речь всё время идёт о маршруте по классам, которые известны заранее и между собой не</a:t>
            </a:r>
          </a:p>
          <a:p>
            <a:r>
              <a:t>пересекаются. Поток, в котором категории заранее неизвестны или налезают друг на друга,</a:t>
            </a:r>
          </a:p>
          <a:p>
            <a:r>
              <a:t>маршрутом по заданным классам не обслуживается — этим ступень и кончится, когда три её кейса</a:t>
            </a:r>
          </a:p>
          <a:p>
            <a:r>
              <a:t>будут разобраны.</a:t>
            </a:r>
          </a:p>
          <a:p/>
          <a:p>
            <a:r>
              <a:t>Дальше это стоит посмотреть с двух сторон, и обе разбираются на следующих двух экранах.</a:t>
            </a:r>
          </a:p>
          <a:p>
            <a:r>
              <a:t>Сначала — сколько такая форма ответа стоит в деньгах: у шага, который выбирает слово из</a:t>
            </a:r>
          </a:p>
          <a:p>
            <a:r>
              <a:t>известного списка, и у шага, который пишет клиенту связный ответ, цена оказывается почти</a:t>
            </a:r>
          </a:p>
          <a:p>
            <a:r>
              <a:t>одинаковой. Потом — чем теперь распоряжается это слово: письмо уезжает в одну из четырёх</a:t>
            </a:r>
          </a:p>
          <a:p>
            <a:r>
              <a:t>ветвей, каждая делает своё, и цена неверной метки у каждой своя.</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Поток в ящик поддержки вырос: туда свели почту отдела продаж и форму с сайта. В обычный день</a:t>
            </a:r>
          </a:p>
          <a:p>
            <a:r>
              <a:t>приходило двадцать писем в час, в день релиза приходит двести. Вечером дежурный открывает</a:t>
            </a:r>
          </a:p>
          <a:p>
            <a:r>
              <a:t>панель расходов на внешние вызовы и видит строку, которая в голове не укладывается: шаг</a:t>
            </a:r>
          </a:p>
          <a:p>
            <a:r>
              <a:t>классификации за этот день обошёлся почти столько же, сколько шаг черновика.</a:t>
            </a:r>
          </a:p>
          <a:p/>
          <a:p>
            <a:r>
              <a:t>Стоит задержаться на том, что здесь сравнивается. Черновик — связный ответ клиенту,</a:t>
            </a:r>
          </a:p>
          <a:p>
            <a:r>
              <a:t>написанный заново под конкретное письмо: модель читает текст, подбирает формулировки, выдаёт</a:t>
            </a:r>
          </a:p>
          <a:p>
            <a:r>
              <a:t>абзац, который человек потом проверит и отправит. Классификация — выбор одного слова из</a:t>
            </a:r>
          </a:p>
          <a:p>
            <a:r>
              <a:t>списка, известного заранее: биллинг, техподдержка, жалоба, спам. Одна задача сочиняет текст,</a:t>
            </a:r>
          </a:p>
          <a:p>
            <a:r>
              <a:t>другая показывает на одну из четырёх строк. Совпадение цены у таких двух задач означает, что</a:t>
            </a:r>
          </a:p>
          <a:p>
            <a:r>
              <a:t>в устройстве что-то перепутано.</a:t>
            </a:r>
          </a:p>
          <a:p/>
          <a:p>
            <a:r>
              <a:t>Перепутана форма ответа. Модель на шаге классификации каждый раз сначала объясняет себе,</a:t>
            </a:r>
          </a:p>
          <a:p>
            <a:r>
              <a:t>почему письмо похоже на жалобу, и называет категорию в конце объяснения. Это объяснение живёт</a:t>
            </a:r>
          </a:p>
          <a:p>
            <a:r>
              <a:t>один раз: из него вытаскивают одну подстроку, остальное выбрасывают. Платят при этом за каждое</a:t>
            </a:r>
          </a:p>
          <a:p>
            <a:r>
              <a:t>слово — чем подробнее модель себя убеждала, тем дороже обошлось письмо.</a:t>
            </a:r>
          </a:p>
          <a:p/>
          <a:p>
            <a:r>
              <a:t>Стоит посмотреть и на вторую сторону той же панели. Шаг классификации выполняется на каждом</a:t>
            </a:r>
          </a:p>
          <a:p>
            <a:r>
              <a:t>письме без исключения, черновик — только там, где письмо дошло до ответа. Спам до черновика не</a:t>
            </a:r>
          </a:p>
          <a:p>
            <a:r>
              <a:t>доходит вовсе, и всё равно за его классификацию заплачено по полной: модель объяснила себе, что</a:t>
            </a:r>
          </a:p>
          <a:p>
            <a:r>
              <a:t>это спам, тремя предложениями. Чем больше в потоке писем, которые дальше никуда не идут, тем</a:t>
            </a:r>
          </a:p>
          <a:p>
            <a:r>
              <a:t>большая доля расходов уходит на слова, которых никто никогда не прочтёт.</a:t>
            </a:r>
          </a:p>
          <a:p/>
          <a:p>
            <a:r>
              <a:t>Такая форма ответа появилась по самой простой причине: модель уже стояла на соседнем шаге</a:t>
            </a:r>
          </a:p>
          <a:p>
            <a:r>
              <a:t>цепочки, и оставалось дописать ещё один промпт. Пока в час приходило двадцать писем, разница</a:t>
            </a:r>
          </a:p>
          <a:p>
            <a:r>
              <a:t>измерялась копейками, и повода смотреть на неё не было. На двухстах письмах в час та же</a:t>
            </a:r>
          </a:p>
          <a:p>
            <a:r>
              <a:t>особенность устройства превратилась в заметную строку расходов. Ровно в этот момент к ней</a:t>
            </a:r>
          </a:p>
          <a:p>
            <a:r>
              <a:t>добавилось второе обстоятельство, и его разбирает следующий экран: от слова, которое</a:t>
            </a:r>
          </a:p>
          <a:p>
            <a:r>
              <a:t>возвращает этот шаг, теперь зависит, в какую из четырёх ветвей уедет письмо.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Панель расходов показала одну цену — ту, что платят за каждое письмо на входе. Есть вторая, и</a:t>
            </a:r>
          </a:p>
          <a:p>
            <a:r>
              <a:t>она живёт с другой стороны шага. Разница между меткой для следующего шага той же цепочки и</a:t>
            </a:r>
          </a:p>
          <a:p>
            <a:r>
              <a:t>меткой, которая выбирает ветку, выглядит организационной. На деле она меняет требования к</a:t>
            </a:r>
          </a:p>
          <a:p>
            <a:r>
              <a:t>самому шагу. Внутри одной цепочки неточная формулировка категории терпима: следующий шаг</a:t>
            </a:r>
          </a:p>
          <a:p>
            <a:r>
              <a:t>читает тот же текст письма и способен её компенсировать. На развилке решение окончательное.</a:t>
            </a:r>
          </a:p>
          <a:p>
            <a:r>
              <a:t>Письмо уезжает в одну из четырёх веток, и о неверной метке узнают только тогда, когда клиент</a:t>
            </a:r>
          </a:p>
          <a:p>
            <a:r>
              <a:t>напишет снова с вопросом, почему ему ответили про другое.</a:t>
            </a:r>
          </a:p>
          <a:p/>
          <a:p>
            <a:r>
              <a:t>У каждой ветки своя дальнейшая логика, и отсюда четыре разные цены одной и той же ошибки.</a:t>
            </a:r>
          </a:p>
          <a:p>
            <a:r>
              <a:t>Биллинг идёт в ветку, которая запрашивает статус оплаты через отдельный внутренний сервис:</a:t>
            </a:r>
          </a:p>
          <a:p>
            <a:r>
              <a:t>при неверной метке этот запрос просто не будет сделан, и ответ уйдёт без данных, ради которых</a:t>
            </a:r>
          </a:p>
          <a:p>
            <a:r>
              <a:t>ветка существует. Техподдержка подтягивает в черновик контекст из базы знаний по метке —</a:t>
            </a:r>
          </a:p>
          <a:p>
            <a:r>
              <a:t>той самой, что выбрал первый шаг; промахнулись меткой, значит, в черновик уехала чужая тема,</a:t>
            </a:r>
          </a:p>
          <a:p>
            <a:r>
              <a:t>и ответ получится складным и мимо вопроса. Жалоба уходит в ветку с пометкой «срочно» и</a:t>
            </a:r>
          </a:p>
          <a:p>
            <a:r>
              <a:t>коротким сроком ответа: неверная метка означает сорванный срок, по которому никто даже не</a:t>
            </a:r>
          </a:p>
          <a:p>
            <a:r>
              <a:t>вёл счётчика, потому что для системы это письмо жалобой не было. Спам уходит в архив, человек</a:t>
            </a:r>
          </a:p>
          <a:p>
            <a:r>
              <a:t>его уже не увидит: настоящее обращение клиента, помеченное как спам, исчезает из поля зрения</a:t>
            </a:r>
          </a:p>
          <a:p>
            <a:r>
              <a:t>целиком. Эта четвёртая цена самая дорогая, и она же самая тихая.</a:t>
            </a:r>
          </a:p>
          <a:p/>
          <a:p>
            <a:r>
              <a:t>Отсюда главное наблюдение сцены: цена ошибки живёт в том, что делает ветка за шагом</a:t>
            </a:r>
          </a:p>
          <a:p>
            <a:r>
              <a:t>классификации, и растёт вместе с её полномочиями. Сам шаг стоит доли копейки, а решение,</a:t>
            </a:r>
          </a:p>
          <a:p>
            <a:r>
              <a:t>которое он принимает, стоит потерянного клиента. Это несовпадение и ставит следующий вопрос:</a:t>
            </a:r>
          </a:p>
          <a:p>
            <a:r>
              <a:t>чем считать метку на таком шаге и сколько за неё разумно платить.</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карточки, ни одна не отмечена как верная. У каждой есть сильная сторона, и честный</a:t>
            </a:r>
          </a:p>
          <a:p>
            <a:r>
              <a:t>выбор начинается с них.</a:t>
            </a:r>
          </a:p>
          <a:p/>
          <a:p>
            <a:r>
              <a:t>Первый способ: оставить как есть. Менять нечего, цепочка работает, метку достают из текстового</a:t>
            </a:r>
          </a:p>
          <a:p>
            <a:r>
              <a:t>ответа разбором строки. Второй: правила руками — список ключевых слов и условий «если — то».</a:t>
            </a:r>
          </a:p>
          <a:p>
            <a:r>
              <a:t>Предсказуемо и дёшево, разработчик в любой момент скажет, какое правило сработало на этом</a:t>
            </a:r>
          </a:p>
          <a:p>
            <a:r>
              <a:t>письме. Третий: своя маленькая модель, обученная только различать эти четыре категории.</a:t>
            </a:r>
          </a:p>
          <a:p>
            <a:r>
              <a:t>Звучит как технически аккуратное решение — у классификации своя модель, у генерации ответа</a:t>
            </a:r>
          </a:p>
          <a:p>
            <a:r>
              <a:t>своя, обязанности разведены. Четвёртый: вызов, который возвращает готовое значение, метку или</a:t>
            </a:r>
          </a:p>
          <a:p>
            <a:r>
              <a:t>число, без текста вокруг. У этого способа есть имя — decision-модель, решающая модель; имя</a:t>
            </a:r>
          </a:p>
          <a:p>
            <a:r>
              <a:t>пригодится на разборе, а для выбора сейчас достаточно того, что он делает. Он самый</a:t>
            </a:r>
          </a:p>
          <a:p>
            <a:r>
              <a:t>незнакомый из четырёх, и ровно поэтому его выбирают реже остальных.</a:t>
            </a:r>
          </a:p>
          <a:p/>
          <a:p>
            <a:r>
              <a:t>У всех четырёх есть общее, и его полезно заметить до разбора: ни один не меняет набор</a:t>
            </a:r>
          </a:p>
          <a:p>
            <a:r>
              <a:t>категорий и не меняет письмо. Меняется только то, чем шаг классификации вычисляет свой</a:t>
            </a:r>
          </a:p>
          <a:p>
            <a:r>
              <a:t>ответ. Именно это измерение разбор дальше и разводит. Сравнить четыре способа по цене прямо</a:t>
            </a:r>
          </a:p>
          <a:p>
            <a:r>
              <a:t>здесь не получится: у трёх из них цена зависит от того, сколько текста модель сочинит, у</a:t>
            </a:r>
          </a:p>
          <a:p>
            <a:r>
              <a:t>четвёртого — от тарифа внешнего вызова. Выбор приходится делать рассуждением о том, что</a:t>
            </a:r>
          </a:p>
          <a:p>
            <a:r>
              <a:t>задача требует от этого шага.</a:t>
            </a:r>
          </a:p>
          <a:p/>
          <a:p>
            <a:r>
              <a:t>Полезно ещё до разбора посмотреть на собственный пайплайн: какой из четырёх вариантов там</a:t>
            </a:r>
          </a:p>
          <a:p>
            <a:r>
              <a:t>стоит сейчас. Чаще всего это первый, и выбирали его редко сравнением с остальными тремя.</a:t>
            </a:r>
          </a:p>
          <a:p>
            <a:r>
              <a:t>Обычная причина проще: в момент написания первой версии кода этот вариант требовал меньше</a:t>
            </a:r>
          </a:p>
          <a:p>
            <a:r>
              <a:t>всего новых решений — вызов модели уже был настроен на соседнем шаге, оставалось дописать</a:t>
            </a:r>
          </a:p>
          <a:p>
            <a:r>
              <a:t>ещё один промпт. Такой выбор сам по себе разумен; проблема начинается тогда, когда он</a:t>
            </a:r>
          </a:p>
          <a:p>
            <a:r>
              <a:t>переживает момент, в который шаг классификации стал развилкой с четырьмя разными ценами</a:t>
            </a:r>
          </a:p>
          <a:p>
            <a:r>
              <a:t>ошибки.</a:t>
            </a:r>
          </a:p>
          <a:p/>
          <a:p>
            <a:r>
              <a:t>Выбор стоит сделать до разбора, даже читая этот текст в одиночку: дальше три варианта из</a:t>
            </a:r>
          </a:p>
          <a:p>
            <a:r>
              <a:t>четырёх снимаются одним движением, и собственный выбор, сделанный заранее, показывает,</a:t>
            </a:r>
          </a:p>
          <a:p>
            <a:r>
              <a:t>насколько привычка опережает рассуждение.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первых варианта выглядят как три разные инженерные позиции, и спорить о них можно долго.</a:t>
            </a:r>
          </a:p>
          <a:p>
            <a:r>
              <a:t>Общего у них больше, чем различий: каждый улучшает угадывание категории. Полный вызов модели</a:t>
            </a:r>
          </a:p>
          <a:p>
            <a:r>
              <a:t>угадывает гибче всех, правила руками — предсказуемее всех, своя маленькая модель — дешевле</a:t>
            </a:r>
          </a:p>
          <a:p>
            <a:r>
              <a:t>первого и обобщённее второго. Все трое соревнуются на одной дистанции.</a:t>
            </a:r>
          </a:p>
          <a:p/>
          <a:p>
            <a:r>
              <a:t>Между тем задача стоит иначе: от шага нужно одно значение из четырёх, а генеративная модель</a:t>
            </a:r>
          </a:p>
          <a:p>
            <a:r>
              <a:t>по своему устройству отвечает текстом, и чтобы получить из текста метку, его приходится</a:t>
            </a:r>
          </a:p>
          <a:p>
            <a:r>
              <a:t>разбирать. На экране — как это выглядит вживую. Модель ответила связной фразой: «судя по тону</a:t>
            </a:r>
          </a:p>
          <a:p>
            <a:r>
              <a:t>и упоминанию возврата денег, это скорее всего „Жалоба“». Разбор ищет в ответе шаблон со словом</a:t>
            </a:r>
          </a:p>
          <a:p>
            <a:r>
              <a:t>«Категория:» и четырьмя именами. Слова «Категория:» в этом ответе нет, шаблон не находит</a:t>
            </a:r>
          </a:p>
          <a:p>
            <a:r>
              <a:t>ничего, и дальше срабатывает ветка по умолчанию — та, которую дописали на случай, когда метку</a:t>
            </a:r>
          </a:p>
          <a:p>
            <a:r>
              <a:t>достать не удалось. Здесь она спам, и жалоба клиента уезжает в архив, откуда человек её уже не</a:t>
            </a:r>
          </a:p>
          <a:p>
            <a:r>
              <a:t>достанет. Исключения не произошло, в журнале ни строки: код сделал ровно то, что в нём</a:t>
            </a:r>
          </a:p>
          <a:p>
            <a:r>
              <a:t>написано. Метка один раз окажется в скобках, другой раз написана со строчной буквы, третий раз</a:t>
            </a:r>
          </a:p>
          <a:p>
            <a:r>
              <a:t>модель начнёт с объяснения — и каждый такой случай уходит в ту же ветку по умолчанию.</a:t>
            </a:r>
          </a:p>
          <a:p/>
          <a:p>
            <a:r>
              <a:t>Ограничения у каждого из трёх свои, и в работе они важны. Полный вызов платит за токены</a:t>
            </a:r>
          </a:p>
          <a:p>
            <a:r>
              <a:t>вывода, которых никто не читает, и держится на разборе чужого формата. Правила руками не</a:t>
            </a:r>
          </a:p>
          <a:p>
            <a:r>
              <a:t>обобщаются на формулировки, которых никто не предусмотрел, — клиенты пишут про возврат</a:t>
            </a:r>
          </a:p>
          <a:p>
            <a:r>
              <a:t>десятком разных способов, и письмо без нужного слова не распознаётся вовсе. Своя маленькая</a:t>
            </a:r>
          </a:p>
          <a:p>
            <a:r>
              <a:t>модель быстрее и дешевле полного вызова, но её надо обучать и поддерживать отдельно, а пятая</a:t>
            </a:r>
          </a:p>
          <a:p>
            <a:r>
              <a:t>категория, если она появится, означает переобучение вместо правки промпта. Эти ограничения</a:t>
            </a:r>
          </a:p>
          <a:p>
            <a:r>
              <a:t>стоит знать, и всё же они второстепенны: они подсказывают, какой из трёх взять, пока вопрос</a:t>
            </a:r>
          </a:p>
          <a:p>
            <a:r>
              <a:t>стоит в прежней рамке.</a:t>
            </a:r>
          </a:p>
          <a:p/>
          <a:p>
            <a:r>
              <a:t>Поворот кейса в том, что рамку надо сменить. Прежде чем выбирать, чем угадывать категорию,</a:t>
            </a:r>
          </a:p>
          <a:p>
            <a:r>
              <a:t>стоит спросить, в каком виде шаг вообще обязан отдавать ответ. Задача по своей природе</a:t>
            </a:r>
          </a:p>
          <a:p>
            <a:r>
              <a:t>возвращает значение из короткого списка; форма ответа, которую мы ей навязали, — свободный</a:t>
            </a:r>
          </a:p>
          <a:p>
            <a:r>
              <a:t>текст. Отсюда и двойная плата: сначала за сочинение объяснения, потом за его разбор. Четвёртый</a:t>
            </a:r>
          </a:p>
          <a:p>
            <a:r>
              <a:t>вариант отвечает именно на этот вопрос — он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способ отличается от трёх предыдущих по другой оси. Те меняли, чем вычисляется</a:t>
            </a:r>
          </a:p>
          <a:p>
            <a:r>
              <a:t>категория; этот меняет, в каком виде шаг обязан ответить. Вместо текста, из которого потом</a:t>
            </a:r>
          </a:p>
          <a:p>
            <a:r>
              <a:t>достают метку, на выходе сразу значение: уверенность от нуля до единицы в том, что письмо —</a:t>
            </a:r>
          </a:p>
          <a:p>
            <a:r>
              <a:t>жалоба, распределение вероятностей сразу по всем четырём категориям, числовой балл вдоль</a:t>
            </a:r>
          </a:p>
          <a:p>
            <a:r>
              <a:t>заданной шкалы. Разбирать нечего, ломаться разбору негде, и платить за сочинение объяснения,</a:t>
            </a:r>
          </a:p>
          <a:p>
            <a:r>
              <a:t>которое никто не прочтёт, тоже не приходится. Сломанный разбор с предыдущего экрана здесь</a:t>
            </a:r>
          </a:p>
          <a:p>
            <a:r>
              <a:t>просто не возникает: ветка по умолчанию остаётся без работы, потому что доставать метку из</a:t>
            </a:r>
          </a:p>
          <a:p>
            <a:r>
              <a:t>текста больше не нужно.</a:t>
            </a:r>
          </a:p>
          <a:p/>
          <a:p>
            <a:r>
              <a:t>Класс таких вызовов на момент записи представляет Jev, продукт компании TypeSafe AI. Письмо</a:t>
            </a:r>
          </a:p>
          <a:p>
            <a:r>
              <a:t>уходит туда как вход, обратно приходит значение заданного вида — уверенность, распределение</a:t>
            </a:r>
          </a:p>
          <a:p>
            <a:r>
              <a:t>по категориям или балл. Такой вызов заметно дешевле и быстрее разговорного на той же задаче:</a:t>
            </a:r>
          </a:p>
          <a:p>
            <a:r>
              <a:t>выбор одного значения из короткого списка требует меньше вычислений, чем связный абзац, и</a:t>
            </a:r>
          </a:p>
          <a:p>
            <a:r>
              <a:t>цена это отражает. Продукт молодой, и имена в этой нише меняются быстрее механики:</a:t>
            </a:r>
          </a:p>
          <a:p>
            <a:r>
              <a:t>ориентироваться стоит на форму ответа — значение заданного вида вместо свободного текста, —</a:t>
            </a:r>
          </a:p>
          <a:p>
            <a:r>
              <a:t>а конкретного поставщика проверять на тот день, когда задача встала.</a:t>
            </a:r>
          </a:p>
          <a:p/>
          <a:p>
            <a:r>
              <a:t>Своя цена есть и у этого способа, и она ровно обратная преимуществу. Decision-модель не</a:t>
            </a:r>
          </a:p>
          <a:p>
            <a:r>
              <a:t>объясняет выбор: рядом с числом нет ни одной причины. Для почтового маршрутизатора это</a:t>
            </a:r>
          </a:p>
          <a:p>
            <a:r>
              <a:t>терпимо — ветки известны, ошибка видна по жалобе клиента. Для решения, которое касается</a:t>
            </a:r>
          </a:p>
          <a:p>
            <a:r>
              <a:t>человека, непрозрачность превращается в отдельный риск, и к нему разбор вернётся на</a:t>
            </a:r>
          </a:p>
          <a:p>
            <a:r>
              <a:t>следующем экране. Третья строка цены тише первых двух: поставщика такого вызова приходится</a:t>
            </a:r>
          </a:p>
          <a:p>
            <a:r>
              <a:t>выбирать на молодом рынке, где за месяц появляются и копии, и новые имена, и шаг, завязанный</a:t>
            </a:r>
          </a:p>
          <a:p>
            <a:r>
              <a:t>на одно имя, однажды придётся переносить.</a:t>
            </a:r>
          </a:p>
          <a:p/>
          <a:p>
            <a:r>
              <a:t>Вопрос, который стоит задать своему пайплайну прямо сегодня, измеряется без исследований:</a:t>
            </a:r>
          </a:p>
          <a:p>
            <a:r>
              <a:t>сколько в нём шагов гоняют полный разговорный вызов, чтобы в итоге взять из ответа одно</a:t>
            </a:r>
          </a:p>
          <a:p>
            <a:r>
              <a:t>слово или одну цифру. Посчитать такие шаги можно за вечер; у каждого из них есть</a:t>
            </a:r>
          </a:p>
          <a:p>
            <a:r>
              <a:t>сегодняшняя цена в токенах и завтрашняя — в разборе, который однажды молча не найдёт</a:t>
            </a:r>
          </a:p>
          <a:p>
            <a:r>
              <a:t>нужного слова.</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та же, что на сцене, и изменение в ней одно: на входе письмо пятого рода — предложение</a:t>
            </a:r>
          </a:p>
          <a:p>
            <a:r>
              <a:t>о партнёрстве с просьбой прислать прайс и договор. Слотов по-прежнему четыре: биллинг,</a:t>
            </a:r>
          </a:p>
          <a:p>
            <a:r>
              <a:t>техподдержка, жалоба, спам. Письмо обязано попасть в один из них, потому что сказать</a:t>
            </a:r>
          </a:p>
          <a:p>
            <a:r>
              <a:t>«подходящей ветки нет» маршрутизатору нечем — такого значения в формате ответа просто не</a:t>
            </a:r>
          </a:p>
          <a:p>
            <a:r>
              <a:t>предусмотрено. Он возвращает ближайшее по сходству, и возвращает уверенно. Это первый слой</a:t>
            </a:r>
          </a:p>
          <a:p>
            <a:r>
              <a:t>провала, и от способа вычисления метки он не зависит вовсе: одинаково работает и для полного</a:t>
            </a:r>
          </a:p>
          <a:p>
            <a:r>
              <a:t>вызова модели, и для правил руками, и для decision-модели.</a:t>
            </a:r>
          </a:p>
          <a:p/>
          <a:p>
            <a:r>
              <a:t>Второй слой — про то, почему первый нельзя заметить. Автор Jev провёл маленький эксперимент:</a:t>
            </a:r>
          </a:p>
          <a:p>
            <a:r>
              <a:t>спросил у модели «да» или «нет» на вопрос, хороший ли это город, для каждого города залива</a:t>
            </a:r>
          </a:p>
          <a:p>
            <a:r>
              <a:t>Сан-Франциско. Выше всех оказался Купертино, ниже всех — Восточный Пало-Альто. Это соседние</a:t>
            </a:r>
          </a:p>
          <a:p>
            <a:r>
              <a:t>города с резко разным уровнем достатка, и объяснения к такой паре оценок не было и не могло</a:t>
            </a:r>
          </a:p>
          <a:p>
            <a:r>
              <a:t>быть: формат ответа — число. Какой признак потянул оценку вниз — доход жителей, цены на</a:t>
            </a:r>
          </a:p>
          <a:p>
            <a:r>
              <a:t>жильё, что-то третье, — из самого ответа не определить. Автор прямо написал, что ему от</a:t>
            </a:r>
          </a:p>
          <a:p>
            <a:r>
              <a:t>этого некомфортно, и что для оценки кандидатов на работу такой инструмент он бы не взял:</a:t>
            </a:r>
          </a:p>
          <a:p>
            <a:r>
              <a:t>число выглядит объективным, а за ним ничего не видно.</a:t>
            </a:r>
          </a:p>
          <a:p/>
          <a:p>
            <a:r>
              <a:t>Теперь видно, чем одно молчание держит другое. Будь на выходе честно низкая уверенность</a:t>
            </a:r>
          </a:p>
          <a:p>
            <a:r>
              <a:t>именно на странных письмах, систему можно было бы настроить отправлять их человеку, и первый</a:t>
            </a:r>
          </a:p>
          <a:p>
            <a:r>
              <a:t>слой провала закрылся бы сам. Но низкое число приходит там, где модель колеблется между</a:t>
            </a:r>
          </a:p>
          <a:p>
            <a:r>
              <a:t>похожими вариантами, и совпадать с неверной меткой оно не обязано: уверенность и правильность</a:t>
            </a:r>
          </a:p>
          <a:p>
            <a:r>
              <a:t>живут отдельно, и формат ответа их совпадения не гарантирует. Письмо уезжает в чужую ветку, а</a:t>
            </a:r>
          </a:p>
          <a:p>
            <a:r>
              <a:t>узнают об этом от клиента, который спрашивает, почему ему ответили про другое. Для</a:t>
            </a:r>
          </a:p>
          <a:p>
            <a:r>
              <a:t>партнёрского предложения, уехавшего в техподдержку, это значит потерянную сделку, и заметят</a:t>
            </a:r>
          </a:p>
          <a:p>
            <a:r>
              <a:t>её нескоро — отдел продаж это письмо никогда не увидит.</a:t>
            </a:r>
          </a:p>
          <a:p/>
          <a:p>
            <a:r>
              <a:t>В почтовом ящике у такой ошибки есть дно: письмо нашлось, его переслали в правильную ветку в</a:t>
            </a:r>
          </a:p>
          <a:p>
            <a:r>
              <a:t>тот же день, клиент получил ответ с опозданием. Та же операция — данные на входе, одна метка</a:t>
            </a:r>
          </a:p>
          <a:p>
            <a:r>
              <a:t>на выходе, маршрут человека дальше — стоит в местах, где пересылать уже нечего и опоздание</a:t>
            </a:r>
          </a:p>
          <a:p>
            <a:r>
              <a:t>исправить нельзя. С них начинается следующий кейс.</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Эти два числа — одна и та же программа и одни и те же пациенты, посчитанные двумя</a:t>
            </a:r>
          </a:p>
          <a:p>
            <a:r>
              <a:t>способами. 17,7% — доля чёрных пациентов, которых алгоритм риск-прогнозирования</a:t>
            </a:r>
          </a:p>
          <a:p>
            <a:r>
              <a:t>действительно направляет в программу усиленного наблюдения. 46,5% — доля, которая</a:t>
            </a:r>
          </a:p>
          <a:p>
            <a:r>
              <a:t>получилась бы при счёте по тяжести состояния. Разница в двадцать восемь процентных</a:t>
            </a:r>
          </a:p>
          <a:p>
            <a:r>
              <a:t>пунктов появляется без единой строчки про расу в коде. Алгоритм этот продаёт Optum,</a:t>
            </a:r>
          </a:p>
          <a:p>
            <a:r>
              <a:t>подразделение UnitedHealth Group; покупают его госпитали и страховые компании, и дальше</a:t>
            </a:r>
          </a:p>
          <a:p>
            <a:r>
              <a:t>он работает у них внутри обычного процесса принятия решений о помощи.</a:t>
            </a:r>
          </a:p>
          <a:p/>
          <a:p>
            <a:r>
              <a:t>Второе число — результат пересчёта, и считали его так. Исследователи взяли тот же</a:t>
            </a:r>
          </a:p>
          <a:p>
            <a:r>
              <a:t>алгоритм и те же данные о тех же пациентах, но на место предсказываемой величины</a:t>
            </a:r>
          </a:p>
          <a:p>
            <a:r>
              <a:t>поставили прямой показатель тяжести состояния — число активных хронических заболеваний.</a:t>
            </a:r>
          </a:p>
          <a:p>
            <a:r>
              <a:t>По нему заново отранжировали всех пациентов и применили тот же порог отбора в программу,</a:t>
            </a:r>
          </a:p>
          <a:p>
            <a:r>
              <a:t>который действует и сейчас. При таком счёте в программу попало бы 46,5% чёрных пациентов;</a:t>
            </a:r>
          </a:p>
          <a:p>
            <a:r>
              <a:t>счёт по расходам даёт 17,7%. Нового обследования для этого никому проходить не пришлось:</a:t>
            </a:r>
          </a:p>
          <a:p>
            <a:r>
              <a:t>обе величины лежат в тех же самых данных.</a:t>
            </a:r>
          </a:p>
          <a:p/>
          <a:p>
            <a:r>
              <a:t>Устроен этот алгоритм ровно как маршрутизатор из предыдущего кейса. На входе данные</a:t>
            </a:r>
          </a:p>
          <a:p>
            <a:r>
              <a:t>пациента, на выходе одна метка — балл риска, и эта метка определяет дальнейший маршрут</a:t>
            </a:r>
          </a:p>
          <a:p>
            <a:r>
              <a:t>человека через систему здравоохранения. Шага, где кто-то вручную перепроверяет каждое</a:t>
            </a:r>
          </a:p>
          <a:p>
            <a:r>
              <a:t>решение, в схеме нет.</a:t>
            </a:r>
          </a:p>
          <a:p/>
          <a:p>
            <a:r>
              <a:t>Программы усиленного наблюдения — это дополнительная помощь пациентам, чья болезнь ещё</a:t>
            </a:r>
          </a:p>
          <a:p>
            <a:r>
              <a:t>управляема: диабет на ранней стадии, начинающаяся сердечная недостаточность. Попасть туда</a:t>
            </a:r>
          </a:p>
          <a:p>
            <a:r>
              <a:t>означает получить персонального координатора лечения, более частые осмотры, раннее</a:t>
            </a:r>
          </a:p>
          <a:p>
            <a:r>
              <a:t>вмешательство при ухудшении. Остаться снаружи означает обычный режим наблюдения и</a:t>
            </a:r>
          </a:p>
          <a:p>
            <a:r>
              <a:t>обращение за помощью тогда, когда состояние обострилось настолько, что его замечают без</a:t>
            </a:r>
          </a:p>
          <a:p>
            <a:r>
              <a:t>всякого алгоритма. Масштаб у этой развилки не больничный и не региональный: такие модели</a:t>
            </a:r>
          </a:p>
          <a:p>
            <a:r>
              <a:t>участвуют в решениях о помощи приблизительно для 200 миллионов человек в год в США.</a:t>
            </a:r>
          </a:p>
          <a:p>
            <a:r>
              <a:t>Дальше — замер, на котором разрыв виден прямо: два столбика разной высоты под одной и той</a:t>
            </a:r>
          </a:p>
          <a:p>
            <a:r>
              <a:t>же подписью.</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показывает один замер исследования. Пациентов с сопоставимым баллом риска разделили</a:t>
            </a:r>
          </a:p>
          <a:p>
            <a:r>
              <a:t>на две группы и посмотрели на их здоровье напрямую — по числу активных хронических</a:t>
            </a:r>
          </a:p>
          <a:p>
            <a:r>
              <a:t>заболеваний, по лабораторным показателям, минуя оценку самого алгоритма. Среди тех, кого</a:t>
            </a:r>
          </a:p>
          <a:p>
            <a:r>
              <a:t>алгоритм отнёс к самому высокому разряду риска — к тому самому, по которому и отбирают в</a:t>
            </a:r>
          </a:p>
          <a:p>
            <a:r>
              <a:t>программу, — у чёрных пациентов таких заболеваний оказалось в среднем на 26,3% больше.</a:t>
            </a:r>
          </a:p>
          <a:p>
            <a:r>
              <a:t>Шкала слева показывает это отношение прямо: левый столбик принят за сто единиц, правый</a:t>
            </a:r>
          </a:p>
          <a:p>
            <a:r>
              <a:t>дотягивает до ста двадцати шести с небольшим, а подпись под обоими одна и та же.</a:t>
            </a:r>
          </a:p>
          <a:p/>
          <a:p>
            <a:r>
              <a:t>Что это значит для одного человека, видно на составе его расходов. Денег система тратит на</a:t>
            </a:r>
          </a:p>
          <a:p>
            <a:r>
              <a:t>него примерно столько же, сколько на пациента из левого столбика, и это ровно то, что</a:t>
            </a:r>
          </a:p>
          <a:p>
            <a:r>
              <a:t>алгоритм видит. Но уходят эти деньги на другое: на экстренные визиты при обострениях</a:t>
            </a:r>
          </a:p>
          <a:p>
            <a:r>
              <a:t>диабета и давления, то есть на помощь, которую зовут, когда уже прихватило. Болезнь к</a:t>
            </a:r>
          </a:p>
          <a:p>
            <a:r>
              <a:t>этому моменту управляема хуже, а в числах она выглядит так же.</a:t>
            </a:r>
          </a:p>
          <a:p/>
          <a:p>
            <a:r>
              <a:t>Дальше решает арифметика списка. Балл риска означает для координатора программы одно</a:t>
            </a:r>
          </a:p>
          <a:p>
            <a:r>
              <a:t>конкретное действие: включить пациента в список на этой неделе или не включить. Список</a:t>
            </a:r>
          </a:p>
          <a:p>
            <a:r>
              <a:t>ограничен числом свободных мест, выше в нём стоят пациенты с более высоким баллом. Человек</a:t>
            </a:r>
          </a:p>
          <a:p>
            <a:r>
              <a:t>с более тяжёлым состоянием и тем же баллом получает ровно такой же шанс попасть в список,</a:t>
            </a:r>
          </a:p>
          <a:p>
            <a:r>
              <a:t>что и человек с более лёгким, потому что оба спрятаны за одним числом.</a:t>
            </a:r>
          </a:p>
          <a:p/>
          <a:p>
            <a:r>
              <a:t>Одна заниженная оценка у одного пациента была бы статистическим шумом — случайностью</a:t>
            </a:r>
          </a:p>
          <a:p>
            <a:r>
              <a:t>измерения, от которой не застрахована никакая система. Здесь ошибка другой природы. Если</a:t>
            </a:r>
          </a:p>
          <a:p>
            <a:r>
              <a:t>принцип, по которому алгоритм определяет нуждаемость, систематически сдвигает оценку целой</a:t>
            </a:r>
          </a:p>
          <a:p>
            <a:r>
              <a:t>группы вниз относительно настоящего состояния, разница проявится у всех пациентов этой</a:t>
            </a:r>
          </a:p>
          <a:p>
            <a:r>
              <a:t>группы сразу, в одном направлении, с одной и той же постоянной величиной. Ровно так шум</a:t>
            </a:r>
          </a:p>
          <a:p>
            <a:r>
              <a:t>отличают от смещения: шум гасится при усреднении по множеству пациентов, смещение от</a:t>
            </a:r>
          </a:p>
          <a:p>
            <a:r>
              <a:t>усреднения только крепнет. Значит, искать надо в самом механизме: расы на входе алгоритма</a:t>
            </a:r>
          </a:p>
          <a:p>
            <a:r>
              <a:t>нет вообще, и вопрос в том, что встало на её место.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Расы на входе этого алгоритма нет вообще: ни в одном из полей, которые он использует,</a:t>
            </a:r>
          </a:p>
          <a:p>
            <a:r>
              <a:t>её нет ни прямо, ни через очевидный суррогат вроде почтового индекса. Разработчики её туда</a:t>
            </a:r>
          </a:p>
          <a:p>
            <a:r>
              <a:t>не закладывали. Значит, разрыв в 26,3% берётся из чего-то другого — из величины, которую</a:t>
            </a:r>
          </a:p>
          <a:p>
            <a:r>
              <a:t>алгоритм считает вместо той, что ему нужна.</a:t>
            </a:r>
          </a:p>
          <a:p/>
          <a:p>
            <a:r>
              <a:t>Нужна ему «потребность в медицинской помощи». Прямого, однозначного числового измерения</a:t>
            </a:r>
          </a:p>
          <a:p>
            <a:r>
              <a:t>этой величины не существует вовсе: её нельзя снять прибором, нельзя вытащить одним запросом</a:t>
            </a:r>
          </a:p>
          <a:p>
            <a:r>
              <a:t>из базы, нельзя получить от врача в виде одного числа, сопоставимого между пациентами. И</a:t>
            </a:r>
          </a:p>
          <a:p>
            <a:r>
              <a:t>так устроено большинство величин, ради которых вообще строят классификаторы: медицина здесь</a:t>
            </a:r>
          </a:p>
          <a:p>
            <a:r>
              <a:t>ничем не выделяется. Разработчик обязан взять взамен что-то измеримое.</a:t>
            </a:r>
          </a:p>
          <a:p/>
          <a:p>
            <a:r>
              <a:t>Четыре карточки на экране — это и есть реальный список, из которого такой выбор делается:</a:t>
            </a:r>
          </a:p>
          <a:p>
            <a:r>
              <a:t>число предыдущих диагнозов; прошлые расходы на здравоохранение; количество выписанных</a:t>
            </a:r>
          </a:p>
          <a:p>
            <a:r>
              <a:t>препаратов; число обращений в больницу за год. Все четыре уже существуют в системе до того,</a:t>
            </a:r>
          </a:p>
          <a:p>
            <a:r>
              <a:t>как кто-то начал строить алгоритм. Их не нужно собирать заново, спрашивать у врача отдельно</a:t>
            </a:r>
          </a:p>
          <a:p>
            <a:r>
              <a:t>или ждать нового обследования: они лежат в истории страховых выплат и достаются оттуда</a:t>
            </a:r>
          </a:p>
          <a:p>
            <a:r>
              <a:t>запросом. Цена получить такой признак практически нулевая по сравнению с ценой организовать</a:t>
            </a:r>
          </a:p>
          <a:p>
            <a:r>
              <a:t>прямое измерение состояния здоровья каждого пациента.</a:t>
            </a:r>
          </a:p>
          <a:p/>
          <a:p>
            <a:r>
              <a:t>Каждая из четырёх кажется разумным кандидатом на первый взгляд, и в этом вся трудность</a:t>
            </a:r>
          </a:p>
          <a:p>
            <a:r>
              <a:t>выбора: все они измеримы, все связаны со здоровьем, ни одна не требует нового сбора данных.</a:t>
            </a:r>
          </a:p>
          <a:p>
            <a:r>
              <a:t>Угадывание здесь ничего не даст — работает только рассуждение о том, каким путём число</a:t>
            </a:r>
          </a:p>
          <a:p>
            <a:r>
              <a:t>попадает в базу. У каждого из четырёх этот путь свой, и на нём с числом что-то происходит</a:t>
            </a:r>
          </a:p>
          <a:p>
            <a:r>
              <a:t>помимо болезни. Стоит задержаться на двух вопросах: какой из четырёх кандидатов</a:t>
            </a:r>
          </a:p>
          <a:p>
            <a:r>
              <a:t>действительно использовал алгоритм Optum — и что в его числовой истории способно</a:t>
            </a:r>
          </a:p>
          <a:p>
            <a:r>
              <a:t>систематически смещаться из-за того, насколько по-разному у разных групп пациентов</a:t>
            </a:r>
          </a:p>
          <a:p>
            <a:r>
              <a:t>устроен доступ к медицине.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Алгоритм использовал прошлые расходы на здравоохранение. Логика выбора выглядит разумной, и</a:t>
            </a:r>
          </a:p>
          <a:p>
            <a:r>
              <a:t>ровно так её и объясняют: расходы экономно суммируют, сколько помощи человеку уже</a:t>
            </a:r>
          </a:p>
          <a:p>
            <a:r>
              <a:t>понадобилось, лежат в истории страховых выплат и достаются оттуда запросом. И связь с</a:t>
            </a:r>
          </a:p>
          <a:p>
            <a:r>
              <a:t>болезнью в них настоящая: болеющий человек лечится чаще и дороже здорового. Ошибка спрятана</a:t>
            </a:r>
          </a:p>
          <a:p>
            <a:r>
              <a:t>во втором слое этой связи.</a:t>
            </a:r>
          </a:p>
          <a:p/>
          <a:p>
            <a:r>
              <a:t>В США чёрные пациенты исторически получают меньше медицинской помощи при той же тяжести</a:t>
            </a:r>
          </a:p>
          <a:p>
            <a:r>
              <a:t>заболевания: меньше визитов к врачу, меньше диагностических процедур, меньше направлений к</a:t>
            </a:r>
          </a:p>
          <a:p>
            <a:r>
              <a:t>специалистам при одних и тех же симптомах. Причины названы в самом исследовании и вокруг</a:t>
            </a:r>
          </a:p>
          <a:p>
            <a:r>
              <a:t>него — доход, расстояние до клиники, время, которое визит отнимает у рабочего дня, и</a:t>
            </a:r>
          </a:p>
          <a:p>
            <a:r>
              <a:t>доверие к врачу, без которого человек реже просит о дополнительной помощи. Значит, в</a:t>
            </a:r>
          </a:p>
          <a:p>
            <a:r>
              <a:t>прошлых расходах сложены две величины сразу: тяжесть болезни и лёгкость доступа к лечению.</a:t>
            </a:r>
          </a:p>
          <a:p>
            <a:r>
              <a:t>У чёрных пациентов вторая ниже при той же первой, и число на выходе ниже тоже.</a:t>
            </a:r>
          </a:p>
          <a:p/>
          <a:p>
            <a:r>
              <a:t>Алгоритм, обученный на связке «расходы предсказывают потребность», унаследовал это</a:t>
            </a:r>
          </a:p>
          <a:p>
            <a:r>
              <a:t>искажение целиком: он честно выучил связь, которая в его входных данных была уже перекошена</a:t>
            </a:r>
          </a:p>
          <a:p>
            <a:r>
              <a:t>неравенством доступа, никем туда специально не заложенным. Результат — систематическая</a:t>
            </a:r>
          </a:p>
          <a:p>
            <a:r>
              <a:t>недооценка риска чёрных пациентов ровно там, где алгоритм выглядит наиболее нейтральным:</a:t>
            </a:r>
          </a:p>
          <a:p>
            <a:r>
              <a:t>явного указания на расу в формуле нет ни одного. Масштаб измерен прямо: подмена сократила</a:t>
            </a:r>
          </a:p>
          <a:p>
            <a:r>
              <a:t>больше чем вдвое число чёрных пациентов, направленных в программу усиленного наблюдения.</a:t>
            </a:r>
          </a:p>
          <a:p>
            <a:r>
              <a:t>Пересчёт по тяжести состояния при том же пороге отбора поднимает их долю с 17,7% до 46,5%.</a:t>
            </a:r>
          </a:p>
          <a:p/>
          <a:p>
            <a:r>
              <a:t>Три остальных кандидата заслуживают отдельного слова, потому что спасением не стал бы ни</a:t>
            </a:r>
          </a:p>
          <a:p>
            <a:r>
              <a:t>один. Все четыре числа измеряют одно и то же — зафиксированные контакты с медициной.</a:t>
            </a:r>
          </a:p>
          <a:p>
            <a:r>
              <a:t>Расходы просто собирают эту историю полнее остальных, потому их и выбрали. Злого умысла</a:t>
            </a:r>
          </a:p>
          <a:p>
            <a:r>
              <a:t>здесь ни у кого нет: расу в формулу никто не закладывал, ничьё здоровье никто не собирался</a:t>
            </a:r>
          </a:p>
          <a:p>
            <a:r>
              <a:t>недооценивать. Классификатор взял удобный и легко измеримый сигнал вместо настоящего, и</a:t>
            </a:r>
          </a:p>
          <a:p>
            <a:r>
              <a:t>этим способом маршрутизация ломается на практике куда чаще, чем умышленной дискриминацией.</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Кейс Optum вскрыли одним сравнением. У алгоритма была удобная величина — прошлые расходы</a:t>
            </a:r>
          </a:p>
          <a:p>
            <a:r>
              <a:t>на лечение — и была нужная, та, ради которой его строили: насколько человек болен.</a:t>
            </a:r>
          </a:p>
          <a:p>
            <a:r>
              <a:t>Исследователи измерили нужную величину напрямую, по числу активных хронических</a:t>
            </a:r>
          </a:p>
          <a:p>
            <a:r>
              <a:t>заболеваний, и положили два ряда чисел рядом. Ряды разошлись, и разошлись в одну сторону.</a:t>
            </a:r>
          </a:p>
          <a:p>
            <a:r>
              <a:t>Этого расхождения хватило, чтобы назвать поломку и оценить её размер.</a:t>
            </a:r>
          </a:p>
          <a:p/>
          <a:p>
            <a:r>
              <a:t>Инструмент получился общий, и к нему тянется рука на любом следующем алгоритме: найди</a:t>
            </a:r>
          </a:p>
          <a:p>
            <a:r>
              <a:t>признак, который стоит вместо нужной величины, измерь нужную величину отдельно, сравни</a:t>
            </a:r>
          </a:p>
          <a:p>
            <a:r>
              <a:t>два ряда. Следующий кейс стоит здесь затем, чтобы этот инструмент попробовать второй раз.</a:t>
            </a:r>
          </a:p>
          <a:p>
            <a:r>
              <a:t>Он отработает честно и покажет, что сравнивать нечего: величины, которые считал налоговый</a:t>
            </a:r>
          </a:p>
          <a:p>
            <a:r>
              <a:t>алгоритм, подменять никому не пришлось. Разрыв по расе при этом никуда не делся.</a:t>
            </a:r>
          </a:p>
          <a:p/>
          <a:p>
            <a:r>
              <a:t>Повторить вопрос стоит и по второй причине. Один документированный случай подмены</a:t>
            </a:r>
          </a:p>
          <a:p>
            <a:r>
              <a:t>признака легко прочитать как особенность одной компании и одной отрасли: медицинские</a:t>
            </a:r>
          </a:p>
          <a:p>
            <a:r>
              <a:t>данные устроены неудачно, эта страховая собрала их небрежно. Второй случай — другое</a:t>
            </a:r>
          </a:p>
          <a:p>
            <a:r>
              <a:t>ведомство, другая профессиональная культура, другой порядок величин на входе, десятки</a:t>
            </a:r>
          </a:p>
          <a:p>
            <a:r>
              <a:t>миллионов деклараций ежегодно — и разрыв по расе появляется снова, в похожем диапазоне</a:t>
            </a:r>
          </a:p>
          <a:p>
            <a:r>
              <a:t>кратности. Один случай показывает инцидент. Два случая с разной механикой внутри</a:t>
            </a:r>
          </a:p>
          <a:p>
            <a:r>
              <a:t>показывают закономерность, а закономерность приходится закладывать в собственный проект</a:t>
            </a:r>
          </a:p>
          <a:p>
            <a:r>
              <a:t>заранее, до того как он поедет на живых данных.</a:t>
            </a:r>
          </a:p>
          <a:p/>
          <a:p>
            <a:r>
              <a:t>Если бы совпал ещё и конкретный признак — скажем, налоговый алгоритм тоже опирался бы на</a:t>
            </a:r>
          </a:p>
          <a:p>
            <a:r>
              <a:t>прошлые траты человека, — вывод был бы слабее: можно было бы заподозрить, что проблема</a:t>
            </a:r>
          </a:p>
          <a:p>
            <a:r>
              <a:t>сидит в этом одном признаке. Совпадает здесь другое. Совпадает то, что вместо нужной</a:t>
            </a:r>
          </a:p>
          <a:p>
            <a:r>
              <a:t>величины считается удобным.</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Внутренние алгоритмы налоговой службы США выбирают, какие из поданных деклараций пойдут</a:t>
            </a:r>
          </a:p>
          <a:p>
            <a:r>
              <a:t>на проверку. Поток огромен, инспекторов на ручную проверку каждой декларации не хватает,</a:t>
            </a:r>
          </a:p>
          <a:p>
            <a:r>
              <a:t>и алгоритм заранее поднимает наверх тех, у кого проверка с наибольшей вероятностью найдёт</a:t>
            </a:r>
          </a:p>
          <a:p>
            <a:r>
              <a:t>ошибку или нарушение. Значительная часть этого отбора идёт через скрининг заявок на</a:t>
            </a:r>
          </a:p>
          <a:p>
            <a:r>
              <a:t>EITC — налоговый вычет для работников с низким доходом.</a:t>
            </a:r>
          </a:p>
          <a:p/>
          <a:p>
            <a:r>
              <a:t>Схема на экране считает одну вещь: сколько такое письмо стоит семье. Это дни, потраченные</a:t>
            </a:r>
          </a:p>
          <a:p>
            <a:r>
              <a:t>на сбор документов. Это часть уже рассчитанного возврата, которой семья успела</a:t>
            </a:r>
          </a:p>
          <a:p>
            <a:r>
              <a:t>распорядиться. EITC — вычет именно для тех, чей доход невелик и чей бюджет спланирован</a:t>
            </a:r>
          </a:p>
          <a:p>
            <a:r>
              <a:t>заранее на весь год с учётом заявленного возврата; задержка или отказ по итогам проверки</a:t>
            </a:r>
          </a:p>
          <a:p>
            <a:r>
              <a:t>бьёт по такому бюджету заметно сильнее, чем по бюджету налогоплательщика с более высоким и</a:t>
            </a:r>
          </a:p>
          <a:p>
            <a:r>
              <a:t>более устойчивым доходом. Одно и то же письмо стоит двум людям разных денег, и мерить эту</a:t>
            </a:r>
          </a:p>
          <a:p>
            <a:r>
              <a:t>цену приходится месяцами семейного плана.</a:t>
            </a:r>
          </a:p>
          <a:p/>
          <a:p>
            <a:r>
              <a:t>Второе утверждение экрана стоит отдельной плашкой, потому что отвечает на другой вопрос:</a:t>
            </a:r>
          </a:p>
          <a:p>
            <a:r>
              <a:t>кому это письмо приходит. Возьмём двух налогоплательщиков с очень похожими</a:t>
            </a:r>
          </a:p>
          <a:p>
            <a:r>
              <a:t>декларациями: тот же диапазон дохода, та же структура вычетов, то же претендование на</a:t>
            </a:r>
          </a:p>
          <a:p>
            <a:r>
              <a:t>EITC. Один белый, другой чёрный. По совместному исследованию Stanford и самой IRS,</a:t>
            </a:r>
          </a:p>
          <a:p>
            <a:r>
              <a:t>опубликованному в 2023 году, чернокожих налогоплательщиков со схожими декларациями</a:t>
            </a:r>
          </a:p>
          <a:p>
            <a:r>
              <a:t>аудировали в 2,9–4,7 раза чаще. Цифру подтвердила сама IRS: после совместной работы с</a:t>
            </a:r>
          </a:p>
          <a:p>
            <a:r>
              <a:t>исследователями она объявила о намерении исправить процесс отбора.</a:t>
            </a:r>
          </a:p>
          <a:p/>
          <a:p>
            <a:r>
              <a:t>Расу алгоритм отбора не видит и не использует ни на одном шаге. Такого поля в наборе</a:t>
            </a:r>
          </a:p>
          <a:p>
            <a:r>
              <a:t>данных декларации не существует, и в привязке к декларации налоговая служба его не</a:t>
            </a:r>
          </a:p>
          <a:p>
            <a:r>
              <a:t>собирает. Разница в вероятности проверки держится не на одной декларации и не на одном</a:t>
            </a:r>
          </a:p>
          <a:p>
            <a:r>
              <a:t>инспекторе: это статистика по всей массе деклараций за несколько лет работы алгоритма,</a:t>
            </a:r>
          </a:p>
          <a:p>
            <a:r>
              <a:t>устойчивая из года в год. Случайный разброс на небольшой выборке так себя не ведёт.</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отбора устроена просто, и на экране она целиком. На входе — десятки миллионов</a:t>
            </a:r>
          </a:p>
          <a:p>
            <a:r>
              <a:t>деклараций в год. Ресурс — ограниченное число инспекторских часов: проверить все</a:t>
            </a:r>
          </a:p>
          <a:p>
            <a:r>
              <a:t>декларации некем, и так будет всегда при любом штате. Цель — найти как можно больше</a:t>
            </a:r>
          </a:p>
          <a:p>
            <a:r>
              <a:t>нарушений в пределах этого ресурса. Формулировка выглядит бесспорной; на неё согласился бы</a:t>
            </a:r>
          </a:p>
          <a:p>
            <a:r>
              <a:t>любой, кто когда-нибудь распределял дефицитное время команды между задачами.</a:t>
            </a:r>
          </a:p>
          <a:p/>
          <a:p>
            <a:r>
              <a:t>Отбор, построенный под такую задачу, поднял наверх декларации, которые проверяются</a:t>
            </a:r>
          </a:p>
          <a:p>
            <a:r>
              <a:t>быстрее. Это поведение прямо следует из постановки и никакой загадки не содержит. Загадку</a:t>
            </a:r>
          </a:p>
          <a:p>
            <a:r>
              <a:t>содержит исход: при схожих декларациях чернокожих налогоплательщиков аудировали в 2,9–4,7</a:t>
            </a:r>
          </a:p>
          <a:p>
            <a:r>
              <a:t>раза чаще, и расы во входных данных не было вовсе.</a:t>
            </a:r>
          </a:p>
          <a:p/>
          <a:p>
            <a:r>
              <a:t>Про три карточки стоит сказать сразу, до голосования: верного целиком варианта среди них</a:t>
            </a:r>
          </a:p>
          <a:p>
            <a:r>
              <a:t>нет, поломка лежит в стороне от всех трёх. Поэтому оговорка стоит на самом экране — зал</a:t>
            </a:r>
          </a:p>
          <a:p>
            <a:r>
              <a:t>видит её даже в том случае, если она не будет прочитана вслух. Та же фраза после</a:t>
            </a:r>
          </a:p>
          <a:p>
            <a:r>
              <a:t>голосования читается подвохом: зал собрал три позиции и услышал, что все мимо. До</a:t>
            </a:r>
          </a:p>
          <a:p>
            <a:r>
              <a:t>голосования она превращает вопрос в то, чем он и является: выбрать ближайшее место и</a:t>
            </a:r>
          </a:p>
          <a:p>
            <a:r>
              <a:t>обосновать выбор.</a:t>
            </a:r>
          </a:p>
          <a:p/>
          <a:p>
            <a:r>
              <a:t>Три места на экране — те, куда обычно смотрят первыми. Первое — подменённый признак.</a:t>
            </a:r>
          </a:p>
          <a:p>
            <a:r>
              <a:t>Экраном раньше именно он оказался виноват: удобная величина встала на место нужной и</a:t>
            </a:r>
          </a:p>
          <a:p>
            <a:r>
              <a:t>притащила с собой чужое неравенство. Рука тянется проверить то же самое здесь.</a:t>
            </a:r>
          </a:p>
          <a:p/>
          <a:p>
            <a:r>
              <a:t>Второе — порог отбора. Классификатор выдаёт оценку, человек выбирает отсечку, и отсечка</a:t>
            </a:r>
          </a:p>
          <a:p>
            <a:r>
              <a:t>решает, сколько писем уйдёт. Сдвинуть её — привычный способ починить перекос в доле</a:t>
            </a:r>
          </a:p>
          <a:p>
            <a:r>
              <a:t>срабатываний.</a:t>
            </a:r>
          </a:p>
          <a:p/>
          <a:p>
            <a:r>
              <a:t>Третье — состав данных. Данные собраны на прошлом, прошлое несимметрично, модель</a:t>
            </a:r>
          </a:p>
          <a:p>
            <a:r>
              <a:t>несимметричность впитывает. Это самый общий ответ из трёх, и на многих задачах он</a:t>
            </a:r>
          </a:p>
          <a:p>
            <a:r>
              <a:t>действительно верный: переобучить на выправленной выборке дешевле, чем переделывать</a:t>
            </a:r>
          </a:p>
          <a:p>
            <a:r>
              <a:t>систему.</a:t>
            </a:r>
          </a:p>
          <a:p/>
          <a:p>
            <a:r>
              <a:t>Три места стоит разобрать по очереди, каждое — коротким собственным доводом, вслух. Довод</a:t>
            </a:r>
          </a:p>
          <a:p>
            <a:r>
              <a:t>важнее самого выбора: назвать место можно наугад, обосновать — уже нет, и именно</a:t>
            </a:r>
          </a:p>
          <a:p>
            <a:r>
              <a:t>обоснование проверяется разбором. Полезным этот экран делает расхождение: то, что</a:t>
            </a:r>
          </a:p>
          <a:p>
            <a:r>
              <a:t>прозвучало вслух, и то, что покажет разбор, совпадают здесь редко.</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Ни одно из трёх названных мест не сломано, и поломка лежит выше алгоритма — в том, что</a:t>
            </a:r>
          </a:p>
          <a:p>
            <a:r>
              <a:t>ему велели максимизировать. Схема читается сверху вниз. На верхней ступени стоит цель</a:t>
            </a:r>
          </a:p>
          <a:p>
            <a:r>
              <a:t>отбора: находить больше нарушений при ограниченном числе инспекторских часов, — и помечена</a:t>
            </a:r>
          </a:p>
          <a:p>
            <a:r>
              <a:t>сломанной именно она. Ниже каждый шаг спуска безупречен. Декларации с претензией на EITC в</a:t>
            </a:r>
          </a:p>
          <a:p>
            <a:r>
              <a:t>среднем дешевле и быстрее проверить: короче по объёму документов, менее запутаны, аудитор</a:t>
            </a:r>
          </a:p>
          <a:p>
            <a:r>
              <a:t>закрывает такую проверку быстрее. Отбор под такую цель закономерно смещается к тем, кого</a:t>
            </a:r>
          </a:p>
          <a:p>
            <a:r>
              <a:t>дешевле проверить; значимость нарушения в цель не входила. Среди заявителей EITC</a:t>
            </a:r>
          </a:p>
          <a:p>
            <a:r>
              <a:t>чернокожих больше, чем в среднем по всем декларациям, — состав претендентов на этот вычет</a:t>
            </a:r>
          </a:p>
          <a:p>
            <a:r>
              <a:t>сам отражает более широкое неравенство в распределении доходов. Внизу справа исход:</a:t>
            </a:r>
          </a:p>
          <a:p>
            <a:r>
              <a:t>2,9–4,7 раза, и раса ни на одной ступени спуска не упомянута.</a:t>
            </a:r>
          </a:p>
          <a:p/>
          <a:p>
            <a:r>
              <a:t>Вот разница между двумя кейсами, и она рабочая. Optum сломался на мере: величину назвали</a:t>
            </a:r>
          </a:p>
          <a:p>
            <a:r>
              <a:t>верно и измерили её расходами, то есть плохой линейкой. IRS сломалась на самой величине:</a:t>
            </a:r>
          </a:p>
          <a:p>
            <a:r>
              <a:t>максимизировать велели экономию инспекторских часов. Первую поломку ловит сравнение</a:t>
            </a:r>
          </a:p>
          <a:p>
            <a:r>
              <a:t>признака с прямым измерением — тот самый инструмент, который дал кейс Optum. Вторую не</a:t>
            </a:r>
          </a:p>
          <a:p>
            <a:r>
              <a:t>ловит ни одна проверка модели: проверка сверяет ответ с поставленной целью, а цель</a:t>
            </a:r>
          </a:p>
          <a:p>
            <a:r>
              <a:t>приходит снаружи — её выбирает человек, и выбор этот нигде не тестируется.</a:t>
            </a:r>
          </a:p>
          <a:p/>
          <a:p>
            <a:r>
              <a:t>Теперь по трём названным местам, каждое со своим доводом. Подменённый признак:</a:t>
            </a:r>
          </a:p>
          <a:p>
            <a:r>
              <a:t>классификатор взвешивал два параметра — дешевизну проверки и отношение суммы возврата к</a:t>
            </a:r>
          </a:p>
          <a:p>
            <a:r>
              <a:t>сумме дохода в декларации. Оба читаются по самой декларации: сколько в ней статей дохода и</a:t>
            </a:r>
          </a:p>
          <a:p>
            <a:r>
              <a:t>вычетов, насколько она объёмна, каково соотношение двух сумм. Ни один из них не стоит</a:t>
            </a:r>
          </a:p>
          <a:p>
            <a:r>
              <a:t>вместо величины, которую нельзя измерить напрямую, и сравнивать удобный признак с прямым</a:t>
            </a:r>
          </a:p>
          <a:p>
            <a:r>
              <a:t>измерением здесь нечего.</a:t>
            </a:r>
          </a:p>
          <a:p/>
          <a:p>
            <a:r>
              <a:t>Порог отбора: он задаёт, сколько писем о проверке уйдёт за сезон. Сдвиг порога меняет</a:t>
            </a:r>
          </a:p>
          <a:p>
            <a:r>
              <a:t>объём работы инспекторов, долю по расе он оставляет на месте — перекос сидит в том, кого</a:t>
            </a:r>
          </a:p>
          <a:p>
            <a:r>
              <a:t>отбор поднимает наверх, и отсечка этот порядок не переставляет.</a:t>
            </a:r>
          </a:p>
          <a:p/>
          <a:p>
            <a:r>
              <a:t>Состав данных: расы в данных отбора нет вообще, такого поля декларация не содержит, и в</a:t>
            </a:r>
          </a:p>
          <a:p>
            <a:r>
              <a:t>привязке к декларации налоговая служба его не собирает. Разрыв появился при полном</a:t>
            </a:r>
          </a:p>
          <a:p>
            <a:r>
              <a:t>отсутствии признака, значит, его отсутствием он и не объясняется.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кейса этой ступени показали один и тот же разлом с разных сторон. Почтовый</a:t>
            </a:r>
          </a:p>
          <a:p>
            <a:r>
              <a:t>маршрутизатор берёт ближайший неверный класс на письме, которое не влезает ни в одну</a:t>
            </a:r>
          </a:p>
          <a:p>
            <a:r>
              <a:t>заданную категорию. Алгоритм распределения медицинской помощи выучивает чужое неравенство</a:t>
            </a:r>
          </a:p>
          <a:p>
            <a:r>
              <a:t>через прошлые расходы. Отбор на налоговую проверку выучивает его же через дешевизну</a:t>
            </a:r>
          </a:p>
          <a:p>
            <a:r>
              <a:t>обработки. Из всех трёх складывается граница, и приложить её стоит к</a:t>
            </a:r>
          </a:p>
          <a:p>
            <a:r>
              <a:t>собственной рабочей задаче.</a:t>
            </a:r>
          </a:p>
          <a:p/>
          <a:p>
            <a:r>
              <a:t>Первый вопрос — про список классов. Выписывается ли он заранее целиком, и расходятся ли</a:t>
            </a:r>
          </a:p>
          <a:p>
            <a:r>
              <a:t>классы между собой. Если список открыт или категории перекрываются, вход перестаёт</a:t>
            </a:r>
          </a:p>
          <a:p>
            <a:r>
              <a:t>ложиться в конечный перечень, и маршрут начинает подбирать ближайшее попавшееся.</a:t>
            </a:r>
          </a:p>
          <a:p/>
          <a:p>
            <a:r>
              <a:t>Второй — про форму ответа. Хватает ли одной метки, чтобы определить, что делать дальше.</a:t>
            </a:r>
          </a:p>
          <a:p>
            <a:r>
              <a:t>Там, где ответ зависит от истории переписки и от сочетания нескольких признаков сразу,</a:t>
            </a:r>
          </a:p>
          <a:p>
            <a:r>
              <a:t>одна метка несёт слишком мало, чтобы на ней строить развилку.</a:t>
            </a:r>
          </a:p>
          <a:p/>
          <a:p>
            <a:r>
              <a:t>Третий — про видимость ошибки. Заметна ли она на одном случае. Письмо, попавшее не в тот</a:t>
            </a:r>
          </a:p>
          <a:p>
            <a:r>
              <a:t>ящик, видно сразу. Смещение на двухстах миллионах решений или на миллионах деклараций не</a:t>
            </a:r>
          </a:p>
          <a:p>
            <a:r>
              <a:t>видно вообще, пока кто-то не пересчитал результат по всей популяции. Это и есть предел</a:t>
            </a:r>
          </a:p>
          <a:p>
            <a:r>
              <a:t>маршрутизации как приёма: задачу «выбрать одну из заранее известных веток» она решает</a:t>
            </a:r>
          </a:p>
          <a:p>
            <a:r>
              <a:t>хорошо и систематически пропускает собственную ошибку, когда ошибка размазана по множеству</a:t>
            </a:r>
          </a:p>
          <a:p>
            <a:r>
              <a:t>мелких решений.</a:t>
            </a:r>
          </a:p>
          <a:p/>
          <a:p>
            <a:r>
              <a:t>Четвёртый вопрос добавил налоговый кейс, и он самый дешёвый в применении: какую величину</a:t>
            </a:r>
          </a:p>
          <a:p>
            <a:r>
              <a:t>системе велено максимизировать. Спросить это можно до единой строки кода, по одному</a:t>
            </a:r>
          </a:p>
          <a:p>
            <a:r>
              <a:t>документу с постановкой. Если в цели стоит удобство обработки — скорость, дешевизна,</a:t>
            </a:r>
          </a:p>
          <a:p>
            <a:r>
              <a:t>пропускная способность, — а значимость решения для человека в неё не входит, перекос</a:t>
            </a:r>
          </a:p>
          <a:p>
            <a:r>
              <a:t>появится при любом качестве модели и ни одной проверкой модели пойман не будет.</a:t>
            </a:r>
          </a:p>
          <a:p/>
          <a:p>
            <a:r>
              <a:t>Там, где нужный класс зависит от того, что придёт следующим шагом, список готовых веток</a:t>
            </a:r>
          </a:p>
          <a:p>
            <a:r>
              <a:t>кончается. Дальше идёт один агент, который решает на каждом шаге сам. Это отдельная</a:t>
            </a:r>
          </a:p>
          <a:p>
            <a:r>
              <a:t>ступень курса, и здесь она только названа.</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начале занятия эта лестница стояла пустой: девять ступеней, ни одна не закрыта. Сейчас она та же самая, и три нижние ступени в ней закрыты.</a:t>
            </a:r>
          </a:p>
          <a:p/>
          <a:p>
            <a:r>
              <a:t>Первая — «хватит одного вызова». Части задач достаточно одного обращения к модели и, если нужно, поиска по своим документам; строить вокруг этого процесс не требуется вовсе. Такое встречается чаще, чем кажется, когда уже решено что-нибудь построить.</a:t>
            </a:r>
          </a:p>
          <a:p/>
          <a:p>
            <a:r>
              <a:t>Вторая — цепочка. Одного вызова мало, зато порядок шагов известен заранее: шаги выстраиваются друг за другом, и между ними ставится проверка. Без неё ошибка первого шага молча доезжает до последнего. Сегодня мы видели это дважды, и один раз такая пропущенная проверка стоила компании закрытого направления бизнеса.</a:t>
            </a:r>
          </a:p>
          <a:p/>
          <a:p>
            <a:r>
              <a:t>Третья — маршрут. Заранее неизвестно, какой из нескольких путей подойдёт входящей задаче, и путь выбирает вызов модели. Либо классификатор: он возвращает одну метку без текстового ответа, стоит дешевле и отвечает быстрее — такую модель называют decision-моделью.</a:t>
            </a:r>
          </a:p>
          <a:p/>
          <a:p>
            <a:r>
              <a:t>Закрыли мы эти три ступени шестью кейсами в двух блоках: три кейса в первом, про один вызов и цепочку, и три во втором, про маршрут. Поэтому «кейс А» сегодня звучал дважды — это были разные блоки, а в каждом счёт идёт со своего начала.</a:t>
            </a:r>
          </a:p>
          <a:p/>
          <a:p>
            <a:r>
              <a:t>Выше остаются шесть ступеней: параллельные проверки, переделка по эталону, несколько исполнителей под одним дирижёром, один агент, несколько агентов и обратное решение — выключить автоматизацию там, где ручной процесс справляется лучше. Их берут следующие пять занятий дуги, по одной-две за занятие, и лестница появится снова в той же форме, прочитанная дальше.</a:t>
            </a:r>
          </a:p>
          <a:p/>
          <a:p>
            <a:r>
              <a:t>Главное, что стоит унести с занятия, — порядок вопросов, который можно приложить к своей задаче уже сегодня. Сначала: справится ли один вызов? Если да — на этом и остановиться. Если нет: известен ли порядок шагов заранее? Тогда цепочка, и обязательно проверка между шагами, особенно перед тем шагом, который нельзя отменить. Если порядок зависит от того, что пришло на вход, — маршрут по заранее заданным категориям, и на шаге, где нужна только метка, стоит посчитать, нужен ли там полный вызов модели. Три ступени, три вопроса, и на каждый отвечают до того, как написана первая строка кода.</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Один вызов, цепочка, маршрут</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963924"/>
            <a:ext cx="10515600" cy="539496"/>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Первое занятие дуги про процессы на больших языковых моделях (LLM) поверх агентов, которых вы собирали на С4–С6.</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здесь искусственный интеллект?</a:t>
            </a:r>
          </a:p>
        </p:txBody>
      </p:sp>
      <p:pic>
        <p:nvPicPr>
          <p:cNvPr id="3" name="Picture 2" descr="mostik-n02-pochta-bez-modeli.png"/>
          <p:cNvPicPr>
            <a:picLocks noChangeAspect="1"/>
          </p:cNvPicPr>
          <p:nvPr/>
        </p:nvPicPr>
        <p:blipFill>
          <a:blip r:embed="rId2"/>
          <a:stretch>
            <a:fillRect/>
          </a:stretch>
        </p:blipFill>
        <p:spPr>
          <a:xfrm>
            <a:off x="502920" y="969915"/>
            <a:ext cx="11183112" cy="2003640"/>
          </a:xfrm>
          <a:prstGeom prst="rect">
            <a:avLst/>
          </a:prstGeom>
        </p:spPr>
      </p:pic>
      <p:sp>
        <p:nvSpPr>
          <p:cNvPr id="4" name="Rounded Rectangle 3"/>
          <p:cNvSpPr/>
          <p:nvPr/>
        </p:nvSpPr>
        <p:spPr>
          <a:xfrm>
            <a:off x="502920" y="320454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648" y="320454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 триггере</a:t>
            </a:r>
          </a:p>
        </p:txBody>
      </p:sp>
      <p:sp>
        <p:nvSpPr>
          <p:cNvPr id="6" name="Rounded Rectangle 5"/>
          <p:cNvSpPr/>
          <p:nvPr/>
        </p:nvSpPr>
        <p:spPr>
          <a:xfrm>
            <a:off x="3335274" y="320454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45002" y="320454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 HTTP-запросе</a:t>
            </a:r>
          </a:p>
        </p:txBody>
      </p:sp>
      <p:sp>
        <p:nvSpPr>
          <p:cNvPr id="8" name="Rounded Rectangle 7"/>
          <p:cNvSpPr/>
          <p:nvPr/>
        </p:nvSpPr>
        <p:spPr>
          <a:xfrm>
            <a:off x="6167628" y="320454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77356" y="320454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 самой почте</a:t>
            </a:r>
          </a:p>
        </p:txBody>
      </p:sp>
      <p:sp>
        <p:nvSpPr>
          <p:cNvPr id="10" name="Rounded Rectangle 9"/>
          <p:cNvSpPr/>
          <p:nvPr/>
        </p:nvSpPr>
        <p:spPr>
          <a:xfrm>
            <a:off x="8999982" y="320454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09710" y="320454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нигде</a:t>
            </a:r>
          </a:p>
        </p:txBody>
      </p:sp>
      <p:sp>
        <p:nvSpPr>
          <p:cNvPr id="12" name="Rounded Rectangle 11"/>
          <p:cNvSpPr/>
          <p:nvPr/>
        </p:nvSpPr>
        <p:spPr>
          <a:xfrm>
            <a:off x="502920" y="448709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61511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Ни одному из трёх шагов модель здесь не нужна. Дальше вопрос звучит иначе: какому шагу процесса она нужна, какому хватит правила.</a:t>
            </a:r>
          </a:p>
        </p:txBody>
      </p:sp>
      <p:sp>
        <p:nvSpPr>
          <p:cNvPr id="14" name="Rounded Rectangle 13"/>
          <p:cNvSpPr/>
          <p:nvPr/>
        </p:nvSpPr>
        <p:spPr>
          <a:xfrm>
            <a:off x="502920" y="546484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59286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Во что обойдётся ответить на этот вопрос неверно — поставить модель прямо перед действием, которое уже не отменить?</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Девять ступеней — сегодня три нижние</a:t>
            </a:r>
          </a:p>
        </p:txBody>
      </p:sp>
      <p:pic>
        <p:nvPicPr>
          <p:cNvPr id="3" name="Picture 2" descr="mostik-n03-lestnitsa.png"/>
          <p:cNvPicPr>
            <a:picLocks noChangeAspect="1"/>
          </p:cNvPicPr>
          <p:nvPr/>
        </p:nvPicPr>
        <p:blipFill>
          <a:blip r:embed="rId2"/>
          <a:stretch>
            <a:fillRect/>
          </a:stretch>
        </p:blipFill>
        <p:spPr>
          <a:xfrm>
            <a:off x="617511" y="943356"/>
            <a:ext cx="10953928" cy="3286178"/>
          </a:xfrm>
          <a:prstGeom prst="rect">
            <a:avLst/>
          </a:prstGeom>
        </p:spPr>
      </p:pic>
      <p:sp>
        <p:nvSpPr>
          <p:cNvPr id="4" name="Rounded Rectangle 3"/>
          <p:cNvSpPr/>
          <p:nvPr/>
        </p:nvSpPr>
        <p:spPr>
          <a:xfrm>
            <a:off x="502920" y="4394126"/>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22142"/>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Шесть верхних ступеней берут следующие пять занятий этой же дуги, по одной-две за занятие. Сегодня мы идём по трём нижним двумя блоками: первый — один вызов и цепочка, второй — маршрут. В каждом блоке свои три кейса, А, Б и В, и во втором блоке счёт начинается заново.</a:t>
            </a:r>
          </a:p>
        </p:txBody>
      </p:sp>
      <p:sp>
        <p:nvSpPr>
          <p:cNvPr id="6" name="Rounded Rectangle 5"/>
          <p:cNvSpPr/>
          <p:nvPr/>
        </p:nvSpPr>
        <p:spPr>
          <a:xfrm>
            <a:off x="502920" y="5518076"/>
            <a:ext cx="11183112" cy="806094"/>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5646092"/>
            <a:ext cx="10634472" cy="550062"/>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 какой из девяти ступеней стоит процесс, который вы уже где-то собрали, — и нужна ли ему следующая?</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42260"/>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«Я так и отвечаю: читаю письмо, минуту думаю, печатаю ответ»</a:t>
            </a:r>
          </a:p>
        </p:txBody>
      </p:sp>
      <p:sp>
        <p:nvSpPr>
          <p:cNvPr id="4" name="Rounded Rectangle 3"/>
          <p:cNvSpPr/>
          <p:nvPr/>
        </p:nvSpPr>
        <p:spPr>
          <a:xfrm>
            <a:off x="502920"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А</a:t>
            </a:r>
          </a:p>
        </p:txBody>
      </p:sp>
      <p:sp>
        <p:nvSpPr>
          <p:cNvPr id="6" name="Rounded Rectangle 5"/>
          <p:cNvSpPr/>
          <p:nvPr/>
        </p:nvSpPr>
        <p:spPr>
          <a:xfrm>
            <a:off x="4291584"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Б</a:t>
            </a:r>
          </a:p>
        </p:txBody>
      </p:sp>
      <p:sp>
        <p:nvSpPr>
          <p:cNvPr id="8" name="Rounded Rectangle 7"/>
          <p:cNvSpPr/>
          <p:nvPr/>
        </p:nvSpPr>
        <p:spPr>
          <a:xfrm>
            <a:off x="8080247"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В</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Ответ уже написан. Отправляем?</a:t>
            </a:r>
          </a:p>
        </p:txBody>
      </p:sp>
      <p:sp>
        <p:nvSpPr>
          <p:cNvPr id="3" name="Rounded Rectangle 2"/>
          <p:cNvSpPr/>
          <p:nvPr/>
        </p:nvSpPr>
        <p:spPr>
          <a:xfrm>
            <a:off x="502920" y="943356"/>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В ящике поддержки месяц работает автоответ на базе модели: письмо приходит — в очереди появляется готовый черновик, человеку остаётся нажать «отправить».</a:t>
            </a:r>
          </a:p>
        </p:txBody>
      </p:sp>
      <p:sp>
        <p:nvSpPr>
          <p:cNvPr id="5" name="Rounded Rectangle 4"/>
          <p:cNvSpPr/>
          <p:nvPr/>
        </p:nvSpPr>
        <p:spPr>
          <a:xfrm>
            <a:off x="502920" y="1838960"/>
            <a:ext cx="11183112" cy="1513458"/>
          </a:xfrm>
          <a:prstGeom prst="roundRect">
            <a:avLst>
              <a:gd name="adj" fmla="val 2013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21840"/>
            <a:ext cx="402417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ПИСЬМО, КОТОРОЕ ПРИШЛО УТРОМ</a:t>
            </a:r>
          </a:p>
        </p:txBody>
      </p:sp>
      <p:sp>
        <p:nvSpPr>
          <p:cNvPr id="7" name="TextBox 6"/>
          <p:cNvSpPr txBox="1"/>
          <p:nvPr/>
        </p:nvSpPr>
        <p:spPr>
          <a:xfrm>
            <a:off x="4856275" y="2021840"/>
            <a:ext cx="650057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ЧЕРНОВИК, КОТОРЫЙ ЛЕЖИТ В ОЧЕРЕДИ</a:t>
            </a:r>
          </a:p>
        </p:txBody>
      </p:sp>
      <p:sp>
        <p:nvSpPr>
          <p:cNvPr id="8" name="TextBox 7"/>
          <p:cNvSpPr txBox="1"/>
          <p:nvPr/>
        </p:nvSpPr>
        <p:spPr>
          <a:xfrm>
            <a:off x="685800" y="2303907"/>
            <a:ext cx="4024171"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«Здравствуйте! Заказ № 40118 приехал в раздавленной коробке, у чайника вмятина на корпусе. Прошу вернуть деньги, фотографии прикладываю. Анна»</a:t>
            </a:r>
          </a:p>
        </p:txBody>
      </p:sp>
      <p:sp>
        <p:nvSpPr>
          <p:cNvPr id="9" name="TextBox 8"/>
          <p:cNvSpPr txBox="1"/>
          <p:nvPr/>
        </p:nvSpPr>
        <p:spPr>
          <a:xfrm>
            <a:off x="4856275" y="2303907"/>
            <a:ext cx="6500572"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«Здравствуйте, Анна! Спасибо, что написали нам и приложили фотографии. Нам жаль, что заказ пришёл в таком виде. Мы зарегистрировали ваше обращение и передали его в службу поддержки — специалист свяжется с вами в течение суток. Хорошего дня!»</a:t>
            </a:r>
          </a:p>
        </p:txBody>
      </p:sp>
      <p:sp>
        <p:nvSpPr>
          <p:cNvPr id="10" name="Rounded Rectangle 9"/>
          <p:cNvSpPr/>
          <p:nvPr/>
        </p:nvSpPr>
        <p:spPr>
          <a:xfrm>
            <a:off x="502920" y="3517010"/>
            <a:ext cx="11183112" cy="808084"/>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3645026"/>
            <a:ext cx="10634472" cy="552052"/>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Отправляем клиенту как есть?</a:t>
            </a:r>
          </a:p>
        </p:txBody>
      </p:sp>
      <p:sp>
        <p:nvSpPr>
          <p:cNvPr id="12" name="Rounded Rectangle 11"/>
          <p:cNvSpPr/>
          <p:nvPr/>
        </p:nvSpPr>
        <p:spPr>
          <a:xfrm>
            <a:off x="502920" y="4489687"/>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 y="4489687"/>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отправляем</a:t>
            </a:r>
          </a:p>
        </p:txBody>
      </p:sp>
      <p:sp>
        <p:nvSpPr>
          <p:cNvPr id="14" name="Rounded Rectangle 13"/>
          <p:cNvSpPr/>
          <p:nvPr/>
        </p:nvSpPr>
        <p:spPr>
          <a:xfrm>
            <a:off x="4279392" y="4489687"/>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4489687"/>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не отправляем</a:t>
            </a:r>
          </a:p>
        </p:txBody>
      </p:sp>
      <p:sp>
        <p:nvSpPr>
          <p:cNvPr id="16" name="Rounded Rectangle 15"/>
          <p:cNvSpPr/>
          <p:nvPr/>
        </p:nvSpPr>
        <p:spPr>
          <a:xfrm>
            <a:off x="8055863" y="4489687"/>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65591" y="4489687"/>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сначала правим руками</a:t>
            </a:r>
          </a:p>
        </p:txBody>
      </p:sp>
      <p:sp>
        <p:nvSpPr>
          <p:cNvPr id="18" name="Rounded Rectangle 17"/>
          <p:cNvSpPr/>
          <p:nvPr/>
        </p:nvSpPr>
        <p:spPr>
          <a:xfrm>
            <a:off x="502920" y="5705839"/>
            <a:ext cx="11183112" cy="633984"/>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 y="5842999"/>
            <a:ext cx="10707624" cy="359664"/>
          </a:xfrm>
          <a:prstGeom prst="rect">
            <a:avLst/>
          </a:prstGeom>
          <a:noFill/>
        </p:spPr>
        <p:txBody>
          <a:bodyPr wrap="square" lIns="0" rIns="0" tIns="0" bIns="0" anchor="ctr">
            <a:spAutoFit/>
          </a:bodyPr>
          <a:lstStyle/>
          <a:p>
            <a:pPr algn="l">
              <a:lnSpc>
                <a:spcPts val="1416"/>
              </a:lnSpc>
              <a:spcAft>
                <a:spcPts val="300"/>
              </a:spcAft>
            </a:pPr>
            <a:r>
              <a:rPr sz="1200" b="0" i="1">
                <a:solidFill>
                  <a:srgbClr val="6B7685"/>
                </a:solidFill>
                <a:latin typeface="Arial"/>
              </a:rPr>
              <a:t>Оговорка: магазин, письмо и Анна собраны ради механики приёма. Публичного инцидента за этой сценой нет. Два следующих кейса ступени — Zillow Offers и Octomind — документированные случаи с источниками и цифрами.</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Вежливо, грамотно и без решения</a:t>
            </a:r>
          </a:p>
        </p:txBody>
      </p:sp>
      <p:sp>
        <p:nvSpPr>
          <p:cNvPr id="3" name="Rounded Rectangle 2"/>
          <p:cNvSpPr/>
          <p:nvPr/>
        </p:nvSpPr>
        <p:spPr>
          <a:xfrm>
            <a:off x="502920" y="943356"/>
            <a:ext cx="11183112" cy="1574419"/>
          </a:xfrm>
          <a:prstGeom prst="roundRect">
            <a:avLst>
              <a:gd name="adj" fmla="val 1935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0936" y="1071372"/>
            <a:ext cx="549295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 ОТВЕТЕ ЕСТЬ</a:t>
            </a:r>
          </a:p>
        </p:txBody>
      </p:sp>
      <p:sp>
        <p:nvSpPr>
          <p:cNvPr id="5" name="TextBox 4"/>
          <p:cNvSpPr txBox="1"/>
          <p:nvPr/>
        </p:nvSpPr>
        <p:spPr>
          <a:xfrm>
            <a:off x="6270192" y="1071372"/>
            <a:ext cx="51415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В ОТВЕТЕ НЕТ</a:t>
            </a:r>
          </a:p>
        </p:txBody>
      </p:sp>
      <p:sp>
        <p:nvSpPr>
          <p:cNvPr id="6" name="TextBox 5"/>
          <p:cNvSpPr txBox="1"/>
          <p:nvPr/>
        </p:nvSpPr>
        <p:spPr>
          <a:xfrm>
            <a:off x="630936" y="1353439"/>
            <a:ext cx="5492952" cy="259080"/>
          </a:xfrm>
          <a:prstGeom prst="rect">
            <a:avLst/>
          </a:prstGeom>
          <a:noFill/>
        </p:spPr>
        <p:txBody>
          <a:bodyPr wrap="square" lIns="0" rIns="0" tIns="0" bIns="0" anchor="ctr">
            <a:spAutoFit/>
          </a:bodyPr>
          <a:lstStyle/>
          <a:p>
            <a:pPr algn="l">
              <a:lnSpc>
                <a:spcPts val="1248"/>
              </a:lnSpc>
              <a:spcAft>
                <a:spcPts val="0"/>
              </a:spcAft>
            </a:pPr>
            <a:r>
              <a:rPr sz="1200" b="0" i="0">
                <a:solidFill>
                  <a:srgbClr val="141B2E"/>
                </a:solidFill>
                <a:latin typeface="Arial"/>
              </a:rPr>
              <a:t>обращение по имени и благодарность за фотографии</a:t>
            </a:r>
          </a:p>
        </p:txBody>
      </p:sp>
      <p:sp>
        <p:nvSpPr>
          <p:cNvPr id="7" name="TextBox 6"/>
          <p:cNvSpPr txBox="1"/>
          <p:nvPr/>
        </p:nvSpPr>
        <p:spPr>
          <a:xfrm>
            <a:off x="6270192" y="1353439"/>
            <a:ext cx="5141519" cy="259080"/>
          </a:xfrm>
          <a:prstGeom prst="rect">
            <a:avLst/>
          </a:prstGeom>
          <a:noFill/>
        </p:spPr>
        <p:txBody>
          <a:bodyPr wrap="square" lIns="0" rIns="0" tIns="0" bIns="0" anchor="ctr">
            <a:spAutoFit/>
          </a:bodyPr>
          <a:lstStyle/>
          <a:p>
            <a:pPr algn="l">
              <a:lnSpc>
                <a:spcPts val="1248"/>
              </a:lnSpc>
              <a:spcAft>
                <a:spcPts val="0"/>
              </a:spcAft>
            </a:pPr>
            <a:r>
              <a:rPr sz="1200" b="1" i="0">
                <a:solidFill>
                  <a:srgbClr val="141B2E"/>
                </a:solidFill>
                <a:latin typeface="Arial"/>
              </a:rPr>
              <a:t>слова «возврат» — ни одного раза</a:t>
            </a:r>
          </a:p>
        </p:txBody>
      </p:sp>
      <p:cxnSp>
        <p:nvCxnSpPr>
          <p:cNvPr id="8" name="Connector 7"/>
          <p:cNvCxnSpPr/>
          <p:nvPr/>
        </p:nvCxnSpPr>
        <p:spPr>
          <a:xfrm>
            <a:off x="630936" y="1612519"/>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30936" y="1612519"/>
            <a:ext cx="5492952" cy="259080"/>
          </a:xfrm>
          <a:prstGeom prst="rect">
            <a:avLst/>
          </a:prstGeom>
          <a:noFill/>
        </p:spPr>
        <p:txBody>
          <a:bodyPr wrap="square" lIns="0" rIns="0" tIns="0" bIns="0" anchor="ctr">
            <a:spAutoFit/>
          </a:bodyPr>
          <a:lstStyle/>
          <a:p>
            <a:pPr algn="l">
              <a:lnSpc>
                <a:spcPts val="1248"/>
              </a:lnSpc>
              <a:spcAft>
                <a:spcPts val="0"/>
              </a:spcAft>
            </a:pPr>
            <a:r>
              <a:rPr sz="1200" b="0" i="0">
                <a:solidFill>
                  <a:srgbClr val="141B2E"/>
                </a:solidFill>
                <a:latin typeface="Arial"/>
              </a:rPr>
              <a:t>сожаление о том, что заказ пришёл испорченным</a:t>
            </a:r>
          </a:p>
        </p:txBody>
      </p:sp>
      <p:sp>
        <p:nvSpPr>
          <p:cNvPr id="10" name="TextBox 9"/>
          <p:cNvSpPr txBox="1"/>
          <p:nvPr/>
        </p:nvSpPr>
        <p:spPr>
          <a:xfrm>
            <a:off x="6270192" y="1612519"/>
            <a:ext cx="5141519" cy="259080"/>
          </a:xfrm>
          <a:prstGeom prst="rect">
            <a:avLst/>
          </a:prstGeom>
          <a:noFill/>
        </p:spPr>
        <p:txBody>
          <a:bodyPr wrap="square" lIns="0" rIns="0" tIns="0" bIns="0" anchor="ctr">
            <a:spAutoFit/>
          </a:bodyPr>
          <a:lstStyle/>
          <a:p>
            <a:pPr algn="l">
              <a:lnSpc>
                <a:spcPts val="1248"/>
              </a:lnSpc>
              <a:spcAft>
                <a:spcPts val="0"/>
              </a:spcAft>
            </a:pPr>
            <a:r>
              <a:rPr sz="1200" b="1" i="0">
                <a:solidFill>
                  <a:srgbClr val="141B2E"/>
                </a:solidFill>
                <a:latin typeface="Arial"/>
              </a:rPr>
              <a:t>решения о деньгах: вернём или откажем</a:t>
            </a:r>
          </a:p>
        </p:txBody>
      </p:sp>
      <p:cxnSp>
        <p:nvCxnSpPr>
          <p:cNvPr id="11" name="Connector 10"/>
          <p:cNvCxnSpPr/>
          <p:nvPr/>
        </p:nvCxnSpPr>
        <p:spPr>
          <a:xfrm>
            <a:off x="630936" y="1871599"/>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30936" y="1871599"/>
            <a:ext cx="5492952" cy="259080"/>
          </a:xfrm>
          <a:prstGeom prst="rect">
            <a:avLst/>
          </a:prstGeom>
          <a:noFill/>
        </p:spPr>
        <p:txBody>
          <a:bodyPr wrap="square" lIns="0" rIns="0" tIns="0" bIns="0" anchor="ctr">
            <a:spAutoFit/>
          </a:bodyPr>
          <a:lstStyle/>
          <a:p>
            <a:pPr algn="l">
              <a:lnSpc>
                <a:spcPts val="1248"/>
              </a:lnSpc>
              <a:spcAft>
                <a:spcPts val="0"/>
              </a:spcAft>
            </a:pPr>
            <a:r>
              <a:rPr sz="1200" b="0" i="0">
                <a:solidFill>
                  <a:srgbClr val="141B2E"/>
                </a:solidFill>
                <a:latin typeface="Arial"/>
              </a:rPr>
              <a:t>обещание, что специалист свяжется в течение суток</a:t>
            </a:r>
          </a:p>
        </p:txBody>
      </p:sp>
      <p:sp>
        <p:nvSpPr>
          <p:cNvPr id="13" name="TextBox 12"/>
          <p:cNvSpPr txBox="1"/>
          <p:nvPr/>
        </p:nvSpPr>
        <p:spPr>
          <a:xfrm>
            <a:off x="6270192" y="1871599"/>
            <a:ext cx="5141519" cy="259080"/>
          </a:xfrm>
          <a:prstGeom prst="rect">
            <a:avLst/>
          </a:prstGeom>
          <a:noFill/>
        </p:spPr>
        <p:txBody>
          <a:bodyPr wrap="square" lIns="0" rIns="0" tIns="0" bIns="0" anchor="ctr">
            <a:spAutoFit/>
          </a:bodyPr>
          <a:lstStyle/>
          <a:p>
            <a:pPr algn="l">
              <a:lnSpc>
                <a:spcPts val="1248"/>
              </a:lnSpc>
              <a:spcAft>
                <a:spcPts val="0"/>
              </a:spcAft>
            </a:pPr>
            <a:r>
              <a:rPr sz="1200" b="1" i="0">
                <a:solidFill>
                  <a:srgbClr val="141B2E"/>
                </a:solidFill>
                <a:latin typeface="Arial"/>
              </a:rPr>
              <a:t>срока, в который деньги придут на карту</a:t>
            </a:r>
          </a:p>
        </p:txBody>
      </p:sp>
      <p:cxnSp>
        <p:nvCxnSpPr>
          <p:cNvPr id="14" name="Connector 13"/>
          <p:cNvCxnSpPr/>
          <p:nvPr/>
        </p:nvCxnSpPr>
        <p:spPr>
          <a:xfrm>
            <a:off x="630936" y="2130679"/>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2130679"/>
            <a:ext cx="5492952" cy="259080"/>
          </a:xfrm>
          <a:prstGeom prst="rect">
            <a:avLst/>
          </a:prstGeom>
          <a:noFill/>
        </p:spPr>
        <p:txBody>
          <a:bodyPr wrap="square" lIns="0" rIns="0" tIns="0" bIns="0" anchor="ctr">
            <a:spAutoFit/>
          </a:bodyPr>
          <a:lstStyle/>
          <a:p>
            <a:pPr algn="l">
              <a:lnSpc>
                <a:spcPts val="1248"/>
              </a:lnSpc>
              <a:spcAft>
                <a:spcPts val="0"/>
              </a:spcAft>
            </a:pPr>
            <a:r>
              <a:rPr sz="1200" b="0" i="0">
                <a:solidFill>
                  <a:srgbClr val="141B2E"/>
                </a:solidFill>
                <a:latin typeface="Arial"/>
              </a:rPr>
              <a:t>безупречная грамматика и ровный тон поддержки</a:t>
            </a:r>
          </a:p>
        </p:txBody>
      </p:sp>
      <p:sp>
        <p:nvSpPr>
          <p:cNvPr id="16" name="TextBox 15"/>
          <p:cNvSpPr txBox="1"/>
          <p:nvPr/>
        </p:nvSpPr>
        <p:spPr>
          <a:xfrm>
            <a:off x="6270192" y="2130679"/>
            <a:ext cx="5141519" cy="259080"/>
          </a:xfrm>
          <a:prstGeom prst="rect">
            <a:avLst/>
          </a:prstGeom>
          <a:noFill/>
        </p:spPr>
        <p:txBody>
          <a:bodyPr wrap="square" lIns="0" rIns="0" tIns="0" bIns="0" anchor="ctr">
            <a:spAutoFit/>
          </a:bodyPr>
          <a:lstStyle/>
          <a:p>
            <a:pPr algn="l">
              <a:lnSpc>
                <a:spcPts val="1248"/>
              </a:lnSpc>
              <a:spcAft>
                <a:spcPts val="0"/>
              </a:spcAft>
            </a:pPr>
            <a:r>
              <a:rPr sz="1200" b="1" i="0">
                <a:solidFill>
                  <a:srgbClr val="141B2E"/>
                </a:solidFill>
                <a:latin typeface="Arial"/>
              </a:rPr>
              <a:t>опоры на условия магазина, которые у Анны есть</a:t>
            </a:r>
          </a:p>
        </p:txBody>
      </p:sp>
      <p:sp>
        <p:nvSpPr>
          <p:cNvPr id="17" name="Rounded Rectangle 16"/>
          <p:cNvSpPr/>
          <p:nvPr/>
        </p:nvSpPr>
        <p:spPr>
          <a:xfrm>
            <a:off x="502920" y="2682367"/>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2810383"/>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Условия магазина, раздел «Возврат»:</a:t>
            </a:r>
            <a:r>
              <a:rPr sz="1100" b="1" i="0">
                <a:solidFill>
                  <a:srgbClr val="141B2E"/>
                </a:solidFill>
                <a:latin typeface="Arial"/>
              </a:rPr>
              <a:t> «Повреждение при доставке — возвращаем полную стоимость заказа. Товар забирать не нужно, деньги приходят на карту за 5 рабочих дней. Обратиться можно в течение 14 дней с даты доставки, к обращению приложите фотографии.»</a:t>
            </a:r>
          </a:p>
        </p:txBody>
      </p:sp>
      <p:sp>
        <p:nvSpPr>
          <p:cNvPr id="19" name="Rounded Rectangle 18"/>
          <p:cNvSpPr/>
          <p:nvPr/>
        </p:nvSpPr>
        <p:spPr>
          <a:xfrm>
            <a:off x="502920" y="3467735"/>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595751"/>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Почему письмо получило метку «другое»</a:t>
            </a:r>
          </a:p>
        </p:txBody>
      </p:sp>
      <p:sp>
        <p:nvSpPr>
          <p:cNvPr id="21" name="Rounded Rectangle 20"/>
          <p:cNvSpPr/>
          <p:nvPr/>
        </p:nvSpPr>
        <p:spPr>
          <a:xfrm>
            <a:off x="502920" y="4087749"/>
            <a:ext cx="11183112" cy="1542287"/>
          </a:xfrm>
          <a:prstGeom prst="roundRect">
            <a:avLst>
              <a:gd name="adj" fmla="val 197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4307205"/>
            <a:ext cx="329184" cy="307848"/>
          </a:xfrm>
          <a:prstGeom prst="rect">
            <a:avLst/>
          </a:prstGeom>
          <a:noFill/>
        </p:spPr>
        <p:txBody>
          <a:bodyPr wrap="square" lIns="0" rIns="0" tIns="0" bIns="0" anchor="ctr">
            <a:spAutoFit/>
          </a:bodyPr>
          <a:lstStyle/>
          <a:p>
            <a:pPr algn="l">
              <a:lnSpc>
                <a:spcPts val="1652"/>
              </a:lnSpc>
              <a:spcAft>
                <a:spcPts val="0"/>
              </a:spcAft>
            </a:pPr>
            <a:r>
              <a:rPr sz="1400" b="1" i="0">
                <a:solidFill>
                  <a:srgbClr val="028090"/>
                </a:solidFill>
                <a:latin typeface="Arial"/>
              </a:rPr>
              <a:t>1</a:t>
            </a:r>
          </a:p>
        </p:txBody>
      </p:sp>
      <p:sp>
        <p:nvSpPr>
          <p:cNvPr id="23" name="TextBox 22"/>
          <p:cNvSpPr txBox="1"/>
          <p:nvPr/>
        </p:nvSpPr>
        <p:spPr>
          <a:xfrm>
            <a:off x="1106424" y="4307205"/>
            <a:ext cx="10360152" cy="307848"/>
          </a:xfrm>
          <a:prstGeom prst="rect">
            <a:avLst/>
          </a:prstGeom>
          <a:noFill/>
        </p:spPr>
        <p:txBody>
          <a:bodyPr wrap="square" lIns="0" rIns="0" tIns="0" bIns="0" anchor="ctr">
            <a:spAutoFit/>
          </a:bodyPr>
          <a:lstStyle/>
          <a:p>
            <a:pPr algn="l">
              <a:lnSpc>
                <a:spcPts val="1416"/>
              </a:lnSpc>
              <a:spcAft>
                <a:spcPts val="0"/>
              </a:spcAft>
            </a:pPr>
            <a:r>
              <a:rPr sz="1200" b="0" i="0">
                <a:solidFill>
                  <a:srgbClr val="141B2E"/>
                </a:solidFill>
                <a:latin typeface="Arial"/>
              </a:rPr>
              <a:t>Метка на письмо допускается одна. Весь список — пять строк: </a:t>
            </a:r>
            <a:r>
              <a:rPr sz="1200" b="0" i="0">
                <a:solidFill>
                  <a:srgbClr val="141B2E"/>
                </a:solidFill>
                <a:latin typeface="Consolas"/>
              </a:rPr>
              <a:t>пароль</a:t>
            </a:r>
            <a:r>
              <a:rPr sz="1200" b="0" i="0">
                <a:solidFill>
                  <a:srgbClr val="141B2E"/>
                </a:solidFill>
                <a:latin typeface="Arial"/>
              </a:rPr>
              <a:t>, </a:t>
            </a:r>
            <a:r>
              <a:rPr sz="1200" b="0" i="0">
                <a:solidFill>
                  <a:srgbClr val="141B2E"/>
                </a:solidFill>
                <a:latin typeface="Consolas"/>
              </a:rPr>
              <a:t>статус</a:t>
            </a:r>
            <a:r>
              <a:rPr sz="1200" b="0" i="0">
                <a:solidFill>
                  <a:srgbClr val="141B2E"/>
                </a:solidFill>
                <a:latin typeface="Arial"/>
              </a:rPr>
              <a:t> </a:t>
            </a:r>
            <a:r>
              <a:rPr sz="1200" b="0" i="0">
                <a:solidFill>
                  <a:srgbClr val="141B2E"/>
                </a:solidFill>
                <a:latin typeface="Consolas"/>
              </a:rPr>
              <a:t>заказа</a:t>
            </a:r>
            <a:r>
              <a:rPr sz="1200" b="0" i="0">
                <a:solidFill>
                  <a:srgbClr val="141B2E"/>
                </a:solidFill>
                <a:latin typeface="Arial"/>
              </a:rPr>
              <a:t>, </a:t>
            </a:r>
            <a:r>
              <a:rPr sz="1200" b="0" i="0">
                <a:solidFill>
                  <a:srgbClr val="141B2E"/>
                </a:solidFill>
                <a:latin typeface="Consolas"/>
              </a:rPr>
              <a:t>возврат</a:t>
            </a:r>
            <a:r>
              <a:rPr sz="1200" b="0" i="0">
                <a:solidFill>
                  <a:srgbClr val="141B2E"/>
                </a:solidFill>
                <a:latin typeface="Arial"/>
              </a:rPr>
              <a:t>, </a:t>
            </a:r>
            <a:r>
              <a:rPr sz="1200" b="0" i="0">
                <a:solidFill>
                  <a:srgbClr val="141B2E"/>
                </a:solidFill>
                <a:latin typeface="Consolas"/>
              </a:rPr>
              <a:t>жалоба</a:t>
            </a:r>
            <a:r>
              <a:rPr sz="1200" b="0" i="0">
                <a:solidFill>
                  <a:srgbClr val="141B2E"/>
                </a:solidFill>
                <a:latin typeface="Arial"/>
              </a:rPr>
              <a:t>, </a:t>
            </a:r>
            <a:r>
              <a:rPr sz="1200" b="0" i="0">
                <a:solidFill>
                  <a:srgbClr val="141B2E"/>
                </a:solidFill>
                <a:latin typeface="Consolas"/>
              </a:rPr>
              <a:t>другое</a:t>
            </a:r>
            <a:r>
              <a:rPr sz="1200" b="0" i="0">
                <a:solidFill>
                  <a:srgbClr val="141B2E"/>
                </a:solidFill>
                <a:latin typeface="Arial"/>
              </a:rPr>
              <a:t>.</a:t>
            </a:r>
          </a:p>
        </p:txBody>
      </p:sp>
      <p:sp>
        <p:nvSpPr>
          <p:cNvPr id="24" name="TextBox 23"/>
          <p:cNvSpPr txBox="1"/>
          <p:nvPr/>
        </p:nvSpPr>
        <p:spPr>
          <a:xfrm>
            <a:off x="722376" y="4615053"/>
            <a:ext cx="329184" cy="307848"/>
          </a:xfrm>
          <a:prstGeom prst="rect">
            <a:avLst/>
          </a:prstGeom>
          <a:noFill/>
        </p:spPr>
        <p:txBody>
          <a:bodyPr wrap="square" lIns="0" rIns="0" tIns="0" bIns="0" anchor="ctr">
            <a:spAutoFit/>
          </a:bodyPr>
          <a:lstStyle/>
          <a:p>
            <a:pPr algn="l">
              <a:lnSpc>
                <a:spcPts val="1652"/>
              </a:lnSpc>
              <a:spcAft>
                <a:spcPts val="0"/>
              </a:spcAft>
            </a:pPr>
            <a:r>
              <a:rPr sz="1400" b="1" i="0">
                <a:solidFill>
                  <a:srgbClr val="028090"/>
                </a:solidFill>
                <a:latin typeface="Arial"/>
              </a:rPr>
              <a:t>2</a:t>
            </a:r>
          </a:p>
        </p:txBody>
      </p:sp>
      <p:sp>
        <p:nvSpPr>
          <p:cNvPr id="25" name="TextBox 24"/>
          <p:cNvSpPr txBox="1"/>
          <p:nvPr/>
        </p:nvSpPr>
        <p:spPr>
          <a:xfrm>
            <a:off x="1106424" y="4615053"/>
            <a:ext cx="10360152" cy="307848"/>
          </a:xfrm>
          <a:prstGeom prst="rect">
            <a:avLst/>
          </a:prstGeom>
          <a:noFill/>
        </p:spPr>
        <p:txBody>
          <a:bodyPr wrap="square" lIns="0" rIns="0" tIns="0" bIns="0" anchor="ctr">
            <a:spAutoFit/>
          </a:bodyPr>
          <a:lstStyle/>
          <a:p>
            <a:pPr algn="l">
              <a:lnSpc>
                <a:spcPts val="1416"/>
              </a:lnSpc>
              <a:spcAft>
                <a:spcPts val="0"/>
              </a:spcAft>
            </a:pPr>
            <a:r>
              <a:rPr sz="1200" b="0" i="0">
                <a:solidFill>
                  <a:srgbClr val="141B2E"/>
                </a:solidFill>
                <a:latin typeface="Arial"/>
              </a:rPr>
              <a:t>Письмо Анны просит деньги и жалуется на испорченный товар одновременно. Под это подходят сразу две строки списка.</a:t>
            </a:r>
          </a:p>
        </p:txBody>
      </p:sp>
      <p:sp>
        <p:nvSpPr>
          <p:cNvPr id="26" name="TextBox 25"/>
          <p:cNvSpPr txBox="1"/>
          <p:nvPr/>
        </p:nvSpPr>
        <p:spPr>
          <a:xfrm>
            <a:off x="722376" y="4922901"/>
            <a:ext cx="329184" cy="487680"/>
          </a:xfrm>
          <a:prstGeom prst="rect">
            <a:avLst/>
          </a:prstGeom>
          <a:noFill/>
        </p:spPr>
        <p:txBody>
          <a:bodyPr wrap="square" lIns="0" rIns="0" tIns="0" bIns="0" anchor="ctr">
            <a:spAutoFit/>
          </a:bodyPr>
          <a:lstStyle/>
          <a:p>
            <a:pPr algn="l">
              <a:lnSpc>
                <a:spcPts val="1652"/>
              </a:lnSpc>
              <a:spcAft>
                <a:spcPts val="0"/>
              </a:spcAft>
            </a:pPr>
            <a:r>
              <a:rPr sz="1400" b="1" i="0">
                <a:solidFill>
                  <a:srgbClr val="028090"/>
                </a:solidFill>
                <a:latin typeface="Arial"/>
              </a:rPr>
              <a:t>3</a:t>
            </a:r>
          </a:p>
        </p:txBody>
      </p:sp>
      <p:sp>
        <p:nvSpPr>
          <p:cNvPr id="27" name="TextBox 26"/>
          <p:cNvSpPr txBox="1"/>
          <p:nvPr/>
        </p:nvSpPr>
        <p:spPr>
          <a:xfrm>
            <a:off x="1106424" y="4922901"/>
            <a:ext cx="10360152" cy="487680"/>
          </a:xfrm>
          <a:prstGeom prst="rect">
            <a:avLst/>
          </a:prstGeom>
          <a:noFill/>
        </p:spPr>
        <p:txBody>
          <a:bodyPr wrap="square" lIns="0" rIns="0" tIns="0" bIns="0" anchor="ctr">
            <a:spAutoFit/>
          </a:bodyPr>
          <a:lstStyle/>
          <a:p>
            <a:pPr algn="l">
              <a:lnSpc>
                <a:spcPts val="1416"/>
              </a:lnSpc>
              <a:spcAft>
                <a:spcPts val="0"/>
              </a:spcAft>
            </a:pPr>
            <a:r>
              <a:rPr sz="1200" b="0" i="0">
                <a:solidFill>
                  <a:srgbClr val="141B2E"/>
                </a:solidFill>
                <a:latin typeface="Arial"/>
              </a:rPr>
              <a:t>В инструкции первого шага метка </a:t>
            </a:r>
            <a:r>
              <a:rPr sz="1200" b="0" i="0">
                <a:solidFill>
                  <a:srgbClr val="141B2E"/>
                </a:solidFill>
                <a:latin typeface="Consolas"/>
              </a:rPr>
              <a:t>возврат</a:t>
            </a:r>
            <a:r>
              <a:rPr sz="1200" b="0" i="0">
                <a:solidFill>
                  <a:srgbClr val="141B2E"/>
                </a:solidFill>
                <a:latin typeface="Arial"/>
              </a:rPr>
              <a:t> описана как «клиент хочет оформить возврат купленного товара». Про повреждение при доставке там нет ничего, и письмо падает в последнюю строку, которая собирает всё остальное.</a:t>
            </a:r>
          </a:p>
        </p:txBody>
      </p:sp>
      <p:sp>
        <p:nvSpPr>
          <p:cNvPr id="28" name="Rounded Rectangle 27"/>
          <p:cNvSpPr/>
          <p:nvPr/>
        </p:nvSpPr>
        <p:spPr>
          <a:xfrm>
            <a:off x="502920" y="5794629"/>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922645"/>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У Анны есть право на возврат, и ответ магазина об этом праве молчит.</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Workflow и агент различаются одним: кто выбирает следующий шаг</a:t>
            </a:r>
          </a:p>
        </p:txBody>
      </p:sp>
      <p:sp>
        <p:nvSpPr>
          <p:cNvPr id="3" name="Rounded Rectangle 2"/>
          <p:cNvSpPr/>
          <p:nvPr/>
        </p:nvSpPr>
        <p:spPr>
          <a:xfrm>
            <a:off x="502920" y="1862429"/>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45309"/>
            <a:ext cx="55543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ЗАПИСАН В КОДЕ ЗАРАНЕЕ</a:t>
            </a:r>
          </a:p>
        </p:txBody>
      </p:sp>
      <p:sp>
        <p:nvSpPr>
          <p:cNvPr id="5" name="TextBox 4"/>
          <p:cNvSpPr txBox="1"/>
          <p:nvPr/>
        </p:nvSpPr>
        <p:spPr>
          <a:xfrm>
            <a:off x="6386414" y="2045309"/>
            <a:ext cx="49704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ВЫБИРАЕТ МОДЕЛЬ НА КАЖДОМ ШАГЕ</a:t>
            </a:r>
          </a:p>
        </p:txBody>
      </p:sp>
      <p:sp>
        <p:nvSpPr>
          <p:cNvPr id="6" name="TextBox 5"/>
          <p:cNvSpPr txBox="1"/>
          <p:nvPr/>
        </p:nvSpPr>
        <p:spPr>
          <a:xfrm>
            <a:off x="685800" y="2327376"/>
            <a:ext cx="55543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классифицировать письмо → проверить метку → написать черновик → показать человеку, всегда в этом порядке</a:t>
            </a:r>
          </a:p>
        </p:txBody>
      </p:sp>
      <p:sp>
        <p:nvSpPr>
          <p:cNvPr id="7" name="TextBox 6"/>
          <p:cNvSpPr txBox="1"/>
          <p:nvPr/>
        </p:nvSpPr>
        <p:spPr>
          <a:xfrm>
            <a:off x="6386414" y="2327376"/>
            <a:ext cx="49704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кодинг-агент с С4–С6: сколько шагов и в каком порядке, заранее неизвестно</a:t>
            </a:r>
          </a:p>
        </p:txBody>
      </p:sp>
      <p:cxnSp>
        <p:nvCxnSpPr>
          <p:cNvPr id="8" name="Connector 7"/>
          <p:cNvCxnSpPr/>
          <p:nvPr/>
        </p:nvCxnSpPr>
        <p:spPr>
          <a:xfrm>
            <a:off x="685800" y="28570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857093"/>
            <a:ext cx="55543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такую конструкцию принято называть workflow — рабочий поток</a:t>
            </a:r>
          </a:p>
        </p:txBody>
      </p:sp>
      <p:sp>
        <p:nvSpPr>
          <p:cNvPr id="10" name="TextBox 9"/>
          <p:cNvSpPr txBox="1"/>
          <p:nvPr/>
        </p:nvSpPr>
        <p:spPr>
          <a:xfrm>
            <a:off x="6386414" y="2857093"/>
            <a:ext cx="49704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такую конструкцию принято называть агентом; на С4–С6 собирали именно её</a:t>
            </a:r>
          </a:p>
        </p:txBody>
      </p:sp>
      <p:cxnSp>
        <p:nvCxnSpPr>
          <p:cNvPr id="11" name="Connector 10"/>
          <p:cNvCxnSpPr/>
          <p:nvPr/>
        </p:nvCxnSpPr>
        <p:spPr>
          <a:xfrm>
            <a:off x="685800" y="33868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386810"/>
            <a:ext cx="55543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покупается предсказуемость: каждый шаг виден, каждый проверяем, каждый можно показать</a:t>
            </a:r>
          </a:p>
        </p:txBody>
      </p:sp>
      <p:sp>
        <p:nvSpPr>
          <p:cNvPr id="13" name="TextBox 12"/>
          <p:cNvSpPr txBox="1"/>
          <p:nvPr/>
        </p:nvSpPr>
        <p:spPr>
          <a:xfrm>
            <a:off x="6386414" y="3386810"/>
            <a:ext cx="49704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покупается гибкость: она нужна задаче, чей путь списком не выписывается</a:t>
            </a:r>
          </a:p>
        </p:txBody>
      </p:sp>
      <p:sp>
        <p:nvSpPr>
          <p:cNvPr id="14" name="Rounded Rectangle 13"/>
          <p:cNvSpPr/>
          <p:nvPr/>
        </p:nvSpPr>
        <p:spPr>
          <a:xfrm>
            <a:off x="502920" y="476691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89493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Для письма в поддержку путь известен заранее: классифицировать, написать черновик, показать человеку. Гибкость здесь покупать не на что.</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стоит между шагами и ничего не стоит</a:t>
            </a:r>
          </a:p>
        </p:txBody>
      </p:sp>
      <p:pic>
        <p:nvPicPr>
          <p:cNvPr id="3" name="Picture 2" descr="c1-graf-tsepochki.png"/>
          <p:cNvPicPr>
            <a:picLocks noChangeAspect="1"/>
          </p:cNvPicPr>
          <p:nvPr/>
        </p:nvPicPr>
        <p:blipFill>
          <a:blip r:embed="rId2"/>
          <a:stretch>
            <a:fillRect/>
          </a:stretch>
        </p:blipFill>
        <p:spPr>
          <a:xfrm>
            <a:off x="582434" y="943356"/>
            <a:ext cx="11024082" cy="3582826"/>
          </a:xfrm>
          <a:prstGeom prst="rect">
            <a:avLst/>
          </a:prstGeom>
        </p:spPr>
      </p:pic>
      <p:sp>
        <p:nvSpPr>
          <p:cNvPr id="4" name="Rounded Rectangle 3"/>
          <p:cNvSpPr/>
          <p:nvPr/>
        </p:nvSpPr>
        <p:spPr>
          <a:xfrm>
            <a:off x="502920" y="4690774"/>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818790"/>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Ромб сравнивает одно: метка либо в списке разрешённых, либо нет. Если нет — письмо целиком уходит человеку, и он разбирает его сам. Это одна строка кода без вызова модели, без базы знаний и без секунды ожидания.</a:t>
            </a:r>
          </a:p>
        </p:txBody>
      </p:sp>
      <p:sp>
        <p:nvSpPr>
          <p:cNvPr id="6" name="Rounded Rectangle 5"/>
          <p:cNvSpPr/>
          <p:nvPr/>
        </p:nvSpPr>
        <p:spPr>
          <a:xfrm>
            <a:off x="502920" y="5814724"/>
            <a:ext cx="82296" cy="50266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942740"/>
            <a:ext cx="10643616" cy="246633"/>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Ромб — самая дешёвая часть цепочки и единственная, которая ловит ошибку первого шага.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Тот же граф, ромб снят</a:t>
            </a:r>
          </a:p>
        </p:txBody>
      </p:sp>
      <p:pic>
        <p:nvPicPr>
          <p:cNvPr id="3" name="Picture 2" descr="c1-graf-pogasshiy-romb.png"/>
          <p:cNvPicPr>
            <a:picLocks noChangeAspect="1"/>
          </p:cNvPicPr>
          <p:nvPr/>
        </p:nvPicPr>
        <p:blipFill>
          <a:blip r:embed="rId2"/>
          <a:stretch>
            <a:fillRect/>
          </a:stretch>
        </p:blipFill>
        <p:spPr>
          <a:xfrm>
            <a:off x="1574188" y="943356"/>
            <a:ext cx="9040574" cy="2938186"/>
          </a:xfrm>
          <a:prstGeom prst="rect">
            <a:avLst/>
          </a:prstGeom>
        </p:spPr>
      </p:pic>
      <p:sp>
        <p:nvSpPr>
          <p:cNvPr id="4" name="Rounded Rectangle 3"/>
          <p:cNvSpPr/>
          <p:nvPr/>
        </p:nvSpPr>
        <p:spPr>
          <a:xfrm>
            <a:off x="502920" y="4046134"/>
            <a:ext cx="11183112" cy="1502664"/>
          </a:xfrm>
          <a:prstGeom prst="roundRect">
            <a:avLst>
              <a:gd name="adj" fmla="val 2028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201582"/>
            <a:ext cx="4553194"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ЧЕРНОВИК, КОТОРЫЙ ОДОБРИЛИ В НАЧАЛЕ КЕЙСА</a:t>
            </a:r>
          </a:p>
        </p:txBody>
      </p:sp>
      <p:sp>
        <p:nvSpPr>
          <p:cNvPr id="6" name="TextBox 5"/>
          <p:cNvSpPr txBox="1"/>
          <p:nvPr/>
        </p:nvSpPr>
        <p:spPr>
          <a:xfrm>
            <a:off x="5357866" y="4201582"/>
            <a:ext cx="6026413"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ЧЕРНОВИК ПО МЕТКЕ </a:t>
            </a:r>
            <a:r>
              <a:rPr sz="950" b="1" i="0">
                <a:solidFill>
                  <a:srgbClr val="6B7685"/>
                </a:solidFill>
                <a:latin typeface="Consolas"/>
              </a:rPr>
              <a:t>ВОЗВРАТ</a:t>
            </a:r>
          </a:p>
        </p:txBody>
      </p:sp>
      <p:sp>
        <p:nvSpPr>
          <p:cNvPr id="7" name="TextBox 6"/>
          <p:cNvSpPr txBox="1"/>
          <p:nvPr/>
        </p:nvSpPr>
        <p:spPr>
          <a:xfrm>
            <a:off x="658368" y="4453677"/>
            <a:ext cx="4553194"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«...передали ваше обращение, специалист свяжется в течение суток»</a:t>
            </a:r>
          </a:p>
        </p:txBody>
      </p:sp>
      <p:sp>
        <p:nvSpPr>
          <p:cNvPr id="8" name="TextBox 7"/>
          <p:cNvSpPr txBox="1"/>
          <p:nvPr/>
        </p:nvSpPr>
        <p:spPr>
          <a:xfrm>
            <a:off x="5357866" y="4453677"/>
            <a:ext cx="602641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«Возврат по заказу № 40118 оформлен: при повреждении при доставке мы возвращаем полную стоимость»</a:t>
            </a:r>
          </a:p>
        </p:txBody>
      </p:sp>
      <p:cxnSp>
        <p:nvCxnSpPr>
          <p:cNvPr id="9" name="Connector 8"/>
          <p:cNvCxnSpPr/>
          <p:nvPr/>
        </p:nvCxnSpPr>
        <p:spPr>
          <a:xfrm>
            <a:off x="658368" y="484471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4844710"/>
            <a:ext cx="4553194" cy="27432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вежливо, грамотно, уверенно</a:t>
            </a:r>
          </a:p>
        </p:txBody>
      </p:sp>
      <p:sp>
        <p:nvSpPr>
          <p:cNvPr id="11" name="TextBox 10"/>
          <p:cNvSpPr txBox="1"/>
          <p:nvPr/>
        </p:nvSpPr>
        <p:spPr>
          <a:xfrm>
            <a:off x="5357866" y="4844710"/>
            <a:ext cx="6026413" cy="27432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вежливо, грамотно, уверенно</a:t>
            </a:r>
          </a:p>
        </p:txBody>
      </p:sp>
      <p:cxnSp>
        <p:nvCxnSpPr>
          <p:cNvPr id="12" name="Connector 11"/>
          <p:cNvCxnSpPr/>
          <p:nvPr/>
        </p:nvCxnSpPr>
        <p:spPr>
          <a:xfrm>
            <a:off x="658368" y="511903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5119030"/>
            <a:ext cx="4553194" cy="27432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про деньги — ни слова</a:t>
            </a:r>
          </a:p>
        </p:txBody>
      </p:sp>
      <p:sp>
        <p:nvSpPr>
          <p:cNvPr id="14" name="TextBox 13"/>
          <p:cNvSpPr txBox="1"/>
          <p:nvPr/>
        </p:nvSpPr>
        <p:spPr>
          <a:xfrm>
            <a:off x="5357866" y="5119030"/>
            <a:ext cx="6026413" cy="27432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деньги на карту за 5 рабочих дней, товар забирать не нужно</a:t>
            </a:r>
          </a:p>
        </p:txBody>
      </p:sp>
      <p:sp>
        <p:nvSpPr>
          <p:cNvPr id="15" name="Rounded Rectangle 14"/>
          <p:cNvSpPr/>
          <p:nvPr/>
        </p:nvSpPr>
        <p:spPr>
          <a:xfrm>
            <a:off x="502920" y="5713390"/>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841406"/>
            <a:ext cx="10643616" cy="215137"/>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Разницу между этими текстами видит тот, кто помнит условия магазина. Очередь из ста черновиков за смену её не видит.</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Последняя строка списка классов решает, какой приём нужен</a:t>
            </a:r>
          </a:p>
        </p:txBody>
      </p:sp>
      <p:sp>
        <p:nvSpPr>
          <p:cNvPr id="3" name="Rounded Rectangle 2"/>
          <p:cNvSpPr/>
          <p:nvPr/>
        </p:nvSpPr>
        <p:spPr>
          <a:xfrm>
            <a:off x="502920" y="1589074"/>
            <a:ext cx="11183112" cy="1429893"/>
          </a:xfrm>
          <a:prstGeom prst="roundRect">
            <a:avLst>
              <a:gd name="adj" fmla="val 2131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808530"/>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808530"/>
            <a:ext cx="10360152" cy="330327"/>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Список кончился</a:t>
            </a:r>
            <a:r>
              <a:rPr sz="1350" b="0" i="0">
                <a:solidFill>
                  <a:srgbClr val="141B2E"/>
                </a:solidFill>
                <a:latin typeface="Arial"/>
              </a:rPr>
              <a:t> → цепочки хватит</a:t>
            </a:r>
          </a:p>
        </p:txBody>
      </p:sp>
      <p:sp>
        <p:nvSpPr>
          <p:cNvPr id="6" name="TextBox 5"/>
          <p:cNvSpPr txBox="1"/>
          <p:nvPr/>
        </p:nvSpPr>
        <p:spPr>
          <a:xfrm>
            <a:off x="722376" y="2138857"/>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138857"/>
            <a:ext cx="10360152" cy="330327"/>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Кончился словом «прочее»</a:t>
            </a:r>
            <a:r>
              <a:rPr sz="1350" b="0" i="0">
                <a:solidFill>
                  <a:srgbClr val="141B2E"/>
                </a:solidFill>
                <a:latin typeface="Arial"/>
              </a:rPr>
              <a:t> → цепочка держит только с ромбом</a:t>
            </a:r>
          </a:p>
        </p:txBody>
      </p:sp>
      <p:sp>
        <p:nvSpPr>
          <p:cNvPr id="8" name="TextBox 7"/>
          <p:cNvSpPr txBox="1"/>
          <p:nvPr/>
        </p:nvSpPr>
        <p:spPr>
          <a:xfrm>
            <a:off x="722376" y="2469184"/>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69184"/>
            <a:ext cx="10360152" cy="330327"/>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Список не кончается</a:t>
            </a:r>
            <a:r>
              <a:rPr sz="1350" b="0" i="0">
                <a:solidFill>
                  <a:srgbClr val="141B2E"/>
                </a:solidFill>
                <a:latin typeface="Arial"/>
              </a:rPr>
              <a:t> → нужен маршрут</a:t>
            </a:r>
          </a:p>
        </p:txBody>
      </p:sp>
      <p:sp>
        <p:nvSpPr>
          <p:cNvPr id="10" name="Rounded Rectangle 9"/>
          <p:cNvSpPr/>
          <p:nvPr/>
        </p:nvSpPr>
        <p:spPr>
          <a:xfrm>
            <a:off x="502920" y="368647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81449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Слово «прочее» в списке классов — это место, где ошибка первого шага выходит наружу в виде гладкого ответа.</a:t>
            </a:r>
          </a:p>
        </p:txBody>
      </p:sp>
      <p:sp>
        <p:nvSpPr>
          <p:cNvPr id="12" name="Rounded Rectangle 11"/>
          <p:cNvSpPr/>
          <p:nvPr/>
        </p:nvSpPr>
        <p:spPr>
          <a:xfrm>
            <a:off x="502920" y="5100751"/>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228767"/>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Возьмите задачу со своей работы, где текст превращается в действие. Сколько строк в вашем списке классов — и стоит ли в нём «прочее»?</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42260"/>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«Эта цифра стояла на сайте Zillow годами. В 2018-м её подключили к покупке домов»</a:t>
            </a:r>
          </a:p>
        </p:txBody>
      </p:sp>
      <p:sp>
        <p:nvSpPr>
          <p:cNvPr id="4" name="Rounded Rectangle 3"/>
          <p:cNvSpPr/>
          <p:nvPr/>
        </p:nvSpPr>
        <p:spPr>
          <a:xfrm>
            <a:off x="502920"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А</a:t>
            </a:r>
          </a:p>
        </p:txBody>
      </p:sp>
      <p:sp>
        <p:nvSpPr>
          <p:cNvPr id="6" name="Rounded Rectangle 5"/>
          <p:cNvSpPr/>
          <p:nvPr/>
        </p:nvSpPr>
        <p:spPr>
          <a:xfrm>
            <a:off x="4291584"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Б</a:t>
            </a:r>
          </a:p>
        </p:txBody>
      </p:sp>
      <p:sp>
        <p:nvSpPr>
          <p:cNvPr id="8" name="Rounded Rectangle 7"/>
          <p:cNvSpPr/>
          <p:nvPr/>
        </p:nvSpPr>
        <p:spPr>
          <a:xfrm>
            <a:off x="8080247"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В</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Zestimate работает и сегодня. Сломалось то, к чему его подключили</a:t>
            </a:r>
          </a:p>
        </p:txBody>
      </p:sp>
      <p:pic>
        <p:nvPicPr>
          <p:cNvPr id="3" name="Picture 2" descr="zillow-n11-dve-tsepochki.png"/>
          <p:cNvPicPr>
            <a:picLocks noChangeAspect="1"/>
          </p:cNvPicPr>
          <p:nvPr/>
        </p:nvPicPr>
        <p:blipFill>
          <a:blip r:embed="rId2"/>
          <a:stretch>
            <a:fillRect/>
          </a:stretch>
        </p:blipFill>
        <p:spPr>
          <a:xfrm>
            <a:off x="635831" y="1319784"/>
            <a:ext cx="10917289" cy="3316126"/>
          </a:xfrm>
          <a:prstGeom prst="rect">
            <a:avLst/>
          </a:prstGeom>
        </p:spPr>
      </p:pic>
      <p:sp>
        <p:nvSpPr>
          <p:cNvPr id="4" name="Rounded Rectangle 3"/>
          <p:cNvSpPr/>
          <p:nvPr/>
        </p:nvSpPr>
        <p:spPr>
          <a:xfrm>
            <a:off x="502920" y="4800502"/>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928518"/>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Между оценкой и обязательством остановки в этой цепочке не срабатывало: ни на отдельной сделке, ни на темпе закупок, пока росла ошибка прогноза.</a:t>
            </a:r>
          </a:p>
        </p:txBody>
      </p:sp>
      <p:sp>
        <p:nvSpPr>
          <p:cNvPr id="6" name="Rounded Rectangle 5"/>
          <p:cNvSpPr/>
          <p:nvPr/>
        </p:nvSpPr>
        <p:spPr>
          <a:xfrm>
            <a:off x="502920" y="5680358"/>
            <a:ext cx="11183112" cy="618997"/>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5817518"/>
            <a:ext cx="10707624" cy="344677"/>
          </a:xfrm>
          <a:prstGeom prst="rect">
            <a:avLst/>
          </a:prstGeom>
          <a:noFill/>
        </p:spPr>
        <p:txBody>
          <a:bodyPr wrap="square" lIns="0" rIns="0" tIns="0" bIns="0" anchor="ctr">
            <a:spAutoFit/>
          </a:bodyPr>
          <a:lstStyle/>
          <a:p>
            <a:pPr algn="l">
              <a:lnSpc>
                <a:spcPts val="1356"/>
              </a:lnSpc>
              <a:spcAft>
                <a:spcPts val="300"/>
              </a:spcAft>
            </a:pPr>
            <a:r>
              <a:rPr sz="1150" b="0" i="1">
                <a:solidFill>
                  <a:srgbClr val="6B7685"/>
                </a:solidFill>
                <a:latin typeface="Arial"/>
              </a:rPr>
              <a:t>Оговорка: так цепочку описывают CNN (9 ноября 2021), Fortune (3 ноября 2021, разбор аналитиков Bank of America) и годовой отчёт Zillow — форма 10-K; внутренние регламенты компании в них не разбираются.</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Zillow закрыла бизнес выкупа домов и уволила четверть штата</a:t>
            </a:r>
          </a:p>
        </p:txBody>
      </p:sp>
      <p:sp>
        <p:nvSpPr>
          <p:cNvPr id="3" name="Rounded Rectangle 2"/>
          <p:cNvSpPr/>
          <p:nvPr/>
        </p:nvSpPr>
        <p:spPr>
          <a:xfrm>
            <a:off x="502920" y="1319784"/>
            <a:ext cx="11183112" cy="3318319"/>
          </a:xfrm>
          <a:prstGeom prst="roundRect">
            <a:avLst>
              <a:gd name="adj" fmla="val 9185"/>
            </a:avLst>
          </a:prstGeom>
          <a:solidFill>
            <a:srgbClr val="FFFFFF"/>
          </a:solidFill>
          <a:ln w="1778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11224"/>
            <a:ext cx="68580" cy="3135439"/>
          </a:xfrm>
          <a:prstGeom prst="roundRect">
            <a:avLst>
              <a:gd name="adj" fmla="val 50000"/>
            </a:avLst>
          </a:prstGeom>
          <a:solidFill>
            <a:srgbClr val="8A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02664"/>
            <a:ext cx="858704" cy="282067"/>
          </a:xfrm>
          <a:prstGeom prst="rect">
            <a:avLst/>
          </a:prstGeom>
          <a:noFill/>
        </p:spPr>
        <p:txBody>
          <a:bodyPr wrap="square" lIns="0" rIns="0" tIns="0" bIns="0" anchor="t">
            <a:spAutoFit/>
          </a:bodyPr>
          <a:lstStyle/>
          <a:p>
            <a:pPr algn="l">
              <a:lnSpc>
                <a:spcPts val="1265"/>
              </a:lnSpc>
              <a:spcAft>
                <a:spcPts val="0"/>
              </a:spcAft>
            </a:pPr>
            <a:r>
              <a:rPr sz="1150" b="1" i="0">
                <a:solidFill>
                  <a:srgbClr val="8A6200"/>
                </a:solidFill>
                <a:latin typeface="Arial"/>
              </a:rPr>
              <a:t>ЦИФРА</a:t>
            </a:r>
          </a:p>
        </p:txBody>
      </p:sp>
      <p:sp>
        <p:nvSpPr>
          <p:cNvPr id="6" name="TextBox 5"/>
          <p:cNvSpPr txBox="1"/>
          <p:nvPr/>
        </p:nvSpPr>
        <p:spPr>
          <a:xfrm>
            <a:off x="1690808" y="1502664"/>
            <a:ext cx="9666039" cy="282067"/>
          </a:xfrm>
          <a:prstGeom prst="rect">
            <a:avLst/>
          </a:prstGeom>
          <a:noFill/>
        </p:spPr>
        <p:txBody>
          <a:bodyPr wrap="square" lIns="0" rIns="0" tIns="0" bIns="0" anchor="t">
            <a:spAutoFit/>
          </a:bodyPr>
          <a:lstStyle/>
          <a:p>
            <a:pPr algn="l">
              <a:lnSpc>
                <a:spcPts val="1265"/>
              </a:lnSpc>
              <a:spcAft>
                <a:spcPts val="0"/>
              </a:spcAft>
            </a:pPr>
            <a:r>
              <a:rPr sz="1150" b="1" i="0">
                <a:solidFill>
                  <a:srgbClr val="8A6200"/>
                </a:solidFill>
                <a:latin typeface="Arial"/>
              </a:rPr>
              <a:t>РЯДОМ С ЧЕМ ЕЁ ЧИТАТЬ</a:t>
            </a:r>
          </a:p>
        </p:txBody>
      </p:sp>
      <p:sp>
        <p:nvSpPr>
          <p:cNvPr id="7" name="TextBox 6"/>
          <p:cNvSpPr txBox="1"/>
          <p:nvPr/>
        </p:nvSpPr>
        <p:spPr>
          <a:xfrm>
            <a:off x="685800" y="1784731"/>
            <a:ext cx="858704" cy="500506"/>
          </a:xfrm>
          <a:prstGeom prst="rect">
            <a:avLst/>
          </a:prstGeom>
          <a:noFill/>
        </p:spPr>
        <p:txBody>
          <a:bodyPr wrap="square" lIns="0" rIns="0" tIns="0" bIns="0" anchor="ctr">
            <a:spAutoFit/>
          </a:bodyPr>
          <a:lstStyle/>
          <a:p>
            <a:pPr algn="l">
              <a:lnSpc>
                <a:spcPts val="1322"/>
              </a:lnSpc>
              <a:spcAft>
                <a:spcPts val="0"/>
              </a:spcAft>
            </a:pPr>
            <a:r>
              <a:rPr sz="1150" b="1" i="0">
                <a:solidFill>
                  <a:srgbClr val="141B2E"/>
                </a:solidFill>
                <a:latin typeface="Arial"/>
              </a:rPr>
              <a:t>$304,4 млн</a:t>
            </a:r>
          </a:p>
        </p:txBody>
      </p:sp>
      <p:sp>
        <p:nvSpPr>
          <p:cNvPr id="8" name="TextBox 7"/>
          <p:cNvSpPr txBox="1"/>
          <p:nvPr/>
        </p:nvSpPr>
        <p:spPr>
          <a:xfrm>
            <a:off x="1690808" y="1784731"/>
            <a:ext cx="966603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списание запасов за третий квартал 2021 года: купленные дома стоят дороже, чем их удаётся продать (CNN, 9 ноября 2021)</a:t>
            </a:r>
          </a:p>
        </p:txBody>
      </p:sp>
      <p:cxnSp>
        <p:nvCxnSpPr>
          <p:cNvPr id="9" name="Connector 8"/>
          <p:cNvCxnSpPr/>
          <p:nvPr/>
        </p:nvCxnSpPr>
        <p:spPr>
          <a:xfrm>
            <a:off x="685800" y="2285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285238"/>
            <a:ext cx="858704" cy="500506"/>
          </a:xfrm>
          <a:prstGeom prst="rect">
            <a:avLst/>
          </a:prstGeom>
          <a:noFill/>
        </p:spPr>
        <p:txBody>
          <a:bodyPr wrap="square" lIns="0" rIns="0" tIns="0" bIns="0" anchor="ctr">
            <a:spAutoFit/>
          </a:bodyPr>
          <a:lstStyle/>
          <a:p>
            <a:pPr algn="l">
              <a:lnSpc>
                <a:spcPts val="1322"/>
              </a:lnSpc>
              <a:spcAft>
                <a:spcPts val="0"/>
              </a:spcAft>
            </a:pPr>
            <a:r>
              <a:rPr sz="1150" b="1" i="0">
                <a:solidFill>
                  <a:srgbClr val="141B2E"/>
                </a:solidFill>
                <a:latin typeface="Arial"/>
              </a:rPr>
              <a:t>9680 / 3032</a:t>
            </a:r>
          </a:p>
        </p:txBody>
      </p:sp>
      <p:sp>
        <p:nvSpPr>
          <p:cNvPr id="11" name="TextBox 10"/>
          <p:cNvSpPr txBox="1"/>
          <p:nvPr/>
        </p:nvSpPr>
        <p:spPr>
          <a:xfrm>
            <a:off x="1690808" y="2285238"/>
            <a:ext cx="966603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за тот же квартал куплено 9680 домов, продано 3032; средний убыток около $80 тыс. на дом (GeekWire, ноябрь 2021; форма 10-K)</a:t>
            </a:r>
          </a:p>
        </p:txBody>
      </p:sp>
      <p:cxnSp>
        <p:nvCxnSpPr>
          <p:cNvPr id="12" name="Connector 11"/>
          <p:cNvCxnSpPr/>
          <p:nvPr/>
        </p:nvCxnSpPr>
        <p:spPr>
          <a:xfrm>
            <a:off x="685800" y="27857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85744"/>
            <a:ext cx="858704" cy="500506"/>
          </a:xfrm>
          <a:prstGeom prst="rect">
            <a:avLst/>
          </a:prstGeom>
          <a:noFill/>
        </p:spPr>
        <p:txBody>
          <a:bodyPr wrap="square" lIns="0" rIns="0" tIns="0" bIns="0" anchor="ctr">
            <a:spAutoFit/>
          </a:bodyPr>
          <a:lstStyle/>
          <a:p>
            <a:pPr algn="l">
              <a:lnSpc>
                <a:spcPts val="1322"/>
              </a:lnSpc>
              <a:spcAft>
                <a:spcPts val="0"/>
              </a:spcAft>
            </a:pPr>
            <a:r>
              <a:rPr sz="1150" b="1" i="0">
                <a:solidFill>
                  <a:srgbClr val="141B2E"/>
                </a:solidFill>
                <a:latin typeface="Arial"/>
              </a:rPr>
              <a:t>$407,9 млн</a:t>
            </a:r>
          </a:p>
        </p:txBody>
      </p:sp>
      <p:sp>
        <p:nvSpPr>
          <p:cNvPr id="14" name="TextBox 13"/>
          <p:cNvSpPr txBox="1"/>
          <p:nvPr/>
        </p:nvSpPr>
        <p:spPr>
          <a:xfrm>
            <a:off x="1690808" y="2785744"/>
            <a:ext cx="966603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то же списание по итогам всего 2021 года — более полная цифра, чем квартальная (форма 10-K)</a:t>
            </a:r>
          </a:p>
        </p:txBody>
      </p:sp>
      <p:cxnSp>
        <p:nvCxnSpPr>
          <p:cNvPr id="15" name="Connector 14"/>
          <p:cNvCxnSpPr/>
          <p:nvPr/>
        </p:nvCxnSpPr>
        <p:spPr>
          <a:xfrm>
            <a:off x="685800" y="32862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286251"/>
            <a:ext cx="858704" cy="500506"/>
          </a:xfrm>
          <a:prstGeom prst="rect">
            <a:avLst/>
          </a:prstGeom>
          <a:noFill/>
        </p:spPr>
        <p:txBody>
          <a:bodyPr wrap="square" lIns="0" rIns="0" tIns="0" bIns="0" anchor="ctr">
            <a:spAutoFit/>
          </a:bodyPr>
          <a:lstStyle/>
          <a:p>
            <a:pPr algn="l">
              <a:lnSpc>
                <a:spcPts val="1322"/>
              </a:lnSpc>
              <a:spcAft>
                <a:spcPts val="0"/>
              </a:spcAft>
            </a:pPr>
            <a:r>
              <a:rPr sz="1150" b="1" i="0">
                <a:solidFill>
                  <a:srgbClr val="141B2E"/>
                </a:solidFill>
                <a:latin typeface="Arial"/>
              </a:rPr>
              <a:t>2000 / 25%</a:t>
            </a:r>
          </a:p>
        </p:txBody>
      </p:sp>
      <p:sp>
        <p:nvSpPr>
          <p:cNvPr id="17" name="TextBox 16"/>
          <p:cNvSpPr txBox="1"/>
          <p:nvPr/>
        </p:nvSpPr>
        <p:spPr>
          <a:xfrm>
            <a:off x="1690808" y="3286251"/>
            <a:ext cx="966603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сокращённые рабочие места при закрытии Zillow Offers: четверть штата компании (объявлено 2 ноября 2021)</a:t>
            </a:r>
          </a:p>
        </p:txBody>
      </p:sp>
      <p:cxnSp>
        <p:nvCxnSpPr>
          <p:cNvPr id="18" name="Connector 17"/>
          <p:cNvCxnSpPr/>
          <p:nvPr/>
        </p:nvCxnSpPr>
        <p:spPr>
          <a:xfrm>
            <a:off x="685800" y="37867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786758"/>
            <a:ext cx="858704" cy="668464"/>
          </a:xfrm>
          <a:prstGeom prst="rect">
            <a:avLst/>
          </a:prstGeom>
          <a:noFill/>
        </p:spPr>
        <p:txBody>
          <a:bodyPr wrap="square" lIns="0" rIns="0" tIns="0" bIns="0" anchor="ctr">
            <a:spAutoFit/>
          </a:bodyPr>
          <a:lstStyle/>
          <a:p>
            <a:pPr algn="l">
              <a:lnSpc>
                <a:spcPts val="1322"/>
              </a:lnSpc>
              <a:spcAft>
                <a:spcPts val="0"/>
              </a:spcAft>
            </a:pPr>
            <a:r>
              <a:rPr sz="1150" b="1" i="0">
                <a:solidFill>
                  <a:srgbClr val="141B2E"/>
                </a:solidFill>
                <a:latin typeface="Arial"/>
              </a:rPr>
              <a:t>27% против ~6%</a:t>
            </a:r>
          </a:p>
        </p:txBody>
      </p:sp>
      <p:sp>
        <p:nvSpPr>
          <p:cNvPr id="20" name="TextBox 19"/>
          <p:cNvSpPr txBox="1"/>
          <p:nvPr/>
        </p:nvSpPr>
        <p:spPr>
          <a:xfrm>
            <a:off x="1690808" y="3786758"/>
            <a:ext cx="966603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 Остине цены покупки подразумевали рост 27% в год за четыре года; индекс Case-Shiller давал на том же рынке около 6% (разбор Bank of America, Fortune, 3 ноября 2021)</a:t>
            </a:r>
          </a:p>
        </p:txBody>
      </p:sp>
      <p:sp>
        <p:nvSpPr>
          <p:cNvPr id="21" name="Rectangle 20"/>
          <p:cNvSpPr/>
          <p:nvPr/>
        </p:nvSpPr>
        <p:spPr>
          <a:xfrm>
            <a:off x="502920" y="4839271"/>
            <a:ext cx="32004" cy="49377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2668" y="4894135"/>
            <a:ext cx="10730484" cy="384048"/>
          </a:xfrm>
          <a:prstGeom prst="rect">
            <a:avLst/>
          </a:prstGeom>
          <a:noFill/>
        </p:spPr>
        <p:txBody>
          <a:bodyPr wrap="square" lIns="0" rIns="0" tIns="0" bIns="0" anchor="ctr">
            <a:spAutoFit/>
          </a:bodyPr>
          <a:lstStyle/>
          <a:p>
            <a:pPr algn="l">
              <a:lnSpc>
                <a:spcPts val="1512"/>
              </a:lnSpc>
              <a:spcAft>
                <a:spcPts val="300"/>
              </a:spcAft>
            </a:pPr>
            <a:r>
              <a:rPr sz="1200" b="0" i="1">
                <a:solidFill>
                  <a:srgbClr val="6B7685"/>
                </a:solidFill>
                <a:latin typeface="Arial"/>
              </a:rPr>
              <a:t>«Непредсказуемость прогнозирования цен на жильё» «намного превысила» то, что компания ожидала, — так закрытие объяснил Рич Бартон, генеральный директор и сооснователь Zillow (CNN, 9 ноября 2021).</a:t>
            </a:r>
          </a:p>
        </p:txBody>
      </p:sp>
      <p:sp>
        <p:nvSpPr>
          <p:cNvPr id="23" name="Rounded Rectangle 22"/>
          <p:cNvSpPr/>
          <p:nvPr/>
        </p:nvSpPr>
        <p:spPr>
          <a:xfrm>
            <a:off x="502920" y="5534215"/>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662231"/>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2000 человек — это четверть компании. Их рабочие места закрылись вместе с бизнесом. Решение подключить оценку прямо к покупке принимали другие люди.</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ставить гейт, решает цена следующего шага</a:t>
            </a:r>
          </a:p>
        </p:txBody>
      </p:sp>
      <p:pic>
        <p:nvPicPr>
          <p:cNvPr id="3" name="Picture 2" descr="zillow-n13-spektr.png"/>
          <p:cNvPicPr>
            <a:picLocks noChangeAspect="1"/>
          </p:cNvPicPr>
          <p:nvPr/>
        </p:nvPicPr>
        <p:blipFill>
          <a:blip r:embed="rId2"/>
          <a:stretch>
            <a:fillRect/>
          </a:stretch>
        </p:blipFill>
        <p:spPr>
          <a:xfrm>
            <a:off x="502920" y="962319"/>
            <a:ext cx="11183112" cy="2222643"/>
          </a:xfrm>
          <a:prstGeom prst="rect">
            <a:avLst/>
          </a:prstGeom>
        </p:spPr>
      </p:pic>
      <p:sp>
        <p:nvSpPr>
          <p:cNvPr id="4" name="Rounded Rectangle 3"/>
          <p:cNvSpPr/>
          <p:nvPr/>
        </p:nvSpPr>
        <p:spPr>
          <a:xfrm>
            <a:off x="502920" y="339696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2497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Пропущена одна и та же проверка. Разница в том, что идёт сразу после неё: письмо переписывают в тот же день, купленный дом остаётся купленным. Между потерянным временем и $407,9 млн промежуточных значений в устройстве цепочки нет — они есть только в цене.</a:t>
            </a:r>
          </a:p>
        </p:txBody>
      </p:sp>
      <p:sp>
        <p:nvSpPr>
          <p:cNvPr id="6" name="Rounded Rectangle 5"/>
          <p:cNvSpPr/>
          <p:nvPr/>
        </p:nvSpPr>
        <p:spPr>
          <a:xfrm>
            <a:off x="502920" y="4591942"/>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4774822"/>
            <a:ext cx="60562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 ГЕЙТ ОБЯЗАТЕЛЕН</a:t>
            </a:r>
          </a:p>
        </p:txBody>
      </p:sp>
      <p:sp>
        <p:nvSpPr>
          <p:cNvPr id="8" name="TextBox 7"/>
          <p:cNvSpPr txBox="1"/>
          <p:nvPr/>
        </p:nvSpPr>
        <p:spPr>
          <a:xfrm>
            <a:off x="6888345" y="4774822"/>
            <a:ext cx="446850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 БЕЗ ГЕЙТА МОЖНО</a:t>
            </a:r>
          </a:p>
        </p:txBody>
      </p:sp>
      <p:sp>
        <p:nvSpPr>
          <p:cNvPr id="9" name="TextBox 8"/>
          <p:cNvSpPr txBox="1"/>
          <p:nvPr/>
        </p:nvSpPr>
        <p:spPr>
          <a:xfrm>
            <a:off x="685800" y="5056889"/>
            <a:ext cx="605624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следующий шаг тратит деньги или уходит наружу — к клиенту, в чужую систему, в публичный документ</a:t>
            </a:r>
          </a:p>
        </p:txBody>
      </p:sp>
      <p:sp>
        <p:nvSpPr>
          <p:cNvPr id="10" name="TextBox 9"/>
          <p:cNvSpPr txBox="1"/>
          <p:nvPr/>
        </p:nvSpPr>
        <p:spPr>
          <a:xfrm>
            <a:off x="6888345" y="5056889"/>
            <a:ext cx="446850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следующий шаг делает черновик, который перед любым действием прочитает человек</a:t>
            </a:r>
          </a:p>
        </p:txBody>
      </p:sp>
      <p:cxnSp>
        <p:nvCxnSpPr>
          <p:cNvPr id="11" name="Connector 10"/>
          <p:cNvCxnSpPr/>
          <p:nvPr/>
        </p:nvCxnSpPr>
        <p:spPr>
          <a:xfrm>
            <a:off x="685800" y="55866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5586606"/>
            <a:ext cx="605624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отменить его одним движением нельзя: месяцы перепродажи с убытком, списание, суд</a:t>
            </a:r>
          </a:p>
        </p:txBody>
      </p:sp>
      <p:sp>
        <p:nvSpPr>
          <p:cNvPr id="13" name="TextBox 12"/>
          <p:cNvSpPr txBox="1"/>
          <p:nvPr/>
        </p:nvSpPr>
        <p:spPr>
          <a:xfrm>
            <a:off x="6888345" y="5586606"/>
            <a:ext cx="446850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отменить можно одним движением, в тот же день</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10536"/>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Обещание фреймворка: от идеи до работающего кода за полдня</a:t>
            </a:r>
          </a:p>
        </p:txBody>
      </p:sp>
      <p:sp>
        <p:nvSpPr>
          <p:cNvPr id="4" name="TextBox 3"/>
          <p:cNvSpPr txBox="1"/>
          <p:nvPr/>
        </p:nvSpPr>
        <p:spPr>
          <a:xfrm>
            <a:off x="1234440" y="359257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(через год команда разбирала внутренности этого инструмента, чтобы поменять поведение одного шага своей системы)</a:t>
            </a:r>
          </a:p>
        </p:txBody>
      </p:sp>
      <p:sp>
        <p:nvSpPr>
          <p:cNvPr id="5" name="Rounded Rectangle 4"/>
          <p:cNvSpPr/>
          <p:nvPr/>
        </p:nvSpPr>
        <p:spPr>
          <a:xfrm>
            <a:off x="502920"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А</a:t>
            </a:r>
          </a:p>
        </p:txBody>
      </p:sp>
      <p:sp>
        <p:nvSpPr>
          <p:cNvPr id="7" name="Rounded Rectangle 6"/>
          <p:cNvSpPr/>
          <p:nvPr/>
        </p:nvSpPr>
        <p:spPr>
          <a:xfrm>
            <a:off x="4291584"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Б</a:t>
            </a:r>
          </a:p>
        </p:txBody>
      </p:sp>
      <p:sp>
        <p:nvSpPr>
          <p:cNvPr id="9" name="Rounded Rectangle 8"/>
          <p:cNvSpPr/>
          <p:nvPr/>
        </p:nvSpPr>
        <p:spPr>
          <a:xfrm>
            <a:off x="8080247"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В</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Он собирал своё три с половиной месяца. Компания спрашивала зачем</a:t>
            </a:r>
          </a:p>
        </p:txBody>
      </p:sp>
      <p:sp>
        <p:nvSpPr>
          <p:cNvPr id="3" name="Rounded Rectangle 2"/>
          <p:cNvSpPr/>
          <p:nvPr/>
        </p:nvSpPr>
        <p:spPr>
          <a:xfrm>
            <a:off x="502920" y="1443177"/>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26057"/>
            <a:ext cx="54397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ДЕЛАЛ ОН</a:t>
            </a:r>
          </a:p>
        </p:txBody>
      </p:sp>
      <p:sp>
        <p:nvSpPr>
          <p:cNvPr id="5" name="TextBox 4"/>
          <p:cNvSpPr txBox="1"/>
          <p:nvPr/>
        </p:nvSpPr>
        <p:spPr>
          <a:xfrm>
            <a:off x="6271836" y="1626057"/>
            <a:ext cx="50850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ДЕЛАЛИ ВСЕ ВОКРУГ</a:t>
            </a:r>
          </a:p>
        </p:txBody>
      </p:sp>
      <p:sp>
        <p:nvSpPr>
          <p:cNvPr id="6" name="TextBox 5"/>
          <p:cNvSpPr txBox="1"/>
          <p:nvPr/>
        </p:nvSpPr>
        <p:spPr>
          <a:xfrm>
            <a:off x="685800" y="1908124"/>
            <a:ext cx="543973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три с половиной месяца собирал агента с поиском по документам прямыми вызовами модели</a:t>
            </a:r>
          </a:p>
        </p:txBody>
      </p:sp>
      <p:sp>
        <p:nvSpPr>
          <p:cNvPr id="7" name="TextBox 6"/>
          <p:cNvSpPr txBox="1"/>
          <p:nvPr/>
        </p:nvSpPr>
        <p:spPr>
          <a:xfrm>
            <a:off x="6271836" y="1908124"/>
            <a:ext cx="508501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собирали таких же агентов на фреймворке — одного довели до реальной эксплуатации</a:t>
            </a:r>
          </a:p>
        </p:txBody>
      </p:sp>
      <p:cxnSp>
        <p:nvCxnSpPr>
          <p:cNvPr id="8" name="Connector 7"/>
          <p:cNvCxnSpPr/>
          <p:nvPr/>
        </p:nvCxnSpPr>
        <p:spPr>
          <a:xfrm>
            <a:off x="685800" y="243784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37841"/>
            <a:ext cx="543973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держался своего выбора и объяснял его каждому, кто спрашивал</a:t>
            </a:r>
          </a:p>
        </p:txBody>
      </p:sp>
      <p:sp>
        <p:nvSpPr>
          <p:cNvPr id="10" name="TextBox 9"/>
          <p:cNvSpPr txBox="1"/>
          <p:nvPr/>
        </p:nvSpPr>
        <p:spPr>
          <a:xfrm>
            <a:off x="6271836" y="2437841"/>
            <a:ext cx="508501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спрашивали, почему он обходится без фреймворка</a:t>
            </a:r>
          </a:p>
        </p:txBody>
      </p:sp>
      <p:sp>
        <p:nvSpPr>
          <p:cNvPr id="11" name="Rectangle 10"/>
          <p:cNvSpPr/>
          <p:nvPr/>
        </p:nvSpPr>
        <p:spPr>
          <a:xfrm>
            <a:off x="502920" y="3660089"/>
            <a:ext cx="32004" cy="1226057"/>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2668" y="3714953"/>
            <a:ext cx="10730484" cy="1116329"/>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«Стоит понадобиться чему-то чуть более оригинальному — и, чтобы поменять одну мелкую деталь, приходится пройти сквозь пять слоёв абстракции. К тому же каждый шаг процесса понимаешь не до конца, так что при любой проблеме разбор начинается с самого начала.»</a:t>
            </a:r>
          </a:p>
          <a:p>
            <a:pPr algn="l">
              <a:lnSpc>
                <a:spcPts val="1638"/>
              </a:lnSpc>
              <a:spcAft>
                <a:spcPts val="300"/>
              </a:spcAft>
            </a:pPr>
            <a:r>
              <a:rPr sz="1300" b="0" i="1">
                <a:solidFill>
                  <a:srgbClr val="6B7685"/>
                </a:solidFill>
                <a:latin typeface="Arial"/>
              </a:rPr>
              <a:t/>
            </a:r>
          </a:p>
          <a:p>
            <a:pPr algn="l">
              <a:lnSpc>
                <a:spcPts val="1638"/>
              </a:lnSpc>
              <a:spcAft>
                <a:spcPts val="300"/>
              </a:spcAft>
            </a:pPr>
            <a:r>
              <a:rPr sz="1300" b="0" i="1">
                <a:solidFill>
                  <a:srgbClr val="6B7685"/>
                </a:solidFill>
                <a:latin typeface="Arial"/>
              </a:rPr>
              <a:t>(разработчик в обсуждении на Hacker News, 21 июня 2024: коллеги спрашивали его, «как будто я сумасшедший»)</a:t>
            </a:r>
          </a:p>
        </p:txBody>
      </p:sp>
      <p:sp>
        <p:nvSpPr>
          <p:cNvPr id="13" name="Rounded Rectangle 12"/>
          <p:cNvSpPr/>
          <p:nvPr/>
        </p:nvSpPr>
        <p:spPr>
          <a:xfrm>
            <a:off x="502920" y="539579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52381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 те же дни та же жалоба лежала в посте инженерной команды, у которой фреймворк отработал в промышленной эксплуатации больше двенадцати месяцев.</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 же действие: один класс против трёх</a:t>
            </a:r>
          </a:p>
        </p:txBody>
      </p:sp>
      <p:pic>
        <p:nvPicPr>
          <p:cNvPr id="3" name="Picture 2" descr="c3-tsena-odnogo-deystviya.png"/>
          <p:cNvPicPr>
            <a:picLocks noChangeAspect="1"/>
          </p:cNvPicPr>
          <p:nvPr/>
        </p:nvPicPr>
        <p:blipFill>
          <a:blip r:embed="rId2"/>
          <a:stretch>
            <a:fillRect/>
          </a:stretch>
        </p:blipFill>
        <p:spPr>
          <a:xfrm>
            <a:off x="1995600" y="943356"/>
            <a:ext cx="8197751" cy="3176628"/>
          </a:xfrm>
          <a:prstGeom prst="rect">
            <a:avLst/>
          </a:prstGeom>
        </p:spPr>
      </p:pic>
      <p:sp>
        <p:nvSpPr>
          <p:cNvPr id="4" name="Rounded Rectangle 3"/>
          <p:cNvSpPr/>
          <p:nvPr/>
        </p:nvSpPr>
        <p:spPr>
          <a:xfrm>
            <a:off x="502920" y="4284576"/>
            <a:ext cx="11183112" cy="106946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0936" y="4412592"/>
            <a:ext cx="49232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ПЕРЕВОД ОДНОГО СЛОВА НА ДРУГОЙ ЯЗЫК</a:t>
            </a:r>
          </a:p>
        </p:txBody>
      </p:sp>
      <p:sp>
        <p:nvSpPr>
          <p:cNvPr id="6" name="TextBox 5"/>
          <p:cNvSpPr txBox="1"/>
          <p:nvPr/>
        </p:nvSpPr>
        <p:spPr>
          <a:xfrm>
            <a:off x="5700503" y="4412592"/>
            <a:ext cx="571120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СКОЛЬКО СУЩНОСТЕЙ ПРИХОДИТСЯ ЗАВЕСТИ</a:t>
            </a:r>
          </a:p>
        </p:txBody>
      </p:sp>
      <p:sp>
        <p:nvSpPr>
          <p:cNvPr id="7" name="TextBox 6"/>
          <p:cNvSpPr txBox="1"/>
          <p:nvPr/>
        </p:nvSpPr>
        <p:spPr>
          <a:xfrm>
            <a:off x="630936" y="4694659"/>
            <a:ext cx="4923263"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прямым вызовом модели</a:t>
            </a:r>
          </a:p>
        </p:txBody>
      </p:sp>
      <p:sp>
        <p:nvSpPr>
          <p:cNvPr id="8" name="TextBox 7"/>
          <p:cNvSpPr txBox="1"/>
          <p:nvPr/>
        </p:nvSpPr>
        <p:spPr>
          <a:xfrm>
            <a:off x="5700503" y="4694659"/>
            <a:ext cx="5711208"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1 класс · 1 вызов функции · дальше обычный код</a:t>
            </a:r>
          </a:p>
        </p:txBody>
      </p:sp>
      <p:cxnSp>
        <p:nvCxnSpPr>
          <p:cNvPr id="9" name="Connector 8"/>
          <p:cNvCxnSpPr/>
          <p:nvPr/>
        </p:nvCxnSpPr>
        <p:spPr>
          <a:xfrm>
            <a:off x="630936" y="496034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30936" y="4960343"/>
            <a:ext cx="4923263"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через фреймворк</a:t>
            </a:r>
          </a:p>
        </p:txBody>
      </p:sp>
      <p:sp>
        <p:nvSpPr>
          <p:cNvPr id="11" name="TextBox 10"/>
          <p:cNvSpPr txBox="1"/>
          <p:nvPr/>
        </p:nvSpPr>
        <p:spPr>
          <a:xfrm>
            <a:off x="5700503" y="4960343"/>
            <a:ext cx="5711208"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3 класса · 4 вызова · 3 новых понятия</a:t>
            </a:r>
          </a:p>
        </p:txBody>
      </p:sp>
      <p:sp>
        <p:nvSpPr>
          <p:cNvPr id="12" name="Rounded Rectangle 11"/>
          <p:cNvSpPr/>
          <p:nvPr/>
        </p:nvSpPr>
        <p:spPr>
          <a:xfrm>
            <a:off x="502920" y="5518635"/>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646651"/>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Три новых понятия: шаблон промпта — чем промпт передаётся модели; парсер вывода — чем обрабатывается ответ; «цепочка» — особый синтаксис, который переопределяет оператор самого языка. К переводу слова ни одно из трёх ничего не добавляет.</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Состояние агента наружу не выходит. Что делаете?</a:t>
            </a:r>
          </a:p>
        </p:txBody>
      </p:sp>
      <p:sp>
        <p:nvSpPr>
          <p:cNvPr id="3" name="Rectangle 2"/>
          <p:cNvSpPr/>
          <p:nvPr/>
        </p:nvSpPr>
        <p:spPr>
          <a:xfrm>
            <a:off x="502920" y="1610258"/>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665122"/>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Команде понадобилось менять набор доступных агенту инструментов на ходу — по бизнес-логике и по тому, что ответила модель. Способа наблюдать состояние агента извне фреймворк не даёт.</a:t>
            </a:r>
          </a:p>
        </p:txBody>
      </p:sp>
      <p:sp>
        <p:nvSpPr>
          <p:cNvPr id="5" name="Rounded Rectangle 4"/>
          <p:cNvSpPr/>
          <p:nvPr/>
        </p:nvSpPr>
        <p:spPr>
          <a:xfrm>
            <a:off x="502920" y="28401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9681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делаете на этой развилке?</a:t>
            </a:r>
          </a:p>
        </p:txBody>
      </p:sp>
      <p:sp>
        <p:nvSpPr>
          <p:cNvPr id="7" name="Rounded Rectangle 6"/>
          <p:cNvSpPr/>
          <p:nvPr/>
        </p:nvSpPr>
        <p:spPr>
          <a:xfrm>
            <a:off x="502920" y="4330598"/>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330598"/>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дописать обёртку поверх фреймворка</a:t>
            </a:r>
          </a:p>
        </p:txBody>
      </p:sp>
      <p:sp>
        <p:nvSpPr>
          <p:cNvPr id="9" name="Rounded Rectangle 8"/>
          <p:cNvSpPr/>
          <p:nvPr/>
        </p:nvSpPr>
        <p:spPr>
          <a:xfrm>
            <a:off x="3335274" y="4330598"/>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002" y="4330598"/>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сузить требование до того, что фреймворк показывает наружу</a:t>
            </a:r>
          </a:p>
        </p:txBody>
      </p:sp>
      <p:sp>
        <p:nvSpPr>
          <p:cNvPr id="11" name="Rounded Rectangle 10"/>
          <p:cNvSpPr/>
          <p:nvPr/>
        </p:nvSpPr>
        <p:spPr>
          <a:xfrm>
            <a:off x="6167628" y="4330598"/>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77356" y="4330598"/>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вынести фреймворк и писать прямыми вызовами</a:t>
            </a:r>
          </a:p>
        </p:txBody>
      </p:sp>
      <p:sp>
        <p:nvSpPr>
          <p:cNvPr id="13" name="Rounded Rectangle 12"/>
          <p:cNvSpPr/>
          <p:nvPr/>
        </p:nvSpPr>
        <p:spPr>
          <a:xfrm>
            <a:off x="8999982" y="4330598"/>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09710" y="4330598"/>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дождаться следующей версии фреймворка</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Сначала сузили требование. Потом вынесли фреймворк</a:t>
            </a:r>
          </a:p>
        </p:txBody>
      </p:sp>
      <p:sp>
        <p:nvSpPr>
          <p:cNvPr id="3" name="Rounded Rectangle 2"/>
          <p:cNvSpPr/>
          <p:nvPr/>
        </p:nvSpPr>
        <p:spPr>
          <a:xfrm>
            <a:off x="502920" y="1330198"/>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13078"/>
            <a:ext cx="205536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2887471" y="1513078"/>
            <a:ext cx="298767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ДАЁТ</a:t>
            </a:r>
          </a:p>
        </p:txBody>
      </p:sp>
      <p:sp>
        <p:nvSpPr>
          <p:cNvPr id="6" name="TextBox 5"/>
          <p:cNvSpPr txBox="1"/>
          <p:nvPr/>
        </p:nvSpPr>
        <p:spPr>
          <a:xfrm>
            <a:off x="6021451" y="1513078"/>
            <a:ext cx="53353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ОБОШЁЛСЯ</a:t>
            </a:r>
          </a:p>
        </p:txBody>
      </p:sp>
      <p:sp>
        <p:nvSpPr>
          <p:cNvPr id="7" name="TextBox 6"/>
          <p:cNvSpPr txBox="1"/>
          <p:nvPr/>
        </p:nvSpPr>
        <p:spPr>
          <a:xfrm>
            <a:off x="685800" y="1795145"/>
            <a:ext cx="205536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обёртка поверх фреймворка</a:t>
            </a:r>
          </a:p>
        </p:txBody>
      </p:sp>
      <p:sp>
        <p:nvSpPr>
          <p:cNvPr id="8" name="TextBox 7"/>
          <p:cNvSpPr txBox="1"/>
          <p:nvPr/>
        </p:nvSpPr>
        <p:spPr>
          <a:xfrm>
            <a:off x="2887471" y="1795145"/>
            <a:ext cx="29876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быстрый обход на один случай</a:t>
            </a:r>
          </a:p>
        </p:txBody>
      </p:sp>
      <p:sp>
        <p:nvSpPr>
          <p:cNvPr id="9" name="TextBox 8"/>
          <p:cNvSpPr txBox="1"/>
          <p:nvPr/>
        </p:nvSpPr>
        <p:spPr>
          <a:xfrm>
            <a:off x="6021451" y="1795145"/>
            <a:ext cx="53353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что видно наружу, по-прежнему решает автор инструмента</a:t>
            </a:r>
          </a:p>
        </p:txBody>
      </p:sp>
      <p:cxnSp>
        <p:nvCxnSpPr>
          <p:cNvPr id="10" name="Connector 9"/>
          <p:cNvCxnSpPr/>
          <p:nvPr/>
        </p:nvCxnSpPr>
        <p:spPr>
          <a:xfrm>
            <a:off x="685800" y="23248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324862"/>
            <a:ext cx="205536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сузить требование</a:t>
            </a:r>
            <a:r>
              <a:rPr sz="1250" b="0" i="0">
                <a:solidFill>
                  <a:srgbClr val="141B2E"/>
                </a:solidFill>
                <a:latin typeface="Arial"/>
              </a:rPr>
              <a:t> · сначала</a:t>
            </a:r>
          </a:p>
        </p:txBody>
      </p:sp>
      <p:sp>
        <p:nvSpPr>
          <p:cNvPr id="12" name="TextBox 11"/>
          <p:cNvSpPr txBox="1"/>
          <p:nvPr/>
        </p:nvSpPr>
        <p:spPr>
          <a:xfrm>
            <a:off x="2887471" y="2324862"/>
            <a:ext cx="29876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система едет дальше на том, что уже работает</a:t>
            </a:r>
          </a:p>
        </p:txBody>
      </p:sp>
      <p:sp>
        <p:nvSpPr>
          <p:cNvPr id="13" name="TextBox 12"/>
          <p:cNvSpPr txBox="1"/>
          <p:nvPr/>
        </p:nvSpPr>
        <p:spPr>
          <a:xfrm>
            <a:off x="6021451" y="2324862"/>
            <a:ext cx="53353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построили то, что инструмент умеет показать; исходное требование осталось за границей</a:t>
            </a:r>
          </a:p>
        </p:txBody>
      </p:sp>
      <p:cxnSp>
        <p:nvCxnSpPr>
          <p:cNvPr id="14" name="Connector 13"/>
          <p:cNvCxnSpPr/>
          <p:nvPr/>
        </p:nvCxnSpPr>
        <p:spPr>
          <a:xfrm>
            <a:off x="685800" y="28545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54579"/>
            <a:ext cx="205536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вынести фреймворк</a:t>
            </a:r>
            <a:r>
              <a:rPr sz="1250" b="0" i="0">
                <a:solidFill>
                  <a:srgbClr val="141B2E"/>
                </a:solidFill>
                <a:latin typeface="Arial"/>
              </a:rPr>
              <a:t> · потом</a:t>
            </a:r>
          </a:p>
        </p:txBody>
      </p:sp>
      <p:sp>
        <p:nvSpPr>
          <p:cNvPr id="16" name="TextBox 15"/>
          <p:cNvSpPr txBox="1"/>
          <p:nvPr/>
        </p:nvSpPr>
        <p:spPr>
          <a:xfrm>
            <a:off x="2887471" y="2854579"/>
            <a:ext cx="29876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поведение системы снова определяет свой код</a:t>
            </a:r>
          </a:p>
        </p:txBody>
      </p:sp>
      <p:sp>
        <p:nvSpPr>
          <p:cNvPr id="17" name="TextBox 16"/>
          <p:cNvSpPr txBox="1"/>
          <p:nvPr/>
        </p:nvSpPr>
        <p:spPr>
          <a:xfrm>
            <a:off x="6021451" y="2854579"/>
            <a:ext cx="53353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переписать то, что держалось на фреймворке больше двенадцати месяцев</a:t>
            </a:r>
          </a:p>
        </p:txBody>
      </p:sp>
      <p:cxnSp>
        <p:nvCxnSpPr>
          <p:cNvPr id="18" name="Connector 17"/>
          <p:cNvCxnSpPr/>
          <p:nvPr/>
        </p:nvCxnSpPr>
        <p:spPr>
          <a:xfrm>
            <a:off x="685800" y="33842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384296"/>
            <a:ext cx="205536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дождаться новой версии</a:t>
            </a:r>
          </a:p>
        </p:txBody>
      </p:sp>
      <p:sp>
        <p:nvSpPr>
          <p:cNvPr id="20" name="TextBox 19"/>
          <p:cNvSpPr txBox="1"/>
          <p:nvPr/>
        </p:nvSpPr>
        <p:spPr>
          <a:xfrm>
            <a:off x="2887471" y="3384296"/>
            <a:ext cx="29876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сегодня делать ничего не нужно</a:t>
            </a:r>
          </a:p>
        </p:txBody>
      </p:sp>
      <p:sp>
        <p:nvSpPr>
          <p:cNvPr id="21" name="TextBox 20"/>
          <p:cNvSpPr txBox="1"/>
          <p:nvPr/>
        </p:nvSpPr>
        <p:spPr>
          <a:xfrm>
            <a:off x="6021451" y="3384296"/>
            <a:ext cx="53353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срок и состав чужого выпуска вам не принадлежат</a:t>
            </a:r>
          </a:p>
        </p:txBody>
      </p:sp>
      <p:sp>
        <p:nvSpPr>
          <p:cNvPr id="22" name="Rounded Rectangle 21"/>
          <p:cNvSpPr/>
          <p:nvPr/>
        </p:nvSpPr>
        <p:spPr>
          <a:xfrm>
            <a:off x="502920" y="476440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89242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Прямых вызовов модели и обычного кода вокруг них — условий, циклов, обработки текста — хватило с самого начала. Формулировка авторов короткая: </a:t>
            </a:r>
            <a:r>
              <a:rPr sz="1500" b="1" i="0">
                <a:solidFill>
                  <a:srgbClr val="141B2E"/>
                </a:solidFill>
                <a:latin typeface="Arial"/>
              </a:rPr>
              <a:t>«We could just code»</a:t>
            </a:r>
            <a:r>
              <a:rPr sz="1500" b="1" i="0">
                <a:solidFill>
                  <a:srgbClr val="141B2E"/>
                </a:solidFill>
                <a:latin typeface="Arial"/>
              </a:rPr>
              <a:t>, «мы могли просто написать код».</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фреймворк берут и когда он лишний</a:t>
            </a:r>
          </a:p>
        </p:txBody>
      </p:sp>
      <p:sp>
        <p:nvSpPr>
          <p:cNvPr id="3" name="Rounded Rectangle 2"/>
          <p:cNvSpPr/>
          <p:nvPr/>
        </p:nvSpPr>
        <p:spPr>
          <a:xfrm>
            <a:off x="502920" y="1119970"/>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02850"/>
            <a:ext cx="52108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ФРЕЙМВОРК БЕРУТ</a:t>
            </a:r>
          </a:p>
        </p:txBody>
      </p:sp>
      <p:sp>
        <p:nvSpPr>
          <p:cNvPr id="5" name="TextBox 4"/>
          <p:cNvSpPr txBox="1"/>
          <p:nvPr/>
        </p:nvSpPr>
        <p:spPr>
          <a:xfrm>
            <a:off x="6042944" y="1302850"/>
            <a:ext cx="53139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ФРЕЙМВОРК ЛИШНИЙ</a:t>
            </a:r>
          </a:p>
        </p:txBody>
      </p:sp>
      <p:sp>
        <p:nvSpPr>
          <p:cNvPr id="6" name="TextBox 5"/>
          <p:cNvSpPr txBox="1"/>
          <p:nvPr/>
        </p:nvSpPr>
        <p:spPr>
          <a:xfrm>
            <a:off x="685800" y="1584917"/>
            <a:ext cx="52108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стандартная и совпадает с тем, под что инструмент рассчитан</a:t>
            </a:r>
          </a:p>
        </p:txBody>
      </p:sp>
      <p:sp>
        <p:nvSpPr>
          <p:cNvPr id="7" name="TextBox 6"/>
          <p:cNvSpPr txBox="1"/>
          <p:nvPr/>
        </p:nvSpPr>
        <p:spPr>
          <a:xfrm>
            <a:off x="6042944" y="1584917"/>
            <a:ext cx="53139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требует поведения, которого инструмент наружу не показывает</a:t>
            </a:r>
          </a:p>
        </p:txBody>
      </p:sp>
      <p:cxnSp>
        <p:nvCxnSpPr>
          <p:cNvPr id="8" name="Connector 7"/>
          <p:cNvCxnSpPr/>
          <p:nvPr/>
        </p:nvCxnSpPr>
        <p:spPr>
          <a:xfrm>
            <a:off x="685800" y="21146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14634"/>
            <a:ext cx="52108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он снимает сложность, которую вы уже измерили и можете назвать</a:t>
            </a:r>
          </a:p>
        </p:txBody>
      </p:sp>
      <p:sp>
        <p:nvSpPr>
          <p:cNvPr id="10" name="TextBox 9"/>
          <p:cNvSpPr txBox="1"/>
          <p:nvPr/>
        </p:nvSpPr>
        <p:spPr>
          <a:xfrm>
            <a:off x="6042944" y="2114634"/>
            <a:ext cx="53139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он обещает снять сложность, которой у вас пока нет</a:t>
            </a:r>
          </a:p>
        </p:txBody>
      </p:sp>
      <p:cxnSp>
        <p:nvCxnSpPr>
          <p:cNvPr id="11" name="Connector 10"/>
          <p:cNvCxnSpPr/>
          <p:nvPr/>
        </p:nvCxnSpPr>
        <p:spPr>
          <a:xfrm>
            <a:off x="685800" y="26443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644351"/>
            <a:ext cx="52108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 ним понятен код, и при разборе в него можно войти</a:t>
            </a:r>
          </a:p>
        </p:txBody>
      </p:sp>
      <p:sp>
        <p:nvSpPr>
          <p:cNvPr id="13" name="TextBox 12"/>
          <p:cNvSpPr txBox="1"/>
          <p:nvPr/>
        </p:nvSpPr>
        <p:spPr>
          <a:xfrm>
            <a:off x="6042944" y="2644351"/>
            <a:ext cx="53139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каждый шаг понятен наполовину, и любой разбор начинается с начала</a:t>
            </a:r>
          </a:p>
        </p:txBody>
      </p:sp>
      <p:sp>
        <p:nvSpPr>
          <p:cNvPr id="14" name="Rounded Rectangle 13"/>
          <p:cNvSpPr/>
          <p:nvPr/>
        </p:nvSpPr>
        <p:spPr>
          <a:xfrm>
            <a:off x="502920" y="396307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09109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«Начинайте с прямых вызовов API модели: многие приёмы укладываются в несколько строк кода». — Anthropic, Building Effective Agents, 19 декабря 2024</a:t>
            </a:r>
          </a:p>
        </p:txBody>
      </p:sp>
      <p:sp>
        <p:nvSpPr>
          <p:cNvPr id="16" name="Rounded Rectangle 15"/>
          <p:cNvSpPr/>
          <p:nvPr/>
        </p:nvSpPr>
        <p:spPr>
          <a:xfrm>
            <a:off x="502920" y="531596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4398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 цепочки один фиксированный порядок шагов — один для всего, что в неё приходит. Что делать, когда в одну точку приходят входы, которым нужны разные порядки?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«Я прошу категорию, а получаю абзац»</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Ступень 2 начинается здесь. Ветвление, которое на прошлой ступени копилось внутри одного шага, выходит наружу — в отдельные маршруты. Первое, обо что спотыкается маршрут, — форма ответа того самого шага, который его выбирает.</a:t>
            </a:r>
          </a:p>
        </p:txBody>
      </p:sp>
      <p:sp>
        <p:nvSpPr>
          <p:cNvPr id="5" name="Rounded Rectangle 4"/>
          <p:cNvSpPr/>
          <p:nvPr/>
        </p:nvSpPr>
        <p:spPr>
          <a:xfrm>
            <a:off x="502920"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А</a:t>
            </a:r>
          </a:p>
        </p:txBody>
      </p:sp>
      <p:sp>
        <p:nvSpPr>
          <p:cNvPr id="7" name="Rounded Rectangle 6"/>
          <p:cNvSpPr/>
          <p:nvPr/>
        </p:nvSpPr>
        <p:spPr>
          <a:xfrm>
            <a:off x="4291584"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Б</a:t>
            </a:r>
          </a:p>
        </p:txBody>
      </p:sp>
      <p:sp>
        <p:nvSpPr>
          <p:cNvPr id="9" name="Rounded Rectangle 8"/>
          <p:cNvSpPr/>
          <p:nvPr/>
        </p:nvSpPr>
        <p:spPr>
          <a:xfrm>
            <a:off x="8080247"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В</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Дежурный открыл панель расходов</a:t>
            </a:r>
          </a:p>
        </p:txBody>
      </p:sp>
      <p:sp>
        <p:nvSpPr>
          <p:cNvPr id="3" name="Rounded Rectangle 2"/>
          <p:cNvSpPr/>
          <p:nvPr/>
        </p:nvSpPr>
        <p:spPr>
          <a:xfrm>
            <a:off x="502920" y="1136548"/>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64564"/>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Расходы на внешние вызовы · вечер дня релиза</a:t>
            </a:r>
          </a:p>
        </p:txBody>
      </p:sp>
      <p:sp>
        <p:nvSpPr>
          <p:cNvPr id="5" name="Rounded Rectangle 4"/>
          <p:cNvSpPr/>
          <p:nvPr/>
        </p:nvSpPr>
        <p:spPr>
          <a:xfrm>
            <a:off x="502920" y="2294661"/>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477541"/>
            <a:ext cx="41330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a:t>
            </a:r>
          </a:p>
        </p:txBody>
      </p:sp>
      <p:sp>
        <p:nvSpPr>
          <p:cNvPr id="7" name="TextBox 6"/>
          <p:cNvSpPr txBox="1"/>
          <p:nvPr/>
        </p:nvSpPr>
        <p:spPr>
          <a:xfrm>
            <a:off x="4965192" y="2477541"/>
            <a:ext cx="639165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ЗНАЧЕНИЕ</a:t>
            </a:r>
          </a:p>
        </p:txBody>
      </p:sp>
      <p:sp>
        <p:nvSpPr>
          <p:cNvPr id="8" name="TextBox 7"/>
          <p:cNvSpPr txBox="1"/>
          <p:nvPr/>
        </p:nvSpPr>
        <p:spPr>
          <a:xfrm>
            <a:off x="685800" y="2759608"/>
            <a:ext cx="413308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писем за час</a:t>
            </a:r>
          </a:p>
        </p:txBody>
      </p:sp>
      <p:sp>
        <p:nvSpPr>
          <p:cNvPr id="9" name="TextBox 8"/>
          <p:cNvSpPr txBox="1"/>
          <p:nvPr/>
        </p:nvSpPr>
        <p:spPr>
          <a:xfrm>
            <a:off x="4965192" y="2759608"/>
            <a:ext cx="63916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200 (обычный день — 20)</a:t>
            </a:r>
          </a:p>
        </p:txBody>
      </p:sp>
      <p:cxnSp>
        <p:nvCxnSpPr>
          <p:cNvPr id="10" name="Connector 9"/>
          <p:cNvCxnSpPr/>
          <p:nvPr/>
        </p:nvCxnSpPr>
        <p:spPr>
          <a:xfrm>
            <a:off x="685800" y="31067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06762"/>
            <a:ext cx="413308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шаг «черновик»</a:t>
            </a:r>
          </a:p>
        </p:txBody>
      </p:sp>
      <p:sp>
        <p:nvSpPr>
          <p:cNvPr id="12" name="TextBox 11"/>
          <p:cNvSpPr txBox="1"/>
          <p:nvPr/>
        </p:nvSpPr>
        <p:spPr>
          <a:xfrm>
            <a:off x="4965192" y="3106762"/>
            <a:ext cx="63916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абзац ответа клиенту, каждый раз новый</a:t>
            </a:r>
          </a:p>
        </p:txBody>
      </p:sp>
      <p:cxnSp>
        <p:nvCxnSpPr>
          <p:cNvPr id="13" name="Connector 12"/>
          <p:cNvCxnSpPr/>
          <p:nvPr/>
        </p:nvCxnSpPr>
        <p:spPr>
          <a:xfrm>
            <a:off x="685800" y="34539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53917"/>
            <a:ext cx="413308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шаг «классификация»</a:t>
            </a:r>
          </a:p>
        </p:txBody>
      </p:sp>
      <p:sp>
        <p:nvSpPr>
          <p:cNvPr id="15" name="TextBox 14"/>
          <p:cNvSpPr txBox="1"/>
          <p:nvPr/>
        </p:nvSpPr>
        <p:spPr>
          <a:xfrm>
            <a:off x="4965192" y="3453917"/>
            <a:ext cx="63916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одно слово из четырёх, список известен заранее</a:t>
            </a:r>
          </a:p>
        </p:txBody>
      </p:sp>
      <p:cxnSp>
        <p:nvCxnSpPr>
          <p:cNvPr id="16" name="Connector 15"/>
          <p:cNvCxnSpPr/>
          <p:nvPr/>
        </p:nvCxnSpPr>
        <p:spPr>
          <a:xfrm>
            <a:off x="685800" y="38010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801071"/>
            <a:ext cx="413308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 день</a:t>
            </a:r>
          </a:p>
        </p:txBody>
      </p:sp>
      <p:sp>
        <p:nvSpPr>
          <p:cNvPr id="18" name="TextBox 17"/>
          <p:cNvSpPr txBox="1"/>
          <p:nvPr/>
        </p:nvSpPr>
        <p:spPr>
          <a:xfrm>
            <a:off x="4965192" y="3801071"/>
            <a:ext cx="63916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два шага обошлись почти одинаково</a:t>
            </a:r>
          </a:p>
        </p:txBody>
      </p:sp>
      <p:sp>
        <p:nvSpPr>
          <p:cNvPr id="19" name="Rounded Rectangle 18"/>
          <p:cNvSpPr/>
          <p:nvPr/>
        </p:nvSpPr>
        <p:spPr>
          <a:xfrm>
            <a:off x="502920" y="4978679"/>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106695"/>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Выбор слова из известного списка оплачивается здесь как сочинение текста: модель объясняет</a:t>
            </a:r>
          </a:p>
          <a:p>
            <a:pPr algn="l">
              <a:lnSpc>
                <a:spcPts val="1860"/>
              </a:lnSpc>
              <a:spcAft>
                <a:spcPts val="300"/>
              </a:spcAft>
            </a:pPr>
            <a:r>
              <a:rPr sz="1500" b="1" i="0">
                <a:solidFill>
                  <a:srgbClr val="141B2E"/>
                </a:solidFill>
                <a:latin typeface="Arial"/>
              </a:rPr>
              <a:t>себе выбор, из объяснения забирают одну подстроку, остальное выбрасывают — и платят за</a:t>
            </a:r>
          </a:p>
          <a:p>
            <a:pPr algn="l">
              <a:lnSpc>
                <a:spcPts val="1860"/>
              </a:lnSpc>
              <a:spcAft>
                <a:spcPts val="300"/>
              </a:spcAft>
            </a:pPr>
            <a:r>
              <a:rPr sz="1500" b="1" i="0">
                <a:solidFill>
                  <a:srgbClr val="141B2E"/>
                </a:solidFill>
                <a:latin typeface="Arial"/>
              </a:rPr>
              <a:t>каждое слово выброшенного.</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Одна точка, четыре ветки, у каждой своя цена</a:t>
            </a:r>
          </a:p>
        </p:txBody>
      </p:sp>
      <p:pic>
        <p:nvPicPr>
          <p:cNvPr id="3" name="Picture 2" descr="marshrut-c4-razvilka-tseny.png"/>
          <p:cNvPicPr>
            <a:picLocks noChangeAspect="1"/>
          </p:cNvPicPr>
          <p:nvPr/>
        </p:nvPicPr>
        <p:blipFill>
          <a:blip r:embed="rId2"/>
          <a:stretch>
            <a:fillRect/>
          </a:stretch>
        </p:blipFill>
        <p:spPr>
          <a:xfrm>
            <a:off x="502920" y="1131379"/>
            <a:ext cx="11183112" cy="3494722"/>
          </a:xfrm>
          <a:prstGeom prst="rect">
            <a:avLst/>
          </a:prstGeom>
        </p:spPr>
      </p:pic>
      <p:sp>
        <p:nvSpPr>
          <p:cNvPr id="4" name="Rounded Rectangle 3"/>
          <p:cNvSpPr/>
          <p:nvPr/>
        </p:nvSpPr>
        <p:spPr>
          <a:xfrm>
            <a:off x="502920" y="5260752"/>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8768"/>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Цену ошибки задаёт то, что ветка делает дальше. Дешевизна самого шага классификации её не</a:t>
            </a:r>
          </a:p>
          <a:p>
            <a:pPr algn="l">
              <a:lnSpc>
                <a:spcPts val="1860"/>
              </a:lnSpc>
              <a:spcAft>
                <a:spcPts val="300"/>
              </a:spcAft>
            </a:pPr>
            <a:r>
              <a:rPr sz="1500" b="1" i="0">
                <a:solidFill>
                  <a:srgbClr val="141B2E"/>
                </a:solidFill>
                <a:latin typeface="Arial"/>
              </a:rPr>
              <a:t>уменьшает.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Нужен ли здесь полноценный вызов модели — или достаточно метки?</a:t>
            </a:r>
          </a:p>
        </p:txBody>
      </p:sp>
      <p:sp>
        <p:nvSpPr>
          <p:cNvPr id="3" name="Rectangle 2"/>
          <p:cNvSpPr/>
          <p:nvPr/>
        </p:nvSpPr>
        <p:spPr>
          <a:xfrm>
            <a:off x="502920" y="1814169"/>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869033"/>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«Тот же самый классификационный шаг — только теперь от его ответа зависит, какой из четырёх маршрутов получит письмо.»</a:t>
            </a:r>
          </a:p>
        </p:txBody>
      </p:sp>
      <p:sp>
        <p:nvSpPr>
          <p:cNvPr id="5" name="Rounded Rectangle 4"/>
          <p:cNvSpPr/>
          <p:nvPr/>
        </p:nvSpPr>
        <p:spPr>
          <a:xfrm>
            <a:off x="502920" y="304403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17205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«Нужно ли здесь гонять полноценный вызов модели, который сочиняет объяснение, или достаточно того, что сразу возвращает одну метку?»</a:t>
            </a:r>
          </a:p>
        </p:txBody>
      </p:sp>
      <p:sp>
        <p:nvSpPr>
          <p:cNvPr id="7" name="Rounded Rectangle 6"/>
          <p:cNvSpPr/>
          <p:nvPr/>
        </p:nvSpPr>
        <p:spPr>
          <a:xfrm>
            <a:off x="502920" y="4534509"/>
            <a:ext cx="2686050"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534509"/>
            <a:ext cx="2466594"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как есть — модель пишет абзац, нужное слово достаём из текста</a:t>
            </a:r>
          </a:p>
        </p:txBody>
      </p:sp>
      <p:sp>
        <p:nvSpPr>
          <p:cNvPr id="9" name="Rounded Rectangle 8"/>
          <p:cNvSpPr/>
          <p:nvPr/>
        </p:nvSpPr>
        <p:spPr>
          <a:xfrm>
            <a:off x="3335274" y="4534509"/>
            <a:ext cx="2686050"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002" y="4534509"/>
            <a:ext cx="2466594"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правила руками — список ключевых слов и условий «если — то»</a:t>
            </a:r>
          </a:p>
        </p:txBody>
      </p:sp>
      <p:sp>
        <p:nvSpPr>
          <p:cNvPr id="11" name="Rounded Rectangle 10"/>
          <p:cNvSpPr/>
          <p:nvPr/>
        </p:nvSpPr>
        <p:spPr>
          <a:xfrm>
            <a:off x="6167628" y="4534509"/>
            <a:ext cx="2686050"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77356" y="4534509"/>
            <a:ext cx="2466594"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своя маленькая модель, обученная только различать эти четыре категории</a:t>
            </a:r>
          </a:p>
        </p:txBody>
      </p:sp>
      <p:sp>
        <p:nvSpPr>
          <p:cNvPr id="13" name="Rounded Rectangle 12"/>
          <p:cNvSpPr/>
          <p:nvPr/>
        </p:nvSpPr>
        <p:spPr>
          <a:xfrm>
            <a:off x="8999982" y="4534509"/>
            <a:ext cx="2686050"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09710" y="4534509"/>
            <a:ext cx="2466594"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вызов, который возвращает готовое значение — метку или число, без текста вокруг</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варианта спорят об одном и том же</a:t>
            </a:r>
          </a:p>
        </p:txBody>
      </p:sp>
      <p:sp>
        <p:nvSpPr>
          <p:cNvPr id="3" name="Rounded Rectangle 2"/>
          <p:cNvSpPr/>
          <p:nvPr/>
        </p:nvSpPr>
        <p:spPr>
          <a:xfrm>
            <a:off x="502920" y="1023152"/>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51168"/>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Ответ модели на письмо №184</a:t>
            </a:r>
          </a:p>
        </p:txBody>
      </p:sp>
      <p:sp>
        <p:nvSpPr>
          <p:cNvPr id="5" name="Rectangle 4"/>
          <p:cNvSpPr/>
          <p:nvPr/>
        </p:nvSpPr>
        <p:spPr>
          <a:xfrm>
            <a:off x="502920" y="1934352"/>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8" y="1989216"/>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«Судя по тону и упоминанию возврата денег, это скорее всего „Жалоба“: клиент недоволен и просит вернуть оплату.»</a:t>
            </a:r>
          </a:p>
        </p:txBody>
      </p:sp>
      <p:sp>
        <p:nvSpPr>
          <p:cNvPr id="7" name="Rounded Rectangle 6"/>
          <p:cNvSpPr/>
          <p:nvPr/>
        </p:nvSpPr>
        <p:spPr>
          <a:xfrm>
            <a:off x="502920" y="265276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78078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ищет разбор в этом ответе</a:t>
            </a:r>
            <a:r>
              <a:rPr sz="1500" b="1" i="0">
                <a:solidFill>
                  <a:srgbClr val="141B2E"/>
                </a:solidFill>
                <a:latin typeface="Arial"/>
              </a:rPr>
              <a:t> Одно слово — «Категория:» — и сразу за ним одно из четырёх имён. В этом ответе такого слова нет вообще: модель объяснила вывод своими словами, не напечатала ярлык. Разбор ничего не находит и уходит в ветку по умолчанию.</a:t>
            </a:r>
          </a:p>
        </p:txBody>
      </p:sp>
      <p:sp>
        <p:nvSpPr>
          <p:cNvPr id="9" name="Rounded Rectangle 8"/>
          <p:cNvSpPr/>
          <p:nvPr/>
        </p:nvSpPr>
        <p:spPr>
          <a:xfrm>
            <a:off x="502920" y="3999829"/>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127845"/>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Слова «Категория:» в этом ответе нет — шаблон не находит ничего, срабатывает ветка по</a:t>
            </a:r>
          </a:p>
          <a:p>
            <a:pPr algn="l">
              <a:lnSpc>
                <a:spcPts val="1860"/>
              </a:lnSpc>
              <a:spcAft>
                <a:spcPts val="300"/>
              </a:spcAft>
            </a:pPr>
            <a:r>
              <a:rPr sz="1500" b="1" i="0">
                <a:solidFill>
                  <a:srgbClr val="141B2E"/>
                </a:solidFill>
                <a:latin typeface="Arial"/>
              </a:rPr>
              <a:t>умолчанию, и жалоба клиента уезжает в архив. В журнале об этом ни строки: разбор отработал</a:t>
            </a:r>
          </a:p>
          <a:p>
            <a:pPr algn="l">
              <a:lnSpc>
                <a:spcPts val="1860"/>
              </a:lnSpc>
              <a:spcAft>
                <a:spcPts val="300"/>
              </a:spcAft>
            </a:pPr>
            <a:r>
              <a:rPr sz="1500" b="1" i="0">
                <a:solidFill>
                  <a:srgbClr val="141B2E"/>
                </a:solidFill>
                <a:latin typeface="Arial"/>
              </a:rPr>
              <a:t>без единой ошибки.</a:t>
            </a:r>
          </a:p>
        </p:txBody>
      </p:sp>
      <p:sp>
        <p:nvSpPr>
          <p:cNvPr id="11" name="Rounded Rectangle 10"/>
          <p:cNvSpPr/>
          <p:nvPr/>
        </p:nvSpPr>
        <p:spPr>
          <a:xfrm>
            <a:off x="502920" y="5423093"/>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551109"/>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Все три варианта отвечают на один вопрос: как точнее угадать категорию. Вопрос стоит иначе —</a:t>
            </a:r>
          </a:p>
          <a:p>
            <a:pPr algn="l">
              <a:lnSpc>
                <a:spcPts val="1860"/>
              </a:lnSpc>
              <a:spcAft>
                <a:spcPts val="300"/>
              </a:spcAft>
            </a:pPr>
            <a:r>
              <a:rPr sz="1500" b="1" i="0">
                <a:solidFill>
                  <a:srgbClr val="141B2E"/>
                </a:solidFill>
                <a:latin typeface="Arial"/>
              </a:rPr>
              <a:t>зачем вообще просить модель сочинять текст, если на выходе нужно одно значение из четырёх.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Четвёртый способ отвечает значением</a:t>
            </a:r>
          </a:p>
        </p:txBody>
      </p:sp>
      <p:sp>
        <p:nvSpPr>
          <p:cNvPr id="3" name="Rounded Rectangle 2"/>
          <p:cNvSpPr/>
          <p:nvPr/>
        </p:nvSpPr>
        <p:spPr>
          <a:xfrm>
            <a:off x="502920" y="1004697"/>
            <a:ext cx="11183112" cy="2419540"/>
          </a:xfrm>
          <a:prstGeom prst="roundRect">
            <a:avLst>
              <a:gd name="adj" fmla="val 1259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87577"/>
            <a:ext cx="57996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ДАЁТ DECISION-МОДЕЛЬ</a:t>
            </a:r>
          </a:p>
        </p:txBody>
      </p:sp>
      <p:sp>
        <p:nvSpPr>
          <p:cNvPr id="5" name="TextBox 4"/>
          <p:cNvSpPr txBox="1"/>
          <p:nvPr/>
        </p:nvSpPr>
        <p:spPr>
          <a:xfrm>
            <a:off x="6631796" y="1187577"/>
            <a:ext cx="47250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ЗА ЭТО ПЛАТЯТ</a:t>
            </a:r>
          </a:p>
        </p:txBody>
      </p:sp>
      <p:sp>
        <p:nvSpPr>
          <p:cNvPr id="6" name="Rounded Rectangle 5"/>
          <p:cNvSpPr/>
          <p:nvPr/>
        </p:nvSpPr>
        <p:spPr>
          <a:xfrm>
            <a:off x="566928" y="1469644"/>
            <a:ext cx="11055096" cy="712279"/>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9644"/>
            <a:ext cx="5799692"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на выходе сразу значение заданного вида: метка, уверенность от 0 до 1, распределение по четырём категориям</a:t>
            </a:r>
          </a:p>
        </p:txBody>
      </p:sp>
      <p:sp>
        <p:nvSpPr>
          <p:cNvPr id="8" name="TextBox 7"/>
          <p:cNvSpPr txBox="1"/>
          <p:nvPr/>
        </p:nvSpPr>
        <p:spPr>
          <a:xfrm>
            <a:off x="6631796" y="1469644"/>
            <a:ext cx="4725051"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причину оценки узнать негде: ответ состоит из одного числа</a:t>
            </a:r>
          </a:p>
        </p:txBody>
      </p:sp>
      <p:cxnSp>
        <p:nvCxnSpPr>
          <p:cNvPr id="9" name="Connector 8"/>
          <p:cNvCxnSpPr/>
          <p:nvPr/>
        </p:nvCxnSpPr>
        <p:spPr>
          <a:xfrm>
            <a:off x="685800" y="21819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66928" y="2181923"/>
            <a:ext cx="11055096" cy="529717"/>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81923"/>
            <a:ext cx="5799692"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разбирать нечего — значит, нечему ломаться молча</a:t>
            </a:r>
          </a:p>
        </p:txBody>
      </p:sp>
      <p:sp>
        <p:nvSpPr>
          <p:cNvPr id="12" name="TextBox 11"/>
          <p:cNvSpPr txBox="1"/>
          <p:nvPr/>
        </p:nvSpPr>
        <p:spPr>
          <a:xfrm>
            <a:off x="6631796" y="2181923"/>
            <a:ext cx="472505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перекос на неполном наборе категорий остаётся незаметным</a:t>
            </a:r>
          </a:p>
        </p:txBody>
      </p:sp>
      <p:cxnSp>
        <p:nvCxnSpPr>
          <p:cNvPr id="13" name="Connector 12"/>
          <p:cNvCxnSpPr/>
          <p:nvPr/>
        </p:nvCxnSpPr>
        <p:spPr>
          <a:xfrm>
            <a:off x="685800" y="27116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66928" y="2711640"/>
            <a:ext cx="11055096" cy="529717"/>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711640"/>
            <a:ext cx="5799692"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за объяснение, которое никто не прочтёт, платить не приходится</a:t>
            </a:r>
          </a:p>
        </p:txBody>
      </p:sp>
      <p:sp>
        <p:nvSpPr>
          <p:cNvPr id="16" name="TextBox 15"/>
          <p:cNvSpPr txBox="1"/>
          <p:nvPr/>
        </p:nvSpPr>
        <p:spPr>
          <a:xfrm>
            <a:off x="6631796" y="2711640"/>
            <a:ext cx="472505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поставщик молодой: имена в этой нише меняются быстрее механики</a:t>
            </a:r>
          </a:p>
        </p:txBody>
      </p:sp>
      <p:sp>
        <p:nvSpPr>
          <p:cNvPr id="17" name="Rounded Rectangle 16"/>
          <p:cNvSpPr/>
          <p:nvPr/>
        </p:nvSpPr>
        <p:spPr>
          <a:xfrm>
            <a:off x="502920" y="3742181"/>
            <a:ext cx="82296" cy="13335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3870197"/>
            <a:ext cx="10643616" cy="10774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Такой вызов называют decision-моделью, решающей моделью: на входе текст, на выходе готовое</a:t>
            </a:r>
          </a:p>
          <a:p>
            <a:pPr algn="l">
              <a:lnSpc>
                <a:spcPts val="1860"/>
              </a:lnSpc>
              <a:spcAft>
                <a:spcPts val="300"/>
              </a:spcAft>
            </a:pPr>
            <a:r>
              <a:rPr sz="1500" b="1" i="0">
                <a:solidFill>
                  <a:srgbClr val="141B2E"/>
                </a:solidFill>
                <a:latin typeface="Arial"/>
              </a:rPr>
              <a:t>значение. Действующий пример — Jev, продукт компании TypeSafe AI: письмо уходит туда как</a:t>
            </a:r>
          </a:p>
          <a:p>
            <a:pPr algn="l">
              <a:lnSpc>
                <a:spcPts val="1860"/>
              </a:lnSpc>
              <a:spcAft>
                <a:spcPts val="300"/>
              </a:spcAft>
            </a:pPr>
            <a:r>
              <a:rPr sz="1500" b="1" i="0">
                <a:solidFill>
                  <a:srgbClr val="141B2E"/>
                </a:solidFill>
                <a:latin typeface="Arial"/>
              </a:rPr>
              <a:t>вход, в ответ приходит значение. Классификация требует меньше вычислений, чем связный</a:t>
            </a:r>
          </a:p>
          <a:p>
            <a:pPr algn="l">
              <a:lnSpc>
                <a:spcPts val="1860"/>
              </a:lnSpc>
              <a:spcAft>
                <a:spcPts val="300"/>
              </a:spcAft>
            </a:pPr>
            <a:r>
              <a:rPr sz="1500" b="1" i="0">
                <a:solidFill>
                  <a:srgbClr val="141B2E"/>
                </a:solidFill>
                <a:latin typeface="Arial"/>
              </a:rPr>
              <a:t>текст, и цена вызова это отражает.</a:t>
            </a:r>
          </a:p>
        </p:txBody>
      </p:sp>
      <p:sp>
        <p:nvSpPr>
          <p:cNvPr id="19" name="Rounded Rectangle 18"/>
          <p:cNvSpPr/>
          <p:nvPr/>
        </p:nvSpPr>
        <p:spPr>
          <a:xfrm>
            <a:off x="502920" y="5393626"/>
            <a:ext cx="11183112" cy="84201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521642"/>
            <a:ext cx="10634472" cy="58597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Вопрос к своему пайплайну: сколько в нём шагов гоняют полный вызов ради одного слова на</a:t>
            </a:r>
          </a:p>
          <a:p>
            <a:pPr algn="ctr">
              <a:lnSpc>
                <a:spcPts val="2013"/>
              </a:lnSpc>
              <a:spcAft>
                <a:spcPts val="300"/>
              </a:spcAft>
            </a:pPr>
            <a:r>
              <a:rPr sz="1650" b="1" i="0">
                <a:solidFill>
                  <a:srgbClr val="141B2E"/>
                </a:solidFill>
                <a:latin typeface="Arial"/>
              </a:rPr>
              <a:t>выходе?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Маршрутизатор молчит дважды</a:t>
            </a:r>
          </a:p>
        </p:txBody>
      </p:sp>
      <p:pic>
        <p:nvPicPr>
          <p:cNvPr id="3" name="Picture 2" descr="marshrut-c4-razvilka-chuzhoe-pismo.png"/>
          <p:cNvPicPr>
            <a:picLocks noChangeAspect="1"/>
          </p:cNvPicPr>
          <p:nvPr/>
        </p:nvPicPr>
        <p:blipFill>
          <a:blip r:embed="rId2"/>
          <a:stretch>
            <a:fillRect/>
          </a:stretch>
        </p:blipFill>
        <p:spPr>
          <a:xfrm>
            <a:off x="2077078" y="943356"/>
            <a:ext cx="8034794" cy="2410438"/>
          </a:xfrm>
          <a:prstGeom prst="rect">
            <a:avLst/>
          </a:prstGeom>
        </p:spPr>
      </p:pic>
      <p:sp>
        <p:nvSpPr>
          <p:cNvPr id="4" name="Rounded Rectangle 3"/>
          <p:cNvSpPr/>
          <p:nvPr/>
        </p:nvSpPr>
        <p:spPr>
          <a:xfrm>
            <a:off x="502920" y="3518386"/>
            <a:ext cx="82296" cy="56390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46402"/>
            <a:ext cx="10643616" cy="30787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Молчание первое, на схеме: варианта «подходящей ветки нет» формат ответа не содержит —</a:t>
            </a:r>
          </a:p>
          <a:p>
            <a:pPr algn="l">
              <a:lnSpc>
                <a:spcPts val="1364"/>
              </a:lnSpc>
              <a:spcAft>
                <a:spcPts val="300"/>
              </a:spcAft>
            </a:pPr>
            <a:r>
              <a:rPr sz="1100" b="1" i="0">
                <a:solidFill>
                  <a:srgbClr val="141B2E"/>
                </a:solidFill>
                <a:latin typeface="Arial"/>
              </a:rPr>
              <a:t>письмо уезжает в ближайшую по сходству, и уверенно.</a:t>
            </a:r>
          </a:p>
        </p:txBody>
      </p:sp>
      <p:sp>
        <p:nvSpPr>
          <p:cNvPr id="6" name="Rounded Rectangle 5"/>
          <p:cNvSpPr/>
          <p:nvPr/>
        </p:nvSpPr>
        <p:spPr>
          <a:xfrm>
            <a:off x="502920" y="4246881"/>
            <a:ext cx="82296" cy="95808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74897"/>
            <a:ext cx="10643616" cy="70205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Молчание второе, о причине. Автор Jev спросил у модели «да» или «нет» на вопрос «хороший</a:t>
            </a:r>
          </a:p>
          <a:p>
            <a:pPr algn="l">
              <a:lnSpc>
                <a:spcPts val="1364"/>
              </a:lnSpc>
              <a:spcAft>
                <a:spcPts val="300"/>
              </a:spcAft>
            </a:pPr>
            <a:r>
              <a:rPr sz="1100" b="1" i="0">
                <a:solidFill>
                  <a:srgbClr val="141B2E"/>
                </a:solidFill>
                <a:latin typeface="Arial"/>
              </a:rPr>
              <a:t>ли это город» по каждому городу залива Сан-Франциско. Выше всех — Купертино, ниже всех —</a:t>
            </a:r>
          </a:p>
          <a:p>
            <a:pPr algn="l">
              <a:lnSpc>
                <a:spcPts val="1364"/>
              </a:lnSpc>
              <a:spcAft>
                <a:spcPts val="300"/>
              </a:spcAft>
            </a:pPr>
            <a:r>
              <a:rPr sz="1100" b="1" i="0">
                <a:solidFill>
                  <a:srgbClr val="141B2E"/>
                </a:solidFill>
                <a:latin typeface="Arial"/>
              </a:rPr>
              <a:t>Восточный Пало-Альто: соседние города с резко разным уровнем достатка. Почему оценка</a:t>
            </a:r>
          </a:p>
          <a:p>
            <a:pPr algn="l">
              <a:lnSpc>
                <a:spcPts val="1364"/>
              </a:lnSpc>
              <a:spcAft>
                <a:spcPts val="300"/>
              </a:spcAft>
            </a:pPr>
            <a:r>
              <a:rPr sz="1100" b="1" i="0">
                <a:solidFill>
                  <a:srgbClr val="141B2E"/>
                </a:solidFill>
                <a:latin typeface="Arial"/>
              </a:rPr>
              <a:t>такая, из ответа узнать нельзя: формат отдаёт число (Simon Willison, 2026).</a:t>
            </a:r>
          </a:p>
        </p:txBody>
      </p:sp>
      <p:sp>
        <p:nvSpPr>
          <p:cNvPr id="8" name="Rounded Rectangle 7"/>
          <p:cNvSpPr/>
          <p:nvPr/>
        </p:nvSpPr>
        <p:spPr>
          <a:xfrm>
            <a:off x="502920" y="5369560"/>
            <a:ext cx="82296" cy="95808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97576"/>
            <a:ext cx="10643616" cy="70205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Первое молчание можно было бы поймать вторым, если бы оно говорило: честно низкая</a:t>
            </a:r>
          </a:p>
          <a:p>
            <a:pPr algn="l">
              <a:lnSpc>
                <a:spcPts val="1364"/>
              </a:lnSpc>
              <a:spcAft>
                <a:spcPts val="300"/>
              </a:spcAft>
            </a:pPr>
            <a:r>
              <a:rPr sz="1100" b="1" i="0">
                <a:solidFill>
                  <a:srgbClr val="141B2E"/>
                </a:solidFill>
                <a:latin typeface="Arial"/>
              </a:rPr>
              <a:t>уверенность на странном письме отправляла бы его человеку. В почтовом ящике эта ошибка</a:t>
            </a:r>
          </a:p>
          <a:p>
            <a:pPr algn="l">
              <a:lnSpc>
                <a:spcPts val="1364"/>
              </a:lnSpc>
              <a:spcAft>
                <a:spcPts val="300"/>
              </a:spcAft>
            </a:pPr>
            <a:r>
              <a:rPr sz="1100" b="1" i="0">
                <a:solidFill>
                  <a:srgbClr val="141B2E"/>
                </a:solidFill>
                <a:latin typeface="Arial"/>
              </a:rPr>
              <a:t>стоит одно письмо, и переслать его можно в тот же день. У той же операции есть применения,</a:t>
            </a:r>
          </a:p>
          <a:p>
            <a:pPr algn="l">
              <a:lnSpc>
                <a:spcPts val="1364"/>
              </a:lnSpc>
              <a:spcAft>
                <a:spcPts val="300"/>
              </a:spcAft>
            </a:pPr>
            <a:r>
              <a:rPr sz="1100" b="1" i="0">
                <a:solidFill>
                  <a:srgbClr val="141B2E"/>
                </a:solidFill>
                <a:latin typeface="Arial"/>
              </a:rPr>
              <a:t>где переслать уже нечего.</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17,7% → 46,5%</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Доля чёрных пациентов в программе усиленного наблюдения: та, что даёт алгоритм Optum сегодня, и та, что вышла бы при счёте по тяжести состояния. Остаться снаружи означает ждать, пока болезнь обострится настолько, что её заметят без всякого алгоритма. Решения о помощи для ≈200 млн человек в год (Obermeyer et al., Science, 2019).</a:t>
            </a:r>
          </a:p>
        </p:txBody>
      </p:sp>
      <p:sp>
        <p:nvSpPr>
          <p:cNvPr id="5" name="Rounded Rectangle 4"/>
          <p:cNvSpPr/>
          <p:nvPr/>
        </p:nvSpPr>
        <p:spPr>
          <a:xfrm>
            <a:off x="502920"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А</a:t>
            </a:r>
          </a:p>
        </p:txBody>
      </p:sp>
      <p:sp>
        <p:nvSpPr>
          <p:cNvPr id="7" name="Rounded Rectangle 6"/>
          <p:cNvSpPr/>
          <p:nvPr/>
        </p:nvSpPr>
        <p:spPr>
          <a:xfrm>
            <a:off x="4291584"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Б</a:t>
            </a:r>
          </a:p>
        </p:txBody>
      </p:sp>
      <p:sp>
        <p:nvSpPr>
          <p:cNvPr id="9" name="Rounded Rectangle 8"/>
          <p:cNvSpPr/>
          <p:nvPr/>
        </p:nvSpPr>
        <p:spPr>
          <a:xfrm>
            <a:off x="8080247"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В</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Балл один и тот же, заболеваний на 26,3% больше</a:t>
            </a:r>
          </a:p>
        </p:txBody>
      </p:sp>
      <p:pic>
        <p:nvPicPr>
          <p:cNvPr id="3" name="Picture 2" descr="optum-c5-odin-ball-dva-stolbika.png"/>
          <p:cNvPicPr>
            <a:picLocks noChangeAspect="1"/>
          </p:cNvPicPr>
          <p:nvPr/>
        </p:nvPicPr>
        <p:blipFill>
          <a:blip r:embed="rId2"/>
          <a:stretch>
            <a:fillRect/>
          </a:stretch>
        </p:blipFill>
        <p:spPr>
          <a:xfrm>
            <a:off x="502920" y="950427"/>
            <a:ext cx="11183112" cy="2609392"/>
          </a:xfrm>
          <a:prstGeom prst="rect">
            <a:avLst/>
          </a:prstGeom>
        </p:spPr>
      </p:pic>
      <p:sp>
        <p:nvSpPr>
          <p:cNvPr id="4" name="Rounded Rectangle 3"/>
          <p:cNvSpPr/>
          <p:nvPr/>
        </p:nvSpPr>
        <p:spPr>
          <a:xfrm>
            <a:off x="502920" y="3742090"/>
            <a:ext cx="82296" cy="13335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70106"/>
            <a:ext cx="10643616" cy="10774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Один человек из правого столбика сидит сейчас у терапевта: диабет сорвался с контроля,</a:t>
            </a:r>
          </a:p>
          <a:p>
            <a:pPr algn="l">
              <a:lnSpc>
                <a:spcPts val="1860"/>
              </a:lnSpc>
              <a:spcAft>
                <a:spcPts val="300"/>
              </a:spcAft>
            </a:pPr>
            <a:r>
              <a:rPr sz="1500" b="1" i="0">
                <a:solidFill>
                  <a:srgbClr val="141B2E"/>
                </a:solidFill>
                <a:latin typeface="Arial"/>
              </a:rPr>
              <a:t>давление не держится. Денег система потратила на него столько же, сколько на соседа из</a:t>
            </a:r>
          </a:p>
          <a:p>
            <a:pPr algn="l">
              <a:lnSpc>
                <a:spcPts val="1860"/>
              </a:lnSpc>
              <a:spcAft>
                <a:spcPts val="300"/>
              </a:spcAft>
            </a:pPr>
            <a:r>
              <a:rPr sz="1500" b="1" i="0">
                <a:solidFill>
                  <a:srgbClr val="141B2E"/>
                </a:solidFill>
                <a:latin typeface="Arial"/>
              </a:rPr>
              <a:t>левого столбика, — только ушли они на экстренные визиты при обострениях. Координатор</a:t>
            </a:r>
          </a:p>
          <a:p>
            <a:pPr algn="l">
              <a:lnSpc>
                <a:spcPts val="1860"/>
              </a:lnSpc>
              <a:spcAft>
                <a:spcPts val="300"/>
              </a:spcAft>
            </a:pPr>
            <a:r>
              <a:rPr sz="1500" b="1" i="0">
                <a:solidFill>
                  <a:srgbClr val="141B2E"/>
                </a:solidFill>
                <a:latin typeface="Arial"/>
              </a:rPr>
              <a:t>программы видит одно число, балл Optum, и свободные места кончаются выше этой строки.</a:t>
            </a:r>
          </a:p>
        </p:txBody>
      </p:sp>
      <p:sp>
        <p:nvSpPr>
          <p:cNvPr id="6" name="Rounded Rectangle 5"/>
          <p:cNvSpPr/>
          <p:nvPr/>
        </p:nvSpPr>
        <p:spPr>
          <a:xfrm>
            <a:off x="502920" y="5257860"/>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385876"/>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Одна заниженная оценка у одного человека — шум измерения, и шум гасится при усреднении.</a:t>
            </a:r>
          </a:p>
          <a:p>
            <a:pPr algn="l">
              <a:lnSpc>
                <a:spcPts val="1860"/>
              </a:lnSpc>
              <a:spcAft>
                <a:spcPts val="300"/>
              </a:spcAft>
            </a:pPr>
            <a:r>
              <a:rPr sz="1500" b="1" i="0">
                <a:solidFill>
                  <a:srgbClr val="141B2E"/>
                </a:solidFill>
                <a:latin typeface="Arial"/>
              </a:rPr>
              <a:t>Здесь разница держится у всей группы разом и в одну сторону: от усреднения она только</a:t>
            </a:r>
          </a:p>
          <a:p>
            <a:pPr algn="l">
              <a:lnSpc>
                <a:spcPts val="1860"/>
              </a:lnSpc>
              <a:spcAft>
                <a:spcPts val="300"/>
              </a:spcAft>
            </a:pPr>
            <a:r>
              <a:rPr sz="1500" b="1" i="0">
                <a:solidFill>
                  <a:srgbClr val="141B2E"/>
                </a:solidFill>
                <a:latin typeface="Arial"/>
              </a:rPr>
              <a:t>крепнет. Так и отличают случайную ошибку от свойства самого алгоритма.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алгоритм заменил «потребность в помощи»?</a:t>
            </a:r>
          </a:p>
        </p:txBody>
      </p:sp>
      <p:sp>
        <p:nvSpPr>
          <p:cNvPr id="3" name="Rectangle 2"/>
          <p:cNvSpPr/>
          <p:nvPr/>
        </p:nvSpPr>
        <p:spPr>
          <a:xfrm>
            <a:off x="502920" y="169346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4833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«Алгоритм не видит расу пациента на входе вообще.»</a:t>
            </a:r>
          </a:p>
        </p:txBody>
      </p:sp>
      <p:sp>
        <p:nvSpPr>
          <p:cNvPr id="5" name="Rounded Rectangle 4"/>
          <p:cNvSpPr/>
          <p:nvPr/>
        </p:nvSpPr>
        <p:spPr>
          <a:xfrm>
            <a:off x="502920" y="271531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84332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из перечисленного он мог взять вместо „потребности в помощи“ — и почему такой выбор уводит результат по линии расы?»</a:t>
            </a:r>
          </a:p>
        </p:txBody>
      </p:sp>
      <p:sp>
        <p:nvSpPr>
          <p:cNvPr id="7" name="Rounded Rectangle 6"/>
          <p:cNvSpPr/>
          <p:nvPr/>
        </p:nvSpPr>
        <p:spPr>
          <a:xfrm>
            <a:off x="502920" y="420578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20578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число предыдущих диагнозов</a:t>
            </a:r>
          </a:p>
        </p:txBody>
      </p:sp>
      <p:sp>
        <p:nvSpPr>
          <p:cNvPr id="9" name="Rounded Rectangle 8"/>
          <p:cNvSpPr/>
          <p:nvPr/>
        </p:nvSpPr>
        <p:spPr>
          <a:xfrm>
            <a:off x="3335274" y="420578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002" y="420578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прошлые расходы на здравоохранение</a:t>
            </a:r>
          </a:p>
        </p:txBody>
      </p:sp>
      <p:sp>
        <p:nvSpPr>
          <p:cNvPr id="11" name="Rounded Rectangle 10"/>
          <p:cNvSpPr/>
          <p:nvPr/>
        </p:nvSpPr>
        <p:spPr>
          <a:xfrm>
            <a:off x="6167628" y="420578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77356" y="420578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количество выписанных препаратов</a:t>
            </a:r>
          </a:p>
        </p:txBody>
      </p:sp>
      <p:sp>
        <p:nvSpPr>
          <p:cNvPr id="13" name="Rounded Rectangle 12"/>
          <p:cNvSpPr/>
          <p:nvPr/>
        </p:nvSpPr>
        <p:spPr>
          <a:xfrm>
            <a:off x="8999982" y="420578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09710" y="420578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число обращений в больницу за год</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Алгоритм взял прошлые расходы — и вместе с ними историю доступа к медицине</a:t>
            </a:r>
          </a:p>
        </p:txBody>
      </p:sp>
      <p:sp>
        <p:nvSpPr>
          <p:cNvPr id="3" name="Rounded Rectangle 2"/>
          <p:cNvSpPr/>
          <p:nvPr/>
        </p:nvSpPr>
        <p:spPr>
          <a:xfrm>
            <a:off x="502920" y="1340950"/>
            <a:ext cx="11183112" cy="2401570"/>
          </a:xfrm>
          <a:prstGeom prst="roundRect">
            <a:avLst>
              <a:gd name="adj" fmla="val 1269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23830"/>
            <a:ext cx="19698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КАНДИДАТ</a:t>
            </a:r>
          </a:p>
        </p:txBody>
      </p:sp>
      <p:sp>
        <p:nvSpPr>
          <p:cNvPr id="5" name="TextBox 4"/>
          <p:cNvSpPr txBox="1"/>
          <p:nvPr/>
        </p:nvSpPr>
        <p:spPr>
          <a:xfrm>
            <a:off x="2801992" y="1523830"/>
            <a:ext cx="855485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ЧИСЛО СЧИТАЕТ ПОМИМО БОЛЕЗНИ</a:t>
            </a:r>
          </a:p>
        </p:txBody>
      </p:sp>
      <p:sp>
        <p:nvSpPr>
          <p:cNvPr id="6" name="TextBox 5"/>
          <p:cNvSpPr txBox="1"/>
          <p:nvPr/>
        </p:nvSpPr>
        <p:spPr>
          <a:xfrm>
            <a:off x="685800" y="1805897"/>
            <a:ext cx="196988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предыдущие диагнозы</a:t>
            </a:r>
          </a:p>
        </p:txBody>
      </p:sp>
      <p:sp>
        <p:nvSpPr>
          <p:cNvPr id="7" name="TextBox 6"/>
          <p:cNvSpPr txBox="1"/>
          <p:nvPr/>
        </p:nvSpPr>
        <p:spPr>
          <a:xfrm>
            <a:off x="2801992" y="1805897"/>
            <a:ext cx="85548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нужен визит и запись врача; перекос тот же, слабее: записанный диагноз из карты уже не уходит</a:t>
            </a:r>
          </a:p>
        </p:txBody>
      </p:sp>
      <p:cxnSp>
        <p:nvCxnSpPr>
          <p:cNvPr id="8" name="Connector 7"/>
          <p:cNvCxnSpPr/>
          <p:nvPr/>
        </p:nvCxnSpPr>
        <p:spPr>
          <a:xfrm>
            <a:off x="685800" y="21530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66928" y="2153052"/>
            <a:ext cx="11055096" cy="529717"/>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53052"/>
            <a:ext cx="196988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прошлые расходы</a:t>
            </a:r>
          </a:p>
        </p:txBody>
      </p:sp>
      <p:sp>
        <p:nvSpPr>
          <p:cNvPr id="11" name="TextBox 10"/>
          <p:cNvSpPr txBox="1"/>
          <p:nvPr/>
        </p:nvSpPr>
        <p:spPr>
          <a:xfrm>
            <a:off x="2801992" y="2153052"/>
            <a:ext cx="855485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выбор алгоритма: каждый визит, процедура, направление — вся история доступа, да ещё и с ценами</a:t>
            </a:r>
          </a:p>
        </p:txBody>
      </p:sp>
      <p:cxnSp>
        <p:nvCxnSpPr>
          <p:cNvPr id="12" name="Connector 11"/>
          <p:cNvCxnSpPr/>
          <p:nvPr/>
        </p:nvCxnSpPr>
        <p:spPr>
          <a:xfrm>
            <a:off x="685800" y="26827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82769"/>
            <a:ext cx="19698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выписанные препараты</a:t>
            </a:r>
          </a:p>
        </p:txBody>
      </p:sp>
      <p:sp>
        <p:nvSpPr>
          <p:cNvPr id="14" name="TextBox 13"/>
          <p:cNvSpPr txBox="1"/>
          <p:nvPr/>
        </p:nvSpPr>
        <p:spPr>
          <a:xfrm>
            <a:off x="2801992" y="2682769"/>
            <a:ext cx="85548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три двери: визит, назначение, выкупленный рецепт; последняя — кошелёк пациента</a:t>
            </a:r>
          </a:p>
        </p:txBody>
      </p:sp>
      <p:cxnSp>
        <p:nvCxnSpPr>
          <p:cNvPr id="15" name="Connector 14"/>
          <p:cNvCxnSpPr/>
          <p:nvPr/>
        </p:nvCxnSpPr>
        <p:spPr>
          <a:xfrm>
            <a:off x="685800" y="32124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212486"/>
            <a:ext cx="196988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обращения в больницу</a:t>
            </a:r>
          </a:p>
        </p:txBody>
      </p:sp>
      <p:sp>
        <p:nvSpPr>
          <p:cNvPr id="17" name="TextBox 16"/>
          <p:cNvSpPr txBox="1"/>
          <p:nvPr/>
        </p:nvSpPr>
        <p:spPr>
          <a:xfrm>
            <a:off x="2801992" y="3212486"/>
            <a:ext cx="85548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дорога, рабочий день, доверие к врачу; реже придёт тот, у кого с ними хуже</a:t>
            </a:r>
          </a:p>
        </p:txBody>
      </p:sp>
      <p:sp>
        <p:nvSpPr>
          <p:cNvPr id="18" name="Rounded Rectangle 17"/>
          <p:cNvSpPr/>
          <p:nvPr/>
        </p:nvSpPr>
        <p:spPr>
          <a:xfrm>
            <a:off x="502920" y="3960029"/>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088045"/>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Все четыре считают зафиксированные контакты с медициной: болезнь попадает в число только</a:t>
            </a:r>
          </a:p>
          <a:p>
            <a:pPr algn="l">
              <a:lnSpc>
                <a:spcPts val="1860"/>
              </a:lnSpc>
              <a:spcAft>
                <a:spcPts val="300"/>
              </a:spcAft>
            </a:pPr>
            <a:r>
              <a:rPr sz="1500" b="1" i="0">
                <a:solidFill>
                  <a:srgbClr val="141B2E"/>
                </a:solidFill>
                <a:latin typeface="Arial"/>
              </a:rPr>
              <a:t>через них. Расходы собирают эту историю полнее — за это их и выбрали, за это же они и</a:t>
            </a:r>
          </a:p>
          <a:p>
            <a:pPr algn="l">
              <a:lnSpc>
                <a:spcPts val="1860"/>
              </a:lnSpc>
              <a:spcAft>
                <a:spcPts val="300"/>
              </a:spcAft>
            </a:pPr>
            <a:r>
              <a:rPr sz="1500" b="1" i="0">
                <a:solidFill>
                  <a:srgbClr val="141B2E"/>
                </a:solidFill>
                <a:latin typeface="Arial"/>
              </a:rPr>
              <a:t>перекосили результат.</a:t>
            </a:r>
          </a:p>
        </p:txBody>
      </p:sp>
      <p:sp>
        <p:nvSpPr>
          <p:cNvPr id="20" name="Rounded Rectangle 19"/>
          <p:cNvSpPr/>
          <p:nvPr/>
        </p:nvSpPr>
        <p:spPr>
          <a:xfrm>
            <a:off x="502920" y="5236717"/>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364733"/>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Пересчёт по числу активных хронических заболеваний вместо расходов, при том же пороге</a:t>
            </a:r>
          </a:p>
          <a:p>
            <a:pPr algn="l">
              <a:lnSpc>
                <a:spcPts val="1860"/>
              </a:lnSpc>
              <a:spcAft>
                <a:spcPts val="300"/>
              </a:spcAft>
            </a:pPr>
            <a:r>
              <a:rPr sz="1500" b="1" i="0">
                <a:solidFill>
                  <a:srgbClr val="141B2E"/>
                </a:solidFill>
                <a:latin typeface="Arial"/>
              </a:rPr>
              <a:t>отбора: 46,5% чёрных пациентов против сегодняшних 17,7%. Те же люди, те же диагнозы.</a:t>
            </a:r>
          </a:p>
          <a:p>
            <a:pPr algn="l">
              <a:lnSpc>
                <a:spcPts val="1860"/>
              </a:lnSpc>
              <a:spcAft>
                <a:spcPts val="300"/>
              </a:spcAft>
            </a:pPr>
            <a:r>
              <a:rPr sz="1500" b="1" i="0">
                <a:solidFill>
                  <a:srgbClr val="141B2E"/>
                </a:solidFill>
                <a:latin typeface="Arial"/>
              </a:rPr>
              <a:t>Решения о помощи для ≈200 млн человек в год.</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10536"/>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Проверка, которая вскрыла Optum, здесь проходит чисто</a:t>
            </a:r>
          </a:p>
        </p:txBody>
      </p:sp>
      <p:sp>
        <p:nvSpPr>
          <p:cNvPr id="4" name="TextBox 3"/>
          <p:cNvSpPr txBox="1"/>
          <p:nvPr/>
        </p:nvSpPr>
        <p:spPr>
          <a:xfrm>
            <a:off x="1234440" y="359257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Другое ведомство, другие данные, десятки миллионов деклараций ежегодно. Величину, которую здесь считали, подменять не пришлось вообще.</a:t>
            </a:r>
          </a:p>
        </p:txBody>
      </p:sp>
      <p:sp>
        <p:nvSpPr>
          <p:cNvPr id="5" name="Rounded Rectangle 4"/>
          <p:cNvSpPr/>
          <p:nvPr/>
        </p:nvSpPr>
        <p:spPr>
          <a:xfrm>
            <a:off x="502920"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А</a:t>
            </a:r>
          </a:p>
        </p:txBody>
      </p:sp>
      <p:sp>
        <p:nvSpPr>
          <p:cNvPr id="7" name="Rounded Rectangle 6"/>
          <p:cNvSpPr/>
          <p:nvPr/>
        </p:nvSpPr>
        <p:spPr>
          <a:xfrm>
            <a:off x="4291584"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Б</a:t>
            </a:r>
          </a:p>
        </p:txBody>
      </p:sp>
      <p:sp>
        <p:nvSpPr>
          <p:cNvPr id="9" name="Rounded Rectangle 8"/>
          <p:cNvSpPr/>
          <p:nvPr/>
        </p:nvSpPr>
        <p:spPr>
          <a:xfrm>
            <a:off x="8080247"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В</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Цена одного письма для семьи — и разрыв в 2,9–4,7 раза</a:t>
            </a:r>
          </a:p>
        </p:txBody>
      </p:sp>
      <p:pic>
        <p:nvPicPr>
          <p:cNvPr id="3" name="Picture 2" descr="irs-c6-tsena-pisma.png"/>
          <p:cNvPicPr>
            <a:picLocks noChangeAspect="1"/>
          </p:cNvPicPr>
          <p:nvPr/>
        </p:nvPicPr>
        <p:blipFill>
          <a:blip r:embed="rId2"/>
          <a:stretch>
            <a:fillRect/>
          </a:stretch>
        </p:blipFill>
        <p:spPr>
          <a:xfrm>
            <a:off x="1002171" y="943356"/>
            <a:ext cx="10184608" cy="2376408"/>
          </a:xfrm>
          <a:prstGeom prst="rect">
            <a:avLst/>
          </a:prstGeom>
        </p:spPr>
      </p:pic>
      <p:sp>
        <p:nvSpPr>
          <p:cNvPr id="4" name="Rounded Rectangle 3"/>
          <p:cNvSpPr/>
          <p:nvPr/>
        </p:nvSpPr>
        <p:spPr>
          <a:xfrm>
            <a:off x="502920" y="3484356"/>
            <a:ext cx="82296" cy="12075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12372"/>
            <a:ext cx="10643616" cy="951484"/>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Внутренние алгоритмы налоговой службы США (IRS) отбирают декларации на проверку: поток</a:t>
            </a:r>
          </a:p>
          <a:p>
            <a:pPr algn="l">
              <a:lnSpc>
                <a:spcPts val="1612"/>
              </a:lnSpc>
              <a:spcAft>
                <a:spcPts val="300"/>
              </a:spcAft>
            </a:pPr>
            <a:r>
              <a:rPr sz="1300" b="1" i="0">
                <a:solidFill>
                  <a:srgbClr val="141B2E"/>
                </a:solidFill>
                <a:latin typeface="Arial"/>
              </a:rPr>
              <a:t>огромен, инспекторов на ручную проверку каждой не хватает, и значительная часть отбора</a:t>
            </a:r>
          </a:p>
          <a:p>
            <a:pPr algn="l">
              <a:lnSpc>
                <a:spcPts val="1612"/>
              </a:lnSpc>
              <a:spcAft>
                <a:spcPts val="300"/>
              </a:spcAft>
            </a:pPr>
            <a:r>
              <a:rPr sz="1300" b="1" i="0">
                <a:solidFill>
                  <a:srgbClr val="141B2E"/>
                </a:solidFill>
                <a:latin typeface="Arial"/>
              </a:rPr>
              <a:t>идёт через скрининг заявок на EITC — вычет для работников с низким доходом. Таким</a:t>
            </a:r>
          </a:p>
          <a:p>
            <a:pPr algn="l">
              <a:lnSpc>
                <a:spcPts val="1612"/>
              </a:lnSpc>
              <a:spcAft>
                <a:spcPts val="300"/>
              </a:spcAft>
            </a:pPr>
            <a:r>
              <a:rPr sz="1300" b="1" i="0">
                <a:solidFill>
                  <a:srgbClr val="141B2E"/>
                </a:solidFill>
                <a:latin typeface="Arial"/>
              </a:rPr>
              <a:t>заявителям декларацию проверяют заметно чаще остальных.</a:t>
            </a:r>
          </a:p>
        </p:txBody>
      </p:sp>
      <p:sp>
        <p:nvSpPr>
          <p:cNvPr id="6" name="Rounded Rectangle 5"/>
          <p:cNvSpPr/>
          <p:nvPr/>
        </p:nvSpPr>
        <p:spPr>
          <a:xfrm>
            <a:off x="502920" y="4856464"/>
            <a:ext cx="82296" cy="14503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84480"/>
            <a:ext cx="10643616" cy="1194308"/>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Второе измерение этого отбора — кому его письма приходят. При схожих декларациях (тот же</a:t>
            </a:r>
          </a:p>
          <a:p>
            <a:pPr algn="l">
              <a:lnSpc>
                <a:spcPts val="1612"/>
              </a:lnSpc>
              <a:spcAft>
                <a:spcPts val="300"/>
              </a:spcAft>
            </a:pPr>
            <a:r>
              <a:rPr sz="1300" b="1" i="0">
                <a:solidFill>
                  <a:srgbClr val="141B2E"/>
                </a:solidFill>
                <a:latin typeface="Arial"/>
              </a:rPr>
              <a:t>диапазон дохода, та же структура вычетов, то же претендование на EITC) чернокожих</a:t>
            </a:r>
          </a:p>
          <a:p>
            <a:pPr algn="l">
              <a:lnSpc>
                <a:spcPts val="1612"/>
              </a:lnSpc>
              <a:spcAft>
                <a:spcPts val="300"/>
              </a:spcAft>
            </a:pPr>
            <a:r>
              <a:rPr sz="1300" b="1" i="0">
                <a:solidFill>
                  <a:srgbClr val="141B2E"/>
                </a:solidFill>
                <a:latin typeface="Arial"/>
              </a:rPr>
              <a:t>налогоплательщиков аудировали в </a:t>
            </a:r>
            <a:r>
              <a:rPr sz="1300" b="1" i="0">
                <a:solidFill>
                  <a:srgbClr val="141B2E"/>
                </a:solidFill>
                <a:latin typeface="Arial"/>
              </a:rPr>
              <a:t>2,9–4,7 раза чаще</a:t>
            </a:r>
            <a:r>
              <a:rPr sz="1300" b="1" i="0">
                <a:solidFill>
                  <a:srgbClr val="141B2E"/>
                </a:solidFill>
                <a:latin typeface="Arial"/>
              </a:rPr>
              <a:t>. Расы в данных отбора нет вообще:</a:t>
            </a:r>
          </a:p>
          <a:p>
            <a:pPr algn="l">
              <a:lnSpc>
                <a:spcPts val="1612"/>
              </a:lnSpc>
              <a:spcAft>
                <a:spcPts val="300"/>
              </a:spcAft>
            </a:pPr>
            <a:r>
              <a:rPr sz="1300" b="1" i="0">
                <a:solidFill>
                  <a:srgbClr val="141B2E"/>
                </a:solidFill>
                <a:latin typeface="Arial"/>
              </a:rPr>
              <a:t>такого поля декларация не содержит. Stanford и IRS, 2023; IRS результат подтвердила и</a:t>
            </a:r>
          </a:p>
          <a:p>
            <a:pPr algn="l">
              <a:lnSpc>
                <a:spcPts val="1612"/>
              </a:lnSpc>
              <a:spcAft>
                <a:spcPts val="300"/>
              </a:spcAft>
            </a:pPr>
            <a:r>
              <a:rPr sz="1300" b="1" i="0">
                <a:solidFill>
                  <a:srgbClr val="141B2E"/>
                </a:solidFill>
                <a:latin typeface="Arial"/>
              </a:rPr>
              <a:t>объявила о намерении исправить отбор.</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Он сделал то, что просили. Где сломалось?</a:t>
            </a:r>
          </a:p>
        </p:txBody>
      </p:sp>
      <p:sp>
        <p:nvSpPr>
          <p:cNvPr id="3" name="Rounded Rectangle 2"/>
          <p:cNvSpPr/>
          <p:nvPr/>
        </p:nvSpPr>
        <p:spPr>
          <a:xfrm>
            <a:off x="502920" y="943356"/>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179832"/>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Как поставлена задача отбора</a:t>
            </a:r>
          </a:p>
        </p:txBody>
      </p:sp>
      <p:sp>
        <p:nvSpPr>
          <p:cNvPr id="6" name="Rounded Rectangle 5"/>
          <p:cNvSpPr/>
          <p:nvPr/>
        </p:nvSpPr>
        <p:spPr>
          <a:xfrm>
            <a:off x="502920" y="1562100"/>
            <a:ext cx="11183112" cy="1268730"/>
          </a:xfrm>
          <a:prstGeom prst="roundRect">
            <a:avLst>
              <a:gd name="adj" fmla="val 240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744980"/>
            <a:ext cx="3997478"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ВХОД</a:t>
            </a:r>
          </a:p>
        </p:txBody>
      </p:sp>
      <p:sp>
        <p:nvSpPr>
          <p:cNvPr id="8" name="TextBox 7"/>
          <p:cNvSpPr txBox="1"/>
          <p:nvPr/>
        </p:nvSpPr>
        <p:spPr>
          <a:xfrm>
            <a:off x="4829582" y="1744980"/>
            <a:ext cx="652726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ДЕСЯТКИ МИЛЛИОНОВ ДЕКЛАРАЦИЙ В ГОД</a:t>
            </a:r>
          </a:p>
        </p:txBody>
      </p:sp>
      <p:sp>
        <p:nvSpPr>
          <p:cNvPr id="9" name="TextBox 8"/>
          <p:cNvSpPr txBox="1"/>
          <p:nvPr/>
        </p:nvSpPr>
        <p:spPr>
          <a:xfrm>
            <a:off x="685800" y="2012061"/>
            <a:ext cx="3997478"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ресурс</a:t>
            </a:r>
          </a:p>
        </p:txBody>
      </p:sp>
      <p:sp>
        <p:nvSpPr>
          <p:cNvPr id="10" name="TextBox 9"/>
          <p:cNvSpPr txBox="1"/>
          <p:nvPr/>
        </p:nvSpPr>
        <p:spPr>
          <a:xfrm>
            <a:off x="4829582" y="2012061"/>
            <a:ext cx="652726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ограниченное число инспекторских часов</a:t>
            </a:r>
          </a:p>
        </p:txBody>
      </p:sp>
      <p:cxnSp>
        <p:nvCxnSpPr>
          <p:cNvPr id="11" name="Connector 10"/>
          <p:cNvCxnSpPr/>
          <p:nvPr/>
        </p:nvCxnSpPr>
        <p:spPr>
          <a:xfrm>
            <a:off x="685800" y="23300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330005"/>
            <a:ext cx="3997478"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цель</a:t>
            </a:r>
          </a:p>
        </p:txBody>
      </p:sp>
      <p:sp>
        <p:nvSpPr>
          <p:cNvPr id="13" name="TextBox 12"/>
          <p:cNvSpPr txBox="1"/>
          <p:nvPr/>
        </p:nvSpPr>
        <p:spPr>
          <a:xfrm>
            <a:off x="4829582" y="2330005"/>
            <a:ext cx="652726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найти как можно больше нарушений</a:t>
            </a:r>
          </a:p>
        </p:txBody>
      </p:sp>
      <p:sp>
        <p:nvSpPr>
          <p:cNvPr id="14" name="Rectangle 13"/>
          <p:cNvSpPr/>
          <p:nvPr/>
        </p:nvSpPr>
        <p:spPr>
          <a:xfrm>
            <a:off x="502920" y="303199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2668" y="308686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Отбор поднял наверх декларации, которые проверяются быстрее. Он сделал ровно то, что в задании.</a:t>
            </a:r>
          </a:p>
        </p:txBody>
      </p:sp>
      <p:sp>
        <p:nvSpPr>
          <p:cNvPr id="16" name="Rounded Rectangle 15"/>
          <p:cNvSpPr/>
          <p:nvPr/>
        </p:nvSpPr>
        <p:spPr>
          <a:xfrm>
            <a:off x="502920" y="3550920"/>
            <a:ext cx="11183112" cy="78675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678936"/>
            <a:ext cx="10634472" cy="53071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Где здесь сломалось?</a:t>
            </a:r>
          </a:p>
        </p:txBody>
      </p:sp>
      <p:sp>
        <p:nvSpPr>
          <p:cNvPr id="18" name="Rounded Rectangle 17"/>
          <p:cNvSpPr/>
          <p:nvPr/>
        </p:nvSpPr>
        <p:spPr>
          <a:xfrm>
            <a:off x="502920" y="4502262"/>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2648" y="4502262"/>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подменённый признак</a:t>
            </a:r>
          </a:p>
        </p:txBody>
      </p:sp>
      <p:sp>
        <p:nvSpPr>
          <p:cNvPr id="20" name="Rounded Rectangle 19"/>
          <p:cNvSpPr/>
          <p:nvPr/>
        </p:nvSpPr>
        <p:spPr>
          <a:xfrm>
            <a:off x="4279392" y="4502262"/>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89120" y="4502262"/>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порог отбора</a:t>
            </a:r>
          </a:p>
        </p:txBody>
      </p:sp>
      <p:sp>
        <p:nvSpPr>
          <p:cNvPr id="22" name="Rounded Rectangle 21"/>
          <p:cNvSpPr/>
          <p:nvPr/>
        </p:nvSpPr>
        <p:spPr>
          <a:xfrm>
            <a:off x="8055863" y="4502262"/>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65591" y="4502262"/>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состав данных</a:t>
            </a:r>
          </a:p>
        </p:txBody>
      </p:sp>
      <p:sp>
        <p:nvSpPr>
          <p:cNvPr id="24" name="Rounded Rectangle 23"/>
          <p:cNvSpPr/>
          <p:nvPr/>
        </p:nvSpPr>
        <p:spPr>
          <a:xfrm>
            <a:off x="502920" y="5718414"/>
            <a:ext cx="11183112" cy="642111"/>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5855574"/>
            <a:ext cx="10707624" cy="367791"/>
          </a:xfrm>
          <a:prstGeom prst="rect">
            <a:avLst/>
          </a:prstGeom>
          <a:noFill/>
        </p:spPr>
        <p:txBody>
          <a:bodyPr wrap="square" lIns="0" rIns="0" tIns="0" bIns="0" anchor="ctr">
            <a:spAutoFit/>
          </a:bodyPr>
          <a:lstStyle/>
          <a:p>
            <a:pPr algn="l">
              <a:lnSpc>
                <a:spcPts val="1297"/>
              </a:lnSpc>
              <a:spcAft>
                <a:spcPts val="300"/>
              </a:spcAft>
            </a:pPr>
            <a:r>
              <a:rPr sz="1100" b="0" i="1">
                <a:solidFill>
                  <a:srgbClr val="6B7685"/>
                </a:solidFill>
                <a:latin typeface="Arial"/>
              </a:rPr>
              <a:t>Оговорка: </a:t>
            </a:r>
            <a:r>
              <a:rPr sz="1100" b="1" i="1">
                <a:solidFill>
                  <a:srgbClr val="6B7685"/>
                </a:solidFill>
                <a:latin typeface="Arial"/>
              </a:rPr>
              <a:t>верного целиком варианта среди этих трёх нет</a:t>
            </a:r>
            <a:r>
              <a:rPr sz="1100" b="0" i="1">
                <a:solidFill>
                  <a:srgbClr val="6B7685"/>
                </a:solidFill>
                <a:latin typeface="Arial"/>
              </a:rPr>
              <a:t> — поломка лежит в стороне от</a:t>
            </a:r>
          </a:p>
          <a:p>
            <a:pPr algn="l">
              <a:lnSpc>
                <a:spcPts val="1297"/>
              </a:lnSpc>
              <a:spcAft>
                <a:spcPts val="300"/>
              </a:spcAft>
            </a:pPr>
            <a:r>
              <a:rPr sz="1100" b="0" i="1">
                <a:solidFill>
                  <a:srgbClr val="6B7685"/>
                </a:solidFill>
                <a:latin typeface="Arial"/>
              </a:rPr>
              <a:t>всех трёх мест. Ближайшее стоит выбрать вместе с доводом: довод здесь весит больше выбора.</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Ни одно из трёх мест не сломано. Сломана постановка</a:t>
            </a:r>
          </a:p>
        </p:txBody>
      </p:sp>
      <p:pic>
        <p:nvPicPr>
          <p:cNvPr id="3" name="Picture 2" descr="irs-c6-lestnitsa-deshevizny.png"/>
          <p:cNvPicPr>
            <a:picLocks noChangeAspect="1"/>
          </p:cNvPicPr>
          <p:nvPr/>
        </p:nvPicPr>
        <p:blipFill>
          <a:blip r:embed="rId2"/>
          <a:stretch>
            <a:fillRect/>
          </a:stretch>
        </p:blipFill>
        <p:spPr>
          <a:xfrm>
            <a:off x="703869" y="943356"/>
            <a:ext cx="10781213" cy="2785146"/>
          </a:xfrm>
          <a:prstGeom prst="rect">
            <a:avLst/>
          </a:prstGeom>
        </p:spPr>
      </p:pic>
      <p:sp>
        <p:nvSpPr>
          <p:cNvPr id="4" name="Rounded Rectangle 3"/>
          <p:cNvSpPr/>
          <p:nvPr/>
        </p:nvSpPr>
        <p:spPr>
          <a:xfrm>
            <a:off x="502920" y="3893094"/>
            <a:ext cx="82296" cy="12324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21110"/>
            <a:ext cx="10643616" cy="9763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Optum сломался на мере:</a:t>
            </a:r>
            <a:r>
              <a:rPr sz="1400" b="1" i="0">
                <a:solidFill>
                  <a:srgbClr val="141B2E"/>
                </a:solidFill>
                <a:latin typeface="Arial"/>
              </a:rPr>
              <a:t> нужную величину измерили расходами. </a:t>
            </a:r>
            <a:r>
              <a:rPr sz="1400" b="1" i="0">
                <a:solidFill>
                  <a:srgbClr val="141B2E"/>
                </a:solidFill>
                <a:latin typeface="Arial"/>
              </a:rPr>
              <a:t>IRS сломалась на величине:</a:t>
            </a:r>
            <a:r>
              <a:rPr sz="1400" b="1" i="0">
                <a:solidFill>
                  <a:srgbClr val="141B2E"/>
                </a:solidFill>
                <a:latin typeface="Arial"/>
              </a:rPr>
              <a:t> максимизировать велели экономию инспекторских часов. Сравнение признака с</a:t>
            </a:r>
          </a:p>
          <a:p>
            <a:pPr algn="l">
              <a:lnSpc>
                <a:spcPts val="1736"/>
              </a:lnSpc>
              <a:spcAft>
                <a:spcPts val="300"/>
              </a:spcAft>
            </a:pPr>
            <a:r>
              <a:rPr sz="1400" b="1" i="0">
                <a:solidFill>
                  <a:srgbClr val="141B2E"/>
                </a:solidFill>
                <a:latin typeface="Arial"/>
              </a:rPr>
              <a:t>прямым измерением ловит первую поломку и проходит мимо второй: цель остаётся вне</a:t>
            </a:r>
          </a:p>
          <a:p>
            <a:pPr algn="l">
              <a:lnSpc>
                <a:spcPts val="1736"/>
              </a:lnSpc>
              <a:spcAft>
                <a:spcPts val="300"/>
              </a:spcAft>
            </a:pPr>
            <a:r>
              <a:rPr sz="1400" b="1" i="0">
                <a:solidFill>
                  <a:srgbClr val="141B2E"/>
                </a:solidFill>
                <a:latin typeface="Arial"/>
              </a:rPr>
              <a:t>проверки.</a:t>
            </a:r>
          </a:p>
        </p:txBody>
      </p:sp>
      <p:sp>
        <p:nvSpPr>
          <p:cNvPr id="6" name="Rounded Rectangle 5"/>
          <p:cNvSpPr/>
          <p:nvPr/>
        </p:nvSpPr>
        <p:spPr>
          <a:xfrm>
            <a:off x="502920" y="5290094"/>
            <a:ext cx="82296" cy="10119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18110"/>
            <a:ext cx="10643616" cy="7559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Подменённый признак</a:t>
            </a:r>
            <a:r>
              <a:rPr sz="1400" b="1" i="0">
                <a:solidFill>
                  <a:srgbClr val="141B2E"/>
                </a:solidFill>
                <a:latin typeface="Arial"/>
              </a:rPr>
              <a:t> — обе величины классификатора читаются по самой декларации.</a:t>
            </a:r>
          </a:p>
          <a:p>
            <a:pPr algn="l">
              <a:lnSpc>
                <a:spcPts val="1736"/>
              </a:lnSpc>
              <a:spcAft>
                <a:spcPts val="300"/>
              </a:spcAft>
            </a:pPr>
            <a:r>
              <a:rPr sz="1400" b="1" i="0">
                <a:solidFill>
                  <a:srgbClr val="141B2E"/>
                </a:solidFill>
                <a:latin typeface="Arial"/>
              </a:rPr>
              <a:t>Порог</a:t>
            </a:r>
            <a:r>
              <a:rPr sz="1400" b="1" i="0">
                <a:solidFill>
                  <a:srgbClr val="141B2E"/>
                </a:solidFill>
                <a:latin typeface="Arial"/>
              </a:rPr>
              <a:t> — он меняет объём писем, долю по расе оставляет на месте.</a:t>
            </a:r>
          </a:p>
          <a:p>
            <a:pPr algn="l">
              <a:lnSpc>
                <a:spcPts val="1736"/>
              </a:lnSpc>
              <a:spcAft>
                <a:spcPts val="300"/>
              </a:spcAft>
            </a:pPr>
            <a:r>
              <a:rPr sz="1400" b="1" i="0">
                <a:solidFill>
                  <a:srgbClr val="141B2E"/>
                </a:solidFill>
                <a:latin typeface="Arial"/>
              </a:rPr>
              <a:t>Состав данных</a:t>
            </a:r>
            <a:r>
              <a:rPr sz="1400" b="1" i="0">
                <a:solidFill>
                  <a:srgbClr val="141B2E"/>
                </a:solidFill>
                <a:latin typeface="Arial"/>
              </a:rPr>
              <a:t> — расы в них нет вообще.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Маршрут проверяется четырьмя вопросами к своей задаче</a:t>
            </a:r>
          </a:p>
        </p:txBody>
      </p:sp>
      <p:sp>
        <p:nvSpPr>
          <p:cNvPr id="3" name="Rounded Rectangle 2"/>
          <p:cNvSpPr/>
          <p:nvPr/>
        </p:nvSpPr>
        <p:spPr>
          <a:xfrm>
            <a:off x="502920" y="1377526"/>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05542"/>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Один разлом с трёх сторон: ближайший неверный класс на нестандартном письме; чужое</a:t>
            </a:r>
          </a:p>
          <a:p>
            <a:pPr algn="l">
              <a:lnSpc>
                <a:spcPts val="1860"/>
              </a:lnSpc>
              <a:spcAft>
                <a:spcPts val="300"/>
              </a:spcAft>
            </a:pPr>
            <a:r>
              <a:rPr sz="1500" b="1" i="0">
                <a:solidFill>
                  <a:srgbClr val="141B2E"/>
                </a:solidFill>
                <a:latin typeface="Arial"/>
              </a:rPr>
              <a:t>неравенство через расходы; оно же через дешевизну обработки.</a:t>
            </a:r>
          </a:p>
        </p:txBody>
      </p:sp>
      <p:sp>
        <p:nvSpPr>
          <p:cNvPr id="5" name="Rounded Rectangle 4"/>
          <p:cNvSpPr/>
          <p:nvPr/>
        </p:nvSpPr>
        <p:spPr>
          <a:xfrm>
            <a:off x="502920" y="2471335"/>
            <a:ext cx="11183112" cy="2401570"/>
          </a:xfrm>
          <a:prstGeom prst="roundRect">
            <a:avLst>
              <a:gd name="adj" fmla="val 1269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654215"/>
            <a:ext cx="45173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СПРОСИТЕ О СВОЕЙ ЗАДАЧЕ</a:t>
            </a:r>
          </a:p>
        </p:txBody>
      </p:sp>
      <p:sp>
        <p:nvSpPr>
          <p:cNvPr id="7" name="TextBox 6"/>
          <p:cNvSpPr txBox="1"/>
          <p:nvPr/>
        </p:nvSpPr>
        <p:spPr>
          <a:xfrm>
            <a:off x="5349467" y="2654215"/>
            <a:ext cx="60073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МАРШРУТА НЕ ХВАТИТ, ЕСЛИ</a:t>
            </a:r>
          </a:p>
        </p:txBody>
      </p:sp>
      <p:sp>
        <p:nvSpPr>
          <p:cNvPr id="8" name="TextBox 7"/>
          <p:cNvSpPr txBox="1"/>
          <p:nvPr/>
        </p:nvSpPr>
        <p:spPr>
          <a:xfrm>
            <a:off x="685800" y="2936282"/>
            <a:ext cx="451736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Закрыт ли список классов заранее, и расходятся ли они между собой?</a:t>
            </a:r>
          </a:p>
        </p:txBody>
      </p:sp>
      <p:sp>
        <p:nvSpPr>
          <p:cNvPr id="9" name="TextBox 8"/>
          <p:cNvSpPr txBox="1"/>
          <p:nvPr/>
        </p:nvSpPr>
        <p:spPr>
          <a:xfrm>
            <a:off x="5349467" y="2936282"/>
            <a:ext cx="600738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список открыт или классы перекрываются: вход не ложится в конечный перечень</a:t>
            </a:r>
          </a:p>
        </p:txBody>
      </p:sp>
      <p:cxnSp>
        <p:nvCxnSpPr>
          <p:cNvPr id="10" name="Connector 9"/>
          <p:cNvCxnSpPr/>
          <p:nvPr/>
        </p:nvCxnSpPr>
        <p:spPr>
          <a:xfrm>
            <a:off x="685800" y="34659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465999"/>
            <a:ext cx="45173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Хватает ли одной метки, чтобы определить ответ?</a:t>
            </a:r>
          </a:p>
        </p:txBody>
      </p:sp>
      <p:sp>
        <p:nvSpPr>
          <p:cNvPr id="12" name="TextBox 11"/>
          <p:cNvSpPr txBox="1"/>
          <p:nvPr/>
        </p:nvSpPr>
        <p:spPr>
          <a:xfrm>
            <a:off x="5349467" y="3465999"/>
            <a:ext cx="60073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 зависит от истории переписки и сочетания признаков</a:t>
            </a:r>
          </a:p>
        </p:txBody>
      </p:sp>
      <p:cxnSp>
        <p:nvCxnSpPr>
          <p:cNvPr id="13" name="Connector 12"/>
          <p:cNvCxnSpPr/>
          <p:nvPr/>
        </p:nvCxnSpPr>
        <p:spPr>
          <a:xfrm>
            <a:off x="685800" y="38131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813153"/>
            <a:ext cx="45173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Видна ли ошибка на одном случае?</a:t>
            </a:r>
          </a:p>
        </p:txBody>
      </p:sp>
      <p:sp>
        <p:nvSpPr>
          <p:cNvPr id="15" name="TextBox 14"/>
          <p:cNvSpPr txBox="1"/>
          <p:nvPr/>
        </p:nvSpPr>
        <p:spPr>
          <a:xfrm>
            <a:off x="5349467" y="3813153"/>
            <a:ext cx="60073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ошибка проявляется только на статистике по множеству решений</a:t>
            </a:r>
          </a:p>
        </p:txBody>
      </p:sp>
      <p:cxnSp>
        <p:nvCxnSpPr>
          <p:cNvPr id="16" name="Connector 15"/>
          <p:cNvCxnSpPr/>
          <p:nvPr/>
        </p:nvCxnSpPr>
        <p:spPr>
          <a:xfrm>
            <a:off x="685800" y="41603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160308"/>
            <a:ext cx="451736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Какую величину системе велено максимизировать?</a:t>
            </a:r>
          </a:p>
        </p:txBody>
      </p:sp>
      <p:sp>
        <p:nvSpPr>
          <p:cNvPr id="18" name="TextBox 17"/>
          <p:cNvSpPr txBox="1"/>
          <p:nvPr/>
        </p:nvSpPr>
        <p:spPr>
          <a:xfrm>
            <a:off x="5349467" y="4160308"/>
            <a:ext cx="600738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цели стоит удобство обработки, и значимость решения в неё не входит</a:t>
            </a:r>
          </a:p>
        </p:txBody>
      </p:sp>
      <p:sp>
        <p:nvSpPr>
          <p:cNvPr id="19" name="Rounded Rectangle 18"/>
          <p:cNvSpPr/>
          <p:nvPr/>
        </p:nvSpPr>
        <p:spPr>
          <a:xfrm>
            <a:off x="502920" y="5181853"/>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309869"/>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Там, где нужный класс зависит от следующего шага, список готовых веток кончается.</a:t>
            </a:r>
          </a:p>
          <a:p>
            <a:pPr algn="l">
              <a:lnSpc>
                <a:spcPts val="1860"/>
              </a:lnSpc>
              <a:spcAft>
                <a:spcPts val="300"/>
              </a:spcAft>
            </a:pPr>
            <a:r>
              <a:rPr sz="1500" b="1" i="0">
                <a:solidFill>
                  <a:srgbClr val="141B2E"/>
                </a:solidFill>
                <a:latin typeface="Arial"/>
              </a:rPr>
              <a:t>Дальше — один агент, решающий на каждом шаге сам. Это отдельная ступень курса, здесь</a:t>
            </a:r>
          </a:p>
          <a:p>
            <a:pPr algn="l">
              <a:lnSpc>
                <a:spcPts val="1860"/>
              </a:lnSpc>
              <a:spcAft>
                <a:spcPts val="300"/>
              </a:spcAft>
            </a:pPr>
            <a:r>
              <a:rPr sz="1500" b="1" i="0">
                <a:solidFill>
                  <a:srgbClr val="141B2E"/>
                </a:solidFill>
                <a:latin typeface="Arial"/>
              </a:rPr>
              <a:t>она только названа.</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нижние ступени закрыты</a:t>
            </a:r>
          </a:p>
        </p:txBody>
      </p:sp>
      <p:pic>
        <p:nvPicPr>
          <p:cNvPr id="3" name="Picture 2" descr="os-n37-lestnitsa-tri-zakryty.png"/>
          <p:cNvPicPr>
            <a:picLocks noChangeAspect="1"/>
          </p:cNvPicPr>
          <p:nvPr/>
        </p:nvPicPr>
        <p:blipFill>
          <a:blip r:embed="rId2"/>
          <a:stretch>
            <a:fillRect/>
          </a:stretch>
        </p:blipFill>
        <p:spPr>
          <a:xfrm>
            <a:off x="535432" y="943356"/>
            <a:ext cx="11118086" cy="3335425"/>
          </a:xfrm>
          <a:prstGeom prst="rect">
            <a:avLst/>
          </a:prstGeom>
        </p:spPr>
      </p:pic>
      <p:sp>
        <p:nvSpPr>
          <p:cNvPr id="4" name="Rounded Rectangle 3"/>
          <p:cNvSpPr/>
          <p:nvPr/>
        </p:nvSpPr>
        <p:spPr>
          <a:xfrm>
            <a:off x="502920" y="4443373"/>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71389"/>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Три ступени закрыты двумя блоками по три кейса. Шесть ступеней выше закрывают следующие пять занятий дуги: параллельные проверки, переделка по эталону, дирижёр с исполнителями, один агент, несколько агентов и решение выключить автоматизацию.</a:t>
            </a:r>
          </a:p>
        </p:txBody>
      </p:sp>
      <p:sp>
        <p:nvSpPr>
          <p:cNvPr id="6" name="Rounded Rectangle 5"/>
          <p:cNvSpPr/>
          <p:nvPr/>
        </p:nvSpPr>
        <p:spPr>
          <a:xfrm>
            <a:off x="502920" y="5567323"/>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695339"/>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У вопроса «хватит одного вызова, нужна цепочка или нужен маршрут» с этого момента есть ответ по ступеням — его можно применить к своей задаче, не дожидаясь следующих занятий.</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