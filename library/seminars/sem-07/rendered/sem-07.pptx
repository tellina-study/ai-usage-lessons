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работающий сценарий,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экран, и он отвечает на вопрос, который стоит задать в самом начале: куда мы вообще идём шесть занятий подряд.</a:t>
            </a:r>
          </a:p>
          <a:p/>
          <a:p>
            <a:r>
              <a:t>Вот лестница. Девять ступеней, снизу вверх — от простого к сложному, и справа у каждой написано, какое занятие её закрывает.</a:t>
            </a:r>
          </a:p>
          <a:p/>
          <a:p>
            <a:r>
              <a:t>Внизу, бледным, — пройденное: когда хватает одного вызова модели или поиска по своим документам. Это вы знаете с Лекции 3.</a:t>
            </a:r>
          </a:p>
          <a:p/>
          <a:p>
            <a:r>
              <a:t>Золотая — сегодняшняя. Цепочка: несколько шагов в известном заранее порядке, и данные, которые идут между ними. Всё занятие мы проведём на ней.</a:t>
            </a:r>
          </a:p>
          <a:p/>
          <a:p>
            <a:r>
              <a:t>Дальше вверх. Маршрут — путь задаёт категория входа, это следующее занятие. Параллель — независимые проверки одного входа. Цикл и подпроцесс — через два занятия. Агент, который сам выбирает порядок шагов, — одиннадцатое. Несколько агентов вместе и аварийный выключатель — двенадцатое.</a:t>
            </a:r>
          </a:p>
          <a:p/>
          <a:p>
            <a:r>
              <a:t>Теперь главное про эту картинку, и это не оформление. Правило движения по лестнице из Лекции 3 звучит дословно так: </a:t>
            </a:r>
            <a:r>
              <a:rPr b="1"/>
              <a:t>не поднимайся без требования, которого ступень ниже не закрывает.</a:t>
            </a:r>
            <a:r>
              <a:t> То есть лестница — не план развития, по которому надо дойти до верха. Это шкала, на которой надо остановиться как можно ниже.</a:t>
            </a:r>
          </a:p>
          <a:p/>
          <a:p>
            <a:r>
              <a:t>И отсюда — почему целому занятию отведена одна ступень. Не потому, что цепочка сложная: она простая. А потому, что на ней </a:t>
            </a:r>
            <a:r>
              <a:rPr b="1"/>
              <a:t>заканчивается большинство реальных задач</a:t>
            </a:r>
            <a:r>
              <a:t>, и ошибаются чаще всего именно здесь — строя агента там, где хватило бы пяти узлов подряд.</a:t>
            </a:r>
          </a:p>
          <a:p/>
          <a:p>
            <a:r>
              <a:t>Запомните место, где стоит золотая полоса. Мы вернёмся к этой картинке на каждом из шести занятий, и каждый раз золотая будет на одну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 различение, на котором стоит всё занятие. Оно было в Лекции 3, и я повторю его дословно.</a:t>
            </a:r>
          </a:p>
          <a:p/>
          <a:p>
            <a:r>
              <a:t>Workflow — это система, где шаги и их порядок заданы заранее, в коде. Модель здесь вызывается на конкретном шаге и делает конкретную работу, но она не решает, какие шаги делать и в каком порядке. Порядок решили вы, когда рисовали схему.</a:t>
            </a:r>
          </a:p>
          <a:p/>
          <a:p>
            <a:r>
              <a:t>Агент — система, где этот порядок модель определяет сама, по ходу, глядя на промежуточные результаты.</a:t>
            </a:r>
          </a:p>
          <a:p/>
          <a:p>
            <a:r>
              <a:t>Различение операциональное, и из него прямо следует критерий выбора: </a:t>
            </a:r>
            <a:r>
              <a:rPr b="1"/>
              <a:t>задача предсказуема — workflow. Последовательность шагов принципиально зависит от промежуточных результатов, и задача оправдывает кратный рост стоимости — агент.</a:t>
            </a:r>
          </a:p>
          <a:p/>
          <a:p>
            <a:r>
              <a:t>И чтобы слово «workflow» не звучало как «примитивный вариант агента», назову пять его схем. У всех пяти путь задан заранее.</a:t>
            </a:r>
          </a:p>
          <a:p/>
          <a:p>
            <a:r>
              <a:t>Первая — цепочка. Шаги друг за другом, выход одного становится входом следующего, и между ними можно поставить проверку. Её мы сегодня и соберём.</a:t>
            </a:r>
          </a:p>
          <a:p/>
          <a:p>
            <a:r>
              <a:t>Вторая — маршрут. Первый шаг относит вход к классу, дальше у каждого класса свой путь. Это следующее занятие.</a:t>
            </a:r>
          </a:p>
          <a:p/>
          <a:p>
            <a:r>
              <a:t>Третья — параллель. Независимые подзадачи выполняются сразу, результаты сводятся детерминированно: голосованием или объединением.</a:t>
            </a:r>
          </a:p>
          <a:p/>
          <a:p>
            <a:r>
              <a:t>Четвёртая — дирижёр и исполнители. Центральный шаг делит задачу на части — гибко, но в заданных рамках — и раздаёт исполнителям. Это уже граница между workflow и агентом.</a:t>
            </a:r>
          </a:p>
          <a:p/>
          <a:p>
            <a:r>
              <a:t>Пятая — эталон и переделка. Один шаг делает, другой оценивает по критериям, и цикл повторяется, пока не пройдёт порог.</a:t>
            </a:r>
          </a:p>
          <a:p/>
          <a:p>
            <a:r>
              <a:t>И фраза, которая объясняет устройство всей дуги: большинство надёжных продакшн-систем — это workflow с предопределёнными путями, а не полностью динамические агенты.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кусок из Лекции 3, и он объясняет, почему дуга идёт снизу вверх, а не начинается с агентов, которые сейчас на слуху.</a:t>
            </a:r>
          </a:p>
          <a:p/>
          <a:p>
            <a:r>
              <a:t>Главное — одной фразой: надёжность последовательных шагов </a:t>
            </a:r>
            <a:r>
              <a:rPr b="1"/>
              <a:t>перемножается</a:t>
            </a:r>
            <a:r>
              <a:t>, а не усредняется.</a:t>
            </a:r>
          </a:p>
          <a:p/>
          <a:p>
            <a:r>
              <a:t>Подставьте числа. Если в конвейере десять шагов и сбой любого портит результат, общая надёжность равна надёжности шага в десятой степени. Девяносто пять процентов на шаг — цифра, которая звучит прилично, почти хорошо. Десять шагов: шестьдесят процентов. Девяносто процентов на шаг, тоже вроде нормально, — тридцать пять процентов на десяти шагах.</a:t>
            </a:r>
          </a:p>
          <a:p/>
          <a:p>
            <a:r>
              <a:t>Инженерная интуиция говорит: каждый шаг почти всегда работает, значит и цепочка почти всегда работает. Математически это ложно, и это одна из самых дорогих ошибок отрасли.</a:t>
            </a:r>
          </a:p>
          <a:p/>
          <a:p>
            <a:r>
              <a:t>Отсюда два правила, которые мы сегодня применим прямо руками. Цепочки держат короткими. И между шагами ставят проверки — когда я поставлю лишний на вид узел сверки, вспомните этот экран.</a:t>
            </a:r>
          </a:p>
          <a:p/>
          <a:p>
            <a:r>
              <a:t>Теперь стоимость. Относительно обычного чата одиночный агент тратит примерно вчетверо больше токенов, мульти-агент — впятнадцатеро. И цитата из лекции, которая отрезвляет: мульти-агентные системы работают во многом потому, что помогают потратить на задачу достаточно токенов. Не магия координации, а объём.</a:t>
            </a:r>
          </a:p>
          <a:p/>
          <a:p>
            <a:r>
              <a:t>И контринтуитивное про устройство. При одном и том же числе агентов «рой» равноправных усиливал ошибки в семнадцать целых две десятых раза, а централизованная оркестрация с одним координатором сдерживала их до четырёх целых четырёх десятых. То есть дирижёр надёжнее роя — ровно обратное тому, что обычно предполагают.</a:t>
            </a:r>
          </a:p>
          <a:p/>
          <a:p>
            <a:r>
              <a:t>Правило из лекции, которым закрою: начинай с одного сильного. Команды месяцами строили мульти-агентные схемы и потом обнаруживали, что улучшенный запрос к одному даёт то же самое.</a:t>
            </a:r>
          </a:p>
          <a:p/>
          <a:p>
            <a:r>
              <a:t>Вот поэтому мы сегодня на второй ступени снизу. Не потому, что агенты сложные, а потому, что это ступень, на которой заканчивается большинство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про то, в чём такие процессы вообще собирают. Мы отобрали и разобрали пять инструментов, и классов вышло три.</a:t>
            </a:r>
          </a:p>
          <a:p/>
          <a:p>
            <a:r>
              <a:t>Первый класс по-человечески звучит так: возьми оттуда, преобразуй, положи сюда и уведоми кого надо. Почта, таблицы, CRM, мессенджеры, базы. Это конвейеры между системами — n8n, Activepieces, Make, Zapier. Самый старый и самый массовый класс: такие инструменты существовали задолго до языковых моделей и просто получили новый тип блока. Запускаются они тремя способами: по расписанию, по событию в чужой системе и руками человека через форму.</a:t>
            </a:r>
          </a:p>
          <a:p/>
          <a:p>
            <a:r>
              <a:t>Второй — платформы для агентов. Задача звучит иначе: дай агенту инструменты и проверки и поручи ему задачу. Класс молодой, и в нём есть то, чего у первого нет: ограждения на выходе, оценка ответа, базы знаний, которые сами обновляются. Цена входа — ресурсы, от двенадцати гигабайт памяти, дома поднимается тяжело.</a:t>
            </a:r>
          </a:p>
          <a:p/>
          <a:p>
            <a:r>
              <a:t>Третий — конструкторы LLM-приложений. Собери чат по моим документам: цепочка вызовов, поиск, память диалога. LangFlow, Dify.</a:t>
            </a:r>
          </a:p>
          <a:p/>
          <a:p>
            <a:r>
              <a:t>Теперь два вопроса, которые на самом деле решают выбор, — и обратите внимание, что ни один из них не про ИИ. Он есть во всех трёх классах.</a:t>
            </a:r>
          </a:p>
          <a:p/>
          <a:p>
            <a:r>
              <a:t>Первый: кто запускает. Человек, расписание или чужая система? Если в задаче есть слова «каждое утро» или «когда придёт письмо» — третий класс отпадает сразу: расписания у него нет, запуск только снаружи. Одна проверка отсекает целый класс.</a:t>
            </a:r>
          </a:p>
          <a:p/>
          <a:p>
            <a:r>
              <a:t>Второй: что у вас считается шагом. Шаг рабочего процесса — первый класс. Задача, которую решает агент, — второй. Вызов модели внутри приложения — третий.</a:t>
            </a:r>
          </a:p>
          <a:p/>
          <a:p>
            <a:r>
              <a:t>У нас сегодня вход — человек через форму, а шаг — шаг процесса. Поэтому первый класс, и из него n8n.</a:t>
            </a:r>
          </a:p>
          <a:p/>
          <a:p>
            <a:r>
              <a:t>И одно замечание про устойчивость этого рынка, голосом, не на экран. Flowise был одним из двух самых известных конструкторов третьего класса. Тридцать первого августа этого года он закрыт — не заброшен, а официально закрыт, с объявлением, архивацией кода и названной датой конца жизни. Причина, которую назвали сами авторы: жёсткий визуальный low-code упирается в предел по сложности, а разработчики к этому моменту ушли к кодинг-агентам. Я говорю это не как курьёз: выбирая, на чём строить, учитывайте, что целый класс инструментов может закрыться.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экран введения — про инструмент, в котором будем смотреть, и про слова, которые дальше я начну употреблять как известные.</a:t>
            </a:r>
          </a:p>
          <a:p/>
          <a:p>
            <a:r>
              <a:t>Смотрите на снимок. </a:t>
            </a:r>
            <a:r>
              <a:rPr b="1"/>
              <a:t>Холст</a:t>
            </a:r>
            <a:r>
              <a:t> — поле, на котором процесс рисуется мышкой; вот он, занимает весь экран. Процесс здесь не текст, а схема, и это главная причина популярности таких инструментов: на схему можно показать пальцем коллеге, который не программист, и он поймёт.</a:t>
            </a:r>
          </a:p>
          <a:p/>
          <a:p>
            <a:r>
              <a:rPr b="1"/>
              <a:t>Узел</a:t>
            </a:r>
            <a:r>
              <a:t> — один шаг, вот эти прямоугольники. У каждого карточка с параметрами: щёлкнул — открылась. Добавить шаг означает поставить узел и соединить стрелкой. И обратите внимание, чего здесь нет: между правкой и проверкой нет ни сборки, ни развёртывания. Нажал «выполнить» и смотришь.</a:t>
            </a:r>
          </a:p>
          <a:p/>
          <a:p>
            <a:r>
              <a:t>Третье — </a:t>
            </a:r>
            <a:r>
              <a:rPr b="1"/>
              <a:t>учётные данные</a:t>
            </a:r>
            <a:r>
              <a:t>, и это важнее, чем кажется. Ключи и доступы живут </a:t>
            </a:r>
            <a:r>
              <a:rPr b="1"/>
              <a:t>отдельно от сценария</a:t>
            </a:r>
            <a:r>
              <a:t>: вы заводите их один раз, а узел ссылается на них по имени. Отсюда два следствия. Первое: в файле сценария ключей нет, и файл можно отдать коллеге или студенту — мы на этом построим домашнее задание. Второе: один ключ переиспользуется во всех ваших процессах, и менять его при ротации надо в одном месте, а не в двадцати.</a:t>
            </a:r>
          </a:p>
          <a:p/>
          <a:p>
            <a:r>
              <a:t>Четвёртое — </a:t>
            </a:r>
            <a:r>
              <a:rPr b="1"/>
              <a:t>готовые интеграции</a:t>
            </a:r>
            <a:r>
              <a:t>. Больше четырёхсот сервисов из коробки: почта, таблицы, мессенджеры, CRM, базы, облака, и для всего остального есть узел обычного HTTP-запроса. Это и есть главная ценность класса: «взять из Google Таблиц и положить в Телеграм» — два узла, а не два дня чтения чужой документации. Вы не пишете клиент к API, вы заполняете поля.</a:t>
            </a:r>
          </a:p>
          <a:p/>
          <a:p>
            <a:r>
              <a:t>Пятое — то, чего от такого инструмента обычно не ждут: </a:t>
            </a:r>
            <a:r>
              <a:rPr b="1"/>
              <a:t>простые интерфейсы встроены</a:t>
            </a:r>
            <a:r>
              <a:t>. Узел формы даёт настоящую веб-страницу с полями, валидацией и экраном результата — по адресу, который можно отправить человеку. То есть вы можете отдать людям рабочий вход в процесс, не поднимая ни фронтенда, ни хостинга, ни дизайна. Мы этим сегодня воспользуемся: и вход нашего процесса, и экран, на котором зал увидит результат, — это он.</a:t>
            </a:r>
          </a:p>
          <a:p/>
          <a:p>
            <a:r>
              <a:t>И шестое — </a:t>
            </a:r>
            <a:r>
              <a:rPr b="1"/>
              <a:t>прогон и журнал</a:t>
            </a:r>
            <a:r>
              <a:t>. Прогон это одно исполнение, от триггера до конца, у него свой номер. Журнал хранит их целиком: можно открыть прогон недельной давности и посмотреть, что именно пришло на вход третьего узла и что он отдал. Мы в этот журнал заглянем сегодня трижды, и дважды он покажет неприятное.</a:t>
            </a:r>
          </a:p>
          <a:p/>
          <a:p>
            <a:r>
              <a:t>Теперь зачем именно он выбран для курса. Ставится локально и бесплатно — значит, вы повторите дома, и это условие было главным. ИИ-блоки в коробке, отдельной подписки не нужно. Запускается по расписанию и по событию — то, чего нет у третьего класса с предыдущего экрана. И процесс выгружается одним файлом: этот файл вы унесёте.</a:t>
            </a:r>
          </a:p>
          <a:p/>
          <a:p>
            <a:r>
              <a:t>Честно про то, чего ждать не надо. Лицензия ядра не вполне свободная — у Activepieces в этом смысле чище, и если это для вас критерий, смотрите туда. Установка без контейнера объявлена устаревшей. И интерфейс меняется между версиями заметно: поэтому принципиальные схемы мы рисуем отдельно от снимков — схема переживёт смену версии, снимок нет.</a:t>
            </a:r>
          </a:p>
          <a:p/>
          <a:p>
            <a:r>
              <a:t>Всё. Дальше — ось занятия, и потом внутрь.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как устроено занятие. Мы собираем один процесс — заявка с формы сайта должна попадать в таблицу уже разобранной, — и собираем его в четыре приёма. Каждый кейс добавляет к процессу ровно одно.</a:t>
            </a:r>
          </a:p>
          <a:p/>
          <a:p>
            <a:r>
              <a:t>Кейс первый: классификация и сохранение писем. Форма, шаг модели, сверка со справочником, запись в таблицу, экран результата. К концу первого кейса процесс работает целиком.</a:t>
            </a:r>
          </a:p>
          <a:p/>
          <a:p>
            <a:r>
              <a:t>Кейс второй: заявки, в которых тем больше одной. Что делать со справочником и с тем, что в него не влезло.</a:t>
            </a:r>
          </a:p>
          <a:p/>
          <a:p>
            <a:r>
              <a:t>Кейс третий: отказ модели. Что происходит, когда шаг не отработал, и что с этим делает повтор попыток и отдельная ветка отказа.</a:t>
            </a:r>
          </a:p>
          <a:p/>
          <a:p>
            <a:r>
              <a:t>Кейс четвёртый: публикация. Чем отличается то, что вы правите на холсте, от того, что работает в бою, и как передать процесс другому человеку.</a:t>
            </a:r>
          </a:p>
          <a:p/>
          <a:p>
            <a:r>
              <a:t>Теперь про две правые колонки, потому что в них смысл всего занятия.</a:t>
            </a:r>
          </a:p>
          <a:p/>
          <a:p>
            <a:r>
              <a:t>Третья колонка — то, что вы увидите своими глазами после каждого кейса и совершенно справедливо сочтёте успехом. Заявка доехала до таблицы. Клетка заполнена, и значение в ней законное. Прогон зелёный, ни одной ошибки в журнале. Правка на холсте стоит, никто её не откатывал.</a:t>
            </a:r>
          </a:p>
          <a:p/>
          <a:p>
            <a:r>
              <a:t>Четвёртая пустая. В ней окажется то, чем каждая из этих четырёх радостей оказывается на самом деле. Мы заполним её своими руками — по одной строке за кейс, и каждый раз не моим рассказом, а тем, что увидим на экране.</a:t>
            </a:r>
          </a:p>
          <a:p/>
          <a:p>
            <a:r>
              <a:t>Разница, которую эта таблица измеряет, одна: процесс, который </a:t>
            </a:r>
            <a:r>
              <a:rPr b="1"/>
              <a:t>работает</a:t>
            </a:r>
            <a:r>
              <a:t>, и процесс, за который можно </a:t>
            </a:r>
            <a:r>
              <a:rPr b="1"/>
              <a:t>ручаться</a:t>
            </a:r>
            <a:r>
              <a:t>, — это два разных процесса. Первый доезжает до конца и не падает; про второй вы знаете, что окажется в каждой строке результата и что произойдёт, когда он сломается. Собрать первый легко, и почти все на нём останавливаются — не из лени, а потому что он выглядит готовым.</a:t>
            </a:r>
          </a:p>
          <a:p/>
          <a:p>
            <a:r>
              <a:t>К этой таблице мы вернёмся в конце и посмотрим на все четыре пары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Форма работает, заявки приходят — и дальше их читает человек и перекладывает в таблицу руками.</a:t>
            </a:r>
          </a:p>
          <a:p/>
          <a:p>
            <a:r>
              <a:t>Это та самая ситуация, в которой автоматизацию обычно и заводят: не потому, что что-то сломалось, а потому, что работа скучная и её много. И именно поэтому её чаще всего делают наполовину.</a:t>
            </a:r>
          </a:p>
          <a:p/>
          <a:p>
            <a:r>
              <a:t>Кто этот человек и чего ему это стоит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Сцена, на которой мы проведём почти всё занятие. Она маленькая намеренно: на ней видно всё устройство целиком.</a:t>
            </a:r>
          </a:p>
          <a:p/>
          <a:p>
            <a:r>
              <a:t>Учебный центр, на сайте форма записи. Человек оставляет имя, контакт и пишет свободным текстом, что ему нужно. Форма работает третий год, заявок двадцать в день, и дальше с ними работает один человек — пусть будет Ольга, администратор.</a:t>
            </a:r>
          </a:p>
          <a:p/>
          <a:p>
            <a:r>
              <a:t>Что она делает. Открывает каждое письмо, читает, понимает, о чём оно, и переносит в таблицу: отдельно контакт, отдельно тема, отдельно срочность. Сорок минут в день.</a:t>
            </a:r>
          </a:p>
          <a:p/>
          <a:p>
            <a:r>
              <a:t>Зачем именно эти два столбца. По ним вечером раскладывают заявки: кому звонить сегодня, кому на неделе, что отдать в бухгалтерию. То есть это не украшение таблицы, а то, по чему принимают решения.</a:t>
            </a:r>
          </a:p>
          <a:p/>
          <a:p>
            <a:r>
              <a:t>И вот отсюда настоящая цена, которая считается не в минутах. Проследите цепочку. Тема проставлена неверно — значит, заявку смотрит не тот человек. Он разбирается, понимает, что это не к нему, и передаёт дальше: появляются лишние передачи из рук в руки. Каждая передача — это часы, а чаще следующий рабочий день. То есть ошибка в одной клетке стоит задержки обработки минимум на день.</a:t>
            </a:r>
          </a:p>
          <a:p/>
          <a:p>
            <a:r>
              <a:t>А дальше арифметика, которая знакома всем, кто работал с входящим потоком: каждый день просрочки в ответе снижает вероятность, что человек всё-таки купит. Он за это время успевает написать в два других места. Поэтому ошибка в этих двух столбцах — это не неаккуратная таблица, это несостоявшаяся продажа.</a:t>
            </a:r>
          </a:p>
          <a:p/>
          <a:p>
            <a:r>
              <a:t>Последнее, и оно узнаваемое: в пятницу заявок больше, а времени меньше. Появляется «потом разберу». И к двадцатому письму подряд работа делается механически — не потому, что Ольга плохая, а потому что двадцатое письмо похоже на пятое.</a:t>
            </a:r>
          </a:p>
          <a:p/>
          <a:p>
            <a:r>
              <a:t>Теперь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то, из-за чего эта сцена вообще стала задачей.</a:t>
            </a:r>
          </a:p>
          <a:p/>
          <a:p>
            <a:r>
              <a:t>Центр расширился и дал активную рекламу. Писем стало двести в день вместо двадцати. Ольга теперь не «тратит сорок минут» — она занимается только письмами, весь день, и больше ничем. И качество при этом падает: к сотому письму глаз замыливается, а двухсотое похоже на сотое ещё сильнее, чем двадцатое было похоже на пятое.</a:t>
            </a:r>
          </a:p>
          <a:p/>
          <a:p>
            <a:r>
              <a:t>Вопрос: что сделать, чтобы разбирать этот поток своевременно и качественно.</a:t>
            </a:r>
          </a:p>
          <a:p/>
          <a:p>
            <a:r>
              <a:t>Четыре карточки. Первая — добавить сотрудников. Вторая — алгоритмическая классификация по ключевым словам: правила, написанные руками. Третья — один шаг модели. Четвёртая — шаг модели плюс алгоритмическая сверка со справочником, и всё, что в справочник не попало, уходит в «не определено».</a:t>
            </a:r>
          </a:p>
          <a:p/>
          <a:p>
            <a:r>
              <a:t>Выбирайте и формулируйте не «мне так нравится», а ответ на конкретный вопрос: </a:t>
            </a:r>
            <a:r>
              <a:rPr b="1"/>
              <a:t>выдержит ли ваш способ двести писем в день так, чтобы тема и срочность были заполнены всегда и только значениями из списка.</a:t>
            </a:r>
            <a:r>
              <a:t> Не «обычно заполнены» — всегда.</a:t>
            </a:r>
          </a:p>
          <a:p/>
          <a:p>
            <a:r>
              <a:t>И сразу скажу то, что обычно говорят в конце: </a:t>
            </a:r>
            <a:r>
              <a:rPr b="1"/>
              <a:t>правильных ответов здесь больше одного.</a:t>
            </a:r>
            <a:r>
              <a:t> Все четыре живут в настоящих системах, и у каждого есть область, где он лучший. Разбирать будем не «кто угадал», а что каждый способ даёт и чего не даёт — в том числе в процентах.</a:t>
            </a:r>
          </a:p>
          <a:p/>
          <a:p>
            <a:r>
              <a:t>Пятнадцать секунд на выбор, потом по рукам.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Разбираем. И первое, что скажу: </a:t>
            </a:r>
            <a:r>
              <a:rPr b="1"/>
              <a:t>ни один из четырёх не глуп, и ни один не «неправильный ответ»</a:t>
            </a:r>
            <a:r>
              <a:t>. У каждого есть область, где он лучший.</a:t>
            </a:r>
          </a:p>
          <a:p/>
          <a:p>
            <a:r>
              <a:t>Про колонку с процентами сразу оговорюсь честно, потому что вы инженеры и спросите. </a:t>
            </a:r>
            <a:r>
              <a:rPr b="1"/>
              <a:t>Замера, в котором все четыре способа мерили бы на одном и том же потоке, не существует.</a:t>
            </a:r>
            <a:r>
              <a:t> Я свёл цифры из разных работ и разных доменов, и это именно прикидка порядка, а не сравнение. Ссылки в заметках.</a:t>
            </a:r>
          </a:p>
          <a:p/>
          <a:p>
            <a:r>
              <a:t>Добавить сотрудников. Точность человека на живом потоке — около восьмидесяти пяти процентов. Это не опрос и не самооценка: цифру получили майнингом журналов трёх настоящих служб поддержки, сотни тысяч писем. То есть человек, которого мы интуитивно считаем эталоном, ошибается примерно в каждом седьмом письме. И отдельно замерено, что согласованность разметки падает к концу работы — у разметчиков длина серии одинаковых меток растёт, это и есть замыленный глаз в числах. Плюс простая арифметика: двести писем в день — это уже не один человек.</a:t>
            </a:r>
          </a:p>
          <a:p/>
          <a:p>
            <a:r>
              <a:t>Алгоритмическая классификация. Тут два разных зверя под одним названием. Правила и регулярные выражения — порядка пятидесяти процентов, причём в том замере на двух категориях из семи правила не дали вообще ничего, ноль. Обученная модель на своих данных — восемьдесят, восемьдесят восемь процентов, и это сильный результат. Но обученной модели нужна размеченная история: тысячи писем, у которых кто-то уже проставил правильную тему. У нашего центра её нет — в таблице лежит то, что Ольга набивала руками, и мы только что выяснили, какого оно качества.</a:t>
            </a:r>
          </a:p>
          <a:p/>
          <a:p>
            <a:r>
              <a:t>Один шаг модели. На чистых задачах с семью категориями — семьдесят пять, восемьдесят процентов. На живом потоке бывает и хуже обученной модели: в одной продакшн-работе дообученный BERT дал ноль шестьдесят пять, а GPT-4 без примеров — ноль пятьдесят семь. Главное достоинство в другом: модель работает </a:t>
            </a:r>
            <a:r>
              <a:rPr b="1"/>
              <a:t>без размеченной истории</a:t>
            </a:r>
            <a:r>
              <a:t>, по описанию категорий словами. Для центра, у которого истории нет, это и решает. Чего не даёт — формата. Она отвечает текстом, и в клетке окажется «запись», «обучение», «Аналитика.» с большой буквы и точкой.</a:t>
            </a:r>
          </a:p>
          <a:p/>
          <a:p>
            <a:r>
              <a:t>Четвёртый — шаг модели плюс сверка со справочником. Смысловая точность у него та же, что у третьего: сверка не делает модель умнее. А добавляет он одно — </a:t>
            </a:r>
            <a:r>
              <a:rPr b="1"/>
              <a:t>сто процентов значений из справочника</a:t>
            </a:r>
            <a:r>
              <a:t>. Всегда. Пустых клеток не бывает, посторонних значений не бывает, и поведение сверки известно заранее, в отличие от модели.</a:t>
            </a:r>
          </a:p>
          <a:p/>
          <a:p>
            <a:r>
              <a:t>И вот почему эти сто процентов стоят отдельного узла, хотя смысловую ошибку они не чинят. Столбец «тема» читает </a:t>
            </a:r>
            <a:r>
              <a:rPr b="1"/>
              <a:t>не человек, а следующий шаг</a:t>
            </a:r>
            <a:r>
              <a:t>: сортировка, маршрутизация, вечерняя раскладка по людям, отчёт. Человек прочитает «Аналитика.» и «аналитика» как одно слово. Система — как два разных значения, и одно из них просто не найдётся фильтром. Поэтому там, где результат уходит в машину, важна не только правильность, но и </a:t>
            </a:r>
            <a:r>
              <a:rPr b="1"/>
              <a:t>форма</a:t>
            </a:r>
            <a:r>
              <a:t>.</a:t>
            </a:r>
          </a:p>
          <a:p/>
          <a:p>
            <a:r>
              <a:t>Теперь поворот, ради которого стоило разбирать. Первые два ломаются </a:t>
            </a:r>
            <a:r>
              <a:rPr b="1"/>
              <a:t>громко</a:t>
            </a:r>
            <a:r>
              <a:t>: правило не нашло слово, клетка пустая, это видно сразу. Модель ломается </a:t>
            </a:r>
            <a:r>
              <a:rPr b="1"/>
              <a:t>тихо</a:t>
            </a:r>
            <a:r>
              <a:t>: в клетке стоит правдоподобное слово, прогон зелёный, и ни одна проверка формата этого не поймает. Громкий отказ дешёвый. Тихий дорогой. Весь сегодняшний день — про перевод тихих отказов в громкие.</a:t>
            </a:r>
          </a:p>
          <a:p/>
          <a:p>
            <a:r>
              <a:t>Собирать будем четвёртый. Почему именно его — следующий экран.</a:t>
            </a:r>
          </a:p>
          <a:p/>
          <a:p>
            <a:r>
              <a:rPr b="1"/>
              <a:t>Источники цифр (для вопросов из зала).</a:t>
            </a:r>
            <a:r>
              <a:t> Человек ≈85%: arXiv:1808.02636, замер по журналам трёх служб поддержки, 70–428 групп исполнителей. Правила 52,7%: arXiv:2605.20368, 48 регулярных выражений, 7 категорий, другой домен. Обученная модель 79,5–88,2%: arXiv:1808.02636 и arXiv:2103.15822 (18 классов). Модель без примеров 75–80%: arXiv:2605.20368; 0,57 против 0,65 у BERT — CEUR Vol-3551 paper 4, настоящий поток, 3 класса. Принудительная схема даёт 100% форматной валидности: arXiv:2609.23742 — но на коротком списке из четырёх значений обычный запрос и так даёт 0–2,7% сбоев разбора (arXiv:2605.15680), так что выигрыш именно в гарантии, а не в процентах.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открывать отдельный процесс, посмотрим, где вообще что лежит. Это обзорный экран, первое, что видно после входа.</a:t>
            </a:r>
          </a:p>
          <a:p/>
          <a:p>
            <a:r>
              <a:t>Вкладки сверху — это всё хозяйство. Процессы: список того, что собрано. Учётные данные: ключи и доступы, о них следующий экран. Прогоны: журнал всех исполнений. Переменные: значения, общие для всех процессов. Таблицы данных: встроенное хранилище, в него мы и будем писать заявки.</a:t>
            </a:r>
          </a:p>
          <a:p/>
          <a:p>
            <a:r>
              <a:t>Смотрите на список процессов. У каждого видно три вещи: как он называется, кто владелец и — справа — </a:t>
            </a:r>
            <a:r>
              <a:rPr b="1"/>
              <a:t>опубликован</a:t>
            </a:r>
            <a:r>
              <a:t> он или нет. Эта зелёная отметка «Published» важнее, чем кажется сейчас; весь четвёртый кейс будет про неё.</a:t>
            </a:r>
          </a:p>
          <a:p/>
          <a:p>
            <a:r>
              <a:t>Четыре строки на снимке — это четыре стадии процесса, который мы сегодня соберём. Я сделал их заранее, чтобы на занятии не ждать, пока я наберу текст: мы будем открывать готовую стадию и смотреть, что в ней изменилось относительно предыдущей.</a:t>
            </a:r>
          </a:p>
          <a:p/>
          <a:p>
            <a:r>
              <a:t>И счётчики сверху, они читаются буквально. Сколько прогонов прошло в бою, сколько упало, какая доля падений, сколько в среднем длится прогон. Половина падений на этом снимке — моя собственная: стенд я ломал специально, готовя третий кейс. Там мы это повторим, и вы увидите, как падение выглядит в журнале.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экран обзора — учётные данные, и это тот механизм, который в курсах обычно проскакивают одной строкой, а он того не стоит.</a:t>
            </a:r>
          </a:p>
          <a:p/>
          <a:p>
            <a:r>
              <a:t>Что на снимке. Отдельная карточка: имя, которое придумали вы, тип — здесь OpenRouter, — и поле ключа. Ключ показан точками, и это не ради снимка: он скрыт всегда, в том числе от того, кто его завёл. Посмотреть его нельзя, можно только заменить новым. Если вы потеряли ключ, вы идёте не сюда, а в сервис, где его выписывали.</a:t>
            </a:r>
          </a:p>
          <a:p/>
          <a:p>
            <a:r>
              <a:t>Зелёная строка сверху — «соединение проверено успешно». Обратите внимание, что это утверждение не про сохранение, а про сервис: инструмент сходил в OpenRouter с этим ключом и получил ответ. Проверка делается здесь, до того как вы соберёте процесс, — а не выясняется на первом прогоне посреди демонстрации.</a:t>
            </a:r>
          </a:p>
          <a:p/>
          <a:p>
            <a:r>
              <a:t>Теперь главное следствие, ради которого это вообще отдельная сущность. Узел в процессе ссылается на эти учётные данные </a:t>
            </a:r>
            <a:r>
              <a:rPr b="1"/>
              <a:t>по имени</a:t>
            </a:r>
            <a:r>
              <a:t>. В файле самого процесса ключа нет — там написано «использовать учётные данные с таким-то именем». Из этого выходит две вещи сразу.</a:t>
            </a:r>
          </a:p>
          <a:p/>
          <a:p>
            <a:r>
              <a:t>Первая: процесс можно выгрузить одним файлом и отдать другому человеку, и вы при этом ничего не раскрыли. Он подставит свой ключ. Ровно на этом построено ваше домашнее задание: я отдам вам файл процесса, а ключ вы заведёте свой.</a:t>
            </a:r>
          </a:p>
          <a:p/>
          <a:p>
            <a:r>
              <a:t>Вторая: когда ключ протухает или его надо сменить — а это случается, — вы меняете его в одном месте, и все процессы, которые на него ссылаются, продолжают работать. Без этого пришлось бы править каждый сценарий, в котором он зашит, и один вы бы точно забыли.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параметры — взгляд сверху. Это настоящий холст, не схема: так процесс выглядит у меня на экране прямо сейчас.</a:t>
            </a:r>
          </a:p>
          <a:p/>
          <a:p>
            <a:r>
              <a:t>Слева направо шесть узлов, и у каждого номер.</a:t>
            </a:r>
          </a:p>
          <a:p/>
          <a:p>
            <a:r>
              <a:t>Первый — форма. Это вход процесса: человек заполняет её на сайте, и с этого момента начинается всё остальное. Обратите внимание на значок молнии слева от него: так на холсте помечается триггер, то, с чего процесс запускается.</a:t>
            </a:r>
          </a:p>
          <a:p/>
          <a:p>
            <a:r>
              <a:t>Второй — извлечение полей. Он достаёт из свободного текста значения: тему, срочность, контакт.</a:t>
            </a:r>
          </a:p>
          <a:p/>
          <a:p>
            <a:r>
              <a:t>Третий — модель, и смотрите, где она. Не внутри второго узла, а </a:t>
            </a:r>
            <a:r>
              <a:rPr b="1"/>
              <a:t>отдельной коробкой, подвешенной под ним</a:t>
            </a:r>
            <a:r>
              <a:t>. Шаг модели в этом инструменте — всегда два узла: сам шаг и подключённая к нему модель. Запомните это: когда на одиннадцатом занятии мы соберём агента, под ним будут висеть три таких коробки — модель, память, инструменты.</a:t>
            </a:r>
          </a:p>
          <a:p/>
          <a:p>
            <a:r>
              <a:t>Четвёртый — сверка со списком. Обычный узел «задать поля», и именно он не даст появиться в таблице значению вне нашего справочника.</a:t>
            </a:r>
          </a:p>
          <a:p/>
          <a:p>
            <a:r>
              <a:t>Пятый — запись строки в таблицу. И обратите внимание, откуда он берёт значения: у четвёртого узла, то есть у сверки, а не у модели напрямую. Поэтому в таблице не бывает ни пустой темы, ни темы вне списка — между моделью и таблицей всегда стоит проверка.</a:t>
            </a:r>
          </a:p>
          <a:p/>
          <a:p>
            <a:r>
              <a:t>Шестой — экран результата. Тот же узел формы, в режиме завершения: он печатает всю дорогу в том же окне, где заявку отправили.</a:t>
            </a:r>
          </a:p>
          <a:p/>
          <a:p>
            <a:r>
              <a:t>И ещё одно, что стоит заметить на этом кадре: между узлами тянутся стрелки, и каждая — это данные, уходящие из одного в другой. Процесс читается как схема, на него можно показать пальцем коллеге, и в этом половина ценности таких инструментов.</a:t>
            </a:r>
          </a:p>
          <a:p/>
          <a:p>
            <a:r>
              <a:t>Теперь откроем два узла из шести — те, на которых держится весь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узла, на которых держится кейс, и по одному параметру в каждом.</a:t>
            </a:r>
          </a:p>
          <a:p/>
          <a:p>
            <a:r>
              <a:t>Схему в узле извлечения задаю </a:t>
            </a:r>
            <a:r>
              <a:rPr b="1"/>
              <a:t>вручную</a:t>
            </a:r>
            <a:r>
              <a:t>, и вот зачем. Её можно задать описаниями словами, и это проще, — но описание допустимые значения только </a:t>
            </a:r>
            <a:r>
              <a:rPr b="1"/>
              <a:t>предлагает</a:t>
            </a:r>
            <a:r>
              <a:t>. Мне нужно, чтобы инструмент их </a:t>
            </a:r>
            <a:r>
              <a:rPr b="1"/>
              <a:t>перечислил</a:t>
            </a:r>
            <a:r>
              <a:t>, и для этого в схеме есть перечисление: тема — одно из четырёх, срочность — одно из трёх, оба поля обязательны.</a:t>
            </a:r>
          </a:p>
          <a:p/>
          <a:p>
            <a:r>
              <a:t>Последние значения в списках — «другое» и «не указано». Это не формальность и не вежливость: без них классификация упирается в пустую клетку на первой же непонятной заявке, а модель, которой не дали законного «не знаю», поставит ближайшее подходящее и не скажет об этом.</a:t>
            </a:r>
          </a:p>
          <a:p/>
          <a:p>
            <a:r>
              <a:t>Второй узел — сверка. Обычный «задать поля», никакого кода, и в нём стоит выражение: доллар-json, точка, тема, две вертикальные черты, «другое». Читается буквально: возьми тему, а если её нет — поставь «другое». И то же для срочности.</a:t>
            </a:r>
          </a:p>
          <a:p/>
          <a:p>
            <a:r>
              <a:t>Зачем он, если перечисление уже в схеме? Потому что схема — просьба к модели, пусть и строгая, а это — последняя инстанция. Схему можно обойти: она действует не во всех режимах, а на отказ модели по безопасности придёт вообще не ваше поле. Этот узел обойти нельзя. Отсюда формулировка, которую я прошу унести: </a:t>
            </a:r>
            <a:r>
              <a:rPr b="1"/>
              <a:t>модель предлагает, список решает.</a:t>
            </a:r>
          </a:p>
          <a:p/>
          <a:p>
            <a:r>
              <a:t>Теперь, прежде чем я нажму «отправить», — предскажите. Заявка: «хочу на курс по аналитике, перезвоните сегодня после шести, телефон в конце». Что напечатает экран в строке «что предложила модель»: какая тема, какая срочность, что окажется в контакте из текста? Говорите вслух, у вас пятнадцать секунд.</a:t>
            </a:r>
          </a:p>
          <a:p/>
          <a:p>
            <a:r>
              <a:t>Отправляю. Смотрим: тема «курс», срочность «сегодня», телефон вытащен из текста. У кого совпало — вы только что предсказали поведение шага модели, и это ровно то умение, за которым мы здесь собрались.</a:t>
            </a:r>
          </a:p>
          <a:p/>
          <a:p>
            <a:r>
              <a:rPr b="1"/>
              <a:t>Если спросят точные формулировки</a:t>
            </a:r>
            <a:r>
              <a:t> (в карточке они видны на снимке): поле Text — </a:t>
            </a:r>
            <a:r>
              <a:rPr>
                <a:latin typeface="Consolas"/>
              </a:rPr>
              <a:t>{{ $json['Что нужно'] }}</a:t>
            </a:r>
            <a:r>
              <a:t>; схема темы — </a:t>
            </a:r>
            <a:r>
              <a:rPr>
                <a:latin typeface="Consolas"/>
              </a:rPr>
              <a:t>"enum": ["курс", "перенос занятия", "оплата", "другое"]</a:t>
            </a:r>
            <a:r>
              <a:t>, схемы срочности — </a:t>
            </a:r>
            <a:r>
              <a:rPr>
                <a:latin typeface="Consolas"/>
              </a:rPr>
              <a:t>["сегодня", "на неделе", "не указано"]</a:t>
            </a:r>
            <a:r>
              <a:t>, оба поля в </a:t>
            </a:r>
            <a:r>
              <a:rPr>
                <a:latin typeface="Consolas"/>
              </a:rPr>
              <a:t>required</a:t>
            </a:r>
            <a:r>
              <a:t>. Выражение сверки — </a:t>
            </a:r>
            <a:r>
              <a:rPr>
                <a:latin typeface="Consolas"/>
              </a:rPr>
              <a:t>{{ список.includes($json.output.topic) ? $json.output.topic : 'другое' }}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в параметры, посмотрим на процесс с той стороны, с которой его видит человек. Потому что пока мы смотрели на схему, а человеку схема не показывается никогда.</a:t>
            </a:r>
          </a:p>
          <a:p/>
          <a:p>
            <a:r>
              <a:t>Слева — вход. Это обычная веб-страница по обычному адресу, и сделал её узел формы: поля, проверка ввода, кнопка. Ни фронтенда, ни хостинга, ни дизайнера. Обратите внимание на текст наверху: форма объясняет, что произойдёт с заявкой. Это не вежливость. Человек, который знает, что его текст будут разбирать автоматически, пишет иначе — короче и конкретнее, — и разбирать становится заметно легче. Объяснение на входе — это способ улучшить вход, а не украсить его.</a:t>
            </a:r>
          </a:p>
          <a:p/>
          <a:p>
            <a:r>
              <a:t>Справа — выход, и это тот же самый механизм: экран завершения формы. Смотрите, что на нём напечатано. Шаг один — что пришло из формы. Шаг два — что предложила модель: тема, срочность, контакт, вытащенный прямо из текста. Шаг три — что осталось после сверки со справочником. Шаг четыре — куда легла строка: номер строки в таблице и статус.</a:t>
            </a:r>
          </a:p>
          <a:p/>
          <a:p>
            <a:r>
              <a:t>Здесь принципиальный момент, и он переносится в любой инструмент. Промежуточные шаги печатаются на экране намеренно. Обычный соблазн — показать только ответ, он же красивее. Но если на экране только ответ, то ошибку вы увидите ровно там, где она уже стала результатом: тема неверная, а почему — идите в журнал. Когда на экране видны все четыре шага, расхождение между тем, что предложила модель, и тем, что осталось после справочника, видно сразу и без расследования.</a:t>
            </a:r>
          </a:p>
          <a:p/>
          <a:p>
            <a:r>
              <a:t>И третье, самое переносимое. Сделайте выход видимым на том же экране, где был вход. Необходимость переключиться в другую вкладку, чтобы посмотреть, сработало ли, — это главный способ не заметить, что сработало неправильно. Мы это сегодня покажем вживую: я отправлю заявку с этой формы, и ответ появится здесь же, на этом же экране, через несколько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критерий — то, с чем можно выйти отсюда и применить к своей работе, не помня ни одного имени блока.</a:t>
            </a:r>
          </a:p>
          <a:p/>
          <a:p>
            <a:r>
              <a:t>Закрытый список нужен, когда результат шага читает </a:t>
            </a:r>
            <a:r>
              <a:rPr b="1"/>
              <a:t>следующий шаг</a:t>
            </a:r>
            <a:r>
              <a:t>: по нему фильтруют, сортируют, считают или решают, куда заявку отправить. Машина не умеет сравнивать свободный текст, и ей нужно конечное множество значений, известное заранее.</a:t>
            </a:r>
          </a:p>
          <a:p/>
          <a:p>
            <a:r>
              <a:t>Не нужен, когда результат читает </a:t>
            </a:r>
            <a:r>
              <a:rPr b="1"/>
              <a:t>человек</a:t>
            </a:r>
            <a:r>
              <a:t> и он же решает, что делать. Ему свободный текст помогает: в пересказе может оказаться деталь, которой в вашем списке нет. Не загоняйте в список то, что читают глазами.</a:t>
            </a:r>
          </a:p>
          <a:p/>
          <a:p>
            <a:r>
              <a:t>Вторая строка про отчётность. Если по полю когда-нибудь будет отчёт — «сколько заявок про оплату за месяц» — список нужен, и нужен с самого начала, потому что задним числом он не появится: старые строки останутся свободным текстом, и годовой отчёт сложит несравнимое. Если поле нужно один раз для одного письма — не тратьте время.</a:t>
            </a:r>
          </a:p>
          <a:p/>
          <a:p>
            <a:r>
              <a:t>Третья — про ответственность. Результат уходит в начисление, в рассылку, в обязательство перед клиентом: список обязателен. Ошибку заметит тот же человек в тот же день и поправит за минуту: обойдётесь.</a:t>
            </a:r>
          </a:p>
          <a:p/>
          <a:p>
            <a:r>
              <a:t>Четвёртая — про рост. Поток растёт, типов входа становится больше одного: нужен. Двадцать обращений в неделю и пять минут в день, и так будет дальше: подумайте дважды, прежде чем строить процесс, который придётся поддерживать.</a:t>
            </a:r>
          </a:p>
          <a:p/>
          <a:p>
            <a:r>
              <a:t>И предел, после которого список перестаёт работать, — одна фраза, но она дорогая. </a:t>
            </a:r>
            <a:r>
              <a:rPr b="1"/>
              <a:t>Список, в котором нет «иначе», не отказывает.</a:t>
            </a:r>
            <a:r>
              <a:t> Он заставляет модель выбрать ближайшее из того, что есть. Вы получите совершенно законное значение на заявке, которой в вашем списке не место, и не узнаете об этом никогда — ни одна проверка формата этого не поймает, потому что формат в порядке.</a:t>
            </a:r>
          </a:p>
          <a:p/>
          <a:p>
            <a:r>
              <a:t>Возвращаемся к оси. Первая строка: три узла заявку довозят, и это выглядит успехом. Чем оказалось: тема какая угодно, срочности нет вовсе, ручаться нечем. Разница между «работает» и «можно ручаться» здесь ровно в двух узлах — том, что сверяет со списком, и том, что показывает результат. Два узла из шести, и без них процесс работает, а отвечать за него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Процесс, который мы собрали, работает честно: пустых клеток нет, значения из списка, прогон зелёный. За это мы ручались и ручаемся.</a:t>
            </a:r>
          </a:p>
          <a:p/>
          <a:p>
            <a:r>
              <a:t>А теперь посмотрим, за что мы </a:t>
            </a:r>
            <a:r>
              <a:rPr b="1"/>
              <a:t>не</a:t>
            </a:r>
            <a:r>
              <a:t> ручались, — и обнаружится это не в журнале и не на моём экране, а в разговоре с человеком, который звонит и спрашивает, почему ему ответили на половину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второго кейса, и она из того, что мы собрали пятнадцать минут назад.</a:t>
            </a:r>
          </a:p>
          <a:p/>
          <a:p>
            <a:r>
              <a:t>Процесс работает неделю. Ольга к нему привыкла: смотрит таблицу утром, звонит по срочным, остальное раскладывает после обеда. Жалоб нет, и это важно — всё выглядит хорошо.</a:t>
            </a:r>
          </a:p>
          <a:p/>
          <a:p>
            <a:r>
              <a:t>Вторник, двадцать минут двенадцатого. Приходит заявка: «можно перенести занятие со вторника? И подскажите, как оплатить». Две темы в одном сообщении, обе наши, обе есть в списке.</a:t>
            </a:r>
          </a:p>
          <a:p/>
          <a:p>
            <a:r>
              <a:t>В таблице появляется строка: тема «перенос занятия», срочность «не указано». Всё заполнено, значение из списка, прогон зелёный. По всем нашим обещаниям — успех, и его даже можно показать руководителю.</a:t>
            </a:r>
          </a:p>
          <a:p/>
          <a:p>
            <a:r>
              <a:t>Ольга видит тему, переносит занятие, закрывает заявку. Обратите внимание: она делает ровно то, что написано в столбце. Никакой халатности.</a:t>
            </a:r>
          </a:p>
          <a:p/>
          <a:p>
            <a:r>
              <a:t>Пятница. Человек звонит сам и спрашивает: а со счётом-то что? Про оплату не узнал никто. Её нет ни в таблице, ни в журнале, ни на экране результата — вторая тема не потерялась с ошибкой, её просто нет нигде.</a:t>
            </a:r>
          </a:p>
          <a:p/>
          <a:p>
            <a:r>
              <a:t>И вот что я прошу услышать точно. </a:t>
            </a:r>
            <a:r>
              <a:rPr b="1"/>
              <a:t>Это не ошибка процесса.</a:t>
            </a:r>
            <a:r>
              <a:t> Мы ручались, что клетка не пуста и значение из списка, — это выполнено. Что в клетке окажется всё, что было в заявке, мы не обещали никогда.</a:t>
            </a:r>
          </a:p>
          <a:p/>
          <a:p>
            <a:r>
              <a:t>Беда в другом: граница наших обещаний обнаружилась не на разборе и не в журнале, а в разговоре с клиентом. И ни один сторож сработать не мог — формально всё в порядке.</a:t>
            </a:r>
          </a:p>
          <a:p/>
          <a:p>
            <a:r>
              <a:t>Теперь вопрос: что с этим делать.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заявка, на которой процесс оступился: «можно перенести занятие со вторника? И подскажите, как оплатить». Две темы. Обе, подчеркну, есть в справочнике — то есть это не экзотика и не мусор, это ровно то, что мы умеем. А клетка в таблице одна.</a:t>
            </a:r>
          </a:p>
          <a:p/>
          <a:p>
            <a:r>
              <a:t>Вопрос: как мы корректируем устройство процесса.</a:t>
            </a:r>
          </a:p>
          <a:p/>
          <a:p>
            <a:r>
              <a:t>Четыре карточки. Писать первую из найденных. Писать «не определено». Делать две строки из одного письма. Или расширять справочник всеми сочетаниями тем — то есть завести значения «перенос плюс оплата», «курс плюс оплата» и так далее.</a:t>
            </a:r>
          </a:p>
          <a:p/>
          <a:p>
            <a:r>
              <a:t>Выбирайте. И как в прошлый раз: правильных ответов здесь больше одного, все четыре встречаются в живых системах. Разбирать будем, что каждый даёт и чем за это платят.</a:t>
            </a:r>
          </a:p>
          <a:p/>
          <a:p>
            <a:r>
              <a:t>Пятнадцать секунд, потом по рукам.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Разбираем. Как и в прошлый раз: ни один из четырёх не глуп, все четыре встречаются в живых системах.</a:t>
            </a:r>
          </a:p>
          <a:p/>
          <a:p>
            <a:r>
              <a:t>Первый — писать первую из найденных. Что даёт: не стоит вообще ничего, в процессе менять нечего. Чего не даёт: вторая тема не остаётся </a:t>
            </a:r>
            <a:r>
              <a:rPr b="1"/>
              <a:t>нигде</a:t>
            </a:r>
            <a:r>
              <a:t> — ни в таблице, ни в журнале, ни на экране результата. Это ровно то, что мы только что видели: про оплату не узнал никто, и напомнил о ней человек через три дня.</a:t>
            </a:r>
          </a:p>
          <a:p/>
          <a:p>
            <a:r>
              <a:t>Второй — писать «не определено». Что даёт: честность. Процесс говорит «я не справился», это видно в столбце, заявка видна и ждёт человека. Чего не даёт: разделения причин. В «не определено» попадает и заявка с двумя знакомыми темами, и настоящая экзотика, которой в справочнике нет вовсе. Очередь растёт, а что именно в ней непонятного — не видно.</a:t>
            </a:r>
          </a:p>
          <a:p/>
          <a:p>
            <a:r>
              <a:t>Третий — две строки из одного письма. Что даёт: каждая тема получает свой маршрут, своего ответственного и свой срок, и закрывается независимо. Сортировка по теме, на которой у Ольги держится весь день, продолжает работать. Чего не даёт: простоты учёта. Одна заявка превратилась в две записи, и надо решить, что считать выполненной заявкой и как не позвонить человеку дважды по одному письму.</a:t>
            </a:r>
          </a:p>
          <a:p/>
          <a:p>
            <a:r>
              <a:t>Четвёртый — расширять справочник всеми сочетаниями. Он выглядит самым дешёвым: клетка остаётся одна, в процессе менять нечего. Посчитайте вместе со мной. Четыре темы — это одиннадцать возможных пар и троек. Пятая тема — и их уже двадцать шесть. Сортировать по такому столбцу нельзя: «перенос плюс оплата» и «оплата плюс перенос» для компьютера разные значения, а для человека одно. И каждая новая тема удваивает справочник. Этот вариант умирает не от того, что он неправильный, а от арифметики.</a:t>
            </a:r>
          </a:p>
          <a:p/>
          <a:p>
            <a:r>
              <a:t>Берём третий. Две строки — единственный способ, при котором обе темы получают маршрут и срок, а не одна из них. И у него есть приятное свойство, которое мы сейчас увидим: в n8n это делается не новым блоком, а тем, как в нём вообще устроены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Снова взгляд сверху, и это сознательно тот же кадр — чтобы было видно: процесс мы не пересобираем.</a:t>
            </a:r>
          </a:p>
          <a:p/>
          <a:p>
            <a:r>
              <a:t>Золотым отмечены два узла, и только они меняются.</a:t>
            </a:r>
          </a:p>
          <a:p/>
          <a:p>
            <a:r>
              <a:t>Второй, извлечение. В его схеме появляется ещё одно поле — «ещё в заявке»: остальные темы из того же списка, если их в тексте несколько.</a:t>
            </a:r>
          </a:p>
          <a:p/>
          <a:p>
            <a:r>
              <a:t>Четвёртый, сверка со списком. Она получает ещё один столбец и проверяет его тем же справочником — то есть в пометку тоже не может попасть значение со стороны.</a:t>
            </a:r>
          </a:p>
          <a:p/>
          <a:p>
            <a:r>
              <a:t>Форма не трогается. Модель не трогается. Запись строки и экран результата — как были.</a:t>
            </a:r>
          </a:p>
          <a:p/>
          <a:p>
            <a:r>
              <a:t>Это важно не как техническая деталь, а как привычка: когда задача меняется, первым делом стоит спросить, </a:t>
            </a:r>
            <a:r>
              <a:rPr b="1"/>
              <a:t>сколько узлов из существующих придётся тронуть</a:t>
            </a:r>
            <a:r>
              <a:t>. Если ответ «почти все» — скорее всего, вы собираете второй процесс под видом правки первого, и честнее это признать.</a:t>
            </a:r>
          </a:p>
          <a:p/>
          <a:p>
            <a:r>
              <a:t>У нас ответ — два из шести. Открываем первый.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механика, и она объясняет сразу две вещи: как получается расщепление и почему узел записи при этом не меняется.</a:t>
            </a:r>
          </a:p>
          <a:p/>
          <a:p>
            <a:r>
              <a:t>В n8n между узлами всегда идёт </a:t>
            </a:r>
            <a:r>
              <a:rPr b="1"/>
              <a:t>список элементов</a:t>
            </a:r>
            <a:r>
              <a:t>. Всегда. Даже когда элемент один — это список из одного. В первом кейсе так и было: одно письмо, один элемент, и список был незаметен. Каждый элемент — объект с обязательной обёрткой </a:t>
            </a:r>
            <a:r>
              <a:rPr>
                <a:latin typeface="Consolas"/>
              </a:rPr>
              <a:t>json</a:t>
            </a:r>
            <a:r>
              <a:t>, поэтому в выражениях везде пишется </a:t>
            </a:r>
            <a:r>
              <a:rPr>
                <a:latin typeface="Consolas"/>
              </a:rPr>
              <a:t>$json</a:t>
            </a:r>
            <a:r>
              <a:t> и дальше имя поля.</a:t>
            </a:r>
          </a:p>
          <a:p/>
          <a:p>
            <a:r>
              <a:t>Второе правило, из которого всё следует: </a:t>
            </a:r>
            <a:r>
              <a:rPr b="1"/>
              <a:t>узел выполняется по разу на каждый элемент списка</a:t>
            </a:r>
            <a:r>
              <a:t>. Перебор встроен в инструмент. Отдельный блок цикла нужен заметно реже, чем ожидают люди, пришедшие из программирования.</a:t>
            </a:r>
          </a:p>
          <a:p/>
          <a:p>
            <a:r>
              <a:t>Теперь смотрите, что делает узел расщепления. На вход ему приходит один элемент, в котором тема — не строка, а список из двух значений: «перенос занятия» и «оплата». Узел берёт это поле и разворачивает: на выходе </a:t>
            </a:r>
            <a:r>
              <a:rPr b="1"/>
              <a:t>два элемента</a:t>
            </a:r>
            <a:r>
              <a:t>, в каждом по одной теме. Все остальные поля — имя, контакт, текст письма, срочность — копируются в оба.</a:t>
            </a:r>
          </a:p>
          <a:p/>
          <a:p>
            <a:r>
              <a:t>И дальше не меняется ничего. Сверка со справочником срабатывает дважды. Узел записи срабатывает дважды. Их никто не переписывал — просто элементов стало два, а узел выполняется по разу на каждый. Вот откуда берутся две строки из одного письма.</a:t>
            </a:r>
          </a:p>
          <a:p/>
          <a:p>
            <a:r>
              <a:t>Это же правило — источник известной беды, и назову её сразу, пока она выглядит безобидной. Если в конце цепочки стоит узел отправки письма, а элементов пришло пять, то писем уйдёт пять. Узел не спросит и не предупредит: он честно сделал то, что ему сказано, по разу на элемент. Люди обнаруживают это, когда клиент получает пять одинаковых писем.</a:t>
            </a:r>
          </a:p>
          <a:p/>
          <a:p>
            <a:r>
              <a:t>Поэтому правило, которое стоит унести: </a:t>
            </a:r>
            <a:r>
              <a:rPr b="1"/>
              <a:t>прежде чем ставить узел, который делает что-то наружу — письмо, звонок, платёж, — посмотрите, сколько элементов к нему придёт.</a:t>
            </a:r>
            <a:r>
              <a:t> Ответ на этот вопрос всегда виден в журнале прогона, на связи между узлами написано число.</a:t>
            </a:r>
          </a:p>
          <a:p/>
          <a:p>
            <a:r>
              <a:t>И последнее, честное. Это свойство </a:t>
            </a:r>
            <a:r>
              <a:rPr b="1"/>
              <a:t>конкретного инструмента</a:t>
            </a:r>
            <a:r>
              <a:t>, не общее свойство автоматизации процессов. В других оркестраторах модель данных другая: где-то между шагами идёт один объект, и перебор вы пишете явно. Переносится отсюда не синтаксис, а вопрос: </a:t>
            </a:r>
            <a:r>
              <a:rPr b="1"/>
              <a:t>что у моего инструмента ходит между шагами — один объект или список?</a:t>
            </a:r>
            <a:r>
              <a:t> Ответ на него определяет, получите вы одну строку или пять.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результат, и он занимает две строки.</a:t>
            </a:r>
          </a:p>
          <a:p/>
          <a:p>
            <a:r>
              <a:t>Строки девятнадцать и двадцать. Посмотрите на них внимательно: одно и то же имя, один и тот же контакт, один и тот же текст письма, и время записи совпадает до миллисекунд — десять пятнадцать сорок, восемьсот пятьдесят девять и восемьсот семьдесят три. Это не два письма. Это одно письмо, из которого процесс сделал две записи.</a:t>
            </a:r>
          </a:p>
          <a:p/>
          <a:p>
            <a:r>
              <a:t>Различаются они одной клеткой — темой. В первой «перенос занятия», во второй «оплата». Обе темы из справочника, обе законные, ни одна не потерялась.</a:t>
            </a:r>
          </a:p>
          <a:p/>
          <a:p>
            <a:r>
              <a:t>Что это даёт Ольге практически. Переносом занятия занимается расписание, оплатой — бухгалтерия. Теперь каждая строка уходит своему человеку и закрывается в свой срок. Ни одна не ждёт, пока разберутся с другой, и ни одна не исчезает молча — а исчезала она, напомню, в прошлой версии, где мы писали только первую найденную тему.</a:t>
            </a:r>
          </a:p>
          <a:p/>
          <a:p>
            <a:r>
              <a:t>Теперь чем за это платят, и это честный разговор, который стоит провести до запуска, а не после.</a:t>
            </a:r>
          </a:p>
          <a:p/>
          <a:p>
            <a:r>
              <a:t>Одна заявка превратилась в две записи. Из этого сразу три вопроса. Что считать выполненной заявкой — когда закрыты обе строки или когда закрыта любая? Как не позвонить человеку дважды по одному письму — расписание позвонит про перенос, бухгалтерия про оплату, и для него это два звонка из одной компании? И что показывать в отчёте «сколько заявок пришло» — двадцать писем или двадцать три строки?</a:t>
            </a:r>
          </a:p>
          <a:p/>
          <a:p>
            <a:r>
              <a:t>Обратите внимание: ни один из этих вопросов не технический. Процесс отработал правильно, в таблице ровно то, что мы просили. Это вопросы к договорённости в команде, и расщепление записи их создаёт неизбежно. Поэтому правило, которое стоит унести: </a:t>
            </a:r>
            <a:r>
              <a:rPr b="1"/>
              <a:t>решение, которое размножает записи, обязано сопровождаться решением, что считать выполненным.</a:t>
            </a:r>
            <a:r>
              <a:t> Если второго нет, вы получите спор между отделами через неделю после запуска.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край кейса — что видит человек, отправивший письмо.</a:t>
            </a:r>
          </a:p>
          <a:p/>
          <a:p>
            <a:r>
              <a:t>Экран тот же, что в первом кейсе, и собран тем же узлом завершения формы. Четыре блока: что пришло из формы, что предложила модель, что вышло после расщепления, и что записано.</a:t>
            </a:r>
          </a:p>
          <a:p/>
          <a:p>
            <a:r>
              <a:t>Новый здесь третий блок, и он единственный, ради которого я этот экран показываю. На нём написано: элементов после расщепления — два. А в четвёртом: строк добавлено в таблицу — два, темы «перенос занятия» и «оплата».</a:t>
            </a:r>
          </a:p>
          <a:p/>
          <a:p>
            <a:r>
              <a:t>Зачем печатать число элементов, если темы и так видны ниже. Затем, что это </a:t>
            </a:r>
            <a:r>
              <a:rPr b="1"/>
              <a:t>проверка</a:t>
            </a:r>
            <a:r>
              <a:t>, и она ловит ровно ту ошибку, которую иначе не видно. Представьте, что в третьем блоке написано «два», а в четвёртом «одна строка». Темы при этом найдены правильно, модель отработала, прогон зелёный. Где-то между расщеплением и записью половина данных потерялась — например, узел записи настроен так, что берёт только первый элемент. На экране это видно мгновенно. Без экрана это обнаружится через неделю, когда кто-нибудь сверит число писем с числом строк.</a:t>
            </a:r>
          </a:p>
          <a:p/>
          <a:p>
            <a:r>
              <a:t>Отсюда правило, которое переносится в любой инструмент, не только в n8n. </a:t>
            </a:r>
            <a:r>
              <a:rPr b="1"/>
              <a:t>Если шаг размножает или схлопывает записи — покажите число до и после.</a:t>
            </a:r>
            <a:r>
              <a:t> Тихая потеря половины данных выглядит ровно так же, как успешная работа. Отличить их можно только числом, и дешевле всего напечатать его там же, где человек и так смотрит.</a:t>
            </a:r>
          </a:p>
          <a:p/>
          <a:p>
            <a:r>
              <a:t>Это второе появление одной и той же мысли за занятие, и дальше она будет третий раз: в кейсе 3 мы будем переводить тихий отказ в громкий. Здесь тот же приём, только про количество, а не про ошибку.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Критерий, и как всегда — прямой формой: когда расщеплять запись, а когда не надо.</a:t>
            </a:r>
          </a:p>
          <a:p/>
          <a:p>
            <a:r>
              <a:t>Расщеплять нужно, если у частей </a:t>
            </a:r>
            <a:r>
              <a:rPr b="1"/>
              <a:t>разные исполнители или разные сроки</a:t>
            </a:r>
            <a:r>
              <a:t>. Это наш случай: перенос занятия уходит в расписание, оплата в бухгалтерию, и ждать друг друга им незачем.</a:t>
            </a:r>
          </a:p>
          <a:p/>
          <a:p>
            <a:r>
              <a:t>Нужно, если по этому столбцу </a:t>
            </a:r>
            <a:r>
              <a:rPr b="1"/>
              <a:t>сортируют или маршрутизируют</a:t>
            </a:r>
            <a:r>
              <a:t>. Смешанное значение ломает сортировку: «перенос и оплата» не найдётся ни фильтром «перенос», ни фильтром «оплата».</a:t>
            </a:r>
          </a:p>
          <a:p/>
          <a:p>
            <a:r>
              <a:t>Нужно, если части </a:t>
            </a:r>
            <a:r>
              <a:rPr b="1"/>
              <a:t>закрываются независимо</a:t>
            </a:r>
            <a:r>
              <a:t> и одна не должна ждать другую. И нужно, если </a:t>
            </a:r>
            <a:r>
              <a:rPr b="1"/>
              <a:t>потеря части дороже двойного учёта</a:t>
            </a:r>
            <a:r>
              <a:t> — а это как раз про входящие заявки, где потерянная тема означает потерянного клиента.</a:t>
            </a:r>
          </a:p>
          <a:p/>
          <a:p>
            <a:r>
              <a:t>Теперь обратная сторона, и она не формальная.</a:t>
            </a:r>
          </a:p>
          <a:p/>
          <a:p>
            <a:r>
              <a:t>Не надо расщеплять, если части делает </a:t>
            </a:r>
            <a:r>
              <a:rPr b="1"/>
              <a:t>один человек за один раз</a:t>
            </a:r>
            <a:r>
              <a:t>. Вы разделите заявку на две, и он дважды откроет одно и то же письмо. Это чистый вред.</a:t>
            </a:r>
          </a:p>
          <a:p/>
          <a:p>
            <a:r>
              <a:t>Не надо, если столбец </a:t>
            </a:r>
            <a:r>
              <a:rPr b="1"/>
              <a:t>читает глазами человек</a:t>
            </a:r>
            <a:r>
              <a:t>. Человек прекрасно поймёт «перенос и оплата» в одной клетке — ему не нужен отдельный ряд.</a:t>
            </a:r>
          </a:p>
          <a:p/>
          <a:p>
            <a:r>
              <a:t>Не надо, если заявка имеет смысл </a:t>
            </a:r>
            <a:r>
              <a:rPr b="1"/>
              <a:t>только целиком</a:t>
            </a:r>
            <a:r>
              <a:t>. Половина отгрузки — не отгрузка, и две строки здесь создадут иллюзию, что часть работы сделана.</a:t>
            </a:r>
          </a:p>
          <a:p/>
          <a:p>
            <a:r>
              <a:t>И не надо, если </a:t>
            </a:r>
            <a:r>
              <a:rPr b="1"/>
              <a:t>двойной звонок клиенту дороже</a:t>
            </a:r>
            <a:r>
              <a:t>, чем задержка по второй теме. Это ровно тот случай, когда расщепление технически правильно, а по делу вредно.</a:t>
            </a:r>
          </a:p>
          <a:p/>
          <a:p>
            <a:r>
              <a:t>Предел, за которым приём перестаёт работать: </a:t>
            </a:r>
            <a:r>
              <a:rPr b="1"/>
              <a:t>учёт без договорённости</a:t>
            </a:r>
            <a:r>
              <a:t>. Расщепление неизбежно создаёт вопрос, что считать выполненной заявкой, и процесс на него ответить не может — отвечает команда. Две строки без такой договорённости хуже одной: по ним нельзя ни отчитаться, ни понять, кто кому звонит. Если вы уходите с занятия с одним практическим выводом из этого кейса, пусть он будет такой: </a:t>
            </a:r>
            <a:r>
              <a:rPr b="1"/>
              <a:t>решение, которое размножает записи, вводится вместе с решением, что считать выполненным.</a:t>
            </a:r>
          </a:p>
          <a:p/>
          <a:p>
            <a:r>
              <a:t>И закрываем вторую строку нашей таблицы. Что выглядело успехом: клетка заполнена, значение законное, прогон зелёный. Чем оказалось: в заявке было две темы, а записали одну — и вторая не осталась </a:t>
            </a:r>
            <a:r>
              <a:rPr b="1"/>
              <a:t>нигде</a:t>
            </a:r>
            <a:r>
              <a:t>. Ни в таблице, ни в журнале, ни на экране результата. Сторож не мог сработать, потому что формально всё было в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 Или, точнее, с того, чего в ней не видно.</a:t>
            </a:r>
          </a:p>
          <a:p/>
          <a:p>
            <a:r>
              <a:t>Процесс работает неделю, к нему привыкли, заглядывают по делу. И в одно утро в таблице обнаруживается дырка — не ошибка, не сбой, а именно пропуск.</a:t>
            </a:r>
          </a:p>
          <a:p/>
          <a:p>
            <a:r>
              <a:t>Что это за утро и чего мы про него не знаем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третьего кейса. Процесс работает три недели, Ольга к нему привыкла, в пятницу вечером всё было как обычно.</a:t>
            </a:r>
          </a:p>
          <a:p/>
          <a:p>
            <a:r>
              <a:t>Понедельник, девять утра. Ольга открывает таблицу — не проверять процесс, а просто посмотреть вчерашние заявки, по другому делу.</a:t>
            </a:r>
          </a:p>
          <a:p/>
          <a:p>
            <a:r>
              <a:t>И видит: строки за пятницу есть, строки за понедельник есть, а за субботу и воскресенье — ни одной.</a:t>
            </a:r>
          </a:p>
          <a:p/>
          <a:p>
            <a:r>
              <a:t>Теперь смотрите на то, чего в этой сцене </a:t>
            </a:r>
            <a:r>
              <a:rPr b="1"/>
              <a:t>нет</a:t>
            </a:r>
            <a:r>
              <a:t>, — это важнее того, что есть.</a:t>
            </a:r>
          </a:p>
          <a:p/>
          <a:p>
            <a:r>
              <a:t>Сколько заявок пришло за выходные? По журналу формы на сайте — приходили. Сколько именно и каких, надо идти смотреть, и это отдельная работа.</a:t>
            </a:r>
          </a:p>
          <a:p/>
          <a:p>
            <a:r>
              <a:t>Почему не узнали раньше? Письма об ошибке никто не получал. И вот тонкость, которую стоит проговорить вслух: </a:t>
            </a:r>
            <a:r>
              <a:rPr b="1"/>
              <a:t>отсутствие письма ничего не значит</a:t>
            </a:r>
            <a:r>
              <a:t>. Мы не получили сигнал не потому, что всё было хорошо, а потому, что кому его отправлять, никто не настраивал.</a:t>
            </a:r>
          </a:p>
          <a:p/>
          <a:p>
            <a:r>
              <a:t>Что процесс делал эти два дня? Он был опубликован и включён. Падал на каждой заявке? На части? Писал куда-то не туда? Неизвестно. Журнал прогонов посмотреть можно, и мы посмотрим, но на этот момент — неизвестно.</a:t>
            </a:r>
          </a:p>
          <a:p/>
          <a:p>
            <a:r>
              <a:t>И главное свойство этого класса сбоев, ради которого сцена и нужна: </a:t>
            </a:r>
            <a:r>
              <a:rPr b="1"/>
              <a:t>ни один сторож не сработал, и сработать не мог</a:t>
            </a:r>
            <a:r>
              <a:t>. Сторожа срабатывают на ошибки. Здесь ошибок нет — здесь нет записей. На отсутствие чего-то сработать нечем.</a:t>
            </a:r>
          </a:p>
          <a:p/>
          <a:p>
            <a:r>
              <a:t>А заметили случайно. Ольга зашла в таблицу по другому поводу. Сколько бы это продолжалось, не зайди она, — тоже неизвестно.</a:t>
            </a:r>
          </a:p>
          <a:p/>
          <a:p>
            <a:r>
              <a:t>Причина, кстати, выяснится скучная. Интересно не она, а что процесс должен был сделать вместо того, что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Пока голосуют, стоит сказать голосом, не вынося на экран: в любом процессе, где стоит повтор при отказе, что-то выбрано по умолчанию. Вопрос в том, выбрали это осознанно или оно просто стоит как поставилось.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 Все четыре варианта, которые вы выбирали, — не абстракции.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Взгляд сверху на то, что получилось после правки, — и здесь он нужнее, чем в прошлых кейсах, потому что форма процесса изменилась.</a:t>
            </a:r>
          </a:p>
          <a:p/>
          <a:p>
            <a:r>
              <a:t>Метка один — на узле извлечения. Присмотритесь к самому узлу: в правом верхнем углу появился маленький значок, две стрелки по кругу. Это повтор. И вот что в нём интересно помимо смысла: </a:t>
            </a:r>
            <a:r>
              <a:rPr b="1"/>
              <a:t>это одна из немногих настроек, которую видно снаружи</a:t>
            </a:r>
            <a:r>
              <a:t>, не открывая карточку. Большинство настроек так не увидишь — узел выглядит обычным, а внутри у него может стоять что угодно. Отсюда простое правило: если вы разбираетесь в чужом процессе, значки на узлах — первое, что стоит прочитать.</a:t>
            </a:r>
          </a:p>
          <a:p/>
          <a:p>
            <a:r>
              <a:t>Метка два — второй выход узла, подписан </a:t>
            </a:r>
            <a:r>
              <a:rPr>
                <a:latin typeface="Consolas"/>
              </a:rPr>
              <a:t>Error</a:t>
            </a:r>
            <a:r>
              <a:t>. Был один выход, стало два. Это и есть то, что мы настроили: элемент, на котором вызов не удался, уходит не дальше по общей дороге, а в свою.</a:t>
            </a:r>
          </a:p>
          <a:p/>
          <a:p>
            <a:r>
              <a:t>Метка три — сама ветка отказа. И обратите внимание, куда она ведёт: не в тупик и не в никуда, а в ту же таблицу, только со своей пометкой, и дальше в свой экран результата.</a:t>
            </a:r>
          </a:p>
          <a:p/>
          <a:p>
            <a:r>
              <a:t>Почему в ту же таблицу, а не в отдельное место: потому что Ольга смотрит одну таблицу. Если неудачные заявки лежат в другой, она туда не пойдёт, пока не заподозрит, что надо. А чем это кончается, мы только что видели на сцене — двое суток пропуска.</a:t>
            </a:r>
          </a:p>
          <a:p/>
          <a:p>
            <a:r>
              <a:t>Теперь открываем вкладку настроек и смотрим, какими двумя параметрами это сделано.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третьего кейса, и он шире нашего инструмента: это правила из инженерной практики распределённых систем. Вы встретите их в очередях сообщений, в клиентах к чужому API, в платёжных интеграциях.</a:t>
            </a:r>
          </a:p>
          <a:p/>
          <a:p>
            <a:r>
              <a:t>Повторять нужно, когда отказ </a:t>
            </a:r>
            <a:r>
              <a:rPr b="1"/>
              <a:t>временный</a:t>
            </a:r>
            <a:r>
              <a:t>: таймаут, превышение лимита запросов, «сервис временно перегружен». Со второй попытки обычно проходит.</a:t>
            </a:r>
          </a:p>
          <a:p/>
          <a:p>
            <a:r>
              <a:t>Нельзя, когда отказ </a:t>
            </a:r>
            <a:r>
              <a:rPr b="1"/>
              <a:t>постоянный</a:t>
            </a:r>
            <a:r>
              <a:t>: неверный ключ, негодный запрос, отсутствует обязательное поле. Повтор не поможет никогда и лишь утроит расход на ту же ошибку. И обратите внимание: инструмент эти два класса сам не различает — он повторяет всё, на чём вы поставили галочку. Различать по коду ответа приходится вам, заранее.</a:t>
            </a:r>
          </a:p>
          <a:p/>
          <a:p>
            <a:r>
              <a:t>Вторая строка — про идемпотентность, и слово стоит запомнить. Идемпотентная операция — та, которую можно выполнить дважды с тем же результатом. Чтение идемпотентно всегда. Отправить письмо, создать заказ, списать деньги — нет. И вот ловушка: таймаут означает ровно одно, «ответ не пришёл». Произошло ли действие, он не говорит. Письмо могло уйти, деньги могли списаться, а потеряться мог только ответ — и повтор тогда сделает это второй раз.</a:t>
            </a:r>
          </a:p>
          <a:p/>
          <a:p>
            <a:r>
              <a:t>Третья строка — про слои, и здесь есть число, которое стоит запомнить. Если повтор включён на каждом слое, слои множат друг друга: три попытки на каждом из пяти слоёв дают двести сорок три обращения вместо одного. Поэтому повторяют в одном месте стека. У нас в оркестраторе галочка «повторить» есть на каждом узле, и соблазн поставить её всюду прямой.</a:t>
            </a:r>
          </a:p>
          <a:p/>
          <a:p>
            <a:r>
              <a:t>Четвёртая — про разброс. Фиксированная задержка означает, что все клиенты повторят синхронно и добьют сервис, который только начал подниматься. Нужен случайный разброс; в простых оркестраторах его обычно нет, и это повод не ставить повтор на горячий путь без размышления.</a:t>
            </a:r>
          </a:p>
          <a:p/>
          <a:p>
            <a:r>
              <a:t>Предел: </a:t>
            </a:r>
            <a:r>
              <a:rPr b="1"/>
              <a:t>отказ, которому некуда идти</a:t>
            </a:r>
            <a:r>
              <a:t>. Он не исчезает, он превращается в отсутствие записи. А отсутствие записи не мониторит никто — ни один сторож не умеет сработать на то, чего нет. Ровно так и получаются двое суток пропуска, с которых мы начали.</a:t>
            </a:r>
          </a:p>
          <a:p/>
          <a:p>
            <a:r>
              <a:t>Третья строка оси. Прогон зелёный, в журнале ни одной ошибки — выглядит успехом, и именно так это выглядело в пятницу вечером. Чем оказалось: три отказа подряд и заявки за выходные неразобранные. Мы это видели вместе: я испортил ключ при вас, и статус прогона остался успешным.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Процесс уже собран, работает и проверен.</a:t>
            </a:r>
          </a:p>
          <a:p/>
          <a:p>
            <a:r>
              <a:t>Здесь мы разберём другое: почему собранное работает не так, как выглядит, — и почему проверка, которой мы пользовались весь последний час, этого не показывает.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четвёртого кейса, и это единственный кейс, где мы ничего не будем достраивать: здесь мы разберём, почему уже собранное работает не так, как выглядит.</a:t>
            </a:r>
          </a:p>
          <a:p/>
          <a:p>
            <a:r>
              <a:t>И здесь у истории есть лицо, та же администратор. Она говорит: тема определяется слишком общо — «курс» стоит там, где речь про конкретную программу, и заявки уходят не тому человеку.</a:t>
            </a:r>
          </a:p>
          <a:p/>
          <a:p>
            <a:r>
              <a:t>Вы поправили формулировку запроса в узле извлечения. В карточке стоит новый текст, никто его не откатывал.</a:t>
            </a:r>
          </a:p>
          <a:p/>
          <a:p>
            <a:r>
              <a:t>Проверили ручным запуском на трёх её заявках, при ней. Все три разобраны правильно, именно так, как она просила. Закрыли и пошли дальше — и, обратите внимание, сделали всё, что обычно считается достаточным, и даже показали человеку результат.</a:t>
            </a:r>
          </a:p>
          <a:p/>
          <a:p>
            <a:r>
              <a:t>На следующий день она открывает таблицу за сутки. Все заявки разобраны по-старому. Ни одной по новой формулировке — и она приходит с этим к вам.</a:t>
            </a:r>
          </a:p>
          <a:p/>
          <a:p>
            <a:r>
              <a:t>Вы открываете холст: правка на месте. Запускаете руками: снова правильно. И объяснить ей это нечем.</a:t>
            </a:r>
          </a:p>
          <a:p/>
          <a:p>
            <a:r>
              <a:t>Вот эти два утверждения и держат кейс: </a:t>
            </a:r>
            <a:r>
              <a:rPr b="1"/>
              <a:t>правка есть и работает</a:t>
            </a:r>
            <a:r>
              <a:t> — и </a:t>
            </a:r>
            <a:r>
              <a:rPr b="1"/>
              <a:t>в бою её нет</a:t>
            </a:r>
            <a:r>
              <a:t>. Оба верны одновременно, и это не чья-то забывчивость и не чья-то ошибка.</a:t>
            </a:r>
          </a:p>
          <a:p/>
          <a:p>
            <a:r>
              <a:t>И самое неприятное в этой сцене: проверка руками показывала правильный результат всё это время, и показывала </a:t>
            </a:r>
            <a:r>
              <a:rPr b="1"/>
              <a:t>честно</a:t>
            </a:r>
            <a:r>
              <a:t>. Она не врала. Она просто проверяла не то, что работало в бою.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Выбирайте и формулируйте довод. В разборе будет неожиданное — про то, сколько здесь правильных ответов.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отличается от трёх предыдущих: в нём ничего не надо собирать, и предмет его — не узел, а состояние сценария.</a:t>
            </a:r>
          </a:p>
          <a:p/>
          <a:p>
            <a:r>
              <a:t>Смотрите в правый верхний угол редактора. Там написано </a:t>
            </a:r>
            <a:r>
              <a:rPr>
                <a:latin typeface="Consolas"/>
              </a:rPr>
              <a:t>Published</a:t>
            </a:r>
            <a:r>
              <a:t>. Всё это занятие оно там и было, и, подозреваю, никто из вас на него не смотрел — я тоже не смотрю, когда работаю.</a:t>
            </a:r>
          </a:p>
          <a:p/>
          <a:p>
            <a:r>
              <a:t>Что оно означает. У сценария есть две версии одновременно. Та, что открыта у вас в редакторе, — черновик: он сохраняется сам, постоянно, кнопки «Сохранить» в этом инструменте нет вовсе. И опубликованная — та, по которой идут боевые прогоны.</a:t>
            </a:r>
          </a:p>
          <a:p/>
          <a:p>
            <a:r>
              <a:t>Рядом со значком есть стрелка вниз. Под ней и живёт действие, которым правка уходит в бой. Одно действие, которое надо не забыть сделать.</a:t>
            </a:r>
          </a:p>
          <a:p/>
          <a:p>
            <a:r>
              <a:t>Вот и весь ответ на вопрос, с которого кейс начался: правка на холсте есть, в бою её нет, и оба утверждения верны. Между ними — этот значок и эта стрелка.</a:t>
            </a:r>
          </a:p>
          <a:p/>
          <a:p>
            <a:r>
              <a:t>Дальше разберём, что из четырёх карточек это объясняет, а что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сразу то, что я придержал: </a:t>
            </a:r>
            <a:r>
              <a:rPr b="1"/>
              <a:t>правильных карточек здесь две</a:t>
            </a:r>
            <a:r>
              <a:t> — не потому, что я схитрил с формулировками, а потому что две из четырёх описывают одно явление с разных сторон. Сначала механика, в ней три утверждения, и из неё обе станут видны.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четвёртого кейса — про то, что проверять настоящим событием, а что хватит проверить руками. Это разделение экономит часы, и его почти никто не делает сознательно.</a:t>
            </a:r>
          </a:p>
          <a:p/>
          <a:p>
            <a:r>
              <a:t>Настоящим событием проверяют обработчик ошибок. Его триггер срабатывает только на автоматическом прогоне: нажмёте «выполнить» — не произойдёт ничего, вообще ничего, и это правильное поведение. На следующем занятии мы это соберём, и я говорю заранее, чтобы там не разбираться полчаса.</a:t>
            </a:r>
          </a:p>
          <a:p/>
          <a:p>
            <a:r>
              <a:t>Так же — расписание. Сработает ли в нужный момент, и, что важнее, что будет, если прогон не успел закончиться до следующего запуска. Руками этого не увидеть.</a:t>
            </a:r>
          </a:p>
          <a:p/>
          <a:p>
            <a:r>
              <a:t>Так же — реакция на вызов чужой системы: тот ли адрес, та ли авторизация, тот ли формат. И поведение на объёме: тут неожиданно наоборот, ручной прогон </a:t>
            </a:r>
            <a:r>
              <a:rPr b="1"/>
              <a:t>тяжелее</a:t>
            </a:r>
            <a:r>
              <a:t> боевого, потому что инструмент копирует все промежуточные данные, чтобы показать их вам. На больших объёмах ручной падает там, где боевой проходит. То есть «проверил руками — упало» тоже не всегда правда о бое.</a:t>
            </a:r>
          </a:p>
          <a:p/>
          <a:p>
            <a:r>
              <a:t>Руками хватает проверять логику шагов на обычных данных, форму и её поля, выражения и преобразования — всё, что видно прямо в данных узла.</a:t>
            </a:r>
          </a:p>
          <a:p/>
          <a:p>
            <a:r>
              <a:t>Предел этого кейса — единственный пункт занятия про безопасность, и он нужен вам прямо сегодня, потому что файл вы унесёте. Вместе с файлом сценария уезжает больше, чем кажется. Секретов в нём нет: пароли и ключи инструмент хранит отдельно, в файл они не попадают. А вот идентификаторы и имена подключений, адреса, пути, имена таблиц и внутренних сервисов — попадают. Я это обнаружил на нашем же файле: студенческий пришлось собирать отдельно, со снятыми привязками, иначе он утащил бы ссылки на мой стенд.</a:t>
            </a:r>
          </a:p>
          <a:p/>
          <a:p>
            <a:r>
              <a:t>Правило простое, и выполняйте его механически, без размышлений: прежде чем отдать файл сценария кому-то — откройте его и прочитайте глазами. Тридцать секунд. Паролей там нет, а лишнее бывает, и чаще всего это лишнее про вашу инфраструктуру.</a:t>
            </a:r>
          </a:p>
          <a:p/>
          <a:p>
            <a:r>
              <a:t>Четвёртая строка оси. Правка на холсте есть, никто её не откатывал — выглядит успехом, и выглядит настолько убедительно, что проверять не хочется. Чем оказалось: сутки работы по старой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таблице, с которой начинали. Правая колонка больше не пустая, и заполняли её не мои слова, а экран.</a:t>
            </a:r>
          </a:p>
          <a:p/>
          <a:p>
            <a:r>
              <a:t>Три узла — заявка доезжает до таблицы. Чем оказалось: тема будет какой угодно, срочности не будет вовсе. Мы это видели в первом кейсе до того, как поставили справочник.</a:t>
            </a:r>
          </a:p>
          <a:p/>
          <a:p>
            <a:r>
              <a:t>Клетка заполнена, значение законное. Чем оказалось: вторая тема заявки исчезла молча. Мы отправили заявку про перенос и оплату и увидели на экране одну тему.</a:t>
            </a:r>
          </a:p>
          <a:p/>
          <a:p>
            <a:r>
              <a:t>Прогон зелёный, ни одной ошибки в журнале. Чем оказалось: три отказа подряд и заявки за выходные неразобранные. Я при вас испортил ключ и мы вместе смотрели, как статус прогона остался успешным.</a:t>
            </a:r>
          </a:p>
          <a:p/>
          <a:p>
            <a:r>
              <a:t>Правка на холсте есть, никто её не откатывал. Чем оказалось: сутки работы по старой версии, потому что опубликовать — отдельное действие.</a:t>
            </a:r>
          </a:p>
          <a:p/>
          <a:p>
            <a:r>
              <a:t>Теперь главное, ради чего мы заполняли эту таблицу. Разница между «работает» и «можно ручаться» — это и есть четыре строки справа, и каждая из них проверяется руками за несколько минут. Если вы вернётесь к любому своему процессу и пройдёте по ним — занятие удалось, даже если вы забудете, как называется каждый узел.</a:t>
            </a:r>
          </a:p>
          <a:p/>
          <a:p>
            <a:r>
              <a:t>Проверить это можно четырьмя способами, которые вы теперь знаете, и ни один не требует верить мне на слово. Первый: посмотрите, может ли результат шага оказаться значением вне списка. Второй: посмотрите, что происходит с тем, что в список не влезло. Третий: посмотрите, чем отличается «прогон завершился» от «результат годен», и что у вас проверяет второе. Четвёртый: посмотрите, что сейчас работает в бою и совпадает ли это с тем, что открыто у вас в редакторе.</a:t>
            </a:r>
          </a:p>
          <a:p/>
          <a:p>
            <a:r>
              <a:t>Если вы зададите эти четыре вопроса своему процессу на этой неделе — занятие удалось, даже если имена блоков вы забудете к пятнице.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видели: «а вы сотрудничаете с юрлицами?» дала законное «другое», и это была победа списка. А на развилке её придётся куда-то отправить — и «другое» само по себе не говорит, в какую ветку. У инструмента на этот случай есть ответ по умолчанию, и он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Куда мы идём: шесть занятий, девять ступеней</a:t>
            </a:r>
          </a:p>
        </p:txBody>
      </p:sp>
      <p:pic>
        <p:nvPicPr>
          <p:cNvPr id="3" name="Picture 2" descr="lestnitsa-dug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01" y="943356"/>
            <a:ext cx="10724949" cy="339623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504181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632197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Правило движения по ней, из Лекции 3: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не поднимайся без требования, которого ступень ниже не закрывает.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Это то же инженерное «делай простейшее, что работает», переведённое на язык процессов.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99785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527801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Сегодня мы закрываем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вторую ступень снизу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— цепочку. На ней заканчивается большинство реальных задач, и поэтому ей отведено целое занятие, а не десять минут.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Workflow и агент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60954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353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Workflow.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Путь задан заранее. Модель — один из шагов: ей дают вход, берут выход, передают дальше. Поменять порядок может только тот, кто правит схему.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17493"/>
            <a:ext cx="82296" cy="60954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845509"/>
            <a:ext cx="10643616" cy="353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Агент.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Путь определяется по ходу. Модель на каждом круге смотрит на промежуточный результат и выбирает следующее действие сама — из тех, что ей дали.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91631"/>
            <a:ext cx="82296" cy="60954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619647"/>
            <a:ext cx="10643616" cy="353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Выбор: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задача предсказуема — workflow; последовательность шагов принципиально зависит от промежуточных результатов и задача оправдывает кратный рост стоимости — агент.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6576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39378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Пять схем workflow — все с заранее заданным путём: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85783"/>
            <a:ext cx="11183112" cy="1790827"/>
          </a:xfrm>
          <a:prstGeom prst="roundRect">
            <a:avLst>
              <a:gd name="adj" fmla="val 170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4105239"/>
            <a:ext cx="329184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105239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Цепочка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шаги друг за другом, выход одного на вход следующему. Сегодня.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375622"/>
            <a:ext cx="329184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" y="437562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Маршрут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первый шаг относит вход к классу, дальше у каждого класса свой путь.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646005"/>
            <a:ext cx="329184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" y="464600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Параллель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независимые подзадачи сразу, результат сводится детерминированно.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916388"/>
            <a:ext cx="329184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" y="4916388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Дирижёр и исполнители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центральный шаг делит задачу в заданных рамках и раздаёт.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5186771"/>
            <a:ext cx="329184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" y="5186771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Эталон и переделка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один делает, другой оценивает, по кругу до порога.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41202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969218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Большинство надёжных продакшн-систем — это workflow с предопределёнными путями, а не полностью динамические агенты.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Надёжность и цена: четыре числа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179828"/>
          </a:xfrm>
          <a:prstGeom prst="roundRect">
            <a:avLst>
              <a:gd name="adj" fmla="val 1398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516704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95%</a:t>
            </a:r>
            <a:r>
              <a:rPr sz="1000" b="1" i="0">
                <a:solidFill>
                  <a:srgbClr val="6B7685"/>
                </a:solidFill>
                <a:latin typeface="Arial"/>
              </a:rPr>
              <a:t> НА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99151" y="1126236"/>
            <a:ext cx="535769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60%</a:t>
            </a:r>
            <a:r>
              <a:rPr sz="1000" b="1" i="0">
                <a:solidFill>
                  <a:srgbClr val="6B7685"/>
                </a:solidFill>
                <a:latin typeface="Arial"/>
              </a:rPr>
              <a:t> НА ДЕСЯТИ ШАГАХ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5824"/>
            <a:ext cx="51670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90%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на шаг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99151" y="1385824"/>
            <a:ext cx="53576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35%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на десяти шагах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6967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696720"/>
            <a:ext cx="51670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одиночный агент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9151" y="1696720"/>
            <a:ext cx="53576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4×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токенов к обычному чату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076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07616"/>
            <a:ext cx="51670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мульти-агент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9151" y="2007616"/>
            <a:ext cx="53576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15×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токенов к обычному чату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18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318512"/>
            <a:ext cx="51670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рой равноправных агентов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9151" y="2318512"/>
            <a:ext cx="53576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ошибка растёт в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17,2×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6294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629407"/>
            <a:ext cx="51670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один координатор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9151" y="2629407"/>
            <a:ext cx="53576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ошибка растёт в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4,4×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87776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415792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Первые две строки.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Если сбой любого шага портит результат, надёжность цепочки — надёжность шага в степени числа шагов. «Каждый шаг почти всегда работает, значит и цепочка почти всегда» — математически ложно. Отсюда два правила, которые мы применим руками: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цепочки держат короткими, между шагами ставят проверки.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086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46887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Вторые две.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Мульти-агентные системы работают во многом потому, что помогают потратить на задачу достаточно токенов. Не магия координации, а объём.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18922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31723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Последние две.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При одном и том же числе агентов дирижёр надёжнее роя — обратное тому, что обычно предполагают.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Начинай с одного сильного: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команды месяцами строили мульти-агентные схемы и обнаруживали, что улучшенный запрос к одному даёт то же самое.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Классы инструментов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0522"/>
            <a:ext cx="11183112" cy="2602102"/>
          </a:xfrm>
          <a:prstGeom prst="roundRect">
            <a:avLst>
              <a:gd name="adj" fmla="val 117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73402"/>
            <a:ext cx="497644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КЛАСС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8544" y="1673402"/>
            <a:ext cx="33658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ПРИМЕР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0737" y="1673402"/>
            <a:ext cx="2036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55469"/>
            <a:ext cx="497644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Перенос между системами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&lt;br&gt;возьми оттуда, преобразуй, положи сюда, уведоми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8544" y="1955469"/>
            <a:ext cx="336588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с формы → строка в таблице → письмо менеджеру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0737" y="1955469"/>
            <a:ext cx="20361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n8n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Activepieces&lt;br&gt;Make · Zapier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6677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667749"/>
            <a:ext cx="497644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Задача агенту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&lt;br&gt;дай инструменты и проверки, поручи задачу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8544" y="2667749"/>
            <a:ext cx="336588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разобраться в обращении, сходить в три системы, предложить 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0737" y="2667749"/>
            <a:ext cx="20361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sim · Agent Builder&lt;br&gt;у крупных поставщиков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3800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380028"/>
            <a:ext cx="497644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Приложение на модели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&lt;br&gt;цепочка вызовов, поиск по документам, память диалога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8544" y="3380028"/>
            <a:ext cx="33658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чат по корпоративной базе знаний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0737" y="3380028"/>
            <a:ext cx="2036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LangFlow · Dify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6013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88815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Запуск по расписанию и по событию есть у первого и второго класса. У третьего — только снаружи, вызовом или из чата.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Устройство n8n</a:t>
            </a:r>
          </a:p>
        </p:txBody>
      </p:sp>
      <p:pic>
        <p:nvPicPr>
          <p:cNvPr id="3" name="Picture 2" descr="n8n-holst-st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706" y="943356"/>
            <a:ext cx="6977538" cy="223168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39630"/>
            <a:ext cx="82296" cy="46592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467646"/>
            <a:ext cx="10643616" cy="209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Холст и узлы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процесс не текст, а схема. Узел — шаг, щёлкнул — открылась карточка.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Между правкой и проверкой нет ни сборки, ни развёртывания.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70152"/>
            <a:ext cx="82296" cy="46592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098168"/>
            <a:ext cx="10643616" cy="209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Учётные данные — отдельно от сценария.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 файле процесса ключей нет: файл можно отдать студенту, а при ротации ключ меняется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в одном месте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0067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472869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Больше 400 интеграций из коробки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«взять из Таблиц и положить в Телеграм»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два узла</a:t>
            </a:r>
            <a:r>
              <a:rPr sz="1150" b="1" i="0">
                <a:solidFill>
                  <a:srgbClr val="141B2E"/>
                </a:solidFill>
                <a:latin typeface="Arial"/>
              </a:rPr>
              <a:t>, а не два дня с чужой документацией.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20688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8704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Форма и чат встроены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веб-страница с проверкой ввода и экраном результата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без фронтенда и хостинга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48576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976592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Журнал прогонов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каждое исполнение хранится целиком: видно, что пришло на вход любого узла и что он отдал.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Карта занятия: четыре кейса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8775"/>
            <a:ext cx="11183112" cy="2756471"/>
          </a:xfrm>
          <a:prstGeom prst="roundRect">
            <a:avLst>
              <a:gd name="adj" fmla="val 1105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1655"/>
            <a:ext cx="2128019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0123" y="1611655"/>
            <a:ext cx="3531939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СОБИРАЕМ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38366" y="1611655"/>
            <a:ext cx="359654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ВЫГЛЯДИТ РАБОЧИМ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216" y="1611655"/>
            <a:ext cx="97563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66061"/>
            <a:ext cx="212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1. Классификация и сохранение писем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0123" y="2066061"/>
            <a:ext cx="35319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→ модель → сверка → таблица → экран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366" y="2066061"/>
            <a:ext cx="35965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доезжает до таблицы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9504" y="2139213"/>
            <a:ext cx="939055" cy="3834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957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95778"/>
            <a:ext cx="212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2. Заявки с двумя темами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0123" y="2595778"/>
            <a:ext cx="35319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справочник и то, что в него не влезло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366" y="2595778"/>
            <a:ext cx="35965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99504" y="2668930"/>
            <a:ext cx="939055" cy="3834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254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125495"/>
            <a:ext cx="21280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3. Отказ модели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0123" y="3125495"/>
            <a:ext cx="353193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попыток и ветка отказа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366" y="3125495"/>
            <a:ext cx="359654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ошибок в журнале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99504" y="3198647"/>
            <a:ext cx="93905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4726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472649"/>
            <a:ext cx="212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4. Публикация версии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0123" y="3472649"/>
            <a:ext cx="35319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черновик, опубликованная версия, передача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366" y="3472649"/>
            <a:ext cx="35965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99504" y="3545801"/>
            <a:ext cx="939055" cy="3834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48527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49807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Третья колонка — то, что вы увидите своими глазами и сочтёте успехом. Четвёртую заполним по одной строке за кейс и вернёмся к ней в конце.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Кейс 1. Классификация и сохранение писем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Текущий процесс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804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605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Учебный центр, на сайте форма записи: имя, контакт и свободный текст «что нужно». Форма работает третий год, заявок двадцать в день. Дальше с ними работает один человек — администратор Ольга.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71110"/>
            <a:ext cx="11183112" cy="2367153"/>
          </a:xfrm>
          <a:prstGeom prst="roundRect">
            <a:avLst>
              <a:gd name="adj" fmla="val 1287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90566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09056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Человек пишет своими словами: «хочу на курс по аналитике, перезвоните сегодня после шести», «можно перенести занятие со вторника», «выставьте счёт на организацию».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623204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62320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Ольга открывает каждое письмо, читает, понимает, о чём оно, и переносит в таблицу — отдельно контакт, отдельно тема, отдельно срочность.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15584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15584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 этим двум столбцам вечером раскладывают заявки: кому звонить сегодня, кому на неделе, что отдать в бухгалтерию.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688480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68848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пятницу заявок больше, а времени меньше. Появляется «потом разберу» — и что-то не разбирается.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1457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54258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Чем платят за ошибку в теме и срочности.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Заявку смотрит не тот человек → она идёт лишними передачами из рук в руки → обработка задерживается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минимум на день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А каждый день просрочки в ответе снижает вероятность, что человек всё-таки купит.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38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7018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Сорок минут в день — меньшая часть цены. К двадцатому письму подряд работа делается механически: не потому, что Ольга плохая, а потому что двадцатое похоже на пятое.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с потоком писем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7876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06777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Как своевременно и качественно разбирать 200 писем в день?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добавить сотрудников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алгоритмическая NLP-классификация по ключевым словам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один шаг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шаг модели + алгоритмическая сверка со справочником, что не вошло — в «не определено»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 каждый способ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442144"/>
          </a:xfrm>
          <a:prstGeom prst="roundRect">
            <a:avLst>
              <a:gd name="adj" fmla="val 8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437693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69797" y="1126236"/>
            <a:ext cx="2284608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ТОЧНОСТЬ НА ЖИВОМ ПОТОКЕ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0709" y="1126236"/>
            <a:ext cx="2840640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7654" y="1126236"/>
            <a:ext cx="3669193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ЧЕГО НЕ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0670"/>
            <a:ext cx="143769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добавить сотрудников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9797" y="1550670"/>
            <a:ext cx="228460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≈85%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замер по журналам трёх служб поддержки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0709" y="1550670"/>
            <a:ext cx="2840640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видит контекст целиком и замечает то, чего в списке нет вовсе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7654" y="1550670"/>
            <a:ext cx="366919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линейно дорожает: двести писем — это уже не один человек. И согласованность падает к концу смены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1753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175319"/>
            <a:ext cx="143769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алгоритмическая NLP-классификация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9797" y="2175319"/>
            <a:ext cx="228460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53%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правилах ·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80–88%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обученной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709" y="2175319"/>
            <a:ext cx="2840640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предсказуема и дёшева в прогоне; обученная модель на своих данных сильна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7654" y="2175319"/>
            <a:ext cx="366919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правила ломаются на живом языке; обученной модели нужна размеченная история, которой у центра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7999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799969"/>
            <a:ext cx="143769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один шаг модели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9797" y="2799969"/>
            <a:ext cx="228460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75–80%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семи категориях; на живом потоке бывает и ниже обученной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709" y="2799969"/>
            <a:ext cx="2840640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работает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без размеченной истории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на описании категорий словами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7654" y="2799969"/>
            <a:ext cx="366919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обещает формат: в клетке окажется «запись», «обучение», «Аналитика.» — каждый ответ разумный, а столбец негодный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4246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424618"/>
            <a:ext cx="1437693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шаг модели + сверка со справочником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69797" y="3424618"/>
            <a:ext cx="228460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смысловая та же, что у шага модели,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плюс 100% значений из справочника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709" y="3424618"/>
            <a:ext cx="2840640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значение в таблице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всегда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из списка, пустых клеток не бывает; детерминированная сверка — её поведение известно заранее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7654" y="3424618"/>
            <a:ext cx="3669193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смысловую ошибку не чинит: уверенно неверная тема пройдёт сверку, потому что она из списка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50092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4678108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Поворот.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Первые два ломаются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громко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 правило не нашло слово — клетка пустая, это видно. Модель ломается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тихо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 в клетке правдоподобное слово, которого нет в вашем списке, прогон зелёный, и ни одна проверка формата этого не поймает. Громкий отказ дешёвый, тихий дорогой.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508688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636704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Почему 100% из справочника стоит отдельного узла.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Столбец читает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не человек, а следующий шаг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 сортировка, маршрутизация, отчёт. Человек поймёт «Аналитика.» и «аналитика» как одно; система — как два разных значения, и одно из них просто не найдётся фильтром.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Обзор: где что лежит</a:t>
            </a:r>
          </a:p>
        </p:txBody>
      </p:sp>
      <p:pic>
        <p:nvPicPr>
          <p:cNvPr id="3" name="Picture 2" descr="n8n-spisok-protsess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173" y="943356"/>
            <a:ext cx="9566604" cy="35106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618628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746644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Процессы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список того, что собрано. У каждого видно,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опубликован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он или нет, кто владелец и когда правили последний раз. Четыре строки на снимке — четыре стадии процесса этого занятия.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35492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563508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Счётчики сверху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читаются буквально: сколько прогонов прошло в бою, сколько из них упало, какая доля и сколько в среднем занимает прогон. Половина падений на снимке — наша: стенд ломали специально, и в третьем кейсе мы это повторим.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Учётные данные</a:t>
            </a:r>
          </a:p>
        </p:txBody>
      </p:sp>
      <p:pic>
        <p:nvPicPr>
          <p:cNvPr id="3" name="Picture 2" descr="n8n-kredy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273" y="943356"/>
            <a:ext cx="8240405" cy="311543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223387"/>
            <a:ext cx="82296" cy="5916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351403"/>
            <a:ext cx="10643616" cy="3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Соединение проверяется здесь же.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Зелёная строка на снимке — это не «сохранено», а «мы сходили в сервис и он ответил». Проверка до первого прогона, а не вместо него.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79671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107687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Ключ скрыт и после сохранения не показывается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даже владельцу. Посмотреть нельзя, можно только заменить.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623307"/>
            <a:ext cx="82296" cy="5916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751323"/>
            <a:ext cx="10643616" cy="3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 файле процесса ключа нет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только имя учётных данных. Поэтому процесс можно выгрузить и отдать: получивший подставит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свой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ключ. На этом построено домашнее задание.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целиком</a:t>
            </a:r>
          </a:p>
        </p:txBody>
      </p:sp>
      <p:pic>
        <p:nvPicPr>
          <p:cNvPr id="3" name="Picture 2" descr="obzor-k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02" y="1051560"/>
            <a:ext cx="10331747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41858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54659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настоящий холст n8n, а не схема. Дальше мы откроем два узла из шести и посмотрим, что в них настроено.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Настройка узла извлечения</a:t>
            </a:r>
          </a:p>
        </p:txBody>
      </p:sp>
      <p:pic>
        <p:nvPicPr>
          <p:cNvPr id="3" name="Picture 2" descr="n8n-uzel-izvlechen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387" y="943356"/>
            <a:ext cx="4408176" cy="251399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21944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749960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Text — что читаем.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Указываем одно поле формы: свободный текст заявки. Не всё письмо целиком, а именно его.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706"/>
            <a:ext cx="82296" cy="62849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722"/>
            <a:ext cx="10643616" cy="3724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Схема — какие значения разрешены.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Для темы перечисляем четыре допустимых значения, для срочности три. Модель выбирает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из перечисленного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а не придумывает формулировку. Рядом с каждым полем — описание словами: по нему модель и понимает, что такое «срочность».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50797"/>
            <a:ext cx="82296" cy="47746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78813"/>
            <a:ext cx="10643616" cy="221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Обязательность.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Тема и срочность помечены обязательными — пустыми не придут. Контакт из текста не помечен: его в заявке может не быть.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692854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820870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Сверка — отдельный узел.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Обычный «задать поля»: если пришедшее значение есть в списке — оставить, иначе подставить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другое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Два уровня, и оба нужны: схема говорит модели, что от неё хотят, сверка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проверяет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что она это сделала.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видит человек</a:t>
            </a:r>
          </a:p>
        </p:txBody>
      </p:sp>
      <p:pic>
        <p:nvPicPr>
          <p:cNvPr id="3" name="Picture 2" descr="n8n-vhod-i-rezul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744" y="943356"/>
            <a:ext cx="7527462" cy="337007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7802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60603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Слева вход: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форма объясняет, что произойдёт с заявкой, прежде чем её отправят.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Справа выход: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все четыре шага, а не только ответ — что пришло, что предложила модель, что осталось после справочника, куда легла строка.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26380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454396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Промежуточные шаги печатаются намеренно: иначе ошибку видно только там, где она уже стала результатом.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И выход показывают на том же экране, где был вход, — переключение во вкладку «посмотреть, сработало ли» есть главный способ не заметить, что сработало неправильно.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закрытый список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Предел, после которого список перестаёт работать: в нём нет «иначе».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Список без значения «другое» и «не указано» не отказывает — он заставляет модель выбрать ближайшее. Вы получите законное значение на заявке, которой в вашем списке не место, и не узнаете об этом никогда.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узла заявку довозят. Тема при этом будет какой угодно, срочности не будет вовсе — ручаться нечем. Разница между «работает» и «можно ручаться» здесь ровно в двух узлах: тот, что сверяет со списком, и тот, что показывает результат.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ЗАКРЫТЫЙ СПИСОК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шага читает следующий шаг: по нему фильтруют, сортируют, считают или маршрутизируют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полю будет отчёт: «сколько заявок про оплату за месяц»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788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 результат надо отвечать: он уходит в начисление, рассылку, обязательство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36978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36978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поток растёт и типов входа становится больше одного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ЗАКРЫТЫЙ СПИСОК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читает человек и он же решает, что с ним делать — свободный текст ему помогает, а не мешает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поле нужно один раз, для одного письма, и больше его никто не откроет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ошибку заметит тот же человек в тот же день, и исправит её руками за минуту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двадцать обращений в неделю, пять минут в день, и так будет дальше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Кейс 2. Заявки с несколькими темами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«В заявке две темы, а в таблице одна.»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Вторник: половина заявки обслужена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659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9461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работает неделю. Ольга к нему привыкла: смотрит таблицу утром, звонит по срочным, остальное раскладывает после обеда. Жалоб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50"/>
            <a:ext cx="11183112" cy="2164842"/>
          </a:xfrm>
          <a:prstGeom prst="roundRect">
            <a:avLst>
              <a:gd name="adj" fmla="val 1407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05506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0550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Вторник, 11:20. Приходит заявка: «можно перенести занятие со вторника? И подскажите, как оплатить».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83583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83583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таблице появляется строка: тема «перенос занятия», срочность «не указано». Всё заполнено, значение из списка, прогон зелёный.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368471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36847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Ольга видит тему, переносит занятие, закрывает заявку. Делает ровно то, что написано в столбце.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698798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69879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Пятница. Человек звонит сам: «а со счётом что?» Про оплату не узнал никто — ни таблица, ни журнал, ни экран результата о ней не сказали.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23586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051602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не ошибка процесса.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Мы обещали, что клетка не будет пустой и значение будет из списка, — обещание выполнено. Что в клетке окажется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что было в заявке, мы не обещали. Беда в том, что граница наших обещаний обнаружилась не на разборе, а в разговоре с клиентом — и ни один сторож не мог сработать, потому что формально всё в порядке.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корректируем устройство процесса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Как корректируем устройство процесса?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первую из найденных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«не определено»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строки из одного письма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расширять справочник всеми сочетаниями тем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 каждый способ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065906"/>
          </a:xfrm>
          <a:prstGeom prst="roundRect">
            <a:avLst>
              <a:gd name="adj" fmla="val 994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00817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0279" y="1126236"/>
            <a:ext cx="339142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78005" y="1126236"/>
            <a:ext cx="597884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810"/>
            <a:ext cx="100817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0279" y="1400810"/>
            <a:ext cx="3391421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не меняет в процессе и не стоит ни минуты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78005" y="1400810"/>
            <a:ext cx="5978842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вторая тема не остаётся нигде: ни в таблице, ни в журнале, ни на экране. Через три дня о ней напомнит человек — это ровно то, что мы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8867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886712"/>
            <a:ext cx="100817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«не определено»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0279" y="1886712"/>
            <a:ext cx="3391421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честно говорит «автоматика не справилась»: заявка видна и ждёт человека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8005" y="1886712"/>
            <a:ext cx="5978842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«не определено» валится и многотемье, и настоящая экзотика — очередь растёт, и уже не видно, что именно непонятно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726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372614"/>
            <a:ext cx="1008175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две строки из одного письма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0279" y="2372614"/>
            <a:ext cx="3391421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каждая тема получает свой маршрут и своего ответственного, закрывается независимо, сортировка по теме не ломается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8005" y="2372614"/>
            <a:ext cx="5978842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одна заявка превращается в две записи: надо решить, что считать выполненным, и не звонить человеку дважды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798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79826"/>
            <a:ext cx="100817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справочник всеми сочетаниями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0279" y="3179826"/>
            <a:ext cx="339142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формально клетка остаётся одна, и ничего в процессе менять не надо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8005" y="3179826"/>
            <a:ext cx="597884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число значений растёт как число сочетаний: четыре темы дают одиннадцать пар и троек. Сортировать по такому столбцу нельзя, и каждая новая тема удваивает справочник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73855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301871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Поворот.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Первый и второй различаются не точностью, а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знанием о своём незнании</a:t>
            </a:r>
            <a:r>
              <a:rPr sz="1350" b="1" i="0">
                <a:solidFill>
                  <a:srgbClr val="141B2E"/>
                </a:solidFill>
                <a:latin typeface="Arial"/>
              </a:rPr>
              <a:t>. Первый уверен и неправ. Второй не знает — и говорит об этом вслух, в столбце. Второе дороже в разработке и дешевле в эксплуатации.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37963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165979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Берём третий.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Две строки — единственный способ, при котором обе темы получают маршрут и срок. Четвёртый ломается на арифметике сочетаний, второй годится, если очередь «не определено» кто-то разбирает, первый — молчаливая потеря.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меняем в процессе</a:t>
            </a:r>
          </a:p>
        </p:txBody>
      </p:sp>
      <p:pic>
        <p:nvPicPr>
          <p:cNvPr id="3" name="Picture 2" descr="n8n-holst-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02357"/>
            <a:ext cx="11183112" cy="140824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47811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60612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Форма, модель, сверка, запись и экран результата остаются ровно такими, какими были. Новый узел стоит сразу после извлечения: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Split topics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9238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02040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Узел записи не меняется вовсе — и всё-таки пишет две строки вместо одной. Почему, разберём на следующем экране: это не свойство узла, а свойство того, как в n8n ходят данные.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расщепляется запись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00" y="943356"/>
            <a:ext cx="10373350" cy="259333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701285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829301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Модель данных.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Каждый элемент — объект с обязательной обёрткой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json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поэтому в выражениях везде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В кейсе 1 список всегда состоял из одного элемента, и это было незаметно.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549645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77661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делает узел расщепления.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Берёт поле-массив — у нас это список тем — и превращает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один элемент со списком из двух тем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два элемента по одной теме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Остальные поля копируются в оба.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98005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526021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Дальше не меняется ничего.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Сверка срабатывает дважды, запись срабатывает дважды — не потому, что их переписали, а потому, что элементов стало два. Отсюда же известная беда: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пять писем вместо одного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когда узел отправки сработал на каждом элементе и ни у кого не спросил.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получилось в таблице</a:t>
            </a:r>
          </a:p>
        </p:txBody>
      </p:sp>
      <p:pic>
        <p:nvPicPr>
          <p:cNvPr id="3" name="Picture 2" descr="n8n-razbitye-stro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2136"/>
            <a:ext cx="11183112" cy="9262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255488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68290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19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20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тот же текст, тот же контакт, та же секунда. Разные темы —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оплата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381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9662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это даёт Ольге.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Переносом занимается расписание, оплатой бухгалтерия. Каждая строка закрывается своим человеком и в свой срок; ни одна не ждёт, пока разберутся с другой.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2149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4951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Чем платим.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Одна заявка — две записи. Нужно решить, что считать выполненной заявкой, и не позвонить человеку дважды по одному письму. Это вопрос не к процессу, а к договорённости в команде, и решить его придётся до запуска.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видит человек</a:t>
            </a:r>
          </a:p>
        </p:txBody>
      </p:sp>
      <p:pic>
        <p:nvPicPr>
          <p:cNvPr id="3" name="Picture 2" descr="n8n-split-rezul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093" y="943356"/>
            <a:ext cx="3948765" cy="383030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938250"/>
            <a:ext cx="82296" cy="4947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066266"/>
            <a:ext cx="10643616" cy="23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Счётчик — проверка, а не украшение.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«Тем две, а строка одна» видно сразу, без журнала.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597634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725650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Если шаг размножает или схлопывает записи — покажите число до и после.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Тихая потеря половины данных выглядит как успешная работа.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запись расщепляют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4077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6878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учёт без договорённости.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Расщепление создаёт вопрос «что считать выполненной заявкой», и ответ на него процесс дать не может — его даёт команда. Две строки без такой договорённости хуже одной: по ним нельзя ни отчитаться, ни понять, кто кому звонит.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3188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55990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Клетка заполнена, значение законное — и это выглядит успехом. Чем оказалось: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 заявке было две темы, а записали одну, и вторая не осталась нигде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ни в таблице, ни в журнале, ни на экране.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23004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93273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РАСЩЕПЛЯТЬ **НУЖНО**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70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частей разные исполнители или разные сроки — перенос в расписание, оплата в бухгалтерию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6980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6980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этому столбцу сортируют или маршрутизируют, и смешанное значение ломает сортировку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1890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1890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части закрываются независимо, и одна не должна ждать другую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6799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67999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потеря части дороже, чем двойной учёт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823004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93273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РАСЩЕПЛЯТЬ **НЕ НУЖНО**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2070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части делает один человек за один раз: дробление только добавит ему работы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6980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6980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столбец читает глазами человек — он поймёт «перенос и оплата» в одной клетке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1890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1890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заявка имеет смысл только целиком: половина отгрузки — не отгрузка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6799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67999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двойной звонок клиенту дороже, чем задержка по второй теме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Кейс 3. Отказ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произошло за выходные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064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30865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работает три недели. Ольга смотрит таблицу утром. В пятницу вечером всё было как обычно.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8694"/>
            <a:ext cx="11183112" cy="1962531"/>
          </a:xfrm>
          <a:prstGeom prst="roundRect">
            <a:avLst>
              <a:gd name="adj" fmla="val 1553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78150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7815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Понедельник, 9:00. Ольга открывает таблицу — по другому делу, посмотреть вчерашние заявки.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908477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90847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Видит: строки за пятницу есть, строки за понедельник есть.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За субботу и воскресенье — ни одной.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238804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23880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Письма об ошибке никто не получал. И это ничего не значит: кому его отправлять, никто не настраивал.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69131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56913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Процесс всё это время был опубликован и включён. Падал ли он на каждой заявке, на части или писал не туда — неизвестно.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8873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11675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один сторож не сработал, и не мог.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Сторожа срабатывают на ошибки, а здесь нет ошибок — здесь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нет записей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На отсутствие чего-то сработать нечем. Заметили случайно: Ольга зашла в таблицу по другому поводу. Сколько бы это продолжалось иначе — тоже неизвестно.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Поведение узла при неудачном вызове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60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5061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отдельная ветка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32146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" y="4887010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969306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 каждая настройка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с веткой отказа</a:t>
            </a:r>
          </a:p>
        </p:txBody>
      </p:sp>
      <p:pic>
        <p:nvPicPr>
          <p:cNvPr id="3" name="Picture 2" descr="obzor-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964" y="1051560"/>
            <a:ext cx="8003023" cy="3931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41858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54659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Заметьте: повтор виден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снаружи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значком на самом узле. Большинство настроек так не видно — за ними надо открывать карточку.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Повтор попыток и ветка отказа</a:t>
            </a:r>
          </a:p>
        </p:txBody>
      </p:sp>
      <p:pic>
        <p:nvPicPr>
          <p:cNvPr id="3" name="Picture 2" descr="n8n-holst-vetka-otka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994" y="943356"/>
            <a:ext cx="8112962" cy="345682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564775"/>
            <a:ext cx="11183112" cy="86575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720223"/>
            <a:ext cx="469853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ВО ВКЛАДКЕ НАСТРОЕК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3206" y="4720223"/>
            <a:ext cx="588107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994797"/>
            <a:ext cx="469853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Retry On Fail · On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3206" y="4994797"/>
            <a:ext cx="588107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попытки, пауза 2 с →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Continue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(using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error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output)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95126"/>
            <a:ext cx="11183112" cy="72352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5723142"/>
            <a:ext cx="10634472" cy="467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47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Предскажите.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Сейчас испорчу ключ и отправлю заявку. Какой статус будет у прогона — «ошибка» или «успех»?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повторять, а когда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 попытки на каждом из пяти слоёв дают 243-кратную нагрузку на нижний.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Поэтому повторяют в одном месте — и там, где знают, что повторять безопасно.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07464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35480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Предел: отказ, которому некуда идти.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Такой отказ не исчезает — он превращается в отсутствие записи, а отсутствие записи не мониторит никто: ни один сторож не умеет сработать на то, чего нет. Отсюда и двое суток пропуска.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417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1218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Третья строка оси закрыта.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Прогон зелёный, в журнале ни одной ошибки — выглядит успехом. Чем оказалось: три отказа подряд и заявки за выходные неразобранные.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ПОВТОРЯТЬ **НУЖНО**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3232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отказ временный: таймаут, превышение лимита запросов, «сервис перегружен» — со второй попытки обычно проходит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2330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23308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операция идемпотентна: её можно выполнить дважды с тем же результатом — чтение, пересчёт, идемпотентная запись по ключу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28662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8662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 стоит здесь и только здесь, в одном месте стека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60527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60527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задержки с разбросом, и общее число попыток ограничено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4516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ПОВТОРЯТЬ **НЕЛЬЗЯ**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6" y="4132326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отказ постоянный: неверный ключ, негодный запрос, нет обязательного поля. Повтор лишь утроит расход на ту же ошибку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60832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608322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операции есть последствия: отправить письмо, создать заказ, списать деньги. Таймаут не говорит, произошло ли действие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08431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084318"/>
            <a:ext cx="5088636" cy="311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повтор уже стоит слоем ниже или выше: слои множат друг друга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14516" y="539546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14516" y="5395468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задержка фиксированная: все клиенты повторят синхронно и добьют сервис, который начал подниматься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Кейс 4. Версия, которая работает в бою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на холсте и то, что работает в бою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56068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9003" y="1607566"/>
            <a:ext cx="49178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ПОЛУЧИЛОСЬ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89633"/>
            <a:ext cx="56068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сказала: тема определяется слишком общо, «курс» стоит там, где речь про конкретную программу. Вы поправили формулировку запроса в узле извлечения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9003" y="1889633"/>
            <a:ext cx="49178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карточке узла новый текст, никто его не откатывал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019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01912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проверили ручным запуском на трёх её заявках, при ней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9003" y="2601912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три разобраны правильно, именно так, как она просила. Закрыли, пошли дальше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31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31629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следующий день она открывает таблицу за сутки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9003" y="3131629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все заявки разобраны по-старому.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Ни одной по новой формулировке — и она приходит с этим к вам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61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61346"/>
            <a:ext cx="560689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открываете холст, запускаете руками ещё раз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9003" y="3661346"/>
            <a:ext cx="491784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снова правильно. И теперь объяснить это ей нечем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Проверка руками показывала правильный результат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 это время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показывала честно. Она просто проверяла не то, что работало в бою.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в бою работает прежняя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и боевой — разные пути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это видно на экране</a:t>
            </a:r>
          </a:p>
        </p:txBody>
      </p:sp>
      <p:pic>
        <p:nvPicPr>
          <p:cNvPr id="3" name="Picture 2" descr="obzor-k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4959"/>
            <a:ext cx="11183112" cy="325223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24470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37271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Рядом со значком — стрелка вниз: там и живёт действие, которым правка уходит в бой.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в бою, а что хватит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вместе с файлом сценария уезжает больше, чем кажется.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Секретов в нём нет — пароли и ключи инструмент хранит отдельно. А идентификаторы и имена подключений, адреса, пути, имена таблиц и внутренних сервисов — есть. Правило, которое стоит выполнять механически: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прежде чем отдать файл сценария — откройте его и прочитайте глазами.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Это тридцать секунд.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8768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1570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Правка на холсте есть, никто её не откатывал — выглядит успехом. Чем оказалось: сутки работы по старой версии.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НУЖНА ПРОВЕРКА **НАСТОЯЩИМ СОБЫТИЕМ**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обработчик ошибок: его триггер срабатывает только на автоматическом прогоне, и вручную не произойдёт ничего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расписание: сработает ли в нужный момент и что будет, если прогон не успел до следующего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реакция на вызов чужой системы: тот ли адрес, та ли авторизация, тот ли формат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поведение на объёме: ручной прогон копирует данные для показа и на больших объёмах падает там, где боевой проходит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ХВАТИТ **РУЧНОГО ЗАПУСКА**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логика шагов на обычных данных: что пришло, что вернулось, что записалось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форма и её поля: что видит человек, что приходит в процесс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87880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выражения и преобразования: видно сразу, в данных узла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19744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19744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один элемент, одна заявка, один файл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оси: что оказалось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16786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99666"/>
            <a:ext cx="48097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1889" y="1899666"/>
            <a:ext cx="571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81733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89" y="2181733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какая угодно, срочности нет вовсе, ручаться нечем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5288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528887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1889" y="2528887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заявки исчезла молча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760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76042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89" y="2876042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отказа подряд, заявки за выходные не разобраны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231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223196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89" y="3223196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сутки работы по старой версии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2074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54875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работает — или за него можно ручаться?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Четыре строки справа и есть четыре способа это проверить, и ни один не требует верить на слово.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88" y="943356"/>
            <a:ext cx="10553375" cy="329792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05877"/>
            <a:ext cx="11183112" cy="1904619"/>
          </a:xfrm>
          <a:prstGeom prst="roundRect">
            <a:avLst>
              <a:gd name="adj" fmla="val 160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588757"/>
            <a:ext cx="32557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7875" y="4588757"/>
            <a:ext cx="72689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55838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875" y="4855838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1737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173783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875" y="5173783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917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91727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875" y="5491727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8096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809672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875" y="5809672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