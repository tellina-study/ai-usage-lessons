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Today is seminar number two, and the format is simple: we'll work through</a:t>
            </a:r>
          </a:p>
          <a:p>
            <a:r>
              <a:t>seven situations together — the kind that could land on any of your desks at real</a:t>
            </a:r>
          </a:p>
          <a:p>
            <a:r>
              <a:t>jobs. In each one, someone asks "can you automate this for us," and then the</a:t>
            </a:r>
          </a:p>
          <a:p>
            <a:r>
              <a:t>engineer has to decide what to actually build. We're not going to lecture at you</a:t>
            </a:r>
          </a:p>
          <a:p>
            <a:r>
              <a:t>and we're not going to present for half an hour — we're going to talk through</a:t>
            </a:r>
          </a:p>
          <a:p>
            <a:r>
              <a:t>concrete stories out loud, all together, as a room. I'll show you a setup, you'll</a:t>
            </a:r>
          </a:p>
          <a:p>
            <a:r>
              <a:t>say what you'd propose, and then in almost every case a detail will show up that</a:t>
            </a:r>
          </a:p>
          <a:p>
            <a:r>
              <a:t>wasn't in the first version of the story. Being willing to revise your decision when new</a:t>
            </a:r>
          </a:p>
          <a:p>
            <a:r>
              <a:t>information shows up is exactly the skill you need on a real job, where the</a:t>
            </a:r>
          </a:p>
          <a:p>
            <a:r>
              <a:t>client states the problem piece by piece instead of all at once. Let's go.</a:t>
            </a:r>
          </a:p>
          <a:p/>
          <a:p>
            <a:r>
              <a:t>(Photo: NASA / Cory Huston · Wikimedia Commons · public domain)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we're training today — four types of choice that keep coming up</a:t>
            </a:r>
          </a:p>
          <a:p>
            <a:r>
              <a:t>in engineering practice, again and again: whether you need AI here at all or</a:t>
            </a:r>
          </a:p>
          <a:p>
            <a:r>
              <a:t>plain code is enough, whether to build the solution into what people already use</a:t>
            </a:r>
          </a:p>
          <a:p>
            <a:r>
              <a:t>or make a separate product, what shape the model call should take — a</a:t>
            </a:r>
          </a:p>
          <a:p>
            <a:r>
              <a:t>one-off call, a search over a knowledge base, or a multi-step agent — and</a:t>
            </a:r>
          </a:p>
          <a:p>
            <a:r>
              <a:t>finally, whether to run it through an external cloud API or on your own infrastructure.</a:t>
            </a:r>
          </a:p>
          <a:p>
            <a:r>
              <a:t>We're not turning this into a procedure with a checklist — instead we're</a:t>
            </a:r>
          </a:p>
          <a:p>
            <a:r>
              <a:t>going to work through seven realistic situations: documents from suppliers, personal data in logs, a</a:t>
            </a:r>
          </a:p>
          <a:p>
            <a:r>
              <a:t>support-desk assistant, product descriptions, meeting minutes, a digest of work chats, and sales calls. Each</a:t>
            </a:r>
          </a:p>
          <a:p>
            <a:r>
              <a:t>one has its own choice and its own set of facts. Look at each setup</a:t>
            </a:r>
          </a:p>
          <a:p>
            <a:r>
              <a:t>critically from the very start: what's missing that you'd need in order to give an</a:t>
            </a:r>
          </a:p>
          <a:p>
            <a:r>
              <a:t>honest answer instead of guessing?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question today: when a task is worth solving with plain code, and when</a:t>
            </a:r>
          </a:p>
          <a:p>
            <a:r>
              <a:t>you genuinely can't do without a model. Engineers often decide this by feel,</a:t>
            </a:r>
          </a:p>
          <a:p>
            <a:r>
              <a:t>by a gut sense of how complex the task looks, rather than by any</a:t>
            </a:r>
          </a:p>
          <a:p>
            <a:r>
              <a:t>concrete signal they could put into words. And the cost of getting it wrong is</a:t>
            </a:r>
          </a:p>
          <a:p>
            <a:r>
              <a:t>real in both directions. Putting AI where plain code would have been enough means</a:t>
            </a:r>
          </a:p>
          <a:p>
            <a:r>
              <a:t>ending up with a solution that's more expensive and less predictable than it needs</a:t>
            </a:r>
          </a:p>
          <a:p>
            <a:r>
              <a:t>to be: code either runs correctly or fails loudly with an error, while a</a:t>
            </a:r>
          </a:p>
          <a:p>
            <a:r>
              <a:t>model can quietly produce plausible-looking nonsense and never warn anyone about it. Putting plain</a:t>
            </a:r>
          </a:p>
          <a:p>
            <a:r>
              <a:t>code where a model is actually needed means signing up for perpetual patching: every</a:t>
            </a:r>
          </a:p>
          <a:p>
            <a:r>
              <a:t>new variation in the input breaks the rigid logic, and someone has to keep</a:t>
            </a:r>
          </a:p>
          <a:p>
            <a:r>
              <a:t>fixing it over and over. There's no single recipe of "always pick X" — there</a:t>
            </a:r>
          </a:p>
          <a:p>
            <a:r>
              <a:t>are signals inside the task itself that are worth learning to notice. Let's move</a:t>
            </a:r>
          </a:p>
          <a:p>
            <a:r>
              <a:t>to the setup.</a:t>
            </a:r>
          </a:p>
          <a:p/>
          <a:p>
            <a:r>
              <a:t>(Photo: Wikimedia Commons · CC0)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product manager's quote in full, without shortening it — students should pick</a:t>
            </a:r>
          </a:p>
          <a:p>
            <a:r>
              <a:t>out for themselves what's actually relevant to the task. Direct signals: three people, around 400</a:t>
            </a:r>
          </a:p>
          <a:p>
            <a:r>
              <a:t>invoices a month, all keyed by hand into 1C, backlog and errors by the</a:t>
            </a:r>
          </a:p>
          <a:p>
            <a:r>
              <a:t>end of the quarter, two sample invoices where the formats "look about the same." There's</a:t>
            </a:r>
          </a:p>
          <a:p>
            <a:r>
              <a:t>an indirect signal worth pulling out separately in discussion: the company already has a contract</a:t>
            </a:r>
          </a:p>
          <a:p>
            <a:r>
              <a:t>and live experience running an LLM over an API (marketing and YandexGPT) — that doesn't</a:t>
            </a:r>
          </a:p>
          <a:p>
            <a:r>
              <a:t>directly change the architectural choice for this task, but it does close off the</a:t>
            </a:r>
          </a:p>
          <a:p>
            <a:r>
              <a:t>question "can we even send data through an external API in the first place"</a:t>
            </a:r>
          </a:p>
          <a:p>
            <a:r>
              <a:t>before it comes up as a hypothetical risk. The mail migration is a decoy</a:t>
            </a:r>
          </a:p>
          <a:p>
            <a:r>
              <a:t>fact: it sounds like an IT detail about infrastructure, but it has nothing to</a:t>
            </a:r>
          </a:p>
          <a:p>
            <a:r>
              <a:t>do with parsing invoices. Show both sample invoices on the slide and the third</a:t>
            </a:r>
          </a:p>
          <a:p>
            <a:r>
              <a:t>card — the target table in 1C with the same fields (Date / Invoice</a:t>
            </a:r>
          </a:p>
          <a:p>
            <a:r>
              <a:t>No. / Line item / Amount) — so the audience immediately sees the</a:t>
            </a:r>
          </a:p>
          <a:p>
            <a:r>
              <a:t>structural match between source and target. Ask the room: what would you propose? Is</a:t>
            </a:r>
          </a:p>
          <a:p>
            <a:r>
              <a:t>AI even needed here, or can you get away without it? Which fields</a:t>
            </a:r>
          </a:p>
          <a:p>
            <a:r>
              <a:t>specifically would you extract, and what, in your view, determines how hard this task actually</a:t>
            </a:r>
          </a:p>
          <a:p>
            <a:r>
              <a:t>is? Who wants to go first? During the debrief, also ask: which facts from</a:t>
            </a:r>
          </a:p>
          <a:p>
            <a:r>
              <a:t>the quote actually shaped your choice, and which didn't?</a:t>
            </a:r>
          </a:p>
          <a:p/>
          <a:p>
            <a:r>
              <a:t>(Photo: Pizarros · Wikimedia Commons · CC BY-SA 3.0)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accountant's quote. A direct signal, not flagged by intonation: inside</a:t>
            </a:r>
          </a:p>
          <a:p>
            <a:r>
              <a:t>the archive it's a mix of scanned reconciliation acts, contracts, and the</a:t>
            </a:r>
          </a:p>
          <a:p>
            <a:r>
              <a:t>invoices themselves, nothing was pre-sorted. Indirect signals worth calling out explicitly: part of the</a:t>
            </a:r>
          </a:p>
          <a:p>
            <a:r>
              <a:t>flow (the two biggest suppliers, via EDI) already arrives as structured XML</a:t>
            </a:r>
          </a:p>
          <a:p>
            <a:r>
              <a:t>— that chunk doesn't need LLM extraction at all; and the scan</a:t>
            </a:r>
          </a:p>
          <a:p>
            <a:r>
              <a:t>quality (200dpi from old scanners) is a hard lower bound on OCR</a:t>
            </a:r>
          </a:p>
          <a:p>
            <a:r>
              <a:t>accuracy if the solution goes through image recognition. Accounting's move to</a:t>
            </a:r>
          </a:p>
          <a:p>
            <a:r>
              <a:t>EDI with the tax authority is a decoy fact: it sounds related,</a:t>
            </a:r>
          </a:p>
          <a:p>
            <a:r>
              <a:t>but it's a separate process about tax invoicing, unrelated to parsing supplier invoices.</a:t>
            </a:r>
          </a:p>
          <a:p>
            <a:r>
              <a:t>The slide shows several sample invoices from the archive — the formats</a:t>
            </a:r>
          </a:p>
          <a:p>
            <a:r>
              <a:t>are no longer as uniform as the first two documents: one looks like</a:t>
            </a:r>
          </a:p>
          <a:p>
            <a:r>
              <a:t>a plain table, in the second the fields are named and arranged</a:t>
            </a:r>
          </a:p>
          <a:p>
            <a:r>
              <a:t>differently, the third has free text instead of a clear table, and</a:t>
            </a:r>
          </a:p>
          <a:p>
            <a:r>
              <a:t>the fourth is in English because one of the suppliers is foreign. This is</a:t>
            </a:r>
          </a:p>
          <a:p>
            <a:r>
              <a:t>the same archive, just now we're seeing all of it. Ask the room:</a:t>
            </a:r>
          </a:p>
          <a:p>
            <a:r>
              <a:t>does this change your answer? And if you argued for a clean parser</a:t>
            </a:r>
          </a:p>
          <a:p>
            <a:r>
              <a:t>with no AI — what do you think now, seeing this spread of</a:t>
            </a:r>
          </a:p>
          <a:p>
            <a:r>
              <a:t>formats? And what about the share of the flow that comes through EDI</a:t>
            </a:r>
          </a:p>
          <a:p>
            <a:r>
              <a:t>and doesn't need parsing at all? During the debrief, ask: which facts</a:t>
            </a:r>
          </a:p>
          <a:p>
            <a:r>
              <a:t>from the quote actually shaped your choice, and which didn't?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what happened: while we were only seeing two identical documents, plain</a:t>
            </a:r>
          </a:p>
          <a:p>
            <a:r>
              <a:t>code looked sufficient and even preferable — it's predictable. As soon as</a:t>
            </a:r>
          </a:p>
          <a:p>
            <a:r>
              <a:t>the real 4.2-gigabyte archive showed up, it became clear that the formats had</a:t>
            </a:r>
          </a:p>
          <a:p>
            <a:r>
              <a:t>actually drifted apart, and a plain parser would have needed constant patching for</a:t>
            </a:r>
          </a:p>
          <a:p>
            <a:r>
              <a:t>every new variation. The sensible answer here is a hybrid: the model does</a:t>
            </a:r>
          </a:p>
          <a:p>
            <a:r>
              <a:t>extraction over unstructured or heterogeneous input, and then hard code validation follows</a:t>
            </a:r>
          </a:p>
          <a:p>
            <a:r>
              <a:t>— checking field types, required values, ranges — before the data ever</a:t>
            </a:r>
          </a:p>
          <a:p>
            <a:r>
              <a:t>reaches 1C. And the main lesson of this case is broader than documents,</a:t>
            </a:r>
          </a:p>
          <a:p>
            <a:r>
              <a:t>so I'll say it as its own sentence: study the source data</a:t>
            </a:r>
          </a:p>
          <a:p>
            <a:r>
              <a:t>as thoroughly and broadly as you can — and don't take the client's</a:t>
            </a:r>
          </a:p>
          <a:p>
            <a:r>
              <a:t>word for it. The product manager was confident the formats were the same</a:t>
            </a:r>
          </a:p>
          <a:p>
            <a:r>
              <a:t>because they'd seen two documents and decided that was enough. Before making an</a:t>
            </a:r>
          </a:p>
          <a:p>
            <a:r>
              <a:t>architectural choice, you need to request a picture of the full volume</a:t>
            </a:r>
          </a:p>
          <a:p>
            <a:r>
              <a:t>of data the solution will actually face, rather than relying on what</a:t>
            </a:r>
          </a:p>
          <a:p>
            <a:r>
              <a:t>you were told about it verbally.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colleague's message — they're preparing the logs for the contractor. Direct</a:t>
            </a:r>
          </a:p>
          <a:p>
            <a:r>
              <a:t>signals: 40 GB of logs for the quarter, Friday deadline, the contractor needs</a:t>
            </a:r>
          </a:p>
          <a:p>
            <a:r>
              <a:t>request structure/timings/errors but not specific people's data, and inside the logs there's a</a:t>
            </a:r>
          </a:p>
          <a:p>
            <a:r>
              <a:t>mix of a phone number, an email, and a phrase like "pass this</a:t>
            </a:r>
          </a:p>
          <a:p>
            <a:r>
              <a:t>to Ivan in accounting." An indirect signal worth pulling out separately: the logs</a:t>
            </a:r>
          </a:p>
          <a:p>
            <a:r>
              <a:t>are already line-delimited JSON — meaning the field boundaries and request structure</a:t>
            </a:r>
          </a:p>
          <a:p>
            <a:r>
              <a:t>are already deterministic, so you only need to search for personal data inside the</a:t>
            </a:r>
          </a:p>
          <a:p>
            <a:r>
              <a:t>values, not parse the log format itself from scratch. The VPN testing is</a:t>
            </a:r>
          </a:p>
          <a:p>
            <a:r>
              <a:t>a decoy fact: it sounds like an adjacent data-security topic, but it has no</a:t>
            </a:r>
          </a:p>
          <a:p>
            <a:r>
              <a:t>bearing on how you'd scrub personal data out of an already-exported archive. The sample</a:t>
            </a:r>
          </a:p>
          <a:p>
            <a:r>
              <a:t>log line on the slide shows exactly that mix: a phone number, an</a:t>
            </a:r>
          </a:p>
          <a:p>
            <a:r>
              <a:t>email address, a name inside free text. Ask the room: what's the fastest, cheapest</a:t>
            </a:r>
          </a:p>
          <a:p>
            <a:r>
              <a:t>way to clean up these 40 gigabytes by Friday? Who has an opinion on</a:t>
            </a:r>
          </a:p>
          <a:p>
            <a:r>
              <a:t>what you'd try first? During the debrief, ask: which facts from the quote actually</a:t>
            </a:r>
          </a:p>
          <a:p>
            <a:r>
              <a:t>shaped your choice, and which didn't?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Phone numbers and emails are data with a clear, predictable format —</a:t>
            </a:r>
          </a:p>
          <a:p>
            <a:r>
              <a:t>a plain regex scrubs them reliably and cheaply, no model is needed here</a:t>
            </a:r>
          </a:p>
          <a:p>
            <a:r>
              <a:t>and one would only slow down processing 40 gigabytes of logs. But</a:t>
            </a:r>
          </a:p>
          <a:p>
            <a:r>
              <a:t>people's names and indirect mentions in free text — like "pass this to</a:t>
            </a:r>
          </a:p>
          <a:p>
            <a:r>
              <a:t>Ivan in accounting" — require understanding context. This doesn't call for a large</a:t>
            </a:r>
          </a:p>
          <a:p>
            <a:r>
              <a:t>LLM either: there are compact named-entity-recognition models for this, for example slovnet</a:t>
            </a:r>
          </a:p>
          <a:p>
            <a:r>
              <a:t>from the Natasha project — the model weighs around 30 megabytes, it runs</a:t>
            </a:r>
          </a:p>
          <a:p>
            <a:r>
              <a:t>comfortably on a regular laptop's CPU with no GPU, at a speed of</a:t>
            </a:r>
          </a:p>
          <a:p>
            <a:r>
              <a:t>roughly 25 articles per second. The model recognizes people's names, organization names, locations</a:t>
            </a:r>
          </a:p>
          <a:p>
            <a:r>
              <a:t>— including company names and cities. By size, that's roughly 60 times smaller</a:t>
            </a:r>
          </a:p>
          <a:p>
            <a:r>
              <a:t>than a comparable BERT-class model, at a quality loss of 1-2 percentage points.</a:t>
            </a:r>
          </a:p>
          <a:p>
            <a:r>
              <a:t>The takeaway is worth stating explicitly: a large share of text tasks</a:t>
            </a:r>
          </a:p>
          <a:p>
            <a:r>
              <a:t>are solved algorithmically or with small specialized models — that's simpler, faster, and</a:t>
            </a:r>
          </a:p>
          <a:p>
            <a:r>
              <a:t>cheaper than running everything through a large LLM. The same question of data</a:t>
            </a:r>
          </a:p>
          <a:p>
            <a:r>
              <a:t>sensitivity will come up again in the sales-calls case — where the stakes</a:t>
            </a:r>
          </a:p>
          <a:p>
            <a:r>
              <a:t>are noticeably higher.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cases from real practice. In January 2023 it came out that the</a:t>
            </a:r>
          </a:p>
          <a:p>
            <a:r>
              <a:t>outlet CNET had been publishing finance articles generated by an AI tool for several months.</a:t>
            </a:r>
          </a:p>
          <a:p>
            <a:r>
              <a:t>Of 77 such articles, 41 needed corrections. The flagship example of an error:</a:t>
            </a:r>
          </a:p>
          <a:p>
            <a:r>
              <a:t>one of the articles claimed that "10,000 dollars at 3% annual interest earns</a:t>
            </a:r>
          </a:p>
          <a:p>
            <a:r>
              <a:t>10,300 dollars in a year" — instead of the correct 300 dollars in earnings,</a:t>
            </a:r>
          </a:p>
          <a:p>
            <a:r>
              <a:t>the model confused the total amount with the earnings themselves, a basic</a:t>
            </a:r>
          </a:p>
          <a:p>
            <a:r>
              <a:t>arithmetic error. The lesson specific to this one: the calculation should be</a:t>
            </a:r>
          </a:p>
          <a:p>
            <a:r>
              <a:t>done by a deterministic formula, not an LLM "eyeballing it" — wherever exact</a:t>
            </a:r>
          </a:p>
          <a:p>
            <a:r>
              <a:t>arithmetic is needed, the model should replace the text around the calculator, not</a:t>
            </a:r>
          </a:p>
          <a:p>
            <a:r>
              <a:t>the calculator itself. What went wrong here, in your view? Now the positive</a:t>
            </a:r>
          </a:p>
          <a:p>
            <a:r>
              <a:t>example: an engineering blog post from the company Ramp describes how requests</a:t>
            </a:r>
          </a:p>
          <a:p>
            <a:r>
              <a:t>to fix transaction classification used to be handled manually, with coverage of only</a:t>
            </a:r>
          </a:p>
          <a:p>
            <a:r>
              <a:t>1.5-3% of requests — meaning the overwhelming majority went unprocessed. After rolling out an</a:t>
            </a:r>
          </a:p>
          <a:p>
            <a:r>
              <a:t>LLM agent — under 10 seconds per request, around 99% of decisions judged</a:t>
            </a:r>
          </a:p>
          <a:p>
            <a:r>
              <a:t>correct, around 25% of requests the agent rejects. It's important to say plainly:</a:t>
            </a:r>
          </a:p>
          <a:p>
            <a:r>
              <a:t>this isn't a win for AI over deterministic code, it's a replacement for</a:t>
            </a:r>
          </a:p>
          <a:p>
            <a:r>
              <a:t>manual processing that had negligible coverage.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question today: build the solution into what people already use every</a:t>
            </a:r>
          </a:p>
          <a:p>
            <a:r>
              <a:t>day, or build a separate product for it. On paper, both options look</a:t>
            </a:r>
          </a:p>
          <a:p>
            <a:r>
              <a:t>reasonable. A built-in solution promises seamlessness; a separate product promises freedom —</a:t>
            </a:r>
          </a:p>
          <a:p>
            <a:r>
              <a:t>its own interface, its own development pace, no constraints from someone else's system.</a:t>
            </a:r>
          </a:p>
          <a:p>
            <a:r>
              <a:t>And each option has a hidden cost that's almost never visible in a</a:t>
            </a:r>
          </a:p>
          <a:p>
            <a:r>
              <a:t>demo or on a pitch slide — it shows up later, in real</a:t>
            </a:r>
          </a:p>
          <a:p>
            <a:r>
              <a:t>operation, once actual people start using the solution in their actual workflow,</a:t>
            </a:r>
          </a:p>
          <a:p>
            <a:r>
              <a:t>not the prototype's authors at a showcase. That's exactly why these decisions can't</a:t>
            </a:r>
          </a:p>
          <a:p>
            <a:r>
              <a:t>be made on the beauty of the concept alone — you need to</a:t>
            </a:r>
          </a:p>
          <a:p>
            <a:r>
              <a:t>dig into the specific circumstances of the company and the task. Let's move</a:t>
            </a:r>
          </a:p>
          <a:p>
            <a:r>
              <a:t>to the setup — it comes from someone who's accountable for the outcome,</a:t>
            </a:r>
          </a:p>
          <a:p>
            <a:r>
              <a:t>not for how nice the idea looks on a slide.</a:t>
            </a:r>
          </a:p>
          <a:p/>
          <a:p>
            <a:r>
              <a:t>(Photo: Oliver Propst · Wikimedia Commons · CC BY-SA 3.0)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whole quote out. Direct signals: the idea of response suggestions</a:t>
            </a:r>
          </a:p>
          <a:p>
            <a:r>
              <a:t>and similar-case search, 12 operators on the line, around 300 tickets a day,</a:t>
            </a:r>
          </a:p>
          <a:p>
            <a:r>
              <a:t>peak from 10:00 to 13:00. There's an indirect signal worth explicitly pulling</a:t>
            </a:r>
          </a:p>
          <a:p>
            <a:r>
              <a:t>out in discussion: part of the operator team already works in Telegram</a:t>
            </a:r>
          </a:p>
          <a:p>
            <a:r>
              <a:t>in parallel — that's a second, separate integration point for the assistant that</a:t>
            </a:r>
          </a:p>
          <a:p>
            <a:r>
              <a:t>the client didn't ask about directly, but it really exists and could turn</a:t>
            </a:r>
          </a:p>
          <a:p>
            <a:r>
              <a:t>out to matter as much as the helpdesk itself. Corporate SSO is also</a:t>
            </a:r>
          </a:p>
          <a:p>
            <a:r>
              <a:t>an indirect plus: a single login reduces the cost of integration if the</a:t>
            </a:r>
          </a:p>
          <a:p>
            <a:r>
              <a:t>assistant ends up as a separate window. The laptop-fleet refresh is a</a:t>
            </a:r>
          </a:p>
          <a:p>
            <a:r>
              <a:t>decoy fact: it sounds like an IT detail about support infrastructure, but it</a:t>
            </a:r>
          </a:p>
          <a:p>
            <a:r>
              <a:t>has nothing to do with the assistant's architecture. The slide shows a support-desk</a:t>
            </a:r>
          </a:p>
          <a:p>
            <a:r>
              <a:t>operator's screen: a ticket list, a customer-reply window. Operators spend the entire workday</a:t>
            </a:r>
          </a:p>
          <a:p>
            <a:r>
              <a:t>in the same helpdesk-system interface — something like Zendesk or Jira Service</a:t>
            </a:r>
          </a:p>
          <a:p>
            <a:r>
              <a:t>Management — opening ticket after ticket, switching between cases dozens of times a</a:t>
            </a:r>
          </a:p>
          <a:p>
            <a:r>
              <a:t>shift. Ask the room: where should this assistant live? What would you propose</a:t>
            </a:r>
          </a:p>
          <a:p>
            <a:r>
              <a:t>— a separate window, a suggestion built right into the interface, something else?</a:t>
            </a:r>
          </a:p>
          <a:p>
            <a:r>
              <a:t>And just as important, why that and not something else? During the debrief,</a:t>
            </a:r>
          </a:p>
          <a:p>
            <a:r>
              <a:t>ask: which facts from the quote actually shaped your choice, and which</a:t>
            </a:r>
          </a:p>
          <a:p>
            <a:r>
              <a:t>didn't?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IT director's quote in full, without flagging the key words by</a:t>
            </a:r>
          </a:p>
          <a:p>
            <a:r>
              <a:t>intonation. Direct signals, sitting inside the paragraph rather than in the first sentence: no</a:t>
            </a:r>
          </a:p>
          <a:p>
            <a:r>
              <a:t>open API, no customization options, the system was bought 4 years ago, HR's and</a:t>
            </a:r>
          </a:p>
          <a:p>
            <a:r>
              <a:t>facilities' tickets run through it too, the contract with the vendor still has 2</a:t>
            </a:r>
          </a:p>
          <a:p>
            <a:r>
              <a:t>years left. There's an indirect signal worth pulling out explicitly: the Telegram bot integrates</a:t>
            </a:r>
          </a:p>
          <a:p>
            <a:r>
              <a:t>more easily than the closed off-the- shelf helpdesk — meaning the second integration point</a:t>
            </a:r>
          </a:p>
          <a:p>
            <a:r>
              <a:t>from the earlier quote (operators on Telegram) now has a lower integration cost, and</a:t>
            </a:r>
          </a:p>
          <a:p>
            <a:r>
              <a:t>that changes the balance between options, even if the audience doesn't bring up</a:t>
            </a:r>
          </a:p>
          <a:p>
            <a:r>
              <a:t>Telegram themselves without a nudge. The corporate-portal redesign is a decoy fact: it sounds like</a:t>
            </a:r>
          </a:p>
          <a:p>
            <a:r>
              <a:t>an IT initiative of the same kind, but it has nothing to do with integrating</a:t>
            </a:r>
          </a:p>
          <a:p>
            <a:r>
              <a:t>into the helpdesk. Ask the room: what do we do? Notice I'm not telling</a:t>
            </a:r>
          </a:p>
          <a:p>
            <a:r>
              <a:t>you whether this is good or bad for your plan — I'm just stating</a:t>
            </a:r>
          </a:p>
          <a:p>
            <a:r>
              <a:t>a fact you'd only have learned if you'd asked IT yourself, ahead of</a:t>
            </a:r>
          </a:p>
          <a:p>
            <a:r>
              <a:t>time, before you started designing a solution. Who wants to go first with what</a:t>
            </a:r>
          </a:p>
          <a:p>
            <a:r>
              <a:t>you'd propose now? And for anyone who a minute ago suggested building the assistant</a:t>
            </a:r>
          </a:p>
          <a:p>
            <a:r>
              <a:t>right into the interface — what do you think now that it's turned</a:t>
            </a:r>
          </a:p>
          <a:p>
            <a:r>
              <a:t>out the interface itself is closed off to you entirely? During the debrief,</a:t>
            </a:r>
          </a:p>
          <a:p>
            <a:r>
              <a:t>ask: which facts from the quote actually shaped your choice, and which didn't?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has no single right answer, and that's deliberate. Look at three real</a:t>
            </a:r>
          </a:p>
          <a:p>
            <a:r>
              <a:t>options. The first — a side solution: a browser extension or a second panel next</a:t>
            </a:r>
          </a:p>
          <a:p>
            <a:r>
              <a:t>to the helpdesk interface. The cost — the operator has to physically look at</a:t>
            </a:r>
          </a:p>
          <a:p>
            <a:r>
              <a:t>two places, and under load they simply won't check it. The second — switch</a:t>
            </a:r>
          </a:p>
          <a:p>
            <a:r>
              <a:t>the helpdesk vendor to a system with an open API. The cost —</a:t>
            </a:r>
          </a:p>
          <a:p>
            <a:r>
              <a:t>migrating historical data, retraining the entire support team, the risk of downtime during the</a:t>
            </a:r>
          </a:p>
          <a:p>
            <a:r>
              <a:t>transition, all of that for the sake of one feature. The third — rethink</a:t>
            </a:r>
          </a:p>
          <a:p>
            <a:r>
              <a:t>the task itself: the assistant doesn't insert itself at the moment the operator replies,</a:t>
            </a:r>
          </a:p>
          <a:p>
            <a:r>
              <a:t>it prepares drafts or summaries for the ticket ahead of time. There's a cost</a:t>
            </a:r>
          </a:p>
          <a:p>
            <a:r>
              <a:t>here too, just a different one — the operator opens the finished draft wherever</a:t>
            </a:r>
          </a:p>
          <a:p>
            <a:r>
              <a:t>it's convenient, but a separate process is needed to prepare those drafts. In</a:t>
            </a:r>
          </a:p>
          <a:p>
            <a:r>
              <a:t>practice, "off to the side" gets chosen when rollout time is critical and</a:t>
            </a:r>
          </a:p>
          <a:p>
            <a:r>
              <a:t>the team is small — it's faster to put together an extension than</a:t>
            </a:r>
          </a:p>
          <a:p>
            <a:r>
              <a:t>to wait on the vendor. "Switching vendors" gets chosen when the contract is</a:t>
            </a:r>
          </a:p>
          <a:p>
            <a:r>
              <a:t>ending soon anyway — then the migration cost gets absorbed into an event</a:t>
            </a:r>
          </a:p>
          <a:p>
            <a:r>
              <a:t>that was already planned. And "rethinking the task" gets chosen when the organization isn't</a:t>
            </a:r>
          </a:p>
          <a:p>
            <a:r>
              <a:t>ready to spend budget on integration right now, but can wait on live suggestions.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marketing quote in full. Direct signal: marketing specifically wants a separate</a:t>
            </a:r>
          </a:p>
          <a:p>
            <a:r>
              <a:t>standalone service, modeled on the competitor's, catalog of 12,000 SKUs. There's an indirect</a:t>
            </a:r>
          </a:p>
          <a:p>
            <a:r>
              <a:t>signal worth pulling out explicitly in discussion: the copywriter already writes descriptions</a:t>
            </a:r>
          </a:p>
          <a:p>
            <a:r>
              <a:t>right inside the shared catalog admin panel — meaning marketing already has a</a:t>
            </a:r>
          </a:p>
          <a:p>
            <a:r>
              <a:t>single workspace where a button could be inserted, and that changes the</a:t>
            </a:r>
          </a:p>
          <a:p>
            <a:r>
              <a:t>answer to "separate service or not" even before the formal debrief. The homepage banners</a:t>
            </a:r>
          </a:p>
          <a:p>
            <a:r>
              <a:t>and the CRM rollout in another department are decoy facts: both sound</a:t>
            </a:r>
          </a:p>
          <a:p>
            <a:r>
              <a:t>like "some other IT project at the company," but neither affects the architecture</a:t>
            </a:r>
          </a:p>
          <a:p>
            <a:r>
              <a:t>for product descriptions. The slide shows a mockup of a separate new service:</a:t>
            </a:r>
          </a:p>
          <a:p>
            <a:r>
              <a:t>an input form, a "generate" button. Ask the room: is a separate</a:t>
            </a:r>
          </a:p>
          <a:p>
            <a:r>
              <a:t>service a good idea, or not? What do you think, and why exactly</a:t>
            </a:r>
          </a:p>
          <a:p>
            <a:r>
              <a:t>— what in this setup actually determines whether a new tool is</a:t>
            </a:r>
          </a:p>
          <a:p>
            <a:r>
              <a:t>worth building at all? During the debrief, ask: which facts from the quote</a:t>
            </a:r>
          </a:p>
          <a:p>
            <a:r>
              <a:t>actually shaped your choice, and which didn't?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should be a "generate description" button right inside the existing product-catalog admin</a:t>
            </a:r>
          </a:p>
          <a:p>
            <a:r>
              <a:t>panel that marketing already uses every day, entering new products and editing product</a:t>
            </a:r>
          </a:p>
          <a:p>
            <a:r>
              <a:t>cards. A separate product means a second login, a separate tab, a habit</a:t>
            </a:r>
          </a:p>
          <a:p>
            <a:r>
              <a:t>that has to be built from scratch, and an extra step in the</a:t>
            </a:r>
          </a:p>
          <a:p>
            <a:r>
              <a:t>workflow. In practice, separate tools like this often die from disuse, even when</a:t>
            </a:r>
          </a:p>
          <a:p>
            <a:r>
              <a:t>the technology inside them works perfectly well — simply because people never quite</a:t>
            </a:r>
          </a:p>
          <a:p>
            <a:r>
              <a:t>get around to using them when it's easier to just write by hand</a:t>
            </a:r>
          </a:p>
          <a:p>
            <a:r>
              <a:t>what they've always written for years. A separate service is still justified in</a:t>
            </a:r>
          </a:p>
          <a:p>
            <a:r>
              <a:t>one case — if there's no admin panel of your own at all,</a:t>
            </a:r>
          </a:p>
          <a:p>
            <a:r>
              <a:t>meaning marketing has no single place where they already work with product cards. Then</a:t>
            </a:r>
          </a:p>
          <a:p>
            <a:r>
              <a:t>there's nowhere to build the feature in, and a separate tool isn't a</a:t>
            </a:r>
          </a:p>
          <a:p>
            <a:r>
              <a:t>compromise — it's the only option available.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 chronology. Kite — a standalone, independent product for AI-powered</a:t>
            </a:r>
          </a:p>
          <a:p>
            <a:r>
              <a:t>code autocompletion — was founded in 2014, and from 2019 could run</a:t>
            </a:r>
          </a:p>
          <a:p>
            <a:r>
              <a:t>the model locally on the developer's own machine. GitHub Copilot entered technical preview</a:t>
            </a:r>
          </a:p>
          <a:p>
            <a:r>
              <a:t>on June 29, 2021, and became generally available on June 21, 2022, at</a:t>
            </a:r>
          </a:p>
          <a:p>
            <a:r>
              <a:t>10 dollars a month. Kite shut down on November 21, 2022. Counting from</a:t>
            </a:r>
          </a:p>
          <a:p>
            <a:r>
              <a:t>Copilot's technical preview to Kite's shutdown, that's around 17 months where both products</a:t>
            </a:r>
          </a:p>
          <a:p>
            <a:r>
              <a:t>genuinely existed on the same market at the same time, and</a:t>
            </a:r>
          </a:p>
          <a:p>
            <a:r>
              <a:t>the competition was real, not hypothetical. That said, the reason for the shutdown</a:t>
            </a:r>
          </a:p>
          <a:p>
            <a:r>
              <a:t>should be stated carefully: Kite's own founder explained it not as a win</a:t>
            </a:r>
          </a:p>
          <a:p>
            <a:r>
              <a:t>for one specific product, but as the fact that "developers don't pay</a:t>
            </a:r>
          </a:p>
          <a:p>
            <a:r>
              <a:t>for standalone tools" — that's his statement about the market as a</a:t>
            </a:r>
          </a:p>
          <a:p>
            <a:r>
              <a:t>whole, not a direct claim that "Copilot killed Kite." Kite had around 500,000</a:t>
            </a:r>
          </a:p>
          <a:p>
            <a:r>
              <a:t>users at its peak. Copilot has around 20 million users as of July</a:t>
            </a:r>
          </a:p>
          <a:p>
            <a:r>
              <a:t>2025, out of more than 100 million developers on GitHub, 4.7 million paid</a:t>
            </a:r>
          </a:p>
          <a:p>
            <a:r>
              <a:t>subscribers as of January 2026, and it's used in roughly 90% of</a:t>
            </a:r>
          </a:p>
          <a:p>
            <a:r>
              <a:t>Fortune 100 companies. A comparable technology, but built directly into the IDE and</a:t>
            </a:r>
          </a:p>
          <a:p>
            <a:r>
              <a:t>into the ecosystem developers were already connected to.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Another example of the same choice, but at a different scale — not</a:t>
            </a:r>
          </a:p>
          <a:p>
            <a:r>
              <a:t>a feature inside an app, but an entire standalone physical device. The</a:t>
            </a:r>
          </a:p>
          <a:p>
            <a:r>
              <a:t>Humane AI Pin — a screenless wearable badge with a laser projector</a:t>
            </a:r>
          </a:p>
          <a:p>
            <a:r>
              <a:t>that displays an image right onto your palm, voice control, priced at 699</a:t>
            </a:r>
          </a:p>
          <a:p>
            <a:r>
              <a:t>dollars plus a 24-dollar-a-month subscription. Sales started in April 2024. The company</a:t>
            </a:r>
          </a:p>
          <a:p>
            <a:r>
              <a:t>raised around 241 million dollars in investment, and in February 2025 the company's</a:t>
            </a:r>
          </a:p>
          <a:p>
            <a:r>
              <a:t>assets — not the whole company, specifically the assets — were sold to</a:t>
            </a:r>
          </a:p>
          <a:p>
            <a:r>
              <a:t>HP for 116 million dollars. On February 28, 2025, the device's servers</a:t>
            </a:r>
          </a:p>
          <a:p>
            <a:r>
              <a:t>were shut off, and it stopped working for everyone who had bought</a:t>
            </a:r>
          </a:p>
          <a:p>
            <a:r>
              <a:t>one. The Rabbit R1 is a similar story: around 100,000 units sold,</a:t>
            </a:r>
          </a:p>
          <a:p>
            <a:r>
              <a:t>but by some estimates only around 5% of buyers actively use it. The</a:t>
            </a:r>
          </a:p>
          <a:p>
            <a:r>
              <a:t>same organizational lesson as with Kite: a standalone device or product competes</a:t>
            </a:r>
          </a:p>
          <a:p>
            <a:r>
              <a:t>not only with alternative technologies, but with the user's habit of not switching</a:t>
            </a:r>
          </a:p>
          <a:p>
            <a:r>
              <a:t>to a new entry point when the function they need already lives</a:t>
            </a:r>
          </a:p>
          <a:p>
            <a:r>
              <a:t>on the phone that's already in their pocket.</a:t>
            </a:r>
          </a:p>
          <a:p/>
          <a:p>
            <a:r>
              <a:t>(Photo of the Rabbit R1: Booredatwork.com · Wikimedia Commons · CC BY 3.0. No photo of the Humane AI Pin was found — no freely licensed image exists on Wikimedia Commons, confirmed via API search and category review; see iteration-log.md.)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question today: what architecture is needed — a one-off model call, a</a:t>
            </a:r>
          </a:p>
          <a:p>
            <a:r>
              <a:t>search over a knowledge base, or a multi-step agent. These three options sound like</a:t>
            </a:r>
          </a:p>
          <a:p>
            <a:r>
              <a:t>three different levels of complexity, and intuitively it feels like the more impressive the task,</a:t>
            </a:r>
          </a:p>
          <a:p>
            <a:r>
              <a:t>the more elaborate an architecture you should build in from the start. That intuition</a:t>
            </a:r>
          </a:p>
          <a:p>
            <a:r>
              <a:t>is worth testing rather than taking on faith — like any feeling that "a serious</a:t>
            </a:r>
          </a:p>
          <a:p>
            <a:r>
              <a:t>task needs a serious tool," it has both supporting and disproving examples in real</a:t>
            </a:r>
          </a:p>
          <a:p>
            <a:r>
              <a:t>practice. Before we move to the setup, let's briefly cover what RAG is and</a:t>
            </a:r>
          </a:p>
          <a:p>
            <a:r>
              <a:t>what an agent is — we'll need both terms in just a couple of</a:t>
            </a:r>
          </a:p>
          <a:p>
            <a:r>
              <a:t>slides, and Lecture 3, where they're covered in detail from the inside, is still</a:t>
            </a:r>
          </a:p>
          <a:p>
            <a:r>
              <a:t>a way off, so for today a general intuition is enough: what each architecture does</a:t>
            </a:r>
          </a:p>
          <a:p>
            <a:r>
              <a:t>and how they differ from each other at a high level, without the details</a:t>
            </a:r>
          </a:p>
          <a:p>
            <a:r>
              <a:t>of how they're built.</a:t>
            </a:r>
          </a:p>
          <a:p/>
          <a:p>
            <a:r>
              <a:t>(Photo: SimonWaldherr · Wikimedia Commons · CC BY-SA 4.0)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move to the next case, a word on RAG — you'll</a:t>
            </a:r>
          </a:p>
          <a:p>
            <a:r>
              <a:t>need this term right now, and it'll keep coming up through the rest of the</a:t>
            </a:r>
          </a:p>
          <a:p>
            <a:r>
              <a:t>session. Here's how it works: the user asks a question → the system</a:t>
            </a:r>
          </a:p>
          <a:p>
            <a:r>
              <a:t>searches for relevant fragments in a knowledge base → the fragments it finds get dropped</a:t>
            </a:r>
          </a:p>
          <a:p>
            <a:r>
              <a:t>into the model's context → the model generates an answer based on the</a:t>
            </a:r>
          </a:p>
          <a:p>
            <a:r>
              <a:t>question and what it found. RAG is needed when the knowledge base is large, changes</a:t>
            </a:r>
          </a:p>
          <a:p>
            <a:r>
              <a:t>over time, and its full volume physically doesn't fit into a single request to</a:t>
            </a:r>
          </a:p>
          <a:p>
            <a:r>
              <a:t>the model — meaning the model literally can't "read" all of it at once, it</a:t>
            </a:r>
          </a:p>
          <a:p>
            <a:r>
              <a:t>needs to find just the relevant piece ahead of time. How the search</a:t>
            </a:r>
          </a:p>
          <a:p>
            <a:r>
              <a:t>itself works inside — embeddings, indexing — we'll cover that in detail in Lecture</a:t>
            </a:r>
          </a:p>
          <a:p>
            <a:r>
              <a:t>3; for today this intuition is enough to recognize the architecture when you need it,</a:t>
            </a:r>
          </a:p>
          <a:p>
            <a:r>
              <a:t>instead of reinventing it from scratch every time.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second — agents. Here the model doesn't work as a single call, it</a:t>
            </a:r>
          </a:p>
          <a:p>
            <a:r>
              <a:t>works in a loop: it builds a plan, calls an external tool — that</a:t>
            </a:r>
          </a:p>
          <a:p>
            <a:r>
              <a:t>could be an API, a search, running code — checks the result of that</a:t>
            </a:r>
          </a:p>
          <a:p>
            <a:r>
              <a:t>call, decides what to do next, and repeats several times in a row until the</a:t>
            </a:r>
          </a:p>
          <a:p>
            <a:r>
              <a:t>task is done or it needs a human to step in. The key difference</a:t>
            </a:r>
          </a:p>
          <a:p>
            <a:r>
              <a:t>from RAG — here the model isn't just answering a question based on retrieved fragments,</a:t>
            </a:r>
          </a:p>
          <a:p>
            <a:r>
              <a:t>it's actually doing something in the outside world and checking whether it worked. The details</a:t>
            </a:r>
          </a:p>
          <a:p>
            <a:r>
              <a:t>of how an agent plans internally — again, Lecture 3. For today, only one thing</a:t>
            </a:r>
          </a:p>
          <a:p>
            <a:r>
              <a:t>matters: recognizing when a task needs this kind of loop with tools, rather than a</a:t>
            </a:r>
          </a:p>
          <a:p>
            <a:r>
              <a:t>single answer from the model. Keep these two diagrams in mind — RAG and</a:t>
            </a:r>
          </a:p>
          <a:p>
            <a:r>
              <a:t>agent — you'll need both in just a minute, in the next case.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quote in full. Direct signals, not flagged by intonation: after every call,</a:t>
            </a:r>
          </a:p>
          <a:p>
            <a:r>
              <a:t>the full transcript arrives by email, minutes are needed with decisions, action items, and</a:t>
            </a:r>
          </a:p>
          <a:p>
            <a:r>
              <a:t>deadlines, about 15 meetings a week, right now the project manager writes the</a:t>
            </a:r>
          </a:p>
          <a:p>
            <a:r>
              <a:t>minutes by hand. Indirect signals worth pulling out explicitly, even though they don't affect</a:t>
            </a:r>
          </a:p>
          <a:p>
            <a:r>
              <a:t>the v1 architecture right now: some meetings are in English — the transcript is</a:t>
            </a:r>
          </a:p>
          <a:p>
            <a:r>
              <a:t>still one coherent document, language doesn't change the v1 schema, but it'll come up</a:t>
            </a:r>
          </a:p>
          <a:p>
            <a:r>
              <a:t>as a detail later; and the fact that YouTrack has an open REST API</a:t>
            </a:r>
          </a:p>
          <a:p>
            <a:r>
              <a:t>— that lays groundwork for v3 (an agent that creates tickets itself), even though</a:t>
            </a:r>
          </a:p>
          <a:p>
            <a:r>
              <a:t>it's too early to talk about that now. The minutes are already saved to the</a:t>
            </a:r>
          </a:p>
          <a:p>
            <a:r>
              <a:t>corporate drive too — also a setup for the future (v2, storage), but it</a:t>
            </a:r>
          </a:p>
          <a:p>
            <a:r>
              <a:t>doesn't change the answer right now. None of this is noise in the</a:t>
            </a:r>
          </a:p>
          <a:p>
            <a:r>
              <a:t>strict sense, but none of it should change the answer to the first</a:t>
            </a:r>
          </a:p>
          <a:p>
            <a:r>
              <a:t>question either: what comes in is still one complete transcript of a single meeting,</a:t>
            </a:r>
          </a:p>
          <a:p>
            <a:r>
              <a:t>of a reasonable length, and what needs to come out is structured decisions,</a:t>
            </a:r>
          </a:p>
          <a:p>
            <a:r>
              <a:t>action items, and deadlines. Ask the room: what architecture is needed here? Argue for it</a:t>
            </a:r>
          </a:p>
          <a:p>
            <a:r>
              <a:t>— what specifically in this setup points you toward this choice and not another?</a:t>
            </a:r>
          </a:p>
          <a:p>
            <a:r>
              <a:t>Who wants to answer first? During the debrief, ask: which facts from the quote</a:t>
            </a:r>
          </a:p>
          <a:p>
            <a:r>
              <a:t>actually shaped your choice, and which didn't?</a:t>
            </a:r>
          </a:p>
          <a:p/>
          <a:p>
            <a:r>
              <a:t>(Photo: Amtec Photos · Wikimedia Commons · CC BY 2.0)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entire transcript of one meeting fits into the model's context in one</a:t>
            </a:r>
          </a:p>
          <a:p>
            <a:r>
              <a:t>go — which means we need a single one-off model call, no RAG,</a:t>
            </a:r>
          </a:p>
          <a:p>
            <a:r>
              <a:t>no agent required, and either one would be unnecessary complexity. The schema</a:t>
            </a:r>
          </a:p>
          <a:p>
            <a:r>
              <a:t>is simple: an email with the transcript comes in as input →</a:t>
            </a:r>
          </a:p>
          <a:p>
            <a:r>
              <a:t>one model call with a preset template ("pull out decisions, action items, deadlines") →</a:t>
            </a:r>
          </a:p>
          <a:p>
            <a:r>
              <a:t>out comes a finished set of minutes. No storage, no loop checking intermediate</a:t>
            </a:r>
          </a:p>
          <a:p>
            <a:r>
              <a:t>results — because the task doesn't call for it. Everything the model needs</a:t>
            </a:r>
          </a:p>
          <a:p>
            <a:r>
              <a:t>to answer fits into a single request in full, and the result comes back</a:t>
            </a:r>
          </a:p>
          <a:p>
            <a:r>
              <a:t>right away, with no intermediate steps and no calls to any external</a:t>
            </a:r>
          </a:p>
          <a:p>
            <a:r>
              <a:t>systems. This is the simplest option there is, and it's fully justified</a:t>
            </a:r>
          </a:p>
          <a:p>
            <a:r>
              <a:t>by the task as currently stated — complicating it now would mean solving</a:t>
            </a:r>
          </a:p>
          <a:p>
            <a:r>
              <a:t>a problem that simply doesn't exist yet.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line out in full, without leaning on the key part with your intonation. The</a:t>
            </a:r>
          </a:p>
          <a:p>
            <a:r>
              <a:t>direct signal is dissolved in the story about the standup: minutes pile up in a</a:t>
            </a:r>
          </a:p>
          <a:p>
            <a:r>
              <a:t>shared folder, and the question "what did we decide about vendor X in May" gets searched</a:t>
            </a:r>
          </a:p>
          <a:p>
            <a:r>
              <a:t>by topic and rough date, not by an exact document — this is no longer one</a:t>
            </a:r>
          </a:p>
          <a:p>
            <a:r>
              <a:t>meeting, it's a lot of accumulated minutes. The indirect signal is worth spelling out</a:t>
            </a:r>
          </a:p>
          <a:p>
            <a:r>
              <a:t>explicitly: the rate at which the folder is growing (half a gigabyte a quarter)</a:t>
            </a:r>
          </a:p>
          <a:p>
            <a:r>
              <a:t>isn't just "the archive is already big" — it's evidence that the base will</a:t>
            </a:r>
          </a:p>
          <a:p>
            <a:r>
              <a:t>keep growing, so the solution needs to be designed for a growing volume, not the</a:t>
            </a:r>
          </a:p>
          <a:p>
            <a:r>
              <a:t>current one. The vacation schedule and the portal redesign are noise twins — both came</a:t>
            </a:r>
          </a:p>
          <a:p>
            <a:r>
              <a:t>up in that same line, but neither has anything to do with searching the minutes.</a:t>
            </a:r>
          </a:p>
          <a:p>
            <a:r>
              <a:t>Question to the room: does this change the architecture? What exactly changed compared to</a:t>
            </a:r>
          </a:p>
          <a:p>
            <a:r>
              <a:t>what we were discussing a minute ago? Give yourselves a second to match this new</a:t>
            </a:r>
          </a:p>
          <a:p>
            <a:r>
              <a:t>request against the solution you proposed for a single meeting. Who wants to</a:t>
            </a:r>
          </a:p>
          <a:p>
            <a:r>
              <a:t>go first? And a separate question for those of you who a minute ago were</a:t>
            </a:r>
          </a:p>
          <a:p>
            <a:r>
              <a:t>arguing for a single model call: who's changed their mind now — and why exactly</a:t>
            </a:r>
          </a:p>
          <a:p>
            <a:r>
              <a:t>did this one detail make you reconsider your answer? When you break it down, ask:</a:t>
            </a:r>
          </a:p>
          <a:p>
            <a:r>
              <a:t>which facts in the line affected your choice, and which didn't?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long as it was one transcript of one meeting that fit entirely</a:t>
            </a:r>
          </a:p>
          <a:p>
            <a:r>
              <a:t>into the model's context, a one-off call was the right and sufficient answer</a:t>
            </a:r>
          </a:p>
          <a:p>
            <a:r>
              <a:t>— neither RAG nor an agent would have been needed, and either would</a:t>
            </a:r>
          </a:p>
          <a:p>
            <a:r>
              <a:t>only have complicated things for no benefit. But now the base of</a:t>
            </a:r>
          </a:p>
          <a:p>
            <a:r>
              <a:t>minutes is growing over time, constantly filling up with new meetings, and the whole</a:t>
            </a:r>
          </a:p>
          <a:p>
            <a:r>
              <a:t>volume physically no longer fits into a single model request. So we need</a:t>
            </a:r>
          </a:p>
          <a:p>
            <a:r>
              <a:t>search over this growing base for an arbitrary user query — and that's</a:t>
            </a:r>
          </a:p>
          <a:p>
            <a:r>
              <a:t>exactly what RAG is for: finding relevant snippets of minutes by the meaning</a:t>
            </a:r>
          </a:p>
          <a:p>
            <a:r>
              <a:t>of the query, rather than trying to feed the model the entire archive every</a:t>
            </a:r>
          </a:p>
          <a:p>
            <a:r>
              <a:t>single time. Notice on the schema — the old path hasn't gone anywhere,</a:t>
            </a:r>
          </a:p>
          <a:p>
            <a:r>
              <a:t>we've just added storage, indexing, and search before the needed snippets reach that same</a:t>
            </a:r>
          </a:p>
          <a:p>
            <a:r>
              <a:t>model call we had at the previous step. We didn't pick RAG ahead of</a:t>
            </a:r>
          </a:p>
          <a:p>
            <a:r>
              <a:t>time "just in case" — we arrived at it only once a concrete requirement</a:t>
            </a:r>
          </a:p>
          <a:p>
            <a:r>
              <a:t>showed up that the simple option could no longer handle.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line out in full. The direct signal, not particularly highlighted: the system</a:t>
            </a:r>
          </a:p>
          <a:p>
            <a:r>
              <a:t>already finds the action items in the minutes, but they're still moved into the</a:t>
            </a:r>
          </a:p>
          <a:p>
            <a:r>
              <a:t>task tracker manually, one by one, and half of May's action items are</a:t>
            </a:r>
          </a:p>
          <a:p>
            <a:r>
              <a:t>still sitting without an owner. The indirect signal here is the key one for</a:t>
            </a:r>
          </a:p>
          <a:p>
            <a:r>
              <a:t>this step of the breakdown, spell it out explicitly: the fact that YouTrack has</a:t>
            </a:r>
          </a:p>
          <a:p>
            <a:r>
              <a:t>an open REST API is exactly what makes the next architectural step — an agent</a:t>
            </a:r>
          </a:p>
          <a:p>
            <a:r>
              <a:t>calling the tracker's API — technically cheap rather than hypothetical. Without an open API</a:t>
            </a:r>
          </a:p>
          <a:p>
            <a:r>
              <a:t>you'd have to hack something together through export-import or write an integration</a:t>
            </a:r>
          </a:p>
          <a:p>
            <a:r>
              <a:t>from scratch. Tag colors in the tracker are a noise twin — also</a:t>
            </a:r>
          </a:p>
          <a:p>
            <a:r>
              <a:t>about the task tracker, but a purely cosmetic question, no bearing on the architecture.</a:t>
            </a:r>
          </a:p>
          <a:p>
            <a:r>
              <a:t>Question to the room: does this change the architecture again? What's new here</a:t>
            </a:r>
          </a:p>
          <a:p>
            <a:r>
              <a:t>compared to the search over the base we were just discussing a minute ago?</a:t>
            </a:r>
          </a:p>
          <a:p>
            <a:r>
              <a:t>Who's changed their mind — and more importantly than the fact of changing your</a:t>
            </a:r>
          </a:p>
          <a:p>
            <a:r>
              <a:t>mind, why exactly did this detail make you reconsider the architecture rather than just</a:t>
            </a:r>
          </a:p>
          <a:p>
            <a:r>
              <a:t>tack one more step onto the previous solution? When you break it down, ask:</a:t>
            </a:r>
          </a:p>
          <a:p>
            <a:r>
              <a:t>which facts in the line affected your choice, and which didn't?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there's an action in an external system: you need to call the task-tracker</a:t>
            </a:r>
          </a:p>
          <a:p>
            <a:r>
              <a:t>API, create tasks, verify that they were created correctly, with the right owner</a:t>
            </a:r>
          </a:p>
          <a:p>
            <a:r>
              <a:t>and deadline. A single model call, or even search over the base, doesn't cover</a:t>
            </a:r>
          </a:p>
          <a:p>
            <a:r>
              <a:t>that — you need a workflow or a full-fledged agent that calls an</a:t>
            </a:r>
          </a:p>
          <a:p>
            <a:r>
              <a:t>external tool and verifies the result of the call. Look at the whole schema:</a:t>
            </a:r>
          </a:p>
          <a:p>
            <a:r>
              <a:t>the earlier path with storage and search hasn't gone anywhere, it's just been extended</a:t>
            </a:r>
          </a:p>
          <a:p>
            <a:r>
              <a:t>on the right with new blocks — extract the action item, call the API,</a:t>
            </a:r>
          </a:p>
          <a:p>
            <a:r>
              <a:t>create the task, verify the result. Every extension was paid for by a new</a:t>
            </a:r>
          </a:p>
          <a:p>
            <a:r>
              <a:t>requirement: the one-off call was justified as long as everything fit into one transcript; RAG</a:t>
            </a:r>
          </a:p>
          <a:p>
            <a:r>
              <a:t>showed up once the base grew; the agent showed up once an action</a:t>
            </a:r>
          </a:p>
          <a:p>
            <a:r>
              <a:t>in an external system was needed. The architectural choice was driven by concrete new</a:t>
            </a:r>
          </a:p>
          <a:p>
            <a:r>
              <a:t>requirements, not by a fashion for a technology. Start with the simplest option</a:t>
            </a:r>
          </a:p>
          <a:p>
            <a:r>
              <a:t>that solves the current task, and add complexity only once a requirement shows up</a:t>
            </a:r>
          </a:p>
          <a:p>
            <a:r>
              <a:t>that the simple option physically cannot handle. Not the other way around.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line out in full. The direct signal, not particularly highlighted: we</a:t>
            </a:r>
          </a:p>
          <a:p>
            <a:r>
              <a:t>need specifically a weekly (scheduled, not on-demand) digest of a few specific</a:t>
            </a:r>
          </a:p>
          <a:p>
            <a:r>
              <a:t>sources — the work chat and email — once a week by 5</a:t>
            </a:r>
          </a:p>
          <a:p>
            <a:r>
              <a:t>PM on Friday, and the information needs to come together into one coherent message.</a:t>
            </a:r>
          </a:p>
          <a:p>
            <a:r>
              <a:t>It's worth pulling out the indirect signal: both sources (chat and email) already</a:t>
            </a:r>
          </a:p>
          <a:p>
            <a:r>
              <a:t>have an API for pulling history — so the technical ability to collect</a:t>
            </a:r>
          </a:p>
          <a:p>
            <a:r>
              <a:t>data on a schedule already exists, the only question is what architecture processes what's</a:t>
            </a:r>
          </a:p>
          <a:p>
            <a:r>
              <a:t>collected. Moving to a different messenger and testing the VPN are</a:t>
            </a:r>
          </a:p>
          <a:p>
            <a:r>
              <a:t>noise twins — both about the company's communication infrastructure, but neither affects the digest's</a:t>
            </a:r>
          </a:p>
          <a:p>
            <a:r>
              <a:t>architecture. Question to the room: what architecture does this need — a one-off</a:t>
            </a:r>
          </a:p>
          <a:p>
            <a:r>
              <a:t>model call, RAG, an agent, or something else? Argue it, don't just name</a:t>
            </a:r>
          </a:p>
          <a:p>
            <a:r>
              <a:t>a technology — explain why you picked it, and what specifically in</a:t>
            </a:r>
          </a:p>
          <a:p>
            <a:r>
              <a:t>the setup pointed you toward that idea. Who's ready? Argue your choice. When</a:t>
            </a:r>
          </a:p>
          <a:p>
            <a:r>
              <a:t>you break it down, ask: which facts in the line affected your choice,</a:t>
            </a:r>
          </a:p>
          <a:p>
            <a:r>
              <a:t>and which didn't?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often hear "you need RAG because there are many sources" here —</a:t>
            </a:r>
          </a:p>
          <a:p>
            <a:r>
              <a:t>and that's not right, even though the intuition is understandable. You need an agent</a:t>
            </a:r>
          </a:p>
          <a:p>
            <a:r>
              <a:t>or a pipeline, because someone has to go through several sources on a schedule</a:t>
            </a:r>
          </a:p>
          <a:p>
            <a:r>
              <a:t>— check the chat, check the email, collect the messages — and that's</a:t>
            </a:r>
          </a:p>
          <a:p>
            <a:r>
              <a:t>a multi-step task involving calls to external systems. RAG, on the other hand, isn't</a:t>
            </a:r>
          </a:p>
          <a:p>
            <a:r>
              <a:t>needed here: the sources are crawled directly on a schedule, not on an arbitrary</a:t>
            </a:r>
          </a:p>
          <a:p>
            <a:r>
              <a:t>user query, and once the material is collected, the summarization is done with a</a:t>
            </a:r>
          </a:p>
          <a:p>
            <a:r>
              <a:t>single model call, with no search over an archive. RAG is specifically about</a:t>
            </a:r>
          </a:p>
          <a:p>
            <a:r>
              <a:t>search over a large, changing base on an arbitrary user query, not</a:t>
            </a:r>
          </a:p>
          <a:p>
            <a:r>
              <a:t>about "we have a lot of data sources" by itself. Mixing up these two</a:t>
            </a:r>
          </a:p>
          <a:p>
            <a:r>
              <a:t>signals is a common practical mistake worth remembering separately from the case itself.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real-world cases of RAG and agents already in production. The positive one</a:t>
            </a:r>
          </a:p>
          <a:p>
            <a:r>
              <a:t>— Morgan Stanley's AI assistant: the partnership with OpenAI was announced in March</a:t>
            </a:r>
          </a:p>
          <a:p>
            <a:r>
              <a:t>2023, the assistant itself launched in September 2023. It's RAG over a</a:t>
            </a:r>
          </a:p>
          <a:p>
            <a:r>
              <a:t>base of roughly 100,000 of the company's research documents. By mid-2024, the</a:t>
            </a:r>
          </a:p>
          <a:p>
            <a:r>
              <a:t>share of financial-advisor teams using the assistant passed 98%. And the key</a:t>
            </a:r>
          </a:p>
          <a:p>
            <a:r>
              <a:t>metric — the findability of the right document for an advisor rose from</a:t>
            </a:r>
          </a:p>
          <a:p>
            <a:r>
              <a:t>20% to 80%: previously they'd find what they needed in roughly one case</a:t>
            </a:r>
          </a:p>
          <a:p>
            <a:r>
              <a:t>out of five, now it's four out of five. The negative example —</a:t>
            </a:r>
          </a:p>
          <a:p>
            <a:r>
              <a:t>an incident at Replit in July 2025: an AI agent deleted a production</a:t>
            </a:r>
          </a:p>
          <a:p>
            <a:r>
              <a:t>database, affecting the data of roughly 1,200 company executives, and it did</a:t>
            </a:r>
          </a:p>
          <a:p>
            <a:r>
              <a:t>this during an announced code freeze — a freeze on code changes —</a:t>
            </a:r>
          </a:p>
          <a:p>
            <a:r>
              <a:t>against a direct instruction not to touch production. After that, the</a:t>
            </a:r>
          </a:p>
          <a:p>
            <a:r>
              <a:t>agent also incorrectly claimed that a rollback was impossible, even though the data</a:t>
            </a:r>
          </a:p>
          <a:p>
            <a:r>
              <a:t>was in fact restored. The company's CEO publicly apologized. After the incident they</a:t>
            </a:r>
          </a:p>
          <a:p>
            <a:r>
              <a:t>introduced an automatic dev/prod environment split and a special "planning-only" agent mode,</a:t>
            </a:r>
          </a:p>
          <a:p>
            <a:r>
              <a:t>with no permission to run destructive operations. And one more example in</a:t>
            </a:r>
          </a:p>
          <a:p>
            <a:r>
              <a:t>passing: the company Octomind pulled the LangChain framework from production after a year</a:t>
            </a:r>
          </a:p>
          <a:p>
            <a:r>
              <a:t>of use and went back to direct API calls — on June 17,</a:t>
            </a:r>
          </a:p>
          <a:p>
            <a:r>
              <a:t>2024.</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fourth question today: process the data through an external cloud API, or</a:t>
            </a:r>
          </a:p>
          <a:p>
            <a:r>
              <a:t>on your own infrastructure. This is about where the data is physically processed,</a:t>
            </a:r>
          </a:p>
          <a:p>
            <a:r>
              <a:t>not about which model gives a better-quality answer — both models can produce</a:t>
            </a:r>
          </a:p>
          <a:p>
            <a:r>
              <a:t>a similar result, and the difference turns out to be in exactly where</a:t>
            </a:r>
          </a:p>
          <a:p>
            <a:r>
              <a:t>the request goes and what happens to the content at the other end.</a:t>
            </a:r>
          </a:p>
          <a:p>
            <a:r>
              <a:t>An external API gives you maximum power with no investment in hardware; local inference</a:t>
            </a:r>
          </a:p>
          <a:p>
            <a:r>
              <a:t>gives you control over what leaves the company's perimeter, and independence from someone</a:t>
            </a:r>
          </a:p>
          <a:p>
            <a:r>
              <a:t>else's service. You have to weigh these sides not in the abstract,</a:t>
            </a:r>
          </a:p>
          <a:p>
            <a:r>
              <a:t>but against the concrete data of a concrete task — there's no one-size-fits-all</a:t>
            </a:r>
          </a:p>
          <a:p>
            <a:r>
              <a:t>answer here for different companies. As before, we'll start with the task stated</a:t>
            </a:r>
          </a:p>
          <a:p>
            <a:r>
              <a:t>in one line by</a:t>
            </a:r>
          </a:p>
          <a:p/>
          <a:p>
            <a:r>
              <a:t>the client. (Photo: NASA · Wikimedia Commons · public domain)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sales manager's line out in full. The direct signal, not particularly highlighted:</a:t>
            </a:r>
          </a:p>
          <a:p>
            <a:r>
              <a:t>they want a summary card per call (need / objections / agreements), 8 managers, 15-20</a:t>
            </a:r>
          </a:p>
          <a:p>
            <a:r>
              <a:t>calls a day each. Indirect signals worth pulling out explicitly: the phone system</a:t>
            </a:r>
          </a:p>
          <a:p>
            <a:r>
              <a:t>already drops recordings into the cloud on its own — no need to solve the</a:t>
            </a:r>
          </a:p>
          <a:p>
            <a:r>
              <a:t>extraction problem separately; the CRM is Bitrix24 with an open REST API —</a:t>
            </a:r>
          </a:p>
          <a:p>
            <a:r>
              <a:t>the card can be written straight into the CRM with no custom integration;</a:t>
            </a:r>
          </a:p>
          <a:p>
            <a:r>
              <a:t>and the analysts' existing habit of using a cloud AI over an API is an</a:t>
            </a:r>
          </a:p>
          <a:p>
            <a:r>
              <a:t>indirect signal that the organization is already psychologically ready for an external API, and</a:t>
            </a:r>
          </a:p>
          <a:p>
            <a:r>
              <a:t>this won't be a new class of risk for them per se (though</a:t>
            </a:r>
          </a:p>
          <a:p>
            <a:r>
              <a:t>call data isn't the same thing as report drafts — we'll come back to that</a:t>
            </a:r>
          </a:p>
          <a:p>
            <a:r>
              <a:t>question later). Duplicate contacts in the CRM are a noise twin — also</a:t>
            </a:r>
          </a:p>
          <a:p>
            <a:r>
              <a:t>about the CRM, but purely about data quality, not about the extraction architecture. On</a:t>
            </a:r>
          </a:p>
          <a:p>
            <a:r>
              <a:t>input — a call recording, an ordinary free-form conversation between a manager and a</a:t>
            </a:r>
          </a:p>
          <a:p>
            <a:r>
              <a:t>client, with no structure at all, with interruptions, pauses, digressions from the topic, sometimes</a:t>
            </a:r>
          </a:p>
          <a:p>
            <a:r>
              <a:t>with background noise. Question to the room: how do you build this? What would</a:t>
            </a:r>
          </a:p>
          <a:p>
            <a:r>
              <a:t>you propose, and why exactly that? Who'll start? When you break it down, ask: which</a:t>
            </a:r>
          </a:p>
          <a:p>
            <a:r>
              <a:t>facts in the line affected your choice, and which didn't?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lawyer walked into a prototype demo and heard a recording: a client dictating</a:t>
            </a:r>
          </a:p>
          <a:p>
            <a:r>
              <a:t>their passport details for a delivery contract. "Wait. Which service are you</a:t>
            </a:r>
          </a:p>
          <a:p>
            <a:r>
              <a:t>sending these recordings to?" None of the engineers had thought about that in</a:t>
            </a:r>
          </a:p>
          <a:p>
            <a:r>
              <a:t>advance — everyone was only listening for needs and objections, because that's exactly</a:t>
            </a:r>
          </a:p>
          <a:p>
            <a:r>
              <a:t>what the sales manager had asked for. Look at the legal map. In Russia</a:t>
            </a:r>
          </a:p>
          <a:p>
            <a:r>
              <a:t>the base personal-data law is 152-FZ, and as of May 30, 2025, the</a:t>
            </a:r>
          </a:p>
          <a:p>
            <a:r>
              <a:t>420-FZ amendments are in force: for a first breach — a flat</a:t>
            </a:r>
          </a:p>
          <a:p>
            <a:r>
              <a:t>fine of 3 to 5 million rubles, for a repeat breach — a</a:t>
            </a:r>
          </a:p>
          <a:p>
            <a:r>
              <a:t>turnover-based fine of 1 to 3% of the company's annual revenue, minimum 20 million,</a:t>
            </a:r>
          </a:p>
          <a:p>
            <a:r>
              <a:t>maximum 500 million rubles. In the European Union, under GDPR — up</a:t>
            </a:r>
          </a:p>
          <a:p>
            <a:r>
              <a:t>to 20 million euros or 4% of global annual turnover, whichever is greater; the</a:t>
            </a:r>
          </a:p>
          <a:p>
            <a:r>
              <a:t>record fine went to Meta — 1.2 billion euros in 2023. In the</a:t>
            </a:r>
          </a:p>
          <a:p>
            <a:r>
              <a:t>US there's no single federal law protecting personal data — there are</a:t>
            </a:r>
          </a:p>
          <a:p>
            <a:r>
              <a:t>state laws, for example California's CCPA and CPRA, and sector-specific ones, like HIPAA</a:t>
            </a:r>
          </a:p>
          <a:p>
            <a:r>
              <a:t>for medical data. One takeaway: every major jurisdiction is seriously fighting to protect personal</a:t>
            </a:r>
          </a:p>
          <a:p>
            <a:r>
              <a:t>data, and this isn't an abstract risk, it's concrete amounts written into the</a:t>
            </a:r>
          </a:p>
          <a:p>
            <a:r>
              <a:t>laws of different countries.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both lines out one after another, without highlighting the key words with your</a:t>
            </a:r>
          </a:p>
          <a:p>
            <a:r>
              <a:t>intonation. The direct signals are dissolved in the context: the CTO says there's no</a:t>
            </a:r>
          </a:p>
          <a:p>
            <a:r>
              <a:t>GPU server and no budget for one this year, meaning heavy local infrastructure for a</a:t>
            </a:r>
          </a:p>
          <a:p>
            <a:r>
              <a:t>heavy model is off the table; the sales manager needs exactly five specific fields in</a:t>
            </a:r>
          </a:p>
          <a:p>
            <a:r>
              <a:t>the CRM, not a conversation and not tone-of-voice analysis. It's worth pulling out the indirect</a:t>
            </a:r>
          </a:p>
          <a:p>
            <a:r>
              <a:t>signal from the sales manager's line: the fields need to be written straight</a:t>
            </a:r>
          </a:p>
          <a:p>
            <a:r>
              <a:t>into Bitrix24 — that's the same CRM with the open API we already mentioned in</a:t>
            </a:r>
          </a:p>
          <a:p>
            <a:r>
              <a:t>the setup, which means the solution's output has nowhere new to be plugged</a:t>
            </a:r>
          </a:p>
          <a:p>
            <a:r>
              <a:t>in, the integration point is already known. The email migration and laptop refresh are noise</a:t>
            </a:r>
          </a:p>
          <a:p>
            <a:r>
              <a:t>twins — both about this quarter's IT budget, but not about model inference. Question</a:t>
            </a:r>
          </a:p>
          <a:p>
            <a:r>
              <a:t>to the room: does this change the architecture again? What from earlier should</a:t>
            </a:r>
          </a:p>
          <a:p>
            <a:r>
              <a:t>now be reconsidered, and how do these two lines together, not separately, change the</a:t>
            </a:r>
          </a:p>
          <a:p>
            <a:r>
              <a:t>picture? When you break it down, ask: which facts in the lines affected your</a:t>
            </a:r>
          </a:p>
          <a:p>
            <a:r>
              <a:t>choice, and which didn't?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task actually narrowed down: it doesn't need a free-flowing conversation,</a:t>
            </a:r>
          </a:p>
          <a:p>
            <a:r>
              <a:t>it needs a structured summary against a fixed template of a few fields —</a:t>
            </a:r>
          </a:p>
          <a:p>
            <a:r>
              <a:t>that's extracting fixed fields against a template, not a free conversation requiring context understanding.</a:t>
            </a:r>
          </a:p>
          <a:p>
            <a:r>
              <a:t>Here's exactly what the engineer dug up while looking into this: this class</a:t>
            </a:r>
          </a:p>
          <a:p>
            <a:r>
              <a:t>of task is well covered by current open models in the 7-8 billion</a:t>
            </a:r>
          </a:p>
          <a:p>
            <a:r>
              <a:t>parameter range — Qwen3, Llama, Gemma, Mistral, as well as the Russian T-lite and</a:t>
            </a:r>
          </a:p>
          <a:p>
            <a:r>
              <a:t>T-pro, built by T-Bank under the Apache 2.0 license, based on Qwen. 4-bit quantization</a:t>
            </a:r>
          </a:p>
          <a:p>
            <a:r>
              <a:t>— compressing the model's weights down to 4 bits per parameter — lets you</a:t>
            </a:r>
          </a:p>
          <a:p>
            <a:r>
              <a:t>fit such a model into 4-6 gigabytes of memory and run it on</a:t>
            </a:r>
          </a:p>
          <a:p>
            <a:r>
              <a:t>an ordinary server with no GPU farm, using tools like Ollama or llama.cpp.</a:t>
            </a:r>
          </a:p>
          <a:p>
            <a:r>
              <a:t>If you need to fine-tune the model more precisely for the output format,</a:t>
            </a:r>
          </a:p>
          <a:p>
            <a:r>
              <a:t>you can fine-tune it with LoRA, an economical fine-tuning method that doesn't touch all</a:t>
            </a:r>
          </a:p>
          <a:p>
            <a:r>
              <a:t>of the model's weights, and do it on a single GPU. Let's spell out</a:t>
            </a:r>
          </a:p>
          <a:p>
            <a:r>
              <a:t>two lessons explicitly. First — "hard for a human" doesn't mean "hard for a</a:t>
            </a:r>
          </a:p>
          <a:p>
            <a:r>
              <a:t>model": a free-form conversation looks like a hard input, but extracting structured fields against</a:t>
            </a:r>
          </a:p>
          <a:p>
            <a:r>
              <a:t>a template is a task of moderate complexity that a small model</a:t>
            </a:r>
          </a:p>
          <a:p>
            <a:r>
              <a:t>handles reliably. Second — data sensitivity isn't visible in the initial task statement; it</a:t>
            </a:r>
          </a:p>
          <a:p>
            <a:r>
              <a:t>has to be uncovered by asking questions about the content of the input</a:t>
            </a:r>
          </a:p>
          <a:p>
            <a:r>
              <a:t>data, not assumed from the wording.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Samsung allowed employees to use ChatGPT on March 11, 2023. By</a:t>
            </a:r>
          </a:p>
          <a:p>
            <a:r>
              <a:t>March 30 — roughly 19 days later — three separate leak incidents</a:t>
            </a:r>
          </a:p>
          <a:p>
            <a:r>
              <a:t>had occurred: twice proprietary semiconductor-manufacturing code, once an internal meeting transcript.</a:t>
            </a:r>
          </a:p>
          <a:p>
            <a:r>
              <a:t>The response — a full ban on generative AI tools</a:t>
            </a:r>
          </a:p>
          <a:p>
            <a:r>
              <a:t>on corporate devices in May 2023. What could have been done instead</a:t>
            </a:r>
          </a:p>
          <a:p>
            <a:r>
              <a:t>of a full ban? An acceptable-use policy before opening access,</a:t>
            </a:r>
          </a:p>
          <a:p>
            <a:r>
              <a:t>filters on outbound traffic, or a local model from the start</a:t>
            </a:r>
          </a:p>
          <a:p>
            <a:r>
              <a:t>for sensitive tasks — exactly the choice we just practiced. Now</a:t>
            </a:r>
          </a:p>
          <a:p>
            <a:r>
              <a:t>for the positive examples of small models already running locally right</a:t>
            </a:r>
          </a:p>
          <a:p>
            <a:r>
              <a:t>now, not in a lab. Apple Intelligence — a model of</a:t>
            </a:r>
          </a:p>
          <a:p>
            <a:r>
              <a:t>roughly 3 billion parameters right on the device, available in iOS</a:t>
            </a:r>
          </a:p>
          <a:p>
            <a:r>
              <a:t>18.1 since October 2024, on iPhone 15 Pro and newer: text</a:t>
            </a:r>
          </a:p>
          <a:p>
            <a:r>
              <a:t>summarization and text editing work fully offline, with no cloud connection. Google</a:t>
            </a:r>
          </a:p>
          <a:p>
            <a:r>
              <a:t>Gemini Nano — a model of 1.8-3.25 billion parameters in Pixel</a:t>
            </a:r>
          </a:p>
          <a:p>
            <a:r>
              <a:t>and Android devices: summarizing voice-recorder notes in the Recorder app, the</a:t>
            </a:r>
          </a:p>
          <a:p>
            <a:r>
              <a:t>Magic Compose feature for smart message autocompletion — both also work</a:t>
            </a:r>
          </a:p>
          <a:p>
            <a:r>
              <a:t>offline. Small models are already in the pocket of a large</a:t>
            </a:r>
          </a:p>
          <a:p>
            <a:r>
              <a:t>share of the room right now — most people just haven't</a:t>
            </a:r>
          </a:p>
          <a:p>
            <a:r>
              <a:t>thought about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anyone here have a similar task from work — one where the question</a:t>
            </a:r>
          </a:p>
          <a:p>
            <a:r>
              <a:t>was whether AI was needed at all, and which kind? You don't need a</a:t>
            </a:r>
          </a:p>
          <a:p>
            <a:r>
              <a:t>finished solution, it's enough if you can state it in two or three sentences,</a:t>
            </a:r>
          </a:p>
          <a:p>
            <a:r>
              <a:t>exactly the way a client would bring it to you, with none of the</a:t>
            </a:r>
          </a:p>
          <a:p>
            <a:r>
              <a:t>polish of a textbook example. We'll work through it as a whole room, the</a:t>
            </a:r>
          </a:p>
          <a:p>
            <a:r>
              <a:t>same way we did today's cases: which choice is sharpest here, what inputs</a:t>
            </a:r>
          </a:p>
          <a:p>
            <a:r>
              <a:t>are missing to answer it with confidence, and what happens if those inputs suddenly</a:t>
            </a:r>
          </a:p>
          <a:p>
            <a:r>
              <a:t>show up or change. If you already know how the task actually turned out</a:t>
            </a:r>
          </a:p>
          <a:p>
            <a:r>
              <a:t>in practice, tell us that only after the room has offered its guesses, not</a:t>
            </a:r>
          </a:p>
          <a:p>
            <a:r>
              <a:t>before. Who's ready to share? If no one speaks up right away, I have</a:t>
            </a:r>
          </a:p>
          <a:p>
            <a:r>
              <a:t>a backup story, but I'm genuinely more interested in working through something from your</a:t>
            </a:r>
          </a:p>
          <a:p>
            <a:r>
              <a:t>own experience.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gather up what's already come up today — nothing new, just a</a:t>
            </a:r>
          </a:p>
          <a:p>
            <a:r>
              <a:t>compilation. Vendor documents — study the data as thoroughly and broadly as</a:t>
            </a:r>
          </a:p>
          <a:p>
            <a:r>
              <a:t>you can, don't take the client's word for it, two examples still aren't</a:t>
            </a:r>
          </a:p>
          <a:p>
            <a:r>
              <a:t>the full picture. Personal data in logs — algorithms and small specialized models</a:t>
            </a:r>
          </a:p>
          <a:p>
            <a:r>
              <a:t>often solve a text task faster and cheaper than a</a:t>
            </a:r>
          </a:p>
          <a:p>
            <a:r>
              <a:t>big LLM. Support assistant — an organizational constraint like a closed API can</a:t>
            </a:r>
          </a:p>
          <a:p>
            <a:r>
              <a:t>settle the architecture just as well as technical requirements. Product descriptions —</a:t>
            </a:r>
          </a:p>
          <a:p>
            <a:r>
              <a:t>a button in an existing interface almost always beats a standalone</a:t>
            </a:r>
          </a:p>
          <a:p>
            <a:r>
              <a:t>product. Meeting minutes — concrete new requirements drive the architecture, not fashion for</a:t>
            </a:r>
          </a:p>
          <a:p>
            <a:r>
              <a:t>a technology, start simple. The digest — lots of data sources doesn't</a:t>
            </a:r>
          </a:p>
          <a:p>
            <a:r>
              <a:t>mean you need RAG. And sales calls — what looks hard</a:t>
            </a:r>
          </a:p>
          <a:p>
            <a:r>
              <a:t>to a human isn't necessarily hard for a model, and data sensitivity</a:t>
            </a:r>
          </a:p>
          <a:p>
            <a:r>
              <a:t>is only uncovered by asking, not by assuming. That's what's worth taking</a:t>
            </a:r>
          </a:p>
          <a:p>
            <a:r>
              <a:t>away from today's session.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anyone who wants to dig deeper — three pieces. The</a:t>
            </a:r>
          </a:p>
          <a:p>
            <a:r>
              <a:t>main one is the story of Klarna, 2023-2025: one AI support assistant</a:t>
            </a:r>
          </a:p>
          <a:p>
            <a:r>
              <a:t>that touches on almost every choice from today, from an impressive launch</a:t>
            </a:r>
          </a:p>
          <a:p>
            <a:r>
              <a:t>to the CEO's public admission "we went too far" and a return</a:t>
            </a:r>
          </a:p>
          <a:p>
            <a:r>
              <a:t>to hiring people. The second — the story of New York City's</a:t>
            </a:r>
          </a:p>
          <a:p>
            <a:r>
              <a:t>MyCity chatbot, which in 2024 gave small businesses legally incorrect advice. And</a:t>
            </a:r>
          </a:p>
          <a:p>
            <a:r>
              <a:t>a bonus for the mood — the story of how the</a:t>
            </a:r>
          </a:p>
          <a:p>
            <a:r>
              <a:t>car dealership Chevrolet of Watsonville hooked up a third-party API chatbot with</a:t>
            </a:r>
          </a:p>
          <a:p>
            <a:r>
              <a:t>no guardrails, and it "sold" a Tahoe SUV for one dollar. A</a:t>
            </a:r>
          </a:p>
          <a:p>
            <a:r>
              <a:t>good example of what happens when you embed an external model into</a:t>
            </a:r>
          </a:p>
          <a:p>
            <a:r>
              <a:t>production with no protection against user manipulation. If there's time left today, we'll</a:t>
            </a:r>
          </a:p>
          <a:p>
            <a:r>
              <a:t>work through part of this live.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Klarna launched an OpenAI-based AI support assistant in February 2024, right inside</a:t>
            </a:r>
          </a:p>
          <a:p>
            <a:r>
              <a:t>the existing support channel. In the first 30 days — 2.3 million</a:t>
            </a:r>
          </a:p>
          <a:p>
            <a:r>
              <a:t>chats, 67% of requests automated. Look at all four forks at</a:t>
            </a:r>
          </a:p>
          <a:p>
            <a:r>
              <a:t>once. Routine tickets like order status or returns are a formalizable, repeated</a:t>
            </a:r>
          </a:p>
          <a:p>
            <a:r>
              <a:t>task, a good candidate for automation. The assistant is built into an</a:t>
            </a:r>
          </a:p>
          <a:p>
            <a:r>
              <a:t>already-existing support channel — the right choice by today's session's logic. The</a:t>
            </a:r>
          </a:p>
          <a:p>
            <a:r>
              <a:t>architecture is chat with escalation to a human, not an autonomous</a:t>
            </a:r>
          </a:p>
          <a:p>
            <a:r>
              <a:t>agent with no oversight. But the inference — an external cloud API</a:t>
            </a:r>
          </a:p>
          <a:p>
            <a:r>
              <a:t>with support customer data — is a decision with a risk</a:t>
            </a:r>
          </a:p>
          <a:p>
            <a:r>
              <a:t>profile comparable to our sales-calls case, except here they accepted it and</a:t>
            </a:r>
          </a:p>
          <a:p>
            <a:r>
              <a:t>left it in production. Separately — the company claimed an effect "the equivalent</a:t>
            </a:r>
          </a:p>
          <a:p>
            <a:r>
              <a:t>of 700 agents" and $40 million in 2024, and the denominator —</a:t>
            </a:r>
          </a:p>
          <a:p>
            <a:r>
              <a:t>how many support agents the company had before the launch — was</a:t>
            </a:r>
          </a:p>
          <a:p>
            <a:r>
              <a:t>never publicly disclosed. By Q3 2025 the metric had updated to</a:t>
            </a:r>
          </a:p>
          <a:p>
            <a:r>
              <a:t>"853 agents" and $60 million in effect, and the denominator again wasn't</a:t>
            </a:r>
          </a:p>
          <a:p>
            <a:r>
              <a:t>disclosed. In May 2025 the CEO, Sebastian Siemiatkowski, told Bloomberg in an interview:</a:t>
            </a:r>
          </a:p>
          <a:p>
            <a:r>
              <a:t>"We went too far" — and the company went back to</a:t>
            </a:r>
          </a:p>
          <a:p>
            <a:r>
              <a:t>hiring people, moving to a hybrid model. Which of the four forks</a:t>
            </a:r>
          </a:p>
          <a:p>
            <a:r>
              <a:t>do you think Klarna got wrong the worst?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product manager's line out in full. The direct signal, not particularly highlighted: a</a:t>
            </a:r>
          </a:p>
          <a:p>
            <a:r>
              <a:t>stream of news from many sources, need to merge messages about the same event into</a:t>
            </a:r>
          </a:p>
          <a:p>
            <a:r>
              <a:t>one card. The indirect signal is worth pulling out: all the sources are already normalized</a:t>
            </a:r>
          </a:p>
          <a:p>
            <a:r>
              <a:t>through a single RSS aggregator, meaning the headline and metadata format is uniform —</a:t>
            </a:r>
          </a:p>
          <a:p>
            <a:r>
              <a:t>no need to solve the problem of parsing different formats, only the problem of comparing</a:t>
            </a:r>
          </a:p>
          <a:p>
            <a:r>
              <a:t>content. The source-card redesign is a noise twin — it looks like a change</a:t>
            </a:r>
          </a:p>
          <a:p>
            <a:r>
              <a:t>to the same feed interface, but has nothing to do with merging duplicates. Question to</a:t>
            </a:r>
          </a:p>
          <a:p>
            <a:r>
              <a:t>the room: what technology do you need here? Intuitively, a lot of people right now will</a:t>
            </a:r>
          </a:p>
          <a:p>
            <a:r>
              <a:t>say — you need to understand the meaning of the text, so you need a</a:t>
            </a:r>
          </a:p>
          <a:p>
            <a:r>
              <a:t>model, and you'll have to run every pair of news items through an LLM, comparing them</a:t>
            </a:r>
          </a:p>
          <a:p>
            <a:r>
              <a:t>pairwise. Do you agree with that, or does anyone in the room already have doubts</a:t>
            </a:r>
          </a:p>
          <a:p>
            <a:r>
              <a:t>on that front? Think about how many such pairs of news items you'd need to</a:t>
            </a:r>
          </a:p>
          <a:p>
            <a:r>
              <a:t>compare every day with a large stream of sources. When you break it down, ask:</a:t>
            </a:r>
          </a:p>
          <a:p>
            <a:r>
              <a:t>which facts in the line affected your choice, and which didn't?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it turns out, comparing texts by overlapping fragments — fuzzy matching</a:t>
            </a:r>
          </a:p>
          <a:p>
            <a:r>
              <a:t>and shingling — with no call to a model covers roughly 90% of</a:t>
            </a:r>
          </a:p>
          <a:p>
            <a:r>
              <a:t>duplicate cases, and does it cheaper and more predictably than calling a model</a:t>
            </a:r>
          </a:p>
          <a:p>
            <a:r>
              <a:t>on every pair of news items: the result is deterministic, easy to</a:t>
            </a:r>
          </a:p>
          <a:p>
            <a:r>
              <a:t>debug, and doesn't depend on the model's mood. A model is only needed</a:t>
            </a:r>
          </a:p>
          <a:p>
            <a:r>
              <a:t>for the remaining part — cases where two messages about the same event</a:t>
            </a:r>
          </a:p>
          <a:p>
            <a:r>
              <a:t>are written in completely different words and share almost no text fragments, meaning</a:t>
            </a:r>
          </a:p>
          <a:p>
            <a:r>
              <a:t>it's more of a paraphrase than a match. It's the same lesson we</a:t>
            </a:r>
          </a:p>
          <a:p>
            <a:r>
              <a:t>had at the very start of the session with personal data in logs:</a:t>
            </a:r>
          </a:p>
          <a:p>
            <a:r>
              <a:t>a cheap deterministic filter covers the bulk of the cases first, and the</a:t>
            </a:r>
          </a:p>
          <a:p>
            <a:r>
              <a:t>model handles only the remainder the filter physically can't catch.</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went through seven situations, and in every one of them you made</a:t>
            </a:r>
          </a:p>
          <a:p>
            <a:r>
              <a:t>a decision — what to build at all, which architecture to choose, where</a:t>
            </a:r>
          </a:p>
          <a:p>
            <a:r>
              <a:t>to process the data. Not once was the right answer obvious from the first</a:t>
            </a:r>
          </a:p>
          <a:p>
            <a:r>
              <a:t>statement of the problem — it always depended on the question you either asked,</a:t>
            </a:r>
          </a:p>
          <a:p>
            <a:r>
              <a:t>or didn't. That skill was the whole point of this session, not memorizing</a:t>
            </a:r>
          </a:p>
          <a:p>
            <a:r>
              <a:t>the specific cases. Further along in the course we'll go deeper: next lecture</a:t>
            </a:r>
          </a:p>
          <a:p>
            <a:r>
              <a:t>— how the model is built inside, what happens at the architecture level</a:t>
            </a:r>
          </a:p>
          <a:p>
            <a:r>
              <a:t>when you send it a request. Today's cases, I hope, gave you the intuition</a:t>
            </a:r>
          </a:p>
          <a:p>
            <a:r>
              <a:t>for why an engineer needs that knowledge, not just a researcher. Thanks for</a:t>
            </a:r>
          </a:p>
          <a:p>
            <a:r>
              <a:t>the lively discussion today, see you at the</a:t>
            </a:r>
          </a:p>
          <a:p/>
          <a:p>
            <a:r>
              <a:t>lecture. (Photo: Mickael Courtiade · Wikimedia Commons · CC BY 2.0)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2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5.png"/><Relationship Id="rId4" Type="http://schemas.openxmlformats.org/officeDocument/2006/relationships/image" Target="../media/image4.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2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jp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4.png"/><Relationship Id="rId6" Type="http://schemas.openxmlformats.org/officeDocument/2006/relationships/image" Target="../media/image37.png"/><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38.jp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1.png"/><Relationship Id="rId4" Type="http://schemas.openxmlformats.org/officeDocument/2006/relationships/image" Target="../media/image39.png"/><Relationship Id="rId5" Type="http://schemas.openxmlformats.org/officeDocument/2006/relationships/image" Target="../media/image6.pn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40.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48.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9.png"/><Relationship Id="rId7" Type="http://schemas.openxmlformats.org/officeDocument/2006/relationships/image" Target="../media/image50.png"/><Relationship Id="rId8" Type="http://schemas.openxmlformats.org/officeDocument/2006/relationships/image" Target="../media/image51.png"/><Relationship Id="rId9" Type="http://schemas.openxmlformats.org/officeDocument/2006/relationships/image" Target="../media/image52.png"/><Relationship Id="rId10" Type="http://schemas.openxmlformats.org/officeDocument/2006/relationships/image" Target="../media/image53.png"/><Relationship Id="rId11" Type="http://schemas.openxmlformats.org/officeDocument/2006/relationships/image" Target="../media/image54.png"/><Relationship Id="rId12" Type="http://schemas.openxmlformats.org/officeDocument/2006/relationships/image" Target="../media/image55.png"/><Relationship Id="rId13" Type="http://schemas.openxmlformats.org/officeDocument/2006/relationships/image" Target="../media/image56.png"/><Relationship Id="rId1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9.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9.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23.png"/><Relationship Id="rId4" Type="http://schemas.openxmlformats.org/officeDocument/2006/relationships/image" Target="../media/image64.png"/><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image" Target="../media/image63.png"/><Relationship Id="rId4" Type="http://schemas.openxmlformats.org/officeDocument/2006/relationships/image" Target="../media/image69.png"/><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57.png"/><Relationship Id="rId4" Type="http://schemas.openxmlformats.org/officeDocument/2006/relationships/image" Target="../media/image45.png"/><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jpg"/><Relationship Id="rId3"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95C"/>
        </a:solidFill>
        <a:effectLst/>
      </p:bgPr>
    </p:bg>
    <p:spTree>
      <p:nvGrpSpPr>
        <p:cNvPr id="1" name=""/>
        <p:cNvGrpSpPr/>
        <p:nvPr/>
      </p:nvGrpSpPr>
      <p:grpSpPr/>
      <p:pic>
        <p:nvPicPr>
          <p:cNvPr id="2" name="Picture 1" descr="s01-nasa-engineers-real.jpg"/>
          <p:cNvPicPr>
            <a:picLocks noChangeAspect="1"/>
          </p:cNvPicPr>
          <p:nvPr/>
        </p:nvPicPr>
        <p:blipFill>
          <a:blip r:embed="rId2"/>
          <a:srcRect t="7821" b="7821"/>
          <a:stretch>
            <a:fillRect/>
          </a:stretch>
        </p:blipFill>
        <p:spPr>
          <a:xfrm>
            <a:off x="0" y="0"/>
            <a:ext cx="12191695" cy="6858000"/>
          </a:xfrm>
          <a:prstGeom prst="rect">
            <a:avLst/>
          </a:prstGeom>
        </p:spPr>
      </p:pic>
      <p:sp>
        <p:nvSpPr>
          <p:cNvPr id="3" name="Rectangle 2"/>
          <p:cNvSpPr/>
          <p:nvPr/>
        </p:nvSpPr>
        <p:spPr>
          <a:xfrm>
            <a:off x="0" y="4206240"/>
            <a:ext cx="12191695" cy="2651760"/>
          </a:xfrm>
          <a:prstGeom prst="rect">
            <a:avLst/>
          </a:prstGeom>
          <a:solidFill>
            <a:srgbClr val="21295C">
              <a:alpha val="80000"/>
            </a:srgbClr>
          </a:solidFill>
          <a:ln>
            <a:noFill/>
          </a:ln>
          <a:effectLst/>
        </p:spPr>
        <p:txBody>
          <a:bodyPr rtlCol="0" anchor="ctr"/>
          <a:lstStyle/>
          <a:p>
            <a:pPr algn="ctr"/>
          </a:p>
        </p:txBody>
      </p:sp>
      <p:sp>
        <p:nvSpPr>
          <p:cNvPr id="4" name="TextBox 3"/>
          <p:cNvSpPr txBox="1"/>
          <p:nvPr/>
        </p:nvSpPr>
        <p:spPr>
          <a:xfrm>
            <a:off x="548640" y="4434840"/>
            <a:ext cx="6949440" cy="411480"/>
          </a:xfrm>
          <a:prstGeom prst="rect">
            <a:avLst/>
          </a:prstGeom>
          <a:noFill/>
        </p:spPr>
        <p:txBody>
          <a:bodyPr wrap="square" lIns="0" rIns="0" tIns="0" bIns="0" anchor="t">
            <a:spAutoFit/>
          </a:bodyPr>
          <a:lstStyle/>
          <a:p>
            <a:pPr algn="l">
              <a:lnSpc>
                <a:spcPct val="115000"/>
              </a:lnSpc>
            </a:pPr>
            <a:r>
              <a:rPr sz="1600" b="1" i="0">
                <a:solidFill>
                  <a:srgbClr val="F0AB00"/>
                </a:solidFill>
                <a:latin typeface="Arial"/>
              </a:rPr>
              <a:t>SEMINAR 2</a:t>
            </a:r>
          </a:p>
        </p:txBody>
      </p:sp>
      <p:sp>
        <p:nvSpPr>
          <p:cNvPr id="5" name="TextBox 4"/>
          <p:cNvSpPr txBox="1"/>
          <p:nvPr/>
        </p:nvSpPr>
        <p:spPr>
          <a:xfrm>
            <a:off x="548640" y="4846320"/>
            <a:ext cx="11064240" cy="1234440"/>
          </a:xfrm>
          <a:prstGeom prst="rect">
            <a:avLst/>
          </a:prstGeom>
          <a:noFill/>
        </p:spPr>
        <p:txBody>
          <a:bodyPr wrap="square" lIns="0" rIns="0" tIns="0" bIns="0" anchor="t">
            <a:spAutoFit/>
          </a:bodyPr>
          <a:lstStyle/>
          <a:p>
            <a:pPr algn="l">
              <a:lnSpc>
                <a:spcPct val="112000"/>
              </a:lnSpc>
              <a:spcAft>
                <a:spcPts val="0"/>
              </a:spcAft>
            </a:pPr>
            <a:r>
              <a:rPr sz="3400" b="1" i="0">
                <a:solidFill>
                  <a:srgbClr val="FFFFFF"/>
                </a:solidFill>
                <a:latin typeface="Arial"/>
              </a:rPr>
              <a:t>When AI, which AI, and on what</a:t>
            </a:r>
          </a:p>
        </p:txBody>
      </p:sp>
      <p:sp>
        <p:nvSpPr>
          <p:cNvPr id="6" name="TextBox 5"/>
          <p:cNvSpPr txBox="1"/>
          <p:nvPr/>
        </p:nvSpPr>
        <p:spPr>
          <a:xfrm>
            <a:off x="548640" y="5806440"/>
            <a:ext cx="10607040" cy="640080"/>
          </a:xfrm>
          <a:prstGeom prst="rect">
            <a:avLst/>
          </a:prstGeom>
          <a:noFill/>
        </p:spPr>
        <p:txBody>
          <a:bodyPr wrap="square" lIns="0" rIns="0" tIns="0" bIns="0" anchor="t">
            <a:spAutoFit/>
          </a:bodyPr>
          <a:lstStyle/>
          <a:p>
            <a:pPr algn="l">
              <a:lnSpc>
                <a:spcPct val="128000"/>
              </a:lnSpc>
            </a:pPr>
            <a:r>
              <a:rPr sz="1500" b="0" i="1">
                <a:solidFill>
                  <a:srgbClr val="C8D2DF"/>
                </a:solidFill>
                <a:latin typeface="Arial"/>
              </a:rPr>
              <a:t>Seven real work situations. In each one, there's a decision an engineer has to make before they ever open an editor.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3112" cy="502920"/>
          </a:xfrm>
          <a:prstGeom prst="rect">
            <a:avLst/>
          </a:prstGeom>
          <a:noFill/>
        </p:spPr>
        <p:txBody>
          <a:bodyPr wrap="square" lIns="0" rIns="0" tIns="0" bIns="0" anchor="t">
            <a:spAutoFit/>
          </a:bodyPr>
          <a:lstStyle/>
          <a:p>
            <a:pPr algn="l">
              <a:lnSpc>
                <a:spcPct val="115000"/>
              </a:lnSpc>
            </a:pPr>
            <a:r>
              <a:rPr sz="2700" b="1" i="0">
                <a:solidFill>
                  <a:srgbClr val="21295C"/>
                </a:solidFill>
                <a:latin typeface="Arial"/>
              </a:rPr>
              <a:t>Today: four choices, seven cases</a:t>
            </a:r>
          </a:p>
        </p:txBody>
      </p:sp>
      <p:sp>
        <p:nvSpPr>
          <p:cNvPr id="3" name="Rounded Rectangle 2"/>
          <p:cNvSpPr/>
          <p:nvPr/>
        </p:nvSpPr>
        <p:spPr>
          <a:xfrm>
            <a:off x="502920" y="960120"/>
            <a:ext cx="11183112" cy="566928"/>
          </a:xfrm>
          <a:prstGeom prst="roundRect">
            <a:avLst>
              <a:gd name="adj" fmla="val 25000"/>
            </a:avLst>
          </a:prstGeom>
          <a:solidFill>
            <a:srgbClr val="F4F7FA"/>
          </a:solidFill>
          <a:ln w="19050">
            <a:solidFill>
              <a:srgbClr val="065A82"/>
            </a:solidFill>
          </a:ln>
          <a:effectLst/>
        </p:spPr>
        <p:txBody>
          <a:bodyPr rtlCol="0" anchor="ctr"/>
          <a:lstStyle/>
          <a:p>
            <a:pPr algn="ctr"/>
          </a:p>
        </p:txBody>
      </p:sp>
      <p:pic>
        <p:nvPicPr>
          <p:cNvPr id="4" name="Picture 3" descr="split-065A82-96.png"/>
          <p:cNvPicPr>
            <a:picLocks noChangeAspect="1"/>
          </p:cNvPicPr>
          <p:nvPr/>
        </p:nvPicPr>
        <p:blipFill>
          <a:blip r:embed="rId2"/>
          <a:stretch>
            <a:fillRect/>
          </a:stretch>
        </p:blipFill>
        <p:spPr>
          <a:xfrm>
            <a:off x="777240" y="1051560"/>
            <a:ext cx="384048" cy="384048"/>
          </a:xfrm>
          <a:prstGeom prst="rect">
            <a:avLst/>
          </a:prstGeom>
        </p:spPr>
      </p:pic>
      <p:sp>
        <p:nvSpPr>
          <p:cNvPr id="5" name="TextBox 4"/>
          <p:cNvSpPr txBox="1"/>
          <p:nvPr/>
        </p:nvSpPr>
        <p:spPr>
          <a:xfrm>
            <a:off x="1371600" y="960120"/>
            <a:ext cx="10149840" cy="566928"/>
          </a:xfrm>
          <a:prstGeom prst="rect">
            <a:avLst/>
          </a:prstGeom>
          <a:noFill/>
        </p:spPr>
        <p:txBody>
          <a:bodyPr wrap="square" lIns="0" rIns="0" tIns="0" bIns="0" anchor="ctr">
            <a:spAutoFit/>
          </a:bodyPr>
          <a:lstStyle/>
          <a:p>
            <a:pPr algn="l">
              <a:lnSpc>
                <a:spcPct val="110000"/>
              </a:lnSpc>
            </a:pPr>
            <a:r>
              <a:rPr sz="1850" b="1" i="0">
                <a:solidFill>
                  <a:srgbClr val="21295C"/>
                </a:solidFill>
                <a:latin typeface="Arial"/>
              </a:rPr>
              <a:t>AI or plain code</a:t>
            </a:r>
          </a:p>
        </p:txBody>
      </p:sp>
      <p:sp>
        <p:nvSpPr>
          <p:cNvPr id="6" name="Rounded Rectangle 5"/>
          <p:cNvSpPr/>
          <p:nvPr/>
        </p:nvSpPr>
        <p:spPr>
          <a:xfrm>
            <a:off x="502920" y="1618488"/>
            <a:ext cx="11183112" cy="566928"/>
          </a:xfrm>
          <a:prstGeom prst="roundRect">
            <a:avLst>
              <a:gd name="adj" fmla="val 25000"/>
            </a:avLst>
          </a:prstGeom>
          <a:solidFill>
            <a:srgbClr val="F4F7FA"/>
          </a:solidFill>
          <a:ln w="19050">
            <a:solidFill>
              <a:srgbClr val="065A82"/>
            </a:solidFill>
          </a:ln>
          <a:effectLst/>
        </p:spPr>
        <p:txBody>
          <a:bodyPr rtlCol="0" anchor="ctr"/>
          <a:lstStyle/>
          <a:p>
            <a:pPr algn="ctr"/>
          </a:p>
        </p:txBody>
      </p:sp>
      <p:pic>
        <p:nvPicPr>
          <p:cNvPr id="7" name="Picture 6" descr="git-fork-065A82-96.png"/>
          <p:cNvPicPr>
            <a:picLocks noChangeAspect="1"/>
          </p:cNvPicPr>
          <p:nvPr/>
        </p:nvPicPr>
        <p:blipFill>
          <a:blip r:embed="rId3"/>
          <a:stretch>
            <a:fillRect/>
          </a:stretch>
        </p:blipFill>
        <p:spPr>
          <a:xfrm>
            <a:off x="777240" y="1709928"/>
            <a:ext cx="384048" cy="384048"/>
          </a:xfrm>
          <a:prstGeom prst="rect">
            <a:avLst/>
          </a:prstGeom>
        </p:spPr>
      </p:pic>
      <p:sp>
        <p:nvSpPr>
          <p:cNvPr id="8" name="TextBox 7"/>
          <p:cNvSpPr txBox="1"/>
          <p:nvPr/>
        </p:nvSpPr>
        <p:spPr>
          <a:xfrm>
            <a:off x="1371600" y="1618488"/>
            <a:ext cx="10149840" cy="566928"/>
          </a:xfrm>
          <a:prstGeom prst="rect">
            <a:avLst/>
          </a:prstGeom>
          <a:noFill/>
        </p:spPr>
        <p:txBody>
          <a:bodyPr wrap="square" lIns="0" rIns="0" tIns="0" bIns="0" anchor="ctr">
            <a:spAutoFit/>
          </a:bodyPr>
          <a:lstStyle/>
          <a:p>
            <a:pPr algn="l">
              <a:lnSpc>
                <a:spcPct val="110000"/>
              </a:lnSpc>
            </a:pPr>
            <a:r>
              <a:rPr sz="1850" b="1" i="0">
                <a:solidFill>
                  <a:srgbClr val="21295C"/>
                </a:solidFill>
                <a:latin typeface="Arial"/>
              </a:rPr>
              <a:t>Build it in or build something separate</a:t>
            </a:r>
          </a:p>
        </p:txBody>
      </p:sp>
      <p:sp>
        <p:nvSpPr>
          <p:cNvPr id="9" name="Rounded Rectangle 8"/>
          <p:cNvSpPr/>
          <p:nvPr/>
        </p:nvSpPr>
        <p:spPr>
          <a:xfrm>
            <a:off x="502920" y="2276856"/>
            <a:ext cx="11183112" cy="566928"/>
          </a:xfrm>
          <a:prstGeom prst="roundRect">
            <a:avLst>
              <a:gd name="adj" fmla="val 25000"/>
            </a:avLst>
          </a:prstGeom>
          <a:solidFill>
            <a:srgbClr val="F4F7FA"/>
          </a:solidFill>
          <a:ln w="19050">
            <a:solidFill>
              <a:srgbClr val="065A82"/>
            </a:solidFill>
          </a:ln>
          <a:effectLst/>
        </p:spPr>
        <p:txBody>
          <a:bodyPr rtlCol="0" anchor="ctr"/>
          <a:lstStyle/>
          <a:p>
            <a:pPr algn="ctr"/>
          </a:p>
        </p:txBody>
      </p:sp>
      <p:pic>
        <p:nvPicPr>
          <p:cNvPr id="10" name="Picture 9" descr="route-065A82-96.png"/>
          <p:cNvPicPr>
            <a:picLocks noChangeAspect="1"/>
          </p:cNvPicPr>
          <p:nvPr/>
        </p:nvPicPr>
        <p:blipFill>
          <a:blip r:embed="rId4"/>
          <a:stretch>
            <a:fillRect/>
          </a:stretch>
        </p:blipFill>
        <p:spPr>
          <a:xfrm>
            <a:off x="777240" y="2368296"/>
            <a:ext cx="384048" cy="384048"/>
          </a:xfrm>
          <a:prstGeom prst="rect">
            <a:avLst/>
          </a:prstGeom>
        </p:spPr>
      </p:pic>
      <p:sp>
        <p:nvSpPr>
          <p:cNvPr id="11" name="TextBox 10"/>
          <p:cNvSpPr txBox="1"/>
          <p:nvPr/>
        </p:nvSpPr>
        <p:spPr>
          <a:xfrm>
            <a:off x="1371600" y="2276856"/>
            <a:ext cx="10149840" cy="566928"/>
          </a:xfrm>
          <a:prstGeom prst="rect">
            <a:avLst/>
          </a:prstGeom>
          <a:noFill/>
        </p:spPr>
        <p:txBody>
          <a:bodyPr wrap="square" lIns="0" rIns="0" tIns="0" bIns="0" anchor="ctr">
            <a:spAutoFit/>
          </a:bodyPr>
          <a:lstStyle/>
          <a:p>
            <a:pPr algn="l">
              <a:lnSpc>
                <a:spcPct val="110000"/>
              </a:lnSpc>
            </a:pPr>
            <a:r>
              <a:rPr sz="1850" b="1" i="0">
                <a:solidFill>
                  <a:srgbClr val="21295C"/>
                </a:solidFill>
                <a:latin typeface="Arial"/>
              </a:rPr>
              <a:t>One-off call, RAG, or agent</a:t>
            </a:r>
          </a:p>
        </p:txBody>
      </p:sp>
      <p:sp>
        <p:nvSpPr>
          <p:cNvPr id="12" name="Rounded Rectangle 11"/>
          <p:cNvSpPr/>
          <p:nvPr/>
        </p:nvSpPr>
        <p:spPr>
          <a:xfrm>
            <a:off x="502920" y="2935224"/>
            <a:ext cx="11183112" cy="566928"/>
          </a:xfrm>
          <a:prstGeom prst="roundRect">
            <a:avLst>
              <a:gd name="adj" fmla="val 25000"/>
            </a:avLst>
          </a:prstGeom>
          <a:solidFill>
            <a:srgbClr val="F4F7FA"/>
          </a:solidFill>
          <a:ln w="19050">
            <a:solidFill>
              <a:srgbClr val="065A82"/>
            </a:solidFill>
          </a:ln>
          <a:effectLst/>
        </p:spPr>
        <p:txBody>
          <a:bodyPr rtlCol="0" anchor="ctr"/>
          <a:lstStyle/>
          <a:p>
            <a:pPr algn="ctr"/>
          </a:p>
        </p:txBody>
      </p:sp>
      <p:pic>
        <p:nvPicPr>
          <p:cNvPr id="13" name="Picture 12" descr="server-065A82-96.png"/>
          <p:cNvPicPr>
            <a:picLocks noChangeAspect="1"/>
          </p:cNvPicPr>
          <p:nvPr/>
        </p:nvPicPr>
        <p:blipFill>
          <a:blip r:embed="rId5"/>
          <a:stretch>
            <a:fillRect/>
          </a:stretch>
        </p:blipFill>
        <p:spPr>
          <a:xfrm>
            <a:off x="777240" y="3026664"/>
            <a:ext cx="384048" cy="384048"/>
          </a:xfrm>
          <a:prstGeom prst="rect">
            <a:avLst/>
          </a:prstGeom>
        </p:spPr>
      </p:pic>
      <p:sp>
        <p:nvSpPr>
          <p:cNvPr id="14" name="TextBox 13"/>
          <p:cNvSpPr txBox="1"/>
          <p:nvPr/>
        </p:nvSpPr>
        <p:spPr>
          <a:xfrm>
            <a:off x="1371600" y="2935224"/>
            <a:ext cx="10149840" cy="566928"/>
          </a:xfrm>
          <a:prstGeom prst="rect">
            <a:avLst/>
          </a:prstGeom>
          <a:noFill/>
        </p:spPr>
        <p:txBody>
          <a:bodyPr wrap="square" lIns="0" rIns="0" tIns="0" bIns="0" anchor="ctr">
            <a:spAutoFit/>
          </a:bodyPr>
          <a:lstStyle/>
          <a:p>
            <a:pPr algn="l">
              <a:lnSpc>
                <a:spcPct val="110000"/>
              </a:lnSpc>
            </a:pPr>
            <a:r>
              <a:rPr sz="1850" b="1" i="0">
                <a:solidFill>
                  <a:srgbClr val="21295C"/>
                </a:solidFill>
                <a:latin typeface="Arial"/>
              </a:rPr>
              <a:t>External API or local inference</a:t>
            </a:r>
          </a:p>
        </p:txBody>
      </p:sp>
      <p:sp>
        <p:nvSpPr>
          <p:cNvPr id="15" name="TextBox 14"/>
          <p:cNvSpPr txBox="1"/>
          <p:nvPr/>
        </p:nvSpPr>
        <p:spPr>
          <a:xfrm>
            <a:off x="502920" y="3703320"/>
            <a:ext cx="11183112" cy="292608"/>
          </a:xfrm>
          <a:prstGeom prst="rect">
            <a:avLst/>
          </a:prstGeom>
          <a:noFill/>
        </p:spPr>
        <p:txBody>
          <a:bodyPr wrap="square" lIns="0" rIns="0" tIns="0" bIns="0" anchor="t">
            <a:spAutoFit/>
          </a:bodyPr>
          <a:lstStyle/>
          <a:p>
            <a:pPr algn="l">
              <a:lnSpc>
                <a:spcPct val="110000"/>
              </a:lnSpc>
            </a:pPr>
            <a:r>
              <a:rPr sz="1350" b="0" i="1">
                <a:solidFill>
                  <a:srgbClr val="6B7685"/>
                </a:solidFill>
                <a:latin typeface="Arial"/>
              </a:rPr>
              <a:t>Seven cases we'll use today to work through these choices</a:t>
            </a:r>
          </a:p>
        </p:txBody>
      </p:sp>
      <p:sp>
        <p:nvSpPr>
          <p:cNvPr id="16" name="Rounded Rectangle 15"/>
          <p:cNvSpPr/>
          <p:nvPr/>
        </p:nvSpPr>
        <p:spPr>
          <a:xfrm>
            <a:off x="502920" y="4087368"/>
            <a:ext cx="5454396" cy="420624"/>
          </a:xfrm>
          <a:prstGeom prst="roundRect">
            <a:avLst>
              <a:gd name="adj" fmla="val 25000"/>
            </a:avLst>
          </a:prstGeom>
          <a:solidFill>
            <a:srgbClr val="F4F7FA"/>
          </a:solidFill>
          <a:ln w="13970">
            <a:solidFill>
              <a:srgbClr val="1C7293"/>
            </a:solidFill>
          </a:ln>
          <a:effectLst/>
        </p:spPr>
        <p:txBody>
          <a:bodyPr rtlCol="0" anchor="ctr"/>
          <a:lstStyle/>
          <a:p>
            <a:pPr algn="ctr"/>
          </a:p>
        </p:txBody>
      </p:sp>
      <p:pic>
        <p:nvPicPr>
          <p:cNvPr id="17" name="Picture 16" descr="file-text-065A82-64.png"/>
          <p:cNvPicPr>
            <a:picLocks noChangeAspect="1"/>
          </p:cNvPicPr>
          <p:nvPr/>
        </p:nvPicPr>
        <p:blipFill>
          <a:blip r:embed="rId6"/>
          <a:stretch>
            <a:fillRect/>
          </a:stretch>
        </p:blipFill>
        <p:spPr>
          <a:xfrm>
            <a:off x="630936" y="4160520"/>
            <a:ext cx="274320" cy="274320"/>
          </a:xfrm>
          <a:prstGeom prst="rect">
            <a:avLst/>
          </a:prstGeom>
        </p:spPr>
      </p:pic>
      <p:sp>
        <p:nvSpPr>
          <p:cNvPr id="18" name="TextBox 17"/>
          <p:cNvSpPr txBox="1"/>
          <p:nvPr/>
        </p:nvSpPr>
        <p:spPr>
          <a:xfrm>
            <a:off x="1014984" y="4087368"/>
            <a:ext cx="4832604" cy="420624"/>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Supplier documents</a:t>
            </a:r>
          </a:p>
        </p:txBody>
      </p:sp>
      <p:sp>
        <p:nvSpPr>
          <p:cNvPr id="19" name="Rounded Rectangle 18"/>
          <p:cNvSpPr/>
          <p:nvPr/>
        </p:nvSpPr>
        <p:spPr>
          <a:xfrm>
            <a:off x="502920" y="4599431"/>
            <a:ext cx="5454396" cy="420624"/>
          </a:xfrm>
          <a:prstGeom prst="roundRect">
            <a:avLst>
              <a:gd name="adj" fmla="val 25000"/>
            </a:avLst>
          </a:prstGeom>
          <a:solidFill>
            <a:srgbClr val="F4F7FA"/>
          </a:solidFill>
          <a:ln w="13970">
            <a:solidFill>
              <a:srgbClr val="1C7293"/>
            </a:solidFill>
          </a:ln>
          <a:effectLst/>
        </p:spPr>
        <p:txBody>
          <a:bodyPr rtlCol="0" anchor="ctr"/>
          <a:lstStyle/>
          <a:p>
            <a:pPr algn="ctr"/>
          </a:p>
        </p:txBody>
      </p:sp>
      <p:pic>
        <p:nvPicPr>
          <p:cNvPr id="20" name="Picture 19" descr="shield-alert-065A82-64.png"/>
          <p:cNvPicPr>
            <a:picLocks noChangeAspect="1"/>
          </p:cNvPicPr>
          <p:nvPr/>
        </p:nvPicPr>
        <p:blipFill>
          <a:blip r:embed="rId7"/>
          <a:stretch>
            <a:fillRect/>
          </a:stretch>
        </p:blipFill>
        <p:spPr>
          <a:xfrm>
            <a:off x="630936" y="4672583"/>
            <a:ext cx="274320" cy="274320"/>
          </a:xfrm>
          <a:prstGeom prst="rect">
            <a:avLst/>
          </a:prstGeom>
        </p:spPr>
      </p:pic>
      <p:sp>
        <p:nvSpPr>
          <p:cNvPr id="21" name="TextBox 20"/>
          <p:cNvSpPr txBox="1"/>
          <p:nvPr/>
        </p:nvSpPr>
        <p:spPr>
          <a:xfrm>
            <a:off x="1014984" y="4599431"/>
            <a:ext cx="4832604" cy="420624"/>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Personal data in logs</a:t>
            </a:r>
          </a:p>
        </p:txBody>
      </p:sp>
      <p:sp>
        <p:nvSpPr>
          <p:cNvPr id="22" name="Rounded Rectangle 21"/>
          <p:cNvSpPr/>
          <p:nvPr/>
        </p:nvSpPr>
        <p:spPr>
          <a:xfrm>
            <a:off x="502920" y="5111496"/>
            <a:ext cx="5454396" cy="420624"/>
          </a:xfrm>
          <a:prstGeom prst="roundRect">
            <a:avLst>
              <a:gd name="adj" fmla="val 25000"/>
            </a:avLst>
          </a:prstGeom>
          <a:solidFill>
            <a:srgbClr val="F4F7FA"/>
          </a:solidFill>
          <a:ln w="13970">
            <a:solidFill>
              <a:srgbClr val="1C7293"/>
            </a:solidFill>
          </a:ln>
          <a:effectLst/>
        </p:spPr>
        <p:txBody>
          <a:bodyPr rtlCol="0" anchor="ctr"/>
          <a:lstStyle/>
          <a:p>
            <a:pPr algn="ctr"/>
          </a:p>
        </p:txBody>
      </p:sp>
      <p:pic>
        <p:nvPicPr>
          <p:cNvPr id="23" name="Picture 22" descr="monitor-065A82-64.png"/>
          <p:cNvPicPr>
            <a:picLocks noChangeAspect="1"/>
          </p:cNvPicPr>
          <p:nvPr/>
        </p:nvPicPr>
        <p:blipFill>
          <a:blip r:embed="rId8"/>
          <a:stretch>
            <a:fillRect/>
          </a:stretch>
        </p:blipFill>
        <p:spPr>
          <a:xfrm>
            <a:off x="630936" y="5184648"/>
            <a:ext cx="274320" cy="274320"/>
          </a:xfrm>
          <a:prstGeom prst="rect">
            <a:avLst/>
          </a:prstGeom>
        </p:spPr>
      </p:pic>
      <p:sp>
        <p:nvSpPr>
          <p:cNvPr id="24" name="TextBox 23"/>
          <p:cNvSpPr txBox="1"/>
          <p:nvPr/>
        </p:nvSpPr>
        <p:spPr>
          <a:xfrm>
            <a:off x="1014984" y="5111496"/>
            <a:ext cx="4832604" cy="420624"/>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Support assistant</a:t>
            </a:r>
          </a:p>
        </p:txBody>
      </p:sp>
      <p:sp>
        <p:nvSpPr>
          <p:cNvPr id="25" name="Rounded Rectangle 24"/>
          <p:cNvSpPr/>
          <p:nvPr/>
        </p:nvSpPr>
        <p:spPr>
          <a:xfrm>
            <a:off x="502920" y="5623560"/>
            <a:ext cx="5454396" cy="420624"/>
          </a:xfrm>
          <a:prstGeom prst="roundRect">
            <a:avLst>
              <a:gd name="adj" fmla="val 25000"/>
            </a:avLst>
          </a:prstGeom>
          <a:solidFill>
            <a:srgbClr val="F4F7FA"/>
          </a:solidFill>
          <a:ln w="13970">
            <a:solidFill>
              <a:srgbClr val="1C7293"/>
            </a:solidFill>
          </a:ln>
          <a:effectLst/>
        </p:spPr>
        <p:txBody>
          <a:bodyPr rtlCol="0" anchor="ctr"/>
          <a:lstStyle/>
          <a:p>
            <a:pPr algn="ctr"/>
          </a:p>
        </p:txBody>
      </p:sp>
      <p:pic>
        <p:nvPicPr>
          <p:cNvPr id="26" name="Picture 25" descr="store-065A82-64.png"/>
          <p:cNvPicPr>
            <a:picLocks noChangeAspect="1"/>
          </p:cNvPicPr>
          <p:nvPr/>
        </p:nvPicPr>
        <p:blipFill>
          <a:blip r:embed="rId9"/>
          <a:stretch>
            <a:fillRect/>
          </a:stretch>
        </p:blipFill>
        <p:spPr>
          <a:xfrm>
            <a:off x="630936" y="5696712"/>
            <a:ext cx="274320" cy="274320"/>
          </a:xfrm>
          <a:prstGeom prst="rect">
            <a:avLst/>
          </a:prstGeom>
        </p:spPr>
      </p:pic>
      <p:sp>
        <p:nvSpPr>
          <p:cNvPr id="27" name="TextBox 26"/>
          <p:cNvSpPr txBox="1"/>
          <p:nvPr/>
        </p:nvSpPr>
        <p:spPr>
          <a:xfrm>
            <a:off x="1014984" y="5623560"/>
            <a:ext cx="4832604" cy="420624"/>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Product descriptions</a:t>
            </a:r>
          </a:p>
        </p:txBody>
      </p:sp>
      <p:sp>
        <p:nvSpPr>
          <p:cNvPr id="28" name="Rounded Rectangle 27"/>
          <p:cNvSpPr/>
          <p:nvPr/>
        </p:nvSpPr>
        <p:spPr>
          <a:xfrm>
            <a:off x="6231636" y="4087368"/>
            <a:ext cx="5454396" cy="420624"/>
          </a:xfrm>
          <a:prstGeom prst="roundRect">
            <a:avLst>
              <a:gd name="adj" fmla="val 25000"/>
            </a:avLst>
          </a:prstGeom>
          <a:solidFill>
            <a:srgbClr val="F4F7FA"/>
          </a:solidFill>
          <a:ln w="13970">
            <a:solidFill>
              <a:srgbClr val="1C7293"/>
            </a:solidFill>
          </a:ln>
          <a:effectLst/>
        </p:spPr>
        <p:txBody>
          <a:bodyPr rtlCol="0" anchor="ctr"/>
          <a:lstStyle/>
          <a:p>
            <a:pPr algn="ctr"/>
          </a:p>
        </p:txBody>
      </p:sp>
      <p:pic>
        <p:nvPicPr>
          <p:cNvPr id="29" name="Picture 28" descr="list-checks-065A82-64.png"/>
          <p:cNvPicPr>
            <a:picLocks noChangeAspect="1"/>
          </p:cNvPicPr>
          <p:nvPr/>
        </p:nvPicPr>
        <p:blipFill>
          <a:blip r:embed="rId10"/>
          <a:stretch>
            <a:fillRect/>
          </a:stretch>
        </p:blipFill>
        <p:spPr>
          <a:xfrm>
            <a:off x="6359651" y="4160520"/>
            <a:ext cx="274320" cy="274320"/>
          </a:xfrm>
          <a:prstGeom prst="rect">
            <a:avLst/>
          </a:prstGeom>
        </p:spPr>
      </p:pic>
      <p:sp>
        <p:nvSpPr>
          <p:cNvPr id="30" name="TextBox 29"/>
          <p:cNvSpPr txBox="1"/>
          <p:nvPr/>
        </p:nvSpPr>
        <p:spPr>
          <a:xfrm>
            <a:off x="6743700" y="4087368"/>
            <a:ext cx="4832604" cy="420624"/>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Meeting minutes</a:t>
            </a:r>
          </a:p>
        </p:txBody>
      </p:sp>
      <p:sp>
        <p:nvSpPr>
          <p:cNvPr id="31" name="Rounded Rectangle 30"/>
          <p:cNvSpPr/>
          <p:nvPr/>
        </p:nvSpPr>
        <p:spPr>
          <a:xfrm>
            <a:off x="6231636" y="4599431"/>
            <a:ext cx="5454396" cy="420624"/>
          </a:xfrm>
          <a:prstGeom prst="roundRect">
            <a:avLst>
              <a:gd name="adj" fmla="val 25000"/>
            </a:avLst>
          </a:prstGeom>
          <a:solidFill>
            <a:srgbClr val="F4F7FA"/>
          </a:solidFill>
          <a:ln w="13970">
            <a:solidFill>
              <a:srgbClr val="1C7293"/>
            </a:solidFill>
          </a:ln>
          <a:effectLst/>
        </p:spPr>
        <p:txBody>
          <a:bodyPr rtlCol="0" anchor="ctr"/>
          <a:lstStyle/>
          <a:p>
            <a:pPr algn="ctr"/>
          </a:p>
        </p:txBody>
      </p:sp>
      <p:pic>
        <p:nvPicPr>
          <p:cNvPr id="32" name="Picture 31" descr="mail-065A82-64.png"/>
          <p:cNvPicPr>
            <a:picLocks noChangeAspect="1"/>
          </p:cNvPicPr>
          <p:nvPr/>
        </p:nvPicPr>
        <p:blipFill>
          <a:blip r:embed="rId11"/>
          <a:stretch>
            <a:fillRect/>
          </a:stretch>
        </p:blipFill>
        <p:spPr>
          <a:xfrm>
            <a:off x="6359651" y="4672583"/>
            <a:ext cx="274320" cy="274320"/>
          </a:xfrm>
          <a:prstGeom prst="rect">
            <a:avLst/>
          </a:prstGeom>
        </p:spPr>
      </p:pic>
      <p:sp>
        <p:nvSpPr>
          <p:cNvPr id="33" name="TextBox 32"/>
          <p:cNvSpPr txBox="1"/>
          <p:nvPr/>
        </p:nvSpPr>
        <p:spPr>
          <a:xfrm>
            <a:off x="6743700" y="4599431"/>
            <a:ext cx="4832604" cy="420624"/>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Chat digest</a:t>
            </a:r>
          </a:p>
        </p:txBody>
      </p:sp>
      <p:sp>
        <p:nvSpPr>
          <p:cNvPr id="34" name="Rounded Rectangle 33"/>
          <p:cNvSpPr/>
          <p:nvPr/>
        </p:nvSpPr>
        <p:spPr>
          <a:xfrm>
            <a:off x="6231636" y="5111496"/>
            <a:ext cx="5454396" cy="420624"/>
          </a:xfrm>
          <a:prstGeom prst="roundRect">
            <a:avLst>
              <a:gd name="adj" fmla="val 25000"/>
            </a:avLst>
          </a:prstGeom>
          <a:solidFill>
            <a:srgbClr val="F4F7FA"/>
          </a:solidFill>
          <a:ln w="13970">
            <a:solidFill>
              <a:srgbClr val="1C7293"/>
            </a:solidFill>
          </a:ln>
          <a:effectLst/>
        </p:spPr>
        <p:txBody>
          <a:bodyPr rtlCol="0" anchor="ctr"/>
          <a:lstStyle/>
          <a:p>
            <a:pPr algn="ctr"/>
          </a:p>
        </p:txBody>
      </p:sp>
      <p:pic>
        <p:nvPicPr>
          <p:cNvPr id="35" name="Picture 34" descr="phone-065A82-64.png"/>
          <p:cNvPicPr>
            <a:picLocks noChangeAspect="1"/>
          </p:cNvPicPr>
          <p:nvPr/>
        </p:nvPicPr>
        <p:blipFill>
          <a:blip r:embed="rId12"/>
          <a:stretch>
            <a:fillRect/>
          </a:stretch>
        </p:blipFill>
        <p:spPr>
          <a:xfrm>
            <a:off x="6359651" y="5184648"/>
            <a:ext cx="274320" cy="274320"/>
          </a:xfrm>
          <a:prstGeom prst="rect">
            <a:avLst/>
          </a:prstGeom>
        </p:spPr>
      </p:pic>
      <p:sp>
        <p:nvSpPr>
          <p:cNvPr id="36" name="TextBox 35"/>
          <p:cNvSpPr txBox="1"/>
          <p:nvPr/>
        </p:nvSpPr>
        <p:spPr>
          <a:xfrm>
            <a:off x="6743700" y="5111496"/>
            <a:ext cx="4832604" cy="420624"/>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Sales calls</a:t>
            </a:r>
          </a:p>
        </p:txBody>
      </p:sp>
      <p:sp>
        <p:nvSpPr>
          <p:cNvPr id="37" name="Rounded Rectangle 36"/>
          <p:cNvSpPr/>
          <p:nvPr/>
        </p:nvSpPr>
        <p:spPr>
          <a:xfrm>
            <a:off x="502920" y="6281928"/>
            <a:ext cx="11183112" cy="256032"/>
          </a:xfrm>
          <a:prstGeom prst="roundRect">
            <a:avLst>
              <a:gd name="adj" fmla="val 25000"/>
            </a:avLst>
          </a:prstGeom>
          <a:solidFill>
            <a:srgbClr val="FEF5E0"/>
          </a:solidFill>
          <a:ln w="17780">
            <a:solidFill>
              <a:srgbClr val="F0AB00"/>
            </a:solidFill>
          </a:ln>
          <a:effectLst/>
        </p:spPr>
        <p:txBody>
          <a:bodyPr rtlCol="0" anchor="ctr"/>
          <a:lstStyle/>
          <a:p>
            <a:pPr algn="ctr"/>
          </a:p>
        </p:txBody>
      </p:sp>
      <p:sp>
        <p:nvSpPr>
          <p:cNvPr id="38" name="TextBox 37"/>
          <p:cNvSpPr txBox="1"/>
          <p:nvPr/>
        </p:nvSpPr>
        <p:spPr>
          <a:xfrm>
            <a:off x="777240" y="6281928"/>
            <a:ext cx="10607040" cy="256032"/>
          </a:xfrm>
          <a:prstGeom prst="rect">
            <a:avLst/>
          </a:prstGeom>
          <a:noFill/>
        </p:spPr>
        <p:txBody>
          <a:bodyPr wrap="square" lIns="0" rIns="0" tIns="0" bIns="0" anchor="ctr">
            <a:spAutoFit/>
          </a:bodyPr>
          <a:lstStyle/>
          <a:p>
            <a:pPr algn="l">
              <a:lnSpc>
                <a:spcPct val="115000"/>
              </a:lnSpc>
            </a:pPr>
            <a:r>
              <a:rPr sz="1650" b="1" i="0">
                <a:solidFill>
                  <a:srgbClr val="21295C"/>
                </a:solidFill>
                <a:latin typeface="Arial"/>
              </a:rPr>
              <a:t>Each case gets a detail that wasn't in the first version of the setup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1295C"/>
        </a:solidFill>
        <a:effectLst/>
      </p:bgPr>
    </p:bg>
    <p:spTree>
      <p:nvGrpSpPr>
        <p:cNvPr id="1" name=""/>
        <p:cNvGrpSpPr/>
        <p:nvPr/>
      </p:nvGrpSpPr>
      <p:grpSpPr/>
      <p:pic>
        <p:nvPicPr>
          <p:cNvPr id="2" name="Picture 1" descr="s03-divider-code-real.jpg"/>
          <p:cNvPicPr>
            <a:picLocks noChangeAspect="1"/>
          </p:cNvPicPr>
          <p:nvPr/>
        </p:nvPicPr>
        <p:blipFill>
          <a:blip r:embed="rId2"/>
          <a:srcRect t="11157" b="11157"/>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21295C">
              <a:alpha val="78000"/>
            </a:srgbClr>
          </a:solidFill>
          <a:ln>
            <a:noFill/>
          </a:ln>
          <a:effectLst/>
        </p:spPr>
        <p:txBody>
          <a:bodyPr rtlCol="0" anchor="ctr"/>
          <a:lstStyle/>
          <a:p>
            <a:pPr algn="ctr"/>
          </a:p>
        </p:txBody>
      </p:sp>
      <p:sp>
        <p:nvSpPr>
          <p:cNvPr id="4" name="TextBox 3"/>
          <p:cNvSpPr txBox="1"/>
          <p:nvPr/>
        </p:nvSpPr>
        <p:spPr>
          <a:xfrm>
            <a:off x="-91440" y="-594360"/>
            <a:ext cx="5486400" cy="3291840"/>
          </a:xfrm>
          <a:prstGeom prst="rect">
            <a:avLst/>
          </a:prstGeom>
          <a:noFill/>
        </p:spPr>
        <p:txBody>
          <a:bodyPr wrap="square" lIns="0" rIns="0" tIns="0" bIns="0" anchor="b">
            <a:spAutoFit/>
          </a:bodyPr>
          <a:lstStyle/>
          <a:p>
            <a:pPr algn="l">
              <a:lnSpc>
                <a:spcPct val="90000"/>
              </a:lnSpc>
            </a:pPr>
            <a:r>
              <a:rPr sz="28000" b="1" i="0">
                <a:solidFill>
                  <a:srgbClr val="3A4474"/>
                </a:solidFill>
                <a:latin typeface="Arial"/>
              </a:rPr>
              <a:t>1</a:t>
            </a:r>
          </a:p>
        </p:txBody>
      </p:sp>
      <p:sp>
        <p:nvSpPr>
          <p:cNvPr id="5" name="Rounded Rectangle 4"/>
          <p:cNvSpPr/>
          <p:nvPr/>
        </p:nvSpPr>
        <p:spPr>
          <a:xfrm>
            <a:off x="1965960" y="1600200"/>
            <a:ext cx="201168" cy="201168"/>
          </a:xfrm>
          <a:prstGeom prst="roundRect">
            <a:avLst>
              <a:gd name="adj" fmla="val 50000"/>
            </a:avLst>
          </a:prstGeom>
          <a:solidFill>
            <a:srgbClr val="F0AB00"/>
          </a:solidFill>
          <a:ln>
            <a:noFill/>
          </a:ln>
          <a:effectLst/>
        </p:spPr>
        <p:txBody>
          <a:bodyPr rtlCol="0" anchor="ctr"/>
          <a:lstStyle/>
          <a:p>
            <a:pPr algn="ctr"/>
          </a:p>
        </p:txBody>
      </p:sp>
      <p:sp>
        <p:nvSpPr>
          <p:cNvPr id="6" name="TextBox 5"/>
          <p:cNvSpPr txBox="1"/>
          <p:nvPr/>
        </p:nvSpPr>
        <p:spPr>
          <a:xfrm>
            <a:off x="548640" y="2880360"/>
            <a:ext cx="10607040" cy="1371600"/>
          </a:xfrm>
          <a:prstGeom prst="rect">
            <a:avLst/>
          </a:prstGeom>
          <a:noFill/>
        </p:spPr>
        <p:txBody>
          <a:bodyPr wrap="square" lIns="0" rIns="0" tIns="0" bIns="0" anchor="t">
            <a:spAutoFit/>
          </a:bodyPr>
          <a:lstStyle/>
          <a:p>
            <a:pPr algn="l">
              <a:lnSpc>
                <a:spcPct val="110000"/>
              </a:lnSpc>
            </a:pPr>
            <a:r>
              <a:rPr sz="4000" b="1" i="0">
                <a:solidFill>
                  <a:srgbClr val="FFFFFF"/>
                </a:solidFill>
                <a:latin typeface="Arial"/>
              </a:rPr>
              <a:t>AI or plain code?</a:t>
            </a:r>
          </a:p>
        </p:txBody>
      </p:sp>
      <p:sp>
        <p:nvSpPr>
          <p:cNvPr id="7" name="Rounded Rectangle 6"/>
          <p:cNvSpPr/>
          <p:nvPr/>
        </p:nvSpPr>
        <p:spPr>
          <a:xfrm>
            <a:off x="566928" y="4343400"/>
            <a:ext cx="5120640" cy="502920"/>
          </a:xfrm>
          <a:prstGeom prst="roundRect">
            <a:avLst>
              <a:gd name="adj" fmla="val 50000"/>
            </a:avLst>
          </a:prstGeom>
          <a:solidFill>
            <a:srgbClr val="065A82"/>
          </a:solidFill>
          <a:ln>
            <a:noFill/>
          </a:ln>
          <a:effectLst/>
        </p:spPr>
        <p:txBody>
          <a:bodyPr rtlCol="0" anchor="ctr" lIns="45720" rIns="45720" tIns="27432" bIns="27432" wrap="none"/>
          <a:lstStyle/>
          <a:p>
            <a:pPr algn="ctr"/>
            <a:r>
              <a:rPr sz="1500" b="1">
                <a:solidFill>
                  <a:srgbClr val="FFFFFF"/>
                </a:solidFill>
                <a:latin typeface="Arial"/>
              </a:rPr>
              <a:t>Case: supplier documents</a:t>
            </a:r>
          </a:p>
        </p:txBody>
      </p:sp>
      <p:sp>
        <p:nvSpPr>
          <p:cNvPr id="8" name="TextBox 7"/>
          <p:cNvSpPr txBox="1"/>
          <p:nvPr/>
        </p:nvSpPr>
        <p:spPr>
          <a:xfrm>
            <a:off x="566928" y="5074920"/>
            <a:ext cx="9875520" cy="640080"/>
          </a:xfrm>
          <a:prstGeom prst="rect">
            <a:avLst/>
          </a:prstGeom>
          <a:noFill/>
        </p:spPr>
        <p:txBody>
          <a:bodyPr wrap="square" lIns="0" rIns="0" tIns="0" bIns="0" anchor="t">
            <a:spAutoFit/>
          </a:bodyPr>
          <a:lstStyle/>
          <a:p>
            <a:pPr algn="l">
              <a:lnSpc>
                <a:spcPct val="130000"/>
              </a:lnSpc>
            </a:pPr>
            <a:r>
              <a:rPr sz="1450" b="0" i="1">
                <a:solidFill>
                  <a:srgbClr val="C8D2DF"/>
                </a:solidFill>
                <a:latin typeface="Arial"/>
              </a:rPr>
              <a:t>Engineers often decide this by feel, by a gut sense of how complex the task looks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1183112" cy="45720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Supplier documents</a:t>
            </a:r>
          </a:p>
        </p:txBody>
      </p:sp>
      <p:sp>
        <p:nvSpPr>
          <p:cNvPr id="3" name="TextBox 2"/>
          <p:cNvSpPr txBox="1"/>
          <p:nvPr/>
        </p:nvSpPr>
        <p:spPr>
          <a:xfrm>
            <a:off x="502920" y="658368"/>
            <a:ext cx="11183112" cy="256032"/>
          </a:xfrm>
          <a:prstGeom prst="rect">
            <a:avLst/>
          </a:prstGeom>
          <a:noFill/>
        </p:spPr>
        <p:txBody>
          <a:bodyPr wrap="square" lIns="0" rIns="0" tIns="0" bIns="0" anchor="t">
            <a:spAutoFit/>
          </a:bodyPr>
          <a:lstStyle/>
          <a:p>
            <a:pPr algn="l">
              <a:lnSpc>
                <a:spcPct val="115000"/>
              </a:lnSpc>
            </a:pPr>
            <a:r>
              <a:rPr sz="1250" b="0" i="1">
                <a:solidFill>
                  <a:srgbClr val="6B7685"/>
                </a:solidFill>
                <a:latin typeface="Arial"/>
              </a:rPr>
              <a:t>Marina, acting product manager for finance processes</a:t>
            </a:r>
          </a:p>
        </p:txBody>
      </p:sp>
      <p:sp>
        <p:nvSpPr>
          <p:cNvPr id="4" name="Rounded Rectangle 3"/>
          <p:cNvSpPr/>
          <p:nvPr/>
        </p:nvSpPr>
        <p:spPr>
          <a:xfrm>
            <a:off x="502920" y="914400"/>
            <a:ext cx="11183112" cy="2331720"/>
          </a:xfrm>
          <a:prstGeom prst="roundRect">
            <a:avLst>
              <a:gd name="adj" fmla="val 13071"/>
            </a:avLst>
          </a:prstGeom>
          <a:solidFill>
            <a:srgbClr val="F4F7FA"/>
          </a:solidFill>
          <a:ln w="19050">
            <a:solidFill>
              <a:srgbClr val="1C7293"/>
            </a:solidFill>
          </a:ln>
          <a:effectLst/>
        </p:spPr>
        <p:txBody>
          <a:bodyPr rtlCol="0" anchor="ctr"/>
          <a:lstStyle/>
          <a:p>
            <a:pPr algn="ctr"/>
          </a:p>
        </p:txBody>
      </p:sp>
      <p:pic>
        <p:nvPicPr>
          <p:cNvPr id="5" name="Picture 4" descr="quote-1C7293-64.png"/>
          <p:cNvPicPr>
            <a:picLocks noChangeAspect="1"/>
          </p:cNvPicPr>
          <p:nvPr/>
        </p:nvPicPr>
        <p:blipFill>
          <a:blip r:embed="rId2"/>
          <a:stretch>
            <a:fillRect/>
          </a:stretch>
        </p:blipFill>
        <p:spPr>
          <a:xfrm>
            <a:off x="722376" y="1088136"/>
            <a:ext cx="292608" cy="292608"/>
          </a:xfrm>
          <a:prstGeom prst="rect">
            <a:avLst/>
          </a:prstGeom>
        </p:spPr>
      </p:pic>
      <p:sp>
        <p:nvSpPr>
          <p:cNvPr id="6" name="TextBox 5"/>
          <p:cNvSpPr txBox="1"/>
          <p:nvPr/>
        </p:nvSpPr>
        <p:spPr>
          <a:xfrm>
            <a:off x="722376" y="1426464"/>
            <a:ext cx="10744200" cy="1600199"/>
          </a:xfrm>
          <a:prstGeom prst="rect">
            <a:avLst/>
          </a:prstGeom>
          <a:noFill/>
        </p:spPr>
        <p:txBody>
          <a:bodyPr wrap="square" lIns="0" rIns="0" tIns="0" bIns="0" anchor="t">
            <a:spAutoFit/>
          </a:bodyPr>
          <a:lstStyle/>
          <a:p>
            <a:pPr algn="l">
              <a:lnSpc>
                <a:spcPct val="128000"/>
              </a:lnSpc>
            </a:pPr>
            <a:r>
              <a:rPr sz="1450" b="0" i="1">
                <a:solidFill>
                  <a:srgbClr val="21295C"/>
                </a:solidFill>
                <a:latin typeface="Arial"/>
              </a:rPr>
              <a:t>"Marina here, product manager for finance processes. Accounting is drowning: three people are manually keying supplier invoices into 1C by hand, around 400 a month, and by the end of the quarter it's a backlog with errors in the totals. Attached two sample invoices from last week — the formats look about the same. Can this be automated somehow? By the way, marketing has been running YandexGPT over the API for product descriptions for six months now, there's already a contract with them — maybe the same setup would work for us too. Separately, we're migrating our mail to a new server, but that's not for you. On timing — even a ballpark estimate by Friday would be great."</a:t>
            </a:r>
          </a:p>
        </p:txBody>
      </p:sp>
      <p:sp>
        <p:nvSpPr>
          <p:cNvPr id="7" name="Rounded Rectangle 6"/>
          <p:cNvSpPr/>
          <p:nvPr/>
        </p:nvSpPr>
        <p:spPr>
          <a:xfrm>
            <a:off x="502920" y="3429000"/>
            <a:ext cx="3593592" cy="1965960"/>
          </a:xfrm>
          <a:prstGeom prst="roundRect">
            <a:avLst>
              <a:gd name="adj" fmla="val 15503"/>
            </a:avLst>
          </a:prstGeom>
          <a:solidFill>
            <a:srgbClr val="F4F7FA"/>
          </a:solidFill>
          <a:ln w="19050">
            <a:solidFill>
              <a:srgbClr val="1C7293"/>
            </a:solidFill>
          </a:ln>
          <a:effectLst/>
        </p:spPr>
        <p:txBody>
          <a:bodyPr rtlCol="0" anchor="ctr"/>
          <a:lstStyle/>
          <a:p>
            <a:pPr algn="ctr"/>
          </a:p>
        </p:txBody>
      </p:sp>
      <p:sp>
        <p:nvSpPr>
          <p:cNvPr id="8" name="TextBox 7"/>
          <p:cNvSpPr txBox="1"/>
          <p:nvPr/>
        </p:nvSpPr>
        <p:spPr>
          <a:xfrm>
            <a:off x="649224" y="3520440"/>
            <a:ext cx="3300984" cy="310896"/>
          </a:xfrm>
          <a:prstGeom prst="rect">
            <a:avLst/>
          </a:prstGeom>
          <a:noFill/>
        </p:spPr>
        <p:txBody>
          <a:bodyPr wrap="square" lIns="0" rIns="0" tIns="0" bIns="0" anchor="t">
            <a:spAutoFit/>
          </a:bodyPr>
          <a:lstStyle/>
          <a:p>
            <a:pPr algn="l">
              <a:lnSpc>
                <a:spcPct val="105000"/>
              </a:lnSpc>
            </a:pPr>
            <a:r>
              <a:rPr sz="1200" b="1" i="0">
                <a:solidFill>
                  <a:srgbClr val="065A82"/>
                </a:solidFill>
                <a:latin typeface="Arial"/>
              </a:rPr>
              <a:t>Supplier document A</a:t>
            </a:r>
          </a:p>
        </p:txBody>
      </p:sp>
      <p:sp>
        <p:nvSpPr>
          <p:cNvPr id="9" name="Rectangle 8"/>
          <p:cNvSpPr/>
          <p:nvPr/>
        </p:nvSpPr>
        <p:spPr>
          <a:xfrm>
            <a:off x="649224" y="3867912"/>
            <a:ext cx="788670" cy="301752"/>
          </a:xfrm>
          <a:prstGeom prst="rect">
            <a:avLst/>
          </a:prstGeom>
          <a:solidFill>
            <a:srgbClr val="065A82"/>
          </a:solidFill>
          <a:ln>
            <a:noFill/>
          </a:ln>
          <a:effectLst/>
        </p:spPr>
        <p:txBody>
          <a:bodyPr rtlCol="0" anchor="ctr"/>
          <a:lstStyle/>
          <a:p>
            <a:pPr algn="ctr"/>
          </a:p>
        </p:txBody>
      </p:sp>
      <p:sp>
        <p:nvSpPr>
          <p:cNvPr id="10" name="TextBox 9"/>
          <p:cNvSpPr txBox="1"/>
          <p:nvPr/>
        </p:nvSpPr>
        <p:spPr>
          <a:xfrm>
            <a:off x="649224" y="3867912"/>
            <a:ext cx="788670" cy="301752"/>
          </a:xfrm>
          <a:prstGeom prst="rect">
            <a:avLst/>
          </a:prstGeom>
          <a:noFill/>
        </p:spPr>
        <p:txBody>
          <a:bodyPr wrap="square" lIns="0" rIns="0" tIns="0" bIns="0" anchor="ctr">
            <a:spAutoFit/>
          </a:bodyPr>
          <a:lstStyle/>
          <a:p>
            <a:pPr algn="ctr">
              <a:lnSpc>
                <a:spcPct val="95000"/>
              </a:lnSpc>
            </a:pPr>
            <a:r>
              <a:rPr sz="850" b="1" i="0">
                <a:solidFill>
                  <a:srgbClr val="FFFFFF"/>
                </a:solidFill>
                <a:latin typeface="Arial"/>
              </a:rPr>
              <a:t>Date</a:t>
            </a:r>
          </a:p>
        </p:txBody>
      </p:sp>
      <p:sp>
        <p:nvSpPr>
          <p:cNvPr id="11" name="Rectangle 10"/>
          <p:cNvSpPr/>
          <p:nvPr/>
        </p:nvSpPr>
        <p:spPr>
          <a:xfrm>
            <a:off x="1474470" y="3867912"/>
            <a:ext cx="788670" cy="301752"/>
          </a:xfrm>
          <a:prstGeom prst="rect">
            <a:avLst/>
          </a:prstGeom>
          <a:solidFill>
            <a:srgbClr val="065A82"/>
          </a:solidFill>
          <a:ln>
            <a:noFill/>
          </a:ln>
          <a:effectLst/>
        </p:spPr>
        <p:txBody>
          <a:bodyPr rtlCol="0" anchor="ctr"/>
          <a:lstStyle/>
          <a:p>
            <a:pPr algn="ctr"/>
          </a:p>
        </p:txBody>
      </p:sp>
      <p:sp>
        <p:nvSpPr>
          <p:cNvPr id="12" name="TextBox 11"/>
          <p:cNvSpPr txBox="1"/>
          <p:nvPr/>
        </p:nvSpPr>
        <p:spPr>
          <a:xfrm>
            <a:off x="1474470" y="3867912"/>
            <a:ext cx="788670" cy="301752"/>
          </a:xfrm>
          <a:prstGeom prst="rect">
            <a:avLst/>
          </a:prstGeom>
          <a:noFill/>
        </p:spPr>
        <p:txBody>
          <a:bodyPr wrap="square" lIns="0" rIns="0" tIns="0" bIns="0" anchor="ctr">
            <a:spAutoFit/>
          </a:bodyPr>
          <a:lstStyle/>
          <a:p>
            <a:pPr algn="ctr">
              <a:lnSpc>
                <a:spcPct val="95000"/>
              </a:lnSpc>
            </a:pPr>
            <a:r>
              <a:rPr sz="850" b="1" i="0">
                <a:solidFill>
                  <a:srgbClr val="FFFFFF"/>
                </a:solidFill>
                <a:latin typeface="Arial"/>
              </a:rPr>
              <a:t>Inv. No.</a:t>
            </a:r>
          </a:p>
        </p:txBody>
      </p:sp>
      <p:sp>
        <p:nvSpPr>
          <p:cNvPr id="13" name="Rectangle 12"/>
          <p:cNvSpPr/>
          <p:nvPr/>
        </p:nvSpPr>
        <p:spPr>
          <a:xfrm>
            <a:off x="2299716" y="3867912"/>
            <a:ext cx="788670" cy="301752"/>
          </a:xfrm>
          <a:prstGeom prst="rect">
            <a:avLst/>
          </a:prstGeom>
          <a:solidFill>
            <a:srgbClr val="065A82"/>
          </a:solidFill>
          <a:ln>
            <a:noFill/>
          </a:ln>
          <a:effectLst/>
        </p:spPr>
        <p:txBody>
          <a:bodyPr rtlCol="0" anchor="ctr"/>
          <a:lstStyle/>
          <a:p>
            <a:pPr algn="ctr"/>
          </a:p>
        </p:txBody>
      </p:sp>
      <p:sp>
        <p:nvSpPr>
          <p:cNvPr id="14" name="TextBox 13"/>
          <p:cNvSpPr txBox="1"/>
          <p:nvPr/>
        </p:nvSpPr>
        <p:spPr>
          <a:xfrm>
            <a:off x="2299716" y="3867912"/>
            <a:ext cx="788670" cy="301752"/>
          </a:xfrm>
          <a:prstGeom prst="rect">
            <a:avLst/>
          </a:prstGeom>
          <a:noFill/>
        </p:spPr>
        <p:txBody>
          <a:bodyPr wrap="square" lIns="0" rIns="0" tIns="0" bIns="0" anchor="ctr">
            <a:spAutoFit/>
          </a:bodyPr>
          <a:lstStyle/>
          <a:p>
            <a:pPr algn="ctr">
              <a:lnSpc>
                <a:spcPct val="95000"/>
              </a:lnSpc>
            </a:pPr>
            <a:r>
              <a:rPr sz="850" b="1" i="0">
                <a:solidFill>
                  <a:srgbClr val="FFFFFF"/>
                </a:solidFill>
                <a:latin typeface="Arial"/>
              </a:rPr>
              <a:t>Line item</a:t>
            </a:r>
          </a:p>
        </p:txBody>
      </p:sp>
      <p:sp>
        <p:nvSpPr>
          <p:cNvPr id="15" name="Rectangle 14"/>
          <p:cNvSpPr/>
          <p:nvPr/>
        </p:nvSpPr>
        <p:spPr>
          <a:xfrm>
            <a:off x="3124962" y="3867912"/>
            <a:ext cx="788670" cy="301752"/>
          </a:xfrm>
          <a:prstGeom prst="rect">
            <a:avLst/>
          </a:prstGeom>
          <a:solidFill>
            <a:srgbClr val="065A82"/>
          </a:solidFill>
          <a:ln>
            <a:noFill/>
          </a:ln>
          <a:effectLst/>
        </p:spPr>
        <p:txBody>
          <a:bodyPr rtlCol="0" anchor="ctr"/>
          <a:lstStyle/>
          <a:p>
            <a:pPr algn="ctr"/>
          </a:p>
        </p:txBody>
      </p:sp>
      <p:sp>
        <p:nvSpPr>
          <p:cNvPr id="16" name="TextBox 15"/>
          <p:cNvSpPr txBox="1"/>
          <p:nvPr/>
        </p:nvSpPr>
        <p:spPr>
          <a:xfrm>
            <a:off x="3124962" y="3867912"/>
            <a:ext cx="788670" cy="301752"/>
          </a:xfrm>
          <a:prstGeom prst="rect">
            <a:avLst/>
          </a:prstGeom>
          <a:noFill/>
        </p:spPr>
        <p:txBody>
          <a:bodyPr wrap="square" lIns="0" rIns="0" tIns="0" bIns="0" anchor="ctr">
            <a:spAutoFit/>
          </a:bodyPr>
          <a:lstStyle/>
          <a:p>
            <a:pPr algn="ctr">
              <a:lnSpc>
                <a:spcPct val="95000"/>
              </a:lnSpc>
            </a:pPr>
            <a:r>
              <a:rPr sz="850" b="1" i="0">
                <a:solidFill>
                  <a:srgbClr val="FFFFFF"/>
                </a:solidFill>
                <a:latin typeface="Arial"/>
              </a:rPr>
              <a:t>Amount</a:t>
            </a:r>
          </a:p>
        </p:txBody>
      </p:sp>
      <p:sp>
        <p:nvSpPr>
          <p:cNvPr id="17" name="Rectangle 16"/>
          <p:cNvSpPr/>
          <p:nvPr/>
        </p:nvSpPr>
        <p:spPr>
          <a:xfrm>
            <a:off x="649224" y="4192524"/>
            <a:ext cx="788670" cy="301752"/>
          </a:xfrm>
          <a:prstGeom prst="rect">
            <a:avLst/>
          </a:prstGeom>
          <a:solidFill>
            <a:srgbClr val="F4F7FA"/>
          </a:solidFill>
          <a:ln w="8890">
            <a:solidFill>
              <a:srgbClr val="E5EAF0"/>
            </a:solidFill>
          </a:ln>
          <a:effectLst/>
        </p:spPr>
        <p:txBody>
          <a:bodyPr rtlCol="0" anchor="ctr"/>
          <a:lstStyle/>
          <a:p>
            <a:pPr algn="ctr"/>
          </a:p>
        </p:txBody>
      </p:sp>
      <p:sp>
        <p:nvSpPr>
          <p:cNvPr id="18" name="TextBox 17"/>
          <p:cNvSpPr txBox="1"/>
          <p:nvPr/>
        </p:nvSpPr>
        <p:spPr>
          <a:xfrm>
            <a:off x="649224" y="4192524"/>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24.03.2026</a:t>
            </a:r>
          </a:p>
        </p:txBody>
      </p:sp>
      <p:sp>
        <p:nvSpPr>
          <p:cNvPr id="19" name="Rectangle 18"/>
          <p:cNvSpPr/>
          <p:nvPr/>
        </p:nvSpPr>
        <p:spPr>
          <a:xfrm>
            <a:off x="1474470" y="4192524"/>
            <a:ext cx="788670" cy="301752"/>
          </a:xfrm>
          <a:prstGeom prst="rect">
            <a:avLst/>
          </a:prstGeom>
          <a:solidFill>
            <a:srgbClr val="F4F7FA"/>
          </a:solidFill>
          <a:ln w="8890">
            <a:solidFill>
              <a:srgbClr val="E5EAF0"/>
            </a:solidFill>
          </a:ln>
          <a:effectLst/>
        </p:spPr>
        <p:txBody>
          <a:bodyPr rtlCol="0" anchor="ctr"/>
          <a:lstStyle/>
          <a:p>
            <a:pPr algn="ctr"/>
          </a:p>
        </p:txBody>
      </p:sp>
      <p:sp>
        <p:nvSpPr>
          <p:cNvPr id="20" name="TextBox 19"/>
          <p:cNvSpPr txBox="1"/>
          <p:nvPr/>
        </p:nvSpPr>
        <p:spPr>
          <a:xfrm>
            <a:off x="1474470" y="4192524"/>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a:t>
            </a:r>
          </a:p>
        </p:txBody>
      </p:sp>
      <p:sp>
        <p:nvSpPr>
          <p:cNvPr id="21" name="Rectangle 20"/>
          <p:cNvSpPr/>
          <p:nvPr/>
        </p:nvSpPr>
        <p:spPr>
          <a:xfrm>
            <a:off x="2299716" y="4192524"/>
            <a:ext cx="788670" cy="301752"/>
          </a:xfrm>
          <a:prstGeom prst="rect">
            <a:avLst/>
          </a:prstGeom>
          <a:solidFill>
            <a:srgbClr val="F4F7FA"/>
          </a:solidFill>
          <a:ln w="8890">
            <a:solidFill>
              <a:srgbClr val="E5EAF0"/>
            </a:solidFill>
          </a:ln>
          <a:effectLst/>
        </p:spPr>
        <p:txBody>
          <a:bodyPr rtlCol="0" anchor="ctr"/>
          <a:lstStyle/>
          <a:p>
            <a:pPr algn="ctr"/>
          </a:p>
        </p:txBody>
      </p:sp>
      <p:sp>
        <p:nvSpPr>
          <p:cNvPr id="22" name="TextBox 21"/>
          <p:cNvSpPr txBox="1"/>
          <p:nvPr/>
        </p:nvSpPr>
        <p:spPr>
          <a:xfrm>
            <a:off x="2299716" y="4192524"/>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a:t>
            </a:r>
          </a:p>
        </p:txBody>
      </p:sp>
      <p:sp>
        <p:nvSpPr>
          <p:cNvPr id="23" name="Rectangle 22"/>
          <p:cNvSpPr/>
          <p:nvPr/>
        </p:nvSpPr>
        <p:spPr>
          <a:xfrm>
            <a:off x="3124962" y="4192524"/>
            <a:ext cx="788670" cy="301752"/>
          </a:xfrm>
          <a:prstGeom prst="rect">
            <a:avLst/>
          </a:prstGeom>
          <a:solidFill>
            <a:srgbClr val="F4F7FA"/>
          </a:solidFill>
          <a:ln w="8890">
            <a:solidFill>
              <a:srgbClr val="E5EAF0"/>
            </a:solidFill>
          </a:ln>
          <a:effectLst/>
        </p:spPr>
        <p:txBody>
          <a:bodyPr rtlCol="0" anchor="ctr"/>
          <a:lstStyle/>
          <a:p>
            <a:pPr algn="ctr"/>
          </a:p>
        </p:txBody>
      </p:sp>
      <p:sp>
        <p:nvSpPr>
          <p:cNvPr id="24" name="TextBox 23"/>
          <p:cNvSpPr txBox="1"/>
          <p:nvPr/>
        </p:nvSpPr>
        <p:spPr>
          <a:xfrm>
            <a:off x="3124962" y="4192524"/>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a:t>
            </a:r>
          </a:p>
        </p:txBody>
      </p:sp>
      <p:sp>
        <p:nvSpPr>
          <p:cNvPr id="25" name="Rectangle 24"/>
          <p:cNvSpPr/>
          <p:nvPr/>
        </p:nvSpPr>
        <p:spPr>
          <a:xfrm>
            <a:off x="649224" y="4517136"/>
            <a:ext cx="788670" cy="301752"/>
          </a:xfrm>
          <a:prstGeom prst="rect">
            <a:avLst/>
          </a:prstGeom>
          <a:solidFill>
            <a:srgbClr val="F4F7FA"/>
          </a:solidFill>
          <a:ln w="8890">
            <a:solidFill>
              <a:srgbClr val="E5EAF0"/>
            </a:solidFill>
          </a:ln>
          <a:effectLst/>
        </p:spPr>
        <p:txBody>
          <a:bodyPr rtlCol="0" anchor="ctr"/>
          <a:lstStyle/>
          <a:p>
            <a:pPr algn="ctr"/>
          </a:p>
        </p:txBody>
      </p:sp>
      <p:sp>
        <p:nvSpPr>
          <p:cNvPr id="26" name="TextBox 25"/>
          <p:cNvSpPr txBox="1"/>
          <p:nvPr/>
        </p:nvSpPr>
        <p:spPr>
          <a:xfrm>
            <a:off x="649224" y="4517136"/>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a:t>
            </a:r>
          </a:p>
        </p:txBody>
      </p:sp>
      <p:sp>
        <p:nvSpPr>
          <p:cNvPr id="27" name="Rectangle 26"/>
          <p:cNvSpPr/>
          <p:nvPr/>
        </p:nvSpPr>
        <p:spPr>
          <a:xfrm>
            <a:off x="1474470" y="4517136"/>
            <a:ext cx="788670" cy="301752"/>
          </a:xfrm>
          <a:prstGeom prst="rect">
            <a:avLst/>
          </a:prstGeom>
          <a:solidFill>
            <a:srgbClr val="F4F7FA"/>
          </a:solidFill>
          <a:ln w="8890">
            <a:solidFill>
              <a:srgbClr val="E5EAF0"/>
            </a:solidFill>
          </a:ln>
          <a:effectLst/>
        </p:spPr>
        <p:txBody>
          <a:bodyPr rtlCol="0" anchor="ctr"/>
          <a:lstStyle/>
          <a:p>
            <a:pPr algn="ctr"/>
          </a:p>
        </p:txBody>
      </p:sp>
      <p:sp>
        <p:nvSpPr>
          <p:cNvPr id="28" name="TextBox 27"/>
          <p:cNvSpPr txBox="1"/>
          <p:nvPr/>
        </p:nvSpPr>
        <p:spPr>
          <a:xfrm>
            <a:off x="1474470" y="4517136"/>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a:t>
            </a:r>
          </a:p>
        </p:txBody>
      </p:sp>
      <p:sp>
        <p:nvSpPr>
          <p:cNvPr id="29" name="Rectangle 28"/>
          <p:cNvSpPr/>
          <p:nvPr/>
        </p:nvSpPr>
        <p:spPr>
          <a:xfrm>
            <a:off x="2299716" y="4517136"/>
            <a:ext cx="788670" cy="301752"/>
          </a:xfrm>
          <a:prstGeom prst="rect">
            <a:avLst/>
          </a:prstGeom>
          <a:solidFill>
            <a:srgbClr val="F4F7FA"/>
          </a:solidFill>
          <a:ln w="8890">
            <a:solidFill>
              <a:srgbClr val="E5EAF0"/>
            </a:solidFill>
          </a:ln>
          <a:effectLst/>
        </p:spPr>
        <p:txBody>
          <a:bodyPr rtlCol="0" anchor="ctr"/>
          <a:lstStyle/>
          <a:p>
            <a:pPr algn="ctr"/>
          </a:p>
        </p:txBody>
      </p:sp>
      <p:sp>
        <p:nvSpPr>
          <p:cNvPr id="30" name="TextBox 29"/>
          <p:cNvSpPr txBox="1"/>
          <p:nvPr/>
        </p:nvSpPr>
        <p:spPr>
          <a:xfrm>
            <a:off x="2299716" y="4517136"/>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a:t>
            </a:r>
          </a:p>
        </p:txBody>
      </p:sp>
      <p:sp>
        <p:nvSpPr>
          <p:cNvPr id="31" name="Rectangle 30"/>
          <p:cNvSpPr/>
          <p:nvPr/>
        </p:nvSpPr>
        <p:spPr>
          <a:xfrm>
            <a:off x="3124962" y="4517136"/>
            <a:ext cx="788670" cy="301752"/>
          </a:xfrm>
          <a:prstGeom prst="rect">
            <a:avLst/>
          </a:prstGeom>
          <a:solidFill>
            <a:srgbClr val="F4F7FA"/>
          </a:solidFill>
          <a:ln w="8890">
            <a:solidFill>
              <a:srgbClr val="E5EAF0"/>
            </a:solidFill>
          </a:ln>
          <a:effectLst/>
        </p:spPr>
        <p:txBody>
          <a:bodyPr rtlCol="0" anchor="ctr"/>
          <a:lstStyle/>
          <a:p>
            <a:pPr algn="ctr"/>
          </a:p>
        </p:txBody>
      </p:sp>
      <p:sp>
        <p:nvSpPr>
          <p:cNvPr id="32" name="TextBox 31"/>
          <p:cNvSpPr txBox="1"/>
          <p:nvPr/>
        </p:nvSpPr>
        <p:spPr>
          <a:xfrm>
            <a:off x="3124962" y="4517136"/>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a:t>
            </a:r>
          </a:p>
        </p:txBody>
      </p:sp>
      <p:sp>
        <p:nvSpPr>
          <p:cNvPr id="33" name="Rounded Rectangle 32"/>
          <p:cNvSpPr/>
          <p:nvPr/>
        </p:nvSpPr>
        <p:spPr>
          <a:xfrm>
            <a:off x="4297680" y="3429000"/>
            <a:ext cx="3593592" cy="1965960"/>
          </a:xfrm>
          <a:prstGeom prst="roundRect">
            <a:avLst>
              <a:gd name="adj" fmla="val 15503"/>
            </a:avLst>
          </a:prstGeom>
          <a:solidFill>
            <a:srgbClr val="F4F7FA"/>
          </a:solidFill>
          <a:ln w="19050">
            <a:solidFill>
              <a:srgbClr val="1C7293"/>
            </a:solidFill>
          </a:ln>
          <a:effectLst/>
        </p:spPr>
        <p:txBody>
          <a:bodyPr rtlCol="0" anchor="ctr"/>
          <a:lstStyle/>
          <a:p>
            <a:pPr algn="ctr"/>
          </a:p>
        </p:txBody>
      </p:sp>
      <p:sp>
        <p:nvSpPr>
          <p:cNvPr id="34" name="TextBox 33"/>
          <p:cNvSpPr txBox="1"/>
          <p:nvPr/>
        </p:nvSpPr>
        <p:spPr>
          <a:xfrm>
            <a:off x="4443984" y="3520440"/>
            <a:ext cx="3300984" cy="310896"/>
          </a:xfrm>
          <a:prstGeom prst="rect">
            <a:avLst/>
          </a:prstGeom>
          <a:noFill/>
        </p:spPr>
        <p:txBody>
          <a:bodyPr wrap="square" lIns="0" rIns="0" tIns="0" bIns="0" anchor="t">
            <a:spAutoFit/>
          </a:bodyPr>
          <a:lstStyle/>
          <a:p>
            <a:pPr algn="l">
              <a:lnSpc>
                <a:spcPct val="105000"/>
              </a:lnSpc>
            </a:pPr>
            <a:r>
              <a:rPr sz="1200" b="1" i="0">
                <a:solidFill>
                  <a:srgbClr val="065A82"/>
                </a:solidFill>
                <a:latin typeface="Arial"/>
              </a:rPr>
              <a:t>Supplier document B</a:t>
            </a:r>
          </a:p>
        </p:txBody>
      </p:sp>
      <p:sp>
        <p:nvSpPr>
          <p:cNvPr id="35" name="Rectangle 34"/>
          <p:cNvSpPr/>
          <p:nvPr/>
        </p:nvSpPr>
        <p:spPr>
          <a:xfrm>
            <a:off x="4443984" y="3867912"/>
            <a:ext cx="788670" cy="301752"/>
          </a:xfrm>
          <a:prstGeom prst="rect">
            <a:avLst/>
          </a:prstGeom>
          <a:solidFill>
            <a:srgbClr val="065A82"/>
          </a:solidFill>
          <a:ln>
            <a:noFill/>
          </a:ln>
          <a:effectLst/>
        </p:spPr>
        <p:txBody>
          <a:bodyPr rtlCol="0" anchor="ctr"/>
          <a:lstStyle/>
          <a:p>
            <a:pPr algn="ctr"/>
          </a:p>
        </p:txBody>
      </p:sp>
      <p:sp>
        <p:nvSpPr>
          <p:cNvPr id="36" name="TextBox 35"/>
          <p:cNvSpPr txBox="1"/>
          <p:nvPr/>
        </p:nvSpPr>
        <p:spPr>
          <a:xfrm>
            <a:off x="4443984" y="3867912"/>
            <a:ext cx="788670" cy="301752"/>
          </a:xfrm>
          <a:prstGeom prst="rect">
            <a:avLst/>
          </a:prstGeom>
          <a:noFill/>
        </p:spPr>
        <p:txBody>
          <a:bodyPr wrap="square" lIns="0" rIns="0" tIns="0" bIns="0" anchor="ctr">
            <a:spAutoFit/>
          </a:bodyPr>
          <a:lstStyle/>
          <a:p>
            <a:pPr algn="ctr">
              <a:lnSpc>
                <a:spcPct val="95000"/>
              </a:lnSpc>
            </a:pPr>
            <a:r>
              <a:rPr sz="850" b="1" i="0">
                <a:solidFill>
                  <a:srgbClr val="FFFFFF"/>
                </a:solidFill>
                <a:latin typeface="Arial"/>
              </a:rPr>
              <a:t>Date</a:t>
            </a:r>
          </a:p>
        </p:txBody>
      </p:sp>
      <p:sp>
        <p:nvSpPr>
          <p:cNvPr id="37" name="Rectangle 36"/>
          <p:cNvSpPr/>
          <p:nvPr/>
        </p:nvSpPr>
        <p:spPr>
          <a:xfrm>
            <a:off x="5269230" y="3867912"/>
            <a:ext cx="788670" cy="301752"/>
          </a:xfrm>
          <a:prstGeom prst="rect">
            <a:avLst/>
          </a:prstGeom>
          <a:solidFill>
            <a:srgbClr val="065A82"/>
          </a:solidFill>
          <a:ln>
            <a:noFill/>
          </a:ln>
          <a:effectLst/>
        </p:spPr>
        <p:txBody>
          <a:bodyPr rtlCol="0" anchor="ctr"/>
          <a:lstStyle/>
          <a:p>
            <a:pPr algn="ctr"/>
          </a:p>
        </p:txBody>
      </p:sp>
      <p:sp>
        <p:nvSpPr>
          <p:cNvPr id="38" name="TextBox 37"/>
          <p:cNvSpPr txBox="1"/>
          <p:nvPr/>
        </p:nvSpPr>
        <p:spPr>
          <a:xfrm>
            <a:off x="5269230" y="3867912"/>
            <a:ext cx="788670" cy="301752"/>
          </a:xfrm>
          <a:prstGeom prst="rect">
            <a:avLst/>
          </a:prstGeom>
          <a:noFill/>
        </p:spPr>
        <p:txBody>
          <a:bodyPr wrap="square" lIns="0" rIns="0" tIns="0" bIns="0" anchor="ctr">
            <a:spAutoFit/>
          </a:bodyPr>
          <a:lstStyle/>
          <a:p>
            <a:pPr algn="ctr">
              <a:lnSpc>
                <a:spcPct val="95000"/>
              </a:lnSpc>
            </a:pPr>
            <a:r>
              <a:rPr sz="850" b="1" i="0">
                <a:solidFill>
                  <a:srgbClr val="FFFFFF"/>
                </a:solidFill>
                <a:latin typeface="Arial"/>
              </a:rPr>
              <a:t>Inv. No.</a:t>
            </a:r>
          </a:p>
        </p:txBody>
      </p:sp>
      <p:sp>
        <p:nvSpPr>
          <p:cNvPr id="39" name="Rectangle 38"/>
          <p:cNvSpPr/>
          <p:nvPr/>
        </p:nvSpPr>
        <p:spPr>
          <a:xfrm>
            <a:off x="6094476" y="3867912"/>
            <a:ext cx="788670" cy="301752"/>
          </a:xfrm>
          <a:prstGeom prst="rect">
            <a:avLst/>
          </a:prstGeom>
          <a:solidFill>
            <a:srgbClr val="065A82"/>
          </a:solidFill>
          <a:ln>
            <a:noFill/>
          </a:ln>
          <a:effectLst/>
        </p:spPr>
        <p:txBody>
          <a:bodyPr rtlCol="0" anchor="ctr"/>
          <a:lstStyle/>
          <a:p>
            <a:pPr algn="ctr"/>
          </a:p>
        </p:txBody>
      </p:sp>
      <p:sp>
        <p:nvSpPr>
          <p:cNvPr id="40" name="TextBox 39"/>
          <p:cNvSpPr txBox="1"/>
          <p:nvPr/>
        </p:nvSpPr>
        <p:spPr>
          <a:xfrm>
            <a:off x="6094476" y="3867912"/>
            <a:ext cx="788670" cy="301752"/>
          </a:xfrm>
          <a:prstGeom prst="rect">
            <a:avLst/>
          </a:prstGeom>
          <a:noFill/>
        </p:spPr>
        <p:txBody>
          <a:bodyPr wrap="square" lIns="0" rIns="0" tIns="0" bIns="0" anchor="ctr">
            <a:spAutoFit/>
          </a:bodyPr>
          <a:lstStyle/>
          <a:p>
            <a:pPr algn="ctr">
              <a:lnSpc>
                <a:spcPct val="95000"/>
              </a:lnSpc>
            </a:pPr>
            <a:r>
              <a:rPr sz="850" b="1" i="0">
                <a:solidFill>
                  <a:srgbClr val="FFFFFF"/>
                </a:solidFill>
                <a:latin typeface="Arial"/>
              </a:rPr>
              <a:t>Line item</a:t>
            </a:r>
          </a:p>
        </p:txBody>
      </p:sp>
      <p:sp>
        <p:nvSpPr>
          <p:cNvPr id="41" name="Rectangle 40"/>
          <p:cNvSpPr/>
          <p:nvPr/>
        </p:nvSpPr>
        <p:spPr>
          <a:xfrm>
            <a:off x="6919722" y="3867912"/>
            <a:ext cx="788670" cy="301752"/>
          </a:xfrm>
          <a:prstGeom prst="rect">
            <a:avLst/>
          </a:prstGeom>
          <a:solidFill>
            <a:srgbClr val="065A82"/>
          </a:solidFill>
          <a:ln>
            <a:noFill/>
          </a:ln>
          <a:effectLst/>
        </p:spPr>
        <p:txBody>
          <a:bodyPr rtlCol="0" anchor="ctr"/>
          <a:lstStyle/>
          <a:p>
            <a:pPr algn="ctr"/>
          </a:p>
        </p:txBody>
      </p:sp>
      <p:sp>
        <p:nvSpPr>
          <p:cNvPr id="42" name="TextBox 41"/>
          <p:cNvSpPr txBox="1"/>
          <p:nvPr/>
        </p:nvSpPr>
        <p:spPr>
          <a:xfrm>
            <a:off x="6919722" y="3867912"/>
            <a:ext cx="788670" cy="301752"/>
          </a:xfrm>
          <a:prstGeom prst="rect">
            <a:avLst/>
          </a:prstGeom>
          <a:noFill/>
        </p:spPr>
        <p:txBody>
          <a:bodyPr wrap="square" lIns="0" rIns="0" tIns="0" bIns="0" anchor="ctr">
            <a:spAutoFit/>
          </a:bodyPr>
          <a:lstStyle/>
          <a:p>
            <a:pPr algn="ctr">
              <a:lnSpc>
                <a:spcPct val="95000"/>
              </a:lnSpc>
            </a:pPr>
            <a:r>
              <a:rPr sz="850" b="1" i="0">
                <a:solidFill>
                  <a:srgbClr val="FFFFFF"/>
                </a:solidFill>
                <a:latin typeface="Arial"/>
              </a:rPr>
              <a:t>Amount</a:t>
            </a:r>
          </a:p>
        </p:txBody>
      </p:sp>
      <p:sp>
        <p:nvSpPr>
          <p:cNvPr id="43" name="Rectangle 42"/>
          <p:cNvSpPr/>
          <p:nvPr/>
        </p:nvSpPr>
        <p:spPr>
          <a:xfrm>
            <a:off x="4443984" y="4192524"/>
            <a:ext cx="788670" cy="301752"/>
          </a:xfrm>
          <a:prstGeom prst="rect">
            <a:avLst/>
          </a:prstGeom>
          <a:solidFill>
            <a:srgbClr val="F4F7FA"/>
          </a:solidFill>
          <a:ln w="8890">
            <a:solidFill>
              <a:srgbClr val="E5EAF0"/>
            </a:solidFill>
          </a:ln>
          <a:effectLst/>
        </p:spPr>
        <p:txBody>
          <a:bodyPr rtlCol="0" anchor="ctr"/>
          <a:lstStyle/>
          <a:p>
            <a:pPr algn="ctr"/>
          </a:p>
        </p:txBody>
      </p:sp>
      <p:sp>
        <p:nvSpPr>
          <p:cNvPr id="44" name="TextBox 43"/>
          <p:cNvSpPr txBox="1"/>
          <p:nvPr/>
        </p:nvSpPr>
        <p:spPr>
          <a:xfrm>
            <a:off x="4443984" y="4192524"/>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24.03.2026</a:t>
            </a:r>
          </a:p>
        </p:txBody>
      </p:sp>
      <p:sp>
        <p:nvSpPr>
          <p:cNvPr id="45" name="Rectangle 44"/>
          <p:cNvSpPr/>
          <p:nvPr/>
        </p:nvSpPr>
        <p:spPr>
          <a:xfrm>
            <a:off x="5269230" y="4192524"/>
            <a:ext cx="788670" cy="301752"/>
          </a:xfrm>
          <a:prstGeom prst="rect">
            <a:avLst/>
          </a:prstGeom>
          <a:solidFill>
            <a:srgbClr val="F4F7FA"/>
          </a:solidFill>
          <a:ln w="8890">
            <a:solidFill>
              <a:srgbClr val="E5EAF0"/>
            </a:solidFill>
          </a:ln>
          <a:effectLst/>
        </p:spPr>
        <p:txBody>
          <a:bodyPr rtlCol="0" anchor="ctr"/>
          <a:lstStyle/>
          <a:p>
            <a:pPr algn="ctr"/>
          </a:p>
        </p:txBody>
      </p:sp>
      <p:sp>
        <p:nvSpPr>
          <p:cNvPr id="46" name="TextBox 45"/>
          <p:cNvSpPr txBox="1"/>
          <p:nvPr/>
        </p:nvSpPr>
        <p:spPr>
          <a:xfrm>
            <a:off x="5269230" y="4192524"/>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a:t>
            </a:r>
          </a:p>
        </p:txBody>
      </p:sp>
      <p:sp>
        <p:nvSpPr>
          <p:cNvPr id="47" name="Rectangle 46"/>
          <p:cNvSpPr/>
          <p:nvPr/>
        </p:nvSpPr>
        <p:spPr>
          <a:xfrm>
            <a:off x="6094476" y="4192524"/>
            <a:ext cx="788670" cy="301752"/>
          </a:xfrm>
          <a:prstGeom prst="rect">
            <a:avLst/>
          </a:prstGeom>
          <a:solidFill>
            <a:srgbClr val="F4F7FA"/>
          </a:solidFill>
          <a:ln w="8890">
            <a:solidFill>
              <a:srgbClr val="E5EAF0"/>
            </a:solidFill>
          </a:ln>
          <a:effectLst/>
        </p:spPr>
        <p:txBody>
          <a:bodyPr rtlCol="0" anchor="ctr"/>
          <a:lstStyle/>
          <a:p>
            <a:pPr algn="ctr"/>
          </a:p>
        </p:txBody>
      </p:sp>
      <p:sp>
        <p:nvSpPr>
          <p:cNvPr id="48" name="TextBox 47"/>
          <p:cNvSpPr txBox="1"/>
          <p:nvPr/>
        </p:nvSpPr>
        <p:spPr>
          <a:xfrm>
            <a:off x="6094476" y="4192524"/>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a:t>
            </a:r>
          </a:p>
        </p:txBody>
      </p:sp>
      <p:sp>
        <p:nvSpPr>
          <p:cNvPr id="49" name="Rectangle 48"/>
          <p:cNvSpPr/>
          <p:nvPr/>
        </p:nvSpPr>
        <p:spPr>
          <a:xfrm>
            <a:off x="6919722" y="4192524"/>
            <a:ext cx="788670" cy="301752"/>
          </a:xfrm>
          <a:prstGeom prst="rect">
            <a:avLst/>
          </a:prstGeom>
          <a:solidFill>
            <a:srgbClr val="F4F7FA"/>
          </a:solidFill>
          <a:ln w="8890">
            <a:solidFill>
              <a:srgbClr val="E5EAF0"/>
            </a:solidFill>
          </a:ln>
          <a:effectLst/>
        </p:spPr>
        <p:txBody>
          <a:bodyPr rtlCol="0" anchor="ctr"/>
          <a:lstStyle/>
          <a:p>
            <a:pPr algn="ctr"/>
          </a:p>
        </p:txBody>
      </p:sp>
      <p:sp>
        <p:nvSpPr>
          <p:cNvPr id="50" name="TextBox 49"/>
          <p:cNvSpPr txBox="1"/>
          <p:nvPr/>
        </p:nvSpPr>
        <p:spPr>
          <a:xfrm>
            <a:off x="6919722" y="4192524"/>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a:t>
            </a:r>
          </a:p>
        </p:txBody>
      </p:sp>
      <p:sp>
        <p:nvSpPr>
          <p:cNvPr id="51" name="Rectangle 50"/>
          <p:cNvSpPr/>
          <p:nvPr/>
        </p:nvSpPr>
        <p:spPr>
          <a:xfrm>
            <a:off x="4443984" y="4517136"/>
            <a:ext cx="788670" cy="301752"/>
          </a:xfrm>
          <a:prstGeom prst="rect">
            <a:avLst/>
          </a:prstGeom>
          <a:solidFill>
            <a:srgbClr val="F4F7FA"/>
          </a:solidFill>
          <a:ln w="8890">
            <a:solidFill>
              <a:srgbClr val="E5EAF0"/>
            </a:solidFill>
          </a:ln>
          <a:effectLst/>
        </p:spPr>
        <p:txBody>
          <a:bodyPr rtlCol="0" anchor="ctr"/>
          <a:lstStyle/>
          <a:p>
            <a:pPr algn="ctr"/>
          </a:p>
        </p:txBody>
      </p:sp>
      <p:sp>
        <p:nvSpPr>
          <p:cNvPr id="52" name="TextBox 51"/>
          <p:cNvSpPr txBox="1"/>
          <p:nvPr/>
        </p:nvSpPr>
        <p:spPr>
          <a:xfrm>
            <a:off x="4443984" y="4517136"/>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a:t>
            </a:r>
          </a:p>
        </p:txBody>
      </p:sp>
      <p:sp>
        <p:nvSpPr>
          <p:cNvPr id="53" name="Rectangle 52"/>
          <p:cNvSpPr/>
          <p:nvPr/>
        </p:nvSpPr>
        <p:spPr>
          <a:xfrm>
            <a:off x="5269230" y="4517136"/>
            <a:ext cx="788670" cy="301752"/>
          </a:xfrm>
          <a:prstGeom prst="rect">
            <a:avLst/>
          </a:prstGeom>
          <a:solidFill>
            <a:srgbClr val="F4F7FA"/>
          </a:solidFill>
          <a:ln w="8890">
            <a:solidFill>
              <a:srgbClr val="E5EAF0"/>
            </a:solidFill>
          </a:ln>
          <a:effectLst/>
        </p:spPr>
        <p:txBody>
          <a:bodyPr rtlCol="0" anchor="ctr"/>
          <a:lstStyle/>
          <a:p>
            <a:pPr algn="ctr"/>
          </a:p>
        </p:txBody>
      </p:sp>
      <p:sp>
        <p:nvSpPr>
          <p:cNvPr id="54" name="TextBox 53"/>
          <p:cNvSpPr txBox="1"/>
          <p:nvPr/>
        </p:nvSpPr>
        <p:spPr>
          <a:xfrm>
            <a:off x="5269230" y="4517136"/>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a:t>
            </a:r>
          </a:p>
        </p:txBody>
      </p:sp>
      <p:sp>
        <p:nvSpPr>
          <p:cNvPr id="55" name="Rectangle 54"/>
          <p:cNvSpPr/>
          <p:nvPr/>
        </p:nvSpPr>
        <p:spPr>
          <a:xfrm>
            <a:off x="6094476" y="4517136"/>
            <a:ext cx="788670" cy="301752"/>
          </a:xfrm>
          <a:prstGeom prst="rect">
            <a:avLst/>
          </a:prstGeom>
          <a:solidFill>
            <a:srgbClr val="F4F7FA"/>
          </a:solidFill>
          <a:ln w="8890">
            <a:solidFill>
              <a:srgbClr val="E5EAF0"/>
            </a:solidFill>
          </a:ln>
          <a:effectLst/>
        </p:spPr>
        <p:txBody>
          <a:bodyPr rtlCol="0" anchor="ctr"/>
          <a:lstStyle/>
          <a:p>
            <a:pPr algn="ctr"/>
          </a:p>
        </p:txBody>
      </p:sp>
      <p:sp>
        <p:nvSpPr>
          <p:cNvPr id="56" name="TextBox 55"/>
          <p:cNvSpPr txBox="1"/>
          <p:nvPr/>
        </p:nvSpPr>
        <p:spPr>
          <a:xfrm>
            <a:off x="6094476" y="4517136"/>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a:t>
            </a:r>
          </a:p>
        </p:txBody>
      </p:sp>
      <p:sp>
        <p:nvSpPr>
          <p:cNvPr id="57" name="Rectangle 56"/>
          <p:cNvSpPr/>
          <p:nvPr/>
        </p:nvSpPr>
        <p:spPr>
          <a:xfrm>
            <a:off x="6919722" y="4517136"/>
            <a:ext cx="788670" cy="301752"/>
          </a:xfrm>
          <a:prstGeom prst="rect">
            <a:avLst/>
          </a:prstGeom>
          <a:solidFill>
            <a:srgbClr val="F4F7FA"/>
          </a:solidFill>
          <a:ln w="8890">
            <a:solidFill>
              <a:srgbClr val="E5EAF0"/>
            </a:solidFill>
          </a:ln>
          <a:effectLst/>
        </p:spPr>
        <p:txBody>
          <a:bodyPr rtlCol="0" anchor="ctr"/>
          <a:lstStyle/>
          <a:p>
            <a:pPr algn="ctr"/>
          </a:p>
        </p:txBody>
      </p:sp>
      <p:sp>
        <p:nvSpPr>
          <p:cNvPr id="58" name="TextBox 57"/>
          <p:cNvSpPr txBox="1"/>
          <p:nvPr/>
        </p:nvSpPr>
        <p:spPr>
          <a:xfrm>
            <a:off x="6919722" y="4517136"/>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a:t>
            </a:r>
          </a:p>
        </p:txBody>
      </p:sp>
      <p:sp>
        <p:nvSpPr>
          <p:cNvPr id="59" name="Rounded Rectangle 58"/>
          <p:cNvSpPr/>
          <p:nvPr/>
        </p:nvSpPr>
        <p:spPr>
          <a:xfrm>
            <a:off x="8092440" y="3429000"/>
            <a:ext cx="3593592" cy="1965960"/>
          </a:xfrm>
          <a:prstGeom prst="roundRect">
            <a:avLst>
              <a:gd name="adj" fmla="val 15503"/>
            </a:avLst>
          </a:prstGeom>
          <a:solidFill>
            <a:srgbClr val="F4F7FA"/>
          </a:solidFill>
          <a:ln w="22860">
            <a:solidFill>
              <a:srgbClr val="F0AB00"/>
            </a:solidFill>
          </a:ln>
          <a:effectLst/>
        </p:spPr>
        <p:txBody>
          <a:bodyPr rtlCol="0" anchor="ctr"/>
          <a:lstStyle/>
          <a:p>
            <a:pPr algn="ctr"/>
          </a:p>
        </p:txBody>
      </p:sp>
      <p:sp>
        <p:nvSpPr>
          <p:cNvPr id="60" name="TextBox 59"/>
          <p:cNvSpPr txBox="1"/>
          <p:nvPr/>
        </p:nvSpPr>
        <p:spPr>
          <a:xfrm>
            <a:off x="8238744" y="3520440"/>
            <a:ext cx="3300984" cy="310896"/>
          </a:xfrm>
          <a:prstGeom prst="rect">
            <a:avLst/>
          </a:prstGeom>
          <a:noFill/>
        </p:spPr>
        <p:txBody>
          <a:bodyPr wrap="square" lIns="0" rIns="0" tIns="0" bIns="0" anchor="t">
            <a:spAutoFit/>
          </a:bodyPr>
          <a:lstStyle/>
          <a:p>
            <a:pPr algn="l">
              <a:lnSpc>
                <a:spcPct val="105000"/>
              </a:lnSpc>
            </a:pPr>
            <a:r>
              <a:rPr sz="1200" b="1" i="0">
                <a:solidFill>
                  <a:srgbClr val="21295C"/>
                </a:solidFill>
                <a:latin typeface="Arial"/>
              </a:rPr>
              <a:t>Target table in 1C</a:t>
            </a:r>
          </a:p>
        </p:txBody>
      </p:sp>
      <p:sp>
        <p:nvSpPr>
          <p:cNvPr id="61" name="Rectangle 60"/>
          <p:cNvSpPr/>
          <p:nvPr/>
        </p:nvSpPr>
        <p:spPr>
          <a:xfrm>
            <a:off x="8238744" y="3867912"/>
            <a:ext cx="788670" cy="301752"/>
          </a:xfrm>
          <a:prstGeom prst="rect">
            <a:avLst/>
          </a:prstGeom>
          <a:solidFill>
            <a:srgbClr val="F0AB00"/>
          </a:solidFill>
          <a:ln>
            <a:noFill/>
          </a:ln>
          <a:effectLst/>
        </p:spPr>
        <p:txBody>
          <a:bodyPr rtlCol="0" anchor="ctr"/>
          <a:lstStyle/>
          <a:p>
            <a:pPr algn="ctr"/>
          </a:p>
        </p:txBody>
      </p:sp>
      <p:sp>
        <p:nvSpPr>
          <p:cNvPr id="62" name="TextBox 61"/>
          <p:cNvSpPr txBox="1"/>
          <p:nvPr/>
        </p:nvSpPr>
        <p:spPr>
          <a:xfrm>
            <a:off x="8238744" y="3867912"/>
            <a:ext cx="788670" cy="301752"/>
          </a:xfrm>
          <a:prstGeom prst="rect">
            <a:avLst/>
          </a:prstGeom>
          <a:noFill/>
        </p:spPr>
        <p:txBody>
          <a:bodyPr wrap="square" lIns="0" rIns="0" tIns="0" bIns="0" anchor="ctr">
            <a:spAutoFit/>
          </a:bodyPr>
          <a:lstStyle/>
          <a:p>
            <a:pPr algn="ctr">
              <a:lnSpc>
                <a:spcPct val="95000"/>
              </a:lnSpc>
            </a:pPr>
            <a:r>
              <a:rPr sz="850" b="1" i="0">
                <a:solidFill>
                  <a:srgbClr val="21295C"/>
                </a:solidFill>
                <a:latin typeface="Arial"/>
              </a:rPr>
              <a:t>Date</a:t>
            </a:r>
          </a:p>
        </p:txBody>
      </p:sp>
      <p:sp>
        <p:nvSpPr>
          <p:cNvPr id="63" name="Rectangle 62"/>
          <p:cNvSpPr/>
          <p:nvPr/>
        </p:nvSpPr>
        <p:spPr>
          <a:xfrm>
            <a:off x="9063990" y="3867912"/>
            <a:ext cx="788670" cy="301752"/>
          </a:xfrm>
          <a:prstGeom prst="rect">
            <a:avLst/>
          </a:prstGeom>
          <a:solidFill>
            <a:srgbClr val="F0AB00"/>
          </a:solidFill>
          <a:ln>
            <a:noFill/>
          </a:ln>
          <a:effectLst/>
        </p:spPr>
        <p:txBody>
          <a:bodyPr rtlCol="0" anchor="ctr"/>
          <a:lstStyle/>
          <a:p>
            <a:pPr algn="ctr"/>
          </a:p>
        </p:txBody>
      </p:sp>
      <p:sp>
        <p:nvSpPr>
          <p:cNvPr id="64" name="TextBox 63"/>
          <p:cNvSpPr txBox="1"/>
          <p:nvPr/>
        </p:nvSpPr>
        <p:spPr>
          <a:xfrm>
            <a:off x="9063990" y="3867912"/>
            <a:ext cx="788670" cy="301752"/>
          </a:xfrm>
          <a:prstGeom prst="rect">
            <a:avLst/>
          </a:prstGeom>
          <a:noFill/>
        </p:spPr>
        <p:txBody>
          <a:bodyPr wrap="square" lIns="0" rIns="0" tIns="0" bIns="0" anchor="ctr">
            <a:spAutoFit/>
          </a:bodyPr>
          <a:lstStyle/>
          <a:p>
            <a:pPr algn="ctr">
              <a:lnSpc>
                <a:spcPct val="95000"/>
              </a:lnSpc>
            </a:pPr>
            <a:r>
              <a:rPr sz="850" b="1" i="0">
                <a:solidFill>
                  <a:srgbClr val="21295C"/>
                </a:solidFill>
                <a:latin typeface="Arial"/>
              </a:rPr>
              <a:t>Invoice No.</a:t>
            </a:r>
          </a:p>
        </p:txBody>
      </p:sp>
      <p:sp>
        <p:nvSpPr>
          <p:cNvPr id="65" name="Rectangle 64"/>
          <p:cNvSpPr/>
          <p:nvPr/>
        </p:nvSpPr>
        <p:spPr>
          <a:xfrm>
            <a:off x="9889236" y="3867912"/>
            <a:ext cx="788670" cy="301752"/>
          </a:xfrm>
          <a:prstGeom prst="rect">
            <a:avLst/>
          </a:prstGeom>
          <a:solidFill>
            <a:srgbClr val="F0AB00"/>
          </a:solidFill>
          <a:ln>
            <a:noFill/>
          </a:ln>
          <a:effectLst/>
        </p:spPr>
        <p:txBody>
          <a:bodyPr rtlCol="0" anchor="ctr"/>
          <a:lstStyle/>
          <a:p>
            <a:pPr algn="ctr"/>
          </a:p>
        </p:txBody>
      </p:sp>
      <p:sp>
        <p:nvSpPr>
          <p:cNvPr id="66" name="TextBox 65"/>
          <p:cNvSpPr txBox="1"/>
          <p:nvPr/>
        </p:nvSpPr>
        <p:spPr>
          <a:xfrm>
            <a:off x="9889236" y="3867912"/>
            <a:ext cx="788670" cy="301752"/>
          </a:xfrm>
          <a:prstGeom prst="rect">
            <a:avLst/>
          </a:prstGeom>
          <a:noFill/>
        </p:spPr>
        <p:txBody>
          <a:bodyPr wrap="square" lIns="0" rIns="0" tIns="0" bIns="0" anchor="ctr">
            <a:spAutoFit/>
          </a:bodyPr>
          <a:lstStyle/>
          <a:p>
            <a:pPr algn="ctr">
              <a:lnSpc>
                <a:spcPct val="95000"/>
              </a:lnSpc>
            </a:pPr>
            <a:r>
              <a:rPr sz="850" b="1" i="0">
                <a:solidFill>
                  <a:srgbClr val="21295C"/>
                </a:solidFill>
                <a:latin typeface="Arial"/>
              </a:rPr>
              <a:t>Line item</a:t>
            </a:r>
          </a:p>
        </p:txBody>
      </p:sp>
      <p:sp>
        <p:nvSpPr>
          <p:cNvPr id="67" name="Rectangle 66"/>
          <p:cNvSpPr/>
          <p:nvPr/>
        </p:nvSpPr>
        <p:spPr>
          <a:xfrm>
            <a:off x="10714482" y="3867912"/>
            <a:ext cx="788670" cy="301752"/>
          </a:xfrm>
          <a:prstGeom prst="rect">
            <a:avLst/>
          </a:prstGeom>
          <a:solidFill>
            <a:srgbClr val="F0AB00"/>
          </a:solidFill>
          <a:ln>
            <a:noFill/>
          </a:ln>
          <a:effectLst/>
        </p:spPr>
        <p:txBody>
          <a:bodyPr rtlCol="0" anchor="ctr"/>
          <a:lstStyle/>
          <a:p>
            <a:pPr algn="ctr"/>
          </a:p>
        </p:txBody>
      </p:sp>
      <p:sp>
        <p:nvSpPr>
          <p:cNvPr id="68" name="TextBox 67"/>
          <p:cNvSpPr txBox="1"/>
          <p:nvPr/>
        </p:nvSpPr>
        <p:spPr>
          <a:xfrm>
            <a:off x="10714482" y="3867912"/>
            <a:ext cx="788670" cy="301752"/>
          </a:xfrm>
          <a:prstGeom prst="rect">
            <a:avLst/>
          </a:prstGeom>
          <a:noFill/>
        </p:spPr>
        <p:txBody>
          <a:bodyPr wrap="square" lIns="0" rIns="0" tIns="0" bIns="0" anchor="ctr">
            <a:spAutoFit/>
          </a:bodyPr>
          <a:lstStyle/>
          <a:p>
            <a:pPr algn="ctr">
              <a:lnSpc>
                <a:spcPct val="95000"/>
              </a:lnSpc>
            </a:pPr>
            <a:r>
              <a:rPr sz="850" b="1" i="0">
                <a:solidFill>
                  <a:srgbClr val="21295C"/>
                </a:solidFill>
                <a:latin typeface="Arial"/>
              </a:rPr>
              <a:t>Amount</a:t>
            </a:r>
          </a:p>
        </p:txBody>
      </p:sp>
      <p:sp>
        <p:nvSpPr>
          <p:cNvPr id="69" name="Rectangle 68"/>
          <p:cNvSpPr/>
          <p:nvPr/>
        </p:nvSpPr>
        <p:spPr>
          <a:xfrm>
            <a:off x="8238744" y="4192524"/>
            <a:ext cx="788670" cy="301752"/>
          </a:xfrm>
          <a:prstGeom prst="rect">
            <a:avLst/>
          </a:prstGeom>
          <a:solidFill>
            <a:srgbClr val="F4F7FA"/>
          </a:solidFill>
          <a:ln w="8890">
            <a:solidFill>
              <a:srgbClr val="E5EAF0"/>
            </a:solidFill>
          </a:ln>
          <a:effectLst/>
        </p:spPr>
        <p:txBody>
          <a:bodyPr rtlCol="0" anchor="ctr"/>
          <a:lstStyle/>
          <a:p>
            <a:pPr algn="ctr"/>
          </a:p>
        </p:txBody>
      </p:sp>
      <p:sp>
        <p:nvSpPr>
          <p:cNvPr id="70" name="TextBox 69"/>
          <p:cNvSpPr txBox="1"/>
          <p:nvPr/>
        </p:nvSpPr>
        <p:spPr>
          <a:xfrm>
            <a:off x="8238744" y="4192524"/>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24.03.2026</a:t>
            </a:r>
          </a:p>
        </p:txBody>
      </p:sp>
      <p:sp>
        <p:nvSpPr>
          <p:cNvPr id="71" name="Rectangle 70"/>
          <p:cNvSpPr/>
          <p:nvPr/>
        </p:nvSpPr>
        <p:spPr>
          <a:xfrm>
            <a:off x="9063990" y="4192524"/>
            <a:ext cx="788670" cy="301752"/>
          </a:xfrm>
          <a:prstGeom prst="rect">
            <a:avLst/>
          </a:prstGeom>
          <a:solidFill>
            <a:srgbClr val="F4F7FA"/>
          </a:solidFill>
          <a:ln w="8890">
            <a:solidFill>
              <a:srgbClr val="E5EAF0"/>
            </a:solidFill>
          </a:ln>
          <a:effectLst/>
        </p:spPr>
        <p:txBody>
          <a:bodyPr rtlCol="0" anchor="ctr"/>
          <a:lstStyle/>
          <a:p>
            <a:pPr algn="ctr"/>
          </a:p>
        </p:txBody>
      </p:sp>
      <p:sp>
        <p:nvSpPr>
          <p:cNvPr id="72" name="TextBox 71"/>
          <p:cNvSpPr txBox="1"/>
          <p:nvPr/>
        </p:nvSpPr>
        <p:spPr>
          <a:xfrm>
            <a:off x="9063990" y="4192524"/>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a:t>
            </a:r>
          </a:p>
        </p:txBody>
      </p:sp>
      <p:sp>
        <p:nvSpPr>
          <p:cNvPr id="73" name="Rectangle 72"/>
          <p:cNvSpPr/>
          <p:nvPr/>
        </p:nvSpPr>
        <p:spPr>
          <a:xfrm>
            <a:off x="9889236" y="4192524"/>
            <a:ext cx="788670" cy="301752"/>
          </a:xfrm>
          <a:prstGeom prst="rect">
            <a:avLst/>
          </a:prstGeom>
          <a:solidFill>
            <a:srgbClr val="F4F7FA"/>
          </a:solidFill>
          <a:ln w="8890">
            <a:solidFill>
              <a:srgbClr val="E5EAF0"/>
            </a:solidFill>
          </a:ln>
          <a:effectLst/>
        </p:spPr>
        <p:txBody>
          <a:bodyPr rtlCol="0" anchor="ctr"/>
          <a:lstStyle/>
          <a:p>
            <a:pPr algn="ctr"/>
          </a:p>
        </p:txBody>
      </p:sp>
      <p:sp>
        <p:nvSpPr>
          <p:cNvPr id="74" name="TextBox 73"/>
          <p:cNvSpPr txBox="1"/>
          <p:nvPr/>
        </p:nvSpPr>
        <p:spPr>
          <a:xfrm>
            <a:off x="9889236" y="4192524"/>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a:t>
            </a:r>
          </a:p>
        </p:txBody>
      </p:sp>
      <p:sp>
        <p:nvSpPr>
          <p:cNvPr id="75" name="Rectangle 74"/>
          <p:cNvSpPr/>
          <p:nvPr/>
        </p:nvSpPr>
        <p:spPr>
          <a:xfrm>
            <a:off x="10714482" y="4192524"/>
            <a:ext cx="788670" cy="301752"/>
          </a:xfrm>
          <a:prstGeom prst="rect">
            <a:avLst/>
          </a:prstGeom>
          <a:solidFill>
            <a:srgbClr val="F4F7FA"/>
          </a:solidFill>
          <a:ln w="8890">
            <a:solidFill>
              <a:srgbClr val="E5EAF0"/>
            </a:solidFill>
          </a:ln>
          <a:effectLst/>
        </p:spPr>
        <p:txBody>
          <a:bodyPr rtlCol="0" anchor="ctr"/>
          <a:lstStyle/>
          <a:p>
            <a:pPr algn="ctr"/>
          </a:p>
        </p:txBody>
      </p:sp>
      <p:sp>
        <p:nvSpPr>
          <p:cNvPr id="76" name="TextBox 75"/>
          <p:cNvSpPr txBox="1"/>
          <p:nvPr/>
        </p:nvSpPr>
        <p:spPr>
          <a:xfrm>
            <a:off x="10714482" y="4192524"/>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a:t>
            </a:r>
          </a:p>
        </p:txBody>
      </p:sp>
      <p:sp>
        <p:nvSpPr>
          <p:cNvPr id="77" name="Rectangle 76"/>
          <p:cNvSpPr/>
          <p:nvPr/>
        </p:nvSpPr>
        <p:spPr>
          <a:xfrm>
            <a:off x="8238744" y="4517136"/>
            <a:ext cx="788670" cy="301752"/>
          </a:xfrm>
          <a:prstGeom prst="rect">
            <a:avLst/>
          </a:prstGeom>
          <a:solidFill>
            <a:srgbClr val="F4F7FA"/>
          </a:solidFill>
          <a:ln w="8890">
            <a:solidFill>
              <a:srgbClr val="E5EAF0"/>
            </a:solidFill>
          </a:ln>
          <a:effectLst/>
        </p:spPr>
        <p:txBody>
          <a:bodyPr rtlCol="0" anchor="ctr"/>
          <a:lstStyle/>
          <a:p>
            <a:pPr algn="ctr"/>
          </a:p>
        </p:txBody>
      </p:sp>
      <p:sp>
        <p:nvSpPr>
          <p:cNvPr id="78" name="TextBox 77"/>
          <p:cNvSpPr txBox="1"/>
          <p:nvPr/>
        </p:nvSpPr>
        <p:spPr>
          <a:xfrm>
            <a:off x="8238744" y="4517136"/>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a:t>
            </a:r>
          </a:p>
        </p:txBody>
      </p:sp>
      <p:sp>
        <p:nvSpPr>
          <p:cNvPr id="79" name="Rectangle 78"/>
          <p:cNvSpPr/>
          <p:nvPr/>
        </p:nvSpPr>
        <p:spPr>
          <a:xfrm>
            <a:off x="9063990" y="4517136"/>
            <a:ext cx="788670" cy="301752"/>
          </a:xfrm>
          <a:prstGeom prst="rect">
            <a:avLst/>
          </a:prstGeom>
          <a:solidFill>
            <a:srgbClr val="F4F7FA"/>
          </a:solidFill>
          <a:ln w="8890">
            <a:solidFill>
              <a:srgbClr val="E5EAF0"/>
            </a:solidFill>
          </a:ln>
          <a:effectLst/>
        </p:spPr>
        <p:txBody>
          <a:bodyPr rtlCol="0" anchor="ctr"/>
          <a:lstStyle/>
          <a:p>
            <a:pPr algn="ctr"/>
          </a:p>
        </p:txBody>
      </p:sp>
      <p:sp>
        <p:nvSpPr>
          <p:cNvPr id="80" name="TextBox 79"/>
          <p:cNvSpPr txBox="1"/>
          <p:nvPr/>
        </p:nvSpPr>
        <p:spPr>
          <a:xfrm>
            <a:off x="9063990" y="4517136"/>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a:t>
            </a:r>
          </a:p>
        </p:txBody>
      </p:sp>
      <p:sp>
        <p:nvSpPr>
          <p:cNvPr id="81" name="Rectangle 80"/>
          <p:cNvSpPr/>
          <p:nvPr/>
        </p:nvSpPr>
        <p:spPr>
          <a:xfrm>
            <a:off x="9889236" y="4517136"/>
            <a:ext cx="788670" cy="301752"/>
          </a:xfrm>
          <a:prstGeom prst="rect">
            <a:avLst/>
          </a:prstGeom>
          <a:solidFill>
            <a:srgbClr val="F4F7FA"/>
          </a:solidFill>
          <a:ln w="8890">
            <a:solidFill>
              <a:srgbClr val="E5EAF0"/>
            </a:solidFill>
          </a:ln>
          <a:effectLst/>
        </p:spPr>
        <p:txBody>
          <a:bodyPr rtlCol="0" anchor="ctr"/>
          <a:lstStyle/>
          <a:p>
            <a:pPr algn="ctr"/>
          </a:p>
        </p:txBody>
      </p:sp>
      <p:sp>
        <p:nvSpPr>
          <p:cNvPr id="82" name="TextBox 81"/>
          <p:cNvSpPr txBox="1"/>
          <p:nvPr/>
        </p:nvSpPr>
        <p:spPr>
          <a:xfrm>
            <a:off x="9889236" y="4517136"/>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a:t>
            </a:r>
          </a:p>
        </p:txBody>
      </p:sp>
      <p:sp>
        <p:nvSpPr>
          <p:cNvPr id="83" name="Rectangle 82"/>
          <p:cNvSpPr/>
          <p:nvPr/>
        </p:nvSpPr>
        <p:spPr>
          <a:xfrm>
            <a:off x="10714482" y="4517136"/>
            <a:ext cx="788670" cy="301752"/>
          </a:xfrm>
          <a:prstGeom prst="rect">
            <a:avLst/>
          </a:prstGeom>
          <a:solidFill>
            <a:srgbClr val="F4F7FA"/>
          </a:solidFill>
          <a:ln w="8890">
            <a:solidFill>
              <a:srgbClr val="E5EAF0"/>
            </a:solidFill>
          </a:ln>
          <a:effectLst/>
        </p:spPr>
        <p:txBody>
          <a:bodyPr rtlCol="0" anchor="ctr"/>
          <a:lstStyle/>
          <a:p>
            <a:pPr algn="ctr"/>
          </a:p>
        </p:txBody>
      </p:sp>
      <p:sp>
        <p:nvSpPr>
          <p:cNvPr id="84" name="TextBox 83"/>
          <p:cNvSpPr txBox="1"/>
          <p:nvPr/>
        </p:nvSpPr>
        <p:spPr>
          <a:xfrm>
            <a:off x="10714482" y="4517136"/>
            <a:ext cx="788670" cy="301752"/>
          </a:xfrm>
          <a:prstGeom prst="rect">
            <a:avLst/>
          </a:prstGeom>
          <a:noFill/>
        </p:spPr>
        <p:txBody>
          <a:bodyPr wrap="square" lIns="0" rIns="0" tIns="0" bIns="0" anchor="ctr">
            <a:spAutoFit/>
          </a:bodyPr>
          <a:lstStyle/>
          <a:p>
            <a:pPr algn="ctr">
              <a:lnSpc>
                <a:spcPct val="115000"/>
              </a:lnSpc>
            </a:pPr>
            <a:r>
              <a:rPr sz="850" b="0" i="0">
                <a:solidFill>
                  <a:srgbClr val="6B7685"/>
                </a:solidFill>
                <a:latin typeface="Arial"/>
              </a:rPr>
              <a:t>—</a:t>
            </a:r>
          </a:p>
        </p:txBody>
      </p:sp>
      <p:sp>
        <p:nvSpPr>
          <p:cNvPr id="85" name="Rounded Rectangle 84"/>
          <p:cNvSpPr/>
          <p:nvPr/>
        </p:nvSpPr>
        <p:spPr>
          <a:xfrm>
            <a:off x="502920" y="5559552"/>
            <a:ext cx="11183112" cy="1161288"/>
          </a:xfrm>
          <a:prstGeom prst="roundRect">
            <a:avLst>
              <a:gd name="adj" fmla="val 25000"/>
            </a:avLst>
          </a:prstGeom>
          <a:solidFill>
            <a:srgbClr val="FEF5E0"/>
          </a:solidFill>
          <a:ln w="17780">
            <a:solidFill>
              <a:srgbClr val="F0AB00"/>
            </a:solidFill>
          </a:ln>
          <a:effectLst/>
        </p:spPr>
        <p:txBody>
          <a:bodyPr rtlCol="0" anchor="ctr"/>
          <a:lstStyle/>
          <a:p>
            <a:pPr algn="ctr"/>
          </a:p>
        </p:txBody>
      </p:sp>
      <p:sp>
        <p:nvSpPr>
          <p:cNvPr id="86" name="TextBox 85"/>
          <p:cNvSpPr txBox="1"/>
          <p:nvPr/>
        </p:nvSpPr>
        <p:spPr>
          <a:xfrm>
            <a:off x="777240" y="5559552"/>
            <a:ext cx="10607040" cy="1161288"/>
          </a:xfrm>
          <a:prstGeom prst="rect">
            <a:avLst/>
          </a:prstGeom>
          <a:noFill/>
        </p:spPr>
        <p:txBody>
          <a:bodyPr wrap="square" lIns="0" rIns="0" tIns="0" bIns="0" anchor="ctr">
            <a:spAutoFit/>
          </a:bodyPr>
          <a:lstStyle/>
          <a:p>
            <a:pPr algn="l">
              <a:lnSpc>
                <a:spcPct val="115000"/>
              </a:lnSpc>
            </a:pPr>
            <a:r>
              <a:rPr sz="2000" b="1" i="0">
                <a:solidFill>
                  <a:srgbClr val="21295C"/>
                </a:solidFill>
                <a:latin typeface="Arial"/>
              </a:rPr>
              <a:t>What would you propose?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1183112" cy="4114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Supplier documents</a:t>
            </a:r>
          </a:p>
        </p:txBody>
      </p:sp>
      <p:sp>
        <p:nvSpPr>
          <p:cNvPr id="3" name="Rounded Rectangle 2"/>
          <p:cNvSpPr/>
          <p:nvPr/>
        </p:nvSpPr>
        <p:spPr>
          <a:xfrm>
            <a:off x="502920" y="713232"/>
            <a:ext cx="11183112" cy="2331720"/>
          </a:xfrm>
          <a:prstGeom prst="roundRect">
            <a:avLst>
              <a:gd name="adj" fmla="val 13071"/>
            </a:avLst>
          </a:prstGeom>
          <a:solidFill>
            <a:srgbClr val="F4F7FA"/>
          </a:solidFill>
          <a:ln w="19050">
            <a:solidFill>
              <a:srgbClr val="1C7293"/>
            </a:solidFill>
          </a:ln>
          <a:effectLst/>
        </p:spPr>
        <p:txBody>
          <a:bodyPr rtlCol="0" anchor="ctr"/>
          <a:lstStyle/>
          <a:p>
            <a:pPr algn="ctr"/>
          </a:p>
        </p:txBody>
      </p:sp>
      <p:pic>
        <p:nvPicPr>
          <p:cNvPr id="4" name="Picture 3" descr="quote-1C7293-64.png"/>
          <p:cNvPicPr>
            <a:picLocks noChangeAspect="1"/>
          </p:cNvPicPr>
          <p:nvPr/>
        </p:nvPicPr>
        <p:blipFill>
          <a:blip r:embed="rId2"/>
          <a:stretch>
            <a:fillRect/>
          </a:stretch>
        </p:blipFill>
        <p:spPr>
          <a:xfrm>
            <a:off x="722376" y="886968"/>
            <a:ext cx="292608" cy="292608"/>
          </a:xfrm>
          <a:prstGeom prst="rect">
            <a:avLst/>
          </a:prstGeom>
        </p:spPr>
      </p:pic>
      <p:sp>
        <p:nvSpPr>
          <p:cNvPr id="5" name="TextBox 4"/>
          <p:cNvSpPr txBox="1"/>
          <p:nvPr/>
        </p:nvSpPr>
        <p:spPr>
          <a:xfrm>
            <a:off x="722376" y="1225296"/>
            <a:ext cx="10744200" cy="1600199"/>
          </a:xfrm>
          <a:prstGeom prst="rect">
            <a:avLst/>
          </a:prstGeom>
          <a:noFill/>
        </p:spPr>
        <p:txBody>
          <a:bodyPr wrap="square" lIns="0" rIns="0" tIns="0" bIns="0" anchor="t">
            <a:spAutoFit/>
          </a:bodyPr>
          <a:lstStyle/>
          <a:p>
            <a:pPr algn="l">
              <a:lnSpc>
                <a:spcPct val="128000"/>
              </a:lnSpc>
            </a:pPr>
            <a:r>
              <a:rPr sz="1400" b="0" i="1">
                <a:solidFill>
                  <a:srgbClr val="21295C"/>
                </a:solidFill>
                <a:latin typeface="Arial"/>
              </a:rPr>
              <a:t>"Team, I pulled the archive like you asked, a 4.2 GB ZIP. Inside it's a mix: scanned reconciliation acts, contracts, and the invoices themselves — I didn't sort anything, just zipped up the folder as it's sat for the past year. Two of our biggest suppliers are actually connected through EDI and send invoices already as structured XML files, no parsing needed there. The rest are scans from the old scanners at the warehouse, they output 200dpi and are already compressed. By the way, accounting is separately moving to EDI with the tax authority for invoicing documents, but that's a different project, not about supplier invoices."</a:t>
            </a:r>
          </a:p>
        </p:txBody>
      </p:sp>
      <p:sp>
        <p:nvSpPr>
          <p:cNvPr id="6" name="Rounded Rectangle 5"/>
          <p:cNvSpPr/>
          <p:nvPr/>
        </p:nvSpPr>
        <p:spPr>
          <a:xfrm>
            <a:off x="502920" y="3227832"/>
            <a:ext cx="2644902" cy="1600200"/>
          </a:xfrm>
          <a:prstGeom prst="roundRect">
            <a:avLst>
              <a:gd name="adj" fmla="val 19047"/>
            </a:avLst>
          </a:prstGeom>
          <a:solidFill>
            <a:srgbClr val="F4F7FA"/>
          </a:solidFill>
          <a:ln w="19050">
            <a:solidFill>
              <a:srgbClr val="028090"/>
            </a:solidFill>
          </a:ln>
          <a:effectLst/>
        </p:spPr>
        <p:txBody>
          <a:bodyPr rtlCol="0" anchor="ctr"/>
          <a:lstStyle/>
          <a:p>
            <a:pPr algn="ctr"/>
          </a:p>
        </p:txBody>
      </p:sp>
      <p:sp>
        <p:nvSpPr>
          <p:cNvPr id="7" name="TextBox 6"/>
          <p:cNvSpPr txBox="1"/>
          <p:nvPr/>
        </p:nvSpPr>
        <p:spPr>
          <a:xfrm>
            <a:off x="630936" y="3319272"/>
            <a:ext cx="2388870" cy="256032"/>
          </a:xfrm>
          <a:prstGeom prst="rect">
            <a:avLst/>
          </a:prstGeom>
          <a:noFill/>
        </p:spPr>
        <p:txBody>
          <a:bodyPr wrap="square" lIns="0" rIns="0" tIns="0" bIns="0" anchor="t">
            <a:spAutoFit/>
          </a:bodyPr>
          <a:lstStyle/>
          <a:p>
            <a:pPr algn="l">
              <a:lnSpc>
                <a:spcPct val="115000"/>
              </a:lnSpc>
            </a:pPr>
            <a:r>
              <a:rPr sz="1100" b="1" i="0">
                <a:solidFill>
                  <a:srgbClr val="065A82"/>
                </a:solidFill>
                <a:latin typeface="Arial"/>
              </a:rPr>
              <a:t>Supplier A</a:t>
            </a:r>
          </a:p>
        </p:txBody>
      </p:sp>
      <p:sp>
        <p:nvSpPr>
          <p:cNvPr id="8" name="Rectangle 7"/>
          <p:cNvSpPr/>
          <p:nvPr/>
        </p:nvSpPr>
        <p:spPr>
          <a:xfrm>
            <a:off x="630936" y="3630168"/>
            <a:ext cx="768857" cy="274320"/>
          </a:xfrm>
          <a:prstGeom prst="rect">
            <a:avLst/>
          </a:prstGeom>
          <a:solidFill>
            <a:srgbClr val="028090"/>
          </a:solidFill>
          <a:ln>
            <a:noFill/>
          </a:ln>
          <a:effectLst/>
        </p:spPr>
        <p:txBody>
          <a:bodyPr rtlCol="0" anchor="ctr"/>
          <a:lstStyle/>
          <a:p>
            <a:pPr algn="ctr"/>
          </a:p>
        </p:txBody>
      </p:sp>
      <p:sp>
        <p:nvSpPr>
          <p:cNvPr id="9" name="TextBox 8"/>
          <p:cNvSpPr txBox="1"/>
          <p:nvPr/>
        </p:nvSpPr>
        <p:spPr>
          <a:xfrm>
            <a:off x="630936" y="3630168"/>
            <a:ext cx="768857" cy="274320"/>
          </a:xfrm>
          <a:prstGeom prst="rect">
            <a:avLst/>
          </a:prstGeom>
          <a:noFill/>
        </p:spPr>
        <p:txBody>
          <a:bodyPr wrap="square" lIns="0" rIns="0" tIns="0" bIns="0" anchor="ctr">
            <a:spAutoFit/>
          </a:bodyPr>
          <a:lstStyle/>
          <a:p>
            <a:pPr algn="ctr">
              <a:lnSpc>
                <a:spcPct val="95000"/>
              </a:lnSpc>
            </a:pPr>
            <a:r>
              <a:rPr sz="800" b="1" i="0">
                <a:solidFill>
                  <a:srgbClr val="FFFFFF"/>
                </a:solidFill>
                <a:latin typeface="Arial"/>
              </a:rPr>
              <a:t>Date</a:t>
            </a:r>
          </a:p>
        </p:txBody>
      </p:sp>
      <p:sp>
        <p:nvSpPr>
          <p:cNvPr id="10" name="Rectangle 9"/>
          <p:cNvSpPr/>
          <p:nvPr/>
        </p:nvSpPr>
        <p:spPr>
          <a:xfrm>
            <a:off x="1427226" y="3630168"/>
            <a:ext cx="768857" cy="274320"/>
          </a:xfrm>
          <a:prstGeom prst="rect">
            <a:avLst/>
          </a:prstGeom>
          <a:solidFill>
            <a:srgbClr val="028090"/>
          </a:solidFill>
          <a:ln>
            <a:noFill/>
          </a:ln>
          <a:effectLst/>
        </p:spPr>
        <p:txBody>
          <a:bodyPr rtlCol="0" anchor="ctr"/>
          <a:lstStyle/>
          <a:p>
            <a:pPr algn="ctr"/>
          </a:p>
        </p:txBody>
      </p:sp>
      <p:sp>
        <p:nvSpPr>
          <p:cNvPr id="11" name="TextBox 10"/>
          <p:cNvSpPr txBox="1"/>
          <p:nvPr/>
        </p:nvSpPr>
        <p:spPr>
          <a:xfrm>
            <a:off x="1427226" y="3630168"/>
            <a:ext cx="768857" cy="274320"/>
          </a:xfrm>
          <a:prstGeom prst="rect">
            <a:avLst/>
          </a:prstGeom>
          <a:noFill/>
        </p:spPr>
        <p:txBody>
          <a:bodyPr wrap="square" lIns="0" rIns="0" tIns="0" bIns="0" anchor="ctr">
            <a:spAutoFit/>
          </a:bodyPr>
          <a:lstStyle/>
          <a:p>
            <a:pPr algn="ctr">
              <a:lnSpc>
                <a:spcPct val="95000"/>
              </a:lnSpc>
            </a:pPr>
            <a:r>
              <a:rPr sz="800" b="1" i="0">
                <a:solidFill>
                  <a:srgbClr val="FFFFFF"/>
                </a:solidFill>
                <a:latin typeface="Arial"/>
              </a:rPr>
              <a:t>Inv. No.</a:t>
            </a:r>
          </a:p>
        </p:txBody>
      </p:sp>
      <p:sp>
        <p:nvSpPr>
          <p:cNvPr id="12" name="Rectangle 11"/>
          <p:cNvSpPr/>
          <p:nvPr/>
        </p:nvSpPr>
        <p:spPr>
          <a:xfrm>
            <a:off x="2223516" y="3630168"/>
            <a:ext cx="768857" cy="274320"/>
          </a:xfrm>
          <a:prstGeom prst="rect">
            <a:avLst/>
          </a:prstGeom>
          <a:solidFill>
            <a:srgbClr val="028090"/>
          </a:solidFill>
          <a:ln>
            <a:noFill/>
          </a:ln>
          <a:effectLst/>
        </p:spPr>
        <p:txBody>
          <a:bodyPr rtlCol="0" anchor="ctr"/>
          <a:lstStyle/>
          <a:p>
            <a:pPr algn="ctr"/>
          </a:p>
        </p:txBody>
      </p:sp>
      <p:sp>
        <p:nvSpPr>
          <p:cNvPr id="13" name="TextBox 12"/>
          <p:cNvSpPr txBox="1"/>
          <p:nvPr/>
        </p:nvSpPr>
        <p:spPr>
          <a:xfrm>
            <a:off x="2223516" y="3630168"/>
            <a:ext cx="768857" cy="274320"/>
          </a:xfrm>
          <a:prstGeom prst="rect">
            <a:avLst/>
          </a:prstGeom>
          <a:noFill/>
        </p:spPr>
        <p:txBody>
          <a:bodyPr wrap="square" lIns="0" rIns="0" tIns="0" bIns="0" anchor="ctr">
            <a:spAutoFit/>
          </a:bodyPr>
          <a:lstStyle/>
          <a:p>
            <a:pPr algn="ctr">
              <a:lnSpc>
                <a:spcPct val="95000"/>
              </a:lnSpc>
            </a:pPr>
            <a:r>
              <a:rPr sz="800" b="1" i="0">
                <a:solidFill>
                  <a:srgbClr val="FFFFFF"/>
                </a:solidFill>
                <a:latin typeface="Arial"/>
              </a:rPr>
              <a:t>Amount</a:t>
            </a:r>
          </a:p>
        </p:txBody>
      </p:sp>
      <p:sp>
        <p:nvSpPr>
          <p:cNvPr id="14" name="Rectangle 13"/>
          <p:cNvSpPr/>
          <p:nvPr/>
        </p:nvSpPr>
        <p:spPr>
          <a:xfrm>
            <a:off x="630936" y="3931920"/>
            <a:ext cx="768857" cy="274320"/>
          </a:xfrm>
          <a:prstGeom prst="rect">
            <a:avLst/>
          </a:prstGeom>
          <a:solidFill>
            <a:srgbClr val="F4F7FA"/>
          </a:solidFill>
          <a:ln w="8890">
            <a:solidFill>
              <a:srgbClr val="E5EAF0"/>
            </a:solidFill>
          </a:ln>
          <a:effectLst/>
        </p:spPr>
        <p:txBody>
          <a:bodyPr rtlCol="0" anchor="ctr"/>
          <a:lstStyle/>
          <a:p>
            <a:pPr algn="ctr"/>
          </a:p>
        </p:txBody>
      </p:sp>
      <p:sp>
        <p:nvSpPr>
          <p:cNvPr id="15" name="Rectangle 14"/>
          <p:cNvSpPr/>
          <p:nvPr/>
        </p:nvSpPr>
        <p:spPr>
          <a:xfrm>
            <a:off x="1427226" y="3931920"/>
            <a:ext cx="768857" cy="274320"/>
          </a:xfrm>
          <a:prstGeom prst="rect">
            <a:avLst/>
          </a:prstGeom>
          <a:solidFill>
            <a:srgbClr val="F4F7FA"/>
          </a:solidFill>
          <a:ln w="8890">
            <a:solidFill>
              <a:srgbClr val="E5EAF0"/>
            </a:solidFill>
          </a:ln>
          <a:effectLst/>
        </p:spPr>
        <p:txBody>
          <a:bodyPr rtlCol="0" anchor="ctr"/>
          <a:lstStyle/>
          <a:p>
            <a:pPr algn="ctr"/>
          </a:p>
        </p:txBody>
      </p:sp>
      <p:sp>
        <p:nvSpPr>
          <p:cNvPr id="16" name="Rectangle 15"/>
          <p:cNvSpPr/>
          <p:nvPr/>
        </p:nvSpPr>
        <p:spPr>
          <a:xfrm>
            <a:off x="2223516" y="3931920"/>
            <a:ext cx="768857" cy="274320"/>
          </a:xfrm>
          <a:prstGeom prst="rect">
            <a:avLst/>
          </a:prstGeom>
          <a:solidFill>
            <a:srgbClr val="F4F7FA"/>
          </a:solidFill>
          <a:ln w="8890">
            <a:solidFill>
              <a:srgbClr val="E5EAF0"/>
            </a:solidFill>
          </a:ln>
          <a:effectLst/>
        </p:spPr>
        <p:txBody>
          <a:bodyPr rtlCol="0" anchor="ctr"/>
          <a:lstStyle/>
          <a:p>
            <a:pPr algn="ctr"/>
          </a:p>
        </p:txBody>
      </p:sp>
      <p:sp>
        <p:nvSpPr>
          <p:cNvPr id="17" name="Rounded Rectangle 16"/>
          <p:cNvSpPr/>
          <p:nvPr/>
        </p:nvSpPr>
        <p:spPr>
          <a:xfrm>
            <a:off x="3348990" y="3227832"/>
            <a:ext cx="2644902" cy="1600200"/>
          </a:xfrm>
          <a:prstGeom prst="roundRect">
            <a:avLst>
              <a:gd name="adj" fmla="val 19047"/>
            </a:avLst>
          </a:prstGeom>
          <a:solidFill>
            <a:srgbClr val="F4F7FA"/>
          </a:solidFill>
          <a:ln w="19050">
            <a:solidFill>
              <a:srgbClr val="028090"/>
            </a:solidFill>
          </a:ln>
          <a:effectLst/>
        </p:spPr>
        <p:txBody>
          <a:bodyPr rtlCol="0" anchor="ctr"/>
          <a:lstStyle/>
          <a:p>
            <a:pPr algn="ctr"/>
          </a:p>
        </p:txBody>
      </p:sp>
      <p:sp>
        <p:nvSpPr>
          <p:cNvPr id="18" name="TextBox 17"/>
          <p:cNvSpPr txBox="1"/>
          <p:nvPr/>
        </p:nvSpPr>
        <p:spPr>
          <a:xfrm>
            <a:off x="3477006" y="3319272"/>
            <a:ext cx="2388870" cy="256032"/>
          </a:xfrm>
          <a:prstGeom prst="rect">
            <a:avLst/>
          </a:prstGeom>
          <a:noFill/>
        </p:spPr>
        <p:txBody>
          <a:bodyPr wrap="square" lIns="0" rIns="0" tIns="0" bIns="0" anchor="t">
            <a:spAutoFit/>
          </a:bodyPr>
          <a:lstStyle/>
          <a:p>
            <a:pPr algn="l">
              <a:lnSpc>
                <a:spcPct val="115000"/>
              </a:lnSpc>
            </a:pPr>
            <a:r>
              <a:rPr sz="1100" b="1" i="0">
                <a:solidFill>
                  <a:srgbClr val="065A82"/>
                </a:solidFill>
                <a:latin typeface="Arial"/>
              </a:rPr>
              <a:t>Supplier B</a:t>
            </a:r>
          </a:p>
        </p:txBody>
      </p:sp>
      <p:sp>
        <p:nvSpPr>
          <p:cNvPr id="19" name="Rectangle 18"/>
          <p:cNvSpPr/>
          <p:nvPr/>
        </p:nvSpPr>
        <p:spPr>
          <a:xfrm>
            <a:off x="3477006" y="3630168"/>
            <a:ext cx="768857" cy="274320"/>
          </a:xfrm>
          <a:prstGeom prst="rect">
            <a:avLst/>
          </a:prstGeom>
          <a:solidFill>
            <a:srgbClr val="028090"/>
          </a:solidFill>
          <a:ln>
            <a:noFill/>
          </a:ln>
          <a:effectLst/>
        </p:spPr>
        <p:txBody>
          <a:bodyPr rtlCol="0" anchor="ctr"/>
          <a:lstStyle/>
          <a:p>
            <a:pPr algn="ctr"/>
          </a:p>
        </p:txBody>
      </p:sp>
      <p:sp>
        <p:nvSpPr>
          <p:cNvPr id="20" name="TextBox 19"/>
          <p:cNvSpPr txBox="1"/>
          <p:nvPr/>
        </p:nvSpPr>
        <p:spPr>
          <a:xfrm>
            <a:off x="3477006" y="3630168"/>
            <a:ext cx="768857" cy="274320"/>
          </a:xfrm>
          <a:prstGeom prst="rect">
            <a:avLst/>
          </a:prstGeom>
          <a:noFill/>
        </p:spPr>
        <p:txBody>
          <a:bodyPr wrap="square" lIns="0" rIns="0" tIns="0" bIns="0" anchor="ctr">
            <a:spAutoFit/>
          </a:bodyPr>
          <a:lstStyle/>
          <a:p>
            <a:pPr algn="ctr">
              <a:lnSpc>
                <a:spcPct val="95000"/>
              </a:lnSpc>
            </a:pPr>
            <a:r>
              <a:rPr sz="800" b="1" i="0">
                <a:solidFill>
                  <a:srgbClr val="FFFFFF"/>
                </a:solidFill>
                <a:latin typeface="Arial"/>
              </a:rPr>
              <a:t>Date</a:t>
            </a:r>
          </a:p>
        </p:txBody>
      </p:sp>
      <p:sp>
        <p:nvSpPr>
          <p:cNvPr id="21" name="Rectangle 20"/>
          <p:cNvSpPr/>
          <p:nvPr/>
        </p:nvSpPr>
        <p:spPr>
          <a:xfrm>
            <a:off x="4273296" y="3630168"/>
            <a:ext cx="768857" cy="274320"/>
          </a:xfrm>
          <a:prstGeom prst="rect">
            <a:avLst/>
          </a:prstGeom>
          <a:solidFill>
            <a:srgbClr val="028090"/>
          </a:solidFill>
          <a:ln>
            <a:noFill/>
          </a:ln>
          <a:effectLst/>
        </p:spPr>
        <p:txBody>
          <a:bodyPr rtlCol="0" anchor="ctr"/>
          <a:lstStyle/>
          <a:p>
            <a:pPr algn="ctr"/>
          </a:p>
        </p:txBody>
      </p:sp>
      <p:sp>
        <p:nvSpPr>
          <p:cNvPr id="22" name="TextBox 21"/>
          <p:cNvSpPr txBox="1"/>
          <p:nvPr/>
        </p:nvSpPr>
        <p:spPr>
          <a:xfrm>
            <a:off x="4273296" y="3630168"/>
            <a:ext cx="768857" cy="274320"/>
          </a:xfrm>
          <a:prstGeom prst="rect">
            <a:avLst/>
          </a:prstGeom>
          <a:noFill/>
        </p:spPr>
        <p:txBody>
          <a:bodyPr wrap="square" lIns="0" rIns="0" tIns="0" bIns="0" anchor="ctr">
            <a:spAutoFit/>
          </a:bodyPr>
          <a:lstStyle/>
          <a:p>
            <a:pPr algn="ctr">
              <a:lnSpc>
                <a:spcPct val="95000"/>
              </a:lnSpc>
            </a:pPr>
            <a:r>
              <a:rPr sz="800" b="1" i="0">
                <a:solidFill>
                  <a:srgbClr val="FFFFFF"/>
                </a:solidFill>
                <a:latin typeface="Arial"/>
              </a:rPr>
              <a:t>Invoice#</a:t>
            </a:r>
          </a:p>
        </p:txBody>
      </p:sp>
      <p:sp>
        <p:nvSpPr>
          <p:cNvPr id="23" name="Rectangle 22"/>
          <p:cNvSpPr/>
          <p:nvPr/>
        </p:nvSpPr>
        <p:spPr>
          <a:xfrm>
            <a:off x="5069586" y="3630168"/>
            <a:ext cx="768857" cy="274320"/>
          </a:xfrm>
          <a:prstGeom prst="rect">
            <a:avLst/>
          </a:prstGeom>
          <a:solidFill>
            <a:srgbClr val="028090"/>
          </a:solidFill>
          <a:ln>
            <a:noFill/>
          </a:ln>
          <a:effectLst/>
        </p:spPr>
        <p:txBody>
          <a:bodyPr rtlCol="0" anchor="ctr"/>
          <a:lstStyle/>
          <a:p>
            <a:pPr algn="ctr"/>
          </a:p>
        </p:txBody>
      </p:sp>
      <p:sp>
        <p:nvSpPr>
          <p:cNvPr id="24" name="TextBox 23"/>
          <p:cNvSpPr txBox="1"/>
          <p:nvPr/>
        </p:nvSpPr>
        <p:spPr>
          <a:xfrm>
            <a:off x="5069586" y="3630168"/>
            <a:ext cx="768857" cy="274320"/>
          </a:xfrm>
          <a:prstGeom prst="rect">
            <a:avLst/>
          </a:prstGeom>
          <a:noFill/>
        </p:spPr>
        <p:txBody>
          <a:bodyPr wrap="square" lIns="0" rIns="0" tIns="0" bIns="0" anchor="ctr">
            <a:spAutoFit/>
          </a:bodyPr>
          <a:lstStyle/>
          <a:p>
            <a:pPr algn="ctr">
              <a:lnSpc>
                <a:spcPct val="95000"/>
              </a:lnSpc>
            </a:pPr>
            <a:r>
              <a:rPr sz="800" b="1" i="0">
                <a:solidFill>
                  <a:srgbClr val="FFFFFF"/>
                </a:solidFill>
                <a:latin typeface="Arial"/>
              </a:rPr>
              <a:t>Total</a:t>
            </a:r>
          </a:p>
        </p:txBody>
      </p:sp>
      <p:sp>
        <p:nvSpPr>
          <p:cNvPr id="25" name="Rectangle 24"/>
          <p:cNvSpPr/>
          <p:nvPr/>
        </p:nvSpPr>
        <p:spPr>
          <a:xfrm>
            <a:off x="3477006" y="3931920"/>
            <a:ext cx="768857" cy="274320"/>
          </a:xfrm>
          <a:prstGeom prst="rect">
            <a:avLst/>
          </a:prstGeom>
          <a:solidFill>
            <a:srgbClr val="F4F7FA"/>
          </a:solidFill>
          <a:ln w="8890">
            <a:solidFill>
              <a:srgbClr val="E5EAF0"/>
            </a:solidFill>
          </a:ln>
          <a:effectLst/>
        </p:spPr>
        <p:txBody>
          <a:bodyPr rtlCol="0" anchor="ctr"/>
          <a:lstStyle/>
          <a:p>
            <a:pPr algn="ctr"/>
          </a:p>
        </p:txBody>
      </p:sp>
      <p:sp>
        <p:nvSpPr>
          <p:cNvPr id="26" name="Rectangle 25"/>
          <p:cNvSpPr/>
          <p:nvPr/>
        </p:nvSpPr>
        <p:spPr>
          <a:xfrm>
            <a:off x="4273296" y="3931920"/>
            <a:ext cx="768857" cy="274320"/>
          </a:xfrm>
          <a:prstGeom prst="rect">
            <a:avLst/>
          </a:prstGeom>
          <a:solidFill>
            <a:srgbClr val="F4F7FA"/>
          </a:solidFill>
          <a:ln w="8890">
            <a:solidFill>
              <a:srgbClr val="E5EAF0"/>
            </a:solidFill>
          </a:ln>
          <a:effectLst/>
        </p:spPr>
        <p:txBody>
          <a:bodyPr rtlCol="0" anchor="ctr"/>
          <a:lstStyle/>
          <a:p>
            <a:pPr algn="ctr"/>
          </a:p>
        </p:txBody>
      </p:sp>
      <p:sp>
        <p:nvSpPr>
          <p:cNvPr id="27" name="Rectangle 26"/>
          <p:cNvSpPr/>
          <p:nvPr/>
        </p:nvSpPr>
        <p:spPr>
          <a:xfrm>
            <a:off x="5069586" y="3931920"/>
            <a:ext cx="768857" cy="274320"/>
          </a:xfrm>
          <a:prstGeom prst="rect">
            <a:avLst/>
          </a:prstGeom>
          <a:solidFill>
            <a:srgbClr val="F4F7FA"/>
          </a:solidFill>
          <a:ln w="8890">
            <a:solidFill>
              <a:srgbClr val="E5EAF0"/>
            </a:solidFill>
          </a:ln>
          <a:effectLst/>
        </p:spPr>
        <p:txBody>
          <a:bodyPr rtlCol="0" anchor="ctr"/>
          <a:lstStyle/>
          <a:p>
            <a:pPr algn="ctr"/>
          </a:p>
        </p:txBody>
      </p:sp>
      <p:sp>
        <p:nvSpPr>
          <p:cNvPr id="28" name="Rounded Rectangle 27"/>
          <p:cNvSpPr/>
          <p:nvPr/>
        </p:nvSpPr>
        <p:spPr>
          <a:xfrm>
            <a:off x="6195060" y="3227832"/>
            <a:ext cx="2644902" cy="1600200"/>
          </a:xfrm>
          <a:prstGeom prst="roundRect">
            <a:avLst>
              <a:gd name="adj" fmla="val 19047"/>
            </a:avLst>
          </a:prstGeom>
          <a:solidFill>
            <a:srgbClr val="F4F7FA"/>
          </a:solidFill>
          <a:ln w="19050">
            <a:solidFill>
              <a:srgbClr val="028090"/>
            </a:solidFill>
          </a:ln>
          <a:effectLst/>
        </p:spPr>
        <p:txBody>
          <a:bodyPr rtlCol="0" anchor="ctr"/>
          <a:lstStyle/>
          <a:p>
            <a:pPr algn="ctr"/>
          </a:p>
        </p:txBody>
      </p:sp>
      <p:sp>
        <p:nvSpPr>
          <p:cNvPr id="29" name="TextBox 28"/>
          <p:cNvSpPr txBox="1"/>
          <p:nvPr/>
        </p:nvSpPr>
        <p:spPr>
          <a:xfrm>
            <a:off x="6323076" y="3319272"/>
            <a:ext cx="2388870" cy="256032"/>
          </a:xfrm>
          <a:prstGeom prst="rect">
            <a:avLst/>
          </a:prstGeom>
          <a:noFill/>
        </p:spPr>
        <p:txBody>
          <a:bodyPr wrap="square" lIns="0" rIns="0" tIns="0" bIns="0" anchor="t">
            <a:spAutoFit/>
          </a:bodyPr>
          <a:lstStyle/>
          <a:p>
            <a:pPr algn="l">
              <a:lnSpc>
                <a:spcPct val="115000"/>
              </a:lnSpc>
            </a:pPr>
            <a:r>
              <a:rPr sz="1100" b="1" i="0">
                <a:solidFill>
                  <a:srgbClr val="065A82"/>
                </a:solidFill>
                <a:latin typeface="Arial"/>
              </a:rPr>
              <a:t>Supplier C</a:t>
            </a:r>
          </a:p>
        </p:txBody>
      </p:sp>
      <p:sp>
        <p:nvSpPr>
          <p:cNvPr id="30" name="Rectangle 29"/>
          <p:cNvSpPr/>
          <p:nvPr/>
        </p:nvSpPr>
        <p:spPr>
          <a:xfrm>
            <a:off x="6323076" y="3630168"/>
            <a:ext cx="768857" cy="274320"/>
          </a:xfrm>
          <a:prstGeom prst="rect">
            <a:avLst/>
          </a:prstGeom>
          <a:solidFill>
            <a:srgbClr val="028090"/>
          </a:solidFill>
          <a:ln>
            <a:noFill/>
          </a:ln>
          <a:effectLst/>
        </p:spPr>
        <p:txBody>
          <a:bodyPr rtlCol="0" anchor="ctr"/>
          <a:lstStyle/>
          <a:p>
            <a:pPr algn="ctr"/>
          </a:p>
        </p:txBody>
      </p:sp>
      <p:sp>
        <p:nvSpPr>
          <p:cNvPr id="31" name="TextBox 30"/>
          <p:cNvSpPr txBox="1"/>
          <p:nvPr/>
        </p:nvSpPr>
        <p:spPr>
          <a:xfrm>
            <a:off x="6323076" y="3630168"/>
            <a:ext cx="768857" cy="274320"/>
          </a:xfrm>
          <a:prstGeom prst="rect">
            <a:avLst/>
          </a:prstGeom>
          <a:noFill/>
        </p:spPr>
        <p:txBody>
          <a:bodyPr wrap="square" lIns="0" rIns="0" tIns="0" bIns="0" anchor="ctr">
            <a:spAutoFit/>
          </a:bodyPr>
          <a:lstStyle/>
          <a:p>
            <a:pPr algn="ctr">
              <a:lnSpc>
                <a:spcPct val="95000"/>
              </a:lnSpc>
            </a:pPr>
            <a:r>
              <a:rPr sz="800" b="1" i="0">
                <a:solidFill>
                  <a:srgbClr val="FFFFFF"/>
                </a:solidFill>
                <a:latin typeface="Arial"/>
              </a:rPr>
              <a:t>Period</a:t>
            </a:r>
          </a:p>
        </p:txBody>
      </p:sp>
      <p:sp>
        <p:nvSpPr>
          <p:cNvPr id="32" name="Rectangle 31"/>
          <p:cNvSpPr/>
          <p:nvPr/>
        </p:nvSpPr>
        <p:spPr>
          <a:xfrm>
            <a:off x="7119366" y="3630168"/>
            <a:ext cx="768857" cy="274320"/>
          </a:xfrm>
          <a:prstGeom prst="rect">
            <a:avLst/>
          </a:prstGeom>
          <a:solidFill>
            <a:srgbClr val="028090"/>
          </a:solidFill>
          <a:ln>
            <a:noFill/>
          </a:ln>
          <a:effectLst/>
        </p:spPr>
        <p:txBody>
          <a:bodyPr rtlCol="0" anchor="ctr"/>
          <a:lstStyle/>
          <a:p>
            <a:pPr algn="ctr"/>
          </a:p>
        </p:txBody>
      </p:sp>
      <p:sp>
        <p:nvSpPr>
          <p:cNvPr id="33" name="TextBox 32"/>
          <p:cNvSpPr txBox="1"/>
          <p:nvPr/>
        </p:nvSpPr>
        <p:spPr>
          <a:xfrm>
            <a:off x="7119366" y="3630168"/>
            <a:ext cx="768857" cy="274320"/>
          </a:xfrm>
          <a:prstGeom prst="rect">
            <a:avLst/>
          </a:prstGeom>
          <a:noFill/>
        </p:spPr>
        <p:txBody>
          <a:bodyPr wrap="square" lIns="0" rIns="0" tIns="0" bIns="0" anchor="ctr">
            <a:spAutoFit/>
          </a:bodyPr>
          <a:lstStyle/>
          <a:p>
            <a:pPr algn="ctr">
              <a:lnSpc>
                <a:spcPct val="95000"/>
              </a:lnSpc>
            </a:pPr>
            <a:r>
              <a:rPr sz="800" b="1" i="0">
                <a:solidFill>
                  <a:srgbClr val="FFFFFF"/>
                </a:solidFill>
                <a:latin typeface="Arial"/>
              </a:rPr>
              <a:t>Order</a:t>
            </a:r>
          </a:p>
        </p:txBody>
      </p:sp>
      <p:sp>
        <p:nvSpPr>
          <p:cNvPr id="34" name="Rectangle 33"/>
          <p:cNvSpPr/>
          <p:nvPr/>
        </p:nvSpPr>
        <p:spPr>
          <a:xfrm>
            <a:off x="7915656" y="3630168"/>
            <a:ext cx="768857" cy="274320"/>
          </a:xfrm>
          <a:prstGeom prst="rect">
            <a:avLst/>
          </a:prstGeom>
          <a:solidFill>
            <a:srgbClr val="028090"/>
          </a:solidFill>
          <a:ln>
            <a:noFill/>
          </a:ln>
          <a:effectLst/>
        </p:spPr>
        <p:txBody>
          <a:bodyPr rtlCol="0" anchor="ctr"/>
          <a:lstStyle/>
          <a:p>
            <a:pPr algn="ctr"/>
          </a:p>
        </p:txBody>
      </p:sp>
      <p:sp>
        <p:nvSpPr>
          <p:cNvPr id="35" name="TextBox 34"/>
          <p:cNvSpPr txBox="1"/>
          <p:nvPr/>
        </p:nvSpPr>
        <p:spPr>
          <a:xfrm>
            <a:off x="7915656" y="3630168"/>
            <a:ext cx="768857" cy="274320"/>
          </a:xfrm>
          <a:prstGeom prst="rect">
            <a:avLst/>
          </a:prstGeom>
          <a:noFill/>
        </p:spPr>
        <p:txBody>
          <a:bodyPr wrap="square" lIns="0" rIns="0" tIns="0" bIns="0" anchor="ctr">
            <a:spAutoFit/>
          </a:bodyPr>
          <a:lstStyle/>
          <a:p>
            <a:pPr algn="ctr">
              <a:lnSpc>
                <a:spcPct val="95000"/>
              </a:lnSpc>
            </a:pPr>
            <a:r>
              <a:rPr sz="800" b="1" i="0">
                <a:solidFill>
                  <a:srgbClr val="FFFFFF"/>
                </a:solidFill>
                <a:latin typeface="Arial"/>
              </a:rPr>
              <a:t>Total, ₽</a:t>
            </a:r>
          </a:p>
        </p:txBody>
      </p:sp>
      <p:sp>
        <p:nvSpPr>
          <p:cNvPr id="36" name="Rectangle 35"/>
          <p:cNvSpPr/>
          <p:nvPr/>
        </p:nvSpPr>
        <p:spPr>
          <a:xfrm>
            <a:off x="6323076" y="3931920"/>
            <a:ext cx="768857" cy="274320"/>
          </a:xfrm>
          <a:prstGeom prst="rect">
            <a:avLst/>
          </a:prstGeom>
          <a:solidFill>
            <a:srgbClr val="F4F7FA"/>
          </a:solidFill>
          <a:ln w="8890">
            <a:solidFill>
              <a:srgbClr val="E5EAF0"/>
            </a:solidFill>
          </a:ln>
          <a:effectLst/>
        </p:spPr>
        <p:txBody>
          <a:bodyPr rtlCol="0" anchor="ctr"/>
          <a:lstStyle/>
          <a:p>
            <a:pPr algn="ctr"/>
          </a:p>
        </p:txBody>
      </p:sp>
      <p:sp>
        <p:nvSpPr>
          <p:cNvPr id="37" name="Rectangle 36"/>
          <p:cNvSpPr/>
          <p:nvPr/>
        </p:nvSpPr>
        <p:spPr>
          <a:xfrm>
            <a:off x="7119366" y="3931920"/>
            <a:ext cx="768857" cy="274320"/>
          </a:xfrm>
          <a:prstGeom prst="rect">
            <a:avLst/>
          </a:prstGeom>
          <a:solidFill>
            <a:srgbClr val="F4F7FA"/>
          </a:solidFill>
          <a:ln w="8890">
            <a:solidFill>
              <a:srgbClr val="E5EAF0"/>
            </a:solidFill>
          </a:ln>
          <a:effectLst/>
        </p:spPr>
        <p:txBody>
          <a:bodyPr rtlCol="0" anchor="ctr"/>
          <a:lstStyle/>
          <a:p>
            <a:pPr algn="ctr"/>
          </a:p>
        </p:txBody>
      </p:sp>
      <p:sp>
        <p:nvSpPr>
          <p:cNvPr id="38" name="Rectangle 37"/>
          <p:cNvSpPr/>
          <p:nvPr/>
        </p:nvSpPr>
        <p:spPr>
          <a:xfrm>
            <a:off x="7915656" y="3931920"/>
            <a:ext cx="768857" cy="274320"/>
          </a:xfrm>
          <a:prstGeom prst="rect">
            <a:avLst/>
          </a:prstGeom>
          <a:solidFill>
            <a:srgbClr val="F4F7FA"/>
          </a:solidFill>
          <a:ln w="8890">
            <a:solidFill>
              <a:srgbClr val="E5EAF0"/>
            </a:solidFill>
          </a:ln>
          <a:effectLst/>
        </p:spPr>
        <p:txBody>
          <a:bodyPr rtlCol="0" anchor="ctr"/>
          <a:lstStyle/>
          <a:p>
            <a:pPr algn="ctr"/>
          </a:p>
        </p:txBody>
      </p:sp>
      <p:sp>
        <p:nvSpPr>
          <p:cNvPr id="39" name="Rounded Rectangle 38"/>
          <p:cNvSpPr/>
          <p:nvPr/>
        </p:nvSpPr>
        <p:spPr>
          <a:xfrm>
            <a:off x="9041130" y="3227832"/>
            <a:ext cx="2644902" cy="1600200"/>
          </a:xfrm>
          <a:prstGeom prst="roundRect">
            <a:avLst>
              <a:gd name="adj" fmla="val 19047"/>
            </a:avLst>
          </a:prstGeom>
          <a:solidFill>
            <a:srgbClr val="F4F7FA"/>
          </a:solidFill>
          <a:ln w="19050">
            <a:solidFill>
              <a:srgbClr val="028090"/>
            </a:solidFill>
          </a:ln>
          <a:effectLst/>
        </p:spPr>
        <p:txBody>
          <a:bodyPr rtlCol="0" anchor="ctr"/>
          <a:lstStyle/>
          <a:p>
            <a:pPr algn="ctr"/>
          </a:p>
        </p:txBody>
      </p:sp>
      <p:sp>
        <p:nvSpPr>
          <p:cNvPr id="40" name="TextBox 39"/>
          <p:cNvSpPr txBox="1"/>
          <p:nvPr/>
        </p:nvSpPr>
        <p:spPr>
          <a:xfrm>
            <a:off x="9169146" y="3319272"/>
            <a:ext cx="2388870" cy="256032"/>
          </a:xfrm>
          <a:prstGeom prst="rect">
            <a:avLst/>
          </a:prstGeom>
          <a:noFill/>
        </p:spPr>
        <p:txBody>
          <a:bodyPr wrap="square" lIns="0" rIns="0" tIns="0" bIns="0" anchor="t">
            <a:spAutoFit/>
          </a:bodyPr>
          <a:lstStyle/>
          <a:p>
            <a:pPr algn="l">
              <a:lnSpc>
                <a:spcPct val="115000"/>
              </a:lnSpc>
            </a:pPr>
            <a:r>
              <a:rPr sz="1100" b="1" i="0">
                <a:solidFill>
                  <a:srgbClr val="065A82"/>
                </a:solidFill>
                <a:latin typeface="Arial"/>
              </a:rPr>
              <a:t>Supplier D</a:t>
            </a:r>
          </a:p>
        </p:txBody>
      </p:sp>
      <p:sp>
        <p:nvSpPr>
          <p:cNvPr id="41" name="Rectangle 40"/>
          <p:cNvSpPr/>
          <p:nvPr/>
        </p:nvSpPr>
        <p:spPr>
          <a:xfrm>
            <a:off x="9169146" y="3630168"/>
            <a:ext cx="768857" cy="274320"/>
          </a:xfrm>
          <a:prstGeom prst="rect">
            <a:avLst/>
          </a:prstGeom>
          <a:solidFill>
            <a:srgbClr val="028090"/>
          </a:solidFill>
          <a:ln>
            <a:noFill/>
          </a:ln>
          <a:effectLst/>
        </p:spPr>
        <p:txBody>
          <a:bodyPr rtlCol="0" anchor="ctr"/>
          <a:lstStyle/>
          <a:p>
            <a:pPr algn="ctr"/>
          </a:p>
        </p:txBody>
      </p:sp>
      <p:sp>
        <p:nvSpPr>
          <p:cNvPr id="42" name="TextBox 41"/>
          <p:cNvSpPr txBox="1"/>
          <p:nvPr/>
        </p:nvSpPr>
        <p:spPr>
          <a:xfrm>
            <a:off x="9169146" y="3630168"/>
            <a:ext cx="768857" cy="274320"/>
          </a:xfrm>
          <a:prstGeom prst="rect">
            <a:avLst/>
          </a:prstGeom>
          <a:noFill/>
        </p:spPr>
        <p:txBody>
          <a:bodyPr wrap="square" lIns="0" rIns="0" tIns="0" bIns="0" anchor="ctr">
            <a:spAutoFit/>
          </a:bodyPr>
          <a:lstStyle/>
          <a:p>
            <a:pPr algn="ctr">
              <a:lnSpc>
                <a:spcPct val="95000"/>
              </a:lnSpc>
            </a:pPr>
            <a:r>
              <a:rPr sz="800" b="1" i="0">
                <a:solidFill>
                  <a:srgbClr val="FFFFFF"/>
                </a:solidFill>
                <a:latin typeface="Arial"/>
              </a:rPr>
              <a:t>No.</a:t>
            </a:r>
          </a:p>
        </p:txBody>
      </p:sp>
      <p:sp>
        <p:nvSpPr>
          <p:cNvPr id="43" name="Rectangle 42"/>
          <p:cNvSpPr/>
          <p:nvPr/>
        </p:nvSpPr>
        <p:spPr>
          <a:xfrm>
            <a:off x="9965436" y="3630168"/>
            <a:ext cx="768857" cy="274320"/>
          </a:xfrm>
          <a:prstGeom prst="rect">
            <a:avLst/>
          </a:prstGeom>
          <a:solidFill>
            <a:srgbClr val="028090"/>
          </a:solidFill>
          <a:ln>
            <a:noFill/>
          </a:ln>
          <a:effectLst/>
        </p:spPr>
        <p:txBody>
          <a:bodyPr rtlCol="0" anchor="ctr"/>
          <a:lstStyle/>
          <a:p>
            <a:pPr algn="ctr"/>
          </a:p>
        </p:txBody>
      </p:sp>
      <p:sp>
        <p:nvSpPr>
          <p:cNvPr id="44" name="TextBox 43"/>
          <p:cNvSpPr txBox="1"/>
          <p:nvPr/>
        </p:nvSpPr>
        <p:spPr>
          <a:xfrm>
            <a:off x="9965436" y="3630168"/>
            <a:ext cx="768857" cy="274320"/>
          </a:xfrm>
          <a:prstGeom prst="rect">
            <a:avLst/>
          </a:prstGeom>
          <a:noFill/>
        </p:spPr>
        <p:txBody>
          <a:bodyPr wrap="square" lIns="0" rIns="0" tIns="0" bIns="0" anchor="ctr">
            <a:spAutoFit/>
          </a:bodyPr>
          <a:lstStyle/>
          <a:p>
            <a:pPr algn="ctr">
              <a:lnSpc>
                <a:spcPct val="95000"/>
              </a:lnSpc>
            </a:pPr>
            <a:r>
              <a:rPr sz="800" b="1" i="0">
                <a:solidFill>
                  <a:srgbClr val="FFFFFF"/>
                </a:solidFill>
                <a:latin typeface="Arial"/>
              </a:rPr>
              <a:t>from</a:t>
            </a:r>
          </a:p>
        </p:txBody>
      </p:sp>
      <p:sp>
        <p:nvSpPr>
          <p:cNvPr id="45" name="Rectangle 44"/>
          <p:cNvSpPr/>
          <p:nvPr/>
        </p:nvSpPr>
        <p:spPr>
          <a:xfrm>
            <a:off x="10761726" y="3630168"/>
            <a:ext cx="768857" cy="274320"/>
          </a:xfrm>
          <a:prstGeom prst="rect">
            <a:avLst/>
          </a:prstGeom>
          <a:solidFill>
            <a:srgbClr val="028090"/>
          </a:solidFill>
          <a:ln>
            <a:noFill/>
          </a:ln>
          <a:effectLst/>
        </p:spPr>
        <p:txBody>
          <a:bodyPr rtlCol="0" anchor="ctr"/>
          <a:lstStyle/>
          <a:p>
            <a:pPr algn="ctr"/>
          </a:p>
        </p:txBody>
      </p:sp>
      <p:sp>
        <p:nvSpPr>
          <p:cNvPr id="46" name="TextBox 45"/>
          <p:cNvSpPr txBox="1"/>
          <p:nvPr/>
        </p:nvSpPr>
        <p:spPr>
          <a:xfrm>
            <a:off x="10761726" y="3630168"/>
            <a:ext cx="768857" cy="274320"/>
          </a:xfrm>
          <a:prstGeom prst="rect">
            <a:avLst/>
          </a:prstGeom>
          <a:noFill/>
        </p:spPr>
        <p:txBody>
          <a:bodyPr wrap="square" lIns="0" rIns="0" tIns="0" bIns="0" anchor="ctr">
            <a:spAutoFit/>
          </a:bodyPr>
          <a:lstStyle/>
          <a:p>
            <a:pPr algn="ctr">
              <a:lnSpc>
                <a:spcPct val="95000"/>
              </a:lnSpc>
            </a:pPr>
            <a:r>
              <a:rPr sz="800" b="1" i="0">
                <a:solidFill>
                  <a:srgbClr val="FFFFFF"/>
                </a:solidFill>
                <a:latin typeface="Arial"/>
              </a:rPr>
              <a:t>total</a:t>
            </a:r>
          </a:p>
        </p:txBody>
      </p:sp>
      <p:sp>
        <p:nvSpPr>
          <p:cNvPr id="47" name="Rectangle 46"/>
          <p:cNvSpPr/>
          <p:nvPr/>
        </p:nvSpPr>
        <p:spPr>
          <a:xfrm>
            <a:off x="9169146" y="3931920"/>
            <a:ext cx="768857" cy="274320"/>
          </a:xfrm>
          <a:prstGeom prst="rect">
            <a:avLst/>
          </a:prstGeom>
          <a:solidFill>
            <a:srgbClr val="F4F7FA"/>
          </a:solidFill>
          <a:ln w="8890">
            <a:solidFill>
              <a:srgbClr val="E5EAF0"/>
            </a:solidFill>
          </a:ln>
          <a:effectLst/>
        </p:spPr>
        <p:txBody>
          <a:bodyPr rtlCol="0" anchor="ctr"/>
          <a:lstStyle/>
          <a:p>
            <a:pPr algn="ctr"/>
          </a:p>
        </p:txBody>
      </p:sp>
      <p:sp>
        <p:nvSpPr>
          <p:cNvPr id="48" name="Rectangle 47"/>
          <p:cNvSpPr/>
          <p:nvPr/>
        </p:nvSpPr>
        <p:spPr>
          <a:xfrm>
            <a:off x="9965436" y="3931920"/>
            <a:ext cx="768857" cy="274320"/>
          </a:xfrm>
          <a:prstGeom prst="rect">
            <a:avLst/>
          </a:prstGeom>
          <a:solidFill>
            <a:srgbClr val="F4F7FA"/>
          </a:solidFill>
          <a:ln w="8890">
            <a:solidFill>
              <a:srgbClr val="E5EAF0"/>
            </a:solidFill>
          </a:ln>
          <a:effectLst/>
        </p:spPr>
        <p:txBody>
          <a:bodyPr rtlCol="0" anchor="ctr"/>
          <a:lstStyle/>
          <a:p>
            <a:pPr algn="ctr"/>
          </a:p>
        </p:txBody>
      </p:sp>
      <p:sp>
        <p:nvSpPr>
          <p:cNvPr id="49" name="Rectangle 48"/>
          <p:cNvSpPr/>
          <p:nvPr/>
        </p:nvSpPr>
        <p:spPr>
          <a:xfrm>
            <a:off x="10761726" y="3931920"/>
            <a:ext cx="768857" cy="274320"/>
          </a:xfrm>
          <a:prstGeom prst="rect">
            <a:avLst/>
          </a:prstGeom>
          <a:solidFill>
            <a:srgbClr val="F4F7FA"/>
          </a:solidFill>
          <a:ln w="8890">
            <a:solidFill>
              <a:srgbClr val="E5EAF0"/>
            </a:solidFill>
          </a:ln>
          <a:effectLst/>
        </p:spPr>
        <p:txBody>
          <a:bodyPr rtlCol="0" anchor="ctr"/>
          <a:lstStyle/>
          <a:p>
            <a:pPr algn="ctr"/>
          </a:p>
        </p:txBody>
      </p:sp>
      <p:sp>
        <p:nvSpPr>
          <p:cNvPr id="50" name="Rounded Rectangle 49"/>
          <p:cNvSpPr/>
          <p:nvPr/>
        </p:nvSpPr>
        <p:spPr>
          <a:xfrm>
            <a:off x="502920" y="5029200"/>
            <a:ext cx="11183112" cy="1691639"/>
          </a:xfrm>
          <a:prstGeom prst="roundRect">
            <a:avLst>
              <a:gd name="adj" fmla="val 18018"/>
            </a:avLst>
          </a:prstGeom>
          <a:solidFill>
            <a:srgbClr val="FEF5E0"/>
          </a:solidFill>
          <a:ln w="17780">
            <a:solidFill>
              <a:srgbClr val="F0AB00"/>
            </a:solidFill>
          </a:ln>
          <a:effectLst/>
        </p:spPr>
        <p:txBody>
          <a:bodyPr rtlCol="0" anchor="ctr"/>
          <a:lstStyle/>
          <a:p>
            <a:pPr algn="ctr"/>
          </a:p>
        </p:txBody>
      </p:sp>
      <p:sp>
        <p:nvSpPr>
          <p:cNvPr id="51" name="TextBox 50"/>
          <p:cNvSpPr txBox="1"/>
          <p:nvPr/>
        </p:nvSpPr>
        <p:spPr>
          <a:xfrm>
            <a:off x="777240" y="5029200"/>
            <a:ext cx="10607040" cy="1691639"/>
          </a:xfrm>
          <a:prstGeom prst="rect">
            <a:avLst/>
          </a:prstGeom>
          <a:noFill/>
        </p:spPr>
        <p:txBody>
          <a:bodyPr wrap="square" lIns="0" rIns="0" tIns="0" bIns="0" anchor="ctr">
            <a:spAutoFit/>
          </a:bodyPr>
          <a:lstStyle/>
          <a:p>
            <a:pPr algn="l">
              <a:lnSpc>
                <a:spcPct val="115000"/>
              </a:lnSpc>
            </a:pPr>
            <a:r>
              <a:rPr sz="2000" b="1" i="0">
                <a:solidFill>
                  <a:srgbClr val="21295C"/>
                </a:solidFill>
                <a:latin typeface="Arial"/>
              </a:rPr>
              <a:t>Does this change your answer?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3112" cy="502920"/>
          </a:xfrm>
          <a:prstGeom prst="rect">
            <a:avLst/>
          </a:prstGeom>
          <a:noFill/>
        </p:spPr>
        <p:txBody>
          <a:bodyPr wrap="square" lIns="0" rIns="0" tIns="0" bIns="0" anchor="t">
            <a:spAutoFit/>
          </a:bodyPr>
          <a:lstStyle/>
          <a:p>
            <a:pPr algn="l">
              <a:lnSpc>
                <a:spcPct val="115000"/>
              </a:lnSpc>
            </a:pPr>
            <a:r>
              <a:rPr sz="2500" b="1" i="0">
                <a:solidFill>
                  <a:srgbClr val="21295C"/>
                </a:solidFill>
                <a:latin typeface="Arial"/>
              </a:rPr>
              <a:t>Supplier documents — debrief</a:t>
            </a:r>
          </a:p>
        </p:txBody>
      </p:sp>
      <p:sp>
        <p:nvSpPr>
          <p:cNvPr id="3" name="Rounded Rectangle 2"/>
          <p:cNvSpPr/>
          <p:nvPr/>
        </p:nvSpPr>
        <p:spPr>
          <a:xfrm>
            <a:off x="502920" y="960120"/>
            <a:ext cx="7936992" cy="2651760"/>
          </a:xfrm>
          <a:prstGeom prst="roundRect">
            <a:avLst>
              <a:gd name="adj" fmla="val 11494"/>
            </a:avLst>
          </a:prstGeom>
          <a:solidFill>
            <a:srgbClr val="F4F7FA"/>
          </a:solidFill>
          <a:ln w="20320">
            <a:solidFill>
              <a:srgbClr val="065A82"/>
            </a:solidFill>
          </a:ln>
          <a:effectLst/>
        </p:spPr>
        <p:txBody>
          <a:bodyPr rtlCol="0" anchor="ctr"/>
          <a:lstStyle/>
          <a:p>
            <a:pPr algn="ctr"/>
          </a:p>
        </p:txBody>
      </p:sp>
      <p:pic>
        <p:nvPicPr>
          <p:cNvPr id="4" name="Picture 3" descr="workflow-065A82-96.png"/>
          <p:cNvPicPr>
            <a:picLocks noChangeAspect="1"/>
          </p:cNvPicPr>
          <p:nvPr/>
        </p:nvPicPr>
        <p:blipFill>
          <a:blip r:embed="rId2"/>
          <a:stretch>
            <a:fillRect/>
          </a:stretch>
        </p:blipFill>
        <p:spPr>
          <a:xfrm>
            <a:off x="777240" y="1188720"/>
            <a:ext cx="502920" cy="502920"/>
          </a:xfrm>
          <a:prstGeom prst="rect">
            <a:avLst/>
          </a:prstGeom>
        </p:spPr>
      </p:pic>
      <p:sp>
        <p:nvSpPr>
          <p:cNvPr id="5" name="TextBox 4"/>
          <p:cNvSpPr txBox="1"/>
          <p:nvPr/>
        </p:nvSpPr>
        <p:spPr>
          <a:xfrm>
            <a:off x="1508760" y="1161288"/>
            <a:ext cx="6839712" cy="2249424"/>
          </a:xfrm>
          <a:prstGeom prst="rect">
            <a:avLst/>
          </a:prstGeom>
          <a:noFill/>
        </p:spPr>
        <p:txBody>
          <a:bodyPr wrap="square" lIns="0" rIns="0" tIns="0" bIns="0" anchor="t">
            <a:spAutoFit/>
          </a:bodyPr>
          <a:lstStyle/>
          <a:p>
            <a:pPr algn="l">
              <a:lnSpc>
                <a:spcPct val="125000"/>
              </a:lnSpc>
              <a:spcAft>
                <a:spcPts val="1000"/>
              </a:spcAft>
            </a:pPr>
            <a:r>
              <a:rPr sz="1650" b="1" i="0">
                <a:solidFill>
                  <a:srgbClr val="21295C"/>
                </a:solidFill>
                <a:latin typeface="Arial"/>
              </a:rPr>
              <a:t>Hybrid: LLM extraction over a variable input + hard code validation on the way out</a:t>
            </a:r>
          </a:p>
          <a:p>
            <a:pPr algn="l">
              <a:lnSpc>
                <a:spcPct val="132000"/>
              </a:lnSpc>
              <a:spcAft>
                <a:spcPts val="1000"/>
              </a:spcAft>
            </a:pPr>
            <a:r>
              <a:rPr sz="1300" b="0" i="0">
                <a:solidFill>
                  <a:srgbClr val="6B7685"/>
                </a:solidFill>
                <a:latin typeface="Arial"/>
              </a:rPr>
              <a:t>Document (any format) → LLM extracts fields → code checks types/required values/ranges → data into 1C</a:t>
            </a:r>
          </a:p>
          <a:p>
            <a:pPr algn="l">
              <a:lnSpc>
                <a:spcPct val="128000"/>
              </a:lnSpc>
              <a:spcAft>
                <a:spcPts val="0"/>
              </a:spcAft>
            </a:pPr>
            <a:r>
              <a:rPr sz="1200" b="0" i="1">
                <a:solidFill>
                  <a:srgbClr val="6B7685"/>
                </a:solidFill>
                <a:latin typeface="Arial"/>
              </a:rPr>
              <a:t>The sensible answer here is a hybrid, not a choice between the two approaches</a:t>
            </a:r>
          </a:p>
        </p:txBody>
      </p:sp>
      <p:sp>
        <p:nvSpPr>
          <p:cNvPr id="6" name="Rounded Rectangle 5"/>
          <p:cNvSpPr/>
          <p:nvPr/>
        </p:nvSpPr>
        <p:spPr>
          <a:xfrm>
            <a:off x="8668512" y="960120"/>
            <a:ext cx="3017520" cy="2651760"/>
          </a:xfrm>
          <a:prstGeom prst="roundRect">
            <a:avLst>
              <a:gd name="adj" fmla="val 11494"/>
            </a:avLst>
          </a:prstGeom>
          <a:solidFill>
            <a:srgbClr val="F4F7FA"/>
          </a:solidFill>
          <a:ln w="19050">
            <a:solidFill>
              <a:srgbClr val="028090"/>
            </a:solidFill>
          </a:ln>
          <a:effectLst/>
        </p:spPr>
        <p:txBody>
          <a:bodyPr rtlCol="0" anchor="ctr"/>
          <a:lstStyle/>
          <a:p>
            <a:pPr algn="ctr"/>
          </a:p>
        </p:txBody>
      </p:sp>
      <p:pic>
        <p:nvPicPr>
          <p:cNvPr id="7" name="Picture 6" descr="search-065A82-96.png"/>
          <p:cNvPicPr>
            <a:picLocks noChangeAspect="1"/>
          </p:cNvPicPr>
          <p:nvPr/>
        </p:nvPicPr>
        <p:blipFill>
          <a:blip r:embed="rId3"/>
          <a:stretch>
            <a:fillRect/>
          </a:stretch>
        </p:blipFill>
        <p:spPr>
          <a:xfrm>
            <a:off x="9537192" y="1417320"/>
            <a:ext cx="1280160" cy="1280160"/>
          </a:xfrm>
          <a:prstGeom prst="rect">
            <a:avLst/>
          </a:prstGeom>
        </p:spPr>
      </p:pic>
      <p:sp>
        <p:nvSpPr>
          <p:cNvPr id="8" name="TextBox 7"/>
          <p:cNvSpPr txBox="1"/>
          <p:nvPr/>
        </p:nvSpPr>
        <p:spPr>
          <a:xfrm>
            <a:off x="8851392" y="2926080"/>
            <a:ext cx="2651760" cy="548640"/>
          </a:xfrm>
          <a:prstGeom prst="rect">
            <a:avLst/>
          </a:prstGeom>
          <a:noFill/>
        </p:spPr>
        <p:txBody>
          <a:bodyPr wrap="square" lIns="0" rIns="0" tIns="0" bIns="0" anchor="t">
            <a:spAutoFit/>
          </a:bodyPr>
          <a:lstStyle/>
          <a:p>
            <a:pPr algn="ctr">
              <a:lnSpc>
                <a:spcPct val="125000"/>
              </a:lnSpc>
            </a:pPr>
            <a:r>
              <a:rPr sz="1150" b="0" i="1">
                <a:solidFill>
                  <a:srgbClr val="6B7685"/>
                </a:solidFill>
                <a:latin typeface="Arial"/>
              </a:rPr>
              <a:t>study the data, don't take their word for it</a:t>
            </a:r>
          </a:p>
        </p:txBody>
      </p:sp>
      <p:sp>
        <p:nvSpPr>
          <p:cNvPr id="9" name="Rounded Rectangle 8"/>
          <p:cNvSpPr/>
          <p:nvPr/>
        </p:nvSpPr>
        <p:spPr>
          <a:xfrm>
            <a:off x="502920" y="3886200"/>
            <a:ext cx="11183112" cy="1188720"/>
          </a:xfrm>
          <a:prstGeom prst="roundRect">
            <a:avLst>
              <a:gd name="adj" fmla="val 25000"/>
            </a:avLst>
          </a:prstGeom>
          <a:solidFill>
            <a:srgbClr val="FEF5E0"/>
          </a:solidFill>
          <a:ln w="17780">
            <a:solidFill>
              <a:srgbClr val="F0AB00"/>
            </a:solidFill>
          </a:ln>
          <a:effectLst/>
        </p:spPr>
        <p:txBody>
          <a:bodyPr rtlCol="0" anchor="ctr"/>
          <a:lstStyle/>
          <a:p>
            <a:pPr algn="ctr"/>
          </a:p>
        </p:txBody>
      </p:sp>
      <p:sp>
        <p:nvSpPr>
          <p:cNvPr id="10" name="TextBox 9"/>
          <p:cNvSpPr txBox="1"/>
          <p:nvPr/>
        </p:nvSpPr>
        <p:spPr>
          <a:xfrm>
            <a:off x="777240" y="3886200"/>
            <a:ext cx="10607040" cy="1188720"/>
          </a:xfrm>
          <a:prstGeom prst="rect">
            <a:avLst/>
          </a:prstGeom>
          <a:noFill/>
        </p:spPr>
        <p:txBody>
          <a:bodyPr wrap="square" lIns="0" rIns="0" tIns="0" bIns="0" anchor="ctr">
            <a:spAutoFit/>
          </a:bodyPr>
          <a:lstStyle/>
          <a:p>
            <a:pPr algn="l">
              <a:lnSpc>
                <a:spcPct val="125000"/>
              </a:lnSpc>
            </a:pPr>
            <a:r>
              <a:rPr sz="1900" b="1" i="0">
                <a:solidFill>
                  <a:srgbClr val="21295C"/>
                </a:solidFill>
                <a:latin typeface="Arial"/>
              </a:rPr>
              <a:t>Two examples aren't a sample. Ask for a picture of the full data volume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1183112" cy="4114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Personal data in the logs</a:t>
            </a:r>
          </a:p>
        </p:txBody>
      </p:sp>
      <p:sp>
        <p:nvSpPr>
          <p:cNvPr id="3" name="Rounded Rectangle 2"/>
          <p:cNvSpPr/>
          <p:nvPr/>
        </p:nvSpPr>
        <p:spPr>
          <a:xfrm>
            <a:off x="502920" y="713232"/>
            <a:ext cx="11183112" cy="2377440"/>
          </a:xfrm>
          <a:prstGeom prst="roundRect">
            <a:avLst>
              <a:gd name="adj" fmla="val 12820"/>
            </a:avLst>
          </a:prstGeom>
          <a:solidFill>
            <a:srgbClr val="F4F7FA"/>
          </a:solidFill>
          <a:ln w="19050">
            <a:solidFill>
              <a:srgbClr val="1C7293"/>
            </a:solidFill>
          </a:ln>
          <a:effectLst/>
        </p:spPr>
        <p:txBody>
          <a:bodyPr rtlCol="0" anchor="ctr"/>
          <a:lstStyle/>
          <a:p>
            <a:pPr algn="ctr"/>
          </a:p>
        </p:txBody>
      </p:sp>
      <p:pic>
        <p:nvPicPr>
          <p:cNvPr id="4" name="Picture 3" descr="quote-1C7293-64.png"/>
          <p:cNvPicPr>
            <a:picLocks noChangeAspect="1"/>
          </p:cNvPicPr>
          <p:nvPr/>
        </p:nvPicPr>
        <p:blipFill>
          <a:blip r:embed="rId2"/>
          <a:stretch>
            <a:fillRect/>
          </a:stretch>
        </p:blipFill>
        <p:spPr>
          <a:xfrm>
            <a:off x="722376" y="886968"/>
            <a:ext cx="292608" cy="292608"/>
          </a:xfrm>
          <a:prstGeom prst="rect">
            <a:avLst/>
          </a:prstGeom>
        </p:spPr>
      </p:pic>
      <p:sp>
        <p:nvSpPr>
          <p:cNvPr id="5" name="TextBox 4"/>
          <p:cNvSpPr txBox="1"/>
          <p:nvPr/>
        </p:nvSpPr>
        <p:spPr>
          <a:xfrm>
            <a:off x="722376" y="1225296"/>
            <a:ext cx="10744200" cy="1645920"/>
          </a:xfrm>
          <a:prstGeom prst="rect">
            <a:avLst/>
          </a:prstGeom>
          <a:noFill/>
        </p:spPr>
        <p:txBody>
          <a:bodyPr wrap="square" lIns="0" rIns="0" tIns="0" bIns="0" anchor="t">
            <a:spAutoFit/>
          </a:bodyPr>
          <a:lstStyle/>
          <a:p>
            <a:pPr algn="l">
              <a:lnSpc>
                <a:spcPct val="128000"/>
              </a:lnSpc>
            </a:pPr>
            <a:r>
              <a:rPr sz="1400" b="0" i="1">
                <a:solidFill>
                  <a:srgbClr val="21295C"/>
                </a:solidFill>
                <a:latin typeface="Arial"/>
              </a:rPr>
              <a:t>"The performance contractor is asking for a quarter's worth of prod logs — they can't find the load spikes without them. I pulled around 40 GB, the archive is already on the server. Inside, mixed in, there are phone numbers, customer emails, and one instance of the phrase 'pass this to Ivan in accounting' — it got logged from a request body. The logs are already in standard line-delimited JSON, easy to parse the structure. The contractor needs timings and error codes, not people's data. Separately, we're testing a new VPN solution for remote access, but that's not related to the logs. They want the archive by Friday."</a:t>
            </a:r>
          </a:p>
        </p:txBody>
      </p:sp>
      <p:sp>
        <p:nvSpPr>
          <p:cNvPr id="6" name="Rounded Rectangle 5"/>
          <p:cNvSpPr/>
          <p:nvPr/>
        </p:nvSpPr>
        <p:spPr>
          <a:xfrm>
            <a:off x="502920" y="3273552"/>
            <a:ext cx="11183112" cy="1051560"/>
          </a:xfrm>
          <a:prstGeom prst="roundRect">
            <a:avLst>
              <a:gd name="adj" fmla="val 25000"/>
            </a:avLst>
          </a:prstGeom>
          <a:solidFill>
            <a:srgbClr val="F4F7FA"/>
          </a:solidFill>
          <a:ln w="20320">
            <a:solidFill>
              <a:srgbClr val="028090"/>
            </a:solidFill>
          </a:ln>
          <a:effectLst/>
        </p:spPr>
        <p:txBody>
          <a:bodyPr rtlCol="0" anchor="ctr"/>
          <a:lstStyle/>
          <a:p>
            <a:pPr algn="ctr"/>
          </a:p>
        </p:txBody>
      </p:sp>
      <p:pic>
        <p:nvPicPr>
          <p:cNvPr id="7" name="Picture 6" descr="file-text-065A82-96.png"/>
          <p:cNvPicPr>
            <a:picLocks noChangeAspect="1"/>
          </p:cNvPicPr>
          <p:nvPr/>
        </p:nvPicPr>
        <p:blipFill>
          <a:blip r:embed="rId3"/>
          <a:stretch>
            <a:fillRect/>
          </a:stretch>
        </p:blipFill>
        <p:spPr>
          <a:xfrm>
            <a:off x="822960" y="3479292"/>
            <a:ext cx="640080" cy="640080"/>
          </a:xfrm>
          <a:prstGeom prst="rect">
            <a:avLst/>
          </a:prstGeom>
        </p:spPr>
      </p:pic>
      <p:sp>
        <p:nvSpPr>
          <p:cNvPr id="8" name="TextBox 7"/>
          <p:cNvSpPr txBox="1"/>
          <p:nvPr/>
        </p:nvSpPr>
        <p:spPr>
          <a:xfrm>
            <a:off x="1691640" y="3273552"/>
            <a:ext cx="9692640" cy="1051560"/>
          </a:xfrm>
          <a:prstGeom prst="rect">
            <a:avLst/>
          </a:prstGeom>
          <a:noFill/>
        </p:spPr>
        <p:txBody>
          <a:bodyPr wrap="square" lIns="0" rIns="0" tIns="0" bIns="0" anchor="ctr">
            <a:spAutoFit/>
          </a:bodyPr>
          <a:lstStyle/>
          <a:p>
            <a:pPr algn="l">
              <a:lnSpc>
                <a:spcPct val="128000"/>
              </a:lnSpc>
            </a:pPr>
            <a:r>
              <a:rPr sz="1500" b="0" i="1">
                <a:solidFill>
                  <a:srgbClr val="21295C"/>
                </a:solidFill>
                <a:latin typeface="Arial"/>
              </a:rPr>
              <a:t>The contractor needs request structure, timings, errors — not people's data</a:t>
            </a:r>
          </a:p>
        </p:txBody>
      </p:sp>
      <p:sp>
        <p:nvSpPr>
          <p:cNvPr id="9" name="Rounded Rectangle 8"/>
          <p:cNvSpPr/>
          <p:nvPr/>
        </p:nvSpPr>
        <p:spPr>
          <a:xfrm>
            <a:off x="502920" y="4526280"/>
            <a:ext cx="11183112" cy="2194559"/>
          </a:xfrm>
          <a:prstGeom prst="roundRect">
            <a:avLst>
              <a:gd name="adj" fmla="val 13888"/>
            </a:avLst>
          </a:prstGeom>
          <a:solidFill>
            <a:srgbClr val="FEF5E0"/>
          </a:solidFill>
          <a:ln w="17780">
            <a:solidFill>
              <a:srgbClr val="F0AB00"/>
            </a:solidFill>
          </a:ln>
          <a:effectLst/>
        </p:spPr>
        <p:txBody>
          <a:bodyPr rtlCol="0" anchor="ctr"/>
          <a:lstStyle/>
          <a:p>
            <a:pPr algn="ctr"/>
          </a:p>
        </p:txBody>
      </p:sp>
      <p:sp>
        <p:nvSpPr>
          <p:cNvPr id="10" name="TextBox 9"/>
          <p:cNvSpPr txBox="1"/>
          <p:nvPr/>
        </p:nvSpPr>
        <p:spPr>
          <a:xfrm>
            <a:off x="777240" y="4526280"/>
            <a:ext cx="10607040" cy="2194559"/>
          </a:xfrm>
          <a:prstGeom prst="rect">
            <a:avLst/>
          </a:prstGeom>
          <a:noFill/>
        </p:spPr>
        <p:txBody>
          <a:bodyPr wrap="square" lIns="0" rIns="0" tIns="0" bIns="0" anchor="ctr">
            <a:spAutoFit/>
          </a:bodyPr>
          <a:lstStyle/>
          <a:p>
            <a:pPr algn="l">
              <a:lnSpc>
                <a:spcPct val="115000"/>
              </a:lnSpc>
            </a:pPr>
            <a:r>
              <a:rPr sz="2000" b="1" i="0">
                <a:solidFill>
                  <a:srgbClr val="21295C"/>
                </a:solidFill>
                <a:latin typeface="Arial"/>
              </a:rPr>
              <a:t>What's the fastest, cheapest way to clean this up?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1183112" cy="91440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Personal data in the logs — debrief</a:t>
            </a:r>
          </a:p>
        </p:txBody>
      </p:sp>
      <p:sp>
        <p:nvSpPr>
          <p:cNvPr id="3" name="Rounded Rectangle 2"/>
          <p:cNvSpPr/>
          <p:nvPr/>
        </p:nvSpPr>
        <p:spPr>
          <a:xfrm>
            <a:off x="502920" y="1371600"/>
            <a:ext cx="5454396" cy="3246120"/>
          </a:xfrm>
          <a:prstGeom prst="roundRect">
            <a:avLst>
              <a:gd name="adj" fmla="val 9389"/>
            </a:avLst>
          </a:prstGeom>
          <a:solidFill>
            <a:srgbClr val="F4F7FA"/>
          </a:solidFill>
          <a:ln w="19050">
            <a:solidFill>
              <a:srgbClr val="028090"/>
            </a:solidFill>
          </a:ln>
          <a:effectLst/>
        </p:spPr>
        <p:txBody>
          <a:bodyPr rtlCol="0" anchor="ctr"/>
          <a:lstStyle/>
          <a:p>
            <a:pPr algn="ctr"/>
          </a:p>
        </p:txBody>
      </p:sp>
      <p:pic>
        <p:nvPicPr>
          <p:cNvPr id="4" name="Picture 3" descr="hash-028090-96.png"/>
          <p:cNvPicPr>
            <a:picLocks noChangeAspect="1"/>
          </p:cNvPicPr>
          <p:nvPr/>
        </p:nvPicPr>
        <p:blipFill>
          <a:blip r:embed="rId2"/>
          <a:stretch>
            <a:fillRect/>
          </a:stretch>
        </p:blipFill>
        <p:spPr>
          <a:xfrm>
            <a:off x="731520" y="1572768"/>
            <a:ext cx="502920" cy="502920"/>
          </a:xfrm>
          <a:prstGeom prst="rect">
            <a:avLst/>
          </a:prstGeom>
        </p:spPr>
      </p:pic>
      <p:sp>
        <p:nvSpPr>
          <p:cNvPr id="5" name="TextBox 4"/>
          <p:cNvSpPr txBox="1"/>
          <p:nvPr/>
        </p:nvSpPr>
        <p:spPr>
          <a:xfrm>
            <a:off x="1371600" y="1572768"/>
            <a:ext cx="4357116" cy="502920"/>
          </a:xfrm>
          <a:prstGeom prst="rect">
            <a:avLst/>
          </a:prstGeom>
          <a:noFill/>
        </p:spPr>
        <p:txBody>
          <a:bodyPr wrap="square" lIns="0" rIns="0" tIns="0" bIns="0" anchor="ctr">
            <a:spAutoFit/>
          </a:bodyPr>
          <a:lstStyle/>
          <a:p>
            <a:pPr algn="l">
              <a:lnSpc>
                <a:spcPct val="115000"/>
              </a:lnSpc>
            </a:pPr>
            <a:r>
              <a:rPr sz="1700" b="1" i="0">
                <a:solidFill>
                  <a:srgbClr val="065A82"/>
                </a:solidFill>
                <a:latin typeface="Arial"/>
              </a:rPr>
              <a:t>Regex</a:t>
            </a:r>
          </a:p>
        </p:txBody>
      </p:sp>
      <p:sp>
        <p:nvSpPr>
          <p:cNvPr id="6" name="TextBox 5"/>
          <p:cNvSpPr txBox="1"/>
          <p:nvPr/>
        </p:nvSpPr>
        <p:spPr>
          <a:xfrm>
            <a:off x="731520" y="2286000"/>
            <a:ext cx="4997196" cy="1051560"/>
          </a:xfrm>
          <a:prstGeom prst="rect">
            <a:avLst/>
          </a:prstGeom>
          <a:noFill/>
        </p:spPr>
        <p:txBody>
          <a:bodyPr wrap="square" lIns="0" rIns="0" tIns="0" bIns="0" anchor="t">
            <a:spAutoFit/>
          </a:bodyPr>
          <a:lstStyle/>
          <a:p>
            <a:pPr algn="l">
              <a:lnSpc>
                <a:spcPct val="130000"/>
              </a:lnSpc>
            </a:pPr>
            <a:r>
              <a:rPr sz="1450" b="0" i="0">
                <a:solidFill>
                  <a:srgbClr val="21295C"/>
                </a:solidFill>
                <a:latin typeface="Arial"/>
              </a:rPr>
              <a:t>Phone numbers, emails — clear format, a plain regex cleans them cheaply and reliably</a:t>
            </a:r>
          </a:p>
        </p:txBody>
      </p:sp>
      <p:sp>
        <p:nvSpPr>
          <p:cNvPr id="7" name="Rounded Rectangle 6"/>
          <p:cNvSpPr/>
          <p:nvPr/>
        </p:nvSpPr>
        <p:spPr>
          <a:xfrm>
            <a:off x="731520" y="3337560"/>
            <a:ext cx="4997196" cy="384048"/>
          </a:xfrm>
          <a:prstGeom prst="roundRect">
            <a:avLst>
              <a:gd name="adj" fmla="val 50000"/>
            </a:avLst>
          </a:prstGeom>
          <a:solidFill>
            <a:srgbClr val="F4F7FA"/>
          </a:solidFill>
          <a:ln w="15240">
            <a:solidFill>
              <a:srgbClr val="028090"/>
            </a:solidFill>
          </a:ln>
          <a:effectLst/>
        </p:spPr>
        <p:txBody>
          <a:bodyPr rtlCol="0" anchor="ctr" lIns="45720" rIns="45720" tIns="27432" bIns="27432" wrap="none"/>
          <a:lstStyle/>
          <a:p>
            <a:pPr algn="ctr"/>
            <a:r>
              <a:rPr sz="1100" b="1">
                <a:solidFill>
                  <a:srgbClr val="065A82"/>
                </a:solidFill>
                <a:latin typeface="Arial"/>
              </a:rPr>
              <a:t>Deterministic logic — no model needed</a:t>
            </a:r>
          </a:p>
        </p:txBody>
      </p:sp>
      <p:sp>
        <p:nvSpPr>
          <p:cNvPr id="8" name="TextBox 7"/>
          <p:cNvSpPr txBox="1"/>
          <p:nvPr/>
        </p:nvSpPr>
        <p:spPr>
          <a:xfrm>
            <a:off x="731520" y="3886200"/>
            <a:ext cx="4997196" cy="640080"/>
          </a:xfrm>
          <a:prstGeom prst="rect">
            <a:avLst/>
          </a:prstGeom>
          <a:noFill/>
        </p:spPr>
        <p:txBody>
          <a:bodyPr wrap="square" lIns="0" rIns="0" tIns="0" bIns="0" anchor="t">
            <a:spAutoFit/>
          </a:bodyPr>
          <a:lstStyle/>
          <a:p>
            <a:pPr algn="l">
              <a:lnSpc>
                <a:spcPct val="125000"/>
              </a:lnSpc>
            </a:pPr>
            <a:r>
              <a:rPr sz="1150" b="0" i="1">
                <a:solidFill>
                  <a:srgbClr val="6B7685"/>
                </a:solidFill>
                <a:latin typeface="Arial"/>
              </a:rPr>
              <a:t>No model is needed here and one would only slow down processing 40 GB of logs</a:t>
            </a:r>
          </a:p>
        </p:txBody>
      </p:sp>
      <p:sp>
        <p:nvSpPr>
          <p:cNvPr id="9" name="Rounded Rectangle 8"/>
          <p:cNvSpPr/>
          <p:nvPr/>
        </p:nvSpPr>
        <p:spPr>
          <a:xfrm>
            <a:off x="6231636" y="1371600"/>
            <a:ext cx="5454396" cy="3246120"/>
          </a:xfrm>
          <a:prstGeom prst="roundRect">
            <a:avLst>
              <a:gd name="adj" fmla="val 9389"/>
            </a:avLst>
          </a:prstGeom>
          <a:solidFill>
            <a:srgbClr val="F4F7FA"/>
          </a:solidFill>
          <a:ln w="19050">
            <a:solidFill>
              <a:srgbClr val="065A82"/>
            </a:solidFill>
          </a:ln>
          <a:effectLst/>
        </p:spPr>
        <p:txBody>
          <a:bodyPr rtlCol="0" anchor="ctr"/>
          <a:lstStyle/>
          <a:p>
            <a:pPr algn="ctr"/>
          </a:p>
        </p:txBody>
      </p:sp>
      <p:pic>
        <p:nvPicPr>
          <p:cNvPr id="10" name="Picture 9" descr="search-065A82-96.png"/>
          <p:cNvPicPr>
            <a:picLocks noChangeAspect="1"/>
          </p:cNvPicPr>
          <p:nvPr/>
        </p:nvPicPr>
        <p:blipFill>
          <a:blip r:embed="rId3"/>
          <a:stretch>
            <a:fillRect/>
          </a:stretch>
        </p:blipFill>
        <p:spPr>
          <a:xfrm>
            <a:off x="6460236" y="1572768"/>
            <a:ext cx="502920" cy="502920"/>
          </a:xfrm>
          <a:prstGeom prst="rect">
            <a:avLst/>
          </a:prstGeom>
        </p:spPr>
      </p:pic>
      <p:sp>
        <p:nvSpPr>
          <p:cNvPr id="11" name="TextBox 10"/>
          <p:cNvSpPr txBox="1"/>
          <p:nvPr/>
        </p:nvSpPr>
        <p:spPr>
          <a:xfrm>
            <a:off x="7100316" y="1572768"/>
            <a:ext cx="4357116" cy="502920"/>
          </a:xfrm>
          <a:prstGeom prst="rect">
            <a:avLst/>
          </a:prstGeom>
          <a:noFill/>
        </p:spPr>
        <p:txBody>
          <a:bodyPr wrap="square" lIns="0" rIns="0" tIns="0" bIns="0" anchor="ctr">
            <a:spAutoFit/>
          </a:bodyPr>
          <a:lstStyle/>
          <a:p>
            <a:pPr algn="l">
              <a:lnSpc>
                <a:spcPct val="115000"/>
              </a:lnSpc>
            </a:pPr>
            <a:r>
              <a:rPr sz="1600" b="1" i="0">
                <a:solidFill>
                  <a:srgbClr val="065A82"/>
                </a:solidFill>
                <a:latin typeface="Arial"/>
              </a:rPr>
              <a:t>NER / small model</a:t>
            </a:r>
          </a:p>
        </p:txBody>
      </p:sp>
      <p:sp>
        <p:nvSpPr>
          <p:cNvPr id="12" name="TextBox 11"/>
          <p:cNvSpPr txBox="1"/>
          <p:nvPr/>
        </p:nvSpPr>
        <p:spPr>
          <a:xfrm>
            <a:off x="6460236" y="2286000"/>
            <a:ext cx="4997196" cy="1051560"/>
          </a:xfrm>
          <a:prstGeom prst="rect">
            <a:avLst/>
          </a:prstGeom>
          <a:noFill/>
        </p:spPr>
        <p:txBody>
          <a:bodyPr wrap="square" lIns="0" rIns="0" tIns="0" bIns="0" anchor="t">
            <a:spAutoFit/>
          </a:bodyPr>
          <a:lstStyle/>
          <a:p>
            <a:pPr algn="l">
              <a:lnSpc>
                <a:spcPct val="128000"/>
              </a:lnSpc>
            </a:pPr>
            <a:r>
              <a:rPr sz="1400" b="0" i="0">
                <a:solidFill>
                  <a:srgbClr val="21295C"/>
                </a:solidFill>
                <a:latin typeface="Arial"/>
              </a:rPr>
              <a:t>People's names, indirect mentions in free text — needs context</a:t>
            </a:r>
          </a:p>
        </p:txBody>
      </p:sp>
      <p:sp>
        <p:nvSpPr>
          <p:cNvPr id="13" name="TextBox 12"/>
          <p:cNvSpPr txBox="1"/>
          <p:nvPr/>
        </p:nvSpPr>
        <p:spPr>
          <a:xfrm>
            <a:off x="6460236" y="3291840"/>
            <a:ext cx="4997196" cy="384048"/>
          </a:xfrm>
          <a:prstGeom prst="rect">
            <a:avLst/>
          </a:prstGeom>
          <a:noFill/>
        </p:spPr>
        <p:txBody>
          <a:bodyPr wrap="square" lIns="0" rIns="0" tIns="0" bIns="0" anchor="t">
            <a:spAutoFit/>
          </a:bodyPr>
          <a:lstStyle/>
          <a:p>
            <a:pPr algn="l">
              <a:lnSpc>
                <a:spcPct val="120000"/>
              </a:lnSpc>
            </a:pPr>
            <a:r>
              <a:rPr sz="1150" b="0" i="1">
                <a:solidFill>
                  <a:srgbClr val="6B7685"/>
                </a:solidFill>
                <a:latin typeface="Arial"/>
              </a:rPr>
              <a:t>slovnet (Natasha) · ~30 MB · CPU · ~25 articles/sec</a:t>
            </a:r>
          </a:p>
        </p:txBody>
      </p:sp>
      <p:sp>
        <p:nvSpPr>
          <p:cNvPr id="14" name="TextBox 13"/>
          <p:cNvSpPr txBox="1"/>
          <p:nvPr/>
        </p:nvSpPr>
        <p:spPr>
          <a:xfrm>
            <a:off x="6460236" y="3840480"/>
            <a:ext cx="4997196" cy="685800"/>
          </a:xfrm>
          <a:prstGeom prst="rect">
            <a:avLst/>
          </a:prstGeom>
          <a:noFill/>
        </p:spPr>
        <p:txBody>
          <a:bodyPr wrap="square" lIns="0" rIns="0" tIns="0" bIns="0" anchor="t">
            <a:spAutoFit/>
          </a:bodyPr>
          <a:lstStyle/>
          <a:p>
            <a:pPr algn="l">
              <a:lnSpc>
                <a:spcPct val="125000"/>
              </a:lnSpc>
            </a:pPr>
            <a:r>
              <a:rPr sz="1150" b="0" i="1">
                <a:solidFill>
                  <a:srgbClr val="6B7685"/>
                </a:solidFill>
                <a:latin typeface="Arial"/>
              </a:rPr>
              <a:t>~60× smaller than a comparable BERT-class model, quality loss of 1-2 pp</a:t>
            </a:r>
          </a:p>
        </p:txBody>
      </p:sp>
      <p:sp>
        <p:nvSpPr>
          <p:cNvPr id="15" name="Rounded Rectangle 14"/>
          <p:cNvSpPr/>
          <p:nvPr/>
        </p:nvSpPr>
        <p:spPr>
          <a:xfrm>
            <a:off x="502920" y="4846320"/>
            <a:ext cx="11183112" cy="914400"/>
          </a:xfrm>
          <a:prstGeom prst="roundRect">
            <a:avLst>
              <a:gd name="adj" fmla="val 25000"/>
            </a:avLst>
          </a:prstGeom>
          <a:solidFill>
            <a:srgbClr val="FEF5E0"/>
          </a:solidFill>
          <a:ln w="17780">
            <a:solidFill>
              <a:srgbClr val="F0AB00"/>
            </a:solidFill>
          </a:ln>
          <a:effectLst/>
        </p:spPr>
        <p:txBody>
          <a:bodyPr rtlCol="0" anchor="ctr"/>
          <a:lstStyle/>
          <a:p>
            <a:pPr algn="ctr"/>
          </a:p>
        </p:txBody>
      </p:sp>
      <p:sp>
        <p:nvSpPr>
          <p:cNvPr id="16" name="TextBox 15"/>
          <p:cNvSpPr txBox="1"/>
          <p:nvPr/>
        </p:nvSpPr>
        <p:spPr>
          <a:xfrm>
            <a:off x="777240" y="4846320"/>
            <a:ext cx="10607040" cy="914400"/>
          </a:xfrm>
          <a:prstGeom prst="rect">
            <a:avLst/>
          </a:prstGeom>
          <a:noFill/>
        </p:spPr>
        <p:txBody>
          <a:bodyPr wrap="square" lIns="0" rIns="0" tIns="0" bIns="0" anchor="ctr">
            <a:spAutoFit/>
          </a:bodyPr>
          <a:lstStyle/>
          <a:p>
            <a:pPr algn="l">
              <a:lnSpc>
                <a:spcPct val="120000"/>
              </a:lnSpc>
            </a:pPr>
            <a:r>
              <a:rPr sz="1600" b="1" i="0">
                <a:solidFill>
                  <a:srgbClr val="21295C"/>
                </a:solidFill>
                <a:latin typeface="Arial"/>
              </a:rPr>
              <a:t>The line between regex and a model runs inside a single task, not between tasks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1183112" cy="914400"/>
          </a:xfrm>
          <a:prstGeom prst="rect">
            <a:avLst/>
          </a:prstGeom>
          <a:noFill/>
        </p:spPr>
        <p:txBody>
          <a:bodyPr wrap="square" lIns="0" rIns="0" tIns="0" bIns="0" anchor="t">
            <a:spAutoFit/>
          </a:bodyPr>
          <a:lstStyle/>
          <a:p>
            <a:pPr algn="l">
              <a:lnSpc>
                <a:spcPct val="115000"/>
              </a:lnSpc>
            </a:pPr>
            <a:r>
              <a:rPr sz="2200" b="1" i="0">
                <a:solidFill>
                  <a:srgbClr val="21295C"/>
                </a:solidFill>
                <a:latin typeface="Arial"/>
              </a:rPr>
              <a:t>When a formula was needed — and when AI closed a gap nothing else could</a:t>
            </a:r>
          </a:p>
        </p:txBody>
      </p:sp>
      <p:sp>
        <p:nvSpPr>
          <p:cNvPr id="3" name="Rounded Rectangle 2"/>
          <p:cNvSpPr/>
          <p:nvPr/>
        </p:nvSpPr>
        <p:spPr>
          <a:xfrm>
            <a:off x="502920" y="1371600"/>
            <a:ext cx="5454396" cy="2697480"/>
          </a:xfrm>
          <a:prstGeom prst="roundRect">
            <a:avLst>
              <a:gd name="adj" fmla="val 6000"/>
            </a:avLst>
          </a:prstGeom>
          <a:solidFill>
            <a:srgbClr val="FBEAEA"/>
          </a:solidFill>
          <a:ln w="17780">
            <a:solidFill>
              <a:srgbClr val="B04A4A"/>
            </a:solidFill>
          </a:ln>
          <a:effectLst/>
        </p:spPr>
        <p:txBody>
          <a:bodyPr rtlCol="0" anchor="ctr"/>
          <a:lstStyle/>
          <a:p>
            <a:pPr algn="ctr"/>
          </a:p>
        </p:txBody>
      </p:sp>
      <p:pic>
        <p:nvPicPr>
          <p:cNvPr id="4" name="Picture 3" descr="x-circle-21295C-64.png"/>
          <p:cNvPicPr>
            <a:picLocks noChangeAspect="1"/>
          </p:cNvPicPr>
          <p:nvPr/>
        </p:nvPicPr>
        <p:blipFill>
          <a:blip r:embed="rId2"/>
          <a:stretch>
            <a:fillRect/>
          </a:stretch>
        </p:blipFill>
        <p:spPr>
          <a:xfrm>
            <a:off x="704088" y="1572768"/>
            <a:ext cx="365760" cy="365760"/>
          </a:xfrm>
          <a:prstGeom prst="rect">
            <a:avLst/>
          </a:prstGeom>
        </p:spPr>
      </p:pic>
      <p:sp>
        <p:nvSpPr>
          <p:cNvPr id="5" name="TextBox 4"/>
          <p:cNvSpPr txBox="1"/>
          <p:nvPr/>
        </p:nvSpPr>
        <p:spPr>
          <a:xfrm>
            <a:off x="1179576" y="1554480"/>
            <a:ext cx="4576571" cy="411480"/>
          </a:xfrm>
          <a:prstGeom prst="rect">
            <a:avLst/>
          </a:prstGeom>
          <a:noFill/>
        </p:spPr>
        <p:txBody>
          <a:bodyPr wrap="square" lIns="0" rIns="0" tIns="0" bIns="0" anchor="ctr">
            <a:spAutoFit/>
          </a:bodyPr>
          <a:lstStyle/>
          <a:p>
            <a:pPr algn="l">
              <a:lnSpc>
                <a:spcPct val="110000"/>
              </a:lnSpc>
            </a:pPr>
            <a:r>
              <a:rPr sz="1500" b="1" i="0">
                <a:solidFill>
                  <a:srgbClr val="21295C"/>
                </a:solidFill>
                <a:latin typeface="Arial"/>
              </a:rPr>
              <a:t>CNET, January 2023</a:t>
            </a:r>
          </a:p>
        </p:txBody>
      </p:sp>
      <p:sp>
        <p:nvSpPr>
          <p:cNvPr id="6" name="TextBox 5"/>
          <p:cNvSpPr txBox="1"/>
          <p:nvPr/>
        </p:nvSpPr>
        <p:spPr>
          <a:xfrm>
            <a:off x="704088" y="2103120"/>
            <a:ext cx="5052059" cy="1947672"/>
          </a:xfrm>
          <a:prstGeom prst="rect">
            <a:avLst/>
          </a:prstGeom>
          <a:noFill/>
        </p:spPr>
        <p:txBody>
          <a:bodyPr wrap="square" lIns="0" rIns="0" tIns="0" bIns="0" anchor="t">
            <a:spAutoFit/>
          </a:bodyPr>
          <a:lstStyle/>
          <a:p>
            <a:pPr algn="l">
              <a:lnSpc>
                <a:spcPct val="125000"/>
              </a:lnSpc>
              <a:spcAft>
                <a:spcPts val="600"/>
              </a:spcAft>
            </a:pPr>
            <a:r>
              <a:rPr sz="1300" b="0" i="0">
                <a:solidFill>
                  <a:srgbClr val="21295C"/>
                </a:solidFill>
                <a:latin typeface="Arial"/>
              </a:rPr>
              <a:t>Of 77 AI-generated finance articles, 41 needed corrections</a:t>
            </a:r>
          </a:p>
          <a:p>
            <a:pPr algn="l">
              <a:lnSpc>
                <a:spcPct val="125000"/>
              </a:lnSpc>
              <a:spcAft>
                <a:spcPts val="600"/>
              </a:spcAft>
            </a:pPr>
            <a:r>
              <a:rPr sz="1250" b="1" i="0">
                <a:solidFill>
                  <a:srgbClr val="21295C"/>
                </a:solidFill>
                <a:latin typeface="Arial"/>
              </a:rPr>
              <a:t>"$10,000 at 3% annual interest → $10,300 in a year" instead of the correct $300 in earnings</a:t>
            </a:r>
          </a:p>
          <a:p>
            <a:pPr algn="l">
              <a:lnSpc>
                <a:spcPct val="125000"/>
              </a:lnSpc>
              <a:spcAft>
                <a:spcPts val="0"/>
              </a:spcAft>
            </a:pPr>
            <a:r>
              <a:rPr sz="1250" b="0" i="1">
                <a:solidFill>
                  <a:srgbClr val="21295C"/>
                </a:solidFill>
                <a:latin typeface="Arial"/>
              </a:rPr>
              <a:t>The calculation should be done by a deterministic formula, not an LLM "eyeballing it"</a:t>
            </a:r>
          </a:p>
        </p:txBody>
      </p:sp>
      <p:sp>
        <p:nvSpPr>
          <p:cNvPr id="7" name="Rounded Rectangle 6"/>
          <p:cNvSpPr/>
          <p:nvPr/>
        </p:nvSpPr>
        <p:spPr>
          <a:xfrm>
            <a:off x="6231636" y="1371600"/>
            <a:ext cx="5454396" cy="2697480"/>
          </a:xfrm>
          <a:prstGeom prst="roundRect">
            <a:avLst>
              <a:gd name="adj" fmla="val 6000"/>
            </a:avLst>
          </a:prstGeom>
          <a:solidFill>
            <a:srgbClr val="E9F5F2"/>
          </a:solidFill>
          <a:ln w="17780">
            <a:solidFill>
              <a:srgbClr val="028090"/>
            </a:solidFill>
          </a:ln>
          <a:effectLst/>
        </p:spPr>
        <p:txBody>
          <a:bodyPr rtlCol="0" anchor="ctr"/>
          <a:lstStyle/>
          <a:p>
            <a:pPr algn="ctr"/>
          </a:p>
        </p:txBody>
      </p:sp>
      <p:pic>
        <p:nvPicPr>
          <p:cNvPr id="8" name="Picture 7" descr="circle-check-028090-64.png"/>
          <p:cNvPicPr>
            <a:picLocks noChangeAspect="1"/>
          </p:cNvPicPr>
          <p:nvPr/>
        </p:nvPicPr>
        <p:blipFill>
          <a:blip r:embed="rId3"/>
          <a:stretch>
            <a:fillRect/>
          </a:stretch>
        </p:blipFill>
        <p:spPr>
          <a:xfrm>
            <a:off x="6432803" y="1572768"/>
            <a:ext cx="365760" cy="365760"/>
          </a:xfrm>
          <a:prstGeom prst="rect">
            <a:avLst/>
          </a:prstGeom>
        </p:spPr>
      </p:pic>
      <p:sp>
        <p:nvSpPr>
          <p:cNvPr id="9" name="TextBox 8"/>
          <p:cNvSpPr txBox="1"/>
          <p:nvPr/>
        </p:nvSpPr>
        <p:spPr>
          <a:xfrm>
            <a:off x="6908292" y="1554480"/>
            <a:ext cx="4576571" cy="411480"/>
          </a:xfrm>
          <a:prstGeom prst="rect">
            <a:avLst/>
          </a:prstGeom>
          <a:noFill/>
        </p:spPr>
        <p:txBody>
          <a:bodyPr wrap="square" lIns="0" rIns="0" tIns="0" bIns="0" anchor="ctr">
            <a:spAutoFit/>
          </a:bodyPr>
          <a:lstStyle/>
          <a:p>
            <a:pPr algn="l">
              <a:lnSpc>
                <a:spcPct val="110000"/>
              </a:lnSpc>
            </a:pPr>
            <a:r>
              <a:rPr sz="1500" b="1" i="0">
                <a:solidFill>
                  <a:srgbClr val="21295C"/>
                </a:solidFill>
                <a:latin typeface="Arial"/>
              </a:rPr>
              <a:t>Ramp, merchant classification</a:t>
            </a:r>
          </a:p>
        </p:txBody>
      </p:sp>
      <p:sp>
        <p:nvSpPr>
          <p:cNvPr id="10" name="TextBox 9"/>
          <p:cNvSpPr txBox="1"/>
          <p:nvPr/>
        </p:nvSpPr>
        <p:spPr>
          <a:xfrm>
            <a:off x="6432803" y="2103120"/>
            <a:ext cx="5052059" cy="1947672"/>
          </a:xfrm>
          <a:prstGeom prst="rect">
            <a:avLst/>
          </a:prstGeom>
          <a:noFill/>
        </p:spPr>
        <p:txBody>
          <a:bodyPr wrap="square" lIns="0" rIns="0" tIns="0" bIns="0" anchor="t">
            <a:spAutoFit/>
          </a:bodyPr>
          <a:lstStyle/>
          <a:p>
            <a:pPr algn="l">
              <a:lnSpc>
                <a:spcPct val="125000"/>
              </a:lnSpc>
              <a:spcAft>
                <a:spcPts val="600"/>
              </a:spcAft>
            </a:pPr>
            <a:r>
              <a:rPr sz="1300" b="0" i="0">
                <a:solidFill>
                  <a:srgbClr val="21295C"/>
                </a:solidFill>
                <a:latin typeface="Arial"/>
              </a:rPr>
              <a:t>By hand: request coverage 1.5-3% → after the LLM agent, nearly complete</a:t>
            </a:r>
          </a:p>
          <a:p>
            <a:pPr algn="l">
              <a:lnSpc>
                <a:spcPct val="125000"/>
              </a:lnSpc>
              <a:spcAft>
                <a:spcPts val="600"/>
              </a:spcAft>
            </a:pPr>
            <a:r>
              <a:rPr sz="1250" b="1" i="0">
                <a:solidFill>
                  <a:srgbClr val="21295C"/>
                </a:solidFill>
                <a:latin typeface="Arial"/>
              </a:rPr>
              <a:t>Handled in &lt; 10 sec, ~99% of decisions correct</a:t>
            </a:r>
          </a:p>
          <a:p>
            <a:pPr algn="l">
              <a:lnSpc>
                <a:spcPct val="125000"/>
              </a:lnSpc>
              <a:spcAft>
                <a:spcPts val="0"/>
              </a:spcAft>
            </a:pPr>
            <a:r>
              <a:rPr sz="1250" b="0" i="0">
                <a:solidFill>
                  <a:srgbClr val="21295C"/>
                </a:solidFill>
                <a:latin typeface="Arial"/>
              </a:rPr>
              <a:t>~25% of requests the agent justifiably rejects</a:t>
            </a:r>
          </a:p>
        </p:txBody>
      </p:sp>
      <p:sp>
        <p:nvSpPr>
          <p:cNvPr id="11" name="Rounded Rectangle 10"/>
          <p:cNvSpPr/>
          <p:nvPr/>
        </p:nvSpPr>
        <p:spPr>
          <a:xfrm>
            <a:off x="502920" y="4325112"/>
            <a:ext cx="11183112" cy="1051560"/>
          </a:xfrm>
          <a:prstGeom prst="roundRect">
            <a:avLst>
              <a:gd name="adj" fmla="val 25000"/>
            </a:avLst>
          </a:prstGeom>
          <a:solidFill>
            <a:srgbClr val="FEF5E0"/>
          </a:solidFill>
          <a:ln w="17780">
            <a:solidFill>
              <a:srgbClr val="F0AB00"/>
            </a:solidFill>
          </a:ln>
          <a:effectLst/>
        </p:spPr>
        <p:txBody>
          <a:bodyPr rtlCol="0" anchor="ctr"/>
          <a:lstStyle/>
          <a:p>
            <a:pPr algn="ctr"/>
          </a:p>
        </p:txBody>
      </p:sp>
      <p:sp>
        <p:nvSpPr>
          <p:cNvPr id="12" name="TextBox 11"/>
          <p:cNvSpPr txBox="1"/>
          <p:nvPr/>
        </p:nvSpPr>
        <p:spPr>
          <a:xfrm>
            <a:off x="777240" y="4325112"/>
            <a:ext cx="10607040" cy="1051560"/>
          </a:xfrm>
          <a:prstGeom prst="rect">
            <a:avLst/>
          </a:prstGeom>
          <a:noFill/>
        </p:spPr>
        <p:txBody>
          <a:bodyPr wrap="square" lIns="0" rIns="0" tIns="0" bIns="0" anchor="ctr">
            <a:spAutoFit/>
          </a:bodyPr>
          <a:lstStyle/>
          <a:p>
            <a:pPr algn="l">
              <a:lnSpc>
                <a:spcPct val="125000"/>
              </a:lnSpc>
            </a:pPr>
            <a:r>
              <a:rPr sz="1700" b="1" i="0">
                <a:solidFill>
                  <a:srgbClr val="21295C"/>
                </a:solidFill>
                <a:latin typeface="Arial"/>
              </a:rPr>
              <a:t>Ramp — a replacement for manual processing with negligible coverage, not a replacement for a working regex solution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1295C"/>
        </a:solidFill>
        <a:effectLst/>
      </p:bgPr>
    </p:bg>
    <p:spTree>
      <p:nvGrpSpPr>
        <p:cNvPr id="1" name=""/>
        <p:cNvGrpSpPr/>
        <p:nvPr/>
      </p:nvGrpSpPr>
      <p:grpSpPr/>
      <p:pic>
        <p:nvPicPr>
          <p:cNvPr id="2" name="Picture 1" descr="s10-divider-workspace-real.jpg"/>
          <p:cNvPicPr>
            <a:picLocks noChangeAspect="1"/>
          </p:cNvPicPr>
          <p:nvPr/>
        </p:nvPicPr>
        <p:blipFill>
          <a:blip r:embed="rId2"/>
          <a:srcRect t="12499" b="12499"/>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21295C">
              <a:alpha val="78000"/>
            </a:srgbClr>
          </a:solidFill>
          <a:ln>
            <a:noFill/>
          </a:ln>
          <a:effectLst/>
        </p:spPr>
        <p:txBody>
          <a:bodyPr rtlCol="0" anchor="ctr"/>
          <a:lstStyle/>
          <a:p>
            <a:pPr algn="ctr"/>
          </a:p>
        </p:txBody>
      </p:sp>
      <p:sp>
        <p:nvSpPr>
          <p:cNvPr id="4" name="TextBox 3"/>
          <p:cNvSpPr txBox="1"/>
          <p:nvPr/>
        </p:nvSpPr>
        <p:spPr>
          <a:xfrm>
            <a:off x="-91440" y="-594360"/>
            <a:ext cx="5486400" cy="3291840"/>
          </a:xfrm>
          <a:prstGeom prst="rect">
            <a:avLst/>
          </a:prstGeom>
          <a:noFill/>
        </p:spPr>
        <p:txBody>
          <a:bodyPr wrap="square" lIns="0" rIns="0" tIns="0" bIns="0" anchor="b">
            <a:spAutoFit/>
          </a:bodyPr>
          <a:lstStyle/>
          <a:p>
            <a:pPr algn="l">
              <a:lnSpc>
                <a:spcPct val="90000"/>
              </a:lnSpc>
            </a:pPr>
            <a:r>
              <a:rPr sz="28000" b="1" i="0">
                <a:solidFill>
                  <a:srgbClr val="3A4474"/>
                </a:solidFill>
                <a:latin typeface="Arial"/>
              </a:rPr>
              <a:t>2</a:t>
            </a:r>
          </a:p>
        </p:txBody>
      </p:sp>
      <p:sp>
        <p:nvSpPr>
          <p:cNvPr id="5" name="Rounded Rectangle 4"/>
          <p:cNvSpPr/>
          <p:nvPr/>
        </p:nvSpPr>
        <p:spPr>
          <a:xfrm>
            <a:off x="1965960" y="1600200"/>
            <a:ext cx="201168" cy="201168"/>
          </a:xfrm>
          <a:prstGeom prst="roundRect">
            <a:avLst>
              <a:gd name="adj" fmla="val 50000"/>
            </a:avLst>
          </a:prstGeom>
          <a:solidFill>
            <a:srgbClr val="F0AB00"/>
          </a:solidFill>
          <a:ln>
            <a:noFill/>
          </a:ln>
          <a:effectLst/>
        </p:spPr>
        <p:txBody>
          <a:bodyPr rtlCol="0" anchor="ctr"/>
          <a:lstStyle/>
          <a:p>
            <a:pPr algn="ctr"/>
          </a:p>
        </p:txBody>
      </p:sp>
      <p:sp>
        <p:nvSpPr>
          <p:cNvPr id="6" name="TextBox 5"/>
          <p:cNvSpPr txBox="1"/>
          <p:nvPr/>
        </p:nvSpPr>
        <p:spPr>
          <a:xfrm>
            <a:off x="548640" y="2880360"/>
            <a:ext cx="10607040" cy="1371600"/>
          </a:xfrm>
          <a:prstGeom prst="rect">
            <a:avLst/>
          </a:prstGeom>
          <a:noFill/>
        </p:spPr>
        <p:txBody>
          <a:bodyPr wrap="square" lIns="0" rIns="0" tIns="0" bIns="0" anchor="t">
            <a:spAutoFit/>
          </a:bodyPr>
          <a:lstStyle/>
          <a:p>
            <a:pPr algn="l">
              <a:lnSpc>
                <a:spcPct val="110000"/>
              </a:lnSpc>
            </a:pPr>
            <a:r>
              <a:rPr sz="4000" b="1" i="0">
                <a:solidFill>
                  <a:srgbClr val="FFFFFF"/>
                </a:solidFill>
                <a:latin typeface="Arial"/>
              </a:rPr>
              <a:t>Build it in, or build something separate?</a:t>
            </a:r>
          </a:p>
        </p:txBody>
      </p:sp>
      <p:sp>
        <p:nvSpPr>
          <p:cNvPr id="7" name="Rounded Rectangle 6"/>
          <p:cNvSpPr/>
          <p:nvPr/>
        </p:nvSpPr>
        <p:spPr>
          <a:xfrm>
            <a:off x="566928" y="4343400"/>
            <a:ext cx="5120640" cy="502920"/>
          </a:xfrm>
          <a:prstGeom prst="roundRect">
            <a:avLst>
              <a:gd name="adj" fmla="val 50000"/>
            </a:avLst>
          </a:prstGeom>
          <a:solidFill>
            <a:srgbClr val="065A82"/>
          </a:solidFill>
          <a:ln>
            <a:noFill/>
          </a:ln>
          <a:effectLst/>
        </p:spPr>
        <p:txBody>
          <a:bodyPr rtlCol="0" anchor="ctr" lIns="45720" rIns="45720" tIns="27432" bIns="27432" wrap="none"/>
          <a:lstStyle/>
          <a:p>
            <a:pPr algn="ctr"/>
            <a:r>
              <a:rPr sz="1500" b="1">
                <a:solidFill>
                  <a:srgbClr val="FFFFFF"/>
                </a:solidFill>
                <a:latin typeface="Arial"/>
              </a:rPr>
              <a:t>Case: support assistant</a:t>
            </a:r>
          </a:p>
        </p:txBody>
      </p:sp>
      <p:sp>
        <p:nvSpPr>
          <p:cNvPr id="8" name="TextBox 7"/>
          <p:cNvSpPr txBox="1"/>
          <p:nvPr/>
        </p:nvSpPr>
        <p:spPr>
          <a:xfrm>
            <a:off x="566928" y="5074920"/>
            <a:ext cx="9875520" cy="640080"/>
          </a:xfrm>
          <a:prstGeom prst="rect">
            <a:avLst/>
          </a:prstGeom>
          <a:noFill/>
        </p:spPr>
        <p:txBody>
          <a:bodyPr wrap="square" lIns="0" rIns="0" tIns="0" bIns="0" anchor="t">
            <a:spAutoFit/>
          </a:bodyPr>
          <a:lstStyle/>
          <a:p>
            <a:pPr algn="l">
              <a:lnSpc>
                <a:spcPct val="130000"/>
              </a:lnSpc>
            </a:pPr>
            <a:r>
              <a:rPr sz="1450" b="0" i="1">
                <a:solidFill>
                  <a:srgbClr val="C8D2DF"/>
                </a:solidFill>
                <a:latin typeface="Arial"/>
              </a:rPr>
              <a:t>A hidden cost that's almost never visible in the demo, on the pitch slide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1183112" cy="4114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Support assistant</a:t>
            </a:r>
          </a:p>
        </p:txBody>
      </p:sp>
      <p:sp>
        <p:nvSpPr>
          <p:cNvPr id="3" name="Rounded Rectangle 2"/>
          <p:cNvSpPr/>
          <p:nvPr/>
        </p:nvSpPr>
        <p:spPr>
          <a:xfrm>
            <a:off x="502920" y="713232"/>
            <a:ext cx="11183112" cy="2514600"/>
          </a:xfrm>
          <a:prstGeom prst="roundRect">
            <a:avLst>
              <a:gd name="adj" fmla="val 12121"/>
            </a:avLst>
          </a:prstGeom>
          <a:solidFill>
            <a:srgbClr val="F4F7FA"/>
          </a:solidFill>
          <a:ln w="19050">
            <a:solidFill>
              <a:srgbClr val="1C7293"/>
            </a:solidFill>
          </a:ln>
          <a:effectLst/>
        </p:spPr>
        <p:txBody>
          <a:bodyPr rtlCol="0" anchor="ctr"/>
          <a:lstStyle/>
          <a:p>
            <a:pPr algn="ctr"/>
          </a:p>
        </p:txBody>
      </p:sp>
      <p:pic>
        <p:nvPicPr>
          <p:cNvPr id="4" name="Picture 3" descr="quote-1C7293-64.png"/>
          <p:cNvPicPr>
            <a:picLocks noChangeAspect="1"/>
          </p:cNvPicPr>
          <p:nvPr/>
        </p:nvPicPr>
        <p:blipFill>
          <a:blip r:embed="rId2"/>
          <a:stretch>
            <a:fillRect/>
          </a:stretch>
        </p:blipFill>
        <p:spPr>
          <a:xfrm>
            <a:off x="722376" y="886968"/>
            <a:ext cx="292608" cy="292608"/>
          </a:xfrm>
          <a:prstGeom prst="rect">
            <a:avLst/>
          </a:prstGeom>
        </p:spPr>
      </p:pic>
      <p:sp>
        <p:nvSpPr>
          <p:cNvPr id="5" name="TextBox 4"/>
          <p:cNvSpPr txBox="1"/>
          <p:nvPr/>
        </p:nvSpPr>
        <p:spPr>
          <a:xfrm>
            <a:off x="722376" y="1225296"/>
            <a:ext cx="10744200" cy="1783080"/>
          </a:xfrm>
          <a:prstGeom prst="rect">
            <a:avLst/>
          </a:prstGeom>
          <a:noFill/>
        </p:spPr>
        <p:txBody>
          <a:bodyPr wrap="square" lIns="0" rIns="0" tIns="0" bIns="0" anchor="t">
            <a:spAutoFit/>
          </a:bodyPr>
          <a:lstStyle/>
          <a:p>
            <a:pPr algn="l">
              <a:lnSpc>
                <a:spcPct val="128000"/>
              </a:lnSpc>
            </a:pPr>
            <a:r>
              <a:rPr sz="1400" b="0" i="1">
                <a:solidFill>
                  <a:srgbClr val="21295C"/>
                </a:solidFill>
                <a:latin typeface="Arial"/>
              </a:rPr>
              <a:t>"Simple idea: an AI assistant for operators — response suggestions on tickets, search for similar past cases. There are 12 operators on the line, throughput is around 300 tickets a day, peak from 10:00 to 13:00. Some of the same operators also answer customers on Telegram in parallel — there's a separate chat channel for that, about 4 people keep it open all the time. Everyone logs in through corporate SSO, so authorization shouldn't be an issue. Separately, we're currently refreshing the laptop fleet in support, but that's not for you. It would be great to be able to show something at the quarterly review."</a:t>
            </a:r>
          </a:p>
        </p:txBody>
      </p:sp>
      <p:sp>
        <p:nvSpPr>
          <p:cNvPr id="6" name="Rounded Rectangle 5"/>
          <p:cNvSpPr/>
          <p:nvPr/>
        </p:nvSpPr>
        <p:spPr>
          <a:xfrm>
            <a:off x="502920" y="3410712"/>
            <a:ext cx="11183112" cy="1005840"/>
          </a:xfrm>
          <a:prstGeom prst="roundRect">
            <a:avLst>
              <a:gd name="adj" fmla="val 25000"/>
            </a:avLst>
          </a:prstGeom>
          <a:solidFill>
            <a:srgbClr val="F4F7FA"/>
          </a:solidFill>
          <a:ln w="19050">
            <a:solidFill>
              <a:srgbClr val="1C7293"/>
            </a:solidFill>
          </a:ln>
          <a:effectLst/>
        </p:spPr>
        <p:txBody>
          <a:bodyPr rtlCol="0" anchor="ctr"/>
          <a:lstStyle/>
          <a:p>
            <a:pPr algn="ctr"/>
          </a:p>
        </p:txBody>
      </p:sp>
      <p:pic>
        <p:nvPicPr>
          <p:cNvPr id="7" name="Picture 6" descr="phone-065A82-96.png"/>
          <p:cNvPicPr>
            <a:picLocks noChangeAspect="1"/>
          </p:cNvPicPr>
          <p:nvPr/>
        </p:nvPicPr>
        <p:blipFill>
          <a:blip r:embed="rId3"/>
          <a:stretch>
            <a:fillRect/>
          </a:stretch>
        </p:blipFill>
        <p:spPr>
          <a:xfrm>
            <a:off x="822960" y="3616452"/>
            <a:ext cx="594360" cy="594360"/>
          </a:xfrm>
          <a:prstGeom prst="rect">
            <a:avLst/>
          </a:prstGeom>
        </p:spPr>
      </p:pic>
      <p:sp>
        <p:nvSpPr>
          <p:cNvPr id="8" name="TextBox 7"/>
          <p:cNvSpPr txBox="1"/>
          <p:nvPr/>
        </p:nvSpPr>
        <p:spPr>
          <a:xfrm>
            <a:off x="1691640" y="3410712"/>
            <a:ext cx="9692640" cy="1005840"/>
          </a:xfrm>
          <a:prstGeom prst="rect">
            <a:avLst/>
          </a:prstGeom>
          <a:noFill/>
        </p:spPr>
        <p:txBody>
          <a:bodyPr wrap="square" lIns="0" rIns="0" tIns="0" bIns="0" anchor="ctr">
            <a:spAutoFit/>
          </a:bodyPr>
          <a:lstStyle/>
          <a:p>
            <a:pPr algn="l">
              <a:lnSpc>
                <a:spcPct val="130000"/>
              </a:lnSpc>
            </a:pPr>
            <a:r>
              <a:rPr sz="1550" b="0" i="1">
                <a:solidFill>
                  <a:srgbClr val="21295C"/>
                </a:solidFill>
                <a:latin typeface="Arial"/>
              </a:rPr>
              <a:t>12 operators on the line, around 300 tickets a day, peak 10:00-13:00</a:t>
            </a:r>
          </a:p>
        </p:txBody>
      </p:sp>
      <p:sp>
        <p:nvSpPr>
          <p:cNvPr id="9" name="Rounded Rectangle 8"/>
          <p:cNvSpPr/>
          <p:nvPr/>
        </p:nvSpPr>
        <p:spPr>
          <a:xfrm>
            <a:off x="502920" y="4617720"/>
            <a:ext cx="11183112" cy="2103120"/>
          </a:xfrm>
          <a:prstGeom prst="roundRect">
            <a:avLst>
              <a:gd name="adj" fmla="val 14492"/>
            </a:avLst>
          </a:prstGeom>
          <a:solidFill>
            <a:srgbClr val="FEF5E0"/>
          </a:solidFill>
          <a:ln w="19050">
            <a:solidFill>
              <a:srgbClr val="F0AB00"/>
            </a:solidFill>
          </a:ln>
          <a:effectLst/>
        </p:spPr>
        <p:txBody>
          <a:bodyPr rtlCol="0" anchor="ctr"/>
          <a:lstStyle/>
          <a:p>
            <a:pPr algn="ctr"/>
          </a:p>
        </p:txBody>
      </p:sp>
      <p:sp>
        <p:nvSpPr>
          <p:cNvPr id="10" name="TextBox 9"/>
          <p:cNvSpPr txBox="1"/>
          <p:nvPr/>
        </p:nvSpPr>
        <p:spPr>
          <a:xfrm>
            <a:off x="777240" y="4617720"/>
            <a:ext cx="10607040" cy="2103120"/>
          </a:xfrm>
          <a:prstGeom prst="rect">
            <a:avLst/>
          </a:prstGeom>
          <a:noFill/>
        </p:spPr>
        <p:txBody>
          <a:bodyPr wrap="square" lIns="0" rIns="0" tIns="0" bIns="0" anchor="ctr">
            <a:spAutoFit/>
          </a:bodyPr>
          <a:lstStyle/>
          <a:p>
            <a:pPr algn="l">
              <a:lnSpc>
                <a:spcPct val="115000"/>
              </a:lnSpc>
            </a:pPr>
            <a:r>
              <a:rPr sz="2000" b="1" i="0">
                <a:solidFill>
                  <a:srgbClr val="21295C"/>
                </a:solidFill>
                <a:latin typeface="Arial"/>
              </a:rPr>
              <a:t>Where should this assistant live?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1183112" cy="4114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Support assistant</a:t>
            </a:r>
          </a:p>
        </p:txBody>
      </p:sp>
      <p:sp>
        <p:nvSpPr>
          <p:cNvPr id="3" name="TextBox 2"/>
          <p:cNvSpPr txBox="1"/>
          <p:nvPr/>
        </p:nvSpPr>
        <p:spPr>
          <a:xfrm>
            <a:off x="502920" y="658368"/>
            <a:ext cx="11183112" cy="256032"/>
          </a:xfrm>
          <a:prstGeom prst="rect">
            <a:avLst/>
          </a:prstGeom>
          <a:noFill/>
        </p:spPr>
        <p:txBody>
          <a:bodyPr wrap="square" lIns="0" rIns="0" tIns="0" bIns="0" anchor="t">
            <a:spAutoFit/>
          </a:bodyPr>
          <a:lstStyle/>
          <a:p>
            <a:pPr algn="l">
              <a:lnSpc>
                <a:spcPct val="115000"/>
              </a:lnSpc>
            </a:pPr>
            <a:r>
              <a:rPr sz="1250" b="0" i="1">
                <a:solidFill>
                  <a:srgbClr val="6B7685"/>
                </a:solidFill>
                <a:latin typeface="Arial"/>
              </a:rPr>
              <a:t>IT director</a:t>
            </a:r>
          </a:p>
        </p:txBody>
      </p:sp>
      <p:sp>
        <p:nvSpPr>
          <p:cNvPr id="4" name="Rounded Rectangle 3"/>
          <p:cNvSpPr/>
          <p:nvPr/>
        </p:nvSpPr>
        <p:spPr>
          <a:xfrm>
            <a:off x="502920" y="914400"/>
            <a:ext cx="11183112" cy="2286000"/>
          </a:xfrm>
          <a:prstGeom prst="roundRect">
            <a:avLst>
              <a:gd name="adj" fmla="val 13333"/>
            </a:avLst>
          </a:prstGeom>
          <a:solidFill>
            <a:srgbClr val="F4F7FA"/>
          </a:solidFill>
          <a:ln w="19050">
            <a:solidFill>
              <a:srgbClr val="1C7293"/>
            </a:solidFill>
          </a:ln>
          <a:effectLst/>
        </p:spPr>
        <p:txBody>
          <a:bodyPr rtlCol="0" anchor="ctr"/>
          <a:lstStyle/>
          <a:p>
            <a:pPr algn="ctr"/>
          </a:p>
        </p:txBody>
      </p:sp>
      <p:pic>
        <p:nvPicPr>
          <p:cNvPr id="5" name="Picture 4" descr="quote-1C7293-64.png"/>
          <p:cNvPicPr>
            <a:picLocks noChangeAspect="1"/>
          </p:cNvPicPr>
          <p:nvPr/>
        </p:nvPicPr>
        <p:blipFill>
          <a:blip r:embed="rId2"/>
          <a:stretch>
            <a:fillRect/>
          </a:stretch>
        </p:blipFill>
        <p:spPr>
          <a:xfrm>
            <a:off x="722376" y="1088136"/>
            <a:ext cx="292608" cy="292608"/>
          </a:xfrm>
          <a:prstGeom prst="rect">
            <a:avLst/>
          </a:prstGeom>
        </p:spPr>
      </p:pic>
      <p:sp>
        <p:nvSpPr>
          <p:cNvPr id="6" name="TextBox 5"/>
          <p:cNvSpPr txBox="1"/>
          <p:nvPr/>
        </p:nvSpPr>
        <p:spPr>
          <a:xfrm>
            <a:off x="722376" y="1426464"/>
            <a:ext cx="10287000" cy="1554480"/>
          </a:xfrm>
          <a:prstGeom prst="rect">
            <a:avLst/>
          </a:prstGeom>
          <a:noFill/>
        </p:spPr>
        <p:txBody>
          <a:bodyPr wrap="square" lIns="0" rIns="0" tIns="0" bIns="0" anchor="t">
            <a:spAutoFit/>
          </a:bodyPr>
          <a:lstStyle/>
          <a:p>
            <a:pPr algn="l">
              <a:lnSpc>
                <a:spcPct val="128000"/>
              </a:lnSpc>
            </a:pPr>
            <a:r>
              <a:rPr sz="1400" b="0" i="1">
                <a:solidFill>
                  <a:srgbClr val="21295C"/>
                </a:solidFill>
                <a:latin typeface="Arial"/>
              </a:rPr>
              <a:t>"We run an off-the-shelf helpdesk, there's no open API, no customization options — we wrote to the vendor back in March, never got a reply. The system was bought 4 years ago, and HR's and facilities' tickets run through it too. The contract still has 2 years left. The support Telegram channel is a separate story, it has its own simple bot integration, if that's ever needed. Next quarter we're redesigning the corporate portal, but that's a separate process, not related to the helpdesk."</a:t>
            </a:r>
          </a:p>
        </p:txBody>
      </p:sp>
      <p:sp>
        <p:nvSpPr>
          <p:cNvPr id="7" name="Rounded Rectangle 6"/>
          <p:cNvSpPr/>
          <p:nvPr/>
        </p:nvSpPr>
        <p:spPr>
          <a:xfrm>
            <a:off x="11009376" y="1088136"/>
            <a:ext cx="457200" cy="457200"/>
          </a:xfrm>
          <a:prstGeom prst="roundRect">
            <a:avLst>
              <a:gd name="adj" fmla="val 50000"/>
            </a:avLst>
          </a:prstGeom>
          <a:solidFill>
            <a:srgbClr val="F4F7FA"/>
          </a:solidFill>
          <a:ln w="16510">
            <a:solidFill>
              <a:srgbClr val="028090"/>
            </a:solidFill>
          </a:ln>
          <a:effectLst/>
        </p:spPr>
        <p:txBody>
          <a:bodyPr rtlCol="0" anchor="ctr"/>
          <a:lstStyle/>
          <a:p>
            <a:pPr algn="ctr"/>
          </a:p>
        </p:txBody>
      </p:sp>
      <p:pic>
        <p:nvPicPr>
          <p:cNvPr id="8" name="Picture 7" descr="briefcase-028090-64.png"/>
          <p:cNvPicPr>
            <a:picLocks noChangeAspect="1"/>
          </p:cNvPicPr>
          <p:nvPr/>
        </p:nvPicPr>
        <p:blipFill>
          <a:blip r:embed="rId3"/>
          <a:stretch>
            <a:fillRect/>
          </a:stretch>
        </p:blipFill>
        <p:spPr>
          <a:xfrm>
            <a:off x="11091672" y="1170432"/>
            <a:ext cx="292608" cy="292608"/>
          </a:xfrm>
          <a:prstGeom prst="rect">
            <a:avLst/>
          </a:prstGeom>
        </p:spPr>
      </p:pic>
      <p:sp>
        <p:nvSpPr>
          <p:cNvPr id="9" name="Rounded Rectangle 8"/>
          <p:cNvSpPr/>
          <p:nvPr/>
        </p:nvSpPr>
        <p:spPr>
          <a:xfrm>
            <a:off x="502920" y="3383280"/>
            <a:ext cx="11183112" cy="1005840"/>
          </a:xfrm>
          <a:prstGeom prst="roundRect">
            <a:avLst>
              <a:gd name="adj" fmla="val 25000"/>
            </a:avLst>
          </a:prstGeom>
          <a:solidFill>
            <a:srgbClr val="F4F7FA"/>
          </a:solidFill>
          <a:ln w="19050">
            <a:solidFill>
              <a:srgbClr val="1C7293"/>
            </a:solidFill>
          </a:ln>
          <a:effectLst/>
        </p:spPr>
        <p:txBody>
          <a:bodyPr rtlCol="0" anchor="ctr"/>
          <a:lstStyle/>
          <a:p>
            <a:pPr algn="ctr"/>
          </a:p>
        </p:txBody>
      </p:sp>
      <p:pic>
        <p:nvPicPr>
          <p:cNvPr id="10" name="Picture 9" descr="lock-21295C-96.png"/>
          <p:cNvPicPr>
            <a:picLocks noChangeAspect="1"/>
          </p:cNvPicPr>
          <p:nvPr/>
        </p:nvPicPr>
        <p:blipFill>
          <a:blip r:embed="rId4"/>
          <a:stretch>
            <a:fillRect/>
          </a:stretch>
        </p:blipFill>
        <p:spPr>
          <a:xfrm>
            <a:off x="822960" y="3589020"/>
            <a:ext cx="594360" cy="594360"/>
          </a:xfrm>
          <a:prstGeom prst="rect">
            <a:avLst/>
          </a:prstGeom>
        </p:spPr>
      </p:pic>
      <p:sp>
        <p:nvSpPr>
          <p:cNvPr id="11" name="TextBox 10"/>
          <p:cNvSpPr txBox="1"/>
          <p:nvPr/>
        </p:nvSpPr>
        <p:spPr>
          <a:xfrm>
            <a:off x="1691640" y="3383280"/>
            <a:ext cx="9692640" cy="1005840"/>
          </a:xfrm>
          <a:prstGeom prst="rect">
            <a:avLst/>
          </a:prstGeom>
          <a:noFill/>
        </p:spPr>
        <p:txBody>
          <a:bodyPr wrap="square" lIns="0" rIns="0" tIns="0" bIns="0" anchor="ctr">
            <a:spAutoFit/>
          </a:bodyPr>
          <a:lstStyle/>
          <a:p>
            <a:pPr algn="l">
              <a:lnSpc>
                <a:spcPct val="130000"/>
              </a:lnSpc>
            </a:pPr>
            <a:r>
              <a:rPr sz="1550" b="0" i="1">
                <a:solidFill>
                  <a:srgbClr val="21295C"/>
                </a:solidFill>
                <a:latin typeface="Arial"/>
              </a:rPr>
              <a:t>An off-the-shelf helpdesk for 4 years, no open API — the vendor contract still has 2 years left</a:t>
            </a:r>
          </a:p>
        </p:txBody>
      </p:sp>
      <p:sp>
        <p:nvSpPr>
          <p:cNvPr id="12" name="Rounded Rectangle 11"/>
          <p:cNvSpPr/>
          <p:nvPr/>
        </p:nvSpPr>
        <p:spPr>
          <a:xfrm>
            <a:off x="502920" y="4590288"/>
            <a:ext cx="11183112" cy="2130551"/>
          </a:xfrm>
          <a:prstGeom prst="roundRect">
            <a:avLst>
              <a:gd name="adj" fmla="val 14306"/>
            </a:avLst>
          </a:prstGeom>
          <a:solidFill>
            <a:srgbClr val="FEF5E0"/>
          </a:solidFill>
          <a:ln w="17780">
            <a:solidFill>
              <a:srgbClr val="F0AB00"/>
            </a:solidFill>
          </a:ln>
          <a:effectLst/>
        </p:spPr>
        <p:txBody>
          <a:bodyPr rtlCol="0" anchor="ctr"/>
          <a:lstStyle/>
          <a:p>
            <a:pPr algn="ctr"/>
          </a:p>
        </p:txBody>
      </p:sp>
      <p:sp>
        <p:nvSpPr>
          <p:cNvPr id="13" name="TextBox 12"/>
          <p:cNvSpPr txBox="1"/>
          <p:nvPr/>
        </p:nvSpPr>
        <p:spPr>
          <a:xfrm>
            <a:off x="777240" y="4590288"/>
            <a:ext cx="10607040" cy="2130551"/>
          </a:xfrm>
          <a:prstGeom prst="rect">
            <a:avLst/>
          </a:prstGeom>
          <a:noFill/>
        </p:spPr>
        <p:txBody>
          <a:bodyPr wrap="square" lIns="0" rIns="0" tIns="0" bIns="0" anchor="ctr">
            <a:spAutoFit/>
          </a:bodyPr>
          <a:lstStyle/>
          <a:p>
            <a:pPr algn="l">
              <a:lnSpc>
                <a:spcPct val="115000"/>
              </a:lnSpc>
            </a:pPr>
            <a:r>
              <a:rPr sz="2000" b="1" i="0">
                <a:solidFill>
                  <a:srgbClr val="21295C"/>
                </a:solidFill>
                <a:latin typeface="Arial"/>
              </a:rPr>
              <a:t>What do we do?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1183112" cy="91440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Support assistant — debrief</a:t>
            </a:r>
          </a:p>
        </p:txBody>
      </p:sp>
      <p:sp>
        <p:nvSpPr>
          <p:cNvPr id="3" name="Rounded Rectangle 2"/>
          <p:cNvSpPr/>
          <p:nvPr/>
        </p:nvSpPr>
        <p:spPr>
          <a:xfrm>
            <a:off x="502920" y="1280160"/>
            <a:ext cx="3557016" cy="3566160"/>
          </a:xfrm>
          <a:prstGeom prst="roundRect">
            <a:avLst>
              <a:gd name="adj" fmla="val 8568"/>
            </a:avLst>
          </a:prstGeom>
          <a:solidFill>
            <a:srgbClr val="F4F7FA"/>
          </a:solidFill>
          <a:ln w="19050">
            <a:solidFill>
              <a:srgbClr val="1C7293"/>
            </a:solidFill>
          </a:ln>
          <a:effectLst/>
        </p:spPr>
        <p:txBody>
          <a:bodyPr rtlCol="0" anchor="ctr"/>
          <a:lstStyle/>
          <a:p>
            <a:pPr algn="ctr"/>
          </a:p>
        </p:txBody>
      </p:sp>
      <p:pic>
        <p:nvPicPr>
          <p:cNvPr id="4" name="Picture 3" descr="split-065A82-96.png"/>
          <p:cNvPicPr>
            <a:picLocks noChangeAspect="1"/>
          </p:cNvPicPr>
          <p:nvPr/>
        </p:nvPicPr>
        <p:blipFill>
          <a:blip r:embed="rId2"/>
          <a:stretch>
            <a:fillRect/>
          </a:stretch>
        </p:blipFill>
        <p:spPr>
          <a:xfrm>
            <a:off x="2029967" y="1499616"/>
            <a:ext cx="502920" cy="502920"/>
          </a:xfrm>
          <a:prstGeom prst="rect">
            <a:avLst/>
          </a:prstGeom>
        </p:spPr>
      </p:pic>
      <p:sp>
        <p:nvSpPr>
          <p:cNvPr id="5" name="TextBox 4"/>
          <p:cNvSpPr txBox="1"/>
          <p:nvPr/>
        </p:nvSpPr>
        <p:spPr>
          <a:xfrm>
            <a:off x="649224" y="2148839"/>
            <a:ext cx="3264408" cy="457200"/>
          </a:xfrm>
          <a:prstGeom prst="rect">
            <a:avLst/>
          </a:prstGeom>
          <a:noFill/>
        </p:spPr>
        <p:txBody>
          <a:bodyPr wrap="square" lIns="0" rIns="0" tIns="0" bIns="0" anchor="t">
            <a:spAutoFit/>
          </a:bodyPr>
          <a:lstStyle/>
          <a:p>
            <a:pPr algn="ctr">
              <a:lnSpc>
                <a:spcPct val="110000"/>
              </a:lnSpc>
            </a:pPr>
            <a:r>
              <a:rPr sz="1500" b="1" i="0">
                <a:solidFill>
                  <a:srgbClr val="065A82"/>
                </a:solidFill>
                <a:latin typeface="Arial"/>
              </a:rPr>
              <a:t>Off to the side</a:t>
            </a:r>
          </a:p>
        </p:txBody>
      </p:sp>
      <p:sp>
        <p:nvSpPr>
          <p:cNvPr id="6" name="TextBox 5"/>
          <p:cNvSpPr txBox="1"/>
          <p:nvPr/>
        </p:nvSpPr>
        <p:spPr>
          <a:xfrm>
            <a:off x="649224" y="2651760"/>
            <a:ext cx="3264408" cy="1005840"/>
          </a:xfrm>
          <a:prstGeom prst="rect">
            <a:avLst/>
          </a:prstGeom>
          <a:noFill/>
        </p:spPr>
        <p:txBody>
          <a:bodyPr wrap="square" lIns="0" rIns="0" tIns="0" bIns="0" anchor="t">
            <a:spAutoFit/>
          </a:bodyPr>
          <a:lstStyle/>
          <a:p>
            <a:pPr algn="ctr">
              <a:lnSpc>
                <a:spcPct val="125000"/>
              </a:lnSpc>
            </a:pPr>
            <a:r>
              <a:rPr sz="1200" b="0" i="0">
                <a:solidFill>
                  <a:srgbClr val="21295C"/>
                </a:solidFill>
                <a:latin typeface="Arial"/>
              </a:rPr>
              <a:t>A browser extension or a second panel</a:t>
            </a:r>
          </a:p>
        </p:txBody>
      </p:sp>
      <p:sp>
        <p:nvSpPr>
          <p:cNvPr id="7" name="Rounded Rectangle 6"/>
          <p:cNvSpPr/>
          <p:nvPr/>
        </p:nvSpPr>
        <p:spPr>
          <a:xfrm>
            <a:off x="630936" y="3611879"/>
            <a:ext cx="3300984" cy="1051560"/>
          </a:xfrm>
          <a:prstGeom prst="roundRect">
            <a:avLst>
              <a:gd name="adj" fmla="val 10000"/>
            </a:avLst>
          </a:prstGeom>
          <a:solidFill>
            <a:srgbClr val="FEF5E0"/>
          </a:solidFill>
          <a:ln w="13970">
            <a:solidFill>
              <a:srgbClr val="F0AB00"/>
            </a:solidFill>
          </a:ln>
          <a:effectLst/>
        </p:spPr>
        <p:txBody>
          <a:bodyPr rtlCol="0" anchor="ctr"/>
          <a:lstStyle/>
          <a:p>
            <a:pPr algn="ctr"/>
          </a:p>
        </p:txBody>
      </p:sp>
      <p:sp>
        <p:nvSpPr>
          <p:cNvPr id="8" name="TextBox 7"/>
          <p:cNvSpPr txBox="1"/>
          <p:nvPr/>
        </p:nvSpPr>
        <p:spPr>
          <a:xfrm>
            <a:off x="722376" y="3675887"/>
            <a:ext cx="3118104" cy="914400"/>
          </a:xfrm>
          <a:prstGeom prst="rect">
            <a:avLst/>
          </a:prstGeom>
          <a:noFill/>
        </p:spPr>
        <p:txBody>
          <a:bodyPr wrap="square" lIns="0" rIns="0" tIns="0" bIns="0" anchor="ctr">
            <a:spAutoFit/>
          </a:bodyPr>
          <a:lstStyle/>
          <a:p>
            <a:pPr algn="ctr">
              <a:lnSpc>
                <a:spcPct val="120000"/>
              </a:lnSpc>
            </a:pPr>
            <a:r>
              <a:rPr sz="1050" b="0" i="1">
                <a:solidFill>
                  <a:srgbClr val="21295C"/>
                </a:solidFill>
                <a:latin typeface="Arial"/>
              </a:rPr>
              <a:t>Cost: watching two places at once, risk: the operator won't use it</a:t>
            </a:r>
          </a:p>
        </p:txBody>
      </p:sp>
      <p:sp>
        <p:nvSpPr>
          <p:cNvPr id="9" name="Rounded Rectangle 8"/>
          <p:cNvSpPr/>
          <p:nvPr/>
        </p:nvSpPr>
        <p:spPr>
          <a:xfrm>
            <a:off x="4315968" y="1280160"/>
            <a:ext cx="3557016" cy="3566160"/>
          </a:xfrm>
          <a:prstGeom prst="roundRect">
            <a:avLst>
              <a:gd name="adj" fmla="val 8568"/>
            </a:avLst>
          </a:prstGeom>
          <a:solidFill>
            <a:srgbClr val="F4F7FA"/>
          </a:solidFill>
          <a:ln w="19050">
            <a:solidFill>
              <a:srgbClr val="1C7293"/>
            </a:solidFill>
          </a:ln>
          <a:effectLst/>
        </p:spPr>
        <p:txBody>
          <a:bodyPr rtlCol="0" anchor="ctr"/>
          <a:lstStyle/>
          <a:p>
            <a:pPr algn="ctr"/>
          </a:p>
        </p:txBody>
      </p:sp>
      <p:pic>
        <p:nvPicPr>
          <p:cNvPr id="10" name="Picture 9" descr="repeat-065A82-96.png"/>
          <p:cNvPicPr>
            <a:picLocks noChangeAspect="1"/>
          </p:cNvPicPr>
          <p:nvPr/>
        </p:nvPicPr>
        <p:blipFill>
          <a:blip r:embed="rId3"/>
          <a:stretch>
            <a:fillRect/>
          </a:stretch>
        </p:blipFill>
        <p:spPr>
          <a:xfrm>
            <a:off x="5843016" y="1499616"/>
            <a:ext cx="502920" cy="502920"/>
          </a:xfrm>
          <a:prstGeom prst="rect">
            <a:avLst/>
          </a:prstGeom>
        </p:spPr>
      </p:pic>
      <p:sp>
        <p:nvSpPr>
          <p:cNvPr id="11" name="TextBox 10"/>
          <p:cNvSpPr txBox="1"/>
          <p:nvPr/>
        </p:nvSpPr>
        <p:spPr>
          <a:xfrm>
            <a:off x="4462272" y="2148839"/>
            <a:ext cx="3264408" cy="457200"/>
          </a:xfrm>
          <a:prstGeom prst="rect">
            <a:avLst/>
          </a:prstGeom>
          <a:noFill/>
        </p:spPr>
        <p:txBody>
          <a:bodyPr wrap="square" lIns="0" rIns="0" tIns="0" bIns="0" anchor="t">
            <a:spAutoFit/>
          </a:bodyPr>
          <a:lstStyle/>
          <a:p>
            <a:pPr algn="ctr">
              <a:lnSpc>
                <a:spcPct val="110000"/>
              </a:lnSpc>
            </a:pPr>
            <a:r>
              <a:rPr sz="1500" b="1" i="0">
                <a:solidFill>
                  <a:srgbClr val="065A82"/>
                </a:solidFill>
                <a:latin typeface="Arial"/>
              </a:rPr>
              <a:t>Switch vendors</a:t>
            </a:r>
          </a:p>
        </p:txBody>
      </p:sp>
      <p:sp>
        <p:nvSpPr>
          <p:cNvPr id="12" name="TextBox 11"/>
          <p:cNvSpPr txBox="1"/>
          <p:nvPr/>
        </p:nvSpPr>
        <p:spPr>
          <a:xfrm>
            <a:off x="4462272" y="2651760"/>
            <a:ext cx="3264408" cy="1005840"/>
          </a:xfrm>
          <a:prstGeom prst="rect">
            <a:avLst/>
          </a:prstGeom>
          <a:noFill/>
        </p:spPr>
        <p:txBody>
          <a:bodyPr wrap="square" lIns="0" rIns="0" tIns="0" bIns="0" anchor="t">
            <a:spAutoFit/>
          </a:bodyPr>
          <a:lstStyle/>
          <a:p>
            <a:pPr algn="ctr">
              <a:lnSpc>
                <a:spcPct val="125000"/>
              </a:lnSpc>
            </a:pPr>
            <a:r>
              <a:rPr sz="1200" b="0" i="0">
                <a:solidFill>
                  <a:srgbClr val="21295C"/>
                </a:solidFill>
                <a:latin typeface="Arial"/>
              </a:rPr>
              <a:t>A helpdesk system with an open API</a:t>
            </a:r>
          </a:p>
        </p:txBody>
      </p:sp>
      <p:sp>
        <p:nvSpPr>
          <p:cNvPr id="13" name="Rounded Rectangle 12"/>
          <p:cNvSpPr/>
          <p:nvPr/>
        </p:nvSpPr>
        <p:spPr>
          <a:xfrm>
            <a:off x="4443983" y="3611879"/>
            <a:ext cx="3300984" cy="1051560"/>
          </a:xfrm>
          <a:prstGeom prst="roundRect">
            <a:avLst>
              <a:gd name="adj" fmla="val 10000"/>
            </a:avLst>
          </a:prstGeom>
          <a:solidFill>
            <a:srgbClr val="FEF5E0"/>
          </a:solidFill>
          <a:ln w="13970">
            <a:solidFill>
              <a:srgbClr val="F0AB00"/>
            </a:solidFill>
          </a:ln>
          <a:effectLst/>
        </p:spPr>
        <p:txBody>
          <a:bodyPr rtlCol="0" anchor="ctr"/>
          <a:lstStyle/>
          <a:p>
            <a:pPr algn="ctr"/>
          </a:p>
        </p:txBody>
      </p:sp>
      <p:sp>
        <p:nvSpPr>
          <p:cNvPr id="14" name="TextBox 13"/>
          <p:cNvSpPr txBox="1"/>
          <p:nvPr/>
        </p:nvSpPr>
        <p:spPr>
          <a:xfrm>
            <a:off x="4535424" y="3675887"/>
            <a:ext cx="3118104" cy="914400"/>
          </a:xfrm>
          <a:prstGeom prst="rect">
            <a:avLst/>
          </a:prstGeom>
          <a:noFill/>
        </p:spPr>
        <p:txBody>
          <a:bodyPr wrap="square" lIns="0" rIns="0" tIns="0" bIns="0" anchor="ctr">
            <a:spAutoFit/>
          </a:bodyPr>
          <a:lstStyle/>
          <a:p>
            <a:pPr algn="ctr">
              <a:lnSpc>
                <a:spcPct val="120000"/>
              </a:lnSpc>
            </a:pPr>
            <a:r>
              <a:rPr sz="1050" b="0" i="1">
                <a:solidFill>
                  <a:srgbClr val="21295C"/>
                </a:solidFill>
                <a:latin typeface="Arial"/>
              </a:rPr>
              <a:t>Cost: data migration, retraining the team, risk of downtime</a:t>
            </a:r>
          </a:p>
        </p:txBody>
      </p:sp>
      <p:sp>
        <p:nvSpPr>
          <p:cNvPr id="15" name="Rounded Rectangle 14"/>
          <p:cNvSpPr/>
          <p:nvPr/>
        </p:nvSpPr>
        <p:spPr>
          <a:xfrm>
            <a:off x="8129016" y="1280160"/>
            <a:ext cx="3557016" cy="3566160"/>
          </a:xfrm>
          <a:prstGeom prst="roundRect">
            <a:avLst>
              <a:gd name="adj" fmla="val 8568"/>
            </a:avLst>
          </a:prstGeom>
          <a:solidFill>
            <a:srgbClr val="F4F7FA"/>
          </a:solidFill>
          <a:ln w="19050">
            <a:solidFill>
              <a:srgbClr val="1C7293"/>
            </a:solidFill>
          </a:ln>
          <a:effectLst/>
        </p:spPr>
        <p:txBody>
          <a:bodyPr rtlCol="0" anchor="ctr"/>
          <a:lstStyle/>
          <a:p>
            <a:pPr algn="ctr"/>
          </a:p>
        </p:txBody>
      </p:sp>
      <p:pic>
        <p:nvPicPr>
          <p:cNvPr id="16" name="Picture 15" descr="route-065A82-96.png"/>
          <p:cNvPicPr>
            <a:picLocks noChangeAspect="1"/>
          </p:cNvPicPr>
          <p:nvPr/>
        </p:nvPicPr>
        <p:blipFill>
          <a:blip r:embed="rId4"/>
          <a:stretch>
            <a:fillRect/>
          </a:stretch>
        </p:blipFill>
        <p:spPr>
          <a:xfrm>
            <a:off x="9656064" y="1499616"/>
            <a:ext cx="502920" cy="502920"/>
          </a:xfrm>
          <a:prstGeom prst="rect">
            <a:avLst/>
          </a:prstGeom>
        </p:spPr>
      </p:pic>
      <p:sp>
        <p:nvSpPr>
          <p:cNvPr id="17" name="TextBox 16"/>
          <p:cNvSpPr txBox="1"/>
          <p:nvPr/>
        </p:nvSpPr>
        <p:spPr>
          <a:xfrm>
            <a:off x="8275320" y="2148839"/>
            <a:ext cx="3264408" cy="457200"/>
          </a:xfrm>
          <a:prstGeom prst="rect">
            <a:avLst/>
          </a:prstGeom>
          <a:noFill/>
        </p:spPr>
        <p:txBody>
          <a:bodyPr wrap="square" lIns="0" rIns="0" tIns="0" bIns="0" anchor="t">
            <a:spAutoFit/>
          </a:bodyPr>
          <a:lstStyle/>
          <a:p>
            <a:pPr algn="ctr">
              <a:lnSpc>
                <a:spcPct val="110000"/>
              </a:lnSpc>
            </a:pPr>
            <a:r>
              <a:rPr sz="1500" b="1" i="0">
                <a:solidFill>
                  <a:srgbClr val="065A82"/>
                </a:solidFill>
                <a:latin typeface="Arial"/>
              </a:rPr>
              <a:t>Rethink the task</a:t>
            </a:r>
          </a:p>
        </p:txBody>
      </p:sp>
      <p:sp>
        <p:nvSpPr>
          <p:cNvPr id="18" name="TextBox 17"/>
          <p:cNvSpPr txBox="1"/>
          <p:nvPr/>
        </p:nvSpPr>
        <p:spPr>
          <a:xfrm>
            <a:off x="8275320" y="2651760"/>
            <a:ext cx="3264408" cy="1005840"/>
          </a:xfrm>
          <a:prstGeom prst="rect">
            <a:avLst/>
          </a:prstGeom>
          <a:noFill/>
        </p:spPr>
        <p:txBody>
          <a:bodyPr wrap="square" lIns="0" rIns="0" tIns="0" bIns="0" anchor="t">
            <a:spAutoFit/>
          </a:bodyPr>
          <a:lstStyle/>
          <a:p>
            <a:pPr algn="ctr">
              <a:lnSpc>
                <a:spcPct val="125000"/>
              </a:lnSpc>
            </a:pPr>
            <a:r>
              <a:rPr sz="1200" b="0" i="0">
                <a:solidFill>
                  <a:srgbClr val="21295C"/>
                </a:solidFill>
                <a:latin typeface="Arial"/>
              </a:rPr>
              <a:t>An async assistant that prepares drafts ahead of time</a:t>
            </a:r>
          </a:p>
        </p:txBody>
      </p:sp>
      <p:sp>
        <p:nvSpPr>
          <p:cNvPr id="19" name="Rounded Rectangle 18"/>
          <p:cNvSpPr/>
          <p:nvPr/>
        </p:nvSpPr>
        <p:spPr>
          <a:xfrm>
            <a:off x="8257032" y="3611879"/>
            <a:ext cx="3300984" cy="1051560"/>
          </a:xfrm>
          <a:prstGeom prst="roundRect">
            <a:avLst>
              <a:gd name="adj" fmla="val 10000"/>
            </a:avLst>
          </a:prstGeom>
          <a:solidFill>
            <a:srgbClr val="FEF5E0"/>
          </a:solidFill>
          <a:ln w="13970">
            <a:solidFill>
              <a:srgbClr val="F0AB00"/>
            </a:solidFill>
          </a:ln>
          <a:effectLst/>
        </p:spPr>
        <p:txBody>
          <a:bodyPr rtlCol="0" anchor="ctr"/>
          <a:lstStyle/>
          <a:p>
            <a:pPr algn="ctr"/>
          </a:p>
        </p:txBody>
      </p:sp>
      <p:sp>
        <p:nvSpPr>
          <p:cNvPr id="20" name="TextBox 19"/>
          <p:cNvSpPr txBox="1"/>
          <p:nvPr/>
        </p:nvSpPr>
        <p:spPr>
          <a:xfrm>
            <a:off x="8348472" y="3675887"/>
            <a:ext cx="3118104" cy="914400"/>
          </a:xfrm>
          <a:prstGeom prst="rect">
            <a:avLst/>
          </a:prstGeom>
          <a:noFill/>
        </p:spPr>
        <p:txBody>
          <a:bodyPr wrap="square" lIns="0" rIns="0" tIns="0" bIns="0" anchor="ctr">
            <a:spAutoFit/>
          </a:bodyPr>
          <a:lstStyle/>
          <a:p>
            <a:pPr algn="ctr">
              <a:lnSpc>
                <a:spcPct val="120000"/>
              </a:lnSpc>
            </a:pPr>
            <a:r>
              <a:rPr sz="1050" b="0" i="1">
                <a:solidFill>
                  <a:srgbClr val="21295C"/>
                </a:solidFill>
                <a:latin typeface="Arial"/>
              </a:rPr>
              <a:t>Cost: the operator opens the finished draft wherever convenient, but a separate process is needed</a:t>
            </a:r>
          </a:p>
        </p:txBody>
      </p:sp>
      <p:sp>
        <p:nvSpPr>
          <p:cNvPr id="21" name="Rounded Rectangle 20"/>
          <p:cNvSpPr/>
          <p:nvPr/>
        </p:nvSpPr>
        <p:spPr>
          <a:xfrm>
            <a:off x="502920" y="5029200"/>
            <a:ext cx="11183112" cy="548640"/>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2" name="TextBox 21"/>
          <p:cNvSpPr txBox="1"/>
          <p:nvPr/>
        </p:nvSpPr>
        <p:spPr>
          <a:xfrm>
            <a:off x="777240" y="5029200"/>
            <a:ext cx="10607040" cy="548640"/>
          </a:xfrm>
          <a:prstGeom prst="rect">
            <a:avLst/>
          </a:prstGeom>
          <a:noFill/>
        </p:spPr>
        <p:txBody>
          <a:bodyPr wrap="square" lIns="0" rIns="0" tIns="0" bIns="0" anchor="ctr">
            <a:spAutoFit/>
          </a:bodyPr>
          <a:lstStyle/>
          <a:p>
            <a:pPr algn="l">
              <a:lnSpc>
                <a:spcPct val="115000"/>
              </a:lnSpc>
            </a:pPr>
            <a:r>
              <a:rPr sz="1500" b="1" i="1">
                <a:solidFill>
                  <a:srgbClr val="21295C"/>
                </a:solidFill>
                <a:latin typeface="Arial"/>
              </a:rPr>
              <a:t>There's no single right answer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1183112" cy="4114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Product descriptions</a:t>
            </a:r>
          </a:p>
        </p:txBody>
      </p:sp>
      <p:sp>
        <p:nvSpPr>
          <p:cNvPr id="3" name="Rounded Rectangle 2"/>
          <p:cNvSpPr/>
          <p:nvPr/>
        </p:nvSpPr>
        <p:spPr>
          <a:xfrm>
            <a:off x="502920" y="713232"/>
            <a:ext cx="11183112" cy="2606040"/>
          </a:xfrm>
          <a:prstGeom prst="roundRect">
            <a:avLst>
              <a:gd name="adj" fmla="val 11695"/>
            </a:avLst>
          </a:prstGeom>
          <a:solidFill>
            <a:srgbClr val="F4F7FA"/>
          </a:solidFill>
          <a:ln w="19050">
            <a:solidFill>
              <a:srgbClr val="1C7293"/>
            </a:solidFill>
          </a:ln>
          <a:effectLst/>
        </p:spPr>
        <p:txBody>
          <a:bodyPr rtlCol="0" anchor="ctr"/>
          <a:lstStyle/>
          <a:p>
            <a:pPr algn="ctr"/>
          </a:p>
        </p:txBody>
      </p:sp>
      <p:pic>
        <p:nvPicPr>
          <p:cNvPr id="4" name="Picture 3" descr="quote-1C7293-64.png"/>
          <p:cNvPicPr>
            <a:picLocks noChangeAspect="1"/>
          </p:cNvPicPr>
          <p:nvPr/>
        </p:nvPicPr>
        <p:blipFill>
          <a:blip r:embed="rId2"/>
          <a:stretch>
            <a:fillRect/>
          </a:stretch>
        </p:blipFill>
        <p:spPr>
          <a:xfrm>
            <a:off x="722376" y="886968"/>
            <a:ext cx="292608" cy="292608"/>
          </a:xfrm>
          <a:prstGeom prst="rect">
            <a:avLst/>
          </a:prstGeom>
        </p:spPr>
      </p:pic>
      <p:sp>
        <p:nvSpPr>
          <p:cNvPr id="5" name="TextBox 4"/>
          <p:cNvSpPr txBox="1"/>
          <p:nvPr/>
        </p:nvSpPr>
        <p:spPr>
          <a:xfrm>
            <a:off x="722376" y="1225296"/>
            <a:ext cx="10744200" cy="1874520"/>
          </a:xfrm>
          <a:prstGeom prst="rect">
            <a:avLst/>
          </a:prstGeom>
          <a:noFill/>
        </p:spPr>
        <p:txBody>
          <a:bodyPr wrap="square" lIns="0" rIns="0" tIns="0" bIns="0" anchor="t">
            <a:spAutoFit/>
          </a:bodyPr>
          <a:lstStyle/>
          <a:p>
            <a:pPr algn="l">
              <a:lnSpc>
                <a:spcPct val="128000"/>
              </a:lnSpc>
            </a:pPr>
            <a:r>
              <a:rPr sz="1350" b="0" i="1">
                <a:solidFill>
                  <a:srgbClr val="21295C"/>
                </a:solidFill>
                <a:latin typeface="Arial"/>
              </a:rPr>
              <a:t>"The director was at a retail conference, saw a competitor's product-description generator — a standalone app, you type in the specs, you get text for the product card. Wants something similar by the end of the month. The catalog is big — around 12,000 SKUs, all of them are entered through the shared catalog admin panel, and the outsourced copywriter already writes descriptions right there. Separately, we should probably update the homepage banners, but that's a different conversation. Also, another department is rolling out a new CRM in parallel — not related to us."</a:t>
            </a:r>
          </a:p>
        </p:txBody>
      </p:sp>
      <p:sp>
        <p:nvSpPr>
          <p:cNvPr id="6" name="Rounded Rectangle 5"/>
          <p:cNvSpPr/>
          <p:nvPr/>
        </p:nvSpPr>
        <p:spPr>
          <a:xfrm>
            <a:off x="502920" y="3483864"/>
            <a:ext cx="11183112" cy="960120"/>
          </a:xfrm>
          <a:prstGeom prst="roundRect">
            <a:avLst>
              <a:gd name="adj" fmla="val 25000"/>
            </a:avLst>
          </a:prstGeom>
          <a:solidFill>
            <a:srgbClr val="F4F7FA"/>
          </a:solidFill>
          <a:ln w="20320">
            <a:solidFill>
              <a:srgbClr val="028090"/>
            </a:solidFill>
          </a:ln>
          <a:effectLst/>
        </p:spPr>
        <p:txBody>
          <a:bodyPr rtlCol="0" anchor="ctr"/>
          <a:lstStyle/>
          <a:p>
            <a:pPr algn="ctr"/>
          </a:p>
        </p:txBody>
      </p:sp>
      <p:pic>
        <p:nvPicPr>
          <p:cNvPr id="7" name="Picture 6" descr="store-065A82-96.png"/>
          <p:cNvPicPr>
            <a:picLocks noChangeAspect="1"/>
          </p:cNvPicPr>
          <p:nvPr/>
        </p:nvPicPr>
        <p:blipFill>
          <a:blip r:embed="rId3"/>
          <a:stretch>
            <a:fillRect/>
          </a:stretch>
        </p:blipFill>
        <p:spPr>
          <a:xfrm>
            <a:off x="822960" y="3666744"/>
            <a:ext cx="594360" cy="594360"/>
          </a:xfrm>
          <a:prstGeom prst="rect">
            <a:avLst/>
          </a:prstGeom>
        </p:spPr>
      </p:pic>
      <p:sp>
        <p:nvSpPr>
          <p:cNvPr id="8" name="TextBox 7"/>
          <p:cNvSpPr txBox="1"/>
          <p:nvPr/>
        </p:nvSpPr>
        <p:spPr>
          <a:xfrm>
            <a:off x="1645920" y="3483864"/>
            <a:ext cx="9692640" cy="960120"/>
          </a:xfrm>
          <a:prstGeom prst="rect">
            <a:avLst/>
          </a:prstGeom>
          <a:noFill/>
        </p:spPr>
        <p:txBody>
          <a:bodyPr wrap="square" lIns="0" rIns="0" tIns="0" bIns="0" anchor="ctr">
            <a:spAutoFit/>
          </a:bodyPr>
          <a:lstStyle/>
          <a:p>
            <a:pPr algn="l">
              <a:lnSpc>
                <a:spcPct val="125000"/>
              </a:lnSpc>
            </a:pPr>
            <a:r>
              <a:rPr sz="1450" b="0" i="1">
                <a:solidFill>
                  <a:srgbClr val="21295C"/>
                </a:solidFill>
                <a:latin typeface="Arial"/>
              </a:rPr>
              <a:t>12,000 SKUs, descriptions are currently written by one outsourced copywriter</a:t>
            </a:r>
          </a:p>
        </p:txBody>
      </p:sp>
      <p:sp>
        <p:nvSpPr>
          <p:cNvPr id="9" name="Rounded Rectangle 8"/>
          <p:cNvSpPr/>
          <p:nvPr/>
        </p:nvSpPr>
        <p:spPr>
          <a:xfrm>
            <a:off x="502920" y="4626864"/>
            <a:ext cx="11183112" cy="2093975"/>
          </a:xfrm>
          <a:prstGeom prst="roundRect">
            <a:avLst>
              <a:gd name="adj" fmla="val 14556"/>
            </a:avLst>
          </a:prstGeom>
          <a:solidFill>
            <a:srgbClr val="FEF5E0"/>
          </a:solidFill>
          <a:ln w="17780">
            <a:solidFill>
              <a:srgbClr val="F0AB00"/>
            </a:solidFill>
          </a:ln>
          <a:effectLst/>
        </p:spPr>
        <p:txBody>
          <a:bodyPr rtlCol="0" anchor="ctr"/>
          <a:lstStyle/>
          <a:p>
            <a:pPr algn="ctr"/>
          </a:p>
        </p:txBody>
      </p:sp>
      <p:sp>
        <p:nvSpPr>
          <p:cNvPr id="10" name="TextBox 9"/>
          <p:cNvSpPr txBox="1"/>
          <p:nvPr/>
        </p:nvSpPr>
        <p:spPr>
          <a:xfrm>
            <a:off x="777240" y="4626864"/>
            <a:ext cx="10607040" cy="2093975"/>
          </a:xfrm>
          <a:prstGeom prst="rect">
            <a:avLst/>
          </a:prstGeom>
          <a:noFill/>
        </p:spPr>
        <p:txBody>
          <a:bodyPr wrap="square" lIns="0" rIns="0" tIns="0" bIns="0" anchor="ctr">
            <a:spAutoFit/>
          </a:bodyPr>
          <a:lstStyle/>
          <a:p>
            <a:pPr algn="l">
              <a:lnSpc>
                <a:spcPct val="115000"/>
              </a:lnSpc>
            </a:pPr>
            <a:r>
              <a:rPr sz="2000" b="1" i="0">
                <a:solidFill>
                  <a:srgbClr val="21295C"/>
                </a:solidFill>
                <a:latin typeface="Arial"/>
              </a:rPr>
              <a:t>A separate service — good idea?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1183112" cy="914400"/>
          </a:xfrm>
          <a:prstGeom prst="rect">
            <a:avLst/>
          </a:prstGeom>
          <a:noFill/>
        </p:spPr>
        <p:txBody>
          <a:bodyPr wrap="square" lIns="0" rIns="0" tIns="0" bIns="0" anchor="t">
            <a:spAutoFit/>
          </a:bodyPr>
          <a:lstStyle/>
          <a:p>
            <a:pPr algn="l">
              <a:lnSpc>
                <a:spcPct val="115000"/>
              </a:lnSpc>
            </a:pPr>
            <a:r>
              <a:rPr sz="2700" b="1" i="0">
                <a:solidFill>
                  <a:srgbClr val="21295C"/>
                </a:solidFill>
                <a:latin typeface="Arial"/>
              </a:rPr>
              <a:t>Product descriptions — debrief</a:t>
            </a:r>
          </a:p>
        </p:txBody>
      </p:sp>
      <p:sp>
        <p:nvSpPr>
          <p:cNvPr id="3" name="Rounded Rectangle 2"/>
          <p:cNvSpPr/>
          <p:nvPr/>
        </p:nvSpPr>
        <p:spPr>
          <a:xfrm>
            <a:off x="502920" y="1417320"/>
            <a:ext cx="11183112" cy="1828800"/>
          </a:xfrm>
          <a:prstGeom prst="roundRect">
            <a:avLst>
              <a:gd name="adj" fmla="val 16666"/>
            </a:avLst>
          </a:prstGeom>
          <a:solidFill>
            <a:srgbClr val="F4F7FA"/>
          </a:solidFill>
          <a:ln w="20320">
            <a:solidFill>
              <a:srgbClr val="028090"/>
            </a:solidFill>
          </a:ln>
          <a:effectLst/>
        </p:spPr>
        <p:txBody>
          <a:bodyPr rtlCol="0" anchor="ctr"/>
          <a:lstStyle/>
          <a:p>
            <a:pPr algn="ctr"/>
          </a:p>
        </p:txBody>
      </p:sp>
      <p:pic>
        <p:nvPicPr>
          <p:cNvPr id="4" name="Picture 3" descr="store-065A82-96.png"/>
          <p:cNvPicPr>
            <a:picLocks noChangeAspect="1"/>
          </p:cNvPicPr>
          <p:nvPr/>
        </p:nvPicPr>
        <p:blipFill>
          <a:blip r:embed="rId2"/>
          <a:stretch>
            <a:fillRect/>
          </a:stretch>
        </p:blipFill>
        <p:spPr>
          <a:xfrm>
            <a:off x="822960" y="1943100"/>
            <a:ext cx="777240" cy="777240"/>
          </a:xfrm>
          <a:prstGeom prst="rect">
            <a:avLst/>
          </a:prstGeom>
        </p:spPr>
      </p:pic>
      <p:pic>
        <p:nvPicPr>
          <p:cNvPr id="5" name="Picture 4" descr="arrow-right-F0AB00-64.png"/>
          <p:cNvPicPr>
            <a:picLocks noChangeAspect="1"/>
          </p:cNvPicPr>
          <p:nvPr/>
        </p:nvPicPr>
        <p:blipFill>
          <a:blip r:embed="rId3"/>
          <a:stretch>
            <a:fillRect/>
          </a:stretch>
        </p:blipFill>
        <p:spPr>
          <a:xfrm>
            <a:off x="1965960" y="2103120"/>
            <a:ext cx="457200" cy="457200"/>
          </a:xfrm>
          <a:prstGeom prst="rect">
            <a:avLst/>
          </a:prstGeom>
        </p:spPr>
      </p:pic>
      <p:pic>
        <p:nvPicPr>
          <p:cNvPr id="6" name="Picture 5" descr="zap-F0AB00-96.png"/>
          <p:cNvPicPr>
            <a:picLocks noChangeAspect="1"/>
          </p:cNvPicPr>
          <p:nvPr/>
        </p:nvPicPr>
        <p:blipFill>
          <a:blip r:embed="rId4"/>
          <a:stretch>
            <a:fillRect/>
          </a:stretch>
        </p:blipFill>
        <p:spPr>
          <a:xfrm>
            <a:off x="2788920" y="1943100"/>
            <a:ext cx="777240" cy="777240"/>
          </a:xfrm>
          <a:prstGeom prst="rect">
            <a:avLst/>
          </a:prstGeom>
        </p:spPr>
      </p:pic>
      <p:sp>
        <p:nvSpPr>
          <p:cNvPr id="7" name="TextBox 6"/>
          <p:cNvSpPr txBox="1"/>
          <p:nvPr/>
        </p:nvSpPr>
        <p:spPr>
          <a:xfrm>
            <a:off x="3840480" y="1417320"/>
            <a:ext cx="6949440" cy="1828800"/>
          </a:xfrm>
          <a:prstGeom prst="rect">
            <a:avLst/>
          </a:prstGeom>
          <a:noFill/>
        </p:spPr>
        <p:txBody>
          <a:bodyPr wrap="square" lIns="0" rIns="0" tIns="0" bIns="0" anchor="ctr">
            <a:spAutoFit/>
          </a:bodyPr>
          <a:lstStyle/>
          <a:p>
            <a:pPr algn="l">
              <a:lnSpc>
                <a:spcPct val="120000"/>
              </a:lnSpc>
              <a:spcAft>
                <a:spcPts val="600"/>
              </a:spcAft>
            </a:pPr>
            <a:r>
              <a:rPr sz="2000" b="1" i="0">
                <a:solidFill>
                  <a:srgbClr val="21295C"/>
                </a:solidFill>
                <a:latin typeface="Arial"/>
              </a:rPr>
              <a:t>A "generate description" button</a:t>
            </a:r>
          </a:p>
          <a:p>
            <a:pPr algn="l">
              <a:lnSpc>
                <a:spcPct val="130000"/>
              </a:lnSpc>
              <a:spcAft>
                <a:spcPts val="0"/>
              </a:spcAft>
            </a:pPr>
            <a:r>
              <a:rPr sz="1500" b="0" i="0">
                <a:solidFill>
                  <a:srgbClr val="21295C"/>
                </a:solidFill>
                <a:latin typeface="Arial"/>
              </a:rPr>
              <a:t>right inside the existing catalog admin panel that marketing already uses every day</a:t>
            </a:r>
          </a:p>
        </p:txBody>
      </p:sp>
      <p:sp>
        <p:nvSpPr>
          <p:cNvPr id="8" name="Rounded Rectangle 7"/>
          <p:cNvSpPr/>
          <p:nvPr/>
        </p:nvSpPr>
        <p:spPr>
          <a:xfrm>
            <a:off x="502920" y="3566160"/>
            <a:ext cx="11183112" cy="1097280"/>
          </a:xfrm>
          <a:prstGeom prst="roundRect">
            <a:avLst>
              <a:gd name="adj" fmla="val 25000"/>
            </a:avLst>
          </a:prstGeom>
          <a:solidFill>
            <a:srgbClr val="FEF5E0"/>
          </a:solidFill>
          <a:ln w="17780">
            <a:solidFill>
              <a:srgbClr val="F0AB00"/>
            </a:solidFill>
          </a:ln>
          <a:effectLst/>
        </p:spPr>
        <p:txBody>
          <a:bodyPr rtlCol="0" anchor="ctr"/>
          <a:lstStyle/>
          <a:p>
            <a:pPr algn="ctr"/>
          </a:p>
        </p:txBody>
      </p:sp>
      <p:sp>
        <p:nvSpPr>
          <p:cNvPr id="9" name="TextBox 8"/>
          <p:cNvSpPr txBox="1"/>
          <p:nvPr/>
        </p:nvSpPr>
        <p:spPr>
          <a:xfrm>
            <a:off x="777240" y="3566160"/>
            <a:ext cx="10607040" cy="1097280"/>
          </a:xfrm>
          <a:prstGeom prst="rect">
            <a:avLst/>
          </a:prstGeom>
          <a:noFill/>
        </p:spPr>
        <p:txBody>
          <a:bodyPr wrap="square" lIns="0" rIns="0" tIns="0" bIns="0" anchor="ctr">
            <a:spAutoFit/>
          </a:bodyPr>
          <a:lstStyle/>
          <a:p>
            <a:pPr algn="l">
              <a:lnSpc>
                <a:spcPct val="125000"/>
              </a:lnSpc>
            </a:pPr>
            <a:r>
              <a:rPr sz="1700" b="1" i="0">
                <a:solidFill>
                  <a:srgbClr val="21295C"/>
                </a:solidFill>
                <a:latin typeface="Arial"/>
              </a:rPr>
              <a:t>A separate product means a second login and tab — a cost nobody thought about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3112" cy="502920"/>
          </a:xfrm>
          <a:prstGeom prst="rect">
            <a:avLst/>
          </a:prstGeom>
          <a:noFill/>
        </p:spPr>
        <p:txBody>
          <a:bodyPr wrap="square" lIns="0" rIns="0" tIns="0" bIns="0" anchor="t">
            <a:spAutoFit/>
          </a:bodyPr>
          <a:lstStyle/>
          <a:p>
            <a:pPr algn="l">
              <a:lnSpc>
                <a:spcPct val="115000"/>
              </a:lnSpc>
            </a:pPr>
            <a:r>
              <a:rPr sz="2700" b="1" i="0">
                <a:solidFill>
                  <a:srgbClr val="21295C"/>
                </a:solidFill>
                <a:latin typeface="Arial"/>
              </a:rPr>
              <a:t>Kite and Copilot</a:t>
            </a:r>
          </a:p>
        </p:txBody>
      </p:sp>
      <p:sp>
        <p:nvSpPr>
          <p:cNvPr id="3" name="TextBox 2"/>
          <p:cNvSpPr txBox="1"/>
          <p:nvPr/>
        </p:nvSpPr>
        <p:spPr>
          <a:xfrm>
            <a:off x="502920" y="868680"/>
            <a:ext cx="11183112" cy="36576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One technology, different integration — 17 months of head-to-head competition</a:t>
            </a:r>
          </a:p>
        </p:txBody>
      </p:sp>
      <p:sp>
        <p:nvSpPr>
          <p:cNvPr id="4" name="Rectangle 3"/>
          <p:cNvSpPr/>
          <p:nvPr/>
        </p:nvSpPr>
        <p:spPr>
          <a:xfrm>
            <a:off x="685800" y="2770632"/>
            <a:ext cx="10835640" cy="45720"/>
          </a:xfrm>
          <a:prstGeom prst="rect">
            <a:avLst/>
          </a:prstGeom>
          <a:solidFill>
            <a:srgbClr val="E5EAF0"/>
          </a:solidFill>
          <a:ln>
            <a:noFill/>
          </a:ln>
          <a:effectLst/>
        </p:spPr>
        <p:txBody>
          <a:bodyPr rtlCol="0" anchor="ctr"/>
          <a:lstStyle/>
          <a:p>
            <a:pPr algn="ctr"/>
          </a:p>
        </p:txBody>
      </p:sp>
      <p:sp>
        <p:nvSpPr>
          <p:cNvPr id="5" name="Rectangle 4"/>
          <p:cNvSpPr/>
          <p:nvPr/>
        </p:nvSpPr>
        <p:spPr>
          <a:xfrm>
            <a:off x="9510702" y="2770632"/>
            <a:ext cx="1563906" cy="45720"/>
          </a:xfrm>
          <a:prstGeom prst="rect">
            <a:avLst/>
          </a:prstGeom>
          <a:solidFill>
            <a:srgbClr val="F0AB00"/>
          </a:solidFill>
          <a:ln>
            <a:noFill/>
          </a:ln>
          <a:effectLst/>
        </p:spPr>
        <p:txBody>
          <a:bodyPr rtlCol="0" anchor="ctr"/>
          <a:lstStyle/>
          <a:p>
            <a:pPr algn="ctr"/>
          </a:p>
        </p:txBody>
      </p:sp>
      <p:sp>
        <p:nvSpPr>
          <p:cNvPr id="6" name="TextBox 5"/>
          <p:cNvSpPr txBox="1"/>
          <p:nvPr/>
        </p:nvSpPr>
        <p:spPr>
          <a:xfrm>
            <a:off x="8646736" y="1097279"/>
            <a:ext cx="3291840" cy="274320"/>
          </a:xfrm>
          <a:prstGeom prst="rect">
            <a:avLst/>
          </a:prstGeom>
          <a:noFill/>
        </p:spPr>
        <p:txBody>
          <a:bodyPr wrap="square" lIns="0" rIns="0" tIns="0" bIns="0" anchor="t">
            <a:spAutoFit/>
          </a:bodyPr>
          <a:lstStyle/>
          <a:p>
            <a:pPr algn="ctr">
              <a:lnSpc>
                <a:spcPct val="115000"/>
              </a:lnSpc>
            </a:pPr>
            <a:r>
              <a:rPr sz="1200" b="1" i="1">
                <a:solidFill>
                  <a:srgbClr val="21295C"/>
                </a:solidFill>
                <a:latin typeface="Arial"/>
              </a:rPr>
              <a:t>~17 months of market overlap</a:t>
            </a:r>
          </a:p>
        </p:txBody>
      </p:sp>
      <p:sp>
        <p:nvSpPr>
          <p:cNvPr id="7" name="Rounded Rectangle 6"/>
          <p:cNvSpPr/>
          <p:nvPr/>
        </p:nvSpPr>
        <p:spPr>
          <a:xfrm>
            <a:off x="1050334" y="2720340"/>
            <a:ext cx="164592" cy="164592"/>
          </a:xfrm>
          <a:prstGeom prst="roundRect">
            <a:avLst>
              <a:gd name="adj" fmla="val 50000"/>
            </a:avLst>
          </a:prstGeom>
          <a:solidFill>
            <a:srgbClr val="065A82"/>
          </a:solidFill>
          <a:ln>
            <a:noFill/>
          </a:ln>
          <a:effectLst/>
        </p:spPr>
        <p:txBody>
          <a:bodyPr rtlCol="0" anchor="ctr"/>
          <a:lstStyle/>
          <a:p>
            <a:pPr algn="ctr"/>
          </a:p>
        </p:txBody>
      </p:sp>
      <p:sp>
        <p:nvSpPr>
          <p:cNvPr id="8" name="TextBox 7"/>
          <p:cNvSpPr txBox="1"/>
          <p:nvPr/>
        </p:nvSpPr>
        <p:spPr>
          <a:xfrm>
            <a:off x="172510" y="1508760"/>
            <a:ext cx="1920240" cy="274320"/>
          </a:xfrm>
          <a:prstGeom prst="rect">
            <a:avLst/>
          </a:prstGeom>
          <a:noFill/>
        </p:spPr>
        <p:txBody>
          <a:bodyPr wrap="square" lIns="0" rIns="0" tIns="0" bIns="0" anchor="t">
            <a:spAutoFit/>
          </a:bodyPr>
          <a:lstStyle/>
          <a:p>
            <a:pPr algn="ctr">
              <a:lnSpc>
                <a:spcPct val="115000"/>
              </a:lnSpc>
            </a:pPr>
            <a:r>
              <a:rPr sz="1200" b="1" i="0">
                <a:solidFill>
                  <a:srgbClr val="21295C"/>
                </a:solidFill>
                <a:latin typeface="Arial"/>
              </a:rPr>
              <a:t>2014</a:t>
            </a:r>
          </a:p>
        </p:txBody>
      </p:sp>
      <p:sp>
        <p:nvSpPr>
          <p:cNvPr id="9" name="TextBox 8"/>
          <p:cNvSpPr txBox="1"/>
          <p:nvPr/>
        </p:nvSpPr>
        <p:spPr>
          <a:xfrm>
            <a:off x="81070" y="1783080"/>
            <a:ext cx="2103120" cy="502920"/>
          </a:xfrm>
          <a:prstGeom prst="rect">
            <a:avLst/>
          </a:prstGeom>
          <a:noFill/>
        </p:spPr>
        <p:txBody>
          <a:bodyPr wrap="square" lIns="0" rIns="0" tIns="0" bIns="0" anchor="t">
            <a:spAutoFit/>
          </a:bodyPr>
          <a:lstStyle/>
          <a:p>
            <a:pPr algn="ctr">
              <a:lnSpc>
                <a:spcPct val="115000"/>
              </a:lnSpc>
            </a:pPr>
            <a:r>
              <a:rPr sz="1050" b="0" i="0">
                <a:solidFill>
                  <a:srgbClr val="6B7685"/>
                </a:solidFill>
                <a:latin typeface="Arial"/>
              </a:rPr>
              <a:t>Kite founded</a:t>
            </a:r>
          </a:p>
        </p:txBody>
      </p:sp>
      <p:sp>
        <p:nvSpPr>
          <p:cNvPr id="10" name="Rounded Rectangle 9"/>
          <p:cNvSpPr/>
          <p:nvPr/>
        </p:nvSpPr>
        <p:spPr>
          <a:xfrm>
            <a:off x="6635715" y="2720340"/>
            <a:ext cx="164592" cy="164592"/>
          </a:xfrm>
          <a:prstGeom prst="roundRect">
            <a:avLst>
              <a:gd name="adj" fmla="val 50000"/>
            </a:avLst>
          </a:prstGeom>
          <a:solidFill>
            <a:srgbClr val="065A82"/>
          </a:solidFill>
          <a:ln>
            <a:noFill/>
          </a:ln>
          <a:effectLst/>
        </p:spPr>
        <p:txBody>
          <a:bodyPr rtlCol="0" anchor="ctr"/>
          <a:lstStyle/>
          <a:p>
            <a:pPr algn="ctr"/>
          </a:p>
        </p:txBody>
      </p:sp>
      <p:sp>
        <p:nvSpPr>
          <p:cNvPr id="11" name="TextBox 10"/>
          <p:cNvSpPr txBox="1"/>
          <p:nvPr/>
        </p:nvSpPr>
        <p:spPr>
          <a:xfrm>
            <a:off x="5757891" y="3017520"/>
            <a:ext cx="1920240" cy="274320"/>
          </a:xfrm>
          <a:prstGeom prst="rect">
            <a:avLst/>
          </a:prstGeom>
          <a:noFill/>
        </p:spPr>
        <p:txBody>
          <a:bodyPr wrap="square" lIns="0" rIns="0" tIns="0" bIns="0" anchor="t">
            <a:spAutoFit/>
          </a:bodyPr>
          <a:lstStyle/>
          <a:p>
            <a:pPr algn="ctr">
              <a:lnSpc>
                <a:spcPct val="115000"/>
              </a:lnSpc>
            </a:pPr>
            <a:r>
              <a:rPr sz="1200" b="1" i="0">
                <a:solidFill>
                  <a:srgbClr val="21295C"/>
                </a:solidFill>
                <a:latin typeface="Arial"/>
              </a:rPr>
              <a:t>2019</a:t>
            </a:r>
          </a:p>
        </p:txBody>
      </p:sp>
      <p:sp>
        <p:nvSpPr>
          <p:cNvPr id="12" name="TextBox 11"/>
          <p:cNvSpPr txBox="1"/>
          <p:nvPr/>
        </p:nvSpPr>
        <p:spPr>
          <a:xfrm>
            <a:off x="5666451" y="3310127"/>
            <a:ext cx="2103120" cy="502920"/>
          </a:xfrm>
          <a:prstGeom prst="rect">
            <a:avLst/>
          </a:prstGeom>
          <a:noFill/>
        </p:spPr>
        <p:txBody>
          <a:bodyPr wrap="square" lIns="0" rIns="0" tIns="0" bIns="0" anchor="t">
            <a:spAutoFit/>
          </a:bodyPr>
          <a:lstStyle/>
          <a:p>
            <a:pPr algn="ctr">
              <a:lnSpc>
                <a:spcPct val="115000"/>
              </a:lnSpc>
            </a:pPr>
            <a:r>
              <a:rPr sz="1050" b="0" i="0">
                <a:solidFill>
                  <a:srgbClr val="6B7685"/>
                </a:solidFill>
                <a:latin typeface="Arial"/>
              </a:rPr>
              <a:t>Local model execution</a:t>
            </a:r>
          </a:p>
        </p:txBody>
      </p:sp>
      <p:sp>
        <p:nvSpPr>
          <p:cNvPr id="13" name="Rounded Rectangle 12"/>
          <p:cNvSpPr/>
          <p:nvPr/>
        </p:nvSpPr>
        <p:spPr>
          <a:xfrm>
            <a:off x="9428406" y="2720340"/>
            <a:ext cx="164592" cy="164592"/>
          </a:xfrm>
          <a:prstGeom prst="roundRect">
            <a:avLst>
              <a:gd name="adj" fmla="val 50000"/>
            </a:avLst>
          </a:prstGeom>
          <a:solidFill>
            <a:srgbClr val="065A82"/>
          </a:solidFill>
          <a:ln>
            <a:noFill/>
          </a:ln>
          <a:effectLst/>
        </p:spPr>
        <p:txBody>
          <a:bodyPr rtlCol="0" anchor="ctr"/>
          <a:lstStyle/>
          <a:p>
            <a:pPr algn="ctr"/>
          </a:p>
        </p:txBody>
      </p:sp>
      <p:sp>
        <p:nvSpPr>
          <p:cNvPr id="14" name="TextBox 13"/>
          <p:cNvSpPr txBox="1"/>
          <p:nvPr/>
        </p:nvSpPr>
        <p:spPr>
          <a:xfrm>
            <a:off x="8550582" y="1508760"/>
            <a:ext cx="1920240" cy="274320"/>
          </a:xfrm>
          <a:prstGeom prst="rect">
            <a:avLst/>
          </a:prstGeom>
          <a:noFill/>
        </p:spPr>
        <p:txBody>
          <a:bodyPr wrap="square" lIns="0" rIns="0" tIns="0" bIns="0" anchor="t">
            <a:spAutoFit/>
          </a:bodyPr>
          <a:lstStyle/>
          <a:p>
            <a:pPr algn="ctr">
              <a:lnSpc>
                <a:spcPct val="115000"/>
              </a:lnSpc>
            </a:pPr>
            <a:r>
              <a:rPr sz="1200" b="1" i="0">
                <a:solidFill>
                  <a:srgbClr val="21295C"/>
                </a:solidFill>
                <a:latin typeface="Arial"/>
              </a:rPr>
              <a:t>29.06.2021</a:t>
            </a:r>
          </a:p>
        </p:txBody>
      </p:sp>
      <p:sp>
        <p:nvSpPr>
          <p:cNvPr id="15" name="TextBox 14"/>
          <p:cNvSpPr txBox="1"/>
          <p:nvPr/>
        </p:nvSpPr>
        <p:spPr>
          <a:xfrm>
            <a:off x="8459142" y="1783080"/>
            <a:ext cx="2103120" cy="502920"/>
          </a:xfrm>
          <a:prstGeom prst="rect">
            <a:avLst/>
          </a:prstGeom>
          <a:noFill/>
        </p:spPr>
        <p:txBody>
          <a:bodyPr wrap="square" lIns="0" rIns="0" tIns="0" bIns="0" anchor="t">
            <a:spAutoFit/>
          </a:bodyPr>
          <a:lstStyle/>
          <a:p>
            <a:pPr algn="ctr">
              <a:lnSpc>
                <a:spcPct val="115000"/>
              </a:lnSpc>
            </a:pPr>
            <a:r>
              <a:rPr sz="1050" b="0" i="0">
                <a:solidFill>
                  <a:srgbClr val="6B7685"/>
                </a:solidFill>
                <a:latin typeface="Arial"/>
              </a:rPr>
              <a:t>Copilot technical preview</a:t>
            </a:r>
          </a:p>
        </p:txBody>
      </p:sp>
      <p:sp>
        <p:nvSpPr>
          <p:cNvPr id="16" name="Rounded Rectangle 15"/>
          <p:cNvSpPr/>
          <p:nvPr/>
        </p:nvSpPr>
        <p:spPr>
          <a:xfrm>
            <a:off x="10511970" y="2720340"/>
            <a:ext cx="164592" cy="164592"/>
          </a:xfrm>
          <a:prstGeom prst="roundRect">
            <a:avLst>
              <a:gd name="adj" fmla="val 50000"/>
            </a:avLst>
          </a:prstGeom>
          <a:solidFill>
            <a:srgbClr val="065A82"/>
          </a:solidFill>
          <a:ln>
            <a:noFill/>
          </a:ln>
          <a:effectLst/>
        </p:spPr>
        <p:txBody>
          <a:bodyPr rtlCol="0" anchor="ctr"/>
          <a:lstStyle/>
          <a:p>
            <a:pPr algn="ctr"/>
          </a:p>
        </p:txBody>
      </p:sp>
      <p:sp>
        <p:nvSpPr>
          <p:cNvPr id="17" name="TextBox 16"/>
          <p:cNvSpPr txBox="1"/>
          <p:nvPr/>
        </p:nvSpPr>
        <p:spPr>
          <a:xfrm>
            <a:off x="9634146" y="3017520"/>
            <a:ext cx="1920240" cy="274320"/>
          </a:xfrm>
          <a:prstGeom prst="rect">
            <a:avLst/>
          </a:prstGeom>
          <a:noFill/>
        </p:spPr>
        <p:txBody>
          <a:bodyPr wrap="square" lIns="0" rIns="0" tIns="0" bIns="0" anchor="t">
            <a:spAutoFit/>
          </a:bodyPr>
          <a:lstStyle/>
          <a:p>
            <a:pPr algn="ctr">
              <a:lnSpc>
                <a:spcPct val="115000"/>
              </a:lnSpc>
            </a:pPr>
            <a:r>
              <a:rPr sz="1200" b="1" i="0">
                <a:solidFill>
                  <a:srgbClr val="21295C"/>
                </a:solidFill>
                <a:latin typeface="Arial"/>
              </a:rPr>
              <a:t>21.06.2022</a:t>
            </a:r>
          </a:p>
        </p:txBody>
      </p:sp>
      <p:sp>
        <p:nvSpPr>
          <p:cNvPr id="18" name="TextBox 17"/>
          <p:cNvSpPr txBox="1"/>
          <p:nvPr/>
        </p:nvSpPr>
        <p:spPr>
          <a:xfrm>
            <a:off x="9542706" y="3310127"/>
            <a:ext cx="2103120" cy="502920"/>
          </a:xfrm>
          <a:prstGeom prst="rect">
            <a:avLst/>
          </a:prstGeom>
          <a:noFill/>
        </p:spPr>
        <p:txBody>
          <a:bodyPr wrap="square" lIns="0" rIns="0" tIns="0" bIns="0" anchor="t">
            <a:spAutoFit/>
          </a:bodyPr>
          <a:lstStyle/>
          <a:p>
            <a:pPr algn="ctr">
              <a:lnSpc>
                <a:spcPct val="115000"/>
              </a:lnSpc>
            </a:pPr>
            <a:r>
              <a:rPr sz="1050" b="0" i="0">
                <a:solidFill>
                  <a:srgbClr val="6B7685"/>
                </a:solidFill>
                <a:latin typeface="Arial"/>
              </a:rPr>
              <a:t>Copilot GA, $10/mo</a:t>
            </a:r>
          </a:p>
        </p:txBody>
      </p:sp>
      <p:sp>
        <p:nvSpPr>
          <p:cNvPr id="19" name="Rounded Rectangle 18"/>
          <p:cNvSpPr/>
          <p:nvPr/>
        </p:nvSpPr>
        <p:spPr>
          <a:xfrm>
            <a:off x="10955737" y="2683764"/>
            <a:ext cx="237744" cy="237744"/>
          </a:xfrm>
          <a:prstGeom prst="roundRect">
            <a:avLst>
              <a:gd name="adj" fmla="val 50000"/>
            </a:avLst>
          </a:prstGeom>
          <a:solidFill>
            <a:srgbClr val="F0AB00"/>
          </a:solidFill>
          <a:ln>
            <a:noFill/>
          </a:ln>
          <a:effectLst/>
        </p:spPr>
        <p:txBody>
          <a:bodyPr rtlCol="0" anchor="ctr"/>
          <a:lstStyle/>
          <a:p>
            <a:pPr algn="ctr"/>
          </a:p>
        </p:txBody>
      </p:sp>
      <p:sp>
        <p:nvSpPr>
          <p:cNvPr id="20" name="TextBox 19"/>
          <p:cNvSpPr txBox="1"/>
          <p:nvPr/>
        </p:nvSpPr>
        <p:spPr>
          <a:xfrm>
            <a:off x="10114489" y="1508760"/>
            <a:ext cx="1920240" cy="274320"/>
          </a:xfrm>
          <a:prstGeom prst="rect">
            <a:avLst/>
          </a:prstGeom>
          <a:noFill/>
        </p:spPr>
        <p:txBody>
          <a:bodyPr wrap="square" lIns="0" rIns="0" tIns="0" bIns="0" anchor="t">
            <a:spAutoFit/>
          </a:bodyPr>
          <a:lstStyle/>
          <a:p>
            <a:pPr algn="ctr">
              <a:lnSpc>
                <a:spcPct val="115000"/>
              </a:lnSpc>
            </a:pPr>
            <a:r>
              <a:rPr sz="1200" b="1" i="0">
                <a:solidFill>
                  <a:srgbClr val="F0AB00"/>
                </a:solidFill>
                <a:latin typeface="Arial"/>
              </a:rPr>
              <a:t>21.11.2022</a:t>
            </a:r>
          </a:p>
        </p:txBody>
      </p:sp>
      <p:sp>
        <p:nvSpPr>
          <p:cNvPr id="21" name="TextBox 20"/>
          <p:cNvSpPr txBox="1"/>
          <p:nvPr/>
        </p:nvSpPr>
        <p:spPr>
          <a:xfrm>
            <a:off x="10023049" y="1783080"/>
            <a:ext cx="2103120" cy="502920"/>
          </a:xfrm>
          <a:prstGeom prst="rect">
            <a:avLst/>
          </a:prstGeom>
          <a:noFill/>
        </p:spPr>
        <p:txBody>
          <a:bodyPr wrap="square" lIns="0" rIns="0" tIns="0" bIns="0" anchor="t">
            <a:spAutoFit/>
          </a:bodyPr>
          <a:lstStyle/>
          <a:p>
            <a:pPr algn="ctr">
              <a:lnSpc>
                <a:spcPct val="115000"/>
              </a:lnSpc>
            </a:pPr>
            <a:r>
              <a:rPr sz="1050" b="0" i="0">
                <a:solidFill>
                  <a:srgbClr val="6B7685"/>
                </a:solidFill>
                <a:latin typeface="Arial"/>
              </a:rPr>
              <a:t>Kite shuts down</a:t>
            </a:r>
          </a:p>
        </p:txBody>
      </p:sp>
      <p:sp>
        <p:nvSpPr>
          <p:cNvPr id="22" name="Rounded Rectangle 21"/>
          <p:cNvSpPr/>
          <p:nvPr/>
        </p:nvSpPr>
        <p:spPr>
          <a:xfrm>
            <a:off x="502920" y="4434840"/>
            <a:ext cx="5454396" cy="1051560"/>
          </a:xfrm>
          <a:prstGeom prst="roundRect">
            <a:avLst>
              <a:gd name="adj" fmla="val 25000"/>
            </a:avLst>
          </a:prstGeom>
          <a:solidFill>
            <a:srgbClr val="FBEAEA"/>
          </a:solidFill>
          <a:ln w="16510">
            <a:solidFill>
              <a:srgbClr val="B04A4A"/>
            </a:solidFill>
          </a:ln>
          <a:effectLst/>
        </p:spPr>
        <p:txBody>
          <a:bodyPr rtlCol="0" anchor="ctr"/>
          <a:lstStyle/>
          <a:p>
            <a:pPr algn="ctr"/>
          </a:p>
        </p:txBody>
      </p:sp>
      <p:sp>
        <p:nvSpPr>
          <p:cNvPr id="23" name="TextBox 22"/>
          <p:cNvSpPr txBox="1"/>
          <p:nvPr/>
        </p:nvSpPr>
        <p:spPr>
          <a:xfrm>
            <a:off x="685800" y="4526279"/>
            <a:ext cx="5088636" cy="868680"/>
          </a:xfrm>
          <a:prstGeom prst="rect">
            <a:avLst/>
          </a:prstGeom>
          <a:noFill/>
        </p:spPr>
        <p:txBody>
          <a:bodyPr wrap="square" lIns="0" rIns="0" tIns="0" bIns="0" anchor="ctr">
            <a:spAutoFit/>
          </a:bodyPr>
          <a:lstStyle/>
          <a:p>
            <a:pPr algn="l">
              <a:lnSpc>
                <a:spcPct val="120000"/>
              </a:lnSpc>
            </a:pPr>
            <a:r>
              <a:rPr sz="1350" b="1" i="0">
                <a:solidFill>
                  <a:srgbClr val="21295C"/>
                </a:solidFill>
                <a:latin typeface="Arial"/>
              </a:rPr>
              <a:t>Kite — ~500,000 users at peak</a:t>
            </a:r>
          </a:p>
        </p:txBody>
      </p:sp>
      <p:sp>
        <p:nvSpPr>
          <p:cNvPr id="24" name="Rounded Rectangle 23"/>
          <p:cNvSpPr/>
          <p:nvPr/>
        </p:nvSpPr>
        <p:spPr>
          <a:xfrm>
            <a:off x="6231636" y="4434840"/>
            <a:ext cx="5454396" cy="1051560"/>
          </a:xfrm>
          <a:prstGeom prst="roundRect">
            <a:avLst>
              <a:gd name="adj" fmla="val 25000"/>
            </a:avLst>
          </a:prstGeom>
          <a:solidFill>
            <a:srgbClr val="E9F5F2"/>
          </a:solidFill>
          <a:ln w="16510">
            <a:solidFill>
              <a:srgbClr val="028090"/>
            </a:solidFill>
          </a:ln>
          <a:effectLst/>
        </p:spPr>
        <p:txBody>
          <a:bodyPr rtlCol="0" anchor="ctr"/>
          <a:lstStyle/>
          <a:p>
            <a:pPr algn="ctr"/>
          </a:p>
        </p:txBody>
      </p:sp>
      <p:sp>
        <p:nvSpPr>
          <p:cNvPr id="25" name="TextBox 24"/>
          <p:cNvSpPr txBox="1"/>
          <p:nvPr/>
        </p:nvSpPr>
        <p:spPr>
          <a:xfrm>
            <a:off x="6414516" y="4526279"/>
            <a:ext cx="5088636" cy="868680"/>
          </a:xfrm>
          <a:prstGeom prst="rect">
            <a:avLst/>
          </a:prstGeom>
          <a:noFill/>
        </p:spPr>
        <p:txBody>
          <a:bodyPr wrap="square" lIns="0" rIns="0" tIns="0" bIns="0" anchor="ctr">
            <a:spAutoFit/>
          </a:bodyPr>
          <a:lstStyle/>
          <a:p>
            <a:pPr algn="l">
              <a:lnSpc>
                <a:spcPct val="120000"/>
              </a:lnSpc>
            </a:pPr>
            <a:r>
              <a:rPr sz="1250" b="1" i="0">
                <a:solidFill>
                  <a:srgbClr val="21295C"/>
                </a:solidFill>
                <a:latin typeface="Arial"/>
              </a:rPr>
              <a:t>Copilot — ~20M users · 4.7M paid · ~90% Fortune 100</a:t>
            </a:r>
          </a:p>
        </p:txBody>
      </p:sp>
      <p:sp>
        <p:nvSpPr>
          <p:cNvPr id="26" name="Rounded Rectangle 25"/>
          <p:cNvSpPr/>
          <p:nvPr/>
        </p:nvSpPr>
        <p:spPr>
          <a:xfrm>
            <a:off x="502920" y="5687568"/>
            <a:ext cx="11183112" cy="868680"/>
          </a:xfrm>
          <a:prstGeom prst="roundRect">
            <a:avLst>
              <a:gd name="adj" fmla="val 25000"/>
            </a:avLst>
          </a:prstGeom>
          <a:solidFill>
            <a:srgbClr val="FEF5E0"/>
          </a:solidFill>
          <a:ln w="17780">
            <a:solidFill>
              <a:srgbClr val="F0AB00"/>
            </a:solidFill>
          </a:ln>
          <a:effectLst/>
        </p:spPr>
        <p:txBody>
          <a:bodyPr rtlCol="0" anchor="ctr"/>
          <a:lstStyle/>
          <a:p>
            <a:pPr algn="ctr"/>
          </a:p>
        </p:txBody>
      </p:sp>
      <p:sp>
        <p:nvSpPr>
          <p:cNvPr id="27" name="TextBox 26"/>
          <p:cNvSpPr txBox="1"/>
          <p:nvPr/>
        </p:nvSpPr>
        <p:spPr>
          <a:xfrm>
            <a:off x="777240" y="5687568"/>
            <a:ext cx="10607040" cy="868680"/>
          </a:xfrm>
          <a:prstGeom prst="rect">
            <a:avLst/>
          </a:prstGeom>
          <a:noFill/>
        </p:spPr>
        <p:txBody>
          <a:bodyPr wrap="square" lIns="0" rIns="0" tIns="0" bIns="0" anchor="ctr">
            <a:spAutoFit/>
          </a:bodyPr>
          <a:lstStyle/>
          <a:p>
            <a:pPr algn="l">
              <a:lnSpc>
                <a:spcPct val="120000"/>
              </a:lnSpc>
            </a:pPr>
            <a:r>
              <a:rPr sz="1500" b="1" i="0">
                <a:solidFill>
                  <a:srgbClr val="21295C"/>
                </a:solidFill>
                <a:latin typeface="Arial"/>
              </a:rPr>
              <a:t>Being built into an already-existing workflow beat a separate product on comparable technology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3112" cy="502920"/>
          </a:xfrm>
          <a:prstGeom prst="rect">
            <a:avLst/>
          </a:prstGeom>
          <a:noFill/>
        </p:spPr>
        <p:txBody>
          <a:bodyPr wrap="square" lIns="0" rIns="0" tIns="0" bIns="0" anchor="t">
            <a:spAutoFit/>
          </a:bodyPr>
          <a:lstStyle/>
          <a:p>
            <a:pPr algn="l">
              <a:lnSpc>
                <a:spcPct val="115000"/>
              </a:lnSpc>
            </a:pPr>
            <a:r>
              <a:rPr sz="2300" b="1" i="0">
                <a:solidFill>
                  <a:srgbClr val="21295C"/>
                </a:solidFill>
                <a:latin typeface="Arial"/>
              </a:rPr>
              <a:t>A standalone device against a phone feature</a:t>
            </a:r>
          </a:p>
        </p:txBody>
      </p:sp>
      <p:sp>
        <p:nvSpPr>
          <p:cNvPr id="3" name="Rounded Rectangle 2"/>
          <p:cNvSpPr/>
          <p:nvPr/>
        </p:nvSpPr>
        <p:spPr>
          <a:xfrm>
            <a:off x="502920" y="1051560"/>
            <a:ext cx="5454396" cy="3794760"/>
          </a:xfrm>
          <a:prstGeom prst="roundRect">
            <a:avLst>
              <a:gd name="adj" fmla="val 8032"/>
            </a:avLst>
          </a:prstGeom>
          <a:solidFill>
            <a:srgbClr val="FBEAEA"/>
          </a:solidFill>
          <a:ln w="17780">
            <a:solidFill>
              <a:srgbClr val="B04A4A"/>
            </a:solidFill>
          </a:ln>
          <a:effectLst/>
        </p:spPr>
        <p:txBody>
          <a:bodyPr rtlCol="0" anchor="ctr"/>
          <a:lstStyle/>
          <a:p>
            <a:pPr algn="ctr"/>
          </a:p>
        </p:txBody>
      </p:sp>
      <p:pic>
        <p:nvPicPr>
          <p:cNvPr id="4" name="Picture 3" descr="smartphone-21295C-64.png"/>
          <p:cNvPicPr>
            <a:picLocks noChangeAspect="1"/>
          </p:cNvPicPr>
          <p:nvPr/>
        </p:nvPicPr>
        <p:blipFill>
          <a:blip r:embed="rId2"/>
          <a:stretch>
            <a:fillRect/>
          </a:stretch>
        </p:blipFill>
        <p:spPr>
          <a:xfrm>
            <a:off x="722376" y="1234439"/>
            <a:ext cx="457200" cy="457200"/>
          </a:xfrm>
          <a:prstGeom prst="rect">
            <a:avLst/>
          </a:prstGeom>
        </p:spPr>
      </p:pic>
      <p:sp>
        <p:nvSpPr>
          <p:cNvPr id="5" name="TextBox 4"/>
          <p:cNvSpPr txBox="1"/>
          <p:nvPr/>
        </p:nvSpPr>
        <p:spPr>
          <a:xfrm>
            <a:off x="1325880" y="1234439"/>
            <a:ext cx="4448556" cy="457200"/>
          </a:xfrm>
          <a:prstGeom prst="rect">
            <a:avLst/>
          </a:prstGeom>
          <a:noFill/>
        </p:spPr>
        <p:txBody>
          <a:bodyPr wrap="square" lIns="0" rIns="0" tIns="0" bIns="0" anchor="ctr">
            <a:spAutoFit/>
          </a:bodyPr>
          <a:lstStyle/>
          <a:p>
            <a:pPr algn="l">
              <a:lnSpc>
                <a:spcPct val="115000"/>
              </a:lnSpc>
            </a:pPr>
            <a:r>
              <a:rPr sz="1600" b="1" i="0">
                <a:solidFill>
                  <a:srgbClr val="21295C"/>
                </a:solidFill>
                <a:latin typeface="Arial"/>
              </a:rPr>
              <a:t>Humane AI Pin</a:t>
            </a:r>
          </a:p>
        </p:txBody>
      </p:sp>
      <p:sp>
        <p:nvSpPr>
          <p:cNvPr id="6" name="TextBox 5"/>
          <p:cNvSpPr txBox="1"/>
          <p:nvPr/>
        </p:nvSpPr>
        <p:spPr>
          <a:xfrm>
            <a:off x="722376" y="1920239"/>
            <a:ext cx="5015483" cy="2788920"/>
          </a:xfrm>
          <a:prstGeom prst="rect">
            <a:avLst/>
          </a:prstGeom>
          <a:noFill/>
        </p:spPr>
        <p:txBody>
          <a:bodyPr wrap="square" lIns="0" rIns="0" tIns="0" bIns="0" anchor="t">
            <a:spAutoFit/>
          </a:bodyPr>
          <a:lstStyle/>
          <a:p>
            <a:pPr algn="l">
              <a:lnSpc>
                <a:spcPct val="128000"/>
              </a:lnSpc>
              <a:spcAft>
                <a:spcPts val="800"/>
              </a:spcAft>
            </a:pPr>
            <a:r>
              <a:rPr sz="1250" b="0" i="0">
                <a:solidFill>
                  <a:srgbClr val="21295C"/>
                </a:solidFill>
                <a:latin typeface="Arial"/>
              </a:rPr>
              <a:t>Screenless wearable badge, laser projector onto your palm, voice control · $699 + $24/mo subscription</a:t>
            </a:r>
          </a:p>
          <a:p>
            <a:pPr algn="l">
              <a:lnSpc>
                <a:spcPct val="120000"/>
              </a:lnSpc>
              <a:spcAft>
                <a:spcPts val="600"/>
              </a:spcAft>
            </a:pPr>
            <a:r>
              <a:rPr sz="1200" b="0" i="0">
                <a:solidFill>
                  <a:srgbClr val="6B7685"/>
                </a:solidFill>
                <a:latin typeface="Arial"/>
              </a:rPr>
              <a:t>Sales since April 2024</a:t>
            </a:r>
          </a:p>
          <a:p>
            <a:pPr algn="l">
              <a:lnSpc>
                <a:spcPct val="128000"/>
              </a:lnSpc>
              <a:spcAft>
                <a:spcPts val="0"/>
              </a:spcAft>
            </a:pPr>
            <a:r>
              <a:rPr sz="1250" b="1" i="0">
                <a:solidFill>
                  <a:srgbClr val="21295C"/>
                </a:solidFill>
                <a:latin typeface="Arial"/>
              </a:rPr>
              <a:t>$241M raised → assets sold to HP for $116M (February 2025) → servers shut off 28.02.2025</a:t>
            </a:r>
          </a:p>
        </p:txBody>
      </p:sp>
      <p:sp>
        <p:nvSpPr>
          <p:cNvPr id="7" name="Rounded Rectangle 6"/>
          <p:cNvSpPr/>
          <p:nvPr/>
        </p:nvSpPr>
        <p:spPr>
          <a:xfrm>
            <a:off x="6231636" y="1051560"/>
            <a:ext cx="5454396" cy="3794760"/>
          </a:xfrm>
          <a:prstGeom prst="roundRect">
            <a:avLst>
              <a:gd name="adj" fmla="val 8032"/>
            </a:avLst>
          </a:prstGeom>
          <a:solidFill>
            <a:srgbClr val="F4F7FA"/>
          </a:solidFill>
          <a:ln w="19050">
            <a:solidFill>
              <a:srgbClr val="028090"/>
            </a:solidFill>
          </a:ln>
          <a:effectLst/>
        </p:spPr>
        <p:txBody>
          <a:bodyPr rtlCol="0" anchor="ctr"/>
          <a:lstStyle/>
          <a:p>
            <a:pPr algn="ctr"/>
          </a:p>
        </p:txBody>
      </p:sp>
      <p:pic>
        <p:nvPicPr>
          <p:cNvPr id="8" name="Picture 7" descr="s17-rabbit-r1-real.jpg"/>
          <p:cNvPicPr>
            <a:picLocks noChangeAspect="1"/>
          </p:cNvPicPr>
          <p:nvPr/>
        </p:nvPicPr>
        <p:blipFill>
          <a:blip r:embed="rId3"/>
          <a:srcRect t="18560" b="18560"/>
          <a:stretch>
            <a:fillRect/>
          </a:stretch>
        </p:blipFill>
        <p:spPr>
          <a:xfrm>
            <a:off x="6359651" y="1179576"/>
            <a:ext cx="5198364" cy="1837943"/>
          </a:xfrm>
          <a:prstGeom prst="rect">
            <a:avLst/>
          </a:prstGeom>
        </p:spPr>
      </p:pic>
      <p:sp>
        <p:nvSpPr>
          <p:cNvPr id="9" name="TextBox 8"/>
          <p:cNvSpPr txBox="1"/>
          <p:nvPr/>
        </p:nvSpPr>
        <p:spPr>
          <a:xfrm>
            <a:off x="6451092" y="3145536"/>
            <a:ext cx="5015483" cy="36576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Rabbit R1</a:t>
            </a:r>
          </a:p>
        </p:txBody>
      </p:sp>
      <p:sp>
        <p:nvSpPr>
          <p:cNvPr id="10" name="TextBox 9"/>
          <p:cNvSpPr txBox="1"/>
          <p:nvPr/>
        </p:nvSpPr>
        <p:spPr>
          <a:xfrm>
            <a:off x="6451092" y="3529584"/>
            <a:ext cx="5015483" cy="1188720"/>
          </a:xfrm>
          <a:prstGeom prst="rect">
            <a:avLst/>
          </a:prstGeom>
          <a:noFill/>
        </p:spPr>
        <p:txBody>
          <a:bodyPr wrap="square" lIns="0" rIns="0" tIns="0" bIns="0" anchor="t">
            <a:spAutoFit/>
          </a:bodyPr>
          <a:lstStyle/>
          <a:p>
            <a:pPr algn="l">
              <a:lnSpc>
                <a:spcPct val="128000"/>
              </a:lnSpc>
            </a:pPr>
            <a:r>
              <a:rPr sz="1250" b="0" i="0">
                <a:solidFill>
                  <a:srgbClr val="21295C"/>
                </a:solidFill>
                <a:latin typeface="Arial"/>
              </a:rPr>
              <a:t>~100,000 units sold, an estimated ~5% of buyers actively use it</a:t>
            </a:r>
          </a:p>
        </p:txBody>
      </p:sp>
      <p:sp>
        <p:nvSpPr>
          <p:cNvPr id="11" name="Rounded Rectangle 10"/>
          <p:cNvSpPr/>
          <p:nvPr/>
        </p:nvSpPr>
        <p:spPr>
          <a:xfrm>
            <a:off x="502920" y="5047488"/>
            <a:ext cx="11183112" cy="1005840"/>
          </a:xfrm>
          <a:prstGeom prst="roundRect">
            <a:avLst>
              <a:gd name="adj" fmla="val 25000"/>
            </a:avLst>
          </a:prstGeom>
          <a:solidFill>
            <a:srgbClr val="FEF5E0"/>
          </a:solidFill>
          <a:ln w="17780">
            <a:solidFill>
              <a:srgbClr val="F0AB00"/>
            </a:solidFill>
          </a:ln>
          <a:effectLst/>
        </p:spPr>
        <p:txBody>
          <a:bodyPr rtlCol="0" anchor="ctr"/>
          <a:lstStyle/>
          <a:p>
            <a:pPr algn="ctr"/>
          </a:p>
        </p:txBody>
      </p:sp>
      <p:sp>
        <p:nvSpPr>
          <p:cNvPr id="12" name="TextBox 11"/>
          <p:cNvSpPr txBox="1"/>
          <p:nvPr/>
        </p:nvSpPr>
        <p:spPr>
          <a:xfrm>
            <a:off x="777240" y="5047488"/>
            <a:ext cx="10607040" cy="1005840"/>
          </a:xfrm>
          <a:prstGeom prst="rect">
            <a:avLst/>
          </a:prstGeom>
          <a:noFill/>
        </p:spPr>
        <p:txBody>
          <a:bodyPr wrap="square" lIns="0" rIns="0" tIns="0" bIns="0" anchor="ctr">
            <a:spAutoFit/>
          </a:bodyPr>
          <a:lstStyle/>
          <a:p>
            <a:pPr algn="l">
              <a:lnSpc>
                <a:spcPct val="122000"/>
              </a:lnSpc>
            </a:pPr>
            <a:r>
              <a:rPr sz="1450" b="1" i="0">
                <a:solidFill>
                  <a:srgbClr val="21295C"/>
                </a:solidFill>
                <a:latin typeface="Arial"/>
              </a:rPr>
              <a:t>A standalone device competes not only with the technology but with the habit of not switching when the function is already on the phone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1295C"/>
        </a:solidFill>
        <a:effectLst/>
      </p:bgPr>
    </p:bg>
    <p:spTree>
      <p:nvGrpSpPr>
        <p:cNvPr id="1" name=""/>
        <p:cNvGrpSpPr/>
        <p:nvPr/>
      </p:nvGrpSpPr>
      <p:grpSpPr/>
      <p:pic>
        <p:nvPicPr>
          <p:cNvPr id="2" name="Picture 1" descr="s18-divider-serverroom-real.jpg"/>
          <p:cNvPicPr>
            <a:picLocks noChangeAspect="1"/>
          </p:cNvPicPr>
          <p:nvPr/>
        </p:nvPicPr>
        <p:blipFill>
          <a:blip r:embed="rId2"/>
          <a:srcRect t="7792" b="779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21295C">
              <a:alpha val="78000"/>
            </a:srgbClr>
          </a:solidFill>
          <a:ln>
            <a:noFill/>
          </a:ln>
          <a:effectLst/>
        </p:spPr>
        <p:txBody>
          <a:bodyPr rtlCol="0" anchor="ctr"/>
          <a:lstStyle/>
          <a:p>
            <a:pPr algn="ctr"/>
          </a:p>
        </p:txBody>
      </p:sp>
      <p:sp>
        <p:nvSpPr>
          <p:cNvPr id="4" name="TextBox 3"/>
          <p:cNvSpPr txBox="1"/>
          <p:nvPr/>
        </p:nvSpPr>
        <p:spPr>
          <a:xfrm>
            <a:off x="-91440" y="-594360"/>
            <a:ext cx="5486400" cy="3291840"/>
          </a:xfrm>
          <a:prstGeom prst="rect">
            <a:avLst/>
          </a:prstGeom>
          <a:noFill/>
        </p:spPr>
        <p:txBody>
          <a:bodyPr wrap="square" lIns="0" rIns="0" tIns="0" bIns="0" anchor="b">
            <a:spAutoFit/>
          </a:bodyPr>
          <a:lstStyle/>
          <a:p>
            <a:pPr algn="l">
              <a:lnSpc>
                <a:spcPct val="90000"/>
              </a:lnSpc>
            </a:pPr>
            <a:r>
              <a:rPr sz="28000" b="1" i="0">
                <a:solidFill>
                  <a:srgbClr val="3A4474"/>
                </a:solidFill>
                <a:latin typeface="Arial"/>
              </a:rPr>
              <a:t>3</a:t>
            </a:r>
          </a:p>
        </p:txBody>
      </p:sp>
      <p:sp>
        <p:nvSpPr>
          <p:cNvPr id="5" name="Rounded Rectangle 4"/>
          <p:cNvSpPr/>
          <p:nvPr/>
        </p:nvSpPr>
        <p:spPr>
          <a:xfrm>
            <a:off x="1965960" y="1600200"/>
            <a:ext cx="201168" cy="201168"/>
          </a:xfrm>
          <a:prstGeom prst="roundRect">
            <a:avLst>
              <a:gd name="adj" fmla="val 50000"/>
            </a:avLst>
          </a:prstGeom>
          <a:solidFill>
            <a:srgbClr val="F0AB00"/>
          </a:solidFill>
          <a:ln>
            <a:noFill/>
          </a:ln>
          <a:effectLst/>
        </p:spPr>
        <p:txBody>
          <a:bodyPr rtlCol="0" anchor="ctr"/>
          <a:lstStyle/>
          <a:p>
            <a:pPr algn="ctr"/>
          </a:p>
        </p:txBody>
      </p:sp>
      <p:sp>
        <p:nvSpPr>
          <p:cNvPr id="6" name="TextBox 5"/>
          <p:cNvSpPr txBox="1"/>
          <p:nvPr/>
        </p:nvSpPr>
        <p:spPr>
          <a:xfrm>
            <a:off x="548640" y="2880360"/>
            <a:ext cx="10607040" cy="1371600"/>
          </a:xfrm>
          <a:prstGeom prst="rect">
            <a:avLst/>
          </a:prstGeom>
          <a:noFill/>
        </p:spPr>
        <p:txBody>
          <a:bodyPr wrap="square" lIns="0" rIns="0" tIns="0" bIns="0" anchor="t">
            <a:spAutoFit/>
          </a:bodyPr>
          <a:lstStyle/>
          <a:p>
            <a:pPr algn="l">
              <a:lnSpc>
                <a:spcPct val="110000"/>
              </a:lnSpc>
            </a:pPr>
            <a:r>
              <a:rPr sz="4000" b="1" i="0">
                <a:solidFill>
                  <a:srgbClr val="FFFFFF"/>
                </a:solidFill>
                <a:latin typeface="Arial"/>
              </a:rPr>
              <a:t>One-off call, RAG, or agent?</a:t>
            </a:r>
          </a:p>
        </p:txBody>
      </p:sp>
      <p:sp>
        <p:nvSpPr>
          <p:cNvPr id="7" name="Rounded Rectangle 6"/>
          <p:cNvSpPr/>
          <p:nvPr/>
        </p:nvSpPr>
        <p:spPr>
          <a:xfrm>
            <a:off x="566928" y="4343400"/>
            <a:ext cx="5120640" cy="502920"/>
          </a:xfrm>
          <a:prstGeom prst="roundRect">
            <a:avLst>
              <a:gd name="adj" fmla="val 50000"/>
            </a:avLst>
          </a:prstGeom>
          <a:solidFill>
            <a:srgbClr val="065A82"/>
          </a:solidFill>
          <a:ln>
            <a:noFill/>
          </a:ln>
          <a:effectLst/>
        </p:spPr>
        <p:txBody>
          <a:bodyPr rtlCol="0" anchor="ctr" lIns="45720" rIns="45720" tIns="27432" bIns="27432" wrap="none"/>
          <a:lstStyle/>
          <a:p>
            <a:pPr algn="ctr"/>
            <a:r>
              <a:rPr sz="1500" b="1">
                <a:solidFill>
                  <a:srgbClr val="FFFFFF"/>
                </a:solidFill>
                <a:latin typeface="Arial"/>
              </a:rPr>
              <a:t>Case: meeting minutes</a:t>
            </a:r>
          </a:p>
        </p:txBody>
      </p:sp>
      <p:sp>
        <p:nvSpPr>
          <p:cNvPr id="8" name="TextBox 7"/>
          <p:cNvSpPr txBox="1"/>
          <p:nvPr/>
        </p:nvSpPr>
        <p:spPr>
          <a:xfrm>
            <a:off x="566928" y="5074920"/>
            <a:ext cx="9875520" cy="640080"/>
          </a:xfrm>
          <a:prstGeom prst="rect">
            <a:avLst/>
          </a:prstGeom>
          <a:noFill/>
        </p:spPr>
        <p:txBody>
          <a:bodyPr wrap="square" lIns="0" rIns="0" tIns="0" bIns="0" anchor="t">
            <a:spAutoFit/>
          </a:bodyPr>
          <a:lstStyle/>
          <a:p>
            <a:pPr algn="l">
              <a:lnSpc>
                <a:spcPct val="130000"/>
              </a:lnSpc>
            </a:pPr>
            <a:r>
              <a:rPr sz="1450" b="0" i="1">
                <a:solidFill>
                  <a:srgbClr val="C8D2DF"/>
                </a:solidFill>
                <a:latin typeface="Arial"/>
              </a:rPr>
              <a:t>The more impressive the task, the more elaborate the architecture — that intuition is worth testing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1183112" cy="91440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A word on RAG</a:t>
            </a:r>
          </a:p>
        </p:txBody>
      </p:sp>
      <p:sp>
        <p:nvSpPr>
          <p:cNvPr id="3" name="TextBox 2"/>
          <p:cNvSpPr txBox="1"/>
          <p:nvPr/>
        </p:nvSpPr>
        <p:spPr>
          <a:xfrm>
            <a:off x="502920" y="960120"/>
            <a:ext cx="8686800" cy="457200"/>
          </a:xfrm>
          <a:prstGeom prst="rect">
            <a:avLst/>
          </a:prstGeom>
          <a:noFill/>
        </p:spPr>
        <p:txBody>
          <a:bodyPr wrap="square" lIns="0" rIns="0" tIns="0" bIns="0" anchor="t">
            <a:spAutoFit/>
          </a:bodyPr>
          <a:lstStyle/>
          <a:p>
            <a:pPr algn="l">
              <a:lnSpc>
                <a:spcPct val="120000"/>
              </a:lnSpc>
            </a:pPr>
            <a:r>
              <a:rPr sz="1500" b="0" i="1">
                <a:solidFill>
                  <a:srgbClr val="065A82"/>
                </a:solidFill>
                <a:latin typeface="Arial"/>
              </a:rPr>
              <a:t>Search over a knowledge base drops the right fragments into the model's context</a:t>
            </a:r>
          </a:p>
        </p:txBody>
      </p:sp>
      <p:sp>
        <p:nvSpPr>
          <p:cNvPr id="4" name="Rounded Rectangle 3"/>
          <p:cNvSpPr/>
          <p:nvPr/>
        </p:nvSpPr>
        <p:spPr>
          <a:xfrm>
            <a:off x="10195560" y="914400"/>
            <a:ext cx="1508760" cy="384048"/>
          </a:xfrm>
          <a:prstGeom prst="roundRect">
            <a:avLst>
              <a:gd name="adj" fmla="val 50000"/>
            </a:avLst>
          </a:prstGeom>
          <a:solidFill>
            <a:srgbClr val="028090"/>
          </a:solidFill>
          <a:ln>
            <a:noFill/>
          </a:ln>
          <a:effectLst/>
        </p:spPr>
        <p:txBody>
          <a:bodyPr rtlCol="0" anchor="ctr" lIns="45720" rIns="45720" tIns="27432" bIns="27432" wrap="none"/>
          <a:lstStyle/>
          <a:p>
            <a:pPr algn="ctr"/>
            <a:r>
              <a:rPr sz="1150" b="1">
                <a:solidFill>
                  <a:srgbClr val="FFFFFF"/>
                </a:solidFill>
                <a:latin typeface="Arial"/>
              </a:rPr>
              <a:t>Lecture 3 →</a:t>
            </a:r>
          </a:p>
        </p:txBody>
      </p:sp>
      <p:sp>
        <p:nvSpPr>
          <p:cNvPr id="5" name="Rounded Rectangle 4"/>
          <p:cNvSpPr/>
          <p:nvPr/>
        </p:nvSpPr>
        <p:spPr>
          <a:xfrm>
            <a:off x="502920" y="2148840"/>
            <a:ext cx="2418588" cy="2651760"/>
          </a:xfrm>
          <a:prstGeom prst="roundRect">
            <a:avLst>
              <a:gd name="adj" fmla="val 12602"/>
            </a:avLst>
          </a:prstGeom>
          <a:solidFill>
            <a:srgbClr val="F4F7FA"/>
          </a:solidFill>
          <a:ln w="19050">
            <a:solidFill>
              <a:srgbClr val="1C7293"/>
            </a:solidFill>
          </a:ln>
          <a:effectLst/>
        </p:spPr>
        <p:txBody>
          <a:bodyPr rtlCol="0" anchor="ctr"/>
          <a:lstStyle/>
          <a:p>
            <a:pPr algn="ctr"/>
          </a:p>
        </p:txBody>
      </p:sp>
      <p:pic>
        <p:nvPicPr>
          <p:cNvPr id="6" name="Picture 5" descr="search-065A82-96.png"/>
          <p:cNvPicPr>
            <a:picLocks noChangeAspect="1"/>
          </p:cNvPicPr>
          <p:nvPr/>
        </p:nvPicPr>
        <p:blipFill>
          <a:blip r:embed="rId2"/>
          <a:stretch>
            <a:fillRect/>
          </a:stretch>
        </p:blipFill>
        <p:spPr>
          <a:xfrm>
            <a:off x="1437894" y="2468880"/>
            <a:ext cx="548640" cy="548640"/>
          </a:xfrm>
          <a:prstGeom prst="rect">
            <a:avLst/>
          </a:prstGeom>
        </p:spPr>
      </p:pic>
      <p:sp>
        <p:nvSpPr>
          <p:cNvPr id="7" name="TextBox 6"/>
          <p:cNvSpPr txBox="1"/>
          <p:nvPr/>
        </p:nvSpPr>
        <p:spPr>
          <a:xfrm>
            <a:off x="612648" y="3200400"/>
            <a:ext cx="2199132" cy="1463040"/>
          </a:xfrm>
          <a:prstGeom prst="rect">
            <a:avLst/>
          </a:prstGeom>
          <a:noFill/>
        </p:spPr>
        <p:txBody>
          <a:bodyPr wrap="square" lIns="0" rIns="0" tIns="0" bIns="0" anchor="t">
            <a:spAutoFit/>
          </a:bodyPr>
          <a:lstStyle/>
          <a:p>
            <a:pPr algn="ctr">
              <a:lnSpc>
                <a:spcPct val="115000"/>
              </a:lnSpc>
              <a:spcAft>
                <a:spcPts val="0"/>
              </a:spcAft>
            </a:pPr>
            <a:r>
              <a:rPr sz="1350" b="1" i="0">
                <a:solidFill>
                  <a:srgbClr val="21295C"/>
                </a:solidFill>
                <a:latin typeface="Arial"/>
              </a:rPr>
              <a:t>User's question</a:t>
            </a:r>
          </a:p>
        </p:txBody>
      </p:sp>
      <p:sp>
        <p:nvSpPr>
          <p:cNvPr id="8" name="Rounded Rectangle 7"/>
          <p:cNvSpPr/>
          <p:nvPr/>
        </p:nvSpPr>
        <p:spPr>
          <a:xfrm>
            <a:off x="630936" y="4343400"/>
            <a:ext cx="310896" cy="310896"/>
          </a:xfrm>
          <a:prstGeom prst="roundRect">
            <a:avLst>
              <a:gd name="adj" fmla="val 50000"/>
            </a:avLst>
          </a:prstGeom>
          <a:solidFill>
            <a:srgbClr val="F0AB00"/>
          </a:solidFill>
          <a:ln>
            <a:noFill/>
          </a:ln>
          <a:effectLst/>
        </p:spPr>
        <p:txBody>
          <a:bodyPr rtlCol="0" anchor="ctr" lIns="45720" rIns="45720" tIns="27432" bIns="27432" wrap="none"/>
          <a:lstStyle/>
          <a:p>
            <a:pPr algn="ctr"/>
            <a:r>
              <a:rPr sz="1300" b="1">
                <a:solidFill>
                  <a:srgbClr val="21295C"/>
                </a:solidFill>
                <a:latin typeface="Arial"/>
              </a:rPr>
              <a:t>1</a:t>
            </a:r>
          </a:p>
        </p:txBody>
      </p:sp>
      <p:sp>
        <p:nvSpPr>
          <p:cNvPr id="9" name="Right Arrow 8"/>
          <p:cNvSpPr/>
          <p:nvPr/>
        </p:nvSpPr>
        <p:spPr>
          <a:xfrm>
            <a:off x="2976372" y="3328415"/>
            <a:ext cx="393192" cy="292608"/>
          </a:xfrm>
          <a:prstGeom prst="rightArrow">
            <a:avLst/>
          </a:prstGeom>
          <a:solidFill>
            <a:srgbClr val="028090"/>
          </a:solidFill>
          <a:ln>
            <a:noFill/>
          </a:ln>
          <a:effectLst/>
        </p:spPr>
        <p:txBody>
          <a:bodyPr rtlCol="0" anchor="ctr"/>
          <a:lstStyle/>
          <a:p>
            <a:pPr algn="ctr"/>
          </a:p>
        </p:txBody>
      </p:sp>
      <p:sp>
        <p:nvSpPr>
          <p:cNvPr id="10" name="Rounded Rectangle 9"/>
          <p:cNvSpPr/>
          <p:nvPr/>
        </p:nvSpPr>
        <p:spPr>
          <a:xfrm>
            <a:off x="3424428" y="2148840"/>
            <a:ext cx="2418588" cy="2651760"/>
          </a:xfrm>
          <a:prstGeom prst="roundRect">
            <a:avLst>
              <a:gd name="adj" fmla="val 12602"/>
            </a:avLst>
          </a:prstGeom>
          <a:solidFill>
            <a:srgbClr val="F4F7FA"/>
          </a:solidFill>
          <a:ln w="19050">
            <a:solidFill>
              <a:srgbClr val="1C7293"/>
            </a:solidFill>
          </a:ln>
          <a:effectLst/>
        </p:spPr>
        <p:txBody>
          <a:bodyPr rtlCol="0" anchor="ctr"/>
          <a:lstStyle/>
          <a:p>
            <a:pPr algn="ctr"/>
          </a:p>
        </p:txBody>
      </p:sp>
      <p:pic>
        <p:nvPicPr>
          <p:cNvPr id="11" name="Picture 10" descr="database-065A82-96.png"/>
          <p:cNvPicPr>
            <a:picLocks noChangeAspect="1"/>
          </p:cNvPicPr>
          <p:nvPr/>
        </p:nvPicPr>
        <p:blipFill>
          <a:blip r:embed="rId3"/>
          <a:stretch>
            <a:fillRect/>
          </a:stretch>
        </p:blipFill>
        <p:spPr>
          <a:xfrm>
            <a:off x="4359402" y="2468880"/>
            <a:ext cx="548640" cy="548640"/>
          </a:xfrm>
          <a:prstGeom prst="rect">
            <a:avLst/>
          </a:prstGeom>
        </p:spPr>
      </p:pic>
      <p:sp>
        <p:nvSpPr>
          <p:cNvPr id="12" name="TextBox 11"/>
          <p:cNvSpPr txBox="1"/>
          <p:nvPr/>
        </p:nvSpPr>
        <p:spPr>
          <a:xfrm>
            <a:off x="3534156" y="3200400"/>
            <a:ext cx="2199132" cy="1463040"/>
          </a:xfrm>
          <a:prstGeom prst="rect">
            <a:avLst/>
          </a:prstGeom>
          <a:noFill/>
        </p:spPr>
        <p:txBody>
          <a:bodyPr wrap="square" lIns="0" rIns="0" tIns="0" bIns="0" anchor="t">
            <a:spAutoFit/>
          </a:bodyPr>
          <a:lstStyle/>
          <a:p>
            <a:pPr algn="ctr">
              <a:lnSpc>
                <a:spcPct val="115000"/>
              </a:lnSpc>
              <a:spcAft>
                <a:spcPts val="0"/>
              </a:spcAft>
            </a:pPr>
            <a:r>
              <a:rPr sz="1350" b="1" i="0">
                <a:solidFill>
                  <a:srgbClr val="21295C"/>
                </a:solidFill>
                <a:latin typeface="Arial"/>
              </a:rPr>
              <a:t>Search for fragments</a:t>
            </a:r>
          </a:p>
          <a:p>
            <a:pPr algn="ctr">
              <a:lnSpc>
                <a:spcPct val="115000"/>
              </a:lnSpc>
              <a:spcAft>
                <a:spcPts val="0"/>
              </a:spcAft>
            </a:pPr>
            <a:r>
              <a:rPr sz="1350" b="1" i="0">
                <a:solidFill>
                  <a:srgbClr val="21295C"/>
                </a:solidFill>
                <a:latin typeface="Arial"/>
              </a:rPr>
              <a:t>in the knowledge base</a:t>
            </a:r>
          </a:p>
        </p:txBody>
      </p:sp>
      <p:sp>
        <p:nvSpPr>
          <p:cNvPr id="13" name="Rounded Rectangle 12"/>
          <p:cNvSpPr/>
          <p:nvPr/>
        </p:nvSpPr>
        <p:spPr>
          <a:xfrm>
            <a:off x="3552444" y="4343400"/>
            <a:ext cx="310896" cy="310896"/>
          </a:xfrm>
          <a:prstGeom prst="roundRect">
            <a:avLst>
              <a:gd name="adj" fmla="val 50000"/>
            </a:avLst>
          </a:prstGeom>
          <a:solidFill>
            <a:srgbClr val="F0AB00"/>
          </a:solidFill>
          <a:ln>
            <a:noFill/>
          </a:ln>
          <a:effectLst/>
        </p:spPr>
        <p:txBody>
          <a:bodyPr rtlCol="0" anchor="ctr" lIns="45720" rIns="45720" tIns="27432" bIns="27432" wrap="none"/>
          <a:lstStyle/>
          <a:p>
            <a:pPr algn="ctr"/>
            <a:r>
              <a:rPr sz="1300" b="1">
                <a:solidFill>
                  <a:srgbClr val="21295C"/>
                </a:solidFill>
                <a:latin typeface="Arial"/>
              </a:rPr>
              <a:t>2</a:t>
            </a:r>
          </a:p>
        </p:txBody>
      </p:sp>
      <p:sp>
        <p:nvSpPr>
          <p:cNvPr id="14" name="Right Arrow 13"/>
          <p:cNvSpPr/>
          <p:nvPr/>
        </p:nvSpPr>
        <p:spPr>
          <a:xfrm>
            <a:off x="5897880" y="3328415"/>
            <a:ext cx="393192" cy="292608"/>
          </a:xfrm>
          <a:prstGeom prst="rightArrow">
            <a:avLst/>
          </a:prstGeom>
          <a:solidFill>
            <a:srgbClr val="028090"/>
          </a:solidFill>
          <a:ln>
            <a:noFill/>
          </a:ln>
          <a:effectLst/>
        </p:spPr>
        <p:txBody>
          <a:bodyPr rtlCol="0" anchor="ctr"/>
          <a:lstStyle/>
          <a:p>
            <a:pPr algn="ctr"/>
          </a:p>
        </p:txBody>
      </p:sp>
      <p:sp>
        <p:nvSpPr>
          <p:cNvPr id="15" name="Rounded Rectangle 14"/>
          <p:cNvSpPr/>
          <p:nvPr/>
        </p:nvSpPr>
        <p:spPr>
          <a:xfrm>
            <a:off x="6345936" y="2148840"/>
            <a:ext cx="2418588" cy="2651760"/>
          </a:xfrm>
          <a:prstGeom prst="roundRect">
            <a:avLst>
              <a:gd name="adj" fmla="val 12602"/>
            </a:avLst>
          </a:prstGeom>
          <a:solidFill>
            <a:srgbClr val="F4F7FA"/>
          </a:solidFill>
          <a:ln w="19050">
            <a:solidFill>
              <a:srgbClr val="1C7293"/>
            </a:solidFill>
          </a:ln>
          <a:effectLst/>
        </p:spPr>
        <p:txBody>
          <a:bodyPr rtlCol="0" anchor="ctr"/>
          <a:lstStyle/>
          <a:p>
            <a:pPr algn="ctr"/>
          </a:p>
        </p:txBody>
      </p:sp>
      <p:pic>
        <p:nvPicPr>
          <p:cNvPr id="16" name="Picture 15" descr="layers-065A82-96.png"/>
          <p:cNvPicPr>
            <a:picLocks noChangeAspect="1"/>
          </p:cNvPicPr>
          <p:nvPr/>
        </p:nvPicPr>
        <p:blipFill>
          <a:blip r:embed="rId4"/>
          <a:stretch>
            <a:fillRect/>
          </a:stretch>
        </p:blipFill>
        <p:spPr>
          <a:xfrm>
            <a:off x="7280910" y="2468880"/>
            <a:ext cx="548640" cy="548640"/>
          </a:xfrm>
          <a:prstGeom prst="rect">
            <a:avLst/>
          </a:prstGeom>
        </p:spPr>
      </p:pic>
      <p:sp>
        <p:nvSpPr>
          <p:cNvPr id="17" name="TextBox 16"/>
          <p:cNvSpPr txBox="1"/>
          <p:nvPr/>
        </p:nvSpPr>
        <p:spPr>
          <a:xfrm>
            <a:off x="6455664" y="3200400"/>
            <a:ext cx="2199132" cy="1463040"/>
          </a:xfrm>
          <a:prstGeom prst="rect">
            <a:avLst/>
          </a:prstGeom>
          <a:noFill/>
        </p:spPr>
        <p:txBody>
          <a:bodyPr wrap="square" lIns="0" rIns="0" tIns="0" bIns="0" anchor="t">
            <a:spAutoFit/>
          </a:bodyPr>
          <a:lstStyle/>
          <a:p>
            <a:pPr algn="ctr">
              <a:lnSpc>
                <a:spcPct val="115000"/>
              </a:lnSpc>
              <a:spcAft>
                <a:spcPts val="0"/>
              </a:spcAft>
            </a:pPr>
            <a:r>
              <a:rPr sz="1350" b="1" i="0">
                <a:solidFill>
                  <a:srgbClr val="21295C"/>
                </a:solidFill>
                <a:latin typeface="Arial"/>
              </a:rPr>
              <a:t>Fragments →</a:t>
            </a:r>
          </a:p>
          <a:p>
            <a:pPr algn="ctr">
              <a:lnSpc>
                <a:spcPct val="115000"/>
              </a:lnSpc>
              <a:spcAft>
                <a:spcPts val="0"/>
              </a:spcAft>
            </a:pPr>
            <a:r>
              <a:rPr sz="1350" b="1" i="0">
                <a:solidFill>
                  <a:srgbClr val="21295C"/>
                </a:solidFill>
                <a:latin typeface="Arial"/>
              </a:rPr>
              <a:t>into the model's context</a:t>
            </a:r>
          </a:p>
        </p:txBody>
      </p:sp>
      <p:sp>
        <p:nvSpPr>
          <p:cNvPr id="18" name="Rounded Rectangle 17"/>
          <p:cNvSpPr/>
          <p:nvPr/>
        </p:nvSpPr>
        <p:spPr>
          <a:xfrm>
            <a:off x="6473952" y="4343400"/>
            <a:ext cx="310896" cy="310896"/>
          </a:xfrm>
          <a:prstGeom prst="roundRect">
            <a:avLst>
              <a:gd name="adj" fmla="val 50000"/>
            </a:avLst>
          </a:prstGeom>
          <a:solidFill>
            <a:srgbClr val="F0AB00"/>
          </a:solidFill>
          <a:ln>
            <a:noFill/>
          </a:ln>
          <a:effectLst/>
        </p:spPr>
        <p:txBody>
          <a:bodyPr rtlCol="0" anchor="ctr" lIns="45720" rIns="45720" tIns="27432" bIns="27432" wrap="none"/>
          <a:lstStyle/>
          <a:p>
            <a:pPr algn="ctr"/>
            <a:r>
              <a:rPr sz="1300" b="1">
                <a:solidFill>
                  <a:srgbClr val="21295C"/>
                </a:solidFill>
                <a:latin typeface="Arial"/>
              </a:rPr>
              <a:t>3</a:t>
            </a:r>
          </a:p>
        </p:txBody>
      </p:sp>
      <p:sp>
        <p:nvSpPr>
          <p:cNvPr id="19" name="Right Arrow 18"/>
          <p:cNvSpPr/>
          <p:nvPr/>
        </p:nvSpPr>
        <p:spPr>
          <a:xfrm>
            <a:off x="8819388" y="3328415"/>
            <a:ext cx="393192" cy="292608"/>
          </a:xfrm>
          <a:prstGeom prst="rightArrow">
            <a:avLst/>
          </a:prstGeom>
          <a:solidFill>
            <a:srgbClr val="028090"/>
          </a:solidFill>
          <a:ln>
            <a:noFill/>
          </a:ln>
          <a:effectLst/>
        </p:spPr>
        <p:txBody>
          <a:bodyPr rtlCol="0" anchor="ctr"/>
          <a:lstStyle/>
          <a:p>
            <a:pPr algn="ctr"/>
          </a:p>
        </p:txBody>
      </p:sp>
      <p:sp>
        <p:nvSpPr>
          <p:cNvPr id="20" name="Rounded Rectangle 19"/>
          <p:cNvSpPr/>
          <p:nvPr/>
        </p:nvSpPr>
        <p:spPr>
          <a:xfrm>
            <a:off x="9267444" y="2148840"/>
            <a:ext cx="2418588" cy="2651760"/>
          </a:xfrm>
          <a:prstGeom prst="roundRect">
            <a:avLst>
              <a:gd name="adj" fmla="val 12602"/>
            </a:avLst>
          </a:prstGeom>
          <a:solidFill>
            <a:srgbClr val="F4F7FA"/>
          </a:solidFill>
          <a:ln w="19050">
            <a:solidFill>
              <a:srgbClr val="1C7293"/>
            </a:solidFill>
          </a:ln>
          <a:effectLst/>
        </p:spPr>
        <p:txBody>
          <a:bodyPr rtlCol="0" anchor="ctr"/>
          <a:lstStyle/>
          <a:p>
            <a:pPr algn="ctr"/>
          </a:p>
        </p:txBody>
      </p:sp>
      <p:pic>
        <p:nvPicPr>
          <p:cNvPr id="21" name="Picture 20" descr="sparkles-065A82-96.png"/>
          <p:cNvPicPr>
            <a:picLocks noChangeAspect="1"/>
          </p:cNvPicPr>
          <p:nvPr/>
        </p:nvPicPr>
        <p:blipFill>
          <a:blip r:embed="rId5"/>
          <a:stretch>
            <a:fillRect/>
          </a:stretch>
        </p:blipFill>
        <p:spPr>
          <a:xfrm>
            <a:off x="10202418" y="2468880"/>
            <a:ext cx="548640" cy="548640"/>
          </a:xfrm>
          <a:prstGeom prst="rect">
            <a:avLst/>
          </a:prstGeom>
        </p:spPr>
      </p:pic>
      <p:sp>
        <p:nvSpPr>
          <p:cNvPr id="22" name="TextBox 21"/>
          <p:cNvSpPr txBox="1"/>
          <p:nvPr/>
        </p:nvSpPr>
        <p:spPr>
          <a:xfrm>
            <a:off x="9377172" y="3200400"/>
            <a:ext cx="2199132" cy="1463040"/>
          </a:xfrm>
          <a:prstGeom prst="rect">
            <a:avLst/>
          </a:prstGeom>
          <a:noFill/>
        </p:spPr>
        <p:txBody>
          <a:bodyPr wrap="square" lIns="0" rIns="0" tIns="0" bIns="0" anchor="t">
            <a:spAutoFit/>
          </a:bodyPr>
          <a:lstStyle/>
          <a:p>
            <a:pPr algn="ctr">
              <a:lnSpc>
                <a:spcPct val="115000"/>
              </a:lnSpc>
              <a:spcAft>
                <a:spcPts val="0"/>
              </a:spcAft>
            </a:pPr>
            <a:r>
              <a:rPr sz="1350" b="1" i="0">
                <a:solidFill>
                  <a:srgbClr val="21295C"/>
                </a:solidFill>
                <a:latin typeface="Arial"/>
              </a:rPr>
              <a:t>The model generates</a:t>
            </a:r>
          </a:p>
          <a:p>
            <a:pPr algn="ctr">
              <a:lnSpc>
                <a:spcPct val="115000"/>
              </a:lnSpc>
              <a:spcAft>
                <a:spcPts val="0"/>
              </a:spcAft>
            </a:pPr>
            <a:r>
              <a:rPr sz="1350" b="1" i="0">
                <a:solidFill>
                  <a:srgbClr val="21295C"/>
                </a:solidFill>
                <a:latin typeface="Arial"/>
              </a:rPr>
              <a:t>an answer</a:t>
            </a:r>
          </a:p>
        </p:txBody>
      </p:sp>
      <p:sp>
        <p:nvSpPr>
          <p:cNvPr id="23" name="Rounded Rectangle 22"/>
          <p:cNvSpPr/>
          <p:nvPr/>
        </p:nvSpPr>
        <p:spPr>
          <a:xfrm>
            <a:off x="9395460" y="4343400"/>
            <a:ext cx="310896" cy="310896"/>
          </a:xfrm>
          <a:prstGeom prst="roundRect">
            <a:avLst>
              <a:gd name="adj" fmla="val 50000"/>
            </a:avLst>
          </a:prstGeom>
          <a:solidFill>
            <a:srgbClr val="F0AB00"/>
          </a:solidFill>
          <a:ln>
            <a:noFill/>
          </a:ln>
          <a:effectLst/>
        </p:spPr>
        <p:txBody>
          <a:bodyPr rtlCol="0" anchor="ctr" lIns="45720" rIns="45720" tIns="27432" bIns="27432" wrap="none"/>
          <a:lstStyle/>
          <a:p>
            <a:pPr algn="ctr"/>
            <a:r>
              <a:rPr sz="1300" b="1">
                <a:solidFill>
                  <a:srgbClr val="21295C"/>
                </a:solidFill>
                <a:latin typeface="Arial"/>
              </a:rPr>
              <a:t>4</a:t>
            </a:r>
          </a:p>
        </p:txBody>
      </p:sp>
      <p:sp>
        <p:nvSpPr>
          <p:cNvPr id="24" name="Rounded Rectangle 23"/>
          <p:cNvSpPr/>
          <p:nvPr/>
        </p:nvSpPr>
        <p:spPr>
          <a:xfrm>
            <a:off x="502920" y="5074920"/>
            <a:ext cx="11183112" cy="960120"/>
          </a:xfrm>
          <a:prstGeom prst="roundRect">
            <a:avLst>
              <a:gd name="adj" fmla="val 25000"/>
            </a:avLst>
          </a:prstGeom>
          <a:solidFill>
            <a:srgbClr val="FEF5E0"/>
          </a:solidFill>
          <a:ln w="17780">
            <a:solidFill>
              <a:srgbClr val="F0AB00"/>
            </a:solidFill>
          </a:ln>
          <a:effectLst/>
        </p:spPr>
        <p:txBody>
          <a:bodyPr rtlCol="0" anchor="ctr"/>
          <a:lstStyle/>
          <a:p>
            <a:pPr algn="ctr"/>
          </a:p>
        </p:txBody>
      </p:sp>
      <p:sp>
        <p:nvSpPr>
          <p:cNvPr id="25" name="TextBox 24"/>
          <p:cNvSpPr txBox="1"/>
          <p:nvPr/>
        </p:nvSpPr>
        <p:spPr>
          <a:xfrm>
            <a:off x="777240" y="5074920"/>
            <a:ext cx="10607040" cy="960120"/>
          </a:xfrm>
          <a:prstGeom prst="rect">
            <a:avLst/>
          </a:prstGeom>
          <a:noFill/>
        </p:spPr>
        <p:txBody>
          <a:bodyPr wrap="square" lIns="0" rIns="0" tIns="0" bIns="0" anchor="ctr">
            <a:spAutoFit/>
          </a:bodyPr>
          <a:lstStyle/>
          <a:p>
            <a:pPr algn="l">
              <a:lnSpc>
                <a:spcPct val="115000"/>
              </a:lnSpc>
            </a:pPr>
            <a:r>
              <a:rPr sz="1650" b="1" i="0">
                <a:solidFill>
                  <a:srgbClr val="21295C"/>
                </a:solidFill>
                <a:latin typeface="Arial"/>
              </a:rPr>
              <a:t>When it's needed: the base is large, it changes, the full volume doesn't fit in one request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1183112" cy="91440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A word on agents</a:t>
            </a:r>
          </a:p>
        </p:txBody>
      </p:sp>
      <p:sp>
        <p:nvSpPr>
          <p:cNvPr id="3" name="TextBox 2"/>
          <p:cNvSpPr txBox="1"/>
          <p:nvPr/>
        </p:nvSpPr>
        <p:spPr>
          <a:xfrm>
            <a:off x="502920" y="960120"/>
            <a:ext cx="8686800" cy="457200"/>
          </a:xfrm>
          <a:prstGeom prst="rect">
            <a:avLst/>
          </a:prstGeom>
          <a:noFill/>
        </p:spPr>
        <p:txBody>
          <a:bodyPr wrap="square" lIns="0" rIns="0" tIns="0" bIns="0" anchor="t">
            <a:spAutoFit/>
          </a:bodyPr>
          <a:lstStyle/>
          <a:p>
            <a:pPr algn="l">
              <a:lnSpc>
                <a:spcPct val="120000"/>
              </a:lnSpc>
            </a:pPr>
            <a:r>
              <a:rPr sz="1500" b="0" i="1">
                <a:solidFill>
                  <a:srgbClr val="065A82"/>
                </a:solidFill>
                <a:latin typeface="Arial"/>
              </a:rPr>
              <a:t>The model works in a loop with external tools, rather than a single call</a:t>
            </a:r>
          </a:p>
        </p:txBody>
      </p:sp>
      <p:sp>
        <p:nvSpPr>
          <p:cNvPr id="4" name="Rounded Rectangle 3"/>
          <p:cNvSpPr/>
          <p:nvPr/>
        </p:nvSpPr>
        <p:spPr>
          <a:xfrm>
            <a:off x="10195560" y="914400"/>
            <a:ext cx="1508760" cy="384048"/>
          </a:xfrm>
          <a:prstGeom prst="roundRect">
            <a:avLst>
              <a:gd name="adj" fmla="val 50000"/>
            </a:avLst>
          </a:prstGeom>
          <a:solidFill>
            <a:srgbClr val="028090"/>
          </a:solidFill>
          <a:ln>
            <a:noFill/>
          </a:ln>
          <a:effectLst/>
        </p:spPr>
        <p:txBody>
          <a:bodyPr rtlCol="0" anchor="ctr" lIns="45720" rIns="45720" tIns="27432" bIns="27432" wrap="none"/>
          <a:lstStyle/>
          <a:p>
            <a:pPr algn="ctr"/>
            <a:r>
              <a:rPr sz="1150" b="1">
                <a:solidFill>
                  <a:srgbClr val="FFFFFF"/>
                </a:solidFill>
                <a:latin typeface="Arial"/>
              </a:rPr>
              <a:t>Lecture 3 →</a:t>
            </a:r>
          </a:p>
        </p:txBody>
      </p:sp>
      <p:sp>
        <p:nvSpPr>
          <p:cNvPr id="5" name="Rounded Rectangle 4"/>
          <p:cNvSpPr/>
          <p:nvPr/>
        </p:nvSpPr>
        <p:spPr>
          <a:xfrm>
            <a:off x="2532888" y="1828800"/>
            <a:ext cx="2834640" cy="1463040"/>
          </a:xfrm>
          <a:prstGeom prst="roundRect">
            <a:avLst>
              <a:gd name="adj" fmla="val 20833"/>
            </a:avLst>
          </a:prstGeom>
          <a:solidFill>
            <a:srgbClr val="F4F7FA"/>
          </a:solidFill>
          <a:ln w="19050">
            <a:solidFill>
              <a:srgbClr val="1C7293"/>
            </a:solidFill>
          </a:ln>
          <a:effectLst/>
        </p:spPr>
        <p:txBody>
          <a:bodyPr rtlCol="0" anchor="ctr"/>
          <a:lstStyle/>
          <a:p>
            <a:pPr algn="ctr"/>
          </a:p>
        </p:txBody>
      </p:sp>
      <p:pic>
        <p:nvPicPr>
          <p:cNvPr id="6" name="Picture 5" descr="git-fork-065A82-96.png"/>
          <p:cNvPicPr>
            <a:picLocks noChangeAspect="1"/>
          </p:cNvPicPr>
          <p:nvPr/>
        </p:nvPicPr>
        <p:blipFill>
          <a:blip r:embed="rId2"/>
          <a:stretch>
            <a:fillRect/>
          </a:stretch>
        </p:blipFill>
        <p:spPr>
          <a:xfrm>
            <a:off x="2679192" y="1975104"/>
            <a:ext cx="402336" cy="402336"/>
          </a:xfrm>
          <a:prstGeom prst="rect">
            <a:avLst/>
          </a:prstGeom>
        </p:spPr>
      </p:pic>
      <p:sp>
        <p:nvSpPr>
          <p:cNvPr id="7" name="Rounded Rectangle 6"/>
          <p:cNvSpPr/>
          <p:nvPr/>
        </p:nvSpPr>
        <p:spPr>
          <a:xfrm>
            <a:off x="4928616" y="1956816"/>
            <a:ext cx="292608" cy="292608"/>
          </a:xfrm>
          <a:prstGeom prst="roundRect">
            <a:avLst>
              <a:gd name="adj" fmla="val 50000"/>
            </a:avLst>
          </a:prstGeom>
          <a:solidFill>
            <a:srgbClr val="F0AB00"/>
          </a:solidFill>
          <a:ln>
            <a:noFill/>
          </a:ln>
          <a:effectLst/>
        </p:spPr>
        <p:txBody>
          <a:bodyPr rtlCol="0" anchor="ctr" lIns="45720" rIns="45720" tIns="27432" bIns="27432" wrap="none"/>
          <a:lstStyle/>
          <a:p>
            <a:pPr algn="ctr"/>
            <a:r>
              <a:rPr sz="1150" b="1">
                <a:solidFill>
                  <a:srgbClr val="21295C"/>
                </a:solidFill>
                <a:latin typeface="Arial"/>
              </a:rPr>
              <a:t>1</a:t>
            </a:r>
          </a:p>
        </p:txBody>
      </p:sp>
      <p:sp>
        <p:nvSpPr>
          <p:cNvPr id="8" name="TextBox 7"/>
          <p:cNvSpPr txBox="1"/>
          <p:nvPr/>
        </p:nvSpPr>
        <p:spPr>
          <a:xfrm>
            <a:off x="2679192" y="2450592"/>
            <a:ext cx="2542032" cy="749808"/>
          </a:xfrm>
          <a:prstGeom prst="rect">
            <a:avLst/>
          </a:prstGeom>
          <a:noFill/>
        </p:spPr>
        <p:txBody>
          <a:bodyPr wrap="square" lIns="0" rIns="0" tIns="0" bIns="0" anchor="t">
            <a:spAutoFit/>
          </a:bodyPr>
          <a:lstStyle/>
          <a:p>
            <a:pPr algn="l">
              <a:lnSpc>
                <a:spcPct val="110000"/>
              </a:lnSpc>
              <a:spcAft>
                <a:spcPts val="0"/>
              </a:spcAft>
            </a:pPr>
            <a:r>
              <a:rPr sz="1200" b="1" i="0">
                <a:solidFill>
                  <a:srgbClr val="21295C"/>
                </a:solidFill>
                <a:latin typeface="Arial"/>
              </a:rPr>
              <a:t>Builds a plan</a:t>
            </a:r>
          </a:p>
        </p:txBody>
      </p:sp>
      <p:sp>
        <p:nvSpPr>
          <p:cNvPr id="9" name="Rounded Rectangle 8"/>
          <p:cNvSpPr/>
          <p:nvPr/>
        </p:nvSpPr>
        <p:spPr>
          <a:xfrm>
            <a:off x="6830568" y="1828800"/>
            <a:ext cx="2834640" cy="1463040"/>
          </a:xfrm>
          <a:prstGeom prst="roundRect">
            <a:avLst>
              <a:gd name="adj" fmla="val 20833"/>
            </a:avLst>
          </a:prstGeom>
          <a:solidFill>
            <a:srgbClr val="F4F7FA"/>
          </a:solidFill>
          <a:ln w="19050">
            <a:solidFill>
              <a:srgbClr val="1C7293"/>
            </a:solidFill>
          </a:ln>
          <a:effectLst/>
        </p:spPr>
        <p:txBody>
          <a:bodyPr rtlCol="0" anchor="ctr"/>
          <a:lstStyle/>
          <a:p>
            <a:pPr algn="ctr"/>
          </a:p>
        </p:txBody>
      </p:sp>
      <p:pic>
        <p:nvPicPr>
          <p:cNvPr id="10" name="Picture 9" descr="wrench-065A82-96.png"/>
          <p:cNvPicPr>
            <a:picLocks noChangeAspect="1"/>
          </p:cNvPicPr>
          <p:nvPr/>
        </p:nvPicPr>
        <p:blipFill>
          <a:blip r:embed="rId3"/>
          <a:stretch>
            <a:fillRect/>
          </a:stretch>
        </p:blipFill>
        <p:spPr>
          <a:xfrm>
            <a:off x="6976872" y="1975104"/>
            <a:ext cx="402336" cy="402336"/>
          </a:xfrm>
          <a:prstGeom prst="rect">
            <a:avLst/>
          </a:prstGeom>
        </p:spPr>
      </p:pic>
      <p:sp>
        <p:nvSpPr>
          <p:cNvPr id="11" name="Rounded Rectangle 10"/>
          <p:cNvSpPr/>
          <p:nvPr/>
        </p:nvSpPr>
        <p:spPr>
          <a:xfrm>
            <a:off x="9226296" y="1956816"/>
            <a:ext cx="292608" cy="292608"/>
          </a:xfrm>
          <a:prstGeom prst="roundRect">
            <a:avLst>
              <a:gd name="adj" fmla="val 50000"/>
            </a:avLst>
          </a:prstGeom>
          <a:solidFill>
            <a:srgbClr val="F0AB00"/>
          </a:solidFill>
          <a:ln>
            <a:noFill/>
          </a:ln>
          <a:effectLst/>
        </p:spPr>
        <p:txBody>
          <a:bodyPr rtlCol="0" anchor="ctr" lIns="45720" rIns="45720" tIns="27432" bIns="27432" wrap="none"/>
          <a:lstStyle/>
          <a:p>
            <a:pPr algn="ctr"/>
            <a:r>
              <a:rPr sz="1150" b="1">
                <a:solidFill>
                  <a:srgbClr val="21295C"/>
                </a:solidFill>
                <a:latin typeface="Arial"/>
              </a:rPr>
              <a:t>2</a:t>
            </a:r>
          </a:p>
        </p:txBody>
      </p:sp>
      <p:sp>
        <p:nvSpPr>
          <p:cNvPr id="12" name="TextBox 11"/>
          <p:cNvSpPr txBox="1"/>
          <p:nvPr/>
        </p:nvSpPr>
        <p:spPr>
          <a:xfrm>
            <a:off x="6976872" y="2450592"/>
            <a:ext cx="2542032" cy="749808"/>
          </a:xfrm>
          <a:prstGeom prst="rect">
            <a:avLst/>
          </a:prstGeom>
          <a:noFill/>
        </p:spPr>
        <p:txBody>
          <a:bodyPr wrap="square" lIns="0" rIns="0" tIns="0" bIns="0" anchor="t">
            <a:spAutoFit/>
          </a:bodyPr>
          <a:lstStyle/>
          <a:p>
            <a:pPr algn="l">
              <a:lnSpc>
                <a:spcPct val="110000"/>
              </a:lnSpc>
              <a:spcAft>
                <a:spcPts val="0"/>
              </a:spcAft>
            </a:pPr>
            <a:r>
              <a:rPr sz="1200" b="1" i="0">
                <a:solidFill>
                  <a:srgbClr val="21295C"/>
                </a:solidFill>
                <a:latin typeface="Arial"/>
              </a:rPr>
              <a:t>Calls an external</a:t>
            </a:r>
          </a:p>
          <a:p>
            <a:pPr algn="l">
              <a:lnSpc>
                <a:spcPct val="110000"/>
              </a:lnSpc>
              <a:spcAft>
                <a:spcPts val="0"/>
              </a:spcAft>
            </a:pPr>
            <a:r>
              <a:rPr sz="1200" b="1" i="0">
                <a:solidFill>
                  <a:srgbClr val="21295C"/>
                </a:solidFill>
                <a:latin typeface="Arial"/>
              </a:rPr>
              <a:t>tool (API,</a:t>
            </a:r>
          </a:p>
          <a:p>
            <a:pPr algn="l">
              <a:lnSpc>
                <a:spcPct val="110000"/>
              </a:lnSpc>
              <a:spcAft>
                <a:spcPts val="0"/>
              </a:spcAft>
            </a:pPr>
            <a:r>
              <a:rPr sz="1200" b="1" i="0">
                <a:solidFill>
                  <a:srgbClr val="21295C"/>
                </a:solidFill>
                <a:latin typeface="Arial"/>
              </a:rPr>
              <a:t>search, code)</a:t>
            </a:r>
          </a:p>
        </p:txBody>
      </p:sp>
      <p:sp>
        <p:nvSpPr>
          <p:cNvPr id="13" name="Rounded Rectangle 12"/>
          <p:cNvSpPr/>
          <p:nvPr/>
        </p:nvSpPr>
        <p:spPr>
          <a:xfrm>
            <a:off x="6830568" y="3566160"/>
            <a:ext cx="2834640" cy="1463040"/>
          </a:xfrm>
          <a:prstGeom prst="roundRect">
            <a:avLst>
              <a:gd name="adj" fmla="val 20833"/>
            </a:avLst>
          </a:prstGeom>
          <a:solidFill>
            <a:srgbClr val="F4F7FA"/>
          </a:solidFill>
          <a:ln w="19050">
            <a:solidFill>
              <a:srgbClr val="1C7293"/>
            </a:solidFill>
          </a:ln>
          <a:effectLst/>
        </p:spPr>
        <p:txBody>
          <a:bodyPr rtlCol="0" anchor="ctr"/>
          <a:lstStyle/>
          <a:p>
            <a:pPr algn="ctr"/>
          </a:p>
        </p:txBody>
      </p:sp>
      <p:pic>
        <p:nvPicPr>
          <p:cNvPr id="14" name="Picture 13" descr="circle-check-065A82-96.png"/>
          <p:cNvPicPr>
            <a:picLocks noChangeAspect="1"/>
          </p:cNvPicPr>
          <p:nvPr/>
        </p:nvPicPr>
        <p:blipFill>
          <a:blip r:embed="rId4"/>
          <a:stretch>
            <a:fillRect/>
          </a:stretch>
        </p:blipFill>
        <p:spPr>
          <a:xfrm>
            <a:off x="6976872" y="3712463"/>
            <a:ext cx="402336" cy="402336"/>
          </a:xfrm>
          <a:prstGeom prst="rect">
            <a:avLst/>
          </a:prstGeom>
        </p:spPr>
      </p:pic>
      <p:sp>
        <p:nvSpPr>
          <p:cNvPr id="15" name="Rounded Rectangle 14"/>
          <p:cNvSpPr/>
          <p:nvPr/>
        </p:nvSpPr>
        <p:spPr>
          <a:xfrm>
            <a:off x="9226296" y="3694176"/>
            <a:ext cx="292608" cy="292608"/>
          </a:xfrm>
          <a:prstGeom prst="roundRect">
            <a:avLst>
              <a:gd name="adj" fmla="val 50000"/>
            </a:avLst>
          </a:prstGeom>
          <a:solidFill>
            <a:srgbClr val="F0AB00"/>
          </a:solidFill>
          <a:ln>
            <a:noFill/>
          </a:ln>
          <a:effectLst/>
        </p:spPr>
        <p:txBody>
          <a:bodyPr rtlCol="0" anchor="ctr" lIns="45720" rIns="45720" tIns="27432" bIns="27432" wrap="none"/>
          <a:lstStyle/>
          <a:p>
            <a:pPr algn="ctr"/>
            <a:r>
              <a:rPr sz="1150" b="1">
                <a:solidFill>
                  <a:srgbClr val="21295C"/>
                </a:solidFill>
                <a:latin typeface="Arial"/>
              </a:rPr>
              <a:t>3</a:t>
            </a:r>
          </a:p>
        </p:txBody>
      </p:sp>
      <p:sp>
        <p:nvSpPr>
          <p:cNvPr id="16" name="TextBox 15"/>
          <p:cNvSpPr txBox="1"/>
          <p:nvPr/>
        </p:nvSpPr>
        <p:spPr>
          <a:xfrm>
            <a:off x="6976872" y="4187952"/>
            <a:ext cx="2542032" cy="749808"/>
          </a:xfrm>
          <a:prstGeom prst="rect">
            <a:avLst/>
          </a:prstGeom>
          <a:noFill/>
        </p:spPr>
        <p:txBody>
          <a:bodyPr wrap="square" lIns="0" rIns="0" tIns="0" bIns="0" anchor="t">
            <a:spAutoFit/>
          </a:bodyPr>
          <a:lstStyle/>
          <a:p>
            <a:pPr algn="l">
              <a:lnSpc>
                <a:spcPct val="110000"/>
              </a:lnSpc>
              <a:spcAft>
                <a:spcPts val="0"/>
              </a:spcAft>
            </a:pPr>
            <a:r>
              <a:rPr sz="1200" b="1" i="0">
                <a:solidFill>
                  <a:srgbClr val="21295C"/>
                </a:solidFill>
                <a:latin typeface="Arial"/>
              </a:rPr>
              <a:t>Checks</a:t>
            </a:r>
          </a:p>
          <a:p>
            <a:pPr algn="l">
              <a:lnSpc>
                <a:spcPct val="110000"/>
              </a:lnSpc>
              <a:spcAft>
                <a:spcPts val="0"/>
              </a:spcAft>
            </a:pPr>
            <a:r>
              <a:rPr sz="1200" b="1" i="0">
                <a:solidFill>
                  <a:srgbClr val="21295C"/>
                </a:solidFill>
                <a:latin typeface="Arial"/>
              </a:rPr>
              <a:t>the result of the call</a:t>
            </a:r>
          </a:p>
        </p:txBody>
      </p:sp>
      <p:sp>
        <p:nvSpPr>
          <p:cNvPr id="17" name="Rounded Rectangle 16"/>
          <p:cNvSpPr/>
          <p:nvPr/>
        </p:nvSpPr>
        <p:spPr>
          <a:xfrm>
            <a:off x="2532888" y="3566160"/>
            <a:ext cx="2834640" cy="1463040"/>
          </a:xfrm>
          <a:prstGeom prst="roundRect">
            <a:avLst>
              <a:gd name="adj" fmla="val 20833"/>
            </a:avLst>
          </a:prstGeom>
          <a:solidFill>
            <a:srgbClr val="F4F7FA"/>
          </a:solidFill>
          <a:ln w="19050">
            <a:solidFill>
              <a:srgbClr val="1C7293"/>
            </a:solidFill>
          </a:ln>
          <a:effectLst/>
        </p:spPr>
        <p:txBody>
          <a:bodyPr rtlCol="0" anchor="ctr"/>
          <a:lstStyle/>
          <a:p>
            <a:pPr algn="ctr"/>
          </a:p>
        </p:txBody>
      </p:sp>
      <p:pic>
        <p:nvPicPr>
          <p:cNvPr id="18" name="Picture 17" descr="route-065A82-96.png"/>
          <p:cNvPicPr>
            <a:picLocks noChangeAspect="1"/>
          </p:cNvPicPr>
          <p:nvPr/>
        </p:nvPicPr>
        <p:blipFill>
          <a:blip r:embed="rId5"/>
          <a:stretch>
            <a:fillRect/>
          </a:stretch>
        </p:blipFill>
        <p:spPr>
          <a:xfrm>
            <a:off x="2679192" y="3712463"/>
            <a:ext cx="402336" cy="402336"/>
          </a:xfrm>
          <a:prstGeom prst="rect">
            <a:avLst/>
          </a:prstGeom>
        </p:spPr>
      </p:pic>
      <p:sp>
        <p:nvSpPr>
          <p:cNvPr id="19" name="Rounded Rectangle 18"/>
          <p:cNvSpPr/>
          <p:nvPr/>
        </p:nvSpPr>
        <p:spPr>
          <a:xfrm>
            <a:off x="4928616" y="3694176"/>
            <a:ext cx="292608" cy="292608"/>
          </a:xfrm>
          <a:prstGeom prst="roundRect">
            <a:avLst>
              <a:gd name="adj" fmla="val 50000"/>
            </a:avLst>
          </a:prstGeom>
          <a:solidFill>
            <a:srgbClr val="F0AB00"/>
          </a:solidFill>
          <a:ln>
            <a:noFill/>
          </a:ln>
          <a:effectLst/>
        </p:spPr>
        <p:txBody>
          <a:bodyPr rtlCol="0" anchor="ctr" lIns="45720" rIns="45720" tIns="27432" bIns="27432" wrap="none"/>
          <a:lstStyle/>
          <a:p>
            <a:pPr algn="ctr"/>
            <a:r>
              <a:rPr sz="1150" b="1">
                <a:solidFill>
                  <a:srgbClr val="21295C"/>
                </a:solidFill>
                <a:latin typeface="Arial"/>
              </a:rPr>
              <a:t>4</a:t>
            </a:r>
          </a:p>
        </p:txBody>
      </p:sp>
      <p:sp>
        <p:nvSpPr>
          <p:cNvPr id="20" name="TextBox 19"/>
          <p:cNvSpPr txBox="1"/>
          <p:nvPr/>
        </p:nvSpPr>
        <p:spPr>
          <a:xfrm>
            <a:off x="2679192" y="4187952"/>
            <a:ext cx="2542032" cy="749808"/>
          </a:xfrm>
          <a:prstGeom prst="rect">
            <a:avLst/>
          </a:prstGeom>
          <a:noFill/>
        </p:spPr>
        <p:txBody>
          <a:bodyPr wrap="square" lIns="0" rIns="0" tIns="0" bIns="0" anchor="t">
            <a:spAutoFit/>
          </a:bodyPr>
          <a:lstStyle/>
          <a:p>
            <a:pPr algn="l">
              <a:lnSpc>
                <a:spcPct val="110000"/>
              </a:lnSpc>
              <a:spcAft>
                <a:spcPts val="0"/>
              </a:spcAft>
            </a:pPr>
            <a:r>
              <a:rPr sz="1200" b="1" i="0">
                <a:solidFill>
                  <a:srgbClr val="21295C"/>
                </a:solidFill>
                <a:latin typeface="Arial"/>
              </a:rPr>
              <a:t>Decides what</a:t>
            </a:r>
          </a:p>
          <a:p>
            <a:pPr algn="l">
              <a:lnSpc>
                <a:spcPct val="110000"/>
              </a:lnSpc>
              <a:spcAft>
                <a:spcPts val="0"/>
              </a:spcAft>
            </a:pPr>
            <a:r>
              <a:rPr sz="1200" b="1" i="0">
                <a:solidFill>
                  <a:srgbClr val="21295C"/>
                </a:solidFill>
                <a:latin typeface="Arial"/>
              </a:rPr>
              <a:t>to do next</a:t>
            </a:r>
          </a:p>
        </p:txBody>
      </p:sp>
      <p:sp>
        <p:nvSpPr>
          <p:cNvPr id="21" name="Rounded Rectangle 20"/>
          <p:cNvSpPr/>
          <p:nvPr/>
        </p:nvSpPr>
        <p:spPr>
          <a:xfrm>
            <a:off x="5641848" y="3337560"/>
            <a:ext cx="914400" cy="914400"/>
          </a:xfrm>
          <a:prstGeom prst="roundRect">
            <a:avLst>
              <a:gd name="adj" fmla="val 50000"/>
            </a:avLst>
          </a:prstGeom>
          <a:solidFill>
            <a:srgbClr val="028090"/>
          </a:solidFill>
          <a:ln>
            <a:noFill/>
          </a:ln>
          <a:effectLst/>
        </p:spPr>
        <p:txBody>
          <a:bodyPr rtlCol="0" anchor="ctr"/>
          <a:lstStyle/>
          <a:p>
            <a:pPr algn="ctr"/>
          </a:p>
        </p:txBody>
      </p:sp>
      <p:pic>
        <p:nvPicPr>
          <p:cNvPr id="22" name="Picture 21" descr="repeat-FFFFFF-48.png"/>
          <p:cNvPicPr>
            <a:picLocks noChangeAspect="1"/>
          </p:cNvPicPr>
          <p:nvPr/>
        </p:nvPicPr>
        <p:blipFill>
          <a:blip r:embed="rId6"/>
          <a:stretch>
            <a:fillRect/>
          </a:stretch>
        </p:blipFill>
        <p:spPr>
          <a:xfrm>
            <a:off x="5824728" y="3520440"/>
            <a:ext cx="548640" cy="548640"/>
          </a:xfrm>
          <a:prstGeom prst="rect">
            <a:avLst/>
          </a:prstGeom>
        </p:spPr>
      </p:pic>
      <p:sp>
        <p:nvSpPr>
          <p:cNvPr id="23" name="TextBox 22"/>
          <p:cNvSpPr txBox="1"/>
          <p:nvPr/>
        </p:nvSpPr>
        <p:spPr>
          <a:xfrm>
            <a:off x="5093208" y="4288536"/>
            <a:ext cx="2011680" cy="274320"/>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the loop repeats</a:t>
            </a:r>
          </a:p>
        </p:txBody>
      </p:sp>
      <p:sp>
        <p:nvSpPr>
          <p:cNvPr id="24" name="Rounded Rectangle 23"/>
          <p:cNvSpPr/>
          <p:nvPr/>
        </p:nvSpPr>
        <p:spPr>
          <a:xfrm>
            <a:off x="502920" y="5440680"/>
            <a:ext cx="11183112" cy="960120"/>
          </a:xfrm>
          <a:prstGeom prst="roundRect">
            <a:avLst>
              <a:gd name="adj" fmla="val 25000"/>
            </a:avLst>
          </a:prstGeom>
          <a:solidFill>
            <a:srgbClr val="FEF5E0"/>
          </a:solidFill>
          <a:ln w="17780">
            <a:solidFill>
              <a:srgbClr val="F0AB00"/>
            </a:solidFill>
          </a:ln>
          <a:effectLst/>
        </p:spPr>
        <p:txBody>
          <a:bodyPr rtlCol="0" anchor="ctr"/>
          <a:lstStyle/>
          <a:p>
            <a:pPr algn="ctr"/>
          </a:p>
        </p:txBody>
      </p:sp>
      <p:sp>
        <p:nvSpPr>
          <p:cNvPr id="25" name="TextBox 24"/>
          <p:cNvSpPr txBox="1"/>
          <p:nvPr/>
        </p:nvSpPr>
        <p:spPr>
          <a:xfrm>
            <a:off x="777240" y="5440680"/>
            <a:ext cx="10607040" cy="960120"/>
          </a:xfrm>
          <a:prstGeom prst="rect">
            <a:avLst/>
          </a:prstGeom>
          <a:noFill/>
        </p:spPr>
        <p:txBody>
          <a:bodyPr wrap="square" lIns="0" rIns="0" tIns="0" bIns="0" anchor="ctr">
            <a:spAutoFit/>
          </a:bodyPr>
          <a:lstStyle/>
          <a:p>
            <a:pPr algn="l">
              <a:lnSpc>
                <a:spcPct val="115000"/>
              </a:lnSpc>
            </a:pPr>
            <a:r>
              <a:rPr sz="1650" b="1" i="0">
                <a:solidFill>
                  <a:srgbClr val="21295C"/>
                </a:solidFill>
                <a:latin typeface="Arial"/>
              </a:rPr>
              <a:t>When it's needed: several steps and actions in external systems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1183112" cy="4114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Meeting minutes</a:t>
            </a:r>
          </a:p>
        </p:txBody>
      </p:sp>
      <p:sp>
        <p:nvSpPr>
          <p:cNvPr id="3" name="Rounded Rectangle 2"/>
          <p:cNvSpPr/>
          <p:nvPr/>
        </p:nvSpPr>
        <p:spPr>
          <a:xfrm>
            <a:off x="502920" y="713232"/>
            <a:ext cx="11183112" cy="2148840"/>
          </a:xfrm>
          <a:prstGeom prst="roundRect">
            <a:avLst>
              <a:gd name="adj" fmla="val 14184"/>
            </a:avLst>
          </a:prstGeom>
          <a:solidFill>
            <a:srgbClr val="F4F7FA"/>
          </a:solidFill>
          <a:ln w="19050">
            <a:solidFill>
              <a:srgbClr val="1C7293"/>
            </a:solidFill>
          </a:ln>
          <a:effectLst/>
        </p:spPr>
        <p:txBody>
          <a:bodyPr rtlCol="0" anchor="ctr"/>
          <a:lstStyle/>
          <a:p>
            <a:pPr algn="ctr"/>
          </a:p>
        </p:txBody>
      </p:sp>
      <p:pic>
        <p:nvPicPr>
          <p:cNvPr id="4" name="Picture 3" descr="quote-1C7293-64.png"/>
          <p:cNvPicPr>
            <a:picLocks noChangeAspect="1"/>
          </p:cNvPicPr>
          <p:nvPr/>
        </p:nvPicPr>
        <p:blipFill>
          <a:blip r:embed="rId2"/>
          <a:stretch>
            <a:fillRect/>
          </a:stretch>
        </p:blipFill>
        <p:spPr>
          <a:xfrm>
            <a:off x="722376" y="886968"/>
            <a:ext cx="292608" cy="292608"/>
          </a:xfrm>
          <a:prstGeom prst="rect">
            <a:avLst/>
          </a:prstGeom>
        </p:spPr>
      </p:pic>
      <p:sp>
        <p:nvSpPr>
          <p:cNvPr id="5" name="TextBox 4"/>
          <p:cNvSpPr txBox="1"/>
          <p:nvPr/>
        </p:nvSpPr>
        <p:spPr>
          <a:xfrm>
            <a:off x="722376" y="1225296"/>
            <a:ext cx="10744200" cy="1417320"/>
          </a:xfrm>
          <a:prstGeom prst="rect">
            <a:avLst/>
          </a:prstGeom>
          <a:noFill/>
        </p:spPr>
        <p:txBody>
          <a:bodyPr wrap="square" lIns="0" rIns="0" tIns="0" bIns="0" anchor="t">
            <a:spAutoFit/>
          </a:bodyPr>
          <a:lstStyle/>
          <a:p>
            <a:pPr algn="l">
              <a:lnSpc>
                <a:spcPct val="128000"/>
              </a:lnSpc>
            </a:pPr>
            <a:r>
              <a:rPr sz="1400" b="0" i="1">
                <a:solidFill>
                  <a:srgbClr val="21295C"/>
                </a:solidFill>
                <a:latin typeface="Arial"/>
              </a:rPr>
              <a:t>"After every Zoom call, the transcript lands in an email, and nobody gets around to it. The project manager still writes the minutes by hand, 30-40 minutes each time. There are about 15 meetings a week, some in English with a contractor — Zoom transcribes those too, just in another language. We already put the finished minutes on the shared corporate drive, in a folder by project. We track action items from meetings in YouTrack, which has an open REST API if that's ever needed. Can we auto-generate minutes from the transcript — decisions, action items, deadlines? Ideally by the end of the quarter."</a:t>
            </a:r>
          </a:p>
        </p:txBody>
      </p:sp>
      <p:sp>
        <p:nvSpPr>
          <p:cNvPr id="6" name="Rounded Rectangle 5"/>
          <p:cNvSpPr/>
          <p:nvPr/>
        </p:nvSpPr>
        <p:spPr>
          <a:xfrm>
            <a:off x="502920" y="3044952"/>
            <a:ext cx="3931920" cy="3200400"/>
          </a:xfrm>
          <a:prstGeom prst="roundRect">
            <a:avLst>
              <a:gd name="adj" fmla="val 9523"/>
            </a:avLst>
          </a:prstGeom>
          <a:solidFill>
            <a:srgbClr val="F4F7FA"/>
          </a:solidFill>
          <a:ln w="20320">
            <a:solidFill>
              <a:srgbClr val="028090"/>
            </a:solidFill>
          </a:ln>
          <a:effectLst/>
        </p:spPr>
        <p:txBody>
          <a:bodyPr rtlCol="0" anchor="ctr"/>
          <a:lstStyle/>
          <a:p>
            <a:pPr algn="ctr"/>
          </a:p>
        </p:txBody>
      </p:sp>
      <p:pic>
        <p:nvPicPr>
          <p:cNvPr id="7" name="Picture 6" descr="s20-meeting-room-real.jpg"/>
          <p:cNvPicPr>
            <a:picLocks noChangeAspect="1"/>
          </p:cNvPicPr>
          <p:nvPr/>
        </p:nvPicPr>
        <p:blipFill>
          <a:blip r:embed="rId3"/>
          <a:srcRect l="8449" r="8449"/>
          <a:stretch>
            <a:fillRect/>
          </a:stretch>
        </p:blipFill>
        <p:spPr>
          <a:xfrm>
            <a:off x="612648" y="3154680"/>
            <a:ext cx="3712463" cy="2980944"/>
          </a:xfrm>
          <a:prstGeom prst="rect">
            <a:avLst/>
          </a:prstGeom>
        </p:spPr>
      </p:pic>
      <p:sp>
        <p:nvSpPr>
          <p:cNvPr id="8" name="Rounded Rectangle 7"/>
          <p:cNvSpPr/>
          <p:nvPr/>
        </p:nvSpPr>
        <p:spPr>
          <a:xfrm>
            <a:off x="4709159" y="3044952"/>
            <a:ext cx="6976872" cy="1600200"/>
          </a:xfrm>
          <a:prstGeom prst="roundRect">
            <a:avLst>
              <a:gd name="adj" fmla="val 19047"/>
            </a:avLst>
          </a:prstGeom>
          <a:solidFill>
            <a:srgbClr val="F4F7FA"/>
          </a:solidFill>
          <a:ln w="19050">
            <a:solidFill>
              <a:srgbClr val="1C7293"/>
            </a:solidFill>
          </a:ln>
          <a:effectLst/>
        </p:spPr>
        <p:txBody>
          <a:bodyPr rtlCol="0" anchor="ctr"/>
          <a:lstStyle/>
          <a:p>
            <a:pPr algn="ctr"/>
          </a:p>
        </p:txBody>
      </p:sp>
      <p:sp>
        <p:nvSpPr>
          <p:cNvPr id="9" name="TextBox 8"/>
          <p:cNvSpPr txBox="1"/>
          <p:nvPr/>
        </p:nvSpPr>
        <p:spPr>
          <a:xfrm>
            <a:off x="4892040" y="3191256"/>
            <a:ext cx="6611112" cy="1307592"/>
          </a:xfrm>
          <a:prstGeom prst="rect">
            <a:avLst/>
          </a:prstGeom>
          <a:noFill/>
        </p:spPr>
        <p:txBody>
          <a:bodyPr wrap="square" lIns="0" rIns="0" tIns="0" bIns="0" anchor="ctr">
            <a:spAutoFit/>
          </a:bodyPr>
          <a:lstStyle/>
          <a:p>
            <a:pPr algn="l">
              <a:lnSpc>
                <a:spcPct val="130000"/>
              </a:lnSpc>
            </a:pPr>
            <a:r>
              <a:rPr sz="1500" b="0" i="1">
                <a:solidFill>
                  <a:srgbClr val="21295C"/>
                </a:solidFill>
                <a:latin typeface="Arial"/>
              </a:rPr>
              <a:t>About 15 meetings a week, minutes are currently written by hand by a project manager</a:t>
            </a:r>
          </a:p>
        </p:txBody>
      </p:sp>
      <p:sp>
        <p:nvSpPr>
          <p:cNvPr id="10" name="Rounded Rectangle 9"/>
          <p:cNvSpPr/>
          <p:nvPr/>
        </p:nvSpPr>
        <p:spPr>
          <a:xfrm>
            <a:off x="4709159" y="4919472"/>
            <a:ext cx="6976872" cy="1325880"/>
          </a:xfrm>
          <a:prstGeom prst="roundRect">
            <a:avLst>
              <a:gd name="adj" fmla="val 22988"/>
            </a:avLst>
          </a:prstGeom>
          <a:solidFill>
            <a:srgbClr val="FEF5E0"/>
          </a:solidFill>
          <a:ln w="19050">
            <a:solidFill>
              <a:srgbClr val="F0AB00"/>
            </a:solidFill>
          </a:ln>
          <a:effectLst/>
        </p:spPr>
        <p:txBody>
          <a:bodyPr rtlCol="0" anchor="ctr"/>
          <a:lstStyle/>
          <a:p>
            <a:pPr algn="ctr"/>
          </a:p>
        </p:txBody>
      </p:sp>
      <p:sp>
        <p:nvSpPr>
          <p:cNvPr id="11" name="TextBox 10"/>
          <p:cNvSpPr txBox="1"/>
          <p:nvPr/>
        </p:nvSpPr>
        <p:spPr>
          <a:xfrm>
            <a:off x="4892040" y="4919472"/>
            <a:ext cx="6611112" cy="1325880"/>
          </a:xfrm>
          <a:prstGeom prst="rect">
            <a:avLst/>
          </a:prstGeom>
          <a:noFill/>
        </p:spPr>
        <p:txBody>
          <a:bodyPr wrap="square" lIns="0" rIns="0" tIns="0" bIns="0" anchor="ctr">
            <a:spAutoFit/>
          </a:bodyPr>
          <a:lstStyle/>
          <a:p>
            <a:pPr algn="l">
              <a:lnSpc>
                <a:spcPct val="110000"/>
              </a:lnSpc>
            </a:pPr>
            <a:r>
              <a:rPr sz="1900" b="1" i="0">
                <a:solidFill>
                  <a:srgbClr val="21295C"/>
                </a:solidFill>
                <a:latin typeface="Arial"/>
              </a:rPr>
              <a:t>What architecture is needed?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11183112" cy="365760"/>
          </a:xfrm>
          <a:prstGeom prst="rect">
            <a:avLst/>
          </a:prstGeom>
          <a:noFill/>
        </p:spPr>
        <p:txBody>
          <a:bodyPr wrap="square" lIns="0" rIns="0" tIns="0" bIns="0" anchor="t">
            <a:spAutoFit/>
          </a:bodyPr>
          <a:lstStyle/>
          <a:p>
            <a:pPr algn="l">
              <a:lnSpc>
                <a:spcPct val="115000"/>
              </a:lnSpc>
            </a:pPr>
            <a:r>
              <a:rPr sz="2200" b="1" i="0">
                <a:solidFill>
                  <a:srgbClr val="21295C"/>
                </a:solidFill>
                <a:latin typeface="Arial"/>
              </a:rPr>
              <a:t>Meeting minutes — breakdown</a:t>
            </a:r>
          </a:p>
        </p:txBody>
      </p:sp>
      <p:sp>
        <p:nvSpPr>
          <p:cNvPr id="3" name="Rounded Rectangle 2"/>
          <p:cNvSpPr/>
          <p:nvPr/>
        </p:nvSpPr>
        <p:spPr>
          <a:xfrm>
            <a:off x="502920" y="566928"/>
            <a:ext cx="11183112" cy="868680"/>
          </a:xfrm>
          <a:prstGeom prst="roundRect">
            <a:avLst>
              <a:gd name="adj" fmla="val 25000"/>
            </a:avLst>
          </a:prstGeom>
          <a:solidFill>
            <a:srgbClr val="F4F7FA"/>
          </a:solidFill>
          <a:ln w="19050">
            <a:solidFill>
              <a:srgbClr val="1C7293"/>
            </a:solidFill>
          </a:ln>
          <a:effectLst/>
        </p:spPr>
        <p:txBody>
          <a:bodyPr rtlCol="0" anchor="ctr"/>
          <a:lstStyle/>
          <a:p>
            <a:pPr algn="ctr"/>
          </a:p>
        </p:txBody>
      </p:sp>
      <p:pic>
        <p:nvPicPr>
          <p:cNvPr id="4" name="Picture 3" descr="quote-1C7293-64.png"/>
          <p:cNvPicPr>
            <a:picLocks noChangeAspect="1"/>
          </p:cNvPicPr>
          <p:nvPr/>
        </p:nvPicPr>
        <p:blipFill>
          <a:blip r:embed="rId2"/>
          <a:stretch>
            <a:fillRect/>
          </a:stretch>
        </p:blipFill>
        <p:spPr>
          <a:xfrm>
            <a:off x="722376" y="740664"/>
            <a:ext cx="292608" cy="292608"/>
          </a:xfrm>
          <a:prstGeom prst="rect">
            <a:avLst/>
          </a:prstGeom>
        </p:spPr>
      </p:pic>
      <p:sp>
        <p:nvSpPr>
          <p:cNvPr id="5" name="TextBox 4"/>
          <p:cNvSpPr txBox="1"/>
          <p:nvPr/>
        </p:nvSpPr>
        <p:spPr>
          <a:xfrm>
            <a:off x="722376" y="1078992"/>
            <a:ext cx="10744200" cy="137159"/>
          </a:xfrm>
          <a:prstGeom prst="rect">
            <a:avLst/>
          </a:prstGeom>
          <a:noFill/>
        </p:spPr>
        <p:txBody>
          <a:bodyPr wrap="square" lIns="0" rIns="0" tIns="0" bIns="0" anchor="t">
            <a:spAutoFit/>
          </a:bodyPr>
          <a:lstStyle/>
          <a:p>
            <a:pPr algn="l">
              <a:lnSpc>
                <a:spcPct val="128000"/>
              </a:lnSpc>
            </a:pPr>
            <a:r>
              <a:rPr sz="1400" b="0" i="1">
                <a:solidFill>
                  <a:srgbClr val="21295C"/>
                </a:solidFill>
                <a:latin typeface="Arial"/>
              </a:rPr>
              <a:t>"One call, no storage, no loop"</a:t>
            </a:r>
          </a:p>
        </p:txBody>
      </p:sp>
      <p:sp>
        <p:nvSpPr>
          <p:cNvPr id="6" name="Rounded Rectangle 5"/>
          <p:cNvSpPr/>
          <p:nvPr/>
        </p:nvSpPr>
        <p:spPr>
          <a:xfrm>
            <a:off x="502920" y="1536192"/>
            <a:ext cx="11183112" cy="3931920"/>
          </a:xfrm>
          <a:prstGeom prst="roundRect">
            <a:avLst>
              <a:gd name="adj" fmla="val 7751"/>
            </a:avLst>
          </a:prstGeom>
          <a:solidFill>
            <a:srgbClr val="F4F7FA"/>
          </a:solidFill>
          <a:ln w="15240">
            <a:solidFill>
              <a:srgbClr val="1C7293"/>
            </a:solidFill>
          </a:ln>
          <a:effectLst/>
        </p:spPr>
        <p:txBody>
          <a:bodyPr rtlCol="0" anchor="ctr"/>
          <a:lstStyle/>
          <a:p>
            <a:pPr algn="ctr"/>
          </a:p>
        </p:txBody>
      </p:sp>
      <p:sp>
        <p:nvSpPr>
          <p:cNvPr id="7" name="Rounded Rectangle 6"/>
          <p:cNvSpPr/>
          <p:nvPr/>
        </p:nvSpPr>
        <p:spPr>
          <a:xfrm>
            <a:off x="502920" y="3136391"/>
            <a:ext cx="2331720" cy="914400"/>
          </a:xfrm>
          <a:prstGeom prst="roundRect">
            <a:avLst>
              <a:gd name="adj" fmla="val 25000"/>
            </a:avLst>
          </a:prstGeom>
          <a:solidFill>
            <a:srgbClr val="F4F7FA"/>
          </a:solidFill>
          <a:ln w="17780">
            <a:solidFill>
              <a:srgbClr val="065A82"/>
            </a:solidFill>
          </a:ln>
          <a:effectLst/>
        </p:spPr>
        <p:txBody>
          <a:bodyPr rtlCol="0" anchor="ctr"/>
          <a:lstStyle/>
          <a:p>
            <a:pPr algn="ctr"/>
          </a:p>
        </p:txBody>
      </p:sp>
      <p:pic>
        <p:nvPicPr>
          <p:cNvPr id="8" name="Picture 7" descr="mail-065A82-64.png"/>
          <p:cNvPicPr>
            <a:picLocks noChangeAspect="1"/>
          </p:cNvPicPr>
          <p:nvPr/>
        </p:nvPicPr>
        <p:blipFill>
          <a:blip r:embed="rId3"/>
          <a:stretch>
            <a:fillRect/>
          </a:stretch>
        </p:blipFill>
        <p:spPr>
          <a:xfrm>
            <a:off x="1485900" y="3264408"/>
            <a:ext cx="365760" cy="365760"/>
          </a:xfrm>
          <a:prstGeom prst="rect">
            <a:avLst/>
          </a:prstGeom>
        </p:spPr>
      </p:pic>
      <p:sp>
        <p:nvSpPr>
          <p:cNvPr id="9" name="TextBox 8"/>
          <p:cNvSpPr txBox="1"/>
          <p:nvPr/>
        </p:nvSpPr>
        <p:spPr>
          <a:xfrm>
            <a:off x="576072" y="3685032"/>
            <a:ext cx="2185415" cy="292607"/>
          </a:xfrm>
          <a:prstGeom prst="rect">
            <a:avLst/>
          </a:prstGeom>
          <a:noFill/>
        </p:spPr>
        <p:txBody>
          <a:bodyPr wrap="square" lIns="0" rIns="0" tIns="0" bIns="0" anchor="t">
            <a:spAutoFit/>
          </a:bodyPr>
          <a:lstStyle/>
          <a:p>
            <a:pPr algn="ctr">
              <a:lnSpc>
                <a:spcPct val="112000"/>
              </a:lnSpc>
            </a:pPr>
            <a:r>
              <a:rPr sz="1200" b="1" i="0">
                <a:solidFill>
                  <a:srgbClr val="21295C"/>
                </a:solidFill>
                <a:latin typeface="Arial"/>
              </a:rPr>
              <a:t>Email with transcript</a:t>
            </a:r>
          </a:p>
        </p:txBody>
      </p:sp>
      <p:sp>
        <p:nvSpPr>
          <p:cNvPr id="10" name="Right Arrow 9"/>
          <p:cNvSpPr/>
          <p:nvPr/>
        </p:nvSpPr>
        <p:spPr>
          <a:xfrm>
            <a:off x="2871215" y="3511296"/>
            <a:ext cx="246887" cy="164592"/>
          </a:xfrm>
          <a:prstGeom prst="rightArrow">
            <a:avLst/>
          </a:prstGeom>
          <a:solidFill>
            <a:srgbClr val="028090"/>
          </a:solidFill>
          <a:ln>
            <a:noFill/>
          </a:ln>
          <a:effectLst/>
        </p:spPr>
        <p:txBody>
          <a:bodyPr rtlCol="0" anchor="ctr"/>
          <a:lstStyle/>
          <a:p>
            <a:pPr algn="ctr"/>
          </a:p>
        </p:txBody>
      </p:sp>
      <p:sp>
        <p:nvSpPr>
          <p:cNvPr id="11" name="Rounded Rectangle 10"/>
          <p:cNvSpPr/>
          <p:nvPr/>
        </p:nvSpPr>
        <p:spPr>
          <a:xfrm>
            <a:off x="3154680" y="3136391"/>
            <a:ext cx="2331720" cy="914400"/>
          </a:xfrm>
          <a:prstGeom prst="roundRect">
            <a:avLst>
              <a:gd name="adj" fmla="val 25000"/>
            </a:avLst>
          </a:prstGeom>
          <a:solidFill>
            <a:srgbClr val="F4F7FA"/>
          </a:solidFill>
          <a:ln w="17780">
            <a:solidFill>
              <a:srgbClr val="065A82"/>
            </a:solidFill>
          </a:ln>
          <a:effectLst/>
        </p:spPr>
        <p:txBody>
          <a:bodyPr rtlCol="0" anchor="ctr"/>
          <a:lstStyle/>
          <a:p>
            <a:pPr algn="ctr"/>
          </a:p>
        </p:txBody>
      </p:sp>
      <p:pic>
        <p:nvPicPr>
          <p:cNvPr id="12" name="Picture 11" descr="sparkles-065A82-64.png"/>
          <p:cNvPicPr>
            <a:picLocks noChangeAspect="1"/>
          </p:cNvPicPr>
          <p:nvPr/>
        </p:nvPicPr>
        <p:blipFill>
          <a:blip r:embed="rId4"/>
          <a:stretch>
            <a:fillRect/>
          </a:stretch>
        </p:blipFill>
        <p:spPr>
          <a:xfrm>
            <a:off x="4137660" y="3264408"/>
            <a:ext cx="365760" cy="365760"/>
          </a:xfrm>
          <a:prstGeom prst="rect">
            <a:avLst/>
          </a:prstGeom>
        </p:spPr>
      </p:pic>
      <p:sp>
        <p:nvSpPr>
          <p:cNvPr id="13" name="TextBox 12"/>
          <p:cNvSpPr txBox="1"/>
          <p:nvPr/>
        </p:nvSpPr>
        <p:spPr>
          <a:xfrm>
            <a:off x="3227832" y="3685032"/>
            <a:ext cx="2185415" cy="292607"/>
          </a:xfrm>
          <a:prstGeom prst="rect">
            <a:avLst/>
          </a:prstGeom>
          <a:noFill/>
        </p:spPr>
        <p:txBody>
          <a:bodyPr wrap="square" lIns="0" rIns="0" tIns="0" bIns="0" anchor="t">
            <a:spAutoFit/>
          </a:bodyPr>
          <a:lstStyle/>
          <a:p>
            <a:pPr algn="ctr">
              <a:lnSpc>
                <a:spcPct val="112000"/>
              </a:lnSpc>
            </a:pPr>
            <a:r>
              <a:rPr sz="1200" b="1" i="0">
                <a:solidFill>
                  <a:srgbClr val="21295C"/>
                </a:solidFill>
                <a:latin typeface="Arial"/>
              </a:rPr>
              <a:t>Model call with a template</a:t>
            </a:r>
          </a:p>
        </p:txBody>
      </p:sp>
      <p:sp>
        <p:nvSpPr>
          <p:cNvPr id="14" name="Right Arrow 13"/>
          <p:cNvSpPr/>
          <p:nvPr/>
        </p:nvSpPr>
        <p:spPr>
          <a:xfrm>
            <a:off x="5522976" y="3511296"/>
            <a:ext cx="246887" cy="164592"/>
          </a:xfrm>
          <a:prstGeom prst="rightArrow">
            <a:avLst/>
          </a:prstGeom>
          <a:solidFill>
            <a:srgbClr val="028090"/>
          </a:solidFill>
          <a:ln>
            <a:noFill/>
          </a:ln>
          <a:effectLst/>
        </p:spPr>
        <p:txBody>
          <a:bodyPr rtlCol="0" anchor="ctr"/>
          <a:lstStyle/>
          <a:p>
            <a:pPr algn="ctr"/>
          </a:p>
        </p:txBody>
      </p:sp>
      <p:sp>
        <p:nvSpPr>
          <p:cNvPr id="15" name="Rounded Rectangle 14"/>
          <p:cNvSpPr/>
          <p:nvPr/>
        </p:nvSpPr>
        <p:spPr>
          <a:xfrm>
            <a:off x="5806440" y="3136391"/>
            <a:ext cx="2331720" cy="914400"/>
          </a:xfrm>
          <a:prstGeom prst="roundRect">
            <a:avLst>
              <a:gd name="adj" fmla="val 25000"/>
            </a:avLst>
          </a:prstGeom>
          <a:solidFill>
            <a:srgbClr val="F4F7FA"/>
          </a:solidFill>
          <a:ln w="17780">
            <a:solidFill>
              <a:srgbClr val="065A82"/>
            </a:solidFill>
          </a:ln>
          <a:effectLst/>
        </p:spPr>
        <p:txBody>
          <a:bodyPr rtlCol="0" anchor="ctr"/>
          <a:lstStyle/>
          <a:p>
            <a:pPr algn="ctr"/>
          </a:p>
        </p:txBody>
      </p:sp>
      <p:pic>
        <p:nvPicPr>
          <p:cNvPr id="16" name="Picture 15" descr="file-text-065A82-64.png"/>
          <p:cNvPicPr>
            <a:picLocks noChangeAspect="1"/>
          </p:cNvPicPr>
          <p:nvPr/>
        </p:nvPicPr>
        <p:blipFill>
          <a:blip r:embed="rId5"/>
          <a:stretch>
            <a:fillRect/>
          </a:stretch>
        </p:blipFill>
        <p:spPr>
          <a:xfrm>
            <a:off x="6789420" y="3264408"/>
            <a:ext cx="365760" cy="365760"/>
          </a:xfrm>
          <a:prstGeom prst="rect">
            <a:avLst/>
          </a:prstGeom>
        </p:spPr>
      </p:pic>
      <p:sp>
        <p:nvSpPr>
          <p:cNvPr id="17" name="TextBox 16"/>
          <p:cNvSpPr txBox="1"/>
          <p:nvPr/>
        </p:nvSpPr>
        <p:spPr>
          <a:xfrm>
            <a:off x="5879592" y="3685032"/>
            <a:ext cx="2185415" cy="292607"/>
          </a:xfrm>
          <a:prstGeom prst="rect">
            <a:avLst/>
          </a:prstGeom>
          <a:noFill/>
        </p:spPr>
        <p:txBody>
          <a:bodyPr wrap="square" lIns="0" rIns="0" tIns="0" bIns="0" anchor="t">
            <a:spAutoFit/>
          </a:bodyPr>
          <a:lstStyle/>
          <a:p>
            <a:pPr algn="ctr">
              <a:lnSpc>
                <a:spcPct val="112000"/>
              </a:lnSpc>
            </a:pPr>
            <a:r>
              <a:rPr sz="1200" b="1" i="0">
                <a:solidFill>
                  <a:srgbClr val="21295C"/>
                </a:solidFill>
                <a:latin typeface="Arial"/>
              </a:rPr>
              <a:t>Minutes</a:t>
            </a:r>
          </a:p>
        </p:txBody>
      </p:sp>
      <p:sp>
        <p:nvSpPr>
          <p:cNvPr id="18" name="Rounded Rectangle 17"/>
          <p:cNvSpPr/>
          <p:nvPr/>
        </p:nvSpPr>
        <p:spPr>
          <a:xfrm>
            <a:off x="502920" y="5605272"/>
            <a:ext cx="11183112" cy="868680"/>
          </a:xfrm>
          <a:prstGeom prst="roundRect">
            <a:avLst>
              <a:gd name="adj" fmla="val 25000"/>
            </a:avLst>
          </a:prstGeom>
          <a:solidFill>
            <a:srgbClr val="FEF5E0"/>
          </a:solidFill>
          <a:ln w="19050">
            <a:solidFill>
              <a:srgbClr val="F0AB00"/>
            </a:solidFill>
          </a:ln>
          <a:effectLst/>
        </p:spPr>
        <p:txBody>
          <a:bodyPr rtlCol="0" anchor="ctr"/>
          <a:lstStyle/>
          <a:p>
            <a:pPr algn="ctr"/>
          </a:p>
        </p:txBody>
      </p:sp>
      <p:sp>
        <p:nvSpPr>
          <p:cNvPr id="19" name="TextBox 18"/>
          <p:cNvSpPr txBox="1"/>
          <p:nvPr/>
        </p:nvSpPr>
        <p:spPr>
          <a:xfrm>
            <a:off x="777240" y="5605272"/>
            <a:ext cx="10607040" cy="868680"/>
          </a:xfrm>
          <a:prstGeom prst="rect">
            <a:avLst/>
          </a:prstGeom>
          <a:noFill/>
        </p:spPr>
        <p:txBody>
          <a:bodyPr wrap="square" lIns="0" rIns="0" tIns="0" bIns="0" anchor="ctr">
            <a:spAutoFit/>
          </a:bodyPr>
          <a:lstStyle/>
          <a:p>
            <a:pPr algn="l">
              <a:lnSpc>
                <a:spcPct val="118000"/>
              </a:lnSpc>
            </a:pPr>
            <a:r>
              <a:rPr sz="1400" b="1" i="0">
                <a:solidFill>
                  <a:srgbClr val="21295C"/>
                </a:solidFill>
                <a:latin typeface="Arial"/>
              </a:rPr>
              <a:t>The entire transcript fits into a single request — complicating it now would mean solving a problem that doesn't exist</a:t>
            </a:r>
          </a:p>
        </p:txBody>
      </p:sp>
      <p:sp>
        <p:nvSpPr>
          <p:cNvPr id="20" name="TextBox 19"/>
          <p:cNvSpPr txBox="1"/>
          <p:nvPr/>
        </p:nvSpPr>
        <p:spPr>
          <a:xfrm>
            <a:off x="502920" y="6473952"/>
            <a:ext cx="11183112" cy="36576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the transcript already arrives as a ready-made email — no separate input-assembly step is needed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1183112" cy="4114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Meeting minutes</a:t>
            </a:r>
          </a:p>
        </p:txBody>
      </p:sp>
      <p:sp>
        <p:nvSpPr>
          <p:cNvPr id="3" name="Rounded Rectangle 2"/>
          <p:cNvSpPr/>
          <p:nvPr/>
        </p:nvSpPr>
        <p:spPr>
          <a:xfrm>
            <a:off x="502920" y="713232"/>
            <a:ext cx="11183112" cy="2377440"/>
          </a:xfrm>
          <a:prstGeom prst="roundRect">
            <a:avLst>
              <a:gd name="adj" fmla="val 12820"/>
            </a:avLst>
          </a:prstGeom>
          <a:solidFill>
            <a:srgbClr val="F4F7FA"/>
          </a:solidFill>
          <a:ln w="19050">
            <a:solidFill>
              <a:srgbClr val="1C7293"/>
            </a:solidFill>
          </a:ln>
          <a:effectLst/>
        </p:spPr>
        <p:txBody>
          <a:bodyPr rtlCol="0" anchor="ctr"/>
          <a:lstStyle/>
          <a:p>
            <a:pPr algn="ctr"/>
          </a:p>
        </p:txBody>
      </p:sp>
      <p:pic>
        <p:nvPicPr>
          <p:cNvPr id="4" name="Picture 3" descr="quote-1C7293-64.png"/>
          <p:cNvPicPr>
            <a:picLocks noChangeAspect="1"/>
          </p:cNvPicPr>
          <p:nvPr/>
        </p:nvPicPr>
        <p:blipFill>
          <a:blip r:embed="rId2"/>
          <a:stretch>
            <a:fillRect/>
          </a:stretch>
        </p:blipFill>
        <p:spPr>
          <a:xfrm>
            <a:off x="722376" y="886968"/>
            <a:ext cx="292608" cy="292608"/>
          </a:xfrm>
          <a:prstGeom prst="rect">
            <a:avLst/>
          </a:prstGeom>
        </p:spPr>
      </p:pic>
      <p:sp>
        <p:nvSpPr>
          <p:cNvPr id="5" name="TextBox 4"/>
          <p:cNvSpPr txBox="1"/>
          <p:nvPr/>
        </p:nvSpPr>
        <p:spPr>
          <a:xfrm>
            <a:off x="722376" y="1225296"/>
            <a:ext cx="10744200" cy="1645920"/>
          </a:xfrm>
          <a:prstGeom prst="rect">
            <a:avLst/>
          </a:prstGeom>
          <a:noFill/>
        </p:spPr>
        <p:txBody>
          <a:bodyPr wrap="square" lIns="0" rIns="0" tIns="0" bIns="0" anchor="t">
            <a:spAutoFit/>
          </a:bodyPr>
          <a:lstStyle/>
          <a:p>
            <a:pPr algn="l">
              <a:lnSpc>
                <a:spcPct val="128000"/>
              </a:lnSpc>
            </a:pPr>
            <a:r>
              <a:rPr sz="1400" b="0" i="1">
                <a:solidFill>
                  <a:srgbClr val="21295C"/>
                </a:solidFill>
                <a:latin typeface="Arial"/>
              </a:rPr>
              <a:t>"This happened at the standup today, kind of awkward to retell. We were discussing the quarterly budget, and someone from finance asks: 'Wait, what did we even decide about vendor X back in May, weren't there some agreements about a discount?' Dead silence. The minutes pile up in a shared folder on the drive, named more or less by date, and searching through them by hand is quite the experience, especially if all you remember is the topic and not the date. The folder itself is growing by about half a gigabyte a quarter. By the way, they also discussed the summer vacation schedule at that same meeting, and separately, the redesign of the corporate portal, but that's a different story."</a:t>
            </a:r>
          </a:p>
        </p:txBody>
      </p:sp>
      <p:sp>
        <p:nvSpPr>
          <p:cNvPr id="6" name="Rounded Rectangle 5"/>
          <p:cNvSpPr/>
          <p:nvPr/>
        </p:nvSpPr>
        <p:spPr>
          <a:xfrm>
            <a:off x="502920" y="3273552"/>
            <a:ext cx="11183112" cy="1005840"/>
          </a:xfrm>
          <a:prstGeom prst="roundRect">
            <a:avLst>
              <a:gd name="adj" fmla="val 25000"/>
            </a:avLst>
          </a:prstGeom>
          <a:solidFill>
            <a:srgbClr val="F4F7FA"/>
          </a:solidFill>
          <a:ln w="19050">
            <a:solidFill>
              <a:srgbClr val="028090"/>
            </a:solidFill>
          </a:ln>
          <a:effectLst/>
        </p:spPr>
        <p:txBody>
          <a:bodyPr rtlCol="0" anchor="ctr"/>
          <a:lstStyle/>
          <a:p>
            <a:pPr algn="ctr"/>
          </a:p>
        </p:txBody>
      </p:sp>
      <p:pic>
        <p:nvPicPr>
          <p:cNvPr id="7" name="Picture 6" descr="folder-search-065A82-96.png"/>
          <p:cNvPicPr>
            <a:picLocks noChangeAspect="1"/>
          </p:cNvPicPr>
          <p:nvPr/>
        </p:nvPicPr>
        <p:blipFill>
          <a:blip r:embed="rId3"/>
          <a:stretch>
            <a:fillRect/>
          </a:stretch>
        </p:blipFill>
        <p:spPr>
          <a:xfrm>
            <a:off x="822960" y="3479292"/>
            <a:ext cx="594360" cy="594360"/>
          </a:xfrm>
          <a:prstGeom prst="rect">
            <a:avLst/>
          </a:prstGeom>
        </p:spPr>
      </p:pic>
      <p:sp>
        <p:nvSpPr>
          <p:cNvPr id="8" name="TextBox 7"/>
          <p:cNvSpPr txBox="1"/>
          <p:nvPr/>
        </p:nvSpPr>
        <p:spPr>
          <a:xfrm>
            <a:off x="1691640" y="3273552"/>
            <a:ext cx="9692640" cy="1005840"/>
          </a:xfrm>
          <a:prstGeom prst="rect">
            <a:avLst/>
          </a:prstGeom>
          <a:noFill/>
        </p:spPr>
        <p:txBody>
          <a:bodyPr wrap="square" lIns="0" rIns="0" tIns="0" bIns="0" anchor="ctr">
            <a:spAutoFit/>
          </a:bodyPr>
          <a:lstStyle/>
          <a:p>
            <a:pPr algn="l">
              <a:lnSpc>
                <a:spcPct val="125000"/>
              </a:lnSpc>
            </a:pPr>
            <a:r>
              <a:rPr sz="1500" b="0" i="1">
                <a:solidFill>
                  <a:srgbClr val="21295C"/>
                </a:solidFill>
                <a:latin typeface="Arial"/>
              </a:rPr>
              <a:t>A month has gone by — dozens of minutes from different meetings, across different projects, have piled up</a:t>
            </a:r>
          </a:p>
        </p:txBody>
      </p:sp>
      <p:sp>
        <p:nvSpPr>
          <p:cNvPr id="9" name="Rounded Rectangle 8"/>
          <p:cNvSpPr/>
          <p:nvPr/>
        </p:nvSpPr>
        <p:spPr>
          <a:xfrm>
            <a:off x="502920" y="4462272"/>
            <a:ext cx="11183112" cy="2258568"/>
          </a:xfrm>
          <a:prstGeom prst="roundRect">
            <a:avLst>
              <a:gd name="adj" fmla="val 13495"/>
            </a:avLst>
          </a:prstGeom>
          <a:solidFill>
            <a:srgbClr val="FEF5E0"/>
          </a:solidFill>
          <a:ln w="19050">
            <a:solidFill>
              <a:srgbClr val="F0AB00"/>
            </a:solidFill>
          </a:ln>
          <a:effectLst/>
        </p:spPr>
        <p:txBody>
          <a:bodyPr rtlCol="0" anchor="ctr"/>
          <a:lstStyle/>
          <a:p>
            <a:pPr algn="ctr"/>
          </a:p>
        </p:txBody>
      </p:sp>
      <p:sp>
        <p:nvSpPr>
          <p:cNvPr id="10" name="TextBox 9"/>
          <p:cNvSpPr txBox="1"/>
          <p:nvPr/>
        </p:nvSpPr>
        <p:spPr>
          <a:xfrm>
            <a:off x="777240" y="4462272"/>
            <a:ext cx="10607040" cy="2258568"/>
          </a:xfrm>
          <a:prstGeom prst="rect">
            <a:avLst/>
          </a:prstGeom>
          <a:noFill/>
        </p:spPr>
        <p:txBody>
          <a:bodyPr wrap="square" lIns="0" rIns="0" tIns="0" bIns="0" anchor="ctr">
            <a:spAutoFit/>
          </a:bodyPr>
          <a:lstStyle/>
          <a:p>
            <a:pPr algn="l">
              <a:lnSpc>
                <a:spcPct val="115000"/>
              </a:lnSpc>
            </a:pPr>
            <a:r>
              <a:rPr sz="2000" b="1" i="0">
                <a:solidFill>
                  <a:srgbClr val="21295C"/>
                </a:solidFill>
                <a:latin typeface="Arial"/>
              </a:rPr>
              <a:t>Does this change the architecture?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11183112" cy="365760"/>
          </a:xfrm>
          <a:prstGeom prst="rect">
            <a:avLst/>
          </a:prstGeom>
          <a:noFill/>
        </p:spPr>
        <p:txBody>
          <a:bodyPr wrap="square" lIns="0" rIns="0" tIns="0" bIns="0" anchor="t">
            <a:spAutoFit/>
          </a:bodyPr>
          <a:lstStyle/>
          <a:p>
            <a:pPr algn="l">
              <a:lnSpc>
                <a:spcPct val="115000"/>
              </a:lnSpc>
            </a:pPr>
            <a:r>
              <a:rPr sz="2200" b="1" i="0">
                <a:solidFill>
                  <a:srgbClr val="21295C"/>
                </a:solidFill>
                <a:latin typeface="Arial"/>
              </a:rPr>
              <a:t>Meeting minutes — breakdown 1</a:t>
            </a:r>
          </a:p>
        </p:txBody>
      </p:sp>
      <p:sp>
        <p:nvSpPr>
          <p:cNvPr id="3" name="Rounded Rectangle 2"/>
          <p:cNvSpPr/>
          <p:nvPr/>
        </p:nvSpPr>
        <p:spPr>
          <a:xfrm>
            <a:off x="502920" y="566928"/>
            <a:ext cx="11183112" cy="868680"/>
          </a:xfrm>
          <a:prstGeom prst="roundRect">
            <a:avLst>
              <a:gd name="adj" fmla="val 25000"/>
            </a:avLst>
          </a:prstGeom>
          <a:solidFill>
            <a:srgbClr val="F4F7FA"/>
          </a:solidFill>
          <a:ln w="19050">
            <a:solidFill>
              <a:srgbClr val="1C7293"/>
            </a:solidFill>
          </a:ln>
          <a:effectLst/>
        </p:spPr>
        <p:txBody>
          <a:bodyPr rtlCol="0" anchor="ctr"/>
          <a:lstStyle/>
          <a:p>
            <a:pPr algn="ctr"/>
          </a:p>
        </p:txBody>
      </p:sp>
      <p:pic>
        <p:nvPicPr>
          <p:cNvPr id="4" name="Picture 3" descr="quote-1C7293-64.png"/>
          <p:cNvPicPr>
            <a:picLocks noChangeAspect="1"/>
          </p:cNvPicPr>
          <p:nvPr/>
        </p:nvPicPr>
        <p:blipFill>
          <a:blip r:embed="rId2"/>
          <a:stretch>
            <a:fillRect/>
          </a:stretch>
        </p:blipFill>
        <p:spPr>
          <a:xfrm>
            <a:off x="722376" y="740664"/>
            <a:ext cx="292608" cy="292608"/>
          </a:xfrm>
          <a:prstGeom prst="rect">
            <a:avLst/>
          </a:prstGeom>
        </p:spPr>
      </p:pic>
      <p:sp>
        <p:nvSpPr>
          <p:cNvPr id="5" name="TextBox 4"/>
          <p:cNvSpPr txBox="1"/>
          <p:nvPr/>
        </p:nvSpPr>
        <p:spPr>
          <a:xfrm>
            <a:off x="722376" y="1078992"/>
            <a:ext cx="10744200" cy="137159"/>
          </a:xfrm>
          <a:prstGeom prst="rect">
            <a:avLst/>
          </a:prstGeom>
          <a:noFill/>
        </p:spPr>
        <p:txBody>
          <a:bodyPr wrap="square" lIns="0" rIns="0" tIns="0" bIns="0" anchor="t">
            <a:spAutoFit/>
          </a:bodyPr>
          <a:lstStyle/>
          <a:p>
            <a:pPr algn="l">
              <a:lnSpc>
                <a:spcPct val="128000"/>
              </a:lnSpc>
            </a:pPr>
            <a:r>
              <a:rPr sz="1400" b="0" i="1">
                <a:solidFill>
                  <a:srgbClr val="21295C"/>
                </a:solidFill>
                <a:latin typeface="Arial"/>
              </a:rPr>
              <a:t>"A growing, changing archive — that's when you need RAG"</a:t>
            </a:r>
          </a:p>
        </p:txBody>
      </p:sp>
      <p:sp>
        <p:nvSpPr>
          <p:cNvPr id="6" name="Rounded Rectangle 5"/>
          <p:cNvSpPr/>
          <p:nvPr/>
        </p:nvSpPr>
        <p:spPr>
          <a:xfrm>
            <a:off x="502920" y="1536192"/>
            <a:ext cx="11183112" cy="3931920"/>
          </a:xfrm>
          <a:prstGeom prst="roundRect">
            <a:avLst>
              <a:gd name="adj" fmla="val 7751"/>
            </a:avLst>
          </a:prstGeom>
          <a:solidFill>
            <a:srgbClr val="F4F7FA"/>
          </a:solidFill>
          <a:ln w="15240">
            <a:solidFill>
              <a:srgbClr val="1C7293"/>
            </a:solidFill>
          </a:ln>
          <a:effectLst/>
        </p:spPr>
        <p:txBody>
          <a:bodyPr rtlCol="0" anchor="ctr"/>
          <a:lstStyle/>
          <a:p>
            <a:pPr algn="ctr"/>
          </a:p>
        </p:txBody>
      </p:sp>
      <p:sp>
        <p:nvSpPr>
          <p:cNvPr id="7" name="Rounded Rectangle 6"/>
          <p:cNvSpPr/>
          <p:nvPr/>
        </p:nvSpPr>
        <p:spPr>
          <a:xfrm>
            <a:off x="502920" y="3136391"/>
            <a:ext cx="2331720" cy="914400"/>
          </a:xfrm>
          <a:prstGeom prst="roundRect">
            <a:avLst>
              <a:gd name="adj" fmla="val 25000"/>
            </a:avLst>
          </a:prstGeom>
          <a:solidFill>
            <a:srgbClr val="ECEEF1"/>
          </a:solidFill>
          <a:ln w="13970">
            <a:solidFill>
              <a:srgbClr val="B9C1CB"/>
            </a:solidFill>
          </a:ln>
          <a:effectLst/>
        </p:spPr>
        <p:txBody>
          <a:bodyPr rtlCol="0" anchor="ctr"/>
          <a:lstStyle/>
          <a:p>
            <a:pPr algn="ctr"/>
          </a:p>
        </p:txBody>
      </p:sp>
      <p:pic>
        <p:nvPicPr>
          <p:cNvPr id="8" name="Picture 7" descr="mail-8A939E-64.png"/>
          <p:cNvPicPr>
            <a:picLocks noChangeAspect="1"/>
          </p:cNvPicPr>
          <p:nvPr/>
        </p:nvPicPr>
        <p:blipFill>
          <a:blip r:embed="rId3"/>
          <a:stretch>
            <a:fillRect/>
          </a:stretch>
        </p:blipFill>
        <p:spPr>
          <a:xfrm>
            <a:off x="1485900" y="3264408"/>
            <a:ext cx="365760" cy="365760"/>
          </a:xfrm>
          <a:prstGeom prst="rect">
            <a:avLst/>
          </a:prstGeom>
        </p:spPr>
      </p:pic>
      <p:sp>
        <p:nvSpPr>
          <p:cNvPr id="9" name="TextBox 8"/>
          <p:cNvSpPr txBox="1"/>
          <p:nvPr/>
        </p:nvSpPr>
        <p:spPr>
          <a:xfrm>
            <a:off x="576072" y="3685032"/>
            <a:ext cx="2185415" cy="292607"/>
          </a:xfrm>
          <a:prstGeom prst="rect">
            <a:avLst/>
          </a:prstGeom>
          <a:noFill/>
        </p:spPr>
        <p:txBody>
          <a:bodyPr wrap="square" lIns="0" rIns="0" tIns="0" bIns="0" anchor="t">
            <a:spAutoFit/>
          </a:bodyPr>
          <a:lstStyle/>
          <a:p>
            <a:pPr algn="ctr">
              <a:lnSpc>
                <a:spcPct val="112000"/>
              </a:lnSpc>
            </a:pPr>
            <a:r>
              <a:rPr sz="1200" b="0" i="0">
                <a:solidFill>
                  <a:srgbClr val="8A939E"/>
                </a:solidFill>
                <a:latin typeface="Arial"/>
              </a:rPr>
              <a:t>Email with transcript</a:t>
            </a:r>
          </a:p>
        </p:txBody>
      </p:sp>
      <p:sp>
        <p:nvSpPr>
          <p:cNvPr id="10" name="Right Arrow 9"/>
          <p:cNvSpPr/>
          <p:nvPr/>
        </p:nvSpPr>
        <p:spPr>
          <a:xfrm>
            <a:off x="2871215" y="3511296"/>
            <a:ext cx="246887" cy="164592"/>
          </a:xfrm>
          <a:prstGeom prst="rightArrow">
            <a:avLst/>
          </a:prstGeom>
          <a:solidFill>
            <a:srgbClr val="B9C1CB"/>
          </a:solidFill>
          <a:ln>
            <a:noFill/>
          </a:ln>
          <a:effectLst/>
        </p:spPr>
        <p:txBody>
          <a:bodyPr rtlCol="0" anchor="ctr"/>
          <a:lstStyle/>
          <a:p>
            <a:pPr algn="ctr"/>
          </a:p>
        </p:txBody>
      </p:sp>
      <p:sp>
        <p:nvSpPr>
          <p:cNvPr id="11" name="Rounded Rectangle 10"/>
          <p:cNvSpPr/>
          <p:nvPr/>
        </p:nvSpPr>
        <p:spPr>
          <a:xfrm>
            <a:off x="3154680" y="3136391"/>
            <a:ext cx="2331720" cy="914400"/>
          </a:xfrm>
          <a:prstGeom prst="roundRect">
            <a:avLst>
              <a:gd name="adj" fmla="val 25000"/>
            </a:avLst>
          </a:prstGeom>
          <a:solidFill>
            <a:srgbClr val="ECEEF1"/>
          </a:solidFill>
          <a:ln w="13970">
            <a:solidFill>
              <a:srgbClr val="B9C1CB"/>
            </a:solidFill>
          </a:ln>
          <a:effectLst/>
        </p:spPr>
        <p:txBody>
          <a:bodyPr rtlCol="0" anchor="ctr"/>
          <a:lstStyle/>
          <a:p>
            <a:pPr algn="ctr"/>
          </a:p>
        </p:txBody>
      </p:sp>
      <p:pic>
        <p:nvPicPr>
          <p:cNvPr id="12" name="Picture 11" descr="sparkles-8A939E-64.png"/>
          <p:cNvPicPr>
            <a:picLocks noChangeAspect="1"/>
          </p:cNvPicPr>
          <p:nvPr/>
        </p:nvPicPr>
        <p:blipFill>
          <a:blip r:embed="rId4"/>
          <a:stretch>
            <a:fillRect/>
          </a:stretch>
        </p:blipFill>
        <p:spPr>
          <a:xfrm>
            <a:off x="4137660" y="3264408"/>
            <a:ext cx="365760" cy="365760"/>
          </a:xfrm>
          <a:prstGeom prst="rect">
            <a:avLst/>
          </a:prstGeom>
        </p:spPr>
      </p:pic>
      <p:sp>
        <p:nvSpPr>
          <p:cNvPr id="13" name="TextBox 12"/>
          <p:cNvSpPr txBox="1"/>
          <p:nvPr/>
        </p:nvSpPr>
        <p:spPr>
          <a:xfrm>
            <a:off x="3227832" y="3685032"/>
            <a:ext cx="2185415" cy="292607"/>
          </a:xfrm>
          <a:prstGeom prst="rect">
            <a:avLst/>
          </a:prstGeom>
          <a:noFill/>
        </p:spPr>
        <p:txBody>
          <a:bodyPr wrap="square" lIns="0" rIns="0" tIns="0" bIns="0" anchor="t">
            <a:spAutoFit/>
          </a:bodyPr>
          <a:lstStyle/>
          <a:p>
            <a:pPr algn="ctr">
              <a:lnSpc>
                <a:spcPct val="112000"/>
              </a:lnSpc>
            </a:pPr>
            <a:r>
              <a:rPr sz="1200" b="0" i="0">
                <a:solidFill>
                  <a:srgbClr val="8A939E"/>
                </a:solidFill>
                <a:latin typeface="Arial"/>
              </a:rPr>
              <a:t>Model call with a template</a:t>
            </a:r>
          </a:p>
        </p:txBody>
      </p:sp>
      <p:sp>
        <p:nvSpPr>
          <p:cNvPr id="14" name="Right Arrow 13"/>
          <p:cNvSpPr/>
          <p:nvPr/>
        </p:nvSpPr>
        <p:spPr>
          <a:xfrm>
            <a:off x="5522976" y="3511296"/>
            <a:ext cx="246887" cy="164592"/>
          </a:xfrm>
          <a:prstGeom prst="rightArrow">
            <a:avLst/>
          </a:prstGeom>
          <a:solidFill>
            <a:srgbClr val="B9C1CB"/>
          </a:solidFill>
          <a:ln>
            <a:noFill/>
          </a:ln>
          <a:effectLst/>
        </p:spPr>
        <p:txBody>
          <a:bodyPr rtlCol="0" anchor="ctr"/>
          <a:lstStyle/>
          <a:p>
            <a:pPr algn="ctr"/>
          </a:p>
        </p:txBody>
      </p:sp>
      <p:sp>
        <p:nvSpPr>
          <p:cNvPr id="15" name="Rounded Rectangle 14"/>
          <p:cNvSpPr/>
          <p:nvPr/>
        </p:nvSpPr>
        <p:spPr>
          <a:xfrm>
            <a:off x="5806440" y="3136391"/>
            <a:ext cx="2331720" cy="914400"/>
          </a:xfrm>
          <a:prstGeom prst="roundRect">
            <a:avLst>
              <a:gd name="adj" fmla="val 25000"/>
            </a:avLst>
          </a:prstGeom>
          <a:solidFill>
            <a:srgbClr val="ECEEF1"/>
          </a:solidFill>
          <a:ln w="13970">
            <a:solidFill>
              <a:srgbClr val="B9C1CB"/>
            </a:solidFill>
          </a:ln>
          <a:effectLst/>
        </p:spPr>
        <p:txBody>
          <a:bodyPr rtlCol="0" anchor="ctr"/>
          <a:lstStyle/>
          <a:p>
            <a:pPr algn="ctr"/>
          </a:p>
        </p:txBody>
      </p:sp>
      <p:pic>
        <p:nvPicPr>
          <p:cNvPr id="16" name="Picture 15" descr="file-text-8A939E-64.png"/>
          <p:cNvPicPr>
            <a:picLocks noChangeAspect="1"/>
          </p:cNvPicPr>
          <p:nvPr/>
        </p:nvPicPr>
        <p:blipFill>
          <a:blip r:embed="rId5"/>
          <a:stretch>
            <a:fillRect/>
          </a:stretch>
        </p:blipFill>
        <p:spPr>
          <a:xfrm>
            <a:off x="6789420" y="3264408"/>
            <a:ext cx="365760" cy="365760"/>
          </a:xfrm>
          <a:prstGeom prst="rect">
            <a:avLst/>
          </a:prstGeom>
        </p:spPr>
      </p:pic>
      <p:sp>
        <p:nvSpPr>
          <p:cNvPr id="17" name="TextBox 16"/>
          <p:cNvSpPr txBox="1"/>
          <p:nvPr/>
        </p:nvSpPr>
        <p:spPr>
          <a:xfrm>
            <a:off x="5879592" y="3685032"/>
            <a:ext cx="2185415" cy="292607"/>
          </a:xfrm>
          <a:prstGeom prst="rect">
            <a:avLst/>
          </a:prstGeom>
          <a:noFill/>
        </p:spPr>
        <p:txBody>
          <a:bodyPr wrap="square" lIns="0" rIns="0" tIns="0" bIns="0" anchor="t">
            <a:spAutoFit/>
          </a:bodyPr>
          <a:lstStyle/>
          <a:p>
            <a:pPr algn="ctr">
              <a:lnSpc>
                <a:spcPct val="112000"/>
              </a:lnSpc>
            </a:pPr>
            <a:r>
              <a:rPr sz="1200" b="0" i="0">
                <a:solidFill>
                  <a:srgbClr val="8A939E"/>
                </a:solidFill>
                <a:latin typeface="Arial"/>
              </a:rPr>
              <a:t>Minutes</a:t>
            </a:r>
          </a:p>
        </p:txBody>
      </p:sp>
      <p:sp>
        <p:nvSpPr>
          <p:cNvPr id="18" name="Rounded Rectangle 17"/>
          <p:cNvSpPr/>
          <p:nvPr/>
        </p:nvSpPr>
        <p:spPr>
          <a:xfrm>
            <a:off x="502920" y="1719072"/>
            <a:ext cx="1572768" cy="914400"/>
          </a:xfrm>
          <a:prstGeom prst="roundRect">
            <a:avLst>
              <a:gd name="adj" fmla="val 25000"/>
            </a:avLst>
          </a:prstGeom>
          <a:solidFill>
            <a:srgbClr val="F4F7FA"/>
          </a:solidFill>
          <a:ln w="17780">
            <a:solidFill>
              <a:srgbClr val="028090"/>
            </a:solidFill>
          </a:ln>
          <a:effectLst/>
        </p:spPr>
        <p:txBody>
          <a:bodyPr rtlCol="0" anchor="ctr"/>
          <a:lstStyle/>
          <a:p>
            <a:pPr algn="ctr"/>
          </a:p>
        </p:txBody>
      </p:sp>
      <p:pic>
        <p:nvPicPr>
          <p:cNvPr id="19" name="Picture 18" descr="database-028090-64.png"/>
          <p:cNvPicPr>
            <a:picLocks noChangeAspect="1"/>
          </p:cNvPicPr>
          <p:nvPr/>
        </p:nvPicPr>
        <p:blipFill>
          <a:blip r:embed="rId6"/>
          <a:stretch>
            <a:fillRect/>
          </a:stretch>
        </p:blipFill>
        <p:spPr>
          <a:xfrm>
            <a:off x="1106424" y="1847088"/>
            <a:ext cx="365760" cy="365760"/>
          </a:xfrm>
          <a:prstGeom prst="rect">
            <a:avLst/>
          </a:prstGeom>
        </p:spPr>
      </p:pic>
      <p:sp>
        <p:nvSpPr>
          <p:cNvPr id="20" name="TextBox 19"/>
          <p:cNvSpPr txBox="1"/>
          <p:nvPr/>
        </p:nvSpPr>
        <p:spPr>
          <a:xfrm>
            <a:off x="576072" y="2267712"/>
            <a:ext cx="1426464" cy="292607"/>
          </a:xfrm>
          <a:prstGeom prst="rect">
            <a:avLst/>
          </a:prstGeom>
          <a:noFill/>
        </p:spPr>
        <p:txBody>
          <a:bodyPr wrap="square" lIns="0" rIns="0" tIns="0" bIns="0" anchor="t">
            <a:spAutoFit/>
          </a:bodyPr>
          <a:lstStyle/>
          <a:p>
            <a:pPr algn="ctr">
              <a:lnSpc>
                <a:spcPct val="112000"/>
              </a:lnSpc>
            </a:pPr>
            <a:r>
              <a:rPr sz="1050" b="1" i="0">
                <a:solidFill>
                  <a:srgbClr val="21295C"/>
                </a:solidFill>
                <a:latin typeface="Arial"/>
              </a:rPr>
              <a:t>Minutes storage</a:t>
            </a:r>
          </a:p>
        </p:txBody>
      </p:sp>
      <p:sp>
        <p:nvSpPr>
          <p:cNvPr id="21" name="Right Arrow 20"/>
          <p:cNvSpPr/>
          <p:nvPr/>
        </p:nvSpPr>
        <p:spPr>
          <a:xfrm>
            <a:off x="2103120" y="2093976"/>
            <a:ext cx="109728" cy="164592"/>
          </a:xfrm>
          <a:prstGeom prst="rightArrow">
            <a:avLst/>
          </a:prstGeom>
          <a:solidFill>
            <a:srgbClr val="028090"/>
          </a:solidFill>
          <a:ln>
            <a:noFill/>
          </a:ln>
          <a:effectLst/>
        </p:spPr>
        <p:txBody>
          <a:bodyPr rtlCol="0" anchor="ctr"/>
          <a:lstStyle/>
          <a:p>
            <a:pPr algn="ctr"/>
          </a:p>
        </p:txBody>
      </p:sp>
      <p:sp>
        <p:nvSpPr>
          <p:cNvPr id="22" name="Rounded Rectangle 21"/>
          <p:cNvSpPr/>
          <p:nvPr/>
        </p:nvSpPr>
        <p:spPr>
          <a:xfrm>
            <a:off x="2240280" y="1719072"/>
            <a:ext cx="1572768" cy="914400"/>
          </a:xfrm>
          <a:prstGeom prst="roundRect">
            <a:avLst>
              <a:gd name="adj" fmla="val 25000"/>
            </a:avLst>
          </a:prstGeom>
          <a:solidFill>
            <a:srgbClr val="F4F7FA"/>
          </a:solidFill>
          <a:ln w="17780">
            <a:solidFill>
              <a:srgbClr val="028090"/>
            </a:solidFill>
          </a:ln>
          <a:effectLst/>
        </p:spPr>
        <p:txBody>
          <a:bodyPr rtlCol="0" anchor="ctr"/>
          <a:lstStyle/>
          <a:p>
            <a:pPr algn="ctr"/>
          </a:p>
        </p:txBody>
      </p:sp>
      <p:pic>
        <p:nvPicPr>
          <p:cNvPr id="23" name="Picture 22" descr="layers-028090-64.png"/>
          <p:cNvPicPr>
            <a:picLocks noChangeAspect="1"/>
          </p:cNvPicPr>
          <p:nvPr/>
        </p:nvPicPr>
        <p:blipFill>
          <a:blip r:embed="rId7"/>
          <a:stretch>
            <a:fillRect/>
          </a:stretch>
        </p:blipFill>
        <p:spPr>
          <a:xfrm>
            <a:off x="2843784" y="1847088"/>
            <a:ext cx="365760" cy="365760"/>
          </a:xfrm>
          <a:prstGeom prst="rect">
            <a:avLst/>
          </a:prstGeom>
        </p:spPr>
      </p:pic>
      <p:sp>
        <p:nvSpPr>
          <p:cNvPr id="24" name="TextBox 23"/>
          <p:cNvSpPr txBox="1"/>
          <p:nvPr/>
        </p:nvSpPr>
        <p:spPr>
          <a:xfrm>
            <a:off x="2313432" y="2267712"/>
            <a:ext cx="1426464" cy="292607"/>
          </a:xfrm>
          <a:prstGeom prst="rect">
            <a:avLst/>
          </a:prstGeom>
          <a:noFill/>
        </p:spPr>
        <p:txBody>
          <a:bodyPr wrap="square" lIns="0" rIns="0" tIns="0" bIns="0" anchor="t">
            <a:spAutoFit/>
          </a:bodyPr>
          <a:lstStyle/>
          <a:p>
            <a:pPr algn="ctr">
              <a:lnSpc>
                <a:spcPct val="112000"/>
              </a:lnSpc>
            </a:pPr>
            <a:r>
              <a:rPr sz="1050" b="1" i="0">
                <a:solidFill>
                  <a:srgbClr val="21295C"/>
                </a:solidFill>
                <a:latin typeface="Arial"/>
              </a:rPr>
              <a:t>Indexing</a:t>
            </a:r>
          </a:p>
        </p:txBody>
      </p:sp>
      <p:sp>
        <p:nvSpPr>
          <p:cNvPr id="25" name="Right Arrow 24"/>
          <p:cNvSpPr/>
          <p:nvPr/>
        </p:nvSpPr>
        <p:spPr>
          <a:xfrm>
            <a:off x="3840480" y="2093976"/>
            <a:ext cx="109728" cy="164592"/>
          </a:xfrm>
          <a:prstGeom prst="rightArrow">
            <a:avLst/>
          </a:prstGeom>
          <a:solidFill>
            <a:srgbClr val="028090"/>
          </a:solidFill>
          <a:ln>
            <a:noFill/>
          </a:ln>
          <a:effectLst/>
        </p:spPr>
        <p:txBody>
          <a:bodyPr rtlCol="0" anchor="ctr"/>
          <a:lstStyle/>
          <a:p>
            <a:pPr algn="ctr"/>
          </a:p>
        </p:txBody>
      </p:sp>
      <p:sp>
        <p:nvSpPr>
          <p:cNvPr id="26" name="Rounded Rectangle 25"/>
          <p:cNvSpPr/>
          <p:nvPr/>
        </p:nvSpPr>
        <p:spPr>
          <a:xfrm>
            <a:off x="3977639" y="1719072"/>
            <a:ext cx="1572768" cy="914400"/>
          </a:xfrm>
          <a:prstGeom prst="roundRect">
            <a:avLst>
              <a:gd name="adj" fmla="val 25000"/>
            </a:avLst>
          </a:prstGeom>
          <a:solidFill>
            <a:srgbClr val="F4F7FA"/>
          </a:solidFill>
          <a:ln w="17780">
            <a:solidFill>
              <a:srgbClr val="028090"/>
            </a:solidFill>
          </a:ln>
          <a:effectLst/>
        </p:spPr>
        <p:txBody>
          <a:bodyPr rtlCol="0" anchor="ctr"/>
          <a:lstStyle/>
          <a:p>
            <a:pPr algn="ctr"/>
          </a:p>
        </p:txBody>
      </p:sp>
      <p:pic>
        <p:nvPicPr>
          <p:cNvPr id="27" name="Picture 26" descr="search-028090-64.png"/>
          <p:cNvPicPr>
            <a:picLocks noChangeAspect="1"/>
          </p:cNvPicPr>
          <p:nvPr/>
        </p:nvPicPr>
        <p:blipFill>
          <a:blip r:embed="rId8"/>
          <a:stretch>
            <a:fillRect/>
          </a:stretch>
        </p:blipFill>
        <p:spPr>
          <a:xfrm>
            <a:off x="4581144" y="1847088"/>
            <a:ext cx="365760" cy="365760"/>
          </a:xfrm>
          <a:prstGeom prst="rect">
            <a:avLst/>
          </a:prstGeom>
        </p:spPr>
      </p:pic>
      <p:sp>
        <p:nvSpPr>
          <p:cNvPr id="28" name="TextBox 27"/>
          <p:cNvSpPr txBox="1"/>
          <p:nvPr/>
        </p:nvSpPr>
        <p:spPr>
          <a:xfrm>
            <a:off x="4050791" y="2267712"/>
            <a:ext cx="1426464" cy="292607"/>
          </a:xfrm>
          <a:prstGeom prst="rect">
            <a:avLst/>
          </a:prstGeom>
          <a:noFill/>
        </p:spPr>
        <p:txBody>
          <a:bodyPr wrap="square" lIns="0" rIns="0" tIns="0" bIns="0" anchor="t">
            <a:spAutoFit/>
          </a:bodyPr>
          <a:lstStyle/>
          <a:p>
            <a:pPr algn="ctr">
              <a:lnSpc>
                <a:spcPct val="112000"/>
              </a:lnSpc>
            </a:pPr>
            <a:r>
              <a:rPr sz="1050" b="1" i="0">
                <a:solidFill>
                  <a:srgbClr val="21295C"/>
                </a:solidFill>
                <a:latin typeface="Arial"/>
              </a:rPr>
              <a:t>Search on query</a:t>
            </a:r>
          </a:p>
        </p:txBody>
      </p:sp>
      <p:sp>
        <p:nvSpPr>
          <p:cNvPr id="29" name="Right Arrow 28"/>
          <p:cNvSpPr/>
          <p:nvPr/>
        </p:nvSpPr>
        <p:spPr>
          <a:xfrm>
            <a:off x="5577840" y="2093976"/>
            <a:ext cx="109728" cy="164592"/>
          </a:xfrm>
          <a:prstGeom prst="rightArrow">
            <a:avLst/>
          </a:prstGeom>
          <a:solidFill>
            <a:srgbClr val="028090"/>
          </a:solidFill>
          <a:ln>
            <a:noFill/>
          </a:ln>
          <a:effectLst/>
        </p:spPr>
        <p:txBody>
          <a:bodyPr rtlCol="0" anchor="ctr"/>
          <a:lstStyle/>
          <a:p>
            <a:pPr algn="ctr"/>
          </a:p>
        </p:txBody>
      </p:sp>
      <p:sp>
        <p:nvSpPr>
          <p:cNvPr id="30" name="Rounded Rectangle 29"/>
          <p:cNvSpPr/>
          <p:nvPr/>
        </p:nvSpPr>
        <p:spPr>
          <a:xfrm>
            <a:off x="5714999" y="1719072"/>
            <a:ext cx="1572768" cy="914400"/>
          </a:xfrm>
          <a:prstGeom prst="roundRect">
            <a:avLst>
              <a:gd name="adj" fmla="val 25000"/>
            </a:avLst>
          </a:prstGeom>
          <a:solidFill>
            <a:srgbClr val="F4F7FA"/>
          </a:solidFill>
          <a:ln w="17780">
            <a:solidFill>
              <a:srgbClr val="028090"/>
            </a:solidFill>
          </a:ln>
          <a:effectLst/>
        </p:spPr>
        <p:txBody>
          <a:bodyPr rtlCol="0" anchor="ctr"/>
          <a:lstStyle/>
          <a:p>
            <a:pPr algn="ctr"/>
          </a:p>
        </p:txBody>
      </p:sp>
      <p:pic>
        <p:nvPicPr>
          <p:cNvPr id="31" name="Picture 30" descr="file-code-028090-64.png"/>
          <p:cNvPicPr>
            <a:picLocks noChangeAspect="1"/>
          </p:cNvPicPr>
          <p:nvPr/>
        </p:nvPicPr>
        <p:blipFill>
          <a:blip r:embed="rId9"/>
          <a:stretch>
            <a:fillRect/>
          </a:stretch>
        </p:blipFill>
        <p:spPr>
          <a:xfrm>
            <a:off x="6318503" y="1847088"/>
            <a:ext cx="365760" cy="365760"/>
          </a:xfrm>
          <a:prstGeom prst="rect">
            <a:avLst/>
          </a:prstGeom>
        </p:spPr>
      </p:pic>
      <p:sp>
        <p:nvSpPr>
          <p:cNvPr id="32" name="TextBox 31"/>
          <p:cNvSpPr txBox="1"/>
          <p:nvPr/>
        </p:nvSpPr>
        <p:spPr>
          <a:xfrm>
            <a:off x="5788151" y="2267712"/>
            <a:ext cx="1426464" cy="292607"/>
          </a:xfrm>
          <a:prstGeom prst="rect">
            <a:avLst/>
          </a:prstGeom>
          <a:noFill/>
        </p:spPr>
        <p:txBody>
          <a:bodyPr wrap="square" lIns="0" rIns="0" tIns="0" bIns="0" anchor="t">
            <a:spAutoFit/>
          </a:bodyPr>
          <a:lstStyle/>
          <a:p>
            <a:pPr algn="ctr">
              <a:lnSpc>
                <a:spcPct val="112000"/>
              </a:lnSpc>
            </a:pPr>
            <a:r>
              <a:rPr sz="1050" b="1" i="0">
                <a:solidFill>
                  <a:srgbClr val="21295C"/>
                </a:solidFill>
                <a:latin typeface="Arial"/>
              </a:rPr>
              <a:t>Snippets into the model</a:t>
            </a:r>
          </a:p>
        </p:txBody>
      </p:sp>
      <p:cxnSp>
        <p:nvCxnSpPr>
          <p:cNvPr id="33" name="Connector 32"/>
          <p:cNvCxnSpPr/>
          <p:nvPr/>
        </p:nvCxnSpPr>
        <p:spPr>
          <a:xfrm flipH="1">
            <a:off x="4320540" y="2633472"/>
            <a:ext cx="2180843" cy="502919"/>
          </a:xfrm>
          <a:prstGeom prst="bentConnector3">
            <a:avLst/>
          </a:prstGeom>
          <a:ln w="20320">
            <a:solidFill>
              <a:srgbClr val="028090"/>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502920" y="5605272"/>
            <a:ext cx="11183112" cy="868680"/>
          </a:xfrm>
          <a:prstGeom prst="roundRect">
            <a:avLst>
              <a:gd name="adj" fmla="val 25000"/>
            </a:avLst>
          </a:prstGeom>
          <a:solidFill>
            <a:srgbClr val="FEF5E0"/>
          </a:solidFill>
          <a:ln w="19050">
            <a:solidFill>
              <a:srgbClr val="F0AB00"/>
            </a:solidFill>
          </a:ln>
          <a:effectLst/>
        </p:spPr>
        <p:txBody>
          <a:bodyPr rtlCol="0" anchor="ctr"/>
          <a:lstStyle/>
          <a:p>
            <a:pPr algn="ctr"/>
          </a:p>
        </p:txBody>
      </p:sp>
      <p:sp>
        <p:nvSpPr>
          <p:cNvPr id="35" name="TextBox 34"/>
          <p:cNvSpPr txBox="1"/>
          <p:nvPr/>
        </p:nvSpPr>
        <p:spPr>
          <a:xfrm>
            <a:off x="777240" y="5605272"/>
            <a:ext cx="10607040" cy="868680"/>
          </a:xfrm>
          <a:prstGeom prst="rect">
            <a:avLst/>
          </a:prstGeom>
          <a:noFill/>
        </p:spPr>
        <p:txBody>
          <a:bodyPr wrap="square" lIns="0" rIns="0" tIns="0" bIns="0" anchor="ctr">
            <a:spAutoFit/>
          </a:bodyPr>
          <a:lstStyle/>
          <a:p>
            <a:pPr algn="l">
              <a:lnSpc>
                <a:spcPct val="118000"/>
              </a:lnSpc>
            </a:pPr>
            <a:r>
              <a:rPr sz="1400" b="1" i="0">
                <a:solidFill>
                  <a:srgbClr val="21295C"/>
                </a:solidFill>
                <a:latin typeface="Arial"/>
              </a:rPr>
              <a:t>The old path hasn't gone anywhere — it's just been extended with storage, indexing, and search before the same model call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1183112" cy="4114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Meeting minutes</a:t>
            </a:r>
          </a:p>
        </p:txBody>
      </p:sp>
      <p:sp>
        <p:nvSpPr>
          <p:cNvPr id="3" name="Rounded Rectangle 2"/>
          <p:cNvSpPr/>
          <p:nvPr/>
        </p:nvSpPr>
        <p:spPr>
          <a:xfrm>
            <a:off x="502920" y="713232"/>
            <a:ext cx="11183112" cy="2514600"/>
          </a:xfrm>
          <a:prstGeom prst="roundRect">
            <a:avLst>
              <a:gd name="adj" fmla="val 12121"/>
            </a:avLst>
          </a:prstGeom>
          <a:solidFill>
            <a:srgbClr val="F4F7FA"/>
          </a:solidFill>
          <a:ln w="19050">
            <a:solidFill>
              <a:srgbClr val="1C7293"/>
            </a:solidFill>
          </a:ln>
          <a:effectLst/>
        </p:spPr>
        <p:txBody>
          <a:bodyPr rtlCol="0" anchor="ctr"/>
          <a:lstStyle/>
          <a:p>
            <a:pPr algn="ctr"/>
          </a:p>
        </p:txBody>
      </p:sp>
      <p:pic>
        <p:nvPicPr>
          <p:cNvPr id="4" name="Picture 3" descr="quote-1C7293-64.png"/>
          <p:cNvPicPr>
            <a:picLocks noChangeAspect="1"/>
          </p:cNvPicPr>
          <p:nvPr/>
        </p:nvPicPr>
        <p:blipFill>
          <a:blip r:embed="rId2"/>
          <a:stretch>
            <a:fillRect/>
          </a:stretch>
        </p:blipFill>
        <p:spPr>
          <a:xfrm>
            <a:off x="722376" y="886968"/>
            <a:ext cx="292608" cy="292608"/>
          </a:xfrm>
          <a:prstGeom prst="rect">
            <a:avLst/>
          </a:prstGeom>
        </p:spPr>
      </p:pic>
      <p:sp>
        <p:nvSpPr>
          <p:cNvPr id="5" name="TextBox 4"/>
          <p:cNvSpPr txBox="1"/>
          <p:nvPr/>
        </p:nvSpPr>
        <p:spPr>
          <a:xfrm>
            <a:off x="722376" y="1225296"/>
            <a:ext cx="10744200" cy="1783080"/>
          </a:xfrm>
          <a:prstGeom prst="rect">
            <a:avLst/>
          </a:prstGeom>
          <a:noFill/>
        </p:spPr>
        <p:txBody>
          <a:bodyPr wrap="square" lIns="0" rIns="0" tIns="0" bIns="0" anchor="t">
            <a:spAutoFit/>
          </a:bodyPr>
          <a:lstStyle/>
          <a:p>
            <a:pPr algn="l">
              <a:lnSpc>
                <a:spcPct val="128000"/>
              </a:lnSpc>
            </a:pPr>
            <a:r>
              <a:rPr sz="1400" b="0" i="1">
                <a:solidFill>
                  <a:srgbClr val="21295C"/>
                </a:solidFill>
                <a:latin typeface="Arial"/>
              </a:rPr>
              <a:t>"Thanks for the search over the minutes, it genuinely saves time before retros. But here's something I noticed: we still copy action items from the minutes into YouTrack by hand — open the minutes, read what the system found, create cards, fill in the owner and the deadline. YouTrack, I checked, has an open REST API, you can create a task with a single call. I went through May's minutes yesterday evening — roughly half the action items are just sitting there with no owner, nobody's gotten around to moving them over. Separately, I wanted to ask about tag colors in the tracker, but that's probably a question for the tool admin."</a:t>
            </a:r>
          </a:p>
        </p:txBody>
      </p:sp>
      <p:sp>
        <p:nvSpPr>
          <p:cNvPr id="6" name="Rounded Rectangle 5"/>
          <p:cNvSpPr/>
          <p:nvPr/>
        </p:nvSpPr>
        <p:spPr>
          <a:xfrm>
            <a:off x="502920" y="3392424"/>
            <a:ext cx="11183112" cy="1005840"/>
          </a:xfrm>
          <a:prstGeom prst="roundRect">
            <a:avLst>
              <a:gd name="adj" fmla="val 25000"/>
            </a:avLst>
          </a:prstGeom>
          <a:solidFill>
            <a:srgbClr val="F4F7FA"/>
          </a:solidFill>
          <a:ln w="19050">
            <a:solidFill>
              <a:srgbClr val="028090"/>
            </a:solidFill>
          </a:ln>
          <a:effectLst/>
        </p:spPr>
        <p:txBody>
          <a:bodyPr rtlCol="0" anchor="ctr"/>
          <a:lstStyle/>
          <a:p>
            <a:pPr algn="ctr"/>
          </a:p>
        </p:txBody>
      </p:sp>
      <p:pic>
        <p:nvPicPr>
          <p:cNvPr id="7" name="Picture 6" descr="list-checks-065A82-96.png"/>
          <p:cNvPicPr>
            <a:picLocks noChangeAspect="1"/>
          </p:cNvPicPr>
          <p:nvPr/>
        </p:nvPicPr>
        <p:blipFill>
          <a:blip r:embed="rId3"/>
          <a:stretch>
            <a:fillRect/>
          </a:stretch>
        </p:blipFill>
        <p:spPr>
          <a:xfrm>
            <a:off x="822960" y="3598164"/>
            <a:ext cx="594360" cy="594360"/>
          </a:xfrm>
          <a:prstGeom prst="rect">
            <a:avLst/>
          </a:prstGeom>
        </p:spPr>
      </p:pic>
      <p:sp>
        <p:nvSpPr>
          <p:cNvPr id="8" name="TextBox 7"/>
          <p:cNvSpPr txBox="1"/>
          <p:nvPr/>
        </p:nvSpPr>
        <p:spPr>
          <a:xfrm>
            <a:off x="1691640" y="3392424"/>
            <a:ext cx="9692640" cy="1005840"/>
          </a:xfrm>
          <a:prstGeom prst="rect">
            <a:avLst/>
          </a:prstGeom>
          <a:noFill/>
        </p:spPr>
        <p:txBody>
          <a:bodyPr wrap="square" lIns="0" rIns="0" tIns="0" bIns="0" anchor="ctr">
            <a:spAutoFit/>
          </a:bodyPr>
          <a:lstStyle/>
          <a:p>
            <a:pPr algn="l">
              <a:lnSpc>
                <a:spcPct val="125000"/>
              </a:lnSpc>
            </a:pPr>
            <a:r>
              <a:rPr sz="1400" b="0" i="1">
                <a:solidFill>
                  <a:srgbClr val="21295C"/>
                </a:solidFill>
                <a:latin typeface="Arial"/>
              </a:rPr>
              <a:t>Half the action items from May's minutes are still sitting there with no owner — nobody's gotten around to moving them</a:t>
            </a:r>
          </a:p>
        </p:txBody>
      </p:sp>
      <p:sp>
        <p:nvSpPr>
          <p:cNvPr id="9" name="Rounded Rectangle 8"/>
          <p:cNvSpPr/>
          <p:nvPr/>
        </p:nvSpPr>
        <p:spPr>
          <a:xfrm>
            <a:off x="502920" y="4581144"/>
            <a:ext cx="11183112" cy="2139695"/>
          </a:xfrm>
          <a:prstGeom prst="roundRect">
            <a:avLst>
              <a:gd name="adj" fmla="val 14245"/>
            </a:avLst>
          </a:prstGeom>
          <a:solidFill>
            <a:srgbClr val="FEF5E0"/>
          </a:solidFill>
          <a:ln w="17780">
            <a:solidFill>
              <a:srgbClr val="F0AB00"/>
            </a:solidFill>
          </a:ln>
          <a:effectLst/>
        </p:spPr>
        <p:txBody>
          <a:bodyPr rtlCol="0" anchor="ctr"/>
          <a:lstStyle/>
          <a:p>
            <a:pPr algn="ctr"/>
          </a:p>
        </p:txBody>
      </p:sp>
      <p:sp>
        <p:nvSpPr>
          <p:cNvPr id="10" name="TextBox 9"/>
          <p:cNvSpPr txBox="1"/>
          <p:nvPr/>
        </p:nvSpPr>
        <p:spPr>
          <a:xfrm>
            <a:off x="777240" y="4581144"/>
            <a:ext cx="10607040" cy="2139695"/>
          </a:xfrm>
          <a:prstGeom prst="rect">
            <a:avLst/>
          </a:prstGeom>
          <a:noFill/>
        </p:spPr>
        <p:txBody>
          <a:bodyPr wrap="square" lIns="0" rIns="0" tIns="0" bIns="0" anchor="ctr">
            <a:spAutoFit/>
          </a:bodyPr>
          <a:lstStyle/>
          <a:p>
            <a:pPr algn="l">
              <a:lnSpc>
                <a:spcPct val="115000"/>
              </a:lnSpc>
            </a:pPr>
            <a:r>
              <a:rPr sz="1900" b="1" i="0">
                <a:solidFill>
                  <a:srgbClr val="21295C"/>
                </a:solidFill>
                <a:latin typeface="Arial"/>
              </a:rPr>
              <a:t>Does this change the architecture again?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11183112" cy="365760"/>
          </a:xfrm>
          <a:prstGeom prst="rect">
            <a:avLst/>
          </a:prstGeom>
          <a:noFill/>
        </p:spPr>
        <p:txBody>
          <a:bodyPr wrap="square" lIns="0" rIns="0" tIns="0" bIns="0" anchor="t">
            <a:spAutoFit/>
          </a:bodyPr>
          <a:lstStyle/>
          <a:p>
            <a:pPr algn="l">
              <a:lnSpc>
                <a:spcPct val="115000"/>
              </a:lnSpc>
            </a:pPr>
            <a:r>
              <a:rPr sz="2200" b="1" i="0">
                <a:solidFill>
                  <a:srgbClr val="21295C"/>
                </a:solidFill>
                <a:latin typeface="Arial"/>
              </a:rPr>
              <a:t>Meeting minutes — breakdown 2</a:t>
            </a:r>
          </a:p>
        </p:txBody>
      </p:sp>
      <p:sp>
        <p:nvSpPr>
          <p:cNvPr id="3" name="Rounded Rectangle 2"/>
          <p:cNvSpPr/>
          <p:nvPr/>
        </p:nvSpPr>
        <p:spPr>
          <a:xfrm>
            <a:off x="502920" y="566928"/>
            <a:ext cx="11183112" cy="868680"/>
          </a:xfrm>
          <a:prstGeom prst="roundRect">
            <a:avLst>
              <a:gd name="adj" fmla="val 25000"/>
            </a:avLst>
          </a:prstGeom>
          <a:solidFill>
            <a:srgbClr val="F4F7FA"/>
          </a:solidFill>
          <a:ln w="19050">
            <a:solidFill>
              <a:srgbClr val="1C7293"/>
            </a:solidFill>
          </a:ln>
          <a:effectLst/>
        </p:spPr>
        <p:txBody>
          <a:bodyPr rtlCol="0" anchor="ctr"/>
          <a:lstStyle/>
          <a:p>
            <a:pPr algn="ctr"/>
          </a:p>
        </p:txBody>
      </p:sp>
      <p:pic>
        <p:nvPicPr>
          <p:cNvPr id="4" name="Picture 3" descr="quote-1C7293-64.png"/>
          <p:cNvPicPr>
            <a:picLocks noChangeAspect="1"/>
          </p:cNvPicPr>
          <p:nvPr/>
        </p:nvPicPr>
        <p:blipFill>
          <a:blip r:embed="rId2"/>
          <a:stretch>
            <a:fillRect/>
          </a:stretch>
        </p:blipFill>
        <p:spPr>
          <a:xfrm>
            <a:off x="722376" y="740664"/>
            <a:ext cx="292608" cy="292608"/>
          </a:xfrm>
          <a:prstGeom prst="rect">
            <a:avLst/>
          </a:prstGeom>
        </p:spPr>
      </p:pic>
      <p:sp>
        <p:nvSpPr>
          <p:cNvPr id="5" name="TextBox 4"/>
          <p:cNvSpPr txBox="1"/>
          <p:nvPr/>
        </p:nvSpPr>
        <p:spPr>
          <a:xfrm>
            <a:off x="722376" y="1078992"/>
            <a:ext cx="10744200" cy="137159"/>
          </a:xfrm>
          <a:prstGeom prst="rect">
            <a:avLst/>
          </a:prstGeom>
          <a:noFill/>
        </p:spPr>
        <p:txBody>
          <a:bodyPr wrap="square" lIns="0" rIns="0" tIns="0" bIns="0" anchor="t">
            <a:spAutoFit/>
          </a:bodyPr>
          <a:lstStyle/>
          <a:p>
            <a:pPr algn="l">
              <a:lnSpc>
                <a:spcPct val="128000"/>
              </a:lnSpc>
            </a:pPr>
            <a:r>
              <a:rPr sz="1350" b="0" i="1">
                <a:solidFill>
                  <a:srgbClr val="21295C"/>
                </a:solidFill>
                <a:latin typeface="Arial"/>
              </a:rPr>
              <a:t>"An action in an external system — you need an agent on top of RAG"</a:t>
            </a:r>
          </a:p>
        </p:txBody>
      </p:sp>
      <p:sp>
        <p:nvSpPr>
          <p:cNvPr id="6" name="Rounded Rectangle 5"/>
          <p:cNvSpPr/>
          <p:nvPr/>
        </p:nvSpPr>
        <p:spPr>
          <a:xfrm>
            <a:off x="502920" y="1536192"/>
            <a:ext cx="11183112" cy="3931920"/>
          </a:xfrm>
          <a:prstGeom prst="roundRect">
            <a:avLst>
              <a:gd name="adj" fmla="val 7751"/>
            </a:avLst>
          </a:prstGeom>
          <a:solidFill>
            <a:srgbClr val="F4F7FA"/>
          </a:solidFill>
          <a:ln w="15240">
            <a:solidFill>
              <a:srgbClr val="1C7293"/>
            </a:solidFill>
          </a:ln>
          <a:effectLst/>
        </p:spPr>
        <p:txBody>
          <a:bodyPr rtlCol="0" anchor="ctr"/>
          <a:lstStyle/>
          <a:p>
            <a:pPr algn="ctr"/>
          </a:p>
        </p:txBody>
      </p:sp>
      <p:sp>
        <p:nvSpPr>
          <p:cNvPr id="7" name="Rounded Rectangle 6"/>
          <p:cNvSpPr/>
          <p:nvPr/>
        </p:nvSpPr>
        <p:spPr>
          <a:xfrm>
            <a:off x="502920" y="3136391"/>
            <a:ext cx="2331720" cy="914400"/>
          </a:xfrm>
          <a:prstGeom prst="roundRect">
            <a:avLst>
              <a:gd name="adj" fmla="val 25000"/>
            </a:avLst>
          </a:prstGeom>
          <a:solidFill>
            <a:srgbClr val="ECEEF1"/>
          </a:solidFill>
          <a:ln w="13970">
            <a:solidFill>
              <a:srgbClr val="B9C1CB"/>
            </a:solidFill>
          </a:ln>
          <a:effectLst/>
        </p:spPr>
        <p:txBody>
          <a:bodyPr rtlCol="0" anchor="ctr"/>
          <a:lstStyle/>
          <a:p>
            <a:pPr algn="ctr"/>
          </a:p>
        </p:txBody>
      </p:sp>
      <p:pic>
        <p:nvPicPr>
          <p:cNvPr id="8" name="Picture 7" descr="mail-8A939E-64.png"/>
          <p:cNvPicPr>
            <a:picLocks noChangeAspect="1"/>
          </p:cNvPicPr>
          <p:nvPr/>
        </p:nvPicPr>
        <p:blipFill>
          <a:blip r:embed="rId3"/>
          <a:stretch>
            <a:fillRect/>
          </a:stretch>
        </p:blipFill>
        <p:spPr>
          <a:xfrm>
            <a:off x="1485900" y="3264408"/>
            <a:ext cx="365760" cy="365760"/>
          </a:xfrm>
          <a:prstGeom prst="rect">
            <a:avLst/>
          </a:prstGeom>
        </p:spPr>
      </p:pic>
      <p:sp>
        <p:nvSpPr>
          <p:cNvPr id="9" name="TextBox 8"/>
          <p:cNvSpPr txBox="1"/>
          <p:nvPr/>
        </p:nvSpPr>
        <p:spPr>
          <a:xfrm>
            <a:off x="576072" y="3685032"/>
            <a:ext cx="2185415" cy="292607"/>
          </a:xfrm>
          <a:prstGeom prst="rect">
            <a:avLst/>
          </a:prstGeom>
          <a:noFill/>
        </p:spPr>
        <p:txBody>
          <a:bodyPr wrap="square" lIns="0" rIns="0" tIns="0" bIns="0" anchor="t">
            <a:spAutoFit/>
          </a:bodyPr>
          <a:lstStyle/>
          <a:p>
            <a:pPr algn="ctr">
              <a:lnSpc>
                <a:spcPct val="112000"/>
              </a:lnSpc>
            </a:pPr>
            <a:r>
              <a:rPr sz="1200" b="0" i="0">
                <a:solidFill>
                  <a:srgbClr val="8A939E"/>
                </a:solidFill>
                <a:latin typeface="Arial"/>
              </a:rPr>
              <a:t>Email with transcript</a:t>
            </a:r>
          </a:p>
        </p:txBody>
      </p:sp>
      <p:sp>
        <p:nvSpPr>
          <p:cNvPr id="10" name="Right Arrow 9"/>
          <p:cNvSpPr/>
          <p:nvPr/>
        </p:nvSpPr>
        <p:spPr>
          <a:xfrm>
            <a:off x="2871215" y="3511296"/>
            <a:ext cx="246887" cy="164592"/>
          </a:xfrm>
          <a:prstGeom prst="rightArrow">
            <a:avLst/>
          </a:prstGeom>
          <a:solidFill>
            <a:srgbClr val="B9C1CB"/>
          </a:solidFill>
          <a:ln>
            <a:noFill/>
          </a:ln>
          <a:effectLst/>
        </p:spPr>
        <p:txBody>
          <a:bodyPr rtlCol="0" anchor="ctr"/>
          <a:lstStyle/>
          <a:p>
            <a:pPr algn="ctr"/>
          </a:p>
        </p:txBody>
      </p:sp>
      <p:sp>
        <p:nvSpPr>
          <p:cNvPr id="11" name="Rounded Rectangle 10"/>
          <p:cNvSpPr/>
          <p:nvPr/>
        </p:nvSpPr>
        <p:spPr>
          <a:xfrm>
            <a:off x="3154680" y="3136391"/>
            <a:ext cx="2331720" cy="914400"/>
          </a:xfrm>
          <a:prstGeom prst="roundRect">
            <a:avLst>
              <a:gd name="adj" fmla="val 25000"/>
            </a:avLst>
          </a:prstGeom>
          <a:solidFill>
            <a:srgbClr val="ECEEF1"/>
          </a:solidFill>
          <a:ln w="13970">
            <a:solidFill>
              <a:srgbClr val="B9C1CB"/>
            </a:solidFill>
          </a:ln>
          <a:effectLst/>
        </p:spPr>
        <p:txBody>
          <a:bodyPr rtlCol="0" anchor="ctr"/>
          <a:lstStyle/>
          <a:p>
            <a:pPr algn="ctr"/>
          </a:p>
        </p:txBody>
      </p:sp>
      <p:pic>
        <p:nvPicPr>
          <p:cNvPr id="12" name="Picture 11" descr="sparkles-8A939E-64.png"/>
          <p:cNvPicPr>
            <a:picLocks noChangeAspect="1"/>
          </p:cNvPicPr>
          <p:nvPr/>
        </p:nvPicPr>
        <p:blipFill>
          <a:blip r:embed="rId4"/>
          <a:stretch>
            <a:fillRect/>
          </a:stretch>
        </p:blipFill>
        <p:spPr>
          <a:xfrm>
            <a:off x="4137660" y="3264408"/>
            <a:ext cx="365760" cy="365760"/>
          </a:xfrm>
          <a:prstGeom prst="rect">
            <a:avLst/>
          </a:prstGeom>
        </p:spPr>
      </p:pic>
      <p:sp>
        <p:nvSpPr>
          <p:cNvPr id="13" name="TextBox 12"/>
          <p:cNvSpPr txBox="1"/>
          <p:nvPr/>
        </p:nvSpPr>
        <p:spPr>
          <a:xfrm>
            <a:off x="3227832" y="3685032"/>
            <a:ext cx="2185415" cy="292607"/>
          </a:xfrm>
          <a:prstGeom prst="rect">
            <a:avLst/>
          </a:prstGeom>
          <a:noFill/>
        </p:spPr>
        <p:txBody>
          <a:bodyPr wrap="square" lIns="0" rIns="0" tIns="0" bIns="0" anchor="t">
            <a:spAutoFit/>
          </a:bodyPr>
          <a:lstStyle/>
          <a:p>
            <a:pPr algn="ctr">
              <a:lnSpc>
                <a:spcPct val="112000"/>
              </a:lnSpc>
            </a:pPr>
            <a:r>
              <a:rPr sz="1200" b="0" i="0">
                <a:solidFill>
                  <a:srgbClr val="8A939E"/>
                </a:solidFill>
                <a:latin typeface="Arial"/>
              </a:rPr>
              <a:t>Model call with a template</a:t>
            </a:r>
          </a:p>
        </p:txBody>
      </p:sp>
      <p:sp>
        <p:nvSpPr>
          <p:cNvPr id="14" name="Right Arrow 13"/>
          <p:cNvSpPr/>
          <p:nvPr/>
        </p:nvSpPr>
        <p:spPr>
          <a:xfrm>
            <a:off x="5522976" y="3511296"/>
            <a:ext cx="246887" cy="164592"/>
          </a:xfrm>
          <a:prstGeom prst="rightArrow">
            <a:avLst/>
          </a:prstGeom>
          <a:solidFill>
            <a:srgbClr val="B9C1CB"/>
          </a:solidFill>
          <a:ln>
            <a:noFill/>
          </a:ln>
          <a:effectLst/>
        </p:spPr>
        <p:txBody>
          <a:bodyPr rtlCol="0" anchor="ctr"/>
          <a:lstStyle/>
          <a:p>
            <a:pPr algn="ctr"/>
          </a:p>
        </p:txBody>
      </p:sp>
      <p:sp>
        <p:nvSpPr>
          <p:cNvPr id="15" name="Rounded Rectangle 14"/>
          <p:cNvSpPr/>
          <p:nvPr/>
        </p:nvSpPr>
        <p:spPr>
          <a:xfrm>
            <a:off x="5806440" y="3136391"/>
            <a:ext cx="2331720" cy="914400"/>
          </a:xfrm>
          <a:prstGeom prst="roundRect">
            <a:avLst>
              <a:gd name="adj" fmla="val 25000"/>
            </a:avLst>
          </a:prstGeom>
          <a:solidFill>
            <a:srgbClr val="ECEEF1"/>
          </a:solidFill>
          <a:ln w="13970">
            <a:solidFill>
              <a:srgbClr val="B9C1CB"/>
            </a:solidFill>
          </a:ln>
          <a:effectLst/>
        </p:spPr>
        <p:txBody>
          <a:bodyPr rtlCol="0" anchor="ctr"/>
          <a:lstStyle/>
          <a:p>
            <a:pPr algn="ctr"/>
          </a:p>
        </p:txBody>
      </p:sp>
      <p:pic>
        <p:nvPicPr>
          <p:cNvPr id="16" name="Picture 15" descr="file-text-8A939E-64.png"/>
          <p:cNvPicPr>
            <a:picLocks noChangeAspect="1"/>
          </p:cNvPicPr>
          <p:nvPr/>
        </p:nvPicPr>
        <p:blipFill>
          <a:blip r:embed="rId5"/>
          <a:stretch>
            <a:fillRect/>
          </a:stretch>
        </p:blipFill>
        <p:spPr>
          <a:xfrm>
            <a:off x="6789420" y="3264408"/>
            <a:ext cx="365760" cy="365760"/>
          </a:xfrm>
          <a:prstGeom prst="rect">
            <a:avLst/>
          </a:prstGeom>
        </p:spPr>
      </p:pic>
      <p:sp>
        <p:nvSpPr>
          <p:cNvPr id="17" name="TextBox 16"/>
          <p:cNvSpPr txBox="1"/>
          <p:nvPr/>
        </p:nvSpPr>
        <p:spPr>
          <a:xfrm>
            <a:off x="5879592" y="3685032"/>
            <a:ext cx="2185415" cy="292607"/>
          </a:xfrm>
          <a:prstGeom prst="rect">
            <a:avLst/>
          </a:prstGeom>
          <a:noFill/>
        </p:spPr>
        <p:txBody>
          <a:bodyPr wrap="square" lIns="0" rIns="0" tIns="0" bIns="0" anchor="t">
            <a:spAutoFit/>
          </a:bodyPr>
          <a:lstStyle/>
          <a:p>
            <a:pPr algn="ctr">
              <a:lnSpc>
                <a:spcPct val="112000"/>
              </a:lnSpc>
            </a:pPr>
            <a:r>
              <a:rPr sz="1200" b="0" i="0">
                <a:solidFill>
                  <a:srgbClr val="8A939E"/>
                </a:solidFill>
                <a:latin typeface="Arial"/>
              </a:rPr>
              <a:t>Minutes</a:t>
            </a:r>
          </a:p>
        </p:txBody>
      </p:sp>
      <p:sp>
        <p:nvSpPr>
          <p:cNvPr id="18" name="Rounded Rectangle 17"/>
          <p:cNvSpPr/>
          <p:nvPr/>
        </p:nvSpPr>
        <p:spPr>
          <a:xfrm>
            <a:off x="502920" y="1719072"/>
            <a:ext cx="1572768" cy="914400"/>
          </a:xfrm>
          <a:prstGeom prst="roundRect">
            <a:avLst>
              <a:gd name="adj" fmla="val 25000"/>
            </a:avLst>
          </a:prstGeom>
          <a:solidFill>
            <a:srgbClr val="ECEEF1"/>
          </a:solidFill>
          <a:ln w="13970">
            <a:solidFill>
              <a:srgbClr val="B9C1CB"/>
            </a:solidFill>
          </a:ln>
          <a:effectLst/>
        </p:spPr>
        <p:txBody>
          <a:bodyPr rtlCol="0" anchor="ctr"/>
          <a:lstStyle/>
          <a:p>
            <a:pPr algn="ctr"/>
          </a:p>
        </p:txBody>
      </p:sp>
      <p:pic>
        <p:nvPicPr>
          <p:cNvPr id="19" name="Picture 18" descr="database-8A939E-64.png"/>
          <p:cNvPicPr>
            <a:picLocks noChangeAspect="1"/>
          </p:cNvPicPr>
          <p:nvPr/>
        </p:nvPicPr>
        <p:blipFill>
          <a:blip r:embed="rId6"/>
          <a:stretch>
            <a:fillRect/>
          </a:stretch>
        </p:blipFill>
        <p:spPr>
          <a:xfrm>
            <a:off x="1106424" y="1847088"/>
            <a:ext cx="365760" cy="365760"/>
          </a:xfrm>
          <a:prstGeom prst="rect">
            <a:avLst/>
          </a:prstGeom>
        </p:spPr>
      </p:pic>
      <p:sp>
        <p:nvSpPr>
          <p:cNvPr id="20" name="TextBox 19"/>
          <p:cNvSpPr txBox="1"/>
          <p:nvPr/>
        </p:nvSpPr>
        <p:spPr>
          <a:xfrm>
            <a:off x="576072" y="2267712"/>
            <a:ext cx="1426464" cy="292607"/>
          </a:xfrm>
          <a:prstGeom prst="rect">
            <a:avLst/>
          </a:prstGeom>
          <a:noFill/>
        </p:spPr>
        <p:txBody>
          <a:bodyPr wrap="square" lIns="0" rIns="0" tIns="0" bIns="0" anchor="t">
            <a:spAutoFit/>
          </a:bodyPr>
          <a:lstStyle/>
          <a:p>
            <a:pPr algn="ctr">
              <a:lnSpc>
                <a:spcPct val="112000"/>
              </a:lnSpc>
            </a:pPr>
            <a:r>
              <a:rPr sz="1050" b="0" i="0">
                <a:solidFill>
                  <a:srgbClr val="8A939E"/>
                </a:solidFill>
                <a:latin typeface="Arial"/>
              </a:rPr>
              <a:t>Minutes storage</a:t>
            </a:r>
          </a:p>
        </p:txBody>
      </p:sp>
      <p:sp>
        <p:nvSpPr>
          <p:cNvPr id="21" name="Right Arrow 20"/>
          <p:cNvSpPr/>
          <p:nvPr/>
        </p:nvSpPr>
        <p:spPr>
          <a:xfrm>
            <a:off x="2103120" y="2093976"/>
            <a:ext cx="109728" cy="164592"/>
          </a:xfrm>
          <a:prstGeom prst="rightArrow">
            <a:avLst/>
          </a:prstGeom>
          <a:solidFill>
            <a:srgbClr val="B9C1CB"/>
          </a:solidFill>
          <a:ln>
            <a:noFill/>
          </a:ln>
          <a:effectLst/>
        </p:spPr>
        <p:txBody>
          <a:bodyPr rtlCol="0" anchor="ctr"/>
          <a:lstStyle/>
          <a:p>
            <a:pPr algn="ctr"/>
          </a:p>
        </p:txBody>
      </p:sp>
      <p:sp>
        <p:nvSpPr>
          <p:cNvPr id="22" name="Rounded Rectangle 21"/>
          <p:cNvSpPr/>
          <p:nvPr/>
        </p:nvSpPr>
        <p:spPr>
          <a:xfrm>
            <a:off x="2240280" y="1719072"/>
            <a:ext cx="1572768" cy="914400"/>
          </a:xfrm>
          <a:prstGeom prst="roundRect">
            <a:avLst>
              <a:gd name="adj" fmla="val 25000"/>
            </a:avLst>
          </a:prstGeom>
          <a:solidFill>
            <a:srgbClr val="ECEEF1"/>
          </a:solidFill>
          <a:ln w="13970">
            <a:solidFill>
              <a:srgbClr val="B9C1CB"/>
            </a:solidFill>
          </a:ln>
          <a:effectLst/>
        </p:spPr>
        <p:txBody>
          <a:bodyPr rtlCol="0" anchor="ctr"/>
          <a:lstStyle/>
          <a:p>
            <a:pPr algn="ctr"/>
          </a:p>
        </p:txBody>
      </p:sp>
      <p:pic>
        <p:nvPicPr>
          <p:cNvPr id="23" name="Picture 22" descr="layers-8A939E-64.png"/>
          <p:cNvPicPr>
            <a:picLocks noChangeAspect="1"/>
          </p:cNvPicPr>
          <p:nvPr/>
        </p:nvPicPr>
        <p:blipFill>
          <a:blip r:embed="rId7"/>
          <a:stretch>
            <a:fillRect/>
          </a:stretch>
        </p:blipFill>
        <p:spPr>
          <a:xfrm>
            <a:off x="2843784" y="1847088"/>
            <a:ext cx="365760" cy="365760"/>
          </a:xfrm>
          <a:prstGeom prst="rect">
            <a:avLst/>
          </a:prstGeom>
        </p:spPr>
      </p:pic>
      <p:sp>
        <p:nvSpPr>
          <p:cNvPr id="24" name="TextBox 23"/>
          <p:cNvSpPr txBox="1"/>
          <p:nvPr/>
        </p:nvSpPr>
        <p:spPr>
          <a:xfrm>
            <a:off x="2313432" y="2267712"/>
            <a:ext cx="1426464" cy="292607"/>
          </a:xfrm>
          <a:prstGeom prst="rect">
            <a:avLst/>
          </a:prstGeom>
          <a:noFill/>
        </p:spPr>
        <p:txBody>
          <a:bodyPr wrap="square" lIns="0" rIns="0" tIns="0" bIns="0" anchor="t">
            <a:spAutoFit/>
          </a:bodyPr>
          <a:lstStyle/>
          <a:p>
            <a:pPr algn="ctr">
              <a:lnSpc>
                <a:spcPct val="112000"/>
              </a:lnSpc>
            </a:pPr>
            <a:r>
              <a:rPr sz="1050" b="0" i="0">
                <a:solidFill>
                  <a:srgbClr val="8A939E"/>
                </a:solidFill>
                <a:latin typeface="Arial"/>
              </a:rPr>
              <a:t>Indexing</a:t>
            </a:r>
          </a:p>
        </p:txBody>
      </p:sp>
      <p:sp>
        <p:nvSpPr>
          <p:cNvPr id="25" name="Right Arrow 24"/>
          <p:cNvSpPr/>
          <p:nvPr/>
        </p:nvSpPr>
        <p:spPr>
          <a:xfrm>
            <a:off x="3840480" y="2093976"/>
            <a:ext cx="109728" cy="164592"/>
          </a:xfrm>
          <a:prstGeom prst="rightArrow">
            <a:avLst/>
          </a:prstGeom>
          <a:solidFill>
            <a:srgbClr val="B9C1CB"/>
          </a:solidFill>
          <a:ln>
            <a:noFill/>
          </a:ln>
          <a:effectLst/>
        </p:spPr>
        <p:txBody>
          <a:bodyPr rtlCol="0" anchor="ctr"/>
          <a:lstStyle/>
          <a:p>
            <a:pPr algn="ctr"/>
          </a:p>
        </p:txBody>
      </p:sp>
      <p:sp>
        <p:nvSpPr>
          <p:cNvPr id="26" name="Rounded Rectangle 25"/>
          <p:cNvSpPr/>
          <p:nvPr/>
        </p:nvSpPr>
        <p:spPr>
          <a:xfrm>
            <a:off x="3977639" y="1719072"/>
            <a:ext cx="1572768" cy="914400"/>
          </a:xfrm>
          <a:prstGeom prst="roundRect">
            <a:avLst>
              <a:gd name="adj" fmla="val 25000"/>
            </a:avLst>
          </a:prstGeom>
          <a:solidFill>
            <a:srgbClr val="ECEEF1"/>
          </a:solidFill>
          <a:ln w="13970">
            <a:solidFill>
              <a:srgbClr val="B9C1CB"/>
            </a:solidFill>
          </a:ln>
          <a:effectLst/>
        </p:spPr>
        <p:txBody>
          <a:bodyPr rtlCol="0" anchor="ctr"/>
          <a:lstStyle/>
          <a:p>
            <a:pPr algn="ctr"/>
          </a:p>
        </p:txBody>
      </p:sp>
      <p:pic>
        <p:nvPicPr>
          <p:cNvPr id="27" name="Picture 26" descr="search-8A939E-64.png"/>
          <p:cNvPicPr>
            <a:picLocks noChangeAspect="1"/>
          </p:cNvPicPr>
          <p:nvPr/>
        </p:nvPicPr>
        <p:blipFill>
          <a:blip r:embed="rId8"/>
          <a:stretch>
            <a:fillRect/>
          </a:stretch>
        </p:blipFill>
        <p:spPr>
          <a:xfrm>
            <a:off x="4581144" y="1847088"/>
            <a:ext cx="365760" cy="365760"/>
          </a:xfrm>
          <a:prstGeom prst="rect">
            <a:avLst/>
          </a:prstGeom>
        </p:spPr>
      </p:pic>
      <p:sp>
        <p:nvSpPr>
          <p:cNvPr id="28" name="TextBox 27"/>
          <p:cNvSpPr txBox="1"/>
          <p:nvPr/>
        </p:nvSpPr>
        <p:spPr>
          <a:xfrm>
            <a:off x="4050791" y="2267712"/>
            <a:ext cx="1426464" cy="292607"/>
          </a:xfrm>
          <a:prstGeom prst="rect">
            <a:avLst/>
          </a:prstGeom>
          <a:noFill/>
        </p:spPr>
        <p:txBody>
          <a:bodyPr wrap="square" lIns="0" rIns="0" tIns="0" bIns="0" anchor="t">
            <a:spAutoFit/>
          </a:bodyPr>
          <a:lstStyle/>
          <a:p>
            <a:pPr algn="ctr">
              <a:lnSpc>
                <a:spcPct val="112000"/>
              </a:lnSpc>
            </a:pPr>
            <a:r>
              <a:rPr sz="1050" b="0" i="0">
                <a:solidFill>
                  <a:srgbClr val="8A939E"/>
                </a:solidFill>
                <a:latin typeface="Arial"/>
              </a:rPr>
              <a:t>Search on query</a:t>
            </a:r>
          </a:p>
        </p:txBody>
      </p:sp>
      <p:sp>
        <p:nvSpPr>
          <p:cNvPr id="29" name="Right Arrow 28"/>
          <p:cNvSpPr/>
          <p:nvPr/>
        </p:nvSpPr>
        <p:spPr>
          <a:xfrm>
            <a:off x="5577840" y="2093976"/>
            <a:ext cx="109728" cy="164592"/>
          </a:xfrm>
          <a:prstGeom prst="rightArrow">
            <a:avLst/>
          </a:prstGeom>
          <a:solidFill>
            <a:srgbClr val="B9C1CB"/>
          </a:solidFill>
          <a:ln>
            <a:noFill/>
          </a:ln>
          <a:effectLst/>
        </p:spPr>
        <p:txBody>
          <a:bodyPr rtlCol="0" anchor="ctr"/>
          <a:lstStyle/>
          <a:p>
            <a:pPr algn="ctr"/>
          </a:p>
        </p:txBody>
      </p:sp>
      <p:sp>
        <p:nvSpPr>
          <p:cNvPr id="30" name="Rounded Rectangle 29"/>
          <p:cNvSpPr/>
          <p:nvPr/>
        </p:nvSpPr>
        <p:spPr>
          <a:xfrm>
            <a:off x="5714999" y="1719072"/>
            <a:ext cx="1572768" cy="914400"/>
          </a:xfrm>
          <a:prstGeom prst="roundRect">
            <a:avLst>
              <a:gd name="adj" fmla="val 25000"/>
            </a:avLst>
          </a:prstGeom>
          <a:solidFill>
            <a:srgbClr val="ECEEF1"/>
          </a:solidFill>
          <a:ln w="13970">
            <a:solidFill>
              <a:srgbClr val="B9C1CB"/>
            </a:solidFill>
          </a:ln>
          <a:effectLst/>
        </p:spPr>
        <p:txBody>
          <a:bodyPr rtlCol="0" anchor="ctr"/>
          <a:lstStyle/>
          <a:p>
            <a:pPr algn="ctr"/>
          </a:p>
        </p:txBody>
      </p:sp>
      <p:pic>
        <p:nvPicPr>
          <p:cNvPr id="31" name="Picture 30" descr="file-code-8A939E-64.png"/>
          <p:cNvPicPr>
            <a:picLocks noChangeAspect="1"/>
          </p:cNvPicPr>
          <p:nvPr/>
        </p:nvPicPr>
        <p:blipFill>
          <a:blip r:embed="rId9"/>
          <a:stretch>
            <a:fillRect/>
          </a:stretch>
        </p:blipFill>
        <p:spPr>
          <a:xfrm>
            <a:off x="6318503" y="1847088"/>
            <a:ext cx="365760" cy="365760"/>
          </a:xfrm>
          <a:prstGeom prst="rect">
            <a:avLst/>
          </a:prstGeom>
        </p:spPr>
      </p:pic>
      <p:sp>
        <p:nvSpPr>
          <p:cNvPr id="32" name="TextBox 31"/>
          <p:cNvSpPr txBox="1"/>
          <p:nvPr/>
        </p:nvSpPr>
        <p:spPr>
          <a:xfrm>
            <a:off x="5788151" y="2267712"/>
            <a:ext cx="1426464" cy="292607"/>
          </a:xfrm>
          <a:prstGeom prst="rect">
            <a:avLst/>
          </a:prstGeom>
          <a:noFill/>
        </p:spPr>
        <p:txBody>
          <a:bodyPr wrap="square" lIns="0" rIns="0" tIns="0" bIns="0" anchor="t">
            <a:spAutoFit/>
          </a:bodyPr>
          <a:lstStyle/>
          <a:p>
            <a:pPr algn="ctr">
              <a:lnSpc>
                <a:spcPct val="112000"/>
              </a:lnSpc>
            </a:pPr>
            <a:r>
              <a:rPr sz="1050" b="0" i="0">
                <a:solidFill>
                  <a:srgbClr val="8A939E"/>
                </a:solidFill>
                <a:latin typeface="Arial"/>
              </a:rPr>
              <a:t>Snippets into the model</a:t>
            </a:r>
          </a:p>
        </p:txBody>
      </p:sp>
      <p:cxnSp>
        <p:nvCxnSpPr>
          <p:cNvPr id="33" name="Connector 32"/>
          <p:cNvCxnSpPr/>
          <p:nvPr/>
        </p:nvCxnSpPr>
        <p:spPr>
          <a:xfrm flipH="1">
            <a:off x="4320540" y="2633472"/>
            <a:ext cx="2180843" cy="502919"/>
          </a:xfrm>
          <a:prstGeom prst="bentConnector3">
            <a:avLst/>
          </a:prstGeom>
          <a:ln w="20320">
            <a:solidFill>
              <a:srgbClr val="B9C1CB"/>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502920" y="4553712"/>
            <a:ext cx="1572768" cy="914400"/>
          </a:xfrm>
          <a:prstGeom prst="roundRect">
            <a:avLst>
              <a:gd name="adj" fmla="val 25000"/>
            </a:avLst>
          </a:prstGeom>
          <a:solidFill>
            <a:srgbClr val="F4F7FA"/>
          </a:solidFill>
          <a:ln w="17780">
            <a:solidFill>
              <a:srgbClr val="F0AB00"/>
            </a:solidFill>
          </a:ln>
          <a:effectLst/>
        </p:spPr>
        <p:txBody>
          <a:bodyPr rtlCol="0" anchor="ctr"/>
          <a:lstStyle/>
          <a:p>
            <a:pPr algn="ctr"/>
          </a:p>
        </p:txBody>
      </p:sp>
      <p:pic>
        <p:nvPicPr>
          <p:cNvPr id="35" name="Picture 34" descr="route-F0AB00-64.png"/>
          <p:cNvPicPr>
            <a:picLocks noChangeAspect="1"/>
          </p:cNvPicPr>
          <p:nvPr/>
        </p:nvPicPr>
        <p:blipFill>
          <a:blip r:embed="rId10"/>
          <a:stretch>
            <a:fillRect/>
          </a:stretch>
        </p:blipFill>
        <p:spPr>
          <a:xfrm>
            <a:off x="1106424" y="4681728"/>
            <a:ext cx="365760" cy="365760"/>
          </a:xfrm>
          <a:prstGeom prst="rect">
            <a:avLst/>
          </a:prstGeom>
        </p:spPr>
      </p:pic>
      <p:sp>
        <p:nvSpPr>
          <p:cNvPr id="36" name="TextBox 35"/>
          <p:cNvSpPr txBox="1"/>
          <p:nvPr/>
        </p:nvSpPr>
        <p:spPr>
          <a:xfrm>
            <a:off x="576072" y="5102352"/>
            <a:ext cx="1426464" cy="292608"/>
          </a:xfrm>
          <a:prstGeom prst="rect">
            <a:avLst/>
          </a:prstGeom>
          <a:noFill/>
        </p:spPr>
        <p:txBody>
          <a:bodyPr wrap="square" lIns="0" rIns="0" tIns="0" bIns="0" anchor="t">
            <a:spAutoFit/>
          </a:bodyPr>
          <a:lstStyle/>
          <a:p>
            <a:pPr algn="ctr">
              <a:lnSpc>
                <a:spcPct val="112000"/>
              </a:lnSpc>
            </a:pPr>
            <a:r>
              <a:rPr sz="1050" b="1" i="0">
                <a:solidFill>
                  <a:srgbClr val="21295C"/>
                </a:solidFill>
                <a:latin typeface="Arial"/>
              </a:rPr>
              <a:t>Extract action item</a:t>
            </a:r>
          </a:p>
        </p:txBody>
      </p:sp>
      <p:sp>
        <p:nvSpPr>
          <p:cNvPr id="37" name="Right Arrow 36"/>
          <p:cNvSpPr/>
          <p:nvPr/>
        </p:nvSpPr>
        <p:spPr>
          <a:xfrm>
            <a:off x="2103120" y="4928616"/>
            <a:ext cx="109728" cy="164592"/>
          </a:xfrm>
          <a:prstGeom prst="rightArrow">
            <a:avLst/>
          </a:prstGeom>
          <a:solidFill>
            <a:srgbClr val="028090"/>
          </a:solidFill>
          <a:ln>
            <a:noFill/>
          </a:ln>
          <a:effectLst/>
        </p:spPr>
        <p:txBody>
          <a:bodyPr rtlCol="0" anchor="ctr"/>
          <a:lstStyle/>
          <a:p>
            <a:pPr algn="ctr"/>
          </a:p>
        </p:txBody>
      </p:sp>
      <p:sp>
        <p:nvSpPr>
          <p:cNvPr id="38" name="Rounded Rectangle 37"/>
          <p:cNvSpPr/>
          <p:nvPr/>
        </p:nvSpPr>
        <p:spPr>
          <a:xfrm>
            <a:off x="2240280" y="4553712"/>
            <a:ext cx="1572768" cy="914400"/>
          </a:xfrm>
          <a:prstGeom prst="roundRect">
            <a:avLst>
              <a:gd name="adj" fmla="val 25000"/>
            </a:avLst>
          </a:prstGeom>
          <a:solidFill>
            <a:srgbClr val="F4F7FA"/>
          </a:solidFill>
          <a:ln w="17780">
            <a:solidFill>
              <a:srgbClr val="F0AB00"/>
            </a:solidFill>
          </a:ln>
          <a:effectLst/>
        </p:spPr>
        <p:txBody>
          <a:bodyPr rtlCol="0" anchor="ctr"/>
          <a:lstStyle/>
          <a:p>
            <a:pPr algn="ctr"/>
          </a:p>
        </p:txBody>
      </p:sp>
      <p:pic>
        <p:nvPicPr>
          <p:cNvPr id="39" name="Picture 38" descr="cable-F0AB00-64.png"/>
          <p:cNvPicPr>
            <a:picLocks noChangeAspect="1"/>
          </p:cNvPicPr>
          <p:nvPr/>
        </p:nvPicPr>
        <p:blipFill>
          <a:blip r:embed="rId11"/>
          <a:stretch>
            <a:fillRect/>
          </a:stretch>
        </p:blipFill>
        <p:spPr>
          <a:xfrm>
            <a:off x="2843784" y="4681728"/>
            <a:ext cx="365760" cy="365760"/>
          </a:xfrm>
          <a:prstGeom prst="rect">
            <a:avLst/>
          </a:prstGeom>
        </p:spPr>
      </p:pic>
      <p:sp>
        <p:nvSpPr>
          <p:cNvPr id="40" name="TextBox 39"/>
          <p:cNvSpPr txBox="1"/>
          <p:nvPr/>
        </p:nvSpPr>
        <p:spPr>
          <a:xfrm>
            <a:off x="2313432" y="5102352"/>
            <a:ext cx="1426464" cy="292608"/>
          </a:xfrm>
          <a:prstGeom prst="rect">
            <a:avLst/>
          </a:prstGeom>
          <a:noFill/>
        </p:spPr>
        <p:txBody>
          <a:bodyPr wrap="square" lIns="0" rIns="0" tIns="0" bIns="0" anchor="t">
            <a:spAutoFit/>
          </a:bodyPr>
          <a:lstStyle/>
          <a:p>
            <a:pPr algn="ctr">
              <a:lnSpc>
                <a:spcPct val="112000"/>
              </a:lnSpc>
            </a:pPr>
            <a:r>
              <a:rPr sz="1050" b="1" i="0">
                <a:solidFill>
                  <a:srgbClr val="21295C"/>
                </a:solidFill>
                <a:latin typeface="Arial"/>
              </a:rPr>
              <a:t>Call the task-tracker API</a:t>
            </a:r>
          </a:p>
        </p:txBody>
      </p:sp>
      <p:sp>
        <p:nvSpPr>
          <p:cNvPr id="41" name="Right Arrow 40"/>
          <p:cNvSpPr/>
          <p:nvPr/>
        </p:nvSpPr>
        <p:spPr>
          <a:xfrm>
            <a:off x="3840480" y="4928616"/>
            <a:ext cx="109728" cy="164592"/>
          </a:xfrm>
          <a:prstGeom prst="rightArrow">
            <a:avLst/>
          </a:prstGeom>
          <a:solidFill>
            <a:srgbClr val="028090"/>
          </a:solidFill>
          <a:ln>
            <a:noFill/>
          </a:ln>
          <a:effectLst/>
        </p:spPr>
        <p:txBody>
          <a:bodyPr rtlCol="0" anchor="ctr"/>
          <a:lstStyle/>
          <a:p>
            <a:pPr algn="ctr"/>
          </a:p>
        </p:txBody>
      </p:sp>
      <p:sp>
        <p:nvSpPr>
          <p:cNvPr id="42" name="Rounded Rectangle 41"/>
          <p:cNvSpPr/>
          <p:nvPr/>
        </p:nvSpPr>
        <p:spPr>
          <a:xfrm>
            <a:off x="3977639" y="4553712"/>
            <a:ext cx="1572768" cy="914400"/>
          </a:xfrm>
          <a:prstGeom prst="roundRect">
            <a:avLst>
              <a:gd name="adj" fmla="val 25000"/>
            </a:avLst>
          </a:prstGeom>
          <a:solidFill>
            <a:srgbClr val="F4F7FA"/>
          </a:solidFill>
          <a:ln w="17780">
            <a:solidFill>
              <a:srgbClr val="F0AB00"/>
            </a:solidFill>
          </a:ln>
          <a:effectLst/>
        </p:spPr>
        <p:txBody>
          <a:bodyPr rtlCol="0" anchor="ctr"/>
          <a:lstStyle/>
          <a:p>
            <a:pPr algn="ctr"/>
          </a:p>
        </p:txBody>
      </p:sp>
      <p:pic>
        <p:nvPicPr>
          <p:cNvPr id="43" name="Picture 42" descr="list-checks-F0AB00-64.png"/>
          <p:cNvPicPr>
            <a:picLocks noChangeAspect="1"/>
          </p:cNvPicPr>
          <p:nvPr/>
        </p:nvPicPr>
        <p:blipFill>
          <a:blip r:embed="rId12"/>
          <a:stretch>
            <a:fillRect/>
          </a:stretch>
        </p:blipFill>
        <p:spPr>
          <a:xfrm>
            <a:off x="4581144" y="4681728"/>
            <a:ext cx="365760" cy="365760"/>
          </a:xfrm>
          <a:prstGeom prst="rect">
            <a:avLst/>
          </a:prstGeom>
        </p:spPr>
      </p:pic>
      <p:sp>
        <p:nvSpPr>
          <p:cNvPr id="44" name="TextBox 43"/>
          <p:cNvSpPr txBox="1"/>
          <p:nvPr/>
        </p:nvSpPr>
        <p:spPr>
          <a:xfrm>
            <a:off x="4050791" y="5102352"/>
            <a:ext cx="1426464" cy="292608"/>
          </a:xfrm>
          <a:prstGeom prst="rect">
            <a:avLst/>
          </a:prstGeom>
          <a:noFill/>
        </p:spPr>
        <p:txBody>
          <a:bodyPr wrap="square" lIns="0" rIns="0" tIns="0" bIns="0" anchor="t">
            <a:spAutoFit/>
          </a:bodyPr>
          <a:lstStyle/>
          <a:p>
            <a:pPr algn="ctr">
              <a:lnSpc>
                <a:spcPct val="112000"/>
              </a:lnSpc>
            </a:pPr>
            <a:r>
              <a:rPr sz="1050" b="1" i="0">
                <a:solidFill>
                  <a:srgbClr val="21295C"/>
                </a:solidFill>
                <a:latin typeface="Arial"/>
              </a:rPr>
              <a:t>Create the task</a:t>
            </a:r>
          </a:p>
        </p:txBody>
      </p:sp>
      <p:sp>
        <p:nvSpPr>
          <p:cNvPr id="45" name="Right Arrow 44"/>
          <p:cNvSpPr/>
          <p:nvPr/>
        </p:nvSpPr>
        <p:spPr>
          <a:xfrm>
            <a:off x="5577840" y="4928616"/>
            <a:ext cx="109728" cy="164592"/>
          </a:xfrm>
          <a:prstGeom prst="rightArrow">
            <a:avLst/>
          </a:prstGeom>
          <a:solidFill>
            <a:srgbClr val="028090"/>
          </a:solidFill>
          <a:ln>
            <a:noFill/>
          </a:ln>
          <a:effectLst/>
        </p:spPr>
        <p:txBody>
          <a:bodyPr rtlCol="0" anchor="ctr"/>
          <a:lstStyle/>
          <a:p>
            <a:pPr algn="ctr"/>
          </a:p>
        </p:txBody>
      </p:sp>
      <p:sp>
        <p:nvSpPr>
          <p:cNvPr id="46" name="Rounded Rectangle 45"/>
          <p:cNvSpPr/>
          <p:nvPr/>
        </p:nvSpPr>
        <p:spPr>
          <a:xfrm>
            <a:off x="5714999" y="4553712"/>
            <a:ext cx="1572768" cy="914400"/>
          </a:xfrm>
          <a:prstGeom prst="roundRect">
            <a:avLst>
              <a:gd name="adj" fmla="val 25000"/>
            </a:avLst>
          </a:prstGeom>
          <a:solidFill>
            <a:srgbClr val="F4F7FA"/>
          </a:solidFill>
          <a:ln w="17780">
            <a:solidFill>
              <a:srgbClr val="F0AB00"/>
            </a:solidFill>
          </a:ln>
          <a:effectLst/>
        </p:spPr>
        <p:txBody>
          <a:bodyPr rtlCol="0" anchor="ctr"/>
          <a:lstStyle/>
          <a:p>
            <a:pPr algn="ctr"/>
          </a:p>
        </p:txBody>
      </p:sp>
      <p:pic>
        <p:nvPicPr>
          <p:cNvPr id="47" name="Picture 46" descr="circle-check-F0AB00-64.png"/>
          <p:cNvPicPr>
            <a:picLocks noChangeAspect="1"/>
          </p:cNvPicPr>
          <p:nvPr/>
        </p:nvPicPr>
        <p:blipFill>
          <a:blip r:embed="rId13"/>
          <a:stretch>
            <a:fillRect/>
          </a:stretch>
        </p:blipFill>
        <p:spPr>
          <a:xfrm>
            <a:off x="6318503" y="4681728"/>
            <a:ext cx="365760" cy="365760"/>
          </a:xfrm>
          <a:prstGeom prst="rect">
            <a:avLst/>
          </a:prstGeom>
        </p:spPr>
      </p:pic>
      <p:sp>
        <p:nvSpPr>
          <p:cNvPr id="48" name="TextBox 47"/>
          <p:cNvSpPr txBox="1"/>
          <p:nvPr/>
        </p:nvSpPr>
        <p:spPr>
          <a:xfrm>
            <a:off x="5788151" y="5102352"/>
            <a:ext cx="1426464" cy="292608"/>
          </a:xfrm>
          <a:prstGeom prst="rect">
            <a:avLst/>
          </a:prstGeom>
          <a:noFill/>
        </p:spPr>
        <p:txBody>
          <a:bodyPr wrap="square" lIns="0" rIns="0" tIns="0" bIns="0" anchor="t">
            <a:spAutoFit/>
          </a:bodyPr>
          <a:lstStyle/>
          <a:p>
            <a:pPr algn="ctr">
              <a:lnSpc>
                <a:spcPct val="112000"/>
              </a:lnSpc>
            </a:pPr>
            <a:r>
              <a:rPr sz="1050" b="1" i="0">
                <a:solidFill>
                  <a:srgbClr val="21295C"/>
                </a:solidFill>
                <a:latin typeface="Arial"/>
              </a:rPr>
              <a:t>Verify the result</a:t>
            </a:r>
          </a:p>
        </p:txBody>
      </p:sp>
      <p:cxnSp>
        <p:nvCxnSpPr>
          <p:cNvPr id="49" name="Connector 48"/>
          <p:cNvCxnSpPr/>
          <p:nvPr/>
        </p:nvCxnSpPr>
        <p:spPr>
          <a:xfrm flipH="1">
            <a:off x="1289304" y="4050791"/>
            <a:ext cx="5682996" cy="502921"/>
          </a:xfrm>
          <a:prstGeom prst="bentConnector3">
            <a:avLst/>
          </a:prstGeom>
          <a:ln w="20320">
            <a:solidFill>
              <a:srgbClr val="F0AB00"/>
            </a:solidFill>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502920" y="5605272"/>
            <a:ext cx="11183112" cy="868680"/>
          </a:xfrm>
          <a:prstGeom prst="roundRect">
            <a:avLst>
              <a:gd name="adj" fmla="val 25000"/>
            </a:avLst>
          </a:prstGeom>
          <a:solidFill>
            <a:srgbClr val="FEF5E0"/>
          </a:solidFill>
          <a:ln w="19050">
            <a:solidFill>
              <a:srgbClr val="F0AB00"/>
            </a:solidFill>
          </a:ln>
          <a:effectLst/>
        </p:spPr>
        <p:txBody>
          <a:bodyPr rtlCol="0" anchor="ctr"/>
          <a:lstStyle/>
          <a:p>
            <a:pPr algn="ctr"/>
          </a:p>
        </p:txBody>
      </p:sp>
      <p:sp>
        <p:nvSpPr>
          <p:cNvPr id="51" name="TextBox 50"/>
          <p:cNvSpPr txBox="1"/>
          <p:nvPr/>
        </p:nvSpPr>
        <p:spPr>
          <a:xfrm>
            <a:off x="777240" y="5605272"/>
            <a:ext cx="10607040" cy="868680"/>
          </a:xfrm>
          <a:prstGeom prst="rect">
            <a:avLst/>
          </a:prstGeom>
          <a:noFill/>
        </p:spPr>
        <p:txBody>
          <a:bodyPr wrap="square" lIns="0" rIns="0" tIns="0" bIns="0" anchor="ctr">
            <a:spAutoFit/>
          </a:bodyPr>
          <a:lstStyle/>
          <a:p>
            <a:pPr algn="l">
              <a:lnSpc>
                <a:spcPct val="115000"/>
              </a:lnSpc>
            </a:pPr>
            <a:r>
              <a:rPr sz="1400" b="1" i="0">
                <a:solidFill>
                  <a:srgbClr val="21295C"/>
                </a:solidFill>
                <a:latin typeface="Arial"/>
              </a:rPr>
              <a:t>Start with the simplest option, add complexity only when a requirement can't be met any other way</a:t>
            </a:r>
          </a:p>
        </p:txBody>
      </p:sp>
      <p:sp>
        <p:nvSpPr>
          <p:cNvPr id="52" name="TextBox 51"/>
          <p:cNvSpPr txBox="1"/>
          <p:nvPr/>
        </p:nvSpPr>
        <p:spPr>
          <a:xfrm>
            <a:off x="502920" y="6473952"/>
            <a:ext cx="11183112" cy="36576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the task tracker has an open API — the integration is cheap, not hypothetical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1183112" cy="411480"/>
          </a:xfrm>
          <a:prstGeom prst="rect">
            <a:avLst/>
          </a:prstGeom>
          <a:noFill/>
        </p:spPr>
        <p:txBody>
          <a:bodyPr wrap="square" lIns="0" rIns="0" tIns="0" bIns="0" anchor="t">
            <a:spAutoFit/>
          </a:bodyPr>
          <a:lstStyle/>
          <a:p>
            <a:pPr algn="l">
              <a:lnSpc>
                <a:spcPct val="115000"/>
              </a:lnSpc>
            </a:pPr>
            <a:r>
              <a:rPr sz="2500" b="1" i="0">
                <a:solidFill>
                  <a:srgbClr val="21295C"/>
                </a:solidFill>
                <a:latin typeface="Arial"/>
              </a:rPr>
              <a:t>Digest of chats and email</a:t>
            </a:r>
          </a:p>
        </p:txBody>
      </p:sp>
      <p:sp>
        <p:nvSpPr>
          <p:cNvPr id="3" name="Rounded Rectangle 2"/>
          <p:cNvSpPr/>
          <p:nvPr/>
        </p:nvSpPr>
        <p:spPr>
          <a:xfrm>
            <a:off x="502920" y="685800"/>
            <a:ext cx="11183112" cy="2468880"/>
          </a:xfrm>
          <a:prstGeom prst="roundRect">
            <a:avLst>
              <a:gd name="adj" fmla="val 12345"/>
            </a:avLst>
          </a:prstGeom>
          <a:solidFill>
            <a:srgbClr val="F4F7FA"/>
          </a:solidFill>
          <a:ln w="19050">
            <a:solidFill>
              <a:srgbClr val="1C7293"/>
            </a:solidFill>
          </a:ln>
          <a:effectLst/>
        </p:spPr>
        <p:txBody>
          <a:bodyPr rtlCol="0" anchor="ctr"/>
          <a:lstStyle/>
          <a:p>
            <a:pPr algn="ctr"/>
          </a:p>
        </p:txBody>
      </p:sp>
      <p:pic>
        <p:nvPicPr>
          <p:cNvPr id="4" name="Picture 3" descr="quote-1C7293-64.png"/>
          <p:cNvPicPr>
            <a:picLocks noChangeAspect="1"/>
          </p:cNvPicPr>
          <p:nvPr/>
        </p:nvPicPr>
        <p:blipFill>
          <a:blip r:embed="rId2"/>
          <a:stretch>
            <a:fillRect/>
          </a:stretch>
        </p:blipFill>
        <p:spPr>
          <a:xfrm>
            <a:off x="722376" y="859536"/>
            <a:ext cx="292608" cy="292608"/>
          </a:xfrm>
          <a:prstGeom prst="rect">
            <a:avLst/>
          </a:prstGeom>
        </p:spPr>
      </p:pic>
      <p:sp>
        <p:nvSpPr>
          <p:cNvPr id="5" name="TextBox 4"/>
          <p:cNvSpPr txBox="1"/>
          <p:nvPr/>
        </p:nvSpPr>
        <p:spPr>
          <a:xfrm>
            <a:off x="722376" y="1197864"/>
            <a:ext cx="10744200" cy="1737360"/>
          </a:xfrm>
          <a:prstGeom prst="rect">
            <a:avLst/>
          </a:prstGeom>
          <a:noFill/>
        </p:spPr>
        <p:txBody>
          <a:bodyPr wrap="square" lIns="0" rIns="0" tIns="0" bIns="0" anchor="t">
            <a:spAutoFit/>
          </a:bodyPr>
          <a:lstStyle/>
          <a:p>
            <a:pPr algn="l">
              <a:lnSpc>
                <a:spcPct val="128000"/>
              </a:lnSpc>
            </a:pPr>
            <a:r>
              <a:rPr sz="1400" b="0" i="1">
                <a:solidFill>
                  <a:srgbClr val="21295C"/>
                </a:solidFill>
                <a:latin typeface="Arial"/>
              </a:rPr>
              <a:t>"We talked about this at the standup — we want a weekly digest of the team's work chat and email: what was discussed, what was decided that week, in one message. Needed by 5 PM on Fridays. There are a few sources: the team's work chat and email, both have an API for pulling message history. It needs to come together into one coherent message, not just chunks stitched together. By the way, we also separately discussed whether to move to a different messenger, and in parallel we're testing a new VPN solution for remote workers — but that's got nothing to do with the digest."</a:t>
            </a:r>
          </a:p>
        </p:txBody>
      </p:sp>
      <p:sp>
        <p:nvSpPr>
          <p:cNvPr id="6" name="Rounded Rectangle 5"/>
          <p:cNvSpPr/>
          <p:nvPr/>
        </p:nvSpPr>
        <p:spPr>
          <a:xfrm>
            <a:off x="502920" y="3319272"/>
            <a:ext cx="11183112" cy="1005840"/>
          </a:xfrm>
          <a:prstGeom prst="roundRect">
            <a:avLst>
              <a:gd name="adj" fmla="val 25000"/>
            </a:avLst>
          </a:prstGeom>
          <a:solidFill>
            <a:srgbClr val="F4F7FA"/>
          </a:solidFill>
          <a:ln w="20320">
            <a:solidFill>
              <a:srgbClr val="028090"/>
            </a:solidFill>
          </a:ln>
          <a:effectLst/>
        </p:spPr>
        <p:txBody>
          <a:bodyPr rtlCol="0" anchor="ctr"/>
          <a:lstStyle/>
          <a:p>
            <a:pPr algn="ctr"/>
          </a:p>
        </p:txBody>
      </p:sp>
      <p:pic>
        <p:nvPicPr>
          <p:cNvPr id="7" name="Picture 6" descr="message-square-quote-065A82-96.png"/>
          <p:cNvPicPr>
            <a:picLocks noChangeAspect="1"/>
          </p:cNvPicPr>
          <p:nvPr/>
        </p:nvPicPr>
        <p:blipFill>
          <a:blip r:embed="rId3"/>
          <a:stretch>
            <a:fillRect/>
          </a:stretch>
        </p:blipFill>
        <p:spPr>
          <a:xfrm>
            <a:off x="822960" y="3525012"/>
            <a:ext cx="594360" cy="594360"/>
          </a:xfrm>
          <a:prstGeom prst="rect">
            <a:avLst/>
          </a:prstGeom>
        </p:spPr>
      </p:pic>
      <p:pic>
        <p:nvPicPr>
          <p:cNvPr id="8" name="Picture 7" descr="mail-028090-96.png"/>
          <p:cNvPicPr>
            <a:picLocks noChangeAspect="1"/>
          </p:cNvPicPr>
          <p:nvPr/>
        </p:nvPicPr>
        <p:blipFill>
          <a:blip r:embed="rId4"/>
          <a:stretch>
            <a:fillRect/>
          </a:stretch>
        </p:blipFill>
        <p:spPr>
          <a:xfrm>
            <a:off x="1600200" y="3525012"/>
            <a:ext cx="594360" cy="594360"/>
          </a:xfrm>
          <a:prstGeom prst="rect">
            <a:avLst/>
          </a:prstGeom>
        </p:spPr>
      </p:pic>
      <p:sp>
        <p:nvSpPr>
          <p:cNvPr id="9" name="TextBox 8"/>
          <p:cNvSpPr txBox="1"/>
          <p:nvPr/>
        </p:nvSpPr>
        <p:spPr>
          <a:xfrm>
            <a:off x="2514600" y="3319272"/>
            <a:ext cx="8869680" cy="1005840"/>
          </a:xfrm>
          <a:prstGeom prst="rect">
            <a:avLst/>
          </a:prstGeom>
          <a:noFill/>
        </p:spPr>
        <p:txBody>
          <a:bodyPr wrap="square" lIns="0" rIns="0" tIns="0" bIns="0" anchor="ctr">
            <a:spAutoFit/>
          </a:bodyPr>
          <a:lstStyle/>
          <a:p>
            <a:pPr algn="l">
              <a:lnSpc>
                <a:spcPct val="125000"/>
              </a:lnSpc>
            </a:pPr>
            <a:r>
              <a:rPr sz="1500" b="0" i="1">
                <a:solidFill>
                  <a:srgbClr val="21295C"/>
                </a:solidFill>
                <a:latin typeface="Arial"/>
              </a:rPr>
              <a:t>From chat and email — one coherent message, by 5 PM on Fridays</a:t>
            </a:r>
          </a:p>
        </p:txBody>
      </p:sp>
      <p:sp>
        <p:nvSpPr>
          <p:cNvPr id="10" name="Rounded Rectangle 9"/>
          <p:cNvSpPr/>
          <p:nvPr/>
        </p:nvSpPr>
        <p:spPr>
          <a:xfrm>
            <a:off x="502920" y="4507992"/>
            <a:ext cx="11183112" cy="2212847"/>
          </a:xfrm>
          <a:prstGeom prst="roundRect">
            <a:avLst>
              <a:gd name="adj" fmla="val 13774"/>
            </a:avLst>
          </a:prstGeom>
          <a:solidFill>
            <a:srgbClr val="FEF5E0"/>
          </a:solidFill>
          <a:ln w="17780">
            <a:solidFill>
              <a:srgbClr val="F0AB00"/>
            </a:solidFill>
          </a:ln>
          <a:effectLst/>
        </p:spPr>
        <p:txBody>
          <a:bodyPr rtlCol="0" anchor="ctr"/>
          <a:lstStyle/>
          <a:p>
            <a:pPr algn="ctr"/>
          </a:p>
        </p:txBody>
      </p:sp>
      <p:sp>
        <p:nvSpPr>
          <p:cNvPr id="11" name="TextBox 10"/>
          <p:cNvSpPr txBox="1"/>
          <p:nvPr/>
        </p:nvSpPr>
        <p:spPr>
          <a:xfrm>
            <a:off x="777240" y="4507992"/>
            <a:ext cx="10607040" cy="2212847"/>
          </a:xfrm>
          <a:prstGeom prst="rect">
            <a:avLst/>
          </a:prstGeom>
          <a:noFill/>
        </p:spPr>
        <p:txBody>
          <a:bodyPr wrap="square" lIns="0" rIns="0" tIns="0" bIns="0" anchor="ctr">
            <a:spAutoFit/>
          </a:bodyPr>
          <a:lstStyle/>
          <a:p>
            <a:pPr algn="l">
              <a:lnSpc>
                <a:spcPct val="115000"/>
              </a:lnSpc>
            </a:pPr>
            <a:r>
              <a:rPr sz="2000" b="1" i="0">
                <a:solidFill>
                  <a:srgbClr val="21295C"/>
                </a:solidFill>
                <a:latin typeface="Arial"/>
              </a:rPr>
              <a:t>What architecture does this need?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1183112" cy="91440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Digest — breakdown</a:t>
            </a:r>
          </a:p>
        </p:txBody>
      </p:sp>
      <p:sp>
        <p:nvSpPr>
          <p:cNvPr id="3" name="Rounded Rectangle 2"/>
          <p:cNvSpPr/>
          <p:nvPr/>
        </p:nvSpPr>
        <p:spPr>
          <a:xfrm>
            <a:off x="502920" y="1371600"/>
            <a:ext cx="5454396" cy="1783080"/>
          </a:xfrm>
          <a:prstGeom prst="roundRect">
            <a:avLst>
              <a:gd name="adj" fmla="val 6000"/>
            </a:avLst>
          </a:prstGeom>
          <a:solidFill>
            <a:srgbClr val="E9F5F2"/>
          </a:solidFill>
          <a:ln w="17780">
            <a:solidFill>
              <a:srgbClr val="028090"/>
            </a:solidFill>
          </a:ln>
          <a:effectLst/>
        </p:spPr>
        <p:txBody>
          <a:bodyPr rtlCol="0" anchor="ctr"/>
          <a:lstStyle/>
          <a:p>
            <a:pPr algn="ctr"/>
          </a:p>
        </p:txBody>
      </p:sp>
      <p:pic>
        <p:nvPicPr>
          <p:cNvPr id="4" name="Picture 3" descr="circle-check-028090-64.png"/>
          <p:cNvPicPr>
            <a:picLocks noChangeAspect="1"/>
          </p:cNvPicPr>
          <p:nvPr/>
        </p:nvPicPr>
        <p:blipFill>
          <a:blip r:embed="rId2"/>
          <a:stretch>
            <a:fillRect/>
          </a:stretch>
        </p:blipFill>
        <p:spPr>
          <a:xfrm>
            <a:off x="704088" y="1572768"/>
            <a:ext cx="365760" cy="365760"/>
          </a:xfrm>
          <a:prstGeom prst="rect">
            <a:avLst/>
          </a:prstGeom>
        </p:spPr>
      </p:pic>
      <p:sp>
        <p:nvSpPr>
          <p:cNvPr id="5" name="TextBox 4"/>
          <p:cNvSpPr txBox="1"/>
          <p:nvPr/>
        </p:nvSpPr>
        <p:spPr>
          <a:xfrm>
            <a:off x="1179576" y="1554480"/>
            <a:ext cx="4576571" cy="411480"/>
          </a:xfrm>
          <a:prstGeom prst="rect">
            <a:avLst/>
          </a:prstGeom>
          <a:noFill/>
        </p:spPr>
        <p:txBody>
          <a:bodyPr wrap="square" lIns="0" rIns="0" tIns="0" bIns="0" anchor="ctr">
            <a:spAutoFit/>
          </a:bodyPr>
          <a:lstStyle/>
          <a:p>
            <a:pPr algn="l">
              <a:lnSpc>
                <a:spcPct val="110000"/>
              </a:lnSpc>
            </a:pPr>
            <a:r>
              <a:rPr sz="1500" b="1" i="0">
                <a:solidFill>
                  <a:srgbClr val="21295C"/>
                </a:solidFill>
                <a:latin typeface="Arial"/>
              </a:rPr>
              <a:t>Agent — needed</a:t>
            </a:r>
          </a:p>
        </p:txBody>
      </p:sp>
      <p:sp>
        <p:nvSpPr>
          <p:cNvPr id="6" name="TextBox 5"/>
          <p:cNvSpPr txBox="1"/>
          <p:nvPr/>
        </p:nvSpPr>
        <p:spPr>
          <a:xfrm>
            <a:off x="704088" y="2103120"/>
            <a:ext cx="5052059" cy="1033271"/>
          </a:xfrm>
          <a:prstGeom prst="rect">
            <a:avLst/>
          </a:prstGeom>
          <a:noFill/>
        </p:spPr>
        <p:txBody>
          <a:bodyPr wrap="square" lIns="0" rIns="0" tIns="0" bIns="0" anchor="t">
            <a:spAutoFit/>
          </a:bodyPr>
          <a:lstStyle/>
          <a:p>
            <a:pPr algn="l">
              <a:lnSpc>
                <a:spcPct val="125000"/>
              </a:lnSpc>
              <a:spcAft>
                <a:spcPts val="600"/>
              </a:spcAft>
            </a:pPr>
            <a:r>
              <a:rPr sz="1350" b="0" i="0">
                <a:solidFill>
                  <a:srgbClr val="21295C"/>
                </a:solidFill>
                <a:latin typeface="Arial"/>
              </a:rPr>
              <a:t>Going through several sources on a schedule</a:t>
            </a:r>
          </a:p>
          <a:p>
            <a:pPr algn="l">
              <a:lnSpc>
                <a:spcPct val="125000"/>
              </a:lnSpc>
              <a:spcAft>
                <a:spcPts val="0"/>
              </a:spcAft>
            </a:pPr>
            <a:r>
              <a:rPr sz="1350" b="0" i="0">
                <a:solidFill>
                  <a:srgbClr val="21295C"/>
                </a:solidFill>
                <a:latin typeface="Arial"/>
              </a:rPr>
              <a:t>A multi-step task involving calls to external systems</a:t>
            </a:r>
          </a:p>
        </p:txBody>
      </p:sp>
      <p:sp>
        <p:nvSpPr>
          <p:cNvPr id="7" name="Rounded Rectangle 6"/>
          <p:cNvSpPr/>
          <p:nvPr/>
        </p:nvSpPr>
        <p:spPr>
          <a:xfrm>
            <a:off x="6231636" y="1371600"/>
            <a:ext cx="5454396" cy="1783080"/>
          </a:xfrm>
          <a:prstGeom prst="roundRect">
            <a:avLst>
              <a:gd name="adj" fmla="val 6000"/>
            </a:avLst>
          </a:prstGeom>
          <a:solidFill>
            <a:srgbClr val="FBEAEA"/>
          </a:solidFill>
          <a:ln w="17780">
            <a:solidFill>
              <a:srgbClr val="B04A4A"/>
            </a:solidFill>
          </a:ln>
          <a:effectLst/>
        </p:spPr>
        <p:txBody>
          <a:bodyPr rtlCol="0" anchor="ctr"/>
          <a:lstStyle/>
          <a:p>
            <a:pPr algn="ctr"/>
          </a:p>
        </p:txBody>
      </p:sp>
      <p:pic>
        <p:nvPicPr>
          <p:cNvPr id="8" name="Picture 7" descr="x-circle-21295C-64.png"/>
          <p:cNvPicPr>
            <a:picLocks noChangeAspect="1"/>
          </p:cNvPicPr>
          <p:nvPr/>
        </p:nvPicPr>
        <p:blipFill>
          <a:blip r:embed="rId3"/>
          <a:stretch>
            <a:fillRect/>
          </a:stretch>
        </p:blipFill>
        <p:spPr>
          <a:xfrm>
            <a:off x="6432803" y="1572768"/>
            <a:ext cx="365760" cy="365760"/>
          </a:xfrm>
          <a:prstGeom prst="rect">
            <a:avLst/>
          </a:prstGeom>
        </p:spPr>
      </p:pic>
      <p:sp>
        <p:nvSpPr>
          <p:cNvPr id="9" name="TextBox 8"/>
          <p:cNvSpPr txBox="1"/>
          <p:nvPr/>
        </p:nvSpPr>
        <p:spPr>
          <a:xfrm>
            <a:off x="6908292" y="1554480"/>
            <a:ext cx="4576571" cy="411480"/>
          </a:xfrm>
          <a:prstGeom prst="rect">
            <a:avLst/>
          </a:prstGeom>
          <a:noFill/>
        </p:spPr>
        <p:txBody>
          <a:bodyPr wrap="square" lIns="0" rIns="0" tIns="0" bIns="0" anchor="ctr">
            <a:spAutoFit/>
          </a:bodyPr>
          <a:lstStyle/>
          <a:p>
            <a:pPr algn="l">
              <a:lnSpc>
                <a:spcPct val="110000"/>
              </a:lnSpc>
            </a:pPr>
            <a:r>
              <a:rPr sz="1500" b="1" i="0">
                <a:solidFill>
                  <a:srgbClr val="21295C"/>
                </a:solidFill>
                <a:latin typeface="Arial"/>
              </a:rPr>
              <a:t>RAG — not needed</a:t>
            </a:r>
          </a:p>
        </p:txBody>
      </p:sp>
      <p:sp>
        <p:nvSpPr>
          <p:cNvPr id="10" name="TextBox 9"/>
          <p:cNvSpPr txBox="1"/>
          <p:nvPr/>
        </p:nvSpPr>
        <p:spPr>
          <a:xfrm>
            <a:off x="6432803" y="2103120"/>
            <a:ext cx="5052059" cy="1033271"/>
          </a:xfrm>
          <a:prstGeom prst="rect">
            <a:avLst/>
          </a:prstGeom>
          <a:noFill/>
        </p:spPr>
        <p:txBody>
          <a:bodyPr wrap="square" lIns="0" rIns="0" tIns="0" bIns="0" anchor="t">
            <a:spAutoFit/>
          </a:bodyPr>
          <a:lstStyle/>
          <a:p>
            <a:pPr algn="l">
              <a:lnSpc>
                <a:spcPct val="125000"/>
              </a:lnSpc>
              <a:spcAft>
                <a:spcPts val="600"/>
              </a:spcAft>
            </a:pPr>
            <a:r>
              <a:rPr sz="1350" b="0" i="0">
                <a:solidFill>
                  <a:srgbClr val="21295C"/>
                </a:solidFill>
                <a:latin typeface="Arial"/>
              </a:rPr>
              <a:t>Sources are crawled directly on a schedule, not on an arbitrary query</a:t>
            </a:r>
          </a:p>
          <a:p>
            <a:pPr algn="l">
              <a:lnSpc>
                <a:spcPct val="125000"/>
              </a:lnSpc>
              <a:spcAft>
                <a:spcPts val="0"/>
              </a:spcAft>
            </a:pPr>
            <a:r>
              <a:rPr sz="1350" b="0" i="0">
                <a:solidFill>
                  <a:srgbClr val="21295C"/>
                </a:solidFill>
                <a:latin typeface="Arial"/>
              </a:rPr>
              <a:t>Summarization — a single model call after collection</a:t>
            </a:r>
          </a:p>
        </p:txBody>
      </p:sp>
      <p:sp>
        <p:nvSpPr>
          <p:cNvPr id="11" name="Rounded Rectangle 10"/>
          <p:cNvSpPr/>
          <p:nvPr/>
        </p:nvSpPr>
        <p:spPr>
          <a:xfrm>
            <a:off x="502920" y="3474720"/>
            <a:ext cx="11183112" cy="1051560"/>
          </a:xfrm>
          <a:prstGeom prst="roundRect">
            <a:avLst>
              <a:gd name="adj" fmla="val 25000"/>
            </a:avLst>
          </a:prstGeom>
          <a:solidFill>
            <a:srgbClr val="FEF5E0"/>
          </a:solidFill>
          <a:ln w="17780">
            <a:solidFill>
              <a:srgbClr val="F0AB00"/>
            </a:solidFill>
          </a:ln>
          <a:effectLst/>
        </p:spPr>
        <p:txBody>
          <a:bodyPr rtlCol="0" anchor="ctr"/>
          <a:lstStyle/>
          <a:p>
            <a:pPr algn="ctr"/>
          </a:p>
        </p:txBody>
      </p:sp>
      <p:sp>
        <p:nvSpPr>
          <p:cNvPr id="12" name="TextBox 11"/>
          <p:cNvSpPr txBox="1"/>
          <p:nvPr/>
        </p:nvSpPr>
        <p:spPr>
          <a:xfrm>
            <a:off x="777240" y="3474720"/>
            <a:ext cx="10607040" cy="1051560"/>
          </a:xfrm>
          <a:prstGeom prst="rect">
            <a:avLst/>
          </a:prstGeom>
          <a:noFill/>
        </p:spPr>
        <p:txBody>
          <a:bodyPr wrap="square" lIns="0" rIns="0" tIns="0" bIns="0" anchor="ctr">
            <a:spAutoFit/>
          </a:bodyPr>
          <a:lstStyle/>
          <a:p>
            <a:pPr algn="l">
              <a:lnSpc>
                <a:spcPct val="115000"/>
              </a:lnSpc>
            </a:pPr>
            <a:r>
              <a:rPr sz="2000" b="1" i="1">
                <a:solidFill>
                  <a:srgbClr val="21295C"/>
                </a:solidFill>
                <a:latin typeface="Arial"/>
              </a:rPr>
              <a:t>Many sources isn't the same thing as RAG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1183112" cy="91440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RAG and an agent in production</a:t>
            </a:r>
          </a:p>
        </p:txBody>
      </p:sp>
      <p:sp>
        <p:nvSpPr>
          <p:cNvPr id="3" name="Rounded Rectangle 2"/>
          <p:cNvSpPr/>
          <p:nvPr/>
        </p:nvSpPr>
        <p:spPr>
          <a:xfrm>
            <a:off x="502920" y="1234440"/>
            <a:ext cx="5454396" cy="3246120"/>
          </a:xfrm>
          <a:prstGeom prst="roundRect">
            <a:avLst>
              <a:gd name="adj" fmla="val 6000"/>
            </a:avLst>
          </a:prstGeom>
          <a:solidFill>
            <a:srgbClr val="E9F5F2"/>
          </a:solidFill>
          <a:ln w="17780">
            <a:solidFill>
              <a:srgbClr val="028090"/>
            </a:solidFill>
          </a:ln>
          <a:effectLst/>
        </p:spPr>
        <p:txBody>
          <a:bodyPr rtlCol="0" anchor="ctr"/>
          <a:lstStyle/>
          <a:p>
            <a:pPr algn="ctr"/>
          </a:p>
        </p:txBody>
      </p:sp>
      <p:pic>
        <p:nvPicPr>
          <p:cNvPr id="4" name="Picture 3" descr="circle-check-028090-64.png"/>
          <p:cNvPicPr>
            <a:picLocks noChangeAspect="1"/>
          </p:cNvPicPr>
          <p:nvPr/>
        </p:nvPicPr>
        <p:blipFill>
          <a:blip r:embed="rId2"/>
          <a:stretch>
            <a:fillRect/>
          </a:stretch>
        </p:blipFill>
        <p:spPr>
          <a:xfrm>
            <a:off x="704088" y="1435608"/>
            <a:ext cx="365760" cy="365760"/>
          </a:xfrm>
          <a:prstGeom prst="rect">
            <a:avLst/>
          </a:prstGeom>
        </p:spPr>
      </p:pic>
      <p:sp>
        <p:nvSpPr>
          <p:cNvPr id="5" name="TextBox 4"/>
          <p:cNvSpPr txBox="1"/>
          <p:nvPr/>
        </p:nvSpPr>
        <p:spPr>
          <a:xfrm>
            <a:off x="1179576" y="1417320"/>
            <a:ext cx="4576571" cy="411480"/>
          </a:xfrm>
          <a:prstGeom prst="rect">
            <a:avLst/>
          </a:prstGeom>
          <a:noFill/>
        </p:spPr>
        <p:txBody>
          <a:bodyPr wrap="square" lIns="0" rIns="0" tIns="0" bIns="0" anchor="ctr">
            <a:spAutoFit/>
          </a:bodyPr>
          <a:lstStyle/>
          <a:p>
            <a:pPr algn="l">
              <a:lnSpc>
                <a:spcPct val="110000"/>
              </a:lnSpc>
            </a:pPr>
            <a:r>
              <a:rPr sz="1500" b="1" i="0">
                <a:solidFill>
                  <a:srgbClr val="21295C"/>
                </a:solidFill>
                <a:latin typeface="Arial"/>
              </a:rPr>
              <a:t>AI @ Morgan Stanley Assistant</a:t>
            </a:r>
          </a:p>
        </p:txBody>
      </p:sp>
      <p:sp>
        <p:nvSpPr>
          <p:cNvPr id="6" name="TextBox 5"/>
          <p:cNvSpPr txBox="1"/>
          <p:nvPr/>
        </p:nvSpPr>
        <p:spPr>
          <a:xfrm>
            <a:off x="704088" y="1965960"/>
            <a:ext cx="5052059" cy="2496311"/>
          </a:xfrm>
          <a:prstGeom prst="rect">
            <a:avLst/>
          </a:prstGeom>
          <a:noFill/>
        </p:spPr>
        <p:txBody>
          <a:bodyPr wrap="square" lIns="0" rIns="0" tIns="0" bIns="0" anchor="t">
            <a:spAutoFit/>
          </a:bodyPr>
          <a:lstStyle/>
          <a:p>
            <a:pPr algn="l">
              <a:lnSpc>
                <a:spcPct val="125000"/>
              </a:lnSpc>
              <a:spcAft>
                <a:spcPts val="600"/>
              </a:spcAft>
            </a:pPr>
            <a:r>
              <a:rPr sz="1250" b="0" i="0">
                <a:solidFill>
                  <a:srgbClr val="21295C"/>
                </a:solidFill>
                <a:latin typeface="Arial"/>
              </a:rPr>
              <a:t>Partnership with OpenAI (March 2023), launched in September 2023</a:t>
            </a:r>
          </a:p>
          <a:p>
            <a:pPr algn="l">
              <a:lnSpc>
                <a:spcPct val="125000"/>
              </a:lnSpc>
              <a:spcAft>
                <a:spcPts val="600"/>
              </a:spcAft>
            </a:pPr>
            <a:r>
              <a:rPr sz="1250" b="0" i="0">
                <a:solidFill>
                  <a:srgbClr val="21295C"/>
                </a:solidFill>
                <a:latin typeface="Arial"/>
              </a:rPr>
              <a:t>RAG over a base of ~100,000 research documents</a:t>
            </a:r>
          </a:p>
          <a:p>
            <a:pPr algn="l">
              <a:lnSpc>
                <a:spcPct val="125000"/>
              </a:lnSpc>
              <a:spcAft>
                <a:spcPts val="600"/>
              </a:spcAft>
            </a:pPr>
            <a:r>
              <a:rPr sz="1250" b="0" i="0">
                <a:solidFill>
                  <a:srgbClr val="21295C"/>
                </a:solidFill>
                <a:latin typeface="Arial"/>
              </a:rPr>
              <a:t>By mid-2024 — used by more than 98% of financial-advisor teams</a:t>
            </a:r>
          </a:p>
          <a:p>
            <a:pPr algn="l">
              <a:lnSpc>
                <a:spcPct val="125000"/>
              </a:lnSpc>
              <a:spcAft>
                <a:spcPts val="0"/>
              </a:spcAft>
            </a:pPr>
            <a:r>
              <a:rPr sz="1300" b="1" i="0">
                <a:solidFill>
                  <a:srgbClr val="21295C"/>
                </a:solidFill>
                <a:latin typeface="Arial"/>
              </a:rPr>
              <a:t>Findability of the needed document: 20% → 80%</a:t>
            </a:r>
          </a:p>
        </p:txBody>
      </p:sp>
      <p:sp>
        <p:nvSpPr>
          <p:cNvPr id="7" name="Rounded Rectangle 6"/>
          <p:cNvSpPr/>
          <p:nvPr/>
        </p:nvSpPr>
        <p:spPr>
          <a:xfrm>
            <a:off x="6231636" y="1234440"/>
            <a:ext cx="5454396" cy="3246120"/>
          </a:xfrm>
          <a:prstGeom prst="roundRect">
            <a:avLst>
              <a:gd name="adj" fmla="val 6000"/>
            </a:avLst>
          </a:prstGeom>
          <a:solidFill>
            <a:srgbClr val="FBEAEA"/>
          </a:solidFill>
          <a:ln w="17780">
            <a:solidFill>
              <a:srgbClr val="B04A4A"/>
            </a:solidFill>
          </a:ln>
          <a:effectLst/>
        </p:spPr>
        <p:txBody>
          <a:bodyPr rtlCol="0" anchor="ctr"/>
          <a:lstStyle/>
          <a:p>
            <a:pPr algn="ctr"/>
          </a:p>
        </p:txBody>
      </p:sp>
      <p:pic>
        <p:nvPicPr>
          <p:cNvPr id="8" name="Picture 7" descr="x-circle-21295C-64.png"/>
          <p:cNvPicPr>
            <a:picLocks noChangeAspect="1"/>
          </p:cNvPicPr>
          <p:nvPr/>
        </p:nvPicPr>
        <p:blipFill>
          <a:blip r:embed="rId3"/>
          <a:stretch>
            <a:fillRect/>
          </a:stretch>
        </p:blipFill>
        <p:spPr>
          <a:xfrm>
            <a:off x="6432803" y="1435608"/>
            <a:ext cx="365760" cy="365760"/>
          </a:xfrm>
          <a:prstGeom prst="rect">
            <a:avLst/>
          </a:prstGeom>
        </p:spPr>
      </p:pic>
      <p:sp>
        <p:nvSpPr>
          <p:cNvPr id="9" name="TextBox 8"/>
          <p:cNvSpPr txBox="1"/>
          <p:nvPr/>
        </p:nvSpPr>
        <p:spPr>
          <a:xfrm>
            <a:off x="6908292" y="1417320"/>
            <a:ext cx="4576571" cy="411480"/>
          </a:xfrm>
          <a:prstGeom prst="rect">
            <a:avLst/>
          </a:prstGeom>
          <a:noFill/>
        </p:spPr>
        <p:txBody>
          <a:bodyPr wrap="square" lIns="0" rIns="0" tIns="0" bIns="0" anchor="ctr">
            <a:spAutoFit/>
          </a:bodyPr>
          <a:lstStyle/>
          <a:p>
            <a:pPr algn="l">
              <a:lnSpc>
                <a:spcPct val="110000"/>
              </a:lnSpc>
            </a:pPr>
            <a:r>
              <a:rPr sz="1500" b="1" i="0">
                <a:solidFill>
                  <a:srgbClr val="21295C"/>
                </a:solidFill>
                <a:latin typeface="Arial"/>
              </a:rPr>
              <a:t>Replit, July 2025</a:t>
            </a:r>
          </a:p>
        </p:txBody>
      </p:sp>
      <p:sp>
        <p:nvSpPr>
          <p:cNvPr id="10" name="TextBox 9"/>
          <p:cNvSpPr txBox="1"/>
          <p:nvPr/>
        </p:nvSpPr>
        <p:spPr>
          <a:xfrm>
            <a:off x="6432803" y="1965960"/>
            <a:ext cx="5052059" cy="2496311"/>
          </a:xfrm>
          <a:prstGeom prst="rect">
            <a:avLst/>
          </a:prstGeom>
          <a:noFill/>
        </p:spPr>
        <p:txBody>
          <a:bodyPr wrap="square" lIns="0" rIns="0" tIns="0" bIns="0" anchor="t">
            <a:spAutoFit/>
          </a:bodyPr>
          <a:lstStyle/>
          <a:p>
            <a:pPr algn="l">
              <a:lnSpc>
                <a:spcPct val="125000"/>
              </a:lnSpc>
              <a:spcAft>
                <a:spcPts val="600"/>
              </a:spcAft>
            </a:pPr>
            <a:r>
              <a:rPr sz="1250" b="0" i="0">
                <a:solidFill>
                  <a:srgbClr val="21295C"/>
                </a:solidFill>
                <a:latin typeface="Arial"/>
              </a:rPr>
              <a:t>An agent deleted a production database (~1,200 company executives affected) during a code freeze, against a direct instruction</a:t>
            </a:r>
          </a:p>
          <a:p>
            <a:pPr algn="l">
              <a:lnSpc>
                <a:spcPct val="125000"/>
              </a:lnSpc>
              <a:spcAft>
                <a:spcPts val="600"/>
              </a:spcAft>
            </a:pPr>
            <a:r>
              <a:rPr sz="1250" b="0" i="0">
                <a:solidFill>
                  <a:srgbClr val="21295C"/>
                </a:solidFill>
                <a:latin typeface="Arial"/>
              </a:rPr>
              <a:t>Then incorrectly claimed a rollback was impossible — the data was restored</a:t>
            </a:r>
          </a:p>
          <a:p>
            <a:pPr algn="l">
              <a:lnSpc>
                <a:spcPct val="125000"/>
              </a:lnSpc>
              <a:spcAft>
                <a:spcPts val="0"/>
              </a:spcAft>
            </a:pPr>
            <a:r>
              <a:rPr sz="1250" b="1" i="0">
                <a:solidFill>
                  <a:srgbClr val="21295C"/>
                </a:solidFill>
                <a:latin typeface="Arial"/>
              </a:rPr>
              <a:t>After the incident: dev/prod split + agent "planning-only" mode</a:t>
            </a:r>
          </a:p>
        </p:txBody>
      </p:sp>
      <p:sp>
        <p:nvSpPr>
          <p:cNvPr id="11" name="TextBox 10"/>
          <p:cNvSpPr txBox="1"/>
          <p:nvPr/>
        </p:nvSpPr>
        <p:spPr>
          <a:xfrm>
            <a:off x="502920" y="4681728"/>
            <a:ext cx="11183112" cy="36576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Also: Octomind — dropped LangChain after a year in production, went back to direct calls (06/17/2024)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1295C"/>
        </a:solidFill>
        <a:effectLst/>
      </p:bgPr>
    </p:bg>
    <p:spTree>
      <p:nvGrpSpPr>
        <p:cNvPr id="1" name=""/>
        <p:cNvGrpSpPr/>
        <p:nvPr/>
      </p:nvGrpSpPr>
      <p:grpSpPr/>
      <p:pic>
        <p:nvPicPr>
          <p:cNvPr id="2" name="Picture 1" descr="s30-divider-datacenter-real.jpg"/>
          <p:cNvPicPr>
            <a:picLocks noChangeAspect="1"/>
          </p:cNvPicPr>
          <p:nvPr/>
        </p:nvPicPr>
        <p:blipFill>
          <a:blip r:embed="rId2"/>
          <a:srcRect t="14843" b="14843"/>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21295C">
              <a:alpha val="78000"/>
            </a:srgbClr>
          </a:solidFill>
          <a:ln>
            <a:noFill/>
          </a:ln>
          <a:effectLst/>
        </p:spPr>
        <p:txBody>
          <a:bodyPr rtlCol="0" anchor="ctr"/>
          <a:lstStyle/>
          <a:p>
            <a:pPr algn="ctr"/>
          </a:p>
        </p:txBody>
      </p:sp>
      <p:sp>
        <p:nvSpPr>
          <p:cNvPr id="4" name="TextBox 3"/>
          <p:cNvSpPr txBox="1"/>
          <p:nvPr/>
        </p:nvSpPr>
        <p:spPr>
          <a:xfrm>
            <a:off x="-91440" y="-594360"/>
            <a:ext cx="5486400" cy="3291840"/>
          </a:xfrm>
          <a:prstGeom prst="rect">
            <a:avLst/>
          </a:prstGeom>
          <a:noFill/>
        </p:spPr>
        <p:txBody>
          <a:bodyPr wrap="square" lIns="0" rIns="0" tIns="0" bIns="0" anchor="b">
            <a:spAutoFit/>
          </a:bodyPr>
          <a:lstStyle/>
          <a:p>
            <a:pPr algn="l">
              <a:lnSpc>
                <a:spcPct val="90000"/>
              </a:lnSpc>
            </a:pPr>
            <a:r>
              <a:rPr sz="28000" b="1" i="0">
                <a:solidFill>
                  <a:srgbClr val="3A4474"/>
                </a:solidFill>
                <a:latin typeface="Arial"/>
              </a:rPr>
              <a:t>4</a:t>
            </a:r>
          </a:p>
        </p:txBody>
      </p:sp>
      <p:sp>
        <p:nvSpPr>
          <p:cNvPr id="5" name="Rounded Rectangle 4"/>
          <p:cNvSpPr/>
          <p:nvPr/>
        </p:nvSpPr>
        <p:spPr>
          <a:xfrm>
            <a:off x="1965960" y="1600200"/>
            <a:ext cx="201168" cy="201168"/>
          </a:xfrm>
          <a:prstGeom prst="roundRect">
            <a:avLst>
              <a:gd name="adj" fmla="val 50000"/>
            </a:avLst>
          </a:prstGeom>
          <a:solidFill>
            <a:srgbClr val="F0AB00"/>
          </a:solidFill>
          <a:ln>
            <a:noFill/>
          </a:ln>
          <a:effectLst/>
        </p:spPr>
        <p:txBody>
          <a:bodyPr rtlCol="0" anchor="ctr"/>
          <a:lstStyle/>
          <a:p>
            <a:pPr algn="ctr"/>
          </a:p>
        </p:txBody>
      </p:sp>
      <p:sp>
        <p:nvSpPr>
          <p:cNvPr id="6" name="TextBox 5"/>
          <p:cNvSpPr txBox="1"/>
          <p:nvPr/>
        </p:nvSpPr>
        <p:spPr>
          <a:xfrm>
            <a:off x="548640" y="2880360"/>
            <a:ext cx="10607040" cy="1371600"/>
          </a:xfrm>
          <a:prstGeom prst="rect">
            <a:avLst/>
          </a:prstGeom>
          <a:noFill/>
        </p:spPr>
        <p:txBody>
          <a:bodyPr wrap="square" lIns="0" rIns="0" tIns="0" bIns="0" anchor="t">
            <a:spAutoFit/>
          </a:bodyPr>
          <a:lstStyle/>
          <a:p>
            <a:pPr algn="l">
              <a:lnSpc>
                <a:spcPct val="110000"/>
              </a:lnSpc>
            </a:pPr>
            <a:r>
              <a:rPr sz="4000" b="1" i="0">
                <a:solidFill>
                  <a:srgbClr val="FFFFFF"/>
                </a:solidFill>
                <a:latin typeface="Arial"/>
              </a:rPr>
              <a:t>External API or local inference?</a:t>
            </a:r>
          </a:p>
        </p:txBody>
      </p:sp>
      <p:sp>
        <p:nvSpPr>
          <p:cNvPr id="7" name="Rounded Rectangle 6"/>
          <p:cNvSpPr/>
          <p:nvPr/>
        </p:nvSpPr>
        <p:spPr>
          <a:xfrm>
            <a:off x="566928" y="4343400"/>
            <a:ext cx="5120640" cy="502920"/>
          </a:xfrm>
          <a:prstGeom prst="roundRect">
            <a:avLst>
              <a:gd name="adj" fmla="val 50000"/>
            </a:avLst>
          </a:prstGeom>
          <a:solidFill>
            <a:srgbClr val="065A82"/>
          </a:solidFill>
          <a:ln>
            <a:noFill/>
          </a:ln>
          <a:effectLst/>
        </p:spPr>
        <p:txBody>
          <a:bodyPr rtlCol="0" anchor="ctr" lIns="45720" rIns="45720" tIns="27432" bIns="27432" wrap="none"/>
          <a:lstStyle/>
          <a:p>
            <a:pPr algn="ctr"/>
            <a:r>
              <a:rPr sz="1500" b="1">
                <a:solidFill>
                  <a:srgbClr val="FFFFFF"/>
                </a:solidFill>
                <a:latin typeface="Arial"/>
              </a:rPr>
              <a:t>Case: sales calls</a:t>
            </a:r>
          </a:p>
        </p:txBody>
      </p:sp>
      <p:sp>
        <p:nvSpPr>
          <p:cNvPr id="8" name="TextBox 7"/>
          <p:cNvSpPr txBox="1"/>
          <p:nvPr/>
        </p:nvSpPr>
        <p:spPr>
          <a:xfrm>
            <a:off x="566928" y="5074920"/>
            <a:ext cx="9875520" cy="640080"/>
          </a:xfrm>
          <a:prstGeom prst="rect">
            <a:avLst/>
          </a:prstGeom>
          <a:noFill/>
        </p:spPr>
        <p:txBody>
          <a:bodyPr wrap="square" lIns="0" rIns="0" tIns="0" bIns="0" anchor="t">
            <a:spAutoFit/>
          </a:bodyPr>
          <a:lstStyle/>
          <a:p>
            <a:pPr algn="l">
              <a:lnSpc>
                <a:spcPct val="130000"/>
              </a:lnSpc>
            </a:pPr>
            <a:r>
              <a:rPr sz="1450" b="0" i="1">
                <a:solidFill>
                  <a:srgbClr val="C8D2DF"/>
                </a:solidFill>
                <a:latin typeface="Arial"/>
              </a:rPr>
              <a:t>This is about where the data is physically processed, not which model is better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1183112" cy="4114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Sales calls</a:t>
            </a:r>
          </a:p>
        </p:txBody>
      </p:sp>
      <p:sp>
        <p:nvSpPr>
          <p:cNvPr id="3" name="Rounded Rectangle 2"/>
          <p:cNvSpPr/>
          <p:nvPr/>
        </p:nvSpPr>
        <p:spPr>
          <a:xfrm>
            <a:off x="502920" y="713232"/>
            <a:ext cx="11183112" cy="2377440"/>
          </a:xfrm>
          <a:prstGeom prst="roundRect">
            <a:avLst>
              <a:gd name="adj" fmla="val 12820"/>
            </a:avLst>
          </a:prstGeom>
          <a:solidFill>
            <a:srgbClr val="F4F7FA"/>
          </a:solidFill>
          <a:ln w="19050">
            <a:solidFill>
              <a:srgbClr val="1C7293"/>
            </a:solidFill>
          </a:ln>
          <a:effectLst/>
        </p:spPr>
        <p:txBody>
          <a:bodyPr rtlCol="0" anchor="ctr"/>
          <a:lstStyle/>
          <a:p>
            <a:pPr algn="ctr"/>
          </a:p>
        </p:txBody>
      </p:sp>
      <p:pic>
        <p:nvPicPr>
          <p:cNvPr id="4" name="Picture 3" descr="quote-1C7293-64.png"/>
          <p:cNvPicPr>
            <a:picLocks noChangeAspect="1"/>
          </p:cNvPicPr>
          <p:nvPr/>
        </p:nvPicPr>
        <p:blipFill>
          <a:blip r:embed="rId2"/>
          <a:stretch>
            <a:fillRect/>
          </a:stretch>
        </p:blipFill>
        <p:spPr>
          <a:xfrm>
            <a:off x="722376" y="886968"/>
            <a:ext cx="292608" cy="292608"/>
          </a:xfrm>
          <a:prstGeom prst="rect">
            <a:avLst/>
          </a:prstGeom>
        </p:spPr>
      </p:pic>
      <p:sp>
        <p:nvSpPr>
          <p:cNvPr id="5" name="TextBox 4"/>
          <p:cNvSpPr txBox="1"/>
          <p:nvPr/>
        </p:nvSpPr>
        <p:spPr>
          <a:xfrm>
            <a:off x="722376" y="1225296"/>
            <a:ext cx="10287000" cy="1645920"/>
          </a:xfrm>
          <a:prstGeom prst="rect">
            <a:avLst/>
          </a:prstGeom>
          <a:noFill/>
        </p:spPr>
        <p:txBody>
          <a:bodyPr wrap="square" lIns="0" rIns="0" tIns="0" bIns="0" anchor="t">
            <a:spAutoFit/>
          </a:bodyPr>
          <a:lstStyle/>
          <a:p>
            <a:pPr algn="l">
              <a:lnSpc>
                <a:spcPct val="128000"/>
              </a:lnSpc>
            </a:pPr>
            <a:r>
              <a:rPr sz="1400" b="0" i="1">
                <a:solidFill>
                  <a:srgbClr val="21295C"/>
                </a:solidFill>
                <a:latin typeface="Arial"/>
              </a:rPr>
              <a:t>"I want a card for every manager's call: need, objections, agreements. Managers rewind the recording, hunting for where they left off last time. There are 8 managers in the department, 15-20 calls a day each, the phone system writes the conversation to mp3 and drops the file into the cloud by itself — no need to pull it out manually. Our CRM is Bitrix24, open REST API. The department's analysts already use a cloud AI over the API for quarterly report drafts. The CRM, by the way, also needs cleaning up from duplicate contacts at some point, but that's a separate headache."</a:t>
            </a:r>
          </a:p>
        </p:txBody>
      </p:sp>
      <p:sp>
        <p:nvSpPr>
          <p:cNvPr id="6" name="Rounded Rectangle 5"/>
          <p:cNvSpPr/>
          <p:nvPr/>
        </p:nvSpPr>
        <p:spPr>
          <a:xfrm>
            <a:off x="11009376" y="886968"/>
            <a:ext cx="457200" cy="457200"/>
          </a:xfrm>
          <a:prstGeom prst="roundRect">
            <a:avLst>
              <a:gd name="adj" fmla="val 50000"/>
            </a:avLst>
          </a:prstGeom>
          <a:solidFill>
            <a:srgbClr val="F4F7FA"/>
          </a:solidFill>
          <a:ln w="16510">
            <a:solidFill>
              <a:srgbClr val="028090"/>
            </a:solidFill>
          </a:ln>
          <a:effectLst/>
        </p:spPr>
        <p:txBody>
          <a:bodyPr rtlCol="0" anchor="ctr"/>
          <a:lstStyle/>
          <a:p>
            <a:pPr algn="ctr"/>
          </a:p>
        </p:txBody>
      </p:sp>
      <p:pic>
        <p:nvPicPr>
          <p:cNvPr id="7" name="Picture 6" descr="briefcase-028090-64.png"/>
          <p:cNvPicPr>
            <a:picLocks noChangeAspect="1"/>
          </p:cNvPicPr>
          <p:nvPr/>
        </p:nvPicPr>
        <p:blipFill>
          <a:blip r:embed="rId3"/>
          <a:stretch>
            <a:fillRect/>
          </a:stretch>
        </p:blipFill>
        <p:spPr>
          <a:xfrm>
            <a:off x="11091672" y="969264"/>
            <a:ext cx="292608" cy="292608"/>
          </a:xfrm>
          <a:prstGeom prst="rect">
            <a:avLst/>
          </a:prstGeom>
        </p:spPr>
      </p:pic>
      <p:sp>
        <p:nvSpPr>
          <p:cNvPr id="8" name="Rounded Rectangle 7"/>
          <p:cNvSpPr/>
          <p:nvPr/>
        </p:nvSpPr>
        <p:spPr>
          <a:xfrm>
            <a:off x="502920" y="3273552"/>
            <a:ext cx="11183112" cy="1005840"/>
          </a:xfrm>
          <a:prstGeom prst="roundRect">
            <a:avLst>
              <a:gd name="adj" fmla="val 25000"/>
            </a:avLst>
          </a:prstGeom>
          <a:solidFill>
            <a:srgbClr val="F4F7FA"/>
          </a:solidFill>
          <a:ln w="19050">
            <a:solidFill>
              <a:srgbClr val="1C7293"/>
            </a:solidFill>
          </a:ln>
          <a:effectLst/>
        </p:spPr>
        <p:txBody>
          <a:bodyPr rtlCol="0" anchor="ctr"/>
          <a:lstStyle/>
          <a:p>
            <a:pPr algn="ctr"/>
          </a:p>
        </p:txBody>
      </p:sp>
      <p:pic>
        <p:nvPicPr>
          <p:cNvPr id="9" name="Picture 8" descr="phone-065A82-96.png"/>
          <p:cNvPicPr>
            <a:picLocks noChangeAspect="1"/>
          </p:cNvPicPr>
          <p:nvPr/>
        </p:nvPicPr>
        <p:blipFill>
          <a:blip r:embed="rId4"/>
          <a:stretch>
            <a:fillRect/>
          </a:stretch>
        </p:blipFill>
        <p:spPr>
          <a:xfrm>
            <a:off x="822960" y="3479292"/>
            <a:ext cx="594360" cy="594360"/>
          </a:xfrm>
          <a:prstGeom prst="rect">
            <a:avLst/>
          </a:prstGeom>
        </p:spPr>
      </p:pic>
      <p:sp>
        <p:nvSpPr>
          <p:cNvPr id="10" name="TextBox 9"/>
          <p:cNvSpPr txBox="1"/>
          <p:nvPr/>
        </p:nvSpPr>
        <p:spPr>
          <a:xfrm>
            <a:off x="1691640" y="3273552"/>
            <a:ext cx="9692640" cy="1005840"/>
          </a:xfrm>
          <a:prstGeom prst="rect">
            <a:avLst/>
          </a:prstGeom>
          <a:noFill/>
        </p:spPr>
        <p:txBody>
          <a:bodyPr wrap="square" lIns="0" rIns="0" tIns="0" bIns="0" anchor="ctr">
            <a:spAutoFit/>
          </a:bodyPr>
          <a:lstStyle/>
          <a:p>
            <a:pPr algn="l">
              <a:lnSpc>
                <a:spcPct val="130000"/>
              </a:lnSpc>
            </a:pPr>
            <a:r>
              <a:rPr sz="1550" b="0" i="1">
                <a:solidFill>
                  <a:srgbClr val="21295C"/>
                </a:solidFill>
                <a:latin typeface="Arial"/>
              </a:rPr>
              <a:t>8 managers, 15-20 calls a day each, recordings sit in the phone system</a:t>
            </a:r>
          </a:p>
        </p:txBody>
      </p:sp>
      <p:sp>
        <p:nvSpPr>
          <p:cNvPr id="11" name="Rounded Rectangle 10"/>
          <p:cNvSpPr/>
          <p:nvPr/>
        </p:nvSpPr>
        <p:spPr>
          <a:xfrm>
            <a:off x="502920" y="4462272"/>
            <a:ext cx="11183112" cy="2258568"/>
          </a:xfrm>
          <a:prstGeom prst="roundRect">
            <a:avLst>
              <a:gd name="adj" fmla="val 13495"/>
            </a:avLst>
          </a:prstGeom>
          <a:solidFill>
            <a:srgbClr val="FEF5E0"/>
          </a:solidFill>
          <a:ln w="19050">
            <a:solidFill>
              <a:srgbClr val="F0AB00"/>
            </a:solidFill>
          </a:ln>
          <a:effectLst/>
        </p:spPr>
        <p:txBody>
          <a:bodyPr rtlCol="0" anchor="ctr"/>
          <a:lstStyle/>
          <a:p>
            <a:pPr algn="ctr"/>
          </a:p>
        </p:txBody>
      </p:sp>
      <p:sp>
        <p:nvSpPr>
          <p:cNvPr id="12" name="TextBox 11"/>
          <p:cNvSpPr txBox="1"/>
          <p:nvPr/>
        </p:nvSpPr>
        <p:spPr>
          <a:xfrm>
            <a:off x="777240" y="4462272"/>
            <a:ext cx="10607040" cy="2258568"/>
          </a:xfrm>
          <a:prstGeom prst="rect">
            <a:avLst/>
          </a:prstGeom>
          <a:noFill/>
        </p:spPr>
        <p:txBody>
          <a:bodyPr wrap="square" lIns="0" rIns="0" tIns="0" bIns="0" anchor="ctr">
            <a:spAutoFit/>
          </a:bodyPr>
          <a:lstStyle/>
          <a:p>
            <a:pPr algn="l">
              <a:lnSpc>
                <a:spcPct val="115000"/>
              </a:lnSpc>
            </a:pPr>
            <a:r>
              <a:rPr sz="2000" b="1" i="0">
                <a:solidFill>
                  <a:srgbClr val="21295C"/>
                </a:solidFill>
                <a:latin typeface="Arial"/>
              </a:rPr>
              <a:t>How do you build that?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3112" cy="457200"/>
          </a:xfrm>
          <a:prstGeom prst="rect">
            <a:avLst/>
          </a:prstGeom>
          <a:noFill/>
        </p:spPr>
        <p:txBody>
          <a:bodyPr wrap="square" lIns="0" rIns="0" tIns="0" bIns="0" anchor="t">
            <a:spAutoFit/>
          </a:bodyPr>
          <a:lstStyle/>
          <a:p>
            <a:pPr algn="l">
              <a:lnSpc>
                <a:spcPct val="115000"/>
              </a:lnSpc>
            </a:pPr>
            <a:r>
              <a:rPr sz="2500" b="1" i="0">
                <a:solidFill>
                  <a:srgbClr val="21295C"/>
                </a:solidFill>
                <a:latin typeface="Arial"/>
              </a:rPr>
              <a:t>Sales calls</a:t>
            </a:r>
          </a:p>
        </p:txBody>
      </p:sp>
      <p:sp>
        <p:nvSpPr>
          <p:cNvPr id="3" name="Rounded Rectangle 2"/>
          <p:cNvSpPr/>
          <p:nvPr/>
        </p:nvSpPr>
        <p:spPr>
          <a:xfrm>
            <a:off x="502920" y="777240"/>
            <a:ext cx="11183112" cy="960120"/>
          </a:xfrm>
          <a:prstGeom prst="roundRect">
            <a:avLst>
              <a:gd name="adj" fmla="val 25000"/>
            </a:avLst>
          </a:prstGeom>
          <a:solidFill>
            <a:srgbClr val="F4F7FA"/>
          </a:solidFill>
          <a:ln w="19050">
            <a:solidFill>
              <a:srgbClr val="1C7293"/>
            </a:solidFill>
          </a:ln>
          <a:effectLst/>
        </p:spPr>
        <p:txBody>
          <a:bodyPr rtlCol="0" anchor="ctr"/>
          <a:lstStyle/>
          <a:p>
            <a:pPr algn="ctr"/>
          </a:p>
        </p:txBody>
      </p:sp>
      <p:pic>
        <p:nvPicPr>
          <p:cNvPr id="4" name="Picture 3" descr="quote-1C7293-64.png"/>
          <p:cNvPicPr>
            <a:picLocks noChangeAspect="1"/>
          </p:cNvPicPr>
          <p:nvPr/>
        </p:nvPicPr>
        <p:blipFill>
          <a:blip r:embed="rId2"/>
          <a:stretch>
            <a:fillRect/>
          </a:stretch>
        </p:blipFill>
        <p:spPr>
          <a:xfrm>
            <a:off x="722376" y="950975"/>
            <a:ext cx="292608" cy="292608"/>
          </a:xfrm>
          <a:prstGeom prst="rect">
            <a:avLst/>
          </a:prstGeom>
        </p:spPr>
      </p:pic>
      <p:sp>
        <p:nvSpPr>
          <p:cNvPr id="5" name="TextBox 4"/>
          <p:cNvSpPr txBox="1"/>
          <p:nvPr/>
        </p:nvSpPr>
        <p:spPr>
          <a:xfrm>
            <a:off x="722376" y="1289304"/>
            <a:ext cx="10287000" cy="228600"/>
          </a:xfrm>
          <a:prstGeom prst="rect">
            <a:avLst/>
          </a:prstGeom>
          <a:noFill/>
        </p:spPr>
        <p:txBody>
          <a:bodyPr wrap="square" lIns="0" rIns="0" tIns="0" bIns="0" anchor="t">
            <a:spAutoFit/>
          </a:bodyPr>
          <a:lstStyle/>
          <a:p>
            <a:pPr algn="l">
              <a:lnSpc>
                <a:spcPct val="128000"/>
              </a:lnSpc>
            </a:pPr>
            <a:r>
              <a:rPr sz="1450" b="0" i="1">
                <a:solidFill>
                  <a:srgbClr val="21295C"/>
                </a:solidFill>
                <a:latin typeface="Arial"/>
              </a:rPr>
              <a:t>"Wait. Which service are you sending these recordings to?"</a:t>
            </a:r>
          </a:p>
        </p:txBody>
      </p:sp>
      <p:sp>
        <p:nvSpPr>
          <p:cNvPr id="6" name="Rounded Rectangle 5"/>
          <p:cNvSpPr/>
          <p:nvPr/>
        </p:nvSpPr>
        <p:spPr>
          <a:xfrm>
            <a:off x="11009376" y="950975"/>
            <a:ext cx="457200" cy="457200"/>
          </a:xfrm>
          <a:prstGeom prst="roundRect">
            <a:avLst>
              <a:gd name="adj" fmla="val 50000"/>
            </a:avLst>
          </a:prstGeom>
          <a:solidFill>
            <a:srgbClr val="F4F7FA"/>
          </a:solidFill>
          <a:ln w="16510">
            <a:solidFill>
              <a:srgbClr val="028090"/>
            </a:solidFill>
          </a:ln>
          <a:effectLst/>
        </p:spPr>
        <p:txBody>
          <a:bodyPr rtlCol="0" anchor="ctr"/>
          <a:lstStyle/>
          <a:p>
            <a:pPr algn="ctr"/>
          </a:p>
        </p:txBody>
      </p:sp>
      <p:pic>
        <p:nvPicPr>
          <p:cNvPr id="7" name="Picture 6" descr="scale-028090-64.png"/>
          <p:cNvPicPr>
            <a:picLocks noChangeAspect="1"/>
          </p:cNvPicPr>
          <p:nvPr/>
        </p:nvPicPr>
        <p:blipFill>
          <a:blip r:embed="rId3"/>
          <a:stretch>
            <a:fillRect/>
          </a:stretch>
        </p:blipFill>
        <p:spPr>
          <a:xfrm>
            <a:off x="11091672" y="1033271"/>
            <a:ext cx="292608" cy="292608"/>
          </a:xfrm>
          <a:prstGeom prst="rect">
            <a:avLst/>
          </a:prstGeom>
        </p:spPr>
      </p:pic>
      <p:sp>
        <p:nvSpPr>
          <p:cNvPr id="8" name="Rounded Rectangle 7"/>
          <p:cNvSpPr/>
          <p:nvPr/>
        </p:nvSpPr>
        <p:spPr>
          <a:xfrm>
            <a:off x="502920" y="1874519"/>
            <a:ext cx="3575304" cy="2880360"/>
          </a:xfrm>
          <a:prstGeom prst="roundRect">
            <a:avLst>
              <a:gd name="adj" fmla="val 10582"/>
            </a:avLst>
          </a:prstGeom>
          <a:solidFill>
            <a:srgbClr val="F4F7FA"/>
          </a:solidFill>
          <a:ln w="19050">
            <a:solidFill>
              <a:srgbClr val="065A82"/>
            </a:solidFill>
          </a:ln>
          <a:effectLst/>
        </p:spPr>
        <p:txBody>
          <a:bodyPr rtlCol="0" anchor="ctr"/>
          <a:lstStyle/>
          <a:p>
            <a:pPr algn="ctr"/>
          </a:p>
        </p:txBody>
      </p:sp>
      <p:pic>
        <p:nvPicPr>
          <p:cNvPr id="9" name="Picture 8" descr="landmark-065A82-96.png"/>
          <p:cNvPicPr>
            <a:picLocks noChangeAspect="1"/>
          </p:cNvPicPr>
          <p:nvPr/>
        </p:nvPicPr>
        <p:blipFill>
          <a:blip r:embed="rId4"/>
          <a:stretch>
            <a:fillRect/>
          </a:stretch>
        </p:blipFill>
        <p:spPr>
          <a:xfrm>
            <a:off x="2061972" y="2039112"/>
            <a:ext cx="457200" cy="457200"/>
          </a:xfrm>
          <a:prstGeom prst="rect">
            <a:avLst/>
          </a:prstGeom>
        </p:spPr>
      </p:pic>
      <p:sp>
        <p:nvSpPr>
          <p:cNvPr id="10" name="TextBox 9"/>
          <p:cNvSpPr txBox="1"/>
          <p:nvPr/>
        </p:nvSpPr>
        <p:spPr>
          <a:xfrm>
            <a:off x="612648" y="2587752"/>
            <a:ext cx="3355848" cy="365760"/>
          </a:xfrm>
          <a:prstGeom prst="rect">
            <a:avLst/>
          </a:prstGeom>
          <a:noFill/>
        </p:spPr>
        <p:txBody>
          <a:bodyPr wrap="square" lIns="0" rIns="0" tIns="0" bIns="0" anchor="t">
            <a:spAutoFit/>
          </a:bodyPr>
          <a:lstStyle/>
          <a:p>
            <a:pPr algn="ctr">
              <a:lnSpc>
                <a:spcPct val="115000"/>
              </a:lnSpc>
            </a:pPr>
            <a:r>
              <a:rPr sz="1700" b="1" i="0">
                <a:solidFill>
                  <a:srgbClr val="065A82"/>
                </a:solidFill>
                <a:latin typeface="Arial"/>
              </a:rPr>
              <a:t>RF</a:t>
            </a:r>
          </a:p>
        </p:txBody>
      </p:sp>
      <p:sp>
        <p:nvSpPr>
          <p:cNvPr id="11" name="TextBox 10"/>
          <p:cNvSpPr txBox="1"/>
          <p:nvPr/>
        </p:nvSpPr>
        <p:spPr>
          <a:xfrm>
            <a:off x="667512" y="3063239"/>
            <a:ext cx="3246120" cy="1600200"/>
          </a:xfrm>
          <a:prstGeom prst="rect">
            <a:avLst/>
          </a:prstGeom>
          <a:noFill/>
        </p:spPr>
        <p:txBody>
          <a:bodyPr wrap="square" lIns="0" rIns="0" tIns="0" bIns="0" anchor="t">
            <a:spAutoFit/>
          </a:bodyPr>
          <a:lstStyle/>
          <a:p>
            <a:pPr algn="l">
              <a:lnSpc>
                <a:spcPct val="125000"/>
              </a:lnSpc>
              <a:spcAft>
                <a:spcPts val="600"/>
              </a:spcAft>
            </a:pPr>
            <a:r>
              <a:rPr sz="1150" b="0" i="0">
                <a:solidFill>
                  <a:srgbClr val="21295C"/>
                </a:solidFill>
                <a:latin typeface="Arial"/>
              </a:rPr>
              <a:t>152-FZ + 420-FZ (as of 05/30/2025)</a:t>
            </a:r>
          </a:p>
          <a:p>
            <a:pPr algn="l">
              <a:lnSpc>
                <a:spcPct val="125000"/>
              </a:lnSpc>
              <a:spcAft>
                <a:spcPts val="600"/>
              </a:spcAft>
            </a:pPr>
            <a:r>
              <a:rPr sz="1150" b="0" i="0">
                <a:solidFill>
                  <a:srgbClr val="21295C"/>
                </a:solidFill>
                <a:latin typeface="Arial"/>
              </a:rPr>
              <a:t>First breach: fine of RUB 3-5 million</a:t>
            </a:r>
          </a:p>
          <a:p>
            <a:pPr algn="l">
              <a:lnSpc>
                <a:spcPct val="125000"/>
              </a:lnSpc>
              <a:spcAft>
                <a:spcPts val="600"/>
              </a:spcAft>
            </a:pPr>
            <a:r>
              <a:rPr sz="1150" b="0" i="0">
                <a:solidFill>
                  <a:srgbClr val="21295C"/>
                </a:solidFill>
                <a:latin typeface="Arial"/>
              </a:rPr>
              <a:t>Repeat: 1-3% of annual revenue (min. RUB 20 million, max. RUB 500 million)</a:t>
            </a:r>
          </a:p>
        </p:txBody>
      </p:sp>
      <p:sp>
        <p:nvSpPr>
          <p:cNvPr id="12" name="Rounded Rectangle 11"/>
          <p:cNvSpPr/>
          <p:nvPr/>
        </p:nvSpPr>
        <p:spPr>
          <a:xfrm>
            <a:off x="4306824" y="1874519"/>
            <a:ext cx="3575304" cy="2880360"/>
          </a:xfrm>
          <a:prstGeom prst="roundRect">
            <a:avLst>
              <a:gd name="adj" fmla="val 10582"/>
            </a:avLst>
          </a:prstGeom>
          <a:solidFill>
            <a:srgbClr val="F4F7FA"/>
          </a:solidFill>
          <a:ln w="19050">
            <a:solidFill>
              <a:srgbClr val="065A82"/>
            </a:solidFill>
          </a:ln>
          <a:effectLst/>
        </p:spPr>
        <p:txBody>
          <a:bodyPr rtlCol="0" anchor="ctr"/>
          <a:lstStyle/>
          <a:p>
            <a:pPr algn="ctr"/>
          </a:p>
        </p:txBody>
      </p:sp>
      <p:pic>
        <p:nvPicPr>
          <p:cNvPr id="13" name="Picture 12" descr="scale-065A82-96.png"/>
          <p:cNvPicPr>
            <a:picLocks noChangeAspect="1"/>
          </p:cNvPicPr>
          <p:nvPr/>
        </p:nvPicPr>
        <p:blipFill>
          <a:blip r:embed="rId5"/>
          <a:stretch>
            <a:fillRect/>
          </a:stretch>
        </p:blipFill>
        <p:spPr>
          <a:xfrm>
            <a:off x="5865876" y="2039112"/>
            <a:ext cx="457200" cy="457200"/>
          </a:xfrm>
          <a:prstGeom prst="rect">
            <a:avLst/>
          </a:prstGeom>
        </p:spPr>
      </p:pic>
      <p:sp>
        <p:nvSpPr>
          <p:cNvPr id="14" name="TextBox 13"/>
          <p:cNvSpPr txBox="1"/>
          <p:nvPr/>
        </p:nvSpPr>
        <p:spPr>
          <a:xfrm>
            <a:off x="4416552" y="2587752"/>
            <a:ext cx="3355848" cy="365760"/>
          </a:xfrm>
          <a:prstGeom prst="rect">
            <a:avLst/>
          </a:prstGeom>
          <a:noFill/>
        </p:spPr>
        <p:txBody>
          <a:bodyPr wrap="square" lIns="0" rIns="0" tIns="0" bIns="0" anchor="t">
            <a:spAutoFit/>
          </a:bodyPr>
          <a:lstStyle/>
          <a:p>
            <a:pPr algn="ctr">
              <a:lnSpc>
                <a:spcPct val="115000"/>
              </a:lnSpc>
            </a:pPr>
            <a:r>
              <a:rPr sz="1700" b="1" i="0">
                <a:solidFill>
                  <a:srgbClr val="065A82"/>
                </a:solidFill>
                <a:latin typeface="Arial"/>
              </a:rPr>
              <a:t>EU</a:t>
            </a:r>
          </a:p>
        </p:txBody>
      </p:sp>
      <p:sp>
        <p:nvSpPr>
          <p:cNvPr id="15" name="TextBox 14"/>
          <p:cNvSpPr txBox="1"/>
          <p:nvPr/>
        </p:nvSpPr>
        <p:spPr>
          <a:xfrm>
            <a:off x="4471416" y="3063239"/>
            <a:ext cx="3246120" cy="1600200"/>
          </a:xfrm>
          <a:prstGeom prst="rect">
            <a:avLst/>
          </a:prstGeom>
          <a:noFill/>
        </p:spPr>
        <p:txBody>
          <a:bodyPr wrap="square" lIns="0" rIns="0" tIns="0" bIns="0" anchor="t">
            <a:spAutoFit/>
          </a:bodyPr>
          <a:lstStyle/>
          <a:p>
            <a:pPr algn="l">
              <a:lnSpc>
                <a:spcPct val="125000"/>
              </a:lnSpc>
              <a:spcAft>
                <a:spcPts val="600"/>
              </a:spcAft>
            </a:pPr>
            <a:r>
              <a:rPr sz="1150" b="0" i="0">
                <a:solidFill>
                  <a:srgbClr val="21295C"/>
                </a:solidFill>
                <a:latin typeface="Arial"/>
              </a:rPr>
              <a:t>GDPR</a:t>
            </a:r>
          </a:p>
          <a:p>
            <a:pPr algn="l">
              <a:lnSpc>
                <a:spcPct val="125000"/>
              </a:lnSpc>
              <a:spcAft>
                <a:spcPts val="600"/>
              </a:spcAft>
            </a:pPr>
            <a:r>
              <a:rPr sz="1150" b="0" i="0">
                <a:solidFill>
                  <a:srgbClr val="21295C"/>
                </a:solidFill>
                <a:latin typeface="Arial"/>
              </a:rPr>
              <a:t>Up to €20 million or 4% of global turnover (whichever is greater)</a:t>
            </a:r>
          </a:p>
          <a:p>
            <a:pPr algn="l">
              <a:lnSpc>
                <a:spcPct val="125000"/>
              </a:lnSpc>
              <a:spcAft>
                <a:spcPts val="600"/>
              </a:spcAft>
            </a:pPr>
            <a:r>
              <a:rPr sz="1150" b="0" i="0">
                <a:solidFill>
                  <a:srgbClr val="21295C"/>
                </a:solidFill>
                <a:latin typeface="Arial"/>
              </a:rPr>
              <a:t>Record: Meta, €1.2 billion, 2023</a:t>
            </a:r>
          </a:p>
        </p:txBody>
      </p:sp>
      <p:sp>
        <p:nvSpPr>
          <p:cNvPr id="16" name="Rounded Rectangle 15"/>
          <p:cNvSpPr/>
          <p:nvPr/>
        </p:nvSpPr>
        <p:spPr>
          <a:xfrm>
            <a:off x="8110728" y="1874519"/>
            <a:ext cx="3575304" cy="2880360"/>
          </a:xfrm>
          <a:prstGeom prst="roundRect">
            <a:avLst>
              <a:gd name="adj" fmla="val 10582"/>
            </a:avLst>
          </a:prstGeom>
          <a:solidFill>
            <a:srgbClr val="F4F7FA"/>
          </a:solidFill>
          <a:ln w="19050">
            <a:solidFill>
              <a:srgbClr val="065A82"/>
            </a:solidFill>
          </a:ln>
          <a:effectLst/>
        </p:spPr>
        <p:txBody>
          <a:bodyPr rtlCol="0" anchor="ctr"/>
          <a:lstStyle/>
          <a:p>
            <a:pPr algn="ctr"/>
          </a:p>
        </p:txBody>
      </p:sp>
      <p:pic>
        <p:nvPicPr>
          <p:cNvPr id="17" name="Picture 16" descr="building-2-065A82-96.png"/>
          <p:cNvPicPr>
            <a:picLocks noChangeAspect="1"/>
          </p:cNvPicPr>
          <p:nvPr/>
        </p:nvPicPr>
        <p:blipFill>
          <a:blip r:embed="rId6"/>
          <a:stretch>
            <a:fillRect/>
          </a:stretch>
        </p:blipFill>
        <p:spPr>
          <a:xfrm>
            <a:off x="9669780" y="2039112"/>
            <a:ext cx="457200" cy="457200"/>
          </a:xfrm>
          <a:prstGeom prst="rect">
            <a:avLst/>
          </a:prstGeom>
        </p:spPr>
      </p:pic>
      <p:sp>
        <p:nvSpPr>
          <p:cNvPr id="18" name="TextBox 17"/>
          <p:cNvSpPr txBox="1"/>
          <p:nvPr/>
        </p:nvSpPr>
        <p:spPr>
          <a:xfrm>
            <a:off x="8220456" y="2587752"/>
            <a:ext cx="3355848" cy="365760"/>
          </a:xfrm>
          <a:prstGeom prst="rect">
            <a:avLst/>
          </a:prstGeom>
          <a:noFill/>
        </p:spPr>
        <p:txBody>
          <a:bodyPr wrap="square" lIns="0" rIns="0" tIns="0" bIns="0" anchor="t">
            <a:spAutoFit/>
          </a:bodyPr>
          <a:lstStyle/>
          <a:p>
            <a:pPr algn="ctr">
              <a:lnSpc>
                <a:spcPct val="115000"/>
              </a:lnSpc>
            </a:pPr>
            <a:r>
              <a:rPr sz="1700" b="1" i="0">
                <a:solidFill>
                  <a:srgbClr val="065A82"/>
                </a:solidFill>
                <a:latin typeface="Arial"/>
              </a:rPr>
              <a:t>US</a:t>
            </a:r>
          </a:p>
        </p:txBody>
      </p:sp>
      <p:sp>
        <p:nvSpPr>
          <p:cNvPr id="19" name="TextBox 18"/>
          <p:cNvSpPr txBox="1"/>
          <p:nvPr/>
        </p:nvSpPr>
        <p:spPr>
          <a:xfrm>
            <a:off x="8275320" y="3063239"/>
            <a:ext cx="3246120" cy="1600200"/>
          </a:xfrm>
          <a:prstGeom prst="rect">
            <a:avLst/>
          </a:prstGeom>
          <a:noFill/>
        </p:spPr>
        <p:txBody>
          <a:bodyPr wrap="square" lIns="0" rIns="0" tIns="0" bIns="0" anchor="t">
            <a:spAutoFit/>
          </a:bodyPr>
          <a:lstStyle/>
          <a:p>
            <a:pPr algn="l">
              <a:lnSpc>
                <a:spcPct val="125000"/>
              </a:lnSpc>
              <a:spcAft>
                <a:spcPts val="600"/>
              </a:spcAft>
            </a:pPr>
            <a:r>
              <a:rPr sz="1150" b="0" i="0">
                <a:solidFill>
                  <a:srgbClr val="21295C"/>
                </a:solidFill>
                <a:latin typeface="Arial"/>
              </a:rPr>
              <a:t>No single federal law</a:t>
            </a:r>
          </a:p>
          <a:p>
            <a:pPr algn="l">
              <a:lnSpc>
                <a:spcPct val="125000"/>
              </a:lnSpc>
              <a:spcAft>
                <a:spcPts val="600"/>
              </a:spcAft>
            </a:pPr>
            <a:r>
              <a:rPr sz="1150" b="0" i="0">
                <a:solidFill>
                  <a:srgbClr val="21295C"/>
                </a:solidFill>
                <a:latin typeface="Arial"/>
              </a:rPr>
              <a:t>State-level (California — CCPA/CPRA)</a:t>
            </a:r>
          </a:p>
          <a:p>
            <a:pPr algn="l">
              <a:lnSpc>
                <a:spcPct val="125000"/>
              </a:lnSpc>
              <a:spcAft>
                <a:spcPts val="600"/>
              </a:spcAft>
            </a:pPr>
            <a:r>
              <a:rPr sz="1150" b="0" i="0">
                <a:solidFill>
                  <a:srgbClr val="21295C"/>
                </a:solidFill>
                <a:latin typeface="Arial"/>
              </a:rPr>
              <a:t>Sector-specific (e.g., HIPAA)</a:t>
            </a:r>
          </a:p>
        </p:txBody>
      </p:sp>
      <p:sp>
        <p:nvSpPr>
          <p:cNvPr id="20" name="Rounded Rectangle 19"/>
          <p:cNvSpPr/>
          <p:nvPr/>
        </p:nvSpPr>
        <p:spPr>
          <a:xfrm>
            <a:off x="502920" y="4937759"/>
            <a:ext cx="11183112" cy="777240"/>
          </a:xfrm>
          <a:prstGeom prst="roundRect">
            <a:avLst>
              <a:gd name="adj" fmla="val 25000"/>
            </a:avLst>
          </a:prstGeom>
          <a:solidFill>
            <a:srgbClr val="FEF5E0"/>
          </a:solidFill>
          <a:ln w="17780">
            <a:solidFill>
              <a:srgbClr val="F0AB00"/>
            </a:solidFill>
          </a:ln>
          <a:effectLst/>
        </p:spPr>
        <p:txBody>
          <a:bodyPr rtlCol="0" anchor="ctr"/>
          <a:lstStyle/>
          <a:p>
            <a:pPr algn="ctr"/>
          </a:p>
        </p:txBody>
      </p:sp>
      <p:sp>
        <p:nvSpPr>
          <p:cNvPr id="21" name="TextBox 20"/>
          <p:cNvSpPr txBox="1"/>
          <p:nvPr/>
        </p:nvSpPr>
        <p:spPr>
          <a:xfrm>
            <a:off x="777240" y="4937759"/>
            <a:ext cx="10607040" cy="777240"/>
          </a:xfrm>
          <a:prstGeom prst="rect">
            <a:avLst/>
          </a:prstGeom>
          <a:noFill/>
        </p:spPr>
        <p:txBody>
          <a:bodyPr wrap="square" lIns="0" rIns="0" tIns="0" bIns="0" anchor="ctr">
            <a:spAutoFit/>
          </a:bodyPr>
          <a:lstStyle/>
          <a:p>
            <a:pPr algn="l">
              <a:lnSpc>
                <a:spcPct val="115000"/>
              </a:lnSpc>
            </a:pPr>
            <a:r>
              <a:rPr sz="1600" b="1" i="0">
                <a:solidFill>
                  <a:srgbClr val="21295C"/>
                </a:solidFill>
                <a:latin typeface="Arial"/>
              </a:rPr>
              <a:t>Every major jurisdiction is seriously fighting to protect personal data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1183112" cy="4114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Sales calls</a:t>
            </a:r>
          </a:p>
        </p:txBody>
      </p:sp>
      <p:sp>
        <p:nvSpPr>
          <p:cNvPr id="3" name="Rounded Rectangle 2"/>
          <p:cNvSpPr/>
          <p:nvPr/>
        </p:nvSpPr>
        <p:spPr>
          <a:xfrm>
            <a:off x="502920" y="777240"/>
            <a:ext cx="5454396" cy="4434840"/>
          </a:xfrm>
          <a:prstGeom prst="roundRect">
            <a:avLst>
              <a:gd name="adj" fmla="val 6872"/>
            </a:avLst>
          </a:prstGeom>
          <a:solidFill>
            <a:srgbClr val="F4F7FA"/>
          </a:solidFill>
          <a:ln w="19050">
            <a:solidFill>
              <a:srgbClr val="1C7293"/>
            </a:solidFill>
          </a:ln>
          <a:effectLst/>
        </p:spPr>
        <p:txBody>
          <a:bodyPr rtlCol="0" anchor="ctr"/>
          <a:lstStyle/>
          <a:p>
            <a:pPr algn="ctr"/>
          </a:p>
        </p:txBody>
      </p:sp>
      <p:pic>
        <p:nvPicPr>
          <p:cNvPr id="4" name="Picture 3" descr="quote-1C7293-64.png"/>
          <p:cNvPicPr>
            <a:picLocks noChangeAspect="1"/>
          </p:cNvPicPr>
          <p:nvPr/>
        </p:nvPicPr>
        <p:blipFill>
          <a:blip r:embed="rId2"/>
          <a:stretch>
            <a:fillRect/>
          </a:stretch>
        </p:blipFill>
        <p:spPr>
          <a:xfrm>
            <a:off x="722376" y="950975"/>
            <a:ext cx="292608" cy="292608"/>
          </a:xfrm>
          <a:prstGeom prst="rect">
            <a:avLst/>
          </a:prstGeom>
        </p:spPr>
      </p:pic>
      <p:sp>
        <p:nvSpPr>
          <p:cNvPr id="5" name="TextBox 4"/>
          <p:cNvSpPr txBox="1"/>
          <p:nvPr/>
        </p:nvSpPr>
        <p:spPr>
          <a:xfrm>
            <a:off x="722376" y="1289304"/>
            <a:ext cx="4558283" cy="3703319"/>
          </a:xfrm>
          <a:prstGeom prst="rect">
            <a:avLst/>
          </a:prstGeom>
          <a:noFill/>
        </p:spPr>
        <p:txBody>
          <a:bodyPr wrap="square" lIns="0" rIns="0" tIns="0" bIns="0" anchor="t">
            <a:spAutoFit/>
          </a:bodyPr>
          <a:lstStyle/>
          <a:p>
            <a:pPr algn="l">
              <a:lnSpc>
                <a:spcPct val="128000"/>
              </a:lnSpc>
            </a:pPr>
            <a:r>
              <a:rPr sz="1300" b="0" i="1">
                <a:solidFill>
                  <a:srgbClr val="21295C"/>
                </a:solidFill>
                <a:latin typeface="Arial"/>
              </a:rPr>
              <a:t>"This came up on the budget call. Let me flag an infrastructure constraint: we don't have a GPU server, and there's no budget for one this year either — the quarter's priorities are locked in, and they went to migrating to a new email system and refreshing the laptop fleet in support. If the model is heavy, we'll have to go through a cloud API, but that comes with its own data questions, which we've already discussed. Maybe next year we'll come back to the conversation about our own server."</a:t>
            </a:r>
          </a:p>
        </p:txBody>
      </p:sp>
      <p:sp>
        <p:nvSpPr>
          <p:cNvPr id="6" name="Rounded Rectangle 5"/>
          <p:cNvSpPr/>
          <p:nvPr/>
        </p:nvSpPr>
        <p:spPr>
          <a:xfrm>
            <a:off x="5280659" y="950975"/>
            <a:ext cx="457200" cy="457200"/>
          </a:xfrm>
          <a:prstGeom prst="roundRect">
            <a:avLst>
              <a:gd name="adj" fmla="val 50000"/>
            </a:avLst>
          </a:prstGeom>
          <a:solidFill>
            <a:srgbClr val="F4F7FA"/>
          </a:solidFill>
          <a:ln w="16510">
            <a:solidFill>
              <a:srgbClr val="028090"/>
            </a:solidFill>
          </a:ln>
          <a:effectLst/>
        </p:spPr>
        <p:txBody>
          <a:bodyPr rtlCol="0" anchor="ctr"/>
          <a:lstStyle/>
          <a:p>
            <a:pPr algn="ctr"/>
          </a:p>
        </p:txBody>
      </p:sp>
      <p:pic>
        <p:nvPicPr>
          <p:cNvPr id="7" name="Picture 6" descr="briefcase-028090-64.png"/>
          <p:cNvPicPr>
            <a:picLocks noChangeAspect="1"/>
          </p:cNvPicPr>
          <p:nvPr/>
        </p:nvPicPr>
        <p:blipFill>
          <a:blip r:embed="rId3"/>
          <a:stretch>
            <a:fillRect/>
          </a:stretch>
        </p:blipFill>
        <p:spPr>
          <a:xfrm>
            <a:off x="5362955" y="1033271"/>
            <a:ext cx="292608" cy="292608"/>
          </a:xfrm>
          <a:prstGeom prst="rect">
            <a:avLst/>
          </a:prstGeom>
        </p:spPr>
      </p:pic>
      <p:sp>
        <p:nvSpPr>
          <p:cNvPr id="8" name="TextBox 7"/>
          <p:cNvSpPr txBox="1"/>
          <p:nvPr/>
        </p:nvSpPr>
        <p:spPr>
          <a:xfrm>
            <a:off x="722376" y="4919471"/>
            <a:ext cx="5015483" cy="256032"/>
          </a:xfrm>
          <a:prstGeom prst="rect">
            <a:avLst/>
          </a:prstGeom>
          <a:noFill/>
        </p:spPr>
        <p:txBody>
          <a:bodyPr wrap="square" lIns="0" rIns="0" tIns="0" bIns="0" anchor="t">
            <a:spAutoFit/>
          </a:bodyPr>
          <a:lstStyle/>
          <a:p>
            <a:pPr algn="l">
              <a:lnSpc>
                <a:spcPct val="115000"/>
              </a:lnSpc>
            </a:pPr>
            <a:r>
              <a:rPr sz="1200" b="0" i="1">
                <a:solidFill>
                  <a:srgbClr val="6B7685"/>
                </a:solidFill>
                <a:latin typeface="Arial"/>
              </a:rPr>
              <a:t>— CTO</a:t>
            </a:r>
          </a:p>
        </p:txBody>
      </p:sp>
      <p:sp>
        <p:nvSpPr>
          <p:cNvPr id="9" name="Rounded Rectangle 8"/>
          <p:cNvSpPr/>
          <p:nvPr/>
        </p:nvSpPr>
        <p:spPr>
          <a:xfrm>
            <a:off x="6231636" y="777240"/>
            <a:ext cx="5454396" cy="4434840"/>
          </a:xfrm>
          <a:prstGeom prst="roundRect">
            <a:avLst>
              <a:gd name="adj" fmla="val 6872"/>
            </a:avLst>
          </a:prstGeom>
          <a:solidFill>
            <a:srgbClr val="F4F7FA"/>
          </a:solidFill>
          <a:ln w="19050">
            <a:solidFill>
              <a:srgbClr val="1C7293"/>
            </a:solidFill>
          </a:ln>
          <a:effectLst/>
        </p:spPr>
        <p:txBody>
          <a:bodyPr rtlCol="0" anchor="ctr"/>
          <a:lstStyle/>
          <a:p>
            <a:pPr algn="ctr"/>
          </a:p>
        </p:txBody>
      </p:sp>
      <p:pic>
        <p:nvPicPr>
          <p:cNvPr id="10" name="Picture 9" descr="quote-1C7293-64.png"/>
          <p:cNvPicPr>
            <a:picLocks noChangeAspect="1"/>
          </p:cNvPicPr>
          <p:nvPr/>
        </p:nvPicPr>
        <p:blipFill>
          <a:blip r:embed="rId2"/>
          <a:stretch>
            <a:fillRect/>
          </a:stretch>
        </p:blipFill>
        <p:spPr>
          <a:xfrm>
            <a:off x="6451092" y="950975"/>
            <a:ext cx="292608" cy="292608"/>
          </a:xfrm>
          <a:prstGeom prst="rect">
            <a:avLst/>
          </a:prstGeom>
        </p:spPr>
      </p:pic>
      <p:sp>
        <p:nvSpPr>
          <p:cNvPr id="11" name="TextBox 10"/>
          <p:cNvSpPr txBox="1"/>
          <p:nvPr/>
        </p:nvSpPr>
        <p:spPr>
          <a:xfrm>
            <a:off x="6451092" y="1289304"/>
            <a:ext cx="4558283" cy="3703319"/>
          </a:xfrm>
          <a:prstGeom prst="rect">
            <a:avLst/>
          </a:prstGeom>
          <a:noFill/>
        </p:spPr>
        <p:txBody>
          <a:bodyPr wrap="square" lIns="0" rIns="0" tIns="0" bIns="0" anchor="t">
            <a:spAutoFit/>
          </a:bodyPr>
          <a:lstStyle/>
          <a:p>
            <a:pPr algn="l">
              <a:lnSpc>
                <a:spcPct val="128000"/>
              </a:lnSpc>
            </a:pPr>
            <a:r>
              <a:rPr sz="1300" b="0" i="1">
                <a:solidFill>
                  <a:srgbClr val="21295C"/>
                </a:solidFill>
                <a:latin typeface="Arial"/>
              </a:rPr>
              <a:t>"What I need for my work is simple: five fields in the CRM per call — need, objections, agreements, next step, deal-probability estimate. Not a full retelling of the conversation, not a tone-of-voice analysis. Just these five fields filling themselves in right inside Bitrix24, so I can see them in my department report, which I currently put together by hand from the team's notes every Monday."</a:t>
            </a:r>
          </a:p>
        </p:txBody>
      </p:sp>
      <p:sp>
        <p:nvSpPr>
          <p:cNvPr id="12" name="Rounded Rectangle 11"/>
          <p:cNvSpPr/>
          <p:nvPr/>
        </p:nvSpPr>
        <p:spPr>
          <a:xfrm>
            <a:off x="11009376" y="950975"/>
            <a:ext cx="457200" cy="457200"/>
          </a:xfrm>
          <a:prstGeom prst="roundRect">
            <a:avLst>
              <a:gd name="adj" fmla="val 50000"/>
            </a:avLst>
          </a:prstGeom>
          <a:solidFill>
            <a:srgbClr val="F4F7FA"/>
          </a:solidFill>
          <a:ln w="16510">
            <a:solidFill>
              <a:srgbClr val="028090"/>
            </a:solidFill>
          </a:ln>
          <a:effectLst/>
        </p:spPr>
        <p:txBody>
          <a:bodyPr rtlCol="0" anchor="ctr"/>
          <a:lstStyle/>
          <a:p>
            <a:pPr algn="ctr"/>
          </a:p>
        </p:txBody>
      </p:sp>
      <p:pic>
        <p:nvPicPr>
          <p:cNvPr id="13" name="Picture 12" descr="user-round-028090-64.png"/>
          <p:cNvPicPr>
            <a:picLocks noChangeAspect="1"/>
          </p:cNvPicPr>
          <p:nvPr/>
        </p:nvPicPr>
        <p:blipFill>
          <a:blip r:embed="rId4"/>
          <a:stretch>
            <a:fillRect/>
          </a:stretch>
        </p:blipFill>
        <p:spPr>
          <a:xfrm>
            <a:off x="11091672" y="1033271"/>
            <a:ext cx="292608" cy="292608"/>
          </a:xfrm>
          <a:prstGeom prst="rect">
            <a:avLst/>
          </a:prstGeom>
        </p:spPr>
      </p:pic>
      <p:sp>
        <p:nvSpPr>
          <p:cNvPr id="14" name="TextBox 13"/>
          <p:cNvSpPr txBox="1"/>
          <p:nvPr/>
        </p:nvSpPr>
        <p:spPr>
          <a:xfrm>
            <a:off x="6451092" y="4919471"/>
            <a:ext cx="5015483" cy="256032"/>
          </a:xfrm>
          <a:prstGeom prst="rect">
            <a:avLst/>
          </a:prstGeom>
          <a:noFill/>
        </p:spPr>
        <p:txBody>
          <a:bodyPr wrap="square" lIns="0" rIns="0" tIns="0" bIns="0" anchor="t">
            <a:spAutoFit/>
          </a:bodyPr>
          <a:lstStyle/>
          <a:p>
            <a:pPr algn="l">
              <a:lnSpc>
                <a:spcPct val="115000"/>
              </a:lnSpc>
            </a:pPr>
            <a:r>
              <a:rPr sz="1200" b="0" i="1">
                <a:solidFill>
                  <a:srgbClr val="6B7685"/>
                </a:solidFill>
                <a:latin typeface="Arial"/>
              </a:rPr>
              <a:t>— sales manager</a:t>
            </a:r>
          </a:p>
        </p:txBody>
      </p:sp>
      <p:sp>
        <p:nvSpPr>
          <p:cNvPr id="15" name="Rounded Rectangle 14"/>
          <p:cNvSpPr/>
          <p:nvPr/>
        </p:nvSpPr>
        <p:spPr>
          <a:xfrm>
            <a:off x="502920" y="5376671"/>
            <a:ext cx="11183112" cy="1344168"/>
          </a:xfrm>
          <a:prstGeom prst="roundRect">
            <a:avLst>
              <a:gd name="adj" fmla="val 22675"/>
            </a:avLst>
          </a:prstGeom>
          <a:solidFill>
            <a:srgbClr val="FEF5E0"/>
          </a:solidFill>
          <a:ln w="17780">
            <a:solidFill>
              <a:srgbClr val="F0AB00"/>
            </a:solidFill>
          </a:ln>
          <a:effectLst/>
        </p:spPr>
        <p:txBody>
          <a:bodyPr rtlCol="0" anchor="ctr"/>
          <a:lstStyle/>
          <a:p>
            <a:pPr algn="ctr"/>
          </a:p>
        </p:txBody>
      </p:sp>
      <p:sp>
        <p:nvSpPr>
          <p:cNvPr id="16" name="TextBox 15"/>
          <p:cNvSpPr txBox="1"/>
          <p:nvPr/>
        </p:nvSpPr>
        <p:spPr>
          <a:xfrm>
            <a:off x="777240" y="5376671"/>
            <a:ext cx="10607040" cy="1344168"/>
          </a:xfrm>
          <a:prstGeom prst="rect">
            <a:avLst/>
          </a:prstGeom>
          <a:noFill/>
        </p:spPr>
        <p:txBody>
          <a:bodyPr wrap="square" lIns="0" rIns="0" tIns="0" bIns="0" anchor="ctr">
            <a:spAutoFit/>
          </a:bodyPr>
          <a:lstStyle/>
          <a:p>
            <a:pPr algn="l">
              <a:lnSpc>
                <a:spcPct val="115000"/>
              </a:lnSpc>
            </a:pPr>
            <a:r>
              <a:rPr sz="2000" b="1" i="0">
                <a:solidFill>
                  <a:srgbClr val="21295C"/>
                </a:solidFill>
                <a:latin typeface="Arial"/>
              </a:rPr>
              <a:t>Does this change the architecture again?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1183112" cy="91440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Sales calls — breakdown</a:t>
            </a:r>
          </a:p>
        </p:txBody>
      </p:sp>
      <p:sp>
        <p:nvSpPr>
          <p:cNvPr id="3" name="Rounded Rectangle 2"/>
          <p:cNvSpPr/>
          <p:nvPr/>
        </p:nvSpPr>
        <p:spPr>
          <a:xfrm>
            <a:off x="502920" y="1280160"/>
            <a:ext cx="11183112" cy="1188720"/>
          </a:xfrm>
          <a:prstGeom prst="roundRect">
            <a:avLst>
              <a:gd name="adj" fmla="val 25000"/>
            </a:avLst>
          </a:prstGeom>
          <a:solidFill>
            <a:srgbClr val="F4F7FA"/>
          </a:solidFill>
          <a:ln w="20320">
            <a:solidFill>
              <a:srgbClr val="028090"/>
            </a:solidFill>
          </a:ln>
          <a:effectLst/>
        </p:spPr>
        <p:txBody>
          <a:bodyPr rtlCol="0" anchor="ctr"/>
          <a:lstStyle/>
          <a:p>
            <a:pPr algn="ctr"/>
          </a:p>
        </p:txBody>
      </p:sp>
      <p:pic>
        <p:nvPicPr>
          <p:cNvPr id="4" name="Picture 3" descr="cpu-21295C-64.png"/>
          <p:cNvPicPr>
            <a:picLocks noChangeAspect="1"/>
          </p:cNvPicPr>
          <p:nvPr/>
        </p:nvPicPr>
        <p:blipFill>
          <a:blip r:embed="rId2"/>
          <a:stretch>
            <a:fillRect/>
          </a:stretch>
        </p:blipFill>
        <p:spPr>
          <a:xfrm>
            <a:off x="777240" y="1600200"/>
            <a:ext cx="548640" cy="548640"/>
          </a:xfrm>
          <a:prstGeom prst="rect">
            <a:avLst/>
          </a:prstGeom>
        </p:spPr>
      </p:pic>
      <p:sp>
        <p:nvSpPr>
          <p:cNvPr id="5" name="TextBox 4"/>
          <p:cNvSpPr txBox="1"/>
          <p:nvPr/>
        </p:nvSpPr>
        <p:spPr>
          <a:xfrm>
            <a:off x="1508760" y="1389888"/>
            <a:ext cx="9875520" cy="969264"/>
          </a:xfrm>
          <a:prstGeom prst="rect">
            <a:avLst/>
          </a:prstGeom>
          <a:noFill/>
        </p:spPr>
        <p:txBody>
          <a:bodyPr wrap="square" lIns="0" rIns="0" tIns="0" bIns="0" anchor="ctr">
            <a:spAutoFit/>
          </a:bodyPr>
          <a:lstStyle/>
          <a:p>
            <a:pPr algn="l">
              <a:lnSpc>
                <a:spcPct val="122000"/>
              </a:lnSpc>
            </a:pPr>
            <a:r>
              <a:rPr sz="1450" b="1" i="0">
                <a:solidFill>
                  <a:srgbClr val="21295C"/>
                </a:solidFill>
                <a:latin typeface="Arial"/>
              </a:rPr>
              <a:t>The task narrowed down to a template — a local 7-8B-parameter model handles it, data doesn't leave the company perimeter</a:t>
            </a:r>
          </a:p>
        </p:txBody>
      </p:sp>
      <p:sp>
        <p:nvSpPr>
          <p:cNvPr id="6" name="Rounded Rectangle 5"/>
          <p:cNvSpPr/>
          <p:nvPr/>
        </p:nvSpPr>
        <p:spPr>
          <a:xfrm>
            <a:off x="502920" y="2670048"/>
            <a:ext cx="11183112" cy="777240"/>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7" name="TextBox 6"/>
          <p:cNvSpPr txBox="1"/>
          <p:nvPr/>
        </p:nvSpPr>
        <p:spPr>
          <a:xfrm>
            <a:off x="685800" y="2670048"/>
            <a:ext cx="2743200" cy="777240"/>
          </a:xfrm>
          <a:prstGeom prst="rect">
            <a:avLst/>
          </a:prstGeom>
          <a:noFill/>
        </p:spPr>
        <p:txBody>
          <a:bodyPr wrap="square" lIns="0" rIns="0" tIns="0" bIns="0" anchor="ctr">
            <a:spAutoFit/>
          </a:bodyPr>
          <a:lstStyle/>
          <a:p>
            <a:pPr algn="l">
              <a:lnSpc>
                <a:spcPct val="115000"/>
              </a:lnSpc>
            </a:pPr>
            <a:r>
              <a:rPr sz="1250" b="1" i="0">
                <a:solidFill>
                  <a:srgbClr val="065A82"/>
                </a:solidFill>
                <a:latin typeface="Arial"/>
              </a:rPr>
              <a:t>Open 7-8B models:</a:t>
            </a:r>
          </a:p>
        </p:txBody>
      </p:sp>
      <p:sp>
        <p:nvSpPr>
          <p:cNvPr id="8" name="TextBox 7"/>
          <p:cNvSpPr txBox="1"/>
          <p:nvPr/>
        </p:nvSpPr>
        <p:spPr>
          <a:xfrm>
            <a:off x="3429000" y="2670048"/>
            <a:ext cx="7955279" cy="777240"/>
          </a:xfrm>
          <a:prstGeom prst="rect">
            <a:avLst/>
          </a:prstGeom>
          <a:noFill/>
        </p:spPr>
        <p:txBody>
          <a:bodyPr wrap="square" lIns="0" rIns="0" tIns="0" bIns="0" anchor="ctr">
            <a:spAutoFit/>
          </a:bodyPr>
          <a:lstStyle/>
          <a:p>
            <a:pPr algn="l">
              <a:lnSpc>
                <a:spcPct val="120000"/>
              </a:lnSpc>
            </a:pPr>
            <a:r>
              <a:rPr sz="1250" b="0" i="0">
                <a:solidFill>
                  <a:srgbClr val="21295C"/>
                </a:solidFill>
                <a:latin typeface="Arial"/>
              </a:rPr>
              <a:t>Qwen3 · Llama · Gemma · Mistral · T-lite · T-pro (T-Bank, Apache 2.0, based on Qwen)</a:t>
            </a:r>
          </a:p>
        </p:txBody>
      </p:sp>
      <p:sp>
        <p:nvSpPr>
          <p:cNvPr id="9" name="Rounded Rectangle 8"/>
          <p:cNvSpPr/>
          <p:nvPr/>
        </p:nvSpPr>
        <p:spPr>
          <a:xfrm>
            <a:off x="502920" y="3630168"/>
            <a:ext cx="11183112" cy="777240"/>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0" name="TextBox 9"/>
          <p:cNvSpPr txBox="1"/>
          <p:nvPr/>
        </p:nvSpPr>
        <p:spPr>
          <a:xfrm>
            <a:off x="685800" y="3630168"/>
            <a:ext cx="10789920" cy="777240"/>
          </a:xfrm>
          <a:prstGeom prst="rect">
            <a:avLst/>
          </a:prstGeom>
          <a:noFill/>
        </p:spPr>
        <p:txBody>
          <a:bodyPr wrap="square" lIns="0" rIns="0" tIns="0" bIns="0" anchor="ctr">
            <a:spAutoFit/>
          </a:bodyPr>
          <a:lstStyle/>
          <a:p>
            <a:pPr algn="l">
              <a:lnSpc>
                <a:spcPct val="122000"/>
              </a:lnSpc>
            </a:pPr>
            <a:r>
              <a:rPr sz="1250" b="0" i="1">
                <a:solidFill>
                  <a:srgbClr val="21295C"/>
                </a:solidFill>
                <a:latin typeface="Arial"/>
              </a:rPr>
              <a:t>4-bit quantization → 4-6 GB of memory, an ordinary server with no GPU (Ollama / llama.cpp) · fine-tuning — LoRA on a single GPU</a:t>
            </a:r>
          </a:p>
        </p:txBody>
      </p:sp>
      <p:sp>
        <p:nvSpPr>
          <p:cNvPr id="11" name="Rounded Rectangle 10"/>
          <p:cNvSpPr/>
          <p:nvPr/>
        </p:nvSpPr>
        <p:spPr>
          <a:xfrm>
            <a:off x="502920" y="4636008"/>
            <a:ext cx="5454396" cy="1463040"/>
          </a:xfrm>
          <a:prstGeom prst="roundRect">
            <a:avLst>
              <a:gd name="adj" fmla="val 20833"/>
            </a:avLst>
          </a:prstGeom>
          <a:solidFill>
            <a:srgbClr val="FEF5E0"/>
          </a:solidFill>
          <a:ln w="20320">
            <a:solidFill>
              <a:srgbClr val="F0AB00"/>
            </a:solidFill>
          </a:ln>
          <a:effectLst/>
        </p:spPr>
        <p:txBody>
          <a:bodyPr rtlCol="0" anchor="ctr"/>
          <a:lstStyle/>
          <a:p>
            <a:pPr algn="ctr"/>
          </a:p>
        </p:txBody>
      </p:sp>
      <p:sp>
        <p:nvSpPr>
          <p:cNvPr id="12" name="TextBox 11"/>
          <p:cNvSpPr txBox="1"/>
          <p:nvPr/>
        </p:nvSpPr>
        <p:spPr>
          <a:xfrm>
            <a:off x="685800" y="4764024"/>
            <a:ext cx="5088636" cy="1207008"/>
          </a:xfrm>
          <a:prstGeom prst="rect">
            <a:avLst/>
          </a:prstGeom>
          <a:noFill/>
        </p:spPr>
        <p:txBody>
          <a:bodyPr wrap="square" lIns="0" rIns="0" tIns="0" bIns="0" anchor="ctr">
            <a:spAutoFit/>
          </a:bodyPr>
          <a:lstStyle/>
          <a:p>
            <a:pPr algn="l">
              <a:lnSpc>
                <a:spcPct val="125000"/>
              </a:lnSpc>
            </a:pPr>
            <a:r>
              <a:rPr sz="1400" b="1" i="0">
                <a:solidFill>
                  <a:srgbClr val="21295C"/>
                </a:solidFill>
                <a:latin typeface="Arial"/>
              </a:rPr>
              <a:t>"Hard for a human" ≠ "hard for a model"</a:t>
            </a:r>
          </a:p>
        </p:txBody>
      </p:sp>
      <p:sp>
        <p:nvSpPr>
          <p:cNvPr id="13" name="Rounded Rectangle 12"/>
          <p:cNvSpPr/>
          <p:nvPr/>
        </p:nvSpPr>
        <p:spPr>
          <a:xfrm>
            <a:off x="6231636" y="4636008"/>
            <a:ext cx="5454396" cy="1463040"/>
          </a:xfrm>
          <a:prstGeom prst="roundRect">
            <a:avLst>
              <a:gd name="adj" fmla="val 20833"/>
            </a:avLst>
          </a:prstGeom>
          <a:solidFill>
            <a:srgbClr val="FEF5E0"/>
          </a:solidFill>
          <a:ln w="20320">
            <a:solidFill>
              <a:srgbClr val="F0AB00"/>
            </a:solidFill>
          </a:ln>
          <a:effectLst/>
        </p:spPr>
        <p:txBody>
          <a:bodyPr rtlCol="0" anchor="ctr"/>
          <a:lstStyle/>
          <a:p>
            <a:pPr algn="ctr"/>
          </a:p>
        </p:txBody>
      </p:sp>
      <p:sp>
        <p:nvSpPr>
          <p:cNvPr id="14" name="TextBox 13"/>
          <p:cNvSpPr txBox="1"/>
          <p:nvPr/>
        </p:nvSpPr>
        <p:spPr>
          <a:xfrm>
            <a:off x="6414516" y="4764024"/>
            <a:ext cx="5088636" cy="1207008"/>
          </a:xfrm>
          <a:prstGeom prst="rect">
            <a:avLst/>
          </a:prstGeom>
          <a:noFill/>
        </p:spPr>
        <p:txBody>
          <a:bodyPr wrap="square" lIns="0" rIns="0" tIns="0" bIns="0" anchor="ctr">
            <a:spAutoFit/>
          </a:bodyPr>
          <a:lstStyle/>
          <a:p>
            <a:pPr algn="l">
              <a:lnSpc>
                <a:spcPct val="125000"/>
              </a:lnSpc>
            </a:pPr>
            <a:r>
              <a:rPr sz="1400" b="1" i="0">
                <a:solidFill>
                  <a:srgbClr val="21295C"/>
                </a:solidFill>
                <a:latin typeface="Arial"/>
              </a:rPr>
              <a:t>Data sensitivity is uncovered by asking, not assumed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1183112" cy="914400"/>
          </a:xfrm>
          <a:prstGeom prst="rect">
            <a:avLst/>
          </a:prstGeom>
          <a:noFill/>
        </p:spPr>
        <p:txBody>
          <a:bodyPr wrap="square" lIns="0" rIns="0" tIns="0" bIns="0" anchor="t">
            <a:spAutoFit/>
          </a:bodyPr>
          <a:lstStyle/>
          <a:p>
            <a:pPr algn="l">
              <a:lnSpc>
                <a:spcPct val="115000"/>
              </a:lnSpc>
            </a:pPr>
            <a:r>
              <a:rPr sz="2100" b="1" i="0">
                <a:solidFill>
                  <a:srgbClr val="21295C"/>
                </a:solidFill>
                <a:latin typeface="Arial"/>
              </a:rPr>
              <a:t>The Samsung leak — and models already in your pocket</a:t>
            </a:r>
          </a:p>
        </p:txBody>
      </p:sp>
      <p:sp>
        <p:nvSpPr>
          <p:cNvPr id="3" name="Rounded Rectangle 2"/>
          <p:cNvSpPr/>
          <p:nvPr/>
        </p:nvSpPr>
        <p:spPr>
          <a:xfrm>
            <a:off x="502920" y="1280160"/>
            <a:ext cx="5454396" cy="3063240"/>
          </a:xfrm>
          <a:prstGeom prst="roundRect">
            <a:avLst>
              <a:gd name="adj" fmla="val 6000"/>
            </a:avLst>
          </a:prstGeom>
          <a:solidFill>
            <a:srgbClr val="FBEAEA"/>
          </a:solidFill>
          <a:ln w="17780">
            <a:solidFill>
              <a:srgbClr val="B04A4A"/>
            </a:solidFill>
          </a:ln>
          <a:effectLst/>
        </p:spPr>
        <p:txBody>
          <a:bodyPr rtlCol="0" anchor="ctr"/>
          <a:lstStyle/>
          <a:p>
            <a:pPr algn="ctr"/>
          </a:p>
        </p:txBody>
      </p:sp>
      <p:pic>
        <p:nvPicPr>
          <p:cNvPr id="4" name="Picture 3" descr="x-circle-21295C-64.png"/>
          <p:cNvPicPr>
            <a:picLocks noChangeAspect="1"/>
          </p:cNvPicPr>
          <p:nvPr/>
        </p:nvPicPr>
        <p:blipFill>
          <a:blip r:embed="rId2"/>
          <a:stretch>
            <a:fillRect/>
          </a:stretch>
        </p:blipFill>
        <p:spPr>
          <a:xfrm>
            <a:off x="704088" y="1481328"/>
            <a:ext cx="365760" cy="365760"/>
          </a:xfrm>
          <a:prstGeom prst="rect">
            <a:avLst/>
          </a:prstGeom>
        </p:spPr>
      </p:pic>
      <p:sp>
        <p:nvSpPr>
          <p:cNvPr id="5" name="TextBox 4"/>
          <p:cNvSpPr txBox="1"/>
          <p:nvPr/>
        </p:nvSpPr>
        <p:spPr>
          <a:xfrm>
            <a:off x="1179576" y="1463039"/>
            <a:ext cx="4576571" cy="411480"/>
          </a:xfrm>
          <a:prstGeom prst="rect">
            <a:avLst/>
          </a:prstGeom>
          <a:noFill/>
        </p:spPr>
        <p:txBody>
          <a:bodyPr wrap="square" lIns="0" rIns="0" tIns="0" bIns="0" anchor="ctr">
            <a:spAutoFit/>
          </a:bodyPr>
          <a:lstStyle/>
          <a:p>
            <a:pPr algn="l">
              <a:lnSpc>
                <a:spcPct val="110000"/>
              </a:lnSpc>
            </a:pPr>
            <a:r>
              <a:rPr sz="1500" b="1" i="0">
                <a:solidFill>
                  <a:srgbClr val="21295C"/>
                </a:solidFill>
                <a:latin typeface="Arial"/>
              </a:rPr>
              <a:t>Samsung, 2023</a:t>
            </a:r>
          </a:p>
        </p:txBody>
      </p:sp>
      <p:sp>
        <p:nvSpPr>
          <p:cNvPr id="6" name="TextBox 5"/>
          <p:cNvSpPr txBox="1"/>
          <p:nvPr/>
        </p:nvSpPr>
        <p:spPr>
          <a:xfrm>
            <a:off x="704088" y="2011679"/>
            <a:ext cx="5052059" cy="2313432"/>
          </a:xfrm>
          <a:prstGeom prst="rect">
            <a:avLst/>
          </a:prstGeom>
          <a:noFill/>
        </p:spPr>
        <p:txBody>
          <a:bodyPr wrap="square" lIns="0" rIns="0" tIns="0" bIns="0" anchor="t">
            <a:spAutoFit/>
          </a:bodyPr>
          <a:lstStyle/>
          <a:p>
            <a:pPr algn="l">
              <a:lnSpc>
                <a:spcPct val="125000"/>
              </a:lnSpc>
              <a:spcAft>
                <a:spcPts val="600"/>
              </a:spcAft>
            </a:pPr>
            <a:r>
              <a:rPr sz="1250" b="0" i="0">
                <a:solidFill>
                  <a:srgbClr val="21295C"/>
                </a:solidFill>
                <a:latin typeface="Arial"/>
              </a:rPr>
              <a:t>Allowed ChatGPT on 03/11/2023</a:t>
            </a:r>
          </a:p>
          <a:p>
            <a:pPr algn="l">
              <a:lnSpc>
                <a:spcPct val="125000"/>
              </a:lnSpc>
              <a:spcAft>
                <a:spcPts val="600"/>
              </a:spcAft>
            </a:pPr>
            <a:r>
              <a:rPr sz="1250" b="1" i="0">
                <a:solidFill>
                  <a:srgbClr val="21295C"/>
                </a:solidFill>
                <a:latin typeface="Arial"/>
              </a:rPr>
              <a:t>By 03/30 (~19 days) — 3 leaks: 2× manufacturing code, 1× meeting transcript</a:t>
            </a:r>
          </a:p>
          <a:p>
            <a:pPr algn="l">
              <a:lnSpc>
                <a:spcPct val="125000"/>
              </a:lnSpc>
              <a:spcAft>
                <a:spcPts val="0"/>
              </a:spcAft>
            </a:pPr>
            <a:r>
              <a:rPr sz="1250" b="0" i="0">
                <a:solidFill>
                  <a:srgbClr val="21295C"/>
                </a:solidFill>
                <a:latin typeface="Arial"/>
              </a:rPr>
              <a:t>Full ban on generative AI on devices (May 2023)</a:t>
            </a:r>
          </a:p>
        </p:txBody>
      </p:sp>
      <p:sp>
        <p:nvSpPr>
          <p:cNvPr id="7" name="Rounded Rectangle 6"/>
          <p:cNvSpPr/>
          <p:nvPr/>
        </p:nvSpPr>
        <p:spPr>
          <a:xfrm>
            <a:off x="6231636" y="1280160"/>
            <a:ext cx="5454396" cy="3063240"/>
          </a:xfrm>
          <a:prstGeom prst="roundRect">
            <a:avLst>
              <a:gd name="adj" fmla="val 6000"/>
            </a:avLst>
          </a:prstGeom>
          <a:solidFill>
            <a:srgbClr val="E9F5F2"/>
          </a:solidFill>
          <a:ln w="17780">
            <a:solidFill>
              <a:srgbClr val="028090"/>
            </a:solidFill>
          </a:ln>
          <a:effectLst/>
        </p:spPr>
        <p:txBody>
          <a:bodyPr rtlCol="0" anchor="ctr"/>
          <a:lstStyle/>
          <a:p>
            <a:pPr algn="ctr"/>
          </a:p>
        </p:txBody>
      </p:sp>
      <p:pic>
        <p:nvPicPr>
          <p:cNvPr id="8" name="Picture 7" descr="circle-check-028090-64.png"/>
          <p:cNvPicPr>
            <a:picLocks noChangeAspect="1"/>
          </p:cNvPicPr>
          <p:nvPr/>
        </p:nvPicPr>
        <p:blipFill>
          <a:blip r:embed="rId3"/>
          <a:stretch>
            <a:fillRect/>
          </a:stretch>
        </p:blipFill>
        <p:spPr>
          <a:xfrm>
            <a:off x="6432803" y="1481328"/>
            <a:ext cx="365760" cy="365760"/>
          </a:xfrm>
          <a:prstGeom prst="rect">
            <a:avLst/>
          </a:prstGeom>
        </p:spPr>
      </p:pic>
      <p:sp>
        <p:nvSpPr>
          <p:cNvPr id="9" name="TextBox 8"/>
          <p:cNvSpPr txBox="1"/>
          <p:nvPr/>
        </p:nvSpPr>
        <p:spPr>
          <a:xfrm>
            <a:off x="6908292" y="1463039"/>
            <a:ext cx="4576571" cy="411480"/>
          </a:xfrm>
          <a:prstGeom prst="rect">
            <a:avLst/>
          </a:prstGeom>
          <a:noFill/>
        </p:spPr>
        <p:txBody>
          <a:bodyPr wrap="square" lIns="0" rIns="0" tIns="0" bIns="0" anchor="ctr">
            <a:spAutoFit/>
          </a:bodyPr>
          <a:lstStyle/>
          <a:p>
            <a:pPr algn="l">
              <a:lnSpc>
                <a:spcPct val="110000"/>
              </a:lnSpc>
            </a:pPr>
            <a:r>
              <a:rPr sz="1500" b="1" i="0">
                <a:solidFill>
                  <a:srgbClr val="21295C"/>
                </a:solidFill>
                <a:latin typeface="Arial"/>
              </a:rPr>
              <a:t>Small models in your pocket</a:t>
            </a:r>
          </a:p>
        </p:txBody>
      </p:sp>
      <p:sp>
        <p:nvSpPr>
          <p:cNvPr id="10" name="TextBox 9"/>
          <p:cNvSpPr txBox="1"/>
          <p:nvPr/>
        </p:nvSpPr>
        <p:spPr>
          <a:xfrm>
            <a:off x="6432803" y="2011679"/>
            <a:ext cx="5052059" cy="2313432"/>
          </a:xfrm>
          <a:prstGeom prst="rect">
            <a:avLst/>
          </a:prstGeom>
          <a:noFill/>
        </p:spPr>
        <p:txBody>
          <a:bodyPr wrap="square" lIns="0" rIns="0" tIns="0" bIns="0" anchor="t">
            <a:spAutoFit/>
          </a:bodyPr>
          <a:lstStyle/>
          <a:p>
            <a:pPr algn="l">
              <a:lnSpc>
                <a:spcPct val="125000"/>
              </a:lnSpc>
              <a:spcAft>
                <a:spcPts val="600"/>
              </a:spcAft>
            </a:pPr>
            <a:r>
              <a:rPr sz="1200" b="0" i="0">
                <a:solidFill>
                  <a:srgbClr val="21295C"/>
                </a:solidFill>
                <a:latin typeface="Arial"/>
              </a:rPr>
              <a:t>Apple Intelligence — ~3 billion parameters on-device (iOS 18.1, October 2024, iPhone 15 Pro+): text summarization and editing offline</a:t>
            </a:r>
          </a:p>
          <a:p>
            <a:pPr algn="l">
              <a:lnSpc>
                <a:spcPct val="125000"/>
              </a:lnSpc>
              <a:spcAft>
                <a:spcPts val="0"/>
              </a:spcAft>
            </a:pPr>
            <a:r>
              <a:rPr sz="1200" b="1" i="0">
                <a:solidFill>
                  <a:srgbClr val="21295C"/>
                </a:solidFill>
                <a:latin typeface="Arial"/>
              </a:rPr>
              <a:t>Google Gemini Nano — 1.8-3.25 billion parameters (Pixel/Android): summarization in Recorder, Magic Compose — offline</a:t>
            </a:r>
          </a:p>
        </p:txBody>
      </p:sp>
      <p:sp>
        <p:nvSpPr>
          <p:cNvPr id="11" name="Rounded Rectangle 10"/>
          <p:cNvSpPr/>
          <p:nvPr/>
        </p:nvSpPr>
        <p:spPr>
          <a:xfrm>
            <a:off x="502920" y="4572000"/>
            <a:ext cx="11183112" cy="960120"/>
          </a:xfrm>
          <a:prstGeom prst="roundRect">
            <a:avLst>
              <a:gd name="adj" fmla="val 25000"/>
            </a:avLst>
          </a:prstGeom>
          <a:solidFill>
            <a:srgbClr val="FEF5E0"/>
          </a:solidFill>
          <a:ln w="17780">
            <a:solidFill>
              <a:srgbClr val="F0AB00"/>
            </a:solidFill>
          </a:ln>
          <a:effectLst/>
        </p:spPr>
        <p:txBody>
          <a:bodyPr rtlCol="0" anchor="ctr"/>
          <a:lstStyle/>
          <a:p>
            <a:pPr algn="ctr"/>
          </a:p>
        </p:txBody>
      </p:sp>
      <p:sp>
        <p:nvSpPr>
          <p:cNvPr id="12" name="TextBox 11"/>
          <p:cNvSpPr txBox="1"/>
          <p:nvPr/>
        </p:nvSpPr>
        <p:spPr>
          <a:xfrm>
            <a:off x="777240" y="4572000"/>
            <a:ext cx="10607040" cy="960120"/>
          </a:xfrm>
          <a:prstGeom prst="rect">
            <a:avLst/>
          </a:prstGeom>
          <a:noFill/>
        </p:spPr>
        <p:txBody>
          <a:bodyPr wrap="square" lIns="0" rIns="0" tIns="0" bIns="0" anchor="ctr">
            <a:spAutoFit/>
          </a:bodyPr>
          <a:lstStyle/>
          <a:p>
            <a:pPr algn="l">
              <a:lnSpc>
                <a:spcPct val="115000"/>
              </a:lnSpc>
            </a:pPr>
            <a:r>
              <a:rPr sz="1800" b="1" i="0">
                <a:solidFill>
                  <a:srgbClr val="21295C"/>
                </a:solidFill>
                <a:latin typeface="Arial"/>
              </a:rPr>
              <a:t>Small models are already in the pocket of half this room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1183112" cy="914400"/>
          </a:xfrm>
          <a:prstGeom prst="rect">
            <a:avLst/>
          </a:prstGeom>
          <a:noFill/>
        </p:spPr>
        <p:txBody>
          <a:bodyPr wrap="square" lIns="0" rIns="0" tIns="0" bIns="0" anchor="t">
            <a:spAutoFit/>
          </a:bodyPr>
          <a:lstStyle/>
          <a:p>
            <a:pPr algn="l">
              <a:lnSpc>
                <a:spcPct val="115000"/>
              </a:lnSpc>
            </a:pPr>
            <a:r>
              <a:rPr sz="3000" b="1" i="0">
                <a:solidFill>
                  <a:srgbClr val="21295C"/>
                </a:solidFill>
                <a:latin typeface="Arial"/>
              </a:rPr>
              <a:t>Your tasks</a:t>
            </a:r>
          </a:p>
        </p:txBody>
      </p:sp>
      <p:sp>
        <p:nvSpPr>
          <p:cNvPr id="3" name="Rounded Rectangle 2"/>
          <p:cNvSpPr/>
          <p:nvPr/>
        </p:nvSpPr>
        <p:spPr>
          <a:xfrm>
            <a:off x="502920" y="1463040"/>
            <a:ext cx="11183112" cy="3200400"/>
          </a:xfrm>
          <a:prstGeom prst="roundRect">
            <a:avLst>
              <a:gd name="adj" fmla="val 9523"/>
            </a:avLst>
          </a:prstGeom>
          <a:solidFill>
            <a:srgbClr val="F4F7FA"/>
          </a:solidFill>
          <a:ln w="20320">
            <a:solidFill>
              <a:srgbClr val="028090"/>
            </a:solidFill>
          </a:ln>
          <a:effectLst/>
        </p:spPr>
        <p:txBody>
          <a:bodyPr rtlCol="0" anchor="ctr"/>
          <a:lstStyle/>
          <a:p>
            <a:pPr algn="ctr"/>
          </a:p>
        </p:txBody>
      </p:sp>
      <p:pic>
        <p:nvPicPr>
          <p:cNvPr id="4" name="Picture 3" descr="hand-F0AB00-96.png"/>
          <p:cNvPicPr>
            <a:picLocks noChangeAspect="1"/>
          </p:cNvPicPr>
          <p:nvPr/>
        </p:nvPicPr>
        <p:blipFill>
          <a:blip r:embed="rId2"/>
          <a:stretch>
            <a:fillRect/>
          </a:stretch>
        </p:blipFill>
        <p:spPr>
          <a:xfrm>
            <a:off x="4480560" y="1920240"/>
            <a:ext cx="1097280" cy="1097280"/>
          </a:xfrm>
          <a:prstGeom prst="rect">
            <a:avLst/>
          </a:prstGeom>
        </p:spPr>
      </p:pic>
      <p:pic>
        <p:nvPicPr>
          <p:cNvPr id="5" name="Picture 4" descr="users-065A82-96.png"/>
          <p:cNvPicPr>
            <a:picLocks noChangeAspect="1"/>
          </p:cNvPicPr>
          <p:nvPr/>
        </p:nvPicPr>
        <p:blipFill>
          <a:blip r:embed="rId3"/>
          <a:stretch>
            <a:fillRect/>
          </a:stretch>
        </p:blipFill>
        <p:spPr>
          <a:xfrm>
            <a:off x="6035040" y="1920240"/>
            <a:ext cx="1097280" cy="1097280"/>
          </a:xfrm>
          <a:prstGeom prst="rect">
            <a:avLst/>
          </a:prstGeom>
        </p:spPr>
      </p:pic>
      <p:sp>
        <p:nvSpPr>
          <p:cNvPr id="6" name="TextBox 5"/>
          <p:cNvSpPr txBox="1"/>
          <p:nvPr/>
        </p:nvSpPr>
        <p:spPr>
          <a:xfrm>
            <a:off x="822960" y="3383280"/>
            <a:ext cx="10515600" cy="1005840"/>
          </a:xfrm>
          <a:prstGeom prst="rect">
            <a:avLst/>
          </a:prstGeom>
          <a:noFill/>
        </p:spPr>
        <p:txBody>
          <a:bodyPr wrap="square" lIns="0" rIns="0" tIns="0" bIns="0" anchor="t">
            <a:spAutoFit/>
          </a:bodyPr>
          <a:lstStyle/>
          <a:p>
            <a:pPr algn="ctr">
              <a:lnSpc>
                <a:spcPct val="130000"/>
              </a:lnSpc>
            </a:pPr>
            <a:r>
              <a:rPr sz="2000" b="1" i="0">
                <a:solidFill>
                  <a:srgbClr val="21295C"/>
                </a:solidFill>
                <a:latin typeface="Arial"/>
              </a:rPr>
              <a:t>Does anyone here have a similar task from work — one where the question was whether AI was needed at all, and which kind?</a:t>
            </a:r>
          </a:p>
        </p:txBody>
      </p:sp>
      <p:sp>
        <p:nvSpPr>
          <p:cNvPr id="7" name="Rounded Rectangle 6"/>
          <p:cNvSpPr/>
          <p:nvPr/>
        </p:nvSpPr>
        <p:spPr>
          <a:xfrm>
            <a:off x="502920" y="4937759"/>
            <a:ext cx="11183112" cy="822960"/>
          </a:xfrm>
          <a:prstGeom prst="roundRect">
            <a:avLst>
              <a:gd name="adj" fmla="val 25000"/>
            </a:avLst>
          </a:prstGeom>
          <a:solidFill>
            <a:srgbClr val="FEF5E0"/>
          </a:solidFill>
          <a:ln w="17780">
            <a:solidFill>
              <a:srgbClr val="F0AB00"/>
            </a:solidFill>
          </a:ln>
          <a:effectLst/>
        </p:spPr>
        <p:txBody>
          <a:bodyPr rtlCol="0" anchor="ctr"/>
          <a:lstStyle/>
          <a:p>
            <a:pPr algn="ctr"/>
          </a:p>
        </p:txBody>
      </p:sp>
      <p:sp>
        <p:nvSpPr>
          <p:cNvPr id="8" name="TextBox 7"/>
          <p:cNvSpPr txBox="1"/>
          <p:nvPr/>
        </p:nvSpPr>
        <p:spPr>
          <a:xfrm>
            <a:off x="777240" y="4937759"/>
            <a:ext cx="10607040" cy="822960"/>
          </a:xfrm>
          <a:prstGeom prst="rect">
            <a:avLst/>
          </a:prstGeom>
          <a:noFill/>
        </p:spPr>
        <p:txBody>
          <a:bodyPr wrap="square" lIns="0" rIns="0" tIns="0" bIns="0" anchor="ctr">
            <a:spAutoFit/>
          </a:bodyPr>
          <a:lstStyle/>
          <a:p>
            <a:pPr algn="l">
              <a:lnSpc>
                <a:spcPct val="120000"/>
              </a:lnSpc>
            </a:pPr>
            <a:r>
              <a:rPr sz="1550" b="1" i="1">
                <a:solidFill>
                  <a:srgbClr val="21295C"/>
                </a:solidFill>
                <a:latin typeface="Arial"/>
              </a:rPr>
              <a:t>It's enough to state it in two or three sentences, the way a client would actually bring it to you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1183112" cy="91440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What to take away</a:t>
            </a:r>
          </a:p>
        </p:txBody>
      </p:sp>
      <p:sp>
        <p:nvSpPr>
          <p:cNvPr id="3" name="TextBox 2"/>
          <p:cNvSpPr txBox="1"/>
          <p:nvPr/>
        </p:nvSpPr>
        <p:spPr>
          <a:xfrm>
            <a:off x="502920" y="1051560"/>
            <a:ext cx="11183112" cy="457200"/>
          </a:xfrm>
          <a:prstGeom prst="rect">
            <a:avLst/>
          </a:prstGeom>
          <a:noFill/>
        </p:spPr>
        <p:txBody>
          <a:bodyPr wrap="square" lIns="0" rIns="0" tIns="0" bIns="0" anchor="t">
            <a:spAutoFit/>
          </a:bodyPr>
          <a:lstStyle/>
          <a:p>
            <a:pPr algn="l">
              <a:lnSpc>
                <a:spcPct val="115000"/>
              </a:lnSpc>
            </a:pPr>
            <a:r>
              <a:rPr sz="1500" b="0" i="1">
                <a:solidFill>
                  <a:srgbClr val="065A82"/>
                </a:solidFill>
                <a:latin typeface="Arial"/>
              </a:rPr>
              <a:t>Seven lessons, one per case — nothing new, just a compilation</a:t>
            </a:r>
          </a:p>
        </p:txBody>
      </p:sp>
      <p:sp>
        <p:nvSpPr>
          <p:cNvPr id="4" name="Rounded Rectangle 3"/>
          <p:cNvSpPr/>
          <p:nvPr/>
        </p:nvSpPr>
        <p:spPr>
          <a:xfrm>
            <a:off x="502920" y="1691640"/>
            <a:ext cx="11183112" cy="594360"/>
          </a:xfrm>
          <a:prstGeom prst="roundRect">
            <a:avLst>
              <a:gd name="adj" fmla="val 25000"/>
            </a:avLst>
          </a:prstGeom>
          <a:solidFill>
            <a:srgbClr val="F4F7FA"/>
          </a:solidFill>
          <a:ln w="19050">
            <a:solidFill>
              <a:srgbClr val="1C7293"/>
            </a:solidFill>
          </a:ln>
          <a:effectLst/>
        </p:spPr>
        <p:txBody>
          <a:bodyPr rtlCol="0" anchor="ctr"/>
          <a:lstStyle/>
          <a:p>
            <a:pPr algn="ctr"/>
          </a:p>
        </p:txBody>
      </p:sp>
      <p:pic>
        <p:nvPicPr>
          <p:cNvPr id="5" name="Picture 4" descr="file-text-065A82-64.png"/>
          <p:cNvPicPr>
            <a:picLocks noChangeAspect="1"/>
          </p:cNvPicPr>
          <p:nvPr/>
        </p:nvPicPr>
        <p:blipFill>
          <a:blip r:embed="rId2"/>
          <a:stretch>
            <a:fillRect/>
          </a:stretch>
        </p:blipFill>
        <p:spPr>
          <a:xfrm>
            <a:off x="685800" y="1833372"/>
            <a:ext cx="310896" cy="310896"/>
          </a:xfrm>
          <a:prstGeom prst="rect">
            <a:avLst/>
          </a:prstGeom>
        </p:spPr>
      </p:pic>
      <p:sp>
        <p:nvSpPr>
          <p:cNvPr id="6" name="TextBox 5"/>
          <p:cNvSpPr txBox="1"/>
          <p:nvPr/>
        </p:nvSpPr>
        <p:spPr>
          <a:xfrm>
            <a:off x="1188720" y="1691640"/>
            <a:ext cx="3200400" cy="594360"/>
          </a:xfrm>
          <a:prstGeom prst="rect">
            <a:avLst/>
          </a:prstGeom>
          <a:noFill/>
        </p:spPr>
        <p:txBody>
          <a:bodyPr wrap="square" lIns="0" rIns="0" tIns="0" bIns="0" anchor="ctr">
            <a:spAutoFit/>
          </a:bodyPr>
          <a:lstStyle/>
          <a:p>
            <a:pPr algn="l">
              <a:lnSpc>
                <a:spcPct val="110000"/>
              </a:lnSpc>
            </a:pPr>
            <a:r>
              <a:rPr sz="1350" b="1" i="0">
                <a:solidFill>
                  <a:srgbClr val="065A82"/>
                </a:solidFill>
                <a:latin typeface="Arial"/>
              </a:rPr>
              <a:t>Vendor documents</a:t>
            </a:r>
          </a:p>
        </p:txBody>
      </p:sp>
      <p:sp>
        <p:nvSpPr>
          <p:cNvPr id="7" name="Rounded Rectangle 6"/>
          <p:cNvSpPr/>
          <p:nvPr/>
        </p:nvSpPr>
        <p:spPr>
          <a:xfrm>
            <a:off x="4315968" y="1943100"/>
            <a:ext cx="91440" cy="91440"/>
          </a:xfrm>
          <a:prstGeom prst="roundRect">
            <a:avLst>
              <a:gd name="adj" fmla="val 50000"/>
            </a:avLst>
          </a:prstGeom>
          <a:solidFill>
            <a:srgbClr val="F0AB00"/>
          </a:solidFill>
          <a:ln>
            <a:noFill/>
          </a:ln>
          <a:effectLst/>
        </p:spPr>
        <p:txBody>
          <a:bodyPr rtlCol="0" anchor="ctr"/>
          <a:lstStyle/>
          <a:p>
            <a:pPr algn="ctr"/>
          </a:p>
        </p:txBody>
      </p:sp>
      <p:sp>
        <p:nvSpPr>
          <p:cNvPr id="8" name="TextBox 7"/>
          <p:cNvSpPr txBox="1"/>
          <p:nvPr/>
        </p:nvSpPr>
        <p:spPr>
          <a:xfrm>
            <a:off x="4526280" y="1691640"/>
            <a:ext cx="6949440" cy="594360"/>
          </a:xfrm>
          <a:prstGeom prst="rect">
            <a:avLst/>
          </a:prstGeom>
          <a:noFill/>
        </p:spPr>
        <p:txBody>
          <a:bodyPr wrap="square" lIns="0" rIns="0" tIns="0" bIns="0" anchor="ctr">
            <a:spAutoFit/>
          </a:bodyPr>
          <a:lstStyle/>
          <a:p>
            <a:pPr algn="l">
              <a:lnSpc>
                <a:spcPct val="110000"/>
              </a:lnSpc>
            </a:pPr>
            <a:r>
              <a:rPr sz="1350" b="0" i="0">
                <a:solidFill>
                  <a:srgbClr val="21295C"/>
                </a:solidFill>
                <a:latin typeface="Arial"/>
              </a:rPr>
              <a:t>Two examples aren't a sample</a:t>
            </a:r>
          </a:p>
        </p:txBody>
      </p:sp>
      <p:sp>
        <p:nvSpPr>
          <p:cNvPr id="9" name="Rounded Rectangle 8"/>
          <p:cNvSpPr/>
          <p:nvPr/>
        </p:nvSpPr>
        <p:spPr>
          <a:xfrm>
            <a:off x="502920" y="2340864"/>
            <a:ext cx="11183112" cy="594360"/>
          </a:xfrm>
          <a:prstGeom prst="roundRect">
            <a:avLst>
              <a:gd name="adj" fmla="val 25000"/>
            </a:avLst>
          </a:prstGeom>
          <a:solidFill>
            <a:srgbClr val="F4F7FA"/>
          </a:solidFill>
          <a:ln w="19050">
            <a:solidFill>
              <a:srgbClr val="1C7293"/>
            </a:solidFill>
          </a:ln>
          <a:effectLst/>
        </p:spPr>
        <p:txBody>
          <a:bodyPr rtlCol="0" anchor="ctr"/>
          <a:lstStyle/>
          <a:p>
            <a:pPr algn="ctr"/>
          </a:p>
        </p:txBody>
      </p:sp>
      <p:pic>
        <p:nvPicPr>
          <p:cNvPr id="10" name="Picture 9" descr="shield-alert-065A82-64.png"/>
          <p:cNvPicPr>
            <a:picLocks noChangeAspect="1"/>
          </p:cNvPicPr>
          <p:nvPr/>
        </p:nvPicPr>
        <p:blipFill>
          <a:blip r:embed="rId3"/>
          <a:stretch>
            <a:fillRect/>
          </a:stretch>
        </p:blipFill>
        <p:spPr>
          <a:xfrm>
            <a:off x="685800" y="2482596"/>
            <a:ext cx="310896" cy="310896"/>
          </a:xfrm>
          <a:prstGeom prst="rect">
            <a:avLst/>
          </a:prstGeom>
        </p:spPr>
      </p:pic>
      <p:sp>
        <p:nvSpPr>
          <p:cNvPr id="11" name="TextBox 10"/>
          <p:cNvSpPr txBox="1"/>
          <p:nvPr/>
        </p:nvSpPr>
        <p:spPr>
          <a:xfrm>
            <a:off x="1188720" y="2340864"/>
            <a:ext cx="3200400" cy="594360"/>
          </a:xfrm>
          <a:prstGeom prst="rect">
            <a:avLst/>
          </a:prstGeom>
          <a:noFill/>
        </p:spPr>
        <p:txBody>
          <a:bodyPr wrap="square" lIns="0" rIns="0" tIns="0" bIns="0" anchor="ctr">
            <a:spAutoFit/>
          </a:bodyPr>
          <a:lstStyle/>
          <a:p>
            <a:pPr algn="l">
              <a:lnSpc>
                <a:spcPct val="110000"/>
              </a:lnSpc>
            </a:pPr>
            <a:r>
              <a:rPr sz="1350" b="1" i="0">
                <a:solidFill>
                  <a:srgbClr val="065A82"/>
                </a:solidFill>
                <a:latin typeface="Arial"/>
              </a:rPr>
              <a:t>Personal data in logs</a:t>
            </a:r>
          </a:p>
        </p:txBody>
      </p:sp>
      <p:sp>
        <p:nvSpPr>
          <p:cNvPr id="12" name="Rounded Rectangle 11"/>
          <p:cNvSpPr/>
          <p:nvPr/>
        </p:nvSpPr>
        <p:spPr>
          <a:xfrm>
            <a:off x="4315968" y="2592324"/>
            <a:ext cx="91440" cy="91440"/>
          </a:xfrm>
          <a:prstGeom prst="roundRect">
            <a:avLst>
              <a:gd name="adj" fmla="val 50000"/>
            </a:avLst>
          </a:prstGeom>
          <a:solidFill>
            <a:srgbClr val="F0AB00"/>
          </a:solidFill>
          <a:ln>
            <a:noFill/>
          </a:ln>
          <a:effectLst/>
        </p:spPr>
        <p:txBody>
          <a:bodyPr rtlCol="0" anchor="ctr"/>
          <a:lstStyle/>
          <a:p>
            <a:pPr algn="ctr"/>
          </a:p>
        </p:txBody>
      </p:sp>
      <p:sp>
        <p:nvSpPr>
          <p:cNvPr id="13" name="TextBox 12"/>
          <p:cNvSpPr txBox="1"/>
          <p:nvPr/>
        </p:nvSpPr>
        <p:spPr>
          <a:xfrm>
            <a:off x="4526280" y="2340864"/>
            <a:ext cx="6949440" cy="594360"/>
          </a:xfrm>
          <a:prstGeom prst="rect">
            <a:avLst/>
          </a:prstGeom>
          <a:noFill/>
        </p:spPr>
        <p:txBody>
          <a:bodyPr wrap="square" lIns="0" rIns="0" tIns="0" bIns="0" anchor="ctr">
            <a:spAutoFit/>
          </a:bodyPr>
          <a:lstStyle/>
          <a:p>
            <a:pPr algn="l">
              <a:lnSpc>
                <a:spcPct val="110000"/>
              </a:lnSpc>
            </a:pPr>
            <a:r>
              <a:rPr sz="1350" b="0" i="0">
                <a:solidFill>
                  <a:srgbClr val="21295C"/>
                </a:solidFill>
                <a:latin typeface="Arial"/>
              </a:rPr>
              <a:t>The regex/model boundary — inside the task</a:t>
            </a:r>
          </a:p>
        </p:txBody>
      </p:sp>
      <p:sp>
        <p:nvSpPr>
          <p:cNvPr id="14" name="Rounded Rectangle 13"/>
          <p:cNvSpPr/>
          <p:nvPr/>
        </p:nvSpPr>
        <p:spPr>
          <a:xfrm>
            <a:off x="502920" y="2990088"/>
            <a:ext cx="11183112" cy="594360"/>
          </a:xfrm>
          <a:prstGeom prst="roundRect">
            <a:avLst>
              <a:gd name="adj" fmla="val 25000"/>
            </a:avLst>
          </a:prstGeom>
          <a:solidFill>
            <a:srgbClr val="F4F7FA"/>
          </a:solidFill>
          <a:ln w="19050">
            <a:solidFill>
              <a:srgbClr val="1C7293"/>
            </a:solidFill>
          </a:ln>
          <a:effectLst/>
        </p:spPr>
        <p:txBody>
          <a:bodyPr rtlCol="0" anchor="ctr"/>
          <a:lstStyle/>
          <a:p>
            <a:pPr algn="ctr"/>
          </a:p>
        </p:txBody>
      </p:sp>
      <p:pic>
        <p:nvPicPr>
          <p:cNvPr id="15" name="Picture 14" descr="monitor-065A82-64.png"/>
          <p:cNvPicPr>
            <a:picLocks noChangeAspect="1"/>
          </p:cNvPicPr>
          <p:nvPr/>
        </p:nvPicPr>
        <p:blipFill>
          <a:blip r:embed="rId4"/>
          <a:stretch>
            <a:fillRect/>
          </a:stretch>
        </p:blipFill>
        <p:spPr>
          <a:xfrm>
            <a:off x="685800" y="3131820"/>
            <a:ext cx="310896" cy="310896"/>
          </a:xfrm>
          <a:prstGeom prst="rect">
            <a:avLst/>
          </a:prstGeom>
        </p:spPr>
      </p:pic>
      <p:sp>
        <p:nvSpPr>
          <p:cNvPr id="16" name="TextBox 15"/>
          <p:cNvSpPr txBox="1"/>
          <p:nvPr/>
        </p:nvSpPr>
        <p:spPr>
          <a:xfrm>
            <a:off x="1188720" y="2990088"/>
            <a:ext cx="3200400" cy="594360"/>
          </a:xfrm>
          <a:prstGeom prst="rect">
            <a:avLst/>
          </a:prstGeom>
          <a:noFill/>
        </p:spPr>
        <p:txBody>
          <a:bodyPr wrap="square" lIns="0" rIns="0" tIns="0" bIns="0" anchor="ctr">
            <a:spAutoFit/>
          </a:bodyPr>
          <a:lstStyle/>
          <a:p>
            <a:pPr algn="l">
              <a:lnSpc>
                <a:spcPct val="110000"/>
              </a:lnSpc>
            </a:pPr>
            <a:r>
              <a:rPr sz="1350" b="1" i="0">
                <a:solidFill>
                  <a:srgbClr val="065A82"/>
                </a:solidFill>
                <a:latin typeface="Arial"/>
              </a:rPr>
              <a:t>Support assistant</a:t>
            </a:r>
          </a:p>
        </p:txBody>
      </p:sp>
      <p:sp>
        <p:nvSpPr>
          <p:cNvPr id="17" name="Rounded Rectangle 16"/>
          <p:cNvSpPr/>
          <p:nvPr/>
        </p:nvSpPr>
        <p:spPr>
          <a:xfrm>
            <a:off x="4315968" y="3241548"/>
            <a:ext cx="91440" cy="91440"/>
          </a:xfrm>
          <a:prstGeom prst="roundRect">
            <a:avLst>
              <a:gd name="adj" fmla="val 50000"/>
            </a:avLst>
          </a:prstGeom>
          <a:solidFill>
            <a:srgbClr val="F0AB00"/>
          </a:solidFill>
          <a:ln>
            <a:noFill/>
          </a:ln>
          <a:effectLst/>
        </p:spPr>
        <p:txBody>
          <a:bodyPr rtlCol="0" anchor="ctr"/>
          <a:lstStyle/>
          <a:p>
            <a:pPr algn="ctr"/>
          </a:p>
        </p:txBody>
      </p:sp>
      <p:sp>
        <p:nvSpPr>
          <p:cNvPr id="18" name="TextBox 17"/>
          <p:cNvSpPr txBox="1"/>
          <p:nvPr/>
        </p:nvSpPr>
        <p:spPr>
          <a:xfrm>
            <a:off x="4526280" y="2990088"/>
            <a:ext cx="6949440" cy="594360"/>
          </a:xfrm>
          <a:prstGeom prst="rect">
            <a:avLst/>
          </a:prstGeom>
          <a:noFill/>
        </p:spPr>
        <p:txBody>
          <a:bodyPr wrap="square" lIns="0" rIns="0" tIns="0" bIns="0" anchor="ctr">
            <a:spAutoFit/>
          </a:bodyPr>
          <a:lstStyle/>
          <a:p>
            <a:pPr algn="l">
              <a:lnSpc>
                <a:spcPct val="110000"/>
              </a:lnSpc>
            </a:pPr>
            <a:r>
              <a:rPr sz="1350" b="0" i="0">
                <a:solidFill>
                  <a:srgbClr val="21295C"/>
                </a:solidFill>
                <a:latin typeface="Arial"/>
              </a:rPr>
              <a:t>An organizational constraint settles it just as well as technical ones</a:t>
            </a:r>
          </a:p>
        </p:txBody>
      </p:sp>
      <p:sp>
        <p:nvSpPr>
          <p:cNvPr id="19" name="Rounded Rectangle 18"/>
          <p:cNvSpPr/>
          <p:nvPr/>
        </p:nvSpPr>
        <p:spPr>
          <a:xfrm>
            <a:off x="502920" y="3639312"/>
            <a:ext cx="11183112" cy="594360"/>
          </a:xfrm>
          <a:prstGeom prst="roundRect">
            <a:avLst>
              <a:gd name="adj" fmla="val 25000"/>
            </a:avLst>
          </a:prstGeom>
          <a:solidFill>
            <a:srgbClr val="F4F7FA"/>
          </a:solidFill>
          <a:ln w="19050">
            <a:solidFill>
              <a:srgbClr val="1C7293"/>
            </a:solidFill>
          </a:ln>
          <a:effectLst/>
        </p:spPr>
        <p:txBody>
          <a:bodyPr rtlCol="0" anchor="ctr"/>
          <a:lstStyle/>
          <a:p>
            <a:pPr algn="ctr"/>
          </a:p>
        </p:txBody>
      </p:sp>
      <p:pic>
        <p:nvPicPr>
          <p:cNvPr id="20" name="Picture 19" descr="store-065A82-64.png"/>
          <p:cNvPicPr>
            <a:picLocks noChangeAspect="1"/>
          </p:cNvPicPr>
          <p:nvPr/>
        </p:nvPicPr>
        <p:blipFill>
          <a:blip r:embed="rId5"/>
          <a:stretch>
            <a:fillRect/>
          </a:stretch>
        </p:blipFill>
        <p:spPr>
          <a:xfrm>
            <a:off x="685800" y="3781044"/>
            <a:ext cx="310896" cy="310896"/>
          </a:xfrm>
          <a:prstGeom prst="rect">
            <a:avLst/>
          </a:prstGeom>
        </p:spPr>
      </p:pic>
      <p:sp>
        <p:nvSpPr>
          <p:cNvPr id="21" name="TextBox 20"/>
          <p:cNvSpPr txBox="1"/>
          <p:nvPr/>
        </p:nvSpPr>
        <p:spPr>
          <a:xfrm>
            <a:off x="1188720" y="3639312"/>
            <a:ext cx="3200400" cy="594360"/>
          </a:xfrm>
          <a:prstGeom prst="rect">
            <a:avLst/>
          </a:prstGeom>
          <a:noFill/>
        </p:spPr>
        <p:txBody>
          <a:bodyPr wrap="square" lIns="0" rIns="0" tIns="0" bIns="0" anchor="ctr">
            <a:spAutoFit/>
          </a:bodyPr>
          <a:lstStyle/>
          <a:p>
            <a:pPr algn="l">
              <a:lnSpc>
                <a:spcPct val="110000"/>
              </a:lnSpc>
            </a:pPr>
            <a:r>
              <a:rPr sz="1350" b="1" i="0">
                <a:solidFill>
                  <a:srgbClr val="065A82"/>
                </a:solidFill>
                <a:latin typeface="Arial"/>
              </a:rPr>
              <a:t>Product descriptions</a:t>
            </a:r>
          </a:p>
        </p:txBody>
      </p:sp>
      <p:sp>
        <p:nvSpPr>
          <p:cNvPr id="22" name="Rounded Rectangle 21"/>
          <p:cNvSpPr/>
          <p:nvPr/>
        </p:nvSpPr>
        <p:spPr>
          <a:xfrm>
            <a:off x="4315968" y="3890772"/>
            <a:ext cx="91440" cy="91440"/>
          </a:xfrm>
          <a:prstGeom prst="roundRect">
            <a:avLst>
              <a:gd name="adj" fmla="val 50000"/>
            </a:avLst>
          </a:prstGeom>
          <a:solidFill>
            <a:srgbClr val="F0AB00"/>
          </a:solidFill>
          <a:ln>
            <a:noFill/>
          </a:ln>
          <a:effectLst/>
        </p:spPr>
        <p:txBody>
          <a:bodyPr rtlCol="0" anchor="ctr"/>
          <a:lstStyle/>
          <a:p>
            <a:pPr algn="ctr"/>
          </a:p>
        </p:txBody>
      </p:sp>
      <p:sp>
        <p:nvSpPr>
          <p:cNvPr id="23" name="TextBox 22"/>
          <p:cNvSpPr txBox="1"/>
          <p:nvPr/>
        </p:nvSpPr>
        <p:spPr>
          <a:xfrm>
            <a:off x="4526280" y="3639312"/>
            <a:ext cx="6949440" cy="594360"/>
          </a:xfrm>
          <a:prstGeom prst="rect">
            <a:avLst/>
          </a:prstGeom>
          <a:noFill/>
        </p:spPr>
        <p:txBody>
          <a:bodyPr wrap="square" lIns="0" rIns="0" tIns="0" bIns="0" anchor="ctr">
            <a:spAutoFit/>
          </a:bodyPr>
          <a:lstStyle/>
          <a:p>
            <a:pPr algn="l">
              <a:lnSpc>
                <a:spcPct val="110000"/>
              </a:lnSpc>
            </a:pPr>
            <a:r>
              <a:rPr sz="1350" b="0" i="0">
                <a:solidFill>
                  <a:srgbClr val="21295C"/>
                </a:solidFill>
                <a:latin typeface="Arial"/>
              </a:rPr>
              <a:t>Being built-in beats a standalone product</a:t>
            </a:r>
          </a:p>
        </p:txBody>
      </p:sp>
      <p:sp>
        <p:nvSpPr>
          <p:cNvPr id="24" name="Rounded Rectangle 23"/>
          <p:cNvSpPr/>
          <p:nvPr/>
        </p:nvSpPr>
        <p:spPr>
          <a:xfrm>
            <a:off x="502920" y="4288536"/>
            <a:ext cx="11183112" cy="594360"/>
          </a:xfrm>
          <a:prstGeom prst="roundRect">
            <a:avLst>
              <a:gd name="adj" fmla="val 25000"/>
            </a:avLst>
          </a:prstGeom>
          <a:solidFill>
            <a:srgbClr val="F4F7FA"/>
          </a:solidFill>
          <a:ln w="19050">
            <a:solidFill>
              <a:srgbClr val="1C7293"/>
            </a:solidFill>
          </a:ln>
          <a:effectLst/>
        </p:spPr>
        <p:txBody>
          <a:bodyPr rtlCol="0" anchor="ctr"/>
          <a:lstStyle/>
          <a:p>
            <a:pPr algn="ctr"/>
          </a:p>
        </p:txBody>
      </p:sp>
      <p:pic>
        <p:nvPicPr>
          <p:cNvPr id="25" name="Picture 24" descr="list-checks-065A82-64.png"/>
          <p:cNvPicPr>
            <a:picLocks noChangeAspect="1"/>
          </p:cNvPicPr>
          <p:nvPr/>
        </p:nvPicPr>
        <p:blipFill>
          <a:blip r:embed="rId6"/>
          <a:stretch>
            <a:fillRect/>
          </a:stretch>
        </p:blipFill>
        <p:spPr>
          <a:xfrm>
            <a:off x="685800" y="4430268"/>
            <a:ext cx="310896" cy="310896"/>
          </a:xfrm>
          <a:prstGeom prst="rect">
            <a:avLst/>
          </a:prstGeom>
        </p:spPr>
      </p:pic>
      <p:sp>
        <p:nvSpPr>
          <p:cNvPr id="26" name="TextBox 25"/>
          <p:cNvSpPr txBox="1"/>
          <p:nvPr/>
        </p:nvSpPr>
        <p:spPr>
          <a:xfrm>
            <a:off x="1188720" y="4288536"/>
            <a:ext cx="3200400" cy="594360"/>
          </a:xfrm>
          <a:prstGeom prst="rect">
            <a:avLst/>
          </a:prstGeom>
          <a:noFill/>
        </p:spPr>
        <p:txBody>
          <a:bodyPr wrap="square" lIns="0" rIns="0" tIns="0" bIns="0" anchor="ctr">
            <a:spAutoFit/>
          </a:bodyPr>
          <a:lstStyle/>
          <a:p>
            <a:pPr algn="l">
              <a:lnSpc>
                <a:spcPct val="110000"/>
              </a:lnSpc>
            </a:pPr>
            <a:r>
              <a:rPr sz="1350" b="1" i="0">
                <a:solidFill>
                  <a:srgbClr val="065A82"/>
                </a:solidFill>
                <a:latin typeface="Arial"/>
              </a:rPr>
              <a:t>Meeting minutes</a:t>
            </a:r>
          </a:p>
        </p:txBody>
      </p:sp>
      <p:sp>
        <p:nvSpPr>
          <p:cNvPr id="27" name="Rounded Rectangle 26"/>
          <p:cNvSpPr/>
          <p:nvPr/>
        </p:nvSpPr>
        <p:spPr>
          <a:xfrm>
            <a:off x="4315968" y="4539996"/>
            <a:ext cx="91440" cy="91440"/>
          </a:xfrm>
          <a:prstGeom prst="roundRect">
            <a:avLst>
              <a:gd name="adj" fmla="val 50000"/>
            </a:avLst>
          </a:prstGeom>
          <a:solidFill>
            <a:srgbClr val="F0AB00"/>
          </a:solidFill>
          <a:ln>
            <a:noFill/>
          </a:ln>
          <a:effectLst/>
        </p:spPr>
        <p:txBody>
          <a:bodyPr rtlCol="0" anchor="ctr"/>
          <a:lstStyle/>
          <a:p>
            <a:pPr algn="ctr"/>
          </a:p>
        </p:txBody>
      </p:sp>
      <p:sp>
        <p:nvSpPr>
          <p:cNvPr id="28" name="TextBox 27"/>
          <p:cNvSpPr txBox="1"/>
          <p:nvPr/>
        </p:nvSpPr>
        <p:spPr>
          <a:xfrm>
            <a:off x="4526280" y="4288536"/>
            <a:ext cx="6949440" cy="594360"/>
          </a:xfrm>
          <a:prstGeom prst="rect">
            <a:avLst/>
          </a:prstGeom>
          <a:noFill/>
        </p:spPr>
        <p:txBody>
          <a:bodyPr wrap="square" lIns="0" rIns="0" tIns="0" bIns="0" anchor="ctr">
            <a:spAutoFit/>
          </a:bodyPr>
          <a:lstStyle/>
          <a:p>
            <a:pPr algn="l">
              <a:lnSpc>
                <a:spcPct val="110000"/>
              </a:lnSpc>
            </a:pPr>
            <a:r>
              <a:rPr sz="1350" b="0" i="0">
                <a:solidFill>
                  <a:srgbClr val="21295C"/>
                </a:solidFill>
                <a:latin typeface="Arial"/>
              </a:rPr>
              <a:t>Requirements drive the architecture, not fashion</a:t>
            </a:r>
          </a:p>
        </p:txBody>
      </p:sp>
      <p:sp>
        <p:nvSpPr>
          <p:cNvPr id="29" name="Rounded Rectangle 28"/>
          <p:cNvSpPr/>
          <p:nvPr/>
        </p:nvSpPr>
        <p:spPr>
          <a:xfrm>
            <a:off x="502920" y="4937760"/>
            <a:ext cx="11183112" cy="594360"/>
          </a:xfrm>
          <a:prstGeom prst="roundRect">
            <a:avLst>
              <a:gd name="adj" fmla="val 25000"/>
            </a:avLst>
          </a:prstGeom>
          <a:solidFill>
            <a:srgbClr val="F4F7FA"/>
          </a:solidFill>
          <a:ln w="19050">
            <a:solidFill>
              <a:srgbClr val="1C7293"/>
            </a:solidFill>
          </a:ln>
          <a:effectLst/>
        </p:spPr>
        <p:txBody>
          <a:bodyPr rtlCol="0" anchor="ctr"/>
          <a:lstStyle/>
          <a:p>
            <a:pPr algn="ctr"/>
          </a:p>
        </p:txBody>
      </p:sp>
      <p:pic>
        <p:nvPicPr>
          <p:cNvPr id="30" name="Picture 29" descr="mail-065A82-64.png"/>
          <p:cNvPicPr>
            <a:picLocks noChangeAspect="1"/>
          </p:cNvPicPr>
          <p:nvPr/>
        </p:nvPicPr>
        <p:blipFill>
          <a:blip r:embed="rId7"/>
          <a:stretch>
            <a:fillRect/>
          </a:stretch>
        </p:blipFill>
        <p:spPr>
          <a:xfrm>
            <a:off x="685800" y="5079492"/>
            <a:ext cx="310896" cy="310896"/>
          </a:xfrm>
          <a:prstGeom prst="rect">
            <a:avLst/>
          </a:prstGeom>
        </p:spPr>
      </p:pic>
      <p:sp>
        <p:nvSpPr>
          <p:cNvPr id="31" name="TextBox 30"/>
          <p:cNvSpPr txBox="1"/>
          <p:nvPr/>
        </p:nvSpPr>
        <p:spPr>
          <a:xfrm>
            <a:off x="1188720" y="4937760"/>
            <a:ext cx="3200400" cy="594360"/>
          </a:xfrm>
          <a:prstGeom prst="rect">
            <a:avLst/>
          </a:prstGeom>
          <a:noFill/>
        </p:spPr>
        <p:txBody>
          <a:bodyPr wrap="square" lIns="0" rIns="0" tIns="0" bIns="0" anchor="ctr">
            <a:spAutoFit/>
          </a:bodyPr>
          <a:lstStyle/>
          <a:p>
            <a:pPr algn="l">
              <a:lnSpc>
                <a:spcPct val="110000"/>
              </a:lnSpc>
            </a:pPr>
            <a:r>
              <a:rPr sz="1350" b="1" i="0">
                <a:solidFill>
                  <a:srgbClr val="065A82"/>
                </a:solidFill>
                <a:latin typeface="Arial"/>
              </a:rPr>
              <a:t>Digest</a:t>
            </a:r>
          </a:p>
        </p:txBody>
      </p:sp>
      <p:sp>
        <p:nvSpPr>
          <p:cNvPr id="32" name="Rounded Rectangle 31"/>
          <p:cNvSpPr/>
          <p:nvPr/>
        </p:nvSpPr>
        <p:spPr>
          <a:xfrm>
            <a:off x="4315968" y="5189220"/>
            <a:ext cx="91440" cy="91440"/>
          </a:xfrm>
          <a:prstGeom prst="roundRect">
            <a:avLst>
              <a:gd name="adj" fmla="val 50000"/>
            </a:avLst>
          </a:prstGeom>
          <a:solidFill>
            <a:srgbClr val="F0AB00"/>
          </a:solidFill>
          <a:ln>
            <a:noFill/>
          </a:ln>
          <a:effectLst/>
        </p:spPr>
        <p:txBody>
          <a:bodyPr rtlCol="0" anchor="ctr"/>
          <a:lstStyle/>
          <a:p>
            <a:pPr algn="ctr"/>
          </a:p>
        </p:txBody>
      </p:sp>
      <p:sp>
        <p:nvSpPr>
          <p:cNvPr id="33" name="TextBox 32"/>
          <p:cNvSpPr txBox="1"/>
          <p:nvPr/>
        </p:nvSpPr>
        <p:spPr>
          <a:xfrm>
            <a:off x="4526280" y="4937760"/>
            <a:ext cx="6949440" cy="594360"/>
          </a:xfrm>
          <a:prstGeom prst="rect">
            <a:avLst/>
          </a:prstGeom>
          <a:noFill/>
        </p:spPr>
        <p:txBody>
          <a:bodyPr wrap="square" lIns="0" rIns="0" tIns="0" bIns="0" anchor="ctr">
            <a:spAutoFit/>
          </a:bodyPr>
          <a:lstStyle/>
          <a:p>
            <a:pPr algn="l">
              <a:lnSpc>
                <a:spcPct val="110000"/>
              </a:lnSpc>
            </a:pPr>
            <a:r>
              <a:rPr sz="1350" b="0" i="0">
                <a:solidFill>
                  <a:srgbClr val="21295C"/>
                </a:solidFill>
                <a:latin typeface="Arial"/>
              </a:rPr>
              <a:t>Many sources ≠ RAG</a:t>
            </a:r>
          </a:p>
        </p:txBody>
      </p:sp>
      <p:sp>
        <p:nvSpPr>
          <p:cNvPr id="34" name="Rounded Rectangle 33"/>
          <p:cNvSpPr/>
          <p:nvPr/>
        </p:nvSpPr>
        <p:spPr>
          <a:xfrm>
            <a:off x="502920" y="5586983"/>
            <a:ext cx="11183112" cy="594360"/>
          </a:xfrm>
          <a:prstGeom prst="roundRect">
            <a:avLst>
              <a:gd name="adj" fmla="val 25000"/>
            </a:avLst>
          </a:prstGeom>
          <a:solidFill>
            <a:srgbClr val="F4F7FA"/>
          </a:solidFill>
          <a:ln w="19050">
            <a:solidFill>
              <a:srgbClr val="1C7293"/>
            </a:solidFill>
          </a:ln>
          <a:effectLst/>
        </p:spPr>
        <p:txBody>
          <a:bodyPr rtlCol="0" anchor="ctr"/>
          <a:lstStyle/>
          <a:p>
            <a:pPr algn="ctr"/>
          </a:p>
        </p:txBody>
      </p:sp>
      <p:pic>
        <p:nvPicPr>
          <p:cNvPr id="35" name="Picture 34" descr="phone-065A82-64.png"/>
          <p:cNvPicPr>
            <a:picLocks noChangeAspect="1"/>
          </p:cNvPicPr>
          <p:nvPr/>
        </p:nvPicPr>
        <p:blipFill>
          <a:blip r:embed="rId8"/>
          <a:stretch>
            <a:fillRect/>
          </a:stretch>
        </p:blipFill>
        <p:spPr>
          <a:xfrm>
            <a:off x="685800" y="5728716"/>
            <a:ext cx="310896" cy="310896"/>
          </a:xfrm>
          <a:prstGeom prst="rect">
            <a:avLst/>
          </a:prstGeom>
        </p:spPr>
      </p:pic>
      <p:sp>
        <p:nvSpPr>
          <p:cNvPr id="36" name="TextBox 35"/>
          <p:cNvSpPr txBox="1"/>
          <p:nvPr/>
        </p:nvSpPr>
        <p:spPr>
          <a:xfrm>
            <a:off x="1188720" y="5586983"/>
            <a:ext cx="3200400" cy="594360"/>
          </a:xfrm>
          <a:prstGeom prst="rect">
            <a:avLst/>
          </a:prstGeom>
          <a:noFill/>
        </p:spPr>
        <p:txBody>
          <a:bodyPr wrap="square" lIns="0" rIns="0" tIns="0" bIns="0" anchor="ctr">
            <a:spAutoFit/>
          </a:bodyPr>
          <a:lstStyle/>
          <a:p>
            <a:pPr algn="l">
              <a:lnSpc>
                <a:spcPct val="110000"/>
              </a:lnSpc>
            </a:pPr>
            <a:r>
              <a:rPr sz="1350" b="1" i="0">
                <a:solidFill>
                  <a:srgbClr val="065A82"/>
                </a:solidFill>
                <a:latin typeface="Arial"/>
              </a:rPr>
              <a:t>Sales calls</a:t>
            </a:r>
          </a:p>
        </p:txBody>
      </p:sp>
      <p:sp>
        <p:nvSpPr>
          <p:cNvPr id="37" name="Rounded Rectangle 36"/>
          <p:cNvSpPr/>
          <p:nvPr/>
        </p:nvSpPr>
        <p:spPr>
          <a:xfrm>
            <a:off x="4315968" y="5838444"/>
            <a:ext cx="91440" cy="91440"/>
          </a:xfrm>
          <a:prstGeom prst="roundRect">
            <a:avLst>
              <a:gd name="adj" fmla="val 50000"/>
            </a:avLst>
          </a:prstGeom>
          <a:solidFill>
            <a:srgbClr val="F0AB00"/>
          </a:solidFill>
          <a:ln>
            <a:noFill/>
          </a:ln>
          <a:effectLst/>
        </p:spPr>
        <p:txBody>
          <a:bodyPr rtlCol="0" anchor="ctr"/>
          <a:lstStyle/>
          <a:p>
            <a:pPr algn="ctr"/>
          </a:p>
        </p:txBody>
      </p:sp>
      <p:sp>
        <p:nvSpPr>
          <p:cNvPr id="38" name="TextBox 37"/>
          <p:cNvSpPr txBox="1"/>
          <p:nvPr/>
        </p:nvSpPr>
        <p:spPr>
          <a:xfrm>
            <a:off x="4526280" y="5586983"/>
            <a:ext cx="6949440" cy="594360"/>
          </a:xfrm>
          <a:prstGeom prst="rect">
            <a:avLst/>
          </a:prstGeom>
          <a:noFill/>
        </p:spPr>
        <p:txBody>
          <a:bodyPr wrap="square" lIns="0" rIns="0" tIns="0" bIns="0" anchor="ctr">
            <a:spAutoFit/>
          </a:bodyPr>
          <a:lstStyle/>
          <a:p>
            <a:pPr algn="l">
              <a:lnSpc>
                <a:spcPct val="110000"/>
              </a:lnSpc>
            </a:pPr>
            <a:r>
              <a:rPr sz="1350" b="0" i="0">
                <a:solidFill>
                  <a:srgbClr val="21295C"/>
                </a:solidFill>
                <a:latin typeface="Arial"/>
              </a:rPr>
              <a:t>Hard for a human ≠ hard for a model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1183112" cy="91440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Homework reading</a:t>
            </a:r>
          </a:p>
        </p:txBody>
      </p:sp>
      <p:sp>
        <p:nvSpPr>
          <p:cNvPr id="3" name="TextBox 2"/>
          <p:cNvSpPr txBox="1"/>
          <p:nvPr/>
        </p:nvSpPr>
        <p:spPr>
          <a:xfrm>
            <a:off x="502920" y="1051560"/>
            <a:ext cx="11183112" cy="411480"/>
          </a:xfrm>
          <a:prstGeom prst="rect">
            <a:avLst/>
          </a:prstGeom>
          <a:noFill/>
        </p:spPr>
        <p:txBody>
          <a:bodyPr wrap="square" lIns="0" rIns="0" tIns="0" bIns="0" anchor="t">
            <a:spAutoFit/>
          </a:bodyPr>
          <a:lstStyle/>
          <a:p>
            <a:pPr algn="l">
              <a:lnSpc>
                <a:spcPct val="115000"/>
              </a:lnSpc>
            </a:pPr>
            <a:r>
              <a:rPr sz="1500" b="0" i="1">
                <a:solidFill>
                  <a:srgbClr val="065A82"/>
                </a:solidFill>
                <a:latin typeface="Arial"/>
              </a:rPr>
              <a:t>Optional, but there'll be something to discuss for each story</a:t>
            </a:r>
          </a:p>
        </p:txBody>
      </p:sp>
      <p:sp>
        <p:nvSpPr>
          <p:cNvPr id="4" name="Rounded Rectangle 3"/>
          <p:cNvSpPr/>
          <p:nvPr/>
        </p:nvSpPr>
        <p:spPr>
          <a:xfrm>
            <a:off x="502920" y="1600200"/>
            <a:ext cx="3557016" cy="4480560"/>
          </a:xfrm>
          <a:prstGeom prst="roundRect">
            <a:avLst>
              <a:gd name="adj" fmla="val 8568"/>
            </a:avLst>
          </a:prstGeom>
          <a:solidFill>
            <a:srgbClr val="F4F7FA"/>
          </a:solidFill>
          <a:ln w="25400">
            <a:solidFill>
              <a:srgbClr val="F0AB00"/>
            </a:solidFill>
          </a:ln>
          <a:effectLst/>
        </p:spPr>
        <p:txBody>
          <a:bodyPr rtlCol="0" anchor="ctr"/>
          <a:lstStyle/>
          <a:p>
            <a:pPr algn="ctr"/>
          </a:p>
        </p:txBody>
      </p:sp>
      <p:sp>
        <p:nvSpPr>
          <p:cNvPr id="5" name="Rounded Rectangle 4"/>
          <p:cNvSpPr/>
          <p:nvPr/>
        </p:nvSpPr>
        <p:spPr>
          <a:xfrm>
            <a:off x="2825496" y="1783080"/>
            <a:ext cx="1051560" cy="310896"/>
          </a:xfrm>
          <a:prstGeom prst="roundRect">
            <a:avLst>
              <a:gd name="adj" fmla="val 50000"/>
            </a:avLst>
          </a:prstGeom>
          <a:solidFill>
            <a:srgbClr val="F0AB00"/>
          </a:solidFill>
          <a:ln>
            <a:noFill/>
          </a:ln>
          <a:effectLst/>
        </p:spPr>
        <p:txBody>
          <a:bodyPr rtlCol="0" anchor="ctr" lIns="45720" rIns="45720" tIns="27432" bIns="27432" wrap="none"/>
          <a:lstStyle/>
          <a:p>
            <a:pPr algn="ctr"/>
            <a:r>
              <a:rPr sz="1050" b="1">
                <a:solidFill>
                  <a:srgbClr val="21295C"/>
                </a:solidFill>
                <a:latin typeface="Arial"/>
              </a:rPr>
              <a:t>MAIN</a:t>
            </a:r>
          </a:p>
        </p:txBody>
      </p:sp>
      <p:pic>
        <p:nvPicPr>
          <p:cNvPr id="6" name="Picture 5" descr="handshake-065A82-96.png"/>
          <p:cNvPicPr>
            <a:picLocks noChangeAspect="1"/>
          </p:cNvPicPr>
          <p:nvPr/>
        </p:nvPicPr>
        <p:blipFill>
          <a:blip r:embed="rId2"/>
          <a:stretch>
            <a:fillRect/>
          </a:stretch>
        </p:blipFill>
        <p:spPr>
          <a:xfrm>
            <a:off x="2007108" y="1874519"/>
            <a:ext cx="548640" cy="548640"/>
          </a:xfrm>
          <a:prstGeom prst="rect">
            <a:avLst/>
          </a:prstGeom>
        </p:spPr>
      </p:pic>
      <p:sp>
        <p:nvSpPr>
          <p:cNvPr id="7" name="TextBox 6"/>
          <p:cNvSpPr txBox="1"/>
          <p:nvPr/>
        </p:nvSpPr>
        <p:spPr>
          <a:xfrm>
            <a:off x="685800" y="2651760"/>
            <a:ext cx="3191256" cy="822960"/>
          </a:xfrm>
          <a:prstGeom prst="rect">
            <a:avLst/>
          </a:prstGeom>
          <a:noFill/>
        </p:spPr>
        <p:txBody>
          <a:bodyPr wrap="square" lIns="0" rIns="0" tIns="0" bIns="0" anchor="t">
            <a:spAutoFit/>
          </a:bodyPr>
          <a:lstStyle/>
          <a:p>
            <a:pPr algn="ctr">
              <a:lnSpc>
                <a:spcPct val="120000"/>
              </a:lnSpc>
            </a:pPr>
            <a:r>
              <a:rPr sz="1500" b="1" i="0">
                <a:solidFill>
                  <a:srgbClr val="065A82"/>
                </a:solidFill>
                <a:latin typeface="Arial"/>
              </a:rPr>
              <a:t>The Klarna saga, 2023-2025</a:t>
            </a:r>
          </a:p>
        </p:txBody>
      </p:sp>
      <p:sp>
        <p:nvSpPr>
          <p:cNvPr id="8" name="TextBox 7"/>
          <p:cNvSpPr txBox="1"/>
          <p:nvPr/>
        </p:nvSpPr>
        <p:spPr>
          <a:xfrm>
            <a:off x="685800" y="3566160"/>
            <a:ext cx="3191256" cy="2331720"/>
          </a:xfrm>
          <a:prstGeom prst="rect">
            <a:avLst/>
          </a:prstGeom>
          <a:noFill/>
        </p:spPr>
        <p:txBody>
          <a:bodyPr wrap="square" lIns="0" rIns="0" tIns="0" bIns="0" anchor="t">
            <a:spAutoFit/>
          </a:bodyPr>
          <a:lstStyle/>
          <a:p>
            <a:pPr algn="l">
              <a:lnSpc>
                <a:spcPct val="132000"/>
              </a:lnSpc>
            </a:pPr>
            <a:r>
              <a:rPr sz="1250" b="0" i="0">
                <a:solidFill>
                  <a:srgbClr val="21295C"/>
                </a:solidFill>
                <a:latin typeface="Arial"/>
              </a:rPr>
              <a:t>An AI support assistant: from an impressive launch to the admission "we went too far" and a return to hiring people.</a:t>
            </a:r>
          </a:p>
        </p:txBody>
      </p:sp>
      <p:sp>
        <p:nvSpPr>
          <p:cNvPr id="9" name="Rounded Rectangle 8"/>
          <p:cNvSpPr/>
          <p:nvPr/>
        </p:nvSpPr>
        <p:spPr>
          <a:xfrm>
            <a:off x="4315968" y="1600200"/>
            <a:ext cx="3557016" cy="4480560"/>
          </a:xfrm>
          <a:prstGeom prst="roundRect">
            <a:avLst>
              <a:gd name="adj" fmla="val 8568"/>
            </a:avLst>
          </a:prstGeom>
          <a:solidFill>
            <a:srgbClr val="F4F7FA"/>
          </a:solidFill>
          <a:ln w="19050">
            <a:solidFill>
              <a:srgbClr val="1C7293"/>
            </a:solidFill>
          </a:ln>
          <a:effectLst/>
        </p:spPr>
        <p:txBody>
          <a:bodyPr rtlCol="0" anchor="ctr"/>
          <a:lstStyle/>
          <a:p>
            <a:pPr algn="ctr"/>
          </a:p>
        </p:txBody>
      </p:sp>
      <p:pic>
        <p:nvPicPr>
          <p:cNvPr id="10" name="Picture 9" descr="building-2-065A82-96.png"/>
          <p:cNvPicPr>
            <a:picLocks noChangeAspect="1"/>
          </p:cNvPicPr>
          <p:nvPr/>
        </p:nvPicPr>
        <p:blipFill>
          <a:blip r:embed="rId3"/>
          <a:stretch>
            <a:fillRect/>
          </a:stretch>
        </p:blipFill>
        <p:spPr>
          <a:xfrm>
            <a:off x="5820156" y="1874519"/>
            <a:ext cx="548640" cy="548640"/>
          </a:xfrm>
          <a:prstGeom prst="rect">
            <a:avLst/>
          </a:prstGeom>
        </p:spPr>
      </p:pic>
      <p:sp>
        <p:nvSpPr>
          <p:cNvPr id="11" name="TextBox 10"/>
          <p:cNvSpPr txBox="1"/>
          <p:nvPr/>
        </p:nvSpPr>
        <p:spPr>
          <a:xfrm>
            <a:off x="4498848" y="2651760"/>
            <a:ext cx="3191256" cy="822960"/>
          </a:xfrm>
          <a:prstGeom prst="rect">
            <a:avLst/>
          </a:prstGeom>
          <a:noFill/>
        </p:spPr>
        <p:txBody>
          <a:bodyPr wrap="square" lIns="0" rIns="0" tIns="0" bIns="0" anchor="t">
            <a:spAutoFit/>
          </a:bodyPr>
          <a:lstStyle/>
          <a:p>
            <a:pPr algn="ctr">
              <a:lnSpc>
                <a:spcPct val="120000"/>
              </a:lnSpc>
            </a:pPr>
            <a:r>
              <a:rPr sz="1500" b="1" i="0">
                <a:solidFill>
                  <a:srgbClr val="065A82"/>
                </a:solidFill>
                <a:latin typeface="Arial"/>
              </a:rPr>
              <a:t>NYC MyCity chatbot, 2024</a:t>
            </a:r>
          </a:p>
        </p:txBody>
      </p:sp>
      <p:sp>
        <p:nvSpPr>
          <p:cNvPr id="12" name="TextBox 11"/>
          <p:cNvSpPr txBox="1"/>
          <p:nvPr/>
        </p:nvSpPr>
        <p:spPr>
          <a:xfrm>
            <a:off x="4498848" y="3566160"/>
            <a:ext cx="3191256" cy="2331720"/>
          </a:xfrm>
          <a:prstGeom prst="rect">
            <a:avLst/>
          </a:prstGeom>
          <a:noFill/>
        </p:spPr>
        <p:txBody>
          <a:bodyPr wrap="square" lIns="0" rIns="0" tIns="0" bIns="0" anchor="t">
            <a:spAutoFit/>
          </a:bodyPr>
          <a:lstStyle/>
          <a:p>
            <a:pPr algn="l">
              <a:lnSpc>
                <a:spcPct val="132000"/>
              </a:lnSpc>
            </a:pPr>
            <a:r>
              <a:rPr sz="1250" b="0" i="0">
                <a:solidFill>
                  <a:srgbClr val="21295C"/>
                </a:solidFill>
                <a:latin typeface="Arial"/>
              </a:rPr>
              <a:t>A city chatbot for small businesses that gave legally incorrect advice. Investigated by The Markup.</a:t>
            </a:r>
          </a:p>
        </p:txBody>
      </p:sp>
      <p:sp>
        <p:nvSpPr>
          <p:cNvPr id="13" name="Rounded Rectangle 12"/>
          <p:cNvSpPr/>
          <p:nvPr/>
        </p:nvSpPr>
        <p:spPr>
          <a:xfrm>
            <a:off x="8129016" y="1600200"/>
            <a:ext cx="3557016" cy="4480560"/>
          </a:xfrm>
          <a:prstGeom prst="roundRect">
            <a:avLst>
              <a:gd name="adj" fmla="val 8568"/>
            </a:avLst>
          </a:prstGeom>
          <a:solidFill>
            <a:srgbClr val="F4F7FA"/>
          </a:solidFill>
          <a:ln w="19050">
            <a:solidFill>
              <a:srgbClr val="1C7293"/>
            </a:solidFill>
          </a:ln>
          <a:effectLst/>
        </p:spPr>
        <p:txBody>
          <a:bodyPr rtlCol="0" anchor="ctr"/>
          <a:lstStyle/>
          <a:p>
            <a:pPr algn="ctr"/>
          </a:p>
        </p:txBody>
      </p:sp>
      <p:pic>
        <p:nvPicPr>
          <p:cNvPr id="14" name="Picture 13" descr="banknote-065A82-96.png"/>
          <p:cNvPicPr>
            <a:picLocks noChangeAspect="1"/>
          </p:cNvPicPr>
          <p:nvPr/>
        </p:nvPicPr>
        <p:blipFill>
          <a:blip r:embed="rId4"/>
          <a:stretch>
            <a:fillRect/>
          </a:stretch>
        </p:blipFill>
        <p:spPr>
          <a:xfrm>
            <a:off x="9633204" y="1874519"/>
            <a:ext cx="548640" cy="548640"/>
          </a:xfrm>
          <a:prstGeom prst="rect">
            <a:avLst/>
          </a:prstGeom>
        </p:spPr>
      </p:pic>
      <p:sp>
        <p:nvSpPr>
          <p:cNvPr id="15" name="TextBox 14"/>
          <p:cNvSpPr txBox="1"/>
          <p:nvPr/>
        </p:nvSpPr>
        <p:spPr>
          <a:xfrm>
            <a:off x="8311896" y="2651760"/>
            <a:ext cx="3191256" cy="822960"/>
          </a:xfrm>
          <a:prstGeom prst="rect">
            <a:avLst/>
          </a:prstGeom>
          <a:noFill/>
        </p:spPr>
        <p:txBody>
          <a:bodyPr wrap="square" lIns="0" rIns="0" tIns="0" bIns="0" anchor="t">
            <a:spAutoFit/>
          </a:bodyPr>
          <a:lstStyle/>
          <a:p>
            <a:pPr algn="ctr">
              <a:lnSpc>
                <a:spcPct val="120000"/>
              </a:lnSpc>
            </a:pPr>
            <a:r>
              <a:rPr sz="1500" b="1" i="0">
                <a:solidFill>
                  <a:srgbClr val="065A82"/>
                </a:solidFill>
                <a:latin typeface="Arial"/>
              </a:rPr>
              <a:t>Bonus, for the mood</a:t>
            </a:r>
          </a:p>
        </p:txBody>
      </p:sp>
      <p:sp>
        <p:nvSpPr>
          <p:cNvPr id="16" name="TextBox 15"/>
          <p:cNvSpPr txBox="1"/>
          <p:nvPr/>
        </p:nvSpPr>
        <p:spPr>
          <a:xfrm>
            <a:off x="8311896" y="3566160"/>
            <a:ext cx="3191256" cy="2331720"/>
          </a:xfrm>
          <a:prstGeom prst="rect">
            <a:avLst/>
          </a:prstGeom>
          <a:noFill/>
        </p:spPr>
        <p:txBody>
          <a:bodyPr wrap="square" lIns="0" rIns="0" tIns="0" bIns="0" anchor="t">
            <a:spAutoFit/>
          </a:bodyPr>
          <a:lstStyle/>
          <a:p>
            <a:pPr algn="l">
              <a:lnSpc>
                <a:spcPct val="132000"/>
              </a:lnSpc>
            </a:pPr>
            <a:r>
              <a:rPr sz="1250" b="0" i="0">
                <a:solidFill>
                  <a:srgbClr val="21295C"/>
                </a:solidFill>
                <a:latin typeface="Arial"/>
              </a:rPr>
              <a:t>A car dealership hooked up a chatbot on a third-party API with no guardrails — and the chatbot "sold" an SUV for one dollar.</a:t>
            </a:r>
          </a:p>
        </p:txBody>
      </p:sp>
      <p:sp>
        <p:nvSpPr>
          <p:cNvPr id="17" name="TextBox 16"/>
          <p:cNvSpPr txBox="1"/>
          <p:nvPr/>
        </p:nvSpPr>
        <p:spPr>
          <a:xfrm>
            <a:off x="502920" y="6263640"/>
            <a:ext cx="11183112" cy="36576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If there's time left today, we'll work through part of this live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1183112" cy="914400"/>
          </a:xfrm>
          <a:prstGeom prst="rect">
            <a:avLst/>
          </a:prstGeom>
          <a:noFill/>
        </p:spPr>
        <p:txBody>
          <a:bodyPr wrap="square" lIns="0" rIns="0" tIns="0" bIns="0" anchor="t">
            <a:spAutoFit/>
          </a:bodyPr>
          <a:lstStyle/>
          <a:p>
            <a:pPr algn="l">
              <a:lnSpc>
                <a:spcPct val="115000"/>
              </a:lnSpc>
            </a:pPr>
            <a:r>
              <a:rPr sz="2200" b="1" i="0">
                <a:solidFill>
                  <a:srgbClr val="21295C"/>
                </a:solidFill>
                <a:latin typeface="Arial"/>
              </a:rPr>
              <a:t>Klarna, 2023-2025: one story — four forks in the road</a:t>
            </a:r>
          </a:p>
        </p:txBody>
      </p:sp>
      <p:sp>
        <p:nvSpPr>
          <p:cNvPr id="3" name="Rounded Rectangle 2"/>
          <p:cNvSpPr/>
          <p:nvPr/>
        </p:nvSpPr>
        <p:spPr>
          <a:xfrm>
            <a:off x="502920" y="1188720"/>
            <a:ext cx="11183112" cy="841248"/>
          </a:xfrm>
          <a:prstGeom prst="roundRect">
            <a:avLst>
              <a:gd name="adj" fmla="val 25000"/>
            </a:avLst>
          </a:prstGeom>
          <a:solidFill>
            <a:srgbClr val="F4F7FA"/>
          </a:solidFill>
          <a:ln w="19050">
            <a:solidFill>
              <a:srgbClr val="028090"/>
            </a:solidFill>
          </a:ln>
          <a:effectLst/>
        </p:spPr>
        <p:txBody>
          <a:bodyPr rtlCol="0" anchor="ctr"/>
          <a:lstStyle/>
          <a:p>
            <a:pPr algn="ctr"/>
          </a:p>
        </p:txBody>
      </p:sp>
      <p:sp>
        <p:nvSpPr>
          <p:cNvPr id="4" name="Rounded Rectangle 3"/>
          <p:cNvSpPr/>
          <p:nvPr/>
        </p:nvSpPr>
        <p:spPr>
          <a:xfrm>
            <a:off x="685800" y="1426464"/>
            <a:ext cx="365760" cy="365760"/>
          </a:xfrm>
          <a:prstGeom prst="roundRect">
            <a:avLst>
              <a:gd name="adj" fmla="val 50000"/>
            </a:avLst>
          </a:prstGeom>
          <a:solidFill>
            <a:srgbClr val="065A82"/>
          </a:solidFill>
          <a:ln>
            <a:noFill/>
          </a:ln>
          <a:effectLst/>
        </p:spPr>
        <p:txBody>
          <a:bodyPr rtlCol="0" anchor="ctr" lIns="45720" rIns="45720" tIns="27432" bIns="27432" wrap="none"/>
          <a:lstStyle/>
          <a:p>
            <a:pPr algn="ctr"/>
            <a:r>
              <a:rPr sz="1400" b="1">
                <a:solidFill>
                  <a:srgbClr val="FFFFFF"/>
                </a:solidFill>
                <a:latin typeface="Arial"/>
              </a:rPr>
              <a:t>1</a:t>
            </a:r>
          </a:p>
        </p:txBody>
      </p:sp>
      <p:sp>
        <p:nvSpPr>
          <p:cNvPr id="5" name="TextBox 4"/>
          <p:cNvSpPr txBox="1"/>
          <p:nvPr/>
        </p:nvSpPr>
        <p:spPr>
          <a:xfrm>
            <a:off x="1188720" y="1280160"/>
            <a:ext cx="2194560" cy="658368"/>
          </a:xfrm>
          <a:prstGeom prst="rect">
            <a:avLst/>
          </a:prstGeom>
          <a:noFill/>
        </p:spPr>
        <p:txBody>
          <a:bodyPr wrap="square" lIns="0" rIns="0" tIns="0" bIns="0" anchor="ctr">
            <a:spAutoFit/>
          </a:bodyPr>
          <a:lstStyle/>
          <a:p>
            <a:pPr algn="l">
              <a:lnSpc>
                <a:spcPct val="110000"/>
              </a:lnSpc>
            </a:pPr>
            <a:r>
              <a:rPr sz="1350" b="1" i="0">
                <a:solidFill>
                  <a:srgbClr val="065A82"/>
                </a:solidFill>
                <a:latin typeface="Arial"/>
              </a:rPr>
              <a:t>AI or not</a:t>
            </a:r>
          </a:p>
        </p:txBody>
      </p:sp>
      <p:sp>
        <p:nvSpPr>
          <p:cNvPr id="6" name="TextBox 5"/>
          <p:cNvSpPr txBox="1"/>
          <p:nvPr/>
        </p:nvSpPr>
        <p:spPr>
          <a:xfrm>
            <a:off x="3520440" y="1280160"/>
            <a:ext cx="8001000" cy="658368"/>
          </a:xfrm>
          <a:prstGeom prst="rect">
            <a:avLst/>
          </a:prstGeom>
          <a:noFill/>
        </p:spPr>
        <p:txBody>
          <a:bodyPr wrap="square" lIns="0" rIns="0" tIns="0" bIns="0" anchor="ctr">
            <a:spAutoFit/>
          </a:bodyPr>
          <a:lstStyle/>
          <a:p>
            <a:pPr algn="l">
              <a:lnSpc>
                <a:spcPct val="120000"/>
              </a:lnSpc>
            </a:pPr>
            <a:r>
              <a:rPr sz="1200" b="0" i="0">
                <a:solidFill>
                  <a:srgbClr val="21295C"/>
                </a:solidFill>
                <a:latin typeface="Arial"/>
              </a:rPr>
              <a:t>Routine tickets — formalizable, a good candidate; but cost optimization tanked quality</a:t>
            </a:r>
          </a:p>
        </p:txBody>
      </p:sp>
      <p:sp>
        <p:nvSpPr>
          <p:cNvPr id="7" name="Rounded Rectangle 6"/>
          <p:cNvSpPr/>
          <p:nvPr/>
        </p:nvSpPr>
        <p:spPr>
          <a:xfrm>
            <a:off x="502920" y="2121408"/>
            <a:ext cx="11183112" cy="841248"/>
          </a:xfrm>
          <a:prstGeom prst="roundRect">
            <a:avLst>
              <a:gd name="adj" fmla="val 25000"/>
            </a:avLst>
          </a:prstGeom>
          <a:solidFill>
            <a:srgbClr val="F4F7FA"/>
          </a:solidFill>
          <a:ln w="19050">
            <a:solidFill>
              <a:srgbClr val="028090"/>
            </a:solidFill>
          </a:ln>
          <a:effectLst/>
        </p:spPr>
        <p:txBody>
          <a:bodyPr rtlCol="0" anchor="ctr"/>
          <a:lstStyle/>
          <a:p>
            <a:pPr algn="ctr"/>
          </a:p>
        </p:txBody>
      </p:sp>
      <p:sp>
        <p:nvSpPr>
          <p:cNvPr id="8" name="Rounded Rectangle 7"/>
          <p:cNvSpPr/>
          <p:nvPr/>
        </p:nvSpPr>
        <p:spPr>
          <a:xfrm>
            <a:off x="685800" y="2359152"/>
            <a:ext cx="365760" cy="365760"/>
          </a:xfrm>
          <a:prstGeom prst="roundRect">
            <a:avLst>
              <a:gd name="adj" fmla="val 50000"/>
            </a:avLst>
          </a:prstGeom>
          <a:solidFill>
            <a:srgbClr val="065A82"/>
          </a:solidFill>
          <a:ln>
            <a:noFill/>
          </a:ln>
          <a:effectLst/>
        </p:spPr>
        <p:txBody>
          <a:bodyPr rtlCol="0" anchor="ctr" lIns="45720" rIns="45720" tIns="27432" bIns="27432" wrap="none"/>
          <a:lstStyle/>
          <a:p>
            <a:pPr algn="ctr"/>
            <a:r>
              <a:rPr sz="1400" b="1">
                <a:solidFill>
                  <a:srgbClr val="FFFFFF"/>
                </a:solidFill>
                <a:latin typeface="Arial"/>
              </a:rPr>
              <a:t>2</a:t>
            </a:r>
          </a:p>
        </p:txBody>
      </p:sp>
      <p:sp>
        <p:nvSpPr>
          <p:cNvPr id="9" name="TextBox 8"/>
          <p:cNvSpPr txBox="1"/>
          <p:nvPr/>
        </p:nvSpPr>
        <p:spPr>
          <a:xfrm>
            <a:off x="1188720" y="2212848"/>
            <a:ext cx="2194560" cy="658368"/>
          </a:xfrm>
          <a:prstGeom prst="rect">
            <a:avLst/>
          </a:prstGeom>
          <a:noFill/>
        </p:spPr>
        <p:txBody>
          <a:bodyPr wrap="square" lIns="0" rIns="0" tIns="0" bIns="0" anchor="ctr">
            <a:spAutoFit/>
          </a:bodyPr>
          <a:lstStyle/>
          <a:p>
            <a:pPr algn="l">
              <a:lnSpc>
                <a:spcPct val="110000"/>
              </a:lnSpc>
            </a:pPr>
            <a:r>
              <a:rPr sz="1350" b="1" i="0">
                <a:solidFill>
                  <a:srgbClr val="065A82"/>
                </a:solidFill>
                <a:latin typeface="Arial"/>
              </a:rPr>
              <a:t>Built-in or custom</a:t>
            </a:r>
          </a:p>
        </p:txBody>
      </p:sp>
      <p:sp>
        <p:nvSpPr>
          <p:cNvPr id="10" name="TextBox 9"/>
          <p:cNvSpPr txBox="1"/>
          <p:nvPr/>
        </p:nvSpPr>
        <p:spPr>
          <a:xfrm>
            <a:off x="3520440" y="2212848"/>
            <a:ext cx="8001000" cy="658368"/>
          </a:xfrm>
          <a:prstGeom prst="rect">
            <a:avLst/>
          </a:prstGeom>
          <a:noFill/>
        </p:spPr>
        <p:txBody>
          <a:bodyPr wrap="square" lIns="0" rIns="0" tIns="0" bIns="0" anchor="ctr">
            <a:spAutoFit/>
          </a:bodyPr>
          <a:lstStyle/>
          <a:p>
            <a:pPr algn="l">
              <a:lnSpc>
                <a:spcPct val="120000"/>
              </a:lnSpc>
            </a:pPr>
            <a:r>
              <a:rPr sz="1200" b="0" i="0">
                <a:solidFill>
                  <a:srgbClr val="21295C"/>
                </a:solidFill>
                <a:latin typeface="Arial"/>
              </a:rPr>
              <a:t>Assistant in the existing support channel, external API (OpenAI) — not a standalone product</a:t>
            </a:r>
          </a:p>
        </p:txBody>
      </p:sp>
      <p:sp>
        <p:nvSpPr>
          <p:cNvPr id="11" name="Rounded Rectangle 10"/>
          <p:cNvSpPr/>
          <p:nvPr/>
        </p:nvSpPr>
        <p:spPr>
          <a:xfrm>
            <a:off x="502920" y="3054096"/>
            <a:ext cx="11183112" cy="841248"/>
          </a:xfrm>
          <a:prstGeom prst="roundRect">
            <a:avLst>
              <a:gd name="adj" fmla="val 25000"/>
            </a:avLst>
          </a:prstGeom>
          <a:solidFill>
            <a:srgbClr val="F4F7FA"/>
          </a:solidFill>
          <a:ln w="19050">
            <a:solidFill>
              <a:srgbClr val="028090"/>
            </a:solidFill>
          </a:ln>
          <a:effectLst/>
        </p:spPr>
        <p:txBody>
          <a:bodyPr rtlCol="0" anchor="ctr"/>
          <a:lstStyle/>
          <a:p>
            <a:pPr algn="ctr"/>
          </a:p>
        </p:txBody>
      </p:sp>
      <p:sp>
        <p:nvSpPr>
          <p:cNvPr id="12" name="Rounded Rectangle 11"/>
          <p:cNvSpPr/>
          <p:nvPr/>
        </p:nvSpPr>
        <p:spPr>
          <a:xfrm>
            <a:off x="685800" y="3291840"/>
            <a:ext cx="365760" cy="365760"/>
          </a:xfrm>
          <a:prstGeom prst="roundRect">
            <a:avLst>
              <a:gd name="adj" fmla="val 50000"/>
            </a:avLst>
          </a:prstGeom>
          <a:solidFill>
            <a:srgbClr val="065A82"/>
          </a:solidFill>
          <a:ln>
            <a:noFill/>
          </a:ln>
          <a:effectLst/>
        </p:spPr>
        <p:txBody>
          <a:bodyPr rtlCol="0" anchor="ctr" lIns="45720" rIns="45720" tIns="27432" bIns="27432" wrap="none"/>
          <a:lstStyle/>
          <a:p>
            <a:pPr algn="ctr"/>
            <a:r>
              <a:rPr sz="1400" b="1">
                <a:solidFill>
                  <a:srgbClr val="FFFFFF"/>
                </a:solidFill>
                <a:latin typeface="Arial"/>
              </a:rPr>
              <a:t>3</a:t>
            </a:r>
          </a:p>
        </p:txBody>
      </p:sp>
      <p:sp>
        <p:nvSpPr>
          <p:cNvPr id="13" name="TextBox 12"/>
          <p:cNvSpPr txBox="1"/>
          <p:nvPr/>
        </p:nvSpPr>
        <p:spPr>
          <a:xfrm>
            <a:off x="1188720" y="3145536"/>
            <a:ext cx="2194560" cy="658368"/>
          </a:xfrm>
          <a:prstGeom prst="rect">
            <a:avLst/>
          </a:prstGeom>
          <a:noFill/>
        </p:spPr>
        <p:txBody>
          <a:bodyPr wrap="square" lIns="0" rIns="0" tIns="0" bIns="0" anchor="ctr">
            <a:spAutoFit/>
          </a:bodyPr>
          <a:lstStyle/>
          <a:p>
            <a:pPr algn="l">
              <a:lnSpc>
                <a:spcPct val="110000"/>
              </a:lnSpc>
            </a:pPr>
            <a:r>
              <a:rPr sz="1350" b="1" i="0">
                <a:solidFill>
                  <a:srgbClr val="065A82"/>
                </a:solidFill>
                <a:latin typeface="Arial"/>
              </a:rPr>
              <a:t>Architecture</a:t>
            </a:r>
          </a:p>
        </p:txBody>
      </p:sp>
      <p:sp>
        <p:nvSpPr>
          <p:cNvPr id="14" name="TextBox 13"/>
          <p:cNvSpPr txBox="1"/>
          <p:nvPr/>
        </p:nvSpPr>
        <p:spPr>
          <a:xfrm>
            <a:off x="3520440" y="3145536"/>
            <a:ext cx="8001000" cy="658368"/>
          </a:xfrm>
          <a:prstGeom prst="rect">
            <a:avLst/>
          </a:prstGeom>
          <a:noFill/>
        </p:spPr>
        <p:txBody>
          <a:bodyPr wrap="square" lIns="0" rIns="0" tIns="0" bIns="0" anchor="ctr">
            <a:spAutoFit/>
          </a:bodyPr>
          <a:lstStyle/>
          <a:p>
            <a:pPr algn="l">
              <a:lnSpc>
                <a:spcPct val="120000"/>
              </a:lnSpc>
            </a:pPr>
            <a:r>
              <a:rPr sz="1200" b="0" i="0">
                <a:solidFill>
                  <a:srgbClr val="21295C"/>
                </a:solidFill>
                <a:latin typeface="Arial"/>
              </a:rPr>
              <a:t>Chat assistant with escalation to a human, not an autonomous agent</a:t>
            </a:r>
          </a:p>
        </p:txBody>
      </p:sp>
      <p:sp>
        <p:nvSpPr>
          <p:cNvPr id="15" name="Rounded Rectangle 14"/>
          <p:cNvSpPr/>
          <p:nvPr/>
        </p:nvSpPr>
        <p:spPr>
          <a:xfrm>
            <a:off x="502920" y="3986784"/>
            <a:ext cx="11183112" cy="841248"/>
          </a:xfrm>
          <a:prstGeom prst="roundRect">
            <a:avLst>
              <a:gd name="adj" fmla="val 25000"/>
            </a:avLst>
          </a:prstGeom>
          <a:solidFill>
            <a:srgbClr val="F4F7FA"/>
          </a:solidFill>
          <a:ln w="19050">
            <a:solidFill>
              <a:srgbClr val="028090"/>
            </a:solidFill>
          </a:ln>
          <a:effectLst/>
        </p:spPr>
        <p:txBody>
          <a:bodyPr rtlCol="0" anchor="ctr"/>
          <a:lstStyle/>
          <a:p>
            <a:pPr algn="ctr"/>
          </a:p>
        </p:txBody>
      </p:sp>
      <p:sp>
        <p:nvSpPr>
          <p:cNvPr id="16" name="Rounded Rectangle 15"/>
          <p:cNvSpPr/>
          <p:nvPr/>
        </p:nvSpPr>
        <p:spPr>
          <a:xfrm>
            <a:off x="685800" y="4224528"/>
            <a:ext cx="365760" cy="365760"/>
          </a:xfrm>
          <a:prstGeom prst="roundRect">
            <a:avLst>
              <a:gd name="adj" fmla="val 50000"/>
            </a:avLst>
          </a:prstGeom>
          <a:solidFill>
            <a:srgbClr val="065A82"/>
          </a:solidFill>
          <a:ln>
            <a:noFill/>
          </a:ln>
          <a:effectLst/>
        </p:spPr>
        <p:txBody>
          <a:bodyPr rtlCol="0" anchor="ctr" lIns="45720" rIns="45720" tIns="27432" bIns="27432" wrap="none"/>
          <a:lstStyle/>
          <a:p>
            <a:pPr algn="ctr"/>
            <a:r>
              <a:rPr sz="1400" b="1">
                <a:solidFill>
                  <a:srgbClr val="FFFFFF"/>
                </a:solidFill>
                <a:latin typeface="Arial"/>
              </a:rPr>
              <a:t>4</a:t>
            </a:r>
          </a:p>
        </p:txBody>
      </p:sp>
      <p:sp>
        <p:nvSpPr>
          <p:cNvPr id="17" name="TextBox 16"/>
          <p:cNvSpPr txBox="1"/>
          <p:nvPr/>
        </p:nvSpPr>
        <p:spPr>
          <a:xfrm>
            <a:off x="1188720" y="4078224"/>
            <a:ext cx="2194560" cy="658368"/>
          </a:xfrm>
          <a:prstGeom prst="rect">
            <a:avLst/>
          </a:prstGeom>
          <a:noFill/>
        </p:spPr>
        <p:txBody>
          <a:bodyPr wrap="square" lIns="0" rIns="0" tIns="0" bIns="0" anchor="ctr">
            <a:spAutoFit/>
          </a:bodyPr>
          <a:lstStyle/>
          <a:p>
            <a:pPr algn="l">
              <a:lnSpc>
                <a:spcPct val="110000"/>
              </a:lnSpc>
            </a:pPr>
            <a:r>
              <a:rPr sz="1350" b="1" i="0">
                <a:solidFill>
                  <a:srgbClr val="065A82"/>
                </a:solidFill>
                <a:latin typeface="Arial"/>
              </a:rPr>
              <a:t>Inference</a:t>
            </a:r>
          </a:p>
        </p:txBody>
      </p:sp>
      <p:sp>
        <p:nvSpPr>
          <p:cNvPr id="18" name="TextBox 17"/>
          <p:cNvSpPr txBox="1"/>
          <p:nvPr/>
        </p:nvSpPr>
        <p:spPr>
          <a:xfrm>
            <a:off x="3520440" y="4078224"/>
            <a:ext cx="8001000" cy="658368"/>
          </a:xfrm>
          <a:prstGeom prst="rect">
            <a:avLst/>
          </a:prstGeom>
          <a:noFill/>
        </p:spPr>
        <p:txBody>
          <a:bodyPr wrap="square" lIns="0" rIns="0" tIns="0" bIns="0" anchor="ctr">
            <a:spAutoFit/>
          </a:bodyPr>
          <a:lstStyle/>
          <a:p>
            <a:pPr algn="l">
              <a:lnSpc>
                <a:spcPct val="120000"/>
              </a:lnSpc>
            </a:pPr>
            <a:r>
              <a:rPr sz="1200" b="0" i="0">
                <a:solidFill>
                  <a:srgbClr val="21295C"/>
                </a:solidFill>
                <a:latin typeface="Arial"/>
              </a:rPr>
              <a:t>External cloud API with support customer data</a:t>
            </a:r>
          </a:p>
        </p:txBody>
      </p:sp>
      <p:sp>
        <p:nvSpPr>
          <p:cNvPr id="19" name="Rounded Rectangle 18"/>
          <p:cNvSpPr/>
          <p:nvPr/>
        </p:nvSpPr>
        <p:spPr>
          <a:xfrm>
            <a:off x="502920" y="4965192"/>
            <a:ext cx="11183112" cy="777240"/>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0" name="TextBox 19"/>
          <p:cNvSpPr txBox="1"/>
          <p:nvPr/>
        </p:nvSpPr>
        <p:spPr>
          <a:xfrm>
            <a:off x="731520" y="4965192"/>
            <a:ext cx="10698480" cy="77724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Launched February 2024 · 30 days: 2.3 million chats, 67% of requests automated · claimed "the equivalent of 700 agents"/$40M (2024) → "853 agents"/$60M (Q3 2025) — denominator not disclosed</a:t>
            </a:r>
          </a:p>
        </p:txBody>
      </p:sp>
      <p:sp>
        <p:nvSpPr>
          <p:cNvPr id="21" name="Rounded Rectangle 20"/>
          <p:cNvSpPr/>
          <p:nvPr/>
        </p:nvSpPr>
        <p:spPr>
          <a:xfrm>
            <a:off x="502920" y="5879592"/>
            <a:ext cx="11183112" cy="777240"/>
          </a:xfrm>
          <a:prstGeom prst="roundRect">
            <a:avLst>
              <a:gd name="adj" fmla="val 25000"/>
            </a:avLst>
          </a:prstGeom>
          <a:solidFill>
            <a:srgbClr val="FEF5E0"/>
          </a:solidFill>
          <a:ln w="17780">
            <a:solidFill>
              <a:srgbClr val="F0AB00"/>
            </a:solidFill>
          </a:ln>
          <a:effectLst/>
        </p:spPr>
        <p:txBody>
          <a:bodyPr rtlCol="0" anchor="ctr"/>
          <a:lstStyle/>
          <a:p>
            <a:pPr algn="ctr"/>
          </a:p>
        </p:txBody>
      </p:sp>
      <p:sp>
        <p:nvSpPr>
          <p:cNvPr id="22" name="TextBox 21"/>
          <p:cNvSpPr txBox="1"/>
          <p:nvPr/>
        </p:nvSpPr>
        <p:spPr>
          <a:xfrm>
            <a:off x="777240" y="5879592"/>
            <a:ext cx="10607040" cy="777240"/>
          </a:xfrm>
          <a:prstGeom prst="rect">
            <a:avLst/>
          </a:prstGeom>
          <a:noFill/>
        </p:spPr>
        <p:txBody>
          <a:bodyPr wrap="square" lIns="0" rIns="0" tIns="0" bIns="0" anchor="ctr">
            <a:spAutoFit/>
          </a:bodyPr>
          <a:lstStyle/>
          <a:p>
            <a:pPr algn="l">
              <a:lnSpc>
                <a:spcPct val="115000"/>
              </a:lnSpc>
            </a:pPr>
            <a:r>
              <a:rPr sz="1500" b="1" i="1">
                <a:solidFill>
                  <a:srgbClr val="21295C"/>
                </a:solidFill>
                <a:latin typeface="Arial"/>
              </a:rPr>
              <a:t>"We went too far" — CEO Sebastian Siemiatkowski, Bloomberg, May 2025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1183112" cy="411480"/>
          </a:xfrm>
          <a:prstGeom prst="rect">
            <a:avLst/>
          </a:prstGeom>
          <a:noFill/>
        </p:spPr>
        <p:txBody>
          <a:bodyPr wrap="square" lIns="0" rIns="0" tIns="0" bIns="0" anchor="t">
            <a:spAutoFit/>
          </a:bodyPr>
          <a:lstStyle/>
          <a:p>
            <a:pPr algn="l">
              <a:lnSpc>
                <a:spcPct val="115000"/>
              </a:lnSpc>
            </a:pPr>
            <a:r>
              <a:rPr sz="2500" b="1" i="0">
                <a:solidFill>
                  <a:srgbClr val="21295C"/>
                </a:solidFill>
                <a:latin typeface="Arial"/>
              </a:rPr>
              <a:t>News deduplication</a:t>
            </a:r>
          </a:p>
        </p:txBody>
      </p:sp>
      <p:sp>
        <p:nvSpPr>
          <p:cNvPr id="3" name="Rounded Rectangle 2"/>
          <p:cNvSpPr/>
          <p:nvPr/>
        </p:nvSpPr>
        <p:spPr>
          <a:xfrm>
            <a:off x="502920" y="685800"/>
            <a:ext cx="11183112" cy="2377440"/>
          </a:xfrm>
          <a:prstGeom prst="roundRect">
            <a:avLst>
              <a:gd name="adj" fmla="val 12820"/>
            </a:avLst>
          </a:prstGeom>
          <a:solidFill>
            <a:srgbClr val="F4F7FA"/>
          </a:solidFill>
          <a:ln w="19050">
            <a:solidFill>
              <a:srgbClr val="1C7293"/>
            </a:solidFill>
          </a:ln>
          <a:effectLst/>
        </p:spPr>
        <p:txBody>
          <a:bodyPr rtlCol="0" anchor="ctr"/>
          <a:lstStyle/>
          <a:p>
            <a:pPr algn="ctr"/>
          </a:p>
        </p:txBody>
      </p:sp>
      <p:pic>
        <p:nvPicPr>
          <p:cNvPr id="4" name="Picture 3" descr="quote-1C7293-64.png"/>
          <p:cNvPicPr>
            <a:picLocks noChangeAspect="1"/>
          </p:cNvPicPr>
          <p:nvPr/>
        </p:nvPicPr>
        <p:blipFill>
          <a:blip r:embed="rId2"/>
          <a:stretch>
            <a:fillRect/>
          </a:stretch>
        </p:blipFill>
        <p:spPr>
          <a:xfrm>
            <a:off x="722376" y="859536"/>
            <a:ext cx="292608" cy="292608"/>
          </a:xfrm>
          <a:prstGeom prst="rect">
            <a:avLst/>
          </a:prstGeom>
        </p:spPr>
      </p:pic>
      <p:sp>
        <p:nvSpPr>
          <p:cNvPr id="5" name="TextBox 4"/>
          <p:cNvSpPr txBox="1"/>
          <p:nvPr/>
        </p:nvSpPr>
        <p:spPr>
          <a:xfrm>
            <a:off x="722376" y="1197864"/>
            <a:ext cx="10744200" cy="1645920"/>
          </a:xfrm>
          <a:prstGeom prst="rect">
            <a:avLst/>
          </a:prstGeom>
          <a:noFill/>
        </p:spPr>
        <p:txBody>
          <a:bodyPr wrap="square" lIns="0" rIns="0" tIns="0" bIns="0" anchor="t">
            <a:spAutoFit/>
          </a:bodyPr>
          <a:lstStyle/>
          <a:p>
            <a:pPr algn="l">
              <a:lnSpc>
                <a:spcPct val="128000"/>
              </a:lnSpc>
            </a:pPr>
            <a:r>
              <a:rPr sz="1450" b="0" i="1">
                <a:solidFill>
                  <a:srgbClr val="21295C"/>
                </a:solidFill>
                <a:latin typeface="Arial"/>
              </a:rPr>
              <a:t>"Users are complaining to support that the feed is cluttered — for one event they see ten nearly identical headlines in a row from different outlets. We want to merge them into one card. There are already more than a hundred sources, all coming in through a single RSS aggregator, the headline and publication-time format is the same for all of them. We're adding a few more this month. Separately, the editor asked to update the design of the source card on the site, but that's not related to deduplication. The budget for new features this quarter is modest."</a:t>
            </a:r>
          </a:p>
        </p:txBody>
      </p:sp>
      <p:sp>
        <p:nvSpPr>
          <p:cNvPr id="6" name="Rounded Rectangle 5"/>
          <p:cNvSpPr/>
          <p:nvPr/>
        </p:nvSpPr>
        <p:spPr>
          <a:xfrm>
            <a:off x="502920" y="3209544"/>
            <a:ext cx="11183112" cy="960120"/>
          </a:xfrm>
          <a:prstGeom prst="roundRect">
            <a:avLst>
              <a:gd name="adj" fmla="val 25000"/>
            </a:avLst>
          </a:prstGeom>
          <a:solidFill>
            <a:srgbClr val="F4F7FA"/>
          </a:solidFill>
          <a:ln w="20320">
            <a:solidFill>
              <a:srgbClr val="028090"/>
            </a:solidFill>
          </a:ln>
          <a:effectLst/>
        </p:spPr>
        <p:txBody>
          <a:bodyPr rtlCol="0" anchor="ctr"/>
          <a:lstStyle/>
          <a:p>
            <a:pPr algn="ctr"/>
          </a:p>
        </p:txBody>
      </p:sp>
      <p:pic>
        <p:nvPicPr>
          <p:cNvPr id="7" name="Picture 6" descr="message-square-quote-065A82-96.png"/>
          <p:cNvPicPr>
            <a:picLocks noChangeAspect="1"/>
          </p:cNvPicPr>
          <p:nvPr/>
        </p:nvPicPr>
        <p:blipFill>
          <a:blip r:embed="rId3"/>
          <a:stretch>
            <a:fillRect/>
          </a:stretch>
        </p:blipFill>
        <p:spPr>
          <a:xfrm>
            <a:off x="822960" y="3392424"/>
            <a:ext cx="594360" cy="594360"/>
          </a:xfrm>
          <a:prstGeom prst="rect">
            <a:avLst/>
          </a:prstGeom>
        </p:spPr>
      </p:pic>
      <p:pic>
        <p:nvPicPr>
          <p:cNvPr id="8" name="Picture 7" descr="layers-028090-64.png"/>
          <p:cNvPicPr>
            <a:picLocks noChangeAspect="1"/>
          </p:cNvPicPr>
          <p:nvPr/>
        </p:nvPicPr>
        <p:blipFill>
          <a:blip r:embed="rId4"/>
          <a:stretch>
            <a:fillRect/>
          </a:stretch>
        </p:blipFill>
        <p:spPr>
          <a:xfrm>
            <a:off x="1600200" y="3392424"/>
            <a:ext cx="594360" cy="594360"/>
          </a:xfrm>
          <a:prstGeom prst="rect">
            <a:avLst/>
          </a:prstGeom>
        </p:spPr>
      </p:pic>
      <p:sp>
        <p:nvSpPr>
          <p:cNvPr id="9" name="TextBox 8"/>
          <p:cNvSpPr txBox="1"/>
          <p:nvPr/>
        </p:nvSpPr>
        <p:spPr>
          <a:xfrm>
            <a:off x="2514600" y="3209544"/>
            <a:ext cx="8869680" cy="960120"/>
          </a:xfrm>
          <a:prstGeom prst="rect">
            <a:avLst/>
          </a:prstGeom>
          <a:noFill/>
        </p:spPr>
        <p:txBody>
          <a:bodyPr wrap="square" lIns="0" rIns="0" tIns="0" bIns="0" anchor="ctr">
            <a:spAutoFit/>
          </a:bodyPr>
          <a:lstStyle/>
          <a:p>
            <a:pPr algn="l">
              <a:lnSpc>
                <a:spcPct val="125000"/>
              </a:lnSpc>
            </a:pPr>
            <a:r>
              <a:rPr sz="1500" b="0" i="1">
                <a:solidFill>
                  <a:srgbClr val="21295C"/>
                </a:solidFill>
                <a:latin typeface="Arial"/>
              </a:rPr>
              <a:t>Ten nearly identical headlines → one merged event card</a:t>
            </a:r>
          </a:p>
        </p:txBody>
      </p:sp>
      <p:sp>
        <p:nvSpPr>
          <p:cNvPr id="10" name="Rounded Rectangle 9"/>
          <p:cNvSpPr/>
          <p:nvPr/>
        </p:nvSpPr>
        <p:spPr>
          <a:xfrm>
            <a:off x="502920" y="4352544"/>
            <a:ext cx="11183112" cy="2368295"/>
          </a:xfrm>
          <a:prstGeom prst="roundRect">
            <a:avLst>
              <a:gd name="adj" fmla="val 12870"/>
            </a:avLst>
          </a:prstGeom>
          <a:solidFill>
            <a:srgbClr val="FEF5E0"/>
          </a:solidFill>
          <a:ln w="17780">
            <a:solidFill>
              <a:srgbClr val="F0AB00"/>
            </a:solidFill>
          </a:ln>
          <a:effectLst/>
        </p:spPr>
        <p:txBody>
          <a:bodyPr rtlCol="0" anchor="ctr"/>
          <a:lstStyle/>
          <a:p>
            <a:pPr algn="ctr"/>
          </a:p>
        </p:txBody>
      </p:sp>
      <p:sp>
        <p:nvSpPr>
          <p:cNvPr id="11" name="TextBox 10"/>
          <p:cNvSpPr txBox="1"/>
          <p:nvPr/>
        </p:nvSpPr>
        <p:spPr>
          <a:xfrm>
            <a:off x="777240" y="4352544"/>
            <a:ext cx="10607040" cy="2368295"/>
          </a:xfrm>
          <a:prstGeom prst="rect">
            <a:avLst/>
          </a:prstGeom>
          <a:noFill/>
        </p:spPr>
        <p:txBody>
          <a:bodyPr wrap="square" lIns="0" rIns="0" tIns="0" bIns="0" anchor="ctr">
            <a:spAutoFit/>
          </a:bodyPr>
          <a:lstStyle/>
          <a:p>
            <a:pPr algn="l">
              <a:lnSpc>
                <a:spcPct val="115000"/>
              </a:lnSpc>
            </a:pPr>
            <a:r>
              <a:rPr sz="2000" b="1" i="0">
                <a:solidFill>
                  <a:srgbClr val="21295C"/>
                </a:solidFill>
                <a:latin typeface="Arial"/>
              </a:rPr>
              <a:t>What technology do you need?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1183112" cy="91440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Deduplication — breakdown</a:t>
            </a:r>
          </a:p>
        </p:txBody>
      </p:sp>
      <p:sp>
        <p:nvSpPr>
          <p:cNvPr id="3" name="Rounded Rectangle 2"/>
          <p:cNvSpPr/>
          <p:nvPr/>
        </p:nvSpPr>
        <p:spPr>
          <a:xfrm>
            <a:off x="502920" y="2148840"/>
            <a:ext cx="5454396" cy="1783080"/>
          </a:xfrm>
          <a:prstGeom prst="roundRect">
            <a:avLst>
              <a:gd name="adj" fmla="val 6000"/>
            </a:avLst>
          </a:prstGeom>
          <a:solidFill>
            <a:srgbClr val="E9F5F2"/>
          </a:solidFill>
          <a:ln w="17780">
            <a:solidFill>
              <a:srgbClr val="028090"/>
            </a:solidFill>
          </a:ln>
          <a:effectLst/>
        </p:spPr>
        <p:txBody>
          <a:bodyPr rtlCol="0" anchor="ctr"/>
          <a:lstStyle/>
          <a:p>
            <a:pPr algn="ctr"/>
          </a:p>
        </p:txBody>
      </p:sp>
      <p:pic>
        <p:nvPicPr>
          <p:cNvPr id="4" name="Picture 3" descr="filter-028090-64.png"/>
          <p:cNvPicPr>
            <a:picLocks noChangeAspect="1"/>
          </p:cNvPicPr>
          <p:nvPr/>
        </p:nvPicPr>
        <p:blipFill>
          <a:blip r:embed="rId2"/>
          <a:stretch>
            <a:fillRect/>
          </a:stretch>
        </p:blipFill>
        <p:spPr>
          <a:xfrm>
            <a:off x="704088" y="2350008"/>
            <a:ext cx="365760" cy="365760"/>
          </a:xfrm>
          <a:prstGeom prst="rect">
            <a:avLst/>
          </a:prstGeom>
        </p:spPr>
      </p:pic>
      <p:sp>
        <p:nvSpPr>
          <p:cNvPr id="5" name="TextBox 4"/>
          <p:cNvSpPr txBox="1"/>
          <p:nvPr/>
        </p:nvSpPr>
        <p:spPr>
          <a:xfrm>
            <a:off x="1179576" y="2331720"/>
            <a:ext cx="4576571" cy="411480"/>
          </a:xfrm>
          <a:prstGeom prst="rect">
            <a:avLst/>
          </a:prstGeom>
          <a:noFill/>
        </p:spPr>
        <p:txBody>
          <a:bodyPr wrap="square" lIns="0" rIns="0" tIns="0" bIns="0" anchor="ctr">
            <a:spAutoFit/>
          </a:bodyPr>
          <a:lstStyle/>
          <a:p>
            <a:pPr algn="l">
              <a:lnSpc>
                <a:spcPct val="110000"/>
              </a:lnSpc>
            </a:pPr>
            <a:r>
              <a:rPr sz="1500" b="1" i="0">
                <a:solidFill>
                  <a:srgbClr val="21295C"/>
                </a:solidFill>
                <a:latin typeface="Arial"/>
              </a:rPr>
              <a:t>Fuzzy matching / shingling — ~90%</a:t>
            </a:r>
          </a:p>
        </p:txBody>
      </p:sp>
      <p:sp>
        <p:nvSpPr>
          <p:cNvPr id="6" name="TextBox 5"/>
          <p:cNvSpPr txBox="1"/>
          <p:nvPr/>
        </p:nvSpPr>
        <p:spPr>
          <a:xfrm>
            <a:off x="704088" y="2880360"/>
            <a:ext cx="5052059" cy="1033271"/>
          </a:xfrm>
          <a:prstGeom prst="rect">
            <a:avLst/>
          </a:prstGeom>
          <a:noFill/>
        </p:spPr>
        <p:txBody>
          <a:bodyPr wrap="square" lIns="0" rIns="0" tIns="0" bIns="0" anchor="t">
            <a:spAutoFit/>
          </a:bodyPr>
          <a:lstStyle/>
          <a:p>
            <a:pPr algn="l">
              <a:lnSpc>
                <a:spcPct val="125000"/>
              </a:lnSpc>
              <a:spcAft>
                <a:spcPts val="600"/>
              </a:spcAft>
            </a:pPr>
            <a:r>
              <a:rPr sz="1350" b="0" i="0">
                <a:solidFill>
                  <a:srgbClr val="21295C"/>
                </a:solidFill>
                <a:latin typeface="Arial"/>
              </a:rPr>
              <a:t>Comparing texts by overlapping fragments, with no call to a model</a:t>
            </a:r>
          </a:p>
          <a:p>
            <a:pPr algn="l">
              <a:lnSpc>
                <a:spcPct val="125000"/>
              </a:lnSpc>
              <a:spcAft>
                <a:spcPts val="0"/>
              </a:spcAft>
            </a:pPr>
            <a:r>
              <a:rPr sz="1350" b="1" i="0">
                <a:solidFill>
                  <a:srgbClr val="21295C"/>
                </a:solidFill>
                <a:latin typeface="Arial"/>
              </a:rPr>
              <a:t>Cheap and predictable</a:t>
            </a:r>
          </a:p>
        </p:txBody>
      </p:sp>
      <p:sp>
        <p:nvSpPr>
          <p:cNvPr id="7" name="Rounded Rectangle 6"/>
          <p:cNvSpPr/>
          <p:nvPr/>
        </p:nvSpPr>
        <p:spPr>
          <a:xfrm>
            <a:off x="6231636" y="2148840"/>
            <a:ext cx="5454396" cy="1783080"/>
          </a:xfrm>
          <a:prstGeom prst="roundRect">
            <a:avLst>
              <a:gd name="adj" fmla="val 6000"/>
            </a:avLst>
          </a:prstGeom>
          <a:solidFill>
            <a:srgbClr val="FBEAEA"/>
          </a:solidFill>
          <a:ln w="17780">
            <a:solidFill>
              <a:srgbClr val="B04A4A"/>
            </a:solidFill>
          </a:ln>
          <a:effectLst/>
        </p:spPr>
        <p:txBody>
          <a:bodyPr rtlCol="0" anchor="ctr"/>
          <a:lstStyle/>
          <a:p>
            <a:pPr algn="ctr"/>
          </a:p>
        </p:txBody>
      </p:sp>
      <p:pic>
        <p:nvPicPr>
          <p:cNvPr id="8" name="Picture 7" descr="sparkles-21295C-64.png"/>
          <p:cNvPicPr>
            <a:picLocks noChangeAspect="1"/>
          </p:cNvPicPr>
          <p:nvPr/>
        </p:nvPicPr>
        <p:blipFill>
          <a:blip r:embed="rId3"/>
          <a:stretch>
            <a:fillRect/>
          </a:stretch>
        </p:blipFill>
        <p:spPr>
          <a:xfrm>
            <a:off x="6432803" y="2350008"/>
            <a:ext cx="365760" cy="365760"/>
          </a:xfrm>
          <a:prstGeom prst="rect">
            <a:avLst/>
          </a:prstGeom>
        </p:spPr>
      </p:pic>
      <p:sp>
        <p:nvSpPr>
          <p:cNvPr id="9" name="TextBox 8"/>
          <p:cNvSpPr txBox="1"/>
          <p:nvPr/>
        </p:nvSpPr>
        <p:spPr>
          <a:xfrm>
            <a:off x="6908292" y="2331720"/>
            <a:ext cx="4576571" cy="411480"/>
          </a:xfrm>
          <a:prstGeom prst="rect">
            <a:avLst/>
          </a:prstGeom>
          <a:noFill/>
        </p:spPr>
        <p:txBody>
          <a:bodyPr wrap="square" lIns="0" rIns="0" tIns="0" bIns="0" anchor="ctr">
            <a:spAutoFit/>
          </a:bodyPr>
          <a:lstStyle/>
          <a:p>
            <a:pPr algn="l">
              <a:lnSpc>
                <a:spcPct val="110000"/>
              </a:lnSpc>
            </a:pPr>
            <a:r>
              <a:rPr sz="1500" b="1" i="0">
                <a:solidFill>
                  <a:srgbClr val="21295C"/>
                </a:solidFill>
                <a:latin typeface="Arial"/>
              </a:rPr>
              <a:t>LLM — only the remainder</a:t>
            </a:r>
          </a:p>
        </p:txBody>
      </p:sp>
      <p:sp>
        <p:nvSpPr>
          <p:cNvPr id="10" name="TextBox 9"/>
          <p:cNvSpPr txBox="1"/>
          <p:nvPr/>
        </p:nvSpPr>
        <p:spPr>
          <a:xfrm>
            <a:off x="6432803" y="2880360"/>
            <a:ext cx="5052059" cy="1033271"/>
          </a:xfrm>
          <a:prstGeom prst="rect">
            <a:avLst/>
          </a:prstGeom>
          <a:noFill/>
        </p:spPr>
        <p:txBody>
          <a:bodyPr wrap="square" lIns="0" rIns="0" tIns="0" bIns="0" anchor="t">
            <a:spAutoFit/>
          </a:bodyPr>
          <a:lstStyle/>
          <a:p>
            <a:pPr algn="l">
              <a:lnSpc>
                <a:spcPct val="125000"/>
              </a:lnSpc>
              <a:spcAft>
                <a:spcPts val="600"/>
              </a:spcAft>
            </a:pPr>
            <a:r>
              <a:rPr sz="1350" b="0" i="0">
                <a:solidFill>
                  <a:srgbClr val="21295C"/>
                </a:solidFill>
                <a:latin typeface="Arial"/>
              </a:rPr>
              <a:t>Two messages about the same event written in different words, sharing almost no fragments</a:t>
            </a:r>
          </a:p>
          <a:p>
            <a:pPr algn="l">
              <a:lnSpc>
                <a:spcPct val="125000"/>
              </a:lnSpc>
              <a:spcAft>
                <a:spcPts val="0"/>
              </a:spcAft>
            </a:pPr>
            <a:r>
              <a:rPr sz="1350" b="0" i="1">
                <a:solidFill>
                  <a:srgbClr val="21295C"/>
                </a:solidFill>
                <a:latin typeface="Arial"/>
              </a:rPr>
              <a:t>Paraphrase with no lexical overlap</a:t>
            </a:r>
          </a:p>
        </p:txBody>
      </p:sp>
      <p:sp>
        <p:nvSpPr>
          <p:cNvPr id="11" name="Rounded Rectangle 10"/>
          <p:cNvSpPr/>
          <p:nvPr/>
        </p:nvSpPr>
        <p:spPr>
          <a:xfrm>
            <a:off x="502920" y="4251959"/>
            <a:ext cx="11183112" cy="1051560"/>
          </a:xfrm>
          <a:prstGeom prst="roundRect">
            <a:avLst>
              <a:gd name="adj" fmla="val 25000"/>
            </a:avLst>
          </a:prstGeom>
          <a:solidFill>
            <a:srgbClr val="FEF5E0"/>
          </a:solidFill>
          <a:ln w="17780">
            <a:solidFill>
              <a:srgbClr val="F0AB00"/>
            </a:solidFill>
          </a:ln>
          <a:effectLst/>
        </p:spPr>
        <p:txBody>
          <a:bodyPr rtlCol="0" anchor="ctr"/>
          <a:lstStyle/>
          <a:p>
            <a:pPr algn="ctr"/>
          </a:p>
        </p:txBody>
      </p:sp>
      <p:sp>
        <p:nvSpPr>
          <p:cNvPr id="12" name="TextBox 11"/>
          <p:cNvSpPr txBox="1"/>
          <p:nvPr/>
        </p:nvSpPr>
        <p:spPr>
          <a:xfrm>
            <a:off x="777240" y="4251959"/>
            <a:ext cx="10607040" cy="1051560"/>
          </a:xfrm>
          <a:prstGeom prst="rect">
            <a:avLst/>
          </a:prstGeom>
          <a:noFill/>
        </p:spPr>
        <p:txBody>
          <a:bodyPr wrap="square" lIns="0" rIns="0" tIns="0" bIns="0" anchor="ctr">
            <a:spAutoFit/>
          </a:bodyPr>
          <a:lstStyle/>
          <a:p>
            <a:pPr algn="l">
              <a:lnSpc>
                <a:spcPct val="115000"/>
              </a:lnSpc>
            </a:pPr>
            <a:r>
              <a:rPr sz="1800" b="1" i="0">
                <a:solidFill>
                  <a:srgbClr val="21295C"/>
                </a:solidFill>
                <a:latin typeface="Arial"/>
              </a:rPr>
              <a:t>Cheap deterministic filter first — AI on what it didn't catch</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1295C"/>
        </a:solidFill>
        <a:effectLst/>
      </p:bgPr>
    </p:bg>
    <p:spTree>
      <p:nvGrpSpPr>
        <p:cNvPr id="1" name=""/>
        <p:cNvGrpSpPr/>
        <p:nvPr/>
      </p:nvGrpSpPr>
      <p:grpSpPr/>
      <p:pic>
        <p:nvPicPr>
          <p:cNvPr id="2" name="Picture 1" descr="s-closing-gpu-real.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4480560"/>
            <a:ext cx="12191695" cy="2377440"/>
          </a:xfrm>
          <a:prstGeom prst="rect">
            <a:avLst/>
          </a:prstGeom>
          <a:solidFill>
            <a:srgbClr val="21295C">
              <a:alpha val="82000"/>
            </a:srgbClr>
          </a:solidFill>
          <a:ln>
            <a:noFill/>
          </a:ln>
          <a:effectLst/>
        </p:spPr>
        <p:txBody>
          <a:bodyPr rtlCol="0" anchor="ctr"/>
          <a:lstStyle/>
          <a:p>
            <a:pPr algn="ctr"/>
          </a:p>
        </p:txBody>
      </p:sp>
      <p:sp>
        <p:nvSpPr>
          <p:cNvPr id="4" name="TextBox 3"/>
          <p:cNvSpPr txBox="1"/>
          <p:nvPr/>
        </p:nvSpPr>
        <p:spPr>
          <a:xfrm>
            <a:off x="548640" y="4709160"/>
            <a:ext cx="10607040" cy="1737360"/>
          </a:xfrm>
          <a:prstGeom prst="rect">
            <a:avLst/>
          </a:prstGeom>
          <a:noFill/>
        </p:spPr>
        <p:txBody>
          <a:bodyPr wrap="square" lIns="0" rIns="0" tIns="0" bIns="0" anchor="t">
            <a:spAutoFit/>
          </a:bodyPr>
          <a:lstStyle/>
          <a:p>
            <a:pPr algn="l">
              <a:lnSpc>
                <a:spcPct val="120000"/>
              </a:lnSpc>
              <a:spcAft>
                <a:spcPts val="400"/>
              </a:spcAft>
            </a:pPr>
            <a:r>
              <a:rPr sz="2600" b="1" i="0">
                <a:solidFill>
                  <a:srgbClr val="FFFFFF"/>
                </a:solidFill>
                <a:latin typeface="Arial"/>
              </a:rPr>
              <a:t>Today you decided what to build.</a:t>
            </a:r>
          </a:p>
          <a:p>
            <a:pPr algn="l">
              <a:lnSpc>
                <a:spcPct val="120000"/>
              </a:lnSpc>
              <a:spcAft>
                <a:spcPts val="0"/>
              </a:spcAft>
            </a:pPr>
            <a:r>
              <a:rPr sz="2600" b="1" i="0">
                <a:solidFill>
                  <a:srgbClr val="F0AB00"/>
                </a:solidFill>
                <a:latin typeface="Arial"/>
              </a:rPr>
              <a:t>Lecture 2 — how the model is built inside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