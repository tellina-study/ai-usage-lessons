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Сегодня у нас семинар номер два, и формат простой: мы вместе</a:t>
            </a:r>
          </a:p>
          <a:p>
            <a:r>
              <a:t>разберём семь ситуаций, которые могли бы прийти к любому из вас с реальной</a:t>
            </a:r>
          </a:p>
          <a:p>
            <a:r>
              <a:t>работы. В каждой — кто-то просит «сделайте нам автоматизацию», и дальше</a:t>
            </a:r>
          </a:p>
          <a:p>
            <a:r>
              <a:t>инженеру нужно решить, что именно строить. Мы не будем читать лекцию и не</a:t>
            </a:r>
          </a:p>
          <a:p>
            <a:r>
              <a:t>будем вам ничего презентовать полчаса — будем разбирать конкретные истории</a:t>
            </a:r>
          </a:p>
          <a:p>
            <a:r>
              <a:t>вслух, все вместе, залом. Я буду показывать постановку задачи, вы будете</a:t>
            </a:r>
          </a:p>
          <a:p>
            <a:r>
              <a:t>говорить, что бы предложили, а потом — и это самое интересное — почти в</a:t>
            </a:r>
          </a:p>
          <a:p>
            <a:r>
              <a:t>каждом кейсе появится деталь, которой не было в первой формулировке, и мы</a:t>
            </a:r>
          </a:p>
          <a:p>
            <a:r>
              <a:t>спросим, кто после неё передумал. Готовность передумать здесь ценится</a:t>
            </a:r>
          </a:p>
          <a:p>
            <a:r>
              <a:t>больше, чем готовность настоять на своём первом ответе. Поехали.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список того, что мы сегодня разберём: документы от поставщиков,</a:t>
            </a:r>
          </a:p>
          <a:p>
            <a:r>
              <a:t>персональные данные в логах, помощник для техподдержки, описания товаров</a:t>
            </a:r>
          </a:p>
          <a:p>
            <a:r>
              <a:t>для маркетинга, протоколы встреч, дайджест по рабочим чатам и звонки</a:t>
            </a:r>
          </a:p>
          <a:p>
            <a:r>
              <a:t>отдела продаж. Семь ситуаций, разного масштаба — где-то мы проведём десять</a:t>
            </a:r>
          </a:p>
          <a:p>
            <a:r>
              <a:t>минут, где-то управимся за три. Но в каждой есть один общий момент: в</a:t>
            </a:r>
          </a:p>
          <a:p>
            <a:r>
              <a:t>начале вы услышите постановку задачи, примете какое-то решение, а потом</a:t>
            </a:r>
          </a:p>
          <a:p>
            <a:r>
              <a:t>всплывёт вводная, которой не было в первой версии. Не потому что я вас</a:t>
            </a:r>
          </a:p>
          <a:p>
            <a:r>
              <a:t>обманываю, а потому что именно так это и происходит в жизни — заказчик</a:t>
            </a:r>
          </a:p>
          <a:p>
            <a:r>
              <a:t>не рассказывает вам всё сразу, он рассказывает по мере того, как вы</a:t>
            </a:r>
          </a:p>
          <a:p>
            <a:r>
              <a:t>задаёте вопросы. Так что смотрите на постановку критически с самого</a:t>
            </a:r>
          </a:p>
          <a:p>
            <a:r>
              <a:t>начала: чего вам не хватает, чтобы дать честный ответ?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кейс. Про документы, которые присылают поставщики, и про то, что с</a:t>
            </a:r>
          </a:p>
          <a:p>
            <a:r>
              <a:t>ними делать. Тег внизу слайда — «ИИ или обычный код» — это просто ярлык</a:t>
            </a:r>
          </a:p>
          <a:p>
            <a:r>
              <a:t>того типа решения, который здесь на кону, не готовая подсказка ответа и</a:t>
            </a:r>
          </a:p>
          <a:p>
            <a:r>
              <a:t>не намёк на то, куда я жду от вас ответа. Дальше будет живая постановка —</a:t>
            </a:r>
          </a:p>
          <a:p>
            <a:r>
              <a:t>я зачитаю реплику так, как её произнёс бы человек, который реально</a:t>
            </a:r>
          </a:p>
          <a:p>
            <a:r>
              <a:t>принёс эту задачу инженеру, без причёсывания под учебный пример. Слушайте</a:t>
            </a:r>
          </a:p>
          <a:p>
            <a:r>
              <a:t>внимательно детали: в таких постановках почти всегда есть зацепка, которая</a:t>
            </a:r>
          </a:p>
          <a:p>
            <a:r>
              <a:t>через минуту окажется важной, и часто эта зацепка — не то, что вам сразу</a:t>
            </a:r>
          </a:p>
          <a:p>
            <a:r>
              <a:t>показали, а то, о чём вас не предупредили. Формат простой: сначала вы</a:t>
            </a:r>
          </a:p>
          <a:p>
            <a:r>
              <a:t>слышите постановку и высказываете мнение, потом появляется что-то новое,</a:t>
            </a:r>
          </a:p>
          <a:p>
            <a:r>
              <a:t>и мы смотрим, меняет ли это картину. Готовы? Переходим к постановке.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Реплика продакта, слово в слово: «Бухгалтерия тонет — поставщики шлют</a:t>
            </a:r>
          </a:p>
          <a:p>
            <a:r>
              <a:t>накладные, всё руками переносится в 1С. Вот два примера. Можно это</a:t>
            </a:r>
          </a:p>
          <a:p>
            <a:r>
              <a:t>автоматом разбирать? Сложно?» Вот эти два примера у вас на экране —</a:t>
            </a:r>
          </a:p>
          <a:p>
            <a:r>
              <a:t>посмотрите на них внимательно, структура у обоих почти одинаковая: те же</a:t>
            </a:r>
          </a:p>
          <a:p>
            <a:r>
              <a:t>поля, тот же порядок, похожий вид таблицы. Ничего экзотического, обычная</a:t>
            </a:r>
          </a:p>
          <a:p>
            <a:r>
              <a:t>накладная, которую бухгалтер сейчас переносит в 1С руками, поле за</a:t>
            </a:r>
          </a:p>
          <a:p>
            <a:r>
              <a:t>полем. Вопрос в зал: что вы предложите? Нужен ли здесь ИИ вообще, или</a:t>
            </a:r>
          </a:p>
          <a:p>
            <a:r>
              <a:t>можно обойтись без него? Не спешите, посмотрите на примеры ещё раз,</a:t>
            </a:r>
          </a:p>
          <a:p>
            <a:r>
              <a:t>прежде чем отвечать — какие конкретно поля вы бы вытаскивали, и что, на</a:t>
            </a:r>
          </a:p>
          <a:p>
            <a:r>
              <a:t>ваш взгляд, определяет сложность этой задачи? Кто готов высказаться первым?</a:t>
            </a:r>
          </a:p>
          <a:p>
            <a:r>
              <a:t>Помните: единственно верного ответа здесь может и не быть, важно, чтобы</a:t>
            </a:r>
          </a:p>
          <a:p>
            <a:r>
              <a:t>вы могли объяснить, почему выбрали именно такой путь.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в этой истории было так: «Попросили архив — бухгалтерия прислала</a:t>
            </a:r>
          </a:p>
          <a:p>
            <a:r>
              <a:t>за три года, сорок поставщиков». Вот несколько примеров из этого архива —</a:t>
            </a:r>
          </a:p>
          <a:p>
            <a:r>
              <a:t>смотрите, форматы уже не такие одинаковые, как в первых двух документах:</a:t>
            </a:r>
          </a:p>
          <a:p>
            <a:r>
              <a:t>где-то таблица устроена иначе, где-то поле называется по-другому, где-то</a:t>
            </a:r>
          </a:p>
          <a:p>
            <a:r>
              <a:t>один из поставщиков вообще иностранный и присылает документы на</a:t>
            </a:r>
          </a:p>
          <a:p>
            <a:r>
              <a:t>английском. Это ровно тот же архив, только теперь мы видим его целиком, а</a:t>
            </a:r>
          </a:p>
          <a:p>
            <a:r>
              <a:t>не два выбранных примера. Вопрос в зал: меняет ли это ваш ответ? Не</a:t>
            </a:r>
          </a:p>
          <a:p>
            <a:r>
              <a:t>тороплюсь с подсказкой, просто дайте секунду посмотреть на эти четыре</a:t>
            </a:r>
          </a:p>
          <a:p>
            <a:r>
              <a:t>карточки и сравнить с тем, что видели минуту назад. Кто хочет</a:t>
            </a:r>
          </a:p>
          <a:p>
            <a:r>
              <a:t>высказаться? И если вы говорили про чистый парсер без ИИ — что вы сейчас</a:t>
            </a:r>
          </a:p>
          <a:p>
            <a:r>
              <a:t>думаете, когда видите этот разброс форматов?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Смотрите, что произошло: пока мы видели два одинаковых документа, чистый</a:t>
            </a:r>
          </a:p>
          <a:p>
            <a:r>
              <a:t>код казался достаточным и даже предпочтительным — он предсказуем.</a:t>
            </a:r>
          </a:p>
          <a:p>
            <a:r>
              <a:t>Как только появился реальный архив за три года и сорок поставщиков,</a:t>
            </a:r>
          </a:p>
          <a:p>
            <a:r>
              <a:t>стало видно, что форматы на самом деле разъехались, и чистый парсер</a:t>
            </a:r>
          </a:p>
          <a:p>
            <a:r>
              <a:t>пришлось бы постоянно чинить под каждый новый вариант. Разумный ответ</a:t>
            </a:r>
          </a:p>
          <a:p>
            <a:r>
              <a:t>здесь — гибрид: модель делает извлечение по неструктурированному или</a:t>
            </a:r>
          </a:p>
          <a:p>
            <a:r>
              <a:t>разнородному входу, а дальше — жёсткая валидация кодом, проверка типов</a:t>
            </a:r>
          </a:p>
          <a:p>
            <a:r>
              <a:t>полей, обязательных значений, диапазонов, прежде чем данные попадут в</a:t>
            </a:r>
          </a:p>
          <a:p>
            <a:r>
              <a:t>1С. И главный урок этого кейса шире, чем документы: два примера — это не</a:t>
            </a:r>
          </a:p>
          <a:p>
            <a:r>
              <a:t>выборка. Прежде чем делать архитектурный выбор, нужно попросить</a:t>
            </a:r>
          </a:p>
          <a:p>
            <a:r>
              <a:t>представление полного объёма данных, с которым решение реально</a:t>
            </a:r>
          </a:p>
          <a:p>
            <a:r>
              <a:t>столкнётся, а не экстраполировать с двух показанных образцов. Кстати,</a:t>
            </a:r>
          </a:p>
          <a:p>
            <a:r>
              <a:t>здесь же стоит держать в голове риск из Лекции 1: модель, настроенная на</a:t>
            </a:r>
          </a:p>
          <a:p>
            <a:r>
              <a:t>форматы, которые видела, тихо деградирует на новых — это тот же</a:t>
            </a:r>
          </a:p>
          <a:p>
            <a:r>
              <a:t>механизм, что distribution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Короткий кейс, блиц — на него у нас меньше времени, чем на предыдущий,</a:t>
            </a:r>
          </a:p>
          <a:p>
            <a:r>
              <a:t>так что сразу к делу, без долгого разогрева. Постановка: нужно вычистить</a:t>
            </a:r>
          </a:p>
          <a:p>
            <a:r>
              <a:t>персональные данные из логов приложения перед передачей их внешнему</a:t>
            </a:r>
          </a:p>
          <a:p>
            <a:r>
              <a:t>подрядчику на анализ производительности. Подрядчику нужны сами логи —</a:t>
            </a:r>
          </a:p>
          <a:p>
            <a:r>
              <a:t>структура запросов, тайминги, ошибки, — но не данные конкретных людей.</a:t>
            </a:r>
          </a:p>
          <a:p>
            <a:r>
              <a:t>Вот пример строки лога у вас на экране — посмотрите, что там вообще</a:t>
            </a:r>
          </a:p>
          <a:p>
            <a:r>
              <a:t>встречается: номер телефона, адрес почты, и фраза вроде «передайте это</a:t>
            </a:r>
          </a:p>
          <a:p>
            <a:r>
              <a:t>Ивану из бухгалтерии». Вопрос в зал: одна технология здесь закроет всю</a:t>
            </a:r>
          </a:p>
          <a:p>
            <a:r>
              <a:t>задачу целиком, или нет? Давайте быстро, у кого есть мнение? Не нужно</a:t>
            </a:r>
          </a:p>
          <a:p>
            <a:r>
              <a:t>развёрнутого разбора, буквально первая реакция — что бросается в глаза?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Телефоны и email — это данные с чётким, предсказуемым форматом, их</a:t>
            </a:r>
          </a:p>
          <a:p>
            <a:r>
              <a:t>надёжно и дёшево вычищает обычный regex, никакая модель здесь не нужна.</a:t>
            </a:r>
          </a:p>
          <a:p>
            <a:r>
              <a:t>А вот имена людей и косвенные упоминания в свободном тексте — вроде</a:t>
            </a:r>
          </a:p>
          <a:p>
            <a:r>
              <a:t>«передайте это Ивану из бухгалтерии» — требуют понимания контекста, и</a:t>
            </a:r>
          </a:p>
          <a:p>
            <a:r>
              <a:t>здесь без распознавания именованных сущностей или модели не обойтись.</a:t>
            </a:r>
          </a:p>
          <a:p>
            <a:r>
              <a:t>Так что ответ на вопрос «одна технология на всё» — нет, и это ответ-гибрид:</a:t>
            </a:r>
          </a:p>
          <a:p>
            <a:r>
              <a:t>граница проходит внутри одной и той же задачи, а не между разными</a:t>
            </a:r>
          </a:p>
          <a:p>
            <a:r>
              <a:t>задачами. Держим в голове — мы ещё вернёмся к вопросу чувствительности</a:t>
            </a:r>
          </a:p>
          <a:p>
            <a:r>
              <a:t>данных ближе к концу занятия, когда будем разбирать, где вообще можно</a:t>
            </a:r>
          </a:p>
          <a:p>
            <a:r>
              <a:t>считать такие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практики, один неудачный, один удачный. Epic Sepsis Model —</a:t>
            </a:r>
          </a:p>
          <a:p>
            <a:r>
              <a:t>проприетарная модель предсказания сепсиса, развёрнутая у сотен</a:t>
            </a:r>
          </a:p>
          <a:p>
            <a:r>
              <a:t>госпиталей. Независимая проверка Michigan Medicine, опубликованная в JAMA</a:t>
            </a:r>
          </a:p>
          <a:p>
            <a:r>
              <a:t>Internal Medicine в июне 2021 года, на выборке из 27 697 пациентов и</a:t>
            </a:r>
          </a:p>
          <a:p>
            <a:r>
              <a:t>38 455 госпитализаций, где сепсис встретился в 7% случаев, показала: реальная</a:t>
            </a:r>
          </a:p>
          <a:p>
            <a:r>
              <a:t>точность — 0.63 по AUC, против заявленных вендором 0.76–0.83. Модель</a:t>
            </a:r>
          </a:p>
          <a:p>
            <a:r>
              <a:t>пропустила 67% реальных случаев сепсиса, а алерты срабатывали на 18% всех</a:t>
            </a:r>
          </a:p>
          <a:p>
            <a:r>
              <a:t>госпитализированных — это классическое притупление внимания от избыточных</a:t>
            </a:r>
          </a:p>
          <a:p>
            <a:r>
              <a:t>срабатываний. Что здесь пошло не так, на ваш взгляд? Главный урок —</a:t>
            </a:r>
          </a:p>
          <a:p>
            <a:r>
              <a:t>вендорская метрика точности не равна метрике, измеренной независимо на</a:t>
            </a:r>
          </a:p>
          <a:p>
            <a:r>
              <a:t>собственных данных. Теперь позитивный пример: инженерный блог компании</a:t>
            </a:r>
          </a:p>
          <a:p>
            <a:r>
              <a:t>Ramp рассказывает, как раньше заявки на исправление классификации</a:t>
            </a:r>
          </a:p>
          <a:p>
            <a:r>
              <a:t>транзакций обрабатывались вручную с покрытием всего 3% в 2023 году и</a:t>
            </a:r>
          </a:p>
          <a:p>
            <a:r>
              <a:t>1,5% в 2024 — то есть почти всё оставалось необработанным. После</a:t>
            </a:r>
          </a:p>
          <a:p>
            <a:r>
              <a:t>внедрения LLM-агента с векторным поиском и ограничениями безопасности —</a:t>
            </a:r>
          </a:p>
          <a:p>
            <a:r>
              <a:t>меньше 10 секунд на заявку, около 99% решений признаются корректными,</a:t>
            </a:r>
          </a:p>
          <a:p>
            <a:r>
              <a:t>около 25% обоснованно отклоняются. Важно сказать честно: это не победа</a:t>
            </a:r>
          </a:p>
          <a:p>
            <a:r>
              <a:t>ИИ над регулярными выражениями, это замена ручной обработки с мизерным</a:t>
            </a:r>
          </a:p>
          <a:p>
            <a:r>
              <a:t>покрытием.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кейс. Про помощника для операторов техподдержки — и про то, где</a:t>
            </a:r>
          </a:p>
          <a:p>
            <a:r>
              <a:t>именно ему стоит жить. Тег внизу — «встроить или своё» — опять же просто</a:t>
            </a:r>
          </a:p>
          <a:p>
            <a:r>
              <a:t>ярлык, не подсказка на то, какой ответ я жду услышать. Этот кейс, забегая</a:t>
            </a:r>
          </a:p>
          <a:p>
            <a:r>
              <a:t>вперёд, особенный: у него нет единственно верного решения, и мы к этому</a:t>
            </a:r>
          </a:p>
          <a:p>
            <a:r>
              <a:t>ещё вернёмся в разборе — так что не удивляйтесь, если аудитория разойдётся</a:t>
            </a:r>
          </a:p>
          <a:p>
            <a:r>
              <a:t>во мнениях и мы не придём к одному общему выводу. Это специально. А</a:t>
            </a:r>
          </a:p>
          <a:p>
            <a:r>
              <a:t>пока — просто слушайте постановку и держите в голове, кто на самом деле</a:t>
            </a:r>
          </a:p>
          <a:p>
            <a:r>
              <a:t>будет пользоваться тем, что мы построим, и как именно проходит его</a:t>
            </a:r>
          </a:p>
          <a:p>
            <a:r>
              <a:t>рабочий день — это обычно и есть ключ к архитектурному решению такого</a:t>
            </a:r>
          </a:p>
          <a:p>
            <a:r>
              <a:t>рода.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«Сделайте нам ИИ-помощника для операторов техподдержки —</a:t>
            </a:r>
          </a:p>
          <a:p>
            <a:r>
              <a:t>подсказки ответов на тикеты, поиск похожих обращений в истории». Идея</a:t>
            </a:r>
          </a:p>
          <a:p>
            <a:r>
              <a:t>понятная — оператор открывает новый тикет, а система сама подсказывает,</a:t>
            </a:r>
          </a:p>
          <a:p>
            <a:r>
              <a:t>как отвечали на похожие обращения раньше, чтобы не искать вручную.</a:t>
            </a:r>
          </a:p>
          <a:p>
            <a:r>
              <a:t>Операторы, о которых идёт речь, весь рабочий день сидят в одном и том же</a:t>
            </a:r>
          </a:p>
          <a:p>
            <a:r>
              <a:t>интерфейсе helpdesk-системы — что-то вроде Zendesk или Jira Service</a:t>
            </a:r>
          </a:p>
          <a:p>
            <a:r>
              <a:t>Management, открывают тикет за тикетом, отвечают клиентам, переключаются</a:t>
            </a:r>
          </a:p>
          <a:p>
            <a:r>
              <a:t>между обращениями десятками раз за смену. Вопрос в зал: где должен жить</a:t>
            </a:r>
          </a:p>
          <a:p>
            <a:r>
              <a:t>этот помощник? Что вы предложите — отдельное окно, встроенная подсказка</a:t>
            </a:r>
          </a:p>
          <a:p>
            <a:r>
              <a:t>прямо в интерфейсе, что-то ещё? И, что не менее важно, почему именно</a:t>
            </a:r>
          </a:p>
          <a:p>
            <a:r>
              <a:t>так, а не иначе?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вот что говорит ИТ-директор компании, когда к нему приходят с этой</a:t>
            </a:r>
          </a:p>
          <a:p>
            <a:r>
              <a:t>идеей: «У нас коробочный helpdesk. Открытого API нет, кастомизаций нет —</a:t>
            </a:r>
          </a:p>
          <a:p>
            <a:r>
              <a:t>вендор и на письма-то не отвечает». То есть компания даже написала</a:t>
            </a:r>
          </a:p>
          <a:p>
            <a:r>
              <a:t>вендору с вопросом об интеграции, и ответа так и не получила. Вопрос в</a:t>
            </a:r>
          </a:p>
          <a:p>
            <a:r>
              <a:t>зал: что делаем? Обратите внимание, я не говорю вам, хорошо это или плохо</a:t>
            </a:r>
          </a:p>
          <a:p>
            <a:r>
              <a:t>для вашего плана — просто называю факт, который вы бы узнали, только</a:t>
            </a:r>
          </a:p>
          <a:p>
            <a:r>
              <a:t>если бы сами спросили ИТ-отдел заранее, до того как начали проектировать</a:t>
            </a:r>
          </a:p>
          <a:p>
            <a:r>
              <a:t>решение. Кто хочет высказаться первым, что теперь предлагаете? И кто из</a:t>
            </a:r>
          </a:p>
          <a:p>
            <a:r>
              <a:t>тех, кто минуту назад предлагал встроить помощника прямо в интерфейс —</a:t>
            </a:r>
          </a:p>
          <a:p>
            <a:r>
              <a:t>что вы думаете сейчас, когда выяснилось, что сам интерфейс для вас</a:t>
            </a:r>
          </a:p>
          <a:p>
            <a:r>
              <a:t>закрыт наглухо?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кейса нет единственно верного ответа, и это специально. Смотрите</a:t>
            </a:r>
          </a:p>
          <a:p>
            <a:r>
              <a:t>на три реальных варианта. Первый — решение сбоку: расширение браузера или</a:t>
            </a:r>
          </a:p>
          <a:p>
            <a:r>
              <a:t>вторая панель рядом с интерфейсом helpdesk. Цена — оператору приходится</a:t>
            </a:r>
          </a:p>
          <a:p>
            <a:r>
              <a:t>физически смотреть в два места, и под нагрузкой он туда просто не будет</a:t>
            </a:r>
          </a:p>
          <a:p>
            <a:r>
              <a:t>заглядывать. Второй — сменить вендора helpdesk-системы на систему с</a:t>
            </a:r>
          </a:p>
          <a:p>
            <a:r>
              <a:t>открытым API. Цена — миграция исторических данных, переобучение всей</a:t>
            </a:r>
          </a:p>
          <a:p>
            <a:r>
              <a:t>команды поддержки, риск простоя на переходе, и всё это ради одной фичи.</a:t>
            </a:r>
          </a:p>
          <a:p>
            <a:r>
              <a:t>Третий — пересмотреть саму задачу: помощник не встраивается в момент</a:t>
            </a:r>
          </a:p>
          <a:p>
            <a:r>
              <a:t>ответа оператора, а готовит черновики или сводки по тикету заранее, в</a:t>
            </a:r>
          </a:p>
          <a:p>
            <a:r>
              <a:t>фоне, и оператор открывает готовый черновик там, где ему удобно. На</a:t>
            </a:r>
          </a:p>
          <a:p>
            <a:r>
              <a:t>реальной работе вы будете выбирать между этими тремя исходя из бюджета,</a:t>
            </a:r>
          </a:p>
          <a:p>
            <a:r>
              <a:t>срочности и готовности компании на организационные издержки. Задача была</a:t>
            </a:r>
          </a:p>
          <a:p>
            <a:r>
              <a:t>не найти правильный ответ, а увидеть, что закрытый вендор может</a:t>
            </a:r>
          </a:p>
          <a:p>
            <a:r>
              <a:t>определить архитектуру не хуже технических требований.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блиц-кейс, снова быстро — этот займёт у нас буквально пару</a:t>
            </a:r>
          </a:p>
          <a:p>
            <a:r>
              <a:t>минут разговора. Маркетинг просит отдельный ИИ-сервис для генерации</a:t>
            </a:r>
          </a:p>
          <a:p>
            <a:r>
              <a:t>описаний товаров — что-то вроде нового отдельного инструмента, куда</a:t>
            </a:r>
          </a:p>
          <a:p>
            <a:r>
              <a:t>нужно будет заходить, логиниться и вбивать характеристики товара, чтобы</a:t>
            </a:r>
          </a:p>
          <a:p>
            <a:r>
              <a:t>получить готовое описание для карточки на сайте. Звучит разумно — задача</a:t>
            </a:r>
          </a:p>
          <a:p>
            <a:r>
              <a:t>понятная, технология доступная. Вопрос в зал: отдельный сервис — хорошая</a:t>
            </a:r>
          </a:p>
          <a:p>
            <a:r>
              <a:t>идея, или нет? Что скажете? У кого есть быстрое мнение — не нужно долго</a:t>
            </a:r>
          </a:p>
          <a:p>
            <a:r>
              <a:t>думать, здесь ответ довольно очевиден, если вспомнить, кто именно и как</a:t>
            </a:r>
          </a:p>
          <a:p>
            <a:r>
              <a:t>этим будет пользоваться каждый день в реальной работе, и сколько лишних</a:t>
            </a:r>
          </a:p>
          <a:p>
            <a:r>
              <a:t>кликов появится, если решение окажется отдельным от привычного места</a:t>
            </a:r>
          </a:p>
          <a:p>
            <a:r>
              <a:t>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должна быть кнопка «сгенерировать описание» прямо в существующей</a:t>
            </a:r>
          </a:p>
          <a:p>
            <a:r>
              <a:t>админке каталога товаров, которой маркетинг и так пользуется каждый день,</a:t>
            </a:r>
          </a:p>
          <a:p>
            <a:r>
              <a:t>заводя новые товары и редактируя карточки. Отдельный продукт — это второй</a:t>
            </a:r>
          </a:p>
          <a:p>
            <a:r>
              <a:t>логин, отдельная вкладка, привычка, которую нужно формировать с нуля, и</a:t>
            </a:r>
          </a:p>
          <a:p>
            <a:r>
              <a:t>лишний шаг в рабочем процессе, от которого человек будет уставать</a:t>
            </a:r>
          </a:p>
          <a:p>
            <a:r>
              <a:t>быстрее, чем от самой задачи написания описания. И на практике такие</a:t>
            </a:r>
          </a:p>
          <a:p>
            <a:r>
              <a:t>отдельные инструменты часто умирают от неиспользования, даже если</a:t>
            </a:r>
          </a:p>
          <a:p>
            <a:r>
              <a:t>технология внутри работает отлично — просто потому что до них банально</a:t>
            </a:r>
          </a:p>
          <a:p>
            <a:r>
              <a:t>не доходят руки в конце длинного дня, когда проще написать вручную то,</a:t>
            </a:r>
          </a:p>
          <a:p>
            <a:r>
              <a:t>что и так писали годами, чем открывать ещё одну вкладку ради экономии</a:t>
            </a:r>
          </a:p>
          <a:p>
            <a:r>
              <a:t>пары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Kite — отдельный самостоятельный продукт для автодополнения кода на базе</a:t>
            </a:r>
          </a:p>
          <a:p>
            <a:r>
              <a:t>ИИ, на пике около 500 тысяч бесплатных пользователей, закрылся в ноябре</a:t>
            </a:r>
          </a:p>
          <a:p>
            <a:r>
              <a:t>2022 года. По словам основателя, продукт не смог монетизироваться —</a:t>
            </a:r>
          </a:p>
          <a:p>
            <a:r>
              <a:t>разработчики исторически неохотно платят за инструменты разработки. А</a:t>
            </a:r>
          </a:p>
          <a:p>
            <a:r>
              <a:t>теперь смотрите на GitHub Copilot — технология того же класса,</a:t>
            </a:r>
          </a:p>
          <a:p>
            <a:r>
              <a:t>автодополнение кода, но встроенная прямо в IDE и в экосистему GitHub, к</a:t>
            </a:r>
          </a:p>
          <a:p>
            <a:r>
              <a:t>которой разработчики уже подключены: около 20 миллионов пользователей к</a:t>
            </a:r>
          </a:p>
          <a:p>
            <a:r>
              <a:t>июлю 2025 года из более чем 100 миллионов разработчиков на GitHub, 4,7</a:t>
            </a:r>
          </a:p>
          <a:p>
            <a:r>
              <a:t>миллиона платных подписчиков к январю 2026, используется примерно в 90%</a:t>
            </a:r>
          </a:p>
          <a:p>
            <a:r>
              <a:t>компаний из списка Fortune 100. Это не значит, что у Kite было хуже</a:t>
            </a:r>
          </a:p>
          <a:p>
            <a:r>
              <a:t>качество — это значит, что архитектурное решение «встроить или своё» имеет</a:t>
            </a:r>
          </a:p>
          <a:p>
            <a:r>
              <a:t>реальную коммерческую цену. И раз уж заговорили про отдельные продукты —</a:t>
            </a:r>
          </a:p>
          <a:p>
            <a:r>
              <a:t>короткий анекдот в ту же тему: Humane AI Pin, отдельное устройство,</a:t>
            </a:r>
          </a:p>
          <a:p>
            <a:r>
              <a:t>привлёк почти 241 миллион долларов инвестиций и был продан компании HP за</a:t>
            </a:r>
          </a:p>
          <a:p>
            <a:r>
              <a:t>116 миллионов — с потерей больше половины вложенного капитала. Rabbit R1</a:t>
            </a:r>
          </a:p>
          <a:p>
            <a:r>
              <a:t>продали около 100 тысяч штук, но по оценкам активно им пользуются</a:t>
            </a:r>
          </a:p>
          <a:p>
            <a:r>
              <a:t>единицы процентов купивших. Отдельное устройство конкурирует не только с</a:t>
            </a:r>
          </a:p>
          <a:p>
            <a:r>
              <a:t>альтернативными технологиями, но и с привычкой не переключаться на новую</a:t>
            </a:r>
          </a:p>
          <a:p>
            <a:r>
              <a:t>точку входа.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следующему кейсу, два слова про RAG — эта</a:t>
            </a:r>
          </a:p>
          <a:p>
            <a:r>
              <a:t>аббревиатура вам сейчас понадобится, и дальше в занятии будет всплывать</a:t>
            </a:r>
          </a:p>
          <a:p>
            <a:r>
              <a:t>ещё не раз. Устроено это так: вопрос пользователя → система ищет</a:t>
            </a:r>
          </a:p>
          <a:p>
            <a:r>
              <a:t>релевантные фрагменты в базе знаний → найденные фрагменты подкладываются</a:t>
            </a:r>
          </a:p>
          <a:p>
            <a:r>
              <a:t>в контекст модели → модель генерирует ответ на основе вопроса и</a:t>
            </a:r>
          </a:p>
          <a:p>
            <a:r>
              <a:t>найденного. RAG нужен, когда база знаний большая, меняется во времени, и</a:t>
            </a:r>
          </a:p>
          <a:p>
            <a:r>
              <a:t>весь её объём физически не помещается в один запрос к модели — то есть</a:t>
            </a:r>
          </a:p>
          <a:p>
            <a:r>
              <a:t>модель физически не может «прочитать» всё сразу, ей нужно заранее найти</a:t>
            </a:r>
          </a:p>
          <a:p>
            <a:r>
              <a:t>только релевантный кусок. Как устроен поиск внутри — векторные</a:t>
            </a:r>
          </a:p>
          <a:p>
            <a:r>
              <a:t>представления, индексация — подробно разберём на Лекции 3, сегодня нам</a:t>
            </a:r>
          </a:p>
          <a:p>
            <a:r>
              <a:t>достаточно этой интуиции, чтобы узнавать архитектуру, когда она нужна, а</a:t>
            </a:r>
          </a:p>
          <a:p>
            <a:r>
              <a:t>не изобретать её заново каждый раз с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второе — агент. Здесь модель работает не одним вызовом, а циклом:</a:t>
            </a:r>
          </a:p>
          <a:p>
            <a:r>
              <a:t>строит план, вызывает внешний инструмент — это может быть API, поиск,</a:t>
            </a:r>
          </a:p>
          <a:p>
            <a:r>
              <a:t>запуск кода, — проверяет результат этого вызова, решает, что делать</a:t>
            </a:r>
          </a:p>
          <a:p>
            <a:r>
              <a:t>дальше, и так несколько раз подряд, пока задача не будет выполнена или не</a:t>
            </a:r>
          </a:p>
          <a:p>
            <a:r>
              <a:t>потребуется вмешательство человека. Ключевое отличие от RAG — здесь</a:t>
            </a:r>
          </a:p>
          <a:p>
            <a:r>
              <a:t>модель не просто отвечает на вопрос по найденным фрагментам, она реально</a:t>
            </a:r>
          </a:p>
          <a:p>
            <a:r>
              <a:t>что-то делает во внешнем мире и проверяет, получилось ли. Детали того,</a:t>
            </a:r>
          </a:p>
          <a:p>
            <a:r>
              <a:t>как агент планирует внутри, — снова Лекция 3. Сегодня нам важно только</a:t>
            </a:r>
          </a:p>
          <a:p>
            <a:r>
              <a:t>одно: узнавать, когда задача требует именно такого цикла с инструментами,</a:t>
            </a:r>
          </a:p>
          <a:p>
            <a:r>
              <a:t>а не разового ответа модели. Держите эти две схемы в голове — RAG и</a:t>
            </a:r>
          </a:p>
          <a:p>
            <a:r>
              <a:t>агент, — они понадобятся буквально через минуту, в следующем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кейс, и в нём мы как раз используем то, что только что</a:t>
            </a:r>
          </a:p>
          <a:p>
            <a:r>
              <a:t>проговорили про RAG и агента — это будет самый длинный разбор занятия,</a:t>
            </a:r>
          </a:p>
          <a:p>
            <a:r>
              <a:t>потому что задача вокруг него будет меняться несколько раз подряд, а не</a:t>
            </a:r>
          </a:p>
          <a:p>
            <a:r>
              <a:t>один. Про протоколы встреч и про то, как одна и та же команда со</a:t>
            </a:r>
          </a:p>
          <a:p>
            <a:r>
              <a:t>временем начинает просить у своей системы всё больше и больше, шаг за</a:t>
            </a:r>
          </a:p>
          <a:p>
            <a:r>
              <a:t>шагом. Слушайте постановку внимательно — и держите в голове две схемы с</a:t>
            </a:r>
          </a:p>
          <a:p>
            <a:r>
              <a:t>предыдущего слайда, они пригодятся довольно быстро, буквально через</a:t>
            </a:r>
          </a:p>
          <a:p>
            <a:r>
              <a:t>пару минут. Мы пройдём этот кейс как лестницу: от самого простого</a:t>
            </a:r>
          </a:p>
          <a:p>
            <a:r>
              <a:t>варианта архитектуры к более сложному, и на каждой ступеньке будем</a:t>
            </a:r>
          </a:p>
          <a:p>
            <a:r>
              <a:t>спрашивать, что именно заставило нас подняться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«После каждой встречи кто-то полчаса пишет протокол руками.</a:t>
            </a:r>
          </a:p>
          <a:p>
            <a:r>
              <a:t>Транскрипты есть — сделаем автоматом?» То есть у нас на входе — полный</a:t>
            </a:r>
          </a:p>
          <a:p>
            <a:r>
              <a:t>транскрипт одной встречи целиком, разумного объёма, буквально запись</a:t>
            </a:r>
          </a:p>
          <a:p>
            <a:r>
              <a:t>одного созвона, а на выходе нужны структурированные решения, поручения и</a:t>
            </a:r>
          </a:p>
          <a:p>
            <a:r>
              <a:t>сроки, разложенные по пунктам. Ничего больше пока не просили — только эту</a:t>
            </a:r>
          </a:p>
          <a:p>
            <a:r>
              <a:t>одну функцию, никакого поиска по прошлым встречам, никаких интеграций с</a:t>
            </a:r>
          </a:p>
          <a:p>
            <a:r>
              <a:t>другими системами. Вопрос в зал: какая архитектура здесь нужна? Разовый</a:t>
            </a:r>
          </a:p>
          <a:p>
            <a:r>
              <a:t>вызов модели, RAG или агент? Аргументируйте, почему именно так — что</a:t>
            </a:r>
          </a:p>
          <a:p>
            <a:r>
              <a:t>конкретно в этой постановке подсказывает вам этот выбор, а не другой?</a:t>
            </a:r>
          </a:p>
          <a:p>
            <a:r>
              <a:t>Обратите внимание на объём входных данных, это обычно первая подсказка.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месяц. И вот что говорят: «Руководству понравилось. Теперь</a:t>
            </a:r>
          </a:p>
          <a:p>
            <a:r>
              <a:t>спрашивают: а можно искать — что мы решали по проекту X за полгода?» За</a:t>
            </a:r>
          </a:p>
          <a:p>
            <a:r>
              <a:t>это время накопилось уже много протоколов с разных встреч, по разным</a:t>
            </a:r>
          </a:p>
          <a:p>
            <a:r>
              <a:t>проектам, и это не одна встреча, а десятки. Вопрос в зал: меняет ли это</a:t>
            </a:r>
          </a:p>
          <a:p>
            <a:r>
              <a:t>архитектуру? Что именно изменилось по сравнению с тем, что мы обсуждали</a:t>
            </a:r>
          </a:p>
          <a:p>
            <a:r>
              <a:t>минуту назад? Дайте себе секунду сопоставить новую просьбу с тем</a:t>
            </a:r>
          </a:p>
          <a:p>
            <a:r>
              <a:t>решением, которое вы предлагали для одной встречи. Кто хочет</a:t>
            </a:r>
          </a:p>
          <a:p>
            <a:r>
              <a:t>высказаться первым? И отдельно спрошу тех, кто минуту назад говорил про</a:t>
            </a:r>
          </a:p>
          <a:p>
            <a:r>
              <a:t>разовый вызов модели: кто из вас сейчас передумал — и почему именно эта</a:t>
            </a:r>
          </a:p>
          <a:p>
            <a:r>
              <a:t>реплика заставила вас пересмотреть ответ?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был один транскрипт одной встречи, который целиком помещается в</a:t>
            </a:r>
          </a:p>
          <a:p>
            <a:r>
              <a:t>контекст модели, разовый вызов был правильным и достаточным ответом —</a:t>
            </a:r>
          </a:p>
          <a:p>
            <a:r>
              <a:t>ни RAG, ни агент были бы не нужны и только усложнили бы дело без всякой</a:t>
            </a:r>
          </a:p>
          <a:p>
            <a:r>
              <a:t>пользы. Но теперь база протоколов растёт со временем, постоянно</a:t>
            </a:r>
          </a:p>
          <a:p>
            <a:r>
              <a:t>пополняется новыми встречами, и весь этот объём уже физически не влезает</a:t>
            </a:r>
          </a:p>
          <a:p>
            <a:r>
              <a:t>в один запрос к модели. Значит, нужен поиск по этой растущей базе на</a:t>
            </a:r>
          </a:p>
          <a:p>
            <a:r>
              <a:t>произвольный запрос пользователя — и это ровно то, для чего нужен RAG:</a:t>
            </a:r>
          </a:p>
          <a:p>
            <a:r>
              <a:t>искать релевантные фрагменты протоколов по смыслу запроса, а не пытаться</a:t>
            </a:r>
          </a:p>
          <a:p>
            <a:r>
              <a:t>каждый раз скармливать модели весь архив целиком. Обратите внимание — мы</a:t>
            </a:r>
          </a:p>
          <a:p>
            <a:r>
              <a:t>не выбрали RAG заранее «на всякий случай», мы пришли к нему только когда</a:t>
            </a:r>
          </a:p>
          <a:p>
            <a:r>
              <a:t>появилось конкретное требование, которое простой вариант закрыть уже не</a:t>
            </a:r>
          </a:p>
          <a:p>
            <a:r>
              <a:t>мог.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ещё одна реплика от той же команды, чуть позже: «Поручения из</a:t>
            </a:r>
          </a:p>
          <a:p>
            <a:r>
              <a:t>протоколов мы всё равно руками в таск-трекер переносим...» — то есть</a:t>
            </a:r>
          </a:p>
          <a:p>
            <a:r>
              <a:t>система уже находит решения и поручения в тексте протокола, показывает</a:t>
            </a:r>
          </a:p>
          <a:p>
            <a:r>
              <a:t>их человеку, но кто-то всё равно вручную открывает таск-трекер и заводит</a:t>
            </a:r>
          </a:p>
          <a:p>
            <a:r>
              <a:t>там задачи одну за другой, выставляя исполнителя и срок. Вопрос в зал:</a:t>
            </a:r>
          </a:p>
          <a:p>
            <a:r>
              <a:t>меняет ли это архитектуру ещё раз? Что здесь появилось нового по</a:t>
            </a:r>
          </a:p>
          <a:p>
            <a:r>
              <a:t>сравнению с поиском по базе, о котором мы только что говорили минуту</a:t>
            </a:r>
          </a:p>
          <a:p>
            <a:r>
              <a:t>назад? Кто передумал — и, что важнее самого факта смены мнения, почему</a:t>
            </a:r>
          </a:p>
          <a:p>
            <a:r>
              <a:t>именно эта деталь заставила вас пересмотреть архитектуру, а не просто</a:t>
            </a:r>
          </a:p>
          <a:p>
            <a:r>
              <a:t>добавить ещё один шаг к прежнему решению?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Появилось действие во внешней системе: нужно вызвать API таск-трекера,</a:t>
            </a:r>
          </a:p>
          <a:p>
            <a:r>
              <a:t>создать задачи, возможно проверить, что они создались корректно, с</a:t>
            </a:r>
          </a:p>
          <a:p>
            <a:r>
              <a:t>правильным исполнителем и сроком. Один вызов модели или даже поиск по</a:t>
            </a:r>
          </a:p>
          <a:p>
            <a:r>
              <a:t>базе такое не закрывают — нужен workflow или полноценный агент, который</a:t>
            </a:r>
          </a:p>
          <a:p>
            <a:r>
              <a:t>вызывает внешний инструмент и проверяет результат вызова. Смотрите, что</a:t>
            </a:r>
          </a:p>
          <a:p>
            <a:r>
              <a:t>произошло за три шага: сначала разовый вызов, потому что весь вход</a:t>
            </a:r>
          </a:p>
          <a:p>
            <a:r>
              <a:t>помещался в контекст. Потом RAG, потому что база выросла и понадобился</a:t>
            </a:r>
          </a:p>
          <a:p>
            <a:r>
              <a:t>поиск по произвольному запросу. Потом агент, потому что появилось</a:t>
            </a:r>
          </a:p>
          <a:p>
            <a:r>
              <a:t>действие во внешней системе. Архитектурный выбор двигали конкретные</a:t>
            </a:r>
          </a:p>
          <a:p>
            <a:r>
              <a:t>новые требования, а не мода на технологию. Начинайте с простейшего</a:t>
            </a:r>
          </a:p>
          <a:p>
            <a:r>
              <a:t>варианта, который решает текущую задачу, и усложняйте только тогда,</a:t>
            </a:r>
          </a:p>
          <a:p>
            <a:r>
              <a:t>когда появляется требование, которое простой вариант закрыть физически</a:t>
            </a:r>
          </a:p>
          <a:p>
            <a:r>
              <a:t>не может. Не наоборот.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блиц, и здесь тоже есть частая ошибка, которую хочется услышать</a:t>
            </a:r>
          </a:p>
          <a:p>
            <a:r>
              <a:t>от кого-то из вас вслух, прежде чем мы её разберём и назовём своими</a:t>
            </a:r>
          </a:p>
          <a:p>
            <a:r>
              <a:t>словами. Постановка: нужен еженедельный дайджест по рабочим чатам и</a:t>
            </a:r>
          </a:p>
          <a:p>
            <a:r>
              <a:t>почте команды — что обсуждали, что решили за неделю, коротко, одним</a:t>
            </a:r>
          </a:p>
          <a:p>
            <a:r>
              <a:t>сообщением по пятницам, чтобы не перечитывать всю переписку заново.</a:t>
            </a:r>
          </a:p>
          <a:p>
            <a:r>
              <a:t>Вопрос в зал: какая архитектура здесь нужна — разовый вызов модели, RAG,</a:t>
            </a:r>
          </a:p>
          <a:p>
            <a:r>
              <a:t>агент, или что-то ещё? Аргументируйте, не просто называйте технологию —</a:t>
            </a:r>
          </a:p>
          <a:p>
            <a:r>
              <a:t>объясните, почему выбрали именно её, и что в постановке навело вас</a:t>
            </a:r>
          </a:p>
          <a:p>
            <a:r>
              <a:t>именно на эту мысль. Подсказка: подумайте, что именно нужно сделать,</a:t>
            </a:r>
          </a:p>
          <a:p>
            <a:r>
              <a:t>прежде чем модель вообще увидит текст для суммаризации.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часто звучит «нужен RAG, потому что много источников» — и это не</a:t>
            </a:r>
          </a:p>
          <a:p>
            <a:r>
              <a:t>так, хотя интуиция понятна. Нужен агент или конвейер, потому что кто-то</a:t>
            </a:r>
          </a:p>
          <a:p>
            <a:r>
              <a:t>должен обойти несколько источников по расписанию — зайти в чат, зайти в</a:t>
            </a:r>
          </a:p>
          <a:p>
            <a:r>
              <a:t>почту, собрать сообщения, — а это многошаговая задача с обращением к</a:t>
            </a:r>
          </a:p>
          <a:p>
            <a:r>
              <a:t>внешним системам. А вот RAG здесь не нужен: источники обходятся напрямую</a:t>
            </a:r>
          </a:p>
          <a:p>
            <a:r>
              <a:t>по расписанию, а не по произвольному запросу пользователя к большой базе,</a:t>
            </a:r>
          </a:p>
          <a:p>
            <a:r>
              <a:t>и после сбора материала суммаризация делается одним вызовом модели, без</a:t>
            </a:r>
          </a:p>
          <a:p>
            <a:r>
              <a:t>поиска по архиву. RAG — это конкретно про поиск по большой, меняющейся</a:t>
            </a:r>
          </a:p>
          <a:p>
            <a:r>
              <a:t>базе на произвольный запрос пользователя, а не про «у нас много</a:t>
            </a:r>
          </a:p>
          <a:p>
            <a:r>
              <a:t>источников данных» само по себе. Перепутать эти два признака — частая</a:t>
            </a:r>
          </a:p>
          <a:p>
            <a:r>
              <a:t>практическая ошибка, которую стоит запомнить отдельно от самого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Компания Octomind разрабатывает ИИ-агентов для end-to-end тестирования.</a:t>
            </a:r>
          </a:p>
          <a:p>
            <a:r>
              <a:t>Больше года использовала фреймворк LangChain в продакшене, а потом в</a:t>
            </a:r>
          </a:p>
          <a:p>
            <a:r>
              <a:t>посте от 17 июня 2024 года объяснила, почему отказалась: негибкие</a:t>
            </a:r>
          </a:p>
          <a:p>
            <a:r>
              <a:t>абстракции фреймворка не подходили под их конкретный кейс, было сложно</a:t>
            </a:r>
          </a:p>
          <a:p>
            <a:r>
              <a:t>контролировать состояние агента, и в итоге команда тратила больше</a:t>
            </a:r>
          </a:p>
          <a:p>
            <a:r>
              <a:t>времени на дебаг самого фреймворка, чем на разработку продукта. Заменили</a:t>
            </a:r>
          </a:p>
          <a:p>
            <a:r>
              <a:t>модульными прямыми вызовами API без посредника. Урок — популярность и</a:t>
            </a:r>
          </a:p>
          <a:p>
            <a:r>
              <a:t>удобство фреймворка на старте не гарантирует, что он останется удобным</a:t>
            </a:r>
          </a:p>
          <a:p>
            <a:r>
              <a:t>при росте сложности продукта. А теперь позитивный пример — класс задач,</a:t>
            </a:r>
          </a:p>
          <a:p>
            <a:r>
              <a:t>где многошаговый агентный цикл действительно необходим, а не опционален:</a:t>
            </a:r>
          </a:p>
          <a:p>
            <a:r>
              <a:t>инструменты для глубокого исследования, которые ищут и синтезируют по</a:t>
            </a:r>
          </a:p>
          <a:p>
            <a:r>
              <a:t>многим источникам с уточнением запроса по ходу работы, и coding-агенты,</a:t>
            </a:r>
          </a:p>
          <a:p>
            <a:r>
              <a:t>которые правят код, запускают тесты и итерируют по результату. В обоих</a:t>
            </a:r>
          </a:p>
          <a:p>
            <a:r>
              <a:t>случаях одного вызова модели физически недостаточно — нужна проверка</a:t>
            </a:r>
          </a:p>
          <a:p>
            <a:r>
              <a:t>промежуточного результата и решение, что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Последний, четвёртый кейс сегодня. Про звонки отдела продаж — и здесь</a:t>
            </a:r>
          </a:p>
          <a:p>
            <a:r>
              <a:t>ответ у нас поменяется дважды по ходу разбора, так что не держитесь</a:t>
            </a:r>
          </a:p>
          <a:p>
            <a:r>
              <a:t>крепко за первое мнение, оно наверняка изменится не один раз, и это</a:t>
            </a:r>
          </a:p>
          <a:p>
            <a:r>
              <a:t>нормально. Тег внизу — «внешний API или локально» — про то, где</a:t>
            </a:r>
          </a:p>
          <a:p>
            <a:r>
              <a:t>физически считать данные, а не про то, какая модель лучше по качеству</a:t>
            </a:r>
          </a:p>
          <a:p>
            <a:r>
              <a:t>ответа. Слушайте постановку внимательно, и особенно обращайте внимание</a:t>
            </a:r>
          </a:p>
          <a:p>
            <a:r>
              <a:t>на то, что именно менеджер по продажам говорит клиенту и что клиент</a:t>
            </a:r>
          </a:p>
          <a:p>
            <a:r>
              <a:t>говорит в ответ — там будет важная деталь, которая всплывёт не сразу,</a:t>
            </a:r>
          </a:p>
          <a:p>
            <a:r>
              <a:t>а чуть позже в разборе. Как и раньше, начнём с постановки задачи одной</a:t>
            </a:r>
          </a:p>
          <a:p>
            <a:r>
              <a:t>фразой от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от руководителя отдела продаж: хочет по каждому звонку</a:t>
            </a:r>
          </a:p>
          <a:p>
            <a:r>
              <a:t>менеджера карточку — какая потребность клиента выявлена, какие</a:t>
            </a:r>
          </a:p>
          <a:p>
            <a:r>
              <a:t>возражения прозвучали, какие договорённости достигнуты, чтобы не</a:t>
            </a:r>
          </a:p>
          <a:p>
            <a:r>
              <a:t>пересматривать запись целиком перед следующим звонком с тем же клиентом.</a:t>
            </a:r>
          </a:p>
          <a:p>
            <a:r>
              <a:t>На входе — запись разговора, обычный свободный диалог между менеджером и</a:t>
            </a:r>
          </a:p>
          <a:p>
            <a:r>
              <a:t>клиентом, без всякой структуры, с перебиваниями, паузами, отступлениями</a:t>
            </a:r>
          </a:p>
          <a:p>
            <a:r>
              <a:t>от темы. Вопрос в зал: какая архитектура здесь нужна, и где всё это</a:t>
            </a:r>
          </a:p>
          <a:p>
            <a:r>
              <a:t>физически считать — в облаке, у себя на серверах? Что предложите, и</a:t>
            </a:r>
          </a:p>
          <a:p>
            <a:r>
              <a:t>почему именно так? Подумайте вслух, а не сразу называйте готовый ответ —</a:t>
            </a:r>
          </a:p>
          <a:p>
            <a:r>
              <a:t>здесь важен ход рассуждения не меньше, чем сам вывод. Кто начнёт?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реплика юриста, который случайно услышал про эту идею на</a:t>
            </a:r>
          </a:p>
          <a:p>
            <a:r>
              <a:t>созвоне: «Стоп. В записях звонков клиенты диктуют телефоны, адреса,</a:t>
            </a:r>
          </a:p>
          <a:p>
            <a:r>
              <a:t>иногда паспортные данные. Вы это в какой сервис отправлять собрались?»</a:t>
            </a:r>
          </a:p>
          <a:p>
            <a:r>
              <a:t>Никто из инженеров не думал об этом заранее — все слушали только про</a:t>
            </a:r>
          </a:p>
          <a:p>
            <a:r>
              <a:t>потребности и возражения, потому что именно об этом просил руководитель</a:t>
            </a:r>
          </a:p>
          <a:p>
            <a:r>
              <a:t>отдела продаж, и никто не задумывался, что ещё звучит в этих разговорах.</a:t>
            </a:r>
          </a:p>
          <a:p>
            <a:r>
              <a:t>Вопрос в зал: кто передумал? Почему? Что в вашем изначальном ответе</a:t>
            </a:r>
          </a:p>
          <a:p>
            <a:r>
              <a:t>теперь нужно пересмотреть, и на что именно повлияла эта деталь, которую</a:t>
            </a:r>
          </a:p>
          <a:p>
            <a:r>
              <a:t>никто не спросил заранее? Давайте начнём с тех, кто минуту назад активно</a:t>
            </a:r>
          </a:p>
          <a:p>
            <a:r>
              <a:t>предлагал облачное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Отправлять во внешний облачный API запись, где клиент диктует паспортные</a:t>
            </a:r>
          </a:p>
          <a:p>
            <a:r>
              <a:t>данные, может быть прямо запрещено или крайне рискованно. Смотрите на</a:t>
            </a:r>
          </a:p>
          <a:p>
            <a:r>
              <a:t>цифры: 420-й федеральный закон, принят 30 ноября 2024 года, вступил в</a:t>
            </a:r>
          </a:p>
          <a:p>
            <a:r>
              <a:t>силу 30 мая 2025 — вводит оборотные штрафы за повторную утечку</a:t>
            </a:r>
          </a:p>
          <a:p>
            <a:r>
              <a:t>персональных данных в размере от 1 до 3% годовой выручки компании, минимум</a:t>
            </a:r>
          </a:p>
          <a:p>
            <a:r>
              <a:t>20 миллионов рублей, максимум 500 миллионов, и обязанность уведомить</a:t>
            </a:r>
          </a:p>
          <a:p>
            <a:r>
              <a:t>Роскомнадзор о факте утечки в течение 24 часов. Это тот же организационный</a:t>
            </a:r>
          </a:p>
          <a:p>
            <a:r>
              <a:t>вопрос, что был у нас в кейсе про очистку логов, только здесь ставки для</a:t>
            </a:r>
          </a:p>
          <a:p>
            <a:r>
              <a:t>компании физически выше — это не абстрактный риск, а конкретная цифра в</a:t>
            </a:r>
          </a:p>
          <a:p>
            <a:r>
              <a:t>законе.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реплики подряд, от разных людей, но они друг друга усиливают. CTO</a:t>
            </a:r>
          </a:p>
          <a:p>
            <a:r>
              <a:t>говорит: «GPU-сервера у нас нет, и бюджета на него в этом году нет» —</a:t>
            </a:r>
          </a:p>
          <a:p>
            <a:r>
              <a:t>то есть про мощную локальную инфраструктуру для тяжёлой модели речи не</a:t>
            </a:r>
          </a:p>
          <a:p>
            <a:r>
              <a:t>идёт вообще. А руководитель отдела продаж, когда его переспросили, что</a:t>
            </a:r>
          </a:p>
          <a:p>
            <a:r>
              <a:t>именно ему нужно на выходе, отвечает довольно приземлённо: «Мне не</a:t>
            </a:r>
          </a:p>
          <a:p>
            <a:r>
              <a:t>беседа нужна — пять полей в CRM по каждому звонку». Не пересказ, не</a:t>
            </a:r>
          </a:p>
          <a:p>
            <a:r>
              <a:t>анализ тона голоса, просто пять конкретных полей. Вопрос в зал: меняет</a:t>
            </a:r>
          </a:p>
          <a:p>
            <a:r>
              <a:t>ли это архитектуру ещё раз? Что из сказанного раньше теперь стоит</a:t>
            </a:r>
          </a:p>
          <a:p>
            <a:r>
              <a:t>пересмотреть, и как две эти реплики вместе, а не по отдельности, меняют</a:t>
            </a:r>
          </a:p>
          <a:p>
            <a:r>
              <a:t>картину?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на самом деле сузилась: нужна не свободная беседа, а</a:t>
            </a:r>
          </a:p>
          <a:p>
            <a:r>
              <a:t>структурированная выжимка по фиксированному шаблону из нескольких полей.</a:t>
            </a:r>
          </a:p>
          <a:p>
            <a:r>
              <a:t>И вот в чём дело — небольшая локальная модель порядка 7-8 миллиардов</a:t>
            </a:r>
          </a:p>
          <a:p>
            <a:r>
              <a:t>параметров, после настройки формулировки промпта под конкретный формат</a:t>
            </a:r>
          </a:p>
          <a:p>
            <a:r>
              <a:t>вывода, без дообучения весов, вполне справляется с извлечением полей по</a:t>
            </a:r>
          </a:p>
          <a:p>
            <a:r>
              <a:t>шаблону, и данные при этом не покидают периметр компании, GPU-ферма не</a:t>
            </a:r>
          </a:p>
          <a:p>
            <a:r>
              <a:t>нужна. Два урока проговорим явно. Первый — «сложно для человека» не</a:t>
            </a:r>
          </a:p>
          <a:p>
            <a:r>
              <a:t>значит «сложно для модели»: свободный разговор кажется сложным входом, но</a:t>
            </a:r>
          </a:p>
          <a:p>
            <a:r>
              <a:t>извлечение структурированных полей по шаблону — задача умеренной</a:t>
            </a:r>
          </a:p>
          <a:p>
            <a:r>
              <a:t>сложности, которую малая модель решает надёжно. Второй — чувствительность</a:t>
            </a:r>
          </a:p>
          <a:p>
            <a:r>
              <a:t>данных не видна в исходной постановке задачи, её нужно выяснять вопросами</a:t>
            </a:r>
          </a:p>
          <a:p>
            <a:r>
              <a:t>о содержимом входных данных, а не предполагать по формулировке.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Samsung разрешила сотрудникам использовать ChatGPT 11 марта 2023 года. К</a:t>
            </a:r>
          </a:p>
          <a:p>
            <a:r>
              <a:t>30 марта, то есть примерно за 19 дней, произошло три отдельных инцидента</a:t>
            </a:r>
          </a:p>
          <a:p>
            <a:r>
              <a:t>утечки: дважды — проприетарный код полупроводникового производства, один</a:t>
            </a:r>
          </a:p>
          <a:p>
            <a:r>
              <a:t>раз — транскрипт внутреннего совещания. Реакция — полный запрет</a:t>
            </a:r>
          </a:p>
          <a:p>
            <a:r>
              <a:t>генеративных ИИ-инструментов на корпоративных устройствах в мае 2023.</a:t>
            </a:r>
          </a:p>
          <a:p>
            <a:r>
              <a:t>Что можно было сделать вместо полного запрета? Политика допустимого</a:t>
            </a:r>
          </a:p>
          <a:p>
            <a:r>
              <a:t>использования до открытия доступа, фильтры на исходящий трафик, либо</a:t>
            </a:r>
          </a:p>
          <a:p>
            <a:r>
              <a:t>изначально локальная модель для чувствительных задач — ровно тот выбор,</a:t>
            </a:r>
          </a:p>
          <a:p>
            <a:r>
              <a:t>который мы только что тренировали. А вот позитивные примеры малых</a:t>
            </a:r>
          </a:p>
          <a:p>
            <a:r>
              <a:t>моделей, которые в проде прямо сейчас: JetBrains — локальная модель</a:t>
            </a:r>
          </a:p>
          <a:p>
            <a:r>
              <a:t>размером около 100 мегабайт на язык программирования, работает прямо на</a:t>
            </a:r>
          </a:p>
          <a:p>
            <a:r>
              <a:t>машине разработчика с задержкой предсказания 1-2 миллисекунды, в</a:t>
            </a:r>
          </a:p>
          <a:p>
            <a:r>
              <a:t>продакшене IDE с апреля 2024 года. Apple — модель на устройстве порядка 3</a:t>
            </a:r>
          </a:p>
          <a:p>
            <a:r>
              <a:t>миллиардов параметров, представлена на WWDC 2024. Для сравнения:</a:t>
            </a:r>
          </a:p>
          <a:p>
            <a:r>
              <a:t>frontier-модели уровня топового качества — это сотни миллиардов</a:t>
            </a:r>
          </a:p>
          <a:p>
            <a:r>
              <a:t>параметров, доступные только через облако.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кого есть похожая задача с работы — там, где стоял вопрос, нужен ли ИИ,</a:t>
            </a:r>
          </a:p>
          <a:p>
            <a:r>
              <a:t>и какой? Не обязательно готовое решение, достаточно, чтобы вы могли</a:t>
            </a:r>
          </a:p>
          <a:p>
            <a:r>
              <a:t>сформулировать её в двух-трёх предложениях, ровно так, как её принёс бы</a:t>
            </a:r>
          </a:p>
          <a:p>
            <a:r>
              <a:t>вам заказчик, без причёсывания под учебный пример. Мы разберём её всей</a:t>
            </a:r>
          </a:p>
          <a:p>
            <a:r>
              <a:t>аудиторией так же, как сегодняшние кейсы: какой выбор здесь стоит острее</a:t>
            </a:r>
          </a:p>
          <a:p>
            <a:r>
              <a:t>всего, каких вводных не хватает, чтобы ответить обоснованно, и что</a:t>
            </a:r>
          </a:p>
          <a:p>
            <a:r>
              <a:t>происходит, если эти вводные вдруг появляются или меняются. Если вы уже</a:t>
            </a:r>
          </a:p>
          <a:p>
            <a:r>
              <a:t>знаете, как эта задача разрешилась на практике — расскажите нам это уже</a:t>
            </a:r>
          </a:p>
          <a:p>
            <a:r>
              <a:t>после того, как аудитория выскажет свои предположения, не раньше. Кто</a:t>
            </a:r>
          </a:p>
          <a:p>
            <a:r>
              <a:t>готов рассказать? Если никто не откликнется сразу — не страшно, у меня</a:t>
            </a:r>
          </a:p>
          <a:p>
            <a:r>
              <a:t>есть запасная история, но мне правда интереснее разобрать что-то из</a:t>
            </a:r>
          </a:p>
          <a:p>
            <a:r>
              <a:t>вашей собственной 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то, что уже прозвучало сегодня — ничего нового, просто компиляция.</a:t>
            </a:r>
          </a:p>
          <a:p>
            <a:r>
              <a:t>Документы поставщиков — два примера не выборка, нужно смотреть на полный</a:t>
            </a:r>
          </a:p>
          <a:p>
            <a:r>
              <a:t>объём данных. Персоналка в логах — граница между регулярным выражением и</a:t>
            </a:r>
          </a:p>
          <a:p>
            <a:r>
              <a:t>моделью проходит внутри одной задачи, не между задачами. Помощник</a:t>
            </a:r>
          </a:p>
          <a:p>
            <a:r>
              <a:t>поддержки — организационное ограничение вроде закрытого API может решить</a:t>
            </a:r>
          </a:p>
          <a:p>
            <a:r>
              <a:t>архитектуру не хуже технических требований. Описания товаров — кнопка в</a:t>
            </a:r>
          </a:p>
          <a:p>
            <a:r>
              <a:t>существующем интерфейсе почти всегда бьёт отдельный продукт. Протоколы</a:t>
            </a:r>
          </a:p>
          <a:p>
            <a:r>
              <a:t>встреч — архитектуру двигают конкретные новые требования, а не мода на</a:t>
            </a:r>
          </a:p>
          <a:p>
            <a:r>
              <a:t>технологию, начинайте с простого. Дайджест — много источников данных не</a:t>
            </a:r>
          </a:p>
          <a:p>
            <a:r>
              <a:t>значит, что нужен RAG. И звонки продаж — то, что кажется сложным</a:t>
            </a:r>
          </a:p>
          <a:p>
            <a:r>
              <a:t>человеку, не обязательно сложно для модели, а чувствительность данных</a:t>
            </a:r>
          </a:p>
          <a:p>
            <a:r>
              <a:t>выясняется только вопросами, не предположениями. Вот это и есть то, что</a:t>
            </a:r>
          </a:p>
          <a:p>
            <a:r>
              <a:t>стоит унести с сегодняшнего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тех, кому интересно копнуть глубже — три материала. Главный —</a:t>
            </a:r>
          </a:p>
          <a:p>
            <a:r>
              <a:t>история Klarna, 2023-2025 год: один AI-ассистент поддержки, который</a:t>
            </a:r>
          </a:p>
          <a:p>
            <a:r>
              <a:t>затрагивает почти все сегодняшние выборы, от впечатляющего запуска до</a:t>
            </a:r>
          </a:p>
          <a:p>
            <a:r>
              <a:t>публичного признания генерального директора «мы зашли слишком далеко» и</a:t>
            </a:r>
          </a:p>
          <a:p>
            <a:r>
              <a:t>возврата к найму людей. Второй — история нью-йоркского городского</a:t>
            </a:r>
          </a:p>
          <a:p>
            <a:r>
              <a:t>чат-бота MyCity, который в 2024 году давал малому бизнесу юридически</a:t>
            </a:r>
          </a:p>
          <a:p>
            <a:r>
              <a:t>некорректные советы. И бонус для настроения — история про то, как</a:t>
            </a:r>
          </a:p>
          <a:p>
            <a:r>
              <a:t>автосалон Chevrolet of Watsonville подключил чат-бот на базе стороннего</a:t>
            </a:r>
          </a:p>
          <a:p>
            <a:r>
              <a:t>API без ограждений, и тот «продал» внедорожник Tahoe за один доллар.</a:t>
            </a:r>
          </a:p>
          <a:p>
            <a:r>
              <a:t>Хороший пример того, что происходит, когда внешнюю модель встраивают в</a:t>
            </a:r>
          </a:p>
          <a:p>
            <a:r>
              <a:t>продакшен без защиты от манипуляций пользователя. Если сегодня останется</a:t>
            </a:r>
          </a:p>
          <a:p>
            <a:r>
              <a:t>время — часть этого разберём вживую.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Klarna запустила AI-ассистента поддержки на базе OpenAI в феврале 2024</a:t>
            </a:r>
          </a:p>
          <a:p>
            <a:r>
              <a:t>года, прямо в существующем канале поддержки. За первые 30 дней — 2,3</a:t>
            </a:r>
          </a:p>
          <a:p>
            <a:r>
              <a:t>миллиона чатов, автоматизация 67% обращений. Смотрите на все четыре</a:t>
            </a:r>
          </a:p>
          <a:p>
            <a:r>
              <a:t>развилки сразу. Типовые тикеты вроде статуса заказа или возврата —</a:t>
            </a:r>
          </a:p>
          <a:p>
            <a:r>
              <a:t>формализуемая, повторяющаяся задача, хороший кандидат на автоматизацию.</a:t>
            </a:r>
          </a:p>
          <a:p>
            <a:r>
              <a:t>Ассистент встроен в уже существующий канал поддержки — правильный выбор</a:t>
            </a:r>
          </a:p>
          <a:p>
            <a:r>
              <a:t>по логике сегодняшнего занятия. Архитектура — чат с эскалацией к</a:t>
            </a:r>
          </a:p>
          <a:p>
            <a:r>
              <a:t>человеку, не автономный агент без контроля. А вот инференс — внешний</a:t>
            </a:r>
          </a:p>
          <a:p>
            <a:r>
              <a:t>облачный API с клиентскими данными поддержки, решение сопоставимого</a:t>
            </a:r>
          </a:p>
          <a:p>
            <a:r>
              <a:t>риск-профиля с нашим кейсом про звонки продаж, только здесь его приняли</a:t>
            </a:r>
          </a:p>
          <a:p>
            <a:r>
              <a:t>и оставили в проде. И отдельно — компания заявила эффект «эквивалент 700</a:t>
            </a:r>
          </a:p>
          <a:p>
            <a:r>
              <a:t>агентов» и 40 миллионов долларов в 2024 году, а знаменатель — сколько</a:t>
            </a:r>
          </a:p>
          <a:p>
            <a:r>
              <a:t>агентов поддержки было у компании до запуска — публично не раскрывался.</a:t>
            </a:r>
          </a:p>
          <a:p>
            <a:r>
              <a:t>К третьему кварталу 2025 метрика обновилась до «853 агента» и 60</a:t>
            </a:r>
          </a:p>
          <a:p>
            <a:r>
              <a:t>миллионов долларов эффекта, знаменатель снова не раскрыт. В мае 2025 года</a:t>
            </a:r>
          </a:p>
          <a:p>
            <a:r>
              <a:t>генеральный директор Себастьян Семятковски сказал в интервью Bloomberg:</a:t>
            </a:r>
          </a:p>
          <a:p>
            <a:r>
              <a:t>«We went too far» — мы зашли слишком далеко — и компания вернулась к</a:t>
            </a:r>
          </a:p>
          <a:p>
            <a:r>
              <a:t>найму людей, перейдя на гибридную модель. На какой из четырёх развилок</a:t>
            </a:r>
          </a:p>
          <a:p>
            <a:r>
              <a:t>Klarna ошиблась сильнее всего, на ваш взгляд?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одна ситуация, раз у нас осталось время — про поток новостей из</a:t>
            </a:r>
          </a:p>
          <a:p>
            <a:r>
              <a:t>многих источников. Нужно склеивать сообщения об одном и том же событии в</a:t>
            </a:r>
          </a:p>
          <a:p>
            <a:r>
              <a:t>одну карточку, чтобы пользователь не видел десять почти одинаковых</a:t>
            </a:r>
          </a:p>
          <a:p>
            <a:r>
              <a:t>новостей подряд от разных изданий, которые пишут об одном и том же</a:t>
            </a:r>
          </a:p>
          <a:p>
            <a:r>
              <a:t>событии своими словами. Вопрос в зал: какая технология здесь нужна?</a:t>
            </a:r>
          </a:p>
          <a:p>
            <a:r>
              <a:t>Интуитивно многие сейчас скажут — нужно понимание смысла текста, значит</a:t>
            </a:r>
          </a:p>
          <a:p>
            <a:r>
              <a:t>модель, и придётся гонять каждую пару новостей через LLM, сравнивая их</a:t>
            </a:r>
          </a:p>
          <a:p>
            <a:r>
              <a:t>попарно. Согласны с этим, или у кого-то в зале уже есть сомнения на этот</a:t>
            </a:r>
          </a:p>
          <a:p>
            <a:r>
              <a:t>счёт? Подумайте, сколько таких пар новостей нужно будет сравнивать</a:t>
            </a:r>
          </a:p>
          <a:p>
            <a:r>
              <a:t>каждый день при большом потоке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самом деле сравнение текстов по перекрывающимся фрагментам —</a:t>
            </a:r>
          </a:p>
          <a:p>
            <a:r>
              <a:t>fuzzy-matching и shingling — без обращения к модели закрывает порядка 90%</a:t>
            </a:r>
          </a:p>
          <a:p>
            <a:r>
              <a:t>случаев дублирования, и делает это дешевле и предсказуемее, чем вызов</a:t>
            </a:r>
          </a:p>
          <a:p>
            <a:r>
              <a:t>модели на каждую пару новостей: результат детерминирован, легко</a:t>
            </a:r>
          </a:p>
          <a:p>
            <a:r>
              <a:t>отлаживается, не зависит от настроения модели. Модель нужна только на</a:t>
            </a:r>
          </a:p>
          <a:p>
            <a:r>
              <a:t>оставшуюся часть — случаи, где два сообщения об одном событии написаны</a:t>
            </a:r>
          </a:p>
          <a:p>
            <a:r>
              <a:t>совершенно разными словами и почти не имеют общих фрагментов текста, то</a:t>
            </a:r>
          </a:p>
          <a:p>
            <a:r>
              <a:t>есть это скорее перефраз, чем совпадение. Урок тот же, что был у нас в</a:t>
            </a:r>
          </a:p>
          <a:p>
            <a:r>
              <a:t>самом начале занятия с персональными данными в логах: сначала дешёвый</a:t>
            </a:r>
          </a:p>
          <a:p>
            <a:r>
              <a:t>детерминированный фильтр закрывает основную массу случаев, а модель —</a:t>
            </a:r>
          </a:p>
          <a:p>
            <a:r>
              <a:t>только на остаток, который фильтр физически не берёт.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прошли через семь ситуаций, и в каждой вы принимали решение —</a:t>
            </a:r>
          </a:p>
          <a:p>
            <a:r>
              <a:t>что вообще строить, какую архитектуру выбрать, где считать данные. Ни</a:t>
            </a:r>
          </a:p>
          <a:p>
            <a:r>
              <a:t>разу правильный ответ не был очевиден с первой формулировки — он всегда</a:t>
            </a:r>
          </a:p>
          <a:p>
            <a:r>
              <a:t>зависел от вопроса, который вы либо задавали, либо нет. Именно это умение</a:t>
            </a:r>
          </a:p>
          <a:p>
            <a:r>
              <a:t>и было целью занятия, а не запоминание конкретных кейсов. Дальше по</a:t>
            </a:r>
          </a:p>
          <a:p>
            <a:r>
              <a:t>курсу мы пойдём вглубь: на следующей лекции — как устроена модель</a:t>
            </a:r>
          </a:p>
          <a:p>
            <a:r>
              <a:t>внутри, что происходит на уровне архитектуры, когда вы отправляете ей</a:t>
            </a:r>
          </a:p>
          <a:p>
            <a:r>
              <a:t>запрос. Сегодняшние кейсы, надеюсь, дали вам интуицию, зачем это знание</a:t>
            </a:r>
          </a:p>
          <a:p>
            <a:r>
              <a:t>вообще нужно инженеру, а не только исследователю. Спасибо за живое</a:t>
            </a:r>
          </a:p>
          <a:p>
            <a:r>
              <a:t>обсуждение сегодня, до встречи на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0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25.png"/><Relationship Id="rId6" Type="http://schemas.openxmlformats.org/officeDocument/2006/relationships/image" Target="../media/image35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7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27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44.jp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48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55.png"/><Relationship Id="rId5" Type="http://schemas.openxmlformats.org/officeDocument/2006/relationships/image" Target="../media/image27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nasa-engineers-real.jpg"/>
          <p:cNvPicPr>
            <a:picLocks noChangeAspect="1"/>
          </p:cNvPicPr>
          <p:nvPr/>
        </p:nvPicPr>
        <p:blipFill>
          <a:blip r:embed="rId2"/>
          <a:srcRect t="7821" b="782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1295C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СЕМИНАР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Когда ИИ, каким и на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C8D2DF"/>
                </a:solidFill>
                <a:latin typeface="Arial"/>
              </a:rPr>
              <a:t>Семь реальных рабочих ситуаций — и в каждой решение, которое инженер принимает раньше, чем открывает редактор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C8D2DF"/>
                </a:solidFill>
                <a:latin typeface="Arial"/>
              </a:rPr>
              <a:t>NASA / Cory Huston · Wikimedia Commons · общественное достояние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Сегодня — семь кейсов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1">
                <a:solidFill>
                  <a:srgbClr val="065A82"/>
                </a:solidFill>
                <a:latin typeface="Arial"/>
              </a:rPr>
              <a:t>В каждом — решение, которое инженер принимает раньше, чем открывает редактор кода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984248"/>
            <a:ext cx="329184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87451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624328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2514600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7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26440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315467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9475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3904487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7280" y="379475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87451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984248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48856" y="187451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514600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624328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48856" y="2514600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Дайджест по чатам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4496" y="315467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264408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48856" y="315467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 каждом кейсе появится деталь, которой не было в первой постановке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ИИ или обычный код?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320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«Бухгалтерия тонет. Вот два примера — можно это автоматом разбирать?»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79476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04-documents-pile-real.jpg"/>
          <p:cNvPicPr>
            <a:picLocks noChangeAspect="1"/>
          </p:cNvPicPr>
          <p:nvPr/>
        </p:nvPicPr>
        <p:blipFill>
          <a:blip r:embed="rId3"/>
          <a:srcRect l="5433" r="5433"/>
          <a:stretch>
            <a:fillRect/>
          </a:stretch>
        </p:blipFill>
        <p:spPr>
          <a:xfrm>
            <a:off x="612648" y="2304288"/>
            <a:ext cx="3575304" cy="300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" y="5422392"/>
            <a:ext cx="3575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Pizarros · Wikimedia Commons · CC BY-SA 3.0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94560"/>
            <a:ext cx="711403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322576"/>
            <a:ext cx="6748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Документ поставщика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1948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№ накладной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16084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6084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1948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9016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9016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6084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084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114800"/>
            <a:ext cx="711403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4242816"/>
            <a:ext cx="6748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Документ поставщика 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1948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1948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№ накладной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9016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9016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16084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16084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1948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1948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9016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9016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16084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16084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предложите?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«Попросили архив — прислали за три года, сорок поставщиков»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2722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722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351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351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722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351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899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700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700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00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329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Invoice#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958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58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700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329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958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506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307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Период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936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936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Заказ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1565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565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Итого,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307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1936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1565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914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6914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914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543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543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от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72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6172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914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6543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6172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251959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Форматы разъехались — разные колонки, разные форматы дат, один документ на английском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66344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6634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ваш ответ?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Документы поставщиков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workflow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1371600"/>
            <a:ext cx="996696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21295C"/>
                </a:solidFill>
                <a:latin typeface="Arial"/>
              </a:rPr>
              <a:t>Гибрид: LLM-извлечение по вариативному входу + жёсткая валидация кодом на выходе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Документ (любой формат) → LLM извлекает поля → код проверяет типы/обязательные значения/диапазоны → данные в 1С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4048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Два примера — не выборка. Просите представление полного объёма данных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8076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Держите в голове риск из Лекции 1: модель на форматах, которые видела, тихо деградирует на новых — тот же механизм, что distribution shift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«Нужно вычистить персональные данные из логов перед передачей подрядчику»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468880"/>
            <a:ext cx="777240" cy="777240"/>
          </a:xfrm>
          <a:prstGeom prst="rect">
            <a:avLst/>
          </a:prstGeom>
        </p:spPr>
      </p:pic>
      <p:pic>
        <p:nvPicPr>
          <p:cNvPr id="8" name="Picture 7" descr="phone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2651760"/>
            <a:ext cx="457200" cy="457200"/>
          </a:xfrm>
          <a:prstGeom prst="rect">
            <a:avLst/>
          </a:prstGeom>
        </p:spPr>
      </p:pic>
      <p:pic>
        <p:nvPicPr>
          <p:cNvPr id="9" name="Picture 8" descr="mail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7480" y="2606040"/>
            <a:ext cx="502920" cy="502920"/>
          </a:xfrm>
          <a:prstGeom prst="rect">
            <a:avLst/>
          </a:prstGeom>
        </p:spPr>
      </p:pic>
      <p:pic>
        <p:nvPicPr>
          <p:cNvPr id="10" name="Picture 9" descr="user-round-F0AB0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6517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680" y="2468880"/>
            <a:ext cx="6675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1295C"/>
                </a:solidFill>
                <a:latin typeface="Arial"/>
              </a:rPr>
              <a:t>Одна строка лога — телефон, email и фраза «передайте это Ивану из бухгалтерии»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B7685"/>
                </a:solidFill>
                <a:latin typeface="Arial"/>
              </a:rPr>
              <a:t>Подрядчику нужны структура запросов, тайминги, ошибки — не данные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технология на всё, или нет?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sh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Regex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971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Телефоны, email — чёткий формат, дёшево и надёжно вычищает обычный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572768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00316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NER /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0236" y="2286000"/>
            <a:ext cx="49971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Имена людей, косвенные упоминания в свободном тексте — нужен контекст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9768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Граница между regex и моделью проходит внутри одной задачи, не между задачами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Из жизни: провал и успех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Vendor-метрика точности ≠ метрика, измеренная независимо на своих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01368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9576" y="17830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Epic Sepsis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3172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Заявленный AUC 0.76–0.83 vs реальный 0.63 (Michigan Medicine, 38 455 госпитализаций)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Пропущено 67% реальных случаев сепсиса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Алерты — на 18% всех госпитализированных пациентов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60020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801368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8292" y="17830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Ramp, merchant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2803" y="233172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Вручную: покрытие 3% заявок (2023) → 1,5% (2024)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После LLM-агента: обработка &lt; 10 сек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~99% изменений корректны · ~25% заявок обоснованно отклоняются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805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805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Ramp — замена ручной обработки с мизерным покрытием, не замена работавшего regex-решения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Встроить или своё?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«Сделайте нам ИИ-помощника для операторов — подсказки по тикетам, поиск похожих обращений»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39319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11-support-headset-real.jpg"/>
          <p:cNvPicPr>
            <a:picLocks noChangeAspect="1"/>
          </p:cNvPicPr>
          <p:nvPr/>
        </p:nvPicPr>
        <p:blipFill>
          <a:blip r:embed="rId3"/>
          <a:srcRect t="18988" b="18988"/>
          <a:stretch>
            <a:fillRect/>
          </a:stretch>
        </p:blipFill>
        <p:spPr>
          <a:xfrm>
            <a:off x="612648" y="2532888"/>
            <a:ext cx="3712463" cy="3118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" y="5760720"/>
            <a:ext cx="3712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FiveOne51 · Wikimedia Commons · CC BY-SA 3.0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2423160"/>
            <a:ext cx="6976872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2569464"/>
            <a:ext cx="661111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Операторы весь рабочий день живут в одном и том же интерфейсе helpdesk-системы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4206240"/>
            <a:ext cx="6976872" cy="1828800"/>
          </a:xfrm>
          <a:prstGeom prst="roundRect">
            <a:avLst>
              <a:gd name="adj" fmla="val 1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4206240"/>
            <a:ext cx="66111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должен жить этот помощник?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338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72184"/>
            <a:ext cx="10287000" cy="320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«Открытого API нет, кастомизаций нет — вендор и на письма не отвечает»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133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21615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24028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Что делаем?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46120"/>
            <a:ext cx="11183112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lock-21295C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3474720"/>
            <a:ext cx="9875520" cy="2651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 i="0">
                <a:solidFill>
                  <a:srgbClr val="21295C"/>
                </a:solidFill>
                <a:latin typeface="Arial"/>
              </a:rPr>
              <a:t>Коробочный helpdesk — закрытый вендор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7685"/>
                </a:solidFill>
                <a:latin typeface="Arial"/>
              </a:rPr>
              <a:t>Нет открытого API, нет возможности кастомизации, вендор не отвечает даже на письма об интеграции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7" y="1499616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Решение сбоку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Расширение браузера или вторая панель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Два места одновременно, риск: оператор не будет пользоваться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epea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016" y="1499616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2272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Смена вендора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Helpdesk-система с открытым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Миграция данных, переобучение команды, риск простоя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1499616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75320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Пересмотр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Асинхронный помощник, готовит черновики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2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Оператор открывает готовое там, где удобно, но нужен отдельный процесс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Единственно верного ответа нет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«Маркетинг просит отдельный ИИ-сервис для генерации описаний товаров»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to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20340"/>
            <a:ext cx="777240" cy="777240"/>
          </a:xfrm>
          <a:prstGeom prst="rect">
            <a:avLst/>
          </a:prstGeom>
        </p:spPr>
      </p:pic>
      <p:pic>
        <p:nvPicPr>
          <p:cNvPr id="8" name="Picture 7" descr="arrow-right-F0AB0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2880360"/>
            <a:ext cx="457200" cy="457200"/>
          </a:xfrm>
          <a:prstGeom prst="rect">
            <a:avLst/>
          </a:prstGeom>
        </p:spPr>
      </p:pic>
      <p:pic>
        <p:nvPicPr>
          <p:cNvPr id="9" name="Picture 8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8920" y="2720340"/>
            <a:ext cx="777240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2148840"/>
            <a:ext cx="69494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Новый отдельный инструмент: логин, вкладка, форма ввода характеристик товара → готовое описание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434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Отдельный сервис — хорошая идея?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Описания товаров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tor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43100"/>
            <a:ext cx="777240" cy="7772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103120"/>
            <a:ext cx="457200" cy="457200"/>
          </a:xfrm>
          <a:prstGeom prst="rect">
            <a:avLst/>
          </a:prstGeom>
        </p:spPr>
      </p:pic>
      <p:pic>
        <p:nvPicPr>
          <p:cNvPr id="6" name="Picture 5" descr="zap-F0AB0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9431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141732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Кнопка «сгенерировать описание»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существующей админке каталога, которой маркетинг и так пользуется каждый день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Отдельный продукт — второй логин и вкладка, цена, о которой не подумали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Из жизни: Kite vs GitHub Copilot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42316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Kite (standalone)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67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~500 000 бесплатных пользователей на пике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Закрылся в ноябре 2022 года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«Разработчики не платят за инструменты»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42316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GitHub Copilot (встроен)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67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~20 млн пользователей к июлю 2025 (из 100+ млн на GitHub)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~4,7 млн платных подписчиков к январю 2026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~90% компаний Fortune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5079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5079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Встроенность в уже существующий рабочий поток победила отдельный продукт при технологии сравнимого класса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20640"/>
            <a:ext cx="11183112" cy="7315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Humane AI Pin — привлечено ~$241 млн, продан за $116 млн · Rabbit R1 — ~100 000 устройств, активно пользуются ~5%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Поиск по базе знаний подкладывает нужные фрагменты в контекст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94" y="24688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Вопрос пользователя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6372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4428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402" y="246888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4156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Поиск фрагментов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базе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2444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4688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55664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Фрагменты →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контекст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3952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9388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7444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2418" y="246888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7172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Модель генерирует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ответ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база большая, меняется, весь объём не помещается в один запрос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агента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Модель работает циклом с внешними инструментами, а не одним вызовом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git-for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92" y="1975104"/>
            <a:ext cx="402336" cy="402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2861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Строит план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056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ren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975104"/>
            <a:ext cx="402336" cy="4023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2629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Вызывает внешний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(API,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поиск, код)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712463"/>
            <a:ext cx="402336" cy="4023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2629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Проверяет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результат вызова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2" y="3712463"/>
            <a:ext cx="402336" cy="4023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2861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919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Решает, что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делать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333756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repeat-FFFFFF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728" y="352044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93208" y="42885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несколько шагов и действия во внешних системах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Разовый вызов, RAG или агент?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881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2646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«После каждой встречи кто-то полчаса пишет протокол руками. Транскрипты есть — сделаем автоматом?»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630936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20-meeting-room-real.jpg"/>
          <p:cNvPicPr>
            <a:picLocks noChangeAspect="1"/>
          </p:cNvPicPr>
          <p:nvPr/>
        </p:nvPicPr>
        <p:blipFill>
          <a:blip r:embed="rId3"/>
          <a:srcRect t="18385" b="18385"/>
          <a:stretch>
            <a:fillRect/>
          </a:stretch>
        </p:blipFill>
        <p:spPr>
          <a:xfrm>
            <a:off x="612648" y="2121408"/>
            <a:ext cx="6089904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" y="4800600"/>
            <a:ext cx="6089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Amtec Photos · Wikimedia Commons · CC BY 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011680"/>
            <a:ext cx="4599432" cy="1737360"/>
          </a:xfrm>
          <a:prstGeom prst="roundRect">
            <a:avLst>
              <a:gd name="adj" fmla="val 175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51192" y="2139696"/>
            <a:ext cx="4270248" cy="1481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Транскрипт одной встречи целиком → структурированные решения, поручения и сроки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4023360"/>
            <a:ext cx="459943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51192" y="4023360"/>
            <a:ext cx="4270248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архитектура?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03520"/>
            <a:ext cx="3544824" cy="77724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4681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4320" y="559155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22064" y="5303520"/>
            <a:ext cx="3544824" cy="7772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2064" y="54681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03463" y="559155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41208" y="5303520"/>
            <a:ext cx="3544824" cy="7772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1208" y="54681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7101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60934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«А можно искать — что мы решали по проекту X за полгода?»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older-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178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65960" y="2514600"/>
            <a:ext cx="93268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Прошёл месяц — накопились десятки протоколов с разных встреч, по разным проектам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Меняет ли это архитектуру?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 — разбор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4241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380744"/>
            <a:ext cx="10744200" cy="45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«Растущий и меняющийся архив — вот когда нужен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438912" cy="3657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2450591"/>
            <a:ext cx="566928" cy="521208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56815" y="2295144"/>
            <a:ext cx="694944" cy="676656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15184" y="2139696"/>
            <a:ext cx="822960" cy="832104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73552" y="1984248"/>
            <a:ext cx="950976" cy="98755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2666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растёт со временем →</a:t>
            </a:r>
          </a:p>
        </p:txBody>
      </p:sp>
      <p:pic>
        <p:nvPicPr>
          <p:cNvPr id="12" name="Picture 11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0116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66560" y="1874519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 i="0">
                <a:solidFill>
                  <a:srgbClr val="21295C"/>
                </a:solidFill>
                <a:latin typeface="Arial"/>
              </a:rPr>
              <a:t>Весь объём уже не помещается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1295C"/>
                </a:solidFill>
                <a:latin typeface="Arial"/>
              </a:rPr>
              <a:t>в один запрос к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Теперь обоснован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69080"/>
            <a:ext cx="3544824" cy="105156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336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84320" y="449427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22064" y="4069080"/>
            <a:ext cx="3544824" cy="105156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2064" y="42336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3463" y="449427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41208" y="4069080"/>
            <a:ext cx="3544824" cy="105156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1208" y="42336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«Поручения из протоколов мы всё равно руками переносим в таск-трекер...»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ist-check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4320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423160"/>
            <a:ext cx="94183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Система находит поручения в тексте протокола, но кто-то вручную открывает таск-трекер и заводит задачи одну за другой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77639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e-tex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548640" cy="5486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19"/>
            <a:ext cx="411480" cy="411480"/>
          </a:xfrm>
          <a:prstGeom prst="rect">
            <a:avLst/>
          </a:prstGeom>
        </p:spPr>
      </p:pic>
      <p:pic>
        <p:nvPicPr>
          <p:cNvPr id="6" name="Picture 5" descr="cabl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737360"/>
            <a:ext cx="548640" cy="548640"/>
          </a:xfrm>
          <a:prstGeom prst="rect">
            <a:avLst/>
          </a:prstGeom>
        </p:spPr>
      </p:pic>
      <p:pic>
        <p:nvPicPr>
          <p:cNvPr id="7" name="Picture 6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874519"/>
            <a:ext cx="411480" cy="411480"/>
          </a:xfrm>
          <a:prstGeom prst="rect">
            <a:avLst/>
          </a:prstGeom>
        </p:spPr>
      </p:pic>
      <p:pic>
        <p:nvPicPr>
          <p:cNvPr id="8" name="Picture 7" descr="check-circle-2-028090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173736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74920" y="1280160"/>
            <a:ext cx="612648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извлечь поручение → вызвать API таск-трекера → создать задачу и проверить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workflow-21295C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33756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145536"/>
            <a:ext cx="9875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Действие во внешней системе — нужен workflow или агент. Начинайте с простейшего, усложняйте только когда требование не закрыть иначе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389120"/>
            <a:ext cx="3544824" cy="91440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4320" y="474573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22064" y="4389120"/>
            <a:ext cx="3544824" cy="91440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2064" y="45537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03463" y="474573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41208" y="4389120"/>
            <a:ext cx="3544824" cy="91440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1208" y="45537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Дайджест по чатам и почте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«Нужен еженедельный дайджест по рабочим чатам и почте команды»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60320"/>
            <a:ext cx="640080" cy="640080"/>
          </a:xfrm>
          <a:prstGeom prst="rect">
            <a:avLst/>
          </a:prstGeom>
        </p:spPr>
      </p:pic>
      <p:pic>
        <p:nvPicPr>
          <p:cNvPr id="8" name="Picture 7" descr="mail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2560320"/>
            <a:ext cx="640080" cy="640080"/>
          </a:xfrm>
          <a:prstGeom prst="rect">
            <a:avLst/>
          </a:prstGeom>
        </p:spPr>
      </p:pic>
      <p:pic>
        <p:nvPicPr>
          <p:cNvPr id="9" name="Picture 8" descr="arrow-right-F0AB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2697480"/>
            <a:ext cx="457200" cy="457200"/>
          </a:xfrm>
          <a:prstGeom prst="rect">
            <a:avLst/>
          </a:prstGeom>
        </p:spPr>
      </p:pic>
      <p:pic>
        <p:nvPicPr>
          <p:cNvPr id="10" name="Picture 9" descr="file-text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256032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09160" y="2514600"/>
            <a:ext cx="62179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50" b="1" i="0">
                <a:solidFill>
                  <a:srgbClr val="21295C"/>
                </a:solidFill>
                <a:latin typeface="Arial"/>
              </a:rPr>
              <a:t>Что обсуждали, что решили за неделю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Коротко, одним сообщением по пятницам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Какая архитектура здесь нужна?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Дайджест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 — нужен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Обход нескольких источников по расписанию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Многошаговая задача с обращением к внешним системам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— не нужен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Источники обходятся напрямую по расписанию, не по произвольному запросу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Суммаризация — один вызов модели после сбора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747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Много источников — не то же самое, что RAG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жизни: фреймворк и класс задач для агента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51460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Octomind: «Why we no longer use LangChain»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12+ месяцев LangChain в проде → отказ (17.06.2024)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Дебаг фреймворка дороже разработки фич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Негибкие абстракции → замена на прямые модульные вызовы LLM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51460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Где агент необходим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Research — поиск и синтез по многим источникам с уточнением запроса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Coding-агенты — правка кода → запуск тестов → итерация по результату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В обоих случаях одного вызова физически недостаточно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Прямые вызовы API иногда дают больше контроля, чем абстракция, которая должна была его упростить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Внешний API или локально?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«Хочу карточку по каждому звонку — потребность, возражения, договорённости»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17957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26187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377440"/>
            <a:ext cx="420624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29-office-phonecall-real.jpg"/>
          <p:cNvPicPr>
            <a:picLocks noChangeAspect="1"/>
          </p:cNvPicPr>
          <p:nvPr/>
        </p:nvPicPr>
        <p:blipFill>
          <a:blip r:embed="rId4"/>
          <a:srcRect l="2053" r="2053"/>
          <a:stretch>
            <a:fillRect/>
          </a:stretch>
        </p:blipFill>
        <p:spPr>
          <a:xfrm>
            <a:off x="612648" y="2487168"/>
            <a:ext cx="3986783" cy="3118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5715000"/>
            <a:ext cx="39867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OddibeKerfeld · Wikimedia Commons · CC BY-SA 3.0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79" y="2377440"/>
            <a:ext cx="670255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2523744"/>
            <a:ext cx="6336792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Запись обычного свободного разговора менеджера с клиентом, без структуры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79" y="4343400"/>
            <a:ext cx="6702552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59" y="4343400"/>
            <a:ext cx="6336792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архитектура, где считать?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7101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609344"/>
            <a:ext cx="102870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«Стоп. Клиенты диктуют телефоны, адреса, иногда паспортные данные»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2710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ca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35331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6517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alert-21295C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7180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651760"/>
            <a:ext cx="94183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Никто из инженеров не думал об этом заранее — все слушали только про потребности и возражения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0624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Кто передумал?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 — разбор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Персональные данные меняют расчёт — и цена ошибки не абстрактная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BEAEA"/>
          </a:solidFill>
          <a:ln w="1905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hield-alert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178308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420-ФЗ (принят 30.11.2024, вступил в силу 30.05.2025)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77440"/>
            <a:ext cx="9966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Повторная утечка персональных данных — оборотный штраф 1-3% годовой выручки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6B7685"/>
                </a:solidFill>
                <a:latin typeface="Arial"/>
              </a:rPr>
              <a:t>(минимум 20 млн, максимум 500 млн ₽)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Обязанность уведомить Роскомнадзор в течение 24 часов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19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519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Тот же организационный вопрос, что был в кейсе про логи — только ставки выше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453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883664"/>
            <a:ext cx="455828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«GPU-сервера у нас нет, и бюджета на него в этом году нет»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0659" y="1545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55" y="162763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3291840"/>
            <a:ext cx="5015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3716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92" y="154533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1092" y="1883664"/>
            <a:ext cx="455828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«Мне не беседа нужна — пять полей в CRM по каждому звонку»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09376" y="1545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rou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627632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51092" y="3291840"/>
            <a:ext cx="5015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руководитель отдела продаж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31920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Звонки продаж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pu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45919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408176"/>
            <a:ext cx="9875520" cy="10241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Небольшая локальная модель (7-8 млрд параметров) справляется — данные не покидают периметр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5454396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3044952"/>
            <a:ext cx="5052059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(а) «сложно для человека» ≠ «сложно для модели»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880360"/>
            <a:ext cx="5454396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2803" y="3044952"/>
            <a:ext cx="5052059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(б) чувствительность данных выясняется вопросами, а не предполагается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48006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1: Облачный frontier?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84320" y="51572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2064" y="48006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1792" y="48006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2: Персональные данные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3463" y="51572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1208" y="48006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0936" y="48006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3: Шаблон полей → локальная модель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Из жизни: утечка и малые модели в проде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61848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60020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Samsung,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4884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Разрешили ChatGPT 11.03.2023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 30.03 (~19 дней) — 3 утечки: 2× код производства, 1× транскрипт совещания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Полный запрет генеративного ИИ на устройствах (май 2023) + своя внутренняя система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61848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60020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Малые модели в проде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4884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JetBrains full-line completion — локальная модель ~100 МБ, в проде с апреля 2024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Apple on-device — ~3 млрд параметров (WWDC 2024)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Frontier (GPT/Claude/Gemini) — сотни миллиардов параметров, только облако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Frontier-модели — сотни миллиардов параметров, доступны только через облако. Малые модели уже работают локально в проде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Ваши задачи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11183112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nd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1097280" cy="1097280"/>
          </a:xfrm>
          <a:prstGeom prst="rect">
            <a:avLst/>
          </a:prstGeom>
        </p:spPr>
      </p:pic>
      <p:pic>
        <p:nvPicPr>
          <p:cNvPr id="5" name="Picture 4" descr="user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У кого есть похожая задача с работы — там, где стоял вопрос, нужен ли ИИ, и какой?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1">
                <a:solidFill>
                  <a:srgbClr val="21295C"/>
                </a:solidFill>
                <a:latin typeface="Arial"/>
              </a:rPr>
              <a:t>Достаточно сформулировать в двух-трёх предложениях, как её принёс бы заказчик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унести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Семь уроков, по одному на кейс — ничего нового, только компиляция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33372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16916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9431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примера — не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40864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259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340864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5923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40864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Граница regex/модель — внутри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1820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29900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15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990088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Организационное ограничение решает не хуже техники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3931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81044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8720" y="363931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8907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639312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Встроенность бьёт отдельный продукт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30268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88720" y="4288536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399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288536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Архитектуру двигают требования, не мода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3776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79492"/>
            <a:ext cx="310896" cy="3108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88720" y="493776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Дайджест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51892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93776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 источников ≠ RAG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86983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728716"/>
            <a:ext cx="310896" cy="31089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88720" y="5586983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5838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5586983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Сложно для человека ≠ сложно для модели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Домашнее чтение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Необязательно, но по каждой истории будет что обсудить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25496" y="17830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Arial"/>
              </a:rPr>
              <a:t>ГЛАВНОЕ</a:t>
            </a:r>
          </a:p>
        </p:txBody>
      </p:sp>
      <p:pic>
        <p:nvPicPr>
          <p:cNvPr id="6" name="Picture 5" descr="handshak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108" y="1874519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Сага Klarna, 2023-2025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AI-ассистент поддержки: от впечатляющего старта до признания «мы зашли слишком далеко» и возврата к найму людей.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building-2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56" y="1874519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8848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NYC MyCity chatbot,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Городской чат-бот для малого бизнеса, дававший юридически некорректные советы. Расследование The Markup.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ankno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204" y="187451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11896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Бонус, для настроения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Автосалон подключил чат-бот на стороннем API без ограждений — и чат-бот «продал» внедорожник за один доллар.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Если сегодня останется время — часть этого разберём вживую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Klarna, 2023-2025: одна история — четыре развилки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264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ИИ или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280160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Типовые тикеты — формализуемы, хороший кандидат; но оптимизация по стоимости уронила качество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91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Встроить или своё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12848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Ассистент в существующем канале поддержки, внешний API (OpenAI) — не отдельный продукт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2918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45536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Архитектура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45536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Чат-ассистент с эскалацией к человеку, не автономный 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86784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245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78224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Инференс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078224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облачный API с клиентскими данными поддержки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651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февраль 2024 · 30 дней: 2,3 млн чатов, 67% обращений автоматизировано · заявлено «700 агентов»/$40М (2024) → «853 агента»/$60М (Q3 2025) — знаменатель не раскрыт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95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7959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«We went too far» — CEO Себастьян Семятковски, Bloomberg, май 2025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новостей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«Поток новостей из многих источников — нужно склеивать одинаковые в одну карточку»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468880"/>
            <a:ext cx="640080" cy="640080"/>
          </a:xfrm>
          <a:prstGeom prst="rect">
            <a:avLst/>
          </a:prstGeom>
        </p:spPr>
      </p:pic>
      <p:pic>
        <p:nvPicPr>
          <p:cNvPr id="8" name="Picture 7" descr="message-square-quote-1C7293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19" y="2834640"/>
            <a:ext cx="502920" cy="502920"/>
          </a:xfrm>
          <a:prstGeom prst="rect">
            <a:avLst/>
          </a:prstGeom>
        </p:spPr>
      </p:pic>
      <p:pic>
        <p:nvPicPr>
          <p:cNvPr id="9" name="Picture 8" descr="arrow-right-F0AB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926080"/>
            <a:ext cx="457200" cy="457200"/>
          </a:xfrm>
          <a:prstGeom prst="rect">
            <a:avLst/>
          </a:prstGeom>
        </p:spPr>
      </p:pic>
      <p:pic>
        <p:nvPicPr>
          <p:cNvPr id="10" name="Picture 9" descr="layers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246888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0" y="2514600"/>
            <a:ext cx="63093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1295C"/>
                </a:solidFill>
                <a:latin typeface="Arial"/>
              </a:rPr>
              <a:t>Десять почти одинаковых заголовков от разных изданий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→ одна объединённая карточка события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Какая технология нужна?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ter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Fuzzy-matching / shingling — ~90%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Сравнение текстов по перекрывающимся фрагментам без обращения к модели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Дёшево и предсказуемо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LLM — только остаток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сообщения об одном событии написаны разными словами почти без общих фрагментов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21295C"/>
                </a:solidFill>
                <a:latin typeface="Arial"/>
              </a:rPr>
              <a:t>Перефраз без лексического пересечения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Сначала дешёвый детерминированный фильтр — ИИ на то, что он не взял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21295C">
              <a:alpha val="8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70916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Сегодня вы решали, что строить.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F0AB00"/>
                </a:solidFill>
                <a:latin typeface="Arial"/>
              </a:rPr>
              <a:t>Лекция 2 — как модель устроена внутри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C8D2DF"/>
                </a:solidFill>
                <a:latin typeface="Arial"/>
              </a:rPr>
              <a:t>Wikimedia Commons · CC BY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