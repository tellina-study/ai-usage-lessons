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Добрый день. Сегодня у нас семинар номер два, и формат простой: мы вместе</a:t>
            </a:r>
          </a:p>
          <a:p>
            <a:r>
              <a:t>разберём семь ситуаций, которые могли бы прийти к любому из вас с реальной</a:t>
            </a:r>
          </a:p>
          <a:p>
            <a:r>
              <a:t>работы. В каждой — кто-то просит «сделайте нам автоматизацию», и дальше</a:t>
            </a:r>
          </a:p>
          <a:p>
            <a:r>
              <a:t>инженеру нужно решить, что именно строить. Мы не будем читать лекцию и не</a:t>
            </a:r>
          </a:p>
          <a:p>
            <a:r>
              <a:t>будем вам ничего презентовать полчаса — будем разбирать конкретные истории</a:t>
            </a:r>
          </a:p>
          <a:p>
            <a:r>
              <a:t>вслух, все вместе, залом. Я буду показывать постановку задачи, вы будете</a:t>
            </a:r>
          </a:p>
          <a:p>
            <a:r>
              <a:t>говорить, что бы предложили, а потом — и это самое интересное — почти в</a:t>
            </a:r>
          </a:p>
          <a:p>
            <a:r>
              <a:t>каждом кейсе появится деталь, которой не было в первой формулировке, и мы</a:t>
            </a:r>
          </a:p>
          <a:p>
            <a:r>
              <a:t>спросим, кто после неё передумал. Готовность передумать здесь ценится</a:t>
            </a:r>
          </a:p>
          <a:p>
            <a:r>
              <a:t>больше, чем готовность настоять на своём первом ответе. Поехали.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Вот список того, что мы сегодня разберём: документы от поставщиков,</a:t>
            </a:r>
          </a:p>
          <a:p>
            <a:r>
              <a:t>персональные данные в логах, помощник для техподдержки, описания товаров</a:t>
            </a:r>
          </a:p>
          <a:p>
            <a:r>
              <a:t>для маркетинга, протоколы встреч, дайджест по рабочим чатам и звонки</a:t>
            </a:r>
          </a:p>
          <a:p>
            <a:r>
              <a:t>отдела продаж. Семь ситуаций, разного масштаба — где-то мы проведём десять</a:t>
            </a:r>
          </a:p>
          <a:p>
            <a:r>
              <a:t>минут, где-то управимся за три. Но в каждой есть один общий момент: в</a:t>
            </a:r>
          </a:p>
          <a:p>
            <a:r>
              <a:t>начале вы услышите постановку задачи, примете какое-то решение, а потом</a:t>
            </a:r>
          </a:p>
          <a:p>
            <a:r>
              <a:t>всплывёт вводная, которой не было в первой версии. Не потому что я вас</a:t>
            </a:r>
          </a:p>
          <a:p>
            <a:r>
              <a:t>обманываю, а потому что именно так это и происходит в жизни — заказчик</a:t>
            </a:r>
          </a:p>
          <a:p>
            <a:r>
              <a:t>не рассказывает вам всё сразу, он рассказывает по мере того, как вы</a:t>
            </a:r>
          </a:p>
          <a:p>
            <a:r>
              <a:t>задаёте вопросы. Так что смотрите на постановку критически с самого</a:t>
            </a:r>
          </a:p>
          <a:p>
            <a:r>
              <a:t>начала: чего вам не хватает, чтобы дать честный ответ?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Первый кейс. Про документы, которые присылают поставщики, и про то, что с</a:t>
            </a:r>
          </a:p>
          <a:p>
            <a:r>
              <a:t>ними делать. Тег внизу слайда — «ИИ или обычный код» — это просто ярлык</a:t>
            </a:r>
          </a:p>
          <a:p>
            <a:r>
              <a:t>того типа решения, который здесь на кону, не готовая подсказка ответа и</a:t>
            </a:r>
          </a:p>
          <a:p>
            <a:r>
              <a:t>не намёк на то, куда я жду от вас ответа. Дальше будет живая постановка —</a:t>
            </a:r>
          </a:p>
          <a:p>
            <a:r>
              <a:t>я зачитаю реплику так, как её произнёс бы человек, который реально</a:t>
            </a:r>
          </a:p>
          <a:p>
            <a:r>
              <a:t>принёс эту задачу инженеру, без причёсывания под учебный пример. Слушайте</a:t>
            </a:r>
          </a:p>
          <a:p>
            <a:r>
              <a:t>внимательно детали: в таких постановках почти всегда есть зацепка, которая</a:t>
            </a:r>
          </a:p>
          <a:p>
            <a:r>
              <a:t>через минуту окажется важной, и часто эта зацепка — не то, что вам сразу</a:t>
            </a:r>
          </a:p>
          <a:p>
            <a:r>
              <a:t>показали, а то, о чём вас не предупредили. Формат простой: сначала вы</a:t>
            </a:r>
          </a:p>
          <a:p>
            <a:r>
              <a:t>слышите постановку и высказываете мнение, потом появляется что-то новое,</a:t>
            </a:r>
          </a:p>
          <a:p>
            <a:r>
              <a:t>и мы смотрим, меняет ли это картину. Готовы? Переходим к постановке.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Реплика продакта, слово в слово: «Бухгалтерия тонет — поставщики шлют</a:t>
            </a:r>
          </a:p>
          <a:p>
            <a:r>
              <a:t>накладные, всё руками переносится в 1С. Вот два примера. Можно это</a:t>
            </a:r>
          </a:p>
          <a:p>
            <a:r>
              <a:t>автоматом разбирать? Сложно?» Вот эти два примера у вас на экране —</a:t>
            </a:r>
          </a:p>
          <a:p>
            <a:r>
              <a:t>посмотрите на них внимательно, структура у обоих почти одинаковая: те же</a:t>
            </a:r>
          </a:p>
          <a:p>
            <a:r>
              <a:t>поля, тот же порядок, похожий вид таблицы. Ничего экзотического, обычная</a:t>
            </a:r>
          </a:p>
          <a:p>
            <a:r>
              <a:t>накладная, которую бухгалтер сейчас переносит в 1С руками, поле за</a:t>
            </a:r>
          </a:p>
          <a:p>
            <a:r>
              <a:t>полем. Вопрос в зал: что вы предложите? Нужен ли здесь ИИ вообще, или</a:t>
            </a:r>
          </a:p>
          <a:p>
            <a:r>
              <a:t>можно обойтись без него? Не спешите, посмотрите на примеры ещё раз,</a:t>
            </a:r>
          </a:p>
          <a:p>
            <a:r>
              <a:t>прежде чем отвечать — какие конкретно поля вы бы вытаскивали, и что, на</a:t>
            </a:r>
          </a:p>
          <a:p>
            <a:r>
              <a:t>ваш взгляд, определяет сложность этой задачи? Кто готов высказаться первым?</a:t>
            </a:r>
          </a:p>
          <a:p>
            <a:r>
              <a:t>Помните: единственно верного ответа здесь может и не быть, важно, чтобы</a:t>
            </a:r>
          </a:p>
          <a:p>
            <a:r>
              <a:t>вы могли объяснить, почему выбрали именно такой путь.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Дальше в этой истории было так: «Попросили архив — бухгалтерия прислала</a:t>
            </a:r>
          </a:p>
          <a:p>
            <a:r>
              <a:t>за три года, сорок поставщиков». Вот несколько примеров из этого архива —</a:t>
            </a:r>
          </a:p>
          <a:p>
            <a:r>
              <a:t>смотрите, форматы уже не такие одинаковые, как в первых двух документах:</a:t>
            </a:r>
          </a:p>
          <a:p>
            <a:r>
              <a:t>где-то таблица устроена иначе, где-то поле называется по-другому, где-то</a:t>
            </a:r>
          </a:p>
          <a:p>
            <a:r>
              <a:t>один из поставщиков вообще иностранный и присылает документы на</a:t>
            </a:r>
          </a:p>
          <a:p>
            <a:r>
              <a:t>английском. Это ровно тот же архив, только теперь мы видим его целиком, а</a:t>
            </a:r>
          </a:p>
          <a:p>
            <a:r>
              <a:t>не два выбранных примера. Вопрос в зал: меняет ли это ваш ответ? Не</a:t>
            </a:r>
          </a:p>
          <a:p>
            <a:r>
              <a:t>тороплюсь с подсказкой, просто дайте секунду посмотреть на эти четыре</a:t>
            </a:r>
          </a:p>
          <a:p>
            <a:r>
              <a:t>карточки и сравнить с тем, что видели минуту назад. Кто хочет</a:t>
            </a:r>
          </a:p>
          <a:p>
            <a:r>
              <a:t>высказаться? И если вы говорили про чистый парсер без ИИ — что вы сейчас</a:t>
            </a:r>
          </a:p>
          <a:p>
            <a:r>
              <a:t>думаете, когда видите этот разброс форматов?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Смотрите, что произошло: пока мы видели два одинаковых документа, чистый</a:t>
            </a:r>
          </a:p>
          <a:p>
            <a:r>
              <a:t>код казался достаточным и даже предпочтительным — он предсказуем.</a:t>
            </a:r>
          </a:p>
          <a:p>
            <a:r>
              <a:t>Как только появился реальный архив за три года и сорок поставщиков,</a:t>
            </a:r>
          </a:p>
          <a:p>
            <a:r>
              <a:t>стало видно, что форматы на самом деле разъехались, и чистый парсер</a:t>
            </a:r>
          </a:p>
          <a:p>
            <a:r>
              <a:t>пришлось бы постоянно чинить под каждый новый вариант. Разумный ответ</a:t>
            </a:r>
          </a:p>
          <a:p>
            <a:r>
              <a:t>здесь — гибрид: модель делает извлечение по неструктурированному или</a:t>
            </a:r>
          </a:p>
          <a:p>
            <a:r>
              <a:t>разнородному входу, а дальше — жёсткая валидация кодом, проверка типов</a:t>
            </a:r>
          </a:p>
          <a:p>
            <a:r>
              <a:t>полей, обязательных значений, диапазонов, прежде чем данные попадут в</a:t>
            </a:r>
          </a:p>
          <a:p>
            <a:r>
              <a:t>1С. И главный урок этого кейса шире, чем документы: два примера — это не</a:t>
            </a:r>
          </a:p>
          <a:p>
            <a:r>
              <a:t>выборка. Прежде чем делать архитектурный выбор, нужно попросить</a:t>
            </a:r>
          </a:p>
          <a:p>
            <a:r>
              <a:t>представление полного объёма данных, с которым решение реально</a:t>
            </a:r>
          </a:p>
          <a:p>
            <a:r>
              <a:t>столкнётся, а не экстраполировать с двух показанных образцов. Кстати,</a:t>
            </a:r>
          </a:p>
          <a:p>
            <a:r>
              <a:t>здесь же стоит держать в голове риск из Лекции 1: модель, настроенная на</a:t>
            </a:r>
          </a:p>
          <a:p>
            <a:r>
              <a:t>форматы, которые видела, тихо деградирует на новых — это тот же</a:t>
            </a:r>
          </a:p>
          <a:p>
            <a:r>
              <a:t>механизм, что distribution shift.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Короткий кейс, блиц — на него у нас меньше времени, чем на предыдущий,</a:t>
            </a:r>
          </a:p>
          <a:p>
            <a:r>
              <a:t>так что сразу к делу, без долгого разогрева. Постановка: нужно вычистить</a:t>
            </a:r>
          </a:p>
          <a:p>
            <a:r>
              <a:t>персональные данные из логов приложения перед передачей их внешнему</a:t>
            </a:r>
          </a:p>
          <a:p>
            <a:r>
              <a:t>подрядчику на анализ производительности. Подрядчику нужны сами логи —</a:t>
            </a:r>
          </a:p>
          <a:p>
            <a:r>
              <a:t>структура запросов, тайминги, ошибки, — но не данные конкретных людей.</a:t>
            </a:r>
          </a:p>
          <a:p>
            <a:r>
              <a:t>Вот пример строки лога у вас на экране — посмотрите, что там вообще</a:t>
            </a:r>
          </a:p>
          <a:p>
            <a:r>
              <a:t>встречается: номер телефона, адрес почты, и фраза вроде «передайте это</a:t>
            </a:r>
          </a:p>
          <a:p>
            <a:r>
              <a:t>Ивану из бухгалтерии». Вопрос в зал: одна технология здесь закроет всю</a:t>
            </a:r>
          </a:p>
          <a:p>
            <a:r>
              <a:t>задачу целиком, или нет? Давайте быстро, у кого есть мнение? Не нужно</a:t>
            </a:r>
          </a:p>
          <a:p>
            <a:r>
              <a:t>развёрнутого разбора, буквально первая реакция — что бросается в глаза?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Телефоны и email — это данные с чётким, предсказуемым форматом, их</a:t>
            </a:r>
          </a:p>
          <a:p>
            <a:r>
              <a:t>надёжно и дёшево вычищает обычный regex, никакая модель здесь не нужна.</a:t>
            </a:r>
          </a:p>
          <a:p>
            <a:r>
              <a:t>А вот имена людей и косвенные упоминания в свободном тексте — вроде</a:t>
            </a:r>
          </a:p>
          <a:p>
            <a:r>
              <a:t>«передайте это Ивану из бухгалтерии» — требуют понимания контекста, и</a:t>
            </a:r>
          </a:p>
          <a:p>
            <a:r>
              <a:t>здесь без распознавания именованных сущностей или модели не обойтись.</a:t>
            </a:r>
          </a:p>
          <a:p>
            <a:r>
              <a:t>Так что ответ на вопрос «одна технология на всё» — нет, и это ответ-гибрид:</a:t>
            </a:r>
          </a:p>
          <a:p>
            <a:r>
              <a:t>граница проходит внутри одной и той же задачи, а не между разными</a:t>
            </a:r>
          </a:p>
          <a:p>
            <a:r>
              <a:t>задачами. Практический вывод — не выбирать инструмент один раз для всей</a:t>
            </a:r>
          </a:p>
          <a:p>
            <a:r>
              <a:t>задачи целиком, а раскладывать задачу на подзадачи и подбирать метод под</a:t>
            </a:r>
          </a:p>
          <a:p>
            <a:r>
              <a:t>каждую отдельно. Тот же вопрос чувствительности данных всплывёт и в</a:t>
            </a:r>
          </a:p>
          <a:p>
            <a:r>
              <a:t>кейсе про звонки продаж — там ставки заметно выше.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Два случая из практики, один неудачный, один удачный. Epic Sepsis Model —</a:t>
            </a:r>
          </a:p>
          <a:p>
            <a:r>
              <a:t>проприетарная модель предсказания сепсиса, развёрнутая у сотен</a:t>
            </a:r>
          </a:p>
          <a:p>
            <a:r>
              <a:t>госпиталей. Независимая проверка Michigan Medicine, опубликованная в JAMA</a:t>
            </a:r>
          </a:p>
          <a:p>
            <a:r>
              <a:t>Internal Medicine в июне 2021 года, на выборке из 27 697 пациентов и</a:t>
            </a:r>
          </a:p>
          <a:p>
            <a:r>
              <a:t>38 455 госпитализаций, где сепсис встретился в 7% случаев, показала: реальная</a:t>
            </a:r>
          </a:p>
          <a:p>
            <a:r>
              <a:t>точность — 0.63 по AUC, против заявленных вендором 0.76–0.83. Модель</a:t>
            </a:r>
          </a:p>
          <a:p>
            <a:r>
              <a:t>пропустила 67% реальных случаев сепсиса, а алерты срабатывали на 18% всех</a:t>
            </a:r>
          </a:p>
          <a:p>
            <a:r>
              <a:t>госпитализированных — это классическое притупление внимания от избыточных</a:t>
            </a:r>
          </a:p>
          <a:p>
            <a:r>
              <a:t>срабатываний. Что здесь пошло не так, на ваш взгляд? Главный урок —</a:t>
            </a:r>
          </a:p>
          <a:p>
            <a:r>
              <a:t>вендорская метрика точности не равна метрике, измеренной независимо на</a:t>
            </a:r>
          </a:p>
          <a:p>
            <a:r>
              <a:t>собственных данных. Теперь позитивный пример: инженерный блог компании</a:t>
            </a:r>
          </a:p>
          <a:p>
            <a:r>
              <a:t>Ramp рассказывает, как раньше заявки на исправление классификации</a:t>
            </a:r>
          </a:p>
          <a:p>
            <a:r>
              <a:t>транзакций обрабатывались вручную с покрытием всего 3% в 2023 году и</a:t>
            </a:r>
          </a:p>
          <a:p>
            <a:r>
              <a:t>1,5% в 2024 — то есть почти всё оставалось необработанным. После</a:t>
            </a:r>
          </a:p>
          <a:p>
            <a:r>
              <a:t>внедрения LLM-агента с векторным поиском и ограничениями безопасности —</a:t>
            </a:r>
          </a:p>
          <a:p>
            <a:r>
              <a:t>меньше 10 секунд на заявку, около 99% решений признаются корректными,</a:t>
            </a:r>
          </a:p>
          <a:p>
            <a:r>
              <a:t>около 25% обоснованно отклоняются. Важно сказать честно: это не победа</a:t>
            </a:r>
          </a:p>
          <a:p>
            <a:r>
              <a:t>ИИ над регулярными выражениями, это замена ручной обработки с мизерным</a:t>
            </a:r>
          </a:p>
          <a:p>
            <a:r>
              <a:t>покрытием.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Второй кейс. Про помощника для операторов техподдержки — и про то, где</a:t>
            </a:r>
          </a:p>
          <a:p>
            <a:r>
              <a:t>именно ему стоит жить. Тег внизу — «встроить или своё» — опять же просто</a:t>
            </a:r>
          </a:p>
          <a:p>
            <a:r>
              <a:t>ярлык, не подсказка на то, какой ответ я жду услышать. Этот кейс, забегая</a:t>
            </a:r>
          </a:p>
          <a:p>
            <a:r>
              <a:t>вперёд, особенный: у него нет единственно верного решения, и мы к этому</a:t>
            </a:r>
          </a:p>
          <a:p>
            <a:r>
              <a:t>ещё вернёмся в разборе — так что не удивляйтесь, если аудитория разойдётся</a:t>
            </a:r>
          </a:p>
          <a:p>
            <a:r>
              <a:t>во мнениях и мы не придём к одному общему выводу. Это специально. А</a:t>
            </a:r>
          </a:p>
          <a:p>
            <a:r>
              <a:t>пока — просто слушайте постановку и держите в голове, кто на самом деле</a:t>
            </a:r>
          </a:p>
          <a:p>
            <a:r>
              <a:t>будет пользоваться тем, что мы построим, и как именно проходит его</a:t>
            </a:r>
          </a:p>
          <a:p>
            <a:r>
              <a:t>рабочий день — это обычно и есть ключ к архитектурному решению такого</a:t>
            </a:r>
          </a:p>
          <a:p>
            <a:r>
              <a:t>рода.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Постановка: «Сделайте нам ИИ-помощника для операторов техподдержки —</a:t>
            </a:r>
          </a:p>
          <a:p>
            <a:r>
              <a:t>подсказки ответов на тикеты, поиск похожих обращений в истории». Идея</a:t>
            </a:r>
          </a:p>
          <a:p>
            <a:r>
              <a:t>понятная — оператор открывает новый тикет, а система сама подсказывает,</a:t>
            </a:r>
          </a:p>
          <a:p>
            <a:r>
              <a:t>как отвечали на похожие обращения раньше, чтобы не искать вручную.</a:t>
            </a:r>
          </a:p>
          <a:p>
            <a:r>
              <a:t>Операторы, о которых идёт речь, весь рабочий день сидят в одном и том же</a:t>
            </a:r>
          </a:p>
          <a:p>
            <a:r>
              <a:t>интерфейсе helpdesk-системы — что-то вроде Zendesk или Jira Service</a:t>
            </a:r>
          </a:p>
          <a:p>
            <a:r>
              <a:t>Management, открывают тикет за тикетом, отвечают клиентам, переключаются</a:t>
            </a:r>
          </a:p>
          <a:p>
            <a:r>
              <a:t>между обращениями десятками раз за смену. Вопрос в зал: где должен жить</a:t>
            </a:r>
          </a:p>
          <a:p>
            <a:r>
              <a:t>этот помощник? Что вы предложите — отдельное окно, встроенная подсказка</a:t>
            </a:r>
          </a:p>
          <a:p>
            <a:r>
              <a:t>прямо в интерфейсе, что-то ещё? И, что не менее важно, почему именно</a:t>
            </a:r>
          </a:p>
          <a:p>
            <a:r>
              <a:t>так, а не иначе?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 вот что говорит ИТ-директор компании, когда к нему приходят с этой</a:t>
            </a:r>
          </a:p>
          <a:p>
            <a:r>
              <a:t>идеей: «У нас коробочный helpdesk. Открытого API нет, кастомизаций нет —</a:t>
            </a:r>
          </a:p>
          <a:p>
            <a:r>
              <a:t>вендор и на письма-то не отвечает». То есть компания даже написала</a:t>
            </a:r>
          </a:p>
          <a:p>
            <a:r>
              <a:t>вендору с вопросом об интеграции, и ответа так и не получила. Вопрос в</a:t>
            </a:r>
          </a:p>
          <a:p>
            <a:r>
              <a:t>зал: что делаем? Обратите внимание, я не говорю вам, хорошо это или плохо</a:t>
            </a:r>
          </a:p>
          <a:p>
            <a:r>
              <a:t>для вашего плана — просто называю факт, который вы бы узнали, только</a:t>
            </a:r>
          </a:p>
          <a:p>
            <a:r>
              <a:t>если бы сами спросили ИТ-отдел заранее, до того как начали проектировать</a:t>
            </a:r>
          </a:p>
          <a:p>
            <a:r>
              <a:t>решение. Кто хочет высказаться первым, что теперь предлагаете? И кто из</a:t>
            </a:r>
          </a:p>
          <a:p>
            <a:r>
              <a:t>тех, кто минуту назад предлагал встроить помощника прямо в интерфейс —</a:t>
            </a:r>
          </a:p>
          <a:p>
            <a:r>
              <a:t>что вы думаете сейчас, когда выяснилось, что сам интерфейс для вас</a:t>
            </a:r>
          </a:p>
          <a:p>
            <a:r>
              <a:t>закрыт наглухо?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 этого кейса нет единственно верного ответа, и это специально. Смотрите</a:t>
            </a:r>
          </a:p>
          <a:p>
            <a:r>
              <a:t>на три реальных варианта. Первый — решение сбоку: расширение браузера или</a:t>
            </a:r>
          </a:p>
          <a:p>
            <a:r>
              <a:t>вторая панель рядом с интерфейсом helpdesk. Цена — оператору приходится</a:t>
            </a:r>
          </a:p>
          <a:p>
            <a:r>
              <a:t>физически смотреть в два места, и под нагрузкой он туда просто не будет</a:t>
            </a:r>
          </a:p>
          <a:p>
            <a:r>
              <a:t>заглядывать. Второй — сменить вендора helpdesk-системы на систему с</a:t>
            </a:r>
          </a:p>
          <a:p>
            <a:r>
              <a:t>открытым API. Цена — миграция исторических данных, переобучение всей</a:t>
            </a:r>
          </a:p>
          <a:p>
            <a:r>
              <a:t>команды поддержки, риск простоя на переходе, и всё это ради одной фичи.</a:t>
            </a:r>
          </a:p>
          <a:p>
            <a:r>
              <a:t>Третий — пересмотреть саму задачу: помощник не встраивается в момент</a:t>
            </a:r>
          </a:p>
          <a:p>
            <a:r>
              <a:t>ответа оператора, а готовит черновики или сводки по тикету заранее, в</a:t>
            </a:r>
          </a:p>
          <a:p>
            <a:r>
              <a:t>фоне, и оператор открывает готовый черновик там, где ему удобно. На</a:t>
            </a:r>
          </a:p>
          <a:p>
            <a:r>
              <a:t>реальной работе вы будете выбирать между этими тремя исходя из бюджета,</a:t>
            </a:r>
          </a:p>
          <a:p>
            <a:r>
              <a:t>срочности и готовности компании на организационные издержки. Задача была</a:t>
            </a:r>
          </a:p>
          <a:p>
            <a:r>
              <a:t>не найти правильный ответ, а увидеть, что закрытый вендор может</a:t>
            </a:r>
          </a:p>
          <a:p>
            <a:r>
              <a:t>определить архитектуру не хуже технических требований.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Ещё один блиц-кейс, снова быстро — этот займёт у нас буквально пару</a:t>
            </a:r>
          </a:p>
          <a:p>
            <a:r>
              <a:t>минут разговора. Маркетинг просит отдельный ИИ-сервис для генерации</a:t>
            </a:r>
          </a:p>
          <a:p>
            <a:r>
              <a:t>описаний товаров — что-то вроде нового отдельного инструмента, куда</a:t>
            </a:r>
          </a:p>
          <a:p>
            <a:r>
              <a:t>нужно будет заходить, логиниться и вбивать характеристики товара, чтобы</a:t>
            </a:r>
          </a:p>
          <a:p>
            <a:r>
              <a:t>получить готовое описание для карточки на сайте. Звучит разумно — задача</a:t>
            </a:r>
          </a:p>
          <a:p>
            <a:r>
              <a:t>понятная, технология доступная. Вопрос в зал: отдельный сервис — хорошая</a:t>
            </a:r>
          </a:p>
          <a:p>
            <a:r>
              <a:t>идея, или нет? Что скажете? У кого есть быстрое мнение — не нужно долго</a:t>
            </a:r>
          </a:p>
          <a:p>
            <a:r>
              <a:t>думать, здесь ответ довольно очевиден, если вспомнить, кто именно и как</a:t>
            </a:r>
          </a:p>
          <a:p>
            <a:r>
              <a:t>этим будет пользоваться каждый день в реальной работе, и сколько лишних</a:t>
            </a:r>
          </a:p>
          <a:p>
            <a:r>
              <a:t>кликов появится, если решение окажется отдельным от привычного места</a:t>
            </a:r>
          </a:p>
          <a:p>
            <a:r>
              <a:t>работы.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должна быть кнопка «сгенерировать описание» прямо в существующей</a:t>
            </a:r>
          </a:p>
          <a:p>
            <a:r>
              <a:t>админке каталога товаров, которой маркетинг и так пользуется каждый день,</a:t>
            </a:r>
          </a:p>
          <a:p>
            <a:r>
              <a:t>заводя новые товары и редактируя карточки. Отдельный продукт — это второй</a:t>
            </a:r>
          </a:p>
          <a:p>
            <a:r>
              <a:t>логин, отдельная вкладка, привычка, которую нужно формировать с нуля, и</a:t>
            </a:r>
          </a:p>
          <a:p>
            <a:r>
              <a:t>лишний шаг в рабочем процессе, от которого человек будет уставать</a:t>
            </a:r>
          </a:p>
          <a:p>
            <a:r>
              <a:t>быстрее, чем от самой задачи написания описания. И на практике такие</a:t>
            </a:r>
          </a:p>
          <a:p>
            <a:r>
              <a:t>отдельные инструменты часто умирают от неиспользования, даже если</a:t>
            </a:r>
          </a:p>
          <a:p>
            <a:r>
              <a:t>технология внутри работает отлично — просто потому что до них банально</a:t>
            </a:r>
          </a:p>
          <a:p>
            <a:r>
              <a:t>не доходят руки в конце длинного дня, когда проще написать вручную то,</a:t>
            </a:r>
          </a:p>
          <a:p>
            <a:r>
              <a:t>что и так писали годами, чем открывать ещё одну вкладку ради экономии</a:t>
            </a:r>
          </a:p>
          <a:p>
            <a:r>
              <a:t>пары минут.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Kite — отдельный самостоятельный продукт для автодополнения кода на базе</a:t>
            </a:r>
          </a:p>
          <a:p>
            <a:r>
              <a:t>ИИ, на пике около 500 тысяч бесплатных пользователей, закрылся в ноябре</a:t>
            </a:r>
          </a:p>
          <a:p>
            <a:r>
              <a:t>2022 года. По словам основателя, продукт не смог монетизироваться —</a:t>
            </a:r>
          </a:p>
          <a:p>
            <a:r>
              <a:t>разработчики исторически неохотно платят за инструменты разработки. А</a:t>
            </a:r>
          </a:p>
          <a:p>
            <a:r>
              <a:t>теперь смотрите на GitHub Copilot — технология того же класса,</a:t>
            </a:r>
          </a:p>
          <a:p>
            <a:r>
              <a:t>автодополнение кода, но встроенная прямо в IDE и в экосистему GitHub, к</a:t>
            </a:r>
          </a:p>
          <a:p>
            <a:r>
              <a:t>которой разработчики уже подключены: около 20 миллионов пользователей к</a:t>
            </a:r>
          </a:p>
          <a:p>
            <a:r>
              <a:t>июлю 2025 года из более чем 100 миллионов разработчиков на GitHub, 4,7</a:t>
            </a:r>
          </a:p>
          <a:p>
            <a:r>
              <a:t>миллиона платных подписчиков к январю 2026, используется примерно в 90%</a:t>
            </a:r>
          </a:p>
          <a:p>
            <a:r>
              <a:t>компаний из списка Fortune 100. Это не значит, что у Kite было хуже</a:t>
            </a:r>
          </a:p>
          <a:p>
            <a:r>
              <a:t>качество — это значит, что архитектурное решение «встроить или своё» имеет</a:t>
            </a:r>
          </a:p>
          <a:p>
            <a:r>
              <a:t>реальную коммерческую цену. И раз уж заговорили про отдельные продукты —</a:t>
            </a:r>
          </a:p>
          <a:p>
            <a:r>
              <a:t>короткий анекдот в ту же тему: Humane AI Pin, отдельное устройство,</a:t>
            </a:r>
          </a:p>
          <a:p>
            <a:r>
              <a:t>привлёк почти 241 миллион долларов инвестиций и был продан компании HP за</a:t>
            </a:r>
          </a:p>
          <a:p>
            <a:r>
              <a:t>116 миллионов — с потерей больше половины вложенного капитала. Rabbit R1</a:t>
            </a:r>
          </a:p>
          <a:p>
            <a:r>
              <a:t>продали около 100 тысяч штук, но по оценкам активно им пользуются</a:t>
            </a:r>
          </a:p>
          <a:p>
            <a:r>
              <a:t>единицы процентов купивших. Отдельное устройство конкурирует не только с</a:t>
            </a:r>
          </a:p>
          <a:p>
            <a:r>
              <a:t>альтернативными технологиями, но и с привычкой не переключаться на новую</a:t>
            </a:r>
          </a:p>
          <a:p>
            <a:r>
              <a:t>точку входа.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Прежде чем перейти к следующему кейсу, два слова про RAG — эта</a:t>
            </a:r>
          </a:p>
          <a:p>
            <a:r>
              <a:t>аббревиатура вам сейчас понадобится, и дальше в занятии будет всплывать</a:t>
            </a:r>
          </a:p>
          <a:p>
            <a:r>
              <a:t>ещё не раз. Устроено это так: вопрос пользователя → система ищет</a:t>
            </a:r>
          </a:p>
          <a:p>
            <a:r>
              <a:t>релевантные фрагменты в базе знаний → найденные фрагменты подкладываются</a:t>
            </a:r>
          </a:p>
          <a:p>
            <a:r>
              <a:t>в контекст модели → модель генерирует ответ на основе вопроса и</a:t>
            </a:r>
          </a:p>
          <a:p>
            <a:r>
              <a:t>найденного. RAG нужен, когда база знаний большая, меняется во времени, и</a:t>
            </a:r>
          </a:p>
          <a:p>
            <a:r>
              <a:t>весь её объём физически не помещается в один запрос к модели — то есть</a:t>
            </a:r>
          </a:p>
          <a:p>
            <a:r>
              <a:t>модель физически не может «прочитать» всё сразу, ей нужно заранее найти</a:t>
            </a:r>
          </a:p>
          <a:p>
            <a:r>
              <a:t>только релевантный кусок. Как устроен поиск внутри — векторные</a:t>
            </a:r>
          </a:p>
          <a:p>
            <a:r>
              <a:t>представления, индексация — подробно разберём на Лекции 3, сегодня нам</a:t>
            </a:r>
          </a:p>
          <a:p>
            <a:r>
              <a:t>достаточно этой интуиции, чтобы узнавать архитектуру, когда она нужна, а</a:t>
            </a:r>
          </a:p>
          <a:p>
            <a:r>
              <a:t>не изобретать её заново каждый раз с нуля.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 второе — агент. Здесь модель работает не одним вызовом, а циклом:</a:t>
            </a:r>
          </a:p>
          <a:p>
            <a:r>
              <a:t>строит план, вызывает внешний инструмент — это может быть API, поиск,</a:t>
            </a:r>
          </a:p>
          <a:p>
            <a:r>
              <a:t>запуск кода, — проверяет результат этого вызова, решает, что делать</a:t>
            </a:r>
          </a:p>
          <a:p>
            <a:r>
              <a:t>дальше, и так несколько раз подряд, пока задача не будет выполнена или не</a:t>
            </a:r>
          </a:p>
          <a:p>
            <a:r>
              <a:t>потребуется вмешательство человека. Ключевое отличие от RAG — здесь</a:t>
            </a:r>
          </a:p>
          <a:p>
            <a:r>
              <a:t>модель не просто отвечает на вопрос по найденным фрагментам, она реально</a:t>
            </a:r>
          </a:p>
          <a:p>
            <a:r>
              <a:t>что-то делает во внешнем мире и проверяет, получилось ли. Детали того,</a:t>
            </a:r>
          </a:p>
          <a:p>
            <a:r>
              <a:t>как агент планирует внутри, — снова Лекция 3. Сегодня нам важно только</a:t>
            </a:r>
          </a:p>
          <a:p>
            <a:r>
              <a:t>одно: узнавать, когда задача требует именно такого цикла с инструментами,</a:t>
            </a:r>
          </a:p>
          <a:p>
            <a:r>
              <a:t>а не разового ответа модели. Держите эти две схемы в голове — RAG и</a:t>
            </a:r>
          </a:p>
          <a:p>
            <a:r>
              <a:t>агент, — они понадобятся буквально через минуту, в следующем кейсе.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Третий кейс, и в нём мы как раз используем то, что только что</a:t>
            </a:r>
          </a:p>
          <a:p>
            <a:r>
              <a:t>проговорили про RAG и агента — это будет самый длинный разбор занятия,</a:t>
            </a:r>
          </a:p>
          <a:p>
            <a:r>
              <a:t>потому что задача вокруг него будет меняться несколько раз подряд, а не</a:t>
            </a:r>
          </a:p>
          <a:p>
            <a:r>
              <a:t>один. Про протоколы встреч и про то, как одна и та же команда со</a:t>
            </a:r>
          </a:p>
          <a:p>
            <a:r>
              <a:t>временем начинает просить у своей системы всё больше и больше, шаг за</a:t>
            </a:r>
          </a:p>
          <a:p>
            <a:r>
              <a:t>шагом. Слушайте постановку внимательно — и держите в голове две схемы с</a:t>
            </a:r>
          </a:p>
          <a:p>
            <a:r>
              <a:t>предыдущего слайда, они пригодятся довольно быстро, буквально через</a:t>
            </a:r>
          </a:p>
          <a:p>
            <a:r>
              <a:t>пару минут. Мы пройдём этот кейс как лестницу: от самого простого</a:t>
            </a:r>
          </a:p>
          <a:p>
            <a:r>
              <a:t>варианта архитектуры к более сложному, и на каждой ступеньке будем</a:t>
            </a:r>
          </a:p>
          <a:p>
            <a:r>
              <a:t>спрашивать, что именно заставило нас подняться выше.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Постановка: «После каждой встречи кто-то полчаса пишет протокол руками.</a:t>
            </a:r>
          </a:p>
          <a:p>
            <a:r>
              <a:t>Транскрипты есть — сделаем автоматом?» То есть у нас на входе — полный</a:t>
            </a:r>
          </a:p>
          <a:p>
            <a:r>
              <a:t>транскрипт одной встречи целиком, разумного объёма, буквально запись</a:t>
            </a:r>
          </a:p>
          <a:p>
            <a:r>
              <a:t>одного созвона, а на выходе нужны структурированные решения, поручения и</a:t>
            </a:r>
          </a:p>
          <a:p>
            <a:r>
              <a:t>сроки, разложенные по пунктам. Ничего больше пока не просили — только эту</a:t>
            </a:r>
          </a:p>
          <a:p>
            <a:r>
              <a:t>одну функцию, никакого поиска по прошлым встречам, никаких интеграций с</a:t>
            </a:r>
          </a:p>
          <a:p>
            <a:r>
              <a:t>другими системами. Вопрос в зал: какая архитектура здесь нужна? Разовый</a:t>
            </a:r>
          </a:p>
          <a:p>
            <a:r>
              <a:t>вызов модели, RAG или агент? Аргументируйте, почему именно так — что</a:t>
            </a:r>
          </a:p>
          <a:p>
            <a:r>
              <a:t>конкретно в этой постановке подсказывает вам этот выбор, а не другой?</a:t>
            </a:r>
          </a:p>
          <a:p>
            <a:r>
              <a:t>Не просто называйте технологию — объясните ход рассуждения целиком, от</a:t>
            </a:r>
          </a:p>
          <a:p>
            <a:r>
              <a:t>формулировки задачи до вывода. Кто готов ответить первым?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Проходит месяц. И вот что говорят: «Руководству понравилось. Теперь</a:t>
            </a:r>
          </a:p>
          <a:p>
            <a:r>
              <a:t>спрашивают: а можно искать — что мы решали по проекту X за полгода?» За</a:t>
            </a:r>
          </a:p>
          <a:p>
            <a:r>
              <a:t>это время накопилось уже много протоколов с разных встреч, по разным</a:t>
            </a:r>
          </a:p>
          <a:p>
            <a:r>
              <a:t>проектам, и это не одна встреча, а десятки. Вопрос в зал: меняет ли это</a:t>
            </a:r>
          </a:p>
          <a:p>
            <a:r>
              <a:t>архитектуру? Что именно изменилось по сравнению с тем, что мы обсуждали</a:t>
            </a:r>
          </a:p>
          <a:p>
            <a:r>
              <a:t>минуту назад? Дайте себе секунду сопоставить новую просьбу с тем</a:t>
            </a:r>
          </a:p>
          <a:p>
            <a:r>
              <a:t>решением, которое вы предлагали для одной встречи. Кто хочет</a:t>
            </a:r>
          </a:p>
          <a:p>
            <a:r>
              <a:t>высказаться первым? И отдельно спрошу тех, кто минуту назад говорил про</a:t>
            </a:r>
          </a:p>
          <a:p>
            <a:r>
              <a:t>разовый вызов модели: кто из вас сейчас передумал — и почему именно эта</a:t>
            </a:r>
          </a:p>
          <a:p>
            <a:r>
              <a:t>реплика заставила вас пересмотреть ответ?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 был один транскрипт одной встречи, который целиком помещается в</a:t>
            </a:r>
          </a:p>
          <a:p>
            <a:r>
              <a:t>контекст модели, разовый вызов был правильным и достаточным ответом —</a:t>
            </a:r>
          </a:p>
          <a:p>
            <a:r>
              <a:t>ни RAG, ни агент были бы не нужны и только усложнили бы дело без всякой</a:t>
            </a:r>
          </a:p>
          <a:p>
            <a:r>
              <a:t>пользы. Но теперь база протоколов растёт со временем, постоянно</a:t>
            </a:r>
          </a:p>
          <a:p>
            <a:r>
              <a:t>пополняется новыми встречами, и весь этот объём уже физически не влезает</a:t>
            </a:r>
          </a:p>
          <a:p>
            <a:r>
              <a:t>в один запрос к модели. Значит, нужен поиск по этой растущей базе на</a:t>
            </a:r>
          </a:p>
          <a:p>
            <a:r>
              <a:t>произвольный запрос пользователя — и это ровно то, для чего нужен RAG:</a:t>
            </a:r>
          </a:p>
          <a:p>
            <a:r>
              <a:t>искать релевантные фрагменты протоколов по смыслу запроса, а не пытаться</a:t>
            </a:r>
          </a:p>
          <a:p>
            <a:r>
              <a:t>каждый раз скармливать модели весь архив целиком. Обратите внимание — мы</a:t>
            </a:r>
          </a:p>
          <a:p>
            <a:r>
              <a:t>не выбрали RAG заранее «на всякий случай», мы пришли к нему только когда</a:t>
            </a:r>
          </a:p>
          <a:p>
            <a:r>
              <a:t>появилось конкретное требование, которое простой вариант закрыть уже не</a:t>
            </a:r>
          </a:p>
          <a:p>
            <a:r>
              <a:t>мог.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 ещё одна реплика от той же команды, чуть позже: «Поручения из</a:t>
            </a:r>
          </a:p>
          <a:p>
            <a:r>
              <a:t>протоколов мы всё равно руками в таск-трекер переносим...» — то есть</a:t>
            </a:r>
          </a:p>
          <a:p>
            <a:r>
              <a:t>система уже находит решения и поручения в тексте протокола, показывает</a:t>
            </a:r>
          </a:p>
          <a:p>
            <a:r>
              <a:t>их человеку, но кто-то всё равно вручную открывает таск-трекер и заводит</a:t>
            </a:r>
          </a:p>
          <a:p>
            <a:r>
              <a:t>там задачи одну за другой, выставляя исполнителя и срок. Вопрос в зал:</a:t>
            </a:r>
          </a:p>
          <a:p>
            <a:r>
              <a:t>меняет ли это архитектуру ещё раз? Что здесь появилось нового по</a:t>
            </a:r>
          </a:p>
          <a:p>
            <a:r>
              <a:t>сравнению с поиском по базе, о котором мы только что говорили минуту</a:t>
            </a:r>
          </a:p>
          <a:p>
            <a:r>
              <a:t>назад? Кто передумал — и, что важнее самого факта смены мнения, почему</a:t>
            </a:r>
          </a:p>
          <a:p>
            <a:r>
              <a:t>именно эта деталь заставила вас пересмотреть архитектуру, а не просто</a:t>
            </a:r>
          </a:p>
          <a:p>
            <a:r>
              <a:t>добавить ещё один шаг к прежнему решению?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Появилось действие во внешней системе: нужно вызвать API таск-трекера,</a:t>
            </a:r>
          </a:p>
          <a:p>
            <a:r>
              <a:t>создать задачи, возможно проверить, что они создались корректно, с</a:t>
            </a:r>
          </a:p>
          <a:p>
            <a:r>
              <a:t>правильным исполнителем и сроком. Один вызов модели или даже поиск по</a:t>
            </a:r>
          </a:p>
          <a:p>
            <a:r>
              <a:t>базе такое не закрывают — нужен workflow или полноценный агент, который</a:t>
            </a:r>
          </a:p>
          <a:p>
            <a:r>
              <a:t>вызывает внешний инструмент и проверяет результат вызова. Смотрите, что</a:t>
            </a:r>
          </a:p>
          <a:p>
            <a:r>
              <a:t>произошло за три шага: сначала разовый вызов, потому что весь вход</a:t>
            </a:r>
          </a:p>
          <a:p>
            <a:r>
              <a:t>помещался в контекст. Потом RAG, потому что база выросла и понадобился</a:t>
            </a:r>
          </a:p>
          <a:p>
            <a:r>
              <a:t>поиск по произвольному запросу. Потом агент, потому что появилось</a:t>
            </a:r>
          </a:p>
          <a:p>
            <a:r>
              <a:t>действие во внешней системе. Архитектурный выбор двигали конкретные</a:t>
            </a:r>
          </a:p>
          <a:p>
            <a:r>
              <a:t>новые требования, а не мода на технологию. Начинайте с простейшего</a:t>
            </a:r>
          </a:p>
          <a:p>
            <a:r>
              <a:t>варианта, который решает текущую задачу, и усложняйте только тогда,</a:t>
            </a:r>
          </a:p>
          <a:p>
            <a:r>
              <a:t>когда появляется требование, которое простой вариант закрыть физически</a:t>
            </a:r>
          </a:p>
          <a:p>
            <a:r>
              <a:t>не может. Не наоборот.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Ещё один блиц, и здесь тоже есть частая ошибка, которую хочется услышать</a:t>
            </a:r>
          </a:p>
          <a:p>
            <a:r>
              <a:t>от кого-то из вас вслух, прежде чем мы её разберём и назовём своими</a:t>
            </a:r>
          </a:p>
          <a:p>
            <a:r>
              <a:t>словами. Постановка: нужен еженедельный дайджест по рабочим чатам и</a:t>
            </a:r>
          </a:p>
          <a:p>
            <a:r>
              <a:t>почте команды — что обсуждали, что решили за неделю, коротко, одним</a:t>
            </a:r>
          </a:p>
          <a:p>
            <a:r>
              <a:t>сообщением по пятницам, чтобы не перечитывать всю переписку заново.</a:t>
            </a:r>
          </a:p>
          <a:p>
            <a:r>
              <a:t>Вопрос в зал: какая архитектура здесь нужна — разовый вызов модели, RAG,</a:t>
            </a:r>
          </a:p>
          <a:p>
            <a:r>
              <a:t>агент, или что-то ещё? Аргументируйте, не просто называйте технологию —</a:t>
            </a:r>
          </a:p>
          <a:p>
            <a:r>
              <a:t>объясните, почему выбрали именно её, и что в постановке навело вас</a:t>
            </a:r>
          </a:p>
          <a:p>
            <a:r>
              <a:t>именно на эту мысль. Здесь тоже стоит сначала проговорить всю</a:t>
            </a:r>
          </a:p>
          <a:p>
            <a:r>
              <a:t>постановку своими словами, а уже потом называть архитектуру — так</a:t>
            </a:r>
          </a:p>
          <a:p>
            <a:r>
              <a:t>ошибка обычно всплывает сама. Кто готов? Аргументируйте свой выбор.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Здесь часто звучит «нужен RAG, потому что много источников» — и это не</a:t>
            </a:r>
          </a:p>
          <a:p>
            <a:r>
              <a:t>так, хотя интуиция понятна. Нужен агент или конвейер, потому что кто-то</a:t>
            </a:r>
          </a:p>
          <a:p>
            <a:r>
              <a:t>должен обойти несколько источников по расписанию — зайти в чат, зайти в</a:t>
            </a:r>
          </a:p>
          <a:p>
            <a:r>
              <a:t>почту, собрать сообщения, — а это многошаговая задача с обращением к</a:t>
            </a:r>
          </a:p>
          <a:p>
            <a:r>
              <a:t>внешним системам. А вот RAG здесь не нужен: источники обходятся напрямую</a:t>
            </a:r>
          </a:p>
          <a:p>
            <a:r>
              <a:t>по расписанию, а не по произвольному запросу пользователя к большой базе,</a:t>
            </a:r>
          </a:p>
          <a:p>
            <a:r>
              <a:t>и после сбора материала суммаризация делается одним вызовом модели, без</a:t>
            </a:r>
          </a:p>
          <a:p>
            <a:r>
              <a:t>поиска по архиву. RAG — это конкретно про поиск по большой, меняющейся</a:t>
            </a:r>
          </a:p>
          <a:p>
            <a:r>
              <a:t>базе на произвольный запрос пользователя, а не про «у нас много</a:t>
            </a:r>
          </a:p>
          <a:p>
            <a:r>
              <a:t>источников данных» само по себе. Перепутать эти два признака — частая</a:t>
            </a:r>
          </a:p>
          <a:p>
            <a:r>
              <a:t>практическая ошибка, которую стоит запомнить отдельно от самого кейса.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Компания Octomind разрабатывает ИИ-агентов для end-to-end тестирования.</a:t>
            </a:r>
          </a:p>
          <a:p>
            <a:r>
              <a:t>Больше года использовала фреймворк LangChain в продакшене, а потом в</a:t>
            </a:r>
          </a:p>
          <a:p>
            <a:r>
              <a:t>посте от 17 июня 2024 года объяснила, почему отказалась: негибкие</a:t>
            </a:r>
          </a:p>
          <a:p>
            <a:r>
              <a:t>абстракции фреймворка не подходили под их конкретный кейс, было сложно</a:t>
            </a:r>
          </a:p>
          <a:p>
            <a:r>
              <a:t>контролировать состояние агента, и в итоге команда тратила больше</a:t>
            </a:r>
          </a:p>
          <a:p>
            <a:r>
              <a:t>времени на дебаг самого фреймворка, чем на разработку продукта. Заменили</a:t>
            </a:r>
          </a:p>
          <a:p>
            <a:r>
              <a:t>модульными прямыми вызовами API без посредника. Урок — популярность и</a:t>
            </a:r>
          </a:p>
          <a:p>
            <a:r>
              <a:t>удобство фреймворка на старте не гарантирует, что он останется удобным</a:t>
            </a:r>
          </a:p>
          <a:p>
            <a:r>
              <a:t>при росте сложности продукта. А теперь позитивный пример — класс задач,</a:t>
            </a:r>
          </a:p>
          <a:p>
            <a:r>
              <a:t>где многошаговый агентный цикл действительно необходим, а не опционален:</a:t>
            </a:r>
          </a:p>
          <a:p>
            <a:r>
              <a:t>инструменты для глубокого исследования, которые ищут и синтезируют по</a:t>
            </a:r>
          </a:p>
          <a:p>
            <a:r>
              <a:t>многим источникам с уточнением запроса по ходу работы, и coding-агенты,</a:t>
            </a:r>
          </a:p>
          <a:p>
            <a:r>
              <a:t>которые правят код, запускают тесты и итерируют по результату. В обоих</a:t>
            </a:r>
          </a:p>
          <a:p>
            <a:r>
              <a:t>случаях одного вызова модели физически недостаточно — нужна проверка</a:t>
            </a:r>
          </a:p>
          <a:p>
            <a:r>
              <a:t>промежуточного результата и решение, что делать дальше.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Последний, четвёртый кейс сегодня. Про звонки отдела продаж — и здесь</a:t>
            </a:r>
          </a:p>
          <a:p>
            <a:r>
              <a:t>ответ у нас поменяется дважды по ходу разбора, так что не держитесь</a:t>
            </a:r>
          </a:p>
          <a:p>
            <a:r>
              <a:t>крепко за первое мнение, оно наверняка изменится не один раз, и это</a:t>
            </a:r>
          </a:p>
          <a:p>
            <a:r>
              <a:t>нормально. Тег внизу — «внешний API или локально» — про то, где</a:t>
            </a:r>
          </a:p>
          <a:p>
            <a:r>
              <a:t>физически считать данные, а не про то, какая модель лучше по качеству</a:t>
            </a:r>
          </a:p>
          <a:p>
            <a:r>
              <a:t>ответа. Слушайте постановку внимательно, и особенно обращайте внимание</a:t>
            </a:r>
          </a:p>
          <a:p>
            <a:r>
              <a:t>на то, что именно менеджер по продажам говорит клиенту и что клиент</a:t>
            </a:r>
          </a:p>
          <a:p>
            <a:r>
              <a:t>говорит в ответ — там будет важная деталь, которая всплывёт не сразу,</a:t>
            </a:r>
          </a:p>
          <a:p>
            <a:r>
              <a:t>а чуть позже в разборе. Как и раньше, начнём с постановки задачи одной</a:t>
            </a:r>
          </a:p>
          <a:p>
            <a:r>
              <a:t>фразой от заказчика.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Постановка от руководителя отдела продаж: хочет по каждому звонку</a:t>
            </a:r>
          </a:p>
          <a:p>
            <a:r>
              <a:t>менеджера карточку — какая потребность клиента выявлена, какие</a:t>
            </a:r>
          </a:p>
          <a:p>
            <a:r>
              <a:t>возражения прозвучали, какие договорённости достигнуты, чтобы не</a:t>
            </a:r>
          </a:p>
          <a:p>
            <a:r>
              <a:t>пересматривать запись целиком перед следующим звонком с тем же клиентом.</a:t>
            </a:r>
          </a:p>
          <a:p>
            <a:r>
              <a:t>На входе — запись разговора, обычный свободный диалог между менеджером и</a:t>
            </a:r>
          </a:p>
          <a:p>
            <a:r>
              <a:t>клиентом, без всякой структуры, с перебиваниями, паузами, отступлениями</a:t>
            </a:r>
          </a:p>
          <a:p>
            <a:r>
              <a:t>от темы. Вопрос в зал: какая архитектура здесь нужна, и где всё это</a:t>
            </a:r>
          </a:p>
          <a:p>
            <a:r>
              <a:t>физически считать — в облаке, у себя на серверах? Что предложите, и</a:t>
            </a:r>
          </a:p>
          <a:p>
            <a:r>
              <a:t>почему именно так? Подумайте вслух, а не сразу называйте готовый ответ —</a:t>
            </a:r>
          </a:p>
          <a:p>
            <a:r>
              <a:t>здесь важен ход рассуждения не меньше, чем сам вывод. Кто начнёт?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 теперь реплика юриста, который случайно услышал про эту идею на</a:t>
            </a:r>
          </a:p>
          <a:p>
            <a:r>
              <a:t>созвоне: «Стоп. В записях звонков клиенты диктуют телефоны, адреса,</a:t>
            </a:r>
          </a:p>
          <a:p>
            <a:r>
              <a:t>иногда паспортные данные. Вы это в какой сервис отправлять собрались?»</a:t>
            </a:r>
          </a:p>
          <a:p>
            <a:r>
              <a:t>Никто из инженеров не думал об этом заранее — все слушали только про</a:t>
            </a:r>
          </a:p>
          <a:p>
            <a:r>
              <a:t>потребности и возражения, потому что именно об этом просил руководитель</a:t>
            </a:r>
          </a:p>
          <a:p>
            <a:r>
              <a:t>отдела продаж, и никто не задумывался, что ещё звучит в этих разговорах.</a:t>
            </a:r>
          </a:p>
          <a:p>
            <a:r>
              <a:t>Вопрос в зал: кто передумал? Почему? Что в вашем изначальном ответе</a:t>
            </a:r>
          </a:p>
          <a:p>
            <a:r>
              <a:t>теперь нужно пересмотреть, и на что именно повлияла эта деталь, которую</a:t>
            </a:r>
          </a:p>
          <a:p>
            <a:r>
              <a:t>никто не спросил заранее? Давайте начнём с тех, кто минуту назад активно</a:t>
            </a:r>
          </a:p>
          <a:p>
            <a:r>
              <a:t>предлагал облачное решение.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Отправлять во внешний облачный API запись, где клиент диктует паспортные</a:t>
            </a:r>
          </a:p>
          <a:p>
            <a:r>
              <a:t>данные, может быть прямо запрещено или крайне рискованно. Смотрите на</a:t>
            </a:r>
          </a:p>
          <a:p>
            <a:r>
              <a:t>цифры: 420-й федеральный закон, принят 30 ноября 2024 года, вступил в</a:t>
            </a:r>
          </a:p>
          <a:p>
            <a:r>
              <a:t>силу 30 мая 2025 — вводит оборотные штрафы за повторную утечку</a:t>
            </a:r>
          </a:p>
          <a:p>
            <a:r>
              <a:t>персональных данных в размере от 1 до 3% годовой выручки компании, минимум</a:t>
            </a:r>
          </a:p>
          <a:p>
            <a:r>
              <a:t>20 миллионов рублей, максимум 500 миллионов, и обязанность уведомить</a:t>
            </a:r>
          </a:p>
          <a:p>
            <a:r>
              <a:t>Роскомнадзор о факте утечки в течение 24 часов. Это тот же организационный</a:t>
            </a:r>
          </a:p>
          <a:p>
            <a:r>
              <a:t>вопрос, что был у нас в кейсе про очистку логов, только здесь ставки для</a:t>
            </a:r>
          </a:p>
          <a:p>
            <a:r>
              <a:t>компании физически выше — это не абстрактный риск, а конкретная цифра в</a:t>
            </a:r>
          </a:p>
          <a:p>
            <a:r>
              <a:t>законе.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Две реплики подряд, от разных людей, но они друг друга усиливают. CTO</a:t>
            </a:r>
          </a:p>
          <a:p>
            <a:r>
              <a:t>говорит: «GPU-сервера у нас нет, и бюджета на него в этом году нет» —</a:t>
            </a:r>
          </a:p>
          <a:p>
            <a:r>
              <a:t>то есть про мощную локальную инфраструктуру для тяжёлой модели речи не</a:t>
            </a:r>
          </a:p>
          <a:p>
            <a:r>
              <a:t>идёт вообще. А руководитель отдела продаж, когда его переспросили, что</a:t>
            </a:r>
          </a:p>
          <a:p>
            <a:r>
              <a:t>именно ему нужно на выходе, отвечает довольно приземлённо: «Мне не</a:t>
            </a:r>
          </a:p>
          <a:p>
            <a:r>
              <a:t>беседа нужна — пять полей в CRM по каждому звонку». Не пересказ, не</a:t>
            </a:r>
          </a:p>
          <a:p>
            <a:r>
              <a:t>анализ тона голоса, просто пять конкретных полей. Вопрос в зал: меняет</a:t>
            </a:r>
          </a:p>
          <a:p>
            <a:r>
              <a:t>ли это архитектуру ещё раз? Что из сказанного раньше теперь стоит</a:t>
            </a:r>
          </a:p>
          <a:p>
            <a:r>
              <a:t>пересмотреть, и как две эти реплики вместе, а не по отдельности, меняют</a:t>
            </a:r>
          </a:p>
          <a:p>
            <a:r>
              <a:t>картину?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Задача на самом деле сузилась: нужна не свободная беседа, а</a:t>
            </a:r>
          </a:p>
          <a:p>
            <a:r>
              <a:t>структурированная выжимка по фиксированному шаблону из нескольких полей.</a:t>
            </a:r>
          </a:p>
          <a:p>
            <a:r>
              <a:t>И вот в чём дело — небольшая локальная модель порядка 7-8 миллиардов</a:t>
            </a:r>
          </a:p>
          <a:p>
            <a:r>
              <a:t>параметров, после настройки формулировки промпта под конкретный формат</a:t>
            </a:r>
          </a:p>
          <a:p>
            <a:r>
              <a:t>вывода, без дообучения весов, вполне справляется с извлечением полей по</a:t>
            </a:r>
          </a:p>
          <a:p>
            <a:r>
              <a:t>шаблону, и данные при этом не покидают периметр компании, GPU-ферма не</a:t>
            </a:r>
          </a:p>
          <a:p>
            <a:r>
              <a:t>нужна. Два урока проговорим явно. Первый — «сложно для человека» не</a:t>
            </a:r>
          </a:p>
          <a:p>
            <a:r>
              <a:t>значит «сложно для модели»: свободный разговор кажется сложным входом, но</a:t>
            </a:r>
          </a:p>
          <a:p>
            <a:r>
              <a:t>извлечение структурированных полей по шаблону — задача умеренной</a:t>
            </a:r>
          </a:p>
          <a:p>
            <a:r>
              <a:t>сложности, которую малая модель решает надёжно. Второй — чувствительность</a:t>
            </a:r>
          </a:p>
          <a:p>
            <a:r>
              <a:t>данных не видна в исходной постановке задачи, её нужно выяснять вопросами</a:t>
            </a:r>
          </a:p>
          <a:p>
            <a:r>
              <a:t>о содержимом входных данных, а не предполагать по формулировке.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Samsung разрешила сотрудникам использовать ChatGPT 11 марта 2023 года. К</a:t>
            </a:r>
          </a:p>
          <a:p>
            <a:r>
              <a:t>30 марта, то есть примерно за 19 дней, произошло три отдельных инцидента</a:t>
            </a:r>
          </a:p>
          <a:p>
            <a:r>
              <a:t>утечки: дважды — проприетарный код полупроводникового производства, один</a:t>
            </a:r>
          </a:p>
          <a:p>
            <a:r>
              <a:t>раз — транскрипт внутреннего совещания. Реакция — полный запрет</a:t>
            </a:r>
          </a:p>
          <a:p>
            <a:r>
              <a:t>генеративных ИИ-инструментов на корпоративных устройствах в мае 2023.</a:t>
            </a:r>
          </a:p>
          <a:p>
            <a:r>
              <a:t>Что можно было сделать вместо полного запрета? Политика допустимого</a:t>
            </a:r>
          </a:p>
          <a:p>
            <a:r>
              <a:t>использования до открытия доступа, фильтры на исходящий трафик, либо</a:t>
            </a:r>
          </a:p>
          <a:p>
            <a:r>
              <a:t>изначально локальная модель для чувствительных задач — ровно тот выбор,</a:t>
            </a:r>
          </a:p>
          <a:p>
            <a:r>
              <a:t>который мы только что тренировали. А вот позитивные примеры малых</a:t>
            </a:r>
          </a:p>
          <a:p>
            <a:r>
              <a:t>моделей, которые в проде прямо сейчас: JetBrains — локальная модель</a:t>
            </a:r>
          </a:p>
          <a:p>
            <a:r>
              <a:t>размером около 100 мегабайт на язык программирования, работает прямо на</a:t>
            </a:r>
          </a:p>
          <a:p>
            <a:r>
              <a:t>машине разработчика с задержкой предсказания 1-2 миллисекунды, в</a:t>
            </a:r>
          </a:p>
          <a:p>
            <a:r>
              <a:t>продакшене IDE с апреля 2024 года. Apple — модель на устройстве порядка 3</a:t>
            </a:r>
          </a:p>
          <a:p>
            <a:r>
              <a:t>миллиардов параметров, представлена на WWDC 2024. Для сравнения:</a:t>
            </a:r>
          </a:p>
          <a:p>
            <a:r>
              <a:t>frontier-модели уровня топового качества — это сотни миллиардов</a:t>
            </a:r>
          </a:p>
          <a:p>
            <a:r>
              <a:t>параметров, доступные только через облако.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 кого есть похожая задача с работы — там, где стоял вопрос, нужен ли ИИ,</a:t>
            </a:r>
          </a:p>
          <a:p>
            <a:r>
              <a:t>и какой? Не обязательно готовое решение, достаточно, чтобы вы могли</a:t>
            </a:r>
          </a:p>
          <a:p>
            <a:r>
              <a:t>сформулировать её в двух-трёх предложениях, ровно так, как её принёс бы</a:t>
            </a:r>
          </a:p>
          <a:p>
            <a:r>
              <a:t>вам заказчик, без причёсывания под учебный пример. Мы разберём её всей</a:t>
            </a:r>
          </a:p>
          <a:p>
            <a:r>
              <a:t>аудиторией так же, как сегодняшние кейсы: какой выбор здесь стоит острее</a:t>
            </a:r>
          </a:p>
          <a:p>
            <a:r>
              <a:t>всего, каких вводных не хватает, чтобы ответить обоснованно, и что</a:t>
            </a:r>
          </a:p>
          <a:p>
            <a:r>
              <a:t>происходит, если эти вводные вдруг появляются или меняются. Если вы уже</a:t>
            </a:r>
          </a:p>
          <a:p>
            <a:r>
              <a:t>знаете, как эта задача разрешилась на практике — расскажите нам это уже</a:t>
            </a:r>
          </a:p>
          <a:p>
            <a:r>
              <a:t>после того, как аудитория выскажет свои предположения, не раньше. Кто</a:t>
            </a:r>
          </a:p>
          <a:p>
            <a:r>
              <a:t>готов рассказать? Если никто не откликнется сразу — не страшно, у меня</a:t>
            </a:r>
          </a:p>
          <a:p>
            <a:r>
              <a:t>есть запасная история, но мне правда интереснее разобрать что-то из</a:t>
            </a:r>
          </a:p>
          <a:p>
            <a:r>
              <a:t>вашей собственной практики.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Соберём то, что уже прозвучало сегодня — ничего нового, просто компиляция.</a:t>
            </a:r>
          </a:p>
          <a:p>
            <a:r>
              <a:t>Документы поставщиков — два примера не выборка, нужно смотреть на полный</a:t>
            </a:r>
          </a:p>
          <a:p>
            <a:r>
              <a:t>объём данных. Персоналка в логах — граница между регулярным выражением и</a:t>
            </a:r>
          </a:p>
          <a:p>
            <a:r>
              <a:t>моделью проходит внутри одной задачи, не между задачами. Помощник</a:t>
            </a:r>
          </a:p>
          <a:p>
            <a:r>
              <a:t>поддержки — организационное ограничение вроде закрытого API может решить</a:t>
            </a:r>
          </a:p>
          <a:p>
            <a:r>
              <a:t>архитектуру не хуже технических требований. Описания товаров — кнопка в</a:t>
            </a:r>
          </a:p>
          <a:p>
            <a:r>
              <a:t>существующем интерфейсе почти всегда бьёт отдельный продукт. Протоколы</a:t>
            </a:r>
          </a:p>
          <a:p>
            <a:r>
              <a:t>встреч — архитектуру двигают конкретные новые требования, а не мода на</a:t>
            </a:r>
          </a:p>
          <a:p>
            <a:r>
              <a:t>технологию, начинайте с простого. Дайджест — много источников данных не</a:t>
            </a:r>
          </a:p>
          <a:p>
            <a:r>
              <a:t>значит, что нужен RAG. И звонки продаж — то, что кажется сложным</a:t>
            </a:r>
          </a:p>
          <a:p>
            <a:r>
              <a:t>человеку, не обязательно сложно для модели, а чувствительность данных</a:t>
            </a:r>
          </a:p>
          <a:p>
            <a:r>
              <a:t>выясняется только вопросами, не предположениями. Вот это и есть то, что</a:t>
            </a:r>
          </a:p>
          <a:p>
            <a:r>
              <a:t>стоит унести с сегодняшнего занятия.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Для тех, кому интересно копнуть глубже — три материала. Главный —</a:t>
            </a:r>
          </a:p>
          <a:p>
            <a:r>
              <a:t>история Klarna, 2023-2025 год: один AI-ассистент поддержки, который</a:t>
            </a:r>
          </a:p>
          <a:p>
            <a:r>
              <a:t>затрагивает почти все сегодняшние выборы, от впечатляющего запуска до</a:t>
            </a:r>
          </a:p>
          <a:p>
            <a:r>
              <a:t>публичного признания генерального директора «мы зашли слишком далеко» и</a:t>
            </a:r>
          </a:p>
          <a:p>
            <a:r>
              <a:t>возврата к найму людей. Второй — история нью-йоркского городского</a:t>
            </a:r>
          </a:p>
          <a:p>
            <a:r>
              <a:t>чат-бота MyCity, который в 2024 году давал малому бизнесу юридически</a:t>
            </a:r>
          </a:p>
          <a:p>
            <a:r>
              <a:t>некорректные советы. И бонус для настроения — история про то, как</a:t>
            </a:r>
          </a:p>
          <a:p>
            <a:r>
              <a:t>автосалон Chevrolet of Watsonville подключил чат-бот на базе стороннего</a:t>
            </a:r>
          </a:p>
          <a:p>
            <a:r>
              <a:t>API без ограждений, и тот «продал» внедорожник Tahoe за один доллар.</a:t>
            </a:r>
          </a:p>
          <a:p>
            <a:r>
              <a:t>Хороший пример того, что происходит, когда внешнюю модель встраивают в</a:t>
            </a:r>
          </a:p>
          <a:p>
            <a:r>
              <a:t>продакшен без защиты от манипуляций пользователя. Если сегодня останется</a:t>
            </a:r>
          </a:p>
          <a:p>
            <a:r>
              <a:t>время — часть этого разберём вживую.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Klarna запустила AI-ассистента поддержки на базе OpenAI в феврале 2024</a:t>
            </a:r>
          </a:p>
          <a:p>
            <a:r>
              <a:t>года, прямо в существующем канале поддержки. За первые 30 дней — 2,3</a:t>
            </a:r>
          </a:p>
          <a:p>
            <a:r>
              <a:t>миллиона чатов, автоматизация 67% обращений. Смотрите на все четыре</a:t>
            </a:r>
          </a:p>
          <a:p>
            <a:r>
              <a:t>развилки сразу. Типовые тикеты вроде статуса заказа или возврата —</a:t>
            </a:r>
          </a:p>
          <a:p>
            <a:r>
              <a:t>формализуемая, повторяющаяся задача, хороший кандидат на автоматизацию.</a:t>
            </a:r>
          </a:p>
          <a:p>
            <a:r>
              <a:t>Ассистент встроен в уже существующий канал поддержки — правильный выбор</a:t>
            </a:r>
          </a:p>
          <a:p>
            <a:r>
              <a:t>по логике сегодняшнего занятия. Архитектура — чат с эскалацией к</a:t>
            </a:r>
          </a:p>
          <a:p>
            <a:r>
              <a:t>человеку, не автономный агент без контроля. А вот инференс — внешний</a:t>
            </a:r>
          </a:p>
          <a:p>
            <a:r>
              <a:t>облачный API с клиентскими данными поддержки, решение сопоставимого</a:t>
            </a:r>
          </a:p>
          <a:p>
            <a:r>
              <a:t>риск-профиля с нашим кейсом про звонки продаж, только здесь его приняли</a:t>
            </a:r>
          </a:p>
          <a:p>
            <a:r>
              <a:t>и оставили в проде. И отдельно — компания заявила эффект «эквивалент 700</a:t>
            </a:r>
          </a:p>
          <a:p>
            <a:r>
              <a:t>агентов» и 40 миллионов долларов в 2024 году, а знаменатель — сколько</a:t>
            </a:r>
          </a:p>
          <a:p>
            <a:r>
              <a:t>агентов поддержки было у компании до запуска — публично не раскрывался.</a:t>
            </a:r>
          </a:p>
          <a:p>
            <a:r>
              <a:t>К третьему кварталу 2025 метрика обновилась до «853 агента» и 60</a:t>
            </a:r>
          </a:p>
          <a:p>
            <a:r>
              <a:t>миллионов долларов эффекта, знаменатель снова не раскрыт. В мае 2025 года</a:t>
            </a:r>
          </a:p>
          <a:p>
            <a:r>
              <a:t>генеральный директор Себастьян Семятковски сказал в интервью Bloomberg:</a:t>
            </a:r>
          </a:p>
          <a:p>
            <a:r>
              <a:t>«We went too far» — мы зашли слишком далеко — и компания вернулась к</a:t>
            </a:r>
          </a:p>
          <a:p>
            <a:r>
              <a:t>найму людей, перейдя на гибридную модель. На какой из четырёх развилок</a:t>
            </a:r>
          </a:p>
          <a:p>
            <a:r>
              <a:t>Klarna ошиблась сильнее всего, на ваш взгляд?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Ещё одна ситуация, раз у нас осталось время — про поток новостей из</a:t>
            </a:r>
          </a:p>
          <a:p>
            <a:r>
              <a:t>многих источников. Нужно склеивать сообщения об одном и том же событии в</a:t>
            </a:r>
          </a:p>
          <a:p>
            <a:r>
              <a:t>одну карточку, чтобы пользователь не видел десять почти одинаковых</a:t>
            </a:r>
          </a:p>
          <a:p>
            <a:r>
              <a:t>новостей подряд от разных изданий, которые пишут об одном и том же</a:t>
            </a:r>
          </a:p>
          <a:p>
            <a:r>
              <a:t>событии своими словами. Вопрос в зал: какая технология здесь нужна?</a:t>
            </a:r>
          </a:p>
          <a:p>
            <a:r>
              <a:t>Интуитивно многие сейчас скажут — нужно понимание смысла текста, значит</a:t>
            </a:r>
          </a:p>
          <a:p>
            <a:r>
              <a:t>модель, и придётся гонять каждую пару новостей через LLM, сравнивая их</a:t>
            </a:r>
          </a:p>
          <a:p>
            <a:r>
              <a:t>попарно. Согласны с этим, или у кого-то в зале уже есть сомнения на этот</a:t>
            </a:r>
          </a:p>
          <a:p>
            <a:r>
              <a:t>счёт? Подумайте, сколько таких пар новостей нужно будет сравнивать</a:t>
            </a:r>
          </a:p>
          <a:p>
            <a:r>
              <a:t>каждый день при большом потоке источников.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 самом деле сравнение текстов по перекрывающимся фрагментам —</a:t>
            </a:r>
          </a:p>
          <a:p>
            <a:r>
              <a:t>fuzzy-matching и shingling — без обращения к модели закрывает порядка 90%</a:t>
            </a:r>
          </a:p>
          <a:p>
            <a:r>
              <a:t>случаев дублирования, и делает это дешевле и предсказуемее, чем вызов</a:t>
            </a:r>
          </a:p>
          <a:p>
            <a:r>
              <a:t>модели на каждую пару новостей: результат детерминирован, легко</a:t>
            </a:r>
          </a:p>
          <a:p>
            <a:r>
              <a:t>отлаживается, не зависит от настроения модели. Модель нужна только на</a:t>
            </a:r>
          </a:p>
          <a:p>
            <a:r>
              <a:t>оставшуюся часть — случаи, где два сообщения об одном событии написаны</a:t>
            </a:r>
          </a:p>
          <a:p>
            <a:r>
              <a:t>совершенно разными словами и почти не имеют общих фрагментов текста, то</a:t>
            </a:r>
          </a:p>
          <a:p>
            <a:r>
              <a:t>есть это скорее перефраз, чем совпадение. Урок тот же, что был у нас в</a:t>
            </a:r>
          </a:p>
          <a:p>
            <a:r>
              <a:t>самом начале занятия с персональными данными в логах: сначала дешёвый</a:t>
            </a:r>
          </a:p>
          <a:p>
            <a:r>
              <a:t>детерминированный фильтр закрывает основную массу случаев, а модель —</a:t>
            </a:r>
          </a:p>
          <a:p>
            <a:r>
              <a:t>только на остаток, который фильтр физически не берёт.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Сегодня мы прошли через семь ситуаций, и в каждой вы принимали решение —</a:t>
            </a:r>
          </a:p>
          <a:p>
            <a:r>
              <a:t>что вообще строить, какую архитектуру выбрать, где считать данные. Ни</a:t>
            </a:r>
          </a:p>
          <a:p>
            <a:r>
              <a:t>разу правильный ответ не был очевиден с первой формулировки — он всегда</a:t>
            </a:r>
          </a:p>
          <a:p>
            <a:r>
              <a:t>зависел от вопроса, который вы либо задавали, либо нет. Именно это умение</a:t>
            </a:r>
          </a:p>
          <a:p>
            <a:r>
              <a:t>и было целью занятия, а не запоминание конкретных кейсов. Дальше по</a:t>
            </a:r>
          </a:p>
          <a:p>
            <a:r>
              <a:t>курсу мы пойдём вглубь: на следующей лекции — как устроена модель</a:t>
            </a:r>
          </a:p>
          <a:p>
            <a:r>
              <a:t>внутри, что происходит на уровне архитектуры, когда вы отправляете ей</a:t>
            </a:r>
          </a:p>
          <a:p>
            <a:r>
              <a:t>запрос. Сегодняшние кейсы, надеюсь, дали вам интуицию, зачем это знание</a:t>
            </a:r>
          </a:p>
          <a:p>
            <a:r>
              <a:t>вообще нужно инженеру, а не только исследователю. Спасибо за живое</a:t>
            </a:r>
          </a:p>
          <a:p>
            <a:r>
              <a:t>обсуждение сегодня, до встречи на лекции.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jp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20.jp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26.png"/><Relationship Id="rId4" Type="http://schemas.openxmlformats.org/officeDocument/2006/relationships/image" Target="../media/image27.png"/><Relationship Id="rId5" Type="http://schemas.openxmlformats.org/officeDocument/2006/relationships/image" Target="../media/image28.png"/><Relationship Id="rId6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9.png"/><Relationship Id="rId5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image" Target="../media/image28.png"/><Relationship Id="rId6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image" Target="../media/image33.png"/><Relationship Id="rId4" Type="http://schemas.openxmlformats.org/officeDocument/2006/relationships/image" Target="../media/image34.png"/><Relationship Id="rId5" Type="http://schemas.openxmlformats.org/officeDocument/2006/relationships/image" Target="../media/image25.png"/><Relationship Id="rId6" Type="http://schemas.openxmlformats.org/officeDocument/2006/relationships/image" Target="../media/image35.png"/><Relationship Id="rId7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36.jpg"/><Relationship Id="rId4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37.png"/><Relationship Id="rId4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30.png"/><Relationship Id="rId4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38.png"/><Relationship Id="rId4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27.png"/><Relationship Id="rId4" Type="http://schemas.openxmlformats.org/officeDocument/2006/relationships/image" Target="../media/image39.png"/><Relationship Id="rId5" Type="http://schemas.openxmlformats.org/officeDocument/2006/relationships/image" Target="../media/image40.png"/><Relationship Id="rId6" Type="http://schemas.openxmlformats.org/officeDocument/2006/relationships/image" Target="../media/image41.png"/><Relationship Id="rId7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42.png"/><Relationship Id="rId4" Type="http://schemas.openxmlformats.org/officeDocument/2006/relationships/image" Target="../media/image43.png"/><Relationship Id="rId5" Type="http://schemas.openxmlformats.org/officeDocument/2006/relationships/image" Target="../media/image27.png"/><Relationship Id="rId6" Type="http://schemas.openxmlformats.org/officeDocument/2006/relationships/image" Target="../media/image12.png"/><Relationship Id="rId7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18.png"/><Relationship Id="rId4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21.png"/><Relationship Id="rId4" Type="http://schemas.openxmlformats.org/officeDocument/2006/relationships/image" Target="../media/image44.jpg"/><Relationship Id="rId5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45.png"/><Relationship Id="rId4" Type="http://schemas.openxmlformats.org/officeDocument/2006/relationships/image" Target="../media/image46.png"/><Relationship Id="rId5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21.png"/><Relationship Id="rId4" Type="http://schemas.openxmlformats.org/officeDocument/2006/relationships/image" Target="../media/image48.png"/><Relationship Id="rId5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Relationship Id="rId3" Type="http://schemas.openxmlformats.org/officeDocument/2006/relationships/image" Target="../media/image51.png"/><Relationship Id="rId4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Relationship Id="rId3" Type="http://schemas.openxmlformats.org/officeDocument/2006/relationships/image" Target="../media/image53.png"/><Relationship Id="rId4" Type="http://schemas.openxmlformats.org/officeDocument/2006/relationships/image" Target="../media/image54.png"/><Relationship Id="rId5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42.png"/><Relationship Id="rId4" Type="http://schemas.openxmlformats.org/officeDocument/2006/relationships/image" Target="../media/image55.png"/><Relationship Id="rId5" Type="http://schemas.openxmlformats.org/officeDocument/2006/relationships/image" Target="../media/image27.png"/><Relationship Id="rId6" Type="http://schemas.openxmlformats.org/officeDocument/2006/relationships/image" Target="../media/image31.png"/><Relationship Id="rId7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png"/><Relationship Id="rId3" Type="http://schemas.openxmlformats.org/officeDocument/2006/relationships/image" Target="../media/image57.png"/><Relationship Id="rId4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jpg"/><Relationship Id="rId3" Type="http://schemas.openxmlformats.org/officeDocument/2006/relationships/notesSlide" Target="../notesSlides/notesSlide4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01-nasa-engineers-real.jpg"/>
          <p:cNvPicPr>
            <a:picLocks noChangeAspect="1"/>
          </p:cNvPicPr>
          <p:nvPr/>
        </p:nvPicPr>
        <p:blipFill>
          <a:blip r:embed="rId2"/>
          <a:srcRect t="7821" b="782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4206240"/>
            <a:ext cx="12191695" cy="2651760"/>
          </a:xfrm>
          <a:prstGeom prst="rect">
            <a:avLst/>
          </a:prstGeom>
          <a:solidFill>
            <a:srgbClr val="21295C">
              <a:alpha val="80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434840"/>
            <a:ext cx="69494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F0AB00"/>
                </a:solidFill>
                <a:latin typeface="Arial"/>
              </a:rPr>
              <a:t>СЕМИНАР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846320"/>
            <a:ext cx="1106424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Когда ИИ, каким и на чём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06440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500" b="0" i="1">
                <a:solidFill>
                  <a:srgbClr val="C8D2DF"/>
                </a:solidFill>
                <a:latin typeface="Arial"/>
              </a:rPr>
              <a:t>Семь реальных рабочих ситуаций — и в каждой решение, которое инженер принимает раньше, чем открывает редактор кода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C8D2DF"/>
                </a:solidFill>
                <a:latin typeface="Arial"/>
              </a:rPr>
              <a:t>NASA / Cory Huston · Wikimedia Commons · общественное достояние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8311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21295C"/>
                </a:solidFill>
                <a:latin typeface="Arial"/>
              </a:rPr>
              <a:t>Сегодня — семь кейсов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8311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1">
                <a:solidFill>
                  <a:srgbClr val="065A82"/>
                </a:solidFill>
                <a:latin typeface="Arial"/>
              </a:rPr>
              <a:t>В каждом — решение, которое инженер принимает раньше, чем открывает редактор кода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874519"/>
            <a:ext cx="5431536" cy="54864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file-text-065A82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" y="1984248"/>
            <a:ext cx="329184" cy="3291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97280" y="1874519"/>
            <a:ext cx="4700016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Документы поставщиков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14600"/>
            <a:ext cx="5431536" cy="54864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8" name="Picture 7" descr="shield-alert-065A82-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" y="2624328"/>
            <a:ext cx="329184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97280" y="2514600"/>
            <a:ext cx="4700016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Персоналка в логах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154679"/>
            <a:ext cx="5431536" cy="54864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1" name="Picture 10" descr="monitor-065A82-6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224" y="3264408"/>
            <a:ext cx="329184" cy="3291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97280" y="3154679"/>
            <a:ext cx="4700016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Помощник поддержки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794759"/>
            <a:ext cx="5431536" cy="54864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4" name="Picture 13" descr="store-065A82-6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224" y="3904487"/>
            <a:ext cx="329184" cy="32918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097280" y="3794759"/>
            <a:ext cx="4700016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Описания товаров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54496" y="1874519"/>
            <a:ext cx="5431536" cy="54864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7" name="Picture 16" descr="list-checks-065A82-6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0" y="1984248"/>
            <a:ext cx="329184" cy="32918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848856" y="1874519"/>
            <a:ext cx="4700016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Протоколы встреч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54496" y="2514600"/>
            <a:ext cx="5431536" cy="54864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0" name="Picture 19" descr="mail-065A82-6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0800" y="2624328"/>
            <a:ext cx="329184" cy="32918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848856" y="2514600"/>
            <a:ext cx="4700016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Дайджест по чатам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54496" y="3154679"/>
            <a:ext cx="5431536" cy="54864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3" name="Picture 22" descr="phone-065A82-64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00800" y="3264408"/>
            <a:ext cx="329184" cy="32918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848856" y="3154679"/>
            <a:ext cx="4700016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Звонки продаж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4572000"/>
            <a:ext cx="11183112" cy="77724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778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4572000"/>
            <a:ext cx="1060704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 i="0">
                <a:solidFill>
                  <a:srgbClr val="21295C"/>
                </a:solidFill>
                <a:latin typeface="Arial"/>
              </a:rPr>
              <a:t>В каждом кейсе появится деталь, которой не было в первой постановке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-91440" y="-594360"/>
            <a:ext cx="5486400" cy="329184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90000"/>
              </a:lnSpc>
            </a:pPr>
            <a:r>
              <a:rPr sz="28000" b="1" i="0">
                <a:solidFill>
                  <a:srgbClr val="E5EAF0"/>
                </a:solidFill>
                <a:latin typeface="Arial"/>
              </a:rPr>
              <a:t>1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965960" y="1600200"/>
            <a:ext cx="201168" cy="201168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926080"/>
            <a:ext cx="106070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 i="0">
                <a:solidFill>
                  <a:srgbClr val="21295C"/>
                </a:solidFill>
                <a:latin typeface="Arial"/>
              </a:rPr>
              <a:t>Документы поставщиков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4434840"/>
            <a:ext cx="4754880" cy="50292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txBody>
          <a:bodyPr rtlCol="0" anchor="ctr" lIns="45720" rIns="45720" tIns="27432" bIns="27432" wrap="none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ИИ или обычный код?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8311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Документы поставщиков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05840"/>
            <a:ext cx="11183112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quote-1C7293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179576"/>
            <a:ext cx="292608" cy="2926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2376" y="1517904"/>
            <a:ext cx="10744200" cy="3200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550" b="0" i="1">
                <a:solidFill>
                  <a:srgbClr val="21295C"/>
                </a:solidFill>
                <a:latin typeface="Arial"/>
              </a:rPr>
              <a:t>«Бухгалтерия тонет. Вот два примера — можно это автоматом разбирать?»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94560"/>
            <a:ext cx="3794760" cy="3520440"/>
          </a:xfrm>
          <a:prstGeom prst="roundRect">
            <a:avLst>
              <a:gd name="adj" fmla="val 865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7" name="Picture 6" descr="s04-documents-pile-real.jpg"/>
          <p:cNvPicPr>
            <a:picLocks noChangeAspect="1"/>
          </p:cNvPicPr>
          <p:nvPr/>
        </p:nvPicPr>
        <p:blipFill>
          <a:blip r:embed="rId3"/>
          <a:srcRect l="5433" r="5433"/>
          <a:stretch>
            <a:fillRect/>
          </a:stretch>
        </p:blipFill>
        <p:spPr>
          <a:xfrm>
            <a:off x="612648" y="2304288"/>
            <a:ext cx="3575304" cy="300837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12648" y="5422392"/>
            <a:ext cx="357530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1">
                <a:solidFill>
                  <a:srgbClr val="6B7685"/>
                </a:solidFill>
                <a:latin typeface="Arial"/>
              </a:rPr>
              <a:t>Pizarros · Wikimedia Commons · CC BY-SA 3.0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0" y="2194560"/>
            <a:ext cx="7114032" cy="1691640"/>
          </a:xfrm>
          <a:prstGeom prst="roundRect">
            <a:avLst>
              <a:gd name="adj" fmla="val 1801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0" y="2322576"/>
            <a:ext cx="674827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Документ поставщика 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0" y="2697480"/>
            <a:ext cx="1650492" cy="347472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0" y="2697480"/>
            <a:ext cx="165049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FFFFFF"/>
                </a:solidFill>
                <a:latin typeface="Arial"/>
              </a:rPr>
              <a:t>Дата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41948" y="2697480"/>
            <a:ext cx="1650492" cy="347472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1948" y="2697480"/>
            <a:ext cx="165049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FFFFFF"/>
                </a:solidFill>
                <a:latin typeface="Arial"/>
              </a:rPr>
              <a:t>№ накладной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29016" y="2697480"/>
            <a:ext cx="1650492" cy="347472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29016" y="2697480"/>
            <a:ext cx="165049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FFFFFF"/>
                </a:solidFill>
                <a:latin typeface="Arial"/>
              </a:rPr>
              <a:t>Позиция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816084" y="2697480"/>
            <a:ext cx="1650492" cy="347472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16084" y="2697480"/>
            <a:ext cx="165049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FFFFFF"/>
                </a:solidFill>
                <a:latin typeface="Arial"/>
              </a:rPr>
              <a:t>Сумма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54880" y="3072384"/>
            <a:ext cx="1650492" cy="347472"/>
          </a:xfrm>
          <a:prstGeom prst="rect">
            <a:avLst/>
          </a:prstGeom>
          <a:solidFill>
            <a:srgbClr val="F4F7FA"/>
          </a:solidFill>
          <a:ln w="10160">
            <a:solidFill>
              <a:srgbClr val="E5EAF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54880" y="3072384"/>
            <a:ext cx="165049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6B7685"/>
                </a:solidFill>
                <a:latin typeface="Arial"/>
              </a:rPr>
              <a:t>24.03.2026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41948" y="3072384"/>
            <a:ext cx="1650492" cy="347472"/>
          </a:xfrm>
          <a:prstGeom prst="rect">
            <a:avLst/>
          </a:prstGeom>
          <a:solidFill>
            <a:srgbClr val="F4F7FA"/>
          </a:solidFill>
          <a:ln w="10160">
            <a:solidFill>
              <a:srgbClr val="E5EAF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1948" y="3072384"/>
            <a:ext cx="165049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6B7685"/>
                </a:solidFill>
                <a:latin typeface="Arial"/>
              </a:rPr>
              <a:t>—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29016" y="3072384"/>
            <a:ext cx="1650492" cy="347472"/>
          </a:xfrm>
          <a:prstGeom prst="rect">
            <a:avLst/>
          </a:prstGeom>
          <a:solidFill>
            <a:srgbClr val="F4F7FA"/>
          </a:solidFill>
          <a:ln w="10160">
            <a:solidFill>
              <a:srgbClr val="E5EAF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29016" y="3072384"/>
            <a:ext cx="165049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6B7685"/>
                </a:solidFill>
                <a:latin typeface="Arial"/>
              </a:rPr>
              <a:t>—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816084" y="3072384"/>
            <a:ext cx="1650492" cy="347472"/>
          </a:xfrm>
          <a:prstGeom prst="rect">
            <a:avLst/>
          </a:prstGeom>
          <a:solidFill>
            <a:srgbClr val="F4F7FA"/>
          </a:solidFill>
          <a:ln w="10160">
            <a:solidFill>
              <a:srgbClr val="E5EAF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16084" y="3072384"/>
            <a:ext cx="165049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6B7685"/>
                </a:solidFill>
                <a:latin typeface="Arial"/>
              </a:rPr>
              <a:t>—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0" y="4114800"/>
            <a:ext cx="7114032" cy="1691640"/>
          </a:xfrm>
          <a:prstGeom prst="roundRect">
            <a:avLst>
              <a:gd name="adj" fmla="val 1801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54880" y="4242816"/>
            <a:ext cx="674827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Документ поставщика Б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754880" y="4617720"/>
            <a:ext cx="1650492" cy="347472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54880" y="4617720"/>
            <a:ext cx="165049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FFFFFF"/>
                </a:solidFill>
                <a:latin typeface="Arial"/>
              </a:rPr>
              <a:t>Дата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41948" y="4617720"/>
            <a:ext cx="1650492" cy="347472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41948" y="4617720"/>
            <a:ext cx="165049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FFFFFF"/>
                </a:solidFill>
                <a:latin typeface="Arial"/>
              </a:rPr>
              <a:t>№ накладной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129016" y="4617720"/>
            <a:ext cx="1650492" cy="347472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129016" y="4617720"/>
            <a:ext cx="165049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FFFFFF"/>
                </a:solidFill>
                <a:latin typeface="Arial"/>
              </a:rPr>
              <a:t>Позиция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816084" y="4617720"/>
            <a:ext cx="1650492" cy="347472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816084" y="4617720"/>
            <a:ext cx="165049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FFFFFF"/>
                </a:solidFill>
                <a:latin typeface="Arial"/>
              </a:rPr>
              <a:t>Сумма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754880" y="4992624"/>
            <a:ext cx="1650492" cy="347472"/>
          </a:xfrm>
          <a:prstGeom prst="rect">
            <a:avLst/>
          </a:prstGeom>
          <a:solidFill>
            <a:srgbClr val="F4F7FA"/>
          </a:solidFill>
          <a:ln w="10160">
            <a:solidFill>
              <a:srgbClr val="E5EAF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754880" y="4992624"/>
            <a:ext cx="165049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6B7685"/>
                </a:solidFill>
                <a:latin typeface="Arial"/>
              </a:rPr>
              <a:t>24.03.2026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41948" y="4992624"/>
            <a:ext cx="1650492" cy="347472"/>
          </a:xfrm>
          <a:prstGeom prst="rect">
            <a:avLst/>
          </a:prstGeom>
          <a:solidFill>
            <a:srgbClr val="F4F7FA"/>
          </a:solidFill>
          <a:ln w="10160">
            <a:solidFill>
              <a:srgbClr val="E5EAF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41948" y="4992624"/>
            <a:ext cx="165049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6B7685"/>
                </a:solidFill>
                <a:latin typeface="Arial"/>
              </a:rPr>
              <a:t>—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129016" y="4992624"/>
            <a:ext cx="1650492" cy="347472"/>
          </a:xfrm>
          <a:prstGeom prst="rect">
            <a:avLst/>
          </a:prstGeom>
          <a:solidFill>
            <a:srgbClr val="F4F7FA"/>
          </a:solidFill>
          <a:ln w="10160">
            <a:solidFill>
              <a:srgbClr val="E5EAF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129016" y="4992624"/>
            <a:ext cx="165049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6B7685"/>
                </a:solidFill>
                <a:latin typeface="Arial"/>
              </a:rPr>
              <a:t>—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816084" y="4992624"/>
            <a:ext cx="1650492" cy="347472"/>
          </a:xfrm>
          <a:prstGeom prst="rect">
            <a:avLst/>
          </a:prstGeom>
          <a:solidFill>
            <a:srgbClr val="F4F7FA"/>
          </a:solidFill>
          <a:ln w="10160">
            <a:solidFill>
              <a:srgbClr val="E5EAF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816084" y="4992624"/>
            <a:ext cx="165049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6B7685"/>
                </a:solidFill>
                <a:latin typeface="Arial"/>
              </a:rPr>
              <a:t>—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02920" y="5897880"/>
            <a:ext cx="11183112" cy="73152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778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77240" y="5897880"/>
            <a:ext cx="1060704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Что предложите?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8311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Документы поставщиков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51560"/>
            <a:ext cx="11183112" cy="9144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quote-1C7293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225295"/>
            <a:ext cx="292608" cy="2926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2376" y="1563624"/>
            <a:ext cx="10744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500" b="0" i="1">
                <a:solidFill>
                  <a:srgbClr val="21295C"/>
                </a:solidFill>
                <a:latin typeface="Arial"/>
              </a:rPr>
              <a:t>«Попросили архив — прислали за три года, сорок поставщиков»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94560"/>
            <a:ext cx="2644902" cy="1965960"/>
          </a:xfrm>
          <a:prstGeom prst="roundRect">
            <a:avLst>
              <a:gd name="adj" fmla="val 15503"/>
            </a:avLst>
          </a:prstGeom>
          <a:solidFill>
            <a:srgbClr val="F4F7FA"/>
          </a:solidFill>
          <a:ln w="1905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936" y="2304288"/>
            <a:ext cx="238887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065A82"/>
                </a:solidFill>
                <a:latin typeface="Arial"/>
              </a:rPr>
              <a:t>Поставщик A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936" y="2670048"/>
            <a:ext cx="768857" cy="32918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936" y="2670048"/>
            <a:ext cx="768857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00" b="1" i="0">
                <a:solidFill>
                  <a:srgbClr val="FFFFFF"/>
                </a:solidFill>
                <a:latin typeface="Arial"/>
              </a:rPr>
              <a:t>Дата</a:t>
            </a:r>
          </a:p>
        </p:txBody>
      </p:sp>
      <p:sp>
        <p:nvSpPr>
          <p:cNvPr id="10" name="Rectangle 9"/>
          <p:cNvSpPr/>
          <p:nvPr/>
        </p:nvSpPr>
        <p:spPr>
          <a:xfrm>
            <a:off x="1427226" y="2670048"/>
            <a:ext cx="768857" cy="32918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7226" y="2670048"/>
            <a:ext cx="768857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00" b="1" i="0">
                <a:solidFill>
                  <a:srgbClr val="FFFFFF"/>
                </a:solidFill>
                <a:latin typeface="Arial"/>
              </a:rPr>
              <a:t>№ накл.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23516" y="2670048"/>
            <a:ext cx="768857" cy="32918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23516" y="2670048"/>
            <a:ext cx="768857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00" b="1" i="0">
                <a:solidFill>
                  <a:srgbClr val="FFFFFF"/>
                </a:solidFill>
                <a:latin typeface="Arial"/>
              </a:rPr>
              <a:t>Сумма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" y="3026663"/>
            <a:ext cx="768857" cy="329184"/>
          </a:xfrm>
          <a:prstGeom prst="rect">
            <a:avLst/>
          </a:prstGeom>
          <a:solidFill>
            <a:srgbClr val="F4F7FA"/>
          </a:solidFill>
          <a:ln w="8890">
            <a:solidFill>
              <a:srgbClr val="E5EAF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427226" y="3026663"/>
            <a:ext cx="768857" cy="329184"/>
          </a:xfrm>
          <a:prstGeom prst="rect">
            <a:avLst/>
          </a:prstGeom>
          <a:solidFill>
            <a:srgbClr val="F4F7FA"/>
          </a:solidFill>
          <a:ln w="8890">
            <a:solidFill>
              <a:srgbClr val="E5EAF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223516" y="3026663"/>
            <a:ext cx="768857" cy="329184"/>
          </a:xfrm>
          <a:prstGeom prst="rect">
            <a:avLst/>
          </a:prstGeom>
          <a:solidFill>
            <a:srgbClr val="F4F7FA"/>
          </a:solidFill>
          <a:ln w="8890">
            <a:solidFill>
              <a:srgbClr val="E5EAF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348990" y="2194560"/>
            <a:ext cx="2644902" cy="1965960"/>
          </a:xfrm>
          <a:prstGeom prst="roundRect">
            <a:avLst>
              <a:gd name="adj" fmla="val 15503"/>
            </a:avLst>
          </a:prstGeom>
          <a:solidFill>
            <a:srgbClr val="F4F7FA"/>
          </a:solidFill>
          <a:ln w="1905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77006" y="2304288"/>
            <a:ext cx="238887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065A82"/>
                </a:solidFill>
                <a:latin typeface="Arial"/>
              </a:rPr>
              <a:t>Поставщик Б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77006" y="2670048"/>
            <a:ext cx="768857" cy="32918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77006" y="2670048"/>
            <a:ext cx="768857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00" b="1" i="0">
                <a:solidFill>
                  <a:srgbClr val="FFFFFF"/>
                </a:solidFill>
                <a:latin typeface="Arial"/>
              </a:rPr>
              <a:t>Date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73296" y="2670048"/>
            <a:ext cx="768857" cy="32918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73296" y="2670048"/>
            <a:ext cx="768857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00" b="1" i="0">
                <a:solidFill>
                  <a:srgbClr val="FFFFFF"/>
                </a:solidFill>
                <a:latin typeface="Arial"/>
              </a:rPr>
              <a:t>Invoice#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69586" y="2670048"/>
            <a:ext cx="768857" cy="32918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69586" y="2670048"/>
            <a:ext cx="768857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00" b="1" i="0">
                <a:solidFill>
                  <a:srgbClr val="FFFFFF"/>
                </a:solidFill>
                <a:latin typeface="Arial"/>
              </a:rPr>
              <a:t>Total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77006" y="3026663"/>
            <a:ext cx="768857" cy="329184"/>
          </a:xfrm>
          <a:prstGeom prst="rect">
            <a:avLst/>
          </a:prstGeom>
          <a:solidFill>
            <a:srgbClr val="F4F7FA"/>
          </a:solidFill>
          <a:ln w="8890">
            <a:solidFill>
              <a:srgbClr val="E5EAF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73296" y="3026663"/>
            <a:ext cx="768857" cy="329184"/>
          </a:xfrm>
          <a:prstGeom prst="rect">
            <a:avLst/>
          </a:prstGeom>
          <a:solidFill>
            <a:srgbClr val="F4F7FA"/>
          </a:solidFill>
          <a:ln w="8890">
            <a:solidFill>
              <a:srgbClr val="E5EAF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069586" y="3026663"/>
            <a:ext cx="768857" cy="329184"/>
          </a:xfrm>
          <a:prstGeom prst="rect">
            <a:avLst/>
          </a:prstGeom>
          <a:solidFill>
            <a:srgbClr val="F4F7FA"/>
          </a:solidFill>
          <a:ln w="8890">
            <a:solidFill>
              <a:srgbClr val="E5EAF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195060" y="2194560"/>
            <a:ext cx="2644902" cy="1965960"/>
          </a:xfrm>
          <a:prstGeom prst="roundRect">
            <a:avLst>
              <a:gd name="adj" fmla="val 15503"/>
            </a:avLst>
          </a:prstGeom>
          <a:solidFill>
            <a:srgbClr val="F4F7FA"/>
          </a:solidFill>
          <a:ln w="1905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23076" y="2304288"/>
            <a:ext cx="238887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065A82"/>
                </a:solidFill>
                <a:latin typeface="Arial"/>
              </a:rPr>
              <a:t>Поставщик В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323076" y="2670048"/>
            <a:ext cx="768857" cy="32918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3076" y="2670048"/>
            <a:ext cx="768857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00" b="1" i="0">
                <a:solidFill>
                  <a:srgbClr val="FFFFFF"/>
                </a:solidFill>
                <a:latin typeface="Arial"/>
              </a:rPr>
              <a:t>Период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19366" y="2670048"/>
            <a:ext cx="768857" cy="32918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119366" y="2670048"/>
            <a:ext cx="768857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00" b="1" i="0">
                <a:solidFill>
                  <a:srgbClr val="FFFFFF"/>
                </a:solidFill>
                <a:latin typeface="Arial"/>
              </a:rPr>
              <a:t>Заказ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915656" y="2670048"/>
            <a:ext cx="768857" cy="32918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915656" y="2670048"/>
            <a:ext cx="768857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00" b="1" i="0">
                <a:solidFill>
                  <a:srgbClr val="FFFFFF"/>
                </a:solidFill>
                <a:latin typeface="Arial"/>
              </a:rPr>
              <a:t>Итого, ₽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323076" y="3026663"/>
            <a:ext cx="768857" cy="329184"/>
          </a:xfrm>
          <a:prstGeom prst="rect">
            <a:avLst/>
          </a:prstGeom>
          <a:solidFill>
            <a:srgbClr val="F4F7FA"/>
          </a:solidFill>
          <a:ln w="8890">
            <a:solidFill>
              <a:srgbClr val="E5EAF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119366" y="3026663"/>
            <a:ext cx="768857" cy="329184"/>
          </a:xfrm>
          <a:prstGeom prst="rect">
            <a:avLst/>
          </a:prstGeom>
          <a:solidFill>
            <a:srgbClr val="F4F7FA"/>
          </a:solidFill>
          <a:ln w="8890">
            <a:solidFill>
              <a:srgbClr val="E5EAF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915656" y="3026663"/>
            <a:ext cx="768857" cy="329184"/>
          </a:xfrm>
          <a:prstGeom prst="rect">
            <a:avLst/>
          </a:prstGeom>
          <a:solidFill>
            <a:srgbClr val="F4F7FA"/>
          </a:solidFill>
          <a:ln w="8890">
            <a:solidFill>
              <a:srgbClr val="E5EAF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9041130" y="2194560"/>
            <a:ext cx="2644902" cy="1965960"/>
          </a:xfrm>
          <a:prstGeom prst="roundRect">
            <a:avLst>
              <a:gd name="adj" fmla="val 15503"/>
            </a:avLst>
          </a:prstGeom>
          <a:solidFill>
            <a:srgbClr val="F4F7FA"/>
          </a:solidFill>
          <a:ln w="1905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69146" y="2304288"/>
            <a:ext cx="238887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065A82"/>
                </a:solidFill>
                <a:latin typeface="Arial"/>
              </a:rPr>
              <a:t>Поставщик Г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169146" y="2670048"/>
            <a:ext cx="768857" cy="32918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169146" y="2670048"/>
            <a:ext cx="768857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00" b="1" i="0">
                <a:solidFill>
                  <a:srgbClr val="FFFFFF"/>
                </a:solidFill>
                <a:latin typeface="Arial"/>
              </a:rPr>
              <a:t>№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965436" y="2670048"/>
            <a:ext cx="768857" cy="32918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965436" y="2670048"/>
            <a:ext cx="768857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00" b="1" i="0">
                <a:solidFill>
                  <a:srgbClr val="FFFFFF"/>
                </a:solidFill>
                <a:latin typeface="Arial"/>
              </a:rPr>
              <a:t>от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761726" y="2670048"/>
            <a:ext cx="768857" cy="32918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761726" y="2670048"/>
            <a:ext cx="768857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00" b="1" i="0">
                <a:solidFill>
                  <a:srgbClr val="FFFFFF"/>
                </a:solidFill>
                <a:latin typeface="Arial"/>
              </a:rPr>
              <a:t>итого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169146" y="3026663"/>
            <a:ext cx="768857" cy="329184"/>
          </a:xfrm>
          <a:prstGeom prst="rect">
            <a:avLst/>
          </a:prstGeom>
          <a:solidFill>
            <a:srgbClr val="F4F7FA"/>
          </a:solidFill>
          <a:ln w="8890">
            <a:solidFill>
              <a:srgbClr val="E5EAF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9965436" y="3026663"/>
            <a:ext cx="768857" cy="329184"/>
          </a:xfrm>
          <a:prstGeom prst="rect">
            <a:avLst/>
          </a:prstGeom>
          <a:solidFill>
            <a:srgbClr val="F4F7FA"/>
          </a:solidFill>
          <a:ln w="8890">
            <a:solidFill>
              <a:srgbClr val="E5EAF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0761726" y="3026663"/>
            <a:ext cx="768857" cy="329184"/>
          </a:xfrm>
          <a:prstGeom prst="rect">
            <a:avLst/>
          </a:prstGeom>
          <a:solidFill>
            <a:srgbClr val="F4F7FA"/>
          </a:solidFill>
          <a:ln w="8890">
            <a:solidFill>
              <a:srgbClr val="E5EAF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02920" y="4251959"/>
            <a:ext cx="1118311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6B7685"/>
                </a:solidFill>
                <a:latin typeface="Arial"/>
              </a:rPr>
              <a:t>Форматы разъехались — разные колонки, разные форматы дат, один документ на английском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02920" y="4663440"/>
            <a:ext cx="11183112" cy="77724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778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77240" y="4663440"/>
            <a:ext cx="1060704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Меняет ли это ваш ответ?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8311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Документы поставщиков — разбор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188720"/>
            <a:ext cx="11183112" cy="2377440"/>
          </a:xfrm>
          <a:prstGeom prst="roundRect">
            <a:avLst>
              <a:gd name="adj" fmla="val 12820"/>
            </a:avLst>
          </a:prstGeom>
          <a:solidFill>
            <a:srgbClr val="F4F7FA"/>
          </a:solidFill>
          <a:ln w="20320">
            <a:solidFill>
              <a:srgbClr val="065A8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workflow-065A82-9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148840"/>
            <a:ext cx="457200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417320" y="1371600"/>
            <a:ext cx="9966960" cy="2011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700" b="1" i="0">
                <a:solidFill>
                  <a:srgbClr val="21295C"/>
                </a:solidFill>
                <a:latin typeface="Arial"/>
              </a:rPr>
              <a:t>Гибрид: LLM-извлечение по вариативному входу + жёсткая валидация кодом на выходе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50" b="0" i="0">
                <a:solidFill>
                  <a:srgbClr val="6B7685"/>
                </a:solidFill>
                <a:latin typeface="Arial"/>
              </a:rPr>
              <a:t>Документ (любой формат) → LLM извлекает поля → код проверяет типы/обязательные значения/диапазоны → данные в 1С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3840480"/>
            <a:ext cx="11183112" cy="105156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778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3840480"/>
            <a:ext cx="10607040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Два примера — не выборка. Просите представление полного объёма данных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080760"/>
            <a:ext cx="11183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Держите в голове риск из Лекции 1: модель на форматах, которые видела, тихо деградирует на новых — тот же механизм, что distribution shift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8311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Персоналка в логах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05840"/>
            <a:ext cx="11183112" cy="9144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quote-1C7293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179576"/>
            <a:ext cx="292608" cy="2926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2376" y="1517904"/>
            <a:ext cx="10744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500" b="0" i="1">
                <a:solidFill>
                  <a:srgbClr val="21295C"/>
                </a:solidFill>
                <a:latin typeface="Arial"/>
              </a:rPr>
              <a:t>«Нужно вычистить персональные данные из логов перед передачей подрядчику»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48840"/>
            <a:ext cx="11183112" cy="2148840"/>
          </a:xfrm>
          <a:prstGeom prst="roundRect">
            <a:avLst>
              <a:gd name="adj" fmla="val 14184"/>
            </a:avLst>
          </a:prstGeom>
          <a:solidFill>
            <a:srgbClr val="F4F7FA"/>
          </a:solidFill>
          <a:ln w="2032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7" name="Picture 6" descr="file-text-065A82-9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2468880"/>
            <a:ext cx="777240" cy="777240"/>
          </a:xfrm>
          <a:prstGeom prst="rect">
            <a:avLst/>
          </a:prstGeom>
        </p:spPr>
      </p:pic>
      <p:pic>
        <p:nvPicPr>
          <p:cNvPr id="8" name="Picture 7" descr="phone-028090-6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65960" y="2651760"/>
            <a:ext cx="457200" cy="457200"/>
          </a:xfrm>
          <a:prstGeom prst="rect">
            <a:avLst/>
          </a:prstGeom>
        </p:spPr>
      </p:pic>
      <p:pic>
        <p:nvPicPr>
          <p:cNvPr id="9" name="Picture 8" descr="mail-065A82-9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97480" y="2606040"/>
            <a:ext cx="502920" cy="502920"/>
          </a:xfrm>
          <a:prstGeom prst="rect">
            <a:avLst/>
          </a:prstGeom>
        </p:spPr>
      </p:pic>
      <p:pic>
        <p:nvPicPr>
          <p:cNvPr id="10" name="Picture 9" descr="user-round-F0AB00-6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29000" y="2651760"/>
            <a:ext cx="457200" cy="4572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297680" y="2468880"/>
            <a:ext cx="667512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1" i="0">
                <a:solidFill>
                  <a:srgbClr val="21295C"/>
                </a:solidFill>
                <a:latin typeface="Arial"/>
              </a:rPr>
              <a:t>Одна строка лога — телефон, email и фраза «передайте это Ивану из бухгалтерии»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6B7685"/>
                </a:solidFill>
                <a:latin typeface="Arial"/>
              </a:rPr>
              <a:t>Подрядчику нужны структура запросов, тайминги, ошибки — не данные людей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572000"/>
            <a:ext cx="11183112" cy="77724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778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4572000"/>
            <a:ext cx="1060704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Одна технология на всё, или нет?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8311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Персоналка в логах — разбор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71600"/>
            <a:ext cx="5454396" cy="2651760"/>
          </a:xfrm>
          <a:prstGeom prst="roundRect">
            <a:avLst>
              <a:gd name="adj" fmla="val 11494"/>
            </a:avLst>
          </a:prstGeom>
          <a:solidFill>
            <a:srgbClr val="F4F7FA"/>
          </a:solidFill>
          <a:ln w="1905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hash-028090-9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72768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71600" y="1572768"/>
            <a:ext cx="4357116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065A82"/>
                </a:solidFill>
                <a:latin typeface="Arial"/>
              </a:rPr>
              <a:t>Regex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286000"/>
            <a:ext cx="4997196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Телефоны, email — чёткий формат, дёшево и надёжно вычищает обычный regex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31636" y="1371600"/>
            <a:ext cx="5454396" cy="2651760"/>
          </a:xfrm>
          <a:prstGeom prst="roundRect">
            <a:avLst>
              <a:gd name="adj" fmla="val 11494"/>
            </a:avLst>
          </a:prstGeom>
          <a:solidFill>
            <a:srgbClr val="F4F7FA"/>
          </a:solidFill>
          <a:ln w="19050">
            <a:solidFill>
              <a:srgbClr val="065A8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8" name="Picture 7" descr="search-065A82-9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0236" y="1572768"/>
            <a:ext cx="502920" cy="5029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00316" y="1572768"/>
            <a:ext cx="4357116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065A82"/>
                </a:solidFill>
                <a:latin typeface="Arial"/>
              </a:rPr>
              <a:t>NER / LLM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0236" y="2286000"/>
            <a:ext cx="4997196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Имена людей, косвенные упоминания в свободном тексте — нужен контекст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297680"/>
            <a:ext cx="11183112" cy="91440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778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297680"/>
            <a:ext cx="1060704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50" b="1" i="0">
                <a:solidFill>
                  <a:srgbClr val="21295C"/>
                </a:solidFill>
                <a:latin typeface="Arial"/>
              </a:rPr>
              <a:t>Граница между regex и моделью проходит внутри одной задачи, не между задачами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8311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Из жизни: провал и успех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8311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 i="1">
                <a:solidFill>
                  <a:srgbClr val="065A82"/>
                </a:solidFill>
                <a:latin typeface="Arial"/>
              </a:rPr>
              <a:t>Vendor-метрика точности ≠ метрика, измеренная независимо на своих данных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00200"/>
            <a:ext cx="5454396" cy="2606040"/>
          </a:xfrm>
          <a:prstGeom prst="roundRect">
            <a:avLst>
              <a:gd name="adj" fmla="val 6000"/>
            </a:avLst>
          </a:prstGeom>
          <a:solidFill>
            <a:srgbClr val="FBEAEA"/>
          </a:solidFill>
          <a:ln w="17780">
            <a:solidFill>
              <a:srgbClr val="B04A4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x-circle-21295C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1801368"/>
            <a:ext cx="365760" cy="365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79576" y="1783080"/>
            <a:ext cx="4576571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Epic Sepsis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" y="2331720"/>
            <a:ext cx="5052059" cy="18562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 i="0">
                <a:solidFill>
                  <a:srgbClr val="21295C"/>
                </a:solidFill>
                <a:latin typeface="Arial"/>
              </a:rPr>
              <a:t>Заявленный AUC 0.76–0.83 vs реальный 0.63 (Michigan Medicine, 38 455 госпитализаций)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1" i="0">
                <a:solidFill>
                  <a:srgbClr val="21295C"/>
                </a:solidFill>
                <a:latin typeface="Arial"/>
              </a:rPr>
              <a:t>Пропущено 67% реальных случаев сепсиса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21295C"/>
                </a:solidFill>
                <a:latin typeface="Arial"/>
              </a:rPr>
              <a:t>Алерты — на 18% всех госпитализированных пациентов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1636" y="1600200"/>
            <a:ext cx="5454396" cy="2606040"/>
          </a:xfrm>
          <a:prstGeom prst="roundRect">
            <a:avLst>
              <a:gd name="adj" fmla="val 6000"/>
            </a:avLst>
          </a:prstGeom>
          <a:solidFill>
            <a:srgbClr val="E9F5F2"/>
          </a:solidFill>
          <a:ln w="1778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circle-check-028090-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2803" y="1801368"/>
            <a:ext cx="365760" cy="365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908292" y="1783080"/>
            <a:ext cx="4576571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Ramp, merchant classification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32803" y="2331720"/>
            <a:ext cx="5052059" cy="18562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 i="0">
                <a:solidFill>
                  <a:srgbClr val="21295C"/>
                </a:solidFill>
                <a:latin typeface="Arial"/>
              </a:rPr>
              <a:t>Вручную: покрытие 3% заявок (2023) → 1,5% (2024)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1" i="0">
                <a:solidFill>
                  <a:srgbClr val="21295C"/>
                </a:solidFill>
                <a:latin typeface="Arial"/>
              </a:rPr>
              <a:t>После LLM-агента: обработка &lt; 10 сек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21295C"/>
                </a:solidFill>
                <a:latin typeface="Arial"/>
              </a:rPr>
              <a:t>~99% изменений корректны · ~25% заявок обоснованно отклоняются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480559"/>
            <a:ext cx="11183112" cy="105156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778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4480559"/>
            <a:ext cx="10607040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21295C"/>
                </a:solidFill>
                <a:latin typeface="Arial"/>
              </a:rPr>
              <a:t>Ramp — замена ручной обработки с мизерным покрытием, не замена работавшего regex-решения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-91440" y="-594360"/>
            <a:ext cx="5486400" cy="329184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90000"/>
              </a:lnSpc>
            </a:pPr>
            <a:r>
              <a:rPr sz="28000" b="1" i="0">
                <a:solidFill>
                  <a:srgbClr val="E5EAF0"/>
                </a:solidFill>
                <a:latin typeface="Arial"/>
              </a:rPr>
              <a:t>2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965960" y="1600200"/>
            <a:ext cx="201168" cy="201168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926080"/>
            <a:ext cx="106070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 i="0">
                <a:solidFill>
                  <a:srgbClr val="21295C"/>
                </a:solidFill>
                <a:latin typeface="Arial"/>
              </a:rPr>
              <a:t>Помощник поддержки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4434840"/>
            <a:ext cx="4754880" cy="50292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txBody>
          <a:bodyPr rtlCol="0" anchor="ctr" lIns="45720" rIns="45720" tIns="27432" bIns="27432" wrap="none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Встроить или своё?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8311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Помощник поддержки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05840"/>
            <a:ext cx="11183112" cy="1234440"/>
          </a:xfrm>
          <a:prstGeom prst="roundRect">
            <a:avLst>
              <a:gd name="adj" fmla="val 2469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quote-1C7293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179576"/>
            <a:ext cx="292608" cy="2926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2376" y="1517904"/>
            <a:ext cx="107442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600" b="0" i="1">
                <a:solidFill>
                  <a:srgbClr val="21295C"/>
                </a:solidFill>
                <a:latin typeface="Arial"/>
              </a:rPr>
              <a:t>«Сделайте нам ИИ-помощника для операторов — подсказки по тикетам, поиск похожих обращений»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423160"/>
            <a:ext cx="3931920" cy="3611880"/>
          </a:xfrm>
          <a:prstGeom prst="roundRect">
            <a:avLst>
              <a:gd name="adj" fmla="val 8438"/>
            </a:avLst>
          </a:prstGeom>
          <a:solidFill>
            <a:srgbClr val="F4F7FA"/>
          </a:solidFill>
          <a:ln w="2032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7" name="Picture 6" descr="s11-support-headset-real.jpg"/>
          <p:cNvPicPr>
            <a:picLocks noChangeAspect="1"/>
          </p:cNvPicPr>
          <p:nvPr/>
        </p:nvPicPr>
        <p:blipFill>
          <a:blip r:embed="rId3"/>
          <a:srcRect t="18988" b="18988"/>
          <a:stretch>
            <a:fillRect/>
          </a:stretch>
        </p:blipFill>
        <p:spPr>
          <a:xfrm>
            <a:off x="612648" y="2532888"/>
            <a:ext cx="3712463" cy="311810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12648" y="5760720"/>
            <a:ext cx="371246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1">
                <a:solidFill>
                  <a:srgbClr val="6B7685"/>
                </a:solidFill>
                <a:latin typeface="Arial"/>
              </a:rPr>
              <a:t>FiveOne51 · Wikimedia Commons · CC BY-SA 3.0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09159" y="2423160"/>
            <a:ext cx="6976872" cy="1508760"/>
          </a:xfrm>
          <a:prstGeom prst="roundRect">
            <a:avLst>
              <a:gd name="adj" fmla="val 2020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92040" y="2569464"/>
            <a:ext cx="6611112" cy="12344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 i="1">
                <a:solidFill>
                  <a:srgbClr val="21295C"/>
                </a:solidFill>
                <a:latin typeface="Arial"/>
              </a:rPr>
              <a:t>Операторы весь рабочий день живут в одном и том же интерфейсе helpdesk-системы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09159" y="4206240"/>
            <a:ext cx="6976872" cy="1828800"/>
          </a:xfrm>
          <a:prstGeom prst="roundRect">
            <a:avLst>
              <a:gd name="adj" fmla="val 16666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92040" y="4206240"/>
            <a:ext cx="6611112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Где должен жить этот помощник?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8311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Помощник поддержки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60120"/>
            <a:ext cx="11183112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quote-1C7293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133856"/>
            <a:ext cx="292608" cy="2926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2376" y="1472184"/>
            <a:ext cx="10287000" cy="3200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500" b="0" i="1">
                <a:solidFill>
                  <a:srgbClr val="21295C"/>
                </a:solidFill>
                <a:latin typeface="Arial"/>
              </a:rPr>
              <a:t>«Открытого API нет, кастомизаций нет — вендор и на письма не отвечает»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009376" y="1133856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4F7FA"/>
          </a:solidFill>
          <a:ln w="1651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7" name="Picture 6" descr="briefcase-028090-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91672" y="1216152"/>
            <a:ext cx="292608" cy="292608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02920" y="2240280"/>
            <a:ext cx="11183112" cy="77724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778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240280"/>
            <a:ext cx="1060704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Что делаем?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246120"/>
            <a:ext cx="11183112" cy="3108960"/>
          </a:xfrm>
          <a:prstGeom prst="roundRect">
            <a:avLst>
              <a:gd name="adj" fmla="val 980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1" name="Picture 10" descr="lock-21295C-6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4572000"/>
            <a:ext cx="457200" cy="4572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463040" y="3474720"/>
            <a:ext cx="9875520" cy="2651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800" b="1" i="0">
                <a:solidFill>
                  <a:srgbClr val="21295C"/>
                </a:solidFill>
                <a:latin typeface="Arial"/>
              </a:rPr>
              <a:t>Коробочный helpdesk — закрытый вендор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 i="0">
                <a:solidFill>
                  <a:srgbClr val="6B7685"/>
                </a:solidFill>
                <a:latin typeface="Arial"/>
              </a:rPr>
              <a:t>Нет открытого API, нет возможности кастомизации, вендор не отвечает даже на письма об интеграции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8311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Помощник поддержки — разбор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80160"/>
            <a:ext cx="3557016" cy="3566160"/>
          </a:xfrm>
          <a:prstGeom prst="roundRect">
            <a:avLst>
              <a:gd name="adj" fmla="val 856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split-065A82-9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9967" y="1499616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9224" y="2148839"/>
            <a:ext cx="326440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Решение сбоку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9224" y="2651760"/>
            <a:ext cx="326440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Расширение браузера или вторая панель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" y="3611879"/>
            <a:ext cx="3300984" cy="10515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397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2376" y="3675887"/>
            <a:ext cx="3118104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 i="1">
                <a:solidFill>
                  <a:srgbClr val="21295C"/>
                </a:solidFill>
                <a:latin typeface="Arial"/>
              </a:rPr>
              <a:t>Цена: Два места одновременно, риск: оператор не будет пользоваться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5968" y="1280160"/>
            <a:ext cx="3557016" cy="3566160"/>
          </a:xfrm>
          <a:prstGeom prst="roundRect">
            <a:avLst>
              <a:gd name="adj" fmla="val 856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0" name="Picture 9" descr="repeat-065A82-9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43016" y="1499616"/>
            <a:ext cx="502920" cy="5029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462272" y="2148839"/>
            <a:ext cx="326440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Смена вендора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62272" y="2651760"/>
            <a:ext cx="326440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Helpdesk-система с открытым API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43983" y="3611879"/>
            <a:ext cx="3300984" cy="10515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397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35424" y="3675887"/>
            <a:ext cx="3118104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 i="1">
                <a:solidFill>
                  <a:srgbClr val="21295C"/>
                </a:solidFill>
                <a:latin typeface="Arial"/>
              </a:rPr>
              <a:t>Цена: Миграция данных, переобучение команды, риск простоя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29016" y="1280160"/>
            <a:ext cx="3557016" cy="3566160"/>
          </a:xfrm>
          <a:prstGeom prst="roundRect">
            <a:avLst>
              <a:gd name="adj" fmla="val 856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6" name="Picture 15" descr="route-065A82-9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56064" y="1499616"/>
            <a:ext cx="502920" cy="50292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275320" y="2148839"/>
            <a:ext cx="326440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Пересмотр задачи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5320" y="2651760"/>
            <a:ext cx="326440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Асинхронный помощник, готовит черновики заранее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57032" y="3611879"/>
            <a:ext cx="3300984" cy="10515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397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48472" y="3675887"/>
            <a:ext cx="3118104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 i="1">
                <a:solidFill>
                  <a:srgbClr val="21295C"/>
                </a:solidFill>
                <a:latin typeface="Arial"/>
              </a:rPr>
              <a:t>Цена: Оператор открывает готовое там, где удобно, но нужен отдельный процесс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5029200"/>
            <a:ext cx="11183112" cy="54864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5029200"/>
            <a:ext cx="106070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1">
                <a:solidFill>
                  <a:srgbClr val="21295C"/>
                </a:solidFill>
                <a:latin typeface="Arial"/>
              </a:rPr>
              <a:t>Единственно верного ответа нет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8311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Описания товаров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05840"/>
            <a:ext cx="11183112" cy="96012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quote-1C7293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179576"/>
            <a:ext cx="292608" cy="2926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2376" y="1517904"/>
            <a:ext cx="10744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600" b="0" i="1">
                <a:solidFill>
                  <a:srgbClr val="21295C"/>
                </a:solidFill>
                <a:latin typeface="Arial"/>
              </a:rPr>
              <a:t>«Маркетинг просит отдельный ИИ-сервис для генерации описаний товаров»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48840"/>
            <a:ext cx="11183112" cy="1920240"/>
          </a:xfrm>
          <a:prstGeom prst="roundRect">
            <a:avLst>
              <a:gd name="adj" fmla="val 15873"/>
            </a:avLst>
          </a:prstGeom>
          <a:solidFill>
            <a:srgbClr val="F4F7FA"/>
          </a:solidFill>
          <a:ln w="2032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7" name="Picture 6" descr="store-065A82-9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2720340"/>
            <a:ext cx="777240" cy="777240"/>
          </a:xfrm>
          <a:prstGeom prst="rect">
            <a:avLst/>
          </a:prstGeom>
        </p:spPr>
      </p:pic>
      <p:pic>
        <p:nvPicPr>
          <p:cNvPr id="8" name="Picture 7" descr="arrow-right-F0AB00-6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65960" y="2880360"/>
            <a:ext cx="457200" cy="457200"/>
          </a:xfrm>
          <a:prstGeom prst="rect">
            <a:avLst/>
          </a:prstGeom>
        </p:spPr>
      </p:pic>
      <p:pic>
        <p:nvPicPr>
          <p:cNvPr id="9" name="Picture 8" descr="sparkles-065A82-9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88920" y="2720340"/>
            <a:ext cx="777240" cy="7772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840480" y="2148840"/>
            <a:ext cx="6949440" cy="1920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 i="0">
                <a:solidFill>
                  <a:srgbClr val="21295C"/>
                </a:solidFill>
                <a:latin typeface="Arial"/>
              </a:rPr>
              <a:t>Новый отдельный инструмент: логин, вкладка, форма ввода характеристик товара → готовое описание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343400"/>
            <a:ext cx="11183112" cy="77724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778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Отдельный сервис — хорошая идея?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8311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Описания товаров — разбор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17320"/>
            <a:ext cx="11183112" cy="1828800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2032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store-065A82-9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943100"/>
            <a:ext cx="777240" cy="777240"/>
          </a:xfrm>
          <a:prstGeom prst="rect">
            <a:avLst/>
          </a:prstGeom>
        </p:spPr>
      </p:pic>
      <p:pic>
        <p:nvPicPr>
          <p:cNvPr id="5" name="Picture 4" descr="arrow-right-F0AB00-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5960" y="2103120"/>
            <a:ext cx="457200" cy="457200"/>
          </a:xfrm>
          <a:prstGeom prst="rect">
            <a:avLst/>
          </a:prstGeom>
        </p:spPr>
      </p:pic>
      <p:pic>
        <p:nvPicPr>
          <p:cNvPr id="6" name="Picture 5" descr="zap-F0AB00-9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88920" y="1943100"/>
            <a:ext cx="777240" cy="777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840480" y="1417320"/>
            <a:ext cx="694944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000" b="1" i="0">
                <a:solidFill>
                  <a:srgbClr val="21295C"/>
                </a:solidFill>
                <a:latin typeface="Arial"/>
              </a:rPr>
              <a:t>Кнопка «сгенерировать описание»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 i="0">
                <a:solidFill>
                  <a:srgbClr val="21295C"/>
                </a:solidFill>
                <a:latin typeface="Arial"/>
              </a:rPr>
              <a:t>в существующей админке каталога, которой маркетинг и так пользуется каждый день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566160"/>
            <a:ext cx="11183112" cy="109728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778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3566160"/>
            <a:ext cx="1060704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21295C"/>
                </a:solidFill>
                <a:latin typeface="Arial"/>
              </a:rPr>
              <a:t>Отдельный продукт — второй логин и вкладка, цена, о которой не подумали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8311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Из жизни: Kite vs GitHub Copilot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71600"/>
            <a:ext cx="5454396" cy="2423160"/>
          </a:xfrm>
          <a:prstGeom prst="roundRect">
            <a:avLst>
              <a:gd name="adj" fmla="val 6000"/>
            </a:avLst>
          </a:prstGeom>
          <a:solidFill>
            <a:srgbClr val="FBEAEA"/>
          </a:solidFill>
          <a:ln w="17780">
            <a:solidFill>
              <a:srgbClr val="B04A4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x-circle-21295C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1572768"/>
            <a:ext cx="365760" cy="365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79576" y="1554480"/>
            <a:ext cx="4576571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Kite (standalone)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2103120"/>
            <a:ext cx="5052059" cy="167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 i="0">
                <a:solidFill>
                  <a:srgbClr val="21295C"/>
                </a:solidFill>
                <a:latin typeface="Arial"/>
              </a:rPr>
              <a:t>~500 000 бесплатных пользователей на пике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1" i="0">
                <a:solidFill>
                  <a:srgbClr val="21295C"/>
                </a:solidFill>
                <a:latin typeface="Arial"/>
              </a:rPr>
              <a:t>Закрылся в ноябре 2022 года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1">
                <a:solidFill>
                  <a:srgbClr val="21295C"/>
                </a:solidFill>
                <a:latin typeface="Arial"/>
              </a:rPr>
              <a:t>«Разработчики не платят за инструменты»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31636" y="1371600"/>
            <a:ext cx="5454396" cy="2423160"/>
          </a:xfrm>
          <a:prstGeom prst="roundRect">
            <a:avLst>
              <a:gd name="adj" fmla="val 6000"/>
            </a:avLst>
          </a:prstGeom>
          <a:solidFill>
            <a:srgbClr val="E9F5F2"/>
          </a:solidFill>
          <a:ln w="1778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8" name="Picture 7" descr="circle-check-028090-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2803" y="1572768"/>
            <a:ext cx="365760" cy="3657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908292" y="1554480"/>
            <a:ext cx="4576571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GitHub Copilot (встроен)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32803" y="2103120"/>
            <a:ext cx="5052059" cy="167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 i="0">
                <a:solidFill>
                  <a:srgbClr val="21295C"/>
                </a:solidFill>
                <a:latin typeface="Arial"/>
              </a:rPr>
              <a:t>~20 млн пользователей к июлю 2025 (из 100+ млн на GitHub)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1" i="0">
                <a:solidFill>
                  <a:srgbClr val="21295C"/>
                </a:solidFill>
                <a:latin typeface="Arial"/>
              </a:rPr>
              <a:t>~4,7 млн платных подписчиков к январю 2026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21295C"/>
                </a:solidFill>
                <a:latin typeface="Arial"/>
              </a:rPr>
              <a:t>~90% компаний Fortune 100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050792"/>
            <a:ext cx="11183112" cy="86868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778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050792"/>
            <a:ext cx="1060704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Встроенность в уже существующий рабочий поток победила отдельный продукт при технологии сравнимого класса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5120640"/>
            <a:ext cx="11183112" cy="73152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5120640"/>
            <a:ext cx="1060704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1">
                <a:solidFill>
                  <a:srgbClr val="6B7685"/>
                </a:solidFill>
                <a:latin typeface="Arial"/>
              </a:rPr>
              <a:t>Humane AI Pin — привлечено ~$241 млн, продан за $116 млн · Rabbit R1 — ~100 000 устройств, активно пользуются ~5%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8311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Два слова про RAG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8686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1">
                <a:solidFill>
                  <a:srgbClr val="065A82"/>
                </a:solidFill>
                <a:latin typeface="Arial"/>
              </a:rPr>
              <a:t>Поиск по базе знаний подкладывает нужные фрагменты в контекст модели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195560" y="914400"/>
            <a:ext cx="1508760" cy="384048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txBody>
          <a:bodyPr rtlCol="0" anchor="ctr" lIns="45720" rIns="45720" tIns="27432" bIns="27432" wrap="none"/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Лекция 3 →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148840"/>
            <a:ext cx="2418588" cy="2651760"/>
          </a:xfrm>
          <a:prstGeom prst="roundRect">
            <a:avLst>
              <a:gd name="adj" fmla="val 1260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6" name="Picture 5" descr="search-065A82-9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7894" y="2468880"/>
            <a:ext cx="548640" cy="548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12648" y="3200400"/>
            <a:ext cx="2199132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50" b="1" i="0">
                <a:solidFill>
                  <a:srgbClr val="21295C"/>
                </a:solidFill>
                <a:latin typeface="Arial"/>
              </a:rPr>
              <a:t>Вопрос пользователя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" y="4343400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txBody>
          <a:bodyPr rtlCol="0" anchor="ctr" lIns="45720" rIns="45720" tIns="27432" bIns="27432" wrap="none"/>
          <a:lstStyle/>
          <a:p>
            <a:pPr algn="ctr"/>
            <a:r>
              <a:rPr sz="1300" b="1">
                <a:solidFill>
                  <a:srgbClr val="21295C"/>
                </a:solidFill>
                <a:latin typeface="Arial"/>
              </a:rPr>
              <a:t>1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976372" y="3328415"/>
            <a:ext cx="393192" cy="292608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424428" y="2148840"/>
            <a:ext cx="2418588" cy="2651760"/>
          </a:xfrm>
          <a:prstGeom prst="roundRect">
            <a:avLst>
              <a:gd name="adj" fmla="val 1260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1" name="Picture 10" descr="database-065A82-9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59402" y="2468880"/>
            <a:ext cx="548640" cy="54864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534156" y="3200400"/>
            <a:ext cx="2199132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50" b="1" i="0">
                <a:solidFill>
                  <a:srgbClr val="21295C"/>
                </a:solidFill>
                <a:latin typeface="Arial"/>
              </a:rPr>
              <a:t>Поиск фрагментов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50" b="1" i="0">
                <a:solidFill>
                  <a:srgbClr val="21295C"/>
                </a:solidFill>
                <a:latin typeface="Arial"/>
              </a:rPr>
              <a:t>в базе знаний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52444" y="4343400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txBody>
          <a:bodyPr rtlCol="0" anchor="ctr" lIns="45720" rIns="45720" tIns="27432" bIns="27432" wrap="none"/>
          <a:lstStyle/>
          <a:p>
            <a:pPr algn="ctr"/>
            <a:r>
              <a:rPr sz="1300" b="1">
                <a:solidFill>
                  <a:srgbClr val="21295C"/>
                </a:solidFill>
                <a:latin typeface="Arial"/>
              </a:rPr>
              <a:t>2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897880" y="3328415"/>
            <a:ext cx="393192" cy="292608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345936" y="2148840"/>
            <a:ext cx="2418588" cy="2651760"/>
          </a:xfrm>
          <a:prstGeom prst="roundRect">
            <a:avLst>
              <a:gd name="adj" fmla="val 1260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6" name="Picture 15" descr="layers-065A82-9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80910" y="2468880"/>
            <a:ext cx="548640" cy="54864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455664" y="3200400"/>
            <a:ext cx="2199132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50" b="1" i="0">
                <a:solidFill>
                  <a:srgbClr val="21295C"/>
                </a:solidFill>
                <a:latin typeface="Arial"/>
              </a:rPr>
              <a:t>Фрагменты →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50" b="1" i="0">
                <a:solidFill>
                  <a:srgbClr val="21295C"/>
                </a:solidFill>
                <a:latin typeface="Arial"/>
              </a:rPr>
              <a:t>в контекст модели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73952" y="4343400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txBody>
          <a:bodyPr rtlCol="0" anchor="ctr" lIns="45720" rIns="45720" tIns="27432" bIns="27432" wrap="none"/>
          <a:lstStyle/>
          <a:p>
            <a:pPr algn="ctr"/>
            <a:r>
              <a:rPr sz="1300" b="1">
                <a:solidFill>
                  <a:srgbClr val="21295C"/>
                </a:solidFill>
                <a:latin typeface="Arial"/>
              </a:rPr>
              <a:t>3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8819388" y="3328415"/>
            <a:ext cx="393192" cy="292608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267444" y="2148840"/>
            <a:ext cx="2418588" cy="2651760"/>
          </a:xfrm>
          <a:prstGeom prst="roundRect">
            <a:avLst>
              <a:gd name="adj" fmla="val 1260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1" name="Picture 20" descr="sparkles-065A82-9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02418" y="2468880"/>
            <a:ext cx="548640" cy="54864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377172" y="3200400"/>
            <a:ext cx="2199132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50" b="1" i="0">
                <a:solidFill>
                  <a:srgbClr val="21295C"/>
                </a:solidFill>
                <a:latin typeface="Arial"/>
              </a:rPr>
              <a:t>Модель генерирует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50" b="1" i="0">
                <a:solidFill>
                  <a:srgbClr val="21295C"/>
                </a:solidFill>
                <a:latin typeface="Arial"/>
              </a:rPr>
              <a:t>ответ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395460" y="4343400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txBody>
          <a:bodyPr rtlCol="0" anchor="ctr" lIns="45720" rIns="45720" tIns="27432" bIns="27432" wrap="none"/>
          <a:lstStyle/>
          <a:p>
            <a:pPr algn="ctr"/>
            <a:r>
              <a:rPr sz="1300" b="1">
                <a:solidFill>
                  <a:srgbClr val="21295C"/>
                </a:solidFill>
                <a:latin typeface="Arial"/>
              </a:rPr>
              <a:t>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5074920"/>
            <a:ext cx="11183112" cy="96012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778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5074920"/>
            <a:ext cx="1060704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 i="0">
                <a:solidFill>
                  <a:srgbClr val="21295C"/>
                </a:solidFill>
                <a:latin typeface="Arial"/>
              </a:rPr>
              <a:t>Когда нужен: база большая, меняется, весь объём не помещается в один запрос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8311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Два слова про агента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8686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1">
                <a:solidFill>
                  <a:srgbClr val="065A82"/>
                </a:solidFill>
                <a:latin typeface="Arial"/>
              </a:rPr>
              <a:t>Модель работает циклом с внешними инструментами, а не одним вызовом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195560" y="914400"/>
            <a:ext cx="1508760" cy="384048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txBody>
          <a:bodyPr rtlCol="0" anchor="ctr" lIns="45720" rIns="45720" tIns="27432" bIns="27432" wrap="none"/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Лекция 3 →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32888" y="1828800"/>
            <a:ext cx="2834640" cy="1463040"/>
          </a:xfrm>
          <a:prstGeom prst="roundRect">
            <a:avLst>
              <a:gd name="adj" fmla="val 2083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6" name="Picture 5" descr="git-fork-065A82-9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9192" y="1975104"/>
            <a:ext cx="402336" cy="40233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928616" y="1956816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txBody>
          <a:bodyPr rtlCol="0" anchor="ctr" lIns="45720" rIns="45720" tIns="27432" bIns="27432" wrap="none"/>
          <a:lstStyle/>
          <a:p>
            <a:pPr algn="ctr"/>
            <a:r>
              <a:rPr sz="1150" b="1">
                <a:solidFill>
                  <a:srgbClr val="21295C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79192" y="2450592"/>
            <a:ext cx="2542032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21295C"/>
                </a:solidFill>
                <a:latin typeface="Arial"/>
              </a:rPr>
              <a:t>Строит план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30568" y="1828800"/>
            <a:ext cx="2834640" cy="1463040"/>
          </a:xfrm>
          <a:prstGeom prst="roundRect">
            <a:avLst>
              <a:gd name="adj" fmla="val 2083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0" name="Picture 9" descr="wrench-065A82-9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76872" y="1975104"/>
            <a:ext cx="402336" cy="402336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9226296" y="1956816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txBody>
          <a:bodyPr rtlCol="0" anchor="ctr" lIns="45720" rIns="45720" tIns="27432" bIns="27432" wrap="none"/>
          <a:lstStyle/>
          <a:p>
            <a:pPr algn="ctr"/>
            <a:r>
              <a:rPr sz="1150" b="1">
                <a:solidFill>
                  <a:srgbClr val="21295C"/>
                </a:solidFill>
                <a:latin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76872" y="2450592"/>
            <a:ext cx="2542032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21295C"/>
                </a:solidFill>
                <a:latin typeface="Arial"/>
              </a:rPr>
              <a:t>Вызывает внешний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21295C"/>
                </a:solidFill>
                <a:latin typeface="Arial"/>
              </a:rPr>
              <a:t>инструмент (API,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21295C"/>
                </a:solidFill>
                <a:latin typeface="Arial"/>
              </a:rPr>
              <a:t>поиск, код)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30568" y="3566160"/>
            <a:ext cx="2834640" cy="1463040"/>
          </a:xfrm>
          <a:prstGeom prst="roundRect">
            <a:avLst>
              <a:gd name="adj" fmla="val 2083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4" name="Picture 13" descr="circle-check-065A82-9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76872" y="3712463"/>
            <a:ext cx="402336" cy="402336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9226296" y="3694176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txBody>
          <a:bodyPr rtlCol="0" anchor="ctr" lIns="45720" rIns="45720" tIns="27432" bIns="27432" wrap="none"/>
          <a:lstStyle/>
          <a:p>
            <a:pPr algn="ctr"/>
            <a:r>
              <a:rPr sz="1150" b="1">
                <a:solidFill>
                  <a:srgbClr val="21295C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76872" y="4187952"/>
            <a:ext cx="2542032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21295C"/>
                </a:solidFill>
                <a:latin typeface="Arial"/>
              </a:rPr>
              <a:t>Проверяет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21295C"/>
                </a:solidFill>
                <a:latin typeface="Arial"/>
              </a:rPr>
              <a:t>результат вызова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532888" y="3566160"/>
            <a:ext cx="2834640" cy="1463040"/>
          </a:xfrm>
          <a:prstGeom prst="roundRect">
            <a:avLst>
              <a:gd name="adj" fmla="val 2083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8" name="Picture 17" descr="route-065A82-9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79192" y="3712463"/>
            <a:ext cx="402336" cy="402336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928616" y="3694176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txBody>
          <a:bodyPr rtlCol="0" anchor="ctr" lIns="45720" rIns="45720" tIns="27432" bIns="27432" wrap="none"/>
          <a:lstStyle/>
          <a:p>
            <a:pPr algn="ctr"/>
            <a:r>
              <a:rPr sz="1150" b="1">
                <a:solidFill>
                  <a:srgbClr val="21295C"/>
                </a:solidFill>
                <a:latin typeface="Arial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79192" y="4187952"/>
            <a:ext cx="2542032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21295C"/>
                </a:solidFill>
                <a:latin typeface="Arial"/>
              </a:rPr>
              <a:t>Решает, что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21295C"/>
                </a:solidFill>
                <a:latin typeface="Arial"/>
              </a:rPr>
              <a:t>делать дальше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41848" y="3337560"/>
            <a:ext cx="914400" cy="914400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2" name="Picture 21" descr="repeat-FFFFFF-4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24728" y="3520440"/>
            <a:ext cx="548640" cy="54864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5093208" y="4288536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цикл повторяется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5440680"/>
            <a:ext cx="11183112" cy="96012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778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5440680"/>
            <a:ext cx="1060704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 i="0">
                <a:solidFill>
                  <a:srgbClr val="21295C"/>
                </a:solidFill>
                <a:latin typeface="Arial"/>
              </a:rPr>
              <a:t>Когда нужен: несколько шагов и действия во внешних системах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-91440" y="-594360"/>
            <a:ext cx="5486400" cy="329184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90000"/>
              </a:lnSpc>
            </a:pPr>
            <a:r>
              <a:rPr sz="28000" b="1" i="0">
                <a:solidFill>
                  <a:srgbClr val="E5EAF0"/>
                </a:solidFill>
                <a:latin typeface="Arial"/>
              </a:rPr>
              <a:t>3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965960" y="1600200"/>
            <a:ext cx="201168" cy="201168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926080"/>
            <a:ext cx="106070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 i="0">
                <a:solidFill>
                  <a:srgbClr val="21295C"/>
                </a:solidFill>
                <a:latin typeface="Arial"/>
              </a:rPr>
              <a:t>Протоколы встреч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4434840"/>
            <a:ext cx="4754880" cy="50292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txBody>
          <a:bodyPr rtlCol="0" anchor="ctr" lIns="45720" rIns="45720" tIns="27432" bIns="27432" wrap="none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Разовый вызов, RAG или агент?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8311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Протоколы встреч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14400"/>
            <a:ext cx="11183112" cy="96012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quote-1C7293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088136"/>
            <a:ext cx="292608" cy="2926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2376" y="1426464"/>
            <a:ext cx="10744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 i="1">
                <a:solidFill>
                  <a:srgbClr val="21295C"/>
                </a:solidFill>
                <a:latin typeface="Arial"/>
              </a:rPr>
              <a:t>«После каждой встречи кто-то полчаса пишет протокол руками. Транскрипты есть — сделаем автоматом?»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011680"/>
            <a:ext cx="6309360" cy="3063240"/>
          </a:xfrm>
          <a:prstGeom prst="roundRect">
            <a:avLst>
              <a:gd name="adj" fmla="val 9950"/>
            </a:avLst>
          </a:prstGeom>
          <a:solidFill>
            <a:srgbClr val="F4F7FA"/>
          </a:solidFill>
          <a:ln w="2032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7" name="Picture 6" descr="s20-meeting-room-real.jpg"/>
          <p:cNvPicPr>
            <a:picLocks noChangeAspect="1"/>
          </p:cNvPicPr>
          <p:nvPr/>
        </p:nvPicPr>
        <p:blipFill>
          <a:blip r:embed="rId3"/>
          <a:srcRect t="18385" b="18385"/>
          <a:stretch>
            <a:fillRect/>
          </a:stretch>
        </p:blipFill>
        <p:spPr>
          <a:xfrm>
            <a:off x="612648" y="2121408"/>
            <a:ext cx="6089904" cy="256946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12648" y="4800600"/>
            <a:ext cx="608990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1">
                <a:solidFill>
                  <a:srgbClr val="6B7685"/>
                </a:solidFill>
                <a:latin typeface="Arial"/>
              </a:rPr>
              <a:t>Amtec Photos · Wikimedia Commons · CC BY 2.0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86600" y="2011680"/>
            <a:ext cx="4599432" cy="1737360"/>
          </a:xfrm>
          <a:prstGeom prst="roundRect">
            <a:avLst>
              <a:gd name="adj" fmla="val 1754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51192" y="2139696"/>
            <a:ext cx="4270248" cy="1481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 i="1">
                <a:solidFill>
                  <a:srgbClr val="21295C"/>
                </a:solidFill>
                <a:latin typeface="Arial"/>
              </a:rPr>
              <a:t>Транскрипт одной встречи целиком → структурированные решения, поручения и сроки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086600" y="4023360"/>
            <a:ext cx="4599432" cy="105156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51192" y="4023360"/>
            <a:ext cx="4270248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 i="0">
                <a:solidFill>
                  <a:srgbClr val="21295C"/>
                </a:solidFill>
                <a:latin typeface="Arial"/>
              </a:rPr>
              <a:t>Какая архитектура?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5047488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6B7685"/>
                </a:solidFill>
                <a:latin typeface="Arial"/>
              </a:rPr>
              <a:t>ступени архитектуры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5303520"/>
            <a:ext cx="3544824" cy="777240"/>
          </a:xfrm>
          <a:prstGeom prst="roundRect">
            <a:avLst>
              <a:gd name="adj" fmla="val 12000"/>
            </a:avLst>
          </a:prstGeom>
          <a:solidFill>
            <a:srgbClr val="F0AB00"/>
          </a:solidFill>
          <a:ln w="1905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5468112"/>
            <a:ext cx="354482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50" b="1" i="0">
                <a:solidFill>
                  <a:srgbClr val="21295C"/>
                </a:solidFill>
                <a:latin typeface="Arial"/>
              </a:rPr>
              <a:t>Разовый вызов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4084320" y="5591556"/>
            <a:ext cx="201167" cy="201168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322064" y="5303520"/>
            <a:ext cx="3544824" cy="7772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22064" y="5468112"/>
            <a:ext cx="354482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50" b="1" i="0">
                <a:solidFill>
                  <a:srgbClr val="21295C"/>
                </a:solidFill>
                <a:latin typeface="Arial"/>
              </a:rPr>
              <a:t>RAG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7903463" y="5591556"/>
            <a:ext cx="201167" cy="201168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141208" y="5303520"/>
            <a:ext cx="3544824" cy="7772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41208" y="5468112"/>
            <a:ext cx="354482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50" b="1" i="0">
                <a:solidFill>
                  <a:srgbClr val="21295C"/>
                </a:solidFill>
                <a:latin typeface="Arial"/>
              </a:rPr>
              <a:t>Агент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8311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Протоколы встреч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97280"/>
            <a:ext cx="11183112" cy="109728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quote-1C7293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271016"/>
            <a:ext cx="292608" cy="2926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2376" y="1609344"/>
            <a:ext cx="10744200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600" b="0" i="1">
                <a:solidFill>
                  <a:srgbClr val="21295C"/>
                </a:solidFill>
                <a:latin typeface="Arial"/>
              </a:rPr>
              <a:t>«А можно искать — что мы решали по проекту X за полгода?»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514600"/>
            <a:ext cx="11183112" cy="1417320"/>
          </a:xfrm>
          <a:prstGeom prst="roundRect">
            <a:avLst>
              <a:gd name="adj" fmla="val 21505"/>
            </a:avLst>
          </a:prstGeom>
          <a:solidFill>
            <a:srgbClr val="F4F7FA"/>
          </a:solidFill>
          <a:ln w="1905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7" name="Picture 6" descr="folder-search-065A82-9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2811780"/>
            <a:ext cx="822960" cy="8229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965960" y="2514600"/>
            <a:ext cx="9326880" cy="1417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1">
                <a:solidFill>
                  <a:srgbClr val="21295C"/>
                </a:solidFill>
                <a:latin typeface="Arial"/>
              </a:rPr>
              <a:t>Прошёл месяц — накопились десятки протоколов с разных встреч, по разным проектам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4206240"/>
            <a:ext cx="11183112" cy="105156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4206240"/>
            <a:ext cx="10607040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Меняет ли это архитектуру?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8311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Протоколы встреч — разбор 1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868680"/>
            <a:ext cx="11183112" cy="77724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quote-1C7293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042415"/>
            <a:ext cx="292608" cy="2926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2376" y="1380744"/>
            <a:ext cx="10744200" cy="457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350" b="0" i="1">
                <a:solidFill>
                  <a:srgbClr val="21295C"/>
                </a:solidFill>
                <a:latin typeface="Arial"/>
              </a:rPr>
              <a:t>«Растущий и меняющийся архив — вот когда нужен RAG»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606040"/>
            <a:ext cx="438912" cy="365760"/>
          </a:xfrm>
          <a:prstGeom prst="roundRect">
            <a:avLst>
              <a:gd name="adj" fmla="val 15000"/>
            </a:avLst>
          </a:prstGeom>
          <a:solidFill>
            <a:srgbClr val="1C729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98448" y="2450591"/>
            <a:ext cx="566928" cy="521208"/>
          </a:xfrm>
          <a:prstGeom prst="roundRect">
            <a:avLst>
              <a:gd name="adj" fmla="val 15000"/>
            </a:avLst>
          </a:prstGeom>
          <a:solidFill>
            <a:srgbClr val="1C729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956815" y="2295144"/>
            <a:ext cx="694944" cy="676656"/>
          </a:xfrm>
          <a:prstGeom prst="roundRect">
            <a:avLst>
              <a:gd name="adj" fmla="val 15000"/>
            </a:avLst>
          </a:prstGeom>
          <a:solidFill>
            <a:srgbClr val="1C729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615184" y="2139696"/>
            <a:ext cx="822960" cy="832104"/>
          </a:xfrm>
          <a:prstGeom prst="roundRect">
            <a:avLst>
              <a:gd name="adj" fmla="val 15000"/>
            </a:avLst>
          </a:prstGeom>
          <a:solidFill>
            <a:srgbClr val="1C729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273552" y="1984248"/>
            <a:ext cx="950976" cy="987552"/>
          </a:xfrm>
          <a:prstGeom prst="roundRect">
            <a:avLst>
              <a:gd name="adj" fmla="val 15000"/>
            </a:avLst>
          </a:prstGeom>
          <a:solidFill>
            <a:srgbClr val="F0AB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026664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6B7685"/>
                </a:solidFill>
                <a:latin typeface="Arial"/>
              </a:rPr>
              <a:t>растёт со временем →</a:t>
            </a:r>
          </a:p>
        </p:txBody>
      </p:sp>
      <p:pic>
        <p:nvPicPr>
          <p:cNvPr id="12" name="Picture 11" descr="database-065A82-9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0" y="2011680"/>
            <a:ext cx="777240" cy="7772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766560" y="1874519"/>
            <a:ext cx="48463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450" b="1" i="0">
                <a:solidFill>
                  <a:srgbClr val="21295C"/>
                </a:solidFill>
                <a:latin typeface="Arial"/>
              </a:rPr>
              <a:t>Весь объём уже не помещается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50" b="1" i="0">
                <a:solidFill>
                  <a:srgbClr val="21295C"/>
                </a:solidFill>
                <a:latin typeface="Arial"/>
              </a:rPr>
              <a:t>в один запрос к модели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291840"/>
            <a:ext cx="11183112" cy="59436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778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291840"/>
            <a:ext cx="1060704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21295C"/>
                </a:solidFill>
                <a:latin typeface="Arial"/>
              </a:rPr>
              <a:t>Теперь обоснован RAG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3813048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6B7685"/>
                </a:solidFill>
                <a:latin typeface="Arial"/>
              </a:rPr>
              <a:t>ступени архитектуры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069080"/>
            <a:ext cx="3544824" cy="1051560"/>
          </a:xfrm>
          <a:prstGeom prst="roundRect">
            <a:avLst>
              <a:gd name="adj" fmla="val 12000"/>
            </a:avLst>
          </a:prstGeom>
          <a:solidFill>
            <a:srgbClr val="E5EAF0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4233672"/>
            <a:ext cx="354482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50" b="1" i="0">
                <a:solidFill>
                  <a:srgbClr val="21295C"/>
                </a:solidFill>
                <a:latin typeface="Arial"/>
              </a:rPr>
              <a:t>Разовый вызов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4084320" y="4494276"/>
            <a:ext cx="201167" cy="201168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322064" y="4069080"/>
            <a:ext cx="3544824" cy="1051560"/>
          </a:xfrm>
          <a:prstGeom prst="roundRect">
            <a:avLst>
              <a:gd name="adj" fmla="val 12000"/>
            </a:avLst>
          </a:prstGeom>
          <a:solidFill>
            <a:srgbClr val="F0AB00"/>
          </a:solidFill>
          <a:ln w="1905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22064" y="4233672"/>
            <a:ext cx="354482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50" b="1" i="0">
                <a:solidFill>
                  <a:srgbClr val="21295C"/>
                </a:solidFill>
                <a:latin typeface="Arial"/>
              </a:rPr>
              <a:t>RAG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7903463" y="4494276"/>
            <a:ext cx="201167" cy="201168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141208" y="4069080"/>
            <a:ext cx="3544824" cy="105156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41208" y="4233672"/>
            <a:ext cx="354482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50" b="1" i="0">
                <a:solidFill>
                  <a:srgbClr val="21295C"/>
                </a:solidFill>
                <a:latin typeface="Arial"/>
              </a:rPr>
              <a:t>Агент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8311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Протоколы встреч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51560"/>
            <a:ext cx="11183112" cy="109728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quote-1C7293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225295"/>
            <a:ext cx="292608" cy="2926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2376" y="1563624"/>
            <a:ext cx="10744200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550" b="0" i="1">
                <a:solidFill>
                  <a:srgbClr val="21295C"/>
                </a:solidFill>
                <a:latin typeface="Arial"/>
              </a:rPr>
              <a:t>«Поручения из протоколов мы всё равно руками переносим в таск-трекер...»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423160"/>
            <a:ext cx="11183112" cy="1280160"/>
          </a:xfrm>
          <a:prstGeom prst="roundRect">
            <a:avLst>
              <a:gd name="adj" fmla="val 23809"/>
            </a:avLst>
          </a:prstGeom>
          <a:solidFill>
            <a:srgbClr val="F4F7FA"/>
          </a:solidFill>
          <a:ln w="1905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7" name="Picture 6" descr="list-checks-065A82-9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2743200"/>
            <a:ext cx="640080" cy="6400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828800" y="2423160"/>
            <a:ext cx="9418320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450" b="0" i="1">
                <a:solidFill>
                  <a:srgbClr val="21295C"/>
                </a:solidFill>
                <a:latin typeface="Arial"/>
              </a:rPr>
              <a:t>Система находит поручения в тексте протокола, но кто-то вручную открывает таск-трекер и заводит задачи одну за другой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977639"/>
            <a:ext cx="11183112" cy="77724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778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3977639"/>
            <a:ext cx="1060704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Меняет ли это архитектуру ещё раз?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8311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Протоколы встреч — разбор 2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80160"/>
            <a:ext cx="11183112" cy="1463040"/>
          </a:xfrm>
          <a:prstGeom prst="roundRect">
            <a:avLst>
              <a:gd name="adj" fmla="val 20833"/>
            </a:avLst>
          </a:prstGeom>
          <a:solidFill>
            <a:srgbClr val="F4F7FA"/>
          </a:solidFill>
          <a:ln w="2032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file-text-065A82-9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737360"/>
            <a:ext cx="548640" cy="548640"/>
          </a:xfrm>
          <a:prstGeom prst="rect">
            <a:avLst/>
          </a:prstGeom>
        </p:spPr>
      </p:pic>
      <p:pic>
        <p:nvPicPr>
          <p:cNvPr id="5" name="Picture 4" descr="arrow-right-F0AB00-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83080" y="1874519"/>
            <a:ext cx="411480" cy="411480"/>
          </a:xfrm>
          <a:prstGeom prst="rect">
            <a:avLst/>
          </a:prstGeom>
        </p:spPr>
      </p:pic>
      <p:pic>
        <p:nvPicPr>
          <p:cNvPr id="6" name="Picture 5" descr="cable-065A82-9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14600" y="1737360"/>
            <a:ext cx="548640" cy="548640"/>
          </a:xfrm>
          <a:prstGeom prst="rect">
            <a:avLst/>
          </a:prstGeom>
        </p:spPr>
      </p:pic>
      <p:pic>
        <p:nvPicPr>
          <p:cNvPr id="7" name="Picture 6" descr="arrow-right-F0AB00-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9000" y="1874519"/>
            <a:ext cx="411480" cy="411480"/>
          </a:xfrm>
          <a:prstGeom prst="rect">
            <a:avLst/>
          </a:prstGeom>
        </p:spPr>
      </p:pic>
      <p:pic>
        <p:nvPicPr>
          <p:cNvPr id="8" name="Picture 7" descr="check-circle-2-028090-9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60520" y="1737360"/>
            <a:ext cx="548640" cy="5486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74920" y="1280160"/>
            <a:ext cx="6126480" cy="1463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1">
                <a:solidFill>
                  <a:srgbClr val="21295C"/>
                </a:solidFill>
                <a:latin typeface="Arial"/>
              </a:rPr>
              <a:t>извлечь поручение → вызвать API таск-трекера → создать задачу и проверить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017520"/>
            <a:ext cx="11183112" cy="118872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1" name="Picture 10" descr="workflow-21295C-6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3337560"/>
            <a:ext cx="548640" cy="54864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508760" y="3145536"/>
            <a:ext cx="987552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Действие во внешней системе — нужен workflow или агент. Начинайте с простейшего, усложняйте только когда требование не закрыть иначе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133087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6B7685"/>
                </a:solidFill>
                <a:latin typeface="Arial"/>
              </a:rPr>
              <a:t>ступени архитектуры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389120"/>
            <a:ext cx="3544824" cy="914400"/>
          </a:xfrm>
          <a:prstGeom prst="roundRect">
            <a:avLst>
              <a:gd name="adj" fmla="val 12000"/>
            </a:avLst>
          </a:prstGeom>
          <a:solidFill>
            <a:srgbClr val="E5EAF0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4553712"/>
            <a:ext cx="354482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50" b="1" i="0">
                <a:solidFill>
                  <a:srgbClr val="21295C"/>
                </a:solidFill>
                <a:latin typeface="Arial"/>
              </a:rPr>
              <a:t>Разовый вызов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4084320" y="4745736"/>
            <a:ext cx="201167" cy="201168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322064" y="4389120"/>
            <a:ext cx="3544824" cy="914400"/>
          </a:xfrm>
          <a:prstGeom prst="roundRect">
            <a:avLst>
              <a:gd name="adj" fmla="val 12000"/>
            </a:avLst>
          </a:prstGeom>
          <a:solidFill>
            <a:srgbClr val="E5EAF0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22064" y="4553712"/>
            <a:ext cx="354482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50" b="1" i="0">
                <a:solidFill>
                  <a:srgbClr val="21295C"/>
                </a:solidFill>
                <a:latin typeface="Arial"/>
              </a:rPr>
              <a:t>RAG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7903463" y="4745736"/>
            <a:ext cx="201167" cy="201168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141208" y="4389120"/>
            <a:ext cx="3544824" cy="914400"/>
          </a:xfrm>
          <a:prstGeom prst="roundRect">
            <a:avLst>
              <a:gd name="adj" fmla="val 12000"/>
            </a:avLst>
          </a:prstGeom>
          <a:solidFill>
            <a:srgbClr val="F0AB00"/>
          </a:solidFill>
          <a:ln w="1905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41208" y="4553712"/>
            <a:ext cx="354482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50" b="1" i="0">
                <a:solidFill>
                  <a:srgbClr val="21295C"/>
                </a:solidFill>
                <a:latin typeface="Arial"/>
              </a:rPr>
              <a:t>Агент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8311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Дайджест по чатам и почте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05840"/>
            <a:ext cx="11183112" cy="9144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quote-1C7293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179576"/>
            <a:ext cx="292608" cy="2926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2376" y="1517904"/>
            <a:ext cx="10744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500" b="0" i="1">
                <a:solidFill>
                  <a:srgbClr val="21295C"/>
                </a:solidFill>
                <a:latin typeface="Arial"/>
              </a:rPr>
              <a:t>«Нужен еженедельный дайджест по рабочим чатам и почте команды»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48840"/>
            <a:ext cx="11183112" cy="2148840"/>
          </a:xfrm>
          <a:prstGeom prst="roundRect">
            <a:avLst>
              <a:gd name="adj" fmla="val 14184"/>
            </a:avLst>
          </a:prstGeom>
          <a:solidFill>
            <a:srgbClr val="F4F7FA"/>
          </a:solidFill>
          <a:ln w="2032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7" name="Picture 6" descr="message-square-quote-065A82-9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2560320"/>
            <a:ext cx="640080" cy="640080"/>
          </a:xfrm>
          <a:prstGeom prst="rect">
            <a:avLst/>
          </a:prstGeom>
        </p:spPr>
      </p:pic>
      <p:pic>
        <p:nvPicPr>
          <p:cNvPr id="8" name="Picture 7" descr="mail-028090-9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20240" y="2560320"/>
            <a:ext cx="640080" cy="640080"/>
          </a:xfrm>
          <a:prstGeom prst="rect">
            <a:avLst/>
          </a:prstGeom>
        </p:spPr>
      </p:pic>
      <p:pic>
        <p:nvPicPr>
          <p:cNvPr id="9" name="Picture 8" descr="arrow-right-F0AB00-6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80360" y="2697480"/>
            <a:ext cx="457200" cy="457200"/>
          </a:xfrm>
          <a:prstGeom prst="rect">
            <a:avLst/>
          </a:prstGeom>
        </p:spPr>
      </p:pic>
      <p:pic>
        <p:nvPicPr>
          <p:cNvPr id="10" name="Picture 9" descr="file-text-065A82-9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57600" y="2560320"/>
            <a:ext cx="640080" cy="6400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709160" y="2514600"/>
            <a:ext cx="6217920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650" b="1" i="0">
                <a:solidFill>
                  <a:srgbClr val="21295C"/>
                </a:solidFill>
                <a:latin typeface="Arial"/>
              </a:rPr>
              <a:t>Что обсуждали, что решили за неделю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6B7685"/>
                </a:solidFill>
                <a:latin typeface="Arial"/>
              </a:rPr>
              <a:t>Коротко, одним сообщением по пятницам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572000"/>
            <a:ext cx="11183112" cy="77724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778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4572000"/>
            <a:ext cx="1060704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Какая архитектура здесь нужна?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8311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Дайджест — разбор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71600"/>
            <a:ext cx="5454396" cy="1783080"/>
          </a:xfrm>
          <a:prstGeom prst="roundRect">
            <a:avLst>
              <a:gd name="adj" fmla="val 6000"/>
            </a:avLst>
          </a:prstGeom>
          <a:solidFill>
            <a:srgbClr val="E9F5F2"/>
          </a:solidFill>
          <a:ln w="1778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circle-check-028090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1572768"/>
            <a:ext cx="365760" cy="365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79576" y="1554480"/>
            <a:ext cx="4576571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Агент — нужен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2103120"/>
            <a:ext cx="5052059" cy="1033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 i="0">
                <a:solidFill>
                  <a:srgbClr val="21295C"/>
                </a:solidFill>
                <a:latin typeface="Arial"/>
              </a:rPr>
              <a:t>Обход нескольких источников по расписанию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21295C"/>
                </a:solidFill>
                <a:latin typeface="Arial"/>
              </a:rPr>
              <a:t>Многошаговая задача с обращением к внешним системам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31636" y="1371600"/>
            <a:ext cx="5454396" cy="1783080"/>
          </a:xfrm>
          <a:prstGeom prst="roundRect">
            <a:avLst>
              <a:gd name="adj" fmla="val 6000"/>
            </a:avLst>
          </a:prstGeom>
          <a:solidFill>
            <a:srgbClr val="FBEAEA"/>
          </a:solidFill>
          <a:ln w="17780">
            <a:solidFill>
              <a:srgbClr val="B04A4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8" name="Picture 7" descr="x-circle-21295C-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2803" y="1572768"/>
            <a:ext cx="365760" cy="3657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908292" y="1554480"/>
            <a:ext cx="4576571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RAG — не нужен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32803" y="2103120"/>
            <a:ext cx="5052059" cy="1033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 i="0">
                <a:solidFill>
                  <a:srgbClr val="21295C"/>
                </a:solidFill>
                <a:latin typeface="Arial"/>
              </a:rPr>
              <a:t>Источники обходятся напрямую по расписанию, не по произвольному запросу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21295C"/>
                </a:solidFill>
                <a:latin typeface="Arial"/>
              </a:rPr>
              <a:t>Суммаризация — один вызов модели после сбора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474720"/>
            <a:ext cx="11183112" cy="105156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778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474720"/>
            <a:ext cx="10607040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1">
                <a:solidFill>
                  <a:srgbClr val="21295C"/>
                </a:solidFill>
                <a:latin typeface="Arial"/>
              </a:rPr>
              <a:t>Много источников — не то же самое, что RAG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8311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Из жизни: фреймворк и класс задач для агента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71600"/>
            <a:ext cx="5454396" cy="2514600"/>
          </a:xfrm>
          <a:prstGeom prst="roundRect">
            <a:avLst>
              <a:gd name="adj" fmla="val 6000"/>
            </a:avLst>
          </a:prstGeom>
          <a:solidFill>
            <a:srgbClr val="FBEAEA"/>
          </a:solidFill>
          <a:ln w="17780">
            <a:solidFill>
              <a:srgbClr val="B04A4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x-circle-21295C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1572768"/>
            <a:ext cx="365760" cy="365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79576" y="1554480"/>
            <a:ext cx="4576571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Octomind: «Why we no longer use LangChain»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2103120"/>
            <a:ext cx="5052059" cy="17647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 i="0">
                <a:solidFill>
                  <a:srgbClr val="21295C"/>
                </a:solidFill>
                <a:latin typeface="Arial"/>
              </a:rPr>
              <a:t>12+ месяцев LangChain в проде → отказ (17.06.2024)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Дебаг фреймворка дороже разработки фич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 i="0">
                <a:solidFill>
                  <a:srgbClr val="21295C"/>
                </a:solidFill>
                <a:latin typeface="Arial"/>
              </a:rPr>
              <a:t>Негибкие абстракции → замена на прямые модульные вызовы LLM API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31636" y="1371600"/>
            <a:ext cx="5454396" cy="2514600"/>
          </a:xfrm>
          <a:prstGeom prst="roundRect">
            <a:avLst>
              <a:gd name="adj" fmla="val 6000"/>
            </a:avLst>
          </a:prstGeom>
          <a:solidFill>
            <a:srgbClr val="E9F5F2"/>
          </a:solidFill>
          <a:ln w="1778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8" name="Picture 7" descr="circle-check-028090-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2803" y="1572768"/>
            <a:ext cx="365760" cy="3657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908292" y="1554480"/>
            <a:ext cx="4576571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Где агент необходим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32803" y="2103120"/>
            <a:ext cx="5052059" cy="17647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 i="0">
                <a:solidFill>
                  <a:srgbClr val="21295C"/>
                </a:solidFill>
                <a:latin typeface="Arial"/>
              </a:rPr>
              <a:t>Deep Research — поиск и синтез по многим источникам с уточнением запроса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 i="0">
                <a:solidFill>
                  <a:srgbClr val="21295C"/>
                </a:solidFill>
                <a:latin typeface="Arial"/>
              </a:rPr>
              <a:t>Coding-агенты — правка кода → запуск тестов → итерация по результату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В обоих случаях одного вызова физически недостаточно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160520"/>
            <a:ext cx="11183112" cy="105156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778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160520"/>
            <a:ext cx="10607040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21295C"/>
                </a:solidFill>
                <a:latin typeface="Arial"/>
              </a:rPr>
              <a:t>Прямые вызовы API иногда дают больше контроля, чем абстракция, которая должна была его упростить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-91440" y="-594360"/>
            <a:ext cx="5486400" cy="329184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90000"/>
              </a:lnSpc>
            </a:pPr>
            <a:r>
              <a:rPr sz="28000" b="1" i="0">
                <a:solidFill>
                  <a:srgbClr val="E5EAF0"/>
                </a:solidFill>
                <a:latin typeface="Arial"/>
              </a:rPr>
              <a:t>4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965960" y="1600200"/>
            <a:ext cx="201168" cy="201168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926080"/>
            <a:ext cx="106070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 i="0">
                <a:solidFill>
                  <a:srgbClr val="21295C"/>
                </a:solidFill>
                <a:latin typeface="Arial"/>
              </a:rPr>
              <a:t>Звонки продаж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4434840"/>
            <a:ext cx="4754880" cy="50292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txBody>
          <a:bodyPr rtlCol="0" anchor="ctr" lIns="45720" rIns="45720" tIns="27432" bIns="27432" wrap="none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Внешний API или локально?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8311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Звонки продаж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05840"/>
            <a:ext cx="11183112" cy="118872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quote-1C7293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179576"/>
            <a:ext cx="292608" cy="2926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2376" y="1517904"/>
            <a:ext cx="10287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550" b="0" i="1">
                <a:solidFill>
                  <a:srgbClr val="21295C"/>
                </a:solidFill>
                <a:latin typeface="Arial"/>
              </a:rPr>
              <a:t>«Хочу карточку по каждому звонку — потребность, возражения, договорённости»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009376" y="1179576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4F7FA"/>
          </a:solidFill>
          <a:ln w="1651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7" name="Picture 6" descr="briefcase-028090-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91672" y="1261872"/>
            <a:ext cx="292608" cy="292608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02920" y="2377440"/>
            <a:ext cx="4206240" cy="3611880"/>
          </a:xfrm>
          <a:prstGeom prst="roundRect">
            <a:avLst>
              <a:gd name="adj" fmla="val 8438"/>
            </a:avLst>
          </a:prstGeom>
          <a:solidFill>
            <a:srgbClr val="F4F7FA"/>
          </a:solidFill>
          <a:ln w="2032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s29-office-phonecall-real.jpg"/>
          <p:cNvPicPr>
            <a:picLocks noChangeAspect="1"/>
          </p:cNvPicPr>
          <p:nvPr/>
        </p:nvPicPr>
        <p:blipFill>
          <a:blip r:embed="rId4"/>
          <a:srcRect l="2053" r="2053"/>
          <a:stretch>
            <a:fillRect/>
          </a:stretch>
        </p:blipFill>
        <p:spPr>
          <a:xfrm>
            <a:off x="612648" y="2487168"/>
            <a:ext cx="3986783" cy="311810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12648" y="5715000"/>
            <a:ext cx="398678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1">
                <a:solidFill>
                  <a:srgbClr val="6B7685"/>
                </a:solidFill>
                <a:latin typeface="Arial"/>
              </a:rPr>
              <a:t>OddibeKerfeld · Wikimedia Commons · CC BY-SA 3.0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983479" y="2377440"/>
            <a:ext cx="6702552" cy="1691640"/>
          </a:xfrm>
          <a:prstGeom prst="roundRect">
            <a:avLst>
              <a:gd name="adj" fmla="val 1801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66359" y="2523744"/>
            <a:ext cx="6336792" cy="1417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1">
                <a:solidFill>
                  <a:srgbClr val="21295C"/>
                </a:solidFill>
                <a:latin typeface="Arial"/>
              </a:rPr>
              <a:t>Запись обычного свободного разговора менеджера с клиентом, без структуры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983479" y="4343400"/>
            <a:ext cx="6702552" cy="1645920"/>
          </a:xfrm>
          <a:prstGeom prst="roundRect">
            <a:avLst>
              <a:gd name="adj" fmla="val 18518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66359" y="4343400"/>
            <a:ext cx="6336792" cy="1645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i="0">
                <a:solidFill>
                  <a:srgbClr val="21295C"/>
                </a:solidFill>
                <a:latin typeface="Arial"/>
              </a:rPr>
              <a:t>Какая архитектура, где считать?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8311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Звонки продаж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97280"/>
            <a:ext cx="11183112" cy="1280160"/>
          </a:xfrm>
          <a:prstGeom prst="roundRect">
            <a:avLst>
              <a:gd name="adj" fmla="val 2380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quote-1C7293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271016"/>
            <a:ext cx="292608" cy="2926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2376" y="1609344"/>
            <a:ext cx="10287000" cy="5486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600" b="0" i="1">
                <a:solidFill>
                  <a:srgbClr val="21295C"/>
                </a:solidFill>
                <a:latin typeface="Arial"/>
              </a:rPr>
              <a:t>«Стоп. Клиенты диктуют телефоны, адреса, иногда паспортные данные»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009376" y="1271016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4F7FA"/>
          </a:solidFill>
          <a:ln w="1651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7" name="Picture 6" descr="scale-028090-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91672" y="1353312"/>
            <a:ext cx="292608" cy="292608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02920" y="2651760"/>
            <a:ext cx="11183112" cy="1280160"/>
          </a:xfrm>
          <a:prstGeom prst="roundRect">
            <a:avLst>
              <a:gd name="adj" fmla="val 23809"/>
            </a:avLst>
          </a:prstGeom>
          <a:solidFill>
            <a:srgbClr val="F4F7FA"/>
          </a:solidFill>
          <a:ln w="1905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shield-alert-21295C-9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971800"/>
            <a:ext cx="640080" cy="6400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651760"/>
            <a:ext cx="9418320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1">
                <a:solidFill>
                  <a:srgbClr val="21295C"/>
                </a:solidFill>
                <a:latin typeface="Arial"/>
              </a:rPr>
              <a:t>Никто из инженеров не думал об этом заранее — все слушали только про потребности и возражения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206240"/>
            <a:ext cx="11183112" cy="77724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778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206240"/>
            <a:ext cx="1060704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Кто передумал?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8311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Звонки продаж — разбор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8311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 i="1">
                <a:solidFill>
                  <a:srgbClr val="065A82"/>
                </a:solidFill>
                <a:latin typeface="Arial"/>
              </a:rPr>
              <a:t>Персональные данные меняют расчёт — и цена ошибки не абстрактная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00200"/>
            <a:ext cx="11183112" cy="2377440"/>
          </a:xfrm>
          <a:prstGeom prst="roundRect">
            <a:avLst>
              <a:gd name="adj" fmla="val 12820"/>
            </a:avLst>
          </a:prstGeom>
          <a:solidFill>
            <a:srgbClr val="FBEAEA"/>
          </a:solidFill>
          <a:ln w="19050">
            <a:solidFill>
              <a:srgbClr val="B04A4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shield-alert-21295C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828800"/>
            <a:ext cx="457200" cy="45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71600" y="1783080"/>
            <a:ext cx="9966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21295C"/>
                </a:solidFill>
                <a:latin typeface="Arial"/>
              </a:rPr>
              <a:t>420-ФЗ (принят 30.11.2024, вступил в силу 30.05.2025)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377440"/>
            <a:ext cx="996696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1" i="0">
                <a:solidFill>
                  <a:srgbClr val="21295C"/>
                </a:solidFill>
                <a:latin typeface="Arial"/>
              </a:rPr>
              <a:t>Повторная утечка персональных данных — оборотный штраф 1-3% годовой выручки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 i="0">
                <a:solidFill>
                  <a:srgbClr val="6B7685"/>
                </a:solidFill>
                <a:latin typeface="Arial"/>
              </a:rPr>
              <a:t>(минимум 20 млн, максимум 500 млн ₽)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1">
                <a:solidFill>
                  <a:srgbClr val="21295C"/>
                </a:solidFill>
                <a:latin typeface="Arial"/>
              </a:rPr>
              <a:t>Обязанность уведомить Роскомнадзор в течение 24 часов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251959"/>
            <a:ext cx="11183112" cy="82296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778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4251959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21295C"/>
                </a:solidFill>
                <a:latin typeface="Arial"/>
              </a:rPr>
              <a:t>Тот же организационный вопрос, что был в кейсе про логи — только ставки выше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8311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Звонки продаж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71600"/>
            <a:ext cx="5454396" cy="2286000"/>
          </a:xfrm>
          <a:prstGeom prst="roundRect">
            <a:avLst>
              <a:gd name="adj" fmla="val 1333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quote-1C7293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545336"/>
            <a:ext cx="292608" cy="2926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2376" y="1883664"/>
            <a:ext cx="4558283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600" b="0" i="1">
                <a:solidFill>
                  <a:srgbClr val="21295C"/>
                </a:solidFill>
                <a:latin typeface="Arial"/>
              </a:rPr>
              <a:t>«GPU-сервера у нас нет, и бюджета на него в этом году нет»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280659" y="1545336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4F7FA"/>
          </a:solidFill>
          <a:ln w="1651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7" name="Picture 6" descr="briefcase-028090-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2955" y="1627632"/>
            <a:ext cx="292608" cy="29260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22376" y="3291840"/>
            <a:ext cx="501548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6B7685"/>
                </a:solidFill>
                <a:latin typeface="Arial"/>
              </a:rPr>
              <a:t>— CTO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1636" y="1371600"/>
            <a:ext cx="5454396" cy="2286000"/>
          </a:xfrm>
          <a:prstGeom prst="roundRect">
            <a:avLst>
              <a:gd name="adj" fmla="val 1333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0" name="Picture 9" descr="quote-1C7293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1092" y="1545336"/>
            <a:ext cx="292608" cy="2926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51092" y="1883664"/>
            <a:ext cx="4558283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600" b="0" i="1">
                <a:solidFill>
                  <a:srgbClr val="21295C"/>
                </a:solidFill>
                <a:latin typeface="Arial"/>
              </a:rPr>
              <a:t>«Мне не беседа нужна — пять полей в CRM по каждому звонку»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009376" y="1545336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4F7FA"/>
          </a:solidFill>
          <a:ln w="1651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3" name="Picture 12" descr="user-round-028090-6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91672" y="1627632"/>
            <a:ext cx="292608" cy="29260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451092" y="3291840"/>
            <a:ext cx="501548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6B7685"/>
                </a:solidFill>
                <a:latin typeface="Arial"/>
              </a:rPr>
              <a:t>— руководитель отдела продаж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931920"/>
            <a:ext cx="11183112" cy="82296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778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393192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Меняет ли это архитектуру ещё раз?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8311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Звонки продаж — разбор 2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80160"/>
            <a:ext cx="11183112" cy="1280160"/>
          </a:xfrm>
          <a:prstGeom prst="roundRect">
            <a:avLst>
              <a:gd name="adj" fmla="val 23809"/>
            </a:avLst>
          </a:prstGeom>
          <a:solidFill>
            <a:srgbClr val="F4F7FA"/>
          </a:solidFill>
          <a:ln w="2032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cpu-21295C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645919"/>
            <a:ext cx="548640" cy="5486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508760" y="1408176"/>
            <a:ext cx="9875520" cy="10241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21295C"/>
                </a:solidFill>
                <a:latin typeface="Arial"/>
              </a:rPr>
              <a:t>Небольшая локальная модель (7-8 млрд параметров) справляется — данные не покидают периметр компании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880360"/>
            <a:ext cx="5454396" cy="1691640"/>
          </a:xfrm>
          <a:prstGeom prst="roundRect">
            <a:avLst>
              <a:gd name="adj" fmla="val 18018"/>
            </a:avLst>
          </a:prstGeom>
          <a:solidFill>
            <a:srgbClr val="F4F7FA"/>
          </a:solidFill>
          <a:ln w="1905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3044952"/>
            <a:ext cx="5052059" cy="1362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(а) «сложно для человека» ≠ «сложно для модели»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1636" y="2880360"/>
            <a:ext cx="5454396" cy="1691640"/>
          </a:xfrm>
          <a:prstGeom prst="roundRect">
            <a:avLst>
              <a:gd name="adj" fmla="val 18018"/>
            </a:avLst>
          </a:prstGeom>
          <a:solidFill>
            <a:srgbClr val="F4F7FA"/>
          </a:solidFill>
          <a:ln w="1905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32803" y="3044952"/>
            <a:ext cx="5052059" cy="1362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(б) чувствительность данных выясняется вопросами, а не предполагается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544568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6B7685"/>
                </a:solidFill>
                <a:latin typeface="Arial"/>
              </a:rPr>
              <a:t>ходы разбора кейса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00600"/>
            <a:ext cx="3544824" cy="914400"/>
          </a:xfrm>
          <a:prstGeom prst="roundRect">
            <a:avLst>
              <a:gd name="adj" fmla="val 15000"/>
            </a:avLst>
          </a:prstGeom>
          <a:solidFill>
            <a:srgbClr val="E5EAF0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" y="4800600"/>
            <a:ext cx="3325368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Ход 1: Облачный frontier?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22064" y="4800600"/>
            <a:ext cx="3544824" cy="914400"/>
          </a:xfrm>
          <a:prstGeom prst="roundRect">
            <a:avLst>
              <a:gd name="adj" fmla="val 15000"/>
            </a:avLst>
          </a:prstGeom>
          <a:solidFill>
            <a:srgbClr val="E5EAF0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31792" y="4800600"/>
            <a:ext cx="3325368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Ход 2: Персональные данные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41208" y="4800600"/>
            <a:ext cx="3544824" cy="914400"/>
          </a:xfrm>
          <a:prstGeom prst="roundRect">
            <a:avLst>
              <a:gd name="adj" fmla="val 15000"/>
            </a:avLst>
          </a:prstGeom>
          <a:solidFill>
            <a:srgbClr val="F0AB00"/>
          </a:solidFill>
          <a:ln w="1905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50936" y="4800600"/>
            <a:ext cx="3325368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Ход 3: Шаблон полей → локальная модель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8311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Из жизни: утечка и малые модели в проде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17320"/>
            <a:ext cx="5454396" cy="2606040"/>
          </a:xfrm>
          <a:prstGeom prst="roundRect">
            <a:avLst>
              <a:gd name="adj" fmla="val 6000"/>
            </a:avLst>
          </a:prstGeom>
          <a:solidFill>
            <a:srgbClr val="FBEAEA"/>
          </a:solidFill>
          <a:ln w="17780">
            <a:solidFill>
              <a:srgbClr val="B04A4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x-circle-21295C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1618488"/>
            <a:ext cx="365760" cy="365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79576" y="1600200"/>
            <a:ext cx="4576571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Samsung, 2023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2148840"/>
            <a:ext cx="5052059" cy="18562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 i="0">
                <a:solidFill>
                  <a:srgbClr val="21295C"/>
                </a:solidFill>
                <a:latin typeface="Arial"/>
              </a:rPr>
              <a:t>Разрешили ChatGPT 11.03.2023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К 30.03 (~19 дней) — 3 утечки: 2× код производства, 1× транскрипт совещания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 i="0">
                <a:solidFill>
                  <a:srgbClr val="21295C"/>
                </a:solidFill>
                <a:latin typeface="Arial"/>
              </a:rPr>
              <a:t>Полный запрет генеративного ИИ на устройствах (май 2023) + своя внутренняя система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31636" y="1417320"/>
            <a:ext cx="5454396" cy="2606040"/>
          </a:xfrm>
          <a:prstGeom prst="roundRect">
            <a:avLst>
              <a:gd name="adj" fmla="val 6000"/>
            </a:avLst>
          </a:prstGeom>
          <a:solidFill>
            <a:srgbClr val="E9F5F2"/>
          </a:solidFill>
          <a:ln w="1778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8" name="Picture 7" descr="circle-check-028090-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2803" y="1618488"/>
            <a:ext cx="365760" cy="3657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908292" y="1600200"/>
            <a:ext cx="4576571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Малые модели в проде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32803" y="2148840"/>
            <a:ext cx="5052059" cy="18562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 i="0">
                <a:solidFill>
                  <a:srgbClr val="21295C"/>
                </a:solidFill>
                <a:latin typeface="Arial"/>
              </a:rPr>
              <a:t>JetBrains full-line completion — локальная модель ~100 МБ, в проде с апреля 2024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Apple on-device — ~3 млрд параметров (WWDC 2024)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 i="1">
                <a:solidFill>
                  <a:srgbClr val="6B7685"/>
                </a:solidFill>
                <a:latin typeface="Arial"/>
              </a:rPr>
              <a:t>Frontier (GPT/Claude/Gemini) — сотни миллиардов параметров, только облако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297680"/>
            <a:ext cx="11183112" cy="105156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778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297680"/>
            <a:ext cx="10607040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Frontier-модели — сотни миллиардов параметров, доступны только через облако. Малые модели уже работают локально в проде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8311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21295C"/>
                </a:solidFill>
                <a:latin typeface="Arial"/>
              </a:rPr>
              <a:t>Ваши задачи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63040"/>
            <a:ext cx="11183112" cy="3200400"/>
          </a:xfrm>
          <a:prstGeom prst="roundRect">
            <a:avLst>
              <a:gd name="adj" fmla="val 9523"/>
            </a:avLst>
          </a:prstGeom>
          <a:solidFill>
            <a:srgbClr val="F4F7FA"/>
          </a:solidFill>
          <a:ln w="2032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hand-F0AB00-9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0" y="1920240"/>
            <a:ext cx="1097280" cy="1097280"/>
          </a:xfrm>
          <a:prstGeom prst="rect">
            <a:avLst/>
          </a:prstGeom>
        </p:spPr>
      </p:pic>
      <p:pic>
        <p:nvPicPr>
          <p:cNvPr id="5" name="Picture 4" descr="users-065A82-9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1920240"/>
            <a:ext cx="1097280" cy="10972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3383280"/>
            <a:ext cx="105156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У кого есть похожая задача с работы — там, где стоял вопрос, нужен ли ИИ, и какой?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937759"/>
            <a:ext cx="11183112" cy="82296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778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4937759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1">
                <a:solidFill>
                  <a:srgbClr val="21295C"/>
                </a:solidFill>
                <a:latin typeface="Arial"/>
              </a:rPr>
              <a:t>Достаточно сформулировать в двух-трёх предложениях, как её принёс бы заказчик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8311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Что унести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8311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065A82"/>
                </a:solidFill>
                <a:latin typeface="Arial"/>
              </a:rPr>
              <a:t>Семь уроков, по одному на кейс — ничего нового, только компиляция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11183112" cy="5943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file-text-065A82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833372"/>
            <a:ext cx="310896" cy="31089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88720" y="1691640"/>
            <a:ext cx="320040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Документы поставщиков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15968" y="1943100"/>
            <a:ext cx="91440" cy="9144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26280" y="1691640"/>
            <a:ext cx="694944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Два примера — не выборка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340864"/>
            <a:ext cx="11183112" cy="5943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0" name="Picture 9" descr="shield-alert-065A82-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482596"/>
            <a:ext cx="310896" cy="31089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88720" y="2340864"/>
            <a:ext cx="320040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Персоналка в логах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15968" y="2592324"/>
            <a:ext cx="91440" cy="9144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2340864"/>
            <a:ext cx="694944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Граница regex/модель — внутри задачи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2990088"/>
            <a:ext cx="11183112" cy="5943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5" name="Picture 14" descr="monitor-065A82-6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3131820"/>
            <a:ext cx="310896" cy="31089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188720" y="2990088"/>
            <a:ext cx="320040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Помощник поддержки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15968" y="3241548"/>
            <a:ext cx="91440" cy="9144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26280" y="2990088"/>
            <a:ext cx="694944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Организационное ограничение решает не хуже техники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639312"/>
            <a:ext cx="11183112" cy="5943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0" name="Picture 19" descr="store-065A82-6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3781044"/>
            <a:ext cx="310896" cy="310896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188720" y="3639312"/>
            <a:ext cx="320040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Описания товаров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15968" y="3890772"/>
            <a:ext cx="91440" cy="9144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26280" y="3639312"/>
            <a:ext cx="694944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Встроенность бьёт отдельный продукт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4288536"/>
            <a:ext cx="11183112" cy="5943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5" name="Picture 24" descr="list-checks-065A82-6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4430268"/>
            <a:ext cx="310896" cy="310896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188720" y="4288536"/>
            <a:ext cx="320040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Протоколы встреч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15968" y="4539996"/>
            <a:ext cx="91440" cy="9144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26280" y="4288536"/>
            <a:ext cx="694944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Архитектуру двигают требования, не мода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4937760"/>
            <a:ext cx="11183112" cy="5943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0" name="Picture 29" descr="mail-065A82-6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5800" y="5079492"/>
            <a:ext cx="310896" cy="310896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188720" y="4937760"/>
            <a:ext cx="320040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Дайджест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315968" y="5189220"/>
            <a:ext cx="91440" cy="9144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26280" y="4937760"/>
            <a:ext cx="694944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Много источников ≠ RAG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02920" y="5586983"/>
            <a:ext cx="11183112" cy="5943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5" name="Picture 34" descr="phone-065A82-64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5800" y="5728716"/>
            <a:ext cx="310896" cy="310896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1188720" y="5586983"/>
            <a:ext cx="320040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Звонки продаж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315968" y="5838444"/>
            <a:ext cx="91440" cy="9144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26280" y="5586983"/>
            <a:ext cx="694944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Сложно для человека ≠ сложно для модели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8311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Домашнее чтение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8311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065A82"/>
                </a:solidFill>
                <a:latin typeface="Arial"/>
              </a:rPr>
              <a:t>Необязательно, но по каждой истории будет что обсудить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00200"/>
            <a:ext cx="3557016" cy="4480560"/>
          </a:xfrm>
          <a:prstGeom prst="roundRect">
            <a:avLst>
              <a:gd name="adj" fmla="val 8568"/>
            </a:avLst>
          </a:prstGeom>
          <a:solidFill>
            <a:srgbClr val="F4F7FA"/>
          </a:solidFill>
          <a:ln w="2540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825496" y="1783080"/>
            <a:ext cx="1051560" cy="310896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txBody>
          <a:bodyPr rtlCol="0" anchor="ctr" lIns="45720" rIns="45720" tIns="27432" bIns="27432" wrap="none"/>
          <a:lstStyle/>
          <a:p>
            <a:pPr algn="ctr"/>
            <a:r>
              <a:rPr sz="1050" b="1">
                <a:solidFill>
                  <a:srgbClr val="21295C"/>
                </a:solidFill>
                <a:latin typeface="Arial"/>
              </a:rPr>
              <a:t>ГЛАВНОЕ</a:t>
            </a:r>
          </a:p>
        </p:txBody>
      </p:sp>
      <p:pic>
        <p:nvPicPr>
          <p:cNvPr id="6" name="Picture 5" descr="handshake-065A82-9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7108" y="1874519"/>
            <a:ext cx="548640" cy="548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2651760"/>
            <a:ext cx="3191256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Сага Klarna, 2023-2025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566160"/>
            <a:ext cx="3191256" cy="2331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AI-ассистент поддержки: от впечатляющего старта до признания «мы зашли слишком далеко» и возврата к найму людей.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5968" y="1600200"/>
            <a:ext cx="3557016" cy="4480560"/>
          </a:xfrm>
          <a:prstGeom prst="roundRect">
            <a:avLst>
              <a:gd name="adj" fmla="val 856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0" name="Picture 9" descr="building-2-065A82-9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20156" y="1874519"/>
            <a:ext cx="548640" cy="5486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498848" y="2651760"/>
            <a:ext cx="3191256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NYC MyCity chatbot, 2024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8848" y="3566160"/>
            <a:ext cx="3191256" cy="2331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Городской чат-бот для малого бизнеса, дававший юридически некорректные советы. Расследование The Markup.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29016" y="1600200"/>
            <a:ext cx="3557016" cy="4480560"/>
          </a:xfrm>
          <a:prstGeom prst="roundRect">
            <a:avLst>
              <a:gd name="adj" fmla="val 856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4" name="Picture 13" descr="banknote-065A82-9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33204" y="1874519"/>
            <a:ext cx="548640" cy="5486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311896" y="2651760"/>
            <a:ext cx="3191256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Бонус, для настроения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11896" y="3566160"/>
            <a:ext cx="3191256" cy="2331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Автосалон подключил чат-бот на стороннем API без ограждений — и чат-бот «продал» внедорожник за один доллар.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263640"/>
            <a:ext cx="11183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Если сегодня останется время — часть этого разберём вживую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8311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Klarna, 2023-2025: одна история — четыре развилки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188720"/>
            <a:ext cx="11183112" cy="841248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85800" y="1426464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txBody>
          <a:bodyPr rtlCol="0" anchor="ctr" lIns="45720" rIns="45720" tIns="27432" bIns="27432" wrap="non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1280160"/>
            <a:ext cx="21945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ИИ или нет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20440" y="1280160"/>
            <a:ext cx="800100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Типовые тикеты — формализуемы, хороший кандидат; но оптимизация по стоимости уронила качество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121408"/>
            <a:ext cx="11183112" cy="841248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85800" y="2359152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txBody>
          <a:bodyPr rtlCol="0" anchor="ctr" lIns="45720" rIns="45720" tIns="27432" bIns="27432" wrap="non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212848"/>
            <a:ext cx="21945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Встроить или своё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0440" y="2212848"/>
            <a:ext cx="800100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Ассистент в существующем канале поддержки, внешний API (OpenAI) — не отдельный продукт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054096"/>
            <a:ext cx="11183112" cy="841248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85800" y="3291840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txBody>
          <a:bodyPr rtlCol="0" anchor="ctr" lIns="45720" rIns="45720" tIns="27432" bIns="27432" wrap="non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3145536"/>
            <a:ext cx="21945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Архитектура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440" y="3145536"/>
            <a:ext cx="800100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Чат-ассистент с эскалацией к человеку, не автономный агент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986784"/>
            <a:ext cx="11183112" cy="841248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85800" y="4224528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txBody>
          <a:bodyPr rtlCol="0" anchor="ctr" lIns="45720" rIns="45720" tIns="27432" bIns="27432" wrap="non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078224"/>
            <a:ext cx="21945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Инференс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20440" y="4078224"/>
            <a:ext cx="800100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Внешний облачный API с клиентскими данными поддержки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965192"/>
            <a:ext cx="11183112" cy="77724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4965192"/>
            <a:ext cx="1069848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Запуск февраль 2024 · 30 дней: 2,3 млн чатов, 67% обращений автоматизировано · заявлено «700 агентов»/$40М (2024) → «853 агента»/$60М (Q3 2025) — знаменатель не раскрыт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5879592"/>
            <a:ext cx="11183112" cy="77724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778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5879592"/>
            <a:ext cx="1060704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1">
                <a:solidFill>
                  <a:srgbClr val="21295C"/>
                </a:solidFill>
                <a:latin typeface="Arial"/>
              </a:rPr>
              <a:t>«We went too far» — CEO Себастьян Семятковски, Bloomberg, май 2025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8311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Дедупликация новостей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05840"/>
            <a:ext cx="11183112" cy="9144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quote-1C7293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179576"/>
            <a:ext cx="292608" cy="2926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2376" y="1517904"/>
            <a:ext cx="10744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450" b="0" i="1">
                <a:solidFill>
                  <a:srgbClr val="21295C"/>
                </a:solidFill>
                <a:latin typeface="Arial"/>
              </a:rPr>
              <a:t>«Поток новостей из многих источников — нужно склеивать одинаковые в одну карточку»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48840"/>
            <a:ext cx="11183112" cy="2148840"/>
          </a:xfrm>
          <a:prstGeom prst="roundRect">
            <a:avLst>
              <a:gd name="adj" fmla="val 14184"/>
            </a:avLst>
          </a:prstGeom>
          <a:solidFill>
            <a:srgbClr val="F4F7FA"/>
          </a:solidFill>
          <a:ln w="2032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7" name="Picture 6" descr="message-square-quote-065A82-9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2468880"/>
            <a:ext cx="640080" cy="640080"/>
          </a:xfrm>
          <a:prstGeom prst="rect">
            <a:avLst/>
          </a:prstGeom>
        </p:spPr>
      </p:pic>
      <p:pic>
        <p:nvPicPr>
          <p:cNvPr id="8" name="Picture 7" descr="message-square-quote-1C7293-7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74519" y="2834640"/>
            <a:ext cx="502920" cy="502920"/>
          </a:xfrm>
          <a:prstGeom prst="rect">
            <a:avLst/>
          </a:prstGeom>
        </p:spPr>
      </p:pic>
      <p:pic>
        <p:nvPicPr>
          <p:cNvPr id="9" name="Picture 8" descr="arrow-right-F0AB00-6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43200" y="2926080"/>
            <a:ext cx="457200" cy="457200"/>
          </a:xfrm>
          <a:prstGeom prst="rect">
            <a:avLst/>
          </a:prstGeom>
        </p:spPr>
      </p:pic>
      <p:pic>
        <p:nvPicPr>
          <p:cNvPr id="10" name="Picture 9" descr="layers-065A82-9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20440" y="2468880"/>
            <a:ext cx="640080" cy="6400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0" y="2514600"/>
            <a:ext cx="6309360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1" i="0">
                <a:solidFill>
                  <a:srgbClr val="21295C"/>
                </a:solidFill>
                <a:latin typeface="Arial"/>
              </a:rPr>
              <a:t>Десять почти одинаковых заголовков от разных изданий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6B7685"/>
                </a:solidFill>
                <a:latin typeface="Arial"/>
              </a:rPr>
              <a:t>→ одна объединённая карточка события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572000"/>
            <a:ext cx="11183112" cy="77724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778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4572000"/>
            <a:ext cx="1060704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Какая технология нужна?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8311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Дедупликация — разбор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148840"/>
            <a:ext cx="5454396" cy="1783080"/>
          </a:xfrm>
          <a:prstGeom prst="roundRect">
            <a:avLst>
              <a:gd name="adj" fmla="val 6000"/>
            </a:avLst>
          </a:prstGeom>
          <a:solidFill>
            <a:srgbClr val="E9F5F2"/>
          </a:solidFill>
          <a:ln w="1778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filter-028090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2350008"/>
            <a:ext cx="365760" cy="365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79576" y="2331720"/>
            <a:ext cx="4576571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Fuzzy-matching / shingling — ~90%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2880360"/>
            <a:ext cx="5052059" cy="1033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 i="0">
                <a:solidFill>
                  <a:srgbClr val="21295C"/>
                </a:solidFill>
                <a:latin typeface="Arial"/>
              </a:rPr>
              <a:t>Сравнение текстов по перекрывающимся фрагментам без обращения к модели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21295C"/>
                </a:solidFill>
                <a:latin typeface="Arial"/>
              </a:rPr>
              <a:t>Дёшево и предсказуемо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31636" y="2148840"/>
            <a:ext cx="5454396" cy="1783080"/>
          </a:xfrm>
          <a:prstGeom prst="roundRect">
            <a:avLst>
              <a:gd name="adj" fmla="val 6000"/>
            </a:avLst>
          </a:prstGeom>
          <a:solidFill>
            <a:srgbClr val="FBEAEA"/>
          </a:solidFill>
          <a:ln w="17780">
            <a:solidFill>
              <a:srgbClr val="B04A4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8" name="Picture 7" descr="sparkles-21295C-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2803" y="2350008"/>
            <a:ext cx="365760" cy="3657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908292" y="2331720"/>
            <a:ext cx="4576571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LLM — только остаток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32803" y="2880360"/>
            <a:ext cx="5052059" cy="1033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 i="0">
                <a:solidFill>
                  <a:srgbClr val="21295C"/>
                </a:solidFill>
                <a:latin typeface="Arial"/>
              </a:rPr>
              <a:t>Два сообщения об одном событии написаны разными словами почти без общих фрагментов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1">
                <a:solidFill>
                  <a:srgbClr val="21295C"/>
                </a:solidFill>
                <a:latin typeface="Arial"/>
              </a:rPr>
              <a:t>Перефраз без лексического пересечения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251959"/>
            <a:ext cx="11183112" cy="105156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778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251959"/>
            <a:ext cx="10607040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Сначала дешёвый детерминированный фильтр — ИИ на то, что он не взял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-closing-gpu-rea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4480560"/>
            <a:ext cx="12191695" cy="2377440"/>
          </a:xfrm>
          <a:prstGeom prst="rect">
            <a:avLst/>
          </a:prstGeom>
          <a:solidFill>
            <a:srgbClr val="21295C">
              <a:alpha val="82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709160"/>
            <a:ext cx="1060704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Arial"/>
              </a:rPr>
              <a:t>Сегодня вы решали, что строить.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600" b="1" i="0">
                <a:solidFill>
                  <a:srgbClr val="F0AB00"/>
                </a:solidFill>
                <a:latin typeface="Arial"/>
              </a:rPr>
              <a:t>Лекция 2 — как модель устроена внутри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C8D2DF"/>
                </a:solidFill>
                <a:latin typeface="Arial"/>
              </a:rPr>
              <a:t>Wikimedia Commons · CC BY 2.0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