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Добрый день. Сегодня у нас семинар номер два, и формат простой: мы вместе</a:t>
            </a:r>
          </a:p>
          <a:p>
            <a:r>
              <a:t>разберём семь ситуаций, которые могли бы прийти к любому из вас с реальной</a:t>
            </a:r>
          </a:p>
          <a:p>
            <a:r>
              <a:t>работы. В каждой — кто-то просит «сделайте нам автоматизацию», и дальше</a:t>
            </a:r>
          </a:p>
          <a:p>
            <a:r>
              <a:t>инженеру нужно решить, что именно строить. Мы не будем читать лекцию и не</a:t>
            </a:r>
          </a:p>
          <a:p>
            <a:r>
              <a:t>будем вам ничего презентовать полчаса — будем разбирать конкретные истории</a:t>
            </a:r>
          </a:p>
          <a:p>
            <a:r>
              <a:t>вслух, все вместе, залом. Я буду показывать постановку задачи, вы будете</a:t>
            </a:r>
          </a:p>
          <a:p>
            <a:r>
              <a:t>говорить, что бы предложили, а потом почти в каждом кейсе появится деталь,</a:t>
            </a:r>
          </a:p>
          <a:p>
            <a:r>
              <a:t>которой не было в первой формулировке. Готовность пересмотреть решение при</a:t>
            </a:r>
          </a:p>
          <a:p>
            <a:r>
              <a:t>новых вводных — ровно тот навык, который нужен на реальной работе, когда</a:t>
            </a:r>
          </a:p>
          <a:p>
            <a:r>
              <a:t>заказчик формулирует задачу по частям, а не сразу целиком. Поехали.</a:t>
            </a:r>
          </a:p>
          <a:p/>
          <a:p>
            <a:r>
              <a:t>(Фото: NASA / Cory Huston · Wikimedia Commons · общественное достояние)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что мы сегодня тренируем — четыре типа выбора, которые в инженерной</a:t>
            </a:r>
          </a:p>
          <a:p>
            <a:r>
              <a:t>практике возникают снова и снова: нужен ли здесь вообще ИИ или хватит</a:t>
            </a:r>
          </a:p>
          <a:p>
            <a:r>
              <a:t>обычного кода, встраивать решение в то, чем люди и так пользуются, или</a:t>
            </a:r>
          </a:p>
          <a:p>
            <a:r>
              <a:t>делать отдельный продукт, каким должен быть вызов модели — разовым,</a:t>
            </a:r>
          </a:p>
          <a:p>
            <a:r>
              <a:t>поиском по базе или многошаговым агентом, и, наконец, считать это через</a:t>
            </a:r>
          </a:p>
          <a:p>
            <a:r>
              <a:t>внешний облачный API или на своей инфраструктуре. Мы не превращаем это в</a:t>
            </a:r>
          </a:p>
          <a:p>
            <a:r>
              <a:t>процедуру с чек-листом — вместо этого разбираем семь реалистичных</a:t>
            </a:r>
          </a:p>
          <a:p>
            <a:r>
              <a:t>ситуаций: документы от поставщиков, персональные данные в логах, помощник</a:t>
            </a:r>
          </a:p>
          <a:p>
            <a:r>
              <a:t>для техподдержки, описания товаров, протоколы встреч, дайджест по рабочим</a:t>
            </a:r>
          </a:p>
          <a:p>
            <a:r>
              <a:t>чатам и звонки отдела продаж. В каждой — свой выбор и свои вводные. Смотрите</a:t>
            </a:r>
          </a:p>
          <a:p>
            <a:r>
              <a:t>на постановку критически с самого начала: чего вам не хватает, чтобы дать</a:t>
            </a:r>
          </a:p>
          <a:p>
            <a:r>
              <a:t>честный ответ, а не гадать?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вопрос сегодня: когда задачу стоит решать обычным кодом, а когда без</a:t>
            </a:r>
          </a:p>
          <a:p>
            <a:r>
              <a:t>модели не обойтись. Инженеры часто решают это на глаз, по ощущению</a:t>
            </a:r>
          </a:p>
          <a:p>
            <a:r>
              <a:t>сложности задачи, а не по конкретному признаку, который можно было бы</a:t>
            </a:r>
          </a:p>
          <a:p>
            <a:r>
              <a:t>назвать словами. А цена ошибки здесь реальна в обе стороны. Поставить ИИ</a:t>
            </a:r>
          </a:p>
          <a:p>
            <a:r>
              <a:t>там, где хватило бы обычного кода, — значит получить решение дороже и</a:t>
            </a:r>
          </a:p>
          <a:p>
            <a:r>
              <a:t>непредсказуемее, чем нужно: код либо отрабатывает правильно, либо явно</a:t>
            </a:r>
          </a:p>
          <a:p>
            <a:r>
              <a:t>падает с ошибкой, а модель может тихо выдать правдоподобную ерунду и</a:t>
            </a:r>
          </a:p>
          <a:p>
            <a:r>
              <a:t>никого об этом не предупредить. Поставить обычный код там, где на самом</a:t>
            </a:r>
          </a:p>
          <a:p>
            <a:r>
              <a:t>деле нужна модель, — значит подписаться на вечную починку: каждый новый</a:t>
            </a:r>
          </a:p>
          <a:p>
            <a:r>
              <a:t>вариант входных данных ломает жёсткую логику, и кто-то должен снова и</a:t>
            </a:r>
          </a:p>
          <a:p>
            <a:r>
              <a:t>снова её латать. Общего рецепта «всегда бери то-то» не существует — есть</a:t>
            </a:r>
          </a:p>
          <a:p>
            <a:r>
              <a:t>признаки в самой задаче, которые стоит научиться замечать. Переходим к</a:t>
            </a:r>
          </a:p>
          <a:p>
            <a:r>
              <a:t>постановке.</a:t>
            </a:r>
          </a:p>
          <a:p/>
          <a:p>
            <a:r>
              <a:t>(Фото: Wikimedia Commons · CC0)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Зачитайте цитату продакта целиком, не сокращая — студенты должны сами</a:t>
            </a:r>
          </a:p>
          <a:p>
            <a:r>
              <a:t>выловить из неё то, что относится к задаче. Ключевое для решения: три</a:t>
            </a:r>
          </a:p>
          <a:p>
            <a:r>
              <a:t>человека, около 400 накладных в месяц, всё руками в 1С, к концу квартала</a:t>
            </a:r>
          </a:p>
          <a:p>
            <a:r>
              <a:t>завал и ошибки, и два примера накладных, где форматы «вроде одинаковые».</a:t>
            </a:r>
          </a:p>
          <a:p>
            <a:r>
              <a:t>Всё остальное — отпуск Олега, Дима после релиза мобилки, склад, ревью</a:t>
            </a:r>
          </a:p>
          <a:p>
            <a:r>
              <a:t>бюджета — шум, к архитектуре задачи отношения не имеет. Покажите на</a:t>
            </a:r>
          </a:p>
          <a:p>
            <a:r>
              <a:t>слайде оба примера накладных и третью карточку — целевую таблицу в 1С с</a:t>
            </a:r>
          </a:p>
          <a:p>
            <a:r>
              <a:t>теми же полями (Дата / № накладной / Позиция / Сумма), чтобы аудитория</a:t>
            </a:r>
          </a:p>
          <a:p>
            <a:r>
              <a:t>сразу увидела совпадение структуры между источником и целью. Вопрос в</a:t>
            </a:r>
          </a:p>
          <a:p>
            <a:r>
              <a:t>зал: что вы предложите? Нужен ли здесь ИИ вообще, или можно обойтись без</a:t>
            </a:r>
          </a:p>
          <a:p>
            <a:r>
              <a:t>него? Какие конкретно поля вы бы вытаскивали, и что, на ваш взгляд,</a:t>
            </a:r>
          </a:p>
          <a:p>
            <a:r>
              <a:t>определяет сложность этой задачи? Кто готов высказаться первым?</a:t>
            </a:r>
          </a:p>
          <a:p/>
          <a:p>
            <a:r>
              <a:t>(Фото: Pizarros · Wikimedia Commons · CC BY-SA 3.0)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Зачитайте цитату бухгалтера. Ключевое для решения — она в середине текста,</a:t>
            </a:r>
          </a:p>
          <a:p>
            <a:r>
              <a:t>не выделена: внутри архива вперемешку и сканы актов сверки, и договоры, и</a:t>
            </a:r>
          </a:p>
          <a:p>
            <a:r>
              <a:t>сами накладные, отсортировать заранее не просили. Файлообменник, размер</a:t>
            </a:r>
          </a:p>
          <a:p>
            <a:r>
              <a:t>письма 20 МБ, закрытие месяца, занятость до обеда — шум, к архитектуре</a:t>
            </a:r>
          </a:p>
          <a:p>
            <a:r>
              <a:t>задачи не относится. На слайде показаны несколько примеров накладных из</a:t>
            </a:r>
          </a:p>
          <a:p>
            <a:r>
              <a:t>этого архива — форматы уже не такие одинаковые, как в первых двух</a:t>
            </a:r>
          </a:p>
          <a:p>
            <a:r>
              <a:t>документах: один выглядит как обычная таблица, во втором поля названы и</a:t>
            </a:r>
          </a:p>
          <a:p>
            <a:r>
              <a:t>расположены иначе, третий — со свободным текстом вместо чёткой таблицы, а</a:t>
            </a:r>
          </a:p>
          <a:p>
            <a:r>
              <a:t>четвёртый и вовсе на английском языке, потому что один из поставщиков —</a:t>
            </a:r>
          </a:p>
          <a:p>
            <a:r>
              <a:t>иностранный. Это тот же архив, только теперь мы видим его целиком, а не</a:t>
            </a:r>
          </a:p>
          <a:p>
            <a:r>
              <a:t>два выбранных примера. Вопрос в зал: меняет ли это ваш ответ? Дайте</a:t>
            </a:r>
          </a:p>
          <a:p>
            <a:r>
              <a:t>секунду посмотреть на эти четыре карточки и сравнить с тем, что видели</a:t>
            </a:r>
          </a:p>
          <a:p>
            <a:r>
              <a:t>минуту назад. И если вы говорили про чистый парсер без ИИ — что вы сейчас</a:t>
            </a:r>
          </a:p>
          <a:p>
            <a:r>
              <a:t>думаете, когда видите этот разброс форматов?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Смотрите, что произошло: пока мы видели два одинаковых документа, чистый</a:t>
            </a:r>
          </a:p>
          <a:p>
            <a:r>
              <a:t>код казался достаточным и даже предпочтительным — он предсказуем. Как</a:t>
            </a:r>
          </a:p>
          <a:p>
            <a:r>
              <a:t>только появился реальный архив на 4,2 гигабайта, стало видно, что форматы</a:t>
            </a:r>
          </a:p>
          <a:p>
            <a:r>
              <a:t>на самом деле разъехались, и чистый парсер пришлось бы постоянно чинить</a:t>
            </a:r>
          </a:p>
          <a:p>
            <a:r>
              <a:t>под каждый новый вариант. Разумный ответ здесь — гибрид: модель делает</a:t>
            </a:r>
          </a:p>
          <a:p>
            <a:r>
              <a:t>извлечение по неструктурированному или разнородному входу, а дальше —</a:t>
            </a:r>
          </a:p>
          <a:p>
            <a:r>
              <a:t>жёсткая валидация кодом, проверка типов полей, обязательных значений,</a:t>
            </a:r>
          </a:p>
          <a:p>
            <a:r>
              <a:t>диапазонов, прежде чем данные попадут в 1С. И главный урок этого кейса</a:t>
            </a:r>
          </a:p>
          <a:p>
            <a:r>
              <a:t>шире, чем документы, поэтому проговорю его отдельной фразой: изучайте</a:t>
            </a:r>
          </a:p>
          <a:p>
            <a:r>
              <a:t>исходные данные максимально подробно и широко — и не верьте заказчику на</a:t>
            </a:r>
          </a:p>
          <a:p>
            <a:r>
              <a:t>слово. Продакт был уверен, что форматы одинаковые, потому что видел два</a:t>
            </a:r>
          </a:p>
          <a:p>
            <a:r>
              <a:t>документа и решил, что этого достаточно. Прежде чем делать архитектурный</a:t>
            </a:r>
          </a:p>
          <a:p>
            <a:r>
              <a:t>выбор, нужно самому запросить представление полного объёма данных, с</a:t>
            </a:r>
          </a:p>
          <a:p>
            <a:r>
              <a:t>которым решение реально столкнётся, а не полагаться на то, что вам</a:t>
            </a:r>
          </a:p>
          <a:p>
            <a:r>
              <a:t>рассказали о них на словах.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Зачитайте реплику коллеги, который готовит логи для подрядчика. Ключевое</a:t>
            </a:r>
          </a:p>
          <a:p>
            <a:r>
              <a:t>для решения — не выделено особо: 40 ГБ логов за квартал, дедлайн пятница,</a:t>
            </a:r>
          </a:p>
          <a:p>
            <a:r>
              <a:t>подрядчику нужна структура запросов/тайминги/ошибки, но не данные</a:t>
            </a:r>
          </a:p>
          <a:p>
            <a:r>
              <a:t>конкретных людей, и в логах вперемешку встречаются телефон, email и фраза</a:t>
            </a:r>
          </a:p>
          <a:p>
            <a:r>
              <a:t>вроде «передайте это Ивану из бухгалтерии». Спринт подрядчика — шум, к</a:t>
            </a:r>
          </a:p>
          <a:p>
            <a:r>
              <a:t>решению задачи не относится. Пример строки</a:t>
            </a:r>
          </a:p>
          <a:p>
            <a:r>
              <a:t>лога на слайде показывает именно этот разброс: номер телефона, адрес</a:t>
            </a:r>
          </a:p>
          <a:p>
            <a:r>
              <a:t>почты, фраза с именем в свободном тексте. Вопрос в зал: как максимально</a:t>
            </a:r>
          </a:p>
          <a:p>
            <a:r>
              <a:t>быстро и дёшево очистить эти 40 гигабайт до пятницы? У кого есть мнение —</a:t>
            </a:r>
          </a:p>
          <a:p>
            <a:r>
              <a:t>что бы вы предложили в первую очередь?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Телефоны и email — это данные с чётким, предсказуемым форматом, их</a:t>
            </a:r>
          </a:p>
          <a:p>
            <a:r>
              <a:t>надёжно и дёшево вычищает обычный regex, никакая модель здесь не нужна и</a:t>
            </a:r>
          </a:p>
          <a:p>
            <a:r>
              <a:t>только замедлила бы обработку 40 гигабайт логов. А вот имена людей и</a:t>
            </a:r>
          </a:p>
          <a:p>
            <a:r>
              <a:t>косвенные упоминания в свободном тексте — вроде «передайте это Ивану из</a:t>
            </a:r>
          </a:p>
          <a:p>
            <a:r>
              <a:t>бухгалтерии» — требуют понимания контекста. Здесь не нужен большой LLM:</a:t>
            </a:r>
          </a:p>
          <a:p>
            <a:r>
              <a:t>для этого есть компактные модели распознавания именованных сущностей,</a:t>
            </a:r>
          </a:p>
          <a:p>
            <a:r>
              <a:t>например slovnet из проекта Natasha — вес модели около 30 мегабайт, она</a:t>
            </a:r>
          </a:p>
          <a:p>
            <a:r>
              <a:t>спокойно работает на CPU обычного ноутбука без GPU, скорость порядка 25</a:t>
            </a:r>
          </a:p>
          <a:p>
            <a:r>
              <a:t>статей в секунду. Модель распознаёт имена людей, названия организаций,</a:t>
            </a:r>
          </a:p>
          <a:p>
            <a:r>
              <a:t>локации — включая названия компаний и городов. По размеру это примерно в</a:t>
            </a:r>
          </a:p>
          <a:p>
            <a:r>
              <a:t>60 раз меньше BERT-модели сравнимого класса, при потере качества на 1-2</a:t>
            </a:r>
          </a:p>
          <a:p>
            <a:r>
              <a:t>процентных пункта. Вывод стоит проговорить явно: большое количество</a:t>
            </a:r>
          </a:p>
          <a:p>
            <a:r>
              <a:t>текстовых задач решается алгоритмически или малыми специализированными</a:t>
            </a:r>
          </a:p>
          <a:p>
            <a:r>
              <a:t>моделями — это проще, быстрее и дешевле, чем гонять всё через большой LLM.</a:t>
            </a:r>
          </a:p>
          <a:p>
            <a:r>
              <a:t>Тот же вопрос чувствительности данных всплывёт в кейсе про звонки продаж —</a:t>
            </a:r>
          </a:p>
          <a:p>
            <a:r>
              <a:t>там ставки заметно выше.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случая из практики. В январе 2023 года выяснилось, что издание CNET</a:t>
            </a:r>
          </a:p>
          <a:p>
            <a:r>
              <a:t>несколько месяцев публиковало статьи о финансах, сгенерированные ИИ-инструментом.</a:t>
            </a:r>
          </a:p>
          <a:p>
            <a:r>
              <a:t>Из 77 таких статей исправления потребовались 41. Флагманский пример</a:t>
            </a:r>
          </a:p>
          <a:p>
            <a:r>
              <a:t>ошибки: одна из статей утверждала, что «10 000 долларов под 3% годовых</a:t>
            </a:r>
          </a:p>
          <a:p>
            <a:r>
              <a:t>принесут 10 300 долларов за год» — вместо корректных 300 долларов дохода,</a:t>
            </a:r>
          </a:p>
          <a:p>
            <a:r>
              <a:t>модель перепутала итоговую сумму с самим доходом, элементарная</a:t>
            </a:r>
          </a:p>
          <a:p>
            <a:r>
              <a:t>арифметическая ошибка. Урок именно про неё: расчёт должен делать</a:t>
            </a:r>
          </a:p>
          <a:p>
            <a:r>
              <a:t>детерминированная формула, а не LLM «на глаз» — там, где нужна точная</a:t>
            </a:r>
          </a:p>
          <a:p>
            <a:r>
              <a:t>арифметика, модель заменяет не калькулятор, а текст вокруг него. Что</a:t>
            </a:r>
          </a:p>
          <a:p>
            <a:r>
              <a:t>здесь пошло не так, на ваш взгляд? Теперь позитивный пример: инженерный</a:t>
            </a:r>
          </a:p>
          <a:p>
            <a:r>
              <a:t>блог компании Ramp рассказывает, как раньше заявки на исправление</a:t>
            </a:r>
          </a:p>
          <a:p>
            <a:r>
              <a:t>классификации транзакций обрабатывались вручную с покрытием всего 1,5-3%</a:t>
            </a:r>
          </a:p>
          <a:p>
            <a:r>
              <a:t>заявок — то есть подавляющее большинство оставалось необработанным. После</a:t>
            </a:r>
          </a:p>
          <a:p>
            <a:r>
              <a:t>внедрения LLM-агента — меньше 10 секунд на заявку, около 99% решений</a:t>
            </a:r>
          </a:p>
          <a:p>
            <a:r>
              <a:t>признаются корректными, около 25% заявок агент отклоняет. Важно сказать</a:t>
            </a:r>
          </a:p>
          <a:p>
            <a:r>
              <a:t>честно: это не победа ИИ над детерминированным кодом, это замена ручной</a:t>
            </a:r>
          </a:p>
          <a:p>
            <a:r>
              <a:t>обработки с мизерным покрытием.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вопрос сегодня: встраивать решение в то, чем люди и так пользуются</a:t>
            </a:r>
          </a:p>
          <a:p>
            <a:r>
              <a:t>каждый день, или делать для него отдельный продукт. На бумаге оба варианта</a:t>
            </a:r>
          </a:p>
          <a:p>
            <a:r>
              <a:t>выглядят разумно. Встроенное решение обещает бесшовность, отдельный</a:t>
            </a:r>
          </a:p>
          <a:p>
            <a:r>
              <a:t>продукт — свободу: свой интерфейс, свой темп разработки, никаких чужих</a:t>
            </a:r>
          </a:p>
          <a:p>
            <a:r>
              <a:t>ограничений. И у каждого варианта есть скрытая цена, которая почти никогда</a:t>
            </a:r>
          </a:p>
          <a:p>
            <a:r>
              <a:t>не видна в демо и на презентации идеи — она проявляется позже, в реальной</a:t>
            </a:r>
          </a:p>
          <a:p>
            <a:r>
              <a:t>эксплуатации, когда решением начинают пользоваться настоящие люди в</a:t>
            </a:r>
          </a:p>
          <a:p>
            <a:r>
              <a:t>настоящем рабочем потоке, а не авторы прототипа на показе. Именно поэтому</a:t>
            </a:r>
          </a:p>
          <a:p>
            <a:r>
              <a:t>такие решения нельзя принимать по одной только красоте концепции — нужно</a:t>
            </a:r>
          </a:p>
          <a:p>
            <a:r>
              <a:t>разбираться в конкретных обстоятельствах компании и задачи. Переходим к</a:t>
            </a:r>
          </a:p>
          <a:p>
            <a:r>
              <a:t>постановке — она прозвучит от человека, который отвечает за результат, а</a:t>
            </a:r>
          </a:p>
          <a:p>
            <a:r>
              <a:t>не за то, как красиво выглядит идея на слайде.</a:t>
            </a:r>
          </a:p>
          <a:p/>
          <a:p>
            <a:r>
              <a:t>(Фото: Oliver Propst · Wikimedia Commons · CC BY-SA 3.0)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Зачитайте реплику целиком. Ключевое для решения — не выделено особо: идея</a:t>
            </a:r>
          </a:p>
          <a:p>
            <a:r>
              <a:t>подсказок ответов и поиска похожих обращений, 12 операторов на линии,</a:t>
            </a:r>
          </a:p>
          <a:p>
            <a:r>
              <a:t>около 300 тикетов в день, пик с 10:00 до 13:00. Онбординг новичков,</a:t>
            </a:r>
          </a:p>
          <a:p>
            <a:r>
              <a:t>квартальное ревью — шум, к архитектурному выбору не относится. На слайде</a:t>
            </a:r>
          </a:p>
          <a:p>
            <a:r>
              <a:t>показан рабочий стол оператора техподдержки: список тикетов, окно ответа</a:t>
            </a:r>
          </a:p>
          <a:p>
            <a:r>
              <a:t>клиенту. Операторы весь рабочий день сидят в одном и том же интерфейсе</a:t>
            </a:r>
          </a:p>
          <a:p>
            <a:r>
              <a:t>helpdesk-системы — что-то вроде Zendesk или Jira Service Management,</a:t>
            </a:r>
          </a:p>
          <a:p>
            <a:r>
              <a:t>открывают тикет за тикетом, переключаются между обращениями десятками раз</a:t>
            </a:r>
          </a:p>
          <a:p>
            <a:r>
              <a:t>за смену. Вопрос в зал: где должен жить этот помощник? Что вы предложите —</a:t>
            </a:r>
          </a:p>
          <a:p>
            <a:r>
              <a:t>отдельное окно, встроенная подсказка прямо в интерфейсе, что-то ещё? И, что</a:t>
            </a:r>
          </a:p>
          <a:p>
            <a:r>
              <a:t>не менее важно, почему именно так, а не иначе?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Зачитайте реплику ИТ-директора целиком, не выделяя ключевые слова</a:t>
            </a:r>
          </a:p>
          <a:p>
            <a:r>
              <a:t>интонацией. Ключевое для решения — расположено внутри абзаца, а не в</a:t>
            </a:r>
          </a:p>
          <a:p>
            <a:r>
              <a:t>первой фразе: открытого API нет, кастомизаций нет, систему купили 4 года</a:t>
            </a:r>
          </a:p>
          <a:p>
            <a:r>
              <a:t>назад, на ней же тикеты HR и фасилити-менеджмента, контракт с вендором ещё</a:t>
            </a:r>
          </a:p>
          <a:p>
            <a:r>
              <a:t>на 2 года. Переписка с вендором, бюджет на год, будущий пересмотр ИТ-</a:t>
            </a:r>
          </a:p>
          <a:p>
            <a:r>
              <a:t>ландшафта — шум, к архитектурному выбору не относится. Вопрос в зал: что</a:t>
            </a:r>
          </a:p>
          <a:p>
            <a:r>
              <a:t>делаем? Обратите внимание, я не говорю вам, хорошо это или плохо для</a:t>
            </a:r>
          </a:p>
          <a:p>
            <a:r>
              <a:t>вашего плана — просто называю факт, который вы бы узнали, только если бы</a:t>
            </a:r>
          </a:p>
          <a:p>
            <a:r>
              <a:t>сами спросили ИТ-отдел заранее, до того как начали проектировать решение.</a:t>
            </a:r>
          </a:p>
          <a:p>
            <a:r>
              <a:t>Кто хочет высказаться первым, что теперь предлагаете? И кто из тех, кто</a:t>
            </a:r>
          </a:p>
          <a:p>
            <a:r>
              <a:t>минуту назад предлагал встроить помощника прямо в интерфейс — что вы</a:t>
            </a:r>
          </a:p>
          <a:p>
            <a:r>
              <a:t>думаете сейчас, когда выяснилось, что сам интерфейс для вас закрыт</a:t>
            </a:r>
          </a:p>
          <a:p>
            <a:r>
              <a:t>наглухо?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этого кейса нет единственно верного ответа, и это специально. Смотрите</a:t>
            </a:r>
          </a:p>
          <a:p>
            <a:r>
              <a:t>на три реальных варианта. Первый — решение сбоку: расширение браузера или</a:t>
            </a:r>
          </a:p>
          <a:p>
            <a:r>
              <a:t>вторая панель рядом с интерфейсом helpdesk. Цена — оператору приходится</a:t>
            </a:r>
          </a:p>
          <a:p>
            <a:r>
              <a:t>физически смотреть в два места, и под нагрузкой он туда просто не будет</a:t>
            </a:r>
          </a:p>
          <a:p>
            <a:r>
              <a:t>заглядывать. Второй — сменить вендора helpdesk-системы на систему с</a:t>
            </a:r>
          </a:p>
          <a:p>
            <a:r>
              <a:t>открытым API. Цена — миграция исторических данных, переобучение всей</a:t>
            </a:r>
          </a:p>
          <a:p>
            <a:r>
              <a:t>команды поддержки, риск простоя на переходе, и всё это ради одной фичи.</a:t>
            </a:r>
          </a:p>
          <a:p>
            <a:r>
              <a:t>Третий — пересмотреть саму задачу: помощник не встраивается в момент</a:t>
            </a:r>
          </a:p>
          <a:p>
            <a:r>
              <a:t>ответа оператора, а готовит черновики или сводки по тикету заранее. Цена</a:t>
            </a:r>
          </a:p>
          <a:p>
            <a:r>
              <a:t>здесь тоже есть, просто другая — оператор открывает готовое там, где</a:t>
            </a:r>
          </a:p>
          <a:p>
            <a:r>
              <a:t>удобно, но нужен отдельный процесс подготовки этих черновиков. На</a:t>
            </a:r>
          </a:p>
          <a:p>
            <a:r>
              <a:t>практике «сбоку» выбирают, когда критично время внедрения и штат</a:t>
            </a:r>
          </a:p>
          <a:p>
            <a:r>
              <a:t>маленький — быстрее собрать расширение, чем ждать вендора. «Смену</a:t>
            </a:r>
          </a:p>
          <a:p>
            <a:r>
              <a:t>вендора» выбирают, когда контракт всё равно скоро кончается — тогда</a:t>
            </a:r>
          </a:p>
          <a:p>
            <a:r>
              <a:t>издержки миграции размазываются на уже запланированное событие. А</a:t>
            </a:r>
          </a:p>
          <a:p>
            <a:r>
              <a:t>«пересмотр задачи» выбирают, когда организация не готова тратить бюджет</a:t>
            </a:r>
          </a:p>
          <a:p>
            <a:r>
              <a:t>на интеграцию прямо сейчас, но может подождать с live-подсказками.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Зачитайте реплику из маркетинга целиком. Ключевое для решения — не</a:t>
            </a:r>
          </a:p>
          <a:p>
            <a:r>
              <a:t>выделено особо: маркетинг хочет именно отдельный сервис-приложение по</a:t>
            </a:r>
          </a:p>
          <a:p>
            <a:r>
              <a:t>образцу конкурента, каталог 12 000 товарных позиций, описания сейчас пишет</a:t>
            </a:r>
          </a:p>
          <a:p>
            <a:r>
              <a:t>один копирайтер на аутсорсе. Конференция ритейла, демо для инвесторов,</a:t>
            </a:r>
          </a:p>
          <a:p>
            <a:r>
              <a:t>жалобы копирайтера на нагрузку, баннеры на главной — шум, к архитектурному</a:t>
            </a:r>
          </a:p>
          <a:p>
            <a:r>
              <a:t>выбору не относится. На слайде — макет отдельного нового сервиса: форма</a:t>
            </a:r>
          </a:p>
          <a:p>
            <a:r>
              <a:t>ввода, кнопка «сгенерировать». Вопрос в зал: отдельный сервис — хорошая</a:t>
            </a:r>
          </a:p>
          <a:p>
            <a:r>
              <a:t>идея, или нет? Что скажете, и почему именно так — что в этой постановке</a:t>
            </a:r>
          </a:p>
          <a:p>
            <a:r>
              <a:t>вообще определяет, стоит ли делать новый инструмент или нет?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должна быть кнопка «сгенерировать описание» прямо в существующей</a:t>
            </a:r>
          </a:p>
          <a:p>
            <a:r>
              <a:t>админке каталога товаров, которой маркетинг и так пользуется каждый день,</a:t>
            </a:r>
          </a:p>
          <a:p>
            <a:r>
              <a:t>заводя новые товары и редактируя карточки. Отдельный продукт — это второй</a:t>
            </a:r>
          </a:p>
          <a:p>
            <a:r>
              <a:t>логин, отдельная вкладка, привычка, которую нужно формировать с нуля, и</a:t>
            </a:r>
          </a:p>
          <a:p>
            <a:r>
              <a:t>лишний шаг в рабочем процессе. На практике такие отдельные инструменты</a:t>
            </a:r>
          </a:p>
          <a:p>
            <a:r>
              <a:t>часто умирают от неиспользования, даже если технология внутри работает</a:t>
            </a:r>
          </a:p>
          <a:p>
            <a:r>
              <a:t>отлично — просто потому что до них банально не доходят руки, когда проще</a:t>
            </a:r>
          </a:p>
          <a:p>
            <a:r>
              <a:t>написать вручную то, что и так писали годами. Отдельный сервис всё-таки</a:t>
            </a:r>
          </a:p>
          <a:p>
            <a:r>
              <a:t>оправдан в одном случае — если своей админки нет вовсе, то есть если у</a:t>
            </a:r>
          </a:p>
          <a:p>
            <a:r>
              <a:t>маркетинга нет единого места, где они и так работают с карточками товаров.</a:t>
            </a:r>
          </a:p>
          <a:p>
            <a:r>
              <a:t>Тогда встраивать попросту некуда, и отдельный инструмент — не компромисс,</a:t>
            </a:r>
          </a:p>
          <a:p>
            <a:r>
              <a:t>а единственный доступный вариант.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Смотрите на хронологию. Kite — отдельный самостоятельный продукт для</a:t>
            </a:r>
          </a:p>
          <a:p>
            <a:r>
              <a:t>автодополнения кода на базе ИИ — основан в 2014 году, с 2019 года умел</a:t>
            </a:r>
          </a:p>
          <a:p>
            <a:r>
              <a:t>исполнять модель локально на машине разработчика. GitHub Copilot вышел в</a:t>
            </a:r>
          </a:p>
          <a:p>
            <a:r>
              <a:t>technical preview 29 июня 2021 года, стал общедоступным 21 июня 2022 года</a:t>
            </a:r>
          </a:p>
          <a:p>
            <a:r>
              <a:t>за 10 долларов в месяц. Kite закрылся 21 ноября 2022 года. Если считать от</a:t>
            </a:r>
          </a:p>
          <a:p>
            <a:r>
              <a:t>technical preview Copilot до закрытия Kite — это около 17 месяцев, когда</a:t>
            </a:r>
          </a:p>
          <a:p>
            <a:r>
              <a:t>оба продукта реально существовали на одном рынке одновременно, и</a:t>
            </a:r>
          </a:p>
          <a:p>
            <a:r>
              <a:t>конкуренция была настоящей, не гипотетической. При этом причину закрытия</a:t>
            </a:r>
          </a:p>
          <a:p>
            <a:r>
              <a:t>стоит формулировать аккуратно: сам основатель Kite объяснял это не победой</a:t>
            </a:r>
          </a:p>
          <a:p>
            <a:r>
              <a:t>конкретного продукта, а тем, что «разработчики не платят за отдельные</a:t>
            </a:r>
          </a:p>
          <a:p>
            <a:r>
              <a:t>инструменты» — это его слова о рынке в целом, а не прямое утверждение</a:t>
            </a:r>
          </a:p>
          <a:p>
            <a:r>
              <a:t>«Copilot убил Kite». У Kite было около 500 тысяч пользователей на пике. У</a:t>
            </a:r>
          </a:p>
          <a:p>
            <a:r>
              <a:t>Copilot — около 20 миллионов пользователей к июлю 2025 года из более чем</a:t>
            </a:r>
          </a:p>
          <a:p>
            <a:r>
              <a:t>100 миллионов разработчиков на GitHub, 4,7 миллиона платных подписчиков к</a:t>
            </a:r>
          </a:p>
          <a:p>
            <a:r>
              <a:t>январю 2026 года, и используется он примерно в 90% компаний из списка</a:t>
            </a:r>
          </a:p>
          <a:p>
            <a:r>
              <a:t>Fortune 100. Технология сравнимого класса, но встроенная прямо в IDE и в</a:t>
            </a:r>
          </a:p>
          <a:p>
            <a:r>
              <a:t>экосистему, к которой разработчики уже подключены.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Ещё один пример того же выбора, но на другом масштабе — не фича внутри</a:t>
            </a:r>
          </a:p>
          <a:p>
            <a:r>
              <a:t>приложения, а целое отдельное физическое устройство. Humane AI Pin —</a:t>
            </a:r>
          </a:p>
          <a:p>
            <a:r>
              <a:t>носимый значок без экрана, с лазерным проектором, который показывает</a:t>
            </a:r>
          </a:p>
          <a:p>
            <a:r>
              <a:t>изображение прямо на ладонь, управление голосом, цена 699 долларов плюс</a:t>
            </a:r>
          </a:p>
          <a:p>
            <a:r>
              <a:t>подписка 24 доллара в месяц. Продажи стартовали в апреле 2024 года.</a:t>
            </a:r>
          </a:p>
          <a:p>
            <a:r>
              <a:t>Компания привлекла около 241 миллиона долларов инвестиций, а в феврале</a:t>
            </a:r>
          </a:p>
          <a:p>
            <a:r>
              <a:t>2025 года активы компании — не вся компания целиком, именно активы — были</a:t>
            </a:r>
          </a:p>
          <a:p>
            <a:r>
              <a:t>проданы HP за 116 миллионов долларов. 28 февраля 2025 года серверы</a:t>
            </a:r>
          </a:p>
          <a:p>
            <a:r>
              <a:t>устройства отключили, и оно перестало работать у всех, кто его купил.</a:t>
            </a:r>
          </a:p>
          <a:p>
            <a:r>
              <a:t>Rabbit R1 — похожая история: продано около 100 000 устройств, но, по</a:t>
            </a:r>
          </a:p>
          <a:p>
            <a:r>
              <a:t>оценкам, активно пользуются им около 5% купивших. Тот же организационный</a:t>
            </a:r>
          </a:p>
          <a:p>
            <a:r>
              <a:t>урок, что и с Kite: отдельное устройство или продукт конкурирует не</a:t>
            </a:r>
          </a:p>
          <a:p>
            <a:r>
              <a:t>только с альтернативными технологиями, но и с привычкой пользователя не</a:t>
            </a:r>
          </a:p>
          <a:p>
            <a:r>
              <a:t>переключаться на новую точку входа, когда нужная функция уже есть в</a:t>
            </a:r>
          </a:p>
          <a:p>
            <a:r>
              <a:t>телефоне, который и так лежит в кармане.</a:t>
            </a:r>
          </a:p>
          <a:p/>
          <a:p>
            <a:r>
              <a:t>(Фото Rabbit R1: Booredatwork.com · Wikimedia Commons · CC BY 3.0. Фото Humane AI Pin не найдено — свободно лицензированного изображения на Wikimedia Commons не существует, проверено через API-поиск и обзор категорий; см. iteration-log.md.)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вопрос сегодня: какая архитектура нужна — разовый вызов модели,</a:t>
            </a:r>
          </a:p>
          <a:p>
            <a:r>
              <a:t>поиск по базе или многошаговый агент. Эти три варианта звучат как три</a:t>
            </a:r>
          </a:p>
          <a:p>
            <a:r>
              <a:t>разных уровня сложности, и интуитивно кажется, что чем внушительнее задача,</a:t>
            </a:r>
          </a:p>
          <a:p>
            <a:r>
              <a:t>тем более сложную архитектуру нужно сразу закладывать. Эту интуицию стоит</a:t>
            </a:r>
          </a:p>
          <a:p>
            <a:r>
              <a:t>проверять, а не принимать на веру — как и любое ощущение «серьёзной задаче</a:t>
            </a:r>
          </a:p>
          <a:p>
            <a:r>
              <a:t>нужен серьёзный инструмент», у неё есть и подтверждающие, и опровергающие</a:t>
            </a:r>
          </a:p>
          <a:p>
            <a:r>
              <a:t>примеры в реальной практике. Прежде чем перейти к постановке, разберём</a:t>
            </a:r>
          </a:p>
          <a:p>
            <a:r>
              <a:t>коротко, что такое RAG и что такое агент — эти два термина понадобятся</a:t>
            </a:r>
          </a:p>
          <a:p>
            <a:r>
              <a:t>буквально через пару слайдов, а до Лекции 3, где их разберут подробно</a:t>
            </a:r>
          </a:p>
          <a:p>
            <a:r>
              <a:t>изнутри, ещё далеко, так что сегодня достаточно общей интуиции: что делает</a:t>
            </a:r>
          </a:p>
          <a:p>
            <a:r>
              <a:t>каждая из архитектур и чем они отличаются друг от друга на уровне общей</a:t>
            </a:r>
          </a:p>
          <a:p>
            <a:r>
              <a:t>картины, без деталей устройства.</a:t>
            </a:r>
          </a:p>
          <a:p/>
          <a:p>
            <a:r>
              <a:t>(Фото: SimonWaldherr · Wikimedia Commons · CC BY-SA 4.0)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перейти к следующему кейсу, два слова про RAG — эта</a:t>
            </a:r>
          </a:p>
          <a:p>
            <a:r>
              <a:t>аббревиатура вам сейчас понадобится, и дальше в занятии будет всплывать</a:t>
            </a:r>
          </a:p>
          <a:p>
            <a:r>
              <a:t>ещё не раз. Устроено это так: вопрос пользователя → система ищет</a:t>
            </a:r>
          </a:p>
          <a:p>
            <a:r>
              <a:t>релевантные фрагменты в базе знаний → найденные фрагменты подкладываются</a:t>
            </a:r>
          </a:p>
          <a:p>
            <a:r>
              <a:t>в контекст модели → модель генерирует ответ на основе вопроса и</a:t>
            </a:r>
          </a:p>
          <a:p>
            <a:r>
              <a:t>найденного. RAG нужен, когда база знаний большая, меняется во времени, и</a:t>
            </a:r>
          </a:p>
          <a:p>
            <a:r>
              <a:t>весь её объём физически не помещается в один запрос к модели — то есть</a:t>
            </a:r>
          </a:p>
          <a:p>
            <a:r>
              <a:t>модель физически не может «прочитать» всё сразу, ей нужно заранее найти</a:t>
            </a:r>
          </a:p>
          <a:p>
            <a:r>
              <a:t>только релевантный кусок. Как устроен поиск внутри — векторные</a:t>
            </a:r>
          </a:p>
          <a:p>
            <a:r>
              <a:t>представления, индексация — подробно разберём на Лекции 3, сегодня нам</a:t>
            </a:r>
          </a:p>
          <a:p>
            <a:r>
              <a:t>достаточно этой интуиции, чтобы узнавать архитектуру, когда она нужна, а</a:t>
            </a:r>
          </a:p>
          <a:p>
            <a:r>
              <a:t>не изобретать её заново каждый раз с нуля.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 второе — агент. Здесь модель работает не одним вызовом, а циклом:</a:t>
            </a:r>
          </a:p>
          <a:p>
            <a:r>
              <a:t>строит план, вызывает внешний инструмент — это может быть API, поиск,</a:t>
            </a:r>
          </a:p>
          <a:p>
            <a:r>
              <a:t>запуск кода, — проверяет результат этого вызова, решает, что делать</a:t>
            </a:r>
          </a:p>
          <a:p>
            <a:r>
              <a:t>дальше, и так несколько раз подряд, пока задача не будет выполнена или не</a:t>
            </a:r>
          </a:p>
          <a:p>
            <a:r>
              <a:t>потребуется вмешательство человека. Ключевое отличие от RAG — здесь</a:t>
            </a:r>
          </a:p>
          <a:p>
            <a:r>
              <a:t>модель не просто отвечает на вопрос по найденным фрагментам, она реально</a:t>
            </a:r>
          </a:p>
          <a:p>
            <a:r>
              <a:t>что-то делает во внешнем мире и проверяет, получилось ли. Детали того,</a:t>
            </a:r>
          </a:p>
          <a:p>
            <a:r>
              <a:t>как агент планирует внутри, — снова Лекция 3. Сегодня нам важно только</a:t>
            </a:r>
          </a:p>
          <a:p>
            <a:r>
              <a:t>одно: узнавать, когда задача требует именно такого цикла с инструментами,</a:t>
            </a:r>
          </a:p>
          <a:p>
            <a:r>
              <a:t>а не разового ответа модели. Держите эти две схемы в голове — RAG и</a:t>
            </a:r>
          </a:p>
          <a:p>
            <a:r>
              <a:t>агент — они понадобятся буквально через минуту, в следующем кейсе.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Зачитайте реплику целиком. Ключевое для решения — не выделено интонацией:</a:t>
            </a:r>
          </a:p>
          <a:p>
            <a:r>
              <a:t>после каждого созвона транскрипт целиком приходит письмом, нужен протокол</a:t>
            </a:r>
          </a:p>
          <a:p>
            <a:r>
              <a:t>с решениями, поручениями и сроками, около 15 встреч в неделю, сейчас</a:t>
            </a:r>
          </a:p>
          <a:p>
            <a:r>
              <a:t>протокол пишет проджект-менеджер вручную. Имя Насти, её спринт-отчёты и</a:t>
            </a:r>
          </a:p>
          <a:p>
            <a:r>
              <a:t>онбординг новых, аудит процессов, английский с подрядчиком — шум, к</a:t>
            </a:r>
          </a:p>
          <a:p>
            <a:r>
              <a:t>архитектуре задачи не относится. На входе у нас — полный транскрипт одной</a:t>
            </a:r>
          </a:p>
          <a:p>
            <a:r>
              <a:t>встречи целиком, разумного объёма, буквально запись одного созвона, а на</a:t>
            </a:r>
          </a:p>
          <a:p>
            <a:r>
              <a:t>выходе нужны структурированные решения, поручения и сроки, разложенные по</a:t>
            </a:r>
          </a:p>
          <a:p>
            <a:r>
              <a:t>пунктам. Вопрос в зал: какая архитектура здесь нужна? Аргументируйте,</a:t>
            </a:r>
          </a:p>
          <a:p>
            <a:r>
              <a:t>почему именно так — что конкретно в этой постановке подсказывает вам этот</a:t>
            </a:r>
          </a:p>
          <a:p>
            <a:r>
              <a:t>выбор, а не другой? Кто готов ответить первым?</a:t>
            </a:r>
          </a:p>
          <a:p/>
          <a:p>
            <a:r>
              <a:t>(Фото: Amtec Photos · Wikimedia Commons · CC BY 2.0)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Весь транскрипт одной встречи целиком помещается в контекст модели —</a:t>
            </a:r>
          </a:p>
          <a:p>
            <a:r>
              <a:t>значит, нужен один разовый вызов модели, ни RAG, ни агент не требуются и</a:t>
            </a:r>
          </a:p>
          <a:p>
            <a:r>
              <a:t>были бы избыточным усложнением. Схема простая: письмо с транскриптом</a:t>
            </a:r>
          </a:p>
          <a:p>
            <a:r>
              <a:t>приходит на вход → один вызов модели с заранее заданным шаблоном</a:t>
            </a:r>
          </a:p>
          <a:p>
            <a:r>
              <a:t>(«выдели решения, поручения, сроки») → на выходе готовый протокол. Никакого</a:t>
            </a:r>
          </a:p>
          <a:p>
            <a:r>
              <a:t>хранилища, никакого цикла с проверкой промежуточных результатов — потому</a:t>
            </a:r>
          </a:p>
          <a:p>
            <a:r>
              <a:t>что задача этого не требует. Всё, что нужно модели для ответа, помещается</a:t>
            </a:r>
          </a:p>
          <a:p>
            <a:r>
              <a:t>в один запрос целиком, и результат приходит сразу же, без промежуточных</a:t>
            </a:r>
          </a:p>
          <a:p>
            <a:r>
              <a:t>шагов и без обращения к каким-либо внешним системам. Это самый простой</a:t>
            </a:r>
          </a:p>
          <a:p>
            <a:r>
              <a:t>вариант из всех возможных, и он здесь полностью оправдан текущей</a:t>
            </a:r>
          </a:p>
          <a:p>
            <a:r>
              <a:t>формулировкой задачи — усложнять его сейчас означало бы решать проблему,</a:t>
            </a:r>
          </a:p>
          <a:p>
            <a:r>
              <a:t>которой пока попросту не существует.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Зачитайте реплику целиком, не педалируя ключевую часть интонацией. Ключевое</a:t>
            </a:r>
          </a:p>
          <a:p>
            <a:r>
              <a:t>для решения — растворено в рассказе про планёрку: протоколы копятся в общей</a:t>
            </a:r>
          </a:p>
          <a:p>
            <a:r>
              <a:t>папке, вопрос «что решали по подрядчику X в мае» ищется по теме и примерной</a:t>
            </a:r>
          </a:p>
          <a:p>
            <a:r>
              <a:t>дате, а не по точному документу, и это уже не одна встреча, а много</a:t>
            </a:r>
          </a:p>
          <a:p>
            <a:r>
              <a:t>накопленных протоколов. Бюджет на квартал, отпускной график — шум, к</a:t>
            </a:r>
          </a:p>
          <a:p>
            <a:r>
              <a:t>архитектуре не относится. Вопрос в зал: меняет ли это архитектуру? Что</a:t>
            </a:r>
          </a:p>
          <a:p>
            <a:r>
              <a:t>именно изменилось по сравнению с тем, что мы обсуждали минуту назад? Дайте</a:t>
            </a:r>
          </a:p>
          <a:p>
            <a:r>
              <a:t>себе секунду сопоставить новую просьбу с тем решением, которое вы предлагали</a:t>
            </a:r>
          </a:p>
          <a:p>
            <a:r>
              <a:t>для одной встречи. Кто хочет высказаться первым? И отдельно спрошу тех, кто</a:t>
            </a:r>
          </a:p>
          <a:p>
            <a:r>
              <a:t>минуту назад говорил про разовый вызов модели: кто из вас сейчас передумал —</a:t>
            </a:r>
          </a:p>
          <a:p>
            <a:r>
              <a:t>и почему именно эта деталь заставила вас пересмотреть ответ?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 был один транскрипт одной встречи, который целиком помещается в</a:t>
            </a:r>
          </a:p>
          <a:p>
            <a:r>
              <a:t>контекст модели, разовый вызов был правильным и достаточным ответом — ни</a:t>
            </a:r>
          </a:p>
          <a:p>
            <a:r>
              <a:t>RAG, ни агент были бы не нужны и только усложнили бы дело без всякой</a:t>
            </a:r>
          </a:p>
          <a:p>
            <a:r>
              <a:t>пользы. Но теперь база протоколов растёт со временем, постоянно</a:t>
            </a:r>
          </a:p>
          <a:p>
            <a:r>
              <a:t>пополняется новыми встречами, и весь этот объём уже физически не влезает</a:t>
            </a:r>
          </a:p>
          <a:p>
            <a:r>
              <a:t>в один запрос к модели. Значит, нужен поиск по этой растущей базе на</a:t>
            </a:r>
          </a:p>
          <a:p>
            <a:r>
              <a:t>произвольный запрос пользователя — и это ровно то, для чего нужен RAG:</a:t>
            </a:r>
          </a:p>
          <a:p>
            <a:r>
              <a:t>искать релевантные фрагменты протоколов по смыслу запроса, а не пытаться</a:t>
            </a:r>
          </a:p>
          <a:p>
            <a:r>
              <a:t>каждый раз скармливать модели весь архив целиком. Обратите внимание на</a:t>
            </a:r>
          </a:p>
          <a:p>
            <a:r>
              <a:t>схему — прежний путь никуда не делся, просто к нему добавилось хранилище,</a:t>
            </a:r>
          </a:p>
          <a:p>
            <a:r>
              <a:t>индексация и поиск перед тем, как нужные фрагменты попадают в тот же самый</a:t>
            </a:r>
          </a:p>
          <a:p>
            <a:r>
              <a:t>вызов модели, что был у нас на предыдущем шаге. Мы не выбрали RAG заранее</a:t>
            </a:r>
          </a:p>
          <a:p>
            <a:r>
              <a:t>«на всякий случай» — мы пришли к нему только когда появилось конкретное</a:t>
            </a:r>
          </a:p>
          <a:p>
            <a:r>
              <a:t>требование, которое простой вариант закрыть уже не мог.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Зачитайте реплику целиком. Ключевое для решения — не выделено особо:</a:t>
            </a:r>
          </a:p>
          <a:p>
            <a:r>
              <a:t>поручения из протоколов система уже находит, но их всё равно вручную</a:t>
            </a:r>
          </a:p>
          <a:p>
            <a:r>
              <a:t>переносят в таск-трекер одно за другим, и половина поручений из майских</a:t>
            </a:r>
          </a:p>
          <a:p>
            <a:r>
              <a:t>протоколов до сих пор без исполнителя. Благодарность за поиск, ретро, цвет</a:t>
            </a:r>
          </a:p>
          <a:p>
            <a:r>
              <a:t>тегов в таск-трекере — шум, к архитектуре не относится. Вопрос в зал:</a:t>
            </a:r>
          </a:p>
          <a:p>
            <a:r>
              <a:t>меняет ли это архитектуру ещё раз? Что здесь появилось нового по сравнению</a:t>
            </a:r>
          </a:p>
          <a:p>
            <a:r>
              <a:t>с поиском по базе, о котором мы только что говорили минуту назад? Кто</a:t>
            </a:r>
          </a:p>
          <a:p>
            <a:r>
              <a:t>передумал — и, что важнее самого факта смены мнения, почему именно эта</a:t>
            </a:r>
          </a:p>
          <a:p>
            <a:r>
              <a:t>деталь заставила вас пересмотреть архитектуру, а не просто добавить ещё</a:t>
            </a:r>
          </a:p>
          <a:p>
            <a:r>
              <a:t>один шаг к прежнему решению?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Появилось действие во внешней системе: нужно вызвать API таск-трекера,</a:t>
            </a:r>
          </a:p>
          <a:p>
            <a:r>
              <a:t>создать задачи, проверить, что они создались корректно, с правильным</a:t>
            </a:r>
          </a:p>
          <a:p>
            <a:r>
              <a:t>исполнителем и сроком. Один вызов модели или даже поиск по базе такое не</a:t>
            </a:r>
          </a:p>
          <a:p>
            <a:r>
              <a:t>закрывают — нужен workflow или полноценный агент, который вызывает</a:t>
            </a:r>
          </a:p>
          <a:p>
            <a:r>
              <a:t>внешний инструмент и проверяет результат вызова. Смотрите на схему целиком:</a:t>
            </a:r>
          </a:p>
          <a:p>
            <a:r>
              <a:t>прежний путь с хранилищем и поиском никуда не делся, он просто дополнен</a:t>
            </a:r>
          </a:p>
          <a:p>
            <a:r>
              <a:t>справа новыми блоками — извлечь поручение, вызвать API, создать задачу,</a:t>
            </a:r>
          </a:p>
          <a:p>
            <a:r>
              <a:t>проверить результат. Каждое расширение оплачено новым требованием: разовый</a:t>
            </a:r>
          </a:p>
          <a:p>
            <a:r>
              <a:t>вызов был оправдан, пока входило всё в один транскрипт; RAG появился, когда</a:t>
            </a:r>
          </a:p>
          <a:p>
            <a:r>
              <a:t>база выросла; агент появился, когда потребовалось действие во внешней</a:t>
            </a:r>
          </a:p>
          <a:p>
            <a:r>
              <a:t>системе. Архитектурный выбор двигали конкретные новые требования, а не</a:t>
            </a:r>
          </a:p>
          <a:p>
            <a:r>
              <a:t>мода на технологию. Начинайте с простейшего варианта, который решает</a:t>
            </a:r>
          </a:p>
          <a:p>
            <a:r>
              <a:t>текущую задачу, и усложняйте только тогда, когда появляется требование,</a:t>
            </a:r>
          </a:p>
          <a:p>
            <a:r>
              <a:t>которое простой вариант закрыть физически не может. Не наоборот.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Зачитайте реплику целиком. Ключевое для решения — не выделено особо:</a:t>
            </a:r>
          </a:p>
          <a:p>
            <a:r>
              <a:t>нужен именно еженедельный (по расписанию, не по запросу) дайджест по</a:t>
            </a:r>
          </a:p>
          <a:p>
            <a:r>
              <a:t>нескольким конкретным источникам — рабочему чату и почте, — раз в неделю к</a:t>
            </a:r>
          </a:p>
          <a:p>
            <a:r>
              <a:t>пятнице 17:00, и информацию нужно свести в одно связное сообщение. Переезд</a:t>
            </a:r>
          </a:p>
          <a:p>
            <a:r>
              <a:t>на другой мессенджер — шум, к архитектуре не относится. Вопрос в зал: какая</a:t>
            </a:r>
          </a:p>
          <a:p>
            <a:r>
              <a:t>архитектура здесь нужна — разовый вызов модели, RAG, агент, или что-то ещё?</a:t>
            </a:r>
          </a:p>
          <a:p>
            <a:r>
              <a:t>Аргументируйте, не просто называйте технологию — объясните, почему выбрали</a:t>
            </a:r>
          </a:p>
          <a:p>
            <a:r>
              <a:t>именно её, и что конкретно в постановке навело вас именно на эту мысль. Кто</a:t>
            </a:r>
          </a:p>
          <a:p>
            <a:r>
              <a:t>готов? Аргументируйте свой выбор.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часто звучит «нужен RAG, потому что много источников» — и это не</a:t>
            </a:r>
          </a:p>
          <a:p>
            <a:r>
              <a:t>так, хотя интуиция понятна. Нужен агент или конвейер, потому что кто-то</a:t>
            </a:r>
          </a:p>
          <a:p>
            <a:r>
              <a:t>должен обойти несколько источников по расписанию — зайти в чат, зайти в</a:t>
            </a:r>
          </a:p>
          <a:p>
            <a:r>
              <a:t>почту, собрать сообщения, — а это многошаговая задача с обращением к</a:t>
            </a:r>
          </a:p>
          <a:p>
            <a:r>
              <a:t>внешним системам. А вот RAG здесь не нужен: источники обходятся напрямую</a:t>
            </a:r>
          </a:p>
          <a:p>
            <a:r>
              <a:t>по расписанию, а не по произвольному запросу пользователя к большой базе,</a:t>
            </a:r>
          </a:p>
          <a:p>
            <a:r>
              <a:t>и после сбора материала суммаризация делается одним вызовом модели, без</a:t>
            </a:r>
          </a:p>
          <a:p>
            <a:r>
              <a:t>поиска по архиву. RAG — это конкретно про поиск по большой, меняющейся</a:t>
            </a:r>
          </a:p>
          <a:p>
            <a:r>
              <a:t>базе на произвольный запрос пользователя, а не про «у нас много</a:t>
            </a:r>
          </a:p>
          <a:p>
            <a:r>
              <a:t>источников данных» само по себе. Перепутать эти два признака — частая</a:t>
            </a:r>
          </a:p>
          <a:p>
            <a:r>
              <a:t>практическая ошибка, которую стоит запомнить отдельно от самого кейса.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случая из практики RAG и агентов уже в реальном проде. Позитивный —</a:t>
            </a:r>
          </a:p>
          <a:p>
            <a:r>
              <a:t>AI-ассистент Morgan Stanley: партнёрство с OpenAI объявили в марте 2023</a:t>
            </a:r>
          </a:p>
          <a:p>
            <a:r>
              <a:t>года, сам ассистент запустили в сентябре 2023. Это RAG по базе примерно</a:t>
            </a:r>
          </a:p>
          <a:p>
            <a:r>
              <a:t>100 000 research-документов компании. К середине 2024 года доля</a:t>
            </a:r>
          </a:p>
          <a:p>
            <a:r>
              <a:t>использующих ассистента команд финансовых советников превысила 98%. И</a:t>
            </a:r>
          </a:p>
          <a:p>
            <a:r>
              <a:t>ключевая метрика — доступность нужного документа для советника выросла с</a:t>
            </a:r>
          </a:p>
          <a:p>
            <a:r>
              <a:t>20% до 80%: раньше находили нужный материал примерно в одном случае из</a:t>
            </a:r>
          </a:p>
          <a:p>
            <a:r>
              <a:t>пяти, теперь — в четырёх из пяти. Негативный пример — инцидент в компании</a:t>
            </a:r>
          </a:p>
          <a:p>
            <a:r>
              <a:t>Replit в июле 2025 года: ИИ-агент удалил продакшен-базу данных, затронув</a:t>
            </a:r>
          </a:p>
          <a:p>
            <a:r>
              <a:t>данные примерно 1200 руководителей компаний, и сделал это во время</a:t>
            </a:r>
          </a:p>
          <a:p>
            <a:r>
              <a:t>объявленного code freeze — заморозки изменений в коде, — вопреки прямой</a:t>
            </a:r>
          </a:p>
          <a:p>
            <a:r>
              <a:t>инструкции не трогать продакшен. После этого агент ещё и неверно</a:t>
            </a:r>
          </a:p>
          <a:p>
            <a:r>
              <a:t>утверждал, что откат невозможен, хотя на самом деле данные восстановили.</a:t>
            </a:r>
          </a:p>
          <a:p>
            <a:r>
              <a:t>CEO компании публично извинился. После инцидента ввели автоматическое</a:t>
            </a:r>
          </a:p>
          <a:p>
            <a:r>
              <a:t>разделение окружений dev и prod и специальный режим агента «только</a:t>
            </a:r>
          </a:p>
          <a:p>
            <a:r>
              <a:t>планирование», без права выполнять деструктивные операции. И ещё один</a:t>
            </a:r>
          </a:p>
          <a:p>
            <a:r>
              <a:t>пример мельком: компания Octomind сняла с продакшена фреймворк LangChain</a:t>
            </a:r>
          </a:p>
          <a:p>
            <a:r>
              <a:t>после года использования и вернулась к прямым вызовам API — 17 июня 2024</a:t>
            </a:r>
          </a:p>
          <a:p>
            <a:r>
              <a:t>года.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Последний, четвёртый вопрос сегодня: считать данные через внешний облачный</a:t>
            </a:r>
          </a:p>
          <a:p>
            <a:r>
              <a:t>API или на своей инфраструктуре. Это про то, где физически обрабатываются</a:t>
            </a:r>
          </a:p>
          <a:p>
            <a:r>
              <a:t>данные, а не про то, какая модель лучше по качеству ответа — обе модели</a:t>
            </a:r>
          </a:p>
          <a:p>
            <a:r>
              <a:t>могут выдавать похожий результат, а разница окажется в том, куда именно</a:t>
            </a:r>
          </a:p>
          <a:p>
            <a:r>
              <a:t>уходит запрос и что происходит с содержимым на другом конце. У внешнего</a:t>
            </a:r>
          </a:p>
          <a:p>
            <a:r>
              <a:t>API — максимальная мощность без вложений в железо; у локального инференса —</a:t>
            </a:r>
          </a:p>
          <a:p>
            <a:r>
              <a:t>контроль над тем, что покидает периметр компании, и независимость от</a:t>
            </a:r>
          </a:p>
          <a:p>
            <a:r>
              <a:t>чужого сервиса. Взвешивать эти стороны приходится не абстрактно, а на</a:t>
            </a:r>
          </a:p>
          <a:p>
            <a:r>
              <a:t>конкретных данных конкретной задачи — одинаковых ответов для разных</a:t>
            </a:r>
          </a:p>
          <a:p>
            <a:r>
              <a:t>компаний здесь не бывает. Как и раньше, начнём с постановки задачи одной</a:t>
            </a:r>
          </a:p>
          <a:p>
            <a:r>
              <a:t>фразой от заказчика.</a:t>
            </a:r>
          </a:p>
          <a:p/>
          <a:p>
            <a:r>
              <a:t>(Фото: NASA · Wikimedia Commons · общественное достояние)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Зачитайте реплику руководителя отдела продаж целиком. Ключевое для</a:t>
            </a:r>
          </a:p>
          <a:p>
            <a:r>
              <a:t>решения — не выделено особо: нужна карточка-выжимка по звонку (потребность</a:t>
            </a:r>
          </a:p>
          <a:p>
            <a:r>
              <a:t>/ возражения / договорённости), 8 менеджеров, по 15-20 звонков в день,</a:t>
            </a:r>
          </a:p>
          <a:p>
            <a:r>
              <a:t>записи лежат в телефонии и никуда не выгружаются, история клиента ведётся</a:t>
            </a:r>
          </a:p>
          <a:p>
            <a:r>
              <a:t>в CRM компании. Стратегическая сессия, дубли контактов в CRM — шум, к</a:t>
            </a:r>
          </a:p>
          <a:p>
            <a:r>
              <a:t>архитектуре не относится. На входе — запись разговора, обычный свободный</a:t>
            </a:r>
          </a:p>
          <a:p>
            <a:r>
              <a:t>диалог между менеджером и клиентом, без всякой структуры, с</a:t>
            </a:r>
          </a:p>
          <a:p>
            <a:r>
              <a:t>перебиваниями, паузами, отступлениями от темы, иногда с посторонними</a:t>
            </a:r>
          </a:p>
          <a:p>
            <a:r>
              <a:t>звуками на фоне. Вопрос в зал: как это построить? Что предложите, и</a:t>
            </a:r>
          </a:p>
          <a:p>
            <a:r>
              <a:t>почему именно так? Кто начнёт?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Юрист попал на демо прототипа и услышал запись: клиент диктует паспортные</a:t>
            </a:r>
          </a:p>
          <a:p>
            <a:r>
              <a:t>данные для договора доставки. «Стоп. Вы эти записи в какой сервис</a:t>
            </a:r>
          </a:p>
          <a:p>
            <a:r>
              <a:t>отправляете?» Никто из инженеров не думал об этом заранее — все слушали</a:t>
            </a:r>
          </a:p>
          <a:p>
            <a:r>
              <a:t>только про потребности и возражения, потому что именно об этом просил</a:t>
            </a:r>
          </a:p>
          <a:p>
            <a:r>
              <a:t>руководитель отдела продаж. Смотрите на правовую карту. В России базовый</a:t>
            </a:r>
          </a:p>
          <a:p>
            <a:r>
              <a:t>закон о персональных данных — 152-ФЗ, а с 30 мая 2025 года действуют</a:t>
            </a:r>
          </a:p>
          <a:p>
            <a:r>
              <a:t>поправки 420-ФЗ: за первую утечку — фиксированный штраф от 3 до 5</a:t>
            </a:r>
          </a:p>
          <a:p>
            <a:r>
              <a:t>миллионов рублей, за повторную — уже оборотный штраф от 1 до 3% годовой</a:t>
            </a:r>
          </a:p>
          <a:p>
            <a:r>
              <a:t>выручки компании, минимум 20 миллионов, максимум 500 миллионов рублей. В</a:t>
            </a:r>
          </a:p>
          <a:p>
            <a:r>
              <a:t>Евросоюзе по GDPR — до 20 миллионов евро или 4% мирового годового</a:t>
            </a:r>
          </a:p>
          <a:p>
            <a:r>
              <a:t>оборота компании, берётся то, что больше; рекордный штраф получила Meta —</a:t>
            </a:r>
          </a:p>
          <a:p>
            <a:r>
              <a:t>1,2 миллиарда евро в 2023 году. В США единого федерального закона о</a:t>
            </a:r>
          </a:p>
          <a:p>
            <a:r>
              <a:t>защите персональных данных нет — действуют штатные законы, например</a:t>
            </a:r>
          </a:p>
          <a:p>
            <a:r>
              <a:t>калифорнийские CCPA и CPRA, и секторальные, вроде HIPAA для медицинских</a:t>
            </a:r>
          </a:p>
          <a:p>
            <a:r>
              <a:t>данных. Вывод один: за сохранность персональных данных всерьёз борются</a:t>
            </a:r>
          </a:p>
          <a:p>
            <a:r>
              <a:t>все крупные юрисдикции, и это не абстрактный риск, а конкретные суммы в</a:t>
            </a:r>
          </a:p>
          <a:p>
            <a:r>
              <a:t>законах разных стран.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Зачитайте обе реплики подряд, не выделяя ключевые слова интонацией.</a:t>
            </a:r>
          </a:p>
          <a:p>
            <a:r>
              <a:t>Ключевое для решения растворено в контексте: у CTO — GPU-сервера нет и</a:t>
            </a:r>
          </a:p>
          <a:p>
            <a:r>
              <a:t>бюджета на него в этом году нет, то есть про мощную локальную</a:t>
            </a:r>
          </a:p>
          <a:p>
            <a:r>
              <a:t>инфраструктуру для тяжёлой модели речи не идёт; у РОП — нужны именно пять</a:t>
            </a:r>
          </a:p>
          <a:p>
            <a:r>
              <a:t>конкретных полей в CRM, не беседа и не анализ тона голоса. Юрист на демо,</a:t>
            </a:r>
          </a:p>
          <a:p>
            <a:r>
              <a:t>приоритеты финансового директора, миграция почты, ноутбуки поддержки,</a:t>
            </a:r>
          </a:p>
          <a:p>
            <a:r>
              <a:t>понедельничный отчёт РОПа — шум, к архитектуре не относится. Вопрос в</a:t>
            </a:r>
          </a:p>
          <a:p>
            <a:r>
              <a:t>зал: меняет ли это архитектуру ещё раз? Что из сказанного раньше теперь</a:t>
            </a:r>
          </a:p>
          <a:p>
            <a:r>
              <a:t>стоит пересмотреть, и как эти две реплики вместе, а не по отдельности,</a:t>
            </a:r>
          </a:p>
          <a:p>
            <a:r>
              <a:t>меняют картину?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Задача на самом деле сузилась: нужна не свободная беседа, а</a:t>
            </a:r>
          </a:p>
          <a:p>
            <a:r>
              <a:t>структурированная выжимка по фиксированному шаблону из нескольких полей —</a:t>
            </a:r>
          </a:p>
          <a:p>
            <a:r>
              <a:t>это извлечение фиксированных полей по шаблону, а не свободная беседа с</a:t>
            </a:r>
          </a:p>
          <a:p>
            <a:r>
              <a:t>пониманием контекста. Что именно раскопал инженер, разбираясь с этим:</a:t>
            </a:r>
          </a:p>
          <a:p>
            <a:r>
              <a:t>класс задачи хорошо закрывают актуальные открытые модели размером 7-8</a:t>
            </a:r>
          </a:p>
          <a:p>
            <a:r>
              <a:t>миллиардов параметров — Qwen3, Llama, Gemma, Mistral, а также российские</a:t>
            </a:r>
          </a:p>
          <a:p>
            <a:r>
              <a:t>T-lite и T-pro, разработка Т-Банка на лицензии Apache 2.0, построенные на</a:t>
            </a:r>
          </a:p>
          <a:p>
            <a:r>
              <a:t>базе Qwen. 4-bit квантование — сжатие весов модели до 4 бит на параметр —</a:t>
            </a:r>
          </a:p>
          <a:p>
            <a:r>
              <a:t>позволяет уместить такую модель в 4-6 гигабайт памяти и запустить на</a:t>
            </a:r>
          </a:p>
          <a:p>
            <a:r>
              <a:t>обычном сервере без GPU-фермы, через инструменты вроде Ollama или</a:t>
            </a:r>
          </a:p>
          <a:p>
            <a:r>
              <a:t>llama.cpp. Если понадобится точнее подстроить модель под формат вывода —</a:t>
            </a:r>
          </a:p>
          <a:p>
            <a:r>
              <a:t>можно дообучить методом LoRA, экономным способом дообучения без изменения</a:t>
            </a:r>
          </a:p>
          <a:p>
            <a:r>
              <a:t>всех весов модели, и сделать это на одной GPU. Два урока проговорим явно.</a:t>
            </a:r>
          </a:p>
          <a:p>
            <a:r>
              <a:t>Первый — «сложно для человека» не значит «сложно для модели»: свободный</a:t>
            </a:r>
          </a:p>
          <a:p>
            <a:r>
              <a:t>разговор кажется сложным входом, но извлечение структурированных полей по</a:t>
            </a:r>
          </a:p>
          <a:p>
            <a:r>
              <a:t>шаблону — задача умеренной сложности, которую малая модель решает</a:t>
            </a:r>
          </a:p>
          <a:p>
            <a:r>
              <a:t>надёжно. Второй — чувствительность данных не видна в исходной постановке</a:t>
            </a:r>
          </a:p>
          <a:p>
            <a:r>
              <a:t>задачи, её нужно выяснять вопросами о содержимом входных данных, а не</a:t>
            </a:r>
          </a:p>
          <a:p>
            <a:r>
              <a:t>предполагать по формулировке.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Samsung разрешила сотрудникам использовать ChatGPT 11 марта 2023 года. К</a:t>
            </a:r>
          </a:p>
          <a:p>
            <a:r>
              <a:t>30 марта, то есть примерно за 19 дней, произошло три отдельных инцидента</a:t>
            </a:r>
          </a:p>
          <a:p>
            <a:r>
              <a:t>утечки: дважды — проприетарный код полупроводникового производства, один</a:t>
            </a:r>
          </a:p>
          <a:p>
            <a:r>
              <a:t>раз — транскрипт внутреннего совещания. Реакция — полный запрет</a:t>
            </a:r>
          </a:p>
          <a:p>
            <a:r>
              <a:t>генеративных ИИ-инструментов на корпоративных устройствах в мае 2023 года.</a:t>
            </a:r>
          </a:p>
          <a:p>
            <a:r>
              <a:t>Что можно было сделать вместо полного запрета? Политика допустимого</a:t>
            </a:r>
          </a:p>
          <a:p>
            <a:r>
              <a:t>использования до открытия доступа, фильтры на исходящий трафик, либо</a:t>
            </a:r>
          </a:p>
          <a:p>
            <a:r>
              <a:t>изначально локальная модель для чувствительных задач — ровно тот выбор,</a:t>
            </a:r>
          </a:p>
          <a:p>
            <a:r>
              <a:t>который мы только что тренировали. А теперь позитивные примеры малых</a:t>
            </a:r>
          </a:p>
          <a:p>
            <a:r>
              <a:t>моделей, которые уже работают локально прямо сейчас, а не в лаборатории.</a:t>
            </a:r>
          </a:p>
          <a:p>
            <a:r>
              <a:t>Apple Intelligence — модель примерно 3 миллиарда параметров прямо на</a:t>
            </a:r>
          </a:p>
          <a:p>
            <a:r>
              <a:t>устройстве, доступна в iOS 18.1 с октября 2024 года, на iPhone 15 Pro и</a:t>
            </a:r>
          </a:p>
          <a:p>
            <a:r>
              <a:t>новее: суммаризация текста и правка текста работают полностью офлайн, без</a:t>
            </a:r>
          </a:p>
          <a:p>
            <a:r>
              <a:t>подключения к облаку. Google Gemini Nano — модель размером 1,8-3,25</a:t>
            </a:r>
          </a:p>
          <a:p>
            <a:r>
              <a:t>миллиарда параметров в устройствах Pixel и Android: суммаризация записей</a:t>
            </a:r>
          </a:p>
          <a:p>
            <a:r>
              <a:t>голосового диктофона в приложении Recorder, функция Magic Compose для</a:t>
            </a:r>
          </a:p>
          <a:p>
            <a:r>
              <a:t>умного автодополнения сообщений — обе тоже работают офлайн. Малые модели</a:t>
            </a:r>
          </a:p>
          <a:p>
            <a:r>
              <a:t>уже в кармане у большой доли аудитории в этом зале — просто не все об</a:t>
            </a:r>
          </a:p>
          <a:p>
            <a:r>
              <a:t>этом задумывались.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кого есть похожая задача с работы — там, где стоял вопрос, нужен ли ИИ,</a:t>
            </a:r>
          </a:p>
          <a:p>
            <a:r>
              <a:t>и какой? Не обязательно готовое решение, достаточно, чтобы вы могли</a:t>
            </a:r>
          </a:p>
          <a:p>
            <a:r>
              <a:t>сформулировать её в двух-трёх предложениях, ровно так, как её принёс бы</a:t>
            </a:r>
          </a:p>
          <a:p>
            <a:r>
              <a:t>вам заказчик, без причёсывания под учебный пример. Мы разберём её всей</a:t>
            </a:r>
          </a:p>
          <a:p>
            <a:r>
              <a:t>аудиторией так же, как сегодняшние кейсы: какой выбор здесь стоит острее</a:t>
            </a:r>
          </a:p>
          <a:p>
            <a:r>
              <a:t>всего, каких вводных не хватает, чтобы ответить обоснованно, и что</a:t>
            </a:r>
          </a:p>
          <a:p>
            <a:r>
              <a:t>происходит, если эти вводные вдруг появляются или меняются. Если вы уже</a:t>
            </a:r>
          </a:p>
          <a:p>
            <a:r>
              <a:t>знаете, как эта задача разрешилась на практике — расскажите нам это уже</a:t>
            </a:r>
          </a:p>
          <a:p>
            <a:r>
              <a:t>после того, как аудитория выскажет свои предположения, не раньше. Кто</a:t>
            </a:r>
          </a:p>
          <a:p>
            <a:r>
              <a:t>готов рассказать? Если никто не откликнется сразу — у меня есть запасная</a:t>
            </a:r>
          </a:p>
          <a:p>
            <a:r>
              <a:t>история, но мне правда интереснее разобрать что-то из вашей собственной</a:t>
            </a:r>
          </a:p>
          <a:p>
            <a:r>
              <a:t>практики.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Соберём то, что уже прозвучало сегодня — ничего нового, просто компиляция.</a:t>
            </a:r>
          </a:p>
          <a:p>
            <a:r>
              <a:t>Документы поставщиков — изучайте данные максимально подробно и широко, не</a:t>
            </a:r>
          </a:p>
          <a:p>
            <a:r>
              <a:t>верьте заказчику на слово, два примера ещё не полная картина. Персоналка в</a:t>
            </a:r>
          </a:p>
          <a:p>
            <a:r>
              <a:t>логах — алгоритмы и малые специализированные модели часто решают текстовую</a:t>
            </a:r>
          </a:p>
          <a:p>
            <a:r>
              <a:t>задачу быстрее и дешевле, чем большой LLM. Помощник поддержки —</a:t>
            </a:r>
          </a:p>
          <a:p>
            <a:r>
              <a:t>организационное ограничение вроде закрытого API может решить архитектуру</a:t>
            </a:r>
          </a:p>
          <a:p>
            <a:r>
              <a:t>не хуже технических требований. Описания товаров — кнопка в существующем</a:t>
            </a:r>
          </a:p>
          <a:p>
            <a:r>
              <a:t>интерфейсе почти всегда бьёт отдельный продукт. Протоколы встреч —</a:t>
            </a:r>
          </a:p>
          <a:p>
            <a:r>
              <a:t>архитектуру двигают конкретные новые требования, а не мода на технологию,</a:t>
            </a:r>
          </a:p>
          <a:p>
            <a:r>
              <a:t>начинайте с простого. Дайджест — много источников данных не значит, что</a:t>
            </a:r>
          </a:p>
          <a:p>
            <a:r>
              <a:t>нужен RAG. И звонки продаж — то, что кажется сложным человеку, не</a:t>
            </a:r>
          </a:p>
          <a:p>
            <a:r>
              <a:t>обязательно сложно для модели, а чувствительность данных выясняется</a:t>
            </a:r>
          </a:p>
          <a:p>
            <a:r>
              <a:t>только вопросами, не предположениями. Вот это и есть то, что стоит унести</a:t>
            </a:r>
          </a:p>
          <a:p>
            <a:r>
              <a:t>с сегодняшнего занятия.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тех, кому интересно копнуть глубже — три материала. Главный —</a:t>
            </a:r>
          </a:p>
          <a:p>
            <a:r>
              <a:t>история Klarna, 2023-2025 год: один AI-ассистент поддержки, который</a:t>
            </a:r>
          </a:p>
          <a:p>
            <a:r>
              <a:t>затрагивает почти все сегодняшние выборы, от впечатляющего запуска до</a:t>
            </a:r>
          </a:p>
          <a:p>
            <a:r>
              <a:t>публичного признания генерального директора «мы зашли слишком далеко» и</a:t>
            </a:r>
          </a:p>
          <a:p>
            <a:r>
              <a:t>возврата к найму людей. Второй — история нью-йоркского городского</a:t>
            </a:r>
          </a:p>
          <a:p>
            <a:r>
              <a:t>чат-бота MyCity, который в 2024 году давал малому бизнесу юридически</a:t>
            </a:r>
          </a:p>
          <a:p>
            <a:r>
              <a:t>некорректные советы. И бонус для настроения — история про то, как</a:t>
            </a:r>
          </a:p>
          <a:p>
            <a:r>
              <a:t>автосалон Chevrolet of Watsonville подключил чат-бот на базе стороннего</a:t>
            </a:r>
          </a:p>
          <a:p>
            <a:r>
              <a:t>API без ограждений, и тот «продал» внедорожник Tahoe за один доллар.</a:t>
            </a:r>
          </a:p>
          <a:p>
            <a:r>
              <a:t>Хороший пример того, что происходит, когда внешнюю модель встраивают в</a:t>
            </a:r>
          </a:p>
          <a:p>
            <a:r>
              <a:t>продакшен без защиты от манипуляций пользователя. Если сегодня останется</a:t>
            </a:r>
          </a:p>
          <a:p>
            <a:r>
              <a:t>время — часть этого разберём вживую.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Klarna запустила AI-ассистента поддержки на базе OpenAI в феврале 2024</a:t>
            </a:r>
          </a:p>
          <a:p>
            <a:r>
              <a:t>года, прямо в существующем канале поддержки. За первые 30 дней — 2,3</a:t>
            </a:r>
          </a:p>
          <a:p>
            <a:r>
              <a:t>миллиона чатов, автоматизация 67% обращений. Смотрите на все четыре</a:t>
            </a:r>
          </a:p>
          <a:p>
            <a:r>
              <a:t>развилки сразу. Типовые тикеты вроде статуса заказа или возврата —</a:t>
            </a:r>
          </a:p>
          <a:p>
            <a:r>
              <a:t>формализуемая, повторяющаяся задача, хороший кандидат на автоматизацию.</a:t>
            </a:r>
          </a:p>
          <a:p>
            <a:r>
              <a:t>Ассистент встроен в уже существующий канал поддержки — правильный выбор</a:t>
            </a:r>
          </a:p>
          <a:p>
            <a:r>
              <a:t>по логике сегодняшнего занятия. Архитектура — чат с эскалацией к</a:t>
            </a:r>
          </a:p>
          <a:p>
            <a:r>
              <a:t>человеку, не автономный агент без контроля. А вот инференс — внешний</a:t>
            </a:r>
          </a:p>
          <a:p>
            <a:r>
              <a:t>облачный API с клиентскими данными поддержки, решение сопоставимого</a:t>
            </a:r>
          </a:p>
          <a:p>
            <a:r>
              <a:t>риск-профиля с нашим кейсом про звонки продаж, только здесь его приняли</a:t>
            </a:r>
          </a:p>
          <a:p>
            <a:r>
              <a:t>и оставили в проде. И отдельно — компания заявила эффект «эквивалент 700</a:t>
            </a:r>
          </a:p>
          <a:p>
            <a:r>
              <a:t>агентов» и 40 миллионов долларов в 2024 году, а знаменатель — сколько</a:t>
            </a:r>
          </a:p>
          <a:p>
            <a:r>
              <a:t>агентов поддержки было у компании до запуска — публично не раскрывался.</a:t>
            </a:r>
          </a:p>
          <a:p>
            <a:r>
              <a:t>К третьему кварталу 2025 метрика обновилась до «853 агента» и 60</a:t>
            </a:r>
          </a:p>
          <a:p>
            <a:r>
              <a:t>миллионов долларов эффекта, знаменатель снова не раскрыт. В мае 2025 года</a:t>
            </a:r>
          </a:p>
          <a:p>
            <a:r>
              <a:t>генеральный директор Себастьян Семятковски сказал в интервью Bloomberg:</a:t>
            </a:r>
          </a:p>
          <a:p>
            <a:r>
              <a:t>«We went too far» — мы зашли слишком далеко — и компания вернулась к</a:t>
            </a:r>
          </a:p>
          <a:p>
            <a:r>
              <a:t>найму людей, перейдя на гибридную модель. На какой из четырёх развилок</a:t>
            </a:r>
          </a:p>
          <a:p>
            <a:r>
              <a:t>Klarna ошиблась сильнее всего, на ваш взгляд?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Зачитайте реплику продакта целиком. Ключевое для решения — не выделено</a:t>
            </a:r>
          </a:p>
          <a:p>
            <a:r>
              <a:t>особо: поток новостей из многих источников, нужно склеивать сообщения об</a:t>
            </a:r>
          </a:p>
          <a:p>
            <a:r>
              <a:t>одном и том же событии в одну карточку. Жалобы в поддержку, подключение</a:t>
            </a:r>
          </a:p>
          <a:p>
            <a:r>
              <a:t>новых источников, бюджет на фичи — шум, к архитектуре не относится.</a:t>
            </a:r>
          </a:p>
          <a:p>
            <a:r>
              <a:t>Вопрос в зал: какая технология здесь нужна? Интуитивно многие сейчас</a:t>
            </a:r>
          </a:p>
          <a:p>
            <a:r>
              <a:t>скажут — нужно понимание смысла текста, значит модель, и придётся гонять</a:t>
            </a:r>
          </a:p>
          <a:p>
            <a:r>
              <a:t>каждую пару новостей через LLM, сравнивая их попарно. Согласны с этим, или</a:t>
            </a:r>
          </a:p>
          <a:p>
            <a:r>
              <a:t>у кого-то в зале уже есть сомнения на этот счёт? Подумайте, сколько таких</a:t>
            </a:r>
          </a:p>
          <a:p>
            <a:r>
              <a:t>пар новостей нужно будет сравнивать каждый день при большом потоке</a:t>
            </a:r>
          </a:p>
          <a:p>
            <a:r>
              <a:t>источников.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самом деле сравнение текстов по перекрывающимся фрагментам —</a:t>
            </a:r>
          </a:p>
          <a:p>
            <a:r>
              <a:t>fuzzy-matching и shingling — без обращения к модели закрывает порядка 90%</a:t>
            </a:r>
          </a:p>
          <a:p>
            <a:r>
              <a:t>случаев дублирования, и делает это дешевле и предсказуемее, чем вызов</a:t>
            </a:r>
          </a:p>
          <a:p>
            <a:r>
              <a:t>модели на каждую пару новостей: результат детерминирован, легко</a:t>
            </a:r>
          </a:p>
          <a:p>
            <a:r>
              <a:t>отлаживается, не зависит от настроения модели. Модель нужна только на</a:t>
            </a:r>
          </a:p>
          <a:p>
            <a:r>
              <a:t>оставшуюся часть — случаи, где два сообщения об одном событии написаны</a:t>
            </a:r>
          </a:p>
          <a:p>
            <a:r>
              <a:t>совершенно разными словами и почти не имеют общих фрагментов текста, то</a:t>
            </a:r>
          </a:p>
          <a:p>
            <a:r>
              <a:t>есть это скорее перефраз, чем совпадение. Урок тот же, что был у нас в</a:t>
            </a:r>
          </a:p>
          <a:p>
            <a:r>
              <a:t>самом начале занятия с персональными данными в логах: сначала дешёвый</a:t>
            </a:r>
          </a:p>
          <a:p>
            <a:r>
              <a:t>детерминированный фильтр закрывает основную массу случаев, а модель —</a:t>
            </a:r>
          </a:p>
          <a:p>
            <a:r>
              <a:t>только на остаток, который фильтр физически не берёт.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Сегодня мы прошли через семь ситуаций, и в каждой вы принимали решение —</a:t>
            </a:r>
          </a:p>
          <a:p>
            <a:r>
              <a:t>что вообще строить, какую архитектуру выбрать, где считать данные. Ни</a:t>
            </a:r>
          </a:p>
          <a:p>
            <a:r>
              <a:t>разу правильный ответ не был очевиден с первой формулировки — он всегда</a:t>
            </a:r>
          </a:p>
          <a:p>
            <a:r>
              <a:t>зависел от вопроса, который вы либо задавали, либо нет. Именно это умение</a:t>
            </a:r>
          </a:p>
          <a:p>
            <a:r>
              <a:t>и было целью занятия, а не запоминание конкретных кейсов. Дальше по</a:t>
            </a:r>
          </a:p>
          <a:p>
            <a:r>
              <a:t>курсу мы пойдём вглубь: на следующей лекции — как устроена модель</a:t>
            </a:r>
          </a:p>
          <a:p>
            <a:r>
              <a:t>внутри, что происходит на уровне архитектуры, когда вы отправляете ей</a:t>
            </a:r>
          </a:p>
          <a:p>
            <a:r>
              <a:t>запрос. Сегодняшние кейсы, надеюсь, дали вам интуицию, зачем это знание</a:t>
            </a:r>
          </a:p>
          <a:p>
            <a:r>
              <a:t>вообще нужно инженеру, а не только исследователю. Спасибо за живое</a:t>
            </a:r>
          </a:p>
          <a:p>
            <a:r>
              <a:t>обсуждение сегодня, до встречи на лекции.</a:t>
            </a:r>
          </a:p>
          <a:p/>
          <a:p>
            <a:r>
              <a:t>(Фото: Mickael Courtiade · Wikimedia Commons · CC BY 2.0)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2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5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jp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4.png"/><Relationship Id="rId6" Type="http://schemas.openxmlformats.org/officeDocument/2006/relationships/image" Target="../media/image37.png"/><Relationship Id="rId7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38.jp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1.png"/><Relationship Id="rId4" Type="http://schemas.openxmlformats.org/officeDocument/2006/relationships/image" Target="../media/image39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40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Relationship Id="rId6" Type="http://schemas.openxmlformats.org/officeDocument/2006/relationships/image" Target="../media/image44.png"/><Relationship Id="rId7" Type="http://schemas.openxmlformats.org/officeDocument/2006/relationships/image" Target="../media/image45.png"/><Relationship Id="rId8" Type="http://schemas.openxmlformats.org/officeDocument/2006/relationships/image" Target="../media/image46.png"/><Relationship Id="rId9" Type="http://schemas.openxmlformats.org/officeDocument/2006/relationships/image" Target="../media/image47.png"/><Relationship Id="rId10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48.pn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Relationship Id="rId6" Type="http://schemas.openxmlformats.org/officeDocument/2006/relationships/image" Target="../media/image49.png"/><Relationship Id="rId7" Type="http://schemas.openxmlformats.org/officeDocument/2006/relationships/image" Target="../media/image50.png"/><Relationship Id="rId8" Type="http://schemas.openxmlformats.org/officeDocument/2006/relationships/image" Target="../media/image51.png"/><Relationship Id="rId9" Type="http://schemas.openxmlformats.org/officeDocument/2006/relationships/image" Target="../media/image52.png"/><Relationship Id="rId10" Type="http://schemas.openxmlformats.org/officeDocument/2006/relationships/image" Target="../media/image53.png"/><Relationship Id="rId11" Type="http://schemas.openxmlformats.org/officeDocument/2006/relationships/image" Target="../media/image54.png"/><Relationship Id="rId12" Type="http://schemas.openxmlformats.org/officeDocument/2006/relationships/image" Target="../media/image55.png"/><Relationship Id="rId13" Type="http://schemas.openxmlformats.org/officeDocument/2006/relationships/image" Target="../media/image56.png"/><Relationship Id="rId1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57.png"/><Relationship Id="rId4" Type="http://schemas.openxmlformats.org/officeDocument/2006/relationships/image" Target="../media/image58.png"/><Relationship Id="rId5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23.png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60.png"/><Relationship Id="rId4" Type="http://schemas.openxmlformats.org/officeDocument/2006/relationships/image" Target="../media/image61.png"/><Relationship Id="rId5" Type="http://schemas.openxmlformats.org/officeDocument/2006/relationships/image" Target="../media/image62.png"/><Relationship Id="rId6" Type="http://schemas.openxmlformats.org/officeDocument/2006/relationships/image" Target="../media/image63.png"/><Relationship Id="rId7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23.png"/><Relationship Id="rId4" Type="http://schemas.openxmlformats.org/officeDocument/2006/relationships/image" Target="../media/image64.png"/><Relationship Id="rId5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67.png"/><Relationship Id="rId4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Relationship Id="rId3" Type="http://schemas.openxmlformats.org/officeDocument/2006/relationships/image" Target="../media/image63.png"/><Relationship Id="rId4" Type="http://schemas.openxmlformats.org/officeDocument/2006/relationships/image" Target="../media/image69.png"/><Relationship Id="rId5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57.png"/><Relationship Id="rId4" Type="http://schemas.openxmlformats.org/officeDocument/2006/relationships/image" Target="../media/image45.png"/><Relationship Id="rId5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image" Target="../media/image71.png"/><Relationship Id="rId4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jpg"/><Relationship Id="rId3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01-nasa-engineers-real.jpg"/>
          <p:cNvPicPr>
            <a:picLocks noChangeAspect="1"/>
          </p:cNvPicPr>
          <p:nvPr/>
        </p:nvPicPr>
        <p:blipFill>
          <a:blip r:embed="rId2"/>
          <a:srcRect t="7821" b="782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206240"/>
            <a:ext cx="12191695" cy="2651760"/>
          </a:xfrm>
          <a:prstGeom prst="rect">
            <a:avLst/>
          </a:prstGeom>
          <a:solidFill>
            <a:srgbClr val="21295C">
              <a:alpha val="8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434840"/>
            <a:ext cx="6949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0AB00"/>
                </a:solidFill>
                <a:latin typeface="Arial"/>
              </a:rPr>
              <a:t>СЕМИНАР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846320"/>
            <a:ext cx="110642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Когда ИИ, каким и на чём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0644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 i="1">
                <a:solidFill>
                  <a:srgbClr val="C8D2DF"/>
                </a:solidFill>
                <a:latin typeface="Arial"/>
              </a:rPr>
              <a:t>Семь реальных рабочих ситуаций — и в каждой решение, которое инженер принимает раньше, чем открывает редактор кода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Сегодня — четыре выбора, семь кейсов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60120"/>
            <a:ext cx="11183112" cy="56692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split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051560"/>
            <a:ext cx="384048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960120"/>
            <a:ext cx="10149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i="0">
                <a:solidFill>
                  <a:srgbClr val="21295C"/>
                </a:solidFill>
                <a:latin typeface="Arial"/>
              </a:rPr>
              <a:t>ИИ или обычный код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18488"/>
            <a:ext cx="11183112" cy="56692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git-fork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709928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71600" y="1618488"/>
            <a:ext cx="10149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i="0">
                <a:solidFill>
                  <a:srgbClr val="21295C"/>
                </a:solidFill>
                <a:latin typeface="Arial"/>
              </a:rPr>
              <a:t>Встроить или делать своё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76856"/>
            <a:ext cx="11183112" cy="56692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route-065A82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368296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71600" y="2276856"/>
            <a:ext cx="10149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i="0">
                <a:solidFill>
                  <a:srgbClr val="21295C"/>
                </a:solidFill>
                <a:latin typeface="Arial"/>
              </a:rPr>
              <a:t>Разовый вызов, RAG или агент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935224"/>
            <a:ext cx="11183112" cy="56692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server-065A82-9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026664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371600" y="2935224"/>
            <a:ext cx="10149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i="0">
                <a:solidFill>
                  <a:srgbClr val="21295C"/>
                </a:solidFill>
                <a:latin typeface="Arial"/>
              </a:rPr>
              <a:t>Внешний API или локальный инференс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703320"/>
            <a:ext cx="11183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1">
                <a:solidFill>
                  <a:srgbClr val="6B7685"/>
                </a:solidFill>
                <a:latin typeface="Arial"/>
              </a:rPr>
              <a:t>Семь кейсов, на которых сегодня разбираем эти выборы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087368"/>
            <a:ext cx="5454396" cy="4206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" descr="file-text-065A82-6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" y="4160520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014984" y="4087368"/>
            <a:ext cx="483260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Документы поставщиков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599431"/>
            <a:ext cx="5454396" cy="4206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0" name="Picture 19" descr="shield-alert-065A82-6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936" y="4672583"/>
            <a:ext cx="274320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14984" y="4599431"/>
            <a:ext cx="483260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Персоналка в логах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111496"/>
            <a:ext cx="5454396" cy="4206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monitor-065A82-6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0936" y="5184648"/>
            <a:ext cx="274320" cy="2743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014984" y="5111496"/>
            <a:ext cx="483260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Помощник поддержки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623560"/>
            <a:ext cx="5454396" cy="4206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6" name="Picture 25" descr="store-065A82-6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5696712"/>
            <a:ext cx="274320" cy="27432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14984" y="5623560"/>
            <a:ext cx="483260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Описания товаров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31636" y="4087368"/>
            <a:ext cx="5454396" cy="4206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9" name="Picture 28" descr="list-checks-065A82-64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59651" y="4160520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743700" y="4087368"/>
            <a:ext cx="483260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Протоколы встреч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31636" y="4599431"/>
            <a:ext cx="5454396" cy="4206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2" name="Picture 31" descr="mail-065A82-64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59651" y="4672583"/>
            <a:ext cx="274320" cy="27432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743700" y="4599431"/>
            <a:ext cx="483260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Дайджест по чатам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1636" y="5111496"/>
            <a:ext cx="5454396" cy="4206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5" name="Picture 34" descr="phone-065A82-64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59651" y="5184648"/>
            <a:ext cx="274320" cy="2743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743700" y="5111496"/>
            <a:ext cx="483260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Звонки продаж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6281928"/>
            <a:ext cx="11183112" cy="256032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6281928"/>
            <a:ext cx="106070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i="0">
                <a:solidFill>
                  <a:srgbClr val="21295C"/>
                </a:solidFill>
                <a:latin typeface="Arial"/>
              </a:rPr>
              <a:t>В каждом кейсе появится деталь, которой не было в первой постановке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03-divider-code-real.jpg"/>
          <p:cNvPicPr>
            <a:picLocks noChangeAspect="1"/>
          </p:cNvPicPr>
          <p:nvPr/>
        </p:nvPicPr>
        <p:blipFill>
          <a:blip r:embed="rId2"/>
          <a:srcRect t="11157" b="11157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>
              <a:alpha val="7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-91440" y="-594360"/>
            <a:ext cx="5486400" cy="32918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0000"/>
              </a:lnSpc>
            </a:pPr>
            <a:r>
              <a:rPr sz="28000" b="1" i="0">
                <a:solidFill>
                  <a:srgbClr val="3A4474"/>
                </a:solidFill>
                <a:latin typeface="Arial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65960" y="160020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0607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ИИ или обычный код?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43400"/>
            <a:ext cx="5120640" cy="50292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Кейс: документы поставщиков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074920"/>
            <a:ext cx="9875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1">
                <a:solidFill>
                  <a:srgbClr val="C8D2DF"/>
                </a:solidFill>
                <a:latin typeface="Arial"/>
              </a:rPr>
              <a:t>Инженеры часто решают это на глаз, по ощущению сложности задачи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831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Документы поставщиков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831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6B7685"/>
                </a:solidFill>
                <a:latin typeface="Arial"/>
              </a:rPr>
              <a:t>Марина, и.о. продакта по фин.процессам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14400"/>
            <a:ext cx="11183112" cy="2331720"/>
          </a:xfrm>
          <a:prstGeom prst="roundRect">
            <a:avLst>
              <a:gd name="adj" fmla="val 1307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088136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" y="1426464"/>
            <a:ext cx="10744200" cy="1600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 i="1">
                <a:solidFill>
                  <a:srgbClr val="21295C"/>
                </a:solidFill>
                <a:latin typeface="Arial"/>
              </a:rPr>
              <a:t>«Привет! Пишет Марина, временно за продакта по фин.процессам, пока Олег в отпуске. Бухгалтерия реально тонет: три человека руками забивают накладные поставщиков в 1С, около 400 штук в месяц, к концу квартала завал и ошибки в суммах. Приложила два примера накладных за прошлую неделю — форматы вроде одинаковые. Можно это как-то автоматом сделать? Заодно спроси у Димы, когда освободится после релиза мобилки — хотела обсудить с ним ещё и склад, но это отдельная история. По срокам — прикидка хотя бы до пятницы была бы супер, у нас на этой неделе ревью бюджета».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429000"/>
            <a:ext cx="3593592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3520440"/>
            <a:ext cx="330098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Документ поставщика A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" y="3867912"/>
            <a:ext cx="788670" cy="30175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3867912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 i="0">
                <a:solidFill>
                  <a:srgbClr val="FFFFFF"/>
                </a:solidFill>
                <a:latin typeface="Arial"/>
              </a:rPr>
              <a:t>Дата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74470" y="3867912"/>
            <a:ext cx="788670" cy="30175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74470" y="3867912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 i="0">
                <a:solidFill>
                  <a:srgbClr val="FFFFFF"/>
                </a:solidFill>
                <a:latin typeface="Arial"/>
              </a:rPr>
              <a:t>№ накл.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99716" y="3867912"/>
            <a:ext cx="788670" cy="30175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99716" y="3867912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 i="0">
                <a:solidFill>
                  <a:srgbClr val="FFFFFF"/>
                </a:solidFill>
                <a:latin typeface="Arial"/>
              </a:rPr>
              <a:t>Позиция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24962" y="3867912"/>
            <a:ext cx="788670" cy="30175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24962" y="3867912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 i="0">
                <a:solidFill>
                  <a:srgbClr val="FFFFFF"/>
                </a:solidFill>
                <a:latin typeface="Arial"/>
              </a:rPr>
              <a:t>Сумма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" y="4192524"/>
            <a:ext cx="788670" cy="301752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4192524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24.03.2026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74470" y="4192524"/>
            <a:ext cx="788670" cy="301752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74470" y="4192524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99716" y="4192524"/>
            <a:ext cx="788670" cy="301752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99716" y="4192524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24962" y="4192524"/>
            <a:ext cx="788670" cy="301752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24962" y="4192524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9224" y="4517136"/>
            <a:ext cx="788670" cy="301752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517136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474470" y="4517136"/>
            <a:ext cx="788670" cy="301752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74470" y="4517136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99716" y="4517136"/>
            <a:ext cx="788670" cy="301752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99716" y="4517136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24962" y="4517136"/>
            <a:ext cx="788670" cy="301752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24962" y="4517136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0" y="3429000"/>
            <a:ext cx="3593592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43984" y="3520440"/>
            <a:ext cx="330098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Документ поставщика Б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43984" y="3867912"/>
            <a:ext cx="788670" cy="30175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43984" y="3867912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 i="0">
                <a:solidFill>
                  <a:srgbClr val="FFFFFF"/>
                </a:solidFill>
                <a:latin typeface="Arial"/>
              </a:rPr>
              <a:t>Дата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69230" y="3867912"/>
            <a:ext cx="788670" cy="30175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269230" y="3867912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 i="0">
                <a:solidFill>
                  <a:srgbClr val="FFFFFF"/>
                </a:solidFill>
                <a:latin typeface="Arial"/>
              </a:rPr>
              <a:t>№ накл.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94476" y="3867912"/>
            <a:ext cx="788670" cy="30175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94476" y="3867912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 i="0">
                <a:solidFill>
                  <a:srgbClr val="FFFFFF"/>
                </a:solidFill>
                <a:latin typeface="Arial"/>
              </a:rPr>
              <a:t>Позиция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919722" y="3867912"/>
            <a:ext cx="788670" cy="30175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919722" y="3867912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 i="0">
                <a:solidFill>
                  <a:srgbClr val="FFFFFF"/>
                </a:solidFill>
                <a:latin typeface="Arial"/>
              </a:rPr>
              <a:t>Сумма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43984" y="4192524"/>
            <a:ext cx="788670" cy="301752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443984" y="4192524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24.03.2026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69230" y="4192524"/>
            <a:ext cx="788670" cy="301752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269230" y="4192524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4476" y="4192524"/>
            <a:ext cx="788670" cy="301752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94476" y="4192524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919722" y="4192524"/>
            <a:ext cx="788670" cy="301752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919722" y="4192524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443984" y="4517136"/>
            <a:ext cx="788670" cy="301752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43984" y="4517136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269230" y="4517136"/>
            <a:ext cx="788670" cy="301752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269230" y="4517136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94476" y="4517136"/>
            <a:ext cx="788670" cy="301752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094476" y="4517136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919722" y="4517136"/>
            <a:ext cx="788670" cy="301752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919722" y="4517136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092440" y="3429000"/>
            <a:ext cx="3593592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2286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38744" y="3520440"/>
            <a:ext cx="330098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Целевая таблица в 1С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238744" y="3867912"/>
            <a:ext cx="788670" cy="30175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238744" y="3867912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 i="0">
                <a:solidFill>
                  <a:srgbClr val="21295C"/>
                </a:solidFill>
                <a:latin typeface="Arial"/>
              </a:rPr>
              <a:t>Дата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063990" y="3867912"/>
            <a:ext cx="788670" cy="30175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063990" y="3867912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 i="0">
                <a:solidFill>
                  <a:srgbClr val="21295C"/>
                </a:solidFill>
                <a:latin typeface="Arial"/>
              </a:rPr>
              <a:t>№ накладной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889236" y="3867912"/>
            <a:ext cx="788670" cy="30175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889236" y="3867912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 i="0">
                <a:solidFill>
                  <a:srgbClr val="21295C"/>
                </a:solidFill>
                <a:latin typeface="Arial"/>
              </a:rPr>
              <a:t>Позиция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714482" y="3867912"/>
            <a:ext cx="788670" cy="30175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714482" y="3867912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 i="0">
                <a:solidFill>
                  <a:srgbClr val="21295C"/>
                </a:solidFill>
                <a:latin typeface="Arial"/>
              </a:rPr>
              <a:t>Сумма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238744" y="4192524"/>
            <a:ext cx="788670" cy="301752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238744" y="4192524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24.03.2026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063990" y="4192524"/>
            <a:ext cx="788670" cy="301752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063990" y="4192524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889236" y="4192524"/>
            <a:ext cx="788670" cy="301752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889236" y="4192524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0714482" y="4192524"/>
            <a:ext cx="788670" cy="301752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714482" y="4192524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238744" y="4517136"/>
            <a:ext cx="788670" cy="301752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238744" y="4517136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063990" y="4517136"/>
            <a:ext cx="788670" cy="301752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063990" y="4517136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889236" y="4517136"/>
            <a:ext cx="788670" cy="301752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889236" y="4517136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714482" y="4517136"/>
            <a:ext cx="788670" cy="301752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714482" y="4517136"/>
            <a:ext cx="78867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502920" y="5559552"/>
            <a:ext cx="11183112" cy="1161288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77240" y="5559552"/>
            <a:ext cx="10607040" cy="11612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Что предложите?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831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Документы поставщиков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713232"/>
            <a:ext cx="11183112" cy="2331720"/>
          </a:xfrm>
          <a:prstGeom prst="roundRect">
            <a:avLst>
              <a:gd name="adj" fmla="val 1307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886968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225296"/>
            <a:ext cx="10744200" cy="1600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«Коллеги, выгрузила архив, как просили — вот ссылка на файлообменник, ZIP получился на 4,2 ГБ, извините, что так долго собирала, почта у нас опять письма режет после 20 МБ. Внутри вперемешку: и сканы актов сверки с поставщиками, и сами договоры, и накладные — я их особо не сортировала, как было в папке за год, так и заархивировала. Нужны вам, как понимаю, только накладные, остальное можно игнорировать. Кстати, отдельно от этого — завтра у нас закрытие месяца, если что-то понадобится досчитать по кассе, я буду занята примерно до обеда. Скажите, если архив не открылся или что-то не так с кодировкой».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227832"/>
            <a:ext cx="2644902" cy="1600200"/>
          </a:xfrm>
          <a:prstGeom prst="roundRect">
            <a:avLst>
              <a:gd name="adj" fmla="val 19047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3319272"/>
            <a:ext cx="238887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Поставщик A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" y="3630168"/>
            <a:ext cx="768857" cy="2743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3630168"/>
            <a:ext cx="76885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Дата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27226" y="3630168"/>
            <a:ext cx="768857" cy="2743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7226" y="3630168"/>
            <a:ext cx="76885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№ накл.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23516" y="3630168"/>
            <a:ext cx="768857" cy="2743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23516" y="3630168"/>
            <a:ext cx="76885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Сумма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" y="3931920"/>
            <a:ext cx="768857" cy="274320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27226" y="3931920"/>
            <a:ext cx="768857" cy="274320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23516" y="3931920"/>
            <a:ext cx="768857" cy="274320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48990" y="3227832"/>
            <a:ext cx="2644902" cy="1600200"/>
          </a:xfrm>
          <a:prstGeom prst="roundRect">
            <a:avLst>
              <a:gd name="adj" fmla="val 19047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7006" y="3319272"/>
            <a:ext cx="238887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Поставщик 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77006" y="3630168"/>
            <a:ext cx="768857" cy="2743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7006" y="3630168"/>
            <a:ext cx="76885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Date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73296" y="3630168"/>
            <a:ext cx="768857" cy="2743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3296" y="3630168"/>
            <a:ext cx="76885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Invoice#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69586" y="3630168"/>
            <a:ext cx="768857" cy="2743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9586" y="3630168"/>
            <a:ext cx="76885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Total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77006" y="3931920"/>
            <a:ext cx="768857" cy="274320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73296" y="3931920"/>
            <a:ext cx="768857" cy="274320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69586" y="3931920"/>
            <a:ext cx="768857" cy="274320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195060" y="3227832"/>
            <a:ext cx="2644902" cy="1600200"/>
          </a:xfrm>
          <a:prstGeom prst="roundRect">
            <a:avLst>
              <a:gd name="adj" fmla="val 19047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3076" y="3319272"/>
            <a:ext cx="238887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Поставщик В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23076" y="3630168"/>
            <a:ext cx="768857" cy="2743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630168"/>
            <a:ext cx="76885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Период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19366" y="3630168"/>
            <a:ext cx="768857" cy="2743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19366" y="3630168"/>
            <a:ext cx="76885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Заказ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15656" y="3630168"/>
            <a:ext cx="768857" cy="2743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15656" y="3630168"/>
            <a:ext cx="76885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Итого, 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23076" y="3931920"/>
            <a:ext cx="768857" cy="274320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119366" y="3931920"/>
            <a:ext cx="768857" cy="274320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915656" y="3931920"/>
            <a:ext cx="768857" cy="274320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041130" y="3227832"/>
            <a:ext cx="2644902" cy="1600200"/>
          </a:xfrm>
          <a:prstGeom prst="roundRect">
            <a:avLst>
              <a:gd name="adj" fmla="val 19047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9146" y="3319272"/>
            <a:ext cx="238887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Поставщик Г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69146" y="3630168"/>
            <a:ext cx="768857" cy="2743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69146" y="3630168"/>
            <a:ext cx="76885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№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965436" y="3630168"/>
            <a:ext cx="768857" cy="2743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965436" y="3630168"/>
            <a:ext cx="76885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от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761726" y="3630168"/>
            <a:ext cx="768857" cy="2743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761726" y="3630168"/>
            <a:ext cx="76885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итого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69146" y="3931920"/>
            <a:ext cx="768857" cy="274320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965436" y="3931920"/>
            <a:ext cx="768857" cy="274320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761726" y="3931920"/>
            <a:ext cx="768857" cy="274320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02920" y="5029200"/>
            <a:ext cx="11183112" cy="1691639"/>
          </a:xfrm>
          <a:prstGeom prst="roundRect">
            <a:avLst>
              <a:gd name="adj" fmla="val 18018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7240" y="5029200"/>
            <a:ext cx="10607040" cy="16916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Меняет ли это ваш ответ?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Документы поставщиков — разбор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60120"/>
            <a:ext cx="7936992" cy="2651760"/>
          </a:xfrm>
          <a:prstGeom prst="roundRect">
            <a:avLst>
              <a:gd name="adj" fmla="val 11494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workflow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188720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08760" y="1161288"/>
            <a:ext cx="6839712" cy="2249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650" b="1" i="0">
                <a:solidFill>
                  <a:srgbClr val="21295C"/>
                </a:solidFill>
                <a:latin typeface="Arial"/>
              </a:rPr>
              <a:t>Гибрид: LLM-извлечение по вариативному входу + жёсткая валидация кодом на выходе</a:t>
            </a:r>
          </a:p>
          <a:p>
            <a:pPr algn="l">
              <a:lnSpc>
                <a:spcPct val="132000"/>
              </a:lnSpc>
              <a:spcAft>
                <a:spcPts val="1000"/>
              </a:spcAft>
            </a:pPr>
            <a:r>
              <a:rPr sz="1300" b="0" i="0">
                <a:solidFill>
                  <a:srgbClr val="6B7685"/>
                </a:solidFill>
                <a:latin typeface="Arial"/>
              </a:rPr>
              <a:t>Документ (любой формат) → LLM извлекает поля → код проверяет типы/обязательные значения/диапазоны → данные в 1С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1">
                <a:solidFill>
                  <a:srgbClr val="6B7685"/>
                </a:solidFill>
                <a:latin typeface="Arial"/>
              </a:rPr>
              <a:t>Разумный ответ здесь — гибрид, а не выбор одного из двух подходов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68512" y="960120"/>
            <a:ext cx="3017520" cy="2651760"/>
          </a:xfrm>
          <a:prstGeom prst="roundRect">
            <a:avLst>
              <a:gd name="adj" fmla="val 11494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search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7192" y="1417320"/>
            <a:ext cx="1280160" cy="1280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51392" y="2926080"/>
            <a:ext cx="2651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 i="1">
                <a:solidFill>
                  <a:srgbClr val="6B7685"/>
                </a:solidFill>
                <a:latin typeface="Arial"/>
              </a:rPr>
              <a:t>изучайте данные, не верьте на слово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886200"/>
            <a:ext cx="11183112" cy="118872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886200"/>
            <a:ext cx="1060704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Два примера — не выборка. Просите представление полного объёма данных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831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Персоналка в логах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713232"/>
            <a:ext cx="11183112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886968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225296"/>
            <a:ext cx="10744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«Слушай, у нас подрядчик по перфомансу просит логи прода за квартал для анализа — говорят, без них не смогут найти, почему просадки на пиках. Я выгрузил, получилось около 40 ГБ, архив уже лежит на сервере. Но там внутри вперемешку и номера телефонов, и почты клиентов, и один раз даже видел фразу типа «передайте это Ивану из бухгалтерии» — видимо, из тела какого-то запроса залогировалось. Подрядчику нужна сама механика — структура запросов, тайминги, коды ошибок — а не данные людей, это же нельзя просто так отдавать. Они ждут архив в пятницу, у них спринт начинается, так что руками перебирать некогда совсем».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273552"/>
            <a:ext cx="11183112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file-text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479292"/>
            <a:ext cx="640080" cy="640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691640" y="3273552"/>
            <a:ext cx="969264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 i="1">
                <a:solidFill>
                  <a:srgbClr val="21295C"/>
                </a:solidFill>
                <a:latin typeface="Arial"/>
              </a:rPr>
              <a:t>Подрядчику нужны структура запросов, тайминги, ошибки — не данные людей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526280"/>
            <a:ext cx="11183112" cy="2194559"/>
          </a:xfrm>
          <a:prstGeom prst="roundRect">
            <a:avLst>
              <a:gd name="adj" fmla="val 13888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526280"/>
            <a:ext cx="10607040" cy="21945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Как максимально быстро и дёшево очистить?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Персоналка в логах — разбор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5454396" cy="3246120"/>
          </a:xfrm>
          <a:prstGeom prst="roundRect">
            <a:avLst>
              <a:gd name="adj" fmla="val 9389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hash-028090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727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1572768"/>
            <a:ext cx="435711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Regex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4997196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Телефоны, email — чёткий формат, дёшево и надёжно вычищает обычный regex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37560"/>
            <a:ext cx="4997196" cy="384048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100" b="1">
                <a:solidFill>
                  <a:srgbClr val="065A82"/>
                </a:solidFill>
                <a:latin typeface="Arial"/>
              </a:rPr>
              <a:t>Детерминированная логика — модель не нужна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886200"/>
            <a:ext cx="499719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1">
                <a:solidFill>
                  <a:srgbClr val="6B7685"/>
                </a:solidFill>
                <a:latin typeface="Arial"/>
              </a:rPr>
              <a:t>Никакая модель здесь не нужна и только замедлила бы обработку 40 ГБ логов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1636" y="1371600"/>
            <a:ext cx="5454396" cy="3246120"/>
          </a:xfrm>
          <a:prstGeom prst="roundRect">
            <a:avLst>
              <a:gd name="adj" fmla="val 938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search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0236" y="1572768"/>
            <a:ext cx="502920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00316" y="1572768"/>
            <a:ext cx="435711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NER / малая модель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0236" y="2286000"/>
            <a:ext cx="4997196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Имена людей, косвенные упоминания в свободном тексте — нужен контекст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0236" y="3291840"/>
            <a:ext cx="499719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1">
                <a:solidFill>
                  <a:srgbClr val="6B7685"/>
                </a:solidFill>
                <a:latin typeface="Arial"/>
              </a:rPr>
              <a:t>slovnet (Natasha) · ~30 МБ · CPU · ~25 статей/сек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0236" y="3840480"/>
            <a:ext cx="499719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1">
                <a:solidFill>
                  <a:srgbClr val="6B7685"/>
                </a:solidFill>
                <a:latin typeface="Arial"/>
              </a:rPr>
              <a:t>~60× меньше BERT сравнимого класса, потеря качества 1-2 п.п.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846320"/>
            <a:ext cx="11183112" cy="91440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84632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Граница между regex и моделью проходит внутри одной задачи, не между задачами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Когда нужна была формула — и когда ИИ закрыл нерешаемое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5454396" cy="2697480"/>
          </a:xfrm>
          <a:prstGeom prst="roundRect">
            <a:avLst>
              <a:gd name="adj" fmla="val 6000"/>
            </a:avLst>
          </a:prstGeom>
          <a:solidFill>
            <a:srgbClr val="FBEAEA"/>
          </a:solidFill>
          <a:ln w="17780">
            <a:solidFill>
              <a:srgbClr val="B04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x-circle-21295C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572768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79576" y="155448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CNET, январь 2023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103120"/>
            <a:ext cx="5052059" cy="1947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 i="0">
                <a:solidFill>
                  <a:srgbClr val="21295C"/>
                </a:solidFill>
                <a:latin typeface="Arial"/>
              </a:rPr>
              <a:t>Из 77 ИИ-сгенерированных статей о финансах исправления потребовались 41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«10 000 $ под 3% годовых → 10 300 $ за год» вместо корректных 300 $ дохода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1">
                <a:solidFill>
                  <a:srgbClr val="21295C"/>
                </a:solidFill>
                <a:latin typeface="Arial"/>
              </a:rPr>
              <a:t>Расчёт должен делать детерминированная формула, а не LLM «на глаз»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1371600"/>
            <a:ext cx="5454396" cy="2697480"/>
          </a:xfrm>
          <a:prstGeom prst="roundRect">
            <a:avLst>
              <a:gd name="adj" fmla="val 6000"/>
            </a:avLst>
          </a:prstGeom>
          <a:solidFill>
            <a:srgbClr val="E9F5F2"/>
          </a:solidFill>
          <a:ln w="1778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circle-check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2803" y="1572768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08292" y="155448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Ramp, merchant classification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2803" y="2103120"/>
            <a:ext cx="5052059" cy="1947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 i="0">
                <a:solidFill>
                  <a:srgbClr val="21295C"/>
                </a:solidFill>
                <a:latin typeface="Arial"/>
              </a:rPr>
              <a:t>Вручную: покрытие заявок 1,5-3% → после LLM-агента почти полное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Обработка &lt; 10 сек, ~99% решений корректны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21295C"/>
                </a:solidFill>
                <a:latin typeface="Arial"/>
              </a:rPr>
              <a:t>~25% заявок агент обоснованно отклоняет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325112"/>
            <a:ext cx="11183112" cy="10515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25112"/>
            <a:ext cx="1060704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Ramp — замена ручной обработки с мизерным покрытием, не замена работавшего regex-решения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10-divider-workspace-real.jpg"/>
          <p:cNvPicPr>
            <a:picLocks noChangeAspect="1"/>
          </p:cNvPicPr>
          <p:nvPr/>
        </p:nvPicPr>
        <p:blipFill>
          <a:blip r:embed="rId2"/>
          <a:srcRect t="12499" b="12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>
              <a:alpha val="7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-91440" y="-594360"/>
            <a:ext cx="5486400" cy="32918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0000"/>
              </a:lnSpc>
            </a:pPr>
            <a:r>
              <a:rPr sz="28000" b="1" i="0">
                <a:solidFill>
                  <a:srgbClr val="3A4474"/>
                </a:solidFill>
                <a:latin typeface="Arial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65960" y="160020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0607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Встроить или делать своё?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43400"/>
            <a:ext cx="5120640" cy="50292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Кейс: помощник поддержки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074920"/>
            <a:ext cx="9875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1">
                <a:solidFill>
                  <a:srgbClr val="C8D2DF"/>
                </a:solidFill>
                <a:latin typeface="Arial"/>
              </a:rPr>
              <a:t>Скрытая цена почти никогда не видна в демо на презентации идеи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831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Помощник поддержки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713232"/>
            <a:ext cx="11183112" cy="2514600"/>
          </a:xfrm>
          <a:prstGeom prst="roundRect">
            <a:avLst>
              <a:gd name="adj" fmla="val 1212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886968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225296"/>
            <a:ext cx="1074420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«Привет, давно хотели это обсудить с командой поддержки. Идея простая: сделать ИИ-помощника для операторов — подсказки ответов на тикеты, поиск похожих обращений в истории, чтобы не рыться каждый раз вручную. У нас на линии 12 операторов, поток около 300 тикетов в день, с явным пиком с 10:00 до 13:00 — после обеда обычно спокойнее. Руководитель поддержки, Света, давно жалуется, что новичков долго вводить в курс — сейчас на это уходит недели три, и это отдельная тема, надо бы отдельно посмотреть на онбординг. Если получится сделать помощника — было бы здорово успеть показать на квартальном ревью, но это не жёсткий дедлайн, скорее ориентир».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410712"/>
            <a:ext cx="11183112" cy="10058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phone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616452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691640" y="3410712"/>
            <a:ext cx="969264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 i="1">
                <a:solidFill>
                  <a:srgbClr val="21295C"/>
                </a:solidFill>
                <a:latin typeface="Arial"/>
              </a:rPr>
              <a:t>12 операторов на линии, около 300 тикетов в день, пик 10:00-13:00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617720"/>
            <a:ext cx="11183112" cy="2103120"/>
          </a:xfrm>
          <a:prstGeom prst="roundRect">
            <a:avLst>
              <a:gd name="adj" fmla="val 14492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617720"/>
            <a:ext cx="10607040" cy="2103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Где должен жить этот помощник?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831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Помощник поддержки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831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6B7685"/>
                </a:solidFill>
                <a:latin typeface="Arial"/>
              </a:rPr>
              <a:t>ИТ-директор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14400"/>
            <a:ext cx="11183112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088136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" y="1426464"/>
            <a:ext cx="102870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«Слышал про идею с помощником для поддержки, хочу сразу обрисовать картину. У нас коробочный helpdesk, открытого API нет, кастомизаций нет — мы писали вендору ещё в марте с вопросом про интеграцию, ответа так и не получили. Систему купили 4 года назад, на ней же висят тикеты от HR и от фасилити-менеджмента, так что трогать её надо аккуратно. Контракт с вендором ещё на 2 года, продлевать раньше срока смысла нет. В следующем квартале, кстати, будем пересматривать весь ландшафт ИТ-систем — но это отдельный процесс, и вас туда пока звать рано».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009376" y="10881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651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briefcase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1170432"/>
            <a:ext cx="292608" cy="29260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02920" y="3383280"/>
            <a:ext cx="11183112" cy="10058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lock-21295C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589020"/>
            <a:ext cx="594360" cy="594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691640" y="3383280"/>
            <a:ext cx="969264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 i="1">
                <a:solidFill>
                  <a:srgbClr val="21295C"/>
                </a:solidFill>
                <a:latin typeface="Arial"/>
              </a:rPr>
              <a:t>Коробочный helpdesk 4 года без открытого API — контракт с вендором ещё на 2 года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590288"/>
            <a:ext cx="11183112" cy="2130551"/>
          </a:xfrm>
          <a:prstGeom prst="roundRect">
            <a:avLst>
              <a:gd name="adj" fmla="val 14306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590288"/>
            <a:ext cx="10607040" cy="21305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Что делаем?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Помощник поддержки — разбор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3557016" cy="3566160"/>
          </a:xfrm>
          <a:prstGeom prst="roundRect">
            <a:avLst>
              <a:gd name="adj" fmla="val 856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split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9967" y="1499616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9224" y="2148839"/>
            <a:ext cx="32644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Решение сбоку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" y="2651760"/>
            <a:ext cx="32644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Расширение браузера или вторая панель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" y="3611879"/>
            <a:ext cx="3300984" cy="10515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397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3675887"/>
            <a:ext cx="3118104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>
                <a:solidFill>
                  <a:srgbClr val="21295C"/>
                </a:solidFill>
                <a:latin typeface="Arial"/>
              </a:rPr>
              <a:t>Цена: Два места одновременно, риск: оператор не будет пользоваться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280160"/>
            <a:ext cx="3557016" cy="3566160"/>
          </a:xfrm>
          <a:prstGeom prst="roundRect">
            <a:avLst>
              <a:gd name="adj" fmla="val 856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repeat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3016" y="1499616"/>
            <a:ext cx="502920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62272" y="2148839"/>
            <a:ext cx="32644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Смена вендора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2272" y="2651760"/>
            <a:ext cx="32644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Helpdesk-система с открытым 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43983" y="3611879"/>
            <a:ext cx="3300984" cy="10515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397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4" y="3675887"/>
            <a:ext cx="3118104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>
                <a:solidFill>
                  <a:srgbClr val="21295C"/>
                </a:solidFill>
                <a:latin typeface="Arial"/>
              </a:rPr>
              <a:t>Цена: Миграция данных, переобучение команды, риск простоя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9016" y="1280160"/>
            <a:ext cx="3557016" cy="3566160"/>
          </a:xfrm>
          <a:prstGeom prst="roundRect">
            <a:avLst>
              <a:gd name="adj" fmla="val 856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route-065A82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56064" y="1499616"/>
            <a:ext cx="502920" cy="5029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75320" y="2148839"/>
            <a:ext cx="32644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Пересмотр задачи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651760"/>
            <a:ext cx="32644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Асинхронный помощник, готовит черновики заранее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57032" y="3611879"/>
            <a:ext cx="3300984" cy="10515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397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48472" y="3675887"/>
            <a:ext cx="3118104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>
                <a:solidFill>
                  <a:srgbClr val="21295C"/>
                </a:solidFill>
                <a:latin typeface="Arial"/>
              </a:rPr>
              <a:t>Цена: Оператор открывает готовое там, где удобно, но нужен отдельный процесс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029200"/>
            <a:ext cx="11183112" cy="5486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029200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1">
                <a:solidFill>
                  <a:srgbClr val="21295C"/>
                </a:solidFill>
                <a:latin typeface="Arial"/>
              </a:rPr>
              <a:t>Единственно верного ответа нет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831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Описания товаров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713232"/>
            <a:ext cx="11183112" cy="2606040"/>
          </a:xfrm>
          <a:prstGeom prst="roundRect">
            <a:avLst>
              <a:gd name="adj" fmla="val 1169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886968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225296"/>
            <a:ext cx="10744200" cy="1874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 i="1">
                <a:solidFill>
                  <a:srgbClr val="21295C"/>
                </a:solidFill>
                <a:latin typeface="Arial"/>
              </a:rPr>
              <a:t>«Ребята, у нас на прошлой неделе руководитель был на конференции ритейла, увидел там у одного из конкурентов классный сервис для генерации описаний товаров — с виду прямо как отдельное приложение, зашёл, вбил характеристики, получил готовый текст под карточку. Хочет, чтобы у нас было что-то похожее, желательно к концу месяца, у нас как раз намечается демо для инвесторов. Каталог большой — около 12 000 товарных позиций, сейчас описания пишет один копирайтер на аутсорсе, по мере поступления новых товаров, и она, кстати, уже жаловалась, что не успевает и просила доплату за срочность. Ах да, отдельно нужно бы ещё обновить баннеры на главной странице сайта, но это к другому разговору».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483864"/>
            <a:ext cx="11183112" cy="9601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store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666744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645920" y="3483864"/>
            <a:ext cx="96926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 i="1">
                <a:solidFill>
                  <a:srgbClr val="21295C"/>
                </a:solidFill>
                <a:latin typeface="Arial"/>
              </a:rPr>
              <a:t>12 000 товарных позиций, сейчас описания пишет один копирайтер на аутсорсе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626864"/>
            <a:ext cx="11183112" cy="2093975"/>
          </a:xfrm>
          <a:prstGeom prst="roundRect">
            <a:avLst>
              <a:gd name="adj" fmla="val 14556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626864"/>
            <a:ext cx="10607040" cy="2093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Отдельный сервис — хорошая идея?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Описания товаров — разбор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11183112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store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43100"/>
            <a:ext cx="777240" cy="777240"/>
          </a:xfrm>
          <a:prstGeom prst="rect">
            <a:avLst/>
          </a:prstGeom>
        </p:spPr>
      </p:pic>
      <p:pic>
        <p:nvPicPr>
          <p:cNvPr id="5" name="Picture 4" descr="arrow-right-F0AB0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2103120"/>
            <a:ext cx="457200" cy="457200"/>
          </a:xfrm>
          <a:prstGeom prst="rect">
            <a:avLst/>
          </a:prstGeom>
        </p:spPr>
      </p:pic>
      <p:pic>
        <p:nvPicPr>
          <p:cNvPr id="6" name="Picture 5" descr="zap-F0AB00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8920" y="1943100"/>
            <a:ext cx="777240" cy="777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40480" y="1417320"/>
            <a:ext cx="694944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1" i="0">
                <a:solidFill>
                  <a:srgbClr val="21295C"/>
                </a:solidFill>
                <a:latin typeface="Arial"/>
              </a:rPr>
              <a:t>Кнопка «сгенерировать описание»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1295C"/>
                </a:solidFill>
                <a:latin typeface="Arial"/>
              </a:rPr>
              <a:t>в существующей админке каталога, которой маркетинг и так пользуется каждый день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566160"/>
            <a:ext cx="11183112" cy="10972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566160"/>
            <a:ext cx="1060704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Отдельный продукт — второй логин и вкладка, цена, о которой не подумали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Kite и Copilot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Одна технология, разная встроенность — 17 месяцев прямой конкуренции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70632"/>
            <a:ext cx="10835640" cy="45720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510702" y="2770632"/>
            <a:ext cx="1563906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46736" y="1097279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1">
                <a:solidFill>
                  <a:srgbClr val="21295C"/>
                </a:solidFill>
                <a:latin typeface="Arial"/>
              </a:rPr>
              <a:t>~17 месяцев пересечения на рынке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0334" y="272034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2510" y="150876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2014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70" y="178308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Kite основан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5715" y="272034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57891" y="301752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2019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6451" y="3310127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Локальное исполнение модели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28406" y="272034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50582" y="150876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29.06.2021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9142" y="178308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Copilot technical preview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11970" y="272034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34146" y="301752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21.06.2022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42706" y="3310127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Copilot GA, $10/мес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955737" y="2683764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14489" y="150876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21.11.2022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23049" y="178308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Kite закрыт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434840"/>
            <a:ext cx="5454396" cy="1051560"/>
          </a:xfrm>
          <a:prstGeom prst="roundRect">
            <a:avLst>
              <a:gd name="adj" fmla="val 25000"/>
            </a:avLst>
          </a:prstGeom>
          <a:solidFill>
            <a:srgbClr val="FBEAEA"/>
          </a:solidFill>
          <a:ln w="16510">
            <a:solidFill>
              <a:srgbClr val="B04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526279"/>
            <a:ext cx="5088636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Kite — ~500 000 пользователей на пике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4434840"/>
            <a:ext cx="5454396" cy="1051560"/>
          </a:xfrm>
          <a:prstGeom prst="roundRect">
            <a:avLst>
              <a:gd name="adj" fmla="val 25000"/>
            </a:avLst>
          </a:prstGeom>
          <a:solidFill>
            <a:srgbClr val="E9F5F2"/>
          </a:solidFill>
          <a:ln w="1651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4516" y="4526279"/>
            <a:ext cx="5088636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Copilot — ~20 млн пользователей · 4,7 млн платных · ~90% Fortune 100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687568"/>
            <a:ext cx="11183112" cy="8686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87568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Встроенность в уже существующий рабочий поток победила отдельный продукт при технологии сравнимого класса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Отдельное устройство против фичи в телефоне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51560"/>
            <a:ext cx="5454396" cy="3794760"/>
          </a:xfrm>
          <a:prstGeom prst="roundRect">
            <a:avLst>
              <a:gd name="adj" fmla="val 8032"/>
            </a:avLst>
          </a:prstGeom>
          <a:solidFill>
            <a:srgbClr val="FBEAEA"/>
          </a:solidFill>
          <a:ln w="17780">
            <a:solidFill>
              <a:srgbClr val="B04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smartphone-21295C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234439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25880" y="1234439"/>
            <a:ext cx="44485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Humane AI Pin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20239"/>
            <a:ext cx="5015483" cy="278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800"/>
              </a:spcAft>
            </a:pPr>
            <a:r>
              <a:rPr sz="1250" b="0" i="0">
                <a:solidFill>
                  <a:srgbClr val="21295C"/>
                </a:solidFill>
                <a:latin typeface="Arial"/>
              </a:rPr>
              <a:t>Носимый значок без экрана, лазерный проектор на ладонь, голосовое управление · $699 + подписка $24/мес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 i="0">
                <a:solidFill>
                  <a:srgbClr val="6B7685"/>
                </a:solidFill>
                <a:latin typeface="Arial"/>
              </a:rPr>
              <a:t>Продажи с апреля 2024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Привлечено ~$241 млн → активы проданы HP за $116 млн (февраль 2025) → серверы отключены 28.02.2025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1051560"/>
            <a:ext cx="5454396" cy="3794760"/>
          </a:xfrm>
          <a:prstGeom prst="roundRect">
            <a:avLst>
              <a:gd name="adj" fmla="val 8032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s17-rabbit-r1-real.jpg"/>
          <p:cNvPicPr>
            <a:picLocks noChangeAspect="1"/>
          </p:cNvPicPr>
          <p:nvPr/>
        </p:nvPicPr>
        <p:blipFill>
          <a:blip r:embed="rId3"/>
          <a:srcRect t="18560" b="18560"/>
          <a:stretch>
            <a:fillRect/>
          </a:stretch>
        </p:blipFill>
        <p:spPr>
          <a:xfrm>
            <a:off x="6359651" y="1179576"/>
            <a:ext cx="5198364" cy="183794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51092" y="3145536"/>
            <a:ext cx="50154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Rabbit R1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1092" y="3529584"/>
            <a:ext cx="5015483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Продано ~100 000 устройств, по оценкам активно пользуются около 5% купивших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047488"/>
            <a:ext cx="11183112" cy="100584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047488"/>
            <a:ext cx="1060704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Отдельное устройство конкурирует не только с технологией, но и с привычкой не переключаться, когда функция уже есть в телефоне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18-divider-serverroom-real.jpg"/>
          <p:cNvPicPr>
            <a:picLocks noChangeAspect="1"/>
          </p:cNvPicPr>
          <p:nvPr/>
        </p:nvPicPr>
        <p:blipFill>
          <a:blip r:embed="rId2"/>
          <a:srcRect t="7792" b="779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>
              <a:alpha val="7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-91440" y="-594360"/>
            <a:ext cx="5486400" cy="32918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0000"/>
              </a:lnSpc>
            </a:pPr>
            <a:r>
              <a:rPr sz="28000" b="1" i="0">
                <a:solidFill>
                  <a:srgbClr val="3A4474"/>
                </a:solidFill>
                <a:latin typeface="Arial"/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65960" y="160020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0607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Разовый вызов, RAG или агент?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43400"/>
            <a:ext cx="5120640" cy="50292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Кейс: протоколы встреч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074920"/>
            <a:ext cx="9875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1">
                <a:solidFill>
                  <a:srgbClr val="C8D2DF"/>
                </a:solidFill>
                <a:latin typeface="Arial"/>
              </a:rPr>
              <a:t>Чем внушительнее задача, тем сложнее архитектура — интуицию стоит проверять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Два слова про RAG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Поиск по базе знаний подкладывает нужные фрагменты в контекст модели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95560" y="914400"/>
            <a:ext cx="1508760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Лекция 3 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48840"/>
            <a:ext cx="2418588" cy="2651760"/>
          </a:xfrm>
          <a:prstGeom prst="roundRect">
            <a:avLst>
              <a:gd name="adj" fmla="val 126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" name="Picture 5" descr="search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7894" y="2468880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2648" y="3200400"/>
            <a:ext cx="219913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21295C"/>
                </a:solidFill>
                <a:latin typeface="Arial"/>
              </a:rPr>
              <a:t>Вопрос пользователя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" y="434340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300" b="1">
                <a:solidFill>
                  <a:srgbClr val="21295C"/>
                </a:solidFill>
                <a:latin typeface="Arial"/>
              </a:rPr>
              <a:t>1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976372" y="3328415"/>
            <a:ext cx="393192" cy="292608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24428" y="2148840"/>
            <a:ext cx="2418588" cy="2651760"/>
          </a:xfrm>
          <a:prstGeom prst="roundRect">
            <a:avLst>
              <a:gd name="adj" fmla="val 126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database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9402" y="2468880"/>
            <a:ext cx="548640" cy="5486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34156" y="3200400"/>
            <a:ext cx="219913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21295C"/>
                </a:solidFill>
                <a:latin typeface="Arial"/>
              </a:rPr>
              <a:t>Поиск фрагментов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21295C"/>
                </a:solidFill>
                <a:latin typeface="Arial"/>
              </a:rPr>
              <a:t>в базе знаний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52444" y="434340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300" b="1">
                <a:solidFill>
                  <a:srgbClr val="21295C"/>
                </a:solidFill>
                <a:latin typeface="Arial"/>
              </a:rPr>
              <a:t>2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897880" y="3328415"/>
            <a:ext cx="393192" cy="292608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45936" y="2148840"/>
            <a:ext cx="2418588" cy="2651760"/>
          </a:xfrm>
          <a:prstGeom prst="roundRect">
            <a:avLst>
              <a:gd name="adj" fmla="val 126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layers-065A82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0910" y="2468880"/>
            <a:ext cx="548640" cy="5486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55664" y="3200400"/>
            <a:ext cx="219913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21295C"/>
                </a:solidFill>
                <a:latin typeface="Arial"/>
              </a:rPr>
              <a:t>Фрагменты →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21295C"/>
                </a:solidFill>
                <a:latin typeface="Arial"/>
              </a:rPr>
              <a:t>в контекст модели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73952" y="434340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300" b="1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819388" y="3328415"/>
            <a:ext cx="393192" cy="292608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267444" y="2148840"/>
            <a:ext cx="2418588" cy="2651760"/>
          </a:xfrm>
          <a:prstGeom prst="roundRect">
            <a:avLst>
              <a:gd name="adj" fmla="val 126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sparkles-065A82-9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02418" y="2468880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377172" y="3200400"/>
            <a:ext cx="219913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21295C"/>
                </a:solidFill>
                <a:latin typeface="Arial"/>
              </a:rPr>
              <a:t>Модель генерирует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21295C"/>
                </a:solidFill>
                <a:latin typeface="Arial"/>
              </a:rPr>
              <a:t>ответ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95460" y="434340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300" b="1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074920"/>
            <a:ext cx="11183112" cy="96012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074920"/>
            <a:ext cx="106070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i="0">
                <a:solidFill>
                  <a:srgbClr val="21295C"/>
                </a:solidFill>
                <a:latin typeface="Arial"/>
              </a:rPr>
              <a:t>Когда нужен: база большая, меняется, весь объём не помещается в один запрос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Два слова про агента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Модель работает циклом с внешними инструментами, а не одним вызовом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95560" y="914400"/>
            <a:ext cx="1508760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Лекция 3 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2888" y="1828800"/>
            <a:ext cx="283464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" name="Picture 5" descr="git-fork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9192" y="1975104"/>
            <a:ext cx="402336" cy="40233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928616" y="195681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150" b="1">
                <a:solidFill>
                  <a:srgbClr val="21295C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79192" y="2450592"/>
            <a:ext cx="2542032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21295C"/>
                </a:solidFill>
                <a:latin typeface="Arial"/>
              </a:rPr>
              <a:t>Строит план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30568" y="1828800"/>
            <a:ext cx="283464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wrench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6872" y="1975104"/>
            <a:ext cx="402336" cy="40233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9226296" y="195681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150" b="1">
                <a:solidFill>
                  <a:srgbClr val="21295C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76872" y="2450592"/>
            <a:ext cx="2542032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21295C"/>
                </a:solidFill>
                <a:latin typeface="Arial"/>
              </a:rPr>
              <a:t>Вызывает внешний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21295C"/>
                </a:solidFill>
                <a:latin typeface="Arial"/>
              </a:rPr>
              <a:t>инструмент (API,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21295C"/>
                </a:solidFill>
                <a:latin typeface="Arial"/>
              </a:rPr>
              <a:t>поиск, код)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30568" y="3566160"/>
            <a:ext cx="283464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4" name="Picture 13" descr="circle-check-065A82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6872" y="3712463"/>
            <a:ext cx="402336" cy="40233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9226296" y="369417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150" b="1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76872" y="4187952"/>
            <a:ext cx="2542032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Проверяет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21295C"/>
                </a:solidFill>
                <a:latin typeface="Arial"/>
              </a:rPr>
              <a:t>результат вызова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32888" y="3566160"/>
            <a:ext cx="283464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route-065A82-9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79192" y="3712463"/>
            <a:ext cx="402336" cy="402336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928616" y="369417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150" b="1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79192" y="4187952"/>
            <a:ext cx="2542032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21295C"/>
                </a:solidFill>
                <a:latin typeface="Arial"/>
              </a:rPr>
              <a:t>Решает, что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21295C"/>
                </a:solidFill>
                <a:latin typeface="Arial"/>
              </a:rPr>
              <a:t>делать дальше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41848" y="333756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repeat-FFFFFF-4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4728" y="3520440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093208" y="4288536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цикл повторяется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440680"/>
            <a:ext cx="11183112" cy="96012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440680"/>
            <a:ext cx="106070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i="0">
                <a:solidFill>
                  <a:srgbClr val="21295C"/>
                </a:solidFill>
                <a:latin typeface="Arial"/>
              </a:rPr>
              <a:t>Когда нужен: несколько шагов и действия во внешних системах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831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Протоколы встреч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713232"/>
            <a:ext cx="11183112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886968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225296"/>
            <a:ext cx="10744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 i="1">
                <a:solidFill>
                  <a:srgbClr val="21295C"/>
                </a:solidFill>
                <a:latin typeface="Arial"/>
              </a:rPr>
              <a:t>«Коллеги, у нас после каждого созвона Zoom кладёт транскрипт в письмо — я их складываю в папку, но руки не доходят. Протокол по-прежнему пишет Настя-проджект руками, минут по 30-40, а у неё и так спринт-отчёты и онбординг двух новых. Встреч штук 15 в неделю, часть на английском с подрядчиком. Можно из транскрипта автоматом делать протокол — решения, поручения, сроки? В идеале до конца квартала, у нас аудит процессов».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24912"/>
            <a:ext cx="3931920" cy="3520440"/>
          </a:xfrm>
          <a:prstGeom prst="roundRect">
            <a:avLst>
              <a:gd name="adj" fmla="val 8658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s20-meeting-room-real.jpg"/>
          <p:cNvPicPr>
            <a:picLocks noChangeAspect="1"/>
          </p:cNvPicPr>
          <p:nvPr/>
        </p:nvPicPr>
        <p:blipFill>
          <a:blip r:embed="rId3"/>
          <a:srcRect l="12477" r="12477"/>
          <a:stretch>
            <a:fillRect/>
          </a:stretch>
        </p:blipFill>
        <p:spPr>
          <a:xfrm>
            <a:off x="612648" y="2834640"/>
            <a:ext cx="3712463" cy="330098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709159" y="2724912"/>
            <a:ext cx="6976872" cy="1600200"/>
          </a:xfrm>
          <a:prstGeom prst="roundRect">
            <a:avLst>
              <a:gd name="adj" fmla="val 1904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2040" y="2871216"/>
            <a:ext cx="6611112" cy="1307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21295C"/>
                </a:solidFill>
                <a:latin typeface="Arial"/>
              </a:rPr>
              <a:t>Около 15 встреч в неделю, протокол сейчас пишет проджект вручную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59" y="4599432"/>
            <a:ext cx="6976872" cy="1645920"/>
          </a:xfrm>
          <a:prstGeom prst="roundRect">
            <a:avLst>
              <a:gd name="adj" fmla="val 18518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4599432"/>
            <a:ext cx="6611112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Какая архитектура нужна?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Протоколы встреч — разбор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566928"/>
            <a:ext cx="11183112" cy="86868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740664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078992"/>
            <a:ext cx="10744200" cy="137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«Один вызов, ни хранилища, ни цикла»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36192"/>
            <a:ext cx="11183112" cy="3931920"/>
          </a:xfrm>
          <a:prstGeom prst="roundRect">
            <a:avLst>
              <a:gd name="adj" fmla="val 775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3136391"/>
            <a:ext cx="2331720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7780">
            <a:solidFill>
              <a:srgbClr val="065A8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mail-065A82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3264408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76072" y="3685032"/>
            <a:ext cx="2185415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Письмо с транскриптом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871215" y="3511296"/>
            <a:ext cx="246887" cy="164592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54680" y="3136391"/>
            <a:ext cx="2331720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7780">
            <a:solidFill>
              <a:srgbClr val="065A8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sparkles-065A82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7660" y="3264408"/>
            <a:ext cx="365760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27832" y="3685032"/>
            <a:ext cx="2185415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Вызов модели с шаблоном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522976" y="3511296"/>
            <a:ext cx="246887" cy="164592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806440" y="3136391"/>
            <a:ext cx="2331720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7780">
            <a:solidFill>
              <a:srgbClr val="065A8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file-text-065A82-6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9420" y="3264408"/>
            <a:ext cx="365760" cy="3657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879592" y="3685032"/>
            <a:ext cx="2185415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Протокол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605272"/>
            <a:ext cx="11183112" cy="8686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605272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Весь транскрипт помещается в один запрос — усложнять сейчас означало бы решать проблему, которой не существует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831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Протоколы встреч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713232"/>
            <a:ext cx="11183112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886968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225296"/>
            <a:ext cx="10744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«Народ, было на планёрке сегодня — уже неловко даже пересказывать. Обсуждали бюджет на следующий квартал, и тут кто-то из финансов спрашивает: „А что мы вообще решали по подрядчику X ещё в мае, у нас там были какие-то договорённости про скидку?“ И повисла пауза — никто с ходу не вспомнил, в каком это было протоколе. Протоколы у нас копятся в общей папке на диске, названы более-менее по датам, но искать по ним руками — то ещё удовольствие, особенно если помнишь только примерную тему, а не точную дату созвона. Кстати, по ходу дела там же обсуждали ещё отпускной график на лето, но это уже другая история, не по делу».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273552"/>
            <a:ext cx="11183112" cy="10058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folder-search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479292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691640" y="3273552"/>
            <a:ext cx="969264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1">
                <a:solidFill>
                  <a:srgbClr val="21295C"/>
                </a:solidFill>
                <a:latin typeface="Arial"/>
              </a:rPr>
              <a:t>Прошёл месяц — накопились десятки протоколов с разных встреч, по разным проектам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462272"/>
            <a:ext cx="11183112" cy="2258568"/>
          </a:xfrm>
          <a:prstGeom prst="roundRect">
            <a:avLst>
              <a:gd name="adj" fmla="val 13495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462272"/>
            <a:ext cx="10607040" cy="2258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Меняет ли это архитектуру?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Протоколы встреч — разбор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566928"/>
            <a:ext cx="11183112" cy="86868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740664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078992"/>
            <a:ext cx="10744200" cy="137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«Растущий и меняющийся архив — вот когда нужен RAG»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36192"/>
            <a:ext cx="11183112" cy="3931920"/>
          </a:xfrm>
          <a:prstGeom prst="roundRect">
            <a:avLst>
              <a:gd name="adj" fmla="val 775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3136391"/>
            <a:ext cx="2331720" cy="914400"/>
          </a:xfrm>
          <a:prstGeom prst="roundRect">
            <a:avLst>
              <a:gd name="adj" fmla="val 25000"/>
            </a:avLst>
          </a:prstGeom>
          <a:solidFill>
            <a:srgbClr val="ECEEF1"/>
          </a:solidFill>
          <a:ln w="13970">
            <a:solidFill>
              <a:srgbClr val="B9C1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mail-8A939E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3264408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76072" y="3685032"/>
            <a:ext cx="2185415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8A939E"/>
                </a:solidFill>
                <a:latin typeface="Arial"/>
              </a:rPr>
              <a:t>Письмо с транскриптом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871215" y="3511296"/>
            <a:ext cx="246887" cy="164592"/>
          </a:xfrm>
          <a:prstGeom prst="rightArrow">
            <a:avLst/>
          </a:prstGeom>
          <a:solidFill>
            <a:srgbClr val="B9C1C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54680" y="3136391"/>
            <a:ext cx="2331720" cy="914400"/>
          </a:xfrm>
          <a:prstGeom prst="roundRect">
            <a:avLst>
              <a:gd name="adj" fmla="val 25000"/>
            </a:avLst>
          </a:prstGeom>
          <a:solidFill>
            <a:srgbClr val="ECEEF1"/>
          </a:solidFill>
          <a:ln w="13970">
            <a:solidFill>
              <a:srgbClr val="B9C1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sparkles-8A939E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7660" y="3264408"/>
            <a:ext cx="365760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27832" y="3685032"/>
            <a:ext cx="2185415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8A939E"/>
                </a:solidFill>
                <a:latin typeface="Arial"/>
              </a:rPr>
              <a:t>Вызов модели с шаблоном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522976" y="3511296"/>
            <a:ext cx="246887" cy="164592"/>
          </a:xfrm>
          <a:prstGeom prst="rightArrow">
            <a:avLst/>
          </a:prstGeom>
          <a:solidFill>
            <a:srgbClr val="B9C1C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806440" y="3136391"/>
            <a:ext cx="2331720" cy="914400"/>
          </a:xfrm>
          <a:prstGeom prst="roundRect">
            <a:avLst>
              <a:gd name="adj" fmla="val 25000"/>
            </a:avLst>
          </a:prstGeom>
          <a:solidFill>
            <a:srgbClr val="ECEEF1"/>
          </a:solidFill>
          <a:ln w="13970">
            <a:solidFill>
              <a:srgbClr val="B9C1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file-text-8A939E-6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9420" y="3264408"/>
            <a:ext cx="365760" cy="3657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879592" y="3685032"/>
            <a:ext cx="2185415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8A939E"/>
                </a:solidFill>
                <a:latin typeface="Arial"/>
              </a:rPr>
              <a:t>Протокол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1719072"/>
            <a:ext cx="1572768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778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database-028090-6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6424" y="1847088"/>
            <a:ext cx="365760" cy="3657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76072" y="2267712"/>
            <a:ext cx="1426464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Хранилище протоколов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2103120" y="2093976"/>
            <a:ext cx="109728" cy="164592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240280" y="1719072"/>
            <a:ext cx="1572768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778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layers-028090-6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43784" y="1847088"/>
            <a:ext cx="365760" cy="365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313432" y="2267712"/>
            <a:ext cx="1426464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Индексация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3840480" y="2093976"/>
            <a:ext cx="109728" cy="164592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977639" y="1719072"/>
            <a:ext cx="1572768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778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7" name="Picture 26" descr="search-028090-6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81144" y="1847088"/>
            <a:ext cx="365760" cy="3657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050791" y="2267712"/>
            <a:ext cx="1426464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Поиск по запросу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577840" y="2093976"/>
            <a:ext cx="109728" cy="164592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714999" y="1719072"/>
            <a:ext cx="1572768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778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30" descr="file-code-028090-6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18503" y="1847088"/>
            <a:ext cx="365760" cy="36576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5788151" y="2267712"/>
            <a:ext cx="1426464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Фрагменты в модель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4320540" y="2633472"/>
            <a:ext cx="2180843" cy="502919"/>
          </a:xfrm>
          <a:prstGeom prst="bentConnector3">
            <a:avLst/>
          </a:prstGeom>
          <a:ln w="20320">
            <a:solidFill>
              <a:srgbClr val="0280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502920" y="5605272"/>
            <a:ext cx="11183112" cy="8686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5605272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Прежний путь никуда не делся — просто дополнен хранилищем, индексацией и поиском перед тем же вызовом модели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831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Протоколы встреч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713232"/>
            <a:ext cx="11183112" cy="2514600"/>
          </a:xfrm>
          <a:prstGeom prst="roundRect">
            <a:avLst>
              <a:gd name="adj" fmla="val 1212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886968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225296"/>
            <a:ext cx="1074420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«Слушайте, спасибо большое за поиск по протоколам, реально экономит время, особенно перед ретро. Но вот что заметила: поручения из протоколов мы всё равно руками переносим в таск-трекер — открываем протокол, читаем, что там нашла система, и одно за другим заводим карточки, проставляем исполнителя и срок. Причём я специально прошлась по майским протоколам вчера вечером, и получилось, что примерно половина поручений так и висит без исполнителя — просто руки не дошли перенести. Отдельно ещё хотела спросить, можно ли поменять цвет тегов в самом таск-трекере, а то команда путается в приоритетах, но это, наверное, вопрос не к вам, а к админу инструмента».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392424"/>
            <a:ext cx="11183112" cy="10058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list-checks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598164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691640" y="3392424"/>
            <a:ext cx="969264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Половина поручений из майских протоколов до сих пор без исполнителя — руки до переноса просто не доходят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581144"/>
            <a:ext cx="11183112" cy="2139695"/>
          </a:xfrm>
          <a:prstGeom prst="roundRect">
            <a:avLst>
              <a:gd name="adj" fmla="val 14245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581144"/>
            <a:ext cx="10607040" cy="213969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Меняет ли это архитектуру ещё раз?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Протоколы встреч — разбор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566928"/>
            <a:ext cx="11183112" cy="86868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740664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078992"/>
            <a:ext cx="10744200" cy="137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 i="1">
                <a:solidFill>
                  <a:srgbClr val="21295C"/>
                </a:solidFill>
                <a:latin typeface="Arial"/>
              </a:rPr>
              <a:t>«Действие во внешней системе — нужен агент поверх RAG»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36192"/>
            <a:ext cx="11183112" cy="3931920"/>
          </a:xfrm>
          <a:prstGeom prst="roundRect">
            <a:avLst>
              <a:gd name="adj" fmla="val 775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3136391"/>
            <a:ext cx="2331720" cy="914400"/>
          </a:xfrm>
          <a:prstGeom prst="roundRect">
            <a:avLst>
              <a:gd name="adj" fmla="val 25000"/>
            </a:avLst>
          </a:prstGeom>
          <a:solidFill>
            <a:srgbClr val="ECEEF1"/>
          </a:solidFill>
          <a:ln w="13970">
            <a:solidFill>
              <a:srgbClr val="B9C1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mail-8A939E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3264408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76072" y="3685032"/>
            <a:ext cx="2185415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8A939E"/>
                </a:solidFill>
                <a:latin typeface="Arial"/>
              </a:rPr>
              <a:t>Письмо с транскриптом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871215" y="3511296"/>
            <a:ext cx="246887" cy="164592"/>
          </a:xfrm>
          <a:prstGeom prst="rightArrow">
            <a:avLst/>
          </a:prstGeom>
          <a:solidFill>
            <a:srgbClr val="B9C1C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54680" y="3136391"/>
            <a:ext cx="2331720" cy="914400"/>
          </a:xfrm>
          <a:prstGeom prst="roundRect">
            <a:avLst>
              <a:gd name="adj" fmla="val 25000"/>
            </a:avLst>
          </a:prstGeom>
          <a:solidFill>
            <a:srgbClr val="ECEEF1"/>
          </a:solidFill>
          <a:ln w="13970">
            <a:solidFill>
              <a:srgbClr val="B9C1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sparkles-8A939E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7660" y="3264408"/>
            <a:ext cx="365760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27832" y="3685032"/>
            <a:ext cx="2185415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8A939E"/>
                </a:solidFill>
                <a:latin typeface="Arial"/>
              </a:rPr>
              <a:t>Вызов модели с шаблоном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522976" y="3511296"/>
            <a:ext cx="246887" cy="164592"/>
          </a:xfrm>
          <a:prstGeom prst="rightArrow">
            <a:avLst/>
          </a:prstGeom>
          <a:solidFill>
            <a:srgbClr val="B9C1C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806440" y="3136391"/>
            <a:ext cx="2331720" cy="914400"/>
          </a:xfrm>
          <a:prstGeom prst="roundRect">
            <a:avLst>
              <a:gd name="adj" fmla="val 25000"/>
            </a:avLst>
          </a:prstGeom>
          <a:solidFill>
            <a:srgbClr val="ECEEF1"/>
          </a:solidFill>
          <a:ln w="13970">
            <a:solidFill>
              <a:srgbClr val="B9C1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file-text-8A939E-6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9420" y="3264408"/>
            <a:ext cx="365760" cy="3657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879592" y="3685032"/>
            <a:ext cx="2185415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8A939E"/>
                </a:solidFill>
                <a:latin typeface="Arial"/>
              </a:rPr>
              <a:t>Протокол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1719072"/>
            <a:ext cx="1572768" cy="914400"/>
          </a:xfrm>
          <a:prstGeom prst="roundRect">
            <a:avLst>
              <a:gd name="adj" fmla="val 25000"/>
            </a:avLst>
          </a:prstGeom>
          <a:solidFill>
            <a:srgbClr val="ECEEF1"/>
          </a:solidFill>
          <a:ln w="13970">
            <a:solidFill>
              <a:srgbClr val="B9C1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database-8A939E-6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6424" y="1847088"/>
            <a:ext cx="365760" cy="3657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76072" y="2267712"/>
            <a:ext cx="1426464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 i="0">
                <a:solidFill>
                  <a:srgbClr val="8A939E"/>
                </a:solidFill>
                <a:latin typeface="Arial"/>
              </a:rPr>
              <a:t>Хранилище протоколов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2103120" y="2093976"/>
            <a:ext cx="109728" cy="164592"/>
          </a:xfrm>
          <a:prstGeom prst="rightArrow">
            <a:avLst/>
          </a:prstGeom>
          <a:solidFill>
            <a:srgbClr val="B9C1C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240280" y="1719072"/>
            <a:ext cx="1572768" cy="914400"/>
          </a:xfrm>
          <a:prstGeom prst="roundRect">
            <a:avLst>
              <a:gd name="adj" fmla="val 25000"/>
            </a:avLst>
          </a:prstGeom>
          <a:solidFill>
            <a:srgbClr val="ECEEF1"/>
          </a:solidFill>
          <a:ln w="13970">
            <a:solidFill>
              <a:srgbClr val="B9C1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layers-8A939E-6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43784" y="1847088"/>
            <a:ext cx="365760" cy="365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313432" y="2267712"/>
            <a:ext cx="1426464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 i="0">
                <a:solidFill>
                  <a:srgbClr val="8A939E"/>
                </a:solidFill>
                <a:latin typeface="Arial"/>
              </a:rPr>
              <a:t>Индексация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3840480" y="2093976"/>
            <a:ext cx="109728" cy="164592"/>
          </a:xfrm>
          <a:prstGeom prst="rightArrow">
            <a:avLst/>
          </a:prstGeom>
          <a:solidFill>
            <a:srgbClr val="B9C1C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977639" y="1719072"/>
            <a:ext cx="1572768" cy="914400"/>
          </a:xfrm>
          <a:prstGeom prst="roundRect">
            <a:avLst>
              <a:gd name="adj" fmla="val 25000"/>
            </a:avLst>
          </a:prstGeom>
          <a:solidFill>
            <a:srgbClr val="ECEEF1"/>
          </a:solidFill>
          <a:ln w="13970">
            <a:solidFill>
              <a:srgbClr val="B9C1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7" name="Picture 26" descr="search-8A939E-6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81144" y="1847088"/>
            <a:ext cx="365760" cy="3657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050791" y="2267712"/>
            <a:ext cx="1426464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 i="0">
                <a:solidFill>
                  <a:srgbClr val="8A939E"/>
                </a:solidFill>
                <a:latin typeface="Arial"/>
              </a:rPr>
              <a:t>Поиск по запросу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577840" y="2093976"/>
            <a:ext cx="109728" cy="164592"/>
          </a:xfrm>
          <a:prstGeom prst="rightArrow">
            <a:avLst/>
          </a:prstGeom>
          <a:solidFill>
            <a:srgbClr val="B9C1C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714999" y="1719072"/>
            <a:ext cx="1572768" cy="914400"/>
          </a:xfrm>
          <a:prstGeom prst="roundRect">
            <a:avLst>
              <a:gd name="adj" fmla="val 25000"/>
            </a:avLst>
          </a:prstGeom>
          <a:solidFill>
            <a:srgbClr val="ECEEF1"/>
          </a:solidFill>
          <a:ln w="13970">
            <a:solidFill>
              <a:srgbClr val="B9C1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30" descr="file-code-8A939E-6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18503" y="1847088"/>
            <a:ext cx="365760" cy="36576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5788151" y="2267712"/>
            <a:ext cx="1426464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 i="0">
                <a:solidFill>
                  <a:srgbClr val="8A939E"/>
                </a:solidFill>
                <a:latin typeface="Arial"/>
              </a:rPr>
              <a:t>Фрагменты в модель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4320540" y="2633472"/>
            <a:ext cx="2180843" cy="502919"/>
          </a:xfrm>
          <a:prstGeom prst="bentConnector3">
            <a:avLst/>
          </a:prstGeom>
          <a:ln w="20320">
            <a:solidFill>
              <a:srgbClr val="B9C1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502920" y="4553712"/>
            <a:ext cx="1572768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5" name="Picture 34" descr="route-F0AB00-64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06424" y="4681728"/>
            <a:ext cx="365760" cy="36576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76072" y="5102352"/>
            <a:ext cx="14264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Извлечь поручение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2103120" y="4928616"/>
            <a:ext cx="109728" cy="164592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240280" y="4553712"/>
            <a:ext cx="1572768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9" name="Picture 38" descr="cable-F0AB00-64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43784" y="4681728"/>
            <a:ext cx="365760" cy="36576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2313432" y="5102352"/>
            <a:ext cx="14264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Вызвать API таск-трекера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3840480" y="4928616"/>
            <a:ext cx="109728" cy="164592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977639" y="4553712"/>
            <a:ext cx="1572768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3" name="Picture 42" descr="list-checks-F0AB00-64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81144" y="4681728"/>
            <a:ext cx="365760" cy="36576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4050791" y="5102352"/>
            <a:ext cx="14264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Создать задачу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5577840" y="4928616"/>
            <a:ext cx="109728" cy="164592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714999" y="4553712"/>
            <a:ext cx="1572768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6" descr="circle-check-F0AB00-64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18503" y="4681728"/>
            <a:ext cx="365760" cy="36576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5788151" y="5102352"/>
            <a:ext cx="14264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Проверить результат</a:t>
            </a:r>
          </a:p>
        </p:txBody>
      </p:sp>
      <p:cxnSp>
        <p:nvCxnSpPr>
          <p:cNvPr id="49" name="Connector 48"/>
          <p:cNvCxnSpPr/>
          <p:nvPr/>
        </p:nvCxnSpPr>
        <p:spPr>
          <a:xfrm flipH="1">
            <a:off x="1289304" y="4050791"/>
            <a:ext cx="5682996" cy="502921"/>
          </a:xfrm>
          <a:prstGeom prst="bentConnector3">
            <a:avLst/>
          </a:prstGeom>
          <a:ln w="2032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502920" y="5605272"/>
            <a:ext cx="11183112" cy="8686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7240" y="5605272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Начинайте с простейшего варианта, усложняйте только когда требование не закрыть иначе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831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Дайджест по чатам и почте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685800"/>
            <a:ext cx="11183112" cy="2468880"/>
          </a:xfrm>
          <a:prstGeom prst="roundRect">
            <a:avLst>
              <a:gd name="adj" fmla="val 1234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859536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197864"/>
            <a:ext cx="10744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«Привет, обсуждали на планёрке — хотим еженедельный дайджест по рабочим чатам и почте команды: что обсуждали, что решили за неделю, коротко, одним сообщением, чтобы не перечитывать всю переписку заново по вечерам в пятницу. Нужен по пятницам к 17:00 — чтобы руководитель успел прочитать перед выходными, а не разгребал всё в понедельник утром вперемешку с новой почтой. Источников несколько: рабочий чат команды и почта, надо свести в одно связное сообщение, а не просто склеить куски подряд. Кстати, отдельно от этого — хотели ещё обсудить, стоит ли переезжать с текущего чата на другой мессенджер, но это дело не срочное, как-нибудь в другой раз».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319272"/>
            <a:ext cx="11183112" cy="10058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message-square-quote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525012"/>
            <a:ext cx="594360" cy="594360"/>
          </a:xfrm>
          <a:prstGeom prst="rect">
            <a:avLst/>
          </a:prstGeom>
        </p:spPr>
      </p:pic>
      <p:pic>
        <p:nvPicPr>
          <p:cNvPr id="8" name="Picture 7" descr="mail-028090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0200" y="3525012"/>
            <a:ext cx="594360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14600" y="3319272"/>
            <a:ext cx="886968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1">
                <a:solidFill>
                  <a:srgbClr val="21295C"/>
                </a:solidFill>
                <a:latin typeface="Arial"/>
              </a:rPr>
              <a:t>Из чата и почты — одно связное сообщение, по пятницам к 17:00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507992"/>
            <a:ext cx="11183112" cy="2212847"/>
          </a:xfrm>
          <a:prstGeom prst="roundRect">
            <a:avLst>
              <a:gd name="adj" fmla="val 13774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507992"/>
            <a:ext cx="10607040" cy="22128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Какая архитектура здесь нужна?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Дайджест — разбор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5454396" cy="1783080"/>
          </a:xfrm>
          <a:prstGeom prst="roundRect">
            <a:avLst>
              <a:gd name="adj" fmla="val 6000"/>
            </a:avLst>
          </a:prstGeom>
          <a:solidFill>
            <a:srgbClr val="E9F5F2"/>
          </a:solidFill>
          <a:ln w="1778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circle-check-028090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572768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79576" y="155448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Агент — нужен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103120"/>
            <a:ext cx="5052059" cy="1033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i="0">
                <a:solidFill>
                  <a:srgbClr val="21295C"/>
                </a:solidFill>
                <a:latin typeface="Arial"/>
              </a:rPr>
              <a:t>Обход нескольких источников по расписанию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1295C"/>
                </a:solidFill>
                <a:latin typeface="Arial"/>
              </a:rPr>
              <a:t>Многошаговая задача с обращением к внешним системам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1371600"/>
            <a:ext cx="5454396" cy="1783080"/>
          </a:xfrm>
          <a:prstGeom prst="roundRect">
            <a:avLst>
              <a:gd name="adj" fmla="val 6000"/>
            </a:avLst>
          </a:prstGeom>
          <a:solidFill>
            <a:srgbClr val="FBEAEA"/>
          </a:solidFill>
          <a:ln w="17780">
            <a:solidFill>
              <a:srgbClr val="B04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x-circle-21295C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2803" y="1572768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08292" y="155448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RAG — не нужен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2803" y="2103120"/>
            <a:ext cx="5052059" cy="1033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i="0">
                <a:solidFill>
                  <a:srgbClr val="21295C"/>
                </a:solidFill>
                <a:latin typeface="Arial"/>
              </a:rPr>
              <a:t>Источники обходятся напрямую по расписанию, не по произвольному запросу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1295C"/>
                </a:solidFill>
                <a:latin typeface="Arial"/>
              </a:rPr>
              <a:t>Суммаризация — один вызов модели после сбора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474720"/>
            <a:ext cx="11183112" cy="10515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474720"/>
            <a:ext cx="1060704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1">
                <a:solidFill>
                  <a:srgbClr val="21295C"/>
                </a:solidFill>
                <a:latin typeface="Arial"/>
              </a:rPr>
              <a:t>Много источников — не то же самое, что RAG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RAG и агент в проде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34440"/>
            <a:ext cx="5454396" cy="3246120"/>
          </a:xfrm>
          <a:prstGeom prst="roundRect">
            <a:avLst>
              <a:gd name="adj" fmla="val 6000"/>
            </a:avLst>
          </a:prstGeom>
          <a:solidFill>
            <a:srgbClr val="E9F5F2"/>
          </a:solidFill>
          <a:ln w="1778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circle-check-028090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35608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79576" y="141732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AI @ Morgan Stanley Assistant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1965960"/>
            <a:ext cx="5052059" cy="2496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 i="0">
                <a:solidFill>
                  <a:srgbClr val="21295C"/>
                </a:solidFill>
                <a:latin typeface="Arial"/>
              </a:rPr>
              <a:t>Партнёрство с OpenAI (март 2023), запуск в сентябре 2023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 i="0">
                <a:solidFill>
                  <a:srgbClr val="21295C"/>
                </a:solidFill>
                <a:latin typeface="Arial"/>
              </a:rPr>
              <a:t>RAG по базе ~100 000 research-документов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 i="0">
                <a:solidFill>
                  <a:srgbClr val="21295C"/>
                </a:solidFill>
                <a:latin typeface="Arial"/>
              </a:rPr>
              <a:t>К середине 2024 — используют более 98% команд финансовых советников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1295C"/>
                </a:solidFill>
                <a:latin typeface="Arial"/>
              </a:rPr>
              <a:t>Доступность нужного документа: 20% → 80%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1234440"/>
            <a:ext cx="5454396" cy="3246120"/>
          </a:xfrm>
          <a:prstGeom prst="roundRect">
            <a:avLst>
              <a:gd name="adj" fmla="val 6000"/>
            </a:avLst>
          </a:prstGeom>
          <a:solidFill>
            <a:srgbClr val="FBEAEA"/>
          </a:solidFill>
          <a:ln w="17780">
            <a:solidFill>
              <a:srgbClr val="B04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x-circle-21295C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2803" y="1435608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08292" y="141732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Replit, июль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2803" y="1965960"/>
            <a:ext cx="5052059" cy="2496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 i="0">
                <a:solidFill>
                  <a:srgbClr val="21295C"/>
                </a:solidFill>
                <a:latin typeface="Arial"/>
              </a:rPr>
              <a:t>Агент удалил продакшен-базу (~1200 руководителей компаний затронуты) во время code freeze, вопреки прямой инструкции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 i="0">
                <a:solidFill>
                  <a:srgbClr val="21295C"/>
                </a:solidFill>
                <a:latin typeface="Arial"/>
              </a:rPr>
              <a:t>Затем неверно утверждал, что откат невозможен — данные восстановили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После инцидента: разделение dev/prod + режим агента «только планирование»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681728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Ещё: Octomind — сняли LangChain после года в проде, вернулись к прямым вызовам (17.06.2024)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30-divider-datacenter-real.jpg"/>
          <p:cNvPicPr>
            <a:picLocks noChangeAspect="1"/>
          </p:cNvPicPr>
          <p:nvPr/>
        </p:nvPicPr>
        <p:blipFill>
          <a:blip r:embed="rId2"/>
          <a:srcRect t="14843" b="1484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>
              <a:alpha val="7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-91440" y="-594360"/>
            <a:ext cx="5486400" cy="32918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0000"/>
              </a:lnSpc>
            </a:pPr>
            <a:r>
              <a:rPr sz="28000" b="1" i="0">
                <a:solidFill>
                  <a:srgbClr val="3A4474"/>
                </a:solidFill>
                <a:latin typeface="Arial"/>
              </a:rPr>
              <a:t>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65960" y="160020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0607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Внешний API или локальный инференс?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43400"/>
            <a:ext cx="5120640" cy="50292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Кейс: звонки продаж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074920"/>
            <a:ext cx="9875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1">
                <a:solidFill>
                  <a:srgbClr val="C8D2DF"/>
                </a:solidFill>
                <a:latin typeface="Arial"/>
              </a:rPr>
              <a:t>Это про то, где физически обрабатываются данные, а не какая модель лучше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831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Звонки продаж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713232"/>
            <a:ext cx="11183112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886968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225296"/>
            <a:ext cx="102870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«Привет! Тут у нас родилась идея на стратегической сессии — хочу по каждому звонку менеджера получать карточку: какая потребность у клиента, какие возражения прозвучали, какие договорённости достигли. А то перед следующим звонком с тем же клиентом менеджеры перематывают запись туда-сюда, ищут, на чём остановились в прошлый раз. В отделе у меня 8 менеджеров, у каждого по 15-20 звонков в день, записи сейчас просто лежат в телефонии, никуда не выгружаются. Вся история клиента у нас в CRM, но её тоже давно пора почистить от дублей контактов — но это отдельная головная боль, обсудим как-нибудь потом».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009376" y="8869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651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briefcase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969264"/>
            <a:ext cx="292608" cy="29260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3273552"/>
            <a:ext cx="11183112" cy="10058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phone-065A82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479292"/>
            <a:ext cx="594360" cy="594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691640" y="3273552"/>
            <a:ext cx="969264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 i="1">
                <a:solidFill>
                  <a:srgbClr val="21295C"/>
                </a:solidFill>
                <a:latin typeface="Arial"/>
              </a:rPr>
              <a:t>8 менеджеров, по 15-20 звонков в день, записи лежат в телефонии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462272"/>
            <a:ext cx="11183112" cy="2258568"/>
          </a:xfrm>
          <a:prstGeom prst="roundRect">
            <a:avLst>
              <a:gd name="adj" fmla="val 13495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462272"/>
            <a:ext cx="10607040" cy="2258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Как это построить?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31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Звонки продаж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777240"/>
            <a:ext cx="11183112" cy="9601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950975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289304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 i="1">
                <a:solidFill>
                  <a:srgbClr val="21295C"/>
                </a:solidFill>
                <a:latin typeface="Arial"/>
              </a:rPr>
              <a:t>«Стоп. Вы эти записи в какой сервис отправляете?»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009376" y="95097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651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scale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1033271"/>
            <a:ext cx="292608" cy="29260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1874519"/>
            <a:ext cx="3575304" cy="2880360"/>
          </a:xfrm>
          <a:prstGeom prst="roundRect">
            <a:avLst>
              <a:gd name="adj" fmla="val 10582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landmark-065A82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61972" y="2039112"/>
            <a:ext cx="457200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2648" y="2587752"/>
            <a:ext cx="3355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РФ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3063239"/>
            <a:ext cx="324612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 i="0">
                <a:solidFill>
                  <a:srgbClr val="21295C"/>
                </a:solidFill>
                <a:latin typeface="Arial"/>
              </a:rPr>
              <a:t>152-ФЗ + 420-ФЗ (с 30.05.2025)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 i="0">
                <a:solidFill>
                  <a:srgbClr val="21295C"/>
                </a:solidFill>
                <a:latin typeface="Arial"/>
              </a:rPr>
              <a:t>Первая утечка: штраф 3-5 млн ₽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 i="0">
                <a:solidFill>
                  <a:srgbClr val="21295C"/>
                </a:solidFill>
                <a:latin typeface="Arial"/>
              </a:rPr>
              <a:t>Повторная: 1-3% годовой выручки (мин. 20 млн, макс. 500 млн ₽)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6824" y="1874519"/>
            <a:ext cx="3575304" cy="2880360"/>
          </a:xfrm>
          <a:prstGeom prst="roundRect">
            <a:avLst>
              <a:gd name="adj" fmla="val 10582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scale-065A82-9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5876" y="2039112"/>
            <a:ext cx="457200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16552" y="2587752"/>
            <a:ext cx="3355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ЕС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1416" y="3063239"/>
            <a:ext cx="324612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 i="0">
                <a:solidFill>
                  <a:srgbClr val="21295C"/>
                </a:solidFill>
                <a:latin typeface="Arial"/>
              </a:rPr>
              <a:t>GDPR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 i="0">
                <a:solidFill>
                  <a:srgbClr val="21295C"/>
                </a:solidFill>
                <a:latin typeface="Arial"/>
              </a:rPr>
              <a:t>До €20 млн или 4% мирового оборота (что больше)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 i="0">
                <a:solidFill>
                  <a:srgbClr val="21295C"/>
                </a:solidFill>
                <a:latin typeface="Arial"/>
              </a:rPr>
              <a:t>Рекорд: Meta, €1,2 млрд, 2023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10728" y="1874519"/>
            <a:ext cx="3575304" cy="2880360"/>
          </a:xfrm>
          <a:prstGeom prst="roundRect">
            <a:avLst>
              <a:gd name="adj" fmla="val 10582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" descr="building-2-065A82-9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69780" y="2039112"/>
            <a:ext cx="457200" cy="457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20456" y="2587752"/>
            <a:ext cx="3355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США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3063239"/>
            <a:ext cx="324612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 i="0">
                <a:solidFill>
                  <a:srgbClr val="21295C"/>
                </a:solidFill>
                <a:latin typeface="Arial"/>
              </a:rPr>
              <a:t>Единого федерального закона нет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 i="0">
                <a:solidFill>
                  <a:srgbClr val="21295C"/>
                </a:solidFill>
                <a:latin typeface="Arial"/>
              </a:rPr>
              <a:t>Штатные (Калифорния — CCPA/CPRA)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 i="0">
                <a:solidFill>
                  <a:srgbClr val="21295C"/>
                </a:solidFill>
                <a:latin typeface="Arial"/>
              </a:rPr>
              <a:t>Секторальные (например, HIPAA)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937759"/>
            <a:ext cx="11183112" cy="77724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937759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За сохранность персональных данных всерьёз борются все крупные юрисдикции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831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Звонки продаж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777240"/>
            <a:ext cx="5454396" cy="4434840"/>
          </a:xfrm>
          <a:prstGeom prst="roundRect">
            <a:avLst>
              <a:gd name="adj" fmla="val 687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950975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289304"/>
            <a:ext cx="4558283" cy="3703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«Коллеги, разговор случился на еженедельном созвоне по бюджету — туда же, кстати, пригласили и юриста, который на прошлой неделе смотрел демо прототипа. Хочу сразу обозначить ограничение по инфраструктуре: GPU-сервера у нас нет, и бюджета на него в этом году тоже нет — приоритеты на квартал уже утверждены финансовым директором, туда попали миграция на новую почтовую систему и обновление парка ноутбуков в поддержке. Если модель тяжёлая, придётся идти через облачный API, но там свои вопросы по данным, мы их уже обсуждали. В следующем году, может, вернёмся к разговору про свой сервер, но не сейчас».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80659" y="95097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651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briefcase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2955" y="1033271"/>
            <a:ext cx="292608" cy="292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2376" y="4919471"/>
            <a:ext cx="501548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— CTO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1636" y="777240"/>
            <a:ext cx="5454396" cy="4434840"/>
          </a:xfrm>
          <a:prstGeom prst="roundRect">
            <a:avLst>
              <a:gd name="adj" fmla="val 687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1092" y="950975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51092" y="1289304"/>
            <a:ext cx="4558283" cy="3703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«Меня, честно говоря, весь этот разговор про модели и облака не очень касается — я не технарь. Мне для работы нужно простое: пять полей в CRM по каждому звонку — потребность, возражения, договорённости, следующий шаг, оценка вероятности сделки. Не пересказ разговора целиком, не анализ тона голоса менеджера, ничего такого. Просто эти пять полей должны заполняться сами, чтобы я видел их у себя в отчёте по отделу, который я и так каждый понедельник собираю руками из заметок ребят».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009376" y="95097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651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user-round-028090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1672" y="1033271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51092" y="4919471"/>
            <a:ext cx="501548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— руководитель отдела продаж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376671"/>
            <a:ext cx="11183112" cy="1344168"/>
          </a:xfrm>
          <a:prstGeom prst="roundRect">
            <a:avLst>
              <a:gd name="adj" fmla="val 22675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376671"/>
            <a:ext cx="10607040" cy="1344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Меняет ли это архитектуру ещё раз?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Звонки продаж — разбор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11183112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cpu-21295C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00200"/>
            <a:ext cx="548640" cy="548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08760" y="1389888"/>
            <a:ext cx="987552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Задача сузилась до шаблона — локальная модель 7-8 млрд параметров справляется, данные не покидают периметр компании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670048"/>
            <a:ext cx="11183112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670048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Открытые модели 7-8B: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0" y="267004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Qwen3 · Llama · Gemma · Mistral · T-lite · T-pro (Т-Банк, Apache 2.0, на базе Qwen)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630168"/>
            <a:ext cx="11183112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630168"/>
            <a:ext cx="107899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i="1">
                <a:solidFill>
                  <a:srgbClr val="21295C"/>
                </a:solidFill>
                <a:latin typeface="Arial"/>
              </a:rPr>
              <a:t>4-bit квантование → 4-6 ГБ памяти, обычный сервер без GPU (Ollama / llama.cpp) · тонкая подстройка — LoRA на одной GPU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636008"/>
            <a:ext cx="5454396" cy="1463040"/>
          </a:xfrm>
          <a:prstGeom prst="roundRect">
            <a:avLst>
              <a:gd name="adj" fmla="val 20833"/>
            </a:avLst>
          </a:prstGeom>
          <a:solidFill>
            <a:srgbClr val="FEF5E0"/>
          </a:solidFill>
          <a:ln w="2032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764024"/>
            <a:ext cx="5088636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«Сложно для человека» ≠ «сложно для модели»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4636008"/>
            <a:ext cx="5454396" cy="1463040"/>
          </a:xfrm>
          <a:prstGeom prst="roundRect">
            <a:avLst>
              <a:gd name="adj" fmla="val 20833"/>
            </a:avLst>
          </a:prstGeom>
          <a:solidFill>
            <a:srgbClr val="FEF5E0"/>
          </a:solidFill>
          <a:ln w="2032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4764024"/>
            <a:ext cx="5088636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Чувствительность данных выясняется вопросами, а не предполагается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Утечка в Samsung — и модели, которые уже в кармане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5454396" cy="3063240"/>
          </a:xfrm>
          <a:prstGeom prst="roundRect">
            <a:avLst>
              <a:gd name="adj" fmla="val 6000"/>
            </a:avLst>
          </a:prstGeom>
          <a:solidFill>
            <a:srgbClr val="FBEAEA"/>
          </a:solidFill>
          <a:ln w="17780">
            <a:solidFill>
              <a:srgbClr val="B04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x-circle-21295C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81328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79576" y="1463039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Samsung, 2023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011679"/>
            <a:ext cx="5052059" cy="2313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 i="0">
                <a:solidFill>
                  <a:srgbClr val="21295C"/>
                </a:solidFill>
                <a:latin typeface="Arial"/>
              </a:rPr>
              <a:t>Разрешили ChatGPT 11.03.2023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К 30.03 (~19 дней) — 3 утечки: 2× код производства, 1× транскрипт совещания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21295C"/>
                </a:solidFill>
                <a:latin typeface="Arial"/>
              </a:rPr>
              <a:t>Полный запрет генеративного ИИ на устройствах (май 2023)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1280160"/>
            <a:ext cx="5454396" cy="3063240"/>
          </a:xfrm>
          <a:prstGeom prst="roundRect">
            <a:avLst>
              <a:gd name="adj" fmla="val 6000"/>
            </a:avLst>
          </a:prstGeom>
          <a:solidFill>
            <a:srgbClr val="E9F5F2"/>
          </a:solidFill>
          <a:ln w="1778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circle-check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2803" y="1481328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08292" y="1463039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Малые модели в кармане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2803" y="2011679"/>
            <a:ext cx="5052059" cy="2313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 i="0">
                <a:solidFill>
                  <a:srgbClr val="21295C"/>
                </a:solidFill>
                <a:latin typeface="Arial"/>
              </a:rPr>
              <a:t>Apple Intelligence — ~3 млрд параметров на устройстве (iOS 18.1, октябрь 2024, iPhone 15 Pro+): суммаризация и правка текста офлайн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21295C"/>
                </a:solidFill>
                <a:latin typeface="Arial"/>
              </a:rPr>
              <a:t>Google Gemini Nano — 1,8-3,25 млрд параметров (Pixel/Android): суммаризация в Recorder, Magic Compose — офлайн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572000"/>
            <a:ext cx="11183112" cy="96012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572000"/>
            <a:ext cx="106070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Малые модели уже в кармане у половины аудитории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Ваши задачи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63040"/>
            <a:ext cx="11183112" cy="3200400"/>
          </a:xfrm>
          <a:prstGeom prst="roundRect">
            <a:avLst>
              <a:gd name="adj" fmla="val 9523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hand-F0AB00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920240"/>
            <a:ext cx="1097280" cy="1097280"/>
          </a:xfrm>
          <a:prstGeom prst="rect">
            <a:avLst/>
          </a:prstGeom>
        </p:spPr>
      </p:pic>
      <p:pic>
        <p:nvPicPr>
          <p:cNvPr id="5" name="Picture 4" descr="users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920240"/>
            <a:ext cx="1097280" cy="1097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383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У кого есть похожая задача с работы — там, где стоял вопрос, нужен ли ИИ, и какой?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937759"/>
            <a:ext cx="11183112" cy="8229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937759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1">
                <a:solidFill>
                  <a:srgbClr val="21295C"/>
                </a:solidFill>
                <a:latin typeface="Arial"/>
              </a:rPr>
              <a:t>Достаточно сформулировать в двух-трёх предложениях, как её принёс бы заказчик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Что унести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831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Семь уроков, по одному на кейс — ничего нового, только компиляция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11183112" cy="5943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file-text-065A82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33372"/>
            <a:ext cx="310896" cy="3108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88720" y="1691640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Документы поставщиков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5968" y="194310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691640"/>
            <a:ext cx="69494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Два примера — не выборка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340864"/>
            <a:ext cx="11183112" cy="5943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shield-alert-065A82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482596"/>
            <a:ext cx="310896" cy="310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88720" y="2340864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Персоналка в логах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25923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2340864"/>
            <a:ext cx="69494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Граница regex/модель — внутри задачи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990088"/>
            <a:ext cx="11183112" cy="5943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monitor-065A82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131820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88720" y="2990088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Помощник поддержки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5968" y="324154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2990088"/>
            <a:ext cx="69494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Организационное ограничение решает не хуже техники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639312"/>
            <a:ext cx="11183112" cy="5943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0" name="Picture 19" descr="store-065A82-6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3781044"/>
            <a:ext cx="310896" cy="31089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88720" y="3639312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Описания товаров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15968" y="389077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3639312"/>
            <a:ext cx="69494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Встроенность бьёт отдельный продукт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288536"/>
            <a:ext cx="11183112" cy="5943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5" name="Picture 24" descr="list-checks-065A82-6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430268"/>
            <a:ext cx="310896" cy="31089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88720" y="4288536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Протоколы встреч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15968" y="453999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26280" y="4288536"/>
            <a:ext cx="69494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Архитектуру двигают требования, не мода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937760"/>
            <a:ext cx="11183112" cy="5943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mail-065A82-6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5079492"/>
            <a:ext cx="310896" cy="31089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188720" y="4937760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Дайджест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15968" y="518922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26280" y="4937760"/>
            <a:ext cx="69494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Много источников ≠ RAG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5586983"/>
            <a:ext cx="11183112" cy="5943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5" name="Picture 34" descr="phone-065A82-6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5728716"/>
            <a:ext cx="310896" cy="310896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188720" y="5586983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Звонки продаж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15968" y="583844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26280" y="5586983"/>
            <a:ext cx="69494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Сложно для человека ≠ сложно для модели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Домашнее чтение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831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Необязательно, но по каждой истории будет что обсудить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3557016" cy="4480560"/>
          </a:xfrm>
          <a:prstGeom prst="roundRect">
            <a:avLst>
              <a:gd name="adj" fmla="val 8568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825496" y="1783080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050" b="1">
                <a:solidFill>
                  <a:srgbClr val="21295C"/>
                </a:solidFill>
                <a:latin typeface="Arial"/>
              </a:rPr>
              <a:t>ГЛАВНОЕ</a:t>
            </a:r>
          </a:p>
        </p:txBody>
      </p:sp>
      <p:pic>
        <p:nvPicPr>
          <p:cNvPr id="6" name="Picture 5" descr="handshake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7108" y="1874519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2651760"/>
            <a:ext cx="319125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Сага Klarna, 2023-2025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566160"/>
            <a:ext cx="3191256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AI-ассистент поддержки: от впечатляющего старта до признания «мы зашли слишком далеко» и возврата к найму людей.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600200"/>
            <a:ext cx="3557016" cy="4480560"/>
          </a:xfrm>
          <a:prstGeom prst="roundRect">
            <a:avLst>
              <a:gd name="adj" fmla="val 856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building-2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0156" y="1874519"/>
            <a:ext cx="548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98848" y="2651760"/>
            <a:ext cx="319125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NYC MyCity chatbot, 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8848" y="3566160"/>
            <a:ext cx="3191256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Городской чат-бот для малого бизнеса, дававший юридически некорректные советы. Расследование The Markup.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9016" y="1600200"/>
            <a:ext cx="3557016" cy="4480560"/>
          </a:xfrm>
          <a:prstGeom prst="roundRect">
            <a:avLst>
              <a:gd name="adj" fmla="val 856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4" name="Picture 13" descr="banknote-065A82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33204" y="187451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311896" y="2651760"/>
            <a:ext cx="319125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Бонус, для настроения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1896" y="3566160"/>
            <a:ext cx="3191256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Автосалон подключил чат-бот на стороннем API без ограждений — и чат-бот «продал» внедорожник за один доллар.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263640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Если сегодня останется время — часть этого разберём вживую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Klarna, 2023-2025: одна история — четыре развилки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88720"/>
            <a:ext cx="11183112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426464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280160"/>
            <a:ext cx="21945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ИИ или нет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20440" y="1280160"/>
            <a:ext cx="80010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Типовые тикеты — формализуемы, хороший кандидат; но оптимизация по стоимости уронила качество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21408"/>
            <a:ext cx="11183112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235915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212848"/>
            <a:ext cx="21945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Встроить или своё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212848"/>
            <a:ext cx="80010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Ассистент в существующем канале поддержки, внешний API (OpenAI) — не отдельный продукт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054096"/>
            <a:ext cx="11183112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85800" y="329184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145536"/>
            <a:ext cx="21945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Архитектура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3145536"/>
            <a:ext cx="80010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Чат-ассистент с эскалацией к человеку, не автономный агент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986784"/>
            <a:ext cx="11183112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" y="4224528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78224"/>
            <a:ext cx="21945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Инференс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4078224"/>
            <a:ext cx="80010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Внешний облачный API с клиентскими данными поддержки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965192"/>
            <a:ext cx="11183112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965192"/>
            <a:ext cx="106984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Запуск февраль 2024 · 30 дней: 2,3 млн чатов, 67% обращений автоматизировано · заявлено «эквивалент 700 агентов»/$40М (2024) → «853 агента»/$60М (Q3 2025) — знаменатель не раскрыт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879592"/>
            <a:ext cx="11183112" cy="77724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879592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1">
                <a:solidFill>
                  <a:srgbClr val="21295C"/>
                </a:solidFill>
                <a:latin typeface="Arial"/>
              </a:rPr>
              <a:t>«We went too far» — CEO Себастьян Семятковски, Bloomberg, май 2025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831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Дедупликация новостей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685800"/>
            <a:ext cx="11183112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859536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197864"/>
            <a:ext cx="10744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 i="1">
                <a:solidFill>
                  <a:srgbClr val="21295C"/>
                </a:solidFill>
                <a:latin typeface="Arial"/>
              </a:rPr>
              <a:t>«Привет! Пользователи жалуются в поддержку, что лента забита — по одному и тому же событию видят десять почти одинаковых заголовков подряд от разных изданий, которые просто пересказывают одну новость своими словами. Хотим это как-то склеивать в одну карточку, чтобы не мозолило глаза. У нас источников уже больше сотни, подключаем ещё несколько в этом месяце, но это уже другой разговор с их API. Нужно понять, какая технология сюда подойдёт, желательно не сильно раздувая расходы на инфраструктуру, бюджет на новые фичи в этом квартале скромный».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209544"/>
            <a:ext cx="11183112" cy="9601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message-square-quote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392424"/>
            <a:ext cx="594360" cy="594360"/>
          </a:xfrm>
          <a:prstGeom prst="rect">
            <a:avLst/>
          </a:prstGeom>
        </p:spPr>
      </p:pic>
      <p:pic>
        <p:nvPicPr>
          <p:cNvPr id="8" name="Picture 7" descr="layers-028090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0200" y="3392424"/>
            <a:ext cx="594360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14600" y="3209544"/>
            <a:ext cx="886968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1">
                <a:solidFill>
                  <a:srgbClr val="21295C"/>
                </a:solidFill>
                <a:latin typeface="Arial"/>
              </a:rPr>
              <a:t>Десять почти одинаковых заголовков → одна объединённая карточка события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352544"/>
            <a:ext cx="11183112" cy="2368295"/>
          </a:xfrm>
          <a:prstGeom prst="roundRect">
            <a:avLst>
              <a:gd name="adj" fmla="val 1287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352544"/>
            <a:ext cx="10607040" cy="236829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Какая технология нужна?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Дедупликация — разбор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148840"/>
            <a:ext cx="5454396" cy="1783080"/>
          </a:xfrm>
          <a:prstGeom prst="roundRect">
            <a:avLst>
              <a:gd name="adj" fmla="val 6000"/>
            </a:avLst>
          </a:prstGeom>
          <a:solidFill>
            <a:srgbClr val="E9F5F2"/>
          </a:solidFill>
          <a:ln w="1778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filter-028090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2350008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79576" y="233172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Fuzzy-matching / shingling — ~90%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880360"/>
            <a:ext cx="5052059" cy="1033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i="0">
                <a:solidFill>
                  <a:srgbClr val="21295C"/>
                </a:solidFill>
                <a:latin typeface="Arial"/>
              </a:rPr>
              <a:t>Сравнение текстов по перекрывающимся фрагментам без обращения к модели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1295C"/>
                </a:solidFill>
                <a:latin typeface="Arial"/>
              </a:rPr>
              <a:t>Дёшево и предсказуемо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2148840"/>
            <a:ext cx="5454396" cy="1783080"/>
          </a:xfrm>
          <a:prstGeom prst="roundRect">
            <a:avLst>
              <a:gd name="adj" fmla="val 6000"/>
            </a:avLst>
          </a:prstGeom>
          <a:solidFill>
            <a:srgbClr val="FBEAEA"/>
          </a:solidFill>
          <a:ln w="17780">
            <a:solidFill>
              <a:srgbClr val="B04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sparkles-21295C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2803" y="2350008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08292" y="233172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LLM — только остаток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2803" y="2880360"/>
            <a:ext cx="5052059" cy="1033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i="0">
                <a:solidFill>
                  <a:srgbClr val="21295C"/>
                </a:solidFill>
                <a:latin typeface="Arial"/>
              </a:rPr>
              <a:t>Два сообщения об одном событии написаны разными словами почти без общих фрагментов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1">
                <a:solidFill>
                  <a:srgbClr val="21295C"/>
                </a:solidFill>
                <a:latin typeface="Arial"/>
              </a:rPr>
              <a:t>Перефраз без лексического пересечения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251959"/>
            <a:ext cx="11183112" cy="10515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251959"/>
            <a:ext cx="1060704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Сначала дешёвый детерминированный фильтр — ИИ на то, что он не взял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-closing-gpu-re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480560"/>
            <a:ext cx="12191695" cy="2377440"/>
          </a:xfrm>
          <a:prstGeom prst="rect">
            <a:avLst/>
          </a:prstGeom>
          <a:solidFill>
            <a:srgbClr val="21295C">
              <a:alpha val="82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709160"/>
            <a:ext cx="106070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Arial"/>
              </a:rPr>
              <a:t>Сегодня вы решали, что строить.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1" i="0">
                <a:solidFill>
                  <a:srgbClr val="F0AB00"/>
                </a:solidFill>
                <a:latin typeface="Arial"/>
              </a:rPr>
              <a:t>Лекция 2 — как модель устроена внутри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