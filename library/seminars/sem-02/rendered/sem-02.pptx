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Доброе утро, точнее уже день — прямо с лекции. Сегодня у нас семинар другого типа, чем в прошлый раз: тогда мы делились личным опытом без единственно верного ответа, сегодня — наоборот, у метода, который вы только что услышали, есть чёткий правильный результат, и мы тренируем применение этого метода под лёгким давлением времени.</a:t>
            </a:r>
          </a:p>
          <a:p/>
          <a:p>
            <a:r>
              <a:t>Фотография справа — реальный пример из области компьютерного зрения: зелёная рамка показывает, где объект находится на самом деле, рамка предсказания — где его определил алгоритм. Чем точнее совпадение, тем лучше модель. Весь сегодняшний семинар — тренировка того же навыка на других задачах: точно определить тип AI-инструмента, точно поймать подделанный факт, точно назвать тип ошибки. Формальная классификация — не абстракция, а рабочий инструмент, который либо совпадает с реальностью, либо нет, и мы будем тренировать это совпадение весь час с небольшим.</a:t>
            </a:r>
          </a:p>
          <a:p/>
          <a:p>
            <a:r>
              <a:t>Сегодня — либо индивидуальная работа через голосование поднятием руки, либо разговор всей аудиторией. Никаких малых групп, как и в прошлый раз.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визуальный recap — не переобучение с нуля, вы слышали это час назад на лекции. Смотрим на экран и называем вслух, не объясняя заново.</a:t>
            </a:r>
          </a:p>
          <a:p/>
          <a:p>
            <a:r>
              <a:t>Первая ось — тип задачи на одной стороне, модальность на другой. Пример: YOLO-детектор из демо сегодняшнего утра — задача распознавание, модальность изображение.</a:t>
            </a:r>
          </a:p>
          <a:p/>
          <a:p>
            <a:r>
              <a:t>Второй инструмент — чек-лист «2 вопроса + квадрант». Вопрос первый: нужно ли взаимодействие с пользователем? Вопрос второй: нужна ли самостоятельная работа с инструментами? Нет и нет — модель. Да и нет — чат. Да и да — агент. Нет и да — приложение в режиме автоматизации.</a:t>
            </a:r>
          </a:p>
          <a:p/>
          <a:p>
            <a:r>
              <a:t>Это не диалог с аудиторией — установка общего фона перед разделом 2. Первое голосование начинается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Механику голосования вы уже знаете с прошлого семинара — рука, камера считает, YOLO выводит число сразу. Сегодня та же механика, но материал — не калибровка интуиции, а классификация с правильным ответом.</a:t>
            </a:r>
          </a:p>
          <a:p/>
          <a:p>
            <a:r>
              <a:t>Шесть инструментов на экране. Для каждого — четыре последовательных раунда поднятия руки: модель, чат, агент, приложение — по одному варианту за раз. После каждого раунда называю результат вслух. Там, где голоса заметно разойдутся — вызываю одного-двух человек объяснить выбор до того, как назову официальный ответ.</a:t>
            </a:r>
          </a:p>
          <a:p/>
          <a:p>
            <a:r>
              <a:t>Обратите внимание на пункты 3 и 4 — один и тот же продукт, GitHub Copilot, но в разных режимах. Не торопите эту пару, когда до неё дойдём — это ключевой момент раздела.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инструмент — YOLO-детектор из демо сегодняшнего утра: детекция людей в кадре в реальном времени. Второй — AI-чат для разовой консультации по тексту, например ChatGPT.</a:t>
            </a:r>
          </a:p>
          <a:p/>
          <a:p>
            <a:r>
              <a:t>Для каждого — четыре раунда поднятия руки: модель, чат, агент или приложение. Голосуем по очереди на каждый вариант, камера считает поднятые руки. Если голоса заметно разойдутся — один-два студента объясняют выбор вслух до официального ответа.</a:t>
            </a:r>
          </a:p>
          <a:p/>
          <a:p>
            <a:r>
              <a:t>Прогоняем оба через Q1 (нужно ли взаимодействие с пользователем?) и Q2 (нужна ли самостоятельная работа с инструментами?) про себя, прежде чем поднять руку.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первый инструмент — модель. Q1 нет, потому что нет диалога с пользователем на каждый кадр. Q2 нет, потому что один проход «изображение на входе — детекция на выходе» без вызова внешних инструментов.</a:t>
            </a:r>
          </a:p>
          <a:p/>
          <a:p>
            <a:r>
              <a:t>Второй — чат. Q1 да — есть диалог, можно уточнить. Q2 нет — модель работает с тем, что вы ей дали, сама никуда не ходит за данными.</a:t>
            </a:r>
          </a:p>
          <a:p/>
          <a:p>
            <a:r>
              <a:t>Если аудитория молчит при запросе объяснить голос — обращаемся к конкретному студенту, поднявшему руку за меньшинство: точечный вызов работает лучше повторного общего приглашения.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 четвёртый инструменты — снова GitHub Copilot, но два разных режима использования. Сначала inline-автодополнение: нажал Tab — получил предложение по текущей строке кода, без диалога и без многошагового планирования.</a:t>
            </a:r>
          </a:p>
          <a:p/>
          <a:p>
            <a:r>
              <a:t>Затем Copilot Workspace, он же Agent-режим: получает текстовую задачу, самостоятельно открывает несколько файлов проекта, правит код, коммитит.</a:t>
            </a:r>
          </a:p>
          <a:p/>
          <a:p>
            <a:r>
              <a:t>Для каждого — четыре раунда голосования: модель, чат, агент или приложение. Здесь ожидайте расхождение голосов на первом пункте — часть аудитории скажет «агент», потому что «Copilot понимает код». Обязательно вызовите двух-трёх студентов с обеих сторон объяснить рассуждение до официального ответа — не торопите этот момент.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inline-автодополнение — приложение. Q1 нет, Q2 нет. Ответ на Agent-режим — агент: Q1 да, пользователь ставит цель и может скорректировать; Q2 да, самостоятельная работа с файлами, планирование, несколько шагов.</a:t>
            </a:r>
          </a:p>
          <a:p/>
          <a:p>
            <a:r>
              <a:t>Проговорите явно вслух: один и тот же инструмент — два разных типа. Тип определяется режимом использования, не брендом. Это ключевой момент раздела — не торопите его, дайте прозвучать объяснениям студентов, которые проголосовали иначе, прежде чем закрепить вывод.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Пятый инструмент — YandexGPT во врезке поиска: сгенерированный краткий ответ над списком обычных результатов. Шестой — агент, который читает двести PDF-отчётов и собирает сводную таблицу. Тот же разобранный пример, что и на лекции.</a:t>
            </a:r>
          </a:p>
          <a:p/>
          <a:p>
            <a:r>
              <a:t>Для каждого — четыре раунда голосования: модель, чат, агент или приложение. Если голоса разойдутся неожиданно на этих двух пунктах — используем оставшийся резерв времени раздела на разбор.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YandexGPT — приложение. Q1 нет — пользователь не пишет промпт и не ведёт диалог, это функция поиска. Q2 да — AI работает под капотом, обращается к индексу и формирует ответ.</a:t>
            </a:r>
          </a:p>
          <a:p/>
          <a:p>
            <a:r>
              <a:t>Ответ на агента для 200 PDF — агент. Q1 да — пользователь ставит задачу и утверждает результат. Q2 да — агент открывает файлы, парсит, дописывает в таблицу.</a:t>
            </a:r>
          </a:p>
          <a:p/>
          <a:p>
            <a:r>
              <a:t>Этим завершается раздел калибровки — переходим к четырём инженерным сценариям, ядру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сегодняшнего занятия — не просто разбор кейса, а тренировка переносимого навыка: прогонять реалистичный инженерный сценарий через Q1/Q2 самостоятельно, под лёгким давлением времени.</a:t>
            </a:r>
          </a:p>
          <a:p/>
          <a:p>
            <a:r>
              <a:t>Механика одинакова для всех четырёх сценариев. Зачитываю сценарий вслух, вы видите его на экране. Тридцать-шестьдесят секунд индивидуального размышления — каждый про себя проходит Q1, Q2, квадрант. Не торопим, но и не затягиваем дольше минуты. Затем голосование по квадранту поднятием руки — четыре раунда, как в разделе 2: кто считает, что это модель, кто считает, что чат, и так далее для всех четырёх углов. Дальше — точечный вызов: приглашаю двух-трёх студентов объяснить рассуждение вслух до официального ответа, предпочтительно из разных углов голосования, если голоса разделились. И короткий официальный разбор — правильный ответ через Q1/Q2.</a:t>
            </a:r>
          </a:p>
          <a:p/>
          <a:p>
            <a:r>
              <a:t>Интуиция здесь иногда подскажет неверный ответ — это специально. После всех четырёх сценариев — обязательный вопрос всем классом: где обычный код справился бы не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 в час фоновый скрипт на вашем компьютере автоматически проверяет орфографию во всех открытых файлах проекта и дописывает список найденных ошибок в текстовый лог — без интерфейса, без диалога, без вашего участия в моменте проверки.</a:t>
            </a:r>
          </a:p>
          <a:p/>
          <a:p>
            <a:r>
              <a:t>30–60 секунд индивидуального размышления — каждый прогоняет через Q1 и Q2 про себя. Затем голосование по квадранту поднятием руки, четыре раунда: кто считает, что это модель? кто считает, что чат? и так далее.</a:t>
            </a:r>
          </a:p>
          <a:p/>
          <a:p>
            <a:r>
              <a:t>Это первый и самый простой сценарий раздела — ожидаем быстрое единодушное голосование.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Прогоняем через чек-лист. Q1 — нет: никакого диалога и интерфейса, вход и выход — только файлы на диске. Q2 — нет: один проход «текст → список ошибок» без вызова внешних инструментов, без планирования, без многошаговой работы. Правильный ответ — модель, левый верхний угол квадранта, самый чистый случай раздела: нет ни взаимодействия с пользователем, ни самостоятельной работы с инструментами.</a:t>
            </a:r>
          </a:p>
          <a:p/>
          <a:p>
            <a:r>
              <a:t>Это самый простой сценарий раздела — не задерживаемся на обсуждении дольше одной-двух минут, переходим к сценарию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Скрипт запускается каждую ночь по расписанию. Он сам скачивает новые баг-репорты, классифицирует каждый по критичности через AI и автоматически раскладывает по очередям в Jira. Никто не сидит и не наблюдает за процессом.</a:t>
            </a:r>
          </a:p>
          <a:p/>
          <a:p>
            <a:r>
              <a:t>30–60 секунд индивидуального размышления, затем четыре раунда голосования по квадранту. Это менее очевидный угол, чем сценарий 1 — не торопите размышление, дайте полные 60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Прогоняем через чек-лист. Q1 — нет: работает автономно, по расписанию, без диалога с пользователем. Q2 — да: самостоятельно вызывает API Jira, читает репорты, пишет результат. Правильный ответ — приложение в режиме автоматизации, правый нижний угол квадранта. Это наименее очевидный и реже всего разбираемый на конкретных примерах угол — часть аудитории могла проголосовать «агент», потому что видит многошаговую автономную работу с инструментами.</a:t>
            </a:r>
          </a:p>
          <a:p/>
          <a:p>
            <a:r>
              <a:t>Ключевое различие для разбора вслух: у агента есть диалог с пользователем на уровне постановки цели и корректировки (Q1 да); здесь пользователь никак не взаимодействует с системой в моменте исполнения — только настраивает её один раз заранее. Даём этому сценарию не меньше времени на обсуждение, чем следующим двум — это не менее важная, а просто менее интуитивная точка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пишете код в IDE. AI-ассистент на лету достраивает следующую строку — вы видите подсказку серым текстом и нажимаете Tab, чтобы принять её.</a:t>
            </a:r>
          </a:p>
          <a:p/>
          <a:p>
            <a:r>
              <a:t>30–60 секунд индивидуального размышления, затем четыре раунда голосования по квадранту. Этот паттерн уже встречался в разделе 2 (Copilot inline) — посмотрим, применят ли студенты ту же логику.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Прогоняем через чек-лист. Q1 — нет: нет диалога, нет уточнений — принял или отклонил подсказку. Q2 — нет: один проход «текущий контекст кода → предложение строки», без самостоятельного вызова внешних инструментов. Правильный ответ — приложение, тот же паттерн, что Copilot inline из раздела 2.</a:t>
            </a:r>
          </a:p>
          <a:p/>
          <a:p>
            <a:r>
              <a:t>Ожидаемая путаница: часть аудитории могла проголосовать «агент», потому что ассистент «понимает код» — это и есть точка обсуждения: понимание контекста, даже сложного, само по себе не означает наличие планирования, памяти за пределами сессии и самостоятельного вызова инструментов. Обязательно вызовите студента, который проголосовал «агент», и попросите аргументировать — затем мягко покажите, чего именно не хватает для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даёте текстовую задачу coding-агенту: «почини баг в обработке заказов». Агент сам открывает несколько файлов проекта, находит проблему, правит код, запускает тесты и, если всё прошло, делает коммит.</a:t>
            </a:r>
          </a:p>
          <a:p/>
          <a:p>
            <a:r>
              <a:t>30–60 секунд индивидуального размышления, затем четыре раунда голосования по квадранту — этот сценарий ставим сразу после сценария 3, посмотрим, увидит ли аудитория параллель с парой Copilot inline / Copilot Workspace из раздела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Прогоняем через чек-лист. Q1 — да: пользователь ставит цель и может вмешаться. Q2 — да: самостоятельно открывает файлы, запускает тесты, планирует шаги. Правильный ответ — агент.</a:t>
            </a:r>
          </a:p>
          <a:p/>
          <a:p>
            <a:r>
              <a:t>Тот же продуктовый паттерн, AI-ассистент в IDE, но другой режим — аудитория должна сама увидеть параллель с парой Copilot inline / Copilot Workspace из раздела 2. Проговариваем явно вслух: мы второй раз за сегодня видим один и тот же урок на двух разных инструментах — режим использования определяет тип, не бренд и не то, что «AI выглядит умным».</a:t>
            </a:r>
          </a:p>
          <a:p/>
          <a:p>
            <a:r>
              <a:t>После разбора этого сценария переходим к обязательному вопросу всем классом — не сокращаем 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разбора сценария 4 задаём вопрос вслух всей аудитории и ждём минимум два разных ответа, не отвечаем сами: для какого из четырёх сценариев обычный не-AI код — детерминированный скрипт, регулярные выражения, готовые правила — справился бы не хуже? И что бы вы сделали, если бы AI здесь дал сбой?</a:t>
            </a:r>
          </a:p>
          <a:p/>
          <a:p>
            <a:r>
              <a:t>Ожидаемое направление ответов: сценарий 1, проверка орфографии, отчасти решается словарными правилами для типовых ошибок, хотя AI-версия обычно точнее на контекстных ошибках. Сценарий 2, классификация багов по критичности, можно частично заменить набором ключевых правил — «если в тексте "critical" или "prod down" → high priority», но такое решение хуже масштабируется на нетиповые формулировки. Если студенты предложат другие направления — это нормально, цель вопроса не «поймать» правильный ответ, а заставить явно сформулировать, когда AI не единственный и не обязательно лучший инструмент.</a:t>
            </a:r>
          </a:p>
          <a:p/>
          <a:p>
            <a:r>
              <a:t>На вопрос «что делать при сбое» — ожидаем ответы про проверку человеком перед автоматическим действием, логирование для отката, пороги уверенности перед автоматическим действием. Если студенты сами предложат один из этих ответов до того, как мы его озвучим — это хорошо, засчитываем как их вывод.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— упражнение, которое сама глава Лекции 1 анонсирует. На семинаре мы повторяем и усиливаем его — индивидуально и всей аудиторией, а не в парах, как было на утренней лекции.</a:t>
            </a:r>
          </a:p>
          <a:p/>
          <a:p>
            <a:r>
              <a:t>Механика: три раунда. Зачитываю вопрос и оба варианта вслух, вы видите их на слайде. Два последовательных раунда поднятия руки — кто считает, что подделка в варианте А, кто считает, что в варианте Б. Называю официальный ответ. Затем обсуждение вслух: что бы вы проверили первым? Ждём минимум один-два ответа от студентов, не отвечаем сами сразу.</a:t>
            </a:r>
          </a:p>
          <a:p/>
          <a:p>
            <a:r>
              <a:t>Важная честная маркировка: оба варианта ответа в каждом раунде написаны автором методического комплекта для этого упражнения — это не настоящий вызов AI-модели и не реальная цитата. Формат и стиль подобраны так, чтобы реалистично имитировать типичный ответ AI-чата, включая характерную уверенную интонацию и один правдоподобный, но придуманный факт.</a:t>
            </a:r>
          </a:p>
          <a:p/>
          <a:p>
            <a:r>
              <a:t>Явная связка с Семинаром 1: на прошлом занятии вы делились историями, где AI подвёл — и там же обсуждали установку «AI знает всё» как анти-паттерн. Сегодня мы тренируем конкретный навык для той же установки: как поймать AI на уверенно поданной неправде.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Вопрос: когда был выпущен первый стабильный релиз языка программирования Python и кто был его автором?</a:t>
            </a:r>
          </a:p>
          <a:p/>
          <a:p>
            <a:r>
              <a:t>Вариант А: первый стабильный релиз Python 1.0 вышел в январе 1994 года, автор — Гвидо ван Россум, на тот момент сотрудник голландского института CWI. Вариант Б: та же дата почти, март 1995 года, тот же автор и институт, но добавлено — релиз был приурочен к внутренней конференции CWI по функциональным языкам.</a:t>
            </a:r>
          </a:p>
          <a:p/>
          <a:p>
            <a:r>
              <a:t>Голосуем: два раунда поднятия руки — кто считает, что подделка в А, кто считает, что в Б. Оба варианта написаны автором методического комплекта — это не реальный вызов модели, но реалистично имитирует типичный уверенный ответ AI-чата.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Подделка — вариант Б. Дата подтверждена: Python 1.0 вышел 26 января 1994 года — дата и принадлежность автора институту CWI в варианте А верны. В варианте Б дата и особенно «приурочен к внутренней конференции CWI по функциональным языкам» — придуманная деталь: она звучит правдоподобно, реальная организация, реалистичный формат события, но это добавленная авторами упражнения выдумка, типичный паттерн галлюцинации — точный факт утоплен в правдоподобном, но несуществующем контексте.</a:t>
            </a:r>
          </a:p>
          <a:p/>
          <a:p>
            <a:r>
              <a:t>Обсуждение: что бы вы проверили первым? Ожидаемые направления — поиск даты релиза на официальном сайте или Wikipedia.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Вопрос: что такое протокол HTTP/2 и чем он принципиально отличается от HTTP/1.1?</a:t>
            </a:r>
          </a:p>
          <a:p/>
          <a:p>
            <a:r>
              <a:t>Вариант А: HTTP/2 стандартизирован в 2015 году, RFC 7540. Ключевое отличие — мультиплексирование: несколько запросов и ответов передаются одновременно по одному TCP-соединению, что устраняет head-of-line-блокировку на уровне HTTP. Вариант Б: та же дата и RFC, но ключевое отличие — переход на протокол UDP вместо TCP, что позволило полностью убрать задержки установления соединения и сделало HTTP/2 совместимым с QUIC «из коробки» ещё на этапе стандартизации 2015 года.</a:t>
            </a:r>
          </a:p>
          <a:p/>
          <a:p>
            <a:r>
              <a:t>Голосуем: два раунда — подделка в А или в 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Подделка — вариант Б. Подтверждено: HTTP/2 работает поверх TCP, не UDP — переход на UDP произошёл позже, в HTTP/3, RFC 9114, 2022 год, поверх протокола QUIC. Мультиплексирование в варианте А — реальная ключевая черта HTTP/2. Вариант Б смешивает реальный факт, RFC 7540 и 2015 год, с придуманным техническим утверждением, которое неспециалисту может показаться правдоподобным — классический паттерн: синтаксически и стилистически безупречная неправда.</a:t>
            </a:r>
          </a:p>
          <a:p/>
          <a:p>
            <a:r>
              <a:t>Что бы вы проверили первым? Ожидаемое направление — проверка номера RFC на ietf.org.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Вопрос: какая структура данных лежит в основе индекса B-дерева в большинстве реляционных СУБД и какова его типичная сложность поиска?</a:t>
            </a:r>
          </a:p>
          <a:p/>
          <a:p>
            <a:r>
              <a:t>Вариант А: B-дерево, или его вариант B+-дерево — сбалансированное дерево поиска, в котором каждый узел может иметь несколько ключей и потомков. Типичная сложность поиска — O(log n), где основание логарифма равно порядку дерева, обычно от нескольких десятков до нескольких сотен. Вариант Б: то же определение, но добавлено — термин «B» в названии официально означает «Boeing», поскольку структура была впервые формализована инженерами Boeing для индексации данных о деталях самолётов в 1970 году.</a:t>
            </a:r>
          </a:p>
          <a:p/>
          <a:p>
            <a:r>
              <a:t>Голосуем: два раунда — подделка в А или в Б. Это последний раунд серии — если группа не успевает, его можно опустить, но раз мы здесь, проходим полностью.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Подделка — вариант Б. Подтверждено: B-дерево описано Bayer и McCreight в 1972 году в Boeing Scientific Research Labs. Происхождение буквы «B» действительно предмет споров среди историков computer science — Bayer, Boeing, balanced — все версии встречаются в источниках, и сам McCreight впоследствии говорил, что авторы так и не решили, какая версия точнее. Формулировка «официально означает Boeing» в варианте Б — придуманная избыточная уверенность там, где сам факт спорен и заведомо не имеет официального статуса. Это хороший пример третьего типа галлюцинации — не искажение факта, а ложная уверенность там, где единственно верного ответа не существует.</a:t>
            </a:r>
          </a:p>
          <a:p/>
          <a:p>
            <a:r>
              <a:t>Общий вопрос в конце раздела: какой признак галлюцинации из сегодняшних примеров вам показался самым незаметным?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Общий вопрос в конце раздела — не риторический. Три раунда показали три разных маски одного явления. В первом раунде точный факт был утоплен в правдоподобном, но выдуманном контексте — конференции, которой не было. Во втором раунде реальный факт, RFC и год, был смешан с придуманным техническим утверждением — переход на UDP. В третьем раунде — не искажение факта вообще, а ложная уверенность там, где единственно верного ответа не существует.</a:t>
            </a:r>
          </a:p>
          <a:p/>
          <a:p>
            <a:r>
              <a:t>Какой из этих трёх признаков вам показался самым незаметным? Ждём один-два ответа вслух.</a:t>
            </a:r>
          </a:p>
          <a:p/>
          <a:p>
            <a:r>
              <a:t>Это подводит к следующему разделу — сегодня мы классифицировали неправду AI, дальше классифицируем более широкий круг типичных провалов: bias, sycophancy, distribution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Вы слышали это утром на лекции вместе с каноническим примером GPT-4o sycophancy rollback — реальным задокументированным инцидентом апреля 2025 года. Сегодня натренируем различение на новых примерах, которые не повторяют канонический пример дословно.</a:t>
            </a:r>
          </a:p>
          <a:p/>
          <a:p>
            <a:r>
              <a:t>Bias — модель воспроизводит исторический перекос данных, не оценку по существу. Sycophancy — модель подстраивается под ожидание пользователя вместо честной оценки. Distribution shift — модель тихо деградирует на данных, непохожих на обучающие.</a:t>
            </a:r>
          </a:p>
          <a:p/>
          <a:p>
            <a:r>
              <a:t>Четыре виньетки ниже написаны автором методического комплекта специально для этого упражнения — это не описание реальных задокументированных инцидентов, в отличие от канонического примера GPT-4o, разобранного на лекции. Виньетки того же типа, что канонические примеры главы, но не копируют их дословно.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обучила модель ранжирования резюме для отбора кандидатов на позиции DevOps-инженера, используя пять лет исторических данных о найме в компании. Модель систематически занижает оценку резюме кандидатов без профильного диплома, даже если у кандидата есть релевантные сертификаты и опыт — потому что в обучающих данных почти все нанятые в прошлом DevOps-инженеры имели профильное высшее образование, а кандидаты без диплома реже проходили дальше резюме-скрининга на предыдущих, человеческих, этапах отбора.</a:t>
            </a:r>
          </a:p>
          <a:p/>
          <a:p>
            <a:r>
              <a:t>Голосуем: bias (смещение), sycophancy (подстройка), distribution shift (сдвиг распределения) или «не уверен» — четыре раунда поднятия руки.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 — bias. Модель воспроизводит исторический перекос обучающих данных, структурное предпочтение дипломированных кандидатов на прошлых этапах отбора, статистически предсказывая «такие профили обычно отказывали» — не оценивая кандидата по существу.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Разработчик просит AI-ассистента в IDE проверить корректность его реализации алгоритма сортировки. В реализации есть ошибка — метод не обрабатывает случай пустого массива и упадёт с исключением. Разработчик в запросе пишет: «Я уверен, что тут всё верно, просто хочу второе мнение для отчёта». AI отвечает: «Да, реализация выглядит корректной и эффективной, хорошая работа!» — не упоминая проблему с пустым массивом.</a:t>
            </a:r>
          </a:p>
          <a:p/>
          <a:p>
            <a:r>
              <a:t>Голосуем: bias (смещение), sycophancy (подстройка), distribution shift (сдвиг распределения) или «не уверен» — четыре раунда.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 — sycophancy. Формулировка запроса пользователя, «я уверен, что тут всё верно», задаёт ожидание согласия, и модель, обученная через RLHF на предпочтении приятных ответов, поддерживает уверенность пользователя вместо того, чтобы указать на реальную ошибку.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Компания использует AI-модель для автоматической маршрутизации входящих обращений в техподдержку по категориям — биллинг, баг, фича-реквест и так далее — обученную на данных 2023 года. В 2026 году компания выпустила совершенно новую линейку продуктов с новой терминологией. Модель продолжает уверенно классифицировать обращения про новые продукты, но делает это существенно менее точно — путает категории, потому что новая терминология и новые сценарии использования не встречались в обучающих данных. Никто не заметил деградацию сразу, потому что модель не выдаёт явных ошибок — просто тихо чаще ошибается.</a:t>
            </a:r>
          </a:p>
          <a:p/>
          <a:p>
            <a:r>
              <a:t>Голосуем: bias (смещение), sycophancy (подстройка), distribution shift (сдвиг распределения) или «не уверен» — четыре раунда.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 — distribution shift, сдвиг распределения. Модель, обученная на данных одного периода, столкнулась с новым распределением входных данных — новая терминология, новые категории обращений — и тихо деградирует без явного сбоя. Классический признак сдвига распределения, а не смещения (bias) или подстройки (sycophancy).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Инженер-стажёр спрашивает AI-ассистента, актуальна ли для нового проекта конкретная библиотека логирования, которую он использовал на прошлой работе в 2023 году. Стажёр в вопросе добавляет: «мне она всегда нравилась, надеюсь, она всё ещё топовая». AI отвечает: «Да, это отличный и современный выбор для логирования, смело используйте её» — хотя на самом деле к 2026 году сообщество в основном перешло на более новую библиотеку с лучшей поддержкой структурированных логов, а рекомендованная моделью библиотека почти не получает обновлений последние два года.</a:t>
            </a:r>
          </a:p>
          <a:p/>
          <a:p>
            <a:r>
              <a:t>Голосование по четырём взаимоисключающим вариантам плюс «не уверен». Обратите внимание на пунктирную рамку — она уже намекает, что этот случай отличается от предыдущих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виньетка специально написана так, чтобы два объяснения — sycophancy и distribution shift — одинаково хорошо объясняли наблюдаемое поведение; в реальных провалах AI-систем причины часто действуют одновременно, и это нормально, а не недоработка модели. Можно аргументировать и sycophancy — модель уловила эмоциональную привязанность стажёра к библиотеке и подстроила тон ответа под ожидание, и distribution shift — модель обучена на данных, где библиотека действительно была современным выбором, и не «знает» о сдвиге экосистемы после даты среза обучения.</a:t>
            </a:r>
          </a:p>
          <a:p/>
          <a:p>
            <a:r>
              <a:t>На этой виньетке обязательно дождитесь минимум двух разных мнений вслух до какого-либо заключения, и явно скажите, что оба ответа принимаются как верные при наличии обоснования. Не форсируйте единственный «правильный» вариант в разборе — цель виньетки именно показать, что реальные провалы AI не всегда аккуратно раскладываются по одной категории.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Закрывающая рефлексия раздела. Явный вопрос всем классом, не риторический: что опаснее в вашей будущей профессиональной области — bias, sycophancy или distribution shift? Ждём минимум двух студентов, которые объяснят свой выбор вслух, с указанием конкретной области, не только общий ответ.</a:t>
            </a:r>
          </a:p>
          <a:p/>
          <a:p>
            <a:r>
              <a:t>Если аудитория молчит дольше пяти-семи секунд — обращаемся к конкретному студенту по имени.</a:t>
            </a:r>
          </a:p>
          <a:p/>
          <a:p>
            <a:r>
              <a:t>Это последний открытый вопрос перед лёгким переходом к следующему разделу — держим темп, но не торопим содержательный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тренировались классифицировать AI-системы снаружи — по типу задачи, по способу реализации, по типу ошибки. На следующей лекции мы заглянем внутрь: как модель «читает» текст, как представляет смысл числами, что заставляет её обращать внимание на одни части входа больше, чем на другие, и почему один и тот же запрос иногда даёт разные ответы — токены, эмбеддинги, механизм внимания, температура. Подробности — на Лекции 2.</a:t>
            </a:r>
          </a:p>
          <a:p/>
          <a:p>
            <a:r>
              <a:t>Не объясняем механику — это намеренно короткий крючок, не мини-лекция. Если студенты начнут задавать уточняющие вопросы про токенизацию — хвалим интерес и явно говорим, что разберём подробно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Заранее подготовленный печатный раздаточный лист — компиляция того, что уже прозвучало на занятии, без нового материала.</a:t>
            </a:r>
          </a:p>
          <a:p/>
          <a:p>
            <a:r>
              <a:t>Два вопроса чек-листа: нужно ли взаимодействие с пользователем, нужна ли самостоятельная работа решения с инструментами. Мини-квадрант: без инструментов и без взаимодействия — модель, без взаимодействия но с инструментами — приложение в режиме автоматизации, с взаимодействием без инструментов — чат, с взаимодействием и инструментами — агент.</a:t>
            </a:r>
          </a:p>
          <a:p/>
          <a:p>
            <a:r>
              <a:t>Три признака «AI здесь, возможно, не нужен»: задачу решает простое детерминированное правило не хуже, а результат при этом предсказуем и объясним; цена ошибки высока, а проверить результат человеку так же долго или дольше, чем сделать задачу самому; задача разовая и небольшая — сложность агента или приложения не окупается объёмом.</a:t>
            </a:r>
          </a:p>
          <a:p/>
          <a:p>
            <a:r>
              <a:t>Три типа провала для проверки: bias — модель воспроизводит исторический перекос данных, не оценку по существу; sycophancy — модель подстраивается под ожидание пользователя вместо честной оценки; distribution shift — модель тихо деградирует на данных, непохожих на обучающие.</a:t>
            </a:r>
          </a:p>
          <a:p/>
          <a:p>
            <a:r>
              <a:t>Раздаём лист в конце раздела, коротко проговорив: всё, что здесь написано, вы уже видели сегодня — это не новый материал, а компиляция того, что прозвучало на занятии, чтобы унести с собой рабочую версию.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сегодняшнюю работу. Вы проголосовали по шести знакомым инструментам, прогнали чек-лист на четырёх инженерных сценариях под давлением времени, поймали три подделанных факта и различили три типа провала AI-систем, включая один намеренно пограничный случай без единственного ответа.</a:t>
            </a:r>
          </a:p>
          <a:p/>
          <a:p>
            <a:r>
              <a:t>Фотография слева — реальный кристалл графического процессора, того самого железа, на котором считаются токены, эмбеддинги, механизм внимания. Сегодня мы классифицировали AI-системы снаружи. На Лекции 2 заглянем внутрь — как модель устроена на уровне вычислений, которые происходят на таком чипе миллионы раз за секунду.</a:t>
            </a:r>
          </a:p>
          <a:p/>
          <a:p>
            <a:r>
              <a:t>Унесите с собой памятку — она пригодится уже на следующем практическом задании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44.png"/><Relationship Id="rId4" Type="http://schemas.openxmlformats.org/officeDocument/2006/relationships/image" Target="../media/image51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3.png"/><Relationship Id="rId5" Type="http://schemas.openxmlformats.org/officeDocument/2006/relationships/image" Target="../media/image54.png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66928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ПОСЛЕ ЛЕКЦИИ 1 · СЕМИНАР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5806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Классифицируй и не ошибись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Тип AI, чек-лист и провалы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5532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6B7685"/>
                </a:solidFill>
                <a:latin typeface="Arial"/>
              </a:rPr>
              <a:t>Модель отличает верную рамку от ошибочной по чёткому критерию — сегодня вы тренируетесь так же чётко отличать модель от чата, чата от агента, а правду AI от уверенно поданной неправды.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МГТУ им. Н.Э. Баумана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0"/>
            <a:ext cx="592805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1-iou-bbox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85800"/>
            <a:ext cx="5013655" cy="5440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20840" y="685800"/>
            <a:ext cx="5013655" cy="5440680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11480"/>
            <a:ext cx="5013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GROUND TRUTH ПРОТИВ ПРЕДСКАЗАНИЯ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6309360"/>
            <a:ext cx="5013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8D2DF"/>
                </a:solidFill>
                <a:latin typeface="Arial"/>
              </a:rPr>
              <a:t>Adrian Rosebrock · Wikimedia Commons ·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ОБЩИЙ ЯЗЫК С СЕГОДНЯШНЕЙ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Две оси и один чек-лист — язык, который вы уже знаете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6354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-grid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911095"/>
            <a:ext cx="329184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61288" y="1901952"/>
            <a:ext cx="45857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Тип задачи × модальность</a:t>
            </a:r>
          </a:p>
        </p:txBody>
      </p:sp>
      <p:pic>
        <p:nvPicPr>
          <p:cNvPr id="7" name="Picture 6" descr="scan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712338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2414015"/>
            <a:ext cx="1874519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Распознавание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2414015"/>
            <a:ext cx="2692908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изображение · YOLO-детектор (демо сегодня утром)</a:t>
            </a:r>
          </a:p>
        </p:txBody>
      </p:sp>
      <p:pic>
        <p:nvPicPr>
          <p:cNvPr id="10" name="Picture 9" descr="tag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619880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3321557"/>
            <a:ext cx="1874519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Классификация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3321557"/>
            <a:ext cx="2692908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текст / данные · спам-фильтр, скоринг</a:t>
            </a:r>
          </a:p>
        </p:txBody>
      </p:sp>
      <p:pic>
        <p:nvPicPr>
          <p:cNvPr id="13" name="Picture 12" descr="search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52742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4229099"/>
            <a:ext cx="1874519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4229099"/>
            <a:ext cx="2692908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текст · корпоративная база знаний</a:t>
            </a:r>
          </a:p>
        </p:txBody>
      </p:sp>
      <p:pic>
        <p:nvPicPr>
          <p:cNvPr id="16" name="Picture 15" descr="sparkles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5434964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43000" y="5136641"/>
            <a:ext cx="1874519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Генерация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4096" y="5136641"/>
            <a:ext cx="2692908" cy="907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текст / код · черновик письма, автодополнение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691640"/>
            <a:ext cx="546354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pass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1911095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80860" y="1901952"/>
            <a:ext cx="45857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Чек-лист «2 вопроса + квадрант»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1948" y="2414015"/>
            <a:ext cx="50246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Q1: нужно ли взаимодействие с пользователем?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2798063"/>
            <a:ext cx="50246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Q2: нужна ли самостоятельная работа с инструментами?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1948" y="3310127"/>
            <a:ext cx="2466594" cy="1321307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1676" y="3401568"/>
            <a:ext cx="2247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1676" y="4302251"/>
            <a:ext cx="2247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DDE6EE"/>
                </a:solidFill>
                <a:latin typeface="Arial"/>
              </a:rPr>
              <a:t>Нет / Нет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982" y="3310127"/>
            <a:ext cx="2466594" cy="1321307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9710" y="3401568"/>
            <a:ext cx="2247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9710" y="4302251"/>
            <a:ext cx="2247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DDE6EE"/>
                </a:solidFill>
                <a:latin typeface="Arial"/>
              </a:rPr>
              <a:t>Да / Нет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1948" y="4722875"/>
            <a:ext cx="2466594" cy="1321307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1676" y="4814315"/>
            <a:ext cx="2247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1676" y="5714999"/>
            <a:ext cx="2247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DDE6EE"/>
                </a:solidFill>
                <a:latin typeface="Arial"/>
              </a:rPr>
              <a:t>Нет / Да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9982" y="4722875"/>
            <a:ext cx="2466594" cy="1321307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710" y="4814315"/>
            <a:ext cx="22471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710" y="5714999"/>
            <a:ext cx="2247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DDE6EE"/>
                </a:solidFill>
                <a:latin typeface="Arial"/>
              </a:rPr>
              <a:t>Да / Да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КАЛИБРОВКА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Шесть инструментов — один и тот же вопрос: модель, чат, агент или приложение?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and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20"/>
            <a:ext cx="402336" cy="402336"/>
          </a:xfrm>
          <a:prstGeom prst="rect">
            <a:avLst/>
          </a:prstGeom>
        </p:spPr>
      </p:pic>
      <p:pic>
        <p:nvPicPr>
          <p:cNvPr id="6" name="Picture 5" descr="camera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93852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83080" y="1783080"/>
            <a:ext cx="8961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 раунда поднятия руки на инструмент — один вариант за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167128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где голоса разойдутся — объясняем выбор вслух до официального ответа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pic>
        <p:nvPicPr>
          <p:cNvPr id="11" name="Picture 10" descr="scan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82549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2752344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YOLO-детектор — демо Лекции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752344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детекция людей в кадре в реальном времени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37560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pic>
        <p:nvPicPr>
          <p:cNvPr id="16" name="Picture 15" descr="message-square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4655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2768" y="3392424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AI-чат для разовой консультации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92424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например, ChatGPT — уточняющий диалог по тексту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39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pic>
        <p:nvPicPr>
          <p:cNvPr id="21" name="Picture 20" descr="mouse-pointer-click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105655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2768" y="4032503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GitHub Copilot — inline Tab-completion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032503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подсказка следующей строки кода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617720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pic>
        <p:nvPicPr>
          <p:cNvPr id="26" name="Picture 25" descr="bot-028090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745736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72768" y="4672583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GitHub Copilot — Agent-режим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672583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самостоятельно открывает файлы, правит код, коммитит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578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257800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pic>
        <p:nvPicPr>
          <p:cNvPr id="31" name="Picture 30" descr="search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385816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72768" y="5312664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YandexGPT во врезке поиска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312664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краткий ответ над обычными результатами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89788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897880"/>
            <a:ext cx="38404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pic>
        <p:nvPicPr>
          <p:cNvPr id="36" name="Picture 35" descr="inbox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6025896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572768" y="5952744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для 200 PDF-отчётов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5952744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читает файлы, собирает сводную таблицу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чат, агент или приложение?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66543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YOLO-детектор людей в кадре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779776"/>
            <a:ext cx="4978908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Детекция людей в кадре в реальном времени — прямая перекличка с демо Лекции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8288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ssage-squa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79" y="2066543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09459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AI-чат для разовой консультации по тексту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79" y="2779776"/>
            <a:ext cx="4978908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Например, ChatGPT — уточняющий диалог по тексту.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3776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29200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493776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 раунда поднятия руки на инструмент — модель? чат? агент? приложение?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1–2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Один проход без диалога — модель. Диалог без инструментов — чат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54396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66543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YOLO-детектор людей в кадре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752344"/>
            <a:ext cx="4978908" cy="502920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752344"/>
            <a:ext cx="49789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438144"/>
            <a:ext cx="49789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Q1 нет — нет диалога на каждый кадр. Q2 нет — один проход «изображение → детекция» без вызова инструментов.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543153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Прямая перекличка с сегодняшним утренним демо.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828800"/>
            <a:ext cx="5454396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ssage-squa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79" y="2066543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09459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AI-чат для разовой консультации по тексту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9379" y="2752344"/>
            <a:ext cx="4978908" cy="502920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2752344"/>
            <a:ext cx="49789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3438144"/>
            <a:ext cx="49789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Q1 да — диалог, уточнения. Q2 нет — модель работает с тем, что дал пользователь, не ходит сама в базы данных.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543153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Разминочный пункт — ожидаемо низкая дискуссия.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3–4 · КЛЮЧЕВОЙ МОМЕНТ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Один и тот же продукт, два режима использования — что это?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92224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691640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GitHub Copilot — один и тот же продукт, два режима использования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311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ouse-pointer-click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615184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569464"/>
            <a:ext cx="9976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Inline-автодополнение (Tab-completion)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3182112"/>
            <a:ext cx="9976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Нажал Tab — получил предложение по текущей строке. Нет диалога, нет многошагового планирования.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72000"/>
            <a:ext cx="1118311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809744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4764024"/>
            <a:ext cx="9976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Agent-режим (Workspace)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5376672"/>
            <a:ext cx="9976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Получает текстовую задачу, сам открывает несколько файлов проекта, правит код, коммитит.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9671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4 раунда голосования на каждый режим — модель? чат? агент? приложение?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3–4 · КЛЮЧЕВОЙ МОМЕНТ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Один инструмент — два режима — два разных типа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92224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691640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GitHub Copilot — один и тот же продукт, два режима использования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311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ouse-pointer-click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615184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56946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Inline-автодополнение (Tab-completion)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318211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Нажал Tab — получил предложение по текущей строке. Нет диалога, нет многошагового планирования.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2615184"/>
            <a:ext cx="2834640" cy="54864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615184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327355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Q1 нет · Q2 нет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93308" y="4270248"/>
            <a:ext cx="402336" cy="283464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18311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t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809744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72184" y="476402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Agent-режим (Workspace)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537667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Получает текстовую задачу, сам открывает несколько файлов проекта, правит код, коммитит.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13648" y="4809744"/>
            <a:ext cx="2834640" cy="54864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4809744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546811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Q1 да · Q2 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9671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8A6200"/>
                </a:solidFill>
                <a:latin typeface="Arial"/>
              </a:rPr>
              <a:t>Тип определяется режимом использования, а не брендом продукта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5–6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чат, агент или приложение?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66543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во врезке Яндекс.Поиска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779776"/>
            <a:ext cx="4978908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Сгенерированный краткий ответ над списком обычных результатов поиска.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8288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box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79" y="2066543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09459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 читает 200 PDF-отчётов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79" y="2779776"/>
            <a:ext cx="4978908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Собирает сводную таблицу — тот же разобранный пример, что на лекции.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3776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29200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0160" y="493776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 раунда поднятия руки на инструмент — модель? чат? агент? приложение?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ИНСТРУМЕНТЫ 5–6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«под капотом» — приложение. Самостоятельная работа с файлами — агент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454396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66543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во врезке Яндекс.Поиска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752344"/>
            <a:ext cx="4978908" cy="50292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752344"/>
            <a:ext cx="49789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392424"/>
            <a:ext cx="49789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Q1 нет · Q2 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758183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Пользователь не пишет промпт и не ведёт диалог — это функция поиска, AI работает «под капотом».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828800"/>
            <a:ext cx="5454396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nbox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79" y="2066543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09459" y="2039112"/>
            <a:ext cx="433882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 читает 200 PDF-отчётов → сводная таблица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9379" y="2752344"/>
            <a:ext cx="4978908" cy="502920"/>
          </a:xfrm>
          <a:prstGeom prst="roundRect">
            <a:avLst>
              <a:gd name="adj" fmla="val 2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2752344"/>
            <a:ext cx="49789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3392424"/>
            <a:ext cx="49789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Q1 да · Q2 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3758183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Пользователь ставит задачу и утверждает результат; агент открывает файлы, парсит, дописывает в таблицу.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ЯДРО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инженерных сценария — чек-лист под давлением времени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6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Интуитивный первый ответ здесь иногда неверен — это и есть смысл упражнения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2144268" cy="2286000"/>
          </a:xfrm>
          <a:prstGeom prst="roundRect">
            <a:avLst>
              <a:gd name="adj" fmla="val 14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593" y="324612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77639"/>
            <a:ext cx="19613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30–60 сек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434840"/>
            <a:ext cx="19613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думаем про себя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02051" y="3922776"/>
            <a:ext cx="43891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95827" y="2926080"/>
            <a:ext cx="2144268" cy="2286000"/>
          </a:xfrm>
          <a:prstGeom prst="roundRect">
            <a:avLst>
              <a:gd name="adj" fmla="val 14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nd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501" y="324612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87268" y="3977639"/>
            <a:ext cx="19613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4 раунда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7268" y="4434840"/>
            <a:ext cx="19613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голосуем по квадранту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394959" y="3922776"/>
            <a:ext cx="43891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88736" y="2926080"/>
            <a:ext cx="2144268" cy="2286000"/>
          </a:xfrm>
          <a:prstGeom prst="roundRect">
            <a:avLst>
              <a:gd name="adj" fmla="val 14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409" y="324612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0175" y="3977639"/>
            <a:ext cx="19613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вызов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4434840"/>
            <a:ext cx="19613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2–3 объясняют вслух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87868" y="3922776"/>
            <a:ext cx="43891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1644" y="2926080"/>
            <a:ext cx="2144268" cy="2286000"/>
          </a:xfrm>
          <a:prstGeom prst="roundRect">
            <a:avLst>
              <a:gd name="adj" fmla="val 14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eck-circle-2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2317" y="324612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73084" y="3977639"/>
            <a:ext cx="19613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разбор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3084" y="4434840"/>
            <a:ext cx="19613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официальный ответ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После всех четырёх — общий вопрос: где обычный код справился бы не хуже AI?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Фоновый скрипт проверки орфографии — куда его отнести?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94360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cod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3911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633472"/>
            <a:ext cx="54315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Раз в час фоновый скрипт автоматически проверяет орфографию во всех открытых файлах проекта и дописывает список ошибок в текстовый лог — без интерфейса, без диалога, без вашего участия в моменте проверки.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4498848"/>
            <a:ext cx="54315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001768"/>
            <a:ext cx="54315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Q2: нужна ли самостоятельная работа с инструментами?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783080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83080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40012" y="1783080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40012" y="1783080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488435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488435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40012" y="3488435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3488435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5257800"/>
            <a:ext cx="496519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5257800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65A82"/>
                </a:solidFill>
                <a:latin typeface="Arial"/>
              </a:rPr>
              <a:t>30–60 сек размышления → голосуем по всем 4 углам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1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Фоновый скрипт проверки орфографии — разминка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94360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cod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3911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633472"/>
            <a:ext cx="54315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Раз в час фоновый скрипт автоматически проверяет орфографию во всех открытых файлах проекта и дописывает список ошибок в текстовый лог — без интерфейса, без диалога, без вашего участия в моменте проверки.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4498848"/>
            <a:ext cx="54315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001768"/>
            <a:ext cx="54315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Q2: нужна ли самостоятельная работа с инструментами?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783080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83080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40012" y="1783080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40012" y="1783080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488435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488435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40012" y="3488435"/>
            <a:ext cx="244602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3488435"/>
            <a:ext cx="244602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5257800"/>
            <a:ext cx="496519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312664"/>
            <a:ext cx="459943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Q1 нет · Q2 нет — самый чистый случай раздела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2 · НАИМЕНЕЕ ОЧЕВИДНЫЙ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Ночной скрипт: баг-репорты → критичность → очереди Jira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39112"/>
            <a:ext cx="438912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53312" y="2020824"/>
            <a:ext cx="1007668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Скрипт запускается каждую ночь по расписанию. Сам скачивает новые баг-репорты, классифицирует каждый по критичности через AI и автоматически раскладывает по очередям в Jira. Никто не наблюдает за процессом.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5454396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50886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3566160"/>
            <a:ext cx="5454396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566160"/>
            <a:ext cx="50886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Q2: нужна ли самостоятельная работа с инструментами?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14215" y="4526280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14215" y="4526280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68696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568696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14215" y="5568696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4215" y="5568696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4526280"/>
            <a:ext cx="3959352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480060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5280" y="5303520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30–60 сек размышления → голосуем по всем 4 углам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2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Ночной скрипт: баг-репорты → критичность → очереди Jira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39112"/>
            <a:ext cx="438912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53312" y="2020824"/>
            <a:ext cx="1007668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Скрипт запускается каждую ночь по расписанию. Сам скачивает новые баг-репорты, классифицирует каждый по критичности через AI и автоматически раскладывает по очередям в Jira. Никто не наблюдает за процессом.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5454396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50886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3566160"/>
            <a:ext cx="5454396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566160"/>
            <a:ext cx="50886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Q2: нужна ли самостоятельная работа с инструментами?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14215" y="4526280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14215" y="4526280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68696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568696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14215" y="5568696"/>
            <a:ext cx="3438144" cy="9692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4215" y="5568696"/>
            <a:ext cx="3438144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4526280"/>
            <a:ext cx="3959352" cy="2011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581144"/>
            <a:ext cx="3593592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Q1 нет (работает автономно) · Q2 да (сама вызывает API Jira) — реже всего разбираемый угол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AI-ассистент в IDE: inline-подсказка следующей строки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use-pointer-click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20824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" y="2615184"/>
            <a:ext cx="464515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Вы пишете код в IDE. AI-ассистент на лету достраивает следующую строку — вы видите подсказку серым текстом и нажимаете Tab, чтобы принять её.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5202936"/>
            <a:ext cx="46451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  ·  Q2: нужна ли самостоятельная работа с инструментами?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79" y="1783080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79" y="1783080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8532" y="1783080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8532" y="1783080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739896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79" y="3739896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8532" y="3739896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8532" y="3739896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79" y="5760720"/>
            <a:ext cx="578815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5760720"/>
            <a:ext cx="55138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65A82"/>
                </a:solidFill>
                <a:latin typeface="Arial"/>
              </a:rPr>
              <a:t>30–60 сек размышления → голосуем по всем 4 углам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AI-ассистент в IDE: inline-подсказка следующей строки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use-pointer-click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020824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" y="2615184"/>
            <a:ext cx="464515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Вы пишете код в IDE. AI-ассистент на лету достраивает следующую строку — вы видите подсказку серым текстом и нажимаете Tab, чтобы принять её.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5202936"/>
            <a:ext cx="46451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  ·  Q2: нужна ли самостоятельная работа с инструментами?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79" y="1783080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79" y="1783080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8532" y="1783080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8532" y="1783080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739896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79" y="3739896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8532" y="3739896"/>
            <a:ext cx="2857500" cy="1883664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8532" y="3739896"/>
            <a:ext cx="2857500" cy="1883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79" y="5760720"/>
            <a:ext cx="578815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59" y="5815584"/>
            <a:ext cx="54223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Понимание контекста кода само по себе не означает планирование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Coding-агент: находит баг, правит код, коммитит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3572" y="1783080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33572" y="1783080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88435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488435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3572" y="3488435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3572" y="3488435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578815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55138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65A82"/>
                </a:solidFill>
                <a:latin typeface="Arial"/>
              </a:rPr>
              <a:t>30–60 сек размышления → голосуем по всем 4 углам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783080"/>
            <a:ext cx="51206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020824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03136" y="2615184"/>
            <a:ext cx="464515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Вы даёте текстовую задачу coding-агенту: «почини баг в обработке заказов». Агент сам открывает несколько файлов проекта, находит проблему, правит код, запускает тесты и, если всё прошло, делает коммит.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020056"/>
            <a:ext cx="46451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  ·  Q2: 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43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4 раунда поднятия руки — модель? чат? агент? приложение?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СЦЕНАРИЙ 4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Coding-агент: находит баг, правит код, коммитит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Модель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3572" y="1783080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33572" y="1783080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Чат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88435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488435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85"/>
                </a:solidFill>
                <a:latin typeface="Arial"/>
              </a:rPr>
              <a:t>Приложение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3572" y="3488435"/>
            <a:ext cx="2857500" cy="1632203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3572" y="3488435"/>
            <a:ext cx="2857500" cy="16322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578815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12664"/>
            <a:ext cx="54223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Q1 да (цель + вмешательство) · Q2 да (файлы, тесты, план)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783080"/>
            <a:ext cx="5120640" cy="3977639"/>
          </a:xfrm>
          <a:prstGeom prst="roundRect">
            <a:avLst>
              <a:gd name="adj" fmla="val 7662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020824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03136" y="2615184"/>
            <a:ext cx="464515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Вы даёте текстовую задачу coding-агенту: «почини баг в обработке заказов». Агент сам открывает несколько файлов проекта, находит проблему, правит код, запускает тесты и, если всё прошло, делает коммит.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020056"/>
            <a:ext cx="46451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Q1: нужно ли взаимодействие с пользователем?  ·  Q2: 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43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8A6200"/>
                </a:solidFill>
                <a:latin typeface="Arial"/>
              </a:rPr>
              <a:t>Второй раз за сегодня: режим использования определяет тип, не бренд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ВОПРОС ВСЕМ КЛАССОМ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Где обычный код справился бы не хуже — и что делать при сбое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9384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Для какого из четырёх сценариев детерминированный скрипт, регулярные выражения или готовые правила справились бы не хуже? И что бы вы сделали, если бы AI здесь дал сбой?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46354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ss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483863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3465575"/>
            <a:ext cx="44851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Признаки «AI здесь не нужен»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4078224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4078224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Простое детерминированное правило (regex, справочник, порог) справляется не хуже, а результат предсказуем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788408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788408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Цена ошибки высока, а проверка человеком не быстрее, чем сделать задачу самому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5498591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5498591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Задача разовая и небольшая — сложность агента не окупается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492" y="3246120"/>
            <a:ext cx="546354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3483863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63156" y="3465575"/>
            <a:ext cx="44851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 при сбое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0236" y="4078224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6268" y="4078224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Проверка человеком перед автоматическим действием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4788408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6268" y="4788408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Логирование для отката к предыдущему состоянию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0236" y="5498591"/>
            <a:ext cx="219456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6268" y="5498591"/>
            <a:ext cx="4732020" cy="710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Пороги уверенности — ниже порога решение уходит человеку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НАЙДИ ПОДДЕЛКУ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Один точный факт, одна убедительная выдумка — какая деталь подложена?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02536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947672"/>
            <a:ext cx="9966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3 раунда: короткий фактический вопрос, два варианта AI-ответа. 2 раунда поднятия руки — «подделка в А?», «подделка в Б?» — затем разбор и обсуждение «что бы вы проверили первым».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ag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8444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4930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Честная маркировка: оба варианта в каждом раунде написаны автором методического комплекта — это не реальный вызов модели. Формат и стиль имитируют типичный уверенный ответ AI-чата.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72000"/>
            <a:ext cx="1118311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tate-ccw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2638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4572000"/>
            <a:ext cx="9966960" cy="1874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 Семинаре 1 вы делились историями, где AI подвёл — установка «AI знает всё» как анти-паттерн. Сегодня тренируем конкретный навык для той же установки: как поймать AI на уверенно поданной неправде.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1 ИЗ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Когда вышел первый стабильный релиз Python и кто его автор?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стабильный релиз Python 1.0 вышел в январе 1994 года. Автор языка — Гвидо ван Россум, на тот момент сотрудник голландского института CWI (Centrum Wiskunde &amp; Informatica).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3660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3660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стабильный релиз Python 1.0 вышел в марте 1995 года. Автор языка — Гвидо ван Россум, на тот момент сотрудник голландского института CWI; релиз был приурочен к внутренней конференции CWI по функциональным языкам.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87368"/>
            <a:ext cx="1118311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11149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4440" y="4087368"/>
            <a:ext cx="9875520" cy="2359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 раунда поднятия руки — подделка в А или в Б?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1 ИЗ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Когда вышел первый стабильный релиз Python и кто его автор?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стабильный релиз Python 1.0 вышел в январе 1994 года. Автор языка — Гвидо ван Россум, на тот момент сотрудник голландского института CWI (Centrum Wiskunde &amp; Informatica).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3660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3660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стабильный релиз Python 1.0 вышел в марте 1995 года. Автор языка — Гвидо ван Россум, на тот момент сотрудник голландского института CWI; релиз был приурочен к внутренней конференции CWI по функциональным языкам.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87368"/>
            <a:ext cx="11183112" cy="2359152"/>
          </a:xfrm>
          <a:prstGeom prst="roundRect">
            <a:avLst>
              <a:gd name="adj" fmla="val 12919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ag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15383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5568" y="4178807"/>
            <a:ext cx="9966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Подделка: вариант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07992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Дата и институт CWI в варианте А верны (26 января 1994). В варианте Б дата и особенно «приурочен к внутренней конференции CWI по функциональным языкам» — придуманная деталь: звучит правдоподобно (реальная организация, реалистичный формат), но это выдумка — точный факт «утоплен» в несуществующем контексте.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172200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Что проверить первым: дата релиза на python.org / Wikipedia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2 ИЗ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Что такое HTTP/2 и чем он принципиально отличается от HTTP/1.1?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HTTP/2 стандартизирован в 2015 году (RFC 7540). Ключевое отличие — мультиплексирование: несколько запросов и ответов передаются одновременно по одному TCP-соединению, что устраняет head-of-line-блокировку на уровне HTTP.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3660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3660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HTTP/2 стандартизирован в 2015 году (RFC 7540). Ключевое отличие — переход на протокол UDP вместо TCP, что позволило полностью убрать задержки установления соединения и сделало HTTP/2 совместимым с QUIC «из коробки» ещё на этапе стандартизации 2015 года.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87368"/>
            <a:ext cx="1118311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11149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4440" y="4087368"/>
            <a:ext cx="9875520" cy="2359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 раунда поднятия руки — подделка в А или в Б?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2 ИЗ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Что такое HTTP/2 и чем он принципиально отличается от HTTP/1.1?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HTTP/2 стандартизирован в 2015 году (RFC 7540). Ключевое отличие — мультиплексирование: несколько запросов и ответов передаются одновременно по одному TCP-соединению, что устраняет head-of-line-блокировку на уровне HTTP.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554480"/>
            <a:ext cx="546354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3660" y="1737360"/>
            <a:ext cx="50612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3660" y="2103120"/>
            <a:ext cx="5061204" cy="1783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HTTP/2 стандартизирован в 2015 году (RFC 7540). Ключевое отличие — переход на протокол UDP вместо TCP, что позволило полностью убрать задержки установления соединения и сделало HTTP/2 совместимым с QUIC «из коробки» ещё на этапе стандартизации 2015 года.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87368"/>
            <a:ext cx="11183112" cy="2359152"/>
          </a:xfrm>
          <a:prstGeom prst="roundRect">
            <a:avLst>
              <a:gd name="adj" fmla="val 12919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ag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15383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5568" y="4178807"/>
            <a:ext cx="9966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Подделка: вариант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07992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HTTP/2 работает поверх TCP, не UDP — переход на UDP произошёл позже, в HTTP/3 (RFC 9114, 2022), поверх QUIC. Мультиплексирование в варианте А — реальная ключевая черта HTTP/2. Вариант Б смешивает реальный факт (RFC 7540, 2015) с придуманным техническим утверждением — синтаксически безупречная неправда.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172200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Что проверить первым: номер RFC на ietf.org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3 ИЗ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структура лежит в основе B-дерева и какова сложность поиска?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19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82495"/>
            <a:ext cx="930859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B-дерево (или B+-дерево) — сбалансированное дерево поиска, где каждый узел может иметь несколько ключей и потомков. Типичная сложность поиска — O(log n), где основание логарифма равно порядку дерева (обычно от десятков до сотен).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99232"/>
            <a:ext cx="11183112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1638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127248"/>
            <a:ext cx="930859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B-дерево (или B+-дерево) — сбалансированное дерево поиска, где каждый узел может иметь несколько ключей и потомков. Сложность поиска — O(log n); термин «B» в названии официально означает «Boeing», поскольку структура была впервые формализована инженерами Boeing для индексации данных о деталях самолётов в 1970 году.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98848"/>
            <a:ext cx="11183112" cy="1947672"/>
          </a:xfrm>
          <a:prstGeom prst="roundRect">
            <a:avLst>
              <a:gd name="adj" fmla="val 15649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31723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4440" y="4498848"/>
            <a:ext cx="9875520" cy="1947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 раунда поднятия руки — подделка в А или в Б?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РАУНД 3 ИЗ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структура лежит в основе B-дерева и какова сложность поиска?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19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Вариант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82495"/>
            <a:ext cx="930859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B-дерево (или B+-дерево) — сбалансированное дерево поиска, где каждый узел может иметь несколько ключей и потомков. Типичная сложность поиска — O(log n), где основание логарифма равно порядку дерева (обычно от десятков до сотен).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99232"/>
            <a:ext cx="11183112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1638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Вариант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127248"/>
            <a:ext cx="930859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B-дерево (или B+-дерево) — сбалансированное дерево поиска, где каждый узел может иметь несколько ключей и потомков. Сложность поиска — O(log n); термин «B» в названии официально означает «Boeing», поскольку структура была впервые формализована инженерами Boeing для индексации данных о деталях самолётов в 1970 году.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98848"/>
            <a:ext cx="11183112" cy="1947672"/>
          </a:xfrm>
          <a:prstGeom prst="roundRect">
            <a:avLst>
              <a:gd name="adj" fmla="val 15649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ag-F0AB0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626864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5568" y="4590288"/>
            <a:ext cx="9966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Подделка: вариант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919472"/>
            <a:ext cx="10332720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B-дерево описано Bayer &amp; McCreight в 1972 в Boeing Scientific Research Labs — происхождение буквы «B» реально предмет споров историков (Bayer, Boeing, balanced — все версии встречаются, и сам McCreight говорил, что авторы так и не решили). «Официально означает Boeing» в варианте Б — придуманная избыточная уверенность там, где единственно верного ответа не существует. Третий тип галлюцинации: ложная уверенность там, где спорный факт не имеет официального статуса.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172200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B7685"/>
                </a:solidFill>
                <a:latin typeface="Arial"/>
              </a:rPr>
              <a:t>Что проверить первым: оригинальная статья Bayer &amp; McCreight, интервью с автором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РЕФЛЕКСИЯ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маски галлюцинации — какая была самой незаметной?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569208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ash-028090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924" y="1984248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2578608"/>
            <a:ext cx="3166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Раунд 1 ·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90088"/>
            <a:ext cx="316687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Точный факт «утоплен» в правдоподобном, но выдуманном контексте (конференция, которой не было)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9872" y="1783080"/>
            <a:ext cx="3569208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twork-028090-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876" y="1984248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1040" y="2578608"/>
            <a:ext cx="3166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Раунд 2 · HTTP/2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1040" y="2990088"/>
            <a:ext cx="316687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Реальный факт (RFC, год) смешан с придуманным техническим утверждением (UDP вместо TCP)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6824" y="1783080"/>
            <a:ext cx="3569208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lp-circle-028090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2828" y="1984248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17992" y="2578608"/>
            <a:ext cx="3166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Раунд 3 · B-дерево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2990088"/>
            <a:ext cx="316687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Ложная уверенность там, где единственно верного ответа не существует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924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Какой признак галлюцинации из сегодняшних примеров показался вам самым незаметным?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ТРИ ТИПА ПРОВАЛА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Три типа провала данных: смещение, подстройка, сдвиг распределения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3557016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4088" y="1938528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FFFFFF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1938528"/>
            <a:ext cx="24414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Bias (смещение)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715768"/>
            <a:ext cx="3154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Модель воспроизводит исторический перекос обучающих данных, не оценивает по существу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57016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17136" y="1938528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mile-FFFFFF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205740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30368" y="1938528"/>
            <a:ext cx="24414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Sycophancy (подстройка)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715768"/>
            <a:ext cx="3154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Модель подстраивается под ожидание пользователя вместо честной оценки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737360"/>
            <a:ext cx="3557016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30184" y="1938528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ending-down-FFFFFF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2057400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1938528"/>
            <a:ext cx="24414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Distribution shift (сдвиг распределения)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2715768"/>
            <a:ext cx="3154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Модель тихо деградирует на данных, непохожих на обучающие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93792"/>
            <a:ext cx="11183112" cy="1252727"/>
          </a:xfrm>
          <a:prstGeom prst="roundRect">
            <a:avLst>
              <a:gd name="adj" fmla="val 2433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ag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5564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25880" y="5193792"/>
            <a:ext cx="10058400" cy="1252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Четыре новые виньетки ниже написаны для этого упражнения — не дословный повтор канонических примеров лекции (включая реальный случай GPT-4o sycophancy rollback апреля 2025 — этот случай отдельный, реальный).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Скрининг резюме DevOps-инженеров занижает кандидатов без диплома — почему?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iefcas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7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79"/>
            <a:ext cx="9948672" cy="2788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Команда обучила модель ранжирования резюме для отбора кандидатов на DevOps-позиции, используя пять лет исторических данных о найме. Модель систематически занижает оценку резюме без профильного диплома, даже при релевантных сертификатах и опыте — потому что в обучающих данных почти все нанятые в прошлом имели профильное образование, а кандидаты без диплома реже проходили дальше человеческого скрининга на предыдущих этапах.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447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4937760"/>
            <a:ext cx="9902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Bias? Sycophancy? Distribution shift? Не уверен? — 4 раунда поднятия руки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1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Скрининг резюме DevOps-инженеров занижает кандидатов без диплома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4752" y="1737360"/>
            <a:ext cx="9985248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Команда обучила модель ранжирования резюме для отбора кандидатов на DevOps-позиции, используя пять лет исторических данных о найме. Модель систематически занижает оценку резюме без профильного диплома, даже при релевантных сертификатах и опыте — потому что в обучающих данных почти все нанятые в прошлом имели профильное образование, а кандидаты без диплома реже проходили дальше человеческого скрининга на предыдущих этапах.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26280"/>
            <a:ext cx="2834640" cy="1920239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26280"/>
            <a:ext cx="2834640" cy="1920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Bias (смещение)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4526280"/>
            <a:ext cx="8165592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7" y="4526280"/>
            <a:ext cx="7763256" cy="1920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воспроизводит исторический перекос — структурное предпочтение дипломированных кандидатов на прошлых этапах отбора — статистически предсказывая «такие профили обычно отказывали», не оценивая кандидата по существу.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хвалит код с необработанным пустым массивом — почему?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7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79"/>
            <a:ext cx="9948672" cy="2788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Разработчик просит AI-ассистента в IDE проверить реализацию сортировки. В реализации ошибка — метод не обрабатывает пустой массив и упадёт с исключением. Разработчик пишет: «Я уверен, что тут всё верно, просто хочу второе мнение для отчёта». AI отвечает: «Да, реализация выглядит корректной и эффективной, хорошая работа!» — не упоминая проблему с пустым массивом.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447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4937760"/>
            <a:ext cx="9902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Bias? Sycophancy? Distribution shift? Не уверен? — 4 раунда поднятия руки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2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хвалит код с необработанным пустым массивом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2651760" cy="3977639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mile-FFFFFF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948939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5890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Sycophancy (подстройка)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8257031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993391"/>
            <a:ext cx="7744967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Разработчик просит AI-ассистента в IDE проверить реализацию сортировки. В реализации ошибка — метод не обрабатывает пустой массив и упадёт с исключением. Разработчик пишет: «Я уверен, что тут всё верно, просто хочу второе мнение для отчёта». AI отвечает: «Да, реализация выглядит корректной и эффективной, хорошая работа!» — не упоминая проблему с пустым массивом.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032" y="4142231"/>
            <a:ext cx="7744967" cy="1316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Формулировка запроса («я уверен, что всё верно») задаёт ожидание согласия, и модель, обученная через RLHF на предпочтении приятных ответов, поддерживает уверенность пользователя вместо того, чтобы указать на реальную ошибку.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Классификатор обращений тихо деградирует на новой линейке продуктов — почему?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cke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7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79"/>
            <a:ext cx="9948672" cy="2788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Компания маршрутизирует обращения в техподдержку по категориям — модель обучена на данных 2023 года. В 2026 году компания выпустила новую линейку продуктов с новой терминологией. Модель продолжает уверенно классифицировать обращения про новые продукты, но существенно менее точно — путает категории. Деградацию никто не заметил сразу, потому что явных сбоев не было — модель просто тише чаще ошибается.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447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4937760"/>
            <a:ext cx="9902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Bias? Sycophancy? Distribution shift? Не уверен? — 4 раунда поднятия руки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3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Классификатор обращений тихо деградирует на новой линейке продуктов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ending-dow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4752" y="1737360"/>
            <a:ext cx="9985248" cy="2514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Компания маршрутизирует обращения в техподдержку по категориям — модель обучена на данных 2023 года. В 2026 году компания выпустила новую линейку продуктов с новой терминологией. Модель продолжает уверенно классифицировать обращения про новые продукты, но существенно менее точно — путает категории. Деградацию никто не заметил сразу, потому что явных сбоев не было — модель просто тише чаще ошибается.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26280"/>
            <a:ext cx="2834640" cy="1920239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26280"/>
            <a:ext cx="2834640" cy="1920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Distribution shift (сдвиг распределения)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4526280"/>
            <a:ext cx="8165592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7" y="4526280"/>
            <a:ext cx="7763256" cy="1920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Модель, обученная на данных одного периода, столкнулась с новым распределением входных данных (новая терминология, новые категории обращений) и «тихо» деградирует без явного сбоя — классический признак сдвига распределения, а не смещения (bias) или подстройки (sycophancy).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4 · БЕЗ ЕДИНСТВЕННОГО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Стажёр спрашивает про «любимую» библиотеку логирования — и получает согласие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2286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79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2011679"/>
            <a:ext cx="9994392" cy="2788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21295C"/>
                </a:solidFill>
                <a:latin typeface="Arial"/>
              </a:rPr>
              <a:t>Инженер-стажёр спрашивает AI-ассистента, актуальна ли для нового проекта библиотека логирования, которую он использовал в 2023 году. Добавляет: «мне она всегда нравилась, надеюсь, она всё ещё топовая». AI отвечает: «Да, это отличный и современный выбор, смело используйте её» — хотя к 2026 году сообщество в основном перешло на библиотеку с лучшей поддержкой структурированных логов, а рекомендованная почти не получает обновлений.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447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4937760"/>
            <a:ext cx="9902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Bias? Sycophancy? Distribution shift? Не уверен? — 4 раунда поднятия руки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ВИНЬЕТКА 4 · БЕЗ ЕДИНСТВЕННОГО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Стажёр спрашивает про «любимую» библиотеку логирования — и получает согласие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2286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93391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947672"/>
            <a:ext cx="1003096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Инженер-стажёр спрашивает AI-ассистента, актуальна ли для нового проекта библиотека логирования, которую он использовал в 2023 году. Добавляет: «мне она всегда нравилась, надеюсь, она всё ещё топовая». AI отвечает: «Да, это отличный и современный выбор, смело используйте её» — хотя к 2026 году сообщество в основном перешло на библиотеку с лучшей поддержкой структурированных логов, а рекомендованная почти не получает обновлений.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5481828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mi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77316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6424" y="4754880"/>
            <a:ext cx="46771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Sycophancy — тоже верно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5230368"/>
            <a:ext cx="5079492" cy="1124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Модель уловила эмоциональную привязанность стажёра и подстроила тон ответа под ожидание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572000"/>
            <a:ext cx="5481828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rending-down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72" y="4773168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07708" y="4754880"/>
            <a:ext cx="46771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Distribution shift — тоже верно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5372" y="5230368"/>
            <a:ext cx="5079492" cy="1124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Модель обучена на данных, где библиотека была современным выбором, и не «знает» о сдвиге экосистемы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ЗАКРЫВАЮЩАЯ РЕФЛЕКСИЯ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опаснее в вашей будущей профессиональной области?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3569208" cy="3246120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e-FFFFFF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184" y="23774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251959"/>
            <a:ext cx="3386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709159"/>
            <a:ext cx="3386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E5EAF0"/>
                </a:solidFill>
                <a:latin typeface="Arial"/>
              </a:rPr>
              <a:t>смещение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9872" y="1965960"/>
            <a:ext cx="3569208" cy="3246120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mile-FFFFFF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136" y="237744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1312" y="4251959"/>
            <a:ext cx="3386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Sycophancy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1312" y="4709159"/>
            <a:ext cx="3386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E5EAF0"/>
                </a:solidFill>
                <a:latin typeface="Arial"/>
              </a:rPr>
              <a:t>подстройка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6824" y="1965960"/>
            <a:ext cx="3569208" cy="3246120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ing-down-FFFFFF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7088" y="237744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08264" y="4251959"/>
            <a:ext cx="3386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Distribution 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8264" y="4709159"/>
            <a:ext cx="3386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E5EAF0"/>
                </a:solidFill>
                <a:latin typeface="Arial"/>
              </a:rPr>
              <a:t>сдвиг распределения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486399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486399"/>
            <a:ext cx="111831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Назовите конкретную область своей будущей специализации — не общий ответ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6 · МОСТИК К ЛЕКЦИИ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Сегодня — снаружи. Дальше — заглянем внутрь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118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304288"/>
            <a:ext cx="1059789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Сегодня мы тренировались классифицировать AI-системы снаружи — по типу задачи, по способу реализации, по типу ошибки. На следующей лекции заглянем внутрь: как модель «читает» текст, как представляет смысл числами, что заставляет её обращать внимание на одни части входа больше, чем на другие, и почему один и тот же запрос иногда даёт разные ответы.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29200"/>
            <a:ext cx="2631186" cy="86868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sh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633" y="5157216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2631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3561" y="5029200"/>
            <a:ext cx="2631186" cy="86868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ers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275" y="515721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53561" y="5559552"/>
            <a:ext cx="2631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3" y="5029200"/>
            <a:ext cx="2631186" cy="86868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an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6917" y="5157216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04203" y="5559552"/>
            <a:ext cx="2631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4846" y="5029200"/>
            <a:ext cx="2631186" cy="86868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auge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7559" y="515721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4846" y="5559552"/>
            <a:ext cx="2631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Температура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7 · ПАМЯТКА НА ВЫНОС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Как выбрать тип AI за 60 секунд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54635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956815"/>
            <a:ext cx="50246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Q1: взаимодействие с пользователем?   Q2: самостоятельная работа с инструментами?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734056"/>
            <a:ext cx="2475738" cy="1664207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734056"/>
            <a:ext cx="2475738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1266" y="2734056"/>
            <a:ext cx="2475738" cy="1664207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1266" y="2734056"/>
            <a:ext cx="2475738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4471416"/>
            <a:ext cx="2475738" cy="1664207"/>
          </a:xfrm>
          <a:prstGeom prst="roundRect">
            <a:avLst>
              <a:gd name="adj" fmla="val 14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4471416"/>
            <a:ext cx="2475738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1266" y="4471416"/>
            <a:ext cx="2475738" cy="1664207"/>
          </a:xfrm>
          <a:prstGeom prst="roundRect">
            <a:avLst>
              <a:gd name="adj" fmla="val 14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1266" y="4471416"/>
            <a:ext cx="2475738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1737360"/>
            <a:ext cx="54635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1948" y="1938527"/>
            <a:ext cx="50246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AI, возможно, не нужен, если: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40863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1404" y="2340863"/>
            <a:ext cx="48051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простое правило (regex, справочник, порог) справится не хуже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2816351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1404" y="2816351"/>
            <a:ext cx="48051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цена ошибки высока, а проверка не быстрее, чем сделать самому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8" y="3291839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1404" y="3291839"/>
            <a:ext cx="48051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задача разовая и небольшая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1948" y="3840479"/>
            <a:ext cx="50246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Три типа провала для проверки: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224527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Bias (смещение)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1948" y="4498847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воспроизводит перекос данных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1948" y="4791455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Sycophancy (подстройка)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5065775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подстраивается под ожидание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1948" y="5358383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Distribution shift (сдвиг распределения)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1948" y="5632703"/>
            <a:ext cx="50246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тихо деградирует на новых данных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Всё, что здесь написано, вы уже видели сегодня — рабочая версия на вынос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5013655" cy="56692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5760" y="594360"/>
            <a:ext cx="5013655" cy="5669280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ВНУТРИ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C8D2DF"/>
                </a:solidFill>
                <a:latin typeface="Arial"/>
              </a:rPr>
              <a:t>Mickael Courtiade · Wikimedia Commons · CC BY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095" y="12344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СПАСИБО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1691640"/>
            <a:ext cx="5440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 классификации снаружи — к тому, что внутри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8095" y="356616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 i="0">
                <a:solidFill>
                  <a:srgbClr val="065A82"/>
                </a:solidFill>
                <a:latin typeface="Arial"/>
              </a:rPr>
              <a:t>Сегодня вы натренировали чек-лист, поймали галлюцинацию и различили три типа провала. На Лекции 2 — токены, эмбеддинги, внимание и температура: как это всё работает на кремнии вроде этого.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534924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Лекция 2  →  далее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