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Добрый день. Сегодня у нас семинар номер два, и формат простой: мы вместе</a:t>
            </a:r>
          </a:p>
          <a:p>
            <a:r>
              <a:t>разберём семь ситуаций, которые могли бы прийти к любому из вас с реальной</a:t>
            </a:r>
          </a:p>
          <a:p>
            <a:r>
              <a:t>работы. В каждой — кто-то просит «сделайте нам автоматизацию», и дальше</a:t>
            </a:r>
          </a:p>
          <a:p>
            <a:r>
              <a:t>инженеру нужно решить, что именно строить. Мы не будем читать лекцию и не</a:t>
            </a:r>
          </a:p>
          <a:p>
            <a:r>
              <a:t>будем вам ничего презентовать полчаса — будем разбирать конкретные истории</a:t>
            </a:r>
          </a:p>
          <a:p>
            <a:r>
              <a:t>вслух, все вместе, залом. Я буду показывать постановку задачи, вы будете</a:t>
            </a:r>
          </a:p>
          <a:p>
            <a:r>
              <a:t>говорить, что бы предложили, а потом почти в каждом кейсе появится деталь,</a:t>
            </a:r>
          </a:p>
          <a:p>
            <a:r>
              <a:t>которой не было в первой формулировке. Готовность пересмотреть решение при</a:t>
            </a:r>
          </a:p>
          <a:p>
            <a:r>
              <a:t>новых вводных — ровно тот навык, который нужен на реальной работе, когда</a:t>
            </a:r>
          </a:p>
          <a:p>
            <a:r>
              <a:t>заказчик формулирует задачу по частям, а не сразу целиком. Поехали.</a:t>
            </a:r>
          </a:p>
          <a:p/>
          <a:p>
            <a:r>
              <a:t>(Фото: NASA / Cory Huston · Wikimedia Commons · общественное достояние)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мы сегодня тренируем — четыре типа выбора, которые в инженерной</a:t>
            </a:r>
          </a:p>
          <a:p>
            <a:r>
              <a:t>практике возникают снова и снова: нужен ли здесь вообще ИИ или хватит</a:t>
            </a:r>
          </a:p>
          <a:p>
            <a:r>
              <a:t>обычного кода, встраивать решение в то, чем люди и так пользуются, или</a:t>
            </a:r>
          </a:p>
          <a:p>
            <a:r>
              <a:t>делать отдельный продукт, каким должен быть вызов модели — разовым,</a:t>
            </a:r>
          </a:p>
          <a:p>
            <a:r>
              <a:t>поиском по базе или многошаговым агентом, и, наконец, считать это через</a:t>
            </a:r>
          </a:p>
          <a:p>
            <a:r>
              <a:t>внешний облачный API или на своей инфраструктуре. Мы не превращаем это в</a:t>
            </a:r>
          </a:p>
          <a:p>
            <a:r>
              <a:t>процедуру с чек-листом — вместо этого разбираем семь реалистичных</a:t>
            </a:r>
          </a:p>
          <a:p>
            <a:r>
              <a:t>ситуаций: документы от поставщиков, персональные данные в логах, помощник</a:t>
            </a:r>
          </a:p>
          <a:p>
            <a:r>
              <a:t>для техподдержки, описания товаров, протоколы встреч, дайджест по рабочим</a:t>
            </a:r>
          </a:p>
          <a:p>
            <a:r>
              <a:t>чатам и звонки отдела продаж. В каждой — свой выбор и свои вводные. Смотрите</a:t>
            </a:r>
          </a:p>
          <a:p>
            <a:r>
              <a:t>на постановку критически с самого начала: чего вам не хватает, чтобы дать</a:t>
            </a:r>
          </a:p>
          <a:p>
            <a:r>
              <a:t>честный ответ, а не гадать?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вопрос сегодня: когда задачу стоит решать обычным кодом, а когда без</a:t>
            </a:r>
          </a:p>
          <a:p>
            <a:r>
              <a:t>модели не обойтись. Инженеры часто решают это на глаз, по ощущению</a:t>
            </a:r>
          </a:p>
          <a:p>
            <a:r>
              <a:t>сложности задачи, а не по конкретному признаку, который можно было бы</a:t>
            </a:r>
          </a:p>
          <a:p>
            <a:r>
              <a:t>назвать словами. А цена ошибки здесь реальна в обе стороны. Поставить ИИ</a:t>
            </a:r>
          </a:p>
          <a:p>
            <a:r>
              <a:t>там, где хватило бы обычного кода, — значит получить решение дороже и</a:t>
            </a:r>
          </a:p>
          <a:p>
            <a:r>
              <a:t>непредсказуемее, чем нужно: код либо отрабатывает правильно, либо явно</a:t>
            </a:r>
          </a:p>
          <a:p>
            <a:r>
              <a:t>падает с ошибкой, а модель может тихо выдать правдоподобную ерунду и</a:t>
            </a:r>
          </a:p>
          <a:p>
            <a:r>
              <a:t>никого об этом не предупредить. Поставить обычный код там, где на самом</a:t>
            </a:r>
          </a:p>
          <a:p>
            <a:r>
              <a:t>деле нужна модель, — значит подписаться на вечную починку: каждый новый</a:t>
            </a:r>
          </a:p>
          <a:p>
            <a:r>
              <a:t>вариант входных данных ломает жёсткую логику, и кто-то должен снова и</a:t>
            </a:r>
          </a:p>
          <a:p>
            <a:r>
              <a:t>снова её латать. Общего рецепта «всегда бери то-то» не существует — есть</a:t>
            </a:r>
          </a:p>
          <a:p>
            <a:r>
              <a:t>признаки в самой задаче, которые стоит научиться замечать. Переходим к</a:t>
            </a:r>
          </a:p>
          <a:p>
            <a:r>
              <a:t>постановке.</a:t>
            </a:r>
          </a:p>
          <a:p/>
          <a:p>
            <a:r>
              <a:t>(Фото: Wikimedia Commons · CC0)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Реплика продакта, слово в слово: «Бухгалтерия тонет. Три человека, около</a:t>
            </a:r>
          </a:p>
          <a:p>
            <a:r>
              <a:t>400 накладных в месяц, всё руками в 1С, к концу квартала завал и ошибки.</a:t>
            </a:r>
          </a:p>
          <a:p>
            <a:r>
              <a:t>Вот два примера — форматы вроде одинаковые. Можно автоматом? Что по</a:t>
            </a:r>
          </a:p>
          <a:p>
            <a:r>
              <a:t>срокам?» Вот эти два примера у вас на экране — посмотрите на них</a:t>
            </a:r>
          </a:p>
          <a:p>
            <a:r>
              <a:t>внимательно, структура почти одинаковая: те же поля, тот же порядок,</a:t>
            </a:r>
          </a:p>
          <a:p>
            <a:r>
              <a:t>похожий вид таблицы. А рядом — третья карточка, целевая таблица в 1С, куда</a:t>
            </a:r>
          </a:p>
          <a:p>
            <a:r>
              <a:t>всё это в итоге должно попасть: дата, номер накладной, позиция, сумма. Те</a:t>
            </a:r>
          </a:p>
          <a:p>
            <a:r>
              <a:t>же поля, что и в накладных, просто в другом месте. Вопрос в зал: что вы</a:t>
            </a:r>
          </a:p>
          <a:p>
            <a:r>
              <a:t>предложите? Нужен ли здесь ИИ вообще, или можно обойтись без него? Какие</a:t>
            </a:r>
          </a:p>
          <a:p>
            <a:r>
              <a:t>конкретно поля вы бы вытаскивали, и что, на ваш взгляд, определяет</a:t>
            </a:r>
          </a:p>
          <a:p>
            <a:r>
              <a:t>сложность этой задачи? Кто готов высказаться первым?</a:t>
            </a:r>
          </a:p>
          <a:p/>
          <a:p>
            <a:r>
              <a:t>(Фото: Pizarros · Wikimedia Commons · CC BY-SA 3.0)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в этой истории было так: попросили архив — бухгалтерия прислала</a:t>
            </a:r>
          </a:p>
          <a:p>
            <a:r>
              <a:t>ZIP-файл на 4,2 гигабайта, и внутри вперемешку и сканы актов сверки, и</a:t>
            </a:r>
          </a:p>
          <a:p>
            <a:r>
              <a:t>договоры, а нужны из всего этого только накладные. Вот несколько примеров</a:t>
            </a:r>
          </a:p>
          <a:p>
            <a:r>
              <a:t>накладных из этого архива — смотрите, форматы уже не такие одинаковые, как</a:t>
            </a:r>
          </a:p>
          <a:p>
            <a:r>
              <a:t>в первых двух документах: один выглядит как обычная таблица, во втором</a:t>
            </a:r>
          </a:p>
          <a:p>
            <a:r>
              <a:t>поля названы и расположены иначе, третий — со свободным текстом вместо</a:t>
            </a:r>
          </a:p>
          <a:p>
            <a:r>
              <a:t>чёткой таблицы, а четвёртый и вовсе на английском языке, потому что один</a:t>
            </a:r>
          </a:p>
          <a:p>
            <a:r>
              <a:t>из поставщиков — иностранный. Это тот же архив, только теперь мы видим его</a:t>
            </a:r>
          </a:p>
          <a:p>
            <a:r>
              <a:t>целиком, а не два выбранных примера. Вопрос в зал: меняет ли это ваш</a:t>
            </a:r>
          </a:p>
          <a:p>
            <a:r>
              <a:t>ответ? Дайте секунду посмотреть на эти четыре карточки и сравнить с тем,</a:t>
            </a:r>
          </a:p>
          <a:p>
            <a:r>
              <a:t>что видели минуту назад. И если вы говорили про чистый парсер без ИИ — что</a:t>
            </a:r>
          </a:p>
          <a:p>
            <a:r>
              <a:t>вы сейчас думаете, когда видите этот разброс форматов?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Смотрите, что произошло: пока мы видели два одинаковых документа, чистый</a:t>
            </a:r>
          </a:p>
          <a:p>
            <a:r>
              <a:t>код казался достаточным и даже предпочтительным — он предсказуем. Как</a:t>
            </a:r>
          </a:p>
          <a:p>
            <a:r>
              <a:t>только появился реальный архив на 4,2 гигабайта, стало видно, что форматы</a:t>
            </a:r>
          </a:p>
          <a:p>
            <a:r>
              <a:t>на самом деле разъехались, и чистый парсер пришлось бы постоянно чинить</a:t>
            </a:r>
          </a:p>
          <a:p>
            <a:r>
              <a:t>под каждый новый вариант. Разумный ответ здесь — гибрид: модель делает</a:t>
            </a:r>
          </a:p>
          <a:p>
            <a:r>
              <a:t>извлечение по неструктурированному или разнородному входу, а дальше —</a:t>
            </a:r>
          </a:p>
          <a:p>
            <a:r>
              <a:t>жёсткая валидация кодом, проверка типов полей, обязательных значений,</a:t>
            </a:r>
          </a:p>
          <a:p>
            <a:r>
              <a:t>диапазонов, прежде чем данные попадут в 1С. И главный урок этого кейса</a:t>
            </a:r>
          </a:p>
          <a:p>
            <a:r>
              <a:t>шире, чем документы, поэтому проговорю его отдельной фразой: изучайте</a:t>
            </a:r>
          </a:p>
          <a:p>
            <a:r>
              <a:t>исходные данные максимально подробно и широко — и не верьте заказчику на</a:t>
            </a:r>
          </a:p>
          <a:p>
            <a:r>
              <a:t>слово. Продакт был уверен, что форматы одинаковые, потому что видел два</a:t>
            </a:r>
          </a:p>
          <a:p>
            <a:r>
              <a:t>документа и решил, что этого достаточно. Прежде чем делать архитектурный</a:t>
            </a:r>
          </a:p>
          <a:p>
            <a:r>
              <a:t>выбор, нужно самому запросить представление полного объёма данных, с</a:t>
            </a:r>
          </a:p>
          <a:p>
            <a:r>
              <a:t>которым решение реально столкнётся, а не полагаться на то, что вам</a:t>
            </a:r>
          </a:p>
          <a:p>
            <a:r>
              <a:t>рассказали о них на словах.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Постановка: нужно вычистить персональные данные из логов приложения перед</a:t>
            </a:r>
          </a:p>
          <a:p>
            <a:r>
              <a:t>передачей их внешнему подрядчику на анализ производительности. Объём —</a:t>
            </a:r>
          </a:p>
          <a:p>
            <a:r>
              <a:t>около 40 гигабайт логов за квартал, и подрядчик ждёт архив уже в пятницу,</a:t>
            </a:r>
          </a:p>
          <a:p>
            <a:r>
              <a:t>так что времени разбираться вручную нет. Подрядчику нужны сами логи —</a:t>
            </a:r>
          </a:p>
          <a:p>
            <a:r>
              <a:t>структура запросов, тайминги, ошибки, — но не данные конкретных людей. Вот</a:t>
            </a:r>
          </a:p>
          <a:p>
            <a:r>
              <a:t>пример строки лога у вас на экране — посмотрите, что там вообще</a:t>
            </a:r>
          </a:p>
          <a:p>
            <a:r>
              <a:t>встречается: номер телефона, адрес почты, и фраза вроде «передайте это</a:t>
            </a:r>
          </a:p>
          <a:p>
            <a:r>
              <a:t>Ивану из бухгалтерии». Вопрос в зал: как максимально быстро и дёшево</a:t>
            </a:r>
          </a:p>
          <a:p>
            <a:r>
              <a:t>очистить эти 40 гигабайт до пятницы? У кого есть мнение — что бы вы</a:t>
            </a:r>
          </a:p>
          <a:p>
            <a:r>
              <a:t>предложили в первую очередь?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Телефоны и email — это данные с чётким, предсказуемым форматом, их</a:t>
            </a:r>
          </a:p>
          <a:p>
            <a:r>
              <a:t>надёжно и дёшево вычищает обычный regex, никакая модель здесь не нужна и</a:t>
            </a:r>
          </a:p>
          <a:p>
            <a:r>
              <a:t>только замедлила бы обработку 40 гигабайт логов. А вот имена людей и</a:t>
            </a:r>
          </a:p>
          <a:p>
            <a:r>
              <a:t>косвенные упоминания в свободном тексте — вроде «передайте это Ивану из</a:t>
            </a:r>
          </a:p>
          <a:p>
            <a:r>
              <a:t>бухгалтерии» — требуют понимания контекста. Здесь не нужен большой LLM:</a:t>
            </a:r>
          </a:p>
          <a:p>
            <a:r>
              <a:t>для этого есть компактные модели распознавания именованных сущностей,</a:t>
            </a:r>
          </a:p>
          <a:p>
            <a:r>
              <a:t>например slovnet из проекта Natasha — вес модели около 30 мегабайт, она</a:t>
            </a:r>
          </a:p>
          <a:p>
            <a:r>
              <a:t>спокойно работает на CPU обычного ноутбука без GPU, скорость порядка 25</a:t>
            </a:r>
          </a:p>
          <a:p>
            <a:r>
              <a:t>статей в секунду. Модель распознаёт имена людей, названия организаций,</a:t>
            </a:r>
          </a:p>
          <a:p>
            <a:r>
              <a:t>локации — включая названия компаний и городов. По размеру это примерно в</a:t>
            </a:r>
          </a:p>
          <a:p>
            <a:r>
              <a:t>60 раз меньше BERT-модели сравнимого класса, при потере качества на 1-2</a:t>
            </a:r>
          </a:p>
          <a:p>
            <a:r>
              <a:t>процентных пункта. Вывод стоит проговорить явно: большое количество</a:t>
            </a:r>
          </a:p>
          <a:p>
            <a:r>
              <a:t>текстовых задач решается алгоритмически или малыми специализированными</a:t>
            </a:r>
          </a:p>
          <a:p>
            <a:r>
              <a:t>моделями — это проще, быстрее и дешевле, чем гонять всё через большой LLM.</a:t>
            </a:r>
          </a:p>
          <a:p>
            <a:r>
              <a:t>Тот же вопрос чувствительности данных всплывёт в кейсе про звонки продаж —</a:t>
            </a:r>
          </a:p>
          <a:p>
            <a:r>
              <a:t>там ставки заметно выше.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случая из практики. В январе 2023 года выяснилось, что издание CNET</a:t>
            </a:r>
          </a:p>
          <a:p>
            <a:r>
              <a:t>несколько месяцев публиковало статьи о финансах, сгенерированные ИИ-инструментом.</a:t>
            </a:r>
          </a:p>
          <a:p>
            <a:r>
              <a:t>Из 77 таких статей исправления потребовались 41. Флагманский пример</a:t>
            </a:r>
          </a:p>
          <a:p>
            <a:r>
              <a:t>ошибки: одна из статей утверждала, что «10 000 долларов под 3% годовых</a:t>
            </a:r>
          </a:p>
          <a:p>
            <a:r>
              <a:t>принесут 10 300 долларов за год» — вместо корректных 300 долларов дохода,</a:t>
            </a:r>
          </a:p>
          <a:p>
            <a:r>
              <a:t>модель перепутала итоговую сумму с самим доходом, элементарная</a:t>
            </a:r>
          </a:p>
          <a:p>
            <a:r>
              <a:t>арифметическая ошибка. Урок именно про неё: расчёт должен делать</a:t>
            </a:r>
          </a:p>
          <a:p>
            <a:r>
              <a:t>детерминированная формула, а не LLM «на глаз» — там, где нужна точная</a:t>
            </a:r>
          </a:p>
          <a:p>
            <a:r>
              <a:t>арифметика, модель заменяет не калькулятор, а текст вокруг него. Что</a:t>
            </a:r>
          </a:p>
          <a:p>
            <a:r>
              <a:t>здесь пошло не так, на ваш взгляд? Теперь позитивный пример: инженерный</a:t>
            </a:r>
          </a:p>
          <a:p>
            <a:r>
              <a:t>блог компании Ramp рассказывает, как раньше заявки на исправление</a:t>
            </a:r>
          </a:p>
          <a:p>
            <a:r>
              <a:t>классификации транзакций обрабатывались вручную с покрытием всего 1,5-3%</a:t>
            </a:r>
          </a:p>
          <a:p>
            <a:r>
              <a:t>заявок — то есть подавляющее большинство оставалось необработанным. После</a:t>
            </a:r>
          </a:p>
          <a:p>
            <a:r>
              <a:t>внедрения LLM-агента — меньше 10 секунд на заявку, около 99% решений</a:t>
            </a:r>
          </a:p>
          <a:p>
            <a:r>
              <a:t>признаются корректными, около 25% заявок агент отклоняет. Важно сказать</a:t>
            </a:r>
          </a:p>
          <a:p>
            <a:r>
              <a:t>честно: это не победа ИИ над детерминированным кодом, это замена ручной</a:t>
            </a:r>
          </a:p>
          <a:p>
            <a:r>
              <a:t>обработки с мизерным покрытием.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вопрос сегодня: встраивать решение в то, чем люди и так пользуются</a:t>
            </a:r>
          </a:p>
          <a:p>
            <a:r>
              <a:t>каждый день, или делать для него отдельный продукт. На бумаге оба варианта</a:t>
            </a:r>
          </a:p>
          <a:p>
            <a:r>
              <a:t>выглядят разумно. Встроенное решение обещает бесшовность, отдельный</a:t>
            </a:r>
          </a:p>
          <a:p>
            <a:r>
              <a:t>продукт — свободу: свой интерфейс, свой темп разработки, никаких чужих</a:t>
            </a:r>
          </a:p>
          <a:p>
            <a:r>
              <a:t>ограничений. И у каждого варианта есть скрытая цена, которая почти никогда</a:t>
            </a:r>
          </a:p>
          <a:p>
            <a:r>
              <a:t>не видна в демо и на презентации идеи — она проявляется позже, в реальной</a:t>
            </a:r>
          </a:p>
          <a:p>
            <a:r>
              <a:t>эксплуатации, когда решением начинают пользоваться настоящие люди в</a:t>
            </a:r>
          </a:p>
          <a:p>
            <a:r>
              <a:t>настоящем рабочем потоке, а не авторы прототипа на показе. Именно поэтому</a:t>
            </a:r>
          </a:p>
          <a:p>
            <a:r>
              <a:t>такие решения нельзя принимать по одной только красоте концепции — нужно</a:t>
            </a:r>
          </a:p>
          <a:p>
            <a:r>
              <a:t>разбираться в конкретных обстоятельствах компании и задачи. Переходим к</a:t>
            </a:r>
          </a:p>
          <a:p>
            <a:r>
              <a:t>постановке — она прозвучит от человека, который отвечает за результат, а</a:t>
            </a:r>
          </a:p>
          <a:p>
            <a:r>
              <a:t>не за то, как красиво выглядит идея на слайде.</a:t>
            </a:r>
          </a:p>
          <a:p/>
          <a:p>
            <a:r>
              <a:t>(Фото: Oliver Propst · Wikimedia Commons · CC BY-SA 3.0)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Постановка: «Сделайте нам ИИ-помощника для операторов техподдержки —</a:t>
            </a:r>
          </a:p>
          <a:p>
            <a:r>
              <a:t>подсказки ответов на тикеты, поиск похожих обращений в истории». На линии</a:t>
            </a:r>
          </a:p>
          <a:p>
            <a:r>
              <a:t>12 операторов, поток — около 300 тикетов в день, с явным пиком с 10:00 до</a:t>
            </a:r>
          </a:p>
          <a:p>
            <a:r>
              <a:t>13:00, когда очередь обращений растёт быстрее всего. Идея понятная —</a:t>
            </a:r>
          </a:p>
          <a:p>
            <a:r>
              <a:t>оператор открывает новый тикет, а система сама подсказывает, как отвечали</a:t>
            </a:r>
          </a:p>
          <a:p>
            <a:r>
              <a:t>на похожие обращения раньше, чтобы не искать вручную. Операторы весь</a:t>
            </a:r>
          </a:p>
          <a:p>
            <a:r>
              <a:t>рабочий день сидят в одном и том же интерфейсе helpdesk-системы —</a:t>
            </a:r>
          </a:p>
          <a:p>
            <a:r>
              <a:t>что-то вроде Zendesk или Jira Service Management, открывают тикет за</a:t>
            </a:r>
          </a:p>
          <a:p>
            <a:r>
              <a:t>тикетом, отвечают клиентам, переключаются между обращениями десятками раз</a:t>
            </a:r>
          </a:p>
          <a:p>
            <a:r>
              <a:t>за смену. Вопрос в зал: где должен жить этот помощник? Что вы предложите —</a:t>
            </a:r>
          </a:p>
          <a:p>
            <a:r>
              <a:t>отдельное окно, встроенная подсказка прямо в интерфейсе, что-то ещё? И, что</a:t>
            </a:r>
          </a:p>
          <a:p>
            <a:r>
              <a:t>не менее важно, почему именно так, а не иначе?</a:t>
            </a:r>
          </a:p>
          <a:p/>
          <a:p>
            <a:r>
              <a:t>(Фото: FiveOne51 · Wikimedia Commons · CC BY-SA 3.0)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 вот что говорит ИТ-директор компании, когда к нему приходят с этой</a:t>
            </a:r>
          </a:p>
          <a:p>
            <a:r>
              <a:t>идеей: «У нас коробочный helpdesk. Открытого API нет, кастомизаций нет —</a:t>
            </a:r>
          </a:p>
          <a:p>
            <a:r>
              <a:t>вендор и на письма-то не отвечает». Систему купили 4 года назад, на ней же</a:t>
            </a:r>
          </a:p>
          <a:p>
            <a:r>
              <a:t>висят тикеты от HR и от фасилити-менеджмента, а контракт с вендором ещё на</a:t>
            </a:r>
          </a:p>
          <a:p>
            <a:r>
              <a:t>2 года — так что сменить систему в моменте не получится даже при желании.</a:t>
            </a:r>
          </a:p>
          <a:p>
            <a:r>
              <a:t>Компания даже написала вендору с вопросом об интеграции, и ответа так и не</a:t>
            </a:r>
          </a:p>
          <a:p>
            <a:r>
              <a:t>получила. Вопрос в зал: что делаем? Обратите внимание, я не говорю вам,</a:t>
            </a:r>
          </a:p>
          <a:p>
            <a:r>
              <a:t>хорошо это или плохо для вашего плана — просто называю факт, который вы бы</a:t>
            </a:r>
          </a:p>
          <a:p>
            <a:r>
              <a:t>узнали, только если бы сами спросили ИТ-отдел заранее, до того как начали</a:t>
            </a:r>
          </a:p>
          <a:p>
            <a:r>
              <a:t>проектировать решение. Кто хочет высказаться первым, что теперь</a:t>
            </a:r>
          </a:p>
          <a:p>
            <a:r>
              <a:t>предлагаете? И кто из тех, кто минуту назад предлагал встроить помощника</a:t>
            </a:r>
          </a:p>
          <a:p>
            <a:r>
              <a:t>прямо в интерфейс — что вы думаете сейчас, когда выяснилось, что сам</a:t>
            </a:r>
          </a:p>
          <a:p>
            <a:r>
              <a:t>интерфейс для вас закрыт наглухо?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этого кейса нет единственно верного ответа, и это специально. Смотрите</a:t>
            </a:r>
          </a:p>
          <a:p>
            <a:r>
              <a:t>на три реальных варианта. Первый — решение сбоку: расширение браузера или</a:t>
            </a:r>
          </a:p>
          <a:p>
            <a:r>
              <a:t>вторая панель рядом с интерфейсом helpdesk. Цена — оператору приходится</a:t>
            </a:r>
          </a:p>
          <a:p>
            <a:r>
              <a:t>физически смотреть в два места, и под нагрузкой он туда просто не будет</a:t>
            </a:r>
          </a:p>
          <a:p>
            <a:r>
              <a:t>заглядывать. Второй — сменить вендора helpdesk-системы на систему с</a:t>
            </a:r>
          </a:p>
          <a:p>
            <a:r>
              <a:t>открытым API. Цена — миграция исторических данных, переобучение всей</a:t>
            </a:r>
          </a:p>
          <a:p>
            <a:r>
              <a:t>команды поддержки, риск простоя на переходе, и всё это ради одной фичи.</a:t>
            </a:r>
          </a:p>
          <a:p>
            <a:r>
              <a:t>Третий — пересмотреть саму задачу: помощник не встраивается в момент</a:t>
            </a:r>
          </a:p>
          <a:p>
            <a:r>
              <a:t>ответа оператора, а готовит черновики или сводки по тикету заранее. Цена</a:t>
            </a:r>
          </a:p>
          <a:p>
            <a:r>
              <a:t>здесь тоже есть, просто другая — оператор открывает готовое там, где</a:t>
            </a:r>
          </a:p>
          <a:p>
            <a:r>
              <a:t>удобно, но нужен отдельный процесс подготовки этих черновиков. На</a:t>
            </a:r>
          </a:p>
          <a:p>
            <a:r>
              <a:t>практике «сбоку» выбирают, когда критично время внедрения и штат</a:t>
            </a:r>
          </a:p>
          <a:p>
            <a:r>
              <a:t>маленький — быстрее собрать расширение, чем ждать вендора. «Смену</a:t>
            </a:r>
          </a:p>
          <a:p>
            <a:r>
              <a:t>вендора» выбирают, когда контракт всё равно скоро кончается — тогда</a:t>
            </a:r>
          </a:p>
          <a:p>
            <a:r>
              <a:t>издержки миграции размазываются на уже запланированное событие. А</a:t>
            </a:r>
          </a:p>
          <a:p>
            <a:r>
              <a:t>«пересмотр задачи» выбирают, когда организация не готова тратить бюджет</a:t>
            </a:r>
          </a:p>
          <a:p>
            <a:r>
              <a:t>на интеграцию прямо сейчас, но может подождать с live-подсказками.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Маркетинг просит отдельный ИИ-сервис для генерации описаний товаров —</a:t>
            </a:r>
          </a:p>
          <a:p>
            <a:r>
              <a:t>что-то вроде нового отдельного инструмента, куда нужно будет заходить,</a:t>
            </a:r>
          </a:p>
          <a:p>
            <a:r>
              <a:t>логиниться и вбивать характеристики товара, чтобы получить готовое</a:t>
            </a:r>
          </a:p>
          <a:p>
            <a:r>
              <a:t>описание для карточки на сайте. Каталог — 12 000 товарных позиций, а</a:t>
            </a:r>
          </a:p>
          <a:p>
            <a:r>
              <a:t>описания сейчас пишет один копирайтер на аутсорсе, по мере поступления</a:t>
            </a:r>
          </a:p>
          <a:p>
            <a:r>
              <a:t>новых товаров. Идея, судя по всему, родилась после того, как маркетинг</a:t>
            </a:r>
          </a:p>
          <a:p>
            <a:r>
              <a:t>увидел похожий сервис у конкурента и решил, что нужно что-то подобное у</a:t>
            </a:r>
          </a:p>
          <a:p>
            <a:r>
              <a:t>себя, причём как можно скорее. Вопрос в зал: отдельный сервис — хорошая</a:t>
            </a:r>
          </a:p>
          <a:p>
            <a:r>
              <a:t>идея, или нет? Что скажете, и почему именно так — что в этой постановке</a:t>
            </a:r>
          </a:p>
          <a:p>
            <a:r>
              <a:t>вообще определяет, стоит ли делать новый инструмент или нет?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должна быть кнопка «сгенерировать описание» прямо в существующей</a:t>
            </a:r>
          </a:p>
          <a:p>
            <a:r>
              <a:t>админке каталога товаров, которой маркетинг и так пользуется каждый день,</a:t>
            </a:r>
          </a:p>
          <a:p>
            <a:r>
              <a:t>заводя новые товары и редактируя карточки. Отдельный продукт — это второй</a:t>
            </a:r>
          </a:p>
          <a:p>
            <a:r>
              <a:t>логин, отдельная вкладка, привычка, которую нужно формировать с нуля, и</a:t>
            </a:r>
          </a:p>
          <a:p>
            <a:r>
              <a:t>лишний шаг в рабочем процессе. На практике такие отдельные инструменты</a:t>
            </a:r>
          </a:p>
          <a:p>
            <a:r>
              <a:t>часто умирают от неиспользования, даже если технология внутри работает</a:t>
            </a:r>
          </a:p>
          <a:p>
            <a:r>
              <a:t>отлично — просто потому что до них банально не доходят руки, когда проще</a:t>
            </a:r>
          </a:p>
          <a:p>
            <a:r>
              <a:t>написать вручную то, что и так писали годами. Отдельный сервис всё-таки</a:t>
            </a:r>
          </a:p>
          <a:p>
            <a:r>
              <a:t>оправдан в одном случае — если своей админки нет вовсе, то есть если у</a:t>
            </a:r>
          </a:p>
          <a:p>
            <a:r>
              <a:t>маркетинга нет единого места, где они и так работают с карточками товаров.</a:t>
            </a:r>
          </a:p>
          <a:p>
            <a:r>
              <a:t>Тогда встраивать попросту некуда, и отдельный инструмент — не компромисс,</a:t>
            </a:r>
          </a:p>
          <a:p>
            <a:r>
              <a:t>а единственный доступный вариант.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Смотрите на хронологию. Kite — отдельный самостоятельный продукт для</a:t>
            </a:r>
          </a:p>
          <a:p>
            <a:r>
              <a:t>автодополнения кода на базе ИИ — основан в 2014 году, с 2019 года умел</a:t>
            </a:r>
          </a:p>
          <a:p>
            <a:r>
              <a:t>исполнять модель локально на машине разработчика. GitHub Copilot вышел в</a:t>
            </a:r>
          </a:p>
          <a:p>
            <a:r>
              <a:t>technical preview 29 июня 2021 года, стал общедоступным 21 июня 2022 года</a:t>
            </a:r>
          </a:p>
          <a:p>
            <a:r>
              <a:t>за 10 долларов в месяц. Kite закрылся 21 ноября 2022 года. Если считать от</a:t>
            </a:r>
          </a:p>
          <a:p>
            <a:r>
              <a:t>technical preview Copilot до закрытия Kite — это около 17 месяцев, когда</a:t>
            </a:r>
          </a:p>
          <a:p>
            <a:r>
              <a:t>оба продукта реально существовали на одном рынке одновременно, и</a:t>
            </a:r>
          </a:p>
          <a:p>
            <a:r>
              <a:t>конкуренция была настоящей, не гипотетической. При этом причину закрытия</a:t>
            </a:r>
          </a:p>
          <a:p>
            <a:r>
              <a:t>стоит формулировать аккуратно: сам основатель Kite объяснял это не победой</a:t>
            </a:r>
          </a:p>
          <a:p>
            <a:r>
              <a:t>конкретного продукта, а тем, что «разработчики не платят за отдельные</a:t>
            </a:r>
          </a:p>
          <a:p>
            <a:r>
              <a:t>инструменты» — это его слова о рынке в целом, а не прямое утверждение</a:t>
            </a:r>
          </a:p>
          <a:p>
            <a:r>
              <a:t>«Copilot убил Kite». У Kite было около 500 тысяч пользователей на пике. У</a:t>
            </a:r>
          </a:p>
          <a:p>
            <a:r>
              <a:t>Copilot — около 20 миллионов пользователей к июлю 2025 года из более чем</a:t>
            </a:r>
          </a:p>
          <a:p>
            <a:r>
              <a:t>100 миллионов разработчиков на GitHub, 4,7 миллиона платных подписчиков к</a:t>
            </a:r>
          </a:p>
          <a:p>
            <a:r>
              <a:t>январю 2026 года, и используется он примерно в 90% компаний из списка</a:t>
            </a:r>
          </a:p>
          <a:p>
            <a:r>
              <a:t>Fortune 100. Технология сравнимого класса, но встроенная прямо в IDE и в</a:t>
            </a:r>
          </a:p>
          <a:p>
            <a:r>
              <a:t>экосистему, к которой разработчики уже подключены.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один пример того же выбора, но на другом масштабе — не фича внутри</a:t>
            </a:r>
          </a:p>
          <a:p>
            <a:r>
              <a:t>приложения, а целое отдельное физическое устройство. Humane AI Pin —</a:t>
            </a:r>
          </a:p>
          <a:p>
            <a:r>
              <a:t>носимый значок без экрана, с лазерным проектором, который показывает</a:t>
            </a:r>
          </a:p>
          <a:p>
            <a:r>
              <a:t>изображение прямо на ладонь, управление голосом, цена 699 долларов плюс</a:t>
            </a:r>
          </a:p>
          <a:p>
            <a:r>
              <a:t>подписка 24 доллара в месяц. Продажи стартовали в апреле 2024 года.</a:t>
            </a:r>
          </a:p>
          <a:p>
            <a:r>
              <a:t>Компания привлекла около 241 миллиона долларов инвестиций, а в феврале</a:t>
            </a:r>
          </a:p>
          <a:p>
            <a:r>
              <a:t>2025 года активы компании — не вся компания целиком, именно активы — были</a:t>
            </a:r>
          </a:p>
          <a:p>
            <a:r>
              <a:t>проданы HP за 116 миллионов долларов. 28 февраля 2025 года серверы</a:t>
            </a:r>
          </a:p>
          <a:p>
            <a:r>
              <a:t>устройства отключили, и оно перестало работать у всех, кто его купил.</a:t>
            </a:r>
          </a:p>
          <a:p>
            <a:r>
              <a:t>Rabbit R1 — похожая история: продано около 100 000 устройств, но, по</a:t>
            </a:r>
          </a:p>
          <a:p>
            <a:r>
              <a:t>оценкам, активно пользуются им около 5% купивших. Тот же организационный</a:t>
            </a:r>
          </a:p>
          <a:p>
            <a:r>
              <a:t>урок, что и с Kite: отдельное устройство или продукт конкурирует не</a:t>
            </a:r>
          </a:p>
          <a:p>
            <a:r>
              <a:t>только с альтернативными технологиями, но и с привычкой пользователя не</a:t>
            </a:r>
          </a:p>
          <a:p>
            <a:r>
              <a:t>переключаться на новую точку входа, когда нужная функция уже есть в</a:t>
            </a:r>
          </a:p>
          <a:p>
            <a:r>
              <a:t>телефоне, который и так лежит в кармане.</a:t>
            </a:r>
          </a:p>
          <a:p/>
          <a:p>
            <a:r>
              <a:t>(Фото Rabbit R1: Booredatwork.com · Wikimedia Commons · CC BY 3.0. Фото Humane AI Pin не найдено — свободно лицензированного изображения на Wikimedia Commons не существует, проверено через API-поиск и обзор категорий; см. iteration-log.md.)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вопрос сегодня: какая архитектура нужна — разовый вызов модели,</a:t>
            </a:r>
          </a:p>
          <a:p>
            <a:r>
              <a:t>поиск по базе или многошаговый агент. Эти три варианта звучат как три</a:t>
            </a:r>
          </a:p>
          <a:p>
            <a:r>
              <a:t>разных уровня сложности, и интуитивно кажется, что чем внушительнее задача,</a:t>
            </a:r>
          </a:p>
          <a:p>
            <a:r>
              <a:t>тем более сложную архитектуру нужно сразу закладывать. Эту интуицию стоит</a:t>
            </a:r>
          </a:p>
          <a:p>
            <a:r>
              <a:t>проверять, а не принимать на веру — как и любое ощущение «серьёзной задаче</a:t>
            </a:r>
          </a:p>
          <a:p>
            <a:r>
              <a:t>нужен серьёзный инструмент», у неё есть и подтверждающие, и опровергающие</a:t>
            </a:r>
          </a:p>
          <a:p>
            <a:r>
              <a:t>примеры в реальной практике. Прежде чем перейти к постановке, разберём</a:t>
            </a:r>
          </a:p>
          <a:p>
            <a:r>
              <a:t>коротко, что такое RAG и что такое агент — эти два термина понадобятся</a:t>
            </a:r>
          </a:p>
          <a:p>
            <a:r>
              <a:t>буквально через пару слайдов, а до Лекции 3, где их разберут подробно</a:t>
            </a:r>
          </a:p>
          <a:p>
            <a:r>
              <a:t>изнутри, ещё далеко, так что сегодня достаточно общей интуиции: что делает</a:t>
            </a:r>
          </a:p>
          <a:p>
            <a:r>
              <a:t>каждая из архитектур и чем они отличаются друг от друга на уровне общей</a:t>
            </a:r>
          </a:p>
          <a:p>
            <a:r>
              <a:t>картины, без деталей устройства.</a:t>
            </a:r>
          </a:p>
          <a:p/>
          <a:p>
            <a:r>
              <a:t>(Фото: SimonWaldherr · Wikimedia Commons · CC BY-SA 4.0)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перейти к следующему кейсу, два слова про RAG — эта</a:t>
            </a:r>
          </a:p>
          <a:p>
            <a:r>
              <a:t>аббревиатура вам сейчас понадобится, и дальше в занятии будет всплывать</a:t>
            </a:r>
          </a:p>
          <a:p>
            <a:r>
              <a:t>ещё не раз. Устроено это так: вопрос пользователя → система ищет</a:t>
            </a:r>
          </a:p>
          <a:p>
            <a:r>
              <a:t>релевантные фрагменты в базе знаний → найденные фрагменты подкладываются</a:t>
            </a:r>
          </a:p>
          <a:p>
            <a:r>
              <a:t>в контекст модели → модель генерирует ответ на основе вопроса и</a:t>
            </a:r>
          </a:p>
          <a:p>
            <a:r>
              <a:t>найденного. RAG нужен, когда база знаний большая, меняется во времени, и</a:t>
            </a:r>
          </a:p>
          <a:p>
            <a:r>
              <a:t>весь её объём физически не помещается в один запрос к модели — то есть</a:t>
            </a:r>
          </a:p>
          <a:p>
            <a:r>
              <a:t>модель физически не может «прочитать» всё сразу, ей нужно заранее найти</a:t>
            </a:r>
          </a:p>
          <a:p>
            <a:r>
              <a:t>только релевантный кусок. Как устроен поиск внутри — векторные</a:t>
            </a:r>
          </a:p>
          <a:p>
            <a:r>
              <a:t>представления, индексация — подробно разберём на Лекции 3, сегодня нам</a:t>
            </a:r>
          </a:p>
          <a:p>
            <a:r>
              <a:t>достаточно этой интуиции, чтобы узнавать архитектуру, когда она нужна, а</a:t>
            </a:r>
          </a:p>
          <a:p>
            <a:r>
              <a:t>не изобретать её заново каждый раз с нуля.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второе — агент. Здесь модель работает не одним вызовом, а циклом:</a:t>
            </a:r>
          </a:p>
          <a:p>
            <a:r>
              <a:t>строит план, вызывает внешний инструмент — это может быть API, поиск,</a:t>
            </a:r>
          </a:p>
          <a:p>
            <a:r>
              <a:t>запуск кода, — проверяет результат этого вызова, решает, что делать</a:t>
            </a:r>
          </a:p>
          <a:p>
            <a:r>
              <a:t>дальше, и так несколько раз подряд, пока задача не будет выполнена или не</a:t>
            </a:r>
          </a:p>
          <a:p>
            <a:r>
              <a:t>потребуется вмешательство человека. Ключевое отличие от RAG — здесь</a:t>
            </a:r>
          </a:p>
          <a:p>
            <a:r>
              <a:t>модель не просто отвечает на вопрос по найденным фрагментам, она реально</a:t>
            </a:r>
          </a:p>
          <a:p>
            <a:r>
              <a:t>что-то делает во внешнем мире и проверяет, получилось ли. Детали того,</a:t>
            </a:r>
          </a:p>
          <a:p>
            <a:r>
              <a:t>как агент планирует внутри, — снова Лекция 3. Сегодня нам важно только</a:t>
            </a:r>
          </a:p>
          <a:p>
            <a:r>
              <a:t>одно: узнавать, когда задача требует именно такого цикла с инструментами,</a:t>
            </a:r>
          </a:p>
          <a:p>
            <a:r>
              <a:t>а не разового ответа модели. Держите эти две схемы в голове — RAG и</a:t>
            </a:r>
          </a:p>
          <a:p>
            <a:r>
              <a:t>агент — они понадобятся буквально через минуту, в следующем кейсе.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Постановка: после каждого созвона транскрипт приходит письмом, и нужен</a:t>
            </a:r>
          </a:p>
          <a:p>
            <a:r>
              <a:t>протокол — решения, поручения, сроки. У команды около 15 встреч в неделю,</a:t>
            </a:r>
          </a:p>
          <a:p>
            <a:r>
              <a:t>и сейчас протокол по каждой пишет проджект-менеджер вручную, пересматривая</a:t>
            </a:r>
          </a:p>
          <a:p>
            <a:r>
              <a:t>транскрипт и выписывая ключевые пункты, а готовые протоколы складывают в</a:t>
            </a:r>
          </a:p>
          <a:p>
            <a:r>
              <a:t>общую папку на диске. На это уходит заметное время каждую неделю, которое</a:t>
            </a:r>
          </a:p>
          <a:p>
            <a:r>
              <a:t>хочется освободить. На входе у нас — полный транскрипт одной встречи</a:t>
            </a:r>
          </a:p>
          <a:p>
            <a:r>
              <a:t>целиком, разумного объёма, буквально запись одного созвона, а на выходе</a:t>
            </a:r>
          </a:p>
          <a:p>
            <a:r>
              <a:t>нужны структурированные решения, поручения и сроки, разложенные по</a:t>
            </a:r>
          </a:p>
          <a:p>
            <a:r>
              <a:t>пунктам. Вопрос в зал: какая архитектура здесь нужна? Аргументируйте,</a:t>
            </a:r>
          </a:p>
          <a:p>
            <a:r>
              <a:t>почему именно так — что конкретно в этой постановке подсказывает вам</a:t>
            </a:r>
          </a:p>
          <a:p>
            <a:r>
              <a:t>этот выбор, а не другой? Кто готов ответить первым?</a:t>
            </a:r>
          </a:p>
          <a:p/>
          <a:p>
            <a:r>
              <a:t>(Фото: Amtec Photos · Wikimedia Commons · CC BY 2.0)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Весь транскрипт одной встречи целиком помещается в контекст модели —</a:t>
            </a:r>
          </a:p>
          <a:p>
            <a:r>
              <a:t>значит, нужен один разовый вызов модели, ни RAG, ни агент не требуются и</a:t>
            </a:r>
          </a:p>
          <a:p>
            <a:r>
              <a:t>были бы избыточным усложнением. Схема простая: письмо с транскриптом</a:t>
            </a:r>
          </a:p>
          <a:p>
            <a:r>
              <a:t>приходит на вход → один вызов модели с заранее заданным шаблоном</a:t>
            </a:r>
          </a:p>
          <a:p>
            <a:r>
              <a:t>(«выдели решения, поручения, сроки») → на выходе готовый протокол. Никакого</a:t>
            </a:r>
          </a:p>
          <a:p>
            <a:r>
              <a:t>хранилища, никакого цикла с проверкой промежуточных результатов — потому</a:t>
            </a:r>
          </a:p>
          <a:p>
            <a:r>
              <a:t>что задача этого не требует. Всё, что нужно модели для ответа, помещается</a:t>
            </a:r>
          </a:p>
          <a:p>
            <a:r>
              <a:t>в один запрос целиком, и результат приходит сразу же, без промежуточных</a:t>
            </a:r>
          </a:p>
          <a:p>
            <a:r>
              <a:t>шагов и без обращения к каким-либо внешним системам. Это самый простой</a:t>
            </a:r>
          </a:p>
          <a:p>
            <a:r>
              <a:t>вариант из всех возможных, и он здесь полностью оправдан текущей</a:t>
            </a:r>
          </a:p>
          <a:p>
            <a:r>
              <a:t>формулировкой задачи — усложнять его сейчас означало бы решать проблему,</a:t>
            </a:r>
          </a:p>
          <a:p>
            <a:r>
              <a:t>которой пока попросту не существует.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Проходит время. Протоколы копятся в общей папке на диске, и на планёрке</a:t>
            </a:r>
          </a:p>
          <a:p>
            <a:r>
              <a:t>кто-то спрашивает: «А что мы решали по подрядчику X в мае?» За это время</a:t>
            </a:r>
          </a:p>
          <a:p>
            <a:r>
              <a:t>накопилось уже много протоколов с разных встреч, по разным проектам и</a:t>
            </a:r>
          </a:p>
          <a:p>
            <a:r>
              <a:t>подрядчикам, и это не одна встреча, а десятки. Вопрос в зал: меняет ли это</a:t>
            </a:r>
          </a:p>
          <a:p>
            <a:r>
              <a:t>архитектуру? Что именно изменилось по сравнению с тем, что мы обсуждали</a:t>
            </a:r>
          </a:p>
          <a:p>
            <a:r>
              <a:t>минуту назад? Дайте себе секунду сопоставить новую просьбу с тем решением,</a:t>
            </a:r>
          </a:p>
          <a:p>
            <a:r>
              <a:t>которое вы предлагали для одной встречи. Кто хочет высказаться первым? И</a:t>
            </a:r>
          </a:p>
          <a:p>
            <a:r>
              <a:t>отдельно спрошу тех, кто минуту назад говорил про разовый вызов модели: кто</a:t>
            </a:r>
          </a:p>
          <a:p>
            <a:r>
              <a:t>из вас сейчас передумал — и почему именно эта деталь заставила вас</a:t>
            </a:r>
          </a:p>
          <a:p>
            <a:r>
              <a:t>пересмотреть ответ?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 был один транскрипт одной встречи, который целиком помещается в</a:t>
            </a:r>
          </a:p>
          <a:p>
            <a:r>
              <a:t>контекст модели, разовый вызов был правильным и достаточным ответом — ни</a:t>
            </a:r>
          </a:p>
          <a:p>
            <a:r>
              <a:t>RAG, ни агент были бы не нужны и только усложнили бы дело без всякой</a:t>
            </a:r>
          </a:p>
          <a:p>
            <a:r>
              <a:t>пользы. Но теперь база протоколов растёт со временем, постоянно</a:t>
            </a:r>
          </a:p>
          <a:p>
            <a:r>
              <a:t>пополняется новыми встречами, и весь этот объём уже физически не влезает</a:t>
            </a:r>
          </a:p>
          <a:p>
            <a:r>
              <a:t>в один запрос к модели. Значит, нужен поиск по этой растущей базе на</a:t>
            </a:r>
          </a:p>
          <a:p>
            <a:r>
              <a:t>произвольный запрос пользователя — и это ровно то, для чего нужен RAG:</a:t>
            </a:r>
          </a:p>
          <a:p>
            <a:r>
              <a:t>искать релевантные фрагменты протоколов по смыслу запроса, а не пытаться</a:t>
            </a:r>
          </a:p>
          <a:p>
            <a:r>
              <a:t>каждый раз скармливать модели весь архив целиком. Обратите внимание на</a:t>
            </a:r>
          </a:p>
          <a:p>
            <a:r>
              <a:t>схему — прежний путь никуда не делся, просто к нему добавилось хранилище,</a:t>
            </a:r>
          </a:p>
          <a:p>
            <a:r>
              <a:t>индексация и поиск перед тем, как нужные фрагменты попадают в тот же самый</a:t>
            </a:r>
          </a:p>
          <a:p>
            <a:r>
              <a:t>вызов модели, что был у нас на предыдущем шаге. Мы не выбрали RAG заранее</a:t>
            </a:r>
          </a:p>
          <a:p>
            <a:r>
              <a:t>«на всякий случай» — мы пришли к нему только когда появилось конкретное</a:t>
            </a:r>
          </a:p>
          <a:p>
            <a:r>
              <a:t>требование, которое простой вариант закрыть уже не мог.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 ещё одна реплика от той же команды, чуть позже: «Поручения из протоколов</a:t>
            </a:r>
          </a:p>
          <a:p>
            <a:r>
              <a:t>мы всё равно руками в таск-трекер переносим...» — то есть система уже</a:t>
            </a:r>
          </a:p>
          <a:p>
            <a:r>
              <a:t>находит решения и поручения в тексте протокола, показывает их человеку, но</a:t>
            </a:r>
          </a:p>
          <a:p>
            <a:r>
              <a:t>кто-то всё равно вручную открывает таск-трекер и заводит там задачи одну</a:t>
            </a:r>
          </a:p>
          <a:p>
            <a:r>
              <a:t>за другой, выставляя исполнителя и срок. При этом уже сейчас видно, что</a:t>
            </a:r>
          </a:p>
          <a:p>
            <a:r>
              <a:t>половина поручений из майских протоколов до сих пор без исполнителя —</a:t>
            </a:r>
          </a:p>
          <a:p>
            <a:r>
              <a:t>руки до переноса просто не доходят. Вопрос в зал: меняет ли это</a:t>
            </a:r>
          </a:p>
          <a:p>
            <a:r>
              <a:t>архитектуру ещё раз? Что здесь появилось нового по сравнению с поиском по</a:t>
            </a:r>
          </a:p>
          <a:p>
            <a:r>
              <a:t>базе, о котором мы только что говорили минуту назад? Кто передумал — и,</a:t>
            </a:r>
          </a:p>
          <a:p>
            <a:r>
              <a:t>что важнее самого факта смены мнения, почему именно эта деталь заставила</a:t>
            </a:r>
          </a:p>
          <a:p>
            <a:r>
              <a:t>вас пересмотреть архитектуру, а не просто добавить ещё один шаг к прежнему</a:t>
            </a:r>
          </a:p>
          <a:p>
            <a:r>
              <a:t>решению?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Появилось действие во внешней системе: нужно вызвать API таск-трекера,</a:t>
            </a:r>
          </a:p>
          <a:p>
            <a:r>
              <a:t>создать задачи, проверить, что они создались корректно, с правильным</a:t>
            </a:r>
          </a:p>
          <a:p>
            <a:r>
              <a:t>исполнителем и сроком. Один вызов модели или даже поиск по базе такое не</a:t>
            </a:r>
          </a:p>
          <a:p>
            <a:r>
              <a:t>закрывают — нужен workflow или полноценный агент, который вызывает</a:t>
            </a:r>
          </a:p>
          <a:p>
            <a:r>
              <a:t>внешний инструмент и проверяет результат вызова. Смотрите на схему целиком:</a:t>
            </a:r>
          </a:p>
          <a:p>
            <a:r>
              <a:t>прежний путь с хранилищем и поиском никуда не делся, он просто дополнен</a:t>
            </a:r>
          </a:p>
          <a:p>
            <a:r>
              <a:t>справа новыми блоками — извлечь поручение, вызвать API, создать задачу,</a:t>
            </a:r>
          </a:p>
          <a:p>
            <a:r>
              <a:t>проверить результат. Каждое расширение оплачено новым требованием: разовый</a:t>
            </a:r>
          </a:p>
          <a:p>
            <a:r>
              <a:t>вызов был оправдан, пока входило всё в один транскрипт; RAG появился, когда</a:t>
            </a:r>
          </a:p>
          <a:p>
            <a:r>
              <a:t>база выросла; агент появился, когда потребовалось действие во внешней</a:t>
            </a:r>
          </a:p>
          <a:p>
            <a:r>
              <a:t>системе. Архитектурный выбор двигали конкретные новые требования, а не</a:t>
            </a:r>
          </a:p>
          <a:p>
            <a:r>
              <a:t>мода на технологию. Начинайте с простейшего варианта, который решает</a:t>
            </a:r>
          </a:p>
          <a:p>
            <a:r>
              <a:t>текущую задачу, и усложняйте только тогда, когда появляется требование,</a:t>
            </a:r>
          </a:p>
          <a:p>
            <a:r>
              <a:t>которое простой вариант закрыть физически не может. Не наоборот.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один блиц. Постановка: нужен еженедельный дайджест по рабочим чатам и</a:t>
            </a:r>
          </a:p>
          <a:p>
            <a:r>
              <a:t>почте команды — что обсуждали, что решили за неделю, коротко, одним</a:t>
            </a:r>
          </a:p>
          <a:p>
            <a:r>
              <a:t>сообщением, чтобы не перечитывать всю переписку заново. Дайджест нужен по</a:t>
            </a:r>
          </a:p>
          <a:p>
            <a:r>
              <a:t>пятницам, к 17:00, чтобы руководитель успевал его прочитать перед</a:t>
            </a:r>
          </a:p>
          <a:p>
            <a:r>
              <a:t>выходными, а не разбирался с накопившейся перепиской уже в понедельник</a:t>
            </a:r>
          </a:p>
          <a:p>
            <a:r>
              <a:t>утром. Источников несколько — и рабочий чат команды, и почта, и всё это</a:t>
            </a:r>
          </a:p>
          <a:p>
            <a:r>
              <a:t>нужно свести в одно связное сообщение, а не просто склеить куски текста</a:t>
            </a:r>
          </a:p>
          <a:p>
            <a:r>
              <a:t>подряд. Вопрос в зал: какая архитектура здесь нужна — разовый вызов</a:t>
            </a:r>
          </a:p>
          <a:p>
            <a:r>
              <a:t>модели, RAG, агент, или что-то ещё? Аргументируйте, не просто называйте</a:t>
            </a:r>
          </a:p>
          <a:p>
            <a:r>
              <a:t>технологию — объясните, почему выбрали именно её, и что конкретно в</a:t>
            </a:r>
          </a:p>
          <a:p>
            <a:r>
              <a:t>постановке навело вас именно на эту мысль. Кто готов? Аргументируйте свой</a:t>
            </a:r>
          </a:p>
          <a:p>
            <a:r>
              <a:t>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часто звучит «нужен RAG, потому что много источников» — и это не</a:t>
            </a:r>
          </a:p>
          <a:p>
            <a:r>
              <a:t>так, хотя интуиция понятна. Нужен агент или конвейер, потому что кто-то</a:t>
            </a:r>
          </a:p>
          <a:p>
            <a:r>
              <a:t>должен обойти несколько источников по расписанию — зайти в чат, зайти в</a:t>
            </a:r>
          </a:p>
          <a:p>
            <a:r>
              <a:t>почту, собрать сообщения, — а это многошаговая задача с обращением к</a:t>
            </a:r>
          </a:p>
          <a:p>
            <a:r>
              <a:t>внешним системам. А вот RAG здесь не нужен: источники обходятся напрямую</a:t>
            </a:r>
          </a:p>
          <a:p>
            <a:r>
              <a:t>по расписанию, а не по произвольному запросу пользователя к большой базе,</a:t>
            </a:r>
          </a:p>
          <a:p>
            <a:r>
              <a:t>и после сбора материала суммаризация делается одним вызовом модели, без</a:t>
            </a:r>
          </a:p>
          <a:p>
            <a:r>
              <a:t>поиска по архиву. RAG — это конкретно про поиск по большой, меняющейся</a:t>
            </a:r>
          </a:p>
          <a:p>
            <a:r>
              <a:t>базе на произвольный запрос пользователя, а не про «у нас много</a:t>
            </a:r>
          </a:p>
          <a:p>
            <a:r>
              <a:t>источников данных» само по себе. Перепутать эти два признака — частая</a:t>
            </a:r>
          </a:p>
          <a:p>
            <a:r>
              <a:t>практическая ошибка, которую стоит запомнить отдельно от самого кейса.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случая из практики RAG и агентов уже в реальном проде. Позитивный —</a:t>
            </a:r>
          </a:p>
          <a:p>
            <a:r>
              <a:t>AI-ассистент Morgan Stanley: партнёрство с OpenAI объявили в марте 2023</a:t>
            </a:r>
          </a:p>
          <a:p>
            <a:r>
              <a:t>года, сам ассистент запустили в сентябре 2023. Это RAG по базе примерно</a:t>
            </a:r>
          </a:p>
          <a:p>
            <a:r>
              <a:t>100 000 research-документов компании. К середине 2024 года доля</a:t>
            </a:r>
          </a:p>
          <a:p>
            <a:r>
              <a:t>использующих ассистента команд финансовых советников превысила 98%. И</a:t>
            </a:r>
          </a:p>
          <a:p>
            <a:r>
              <a:t>ключевая метрика — доступность нужного документа для советника выросла с</a:t>
            </a:r>
          </a:p>
          <a:p>
            <a:r>
              <a:t>20% до 80%: раньше находили нужный материал примерно в одном случае из</a:t>
            </a:r>
          </a:p>
          <a:p>
            <a:r>
              <a:t>пяти, теперь — в четырёх из пяти. Негативный пример — инцидент в компании</a:t>
            </a:r>
          </a:p>
          <a:p>
            <a:r>
              <a:t>Replit в июле 2025 года: ИИ-агент удалил продакшен-базу данных, затронув</a:t>
            </a:r>
          </a:p>
          <a:p>
            <a:r>
              <a:t>данные примерно 1200 руководителей компаний, и сделал это во время</a:t>
            </a:r>
          </a:p>
          <a:p>
            <a:r>
              <a:t>объявленного code freeze — заморозки изменений в коде, — вопреки прямой</a:t>
            </a:r>
          </a:p>
          <a:p>
            <a:r>
              <a:t>инструкции не трогать продакшен. После этого агент ещё и неверно</a:t>
            </a:r>
          </a:p>
          <a:p>
            <a:r>
              <a:t>утверждал, что откат невозможен, хотя на самом деле данные восстановили.</a:t>
            </a:r>
          </a:p>
          <a:p>
            <a:r>
              <a:t>CEO компании публично извинился. После инцидента ввели автоматическое</a:t>
            </a:r>
          </a:p>
          <a:p>
            <a:r>
              <a:t>разделение окружений dev и prod и специальный режим агента «только</a:t>
            </a:r>
          </a:p>
          <a:p>
            <a:r>
              <a:t>планирование», без права выполнять деструктивные операции. И ещё один</a:t>
            </a:r>
          </a:p>
          <a:p>
            <a:r>
              <a:t>пример мельком: компания Octomind сняла с продакшена фреймворк LangChain</a:t>
            </a:r>
          </a:p>
          <a:p>
            <a:r>
              <a:t>после года использования и вернулась к прямым вызовам API — 17 июня 2024</a:t>
            </a:r>
          </a:p>
          <a:p>
            <a:r>
              <a:t>года.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Последний, четвёртый вопрос сегодня: считать данные через внешний облачный</a:t>
            </a:r>
          </a:p>
          <a:p>
            <a:r>
              <a:t>API или на своей инфраструктуре. Это про то, где физически обрабатываются</a:t>
            </a:r>
          </a:p>
          <a:p>
            <a:r>
              <a:t>данные, а не про то, какая модель лучше по качеству ответа — обе модели</a:t>
            </a:r>
          </a:p>
          <a:p>
            <a:r>
              <a:t>могут выдавать похожий результат, а разница окажется в том, куда именно</a:t>
            </a:r>
          </a:p>
          <a:p>
            <a:r>
              <a:t>уходит запрос и что происходит с содержимым на другом конце. У внешнего</a:t>
            </a:r>
          </a:p>
          <a:p>
            <a:r>
              <a:t>API — максимальная мощность без вложений в железо; у локального инференса —</a:t>
            </a:r>
          </a:p>
          <a:p>
            <a:r>
              <a:t>контроль над тем, что покидает периметр компании, и независимость от</a:t>
            </a:r>
          </a:p>
          <a:p>
            <a:r>
              <a:t>чужого сервиса. Взвешивать эти стороны приходится не абстрактно, а на</a:t>
            </a:r>
          </a:p>
          <a:p>
            <a:r>
              <a:t>конкретных данных конкретной задачи — одинаковых ответов для разных</a:t>
            </a:r>
          </a:p>
          <a:p>
            <a:r>
              <a:t>компаний здесь не бывает. Как и раньше, начнём с постановки задачи одной</a:t>
            </a:r>
          </a:p>
          <a:p>
            <a:r>
              <a:t>фразой от заказчика.</a:t>
            </a:r>
          </a:p>
          <a:p/>
          <a:p>
            <a:r>
              <a:t>(Фото: NASA · Wikimedia Commons · общественное достояние)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Постановка от руководителя отдела продаж: хочет по каждому звонку</a:t>
            </a:r>
          </a:p>
          <a:p>
            <a:r>
              <a:t>менеджера карточку — какая потребность клиента выявлена, какие возражения</a:t>
            </a:r>
          </a:p>
          <a:p>
            <a:r>
              <a:t>прозвучали, какие договорённости достигнуты, чтобы не пересматривать</a:t>
            </a:r>
          </a:p>
          <a:p>
            <a:r>
              <a:t>запись целиком перед следующим звонком с тем же клиентом. В отделе 8</a:t>
            </a:r>
          </a:p>
          <a:p>
            <a:r>
              <a:t>менеджеров по продажам, у каждого по 15-20 звонков в день. Записи сейчас</a:t>
            </a:r>
          </a:p>
          <a:p>
            <a:r>
              <a:t>лежат в телефонии и никуда не выгружаются, а вся история клиента ведётся</a:t>
            </a:r>
          </a:p>
          <a:p>
            <a:r>
              <a:t>в CRM компании. На входе — запись разговора, обычный свободный диалог</a:t>
            </a:r>
          </a:p>
          <a:p>
            <a:r>
              <a:t>между менеджером и клиентом, без всякой структуры, с перебиваниями,</a:t>
            </a:r>
          </a:p>
          <a:p>
            <a:r>
              <a:t>паузами, отступлениями от темы, иногда с посторонними звуками на фоне.</a:t>
            </a:r>
          </a:p>
          <a:p>
            <a:r>
              <a:t>Вопрос в зал: как это построить? Что предложите, и почему именно так? Кто</a:t>
            </a:r>
          </a:p>
          <a:p>
            <a:r>
              <a:t>начнёт?</a:t>
            </a:r>
          </a:p>
          <a:p/>
          <a:p>
            <a:r>
              <a:t>(Фото: OddibeKerfeld · Wikimedia Commons · CC BY-SA 3.0)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Юрист попал на демо прототипа и услышал запись: клиент диктует паспортные</a:t>
            </a:r>
          </a:p>
          <a:p>
            <a:r>
              <a:t>данные для договора доставки. «Стоп. Вы эти записи в какой сервис</a:t>
            </a:r>
          </a:p>
          <a:p>
            <a:r>
              <a:t>отправляете?» Никто из инженеров не думал об этом заранее — все слушали</a:t>
            </a:r>
          </a:p>
          <a:p>
            <a:r>
              <a:t>только про потребности и возражения, потому что именно об этом просил</a:t>
            </a:r>
          </a:p>
          <a:p>
            <a:r>
              <a:t>руководитель отдела продаж. Смотрите на правовую карту. В России базовый</a:t>
            </a:r>
          </a:p>
          <a:p>
            <a:r>
              <a:t>закон о персональных данных — 152-ФЗ, а с 30 мая 2025 года действуют</a:t>
            </a:r>
          </a:p>
          <a:p>
            <a:r>
              <a:t>поправки 420-ФЗ: за первую утечку — фиксированный штраф от 3 до 5</a:t>
            </a:r>
          </a:p>
          <a:p>
            <a:r>
              <a:t>миллионов рублей, за повторную — уже оборотный штраф от 1 до 3% годовой</a:t>
            </a:r>
          </a:p>
          <a:p>
            <a:r>
              <a:t>выручки компании, минимум 20 миллионов, максимум 500 миллионов рублей. В</a:t>
            </a:r>
          </a:p>
          <a:p>
            <a:r>
              <a:t>Евросоюзе по GDPR — до 20 миллионов евро или 4% мирового годового</a:t>
            </a:r>
          </a:p>
          <a:p>
            <a:r>
              <a:t>оборота компании, берётся то, что больше; рекордный штраф получила Meta —</a:t>
            </a:r>
          </a:p>
          <a:p>
            <a:r>
              <a:t>1,2 миллиарда евро в 2023 году. В США единого федерального закона о</a:t>
            </a:r>
          </a:p>
          <a:p>
            <a:r>
              <a:t>защите персональных данных нет — действуют штатные законы, например</a:t>
            </a:r>
          </a:p>
          <a:p>
            <a:r>
              <a:t>калифорнийские CCPA и CPRA, и секторальные, вроде HIPAA для медицинских</a:t>
            </a:r>
          </a:p>
          <a:p>
            <a:r>
              <a:t>данных. Вывод один: за сохранность персональных данных всерьёз борются</a:t>
            </a:r>
          </a:p>
          <a:p>
            <a:r>
              <a:t>все крупные юрисдикции, и это не абстрактный риск, а конкретные суммы в</a:t>
            </a:r>
          </a:p>
          <a:p>
            <a:r>
              <a:t>законах разных стран.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Разговор случился на еженедельном созвоне по бюджету — туда же, кстати,</a:t>
            </a:r>
          </a:p>
          <a:p>
            <a:r>
              <a:t>пригласили и юриста из предыдущего разбора. Две реплики подряд, от разных</a:t>
            </a:r>
          </a:p>
          <a:p>
            <a:r>
              <a:t>людей, но они друг друга усиливают. CTO говорит: «GPU-сервера нет, и</a:t>
            </a:r>
          </a:p>
          <a:p>
            <a:r>
              <a:t>бюджета на него в этом году нет» — то есть про мощную локальную</a:t>
            </a:r>
          </a:p>
          <a:p>
            <a:r>
              <a:t>инфраструктуру для тяжёлой модели речи не идёт вообще. А руководитель</a:t>
            </a:r>
          </a:p>
          <a:p>
            <a:r>
              <a:t>отдела продаж, когда его переспросили, что именно ему нужно на выходе,</a:t>
            </a:r>
          </a:p>
          <a:p>
            <a:r>
              <a:t>отвечает довольно приземлённо: «Мне не беседа нужна — пять полей в CRM».</a:t>
            </a:r>
          </a:p>
          <a:p>
            <a:r>
              <a:t>Не пересказ, не анализ тона голоса, просто пять конкретных полей. Вопрос</a:t>
            </a:r>
          </a:p>
          <a:p>
            <a:r>
              <a:t>в зал: меняет ли это архитектуру ещё раз? Что из сказанного раньше теперь</a:t>
            </a:r>
          </a:p>
          <a:p>
            <a:r>
              <a:t>стоит пересмотреть, и как эти две реплики вместе, а не по отдельности,</a:t>
            </a:r>
          </a:p>
          <a:p>
            <a:r>
              <a:t>меняют картину?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 на самом деле сузилась: нужна не свободная беседа, а</a:t>
            </a:r>
          </a:p>
          <a:p>
            <a:r>
              <a:t>структурированная выжимка по фиксированному шаблону из нескольких полей —</a:t>
            </a:r>
          </a:p>
          <a:p>
            <a:r>
              <a:t>это извлечение фиксированных полей по шаблону, а не свободная беседа с</a:t>
            </a:r>
          </a:p>
          <a:p>
            <a:r>
              <a:t>пониманием контекста. Что именно раскопал инженер, разбираясь с этим:</a:t>
            </a:r>
          </a:p>
          <a:p>
            <a:r>
              <a:t>класс задачи хорошо закрывают актуальные открытые модели размером 7-8</a:t>
            </a:r>
          </a:p>
          <a:p>
            <a:r>
              <a:t>миллиардов параметров — Qwen3, Llama, Gemma, Mistral, а также российские</a:t>
            </a:r>
          </a:p>
          <a:p>
            <a:r>
              <a:t>T-lite и T-pro, разработка Т-Банка на лицензии Apache 2.0, построенные на</a:t>
            </a:r>
          </a:p>
          <a:p>
            <a:r>
              <a:t>базе Qwen. 4-bit квантование — сжатие весов модели до 4 бит на параметр —</a:t>
            </a:r>
          </a:p>
          <a:p>
            <a:r>
              <a:t>позволяет уместить такую модель в 4-6 гигабайт памяти и запустить на</a:t>
            </a:r>
          </a:p>
          <a:p>
            <a:r>
              <a:t>обычном сервере без GPU-фермы, через инструменты вроде Ollama или</a:t>
            </a:r>
          </a:p>
          <a:p>
            <a:r>
              <a:t>llama.cpp. Если понадобится точнее подстроить модель под формат вывода —</a:t>
            </a:r>
          </a:p>
          <a:p>
            <a:r>
              <a:t>можно дообучить методом LoRA, экономным способом дообучения без изменения</a:t>
            </a:r>
          </a:p>
          <a:p>
            <a:r>
              <a:t>всех весов модели, и сделать это на одной GPU. Два урока проговорим явно.</a:t>
            </a:r>
          </a:p>
          <a:p>
            <a:r>
              <a:t>Первый — «сложно для человека» не значит «сложно для модели»: свободный</a:t>
            </a:r>
          </a:p>
          <a:p>
            <a:r>
              <a:t>разговор кажется сложным входом, но извлечение структурированных полей по</a:t>
            </a:r>
          </a:p>
          <a:p>
            <a:r>
              <a:t>шаблону — задача умеренной сложности, которую малая модель решает</a:t>
            </a:r>
          </a:p>
          <a:p>
            <a:r>
              <a:t>надёжно. Второй — чувствительность данных не видна в исходной постановке</a:t>
            </a:r>
          </a:p>
          <a:p>
            <a:r>
              <a:t>задачи, её нужно выяснять вопросами о содержимом входных данных, а не</a:t>
            </a:r>
          </a:p>
          <a:p>
            <a:r>
              <a:t>предполагать по формулировке.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Samsung разрешила сотрудникам использовать ChatGPT 11 марта 2023 года. К</a:t>
            </a:r>
          </a:p>
          <a:p>
            <a:r>
              <a:t>30 марта, то есть примерно за 19 дней, произошло три отдельных инцидента</a:t>
            </a:r>
          </a:p>
          <a:p>
            <a:r>
              <a:t>утечки: дважды — проприетарный код полупроводникового производства, один</a:t>
            </a:r>
          </a:p>
          <a:p>
            <a:r>
              <a:t>раз — транскрипт внутреннего совещания. Реакция — полный запрет</a:t>
            </a:r>
          </a:p>
          <a:p>
            <a:r>
              <a:t>генеративных ИИ-инструментов на корпоративных устройствах в мае 2023 года.</a:t>
            </a:r>
          </a:p>
          <a:p>
            <a:r>
              <a:t>Что можно было сделать вместо полного запрета? Политика допустимого</a:t>
            </a:r>
          </a:p>
          <a:p>
            <a:r>
              <a:t>использования до открытия доступа, фильтры на исходящий трафик, либо</a:t>
            </a:r>
          </a:p>
          <a:p>
            <a:r>
              <a:t>изначально локальная модель для чувствительных задач — ровно тот выбор,</a:t>
            </a:r>
          </a:p>
          <a:p>
            <a:r>
              <a:t>который мы только что тренировали. А теперь позитивные примеры малых</a:t>
            </a:r>
          </a:p>
          <a:p>
            <a:r>
              <a:t>моделей, которые уже работают локально прямо сейчас, а не в лаборатории.</a:t>
            </a:r>
          </a:p>
          <a:p>
            <a:r>
              <a:t>Apple Intelligence — модель примерно 3 миллиарда параметров прямо на</a:t>
            </a:r>
          </a:p>
          <a:p>
            <a:r>
              <a:t>устройстве, доступна в iOS 18.1 с октября 2024 года, на iPhone 15 Pro и</a:t>
            </a:r>
          </a:p>
          <a:p>
            <a:r>
              <a:t>новее: суммаризация текста и правка текста работают полностью офлайн, без</a:t>
            </a:r>
          </a:p>
          <a:p>
            <a:r>
              <a:t>подключения к облаку. Google Gemini Nano — модель размером 1,8-3,25</a:t>
            </a:r>
          </a:p>
          <a:p>
            <a:r>
              <a:t>миллиарда параметров в устройствах Pixel и Android: суммаризация записей</a:t>
            </a:r>
          </a:p>
          <a:p>
            <a:r>
              <a:t>голосового диктофона в приложении Recorder, функция Magic Compose для</a:t>
            </a:r>
          </a:p>
          <a:p>
            <a:r>
              <a:t>умного автодополнения сообщений — обе тоже работают офлайн. Малые модели</a:t>
            </a:r>
          </a:p>
          <a:p>
            <a:r>
              <a:t>уже в кармане у большой доли аудитории в этом зале — просто не все об</a:t>
            </a:r>
          </a:p>
          <a:p>
            <a:r>
              <a:t>этом задумывались.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кого есть похожая задача с работы — там, где стоял вопрос, нужен ли ИИ,</a:t>
            </a:r>
          </a:p>
          <a:p>
            <a:r>
              <a:t>и какой? Не обязательно готовое решение, достаточно, чтобы вы могли</a:t>
            </a:r>
          </a:p>
          <a:p>
            <a:r>
              <a:t>сформулировать её в двух-трёх предложениях, ровно так, как её принёс бы</a:t>
            </a:r>
          </a:p>
          <a:p>
            <a:r>
              <a:t>вам заказчик, без причёсывания под учебный пример. Мы разберём её всей</a:t>
            </a:r>
          </a:p>
          <a:p>
            <a:r>
              <a:t>аудиторией так же, как сегодняшние кейсы: какой выбор здесь стоит острее</a:t>
            </a:r>
          </a:p>
          <a:p>
            <a:r>
              <a:t>всего, каких вводных не хватает, чтобы ответить обоснованно, и что</a:t>
            </a:r>
          </a:p>
          <a:p>
            <a:r>
              <a:t>происходит, если эти вводные вдруг появляются или меняются. Если вы уже</a:t>
            </a:r>
          </a:p>
          <a:p>
            <a:r>
              <a:t>знаете, как эта задача разрешилась на практике — расскажите нам это уже</a:t>
            </a:r>
          </a:p>
          <a:p>
            <a:r>
              <a:t>после того, как аудитория выскажет свои предположения, не раньше. Кто</a:t>
            </a:r>
          </a:p>
          <a:p>
            <a:r>
              <a:t>готов рассказать? Если никто не откликнется сразу — у меня есть запасная</a:t>
            </a:r>
          </a:p>
          <a:p>
            <a:r>
              <a:t>история, но мне правда интереснее разобрать что-то из вашей собственной</a:t>
            </a:r>
          </a:p>
          <a:p>
            <a:r>
              <a:t>практики.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Соберём то, что уже прозвучало сегодня — ничего нового, просто компиляция.</a:t>
            </a:r>
          </a:p>
          <a:p>
            <a:r>
              <a:t>Документы поставщиков — изучайте данные максимально подробно и широко, не</a:t>
            </a:r>
          </a:p>
          <a:p>
            <a:r>
              <a:t>верьте заказчику на слово, два примера ещё не полная картина. Персоналка в</a:t>
            </a:r>
          </a:p>
          <a:p>
            <a:r>
              <a:t>логах — алгоритмы и малые специализированные модели часто решают текстовую</a:t>
            </a:r>
          </a:p>
          <a:p>
            <a:r>
              <a:t>задачу быстрее и дешевле, чем большой LLM. Помощник поддержки —</a:t>
            </a:r>
          </a:p>
          <a:p>
            <a:r>
              <a:t>организационное ограничение вроде закрытого API может решить архитектуру</a:t>
            </a:r>
          </a:p>
          <a:p>
            <a:r>
              <a:t>не хуже технических требований. Описания товаров — кнопка в существующем</a:t>
            </a:r>
          </a:p>
          <a:p>
            <a:r>
              <a:t>интерфейсе почти всегда бьёт отдельный продукт. Протоколы встреч —</a:t>
            </a:r>
          </a:p>
          <a:p>
            <a:r>
              <a:t>архитектуру двигают конкретные новые требования, а не мода на технологию,</a:t>
            </a:r>
          </a:p>
          <a:p>
            <a:r>
              <a:t>начинайте с простого. Дайджест — много источников данных не значит, что</a:t>
            </a:r>
          </a:p>
          <a:p>
            <a:r>
              <a:t>нужен RAG. И звонки продаж — то, что кажется сложным человеку, не</a:t>
            </a:r>
          </a:p>
          <a:p>
            <a:r>
              <a:t>обязательно сложно для модели, а чувствительность данных выясняется</a:t>
            </a:r>
          </a:p>
          <a:p>
            <a:r>
              <a:t>только вопросами, не предположениями. Вот это и есть то, что стоит унести</a:t>
            </a:r>
          </a:p>
          <a:p>
            <a:r>
              <a:t>с сегодняшнего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тех, кому интересно копнуть глубже — три материала. Главный —</a:t>
            </a:r>
          </a:p>
          <a:p>
            <a:r>
              <a:t>история Klarna, 2023-2025 год: один AI-ассистент поддержки, который</a:t>
            </a:r>
          </a:p>
          <a:p>
            <a:r>
              <a:t>затрагивает почти все сегодняшние выборы, от впечатляющего запуска до</a:t>
            </a:r>
          </a:p>
          <a:p>
            <a:r>
              <a:t>публичного признания генерального директора «мы зашли слишком далеко» и</a:t>
            </a:r>
          </a:p>
          <a:p>
            <a:r>
              <a:t>возврата к найму людей. Второй — история нью-йоркского городского</a:t>
            </a:r>
          </a:p>
          <a:p>
            <a:r>
              <a:t>чат-бота MyCity, который в 2024 году давал малому бизнесу юридически</a:t>
            </a:r>
          </a:p>
          <a:p>
            <a:r>
              <a:t>некорректные советы. И бонус для настроения — история про то, как</a:t>
            </a:r>
          </a:p>
          <a:p>
            <a:r>
              <a:t>автосалон Chevrolet of Watsonville подключил чат-бот на базе стороннего</a:t>
            </a:r>
          </a:p>
          <a:p>
            <a:r>
              <a:t>API без ограждений, и тот «продал» внедорожник Tahoe за один доллар.</a:t>
            </a:r>
          </a:p>
          <a:p>
            <a:r>
              <a:t>Хороший пример того, что происходит, когда внешнюю модель встраивают в</a:t>
            </a:r>
          </a:p>
          <a:p>
            <a:r>
              <a:t>продакшен без защиты от манипуляций пользователя. Если сегодня останется</a:t>
            </a:r>
          </a:p>
          <a:p>
            <a:r>
              <a:t>время — часть этого разберём вживую.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Klarna запустила AI-ассистента поддержки на базе OpenAI в феврале 2024</a:t>
            </a:r>
          </a:p>
          <a:p>
            <a:r>
              <a:t>года, прямо в существующем канале поддержки. За первые 30 дней — 2,3</a:t>
            </a:r>
          </a:p>
          <a:p>
            <a:r>
              <a:t>миллиона чатов, автоматизация 67% обращений. Смотрите на все четыре</a:t>
            </a:r>
          </a:p>
          <a:p>
            <a:r>
              <a:t>развилки сразу. Типовые тикеты вроде статуса заказа или возврата —</a:t>
            </a:r>
          </a:p>
          <a:p>
            <a:r>
              <a:t>формализуемая, повторяющаяся задача, хороший кандидат на автоматизацию.</a:t>
            </a:r>
          </a:p>
          <a:p>
            <a:r>
              <a:t>Ассистент встроен в уже существующий канал поддержки — правильный выбор</a:t>
            </a:r>
          </a:p>
          <a:p>
            <a:r>
              <a:t>по логике сегодняшнего занятия. Архитектура — чат с эскалацией к</a:t>
            </a:r>
          </a:p>
          <a:p>
            <a:r>
              <a:t>человеку, не автономный агент без контроля. А вот инференс — внешний</a:t>
            </a:r>
          </a:p>
          <a:p>
            <a:r>
              <a:t>облачный API с клиентскими данными поддержки, решение сопоставимого</a:t>
            </a:r>
          </a:p>
          <a:p>
            <a:r>
              <a:t>риск-профиля с нашим кейсом про звонки продаж, только здесь его приняли</a:t>
            </a:r>
          </a:p>
          <a:p>
            <a:r>
              <a:t>и оставили в проде. И отдельно — компания заявила эффект «эквивалент 700</a:t>
            </a:r>
          </a:p>
          <a:p>
            <a:r>
              <a:t>агентов» и 40 миллионов долларов в 2024 году, а знаменатель — сколько</a:t>
            </a:r>
          </a:p>
          <a:p>
            <a:r>
              <a:t>агентов поддержки было у компании до запуска — публично не раскрывался.</a:t>
            </a:r>
          </a:p>
          <a:p>
            <a:r>
              <a:t>К третьему кварталу 2025 метрика обновилась до «853 агента» и 60</a:t>
            </a:r>
          </a:p>
          <a:p>
            <a:r>
              <a:t>миллионов долларов эффекта, знаменатель снова не раскрыт. В мае 2025 года</a:t>
            </a:r>
          </a:p>
          <a:p>
            <a:r>
              <a:t>генеральный директор Себастьян Семятковски сказал в интервью Bloomberg:</a:t>
            </a:r>
          </a:p>
          <a:p>
            <a:r>
              <a:t>«We went too far» — мы зашли слишком далеко — и компания вернулась к</a:t>
            </a:r>
          </a:p>
          <a:p>
            <a:r>
              <a:t>найму людей, перейдя на гибридную модель. На какой из четырёх развилок</a:t>
            </a:r>
          </a:p>
          <a:p>
            <a:r>
              <a:t>Klarna ошиблась сильнее всего, на ваш взгляд?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одна ситуация про поток новостей из многих источников. Нужно склеивать</a:t>
            </a:r>
          </a:p>
          <a:p>
            <a:r>
              <a:t>сообщения об одном и том же событии в одну карточку, чтобы пользователь не</a:t>
            </a:r>
          </a:p>
          <a:p>
            <a:r>
              <a:t>видел десять почти одинаковых новостей подряд от разных изданий, которые</a:t>
            </a:r>
          </a:p>
          <a:p>
            <a:r>
              <a:t>пишут об одном и том же событии своими словами. Вопрос в зал: какая</a:t>
            </a:r>
          </a:p>
          <a:p>
            <a:r>
              <a:t>технология здесь нужна? Интуитивно многие сейчас скажут — нужно понимание</a:t>
            </a:r>
          </a:p>
          <a:p>
            <a:r>
              <a:t>смысла текста, значит модель, и придётся гонять каждую пару новостей через</a:t>
            </a:r>
          </a:p>
          <a:p>
            <a:r>
              <a:t>LLM, сравнивая их попарно. Согласны с этим, или у кого-то в зале уже есть</a:t>
            </a:r>
          </a:p>
          <a:p>
            <a:r>
              <a:t>сомнения на этот счёт? Подумайте, сколько таких пар новостей нужно будет</a:t>
            </a:r>
          </a:p>
          <a:p>
            <a:r>
              <a:t>сравнивать каждый день при большом потоке источников.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самом деле сравнение текстов по перекрывающимся фрагментам —</a:t>
            </a:r>
          </a:p>
          <a:p>
            <a:r>
              <a:t>fuzzy-matching и shingling — без обращения к модели закрывает порядка 90%</a:t>
            </a:r>
          </a:p>
          <a:p>
            <a:r>
              <a:t>случаев дублирования, и делает это дешевле и предсказуемее, чем вызов</a:t>
            </a:r>
          </a:p>
          <a:p>
            <a:r>
              <a:t>модели на каждую пару новостей: результат детерминирован, легко</a:t>
            </a:r>
          </a:p>
          <a:p>
            <a:r>
              <a:t>отлаживается, не зависит от настроения модели. Модель нужна только на</a:t>
            </a:r>
          </a:p>
          <a:p>
            <a:r>
              <a:t>оставшуюся часть — случаи, где два сообщения об одном событии написаны</a:t>
            </a:r>
          </a:p>
          <a:p>
            <a:r>
              <a:t>совершенно разными словами и почти не имеют общих фрагментов текста, то</a:t>
            </a:r>
          </a:p>
          <a:p>
            <a:r>
              <a:t>есть это скорее перефраз, чем совпадение. Урок тот же, что был у нас в</a:t>
            </a:r>
          </a:p>
          <a:p>
            <a:r>
              <a:t>самом начале занятия с персональными данными в логах: сначала дешёвый</a:t>
            </a:r>
          </a:p>
          <a:p>
            <a:r>
              <a:t>детерминированный фильтр закрывает основную массу случаев, а модель —</a:t>
            </a:r>
          </a:p>
          <a:p>
            <a:r>
              <a:t>только на остаток, который фильтр физически не берёт.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Сегодня мы прошли через семь ситуаций, и в каждой вы принимали решение —</a:t>
            </a:r>
          </a:p>
          <a:p>
            <a:r>
              <a:t>что вообще строить, какую архитектуру выбрать, где считать данные. Ни</a:t>
            </a:r>
          </a:p>
          <a:p>
            <a:r>
              <a:t>разу правильный ответ не был очевиден с первой формулировки — он всегда</a:t>
            </a:r>
          </a:p>
          <a:p>
            <a:r>
              <a:t>зависел от вопроса, который вы либо задавали, либо нет. Именно это умение</a:t>
            </a:r>
          </a:p>
          <a:p>
            <a:r>
              <a:t>и было целью занятия, а не запоминание конкретных кейсов. Дальше по</a:t>
            </a:r>
          </a:p>
          <a:p>
            <a:r>
              <a:t>курсу мы пойдём вглубь: на следующей лекции — как устроена модель</a:t>
            </a:r>
          </a:p>
          <a:p>
            <a:r>
              <a:t>внутри, что происходит на уровне архитектуры, когда вы отправляете ей</a:t>
            </a:r>
          </a:p>
          <a:p>
            <a:r>
              <a:t>запрос. Сегодняшние кейсы, надеюсь, дали вам интуицию, зачем это знание</a:t>
            </a:r>
          </a:p>
          <a:p>
            <a:r>
              <a:t>вообще нужно инженеру, а не только исследователю. Спасибо за живое</a:t>
            </a:r>
          </a:p>
          <a:p>
            <a:r>
              <a:t>обсуждение сегодня, до встречи на лекции.</a:t>
            </a:r>
          </a:p>
          <a:p/>
          <a:p>
            <a:r>
              <a:t>(Фото: Mickael Courtiade · Wikimedia Commons · CC BY 2.0)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jp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6.jp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29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3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jp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2.pn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Relationship Id="rId5" Type="http://schemas.openxmlformats.org/officeDocument/2006/relationships/image" Target="../media/image4.png"/><Relationship Id="rId6" Type="http://schemas.openxmlformats.org/officeDocument/2006/relationships/image" Target="../media/image41.png"/><Relationship Id="rId7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42.jp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1.png"/><Relationship Id="rId4" Type="http://schemas.openxmlformats.org/officeDocument/2006/relationships/image" Target="../media/image43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44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51.png"/><Relationship Id="rId10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53.png"/><Relationship Id="rId7" Type="http://schemas.openxmlformats.org/officeDocument/2006/relationships/image" Target="../media/image54.png"/><Relationship Id="rId8" Type="http://schemas.openxmlformats.org/officeDocument/2006/relationships/image" Target="../media/image55.png"/><Relationship Id="rId9" Type="http://schemas.openxmlformats.org/officeDocument/2006/relationships/image" Target="../media/image56.png"/><Relationship Id="rId10" Type="http://schemas.openxmlformats.org/officeDocument/2006/relationships/image" Target="../media/image57.png"/><Relationship Id="rId11" Type="http://schemas.openxmlformats.org/officeDocument/2006/relationships/image" Target="../media/image58.png"/><Relationship Id="rId12" Type="http://schemas.openxmlformats.org/officeDocument/2006/relationships/image" Target="../media/image59.png"/><Relationship Id="rId13" Type="http://schemas.openxmlformats.org/officeDocument/2006/relationships/image" Target="../media/image60.png"/><Relationship Id="rId1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31.png"/><Relationship Id="rId6" Type="http://schemas.openxmlformats.org/officeDocument/2006/relationships/image" Target="../media/image18.png"/><Relationship Id="rId7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7.png"/><Relationship Id="rId4" Type="http://schemas.openxmlformats.org/officeDocument/2006/relationships/image" Target="../media/image64.jp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Relationship Id="rId7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7.png"/><Relationship Id="rId4" Type="http://schemas.openxmlformats.org/officeDocument/2006/relationships/image" Target="../media/image69.png"/><Relationship Id="rId5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68.png"/><Relationship Id="rId4" Type="http://schemas.openxmlformats.org/officeDocument/2006/relationships/image" Target="../media/image74.png"/><Relationship Id="rId5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61.png"/><Relationship Id="rId4" Type="http://schemas.openxmlformats.org/officeDocument/2006/relationships/image" Target="../media/image75.png"/><Relationship Id="rId5" Type="http://schemas.openxmlformats.org/officeDocument/2006/relationships/image" Target="../media/image31.png"/><Relationship Id="rId6" Type="http://schemas.openxmlformats.org/officeDocument/2006/relationships/image" Target="../media/image38.png"/><Relationship Id="rId7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jpg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1-nasa-engineers-real.jpg"/>
          <p:cNvPicPr>
            <a:picLocks noChangeAspect="1"/>
          </p:cNvPicPr>
          <p:nvPr/>
        </p:nvPicPr>
        <p:blipFill>
          <a:blip r:embed="rId2"/>
          <a:srcRect t="7821" b="782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21295C">
              <a:alpha val="80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434840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СЕМИНАР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846320"/>
            <a:ext cx="1106424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Когда ИИ, каким и на чём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0644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C8D2DF"/>
                </a:solidFill>
                <a:latin typeface="Arial"/>
              </a:rPr>
              <a:t>Семь реальных рабочих ситуаций — и в каждой решение, которое инженер принимает раньше, чем открывает редактор кода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Сегодня — четыре выбора, семь кейсов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0120"/>
            <a:ext cx="11183112" cy="56692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plit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51560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960120"/>
            <a:ext cx="10149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Arial"/>
              </a:rPr>
              <a:t>ИИ или обычный код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18488"/>
            <a:ext cx="11183112" cy="56692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git-fork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09928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0" y="1618488"/>
            <a:ext cx="10149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Arial"/>
              </a:rPr>
              <a:t>Встроить или делать своё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76856"/>
            <a:ext cx="11183112" cy="56692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route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368296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71600" y="2276856"/>
            <a:ext cx="10149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Arial"/>
              </a:rPr>
              <a:t>Разовый вызов, RAG или агент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35224"/>
            <a:ext cx="11183112" cy="56692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server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026664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71600" y="2935224"/>
            <a:ext cx="10149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Arial"/>
              </a:rPr>
              <a:t>Внешний API или локальный инференс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03320"/>
            <a:ext cx="111831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1">
                <a:solidFill>
                  <a:srgbClr val="6B7685"/>
                </a:solidFill>
                <a:latin typeface="Arial"/>
              </a:rPr>
              <a:t>Семь кейсов, на которых сегодня разбираем эти выборы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087368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file-text-065A82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" y="4160520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14984" y="4087368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599431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shield-alert-065A82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" y="4672583"/>
            <a:ext cx="274320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14984" y="4599431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Персоналка в логах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111496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monitor-065A82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" y="5184648"/>
            <a:ext cx="274320" cy="274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14984" y="5111496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623560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6" name="Picture 25" descr="store-065A82-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5696712"/>
            <a:ext cx="274320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14984" y="5623560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Описания товаров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31636" y="4087368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9" name="Picture 28" descr="list-checks-065A82-6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59651" y="4160520"/>
            <a:ext cx="274320" cy="2743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743700" y="4087368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31636" y="4599431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2" name="Picture 31" descr="mail-065A82-6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59651" y="4672583"/>
            <a:ext cx="274320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743700" y="4599431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Дайджест по чатам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1636" y="5111496"/>
            <a:ext cx="5454396" cy="4206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-065A82-6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59651" y="5184648"/>
            <a:ext cx="274320" cy="2743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43700" y="5111496"/>
            <a:ext cx="483260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6281928"/>
            <a:ext cx="11183112" cy="256032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6281928"/>
            <a:ext cx="106070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В каждом кейсе появится деталь, которой не было в первой постановке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03-divider-code-real.jpg"/>
          <p:cNvPicPr>
            <a:picLocks noChangeAspect="1"/>
          </p:cNvPicPr>
          <p:nvPr/>
        </p:nvPicPr>
        <p:blipFill>
          <a:blip r:embed="rId2"/>
          <a:srcRect t="11157" b="11157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>
              <a:alpha val="7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3A4474"/>
                </a:solidFill>
                <a:latin typeface="Arial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ИИ или обычный код?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43400"/>
            <a:ext cx="512064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Кейс: документы поставщиков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074920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1">
                <a:solidFill>
                  <a:srgbClr val="C8D2DF"/>
                </a:solidFill>
                <a:latin typeface="Arial"/>
              </a:rPr>
              <a:t>Инженеры часто решают это на глаз, по ощущению сложности задачи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868680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04241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380744"/>
            <a:ext cx="10744200" cy="137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«Три человека, около 400 накладных в месяц, всё руками в 1С — можно автоматом?»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828800"/>
            <a:ext cx="11183112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04-documents-pile-real.jpg"/>
          <p:cNvPicPr>
            <a:picLocks noChangeAspect="1"/>
          </p:cNvPicPr>
          <p:nvPr/>
        </p:nvPicPr>
        <p:blipFill>
          <a:blip r:embed="rId3"/>
          <a:srcRect t="42519" b="42519"/>
          <a:stretch>
            <a:fillRect/>
          </a:stretch>
        </p:blipFill>
        <p:spPr>
          <a:xfrm>
            <a:off x="594360" y="1920240"/>
            <a:ext cx="11000232" cy="12344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3447288"/>
            <a:ext cx="3593592" cy="2423160"/>
          </a:xfrm>
          <a:prstGeom prst="roundRect">
            <a:avLst>
              <a:gd name="adj" fmla="val 1257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3557016"/>
            <a:ext cx="33009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Документ поставщика 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" y="3977639"/>
            <a:ext cx="78867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" y="3977639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Дата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74470" y="3977639"/>
            <a:ext cx="78867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74470" y="3977639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№ накл.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99716" y="3977639"/>
            <a:ext cx="78867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99716" y="3977639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Позиция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24962" y="3977639"/>
            <a:ext cx="78867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24962" y="3977639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Сумма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" y="4370832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4370832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24.03.2026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74470" y="4370832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74470" y="4370832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99716" y="4370832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99716" y="4370832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24962" y="4370832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24962" y="4370832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" y="4764023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" y="4764023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74470" y="4764023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74470" y="4764023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99716" y="4764023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99716" y="4764023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24962" y="4764023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24962" y="4764023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0" y="3447288"/>
            <a:ext cx="3593592" cy="2423160"/>
          </a:xfrm>
          <a:prstGeom prst="roundRect">
            <a:avLst>
              <a:gd name="adj" fmla="val 1257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43984" y="3557016"/>
            <a:ext cx="33009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Документ поставщика 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43984" y="3977639"/>
            <a:ext cx="78867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43984" y="3977639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Дата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69230" y="3977639"/>
            <a:ext cx="78867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69230" y="3977639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№ накл.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4476" y="3977639"/>
            <a:ext cx="78867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4476" y="3977639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Позиция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19722" y="3977639"/>
            <a:ext cx="788670" cy="36576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19722" y="3977639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FFFFFF"/>
                </a:solidFill>
                <a:latin typeface="Arial"/>
              </a:rPr>
              <a:t>Сумма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43984" y="4370832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43984" y="4370832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24.03.2026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69230" y="4370832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69230" y="4370832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4476" y="4370832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4476" y="4370832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19722" y="4370832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919722" y="4370832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43984" y="4764023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443984" y="4764023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269230" y="4764023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69230" y="4764023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094476" y="4764023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94476" y="4764023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9722" y="4764023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19722" y="4764023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092440" y="3447288"/>
            <a:ext cx="3593592" cy="2423160"/>
          </a:xfrm>
          <a:prstGeom prst="roundRect">
            <a:avLst>
              <a:gd name="adj" fmla="val 12578"/>
            </a:avLst>
          </a:prstGeom>
          <a:solidFill>
            <a:srgbClr val="F4F7FA"/>
          </a:solidFill>
          <a:ln w="2286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38744" y="3557016"/>
            <a:ext cx="33009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Целевая таблица в 1С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38744" y="3977639"/>
            <a:ext cx="788670" cy="3657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38744" y="3977639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21295C"/>
                </a:solidFill>
                <a:latin typeface="Arial"/>
              </a:rPr>
              <a:t>Дата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063990" y="3977639"/>
            <a:ext cx="788670" cy="3657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63990" y="3977639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21295C"/>
                </a:solidFill>
                <a:latin typeface="Arial"/>
              </a:rPr>
              <a:t>№ накладной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89236" y="3977639"/>
            <a:ext cx="788670" cy="3657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89236" y="3977639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21295C"/>
                </a:solidFill>
                <a:latin typeface="Arial"/>
              </a:rPr>
              <a:t>Позиция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714482" y="3977639"/>
            <a:ext cx="788670" cy="36576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714482" y="3977639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 i="0">
                <a:solidFill>
                  <a:srgbClr val="21295C"/>
                </a:solidFill>
                <a:latin typeface="Arial"/>
              </a:rPr>
              <a:t>Сумма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38744" y="4370832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38744" y="4370832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24.03.2026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063990" y="4370832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63990" y="4370832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889236" y="4370832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89236" y="4370832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714482" y="4370832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714482" y="4370832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238744" y="4764023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38744" y="4764023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63990" y="4764023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63990" y="4764023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889236" y="4764023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889236" y="4764023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714482" y="4764023"/>
            <a:ext cx="788670" cy="365760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714482" y="4764023"/>
            <a:ext cx="78867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0">
                <a:solidFill>
                  <a:srgbClr val="6B7685"/>
                </a:solidFill>
                <a:latin typeface="Arial"/>
              </a:rPr>
              <a:t>—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502920" y="6035040"/>
            <a:ext cx="11183112" cy="6858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77240" y="6035040"/>
            <a:ext cx="10607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Что предложите?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2529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63624"/>
            <a:ext cx="10744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«Прислали ZIP на 4,2 ГБ — внутри и сканы актов сверки, и договоры, нужны только накладные»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194560"/>
            <a:ext cx="264490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" y="2304288"/>
            <a:ext cx="23888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Поставщик A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Дата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2722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722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№ накл.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2351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2351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Сумма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42722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2351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48990" y="2194560"/>
            <a:ext cx="264490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7006" y="2304288"/>
            <a:ext cx="23888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Поставщик Б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700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700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Date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329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7329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Invoice#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6958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958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Total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700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329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6958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95060" y="2194560"/>
            <a:ext cx="264490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3076" y="2304288"/>
            <a:ext cx="23888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Поставщик В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2307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307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Период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1936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936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Заказ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1565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1565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Итого, 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2307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1936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1565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041130" y="2194560"/>
            <a:ext cx="2644902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69146" y="2304288"/>
            <a:ext cx="238887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Arial"/>
              </a:rPr>
              <a:t>Поставщик Г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16914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6914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№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6543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96543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от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761726" y="2670048"/>
            <a:ext cx="768857" cy="32918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61726" y="2670048"/>
            <a:ext cx="768857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00" b="1" i="0">
                <a:solidFill>
                  <a:srgbClr val="FFFFFF"/>
                </a:solidFill>
                <a:latin typeface="Arial"/>
              </a:rPr>
              <a:t>итого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6914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96543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761726" y="3026663"/>
            <a:ext cx="768857" cy="329184"/>
          </a:xfrm>
          <a:prstGeom prst="rect">
            <a:avLst/>
          </a:prstGeom>
          <a:solidFill>
            <a:srgbClr val="F4F7FA"/>
          </a:solidFill>
          <a:ln w="8890">
            <a:solidFill>
              <a:srgbClr val="E5EAF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4251959"/>
            <a:ext cx="111831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Форматы разъехались — разные колонки, разные форматы дат, один документ на английском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466344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466344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Меняет ли это ваш ответ?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Документы поставщиков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0120"/>
            <a:ext cx="7936992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workflow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18872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08760" y="1161288"/>
            <a:ext cx="6839712" cy="22494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650" b="1" i="0">
                <a:solidFill>
                  <a:srgbClr val="21295C"/>
                </a:solidFill>
                <a:latin typeface="Arial"/>
              </a:rPr>
              <a:t>Гибрид: LLM-извлечение по вариативному входу + жёсткая валидация кодом на выходе</a:t>
            </a:r>
          </a:p>
          <a:p>
            <a:pPr algn="l">
              <a:lnSpc>
                <a:spcPct val="132000"/>
              </a:lnSpc>
              <a:spcAft>
                <a:spcPts val="1000"/>
              </a:spcAft>
            </a:pPr>
            <a:r>
              <a:rPr sz="1300" b="0" i="0">
                <a:solidFill>
                  <a:srgbClr val="6B7685"/>
                </a:solidFill>
                <a:latin typeface="Arial"/>
              </a:rPr>
              <a:t>Документ (любой формат) → LLM извлекает поля → код проверяет типы/обязательные значения/диапазоны → данные в 1С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00" b="0" i="1">
                <a:solidFill>
                  <a:srgbClr val="6B7685"/>
                </a:solidFill>
                <a:latin typeface="Arial"/>
              </a:rPr>
              <a:t>Разумный ответ здесь — гибрид, а не выбор одного из двух подходов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68512" y="960120"/>
            <a:ext cx="3017520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ear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192" y="1417320"/>
            <a:ext cx="1280160" cy="1280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51392" y="292608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изучайте данные, не верьте на слово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886200"/>
            <a:ext cx="11183112" cy="11887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86200"/>
            <a:ext cx="106070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21295C"/>
                </a:solidFill>
                <a:latin typeface="Arial"/>
              </a:rPr>
              <a:t>Два примера — не выборка. Просите представление полного объёма данных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Персоналка в логах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2529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63624"/>
            <a:ext cx="10744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«40 ГБ логов за квартал — подрядчик ждёт архив в пятницу»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11183112" cy="2651760"/>
          </a:xfrm>
          <a:prstGeom prst="roundRect">
            <a:avLst>
              <a:gd name="adj" fmla="val 11494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ile-text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88920"/>
            <a:ext cx="868680" cy="868680"/>
          </a:xfrm>
          <a:prstGeom prst="rect">
            <a:avLst/>
          </a:prstGeom>
        </p:spPr>
      </p:pic>
      <p:pic>
        <p:nvPicPr>
          <p:cNvPr id="8" name="Picture 7" descr="phone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7400" y="3017520"/>
            <a:ext cx="502920" cy="502920"/>
          </a:xfrm>
          <a:prstGeom prst="rect">
            <a:avLst/>
          </a:prstGeom>
        </p:spPr>
      </p:pic>
      <p:pic>
        <p:nvPicPr>
          <p:cNvPr id="9" name="Picture 8" descr="mail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34640" y="2971800"/>
            <a:ext cx="548640" cy="548640"/>
          </a:xfrm>
          <a:prstGeom prst="rect">
            <a:avLst/>
          </a:prstGeom>
        </p:spPr>
      </p:pic>
      <p:pic>
        <p:nvPicPr>
          <p:cNvPr id="10" name="Picture 9" descr="user-round-F0AB00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11880" y="301752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80560" y="2834640"/>
            <a:ext cx="6400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700" b="1" i="0">
                <a:solidFill>
                  <a:srgbClr val="21295C"/>
                </a:solidFill>
                <a:latin typeface="Arial"/>
              </a:rPr>
              <a:t>Одна строка лога — телефон, email и фраза «передайте это Ивану из бухгалтерии»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6B7685"/>
                </a:solidFill>
                <a:latin typeface="Arial"/>
              </a:rPr>
              <a:t>Подрядчику нужны структура запросов, тайминги, ошибки — не данные людей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183112" cy="1325880"/>
          </a:xfrm>
          <a:prstGeom prst="roundRect">
            <a:avLst>
              <a:gd name="adj" fmla="val 22988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212080"/>
            <a:ext cx="1060704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Как максимально быстро и дёшево очистить?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Персоналка в логах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hash-02809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72768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1572768"/>
            <a:ext cx="43571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Regex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499719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0">
                <a:solidFill>
                  <a:srgbClr val="21295C"/>
                </a:solidFill>
                <a:latin typeface="Arial"/>
              </a:rPr>
              <a:t>Телефоны, email — чёткий формат, дёшево и надёжно вычищает обычный regex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37560"/>
            <a:ext cx="4997196" cy="384048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00" b="1">
                <a:solidFill>
                  <a:srgbClr val="065A82"/>
                </a:solidFill>
                <a:latin typeface="Arial"/>
              </a:rPr>
              <a:t>Детерминированная логика — модель не нужна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499719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Никакая модель здесь не нужна и только замедлила бы обработку 40 ГБ логов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371600"/>
            <a:ext cx="5454396" cy="3246120"/>
          </a:xfrm>
          <a:prstGeom prst="roundRect">
            <a:avLst>
              <a:gd name="adj" fmla="val 938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sear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0236" y="1572768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0316" y="1572768"/>
            <a:ext cx="4357116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065A82"/>
                </a:solidFill>
                <a:latin typeface="Arial"/>
              </a:rPr>
              <a:t>NER / малая модель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0236" y="2286000"/>
            <a:ext cx="499719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Имена людей, косвенные упоминания в свободном тексте — нужен контекст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0236" y="3291840"/>
            <a:ext cx="49971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slovnet (Natasha) · ~30 МБ · CPU · ~25 статей/сек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0236" y="3840480"/>
            <a:ext cx="499719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~60× меньше BERT сравнимого класса, потеря качества 1-2 п.п.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46320"/>
            <a:ext cx="11183112" cy="91440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846320"/>
            <a:ext cx="1060704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Граница между regex и моделью проходит внутри одной задачи, не между задачами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Когда нужна была формула — и когда ИИ закрыл нерешаемое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26974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CNET, январь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03120"/>
            <a:ext cx="5052059" cy="1947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 77 ИИ-сгенерированных статей о финансах исправления потребовались 41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«10 000 $ под 3% годовых → 10 300 $ за год» вместо корректных 300 $ дохода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21295C"/>
                </a:solidFill>
                <a:latin typeface="Arial"/>
              </a:rPr>
              <a:t>Расчёт должен делать детерминированная формула, а не LLM «на глаз»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371600"/>
            <a:ext cx="5454396" cy="269748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57276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Ramp, merchant classification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103120"/>
            <a:ext cx="5052059" cy="1947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 i="0">
                <a:solidFill>
                  <a:srgbClr val="21295C"/>
                </a:solidFill>
                <a:latin typeface="Arial"/>
              </a:rPr>
              <a:t>Вручную: покрытие заявок 1,5-3% → после LLM-агента почти полное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Обработка &lt; 10 сек, ~99% решений корректны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~25% заявок агент обоснованно отклоняет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325112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25112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Ramp — замена ручной обработки с мизерным покрытием, не замена работавшего regex-решения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0-divider-workspace-real.jp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>
              <a:alpha val="7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3A4474"/>
                </a:solidFill>
                <a:latin typeface="Arial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Встроить или делать своё?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43400"/>
            <a:ext cx="512064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Кейс: помощник поддержки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074920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1">
                <a:solidFill>
                  <a:srgbClr val="C8D2DF"/>
                </a:solidFill>
                <a:latin typeface="Arial"/>
              </a:rPr>
              <a:t>Скрытая цена почти никогда не видна в демо на презентации идеи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1234440"/>
          </a:xfrm>
          <a:prstGeom prst="roundRect">
            <a:avLst>
              <a:gd name="adj" fmla="val 246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744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«Сделайте нам ИИ-помощника для операторов — подсказки по тикетам, поиск похожих обращений»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39319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11-support-headset-real.jpg"/>
          <p:cNvPicPr>
            <a:picLocks noChangeAspect="1"/>
          </p:cNvPicPr>
          <p:nvPr/>
        </p:nvPicPr>
        <p:blipFill>
          <a:blip r:embed="rId3"/>
          <a:srcRect t="16260" b="16260"/>
          <a:stretch>
            <a:fillRect/>
          </a:stretch>
        </p:blipFill>
        <p:spPr>
          <a:xfrm>
            <a:off x="612648" y="2532888"/>
            <a:ext cx="3712463" cy="339242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709159" y="2423160"/>
            <a:ext cx="6976872" cy="1508760"/>
          </a:xfrm>
          <a:prstGeom prst="roundRect">
            <a:avLst>
              <a:gd name="adj" fmla="val 202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2569464"/>
            <a:ext cx="6611112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12 операторов на линии, около 300 тикетов в день, пик 10:00-13:00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59" y="4206240"/>
            <a:ext cx="6976872" cy="1828800"/>
          </a:xfrm>
          <a:prstGeom prst="roundRect">
            <a:avLst>
              <a:gd name="adj" fmla="val 16666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4206240"/>
            <a:ext cx="6611112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должен жить этот помощник?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6012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3385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472184"/>
            <a:ext cx="10287000" cy="3200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«Открытого API нет, кастомизаций нет — вендор и на письма не отвечает»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09376" y="11338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briefcas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216152"/>
            <a:ext cx="292608" cy="292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240280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240280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Что делаем?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246120"/>
            <a:ext cx="11183112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lock-21295C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66160"/>
            <a:ext cx="777240" cy="777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783080" y="3566160"/>
            <a:ext cx="95097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200"/>
              </a:spcAft>
            </a:pPr>
            <a:r>
              <a:rPr sz="2000" b="1" i="0">
                <a:solidFill>
                  <a:srgbClr val="21295C"/>
                </a:solidFill>
                <a:latin typeface="Arial"/>
              </a:rPr>
              <a:t>Коробочный helpdesk — систему купили 4 года назад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500" b="0" i="0">
                <a:solidFill>
                  <a:srgbClr val="6B7685"/>
                </a:solidFill>
                <a:latin typeface="Arial"/>
              </a:rPr>
              <a:t>На ней же тикеты HR и фасилити, контракт с вендором ещё на 2 года — нет открытого API, нет кастомизаций, вендор не отвечает даже на письма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Компания написала вендору с вопросом об интеграции — ответа так и не получила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Помощник поддержки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3557016" cy="3566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plit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67" y="1499616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9224" y="2148839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Решение сбоку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224" y="2651760"/>
            <a:ext cx="32644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Расширение браузера или вторая панель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" y="3611879"/>
            <a:ext cx="3300984" cy="10515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3675887"/>
            <a:ext cx="311810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Цена: Два места одновременно, риск: оператор не будет пользоваться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280160"/>
            <a:ext cx="3557016" cy="3566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repeat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3016" y="1499616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62272" y="2148839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Смена вендора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2272" y="2651760"/>
            <a:ext cx="32644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Helpdesk-система с открытым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43983" y="3611879"/>
            <a:ext cx="3300984" cy="10515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3675887"/>
            <a:ext cx="311810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Цена: Миграция данных, переобучение команды, риск простоя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29016" y="1280160"/>
            <a:ext cx="3557016" cy="35661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route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6064" y="1499616"/>
            <a:ext cx="502920" cy="5029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75320" y="2148839"/>
            <a:ext cx="32644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Пересмотр задачи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2651760"/>
            <a:ext cx="32644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Асинхронный помощник, готовит черновики заранее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57032" y="3611879"/>
            <a:ext cx="3300984" cy="10515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397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2" y="3675887"/>
            <a:ext cx="3118104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1">
                <a:solidFill>
                  <a:srgbClr val="21295C"/>
                </a:solidFill>
                <a:latin typeface="Arial"/>
              </a:rPr>
              <a:t>Цена: Оператор открывает готовое там, где удобно, но нужен отдельный процесс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29200"/>
            <a:ext cx="11183112" cy="5486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02920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1">
                <a:solidFill>
                  <a:srgbClr val="21295C"/>
                </a:solidFill>
                <a:latin typeface="Arial"/>
              </a:rPr>
              <a:t>Единственно верного ответа нет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Описания товаров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11183112" cy="10058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2529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63624"/>
            <a:ext cx="10744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50" b="0" i="1">
                <a:solidFill>
                  <a:srgbClr val="21295C"/>
                </a:solidFill>
                <a:latin typeface="Arial"/>
              </a:rPr>
              <a:t>«Маркетинг просит отдельный ИИ-сервис для генерации описаний товаров»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31720"/>
            <a:ext cx="11183112" cy="260604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tor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131820"/>
            <a:ext cx="1005840" cy="1005840"/>
          </a:xfrm>
          <a:prstGeom prst="rect">
            <a:avLst/>
          </a:prstGeom>
        </p:spPr>
      </p:pic>
      <p:pic>
        <p:nvPicPr>
          <p:cNvPr id="8" name="Picture 7" descr="arrow-right-F0AB0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840" y="3360420"/>
            <a:ext cx="548640" cy="548640"/>
          </a:xfrm>
          <a:prstGeom prst="rect">
            <a:avLst/>
          </a:prstGeom>
        </p:spPr>
      </p:pic>
      <p:pic>
        <p:nvPicPr>
          <p:cNvPr id="9" name="Picture 8" descr="sparkles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1800" y="3131820"/>
            <a:ext cx="1005840" cy="1005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7680" y="2903220"/>
            <a:ext cx="6492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650" b="1" i="0">
                <a:solidFill>
                  <a:srgbClr val="21295C"/>
                </a:solidFill>
                <a:latin typeface="Arial"/>
              </a:rPr>
              <a:t>12 000 товарных позиций, сейчас описания пишет один копирайтер на аутсорсе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 i="0">
                <a:solidFill>
                  <a:srgbClr val="6B7685"/>
                </a:solidFill>
                <a:latin typeface="Arial"/>
              </a:rPr>
              <a:t>Новый отдельный инструмент: логин, вкладка, форма ввода характеристик товара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212080"/>
            <a:ext cx="11183112" cy="1325880"/>
          </a:xfrm>
          <a:prstGeom prst="roundRect">
            <a:avLst>
              <a:gd name="adj" fmla="val 22988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212080"/>
            <a:ext cx="1060704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Отдельный сервис — хорошая идея?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Описания товаров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11183112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tor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43100"/>
            <a:ext cx="777240" cy="777240"/>
          </a:xfrm>
          <a:prstGeom prst="rect">
            <a:avLst/>
          </a:prstGeom>
        </p:spPr>
      </p:pic>
      <p:pic>
        <p:nvPicPr>
          <p:cNvPr id="5" name="Picture 4" descr="arrow-right-F0AB0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2103120"/>
            <a:ext cx="457200" cy="457200"/>
          </a:xfrm>
          <a:prstGeom prst="rect">
            <a:avLst/>
          </a:prstGeom>
        </p:spPr>
      </p:pic>
      <p:pic>
        <p:nvPicPr>
          <p:cNvPr id="6" name="Picture 5" descr="zap-F0AB00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8920" y="1943100"/>
            <a:ext cx="777240" cy="777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0" y="1417320"/>
            <a:ext cx="694944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000" b="1" i="0">
                <a:solidFill>
                  <a:srgbClr val="21295C"/>
                </a:solidFill>
                <a:latin typeface="Arial"/>
              </a:rPr>
              <a:t>Кнопка «сгенерировать описание»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21295C"/>
                </a:solidFill>
                <a:latin typeface="Arial"/>
              </a:rPr>
              <a:t>в существующей админке каталога, которой маркетинг и так пользуется каждый день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66160"/>
            <a:ext cx="11183112" cy="10972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566160"/>
            <a:ext cx="106070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21295C"/>
                </a:solidFill>
                <a:latin typeface="Arial"/>
              </a:rPr>
              <a:t>Отдельный продукт — второй логин и вкладка, цена, о которой не подумали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Kite и Copilot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065A82"/>
                </a:solidFill>
                <a:latin typeface="Arial"/>
              </a:rPr>
              <a:t>Одна технология, разная встроенность — 17 месяцев прямой конкуренции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70632"/>
            <a:ext cx="10835640" cy="4572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510702" y="2770632"/>
            <a:ext cx="1563906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46736" y="1097279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1">
                <a:solidFill>
                  <a:srgbClr val="21295C"/>
                </a:solidFill>
                <a:latin typeface="Arial"/>
              </a:rPr>
              <a:t>~17 месяцев пересечения на рынке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0334" y="27203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2510" y="150876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70" y="17830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Kite основан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35715" y="27203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57891" y="30175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2019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6451" y="3310127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Локальное исполнение модели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28406" y="27203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50582" y="150876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29.06.2021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9142" y="17830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Copilot technical preview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1970" y="2720340"/>
            <a:ext cx="164592" cy="16459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34146" y="301752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21.06.2022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42706" y="3310127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Copilot GA, $10/мес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55737" y="268376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14489" y="150876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21.11.2022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23049" y="1783080"/>
            <a:ext cx="21031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Kite закрыт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34840"/>
            <a:ext cx="5454396" cy="1051560"/>
          </a:xfrm>
          <a:prstGeom prst="roundRect">
            <a:avLst>
              <a:gd name="adj" fmla="val 25000"/>
            </a:avLst>
          </a:prstGeom>
          <a:solidFill>
            <a:srgbClr val="FBEAEA"/>
          </a:solidFill>
          <a:ln w="1651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526279"/>
            <a:ext cx="508863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i="0">
                <a:solidFill>
                  <a:srgbClr val="21295C"/>
                </a:solidFill>
                <a:latin typeface="Arial"/>
              </a:rPr>
              <a:t>Kite — ~500 000 пользователей на пике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4434840"/>
            <a:ext cx="5454396" cy="1051560"/>
          </a:xfrm>
          <a:prstGeom prst="roundRect">
            <a:avLst>
              <a:gd name="adj" fmla="val 25000"/>
            </a:avLst>
          </a:prstGeom>
          <a:solidFill>
            <a:srgbClr val="E9F5F2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4516" y="4526279"/>
            <a:ext cx="508863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Copilot — ~20 млн пользователей · 4,7 млн платных · ~90% Fortune 100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687568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687568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Встроенность в уже существующий рабочий поток победила отдельный продукт при технологии сравнимого класса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311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1" i="0">
                <a:solidFill>
                  <a:srgbClr val="21295C"/>
                </a:solidFill>
                <a:latin typeface="Arial"/>
              </a:rPr>
              <a:t>Отдельное устройство против фичи в телефоне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5454396" cy="3794760"/>
          </a:xfrm>
          <a:prstGeom prst="roundRect">
            <a:avLst>
              <a:gd name="adj" fmla="val 8032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smartphon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34439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234439"/>
            <a:ext cx="444855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Humane AI Pin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20239"/>
            <a:ext cx="5015483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8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Носимый значок без экрана, лазерный проектор на ладонь, голосовое управление · $699 + подписка $24/мес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 b="0" i="0">
                <a:solidFill>
                  <a:srgbClr val="6B7685"/>
                </a:solidFill>
                <a:latin typeface="Arial"/>
              </a:rPr>
              <a:t>Продажи с апреля 2024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Привлечено ~$241 млн → активы проданы HP за $116 млн (февраль 2025) → серверы отключены 28.02.2025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051560"/>
            <a:ext cx="5454396" cy="3794760"/>
          </a:xfrm>
          <a:prstGeom prst="roundRect">
            <a:avLst>
              <a:gd name="adj" fmla="val 8032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s17-rabbit-r1-real.jpg"/>
          <p:cNvPicPr>
            <a:picLocks noChangeAspect="1"/>
          </p:cNvPicPr>
          <p:nvPr/>
        </p:nvPicPr>
        <p:blipFill>
          <a:blip r:embed="rId3"/>
          <a:srcRect t="18560" b="18560"/>
          <a:stretch>
            <a:fillRect/>
          </a:stretch>
        </p:blipFill>
        <p:spPr>
          <a:xfrm>
            <a:off x="6359651" y="1179576"/>
            <a:ext cx="5198364" cy="18379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51092" y="3145536"/>
            <a:ext cx="50154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Rabbit R1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1092" y="3529584"/>
            <a:ext cx="5015483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Продано ~100 000 устройств, по оценкам активно пользуются около 5% купивших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47488"/>
            <a:ext cx="11183112" cy="10058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047488"/>
            <a:ext cx="1060704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Отдельное устройство конкурирует не только с технологией, но и с привычкой не переключаться, когда функция уже есть в телефоне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8-divider-serverroom-real.jpg"/>
          <p:cNvPicPr>
            <a:picLocks noChangeAspect="1"/>
          </p:cNvPicPr>
          <p:nvPr/>
        </p:nvPicPr>
        <p:blipFill>
          <a:blip r:embed="rId2"/>
          <a:srcRect t="7792" b="779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>
              <a:alpha val="7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3A4474"/>
                </a:solidFill>
                <a:latin typeface="Arial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Разовый вызов, RAG или агент?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43400"/>
            <a:ext cx="512064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Кейс: протоколы встреч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074920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1">
                <a:solidFill>
                  <a:srgbClr val="C8D2DF"/>
                </a:solidFill>
                <a:latin typeface="Arial"/>
              </a:rPr>
              <a:t>Чем внушительнее задача, тем сложнее архитектура — интуицию стоит проверять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Два слова про RAG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Поиск по базе знаний подкладывает нужные фрагменты в контекст модели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95560" y="91440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Лекция 3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search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7894" y="2468880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Вопрос пользователя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976372" y="3328415"/>
            <a:ext cx="39319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24428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" name="Picture 10" descr="databas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402" y="2468880"/>
            <a:ext cx="548640" cy="5486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34156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Поиск фрагментов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в базе знаний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52444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897880" y="3328415"/>
            <a:ext cx="39319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45936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layers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80910" y="2468880"/>
            <a:ext cx="548640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55664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Фрагменты →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в контекст модели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73952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19388" y="3328415"/>
            <a:ext cx="393192" cy="292608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67444" y="2148840"/>
            <a:ext cx="2418588" cy="2651760"/>
          </a:xfrm>
          <a:prstGeom prst="roundRect">
            <a:avLst>
              <a:gd name="adj" fmla="val 12602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sparkles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2418" y="2468880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77172" y="3200400"/>
            <a:ext cx="21991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Модель генерирует</a:t>
            </a:r>
          </a:p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ответ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95460" y="4343400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300" b="1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07492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074920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Когда нужен: база большая, меняется, весь объём не помещается в один запрос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Два слова про агента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686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Модель работает циклом с внешними инструментами, а не одним вызовом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195560" y="91440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Лекция 3 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8" y="182880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6" name="Picture 5" descr="git-fork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9192" y="1975104"/>
            <a:ext cx="402336" cy="40233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928616" y="195681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79192" y="245059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Строит план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30568" y="182880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wren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6872" y="1975104"/>
            <a:ext cx="402336" cy="40233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9226296" y="195681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76872" y="245059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Вызывает внешний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инструмент (API,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поиск, код)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30568" y="356616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circle-check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872" y="3712463"/>
            <a:ext cx="402336" cy="402336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9226296" y="369417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6872" y="418795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Проверяет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результат вызова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32888" y="3566160"/>
            <a:ext cx="28346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route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9192" y="3712463"/>
            <a:ext cx="402336" cy="40233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4928616" y="3694176"/>
            <a:ext cx="292608" cy="2926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79192" y="4187952"/>
            <a:ext cx="2542032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Решает, что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делать дальше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41848" y="3337560"/>
            <a:ext cx="914400" cy="914400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repeat-FFFFFF-4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4728" y="3520440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93208" y="428853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цикл повторяется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44068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440680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 i="0">
                <a:solidFill>
                  <a:srgbClr val="21295C"/>
                </a:solidFill>
                <a:latin typeface="Arial"/>
              </a:rPr>
              <a:t>Когда нужен: несколько шагов и действия во внешних системах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10972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74420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«После каждого созвона транскрипт приходит письмом, нужен протокол: решения, поручения, сроки»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31720"/>
            <a:ext cx="630936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20-meeting-room-real.jpg"/>
          <p:cNvPicPr>
            <a:picLocks noChangeAspect="1"/>
          </p:cNvPicPr>
          <p:nvPr/>
        </p:nvPicPr>
        <p:blipFill>
          <a:blip r:embed="rId3"/>
          <a:srcRect t="945" b="945"/>
          <a:stretch>
            <a:fillRect/>
          </a:stretch>
        </p:blipFill>
        <p:spPr>
          <a:xfrm>
            <a:off x="612648" y="2441448"/>
            <a:ext cx="6089904" cy="398678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086600" y="2331720"/>
            <a:ext cx="4599432" cy="2331720"/>
          </a:xfrm>
          <a:prstGeom prst="roundRect">
            <a:avLst>
              <a:gd name="adj" fmla="val 1307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9480" y="2496312"/>
            <a:ext cx="4233672" cy="2002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Около 15 встреч в неделю, протокол сейчас пишет проджект вручную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6600" y="4937760"/>
            <a:ext cx="4599432" cy="1600199"/>
          </a:xfrm>
          <a:prstGeom prst="roundRect">
            <a:avLst>
              <a:gd name="adj" fmla="val 1904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4937760"/>
            <a:ext cx="4233672" cy="1600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Какая архитектура нужна?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Протоколы встреч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566928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740664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078992"/>
            <a:ext cx="10744200" cy="137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«Один вызов, ни хранилища, ни цикла»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36192"/>
            <a:ext cx="11183112" cy="3931920"/>
          </a:xfrm>
          <a:prstGeom prst="roundRect">
            <a:avLst>
              <a:gd name="adj" fmla="val 775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mail-065A82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26440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Письмо с транскриптом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871215" y="3511296"/>
            <a:ext cx="246887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5468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sparkles-065A82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7660" y="3264408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2783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Вызов модели с шаблоном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522976" y="3511296"/>
            <a:ext cx="246887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0644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ile-text-065A82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9420" y="3264408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7959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Протокол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605272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60527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Весь транскрипт помещается в один запрос — усложнять сейчас означало бы решать проблему, которой не существует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11183112" cy="10972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2529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63624"/>
            <a:ext cx="1074420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«На планёрке спросили: что мы решали по подрядчику X в мае?»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514600"/>
            <a:ext cx="11183112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folder-search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1780"/>
            <a:ext cx="822960" cy="822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965960" y="2514600"/>
            <a:ext cx="9326880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Прошёл месяц — накопились десятки протоколов с разных встреч, по разным проектам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0624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20624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Меняет ли это архитектуру?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Протоколы встреч — разбор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566928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740664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078992"/>
            <a:ext cx="10744200" cy="137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 i="1">
                <a:solidFill>
                  <a:srgbClr val="21295C"/>
                </a:solidFill>
                <a:latin typeface="Arial"/>
              </a:rPr>
              <a:t>«Растущий и меняющийся архив — вот когда нужен RAG»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36192"/>
            <a:ext cx="11183112" cy="3931920"/>
          </a:xfrm>
          <a:prstGeom prst="roundRect">
            <a:avLst>
              <a:gd name="adj" fmla="val 775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mail-8A939E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26440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8A939E"/>
                </a:solidFill>
                <a:latin typeface="Arial"/>
              </a:rPr>
              <a:t>Письмо с транскриптом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871215" y="3511296"/>
            <a:ext cx="246887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5468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sparkles-8A939E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7660" y="3264408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2783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8A939E"/>
                </a:solidFill>
                <a:latin typeface="Arial"/>
              </a:rPr>
              <a:t>Вызов модели с шаблоном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522976" y="3511296"/>
            <a:ext cx="246887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0644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ile-text-8A939E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9420" y="3264408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7959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8A939E"/>
                </a:solidFill>
                <a:latin typeface="Arial"/>
              </a:rPr>
              <a:t>Протокол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database-028090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6424" y="1847088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76072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Хранилище протоколов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103120" y="2093976"/>
            <a:ext cx="109728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240280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ayers-028090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43784" y="1847088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13432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Индексация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840480" y="2093976"/>
            <a:ext cx="109728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77639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search-028090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81144" y="1847088"/>
            <a:ext cx="365760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050791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Поиск по запросу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577840" y="2093976"/>
            <a:ext cx="109728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14999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file-code-028090-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8503" y="1847088"/>
            <a:ext cx="365760" cy="3657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788151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Фрагменты в модель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4320540" y="2633472"/>
            <a:ext cx="2180843" cy="502919"/>
          </a:xfrm>
          <a:prstGeom prst="bentConnector3">
            <a:avLst/>
          </a:prstGeom>
          <a:ln w="20320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02920" y="5605272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60527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Прежний путь никуда не делся — просто дополнен хранилищем, индексацией и поиском перед тем же вызовом модели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11183112" cy="10972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2529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63624"/>
            <a:ext cx="10744200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«Поручения из протоколов мы всё равно руками переносим в таск-трекер...»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11183112" cy="1280160"/>
          </a:xfrm>
          <a:prstGeom prst="roundRect">
            <a:avLst>
              <a:gd name="adj" fmla="val 23809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list-checks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43200"/>
            <a:ext cx="64008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2423160"/>
            <a:ext cx="9418320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1">
                <a:solidFill>
                  <a:srgbClr val="21295C"/>
                </a:solidFill>
                <a:latin typeface="Arial"/>
              </a:rPr>
              <a:t>Половина поручений из майских протоколов до сих пор без исполнителя — руки до переноса просто не доходят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977639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977639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Меняет ли это архитектуру ещё раз?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8288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Протоколы встреч — разбор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566928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740664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078992"/>
            <a:ext cx="10744200" cy="137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50" b="0" i="1">
                <a:solidFill>
                  <a:srgbClr val="21295C"/>
                </a:solidFill>
                <a:latin typeface="Arial"/>
              </a:rPr>
              <a:t>«Действие во внешней системе — нужен агент поверх RAG»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36192"/>
            <a:ext cx="11183112" cy="3931920"/>
          </a:xfrm>
          <a:prstGeom prst="roundRect">
            <a:avLst>
              <a:gd name="adj" fmla="val 7751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mail-8A939E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26440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8A939E"/>
                </a:solidFill>
                <a:latin typeface="Arial"/>
              </a:rPr>
              <a:t>Письмо с транскриптом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871215" y="3511296"/>
            <a:ext cx="246887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5468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sparkles-8A939E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7660" y="3264408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2783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8A939E"/>
                </a:solidFill>
                <a:latin typeface="Arial"/>
              </a:rPr>
              <a:t>Вызов модели с шаблоном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522976" y="3511296"/>
            <a:ext cx="246887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806440" y="3136391"/>
            <a:ext cx="2331720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file-text-8A939E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9420" y="3264408"/>
            <a:ext cx="365760" cy="3657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79592" y="3685032"/>
            <a:ext cx="2185415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0" i="0">
                <a:solidFill>
                  <a:srgbClr val="8A939E"/>
                </a:solidFill>
                <a:latin typeface="Arial"/>
              </a:rPr>
              <a:t>Протокол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9" name="Picture 18" descr="database-8A939E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6424" y="1847088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76072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8A939E"/>
                </a:solidFill>
                <a:latin typeface="Arial"/>
              </a:rPr>
              <a:t>Хранилище протоколов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103120" y="2093976"/>
            <a:ext cx="109728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240280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ayers-8A939E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43784" y="1847088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313432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8A939E"/>
                </a:solidFill>
                <a:latin typeface="Arial"/>
              </a:rPr>
              <a:t>Индексация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3840480" y="2093976"/>
            <a:ext cx="109728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77639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Picture 26" descr="search-8A939E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81144" y="1847088"/>
            <a:ext cx="365760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050791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8A939E"/>
                </a:solidFill>
                <a:latin typeface="Arial"/>
              </a:rPr>
              <a:t>Поиск по запросу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577840" y="2093976"/>
            <a:ext cx="109728" cy="164592"/>
          </a:xfrm>
          <a:prstGeom prst="rightArrow">
            <a:avLst/>
          </a:prstGeom>
          <a:solidFill>
            <a:srgbClr val="B9C1C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14999" y="171907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ECEEF1"/>
          </a:solidFill>
          <a:ln w="13970">
            <a:solidFill>
              <a:srgbClr val="B9C1C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1" name="Picture 30" descr="file-code-8A939E-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18503" y="1847088"/>
            <a:ext cx="365760" cy="36576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788151" y="2267712"/>
            <a:ext cx="1426464" cy="2926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8A939E"/>
                </a:solidFill>
                <a:latin typeface="Arial"/>
              </a:rPr>
              <a:t>Фрагменты в модель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4320540" y="2633472"/>
            <a:ext cx="2180843" cy="502919"/>
          </a:xfrm>
          <a:prstGeom prst="bentConnector3">
            <a:avLst/>
          </a:prstGeom>
          <a:ln w="20320">
            <a:solidFill>
              <a:srgbClr val="B9C1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02920" y="455371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route-F0AB00-64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06424" y="4681728"/>
            <a:ext cx="365760" cy="3657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76072" y="5102352"/>
            <a:ext cx="14264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Извлечь поручение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2103120" y="4928616"/>
            <a:ext cx="109728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2240280" y="455371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9" name="Picture 38" descr="cable-F0AB00-64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43784" y="4681728"/>
            <a:ext cx="365760" cy="36576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313432" y="5102352"/>
            <a:ext cx="14264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Вызвать API таск-трекера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840480" y="4928616"/>
            <a:ext cx="109728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3977639" y="455371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3" name="Picture 42" descr="list-checks-F0AB00-6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81144" y="4681728"/>
            <a:ext cx="365760" cy="36576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050791" y="5102352"/>
            <a:ext cx="14264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Создать задачу</a:t>
            </a:r>
          </a:p>
        </p:txBody>
      </p:sp>
      <p:sp>
        <p:nvSpPr>
          <p:cNvPr id="45" name="Right Arrow 44"/>
          <p:cNvSpPr/>
          <p:nvPr/>
        </p:nvSpPr>
        <p:spPr>
          <a:xfrm>
            <a:off x="5577840" y="4928616"/>
            <a:ext cx="109728" cy="164592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5714999" y="4553712"/>
            <a:ext cx="1572768" cy="9144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7" name="Picture 46" descr="circle-check-F0AB00-6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18503" y="4681728"/>
            <a:ext cx="365760" cy="36576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788151" y="5102352"/>
            <a:ext cx="14264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21295C"/>
                </a:solidFill>
                <a:latin typeface="Arial"/>
              </a:rPr>
              <a:t>Проверить результат</a:t>
            </a:r>
          </a:p>
        </p:txBody>
      </p:sp>
      <p:cxnSp>
        <p:nvCxnSpPr>
          <p:cNvPr id="49" name="Connector 48"/>
          <p:cNvCxnSpPr/>
          <p:nvPr/>
        </p:nvCxnSpPr>
        <p:spPr>
          <a:xfrm flipH="1">
            <a:off x="1289304" y="4050791"/>
            <a:ext cx="5682996" cy="502921"/>
          </a:xfrm>
          <a:prstGeom prst="bentConnector3">
            <a:avLst/>
          </a:prstGeom>
          <a:ln w="203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502920" y="5605272"/>
            <a:ext cx="11183112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605272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Начинайте с простейшего варианта, усложняйте только когда требование не закрыть иначе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 i="0">
                <a:solidFill>
                  <a:srgbClr val="21295C"/>
                </a:solidFill>
                <a:latin typeface="Arial"/>
              </a:rPr>
              <a:t>Дайджест по чатам и почте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2529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63624"/>
            <a:ext cx="10744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«Нужен еженедельный дайджест по рабочим чатам и почте команды»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31720"/>
            <a:ext cx="11183112" cy="260604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message-square-quot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971800"/>
            <a:ext cx="822960" cy="822960"/>
          </a:xfrm>
          <a:prstGeom prst="rect">
            <a:avLst/>
          </a:prstGeom>
        </p:spPr>
      </p:pic>
      <p:pic>
        <p:nvPicPr>
          <p:cNvPr id="8" name="Picture 7" descr="mail-028090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8840" y="2971800"/>
            <a:ext cx="822960" cy="822960"/>
          </a:xfrm>
          <a:prstGeom prst="rect">
            <a:avLst/>
          </a:prstGeom>
        </p:spPr>
      </p:pic>
      <p:pic>
        <p:nvPicPr>
          <p:cNvPr id="9" name="Picture 8" descr="arrow-right-F0AB00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1840" y="3154679"/>
            <a:ext cx="502920" cy="502920"/>
          </a:xfrm>
          <a:prstGeom prst="rect">
            <a:avLst/>
          </a:prstGeom>
        </p:spPr>
      </p:pic>
      <p:pic>
        <p:nvPicPr>
          <p:cNvPr id="10" name="Picture 9" descr="file-text-065A82-9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0" y="2971800"/>
            <a:ext cx="822960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9240" y="2903220"/>
            <a:ext cx="5577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750" b="1" i="0">
                <a:solidFill>
                  <a:srgbClr val="21295C"/>
                </a:solidFill>
                <a:latin typeface="Arial"/>
              </a:rPr>
              <a:t>Что обсуждали, что решили за неделю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50" b="0" i="0">
                <a:solidFill>
                  <a:srgbClr val="6B7685"/>
                </a:solidFill>
                <a:latin typeface="Arial"/>
              </a:rPr>
              <a:t>Дайджест нужен по пятницам, к 17:00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183112" cy="1325880"/>
          </a:xfrm>
          <a:prstGeom prst="roundRect">
            <a:avLst>
              <a:gd name="adj" fmla="val 22988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212080"/>
            <a:ext cx="1060704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Какая архитектура здесь нужна?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Дайджест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check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57276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Агент — нужен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10312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Обход нескольких источников по расписанию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Многошаговая задача с обращением к внешним системам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37160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x-circle-21295C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57276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55448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RAG — не нужен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10312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Источники обходятся напрямую по расписанию, не по произвольному запросу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Суммаризация — один вызов модели после сбора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74720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7472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1">
                <a:solidFill>
                  <a:srgbClr val="21295C"/>
                </a:solidFill>
                <a:latin typeface="Arial"/>
              </a:rPr>
              <a:t>Много источников — не то же самое, что RAG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RAG и агент в проде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34440"/>
            <a:ext cx="5454396" cy="324612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circle-check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3560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4173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@ Morgan Stanley Assistant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965960"/>
            <a:ext cx="5052059" cy="2496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Партнёрство с OpenAI (март 2023), запуск в сентябре 2023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RAG по базе ~100 000 research-документов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К середине 2024 — используют более 98% команд финансовых советников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1295C"/>
                </a:solidFill>
                <a:latin typeface="Arial"/>
              </a:rPr>
              <a:t>Доступность нужного документа: 20% → 80%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234440"/>
            <a:ext cx="5454396" cy="324612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x-circle-21295C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43560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4173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Replit, июль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1965960"/>
            <a:ext cx="5052059" cy="2496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Агент удалил продакшен-базу (~1200 руководителей компаний затронуты) во время code freeze, вопреки прямой инструкции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Затем неверно утверждал, что откат невозможен — данные восстановили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После инцидента: разделение dev/prod + режим агента «только планирование»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81728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Ещё: Octomind — сняли LangChain после года в проде, вернулись к прямым вызовам (17.06.2024)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30-divider-datacenter-real.jpg"/>
          <p:cNvPicPr>
            <a:picLocks noChangeAspect="1"/>
          </p:cNvPicPr>
          <p:nvPr/>
        </p:nvPicPr>
        <p:blipFill>
          <a:blip r:embed="rId2"/>
          <a:srcRect t="14843" b="1484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>
              <a:alpha val="78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-91440" y="-594360"/>
            <a:ext cx="5486400" cy="329184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0000"/>
              </a:lnSpc>
            </a:pPr>
            <a:r>
              <a:rPr sz="28000" b="1" i="0">
                <a:solidFill>
                  <a:srgbClr val="3A4474"/>
                </a:solidFill>
                <a:latin typeface="Arial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659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0607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Внешний API или локальный инференс?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43400"/>
            <a:ext cx="5120640" cy="50292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Кейс: звонки продаж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074920"/>
            <a:ext cx="9875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 i="1">
                <a:solidFill>
                  <a:srgbClr val="C8D2DF"/>
                </a:solidFill>
                <a:latin typeface="Arial"/>
              </a:rPr>
              <a:t>Это про то, где физически обрабатываются данные, а не какая модель лучше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05840"/>
            <a:ext cx="11183112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17957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17904"/>
            <a:ext cx="10287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50" b="0" i="1">
                <a:solidFill>
                  <a:srgbClr val="21295C"/>
                </a:solidFill>
                <a:latin typeface="Arial"/>
              </a:rPr>
              <a:t>«Хочу карточку по каждому звонку — потребность, возражения, договорённости»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09376" y="117957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briefcas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261872"/>
            <a:ext cx="292608" cy="292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2377440"/>
            <a:ext cx="420624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s29-office-phonecall-real.jpg"/>
          <p:cNvPicPr>
            <a:picLocks noChangeAspect="1"/>
          </p:cNvPicPr>
          <p:nvPr/>
        </p:nvPicPr>
        <p:blipFill>
          <a:blip r:embed="rId4"/>
          <a:srcRect l="5930" r="5930"/>
          <a:stretch>
            <a:fillRect/>
          </a:stretch>
        </p:blipFill>
        <p:spPr>
          <a:xfrm>
            <a:off x="612648" y="2487168"/>
            <a:ext cx="3986783" cy="339242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983479" y="2377440"/>
            <a:ext cx="6702552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6359" y="2523744"/>
            <a:ext cx="6336792" cy="1417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8 менеджеров, по 15-20 звонков в день, записи лежат в телефонии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83479" y="4343400"/>
            <a:ext cx="6702552" cy="1645920"/>
          </a:xfrm>
          <a:prstGeom prst="roundRect">
            <a:avLst>
              <a:gd name="adj" fmla="val 18518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66359" y="4343400"/>
            <a:ext cx="6336792" cy="1645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Как это построить?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77724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95097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289304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450" b="0" i="1">
                <a:solidFill>
                  <a:srgbClr val="21295C"/>
                </a:solidFill>
                <a:latin typeface="Arial"/>
              </a:rPr>
              <a:t>«Стоп. Вы эти записи в какой сервис отправляете?»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009376" y="9509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scal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033271"/>
            <a:ext cx="292608" cy="292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874519"/>
            <a:ext cx="3575304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landmark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1972" y="203911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" y="2587752"/>
            <a:ext cx="3355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РФ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063239"/>
            <a:ext cx="324612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152-ФЗ + 420-ФЗ (с 30.05.2025)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Первая утечка: штраф 3-5 млн ₽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Повторная: 1-3% годовой выручки (мин. 20 млн, макс. 500 млн ₽)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1874519"/>
            <a:ext cx="3575304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scale-065A82-9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5876" y="203911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16552" y="2587752"/>
            <a:ext cx="3355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ЕС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1416" y="3063239"/>
            <a:ext cx="324612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GDPR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До €20 млн или 4% мирового оборота (что больше)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Рекорд: Meta, €1,2 млрд, 2023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0728" y="1874519"/>
            <a:ext cx="3575304" cy="2880360"/>
          </a:xfrm>
          <a:prstGeom prst="roundRect">
            <a:avLst>
              <a:gd name="adj" fmla="val 10582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7" name="Picture 16" descr="building-2-065A82-9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9780" y="2039112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20456" y="2587752"/>
            <a:ext cx="3355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065A82"/>
                </a:solidFill>
                <a:latin typeface="Arial"/>
              </a:rPr>
              <a:t>США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3063239"/>
            <a:ext cx="324612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Единого федерального закона нет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Штатные (Калифорния — CCPA/CPRA)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 i="0">
                <a:solidFill>
                  <a:srgbClr val="21295C"/>
                </a:solidFill>
                <a:latin typeface="Arial"/>
              </a:rPr>
              <a:t>Секторальные (например, HIPAA)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937759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937759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За сохранность персональных данных всерьёз борются все крупные юрисдикции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Звонки продаж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5454396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45336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883664"/>
            <a:ext cx="4558283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«GPU-сервера у нас нет, и бюджета на него в этом году нет»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80659" y="1545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briefcase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955" y="162763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" y="3291840"/>
            <a:ext cx="50154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— CTO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1636" y="1371600"/>
            <a:ext cx="5454396" cy="2286000"/>
          </a:xfrm>
          <a:prstGeom prst="roundRect">
            <a:avLst>
              <a:gd name="adj" fmla="val 13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1092" y="1545336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51092" y="1883664"/>
            <a:ext cx="4558283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i="1">
                <a:solidFill>
                  <a:srgbClr val="21295C"/>
                </a:solidFill>
                <a:latin typeface="Arial"/>
              </a:rPr>
              <a:t>«Мне не беседа нужна — пять полей в CRM по каждому звонку»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009376" y="1545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4F7FA"/>
          </a:solidFill>
          <a:ln w="1651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Picture 12" descr="user-round-028090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627632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451092" y="3291840"/>
            <a:ext cx="50154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— руководитель отдела продаж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31920"/>
            <a:ext cx="11183112" cy="8229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931920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Меняет ли это архитектуру ещё раз?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Звонки продаж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11183112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cpu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600200"/>
            <a:ext cx="548640" cy="548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08760" y="1389888"/>
            <a:ext cx="987552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Задача сузилась до шаблона — локальная модель 7-8 млрд параметров справляется, данные не покидают периметр компании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70048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670048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Arial"/>
              </a:rPr>
              <a:t>Открытые модели 7-8B: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29000" y="267004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Qwen3 · Llama · Gemma · Mistral · T-lite · T-pro (Т-Банк, Apache 2.0, на базе Qwen)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630168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30168"/>
            <a:ext cx="1078992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i="1">
                <a:solidFill>
                  <a:srgbClr val="21295C"/>
                </a:solidFill>
                <a:latin typeface="Arial"/>
              </a:rPr>
              <a:t>4-bit квантование → 4-6 ГБ памяти, обычный сервер без GPU (Ollama / llama.cpp) · тонкая подстройка — LoRA на одной GPU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636008"/>
            <a:ext cx="5454396" cy="1463040"/>
          </a:xfrm>
          <a:prstGeom prst="roundRect">
            <a:avLst>
              <a:gd name="adj" fmla="val 20833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764024"/>
            <a:ext cx="5088636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«Сложно для человека» ≠ «сложно для модели»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1636" y="4636008"/>
            <a:ext cx="5454396" cy="1463040"/>
          </a:xfrm>
          <a:prstGeom prst="roundRect">
            <a:avLst>
              <a:gd name="adj" fmla="val 20833"/>
            </a:avLst>
          </a:prstGeom>
          <a:solidFill>
            <a:srgbClr val="FEF5E0"/>
          </a:solidFill>
          <a:ln w="2032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4516" y="4764024"/>
            <a:ext cx="5088636" cy="12070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Чувствительность данных выясняется вопросами, а не предполагается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Утечка в Samsung — и модели, которые уже в кармане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160"/>
            <a:ext cx="5454396" cy="306324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x-circle-21295C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8132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1463039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Samsung, 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011679"/>
            <a:ext cx="5052059" cy="2313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Разрешили ChatGPT 11.03.2023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К 30.03 (~19 дней) — 3 утечки: 2× код производства, 1× транскрипт совещания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21295C"/>
                </a:solidFill>
                <a:latin typeface="Arial"/>
              </a:rPr>
              <a:t>Полный запрет генеративного ИИ на устройствах (май 2023)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1280160"/>
            <a:ext cx="5454396" cy="306324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check-028090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148132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1463039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Малые модели в кармане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011679"/>
            <a:ext cx="5052059" cy="2313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00" b="0" i="0">
                <a:solidFill>
                  <a:srgbClr val="21295C"/>
                </a:solidFill>
                <a:latin typeface="Arial"/>
              </a:rPr>
              <a:t>Apple Intelligence — ~3 млрд параметров на устройстве (iOS 18.1, октябрь 2024, iPhone 15 Pro+): суммаризация и правка текста офлайн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21295C"/>
                </a:solidFill>
                <a:latin typeface="Arial"/>
              </a:rPr>
              <a:t>Google Gemini Nano — 1,8-3,25 млрд параметров (Pixel/Android): суммаризация в Recorder, Magic Compose — офлайн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57200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572000"/>
            <a:ext cx="106070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Малые модели уже в кармане у половины аудитории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Ваши задачи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63040"/>
            <a:ext cx="11183112" cy="3200400"/>
          </a:xfrm>
          <a:prstGeom prst="roundRect">
            <a:avLst>
              <a:gd name="adj" fmla="val 9523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hand-F0AB00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20240"/>
            <a:ext cx="1097280" cy="1097280"/>
          </a:xfrm>
          <a:prstGeom prst="rect">
            <a:avLst/>
          </a:prstGeom>
        </p:spPr>
      </p:pic>
      <p:pic>
        <p:nvPicPr>
          <p:cNvPr id="5" name="Picture 4" descr="users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920240"/>
            <a:ext cx="1097280" cy="1097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383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У кого есть похожая задача с работы — там, где стоял вопрос, нужен ли ИИ, и какой?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937759"/>
            <a:ext cx="11183112" cy="8229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937759"/>
            <a:ext cx="106070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i="1">
                <a:solidFill>
                  <a:srgbClr val="21295C"/>
                </a:solidFill>
                <a:latin typeface="Arial"/>
              </a:rPr>
              <a:t>Достаточно сформулировать в двух-трёх предложениях, как её принёс бы заказчик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унести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8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Семь уроков, по одному на кейс — ничего нового, только компиляция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file-text-065A82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33372"/>
            <a:ext cx="310896" cy="3108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" y="169164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Документы поставщиков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94310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691640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Два примера — не выборка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340864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-alert-065A82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82596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340864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Персоналка в логах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59232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340864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Граница regex/модель — внутри задачи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990088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5" name="Picture 14" descr="monitor-065A82-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131820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88720" y="2990088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Помощник поддержки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241548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2990088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Организационное ограничение решает не хуже техники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39312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store-065A82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781044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88720" y="3639312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Описания товаров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5968" y="3890772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3639312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Встроенность бьёт отдельный продукт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5" name="Picture 24" descr="list-checks-065A82-6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430268"/>
            <a:ext cx="310896" cy="31089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88720" y="4288536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Протоколы встреч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15968" y="4539996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4288536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Архитектуру двигают требования, не мода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937760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mail-065A82-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5079492"/>
            <a:ext cx="310896" cy="3108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88720" y="4937760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Дайджест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15968" y="5189220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26280" y="4937760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Много источников ≠ RAG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586983"/>
            <a:ext cx="11183112" cy="5943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5" name="Picture 34" descr="phone-065A82-6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800" y="5728716"/>
            <a:ext cx="310896" cy="310896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188720" y="5586983"/>
            <a:ext cx="32004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Звонки продаж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15968" y="5838444"/>
            <a:ext cx="91440" cy="914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26280" y="5586983"/>
            <a:ext cx="69494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 i="0">
                <a:solidFill>
                  <a:srgbClr val="21295C"/>
                </a:solidFill>
                <a:latin typeface="Arial"/>
              </a:rPr>
              <a:t>Сложно для человека ≠ сложно для модели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Домашнее чтение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8311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Необязательно, но по каждой истории будет что обсудить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557016" cy="44805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2540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25496" y="1783080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Arial"/>
              </a:rPr>
              <a:t>ГЛАВНОЕ</a:t>
            </a:r>
          </a:p>
        </p:txBody>
      </p:sp>
      <p:pic>
        <p:nvPicPr>
          <p:cNvPr id="6" name="Picture 5" descr="handshake-065A82-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7108" y="1874519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2651760"/>
            <a:ext cx="3191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Сага Klarna, 2023-2025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566160"/>
            <a:ext cx="319125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AI-ассистент поддержки: от впечатляющего старта до признания «мы зашли слишком далеко» и возврата к найму людей.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600200"/>
            <a:ext cx="3557016" cy="44805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" name="Picture 9" descr="building-2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0156" y="1874519"/>
            <a:ext cx="548640" cy="5486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98848" y="2651760"/>
            <a:ext cx="3191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NYC MyCity chatbot,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8848" y="3566160"/>
            <a:ext cx="319125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Городской чат-бот для малого бизнеса, дававший юридически некорректные советы. Расследование The Markup.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9016" y="1600200"/>
            <a:ext cx="3557016" cy="4480560"/>
          </a:xfrm>
          <a:prstGeom prst="roundRect">
            <a:avLst>
              <a:gd name="adj" fmla="val 856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banknote-065A82-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33204" y="187451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311896" y="2651760"/>
            <a:ext cx="3191256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Бонус, для настроения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1896" y="3566160"/>
            <a:ext cx="319125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Автосалон подключил чат-бот на стороннем API без ограждений — и чат-бот «продал» внедорожник за один доллар.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263640"/>
            <a:ext cx="11183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1C7293"/>
                </a:solidFill>
                <a:latin typeface="Arial"/>
              </a:rPr>
              <a:t>Если сегодня останется время — часть этого разберём вживую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Klarna, 2023-2025: одна история — четыре развилки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88720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42646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ИИ или нет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280160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Типовые тикеты — формализуемы, хороший кандидат; но оптимизация по стоимости уронила качество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21408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35915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212848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Встроить или своё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212848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Ассистент в существующем канале поддержки, внешний API (OpenAI) — не отдельный продукт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054096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" y="329184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145536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Архитектура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145536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Чат-ассистент с эскалацией к человеку, не автономный агент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986784"/>
            <a:ext cx="11183112" cy="841248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" y="4224528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txBody>
          <a:bodyPr rtlCol="0" anchor="ctr" lIns="45720" rIns="45720" tIns="27432" bIns="27432" wrap="none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78224"/>
            <a:ext cx="21945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 i="0">
                <a:solidFill>
                  <a:srgbClr val="065A82"/>
                </a:solidFill>
                <a:latin typeface="Arial"/>
              </a:rPr>
              <a:t>Инференс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4078224"/>
            <a:ext cx="80010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Внешний облачный API с клиентскими данными поддержки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965192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965192"/>
            <a:ext cx="1069848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Запуск февраль 2024 · 30 дней: 2,3 млн чатов, 67% обращений автоматизировано · заявлено «эквивалент 700 агентов»/$40М (2024) → «853 агента»/$60М (Q3 2025) — знаменатель не раскрыт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879592"/>
            <a:ext cx="11183112" cy="77724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879592"/>
            <a:ext cx="106070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1">
                <a:solidFill>
                  <a:srgbClr val="21295C"/>
                </a:solidFill>
                <a:latin typeface="Arial"/>
              </a:rPr>
              <a:t>«We went too far» — CEO Себастьян Семятковски, Bloomberg, май 2025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Дедупликация новостей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1560"/>
            <a:ext cx="11183112" cy="9601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quote-1C7293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225295"/>
            <a:ext cx="292608" cy="292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1563624"/>
            <a:ext cx="10744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500" b="0" i="1">
                <a:solidFill>
                  <a:srgbClr val="21295C"/>
                </a:solidFill>
                <a:latin typeface="Arial"/>
              </a:rPr>
              <a:t>«Поток новостей из многих источников — нужно склеивать одинаковые в одну карточку»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331720"/>
            <a:ext cx="11183112" cy="2606040"/>
          </a:xfrm>
          <a:prstGeom prst="roundRect">
            <a:avLst>
              <a:gd name="adj" fmla="val 11695"/>
            </a:avLst>
          </a:prstGeom>
          <a:solidFill>
            <a:srgbClr val="F4F7FA"/>
          </a:solidFill>
          <a:ln w="2032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message-square-quote-065A82-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926079"/>
            <a:ext cx="822960" cy="822960"/>
          </a:xfrm>
          <a:prstGeom prst="rect">
            <a:avLst/>
          </a:prstGeom>
        </p:spPr>
      </p:pic>
      <p:pic>
        <p:nvPicPr>
          <p:cNvPr id="8" name="Picture 7" descr="message-square-quote-1C7293-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3200400"/>
            <a:ext cx="685800" cy="685800"/>
          </a:xfrm>
          <a:prstGeom prst="rect">
            <a:avLst/>
          </a:prstGeom>
        </p:spPr>
      </p:pic>
      <p:pic>
        <p:nvPicPr>
          <p:cNvPr id="9" name="Picture 8" descr="arrow-right-F0AB00-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1800" y="3291839"/>
            <a:ext cx="502920" cy="502920"/>
          </a:xfrm>
          <a:prstGeom prst="rect">
            <a:avLst/>
          </a:prstGeom>
        </p:spPr>
      </p:pic>
      <p:pic>
        <p:nvPicPr>
          <p:cNvPr id="10" name="Picture 9" descr="layers-065A82-9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4760" y="2926079"/>
            <a:ext cx="822960" cy="822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0" y="2926079"/>
            <a:ext cx="585216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1000"/>
              </a:spcAft>
            </a:pPr>
            <a:r>
              <a:rPr sz="1700" b="1" i="0">
                <a:solidFill>
                  <a:srgbClr val="21295C"/>
                </a:solidFill>
                <a:latin typeface="Arial"/>
              </a:rPr>
              <a:t>Десять почти одинаковых заголовков от разных изданий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400" b="0" i="0">
                <a:solidFill>
                  <a:srgbClr val="6B7685"/>
                </a:solidFill>
                <a:latin typeface="Arial"/>
              </a:rPr>
              <a:t>→ одна объединённая карточка события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183112" cy="1325880"/>
          </a:xfrm>
          <a:prstGeom prst="roundRect">
            <a:avLst>
              <a:gd name="adj" fmla="val 22988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212080"/>
            <a:ext cx="1060704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Какая технология нужна?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183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Дедупликация — разбор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14884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E9F5F2"/>
          </a:solidFill>
          <a:ln w="17780">
            <a:solidFill>
              <a:srgbClr val="02809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filter-028090-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2350008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79576" y="23317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Fuzzy-matching / shingling — ~90%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88036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Сравнение текстов по перекрывающимся фрагментам без обращения к модели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1295C"/>
                </a:solidFill>
                <a:latin typeface="Arial"/>
              </a:rPr>
              <a:t>Дёшево и предсказуемо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1636" y="2148840"/>
            <a:ext cx="5454396" cy="1783080"/>
          </a:xfrm>
          <a:prstGeom prst="roundRect">
            <a:avLst>
              <a:gd name="adj" fmla="val 6000"/>
            </a:avLst>
          </a:prstGeom>
          <a:solidFill>
            <a:srgbClr val="FBEAEA"/>
          </a:solidFill>
          <a:ln w="17780">
            <a:solidFill>
              <a:srgbClr val="B04A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sparkles-21295C-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803" y="2350008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908292" y="2331720"/>
            <a:ext cx="4576571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LLM — только остаток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2803" y="2880360"/>
            <a:ext cx="5052059" cy="10332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 i="0">
                <a:solidFill>
                  <a:srgbClr val="21295C"/>
                </a:solidFill>
                <a:latin typeface="Arial"/>
              </a:rPr>
              <a:t>Два сообщения об одном событии написаны разными словами почти без общих фрагментов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21295C"/>
                </a:solidFill>
                <a:latin typeface="Arial"/>
              </a:rPr>
              <a:t>Перефраз без лексического пересечения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251959"/>
            <a:ext cx="11183112" cy="105156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7780">
            <a:solidFill>
              <a:srgbClr val="F0AB0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51959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Сначала дешёвый детерминированный фильтр — ИИ на то, что он не взял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-closing-gpu-re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480560"/>
            <a:ext cx="12191695" cy="2377440"/>
          </a:xfrm>
          <a:prstGeom prst="rect">
            <a:avLst/>
          </a:prstGeom>
          <a:solidFill>
            <a:srgbClr val="21295C">
              <a:alpha val="82000"/>
            </a:srgbClr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709160"/>
            <a:ext cx="106070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Сегодня вы решали, что строить.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1" i="0">
                <a:solidFill>
                  <a:srgbClr val="F0AB00"/>
                </a:solidFill>
                <a:latin typeface="Arial"/>
              </a:rPr>
              <a:t>Лекция 2 — как модель устроена внутри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