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мы разбираем не то, что такое ИИ, а то, как инженер решает, применять ли его вообще — и если да, то в каком виде. Заказчик почти никогда не формулирует задачу так, чтобы тип решения был очевиден сразу. Он говорит «сделайте нам ИИ для X» или просто «автоматизируйте нам X», а инженеру нужно пройти цепочку выборов прежде, чем открывать редактор кода.</a:t>
            </a:r>
          </a:p>
          <a:p/>
          <a:p>
            <a:r>
              <a:t>Формат сегодняшнего занятия — открытое обсуждение всей аудиторией, без разделения на группы или пары. Я задаю вопрос в зал, вы отвечаете вслух, если аудитория молчит — я обращаюсь к конкретному человеку по имени. У каждого полного кейса будет момент, когда появляется деталь, которой не было в первой постановке задачи, и тогда я прямо спрошу: «кто передумал и почему?». Это не проверка памяти, а тренировка готовности пересмотреть решение при новых данных — тот же навык, что нужен на реальной работе.</a:t>
            </a:r>
          </a:p>
          <a:p/>
          <a:p>
            <a:r>
              <a:t>Прогоним эту воронку выборов на семи реалистичных инженерных постановках — четыре полных кейса и три блиц-кейса — и в конце один-два человека принесут реальную задачу со своей работы, и вся аудитория разберёт её вместе. Начнём со схемы самой воронки.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схема, вокруг которой построено всё сегодняшнее занятие. Реальная задача проходит через четыре последовательных выбора. Первый — нужен ли здесь вообще ИИ, или задачу лучше и надёжнее решает обычный код. Второй — если ИИ нужен, встраиваем его в приложение, которым люди уже пользуются, или делаем отдельный продукт. Третий — если делаем своё, это разовый вызов модели, поиск по базе знаний, который называется RAG, или многошаговый агент с инструментами. И четвёртый — считает это внешний облачный API или модель, которая крутится у вас локально.</a:t>
            </a:r>
          </a:p>
          <a:p/>
          <a:p>
            <a:r>
              <a:t>Ни один из этих четырёх выборов не решается «по умолчанию» и не решается один раз для всей компании — он решается заново для каждой задачи, по вводным, которые часто всплывают только после прямого вопроса заказчику. Заказчик не скажет вам сам, что среди входящих данных изредка встречаются паспортные данные, или что у используемой в компании системы нет открытого API. Это выясняется, только если вы спросите.</a:t>
            </a:r>
          </a:p>
          <a:p/>
          <a:p>
            <a:r>
              <a:t>Поэтому главный навык, который тренирует сегодняшнее занятие — не запоминание этой схемы, а умение вовремя задать вопрос, который изменит ответ. Мы прогоним эту воронку на семи постановках, и почти в каждой ответ поменяется хотя бы раз по ходу разбора. Прежде чем двигаться дальше, нам нужен общий язык по двум архитектурам из шага 3 — RAG и агент — коротко: подробно они будут на Лекции 3.</a:t>
            </a:r>
          </a:p>
          <a:p/>
          <a:p>
            <a:r>
              <a:t>### Self-check</a:t>
            </a:r>
          </a:p>
          <a:p>
            <a:r>
              <a:t>1. Почему воронка не решается «один раз для всей компании», а заново для каждой задачи?</a:t>
            </a:r>
          </a:p>
          <a:p>
            <a:r>
              <a:t>2. Какой из четырёх выборов, по-вашему, чаще всего пропускают инженеры, торопясь сразу к архитектуре?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— Retrieval-Augmented Generation, поиск с подкреплением генерации. Поток простой: вопрос пользователя приходит в систему, система ищет релевантные фрагменты в базе знаний, найденные фрагменты подкладываются в контекст модели вместе с вопросом, и модель генерирует ответ на основе вопроса и найденного.</a:t>
            </a:r>
          </a:p>
          <a:p/>
          <a:p>
            <a:r>
              <a:t>RAG нужен, когда база знаний большая, меняется во времени, и весь её объём физически не помещается в один запрос к модели. Если весь нужный материал помещается в один вызов — например, транскрипт одной встречи целиком — RAG не нужен, это было бы избыточным усложнением.</a:t>
            </a:r>
          </a:p>
          <a:p/>
          <a:p>
            <a:r>
              <a:t>Сегодня нам этого достаточно, чтобы уверенно отличать разовый вызов модели от RAG на уровне «какая архитектура здесь нужна и почему» — без деталей того, как устроен поиск внутри, как считаются векторные представления фрагментов и как выбирается, что именно попадёт в контекст. Если у вас есть вопросы про механизм — отличный вопрос, разберём подробно на Лекции 3. Сегодня нам хватит этой интуиции, чтобы узнавать архитектуру в кейсах.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работает не одним вызовом модели, а циклом. Модель строит план, вызывает внешний инструмент — это может быть API, поиск, выполнение кода, — проверяет результат этого вызова, решает, что делать дальше, и так несколько раз подряд, пока задача не будет выполнена или не потребуется вмешательство человека.</a:t>
            </a:r>
          </a:p>
          <a:p/>
          <a:p>
            <a:r>
              <a:t>Агент нужен там, где недостаточно одного ответа: есть несколько шагов, и есть действие во внешней системе — создать задачу в таск-трекере, отправить запрос в API, запустить тесты и посмотреть на результат. Если задачу можно решить одним вызовом модели без обращения к внешним системам — агент не нужен, это тоже было бы избыточным усложнением.</a:t>
            </a:r>
          </a:p>
          <a:p/>
          <a:p>
            <a:r>
              <a:t>Не буду сейчас объяснять детали планирования внутри агента — как именно модель решает, какой шаг следующий, и как она восстанавливается после ошибки инструмента. Это подробно будет на Лекции 3. Сегодня нам достаточно интуиции, чтобы в кейсах отличать «здесь достаточно одного вызова» от «здесь нужен цикл с проверкой». Дальше переходим к первому из четырёх выборов воронки.</a:t>
            </a:r>
          </a:p>
          <a:p/>
          <a:p>
            <a:r>
              <a:t>### Self-check</a:t>
            </a:r>
          </a:p>
          <a:p>
            <a:r>
              <a:t>1. Чем задача-кандидат на RAG отличается от задачи-кандидата на агента с точки зрения того, что физически не помещается в один вызов?</a:t>
            </a:r>
          </a:p>
          <a:p>
            <a:r>
              <a:t>2. Приведите свой пример задачи, где одного вызова модели точно недостаточно — какой конкретно шаг требует проверки результата?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выбор воронки — нужен ли здесь вообще ИИ, или задачу лучше и надёжнее решает обычный детерминированный код. Разберём это на одном полном кейсе с неожиданным поворотом сюжета, коротком блиц-кейсе про персональные данные в логах, и двух случаях из практики индустрии — один провальный, один успешный.</a:t>
            </a:r>
          </a:p>
          <a:p/>
          <a:p>
            <a:r>
              <a:t>Цель этого раздела — показать, что выбор между ИИ и обычным кодом определяется не тем, насколько сложной кажется задача на первый взгляд, а вариативностью входных данных. И что два примера, которые вам показал заказчик, не гарантируют вывод про весь реальный объём данных, с которым решение столкнётся в проде.</a:t>
            </a:r>
          </a:p>
          <a:p/>
          <a:p>
            <a:r>
              <a:t>Начнём с постановки: два примера документов от поставщиков, задача — извлечь из них данные.</a:t>
            </a:r>
          </a:p>
          <a:p/>
          <a:p>
            <a:r>
              <a:t>Обратите внимание на формулировку постановки — она звучит просто и конкретно, ровно так, как чаще всего и приходят реальные задачи от заказчика. Первая реакция аудитории на такую постановку обычно кажется очевидной, и именно поэтому этот кейс — хороший старт: он покажет, как быстро очевидный на первый взгляд ответ может перестать быть очевидным.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постановка от продакта: вот два примера входящих документов от двух поставщиков за последний месяц, форматы почти идентичные, структура понятная — напишите нам автоматическое извлечение данных из таких документов. Смотрите на оба примера — они действительно выглядят как явно структурированные, однотипные таблицы.</a:t>
            </a:r>
          </a:p>
          <a:p/>
          <a:p>
            <a:r>
              <a:t>Вопрос в зал: что вы предложите? Нужен ли здесь ИИ?</a:t>
            </a:r>
          </a:p>
          <a:p/>
          <a:p>
            <a:r>
              <a:t>Дайте аудитории высказаться свободно, дождитесь нескольких мнений. Ожидаемое направление разговора: раз форматы идентичны и структурированы, это задача для детерминированного парсера — регулярных выражений или разбора по фиксированным полям. ИИ здесь избыточен и менее предсказуем, чем код, который либо извлекает поле правильно, либо явно падает с ошибкой парсинга, которую легко поймать и исправить. Дайте аудитории самостоятельно прийти к этому выводу, не подсказывайте раньше времени — сейчас важно, чтобы прозвучал именно этот аргумент от студентов, а не от меня.</a:t>
            </a:r>
          </a:p>
          <a:p/>
          <a:p>
            <a:r>
              <a:t>### Self-check</a:t>
            </a:r>
          </a:p>
          <a:p>
            <a:r>
              <a:t>1. Почему структурированность и однотипность двух показанных примеров — весомый аргумент в пользу детерминированного кода, а не ИИ?</a:t>
            </a:r>
          </a:p>
          <a:p>
            <a:r>
              <a:t>2. Какую именно ошибку легче поймать и исправить у парсера по фиксированным полям, чем у модели?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Дополнительная вводная: хорошо, а теперь вас попросили обработать полный корпус — документы от всех поставщиков за последние три года, не только эти два примера. Оказывается, у других поставщиков и в других периодах форматы и формулировки полей на самом деле разъехались: где-то дата в другом формате, где-то поле называется иначе, где-то структура таблицы отличается целиком.</a:t>
            </a:r>
          </a:p>
          <a:p/>
          <a:p>
            <a:r>
              <a:t>Кто передумал? Почему? Дождитесь минимум двух ответов из зала, прежде чем озвучивать разбор.</a:t>
            </a:r>
          </a:p>
          <a:p/>
          <a:p>
            <a:r>
              <a:t>Ожидаемое направление: чистый детерминированный парсер теперь придётся переписывать под каждый новый формат и постоянно чинить при появлении нового поставщика — растущая стоимость поддержки, которая со временем может превысить стоимость альтернативы. Разумный ответ — гибрид: LLM делает извлечение по неструктурированному или полуструктурированному входу, а на выходе стоит жёсткая валидация кодом — проверка типов полей, обязательных значений, диапазонов — прежде чем данные попадут дальше в систему.</a:t>
            </a:r>
          </a:p>
          <a:p/>
          <a:p>
            <a:r>
              <a:t>Проговорите двойной урок явно. Первое: выбор между ИИ и обычным кодом определяется вариативностью входа, а не сложностью задачи на старте. Второе, и это ключевое: два примера — не выборка. Прежде чем делать архитектурный выбор, нужно запросить представление полного объёма данных, с которым решение реально столкнётся, а не экстраполировать с двух показанных образцов.</a:t>
            </a:r>
          </a:p>
          <a:p/>
          <a:p>
            <a:r>
              <a:t>Если аудитория сама не поднимет тему — кратко упомяните: работа с вариативными данными без валидации на выходе — это ровно то место, где реалистичен риск, аналогичный distribution shift из Лекции 1: модель, настроенная на форматы, которые видела, тихо деградирует на новых.</a:t>
            </a:r>
          </a:p>
          <a:p/>
          <a:p>
            <a:r>
              <a:t>### Self-check</a:t>
            </a:r>
          </a:p>
          <a:p>
            <a:r>
              <a:t>1. Почему растущая стоимость поддержки детерминированного парсера — не разовая, а накопительная проблема при появлении новых поставщиков?</a:t>
            </a:r>
          </a:p>
          <a:p>
            <a:r>
              <a:t>2. Как связан риск в этом кейсе с distribution shift из Лекции 1 — что именно «тихо деградирует» и почему валидация на выходе снижает этот риск?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Быстрый кейс: нужно вычистить персональные данные из логов приложения перед передачей их внешнему подрядчику на анализ производительности.</a:t>
            </a:r>
          </a:p>
          <a:p/>
          <a:p>
            <a:r>
              <a:t>Вопрос в зал: одна технология на всё, или нет?</a:t>
            </a:r>
          </a:p>
          <a:p/>
          <a:p>
            <a:r>
              <a:t>Ожидаемый вывод: телефоны и email — это данные с чётким форматом, их надёжно и дёшево вычищает regex. А имена людей и косвенные упоминания в свободном тексте — например, «передайте это Ивану из бухгалтерии» — требуют понимания контекста, здесь нужен NER, распознавание именованных сущностей, или LLM. Ответ — гибрид, и граница проходит внутри одной задачи, а не между разными задачами.</a:t>
            </a:r>
          </a:p>
          <a:p/>
          <a:p>
            <a:r>
              <a:t>Обратите внимание — мы только что столкнулись с чувствительными данными в задаче, которая на первый взгляд была просто про очистку текста. Мы вернёмся к вопросу чувствительности данных в разделе про выбор внешнего API или локальной модели, когда будем решать, где вообще можно считать такие данные.</a:t>
            </a:r>
          </a:p>
          <a:p/>
          <a:p>
            <a:r>
              <a:t>### Self-check</a:t>
            </a:r>
          </a:p>
          <a:p>
            <a:r>
              <a:t>1. Почему regex справляется с телефонами и email надёжнее, чем LLM, а с именами в свободном тексте — хуже?</a:t>
            </a:r>
          </a:p>
          <a:p>
            <a:r>
              <a:t>2. Какой признак задачи подсказывает, что «одна технология на всё» — неверная рамка постановки?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случая из практики индустрии — один провальный, один успешный, оба про раздел про ИИ или обычный код.</a:t>
            </a:r>
          </a:p>
          <a:p/>
          <a:p>
            <a:r>
              <a:t>Провал: Epic Sepsis Model — проприетарная ML-модель предсказания сепсиса, развёрнутая у сотен госпиталей, клиентов Epic. Независимая валидация в Michigan Medicine на базе 38 455 госпитализаций показала реальную точность (AUC) 0.63 против заявленных вендором 0.76–0.83. Модель пропустила 67% реальных случаев сепсиса, при этом алерты срабатывали на 18% всех госпитализированных пациентов — классический пример притупления внимания персонала от избыточных срабатываний.</a:t>
            </a:r>
          </a:p>
          <a:p/>
          <a:p>
            <a:r>
              <a:t>Открытый вопрос в зал: что здесь пошло не так? Ожидаемое направление: сложная ML-модель не дала преимущества там, где у клинического персонала уже были рабочие простые критерии, и главное — вендорские метрики точности не равны метрикам, измеренным независимо на собственных данных. Это тот же урок, что «два примера — не выборка».</a:t>
            </a:r>
          </a:p>
          <a:p/>
          <a:p>
            <a:r>
              <a:t>Успех: Ramp, инженерный блог компании про классификацию мерчантов. До внедрения заявки на исправление категории транзакции обрабатывались вручную, покрытие всего 3% в 2023 году и 1,5% в 2024 — то есть 97–98,5% заявок вообще не обрабатывались. После внедрения LLM-агента с embeddings, RAG и guardrails: обработка заявки — менее 10 секунд вместо часов ручной работы, около 99% изменений признаны корректными по оценке LLM-судьи, около 25% заявок обоснованно отклоняются.</a:t>
            </a:r>
          </a:p>
          <a:p/>
          <a:p>
            <a:r>
              <a:t>Важно сформулировать честно: это замена ручной обработки с мизерным покрытием, а не замена работавшего regex-решения. Здесь ИИ решил задачу, которая раньше почти не решалась вообще из-за нехватки человеческих ресурсов.</a:t>
            </a:r>
          </a:p>
          <a:p/>
          <a:p>
            <a:r>
              <a:t>### Self-check</a:t>
            </a:r>
          </a:p>
          <a:p>
            <a:r>
              <a:t>1. Почему разница между заявленным AUC 0.76–0.83 и измеренным независимо 0.63 — это не просто «модель немного хуже», а структурная проблема доверия к вендорским цифрам?</a:t>
            </a:r>
          </a:p>
          <a:p>
            <a:r>
              <a:t>2. Почему нельзя описывать успех Ramp как «ИИ победил regex» — в чём разница с кейсом «Документы поставщиков»?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выбор воронки — если ИИ нужен, встраиваем его в существующее приложение, которым люди уже пользуются, или делаем отдельный продукт. Разберём полный кейс про ИИ-помощника для поддержки, который упирается в закрытость вендорской системы, короткий блиц-кейс про генерацию описаний товаров, и историю о том, почему одна технология выжила будучи фичей и не выжила будучи отдельным продуктом.</a:t>
            </a:r>
          </a:p>
          <a:p/>
          <a:p>
            <a:r>
              <a:t>Цель раздела — показать, что этот выбор часто упирается не в технологию, а в организационные ограничения: доступ к API вендора, привычки пользователей. И что у этого выбора не всегда есть единственно верный ответ — один из кейсов сегодня специально таким и задуман.</a:t>
            </a:r>
          </a:p>
          <a:p/>
          <a:p>
            <a:r>
              <a:t>Начнём с постановки: ИИ-помощник для операторов техподдержки.</a:t>
            </a:r>
          </a:p>
          <a:p/>
          <a:p>
            <a:r>
              <a:t>Предупреждение заранее: это единственный раздел сегодня, где мы намеренно не придём к одному общему выводу. Не удивляйтесь и не старайтесь угадать «правильный» ответ — здесь важнее сам процесс называния вариантов и их цены, чем финальный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Следующая постановка: сделайте нам ИИ-помощника для операторов техподдержки — подсказки ответов на тикеты, поиск похожих обращений в истории.</a:t>
            </a:r>
          </a:p>
          <a:p/>
          <a:p>
            <a:r>
              <a:t>Вопрос в зал: где должен жить этот помощник?</a:t>
            </a:r>
          </a:p>
          <a:p/>
          <a:p>
            <a:r>
              <a:t>Ожидаемое направление: операторы весь рабочий день живут в интерфейсе helpdesk-системы — Zendesk, Jira Service Management и подобных. Очевидный ответ на первый взгляд — встраивать помощника прямо в этот интерфейс, а не делать отдельное окно, в которое оператору придётся переключаться на каждый тикет. Дайте аудитории самой прийти к этому выводу.</a:t>
            </a:r>
          </a:p>
          <a:p/>
          <a:p>
            <a:r>
              <a:t>Пока не раскрывайте следующую вводную — сейчас важно зафиксировать первый, интуитивно понятный ответ именно как отправную точку. Это тот же паттерн рассуждения, что и в предыдущих разделах: очевидное решение на старте почти всегда верно с точки зрения общего направления, но полная картина появляется только после того, как всплывают ограничения, которых не было в первой формулировке задачи.</a:t>
            </a:r>
          </a:p>
          <a:p/>
          <a:p>
            <a:r>
              <a:t>### Self-check</a:t>
            </a:r>
          </a:p>
          <a:p>
            <a:r>
              <a:t>1. Почему «где живёт пользователь весь рабочий день» — весомый аргумент при выборе, куда встраивать инструмент?</a:t>
            </a:r>
          </a:p>
          <a:p>
            <a:r>
              <a:t>2. Какую цену платит команда, если помощник живёт в отдельном окне, а не в основном рабочем интерфейсе?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Дополнительная вводная: у вендора вашей helpdesk-системы нет открытого API и нет возможности кастомизации интерфейса — это закрытая коробочная система.</a:t>
            </a:r>
          </a:p>
          <a:p/>
          <a:p>
            <a:r>
              <a:t>Кто передумал? Почему? Это специально неоднозначный кейс без единственно верного ответа — дождитесь минимум трёх разных направлений мнений, не форсируйте один вывод.</a:t>
            </a:r>
          </a:p>
          <a:p/>
          <a:p>
            <a:r>
              <a:t>Три реальных варианта, которые стоит вытащить в разговор, если аудитория сама их не назовёт. Решение «сбоку» — расширение браузера или вторая панель рядом с helpdesk-интерфейсом; цена — пользователю нужно физически смотреть в два места, риск: оператор просто не будет туда заглядывать под нагрузкой. Смена вендора helpdesk-системы на систему с открытым API; цена — миграция исторических данных, переобучение всей команды, риски простоя, крупное решение ради одной фичи. Пересмотр задачи: помощник работает асинхронно, готовит черновики по тикету заранее через отдельный фоновый процесс, а оператор открывает готовое там, где ему удобно.</a:t>
            </a:r>
          </a:p>
          <a:p/>
          <a:p>
            <a:r>
              <a:t>У этого кейса нет единственно верного ответа — на реальной работе вы будете принимать похожее решение исходя из бюджета, срочности и того, готова ли компания на организационные издержки ради качества интеграции. Задача была не найти «правильный» ответ, а увидеть, что организационное ограничение — закрытый вендор — может определить архитектуру не хуже, чем технические требования.</a:t>
            </a:r>
          </a:p>
          <a:p/>
          <a:p>
            <a:r>
              <a:t>### Self-check</a:t>
            </a:r>
          </a:p>
          <a:p>
            <a:r>
              <a:t>1. Какой из трёх вариантов вы бы выбрали для команды с ограниченным бюджетом и высокой срочностью — и почему именно он?</a:t>
            </a:r>
          </a:p>
          <a:p>
            <a:r>
              <a:t>2. Почему «пересмотр задачи» иногда оказывается дешевле по деньгам, но дороже по инженерному изяществу решения — согласны ли вы с этим компромиссом?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Быстрый кейс: маркетинг просит отдельный ИИ-сервис для генерации описаний товаров.</a:t>
            </a:r>
          </a:p>
          <a:p/>
          <a:p>
            <a:r>
              <a:t>Вопрос в зал: отдельный сервис — хорошая идея?</a:t>
            </a:r>
          </a:p>
          <a:p/>
          <a:p>
            <a:r>
              <a:t>Ожидаемый вывод: это должна быть кнопка «сгенерировать описание» прямо в существующей админке каталога товаров, которой маркетинг и так пользуется каждый день. Отдельный продукт означает второй логин, отдельную вкладку, привычку, которую нужно сформировать с нуля — и на практике второй логин и вкладка убивают использование, даже если технология внутри работает хорошо.</a:t>
            </a:r>
          </a:p>
          <a:p/>
          <a:p>
            <a:r>
              <a:t>Этот вывод выглядит очевидным задним числом, но на практике команды регулярно выбирают путь «отдельного продукта» именно потому, что его проще спроектировать и продемонстрировать руководству — новый экран легче показать как законченную фичу, чем незаметную кнопку внутри существующего интерфейса. Это тот же организационный урок, что и в кейсе «Помощник поддержки»: место, где уже находится пользователь, важнее визуальной новизны решения.</a:t>
            </a:r>
          </a:p>
          <a:p/>
          <a:p>
            <a:r>
              <a:t>### Self-check</a:t>
            </a:r>
          </a:p>
          <a:p>
            <a:r>
              <a:t>1. Почему «второй логин и отдельная вкладка» — не мелкая деталь, а реальная причина провала внедрения?</a:t>
            </a:r>
          </a:p>
          <a:p>
            <a:r>
              <a:t>2. Вспомните инструмент, которым вы сами перестали пользоваться из-за лишнего переключения контекста — что бы изменило ваше поведение?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Kite — самостоятельный продукт для автодополнения кода на основе ИИ, около 500 000 бесплатных пользователей на пике, закрылся в ноябре 2022 года. Из публичного постмортема основателя, парафраз: продукт не смог монетизироваться — индивидуальные разработчики исторически неохотно платят за инструменты разработки, и, по его собственной оценке, продукт «опередил рынок более чем на 10 лет».</a:t>
            </a:r>
          </a:p>
          <a:p/>
          <a:p>
            <a:r>
              <a:t>GitHub Copilot — технология того же класса, но встроена прямо в IDE и в экосистему GitHub, к которой разработчики уже подключены. Метрики, не смешиваем их друг с другом: около 20 миллионов суммарных пользователей к июлю 2025 года из более чем 100 миллионов разработчиков на GitHub; около 4,7 миллиона платных подписчиков к январю 2026 года; используется примерно в 90% компаний Fortune 100.</a:t>
            </a:r>
          </a:p>
          <a:p/>
          <a:p>
            <a:r>
              <a:t>Открытый вопрос в зал: почему, на ваш взгляд, Kite не выжил при работающей технологии?</a:t>
            </a:r>
          </a:p>
          <a:p/>
          <a:p>
            <a:r>
              <a:t>Урок: встроенность в уже существующий рабочий поток победила отдельный продукт при технологии сравнимого класса. Это не значит, что Kite делал что-то неправильно технически — архитектурное решение «встроить или делать своё» имеет реальную коммерческую цену, которую нельзя недооценивать.</a:t>
            </a:r>
          </a:p>
          <a:p/>
          <a:p>
            <a:r>
              <a:t>При наличии времени — короткий бонус: Humane AI Pin привлёк около $241 млн и был продан за $116 млн в феврале 2025; Rabbit R1 при около 100 000 проданных устройств, по оценкам, активно используется примерно у 5% купивших. Тот же урок — отдельное устройство конкурирует не только с технологиями-альтернативами, но и с привычкой не переключаться на новую точку входа.</a:t>
            </a:r>
          </a:p>
          <a:p/>
          <a:p>
            <a:r>
              <a:t>### Self-check</a:t>
            </a:r>
          </a:p>
          <a:p>
            <a:r>
              <a:t>1. Чем причина неудачи Kite отличается от причины неудачи Humane AI Pin — есть ли общий механизм?</a:t>
            </a:r>
          </a:p>
          <a:p>
            <a:r>
              <a:t>2. Если бы Kite с самого начала встраивался в популярные IDE как плагин, а не как отдельный продукт — изменило бы это, по-вашему, исход?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выбор воронки — если делаем своё, это разовый вызов модели, RAG или многошаговый агент. Полный кейс сегодня — протоколы встреч, задача, которая по мере роста требований пройдёт все три архитектуры одну за другой. Плюс короткий блиц-кейс про еженедельный дайджест команды и два случая из практики — команда, отказавшаяся от популярного агентного фреймворка, и класс задач, где многошаговый агент действительно необходим.</a:t>
            </a:r>
          </a:p>
          <a:p/>
          <a:p>
            <a:r>
              <a:t>Цель раздела — показать, что выбор архитектуры двигают конкретные новые требования, а не мода на технологию, и что нужно начинать с простейшего варианта, усложняя только тогда, когда появляется требование, которое простой вариант физически не закрывает.</a:t>
            </a:r>
          </a:p>
          <a:p/>
          <a:p>
            <a:r>
              <a:t>Начнём с постановки: транскрипт встречи нужно превратить в протокол.</a:t>
            </a:r>
          </a:p>
          <a:p/>
          <a:p>
            <a:r>
              <a:t>В этом кейсе задача формально не меняется — на входе всегда протоколы, на выходе всегда структурированный результат. Меняются только требования вокруг задачи, и именно это будет несколько раз подряд менять правильную архитектуру. Следите за тем, какая конкретно деталь каждый раз становится решающей.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Постановка: транскрипт встречи нужно превратить в структурированный протокол — какие решения приняты, какие поручения даны, какие сроки. У вас есть полный транскрипт одной встречи целиком.</a:t>
            </a:r>
          </a:p>
          <a:p/>
          <a:p>
            <a:r>
              <a:t>Вопрос в зал: какая архитектура нужна?</a:t>
            </a:r>
          </a:p>
          <a:p/>
          <a:p>
            <a:r>
              <a:t>Ожидаемое направление: весь транскрипт одной встречи целиком помещается в контекст модели — значит, нужен один разовый вызов модели, ни RAG, ни агент не требуются и были бы избыточным усложнением. Это первая ступень лестницы — по ходу разбора требования будут расти, и мы вместе проследим, как каждое новое требование меняет ответ.</a:t>
            </a:r>
          </a:p>
          <a:p/>
          <a:p>
            <a:r>
              <a:t>Держите этот первый, самый простой вариант архитектуры в голове как точку отсчёта. Основной урок этого кейса — не «какая архитектура правильная в итоге», а то, что каждая последующая ступень лестницы обоснована ровно одним новым конкретным требованием, а не желанием заранее спроектировать что-то более сложное и универсальное.</a:t>
            </a:r>
          </a:p>
          <a:p/>
          <a:p>
            <a:r>
              <a:t>### Self-check</a:t>
            </a:r>
          </a:p>
          <a:p>
            <a:r>
              <a:t>1. Почему для этой первой версии задачи RAG избыточен, даже если протоколов на самом деле много?</a:t>
            </a:r>
          </a:p>
          <a:p>
            <a:r>
              <a:t>2. Какой конкретный признак постановки говорит «один вызов достаточен», а не «нужна архитектура сложнее»?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Дополнительная вводная: теперь хотим спрашивать — что мы решали по проекту X за последние полгода? База протоколов растёт со временем и постоянно обновляется новыми встречами, и весь этот объём уже не помещается в один запрос к модели.</a:t>
            </a:r>
          </a:p>
          <a:p/>
          <a:p>
            <a:r>
              <a:t>Кто передумал? Почему?</a:t>
            </a:r>
          </a:p>
          <a:p/>
          <a:p>
            <a:r>
              <a:t>Ожидаемый ответ: теперь обоснован RAG — нужно искать релевантные фрагменты протоколов по запросу пользователя среди растущей и меняющейся базы, а не пытаться каждый раз скармливать модели весь архив целиком.</a:t>
            </a:r>
          </a:p>
          <a:p/>
          <a:p>
            <a:r>
              <a:t>Обратите внимание на сам механизм смены ответа: ни постановка задачи, ни цель — получить протокол или найти решение по проекту — не изменились содержательно, изменился только объём и динамика данных, с которыми система должна работать. Это тот же принцип, что и в кейсе «Документы поставщиков»: архитектурное решение зависит не от того, как звучит задача на словах, а от реальных характеристик входа — и характеристики эти нужно спрашивать явно, а не предполагать по первой формулировке.</a:t>
            </a:r>
          </a:p>
          <a:p/>
          <a:p>
            <a:r>
              <a:t>### Self-check</a:t>
            </a:r>
          </a:p>
          <a:p>
            <a:r>
              <a:t>1. Что именно изменилось в требовании, что сделало разовый вызов недостаточным?</a:t>
            </a:r>
          </a:p>
          <a:p>
            <a:r>
              <a:t>2. Если бы база протоколов была фиксированного небольшого размера и не росла — понадобился бы здесь RAG?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одна дополнительная вводная: и пусть поручения из протокола сами автоматически раскладываются по задачам в таск-трекере. Появилось действие во внешней системе — нужно вызвать API таск-трекера, создать задачи, возможно проверить, что они создались корректно.</a:t>
            </a:r>
          </a:p>
          <a:p/>
          <a:p>
            <a:r>
              <a:t>Кто передумал ещё раз? Почему?</a:t>
            </a:r>
          </a:p>
          <a:p/>
          <a:p>
            <a:r>
              <a:t>Ожидаемый ответ: теперь нужен workflow или полноценный агент — вызов внешнего инструмента, проверка результата вызова, возможно несколько шагов: создать задачу, назначить исполнителя, проверить, что поле срока заполнено.</a:t>
            </a:r>
          </a:p>
          <a:p/>
          <a:p>
            <a:r>
              <a:t>Проговорите официальный разбор явно: архитектурный выбор двигают конкретные новые требования — рост базы данных потребовал RAG, необходимость действия во внешней системе потребовала агента. Начинайте с простейшего варианта, который решает текущую задачу, и усложняйте только тогда, когда появляется требование, которое простой вариант закрыть физически не может. Не наоборот.</a:t>
            </a:r>
          </a:p>
          <a:p/>
          <a:p>
            <a:r>
              <a:t>### Self-check</a:t>
            </a:r>
          </a:p>
          <a:p>
            <a:r>
              <a:t>1. Проследите всю лестницу кейса «Протоколы встреч» — какое именно требование на каждом шаге стало причиной перехода к следующей архитектуре?</a:t>
            </a:r>
          </a:p>
          <a:p>
            <a:r>
              <a:t>2. Почему правило «начинай с простейшего» защищает от типичной инженерной ошибки — усложнения архитектуры заранее, «на будущее»?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Быстрый кейс: нужен еженедельный дайджест по рабочим чатам и почте команды — что обсуждали, что решили.</a:t>
            </a:r>
          </a:p>
          <a:p/>
          <a:p>
            <a:r>
              <a:t>Вопрос в зал: какая архитектура здесь нужна?</a:t>
            </a:r>
          </a:p>
          <a:p/>
          <a:p>
            <a:r>
              <a:t>Здесь ожидайте частую ошибку — часть аудитории скажет «RAG, потому что много источников». Разбор: агент, или конвейер, нужен — кто-то должен обойти несколько источников, чаты и почту, и собрать материал, это многошаговая задача с обращением к внешним системам. А RAG не нужен: источники обходятся напрямую по расписанию, а не по произвольному запросу пользователя к большой базе; после сбора материала суммаризация делается одним вызовом модели.</a:t>
            </a:r>
          </a:p>
          <a:p/>
          <a:p>
            <a:r>
              <a:t>Урок для явного проговаривания: RAG — это про поиск по большой, меняющейся базе на произвольный запрос пользователя, а не про «у нас много источников данных» само по себе. Спутать эти два признака — частая практическая ошибка.</a:t>
            </a:r>
          </a:p>
          <a:p/>
          <a:p>
            <a:r>
              <a:t>### Self-check</a:t>
            </a:r>
          </a:p>
          <a:p>
            <a:r>
              <a:t>1. В чём именно разница между «обойти несколько источников по расписанию» и «искать по большой базе на запрос пользователя» — почему первое не требует RAG?</a:t>
            </a:r>
          </a:p>
          <a:p>
            <a:r>
              <a:t>2. Приведите контрпример: измените постановку дайджеста так, чтобы RAG действительно понадобился.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Негативный случай: Octomind — компания, разрабатывающая ИИ-агентов для end-to-end тестирования, — более 12 месяцев использовала фреймворк LangChain в продакшене, затем отказалась от него, пост от 17 июня 2024 года, парафраз, не дословные цитаты. Причины: негибкие абстракции фреймворка не подходили под их конкретный кейс, было сложно контролировать состояние агента, и в итоге команда тратила больше времени на дебаг самого фреймворка, чем на разработку фич продукта. Заменили модульными прямыми вызовами LLM API без фреймворка-посредника.</a:t>
            </a:r>
          </a:p>
          <a:p/>
          <a:p>
            <a:r>
              <a:t>Открытый вопрос в зал: что здесь пошло не так?</a:t>
            </a:r>
          </a:p>
          <a:p/>
          <a:p>
            <a:r>
              <a:t>Урок: популярность и удобство фреймворка на старте проекта не гарантирует, что он останется удобным при росте сложности продукта — иногда прямые вызовы API дают больше контроля, чем абстракция, которая должна была его упростить.</a:t>
            </a:r>
          </a:p>
          <a:p/>
          <a:p>
            <a:r>
              <a:t>Позитивный случай, без выдуманных цифр — это качественная иллюстрация, не количественный кейс: класс задач, где многошаговый агентный цикл действительно необходим, а не опционален. Deep Research-инструменты — поиск и синтез по многим источникам с уточнением запроса по ходу работы — и coding-агенты — правка кода с последующим запуском тестов и итерацией по результату. В обоих случаях одного вызова модели физически недостаточно: нужна проверка промежуточного результата и решение, что делать дальше.</a:t>
            </a:r>
          </a:p>
          <a:p/>
          <a:p>
            <a:r>
              <a:t>### Self-check</a:t>
            </a:r>
          </a:p>
          <a:p>
            <a:r>
              <a:t>1. Чем проблема Octomind отличается от вопроса «нужен ли вообще агент» — фреймворк и архитектура агента это разные решения?</a:t>
            </a:r>
          </a:p>
          <a:p>
            <a:r>
              <a:t>2. Почему для Deep Research и coding-агентов «один вызов физически недостаточен» — какой шаг в каждом случае требует проверки результата?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и последний выбор воронки — считает это внешний облачный API, или модель, которая крутится у вас локально. Сегодняшний кейс — трёхходовка про саммаризацию звонков продаж, где ответ меняется дважды по ходу разбора, и два случая из практики: компания, столкнувшаяся с утечкой через внешний чат-бот, и примеры небольших моделей, которые в проде работают локально прямо сейчас.</a:t>
            </a:r>
          </a:p>
          <a:p/>
          <a:p>
            <a:r>
              <a:t>Цель раздела — показать, что чувствительность данных не видна в исходной постановке задачи и выясняется только вопросами, и что «сложно для человека» не равно «сложно для модели» — для финальной, суженной задачи маленькая локальная модель может оказаться достаточной.</a:t>
            </a:r>
          </a:p>
          <a:p/>
          <a:p>
            <a:r>
              <a:t>Начнём с постановки: записи звонков менеджеров по продажам.</a:t>
            </a:r>
          </a:p>
          <a:p/>
          <a:p>
            <a:r>
              <a:t>Обратите внимание — это последний из четырёх выборов, но по значимости он не менее важен, чем первые три: даже если архитектура выбрана верно, неправильный ответ на вопрос «где считать» может создать компании прямой юридический и репутационный риск. Именно поэтому кейс сегодня устроен как трёхходовка — интуиция на старте разумна, но каждая следующая вводная меняет расчёт.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 первого хода: записи звонков менеджеров по продажам нужно превратить в карточку звонка — выявленная потребность клиента, возражения, договорённости.</a:t>
            </a:r>
          </a:p>
          <a:p/>
          <a:p>
            <a:r>
              <a:t>Вопрос в зал: какая архитектура? Где считать?</a:t>
            </a:r>
          </a:p>
          <a:p/>
          <a:p>
            <a:r>
              <a:t>Ожидаемое направление: нужно распознавание речи — аудио в текст — плюс достаточно сложная логика извлечения смысла из свободного разговора. Это тянет к мощному облачному frontier-API — модели топового уровня, доступной только через облако. Дайте аудитории самой прийти к этому первому выводу — это естественная и в моменте разумная интуиция, которую мы сейчас проверим дополнительными вводными.</a:t>
            </a:r>
          </a:p>
          <a:p/>
          <a:p>
            <a:r>
              <a:t>Этот кейс устроен как трёхходовка не случайно: он тренирует терпение перед тем, как фиксировать архитектурное решение. Реальные звонки продаж содержат гораздо больше нюансов, чем строчка постановки задачи, и следующие две вводные последовательно покажут, какие именно детали нужно было выяснить прежде, чем выбирать, где физически будет считаться модель.</a:t>
            </a:r>
          </a:p>
          <a:p/>
          <a:p>
            <a:r>
              <a:t>### Self-check</a:t>
            </a:r>
          </a:p>
          <a:p>
            <a:r>
              <a:t>1. Почему свободный разговор на первый взгляд выглядит задачей, требующей самой мощной доступной модели?</a:t>
            </a:r>
          </a:p>
          <a:p>
            <a:r>
              <a:t>2. Какие ещё задачи, кроме звонков, вызывают похожую интуицию «сложно — значит облако»?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Дополнительная вводная: мы прослушали несколько реальных звонков внимательно. Клиенты в разговоре иногда диктуют номера телефонов, адреса доставки, а в паре случаев — паспортные данные для оформления договора.</a:t>
            </a:r>
          </a:p>
          <a:p/>
          <a:p>
            <a:r>
              <a:t>Кто передумал? Почему?</a:t>
            </a:r>
          </a:p>
          <a:p/>
          <a:p>
            <a:r>
              <a:t>Ожидаемый ответ: это персональные данные, и отправлять их во внешний облачный API может быть прямо запрещено или крайне рискованно. Здесь встраиваем актуальную нормативную базу: Федеральный закон № 420-ФЗ от 30.11.2024, вступил в силу 30.05.2025 — вводит оборотные штрафы за повторную утечку персональных данных в размере 1-3% годовой выручки компании, минимум 20 млн, максимум 500 млн рублей, а также обязанность уведомить Роскомнадзор о факте утечки в течение 24 часов.</a:t>
            </a:r>
          </a:p>
          <a:p/>
          <a:p>
            <a:r>
              <a:t>Это тот же организационный вопрос, что был в блиц-кейсе про очистку логов в разделе про ИИ или обычный код — только здесь ставки для компании физически выше.</a:t>
            </a:r>
          </a:p>
          <a:p/>
          <a:p>
            <a:r>
              <a:t>### Self-check</a:t>
            </a:r>
          </a:p>
          <a:p>
            <a:r>
              <a:t>1. Почему «оборотный штраф» — то есть привязанный к выручке компании, а не фиксированная сумма — меняет расчёт рисков для крупной и для маленькой компании по-разному?</a:t>
            </a:r>
          </a:p>
          <a:p>
            <a:r>
              <a:t>2. Что из услышанного в звонках стало решающей деталью для смены архитектурного выбора — и почему до прослушивания эта деталь не была видна?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Дополнительная вводная, ход три: давайте посмотрим на задачу трезво — на выходе нам нужна не свободная беседа, а структурированная выжимка по фиксированному шаблону из нескольких полей.</a:t>
            </a:r>
          </a:p>
          <a:p/>
          <a:p>
            <a:r>
              <a:t>Вопрос в зал: меняет ли это архитектурный выбор?</a:t>
            </a:r>
          </a:p>
          <a:p/>
          <a:p>
            <a:r>
              <a:t>Ожидаемый ответ, при необходимости подведите аудиторию к нему: да — небольшая локальная модель, порядка 7-8 миллиардов параметров, после промпт-тюнинга (настройки формулировки промпта под конкретный формат вывода, без дообучения весов) вполне справляется с задачей извлечения полей по фиксированному шаблону, и данные не покидают периметр компании.</a:t>
            </a:r>
          </a:p>
          <a:p/>
          <a:p>
            <a:r>
              <a:t>Проговорите явно оба урока. Первое: «сложно для человека» не равно «сложно для модели» — свободный разговор кажется сложным входом, но извлечение структурированных полей по шаблону — задача умеренной сложности, которую малая модель решает надёжно. Второе: чувствительность данных не видна в исходной постановке задачи — её нужно выяснять вопросами о содержимом входных данных, а не предполагать по формулировке задачи.</a:t>
            </a:r>
          </a:p>
          <a:p/>
          <a:p>
            <a:r>
              <a:t>### Self-check</a:t>
            </a:r>
          </a:p>
          <a:p>
            <a:r>
              <a:t>1. Что именно в задаче изменилось между ходом 1 и ходом 3 — форма входа, форма выхода, или оба?</a:t>
            </a:r>
          </a:p>
          <a:p>
            <a:r>
              <a:t>2. Приведите свой пример задачи, где «выглядит сложно для человека» и «сложно для модели» расходятся в разные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Негативный случай: Samsung разрешила сотрудникам использовать ChatGPT 11 марта 2023 года. К 30 марта, то есть примерно за 19 дней, произошло три отдельных инцидента утечки: дважды — проприетарный код полупроводникового производства, один раз — транскрипт внутреннего совещания. Реакция компании — полный запрет генеративных ИИ-инструментов на корпоративных устройствах в мае 2023 года и параллельная разработка собственной внутренней системы.</a:t>
            </a:r>
          </a:p>
          <a:p/>
          <a:p>
            <a:r>
              <a:t>Открытый вопрос в зал: что можно было сделать вместо полного запрета? Ожидаемое направление: политика допустимого использования до открытия доступа, DLP-фильтры на исходящий трафик, либо изначально локальная или закрытая модель для чувствительных задач — тот же выбор, что мы тренировали в основном кейсе раздела.</a:t>
            </a:r>
          </a:p>
          <a:p/>
          <a:p>
            <a:r>
              <a:t>Позитивный случай, малые модели в проде: JetBrains full-line code completion — локальная модель около 100 МБ на язык программирования, плюс вспомогательная filter-модель около 2,5 МБ с задержкой 1-2 мс, в продакшене с апреля 2024 года. Apple — модель на устройстве порядка 3 миллиардов параметров (WWDC 2024), к 2026 году — Apple Foundation Models того же порядка. Counterfactual для масштаба: frontier-модели уровня GPT, Claude, Gemini — сотни миллиардов параметров, доступные только через облако.</a:t>
            </a:r>
          </a:p>
          <a:p/>
          <a:p>
            <a:r>
              <a:t>### Self-check</a:t>
            </a:r>
          </a:p>
          <a:p>
            <a:r>
              <a:t>1. Какая конкретная мера из ответа на «что можно было сделать вместо запрета» лучше всего подошла бы именно для кейса звонков продаж из этого раздела?</a:t>
            </a:r>
          </a:p>
          <a:p>
            <a:r>
              <a:t>2. Почему разница на порядки между 100 МБ / 3 млрд параметров и «сотнями миллиардов» у frontier-моделей — не просто техническая деталь, а часть архитектурного выбора?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переносим весь метод занятия на реальную задачу из вашего профессионального опыта. Кто может поделиться задачей со своей текущей или прошлой работы, где стоял вопрос — нужен ли здесь ИИ, и какой?</a:t>
            </a:r>
          </a:p>
          <a:p/>
          <a:p>
            <a:r>
              <a:t>Для одного-двух добровольцев: сформулируйте задачу в двух-трёх предложениях, как её принёс бы заказчик, и мы прогоним её вместе со всей аудиторией через те же шаги, что и в полных кейсах сегодняшнего занятия. Первый шаг — какой выбор воронки здесь стоит острее всего. Второй — каких вводных не хватает, чтобы сделать этот выбор обоснованно; вопросы вытаскиваем из аудитории, а не я задаю их сам. Третий — если доброволец знает ответ на эти вводные из реальной практики, пусть озвучит, что было на самом деле, и обсудим, изменило ли это выбор. Четвёртый — какие риски у выбранного решения, используя лексику Лекции 1, если уместно: bias, sycophancy, distribution shift, галлюцинации.</a:t>
            </a:r>
          </a:p>
          <a:p/>
          <a:p>
            <a:r>
              <a:t>Держим фокус на методе — воронке и вопросах, а не на деталях доменной специфики задачи добровольца: не все в аудитории разбираются в этом домене, и это нормально, метод переносится между доменами.</a:t>
            </a:r>
          </a:p>
          <a:p/>
          <a:p>
            <a:r>
              <a:t>### Self-check</a:t>
            </a:r>
          </a:p>
          <a:p>
            <a:r>
              <a:t>1. Подумайте о задаче из собственного опыта — на каком из четырёх выборов воронки вы бы застряли быстрее всего без дополнительных вопросов заказчику?</a:t>
            </a:r>
          </a:p>
          <a:p>
            <a:r>
              <a:t>2. Какой недостающей вводной вам чаще всего не хватает на реальной работе, прежде чем сделать архитектурный выбор?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Раздаточный лист — компиляция того, что уже прозвучало на занятии, без нового материала. Четыре вопроса воронки: нужен ли здесь ИИ вообще, или задачу лучше решает обычный код; встраиваем в существующее приложение или делаем своё; если своё — разовый вызов модели, RAG или агент; внешний API или локальный инференс.</a:t>
            </a:r>
          </a:p>
          <a:p/>
          <a:p>
            <a:r>
              <a:t>Шесть красных флагов, всё — из того, что прозвучало на занятии. Выбор сделан по двум-трём показанным примерам, без запроса на весь реальный объём данных, с которым решение столкнётся — это был кейс «Документы поставщиков». Vendor-KPI без знаменателя — впечатляющая цифра эффекта без указания, от какой базы она посчитана. Отдельный продукт там, где нужна кнопка в существующем интерфейсе — игнорирование того, где пользователь уже проводит рабочее время — это Kite против Copilot и «Описания товаров». RAG или агент выбраны потому что модно, а не потому что появилось конкретное новое требование — рост базы знаний или необходимость действия во внешней системе — это «Протоколы встреч» и «Еженедельный дайджест». Чувствительность данных никто не проверил до архитектурного выбора, пока кто-то не прослушал или не прочитал реальные входные данные внимательно — это «Саммаризация звонков» и Samsung. «Сложно для человека» принято за «сложно для модели» без проверки на суженной, структурированной версии задачи — это ход три трёхходовки.</a:t>
            </a:r>
          </a:p>
          <a:p/>
          <a:p>
            <a:r>
              <a:t>Всё, что здесь написано, вы уже видели сегодня в разборах — это компиляция для того, чтобы унести с собой рабочую версию воронки, применимую уже на следующем практическом задании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интересующихся — необязательное домашнее чтение. Первое: сага Klarna, 2023-2025 — история одного AI-ассистента поддержки, которая затрагивает сразу все четыре выбора воронки, от впечатляющего старта до публичного признания «мы зашли слишком далеко» и возврата к найму людей. Второе: городской чат-бот NYC MyCity для малого бизнеса, который давал юридически некорректные советы — расследование The Markup, 2024 год. Третье, бонус для настроения: история о том, как автосалон подключил чат-бот на базе стороннего API без ограждений — и чат-бот «продал» внедорожник за один доллар. Ищите по словам «Chevrolet of Watsonville chatbot dollar» — хороший пример того, что происходит, когда внешнюю модель встраивают в продакшен без защиты от намеренных манипуляций пользователя.</a:t>
            </a:r>
          </a:p>
          <a:p/>
          <a:p>
            <a:r>
              <a:t>Ссылки на все три материала есть в брифе семинара для самостоятельного чтения.</a:t>
            </a:r>
          </a:p>
          <a:p/>
          <a:p>
            <a:r>
              <a:t>Рекомендую прочитать хотя бы сагу Klarna: это редкий случай, когда одна компания публично прошла все четыре выбора нашей воронки на одном и том же продукте за пару лет — сначала масштабный переход на ИИ-ассистента, затем признание, что решение зашло слишком далеко, и частичный возврат к найму живых операторов. Это хорошая проверка того, насколько прочно у вас в голове закрепилась сегодняшняя схема.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материал — используется только если после разбора четырёх основных разделов и раздела 5 остаётся время. Это не новый материал по существу, а применение уже пройденной воронки целиком к одному длинному публичному кейсу.</a:t>
            </a:r>
          </a:p>
          <a:p/>
          <a:p>
            <a:r>
              <a:t>Постановка: Klarna запустила AI-ассистента поддержки на базе OpenAI в существующем канале поддержки в феврале 2024 года. За первые 30 дней — 2,3 млн чатов, автоматизация 67% обращений.</a:t>
            </a:r>
          </a:p>
          <a:p/>
          <a:p>
            <a:r>
              <a:t>Пройдите все четыре развилки вслух. Развилка 1, ИИ или нет: типовые тикеты — статус заказа, возврат, смена адреса — повторяющиеся и формализуемые, хороший кандидат на автоматизацию. Но урок не в этом, а в том, что компания оптимизировала запуск в первую очередь по стоимости обслуживания, и со временем это уронило качество ответов — классическая ошибка «оптимизация по одной метрике без контроля остальных». Развилка 2, встроить или своё: ассистент встроен в уже существующий канал поддержки — правильный выбор по логике раздела 2 занятия, кнопка в существующем интерфейсе, а не отдельный продукт. Развилка 3, паттерн: чат-ассистент с эскалацией к человеку — типовые тикеты закрывает ассистент, нетиповые уходят оператору; это не голый разовый вызов и не автономный агент без контроля. Развилка 4, инференс: внешний облачный API с клиентскими данными поддержки — риск-профиль сопоставим с кейсом «Саммаризация звонков» из раздела 4, только здесь решение было принято и оставлено в проде.</a:t>
            </a:r>
          </a:p>
          <a:p/>
          <a:p>
            <a:r>
              <a:t>Отдельно проговорите vendor-KPI: заявлен эффект «эквивалент 700 агентов» и $40 млн в 2024 году, но знаменатель — сколько агентов поддержки было у компании до запуска — публично не раскрывался. К третьему кварталу 2025 года метрика обновилась до «853 агента» и $60 млн — компания продолжала считать в тех же координатах, снова не раскрывая базу. Это тот же красный флаг, что уже есть на итоговом раздаточном листе — впечатляющая цифра эффекта без указания, от какой базы она посчитана.</a:t>
            </a:r>
          </a:p>
          <a:p/>
          <a:p>
            <a:r>
              <a:t>Развязка: в мае 2025 года CEO Себастьян Семятковски заявил в интервью Bloomberg — «We went too far» — компания вернулась к найму людей и перешла на гибридную модель, отказавшись от ставки на максимальную автоматизацию.</a:t>
            </a:r>
          </a:p>
          <a:p/>
          <a:p>
            <a:r>
              <a:t>Вопрос в зал: на какой из четырёх развилок Klarna ошиблась сильнее всего? Правильных ответов несколько — кто-то укажет на развилку 1 (типовые тикеты подошли, но оптимизация только по стоимости была ошибкой в исполнении, не в выборе архитектуры), кто-то на развилку 3 (граница эскалации могла быть проведена не там), кто-то в целом на отсутствие независимого измерения качества параллельно с метрикой автоматизации. Цель вопроса — заставить аудиторию приложить всю воронку целиком к одному кейсу, а не запомнить только финальный вывод «зашли слишком далеко».</a:t>
            </a:r>
          </a:p>
          <a:p/>
          <a:p>
            <a:r>
              <a:t>### Self-check</a:t>
            </a:r>
          </a:p>
          <a:p>
            <a:r>
              <a:t>1. Почему высокая доля автоматизации (67% обращений) сама по себе не говорит о том, что архитектурный выбор был верным?</a:t>
            </a:r>
          </a:p>
          <a:p>
            <a:r>
              <a:t>2. Что именно означает «vendor-KPI без знаменателя» в этом кейсе — какую конкретно цифру Klarna не публиковала?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quickfire — используется только при остатке времени, после основной лестницы резерва. Постановка: поток новостей из многих источников, нужно склеивать сообщения об одном и том же событии в одну карточку.</a:t>
            </a:r>
          </a:p>
          <a:p/>
          <a:p>
            <a:r>
              <a:t>Ожидаемая интуиция зала: «нужно понимание смысла текста → LLM». Дайте залу минуту среагировать на постановку, прежде чем переходить к разбору.</a:t>
            </a:r>
          </a:p>
          <a:p/>
          <a:p>
            <a:r>
              <a:t>Разбор: shingling и fuzzy-matching — методы near-duplicate detection, сравнение текстов по перекрывающимся фрагментам (n-граммам) без обращения к модели — закрывают порядка 90% случаев дублирования дешевле и предсказуемее, чем вызов модели на каждую пару новостей. LLM нужен только на оставшуюся часть — случаи, где два сообщения об одном и том же событии написаны разными словами и почти не имеют общих фрагментов текста, то есть перефраз без лексического пересечения.</a:t>
            </a:r>
          </a:p>
          <a:p/>
          <a:p>
            <a:r>
              <a:t>Урок для явного проговаривания: сначала дешёвый детерминированный фильтр закрывает основную массу случаев, а ИИ применяется только к остатку, который фильтр не берёт. Проговорите явную связь: это тот же вопрос, что уже разбирался в разделе 1 на кейсе «Персоналка в логах» — там же граница между regex и NER/LLM проходила внутри одной задачи; здесь тот же принцип на новом материале.</a:t>
            </a:r>
          </a:p>
          <a:p/>
          <a:p>
            <a:r>
              <a:t>### Self-check</a:t>
            </a:r>
          </a:p>
          <a:p>
            <a:r>
              <a:t>1. Почему для оставшихся ~10% случаев (перефраз без пересечения слов) fuzzy-matching перестаёт работать?</a:t>
            </a:r>
          </a:p>
          <a:p>
            <a:r>
              <a:t>2. Какую метрику вы бы проверили, чтобы убедиться, что граница «90% фильтром / 10% моделью» верна именно для вашего потока новостей, а не предположена на глаз?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мы прошли воронку из четырёх выборов на семи реалистичных постановках: нужен ли здесь ИИ вообще, встраивать его или делать своё, какая архитектура — разовый вызов, RAG или агент, и где считать — во внешнем API или локально. В каждом кейсе ответ менялся хотя бы раз, когда появлялась вводная, которой не было в первой формулировке задачи. Это и есть главный навык — не помнить схему, а вовремя задать вопрос, который изменит ответ.</a:t>
            </a:r>
          </a:p>
          <a:p/>
          <a:p>
            <a:r>
              <a:t>К концу сегодняшнего занятия у вас есть рабочая процедура, которую можно приложить к любой задаче на автоматизацию до того, как открывать редактор кода, и памятка «Воронка решений + красные флаги», применимая уже на следующем практическом задании курса.</a:t>
            </a:r>
          </a:p>
          <a:p/>
          <a:p>
            <a:r>
              <a:t>Дальше — Лекция 2, где мы заглянем внутрь самой модели: как она устроена, что происходит между вопросом и ответом. Сегодня мы разбирали выбор снаружи — какой инструмент и в какой форме; дальше разберём, что находится внутри инструмента, который вы выбираете. До встречи на следующем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1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3.png"/><Relationship Id="rId4" Type="http://schemas.openxmlformats.org/officeDocument/2006/relationships/image" Target="../media/image21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1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nasa-engineers-real.jpg"/>
          <p:cNvPicPr>
            <a:picLocks noChangeAspect="1"/>
          </p:cNvPicPr>
          <p:nvPr/>
        </p:nvPicPr>
        <p:blipFill>
          <a:blip r:embed="rId2"/>
          <a:srcRect t="7821" b="782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21295C">
              <a:alpha val="8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СЕМИНАР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846320"/>
            <a:ext cx="11064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Воронка решений: когда ИИ, каким и на чём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064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C8D2DF"/>
                </a:solidFill>
                <a:latin typeface="Arial"/>
              </a:rPr>
              <a:t>Четыре выбора, которые инженер проходит прежде, чем открыть редактор кода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C8D2DF"/>
                </a:solidFill>
                <a:latin typeface="Arial"/>
              </a:rPr>
              <a:t>NASA / Cory Huston · Wikimedia Commons · общественное достояние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Воронка из четырёх выборов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1">
                <a:solidFill>
                  <a:srgbClr val="065A82"/>
                </a:solidFill>
                <a:latin typeface="Arial"/>
              </a:rPr>
              <a:t>Правильный ответ зависит от вводных, которых в постановке почти никогда нет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874519"/>
            <a:ext cx="4297680" cy="640080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874519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Задача от заказчика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15768"/>
            <a:ext cx="5943600" cy="841248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29535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9535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715768"/>
            <a:ext cx="516636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ИИ или обычный код?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703320"/>
            <a:ext cx="4937760" cy="8412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71016" y="394106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71016" y="394106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4792" y="3703320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Встроить в существующее приложение или делать своё?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20" y="4690872"/>
            <a:ext cx="3931920" cy="84124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773936" y="492861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73936" y="492861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7712" y="4690872"/>
            <a:ext cx="3154679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Разовый вызов модели, RAG или агент?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03120" y="5678424"/>
            <a:ext cx="3017520" cy="841248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31136" y="591616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31136" y="5916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4912" y="5678424"/>
            <a:ext cx="2240279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Внешний API или локальный инференс?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5160" y="1874519"/>
            <a:ext cx="4709160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compass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1192" y="210312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51192" y="2743200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Ни один выбор не решается «по умолчанию» — он решается заново для каждой задачи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51192" y="3886200"/>
            <a:ext cx="420624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34072" y="3941063"/>
            <a:ext cx="3840479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Главный навык — не помнить схему, а вовремя задать вопрос, который изменит ответ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5074920"/>
            <a:ext cx="4206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Сегодня — 7 постановок, почти в каждой ответ поменяется хотя бы раз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RAG одним потоком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Нужен, когда база знаний большая и меняется — и не помещается в один запрос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95560" y="91440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Лекция 3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sear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894" y="2468880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Вопрос пользователя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76372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4428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402" y="2468880"/>
            <a:ext cx="548640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34156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Поиск фрагментов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 базе знаний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52444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97880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45936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layers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0910" y="24688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55664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Фрагменты →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 контекст модели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73952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9388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67444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sparkles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2418" y="2468880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77172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Модель генерирует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ответ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95460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7492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7492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Когда нужен: база большая и меняется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Агент циклом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Нужен, когда несколько шагов и действия во внешних системах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95560" y="91440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Лекция 3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8" y="182880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git-fork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192" y="1975104"/>
            <a:ext cx="402336" cy="40233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928616" y="19568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9192" y="245059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Строит план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30568" y="182880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wren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72" y="1975104"/>
            <a:ext cx="402336" cy="40233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226296" y="19568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6872" y="245059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Вызывает внешний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инструмент (API,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поиск, код)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30568" y="356616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circle-check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3712463"/>
            <a:ext cx="402336" cy="4023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226296" y="36941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418795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Проверяет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результат вызова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356616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route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9192" y="3712463"/>
            <a:ext cx="402336" cy="40233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928616" y="36941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9192" y="418795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Решает, что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делать дальше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41848" y="333756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repeat-FFFFFF-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4728" y="352044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93208" y="428853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цикл повторяется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44068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Когда нужен: несколько шагов и действия во внешних системах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-594360"/>
            <a:ext cx="420624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E5EAF0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6492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ИИ или обычный код?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160520"/>
            <a:ext cx="617220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215383"/>
            <a:ext cx="580644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Полный кейс · блиц-кейс · два случая из жизни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051560"/>
            <a:ext cx="4206240" cy="1012697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62088" y="1051560"/>
            <a:ext cx="398678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ИИ или обычный код?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02880" y="2192274"/>
            <a:ext cx="3505199" cy="101269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12607" y="2192274"/>
            <a:ext cx="328574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Встроить или делать своё?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400" y="3332988"/>
            <a:ext cx="2804160" cy="101269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3332988"/>
            <a:ext cx="258470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Разовый вызов, RAG или агент?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4473702"/>
            <a:ext cx="2103120" cy="101269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3648" y="4473702"/>
            <a:ext cx="188366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Внешний API или локальный инференс?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56235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воронка решений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1183112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2529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63624"/>
            <a:ext cx="10744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«Вот два примера входящих документов от двух наших поставщиков за последний месяц. Форматы почти идентичные. Напишите нам автоматическое извлечение данных из таких документов».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14600"/>
            <a:ext cx="5454396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2660904"/>
            <a:ext cx="50520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Документ поставщика A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108960"/>
            <a:ext cx="1226438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3108960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67103" y="3108960"/>
            <a:ext cx="1226438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67103" y="3108960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№ накладной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30118" y="3108960"/>
            <a:ext cx="1226438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30118" y="3108960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Позиция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93133" y="3108960"/>
            <a:ext cx="1226438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3133" y="3108960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" y="349300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49300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7103" y="349300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103" y="349300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30118" y="349300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0118" y="349300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93133" y="349300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3133" y="349300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" y="390448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390448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67103" y="390448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67103" y="390448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30118" y="390448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30118" y="390448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93133" y="390448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3133" y="390448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1636" y="2514600"/>
            <a:ext cx="5454396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2803" y="2660904"/>
            <a:ext cx="50520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Документ поставщика 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32803" y="3108960"/>
            <a:ext cx="1226438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2803" y="3108960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95819" y="3108960"/>
            <a:ext cx="1226438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95819" y="3108960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№ накладной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58834" y="3108960"/>
            <a:ext cx="1226438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58834" y="3108960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Позиция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221849" y="3108960"/>
            <a:ext cx="1226438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21849" y="3108960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32803" y="349300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32803" y="349300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95819" y="349300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95819" y="349300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58834" y="349300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58834" y="349300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21849" y="349300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21849" y="349300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32803" y="390448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32803" y="390448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95819" y="390448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95819" y="390448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58834" y="390448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58834" y="390448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221849" y="3904488"/>
            <a:ext cx="1226438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21849" y="3904488"/>
            <a:ext cx="12264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525780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Одинаковые колонки, одинаковый формат дат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2920" y="576072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" y="576072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Нужен ли здесь ИИ?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Полный корпус — три года, все поставщики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3385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47218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«Запросили полный корпус: три года, все поставщики».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5740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16712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253288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53288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27226" y="253288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7226" y="253288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№ накл.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23516" y="253288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3516" y="253288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288950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7226" y="288950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23516" y="288950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48990" y="205740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7006" y="216712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7006" y="253288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006" y="253288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Date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3296" y="253288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3296" y="253288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Invoice#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9586" y="253288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9586" y="253288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Total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7006" y="288950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3296" y="288950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9586" y="288950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5060" y="205740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3076" y="216712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23076" y="253288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253288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Период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19366" y="253288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9366" y="253288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Заказ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15656" y="253288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15656" y="253288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Итого, 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23076" y="288950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19366" y="288950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15656" y="288950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41130" y="205740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9146" y="216712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Г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69146" y="253288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69146" y="253288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65436" y="253288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5436" y="253288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от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61726" y="253288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61726" y="253288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итого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69146" y="288950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65436" y="288950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761726" y="288950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4114800"/>
            <a:ext cx="111831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Форматы разъехались — разные колонки, разные форматы дат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452628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4526280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Кто передумал? Почему?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2920" y="5257800"/>
            <a:ext cx="11183112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4" name="Picture 53" descr="workflow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669280"/>
            <a:ext cx="457200" cy="4572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371600" y="5367528"/>
            <a:ext cx="996696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 i="0">
                <a:solidFill>
                  <a:srgbClr val="21295C"/>
                </a:solidFill>
                <a:latin typeface="Arial"/>
              </a:rPr>
              <a:t>Гибрид: LLM-извлечение по вариативному входу + жёсткая валидация кодом на выходе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1">
                <a:solidFill>
                  <a:srgbClr val="F0AB00"/>
                </a:solidFill>
                <a:latin typeface="Arial"/>
              </a:rPr>
              <a:t>Урок: два примера — не выборка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«Нужно вычистить персональные данные из логов приложения перед передачей их внешнему подрядчику на анализ производительности».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651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Одна технология на всё, или нет?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71800"/>
            <a:ext cx="5454396" cy="2423160"/>
          </a:xfrm>
          <a:prstGeom prst="roundRect">
            <a:avLst>
              <a:gd name="adj" fmla="val 12578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hash-028090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72968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172968"/>
            <a:ext cx="43571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Regex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499719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Телефоны, email — чёткий формат, дёшево и надёжно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971800"/>
            <a:ext cx="5454396" cy="2423160"/>
          </a:xfrm>
          <a:prstGeom prst="roundRect">
            <a:avLst>
              <a:gd name="adj" fmla="val 1257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search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0236" y="3172968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00316" y="3172968"/>
            <a:ext cx="43571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NER /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0236" y="3886200"/>
            <a:ext cx="499719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Имена людей, косвенные упоминания в свободном тексте — нужен контекст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623560"/>
            <a:ext cx="11183112" cy="6858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Ответ — гибрид, и граница проходит внутри одной задачи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Из жизни: провал и успех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Vendor-метрика точности ≠ метрика, измеренная независимо на своих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5454396" cy="260604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801368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79576" y="17830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Epic Sepsis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31720"/>
            <a:ext cx="5052059" cy="1856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Заявленный AUC 0.76–0.83 vs реальный 0.63 (Michigan Medicine, 38 455 госпитализаций)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Пропущено 67% реальных случаев сепсиса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Алерты — на 18% всех госпитализированных пациентов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600200"/>
            <a:ext cx="5454396" cy="260604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801368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8292" y="17830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Ramp, merchant 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2803" y="2331720"/>
            <a:ext cx="5052059" cy="1856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Вручную: покрытие 3% заявок (2023) → 1,5% (2024)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После LLM-агента: обработка &lt; 10 сек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~99% изменений корректны · ~25% заявок обоснованно отклоняются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480559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80559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Ramp — замена ручной обработки с мизерным покрытием, не замена работавшего regex-решения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-594360"/>
            <a:ext cx="420624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E5EAF0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6492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Встроить или делать своё?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160520"/>
            <a:ext cx="617220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215383"/>
            <a:ext cx="580644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Полный кейс без единственного ответа · блиц-кейс · случаи из жизни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051560"/>
            <a:ext cx="4206240" cy="101269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62088" y="1051560"/>
            <a:ext cx="398678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ИИ или обычный код?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02880" y="2192274"/>
            <a:ext cx="3505199" cy="1012697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12607" y="2192274"/>
            <a:ext cx="328574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Встроить или делать своё?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400" y="3332988"/>
            <a:ext cx="2804160" cy="101269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3332988"/>
            <a:ext cx="258470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Разовый вызов, RAG или агент?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4473702"/>
            <a:ext cx="2103120" cy="101269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3648" y="4473702"/>
            <a:ext cx="188366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Внешний API или локальный инференс?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56235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воронка решений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183112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36245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700784"/>
            <a:ext cx="107442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1">
                <a:solidFill>
                  <a:srgbClr val="21295C"/>
                </a:solidFill>
                <a:latin typeface="Arial"/>
              </a:rPr>
              <a:t>«Сделайте нам ИИ-помощника для операторов техподдержки — подсказки ответов на тикеты, поиск похожих обращений в истории».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017520"/>
            <a:ext cx="11183112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onitor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14700"/>
            <a:ext cx="822960" cy="822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65960" y="3017520"/>
            <a:ext cx="932688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Операторы весь рабочий день живут в интерфейсе helpdesk-системы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709159"/>
            <a:ext cx="11183112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709159"/>
            <a:ext cx="106070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Где должен жить этот помощник?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Закрытый вендор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3385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47218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«У вендора вашей helpdesk-системы нет открытого API и нет возможности кастомизации».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5740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plit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967" y="2276856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" y="292608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Решение сбоку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342900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Расширение браузера или вторая панель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" y="4389120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4453128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Два места одновременно, риск: оператор не будет пользоваться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05740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repeat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2276856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62272" y="292608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Смена вендора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42900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Helpdesk-система с открытым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3983" y="4389120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453128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Миграция данных, переобучение команды, риск простоя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205740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route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6064" y="2276856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75320" y="292608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Пересмотр задачи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42900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Асинхронный помощник, готовит черновики заранее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7032" y="4389120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4453128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Оператор открывает готовое там, где удобно, но нужен отдельный процесс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80644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80644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1">
                <a:solidFill>
                  <a:srgbClr val="21295C"/>
                </a:solidFill>
                <a:latin typeface="Arial"/>
              </a:rPr>
              <a:t>Единственно верного ответа нет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7101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609344"/>
            <a:ext cx="1074420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«Маркетинг просит отдельный ИИ-сервис для генерации описаний товаров».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06040"/>
            <a:ext cx="11183112" cy="1737360"/>
          </a:xfrm>
          <a:prstGeom prst="roundRect">
            <a:avLst>
              <a:gd name="adj" fmla="val 17543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tor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086100"/>
            <a:ext cx="777240" cy="777240"/>
          </a:xfrm>
          <a:prstGeom prst="rect">
            <a:avLst/>
          </a:prstGeom>
        </p:spPr>
      </p:pic>
      <p:pic>
        <p:nvPicPr>
          <p:cNvPr id="8" name="Picture 7" descr="arrow-right-F0AB0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3246120"/>
            <a:ext cx="457200" cy="457200"/>
          </a:xfrm>
          <a:prstGeom prst="rect">
            <a:avLst/>
          </a:prstGeom>
        </p:spPr>
      </p:pic>
      <p:pic>
        <p:nvPicPr>
          <p:cNvPr id="9" name="Picture 8" descr="zap-F0AB00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8920" y="3086100"/>
            <a:ext cx="777240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40480" y="2606040"/>
            <a:ext cx="6949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>
                <a:solidFill>
                  <a:srgbClr val="21295C"/>
                </a:solidFill>
                <a:latin typeface="Arial"/>
              </a:rPr>
              <a:t>Кнопка «сгенерировать описание»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1295C"/>
                </a:solidFill>
                <a:latin typeface="Arial"/>
              </a:rPr>
              <a:t>в существующей админке каталога, которой маркетинг и так пользуется каждый день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70916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Отдельный продукт — не отдельный продукт: второй логин и вкладка убивают использование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Из жизни: Kite vs GitHub Copilot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42316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Kite (standalone)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67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~500 000 бесплатных пользователей на пике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Закрылся в ноябре 2022 года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21295C"/>
                </a:solidFill>
                <a:latin typeface="Arial"/>
              </a:rPr>
              <a:t>«Разработчики не платят за инструменты»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242316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GitHub Copilot (встроен)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67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~20 млн пользователей к июлю 2025 (из 100+ млн на GitHub)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~4,7 млн платных подписчиков к январю 2026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~90% компаний Fortune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50792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5079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Встроенность в уже существующий рабочий поток победила отдельный продукт при технологии сравнимого класса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20640"/>
            <a:ext cx="11183112" cy="7315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Humane AI Pin — привлечено ~$241 млн, продан за $116 млн · Rabbit R1 — ~100 000 устройств, активно пользуются ~5%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-594360"/>
            <a:ext cx="420624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E5EAF0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6492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Разовый вызов, RAG или агент?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160520"/>
            <a:ext cx="617220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215383"/>
            <a:ext cx="580644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Кейс-лестница из трёх ступеней · блиц-кейс · случаи из жизни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051560"/>
            <a:ext cx="4206240" cy="101269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62088" y="1051560"/>
            <a:ext cx="398678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ИИ или обычный код?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02880" y="2192274"/>
            <a:ext cx="3505199" cy="101269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12607" y="2192274"/>
            <a:ext cx="328574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Встроить или делать своё?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400" y="3332988"/>
            <a:ext cx="2804160" cy="1012697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3332988"/>
            <a:ext cx="258470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Разовый вызов, RAG или агент?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4473702"/>
            <a:ext cx="2103120" cy="101269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3648" y="4473702"/>
            <a:ext cx="188366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Внешний API или локальный инференс?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56235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воронка решений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43000"/>
            <a:ext cx="11183112" cy="1920240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ile-tex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731520" cy="731520"/>
          </a:xfrm>
          <a:prstGeom prst="rect">
            <a:avLst/>
          </a:prstGeom>
        </p:spPr>
      </p:pic>
      <p:pic>
        <p:nvPicPr>
          <p:cNvPr id="5" name="Picture 4" descr="arrow-right-F0AB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1691640"/>
            <a:ext cx="457200" cy="457200"/>
          </a:xfrm>
          <a:prstGeom prst="rect">
            <a:avLst/>
          </a:prstGeom>
        </p:spPr>
      </p:pic>
      <p:pic>
        <p:nvPicPr>
          <p:cNvPr id="6" name="Picture 5" descr="list-checks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40" y="146304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0" y="1417320"/>
            <a:ext cx="7772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21295C"/>
                </a:solidFill>
                <a:latin typeface="Arial"/>
              </a:rPr>
              <a:t>Транскрипт встречи → структурированный протокол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6B7685"/>
                </a:solidFill>
                <a:latin typeface="Arial"/>
              </a:rPr>
              <a:t>Какие решения приняты, какие поручения даны, какие сроки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1">
                <a:solidFill>
                  <a:srgbClr val="065A82"/>
                </a:solidFill>
                <a:latin typeface="Arial"/>
              </a:rPr>
              <a:t>У вас есть полный транскрипт одной встречи целиком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3756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33756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Один разовый вызов модели — RAG и агент были бы избыточным усложнением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526280"/>
            <a:ext cx="3544824" cy="1417320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69087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Разовый вызов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84320" y="513435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2064" y="4526280"/>
            <a:ext cx="3544824" cy="141732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2064" y="469087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3463" y="513435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41208" y="4526280"/>
            <a:ext cx="3544824" cy="141732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1208" y="469087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База протоколов растёт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86868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04241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380744"/>
            <a:ext cx="10744200" cy="45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«Теперь хотим спрашивать: что мы решали по проекту X за последние полгода?»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06040"/>
            <a:ext cx="438912" cy="36576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2450591"/>
            <a:ext cx="566928" cy="521208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56815" y="2295144"/>
            <a:ext cx="694944" cy="676656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15184" y="2139696"/>
            <a:ext cx="822960" cy="832104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73552" y="1984248"/>
            <a:ext cx="950976" cy="98755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2666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растёт со временем →</a:t>
            </a:r>
          </a:p>
        </p:txBody>
      </p:sp>
      <p:pic>
        <p:nvPicPr>
          <p:cNvPr id="12" name="Picture 11" descr="databas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011680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66560" y="1874519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50" b="1" i="0">
                <a:solidFill>
                  <a:srgbClr val="21295C"/>
                </a:solidFill>
                <a:latin typeface="Arial"/>
              </a:rPr>
              <a:t>Весь объём уже не помещается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21295C"/>
                </a:solidFill>
                <a:latin typeface="Arial"/>
              </a:rPr>
              <a:t>в один запрос к модели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91840"/>
            <a:ext cx="1118311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29184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Кто передумал? Почему?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13632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13632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Теперь обоснован RAG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663440"/>
            <a:ext cx="3544824" cy="960120"/>
          </a:xfrm>
          <a:prstGeom prst="roundRect">
            <a:avLst>
              <a:gd name="adj" fmla="val 12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82803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Разовый вызов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84320" y="504291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22064" y="4663440"/>
            <a:ext cx="3544824" cy="960120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2064" y="482803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903463" y="504291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41208" y="4663440"/>
            <a:ext cx="3544824" cy="96012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41208" y="4828032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Поручения — сами в таск-трекер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11183112" cy="8229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3385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472184"/>
            <a:ext cx="107442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«И пусть поручения из протокола сами автоматически раскладываются по задачам в таск-трекере».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65960"/>
            <a:ext cx="11183112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ile-text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286000"/>
            <a:ext cx="594360" cy="594360"/>
          </a:xfrm>
          <a:prstGeom prst="rect">
            <a:avLst/>
          </a:prstGeom>
        </p:spPr>
      </p:pic>
      <p:pic>
        <p:nvPicPr>
          <p:cNvPr id="8" name="Picture 7" descr="arrow-right-F0AB0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2423160"/>
            <a:ext cx="411480" cy="411480"/>
          </a:xfrm>
          <a:prstGeom prst="rect">
            <a:avLst/>
          </a:prstGeom>
        </p:spPr>
      </p:pic>
      <p:pic>
        <p:nvPicPr>
          <p:cNvPr id="9" name="Picture 8" descr="list-checks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600" y="228600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0" y="219456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создать задачу → назначить исполнителя → проверить срок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29000"/>
            <a:ext cx="11183112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75304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1" i="0">
                <a:solidFill>
                  <a:srgbClr val="21295C"/>
                </a:solidFill>
                <a:latin typeface="Arial"/>
              </a:rPr>
              <a:t>Архитектурный выбор двигают конкретные новые требования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1">
                <a:solidFill>
                  <a:srgbClr val="21295C"/>
                </a:solidFill>
                <a:latin typeface="Arial"/>
              </a:rPr>
              <a:t>Начинайте с простейшего варианта и усложняйте только тогда, когда простой закрыть требование не может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92040"/>
            <a:ext cx="3544824" cy="1417320"/>
          </a:xfrm>
          <a:prstGeom prst="roundRect">
            <a:avLst>
              <a:gd name="adj" fmla="val 12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056631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Разовый вызов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84320" y="550011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22064" y="4892040"/>
            <a:ext cx="3544824" cy="1417320"/>
          </a:xfrm>
          <a:prstGeom prst="roundRect">
            <a:avLst>
              <a:gd name="adj" fmla="val 12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2064" y="5056631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03463" y="550011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41208" y="4892040"/>
            <a:ext cx="3544824" cy="1417320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41208" y="5056631"/>
            <a:ext cx="3544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Еженедельный дайджест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«Нужен еженедельный дайджест по рабочим чатам и почте команды — что обсуждали, что решили».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350008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79576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Агент — нужен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Обход нескольких источников по расписанию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Многошаговая задача с обращением к внешним системам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x-circle-21295C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2803" y="2350008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08292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RAG — не нужен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2803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Источники обходятся напрямую по расписанию, не по произвольному запросу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Суммаризация — один вызов модели после сбора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51959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51959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RAG ≠ «у нас много источников»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Из жизни: фреймворк и класс задач для агента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51460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Octomind: «Why we no longer use LangChain»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764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12+ месяцев LangChain в проде → отказ (17.06.2024)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Дебаг фреймворка дороже разработки фич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Негибкие абстракции → замена на прямые модульные вызовы LLM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251460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Где агент необходим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764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 Research — поиск и синтез по многим источникам с уточнением запроса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Coding-агенты — правка кода → запуск тестов → итерация по результату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В обоих случаях одного вызова физически недостаточно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6052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Прямые вызовы API иногда дают больше контроля, чем абстракция, которая должна была его упростить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-594360"/>
            <a:ext cx="420624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E5EAF0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6492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Внешний API или локальный инференс?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160520"/>
            <a:ext cx="617220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215383"/>
            <a:ext cx="580644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Кейс-трёхходовка · случаи из жизни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051560"/>
            <a:ext cx="4206240" cy="101269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62088" y="1051560"/>
            <a:ext cx="398678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ИИ или обычный код?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02880" y="2192274"/>
            <a:ext cx="3505199" cy="101269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12607" y="2192274"/>
            <a:ext cx="328574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Встроить или делать своё?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400" y="3332988"/>
            <a:ext cx="2804160" cy="101269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3332988"/>
            <a:ext cx="258470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Разовый вызов, RAG или агент?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4473702"/>
            <a:ext cx="2103120" cy="1012697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3648" y="4473702"/>
            <a:ext cx="1883663" cy="101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Внешний API или локальный инференс?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56235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воронка решений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Саммаризация звонков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11183112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phon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pic>
        <p:nvPicPr>
          <p:cNvPr id="5" name="Picture 4" descr="arrow-right-F0AB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1828800"/>
            <a:ext cx="457200" cy="457200"/>
          </a:xfrm>
          <a:prstGeom prst="rect">
            <a:avLst/>
          </a:prstGeom>
        </p:spPr>
      </p:pic>
      <p:pic>
        <p:nvPicPr>
          <p:cNvPr id="6" name="Picture 5" descr="file-text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1600200"/>
            <a:ext cx="7772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749039" y="1600200"/>
            <a:ext cx="75895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21295C"/>
                </a:solidFill>
                <a:latin typeface="Arial"/>
              </a:rPr>
              <a:t>Записи звонков менеджеров по продажам →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6B7685"/>
                </a:solidFill>
                <a:latin typeface="Arial"/>
              </a:rPr>
              <a:t>карточка звонка: выявленная потребность клиента, возражения, договорённости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79476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79476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Какая архитектура? Где считать?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5780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25780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1: Облачный frontier?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84320" y="561441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2064" y="525780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1792" y="525780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2: Персональные данные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3463" y="561441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41208" y="525780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0936" y="525780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3: Шаблон полей → локальная модель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Персональные данные в звонках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1183112" cy="1371600"/>
          </a:xfrm>
          <a:prstGeom prst="roundRect">
            <a:avLst>
              <a:gd name="adj" fmla="val 222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2529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63624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«Мы прослушали несколько реальных звонков внимательно. Клиенты в разговоре иногда диктуют номера телефонов, адреса доставки, а в паре случаев — паспортные данные для оформления договора».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97480"/>
            <a:ext cx="11183112" cy="1965960"/>
          </a:xfrm>
          <a:prstGeom prst="roundRect">
            <a:avLst>
              <a:gd name="adj" fmla="val 15503"/>
            </a:avLst>
          </a:prstGeom>
          <a:solidFill>
            <a:srgbClr val="FBEAEA"/>
          </a:solidFill>
          <a:ln w="1905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alert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92608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0" y="28803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ФЗ № 420-ФЗ (с 30.05.2025)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83280"/>
            <a:ext cx="9966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Повторная утечка персональных данных — оборотный штраф 1-3% годовой выручки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6B7685"/>
                </a:solidFill>
                <a:latin typeface="Arial"/>
              </a:rPr>
              <a:t>(минимум 20 млн, максимум 500 млн ₽)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1">
                <a:solidFill>
                  <a:srgbClr val="21295C"/>
                </a:solidFill>
                <a:latin typeface="Arial"/>
              </a:rPr>
              <a:t>Обязанность уведомить Роскомнадзор в течение 24 часов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9204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89204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Кто передумал? Почему?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57784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557784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1: Облачный frontier?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84320" y="5934455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2064" y="557784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1792" y="557784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2: Персональные данные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03463" y="5934455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1208" y="557784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0936" y="557784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3: Шаблон полей → локальная модель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Задача сузилась до шаблона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320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«Давайте посмотрим на задачу трезво: на выходе нам нужна не свободная беседа, а структурированная выжимка по фиксированному шаблону из нескольких полей».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11183112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cpu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06040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760" y="2414016"/>
            <a:ext cx="98755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Небольшая локальная модель (7-8 млрд параметров) справляется — данные не покидают периметр компании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5454396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3867911"/>
            <a:ext cx="5052059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(а) «сложно для человека» ≠ «сложно для модели»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3703320"/>
            <a:ext cx="5454396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2803" y="3867911"/>
            <a:ext cx="5052059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(б) чувствительность данных выясняется вопросами, а не предполагается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62356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562356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1: Облачный frontier?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84320" y="598017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22064" y="562356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E5EAF0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1792" y="562356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2: Персональные данные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03463" y="5980176"/>
            <a:ext cx="201167" cy="20116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41208" y="5623560"/>
            <a:ext cx="3544824" cy="914400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0936" y="5623560"/>
            <a:ext cx="332536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Ход 3: Шаблон полей → локальная модель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Из жизни: утечка и малые модели в проде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54396" cy="260604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61848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60020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Samsung,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48840"/>
            <a:ext cx="5052059" cy="1856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Разрешили ChatGPT 11.03.2023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 30.03 (~19 дней) — 3 утечки: 2× код производства, 1× транскрипт совещания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Полный запрет генеративного ИИ на устройствах (май 2023) + своя внутренняя система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54396" cy="260604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61848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60020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Малые модели в проде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48840"/>
            <a:ext cx="5052059" cy="1856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JetBrains full-line completion — локальная модель ~100 МБ, в проде с апреля 2024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Apple on-device — ~3 млрд параметров (WWDC 2024)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Frontier (GPT/Claude/Gemini) — сотни миллиардов параметров, только облако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9768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Frontier-модели — сотни миллиардов параметров, доступны только через облако. Малые модели уже работают локально в проде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Разберите вашу задачу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4206240" cy="95554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648" y="1280160"/>
            <a:ext cx="3986783" cy="9555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ИИ или обычный код?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3440" y="2363724"/>
            <a:ext cx="3505199" cy="95554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3167" y="2363724"/>
            <a:ext cx="3285743" cy="9555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Встроить или делать своё?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03960" y="3447288"/>
            <a:ext cx="2804160" cy="95554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3687" y="3447288"/>
            <a:ext cx="2584703" cy="9555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Разовый вызов, RAG или агент?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4530852"/>
            <a:ext cx="2103120" cy="955547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4207" y="4530852"/>
            <a:ext cx="1883663" cy="9555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Внешний API или локальный инференс?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280160"/>
            <a:ext cx="653796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66944" y="154533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28016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Какой выбор воронки здесь стоит острее всего?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322576"/>
            <a:ext cx="653796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66944" y="258775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322576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Каких вводных не хватает, чтобы сделать этот выбор обоснованно?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3364992"/>
            <a:ext cx="653796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66944" y="36301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64992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Что было на самом деле — изменило ли это выбор?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4407408"/>
            <a:ext cx="653796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66944" y="467258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407408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Какие риски у выбранного решения (лексика Лекции 1)?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0" y="5541264"/>
            <a:ext cx="6537960" cy="6858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5541264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1">
                <a:solidFill>
                  <a:srgbClr val="21295C"/>
                </a:solidFill>
                <a:latin typeface="Arial"/>
              </a:rPr>
              <a:t>Кто может поделиться реальной задачей со своей работы?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Памятка «Воронка решений + красные флаги»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5120640" cy="502920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380744"/>
            <a:ext cx="47183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Четыре вопроса воронки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4088" y="192938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74519"/>
            <a:ext cx="4297679" cy="1062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Нужен ли здесь ИИ вообще, или задачу лучше решает обычный код?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" y="299237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937510"/>
            <a:ext cx="4297679" cy="1062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Встраиваем в существующее приложение или делаем своё?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4055363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000500"/>
            <a:ext cx="4297679" cy="1062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Если своё — разовый вызов модели, RAG или агент?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" y="5118353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63490"/>
            <a:ext cx="4297679" cy="1062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Внешний API или локальный инференс?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79" y="1234440"/>
            <a:ext cx="5788152" cy="502920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2032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9047" y="1380744"/>
            <a:ext cx="53858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0AB00"/>
                </a:solidFill>
                <a:latin typeface="Arial"/>
              </a:rPr>
              <a:t>Красный флаг на каждый вопрос</a:t>
            </a:r>
          </a:p>
        </p:txBody>
      </p:sp>
      <p:pic>
        <p:nvPicPr>
          <p:cNvPr id="15" name="Picture 14" descr="alert-triangle-F0AB0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2084070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28231" y="1856232"/>
            <a:ext cx="5074920" cy="7117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21295C"/>
                </a:solidFill>
                <a:latin typeface="Arial"/>
              </a:rPr>
              <a:t>Выбор по 2-3 показанным примерам без запроса на весь объём данных</a:t>
            </a:r>
          </a:p>
        </p:txBody>
      </p:sp>
      <p:pic>
        <p:nvPicPr>
          <p:cNvPr id="17" name="Picture 16" descr="alert-triangle-F0AB0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2795778"/>
            <a:ext cx="25603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28231" y="2567940"/>
            <a:ext cx="5074920" cy="7117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21295C"/>
                </a:solidFill>
                <a:latin typeface="Arial"/>
              </a:rPr>
              <a:t>Vendor-KPI без знаменателя — цифра эффекта без базы расчёта</a:t>
            </a:r>
          </a:p>
        </p:txBody>
      </p:sp>
      <p:pic>
        <p:nvPicPr>
          <p:cNvPr id="19" name="Picture 18" descr="alert-triangle-F0AB0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3507486"/>
            <a:ext cx="256032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28231" y="3279648"/>
            <a:ext cx="5074920" cy="7117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21295C"/>
                </a:solidFill>
                <a:latin typeface="Arial"/>
              </a:rPr>
              <a:t>Отдельный продукт там, где нужна кнопка в существующем интерфейсе</a:t>
            </a:r>
          </a:p>
        </p:txBody>
      </p:sp>
      <p:pic>
        <p:nvPicPr>
          <p:cNvPr id="21" name="Picture 20" descr="alert-triangle-F0AB0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4219194"/>
            <a:ext cx="256032" cy="25603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28231" y="3991356"/>
            <a:ext cx="5074920" cy="7117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21295C"/>
                </a:solidFill>
                <a:latin typeface="Arial"/>
              </a:rPr>
              <a:t>RAG или агент выбраны потому что модно, а не по новому требованию</a:t>
            </a:r>
          </a:p>
        </p:txBody>
      </p:sp>
      <p:pic>
        <p:nvPicPr>
          <p:cNvPr id="23" name="Picture 22" descr="alert-triangle-F0AB0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4930902"/>
            <a:ext cx="256032" cy="25603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28231" y="4703064"/>
            <a:ext cx="5074920" cy="7117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21295C"/>
                </a:solidFill>
                <a:latin typeface="Arial"/>
              </a:rPr>
              <a:t>Чувствительность данных не проверена до архитектурного выбора</a:t>
            </a:r>
          </a:p>
        </p:txBody>
      </p:sp>
      <p:pic>
        <p:nvPicPr>
          <p:cNvPr id="25" name="Picture 24" descr="alert-triangle-F0AB0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5642610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28231" y="5414772"/>
            <a:ext cx="5074920" cy="7117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21295C"/>
                </a:solidFill>
                <a:latin typeface="Arial"/>
              </a:rPr>
              <a:t>«Сложно для человека» принято за «сложно для модели» без проверки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Домашнее чтение (необязательное)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3557016" cy="4709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25496" y="155448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Arial"/>
              </a:rPr>
              <a:t>ГЛАВНОЕ</a:t>
            </a:r>
          </a:p>
        </p:txBody>
      </p:sp>
      <p:pic>
        <p:nvPicPr>
          <p:cNvPr id="5" name="Picture 4" descr="handshak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108" y="1645920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4231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Сага Klarna, 2023-2025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37560"/>
            <a:ext cx="3191256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AI-ассистент поддержки: от впечатляющего старта до признания «мы зашли слишком далеко» и возврата к найму людей.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371600"/>
            <a:ext cx="3557016" cy="4709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building-2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0156" y="1645920"/>
            <a:ext cx="548640" cy="548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98848" y="24231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NYC MyCity chatbot,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3337560"/>
            <a:ext cx="3191256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Городской чат-бот для малого бизнеса, дававший юридически некорректные советы. Расследование The Markup.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9016" y="1371600"/>
            <a:ext cx="3557016" cy="4709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bankno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3204" y="164592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11896" y="24231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Бонус, для настроения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337560"/>
            <a:ext cx="3191256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Автосалон подключил чат-бот на стороннем API без ограждений — и чат-бот «продал» внедорожник за один доллар.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Ссылки — в брифе семинара. Klarna — редкий случай, когда одна компания прошла все четыре выбора воронки на одном продукте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Klarna, 2023-2025: одна история — четыре развилки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2646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ИИ или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280160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Типовые тикеты — формализуемы, хороший кандидат; но оптимизация по стоимости уронила качество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21408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35915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12848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Встроить или своё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12848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Ассистент в существующем канале поддержки, внешний API (OpenAI) — не отдельный продукт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54096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329184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145536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Паттерн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145536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Чат-ассистент с эскалацией к человеку, не автономный агент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86784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245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78224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Инференс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078224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Внешний облачный API с клиентскими данными поддержки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65192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698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Запуск февраль 2024 · 30 дней: 2,3 млн чатов, 67% обращений автоматизировано · заявлено «700 агентов»/$40М (2024) → «853 агента»/$60М (Q3 2025) — знаменатель не раскрыт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79592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879592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1">
                <a:solidFill>
                  <a:srgbClr val="21295C"/>
                </a:solidFill>
                <a:latin typeface="Arial"/>
              </a:rPr>
              <a:t>«We went too far» — CEO Себастьян Семятковски, Bloomberg, май 2025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Дедупликация новостей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«Поток новостей из многих источников — нужно склеивать сообщения об одном и том же событии в одну карточку».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ilter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350008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79576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Fuzzy-matching / shingling — ~90%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Сравнение текстов по перекрывающимся фрагментам без обращения к модели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Дёшево и предсказуемо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sparkles-21295C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2803" y="2350008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08292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LLM — только остаток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2803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Два сообщения об одном событии написаны разными словами почти без общих фрагментов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21295C"/>
                </a:solidFill>
                <a:latin typeface="Arial"/>
              </a:rPr>
              <a:t>Перефраз без лексического пересечения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51959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51959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Сначала дешёвый детерминированный фильтр — ИИ на то, что он не взял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-closing-gpu-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21295C">
              <a:alpha val="8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709160"/>
            <a:ext cx="106070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Сегодня вы решали, что строить.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1" i="0">
                <a:solidFill>
                  <a:srgbClr val="F0AB00"/>
                </a:solidFill>
                <a:latin typeface="Arial"/>
              </a:rPr>
              <a:t>Лекция 2 — как модель устроена внутри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C8D2DF"/>
                </a:solidFill>
                <a:latin typeface="Arial"/>
              </a:rPr>
              <a:t>Wikimedia Commons · CC BY 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