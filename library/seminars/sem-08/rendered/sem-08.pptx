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входная точка сегодняшнего занятия, и она буквальная, не пересказанная: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 И отдельно — ветка отказа: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Марина — координатор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таблицу или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Следующий экран показывает, что было сделано первой попыткой и что эта попытка показала на практике.</a:t>
            </a:r>
          </a:p>
          <a:p/>
          <a:p>
            <a:r>
              <a:t>Обратите внимание на то, о чём Марина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сделала версия 1, и вот что у неё реально получилось — не в теории, а на настоящем прогоне.</a:t>
            </a:r>
          </a:p>
          <a:p/>
          <a:p>
            <a:r>
              <a:t>Сначала — что именно просила Марина, слово за словом. Ей нужна одна строка такого вида: «Новая заявка от Марии: тема «курс», также упомянуто: оплата.» Три значения — имя, основная тема, дополнительные темы — собранные в одну читаемую фразу. Контакт заявителя сюда не входит, он уже виден на экране результата, а это уведомление решает только одну задачу — заметить многотемную заявку сразу. Это не абстрактное пожелание, а конкретный пример текста, по которому можно сверить любое решение.</a:t>
            </a:r>
          </a:p>
          <a:p/>
          <a:p>
            <a:r>
              <a:t>Версия 1 подошла к этому так: добавила к цепочке ещё один узел, отдельный от уже существующего извлечения полей, и этот узел — модель. На вход она получает те же самые три значения, которые к этому моменту уже лежат в структурированном виде. А дальше ей дают свободу: сочини текст уведомления сама, по-человечески, одно-два предложения. Звучит разумно: модель умеет писать живые фразы лучше любого шаблона.</a:t>
            </a:r>
          </a:p>
          <a:p/>
          <a:p>
            <a:r>
              <a:t>И вот что показала практика через настоящие прогоны. Первое — тексты каждый раз звучат по-разному, и это само по себе не беда, живому человеку даже приятнее читать не казённую форму. Второе, и это главная находка: на одной из заявок, у Олега, модель вставила в готовое сообщение буквальный текст «[Имя координатора]» — то есть кусок собственного шаблона-инструкции, адресованный модели, а не заявителю, который она должна была заменить настоящим содержанием и не заменила. Сообщение при этом не упало технически, не вернуло ошибку — оно спокойно ушло в Telegram именно с этим текстом внутри. Снаружи всё выглядело штатно: узел отработал, статус зелёный.</a:t>
            </a:r>
          </a:p>
          <a:p/>
          <a:p>
            <a:r>
              <a:t>Вопрос, который отсюда вытекает: как вообще нужно было собирать эту строку из трёх уже известных значений —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Марина,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Марины,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у неё остаётся шанс сочинить лишнюю деталь, которой в заявке не было — мы это только что видели на практике.</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Марина.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схема — архитектура версии 1 в чистом виде, без единого имени конкретного инструмента. Если завтра эту же цепочку собирают не в том оркестраторе, которым пользуемся мы, формулировка не меняется ни на слово: после того как поля заявки извлечены, добавляется отдельный шаг, который на каждый прогон обращается к модели и получает от неё готовый свободный текст.</a:t>
            </a:r>
          </a:p>
          <a:p/>
          <a:p>
            <a:r>
              <a:t>Важное свойство этой архитектуры — не то, что она вызывает модель, а то, когда она это делает: решение о форме текста принимается заново при каждом прогоне, а не один раз заранее. Отсюда и растёт то, что мы видели на предыдущем экране — текст звучит каждый раз немного иначе, и однажды это «иначе» включило в себя деталь, которой в заявке не было вовсе.</a:t>
            </a:r>
          </a:p>
          <a:p/>
          <a:p>
            <a:r>
              <a:t>Дальше — вторая архитектурная схема, без единого изменения в остальной цепочке, но с другим ответом ровно на этот один узел. Сравнивать мы будем именно эти два экрана — один против другого, не абзац против абзаца.</a:t>
            </a:r>
          </a:p>
          <a:p/>
          <a:p>
            <a:r>
              <a:t>Почему вообще стоит сначала рисовать такую обезличенную схему, а не сразу переходить к настоящему интерфейсу с настоящими именами полей. Потому что решение, правильный ли это узел для задачи, не зависит от того, в каком инструменте он собран. Если вы собираете похожую цепочку на другом движке, через код напрямую или через любой другой оркестратор, вопрос «вызывает ли этот шаг модель на каждый прогон, или решение принято заранее» звучит ровно так же и ответ на него не меняется. Конкретные имена узлов и параметров — это слой ниже, он идёт следом, на следующих двух экранах, и там он уже привязан к настоящему инструменту с его настоящими полями и настоящим текстом промпта.</a:t>
            </a:r>
          </a:p>
          <a:p/>
          <a:p>
            <a:r>
              <a:t>Здесь важно смотреть на расположение блока относительно остальной, уже знакомой вам цепочки: он встаёт не вместо какого-то старого узла, а рядом, новой веткой, после того как заявка уже записана в таблицу. Остальные пять узлов из прошлого занятия эта архитектура не трогает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архитектурная схема, и её стоит смотреть не саму по себе, а рядом с предыдущей — разница между ними ровно в одном узле, остальная цепочка не тронута ни на шаг. Там, где в первой схеме стоял узел, вызывающий модель на каждый прогон, здесь стоит узел, который подставляет уже известные значения в один раз заданную форму текста. Никакого обращения к модели на этом шаге не происходит вовсе.</a:t>
            </a:r>
          </a:p>
          <a:p/>
          <a:p>
            <a:r>
              <a:t>Главное отличие по сути — не инструмент, а момент принятия решения. В версии с моделью решение о том, как будет звучать текст, принимается заново при каждой заявке. В этой версии решение принято один раз, заранее, когда форму текста придумали и зафиксировали, и дальше оно просто воспроизводится без вариаций.</a:t>
            </a:r>
          </a:p>
          <a:p/>
          <a:p>
            <a:r>
              <a:t>Отсюда прямое следствие для надёжности: у этого узла нет пространства для сочинительства. Он не может вставить в сообщение деталь, которой не было в заявке, — потому что он ничего не сочиняет, он только копирует значения на заранее размеченные места. Та находка с плейсхолдером, которую мы видели у версии с моделью, структурно невозможна в этой архитектуре — не потому, что эта версия «умнее», а потому, что здесь просто нет шага, который мог бы её создать.</a:t>
            </a:r>
          </a:p>
          <a:p/>
          <a:p>
            <a:r>
              <a:t>Как это выглядит внутри конкретного инструмента, с настоящими параметрами обеих версий, — следующие два экрана.</a:t>
            </a:r>
          </a:p>
          <a:p/>
          <a:p>
            <a:r>
              <a:t>Стоит сразу снять одно возражение, которое напрашивается: «а что, если шаблон окажется не таким гибким, как модель, и не впишет что-то важное». Это честный вопрос, и ответ на него — не «шаблон всегда лучше», а «для этой конкретной потребности шаблону хватает той гибкости, которая ему доступна»: три значения, одна форма сообщения, ничего, что требовало бы по-настоящему разного текста от заявки к заявке. Если бы потребность была другой — например, нужно было бы учитывать тон заявителя или писать по-разному в зависимости от срочности, — этот же аргумент сработал бы в обратную сторону, и схему с моделью стоило бы предпочесть.</a:t>
            </a:r>
          </a:p>
          <a:p/>
          <a:p>
            <a:r>
              <a:t>Порядок событий здесь остаётся ровно таким, каким он был на самом деле: сначала собрали версию с моделью, через практику нашли проблему с плейсхолдером, и только после этого пришли к архитектуре, которую вы видите на этом экране. Две схемы стоят рядом сейчас не потому, что они были равноценными вариантами с самого начала, а потому, что рядом их проще сравнить один к одному — что именно изменилось и почему это изменение закрывает найденную на практике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конфигурация версии 1, какой она реально стоит на стенде — не макет и не упрощение. Узел называется «Compose notification (LLM)», и рядом с ним отдельный узел модели — gpt-4o-mini, та же модель, которой цепочка уже пользуется на шаге извлечения полей.</a:t>
            </a:r>
          </a:p>
          <a:p/>
          <a:p>
            <a:r>
              <a:t>Что в промпте написано буквально. Модели дают имя заявителя, основную тему, дополнительные темы — все уже известные, структурированные значения — и просят написать короткое дружелюбное уведомление координатору в Telegram, одно-два предложения, по-человечески, без заданной формы. Это именно то разрешение на свободу, о котором мы говорили на схеме архитектуры: никакого шаблона, никакой фиксированной структуры фразы — только смысловая задача.</a:t>
            </a:r>
          </a:p>
          <a:p/>
          <a:p>
            <a:r>
              <a:t>И вот что в этом промпте важно заметить задним числом, после того как мы уже видели находку с плейсхолдером: инструкция модели не содержит ничего похожего на «вставь реальное имя координатора» — модели просто не сообщили имя координатора вовсе, потому что оно и не нужно получателю текста. Проблема не в том, что промпт был плохо написан, а в том, что любой текст, который модель сочиняет свободно под естественно звучащую инструкцию, может случайно утащить в вывод обрывок формы или шаблона, с которым она работала, — и ни одна проверка формата этого не поймает, потому что получившийся текст синтаксически в порядке.</a:t>
            </a:r>
          </a:p>
          <a:p/>
          <a:p>
            <a:r>
              <a:t>Готовый текст от этого узла идёт напрямую в узел отправки сообщения в Telegram координатору — без дополнительной сверки по пути. Промежуточной проверки между сочинённым текстом и отправкой здесь нет вовсе: что модель вернула, то и уходит получателю без исключений.</a:t>
            </a:r>
          </a:p>
          <a:p/>
          <a:p>
            <a:r>
              <a:t>Обратите внимание, что сама конфигурация выглядит аккуратно и ничем не намекает на будущую проблему — промпт короткий, понятный, без явных ошибок формулировки. Находка с плейсхолдером не связана с качеством написания промпта, и это стоит подчеркнуть отдельно: даже хорошо написанная инструкция свободной генерации не даёт гарантии, что в тексте не окажется чего-то постороннего по форме, если сама задача такой гарантии не требовала с самого начала. Следующий экран — та же точка цепочки, но без этого узла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конфигурация версии 2 — и сравнивать её стоит прямо с предыдущим экраном, потому что узел отправки в Telegram у обеих версий один и тот же; разница целиком в том, что происходит до него.</a:t>
            </a:r>
          </a:p>
          <a:p/>
          <a:p>
            <a:r>
              <a:t>Узел называется «Compose notification (template)», и устроен он без единого обращения к модели: это выражение, которое один раз написали руками, а дальше оно просто подставляет в заранее заданные места уже известные значения — имя заявителя, основную тему и, если есть, дополнительные темы. Никакого отдельного узла модели рядом с ним нет вовсе — в этой версии цепочки такого узла просто не существует.</a:t>
            </a:r>
          </a:p>
          <a:p/>
          <a:p>
            <a:r>
              <a:t>Что это даёт на практике. Результат детерминированный: при одних и тех же входных значениях текст всегда получается одним и тем же, без вариаций, и значит без риска вставить в сообщение что-то, чего в заявке не было. Цена этой надёжности — обратная сторона: если форма сообщения когда-нибудь должна будет меняться по смыслу, а не просто по значениям — скажем, появится необходимость писать на разных языках или с разной степенью детализации — это выражение придётся переписывать руками на каждый такой случай, и само оно этого не почувствует.</a:t>
            </a:r>
          </a:p>
          <a:p/>
          <a:p>
            <a:r>
              <a:t>Обе версии мы сейчас прогнали через одни и те же заявки. Что из этого следует для нашей потребности конкретно — на следующем экране.</a:t>
            </a:r>
          </a:p>
          <a:p/>
          <a:p>
            <a:r>
              <a:t>Обратите внимание, что это ровно тот же приём, который мы уже видели на прошлом занятии в узле сверки со справочником: один раз написанное детерминированное выражение вместо повторного обращения к модели там, где модель уже сделала свою часть работы раньше в цепочке. Разница только в том, что там мы подставляли значения в структуру данных, а здесь — в текст сообщения для человека. Устройство приёма не меняется в зависимости от того, что в итоге получает: таблицу или читаемую строку.</a:t>
            </a:r>
          </a:p>
          <a:p/>
          <a:p>
            <a:r>
              <a:t>И это ровно то, что просила Марина, слово в слово: выражение собирает текст из имени, темы и дополнительных тем — те же три значения, что назвала постановка, ни больше, ни меньше. Контакт заявителя в это уведомление сознательно не входит: он уже виден на экране результата, а это сообщение в Telegram решает одну узкую задачу — заметить многотемную заявку сразу, а не продублировать все данные заявки.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версии 1 не сломался и технически не ошибся —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это не инструмент для генерации нового смысла, а дорогой и не вполне предсказуемый способ переписать то, что уже известно, своими словами.</a:t>
            </a:r>
          </a:p>
          <a:p/>
          <a:p>
            <a:r>
              <a:t>Отсюда и общее правило, которое переносится на любой оркестратор, не только на тот, которым мы пользуемся: не каждый текстовый вывод в цепочке — это генерация в смысле «модель создаёт что-то новое». Если весь нужный смысл уже извлечён на более ранних шагах и форма результата зафиксирована, перед нами задача форматирования, а не задача модели — и решать её нужно детерминированной подстановкой значений, а не свободным текстовым выводом.</a:t>
            </a:r>
          </a:p>
          <a:p/>
          <a:p>
            <a:r>
              <a:t>Класс задачи, который этот кейс закрывает, можно назвать так: сборка сообщения из уже извлечённых значений по фиксированной форме. Узнать его в своей собственной цепочке можно по одному признаку — если вы можете заранее, не видя конкретной заявки, написать шаблон итогового сообщения и в нём остаются только пустые места для подстановки, значит, сочинять здесь уже нечего и звать модель ради этого не нужно.</a:t>
            </a:r>
          </a:p>
          <a:p/>
          <a:p>
            <a:r>
              <a:t>Это не значит, что модель здесь лишняя всегда и везде — у этого правила есть границы, и к ним мы переходим на следующем экране.</a:t>
            </a:r>
          </a:p>
          <a:p/>
          <a:p>
            <a:r>
              <a:t>Стоит отдельно заметить, что оба узла, которые мы сравнивали, формально решили одну и ту же задачу: сообщение дошло до координатора в обоих случаях, и прогон был зелёным у обоих. Внешне, по факту доставки, различий между ними нет.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 — и это ровно то смещение взгляда, вокруг которого строится всё сегодняшнее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нюанса, прежде чем мы закрепим критерий, и оба — про то, что ни одна из двух версий не безопасна навечно сама по себе.</a:t>
            </a:r>
          </a:p>
          <a:p/>
          <a:p>
            <a:r>
              <a:t>Первый нюанс — лишний шаг модели это риск, а не только лишняя цена. Легко подумать, что раз задача тривиальная — просто собрать уже известные слова в одну фразу — то и опасаться нечего. Но мы только что видели: даже на тривиальной задаче форматирования вызов модели остаётся точкой, где может появиться галлюцинация, то есть деталь, которой не было на входе. Цена в деньгах и времени здесь даже не главное — главное то, что в принципе непредсказуемо, что окажется в тексте.</a:t>
            </a:r>
          </a:p>
          <a:p/>
          <a:p>
            <a:r>
              <a:t>Второй нюанс — ровно про шаблон, и он для равновесия. Шаблон не навсегда безопасен просто потому, что он детерминированный. Если в какой-то момент форме сообщения понадобится настоящая вариативность — например, уведомления придётся писать на нескольких языках или с разной степенью подробности для разных получателей — статическое выражение этого не почувствует само, и его придётся вручную переписывать на каждый новый случай. Это другая цена, инженерная, не риск галлюцинации, но тоже реальная.</a:t>
            </a:r>
          </a:p>
          <a:p/>
          <a:p>
            <a:r>
              <a:t>Отсюда критерий, который можно унести с собой и применить к любой собственной цепочке,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заявки, которой не случилось на предыдущем шаге. Шаблона достаточно, когда форма сообщения одна и все нужные значения уже лежат структурированными.</a:t>
            </a:r>
          </a:p>
          <a:p/>
          <a:p>
            <a:r>
              <a:t>И возвращаемся к оси занятия. Первая строка: сообщение действительно ушло координатору, и это наблюдение было правдой с самого начала. Чем оно оказалось: цепочка получилась короче и дешевле без узла модели вовсе — тот же результат, без его цены и без его риска.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Светлана ведёт учёт заявок. В понедельник утром она видит в таблице заявку от Бориса — «когда можно оплатить занятие?» — обрабатывает её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Светлана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Бориса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Первое, что здесь естественно собрать, — точное совпадение текста. Нормализуем входящую строку: убираем регистр, лишние пробелы, — и сравниваем с недавними обращениями того же контакта за разумное окно времени. Совпали строки — перед нами повтор. Решение дёшевое и честное: ни одного вызова модели, результат мгновенный.</a:t>
            </a:r>
          </a:p>
          <a:p/>
          <a:p>
            <a:r>
              <a:t>И вот что показывает практика на этой самой паре. Первое сообщение Бориса и второе отличаются по смыслу ровно ничем — это один и тот же вопрос. Но по буквам это два разных текста: «оплатить занятие» и «внести оплату за курс» не совпадают ни посимвольно, ни после нормализации. Точное совпадение честно отвечает: это новое обращение. Цепочка запускается с нуля, как будто вопроса никогда не было, — и мы снова получаем ту самую ситуацию, с которой начали: два ответа, два часа, недоверие.</a:t>
            </a:r>
          </a:p>
          <a:p/>
          <a:p>
            <a:r>
              <a:t>Проверка не ошиблась технически. Она сделала ровно то, для чего её написали: сравнила две строки символ за символом. Проблема не в коде проверки, а в том, что совпадение символов и совпадение смысла — разные вещи, и первое не гарантирует второго. Вопрос, который отсюда вырастает: как построить проверку так, чтобы она ловила не только буквальное совпадение, но и переформулировку, с которой мы столкнулись у Бориса?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версия 1 споткнулась: «как мне внести оплату за курс» — вопрос Бориса, заданный через два часа после «когда можно оплатить занятие?». По смыслу один и тот же вопрос. По буквам — два разных текста.</a:t>
            </a:r>
          </a:p>
          <a:p/>
          <a:p>
            <a:r>
              <a:t>Вопрос залу: как построить проверку на повтор.</a:t>
            </a:r>
          </a:p>
          <a:p/>
          <a:p>
            <a:r>
              <a:t>Четыре карточки, и это не теория, а четыре реальных способа, которые встречаются в живых системах. Сравнивать тексты буквально — точное совпадение после нормализации, то, что мы уже видели на Борисе.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один ли это вопрос, просто сформулированный иначе. Или сначала проверить точное совпадение дёшево, а по модели пускать только то, что осталось непонятным.</a:t>
            </a:r>
          </a:p>
          <a:p/>
          <a:p>
            <a:r>
              <a:t>Обратите внимание на формулировки: все четыре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 тоже действие, а не готовый вывод вроде «модель понимает смысл, а хэш — нет». Разница важна: вопрос не о том, какой инструмент умнее в принципе, а о том, какой шаг вы бы поставили первым в цепочке, которая обрабатывает заявки Бориса и всех остальных.</a:t>
            </a:r>
          </a:p>
          <a:p/>
          <a:p>
            <a:r>
              <a:t>Три из четырёх карточек — самостоятельные решения, которые можно взять и реализовать целиком: сравнение буквально, сравнение по словам или вызов модели. Четвёртая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тремя вариантами и четвёртым, это нормально: первые три отвечают на вопрос «чем сравнивать», четвёртый — на вопрос «в каком порядке».</a:t>
            </a:r>
          </a:p>
          <a:p/>
          <a:p>
            <a:r>
              <a:t>Выбирайте. Правильных ответов здесь больше одного, все четыре — реальные инженерные решения. Разбирать будем, что каждое реально ловит на паре Бориса, а что — нет, и во что это обходится.</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не на предположении, а на измерении, которое провели до того, как решать.</a:t>
            </a:r>
          </a:p>
          <a:p/>
          <a:p>
            <a:r>
              <a:t>Точное совпадение — действие первое — на этом наборе из 20 пар ловит 15: все 5 буквальных повторов и все 10 заведомо разных вопросов. Это 75 процентов, если считать в процентах, но важнее знаменатель: ни одна из 5 перефразировок, вроде пары Бориса, не поймана — ноль из пяти.</a:t>
            </a:r>
          </a:p>
          <a:p/>
          <a:p>
            <a:r>
              <a:t>Действие второе, классический векторный подход — TF-IDF плюс косинусная близость, порог 0,3, — выглядит серьёзнее: есть мера похожести, есть настраиваемый порог, это реалистичный инженерный выбор, а не придуманная для контраста слабая альтернатива. Измерили его на том же наборе, тем же методом. Результат — 13 из 20, и это хуже хэша, не наравне с ним. Те же пять перефразировок пропущены по той же причине — «оплату» и «оплатить» разные словоформы, «курс» и «занятие» разные слова при одном смысле, мера на основе слов слепа к этому в принципе. Но вдобавок появились два ложных срабатывания на вопросах близкой темы — «сколько стоит курс по питону» и «сколько стоит курс по аналитике данных» формально разные курсы, но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здесь заплатил новой категорией ошибок за старую.</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Но три собственных ложных срабатывания, и не все объясняются совпадением слов: одна пара — «сколько длится одно занятие по времени» и «расскажите про группу для продолжающих» — не делит вообще ни одного слова, и модель всё равно сказала «да». Это не ошибка из-за похожих слов, это ошибка суждения о смысле.</a:t>
            </a:r>
          </a:p>
          <a:p/>
          <a:p>
            <a:r>
              <a:t>Четвёртая схема — внешний сервис jev, узкоспециализированный Decisions API — измерена тем же методом. Результат — 20 из 20, без единой ошибки: вероятность дубля 0,70–0,97 на всех десяти дублях, 0,02–0,08 на всех разных вопросах. Разделение чистое, порог 0,5 берёт его с запасом. Лучший результат из четырёх — и это тот самый сервис, что раньше стоял с пометкой «не измерено»: причиной была не проблема доступа, а обычная ошибка конфигурации узла, которую нашли и исправили.</a:t>
            </a:r>
          </a:p>
          <a:p/>
          <a:p>
            <a:r>
              <a:t>Главная честная находка: лучший результат дал не самый очевидный кандидат — узкий сервис обошёл универсальную модель-судью.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и этому числу слепо сейчас.</a:t>
            </a:r>
          </a:p>
          <a:p/>
          <a:p>
            <a:r>
              <a:t>Действие четвёртое, порядок, — дёшево сначала, дорого на спорное, — закрывает обе задачи по цене: 5 буквальных повторов гасятся бесплатно хэшем, модель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схемы, которые мы только что разобрали, теперь рядом, на одном и том же тесте. Хэш — 15 из 20, классический векторный подход — 13 из 20, хуже, несмотря на то, что второй выглядит серьёзнее. Модель-судья — 17 из 20, дороже на каждый вызов, но ловит то, к чему механика слепа в принципе. И четвёртая схема, узкий сервис jev, — 20 из 20, без единой ошибки на этом наборе.</a:t>
            </a:r>
          </a:p>
          <a:p/>
          <a:p>
            <a:r>
              <a:t>Отсюда архитектурное решение, и оно не привязано ни к одному конкретному инструменту —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решает это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a:t>
            </a:r>
          </a:p>
          <a:p/>
          <a:p>
            <a:r>
              <a:t>Второй шаг — дорогая проверка смыслом, но только на то, что первый шаг не разрешил однозначно. И здесь у нас теперь два измеренных кандидата, а не один: модель-судья, которая реально стоит в собранной цепочке, и jev, который на этом тесте оказался точнее. Мы не меняем архитектуру на основании одного теста на 20 парах одной темы — это слишком тонкое основание, чтобы переписывать уже собранное и прогнанное решение, — но держим в уме, что выбор конкретного инструмента для дорогого шага сам по себе требует проверки, а не выбирается по умолчанию.</a:t>
            </a:r>
          </a:p>
          <a:p/>
          <a:p>
            <a:r>
              <a:t>Это тот же общий приём, что и в первом кейсе этого занятия: модель не убирается, а сдвигается туда, где она реально нужна, — на то, что дешёвый шаг оставил нерешённым.</a:t>
            </a:r>
          </a:p>
          <a:p/>
          <a:p>
            <a:r>
              <a:t>Теперь посмотрим, как оба шага выглядят не как принцип, а как настроенные узлы в реальной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настроенных узла со стенда.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a:t>
            </a:r>
          </a:p>
          <a:p/>
          <a:p>
            <a:r>
              <a:t>Один параметр здесь стоит отдельного внимания, хотя на этом экране он не виден, — это окно времени, за которое мы ищем недавнее обращение того же контакта. Слишком короткое окно пропустит повтор, если человек написал во второй раз не сразу. Слишком длинное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Теперь — второй, дорогой узел, тот, что видит только то, что этот фильтр не разрешил.</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У него один параметр, и это текст промпта: «это новое сообщение: вот этот текст. Недавнее сообщение того же контакта: вот этот текст. Это тот же вопрос, просто сформулированный иначе? Ответь строго «да» или «нет».» Промпт не просит оценить похожесть и не просит процент совпадения — он прямо ставит вопрос, который нас интересует, и просит короткий ответ, который легко обработать дальше по цепочке.</a:t>
            </a:r>
          </a:p>
          <a:p/>
          <a:p>
            <a:r>
              <a:t>Теперь — два настоящих прогона с этого же стенда.</a:t>
            </a:r>
          </a:p>
          <a:p/>
          <a:p>
            <a:r>
              <a:t>Прогон первый: тот же текст дважды. Точное совпадение поймало мгновенно, раньше, чем дело дошло до модели. Заявка не записана, ответа не было — и при этом сам прогон завершился технически успешно. Ничего не сломалось, ничего не упало, просто новой записи не появилось, потому что в ней не было смысла: ответ на этот вопрос уже существует. Зелёный статус здесь — не признак того, что всё сделано, а признак того, что фильтр сработал так, как задумано; и это честная находка сама по себе — «успешно» не значит «результат там, где его ждут».</a:t>
            </a:r>
          </a:p>
          <a:p/>
          <a:p>
            <a:r>
              <a:t>Прогон второй: та самая пара Бориса. «Когда можно оплатить занятие?» и следом, через время, «как мне внести оплату за курс». Дешёвый фильтр не разрешил это однозначно: строки разные. Запрос дошёл до узла-модели, модель получила оба текста — новый и недавний. Ответ — «да», тот же вопрос, просто сформулированный иначе.</a:t>
            </a:r>
          </a:p>
          <a:p/>
          <a:p>
            <a:r>
              <a:t>Обратите внимание, где именно модель оказалась полезна: ровно там, где на разборе мы посчитали, что у хэша и у классического векторного подхода на этой же паре — ноль. Там, где механическое сравнение слепо в принципе, проверка смыслом дала верный ответ.</a:t>
            </a:r>
          </a:p>
          <a:p/>
          <a:p>
            <a:r>
              <a:t>На экране перед вами оба результата без единого служебного идентификатора — важны тексты заявок и ответ модели, не номер прогона на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просто не гарантирует прироста — он может быть измеримо хуже.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окно времени само по себе параметр с ценой. Слишком короткое окно — и повтор, который человек прислал через день, а не через пару минут, проверка пропустит: формально это уже «не недавнее» обращение. Слишком длинное окно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три ложных срабатывания из двадцати, не ноль, и хотя бы одно из них не объясняется совпадением слов в вопросах — модель ошиблась на паре без единого общего слова.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три ложных срабатывания из двадцати, пятнадцать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Светланы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Светланы и Бориса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пересказ и не вывод, а буквальный текст, который лежит в промпте уже месяц: «не возвращай больше 3000 рублей автоматически, иначе эскалируй руководителю». Коротко, конкретно, и на первый взгляд совершенно однозначно — число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бизнес-кейсу с похожей историей на другом масштабе,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 запрос к модели попадает сразу два смысла: правило целиком текстом — «не возвращай больше 3000 рублей автоматически, иначе эскалируй руководителю» — и сумма из заявки. Модель читает это одним куском и отвечает одним словом: «одобрить» или «эскалировать». Внутри этого запроса происходит сразу три операции сразу: прочитать сумму, сравнить её с порогом, сформулировать ответ — и все три модель делает сама, без какой-либо проверки снаружи.</a:t>
            </a:r>
          </a:p>
          <a:p/>
          <a:p>
            <a:r>
              <a:t>Дальше развилка простая. «Одобрить» — возврат оформляется без участия человека.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Пять карточек, и это пять разных действий с процессом, не пять мнений о модели.</a:t>
            </a:r>
          </a:p>
          <a:p/>
          <a:p>
            <a:r>
              <a:t>Первая — написать правило яснее в самом промте: переформулировать текст, добавить примеры, уточнить формулировку условия.</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новая по сравнению с тем, что мы обсуждали в прошлых кейсах, — сделать сумму явным числовым полем формы: не писать её внутри свободного текста заявки, а собирать цифрами сразу на входе, в отдельном поле.</a:t>
            </a:r>
          </a:p>
          <a:p/>
          <a:p>
            <a:r>
              <a:t>Пятая — прогнать один и тот же запрос несколько раз и взять решение по большинству голосов.</a:t>
            </a:r>
          </a:p>
          <a:p/>
          <a:p>
            <a:r>
              <a:t>Как и в прошлых кейсах: здесь нет одного очевидно неправильного варианта среди остальных. Все пять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Три из пяти действий меняют ЧТО-ТО в том, как модель принимает решение, — переформулировку, инструмент, повторный прогон.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и сразу скажу: ни одно из них не глупость, у каждого есть своя логика. Разница между ними — в том, что именно каждое устраняет.</a:t>
            </a:r>
          </a:p>
          <a:p/>
          <a:p>
            <a:r>
              <a:t>Написать правило яснее. Это самое дешёвое действие — поменять формулировку в тексте промта, добавить пример, уточнить словами. Оно может снизить частоту ошибки: модель начнёт реже путаться. Но оно ничего не меняет структурно: решение всё равно принимает текстовый вызов модели, и у него по-прежнему есть вероятность ошибиться — просто немного ниже.</a:t>
            </a:r>
          </a:p>
          <a:p/>
          <a:p>
            <a:r>
              <a:t>Дать модели инструмент-калькулятор. Это шаг вперёд: модель не сравнивает числа «в уме», а вызывает отдельную функцию. Звучит надёжно, но вероятностность здесь не исчезает — она переезжает на шаг раньше. Теперь неопределённость в том, вызовет ли модель этот калькулятор вообще, и в том, как она передаст в него значения. Решение осталось вероятностным, просто в другой точке.</a:t>
            </a:r>
          </a:p>
          <a:p/>
          <a:p>
            <a:r>
              <a:t>Поставить </a:t>
            </a:r>
            <a:r>
              <a:rPr>
                <a:latin typeface="Consolas"/>
              </a:rPr>
              <a:t>IF</a:t>
            </a:r>
            <a:r>
              <a:t>-узел после извлечения суммы. Вот это меняет саму точку решения: сумму достаёт модель, а сравнивает её с порогом — код. Сравнение числа с числом в коде не ошибается по той причине, по которой ошибается текстовый вызов: оно не читает смысл, оно сравнивает значения.</a:t>
            </a:r>
          </a:p>
          <a:p/>
          <a:p>
            <a:r>
              <a:t>Сделать сумму явным числовым полем формы — новое действие по сравнению с тем, что мы обсуждали раньше. Если человек вводит сумму цифрами в отдельное поле, модели вообще не нужно её извлекать из текста — неопределённость просто не возникает там, откуда она сегодня приходит. Но у этого действия есть собственный предел: оно работает только если форму самого запроса можно менять. Если источник — письмо или чат, а не наша форма, извлекать сумму из текста всё равно придётся.</a:t>
            </a:r>
          </a:p>
          <a:p/>
          <a:p>
            <a:r>
              <a:t>И последнее, прогнать несколько раз и взять большинство голосов — оно звучит как разумная защита от случайной ошибки, но бессильно именно против систематической. Если модель раз за разом одинаково неверно трактует саму границу условия, голосование просто размножит ту же неверную интерпретацию — большинство голосов будет неправильным большинством.</a:t>
            </a:r>
          </a:p>
          <a:p/>
          <a:p>
            <a:r>
              <a:t>Прежде чем выбирать между действиями, которые устраняют вероятностность по-настоящему, стоит сначала узнать, насколько плохо дело сейчас и где именно версия 1 ошибается. Это не спор,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 Отсутствие жалоб — это отсутствие сигналов такого рода, не отсутствие ошибок.</a:t>
            </a:r>
          </a:p>
          <a:p/>
          <a:p>
            <a:r>
              <a:t>Дальше — как собран тестовый набор. Пятьдесят сумм, и они не взяты наугад в момент прогона: набор сгенерирован один раз с зафиксированным стартовым значением генератора случайных чисел, так что при повторной генерации получится тот же самый набор, не другой. Это важно для честности замера: число ошибок не зависит от того, в какой момент мы его считали.</a:t>
            </a:r>
          </a:p>
          <a:p/>
          <a:p>
            <a:r>
              <a:t>Внутри набора — два разных по смыслу кластера. Двадцать пять сумм — от тысячи до трёх тысяч рублей включительно, и внутри этой группы есть плотная группировка прямо у самой границы: две тысячи девятьсот, две тысячи девятьсот пятьдесят, две тысячи девятьсот девяносто, две тысячи девятьсот девяносто девять, и ровно три тысячи — причём эта точная сумма встречается в наборе трижды, намеренно, чтобы граничный случай был статистически весомым, а не одной случайной строкой. Вторые двадцать пять — суммы явно выше порога, от трёх тысяч двухсот до девяти тысяч, разбросанные широко и без кластера у границы: это контрольная группа, для которой правильный ответ очевиден, «эскалировать», и на ней проверяется, что модель не ошибается там, где ошибаться совсем не должна.</a:t>
            </a:r>
          </a:p>
          <a:p/>
          <a:p>
            <a:r>
              <a:t>И последняя важная деталь метода: ни одна сумма не передаётся модели голым числом. Каждая вставлена в один из четырёх реалистичных шаблонов фразы запроса — «прошу вернуть сумму за пропущенное занятие», «хочу вернуть сумму, курс не подошёл» и подобные — чтобы модель реально извлекала число из обычного текста заявки, как это происходит на практике, а не получала готовое значение в чистом виде. Плюс один ручной тест сверху — всего пятьдесят один прогон.</a:t>
            </a:r>
          </a:p>
          <a:p/>
          <a:p>
            <a:r>
              <a:t>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 — одобрить, если сумма не больше трёх тысяч, иначе эскалировать. Это и есть критерий, по которому дальше считается число ошибок.</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которое мы только что спроектировали. Пятьдесят один прогон, и у версии один — три ошибки.</a:t>
            </a:r>
          </a:p>
          <a:p/>
          <a:p>
            <a:r>
              <a:t>Первое, на что стоит обратить внимание: не три ошибки из пятидесяти одного где-то по диапазону, а три ошибки, и все три — на одной и той же сумме. Ровно на пороге, на трёх тысячах рублей. На любой сумме строго выше трёх тысяч — ноль ошибок. На любой сумме строго ниже — тоже ноль. Модель справляется с «очевидно много» и с «очевидно мало» идеально, во всех случаях без исключения.</a:t>
            </a:r>
          </a:p>
          <a:p/>
          <a:p>
            <a:r>
              <a:t>Второе, и это главное: что именно произошло на границе. Правило в промте сформулировано как «не возвращай больше 3000 рублей автоматически» — а это по смыслу значит, что сама сумма в три тысячи ещё укладывается в условие, её можно одобрить. Модель на этой самой сумме отвечала «эскалировать» — то есть трактовала границу в противоположную сторону от той, что подразумевает текст правила.</a:t>
            </a:r>
          </a:p>
          <a:p/>
          <a:p>
            <a:r>
              <a:t>И третье, самое важное для того, что мы будем делать дальше: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модель безупречна.</a:t>
            </a:r>
          </a:p>
          <a:p/>
          <a:p>
            <a:r>
              <a:t>Разница между «случайная ошибка» и «систематическая ошибка на границе» решает, какое из пяти действий, которые мы только что разбирали, реально нужно. Против случайного шума годится многое, включая голосование большинством. Против систематической ошибки на границе голосование не поможет — оно просто повторит ту же неверную трактовку снова и снова. Нужно что-то, что меняет саму точку, где принимается решение. Это и есть то, что мы соберём следующим тактом.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ошибки, которые мы только что нашли, сидели не где-то в случайном месте цепочки — они сидели ровно в одной точке: там, где принимается решение «одобрить» или «эскалировать».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и которую мы только что измерили.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три ошибки.</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Следующий экран — как этот </a:t>
            </a:r>
            <a:r>
              <a:rPr>
                <a:latin typeface="Consolas"/>
              </a:rPr>
              <a:t>IF</a:t>
            </a:r>
            <a:r>
              <a:t>-узел выглядит в настоящей настройке, и рядом — промпт версии один для контраста: один и тот же шаг цепочки, решение принимается принципиально по-разному.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промптом версии один, который он заменил. Контраст виден сразу, и ради него стоило положить обе формулировки на один экран.</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промпт версии один, тот самый, что был на сцене. Обратите внимание, что в нём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три раза из пятидесяти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таблица: как эти две версии реально сработали на том самом тесте, который нашёл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набор из пятидесяти одного запроса, который мы спроектировали несколькими экранами назад и на котором нашли три ошибки версии один. Версия два прогнана ровно на нём же.</a:t>
            </a:r>
          </a:p>
          <a:p/>
          <a:p>
            <a:r>
              <a:t>Первая строка — число ошибок. Версия один — три из пятидесяти одного. Версия два — ноль. Не «меньше», а ноль на том же наборе, который специально построен с плотным кластером сумм прямо у границы,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версия один отвечала «эскалировать», хотя правило, если его прочитать внимательно — «не возвращай больше 3000 рублей» —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 и трёхтысячная сумма этому условию не удовлетворяет — значит, идёт по ветке «одобрить».</a:t>
            </a:r>
          </a:p>
          <a:p/>
          <a:p>
            <a:r>
              <a:t>Третья строка — вне границы обе версии безупречны. Это стоит сказать прямо, без преувеличения: версия один не была плохой почти везде.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тесте, который эту находку дал.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пяти карточек вопроса. Дать модели инструмент для сравнения чисел — это не то же самое, что поставить </a:t>
            </a:r>
            <a:r>
              <a:rPr>
                <a:latin typeface="Consolas"/>
              </a:rPr>
              <a:t>IF</a:t>
            </a:r>
            <a:r>
              <a:t>-узел после извлечения. Вероятностность не исчезает, она просто переезжает на шаг раньше: теперь неопределённость в том, вызовет ли модель этот калькулятор вообще и правильно ли передаст в него оба значения. Инструмент у модели — не гарантия, а перенос проблемы.</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пятую карточку вопроса, которую мы обсуждали, —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три из пятидесяти одного, и ровно в одной точке, на границе условия, не где попало. Решение, отданное алгоритмическому гейту на том же самом тесте, — ноль из пятидесяти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Цифры на экране — не оценки журналистов, а прямые данные из отчётности перед SEC: списание стоимости запасов домов составило $304,4 млн за один квартал и $407,9 млн за весь год, штат сократили примерно на четверть, около двух тысяч человек. Только за третий квартал 2021 года компания купила 9680 домов, а продать успела лишь 3032 — средний убыток на каждый проданный дом составил около $80 000.</a:t>
            </a:r>
          </a:p>
          <a:p/>
          <a:p>
            <a:r>
              <a:t>Мы разбираем этот кейс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окна проверки. А вопрос, который мы зададим залу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окна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окна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окно контроля, которое могло бы это остановить.</a:t>
            </a:r>
          </a:p>
          <a:p/>
          <a:p>
            <a:r>
              <a:t>Разница между архивом и окном контроля — не стилистическая тонкость. Архив говорит правду только после того, как цена ошибки уже реализовалась. Окно контроля могло бы остановить закупку по сегменту, пока убыток ещё маленький. У Zillow был только архив.</a:t>
            </a:r>
          </a:p>
          <a:p/>
          <a:p>
            <a:r>
              <a:t>На следующих двух экранах — вопрос залу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окна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окна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окно,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окна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окно,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сводятся не к четырём разным ответам, а к двум разным классам задачи, и это главная находка кейса.</a:t>
            </a:r>
          </a:p>
          <a:p/>
          <a:p>
            <a:r>
              <a:t>Первая и вторая карточки — проверить размер и формат, проверить, что файл открывается без ошибок, — обе про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про другой класс требования: смысловое, или по содержанию. Технически исправный файл может быть битой заглушкой, чужим изображением или пустым кадром — ни одно из этих состояний не ловится проверкой размера или формата. Единственный инструмент, который способен оценить, что на картинке, — модель с распознаванием изображений, и этот уровень сегодня не покрыт вовсе: в нашей цепочке такого шага нет.</a:t>
            </a:r>
          </a:p>
          <a:p/>
          <a:p>
            <a:r>
              <a:t>Четвёртая карточка — ничего не проверять — это ровно то, что произошло в сцене кейса: прогон зелёный, узел отправки получил положительный ответ, а результат у получателя не совпал с ожиданием. Доверие к тому, что узел отправки сам разберётся, не покрывает ни один из двух классов требований.</a:t>
            </a:r>
          </a:p>
          <a:p/>
          <a:p>
            <a:r>
              <a:t>Отдельный пример, почему эти два класса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a:t>
            </a:r>
          </a:p>
          <a:p/>
          <a:p>
            <a:r>
              <a:t>Это тот же урок, что мы уже видели в «Уведомлениях» и в Zillow, перенесённый на картинку: механические требования к файлу — задача кода; требования к содержимому — задача, которая нуждается в модели, а не отсутствие задачи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s8.png"/>
          <p:cNvPicPr>
            <a:picLocks noChangeAspect="1"/>
          </p:cNvPicPr>
          <p:nvPr/>
        </p:nvPicPr>
        <p:blipFill>
          <a:blip r:embed="rId2"/>
          <a:stretch>
            <a:fillRect/>
          </a:stretch>
        </p:blipFill>
        <p:spPr>
          <a:xfrm>
            <a:off x="502920" y="1076439"/>
            <a:ext cx="11183112" cy="3494722"/>
          </a:xfrm>
          <a:prstGeom prst="rect">
            <a:avLst/>
          </a:prstGeom>
        </p:spPr>
      </p:pic>
      <p:sp>
        <p:nvSpPr>
          <p:cNvPr id="4" name="Rounded Rectangle 3"/>
          <p:cNvSpPr/>
          <p:nvPr/>
        </p:nvSpPr>
        <p:spPr>
          <a:xfrm>
            <a:off x="502920" y="5068462"/>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5196478"/>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Это тот же процесс, с которым вы ушли с прошлого занятия. Сегодня мы не чиним в нём ничего — мы задаём каждому новому шагу, который он получит, один и тот же вопрос: это решает модель, или это должен решать код?</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отдельный шаг сочиняет текст</a:t>
            </a:r>
          </a:p>
        </p:txBody>
      </p:sp>
      <p:sp>
        <p:nvSpPr>
          <p:cNvPr id="3" name="Rounded Rectangle 2"/>
          <p:cNvSpPr/>
          <p:nvPr/>
        </p:nvSpPr>
        <p:spPr>
          <a:xfrm>
            <a:off x="502920" y="11296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77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просила Марина, буквально.</a:t>
            </a:r>
            <a:r>
              <a:rPr sz="1500" b="1" i="0">
                <a:solidFill>
                  <a:srgbClr val="141B2E"/>
                </a:solidFill>
                <a:latin typeface="Arial"/>
              </a:rPr>
              <a:t> «Новая заявка от Марии: тема «курс», также упомянуто: оплата.» — три значения (имя, основная тема, дополнительные темы) в одну читаемую строку, без необходимости открывать экран результата.</a:t>
            </a:r>
          </a:p>
        </p:txBody>
      </p:sp>
      <p:sp>
        <p:nvSpPr>
          <p:cNvPr id="5" name="Rounded Rectangle 4"/>
          <p:cNvSpPr/>
          <p:nvPr/>
        </p:nvSpPr>
        <p:spPr>
          <a:xfrm>
            <a:off x="502920" y="27430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8711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a:t>
            </a:r>
            <a:r>
              <a:rPr sz="1500" b="1" i="0">
                <a:solidFill>
                  <a:srgbClr val="141B2E"/>
                </a:solidFill>
                <a:latin typeface="Arial"/>
              </a:rPr>
              <a:t> К цепочке добавлен отдельный узел-модель. На вход он получает те же три уже извлечённых значения — и сочиняет текст уведомления «по-человечески», свободно, не по заданной форме.</a:t>
            </a:r>
          </a:p>
        </p:txBody>
      </p:sp>
      <p:sp>
        <p:nvSpPr>
          <p:cNvPr id="7" name="Rounded Rectangle 6"/>
          <p:cNvSpPr/>
          <p:nvPr/>
        </p:nvSpPr>
        <p:spPr>
          <a:xfrm>
            <a:off x="502920" y="435650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48452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показала практика.</a:t>
            </a:r>
            <a:r>
              <a:rPr sz="1500" b="1" i="0">
                <a:solidFill>
                  <a:srgbClr val="141B2E"/>
                </a:solidFill>
                <a:latin typeface="Arial"/>
              </a:rPr>
              <a:t> Сообщения каждый раз звучат по-разному — само по себе не проблема. Проблема в другом: на одной из реальных заявок (у Олега) модель вставила в текст буквальный текст-плейсхолдер </a:t>
            </a:r>
            <a:r>
              <a:rPr sz="1500" b="1" i="0">
                <a:solidFill>
                  <a:srgbClr val="141B2E"/>
                </a:solidFill>
                <a:latin typeface="Arial"/>
              </a:rPr>
              <a:t>«[Имя координатора]»</a:t>
            </a:r>
            <a:r>
              <a:rPr sz="1500" b="1" i="0">
                <a:solidFill>
                  <a:srgbClr val="141B2E"/>
                </a:solidFill>
                <a:latin typeface="Arial"/>
              </a:rPr>
              <a:t> — слова из шаблона собственной инструкции, которые должна была заменить настоящим содержанием, а вместо этого напечатала как есть. Сообщение не упало и технически отправилось успешно — просто то, что в нём написано, разошлось с тем, что должно было там быть.</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1552244"/>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5124"/>
            <a:ext cx="14612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293340" y="1735124"/>
            <a:ext cx="3921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361087" y="1735124"/>
            <a:ext cx="4995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 / ОГРАНИЧЕНИЕ</a:t>
            </a:r>
          </a:p>
        </p:txBody>
      </p:sp>
      <p:sp>
        <p:nvSpPr>
          <p:cNvPr id="7" name="TextBox 6"/>
          <p:cNvSpPr txBox="1"/>
          <p:nvPr/>
        </p:nvSpPr>
        <p:spPr>
          <a:xfrm>
            <a:off x="685800" y="2017191"/>
            <a:ext cx="146123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8" name="TextBox 7"/>
          <p:cNvSpPr txBox="1"/>
          <p:nvPr/>
        </p:nvSpPr>
        <p:spPr>
          <a:xfrm>
            <a:off x="2293340" y="2017191"/>
            <a:ext cx="3921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делает это, но без необходимости: все три значения уже извлечены на предыдущем шаге цепочки</a:t>
            </a:r>
          </a:p>
        </p:txBody>
      </p:sp>
      <p:sp>
        <p:nvSpPr>
          <p:cNvPr id="9" name="TextBox 8"/>
          <p:cNvSpPr txBox="1"/>
          <p:nvPr/>
        </p:nvSpPr>
        <p:spPr>
          <a:xfrm>
            <a:off x="6361087" y="2017191"/>
            <a:ext cx="49957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модели нечего интерпретировать — она просто пересказывает уже известное, с риском сочинить лишнюю деталь (видели на практике)</a:t>
            </a:r>
          </a:p>
        </p:txBody>
      </p:sp>
      <p:cxnSp>
        <p:nvCxnSpPr>
          <p:cNvPr id="10" name="Connector 9"/>
          <p:cNvCxnSpPr/>
          <p:nvPr/>
        </p:nvCxnSpPr>
        <p:spPr>
          <a:xfrm>
            <a:off x="685800" y="27294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29471"/>
            <a:ext cx="146123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2" name="TextBox 11"/>
          <p:cNvSpPr txBox="1"/>
          <p:nvPr/>
        </p:nvSpPr>
        <p:spPr>
          <a:xfrm>
            <a:off x="2293340" y="2729471"/>
            <a:ext cx="3921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ровно то, что нужно для этой потребности: все три атрибута уже структурированы, форма сообщения всегда одна</a:t>
            </a:r>
          </a:p>
        </p:txBody>
      </p:sp>
      <p:sp>
        <p:nvSpPr>
          <p:cNvPr id="13" name="TextBox 12"/>
          <p:cNvSpPr txBox="1"/>
          <p:nvPr/>
        </p:nvSpPr>
        <p:spPr>
          <a:xfrm>
            <a:off x="6361087" y="2729471"/>
            <a:ext cx="49957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полное соответствие заданному примеру текста; свободы для вариативности нет вовсе</a:t>
            </a:r>
          </a:p>
        </p:txBody>
      </p:sp>
      <p:cxnSp>
        <p:nvCxnSpPr>
          <p:cNvPr id="14" name="Connector 13"/>
          <p:cNvCxnSpPr/>
          <p:nvPr/>
        </p:nvCxnSpPr>
        <p:spPr>
          <a:xfrm>
            <a:off x="685800" y="36243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24313"/>
            <a:ext cx="146123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6" name="TextBox 15"/>
          <p:cNvSpPr txBox="1"/>
          <p:nvPr/>
        </p:nvSpPr>
        <p:spPr>
          <a:xfrm>
            <a:off x="2293340" y="3624313"/>
            <a:ext cx="3921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если бы один из атрибутов не был извлечён структурно заранее</a:t>
            </a:r>
          </a:p>
        </p:txBody>
      </p:sp>
      <p:sp>
        <p:nvSpPr>
          <p:cNvPr id="17" name="TextBox 16"/>
          <p:cNvSpPr txBox="1"/>
          <p:nvPr/>
        </p:nvSpPr>
        <p:spPr>
          <a:xfrm>
            <a:off x="6361087" y="3624313"/>
            <a:ext cx="49957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срочность — пример такого атрибута — уже есть структурным полем с прошлого занятия; для модели здесь не осталось работы: это решение для другой потребности, не для этой</a:t>
            </a:r>
          </a:p>
        </p:txBody>
      </p:sp>
      <p:cxnSp>
        <p:nvCxnSpPr>
          <p:cNvPr id="18" name="Connector 17"/>
          <p:cNvCxnSpPr/>
          <p:nvPr/>
        </p:nvCxnSpPr>
        <p:spPr>
          <a:xfrm>
            <a:off x="685800" y="4519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19155"/>
            <a:ext cx="146123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0" name="TextBox 19"/>
          <p:cNvSpPr txBox="1"/>
          <p:nvPr/>
        </p:nvSpPr>
        <p:spPr>
          <a:xfrm>
            <a:off x="2293340" y="4519155"/>
            <a:ext cx="3921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риск той же природы, что версия 1 — модель всё равно генерирует текст, просто более короткий кусок</a:t>
            </a:r>
          </a:p>
        </p:txBody>
      </p:sp>
      <p:sp>
        <p:nvSpPr>
          <p:cNvPr id="21" name="TextBox 20"/>
          <p:cNvSpPr txBox="1"/>
          <p:nvPr/>
        </p:nvSpPr>
        <p:spPr>
          <a:xfrm>
            <a:off x="6361087" y="4519155"/>
            <a:ext cx="49957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и риск галлюцинации пропорционально меньше, чем у версии 1, но не исключены вовсе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шаг-модель сочиняет текст</a:t>
            </a:r>
          </a:p>
        </p:txBody>
      </p:sp>
      <p:pic>
        <p:nvPicPr>
          <p:cNvPr id="3" name="Picture 2" descr="k1-shema-s-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блока: форма → извлечение полей → </a:t>
            </a:r>
            <a:r>
              <a:rPr sz="1500" b="1" i="0">
                <a:solidFill>
                  <a:srgbClr val="141B2E"/>
                </a:solidFill>
                <a:latin typeface="Arial"/>
              </a:rPr>
              <a:t>шаг, вызывающий модель на каждый прогон</a:t>
            </a:r>
            <a:r>
              <a:rPr sz="1500" b="1" i="0">
                <a:solidFill>
                  <a:srgbClr val="141B2E"/>
                </a:solidFill>
                <a:latin typeface="Arial"/>
              </a:rPr>
              <a:t> → Telegram. Решение о форме текста принимается заново при каждой заявке.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шаг-шаблон подставляет значения</a:t>
            </a:r>
          </a:p>
        </p:txBody>
      </p:sp>
      <p:pic>
        <p:nvPicPr>
          <p:cNvPr id="3" name="Picture 2" descr="k1-shema-bez-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форма → извлечение полей → </a:t>
            </a:r>
            <a:r>
              <a:rPr sz="1500" b="1" i="0">
                <a:solidFill>
                  <a:srgbClr val="141B2E"/>
                </a:solidFill>
                <a:latin typeface="Arial"/>
              </a:rPr>
              <a:t>подстановка значений в фиксированную форму</a:t>
            </a:r>
            <a:r>
              <a:rPr sz="1500" b="1" i="0">
                <a:solidFill>
                  <a:srgbClr val="141B2E"/>
                </a:solidFill>
                <a:latin typeface="Arial"/>
              </a:rPr>
              <a:t> → Telegram. Решение о форме текста принято один раз, заранее, а не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версия с моделью</a:t>
            </a:r>
          </a:p>
        </p:txBody>
      </p:sp>
      <p:pic>
        <p:nvPicPr>
          <p:cNvPr id="3" name="Picture 2" descr="k1-n8n-versiya1.png"/>
          <p:cNvPicPr>
            <a:picLocks noChangeAspect="1"/>
          </p:cNvPicPr>
          <p:nvPr/>
        </p:nvPicPr>
        <p:blipFill>
          <a:blip r:embed="rId2"/>
          <a:stretch>
            <a:fillRect/>
          </a:stretch>
        </p:blipFill>
        <p:spPr>
          <a:xfrm>
            <a:off x="1328512" y="1004316"/>
            <a:ext cx="9531927"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Arial"/>
              </a:rPr>
              <a:t>«Compose notification (LLM)»</a:t>
            </a:r>
            <a:r>
              <a:rPr sz="1500" b="1" i="0">
                <a:solidFill>
                  <a:srgbClr val="141B2E"/>
                </a:solidFill>
                <a:latin typeface="Arial"/>
              </a:rPr>
              <a:t> получает три уже извлечённых значения и инструкцию «напиши короткое дружелюбное уведомление... одно-два предложения, пиши по-человечески». Текст уходит прямиком в узел отправки в Telegram.</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версия с шаблоном</a:t>
            </a:r>
          </a:p>
        </p:txBody>
      </p:sp>
      <p:pic>
        <p:nvPicPr>
          <p:cNvPr id="3" name="Picture 2" descr="k1-n8n-versiya2.png"/>
          <p:cNvPicPr>
            <a:picLocks noChangeAspect="1"/>
          </p:cNvPicPr>
          <p:nvPr/>
        </p:nvPicPr>
        <p:blipFill>
          <a:blip r:embed="rId2"/>
          <a:stretch>
            <a:fillRect/>
          </a:stretch>
        </p:blipFill>
        <p:spPr>
          <a:xfrm>
            <a:off x="671138" y="1004316"/>
            <a:ext cx="10846675"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Arial"/>
              </a:rPr>
              <a:t>«Compose notification (template)»</a:t>
            </a:r>
            <a:r>
              <a:rPr sz="1500" b="1" i="0">
                <a:solidFill>
                  <a:srgbClr val="141B2E"/>
                </a:solidFill>
                <a:latin typeface="Arial"/>
              </a:rPr>
              <a:t> собирает текст одним выражением: «Новая заявка от [имя]: тема «[тема]»[, также: [доп. темы]].» — значения подставляются в заранее написанную форму. Результат уходит в тот же узел отправки, что и у версии с моделью.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 каждый текстовый вывод — это генерация</a:t>
            </a:r>
          </a:p>
        </p:txBody>
      </p:sp>
      <p:sp>
        <p:nvSpPr>
          <p:cNvPr id="3" name="Rounded Rectangle 2"/>
          <p:cNvSpPr/>
          <p:nvPr/>
        </p:nvSpPr>
        <p:spPr>
          <a:xfrm>
            <a:off x="502920" y="2557119"/>
            <a:ext cx="11183112" cy="1349882"/>
          </a:xfrm>
          <a:prstGeom prst="roundRect">
            <a:avLst>
              <a:gd name="adj" fmla="val 225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39999"/>
            <a:ext cx="82664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ПРИНЦИП</a:t>
            </a:r>
          </a:p>
        </p:txBody>
      </p:sp>
      <p:sp>
        <p:nvSpPr>
          <p:cNvPr id="5" name="TextBox 4"/>
          <p:cNvSpPr txBox="1"/>
          <p:nvPr/>
        </p:nvSpPr>
        <p:spPr>
          <a:xfrm>
            <a:off x="1658751" y="2739999"/>
            <a:ext cx="96980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ЕСЛИ ВСЕ НУЖНЫЕ ЗНАЧЕНИЯ УЖЕ СТРУКТУРИРОВАНЫ И ФОРМА СООБЩЕНИЯ НЕ МЕНЯЕТСЯ ПО СУТИ — ЭТО ЗАДАЧА ФОРМАТИРОВАНИЯ, А НЕ ЗАДАЧА МОДЕЛИ.</a:t>
            </a:r>
          </a:p>
        </p:txBody>
      </p:sp>
      <p:sp>
        <p:nvSpPr>
          <p:cNvPr id="6" name="TextBox 5"/>
          <p:cNvSpPr txBox="1"/>
          <p:nvPr/>
        </p:nvSpPr>
        <p:spPr>
          <a:xfrm>
            <a:off x="685800" y="3194405"/>
            <a:ext cx="82664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 задачи</a:t>
            </a:r>
          </a:p>
        </p:txBody>
      </p:sp>
      <p:sp>
        <p:nvSpPr>
          <p:cNvPr id="7" name="TextBox 6"/>
          <p:cNvSpPr txBox="1"/>
          <p:nvPr/>
        </p:nvSpPr>
        <p:spPr>
          <a:xfrm>
            <a:off x="1658751" y="3194405"/>
            <a:ext cx="96980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Сборка сообщения из уже извлечённых значений по фиксированной форме.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5" name="TextBox 4"/>
          <p:cNvSpPr txBox="1"/>
          <p:nvPr/>
        </p:nvSpPr>
        <p:spPr>
          <a:xfrm>
            <a:off x="685800" y="1486814"/>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6" name="Connector 5"/>
          <p:cNvCxnSpPr/>
          <p:nvPr/>
        </p:nvCxnSpPr>
        <p:spPr>
          <a:xfrm>
            <a:off x="685800" y="180545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05457"/>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8" name="Rounded Rectangle 7"/>
          <p:cNvSpPr/>
          <p:nvPr/>
        </p:nvSpPr>
        <p:spPr>
          <a:xfrm>
            <a:off x="6231636"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0" name="TextBox 9"/>
          <p:cNvSpPr txBox="1"/>
          <p:nvPr/>
        </p:nvSpPr>
        <p:spPr>
          <a:xfrm>
            <a:off x="6414516" y="148681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1" name="Connector 10"/>
          <p:cNvCxnSpPr/>
          <p:nvPr/>
        </p:nvCxnSpPr>
        <p:spPr>
          <a:xfrm>
            <a:off x="6414516" y="197779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97779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3" name="Rounded Rectangle 12"/>
          <p:cNvSpPr/>
          <p:nvPr/>
        </p:nvSpPr>
        <p:spPr>
          <a:xfrm>
            <a:off x="502920" y="355945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68747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5" name="Rounded Rectangle 14"/>
          <p:cNvSpPr/>
          <p:nvPr/>
        </p:nvSpPr>
        <p:spPr>
          <a:xfrm>
            <a:off x="502920" y="510555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356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Заявка от Бориса приходит дважды</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Светлана, администратор учебного центра, открывает таблицу заявок и видит вопрос от Бориса: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Светлана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Борис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 — точное совпадение текста.</a:t>
            </a:r>
            <a:r>
              <a:rPr sz="1500" b="1" i="0">
                <a:solidFill>
                  <a:srgbClr val="141B2E"/>
                </a:solidFill>
                <a:latin typeface="Arial"/>
              </a:rPr>
              <a:t> Нормализовать текст и сравнить с недавними записями того же контакта за окно N часов. Дёшево, без единого вызова модели.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у модели, один ли это вопрос, просто сформулированный иначе</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проверить точное совпадение дёшево, а по модели пускать только то, что осталось</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20 тестовых пар: 10 настоящих дублей (5 буквальных повторов + 5 перефразировок вроде пары Бориса) и 10 заведомо разных вопросов, 3 из них — на близкую тему, для честной проверки ложных срабатываний.</a:t>
            </a:r>
          </a:p>
        </p:txBody>
      </p:sp>
      <p:sp>
        <p:nvSpPr>
          <p:cNvPr id="5" name="Rounded Rectangle 4"/>
          <p:cNvSpPr/>
          <p:nvPr/>
        </p:nvSpPr>
        <p:spPr>
          <a:xfrm>
            <a:off x="502920" y="1838960"/>
            <a:ext cx="11183112" cy="2806065"/>
          </a:xfrm>
          <a:prstGeom prst="roundRect">
            <a:avLst>
              <a:gd name="adj" fmla="val 1086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21840"/>
            <a:ext cx="2414760"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СХЕМА</a:t>
            </a:r>
          </a:p>
        </p:txBody>
      </p:sp>
      <p:sp>
        <p:nvSpPr>
          <p:cNvPr id="7" name="TextBox 6"/>
          <p:cNvSpPr txBox="1"/>
          <p:nvPr/>
        </p:nvSpPr>
        <p:spPr>
          <a:xfrm>
            <a:off x="3246864" y="2021840"/>
            <a:ext cx="610910"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ВЕРНО ИЗ 20</a:t>
            </a:r>
          </a:p>
        </p:txBody>
      </p:sp>
      <p:sp>
        <p:nvSpPr>
          <p:cNvPr id="8" name="TextBox 7"/>
          <p:cNvSpPr txBox="1"/>
          <p:nvPr/>
        </p:nvSpPr>
        <p:spPr>
          <a:xfrm>
            <a:off x="4004079" y="2021840"/>
            <a:ext cx="218653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ПОЙМАЛА</a:t>
            </a:r>
          </a:p>
        </p:txBody>
      </p:sp>
      <p:sp>
        <p:nvSpPr>
          <p:cNvPr id="9" name="TextBox 8"/>
          <p:cNvSpPr txBox="1"/>
          <p:nvPr/>
        </p:nvSpPr>
        <p:spPr>
          <a:xfrm>
            <a:off x="6336915" y="2021840"/>
            <a:ext cx="501993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ПРОПУСТИЛА / ГДЕ ОШИБЛАСЬ</a:t>
            </a:r>
          </a:p>
        </p:txBody>
      </p:sp>
      <p:sp>
        <p:nvSpPr>
          <p:cNvPr id="10" name="TextBox 9"/>
          <p:cNvSpPr txBox="1"/>
          <p:nvPr/>
        </p:nvSpPr>
        <p:spPr>
          <a:xfrm>
            <a:off x="685800" y="2416302"/>
            <a:ext cx="241476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Точное совпадение (хэш)</a:t>
            </a:r>
          </a:p>
        </p:txBody>
      </p:sp>
      <p:sp>
        <p:nvSpPr>
          <p:cNvPr id="11" name="TextBox 10"/>
          <p:cNvSpPr txBox="1"/>
          <p:nvPr/>
        </p:nvSpPr>
        <p:spPr>
          <a:xfrm>
            <a:off x="3246864" y="2416302"/>
            <a:ext cx="61091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15/20</a:t>
            </a:r>
          </a:p>
        </p:txBody>
      </p:sp>
      <p:sp>
        <p:nvSpPr>
          <p:cNvPr id="12" name="TextBox 11"/>
          <p:cNvSpPr txBox="1"/>
          <p:nvPr/>
        </p:nvSpPr>
        <p:spPr>
          <a:xfrm>
            <a:off x="4004079" y="2416302"/>
            <a:ext cx="2186532"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все 5 буквальных повторов, все 10 разных вопросов</a:t>
            </a:r>
          </a:p>
        </p:txBody>
      </p:sp>
      <p:sp>
        <p:nvSpPr>
          <p:cNvPr id="13" name="TextBox 12"/>
          <p:cNvSpPr txBox="1"/>
          <p:nvPr/>
        </p:nvSpPr>
        <p:spPr>
          <a:xfrm>
            <a:off x="6336915" y="2416302"/>
            <a:ext cx="5019932"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все 5 перефразировок — 0 из 5 на них</a:t>
            </a:r>
          </a:p>
        </p:txBody>
      </p:sp>
      <p:cxnSp>
        <p:nvCxnSpPr>
          <p:cNvPr id="14" name="Connector 13"/>
          <p:cNvCxnSpPr/>
          <p:nvPr/>
        </p:nvCxnSpPr>
        <p:spPr>
          <a:xfrm>
            <a:off x="685800" y="28583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8389"/>
            <a:ext cx="2414760" cy="58083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TF-IDF + косинус</a:t>
            </a:r>
            <a:r>
              <a:rPr sz="950" b="0" i="0">
                <a:solidFill>
                  <a:srgbClr val="141B2E"/>
                </a:solidFill>
                <a:latin typeface="Arial"/>
              </a:rPr>
              <a:t> (классический векторный подход, порог 0,3)</a:t>
            </a:r>
          </a:p>
        </p:txBody>
      </p:sp>
      <p:sp>
        <p:nvSpPr>
          <p:cNvPr id="16" name="TextBox 15"/>
          <p:cNvSpPr txBox="1"/>
          <p:nvPr/>
        </p:nvSpPr>
        <p:spPr>
          <a:xfrm>
            <a:off x="3246864" y="2858389"/>
            <a:ext cx="610910" cy="58083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13/20</a:t>
            </a:r>
            <a:r>
              <a:rPr sz="950" b="0" i="0">
                <a:solidFill>
                  <a:srgbClr val="141B2E"/>
                </a:solidFill>
                <a:latin typeface="Arial"/>
              </a:rPr>
              <a:t> — хуже хэша</a:t>
            </a:r>
          </a:p>
        </p:txBody>
      </p:sp>
      <p:sp>
        <p:nvSpPr>
          <p:cNvPr id="17" name="TextBox 16"/>
          <p:cNvSpPr txBox="1"/>
          <p:nvPr/>
        </p:nvSpPr>
        <p:spPr>
          <a:xfrm>
            <a:off x="4004079" y="2858389"/>
            <a:ext cx="2186532"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буквальные повторы, часть разных вопросов</a:t>
            </a:r>
          </a:p>
        </p:txBody>
      </p:sp>
      <p:sp>
        <p:nvSpPr>
          <p:cNvPr id="18" name="TextBox 17"/>
          <p:cNvSpPr txBox="1"/>
          <p:nvPr/>
        </p:nvSpPr>
        <p:spPr>
          <a:xfrm>
            <a:off x="6336915" y="2858389"/>
            <a:ext cx="5019932"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та же пятёрка перефразировок, ПЛЮС 2 ложных срабатывания на вопросах близкой темы — хэш на этих парах не ошибается в принципе</a:t>
            </a:r>
          </a:p>
        </p:txBody>
      </p:sp>
      <p:cxnSp>
        <p:nvCxnSpPr>
          <p:cNvPr id="19" name="Connector 18"/>
          <p:cNvCxnSpPr/>
          <p:nvPr/>
        </p:nvCxnSpPr>
        <p:spPr>
          <a:xfrm>
            <a:off x="685800" y="3439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39223"/>
            <a:ext cx="2414760" cy="58083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Дешёвая модель-судья</a:t>
            </a:r>
            <a:r>
              <a:rPr sz="950" b="0" i="0">
                <a:solidFill>
                  <a:srgbClr val="141B2E"/>
                </a:solidFill>
                <a:latin typeface="Arial"/>
              </a:rPr>
              <a:t> (gpt-4o-mini, прямой вопрос «это тот же вопрос?»)</a:t>
            </a:r>
          </a:p>
        </p:txBody>
      </p:sp>
      <p:sp>
        <p:nvSpPr>
          <p:cNvPr id="21" name="TextBox 20"/>
          <p:cNvSpPr txBox="1"/>
          <p:nvPr/>
        </p:nvSpPr>
        <p:spPr>
          <a:xfrm>
            <a:off x="3246864" y="3439223"/>
            <a:ext cx="610910" cy="58083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17/20</a:t>
            </a:r>
          </a:p>
        </p:txBody>
      </p:sp>
      <p:sp>
        <p:nvSpPr>
          <p:cNvPr id="22" name="TextBox 21"/>
          <p:cNvSpPr txBox="1"/>
          <p:nvPr/>
        </p:nvSpPr>
        <p:spPr>
          <a:xfrm>
            <a:off x="4004079" y="3439223"/>
            <a:ext cx="2186532"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все 10 дублей</a:t>
            </a:r>
          </a:p>
        </p:txBody>
      </p:sp>
      <p:sp>
        <p:nvSpPr>
          <p:cNvPr id="23" name="TextBox 22"/>
          <p:cNvSpPr txBox="1"/>
          <p:nvPr/>
        </p:nvSpPr>
        <p:spPr>
          <a:xfrm>
            <a:off x="6336915" y="3439223"/>
            <a:ext cx="5019932"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3 ложных срабатывания, включая пару без единого общего слова — асимметрия ошибок не объясняется просто совпадением слов</a:t>
            </a:r>
          </a:p>
        </p:txBody>
      </p:sp>
      <p:cxnSp>
        <p:nvCxnSpPr>
          <p:cNvPr id="24" name="Connector 23"/>
          <p:cNvCxnSpPr/>
          <p:nvPr/>
        </p:nvCxnSpPr>
        <p:spPr>
          <a:xfrm>
            <a:off x="685800" y="40200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020058"/>
            <a:ext cx="241476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Сравнение через внешний сервис (jev)</a:t>
            </a:r>
          </a:p>
        </p:txBody>
      </p:sp>
      <p:sp>
        <p:nvSpPr>
          <p:cNvPr id="26" name="TextBox 25"/>
          <p:cNvSpPr txBox="1"/>
          <p:nvPr/>
        </p:nvSpPr>
        <p:spPr>
          <a:xfrm>
            <a:off x="3246864" y="4020058"/>
            <a:ext cx="61091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20/20</a:t>
            </a:r>
          </a:p>
        </p:txBody>
      </p:sp>
      <p:sp>
        <p:nvSpPr>
          <p:cNvPr id="27" name="TextBox 26"/>
          <p:cNvSpPr txBox="1"/>
          <p:nvPr/>
        </p:nvSpPr>
        <p:spPr>
          <a:xfrm>
            <a:off x="4004079" y="4020058"/>
            <a:ext cx="2186532"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все 10 дублей и все 10 разных вопросов — без единой ошибки</a:t>
            </a:r>
          </a:p>
        </p:txBody>
      </p:sp>
      <p:sp>
        <p:nvSpPr>
          <p:cNvPr id="28" name="TextBox 27"/>
          <p:cNvSpPr txBox="1"/>
          <p:nvPr/>
        </p:nvSpPr>
        <p:spPr>
          <a:xfrm>
            <a:off x="6336915" y="4020058"/>
            <a:ext cx="5019932"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ни одной: разделение чистое (0,02–0,08 на разных, 0,70–0,97 на дублях)</a:t>
            </a:r>
          </a:p>
        </p:txBody>
      </p:sp>
      <p:sp>
        <p:nvSpPr>
          <p:cNvPr id="29" name="Rounded Rectangle 28"/>
          <p:cNvSpPr/>
          <p:nvPr/>
        </p:nvSpPr>
        <p:spPr>
          <a:xfrm>
            <a:off x="502920" y="4809617"/>
            <a:ext cx="82296" cy="14081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4937633"/>
            <a:ext cx="10643616" cy="11521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Честная находка.</a:t>
            </a:r>
            <a:r>
              <a:rPr sz="1200" b="1" i="0">
                <a:solidFill>
                  <a:srgbClr val="141B2E"/>
                </a:solidFill>
                <a:latin typeface="Arial"/>
              </a:rPr>
              <a:t> При пороге 0,3 классический подход не просто не даёт прироста — добавляет 2 ложных срабатывания там, где хэш не ошибается в принципе. Поднять порог до значения, которое убрало бы эти ложные срабатывания, не помогает поймать ни одну перефразировку: лучшее, что даёт настройка порога на этом наборе, — сравняться с хэшем, а не превзойти его. И вторая честная находка: лучший результат на этом тесте дал не самый очевидный кандидат — узкий специализированный сервис обошёл универсальную модель-судью, но одного измерения на 20 парах недостаточно, чтобы на этом основании менять уже работающую архитектуру.</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Сравнение схем на одном тесте</a:t>
            </a:r>
          </a:p>
        </p:txBody>
      </p:sp>
      <p:pic>
        <p:nvPicPr>
          <p:cNvPr id="3" name="Picture 2" descr="k2-shema-sravnenie.png"/>
          <p:cNvPicPr>
            <a:picLocks noChangeAspect="1"/>
          </p:cNvPicPr>
          <p:nvPr/>
        </p:nvPicPr>
        <p:blipFill>
          <a:blip r:embed="rId2"/>
          <a:stretch>
            <a:fillRect/>
          </a:stretch>
        </p:blipFill>
        <p:spPr>
          <a:xfrm>
            <a:off x="1625106" y="943356"/>
            <a:ext cx="8938738"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Фигура: карточки — точное совпадение (хэш) 15/20, классический векторный подход (TF-IDF-косинус) 13/20, дешёвая модель-судья 17/20, внешний сервис (jev) 20/20, на одних и тех же 20 тестовых парах. Внизу подпись: числа — измерение, не предположение.</a:t>
            </a:r>
          </a:p>
        </p:txBody>
      </p:sp>
      <p:sp>
        <p:nvSpPr>
          <p:cNvPr id="6" name="Rounded Rectangle 5"/>
          <p:cNvSpPr/>
          <p:nvPr/>
        </p:nvSpPr>
        <p:spPr>
          <a:xfrm>
            <a:off x="502920" y="514935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Архитектурное решение.</a:t>
            </a:r>
            <a:r>
              <a:rPr sz="1200" b="1" i="0">
                <a:solidFill>
                  <a:srgbClr val="141B2E"/>
                </a:solidFill>
                <a:latin typeface="Arial"/>
              </a:rPr>
              <a:t> Дешёвый, механический шаг идёт первым и берёт на себя всё, что решается без модели. Всё, что он не разрешил однозначно, передаётся дорогому шагу — проверке смыслом. Дорогой шаг не стоит вместо дешёвого и не стоит рядом с ним на каждый прогон — он стоит дальше по цепочке и включается только там, где первый шаг явно не дал ответа.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png"/>
          <p:cNvPicPr>
            <a:picLocks noChangeAspect="1"/>
          </p:cNvPicPr>
          <p:nvPr/>
        </p:nvPicPr>
        <p:blipFill>
          <a:blip r:embed="rId2"/>
          <a:stretch>
            <a:fillRect/>
          </a:stretch>
        </p:blipFill>
        <p:spPr>
          <a:xfrm>
            <a:off x="1132846" y="943356"/>
            <a:ext cx="9923258" cy="3101018"/>
          </a:xfrm>
          <a:prstGeom prst="rect">
            <a:avLst/>
          </a:prstGeom>
        </p:spPr>
      </p:pic>
      <p:sp>
        <p:nvSpPr>
          <p:cNvPr id="4" name="Rounded Rectangle 3"/>
          <p:cNvSpPr/>
          <p:nvPr/>
        </p:nvSpPr>
        <p:spPr>
          <a:xfrm>
            <a:off x="502920" y="420896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3698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309294"/>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37310"/>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t>
            </a:r>
            <a:r>
              <a:rPr sz="1250" b="1" i="0">
                <a:solidFill>
                  <a:srgbClr val="141B2E"/>
                </a:solidFill>
                <a:latin typeface="Consolas"/>
              </a:rPr>
              <a:t>Exact</a:t>
            </a:r>
            <a:r>
              <a:rPr sz="1250" b="1" i="0">
                <a:solidFill>
                  <a:srgbClr val="141B2E"/>
                </a:solidFill>
                <a:latin typeface="Arial"/>
              </a:rPr>
              <a:t> </a:t>
            </a:r>
            <a:r>
              <a:rPr sz="1250" b="1" i="0">
                <a:solidFill>
                  <a:srgbClr val="141B2E"/>
                </a:solidFill>
                <a:latin typeface="Consolas"/>
              </a:rPr>
              <a:t>duplicate</a:t>
            </a:r>
            <a:r>
              <a:rPr sz="1250" b="1" i="0">
                <a:solidFill>
                  <a:srgbClr val="141B2E"/>
                </a:solidFill>
                <a:latin typeface="Arial"/>
              </a:rPr>
              <a:t> </a:t>
            </a:r>
            <a:r>
              <a:rPr sz="1250" b="1" i="0">
                <a:solidFill>
                  <a:srgbClr val="141B2E"/>
                </a:solidFill>
                <a:latin typeface="Consolas"/>
              </a:rPr>
              <a:t>in</a:t>
            </a:r>
            <a:r>
              <a:rPr sz="1250" b="1" i="0">
                <a:solidFill>
                  <a:srgbClr val="141B2E"/>
                </a:solidFill>
                <a:latin typeface="Arial"/>
              </a:rPr>
              <a:t> </a:t>
            </a:r>
            <a:r>
              <a:rPr sz="1250" b="1" i="0">
                <a:solidFill>
                  <a:srgbClr val="141B2E"/>
                </a:solidFill>
                <a:latin typeface="Consolas"/>
              </a:rPr>
              <a:t>window?</a:t>
            </a:r>
            <a:r>
              <a:rPr sz="1250" b="1" i="0">
                <a:solidFill>
                  <a:srgbClr val="141B2E"/>
                </a:solidFill>
                <a:latin typeface="Arial"/>
              </a:rPr>
              <a:t> (</a:t>
            </a:r>
            <a:r>
              <a:rPr sz="1250" b="1" i="0">
                <a:solidFill>
                  <a:srgbClr val="141B2E"/>
                </a:solidFill>
                <a:latin typeface="Consolas"/>
              </a:rPr>
              <a:t>IF</a:t>
            </a:r>
            <a:r>
              <a:rPr sz="1250" b="1" i="0">
                <a:solidFill>
                  <a:srgbClr val="141B2E"/>
                </a:solidFill>
                <a:latin typeface="Arial"/>
              </a:rPr>
              <a:t>).</a:t>
            </a:r>
            <a:r>
              <a:rPr sz="1250" b="1" i="0">
                <a:solidFill>
                  <a:srgbClr val="141B2E"/>
                </a:solidFill>
                <a:latin typeface="Arial"/>
              </a:rPr>
              <a:t> Условие: </a:t>
            </a:r>
            <a:r>
              <a:rPr sz="1250" b="1" i="0">
                <a:solidFill>
                  <a:srgbClr val="141B2E"/>
                </a:solidFill>
                <a:latin typeface="Consolas"/>
              </a:rPr>
              <a:t>normalized_hash</a:t>
            </a:r>
            <a:r>
              <a:rPr sz="125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узел-модель спрашивает напрямую</a:t>
            </a:r>
          </a:p>
        </p:txBody>
      </p:sp>
      <p:pic>
        <p:nvPicPr>
          <p:cNvPr id="3" name="Picture 2" descr="k2-n8n-llm-provexa.png"/>
          <p:cNvPicPr>
            <a:picLocks noChangeAspect="1"/>
          </p:cNvPicPr>
          <p:nvPr/>
        </p:nvPicPr>
        <p:blipFill>
          <a:blip r:embed="rId2"/>
          <a:stretch>
            <a:fillRect/>
          </a:stretch>
        </p:blipFill>
        <p:spPr>
          <a:xfrm>
            <a:off x="2655831" y="943356"/>
            <a:ext cx="6877288" cy="2407050"/>
          </a:xfrm>
          <a:prstGeom prst="rect">
            <a:avLst/>
          </a:prstGeom>
        </p:spPr>
      </p:pic>
      <p:sp>
        <p:nvSpPr>
          <p:cNvPr id="4" name="Rounded Rectangle 3"/>
          <p:cNvSpPr/>
          <p:nvPr/>
        </p:nvSpPr>
        <p:spPr>
          <a:xfrm>
            <a:off x="502920" y="3514998"/>
            <a:ext cx="82296" cy="604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43014"/>
            <a:ext cx="10643616" cy="348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Промпт узла </a:t>
            </a:r>
            <a:r>
              <a:rPr sz="1100" b="1" i="0">
                <a:solidFill>
                  <a:srgbClr val="141B2E"/>
                </a:solidFill>
                <a:latin typeface="Consolas"/>
              </a:rPr>
              <a:t>Same</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a:t>
            </a:r>
            <a:r>
              <a:rPr sz="1100" b="1" i="0">
                <a:solidFill>
                  <a:srgbClr val="141B2E"/>
                </a:solidFill>
                <a:latin typeface="Consolas"/>
              </a:rPr>
              <a:t>reworded?</a:t>
            </a:r>
            <a:r>
              <a:rPr sz="1100" b="1" i="0">
                <a:solidFill>
                  <a:srgbClr val="141B2E"/>
                </a:solidFill>
                <a:latin typeface="Arial"/>
              </a:rPr>
              <a:t> (</a:t>
            </a:r>
            <a:r>
              <a:rPr sz="1100" b="1" i="0">
                <a:solidFill>
                  <a:srgbClr val="141B2E"/>
                </a:solidFill>
                <a:latin typeface="Consolas"/>
              </a:rPr>
              <a:t>chainLlm</a:t>
            </a:r>
            <a:r>
              <a:rPr sz="1100" b="1" i="0">
                <a:solidFill>
                  <a:srgbClr val="141B2E"/>
                </a:solidFill>
                <a:latin typeface="Arial"/>
              </a:rPr>
              <a:t>).</a:t>
            </a:r>
            <a:r>
              <a:rPr sz="1100" b="1" i="0">
                <a:solidFill>
                  <a:srgbClr val="141B2E"/>
                </a:solidFill>
                <a:latin typeface="Arial"/>
              </a:rPr>
              <a:t> «Это новое сообщение: «{{новый текст}}». Недавнее сообщение того же контакта: «{{старый текст}}». Это тот же вопрос, просто сформулированный иначе? Ответь строго «да» или «нет».»</a:t>
            </a:r>
          </a:p>
        </p:txBody>
      </p:sp>
      <p:sp>
        <p:nvSpPr>
          <p:cNvPr id="6" name="Rounded Rectangle 5"/>
          <p:cNvSpPr/>
          <p:nvPr/>
        </p:nvSpPr>
        <p:spPr>
          <a:xfrm>
            <a:off x="502920" y="4284094"/>
            <a:ext cx="11183112" cy="1245108"/>
          </a:xfrm>
          <a:prstGeom prst="roundRect">
            <a:avLst>
              <a:gd name="adj" fmla="val 244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4412110"/>
            <a:ext cx="180296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ПРОГОН</a:t>
            </a:r>
          </a:p>
        </p:txBody>
      </p:sp>
      <p:sp>
        <p:nvSpPr>
          <p:cNvPr id="8" name="TextBox 7"/>
          <p:cNvSpPr txBox="1"/>
          <p:nvPr/>
        </p:nvSpPr>
        <p:spPr>
          <a:xfrm>
            <a:off x="2580203" y="4412110"/>
            <a:ext cx="324392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ПОДАЛИ</a:t>
            </a:r>
          </a:p>
        </p:txBody>
      </p:sp>
      <p:sp>
        <p:nvSpPr>
          <p:cNvPr id="9" name="TextBox 8"/>
          <p:cNvSpPr txBox="1"/>
          <p:nvPr/>
        </p:nvSpPr>
        <p:spPr>
          <a:xfrm>
            <a:off x="5970435" y="4412110"/>
            <a:ext cx="544127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ПОЛУЧИЛОСЬ</a:t>
            </a:r>
          </a:p>
        </p:txBody>
      </p:sp>
      <p:sp>
        <p:nvSpPr>
          <p:cNvPr id="10" name="TextBox 9"/>
          <p:cNvSpPr txBox="1"/>
          <p:nvPr/>
        </p:nvSpPr>
        <p:spPr>
          <a:xfrm>
            <a:off x="630936" y="4671698"/>
            <a:ext cx="1802963" cy="364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Прогон 1 — буквальный повтор</a:t>
            </a:r>
          </a:p>
        </p:txBody>
      </p:sp>
      <p:sp>
        <p:nvSpPr>
          <p:cNvPr id="11" name="TextBox 10"/>
          <p:cNvSpPr txBox="1"/>
          <p:nvPr/>
        </p:nvSpPr>
        <p:spPr>
          <a:xfrm>
            <a:off x="2580203" y="4671698"/>
            <a:ext cx="3243927"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тот же текст дважды</a:t>
            </a:r>
          </a:p>
        </p:txBody>
      </p:sp>
      <p:sp>
        <p:nvSpPr>
          <p:cNvPr id="12" name="TextBox 11"/>
          <p:cNvSpPr txBox="1"/>
          <p:nvPr/>
        </p:nvSpPr>
        <p:spPr>
          <a:xfrm>
            <a:off x="5970435" y="4671698"/>
            <a:ext cx="5441276"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точное совпадение поймало мгновенно: заявка не записана, ответа не было; сам прогон технически успешен</a:t>
            </a:r>
          </a:p>
        </p:txBody>
      </p:sp>
      <p:cxnSp>
        <p:nvCxnSpPr>
          <p:cNvPr id="13" name="Connector 12"/>
          <p:cNvCxnSpPr/>
          <p:nvPr/>
        </p:nvCxnSpPr>
        <p:spPr>
          <a:xfrm>
            <a:off x="630936" y="503644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5036442"/>
            <a:ext cx="1802963" cy="364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Прогон 2 — перефразировка</a:t>
            </a:r>
          </a:p>
        </p:txBody>
      </p:sp>
      <p:sp>
        <p:nvSpPr>
          <p:cNvPr id="15" name="TextBox 14"/>
          <p:cNvSpPr txBox="1"/>
          <p:nvPr/>
        </p:nvSpPr>
        <p:spPr>
          <a:xfrm>
            <a:off x="2580203" y="5036442"/>
            <a:ext cx="3243927"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пара Бориса: «когда можно оплатить занятие?» → «как мне внести оплату за курс»</a:t>
            </a:r>
          </a:p>
        </p:txBody>
      </p:sp>
      <p:sp>
        <p:nvSpPr>
          <p:cNvPr id="16" name="TextBox 15"/>
          <p:cNvSpPr txBox="1"/>
          <p:nvPr/>
        </p:nvSpPr>
        <p:spPr>
          <a:xfrm>
            <a:off x="5970435" y="5036442"/>
            <a:ext cx="5441276"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точное совпадение не поймало — дошло до модели; ответ — </a:t>
            </a:r>
            <a:r>
              <a:rPr sz="1000" b="1" i="0">
                <a:solidFill>
                  <a:srgbClr val="141B2E"/>
                </a:solidFill>
                <a:latin typeface="Arial"/>
              </a:rPr>
              <a:t>«да»</a:t>
            </a:r>
          </a:p>
        </p:txBody>
      </p:sp>
      <p:sp>
        <p:nvSpPr>
          <p:cNvPr id="17" name="Rounded Rectangle 16"/>
          <p:cNvSpPr/>
          <p:nvPr/>
        </p:nvSpPr>
        <p:spPr>
          <a:xfrm>
            <a:off x="502920" y="5693794"/>
            <a:ext cx="82296" cy="604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821810"/>
            <a:ext cx="10643616" cy="348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На прогоне 1 ничего не произошло молча при зелёном статусе — ровно то, ради чего дешёвый фильтр и стоит первым. На прогоне 2 модель ответила верно там, где оба механических подхода на этой паре дают ноль.</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Окно времени — параметр с ценой в обе стороны.</a:t>
            </a:r>
            <a:r>
              <a:rPr sz="1350" b="0" i="0">
                <a:solidFill>
                  <a:srgbClr val="141B2E"/>
                </a:solidFill>
                <a:latin typeface="Arial"/>
              </a:rPr>
              <a:t> Слишком короткое окно пропустит повтор, разнесённый на день-два. Слишком длинное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33004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977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714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20327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03273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3513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137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33004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43977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714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20327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03273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52371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2371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31870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8703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sp>
        <p:nvSpPr>
          <p:cNvPr id="19" name="Rounded Rectangle 18"/>
          <p:cNvSpPr/>
          <p:nvPr/>
        </p:nvSpPr>
        <p:spPr>
          <a:xfrm>
            <a:off x="502920" y="452841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656429"/>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«Правило: не возвращай больше 3000 рублей автоматически, иначе эскалируй руководителю.»</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правило в промпте</a:t>
            </a:r>
          </a:p>
        </p:txBody>
      </p:sp>
      <p:sp>
        <p:nvSpPr>
          <p:cNvPr id="3" name="Rounded Rectangle 2"/>
          <p:cNvSpPr/>
          <p:nvPr/>
        </p:nvSpPr>
        <p:spPr>
          <a:xfrm>
            <a:off x="502920" y="103962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63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заявки, которой мы уже пользовались в предыдущих кейсах: человек описывает ситуацию своими словами и называет сумму внутри текста — «прошу вернуть 2500 рублей за пропущенное занятие».</a:t>
            </a:r>
          </a:p>
        </p:txBody>
      </p:sp>
      <p:sp>
        <p:nvSpPr>
          <p:cNvPr id="5" name="Rounded Rectangle 4"/>
          <p:cNvSpPr/>
          <p:nvPr/>
        </p:nvSpPr>
        <p:spPr>
          <a:xfrm>
            <a:off x="502920" y="2427859"/>
            <a:ext cx="11183112" cy="2367153"/>
          </a:xfrm>
          <a:prstGeom prst="roundRect">
            <a:avLst>
              <a:gd name="adj" fmla="val 1287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64731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64731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Шаг цепочки (модель </a:t>
            </a:r>
            <a:r>
              <a:rPr sz="1350" b="0" i="0">
                <a:solidFill>
                  <a:srgbClr val="141B2E"/>
                </a:solidFill>
                <a:latin typeface="Consolas"/>
              </a:rPr>
              <a:t>qwen/qwen-2.5-7b-instruct</a:t>
            </a:r>
            <a:r>
              <a:rPr sz="1350" b="0" i="0">
                <a:solidFill>
                  <a:srgbClr val="141B2E"/>
                </a:solidFill>
                <a:latin typeface="Arial"/>
              </a:rPr>
              <a:t>) получает один запрос: «Правило: не возвращай больше 3000 рублей автоматически, иначе эскалируй руководителю. Сумма запроса: {{сумма}} рублей. Ответь строго одним словом: «одобрить» или «эскалировать».»</a:t>
            </a:r>
          </a:p>
        </p:txBody>
      </p:sp>
      <p:sp>
        <p:nvSpPr>
          <p:cNvPr id="8" name="TextBox 7"/>
          <p:cNvSpPr txBox="1"/>
          <p:nvPr/>
        </p:nvSpPr>
        <p:spPr>
          <a:xfrm>
            <a:off x="722376" y="338226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38226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сама читает сумму из текста, сама сравнивает её с порогом из того же текста правила, сама отвечает одним словом.</a:t>
            </a:r>
          </a:p>
        </p:txBody>
      </p:sp>
      <p:sp>
        <p:nvSpPr>
          <p:cNvPr id="10" name="TextBox 9"/>
          <p:cNvSpPr txBox="1"/>
          <p:nvPr/>
        </p:nvSpPr>
        <p:spPr>
          <a:xfrm>
            <a:off x="722376" y="3914902"/>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91490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Ответ «одобрить» — возврат оформляется процессом, без участия руководителя.</a:t>
            </a:r>
          </a:p>
        </p:txBody>
      </p:sp>
      <p:sp>
        <p:nvSpPr>
          <p:cNvPr id="12" name="TextBox 11"/>
          <p:cNvSpPr txBox="1"/>
          <p:nvPr/>
        </p:nvSpPr>
        <p:spPr>
          <a:xfrm>
            <a:off x="722376" y="424522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4522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Ответ «эскалировать» — заявка уходит руководителю.</a:t>
            </a:r>
          </a:p>
        </p:txBody>
      </p:sp>
      <p:sp>
        <p:nvSpPr>
          <p:cNvPr id="14" name="Rounded Rectangle 13"/>
          <p:cNvSpPr/>
          <p:nvPr/>
        </p:nvSpPr>
        <p:spPr>
          <a:xfrm>
            <a:off x="502920" y="520026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2828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написать правило яснее в промте</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поставить IF-узел после извлечения суммы</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сделать сумму явным числовым полем формы</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прогнать несколько раз и взять большинство голосов</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пяти действий</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21543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986454" y="1131735"/>
            <a:ext cx="25049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a:t>
            </a:r>
          </a:p>
        </p:txBody>
      </p:sp>
      <p:sp>
        <p:nvSpPr>
          <p:cNvPr id="6" name="TextBox 5"/>
          <p:cNvSpPr txBox="1"/>
          <p:nvPr/>
        </p:nvSpPr>
        <p:spPr>
          <a:xfrm>
            <a:off x="5637746" y="1131735"/>
            <a:ext cx="57191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ПРЕДЕЛ</a:t>
            </a:r>
          </a:p>
        </p:txBody>
      </p:sp>
      <p:sp>
        <p:nvSpPr>
          <p:cNvPr id="7" name="TextBox 6"/>
          <p:cNvSpPr txBox="1"/>
          <p:nvPr/>
        </p:nvSpPr>
        <p:spPr>
          <a:xfrm>
            <a:off x="685800" y="1413802"/>
            <a:ext cx="215435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написать правило яснее в промте</a:t>
            </a:r>
          </a:p>
        </p:txBody>
      </p:sp>
      <p:sp>
        <p:nvSpPr>
          <p:cNvPr id="8" name="TextBox 7"/>
          <p:cNvSpPr txBox="1"/>
          <p:nvPr/>
        </p:nvSpPr>
        <p:spPr>
          <a:xfrm>
            <a:off x="2986454" y="1413802"/>
            <a:ext cx="25049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может снизить частоту ошибки</a:t>
            </a:r>
          </a:p>
        </p:txBody>
      </p:sp>
      <p:sp>
        <p:nvSpPr>
          <p:cNvPr id="9" name="TextBox 8"/>
          <p:cNvSpPr txBox="1"/>
          <p:nvPr/>
        </p:nvSpPr>
        <p:spPr>
          <a:xfrm>
            <a:off x="5637746" y="1413802"/>
            <a:ext cx="57191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устраняет её структурно: решение всё равно принимается текстовым вызовом модели</a:t>
            </a:r>
          </a:p>
        </p:txBody>
      </p:sp>
      <p:cxnSp>
        <p:nvCxnSpPr>
          <p:cNvPr id="10" name="Connector 9"/>
          <p:cNvCxnSpPr/>
          <p:nvPr/>
        </p:nvCxnSpPr>
        <p:spPr>
          <a:xfrm>
            <a:off x="685800" y="1943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43519"/>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дать модели инструмент-калькулятор</a:t>
            </a:r>
          </a:p>
        </p:txBody>
      </p:sp>
      <p:sp>
        <p:nvSpPr>
          <p:cNvPr id="12" name="TextBox 11"/>
          <p:cNvSpPr txBox="1"/>
          <p:nvPr/>
        </p:nvSpPr>
        <p:spPr>
          <a:xfrm>
            <a:off x="2986454" y="1943519"/>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лучше, чем голый текст правила</a:t>
            </a:r>
          </a:p>
        </p:txBody>
      </p:sp>
      <p:sp>
        <p:nvSpPr>
          <p:cNvPr id="13" name="TextBox 12"/>
          <p:cNvSpPr txBox="1"/>
          <p:nvPr/>
        </p:nvSpPr>
        <p:spPr>
          <a:xfrm>
            <a:off x="5637746" y="1943519"/>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вероятностность не исчезает — она переезжает на шаг раньше: на то, вызовет ли модель инструмент и как передаст в него значения</a:t>
            </a:r>
          </a:p>
        </p:txBody>
      </p:sp>
      <p:cxnSp>
        <p:nvCxnSpPr>
          <p:cNvPr id="14" name="Connector 13"/>
          <p:cNvCxnSpPr/>
          <p:nvPr/>
        </p:nvCxnSpPr>
        <p:spPr>
          <a:xfrm>
            <a:off x="685800" y="26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55798"/>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поставить </a:t>
            </a:r>
            <a:r>
              <a:rPr sz="1250" b="1" i="0">
                <a:solidFill>
                  <a:srgbClr val="141B2E"/>
                </a:solidFill>
                <a:latin typeface="Consolas"/>
              </a:rPr>
              <a:t>IF</a:t>
            </a:r>
            <a:r>
              <a:rPr sz="1250" b="1" i="0">
                <a:solidFill>
                  <a:srgbClr val="141B2E"/>
                </a:solidFill>
                <a:latin typeface="Arial"/>
              </a:rPr>
              <a:t>-узел после извлечения суммы</a:t>
            </a:r>
          </a:p>
        </p:txBody>
      </p:sp>
      <p:sp>
        <p:nvSpPr>
          <p:cNvPr id="16" name="TextBox 15"/>
          <p:cNvSpPr txBox="1"/>
          <p:nvPr/>
        </p:nvSpPr>
        <p:spPr>
          <a:xfrm>
            <a:off x="2986454" y="2655798"/>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устраняет вероятностность из самой точки решения</a:t>
            </a:r>
          </a:p>
        </p:txBody>
      </p:sp>
      <p:sp>
        <p:nvSpPr>
          <p:cNvPr id="17" name="TextBox 16"/>
          <p:cNvSpPr txBox="1"/>
          <p:nvPr/>
        </p:nvSpPr>
        <p:spPr>
          <a:xfrm>
            <a:off x="5637746" y="2655798"/>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сравнение становится условием в коде, а не текстовым вызовом — но сумму всё равно извлекает модель</a:t>
            </a:r>
          </a:p>
        </p:txBody>
      </p:sp>
      <p:cxnSp>
        <p:nvCxnSpPr>
          <p:cNvPr id="18" name="Connector 17"/>
          <p:cNvCxnSpPr/>
          <p:nvPr/>
        </p:nvCxnSpPr>
        <p:spPr>
          <a:xfrm>
            <a:off x="685800" y="3368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68078"/>
            <a:ext cx="21543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сделать сумму явным числовым полем формы</a:t>
            </a:r>
          </a:p>
        </p:txBody>
      </p:sp>
      <p:sp>
        <p:nvSpPr>
          <p:cNvPr id="20" name="TextBox 19"/>
          <p:cNvSpPr txBox="1"/>
          <p:nvPr/>
        </p:nvSpPr>
        <p:spPr>
          <a:xfrm>
            <a:off x="2986454" y="3368078"/>
            <a:ext cx="250498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устраняет неопределённость ещё раньше по цепочке — извлекать сумму моделью вообще не нужно</a:t>
            </a:r>
          </a:p>
        </p:txBody>
      </p:sp>
      <p:sp>
        <p:nvSpPr>
          <p:cNvPr id="21" name="TextBox 20"/>
          <p:cNvSpPr txBox="1"/>
          <p:nvPr/>
        </p:nvSpPr>
        <p:spPr>
          <a:xfrm>
            <a:off x="5637746" y="3368078"/>
            <a:ext cx="571910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только если форму запроса можно менять; если источник — письмо или чат, а не наша форма, извлечение из текста всё равно нужно</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прогнать несколько раз, взять большинство голосов</a:t>
            </a:r>
          </a:p>
        </p:txBody>
      </p:sp>
      <p:sp>
        <p:nvSpPr>
          <p:cNvPr id="24" name="TextBox 23"/>
          <p:cNvSpPr txBox="1"/>
          <p:nvPr/>
        </p:nvSpPr>
        <p:spPr>
          <a:xfrm>
            <a:off x="2986454" y="4262920"/>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даёт против систематической ошибки на границе</a:t>
            </a:r>
          </a:p>
        </p:txBody>
      </p:sp>
      <p:sp>
        <p:nvSpPr>
          <p:cNvPr id="25" name="TextBox 24"/>
          <p:cNvSpPr txBox="1"/>
          <p:nvPr/>
        </p:nvSpPr>
        <p:spPr>
          <a:xfrm>
            <a:off x="5637746" y="4262920"/>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модель раз за разом одинаково неверно трактует саму границу, голосование размножает ту же неверную интерпретацию, а не исправляет её</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Мостик дальше.</a:t>
            </a:r>
            <a:r>
              <a:rPr sz="1500" b="1" i="0">
                <a:solidFill>
                  <a:srgbClr val="141B2E"/>
                </a:solidFill>
                <a:latin typeface="Arial"/>
              </a:rPr>
              <a:t> Два действия устраняют вероятностность структурно, одно снижает её частоту, одно переносит её на шаг раньше, одно бессильно против систематики. Какое из них нужно именно здесь — решает не спор за столом, а измерение: сколько версия 1 реально ошибается и где именно.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43356"/>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Зачем мерить, а не ждать жалобу.</a:t>
            </a:r>
            <a:r>
              <a:rPr sz="1250" b="1" i="0">
                <a:solidFill>
                  <a:srgbClr val="141B2E"/>
                </a:solidFill>
                <a:latin typeface="Arial"/>
              </a:rPr>
              <a:t> Жалоба приходит только если ошибка достаточно заметна и достаточно дорога, чтобы кто-то вернулся. Тихая ошибка — одобрена чуть большая сумма, эскалирована чуть меньшая — жалобы не вызовет никогда.</a:t>
            </a:r>
          </a:p>
        </p:txBody>
      </p:sp>
      <p:sp>
        <p:nvSpPr>
          <p:cNvPr id="5" name="Rounded Rectangle 4"/>
          <p:cNvSpPr/>
          <p:nvPr/>
        </p:nvSpPr>
        <p:spPr>
          <a:xfrm>
            <a:off x="502920" y="1972817"/>
            <a:ext cx="82296" cy="178358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00834"/>
            <a:ext cx="10643616" cy="152755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Как собраны 50 тестовых сумм.</a:t>
            </a:r>
            <a:r>
              <a:rPr sz="1300" b="1" i="0">
                <a:solidFill>
                  <a:srgbClr val="141B2E"/>
                </a:solidFill>
                <a:latin typeface="Arial"/>
              </a:rPr>
              <a:t> Сгенерированы детерминированно: фиксированный seed, набор воспроизводим, не меняется при перегенерации. Два кластера:</a:t>
            </a:r>
          </a:p>
          <a:p>
            <a:pPr algn="l">
              <a:lnSpc>
                <a:spcPts val="1612"/>
              </a:lnSpc>
              <a:spcAft>
                <a:spcPts val="300"/>
              </a:spcAft>
            </a:pPr>
            <a:r>
              <a:rPr sz="1300" b="1" i="0">
                <a:solidFill>
                  <a:srgbClr val="141B2E"/>
                </a:solidFill>
                <a:latin typeface="Arial"/>
              </a:rPr>
              <a:t>- </a:t>
            </a:r>
            <a:r>
              <a:rPr sz="1300" b="1" i="0">
                <a:solidFill>
                  <a:srgbClr val="141B2E"/>
                </a:solidFill>
                <a:latin typeface="Arial"/>
              </a:rPr>
              <a:t>25 сумм near-or-below</a:t>
            </a:r>
            <a:r>
              <a:rPr sz="1300" b="1" i="0">
                <a:solidFill>
                  <a:srgbClr val="141B2E"/>
                </a:solidFill>
                <a:latin typeface="Arial"/>
              </a:rPr>
              <a:t> порога — от 1000 до 3000₽ включительно, с плотной группировкой у самой границы: 2900, 2950, 2990, 2999, и ровно 3000₽ встречается </a:t>
            </a:r>
            <a:r>
              <a:rPr sz="1300" b="1" i="0">
                <a:solidFill>
                  <a:srgbClr val="141B2E"/>
                </a:solidFill>
                <a:latin typeface="Arial"/>
              </a:rPr>
              <a:t>трижды</a:t>
            </a:r>
            <a:r>
              <a:rPr sz="1300" b="1" i="0">
                <a:solidFill>
                  <a:srgbClr val="141B2E"/>
                </a:solidFill>
                <a:latin typeface="Arial"/>
              </a:rPr>
              <a:t> намеренно — граничный случай статистически весомый, не единичный.</a:t>
            </a:r>
          </a:p>
          <a:p>
            <a:pPr algn="l">
              <a:lnSpc>
                <a:spcPts val="1612"/>
              </a:lnSpc>
              <a:spcAft>
                <a:spcPts val="300"/>
              </a:spcAft>
            </a:pPr>
            <a:r>
              <a:rPr sz="1300" b="1" i="0">
                <a:solidFill>
                  <a:srgbClr val="141B2E"/>
                </a:solidFill>
                <a:latin typeface="Arial"/>
              </a:rPr>
              <a:t>- </a:t>
            </a:r>
            <a:r>
              <a:rPr sz="1300" b="1" i="0">
                <a:solidFill>
                  <a:srgbClr val="141B2E"/>
                </a:solidFill>
                <a:latin typeface="Arial"/>
              </a:rPr>
              <a:t>25 сумм явно выше</a:t>
            </a:r>
            <a:r>
              <a:rPr sz="1300" b="1" i="0">
                <a:solidFill>
                  <a:srgbClr val="141B2E"/>
                </a:solidFill>
                <a:latin typeface="Arial"/>
              </a:rPr>
              <a:t> — от 3200 до 9000₽, разброс шире, без кластера у границы: это контрольная группа «очевидно эскалировать».</a:t>
            </a:r>
          </a:p>
        </p:txBody>
      </p:sp>
      <p:sp>
        <p:nvSpPr>
          <p:cNvPr id="7" name="Rounded Rectangle 6"/>
          <p:cNvSpPr/>
          <p:nvPr/>
        </p:nvSpPr>
        <p:spPr>
          <a:xfrm>
            <a:off x="502920" y="392099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4901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Как сумма становится запросом.</a:t>
            </a:r>
            <a:r>
              <a:rPr sz="1400" b="1" i="0">
                <a:solidFill>
                  <a:srgbClr val="141B2E"/>
                </a:solidFill>
                <a:latin typeface="Arial"/>
              </a:rPr>
              <a:t> Каждая сумма вставлена в один из </a:t>
            </a:r>
            <a:r>
              <a:rPr sz="1400" b="1" i="0">
                <a:solidFill>
                  <a:srgbClr val="141B2E"/>
                </a:solidFill>
                <a:latin typeface="Arial"/>
              </a:rPr>
              <a:t>четырёх реалистичных шаблонов</a:t>
            </a:r>
            <a:r>
              <a:rPr sz="1400" b="1" i="0">
                <a:solidFill>
                  <a:srgbClr val="141B2E"/>
                </a:solidFill>
                <a:latin typeface="Arial"/>
              </a:rPr>
              <a:t> фразы, не передаётся голым числом: «прошу вернуть {сумма} рублей за пропущенное занятие», «хочу вернуть {сумма} руб, занятие не состоялось по моей вине, но прошу всё равно» и другие — чтобы модель реально извлекала число из текста, а не получала его готовым. Плюс один ручной тест — </a:t>
            </a:r>
            <a:r>
              <a:rPr sz="1400" b="1" i="0">
                <a:solidFill>
                  <a:srgbClr val="141B2E"/>
                </a:solidFill>
                <a:latin typeface="Arial"/>
              </a:rPr>
              <a:t>итого 51 запрос</a:t>
            </a:r>
            <a:r>
              <a:rPr sz="1400" b="1" i="0">
                <a:solidFill>
                  <a:srgbClr val="141B2E"/>
                </a:solidFill>
                <a:latin typeface="Arial"/>
              </a:rPr>
              <a:t>.</a:t>
            </a:r>
          </a:p>
        </p:txBody>
      </p:sp>
      <p:sp>
        <p:nvSpPr>
          <p:cNvPr id="9" name="Rounded Rectangle 8"/>
          <p:cNvSpPr/>
          <p:nvPr/>
        </p:nvSpPr>
        <p:spPr>
          <a:xfrm>
            <a:off x="502920" y="524179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981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 правильности.</a:t>
            </a:r>
            <a:r>
              <a:rPr sz="1250" b="1" i="0">
                <a:solidFill>
                  <a:srgbClr val="141B2E"/>
                </a:solidFill>
                <a:latin typeface="Arial"/>
              </a:rPr>
              <a:t> Решение, прочитанное из </a:t>
            </a:r>
            <a:r>
              <a:rPr sz="1250" b="1" i="0">
                <a:solidFill>
                  <a:srgbClr val="141B2E"/>
                </a:solidFill>
                <a:latin typeface="Consolas"/>
              </a:rPr>
              <a:t>runData</a:t>
            </a:r>
            <a:r>
              <a:rPr sz="1250" b="1" i="0">
                <a:solidFill>
                  <a:srgbClr val="141B2E"/>
                </a:solidFill>
                <a:latin typeface="Arial"/>
              </a:rPr>
              <a:t> каждого настоящего прогона, сравнивается с ожиданием «одобрить, если сумма ≤ 3000₽ (порог включительно), иначе эскалировать» — тем самым правилом, которое задаёт сам текст промпта.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3 ошибки из 51, и все три в одной точке</a:t>
            </a:r>
          </a:p>
        </p:txBody>
      </p:sp>
      <p:sp>
        <p:nvSpPr>
          <p:cNvPr id="3" name="Rounded Rectangle 2"/>
          <p:cNvSpPr/>
          <p:nvPr/>
        </p:nvSpPr>
        <p:spPr>
          <a:xfrm>
            <a:off x="502920" y="1643761"/>
            <a:ext cx="11183112" cy="2219007"/>
          </a:xfrm>
          <a:prstGeom prst="roundRect">
            <a:avLst>
              <a:gd name="adj" fmla="val 137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26641"/>
            <a:ext cx="32708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4102982" y="1826641"/>
            <a:ext cx="72538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НА 51 ЗАПРОСЕ</a:t>
            </a:r>
          </a:p>
        </p:txBody>
      </p:sp>
      <p:sp>
        <p:nvSpPr>
          <p:cNvPr id="6" name="Rounded Rectangle 5"/>
          <p:cNvSpPr/>
          <p:nvPr/>
        </p:nvSpPr>
        <p:spPr>
          <a:xfrm>
            <a:off x="566928" y="2108708"/>
            <a:ext cx="11055096" cy="34715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08708"/>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всего</a:t>
            </a:r>
          </a:p>
        </p:txBody>
      </p:sp>
      <p:sp>
        <p:nvSpPr>
          <p:cNvPr id="8" name="TextBox 7"/>
          <p:cNvSpPr txBox="1"/>
          <p:nvPr/>
        </p:nvSpPr>
        <p:spPr>
          <a:xfrm>
            <a:off x="4102982" y="2108708"/>
            <a:ext cx="7253865"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cxnSp>
        <p:nvCxnSpPr>
          <p:cNvPr id="9" name="Connector 8"/>
          <p:cNvCxnSpPr/>
          <p:nvPr/>
        </p:nvCxnSpPr>
        <p:spPr>
          <a:xfrm>
            <a:off x="685800" y="24558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455862"/>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Где именно</a:t>
            </a:r>
          </a:p>
        </p:txBody>
      </p:sp>
      <p:sp>
        <p:nvSpPr>
          <p:cNvPr id="11" name="TextBox 10"/>
          <p:cNvSpPr txBox="1"/>
          <p:nvPr/>
        </p:nvSpPr>
        <p:spPr>
          <a:xfrm>
            <a:off x="4102982" y="2455862"/>
            <a:ext cx="72538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три — на сумме, </a:t>
            </a:r>
            <a:r>
              <a:rPr sz="1250" b="1" i="0">
                <a:solidFill>
                  <a:srgbClr val="141B2E"/>
                </a:solidFill>
                <a:latin typeface="Arial"/>
              </a:rPr>
              <a:t>ровно равной порогу</a:t>
            </a:r>
            <a:r>
              <a:rPr sz="1250" b="0" i="0">
                <a:solidFill>
                  <a:srgbClr val="141B2E"/>
                </a:solidFill>
                <a:latin typeface="Arial"/>
              </a:rPr>
              <a:t> (3000₽)</a:t>
            </a:r>
          </a:p>
        </p:txBody>
      </p:sp>
      <p:cxnSp>
        <p:nvCxnSpPr>
          <p:cNvPr id="12" name="Connector 11"/>
          <p:cNvCxnSpPr/>
          <p:nvPr/>
        </p:nvCxnSpPr>
        <p:spPr>
          <a:xfrm>
            <a:off x="685800" y="28030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03017"/>
            <a:ext cx="32708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Строго выше или строго ниже порога</a:t>
            </a:r>
          </a:p>
        </p:txBody>
      </p:sp>
      <p:sp>
        <p:nvSpPr>
          <p:cNvPr id="14" name="TextBox 13"/>
          <p:cNvSpPr txBox="1"/>
          <p:nvPr/>
        </p:nvSpPr>
        <p:spPr>
          <a:xfrm>
            <a:off x="4102982" y="2803017"/>
            <a:ext cx="725386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r>
              <a:rPr sz="1250" b="0" i="0">
                <a:solidFill>
                  <a:srgbClr val="141B2E"/>
                </a:solidFill>
                <a:latin typeface="Arial"/>
              </a:rPr>
              <a:t> ошибок</a:t>
            </a:r>
          </a:p>
        </p:txBody>
      </p:sp>
      <p:cxnSp>
        <p:nvCxnSpPr>
          <p:cNvPr id="15" name="Connector 14"/>
          <p:cNvCxnSpPr/>
          <p:nvPr/>
        </p:nvCxnSpPr>
        <p:spPr>
          <a:xfrm>
            <a:off x="685800" y="33327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32734"/>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Характер ошибки</a:t>
            </a:r>
          </a:p>
        </p:txBody>
      </p:sp>
      <p:sp>
        <p:nvSpPr>
          <p:cNvPr id="17" name="TextBox 16"/>
          <p:cNvSpPr txBox="1"/>
          <p:nvPr/>
        </p:nvSpPr>
        <p:spPr>
          <a:xfrm>
            <a:off x="4102982" y="3332734"/>
            <a:ext cx="72538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систематическая, не случайная — сидит в одной точке, не разбросана по диапазону</a:t>
            </a:r>
          </a:p>
        </p:txBody>
      </p:sp>
      <p:sp>
        <p:nvSpPr>
          <p:cNvPr id="18" name="Rounded Rectangle 17"/>
          <p:cNvSpPr/>
          <p:nvPr/>
        </p:nvSpPr>
        <p:spPr>
          <a:xfrm>
            <a:off x="502920" y="45302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5829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решила модель на границе.</a:t>
            </a:r>
            <a:r>
              <a:rPr sz="1500" b="1" i="0">
                <a:solidFill>
                  <a:srgbClr val="141B2E"/>
                </a:solidFill>
                <a:latin typeface="Arial"/>
              </a:rPr>
              <a:t> На сумме ровно 3000₽ модель отвечала «эскалировать», хотя правило («не возвращай больше 3000 рублей») подразумевает, что сама граница — «можно одобрить».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if-uzel.png"/>
          <p:cNvPicPr>
            <a:picLocks noChangeAspect="1"/>
          </p:cNvPicPr>
          <p:nvPr/>
        </p:nvPicPr>
        <p:blipFill>
          <a:blip r:embed="rId2"/>
          <a:stretch>
            <a:fillRect/>
          </a:stretch>
        </p:blipFill>
        <p:spPr>
          <a:xfrm>
            <a:off x="1544776" y="943356"/>
            <a:ext cx="9099399" cy="3071047"/>
          </a:xfrm>
          <a:prstGeom prst="rect">
            <a:avLst/>
          </a:prstGeom>
        </p:spPr>
      </p:pic>
      <p:sp>
        <p:nvSpPr>
          <p:cNvPr id="4" name="Rounded Rectangle 3"/>
          <p:cNvSpPr/>
          <p:nvPr/>
        </p:nvSpPr>
        <p:spPr>
          <a:xfrm>
            <a:off x="502920" y="4178995"/>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0701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t>
            </a:r>
            <a:r>
              <a:rPr sz="1250" b="1" i="0">
                <a:solidFill>
                  <a:srgbClr val="141B2E"/>
                </a:solidFill>
                <a:latin typeface="Consolas"/>
              </a:rPr>
              <a:t>IF</a:t>
            </a:r>
            <a:r>
              <a:rPr sz="1250" b="1" i="0">
                <a:solidFill>
                  <a:srgbClr val="141B2E"/>
                </a:solidFill>
                <a:latin typeface="Arial"/>
              </a:rPr>
              <a:t> («Amount over threshold?»), версия 2.</a:t>
            </a:r>
            <a:r>
              <a:rPr sz="1250" b="1" i="0">
                <a:solidFill>
                  <a:srgbClr val="141B2E"/>
                </a:solidFill>
                <a:latin typeface="Arial"/>
              </a:rPr>
              <a:t> Условие: извлечённая сумма (число) </a:t>
            </a:r>
            <a:r>
              <a:rPr sz="1250" b="1" i="0">
                <a:solidFill>
                  <a:srgbClr val="141B2E"/>
                </a:solidFill>
                <a:latin typeface="Arial"/>
              </a:rPr>
              <a:t>строго больше 3000</a:t>
            </a:r>
            <a:r>
              <a:rPr sz="125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01160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13962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Для контраста — промпт версии 1, тот же шаг.</a:t>
            </a:r>
            <a:r>
              <a:rPr sz="1400" b="1" i="0">
                <a:solidFill>
                  <a:srgbClr val="141B2E"/>
                </a:solidFill>
                <a:latin typeface="Arial"/>
              </a:rPr>
              <a:t> «Правило: не возвращай больше 3000 рублей автоматически, иначе эскалируй руководителю. Сумма запроса: {{сумма}} рублей. Ответь строго одним словом: «одобрить» или «эскалировать».» Здесь то же сравнение существует только как смысл внутри текста — у модели нет отдельной операции «сравнить числа», есть только одна операция «понять и ответить».</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75306"/>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458186"/>
            <a:ext cx="17883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620490" y="2458186"/>
            <a:ext cx="48378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7604665" y="2458186"/>
            <a:ext cx="37521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740253"/>
            <a:ext cx="17883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51 запросе</a:t>
            </a:r>
          </a:p>
        </p:txBody>
      </p:sp>
      <p:sp>
        <p:nvSpPr>
          <p:cNvPr id="8" name="TextBox 7"/>
          <p:cNvSpPr txBox="1"/>
          <p:nvPr/>
        </p:nvSpPr>
        <p:spPr>
          <a:xfrm>
            <a:off x="2620490" y="2740253"/>
            <a:ext cx="483787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r>
              <a:rPr sz="1250" b="0" i="0">
                <a:solidFill>
                  <a:srgbClr val="141B2E"/>
                </a:solidFill>
                <a:latin typeface="Arial"/>
              </a:rPr>
              <a:t> — все на сумме 3000₽</a:t>
            </a:r>
          </a:p>
        </p:txBody>
      </p:sp>
      <p:sp>
        <p:nvSpPr>
          <p:cNvPr id="9" name="TextBox 8"/>
          <p:cNvSpPr txBox="1"/>
          <p:nvPr/>
        </p:nvSpPr>
        <p:spPr>
          <a:xfrm>
            <a:off x="7604665" y="2740253"/>
            <a:ext cx="375218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269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269970"/>
            <a:ext cx="17883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a:t>
            </a:r>
          </a:p>
        </p:txBody>
      </p:sp>
      <p:sp>
        <p:nvSpPr>
          <p:cNvPr id="12" name="TextBox 11"/>
          <p:cNvSpPr txBox="1"/>
          <p:nvPr/>
        </p:nvSpPr>
        <p:spPr>
          <a:xfrm>
            <a:off x="2620490" y="3269970"/>
            <a:ext cx="48378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7604665" y="3269970"/>
            <a:ext cx="37521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996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99687"/>
            <a:ext cx="178838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620490" y="3799687"/>
            <a:ext cx="483787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7" name="TextBox 16"/>
          <p:cNvSpPr txBox="1"/>
          <p:nvPr/>
        </p:nvSpPr>
        <p:spPr>
          <a:xfrm>
            <a:off x="7604665" y="3799687"/>
            <a:ext cx="375218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201418"/>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42087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42087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a:t>
            </a:r>
          </a:p>
        </p:txBody>
      </p:sp>
      <p:sp>
        <p:nvSpPr>
          <p:cNvPr id="6" name="TextBox 5"/>
          <p:cNvSpPr txBox="1"/>
          <p:nvPr/>
        </p:nvSpPr>
        <p:spPr>
          <a:xfrm>
            <a:off x="722376" y="295351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95351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48615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48615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три из пятидесяти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10332720"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489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2489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6" name="TextBox 5"/>
          <p:cNvSpPr txBox="1"/>
          <p:nvPr/>
        </p:nvSpPr>
        <p:spPr>
          <a:xfrm>
            <a:off x="1536192" y="114300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Zillow Offers: алгоритмическая закупка жилья</a:t>
            </a:r>
          </a:p>
        </p:txBody>
      </p:sp>
      <p:sp>
        <p:nvSpPr>
          <p:cNvPr id="7" name="TextBox 6"/>
          <p:cNvSpPr txBox="1"/>
          <p:nvPr/>
        </p:nvSpPr>
        <p:spPr>
          <a:xfrm>
            <a:off x="822960" y="2360676"/>
            <a:ext cx="9509760" cy="471220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a:t>
            </a:r>
          </a:p>
          <a:p>
            <a:pPr algn="l">
              <a:lnSpc>
                <a:spcPts val="2244"/>
              </a:lnSpc>
              <a:spcAft>
                <a:spcPts val="400"/>
              </a:spcAft>
            </a:pPr>
            <a:r>
              <a:rPr sz="1700" b="0" i="1">
                <a:solidFill>
                  <a:srgbClr val="D6E2EC"/>
                </a:solidFill>
                <a:latin typeface="Arial"/>
              </a:rPr>
              <a:t>— Рич Бартон, CEO Zillow, 2 ноября 2021 года, объявляя закрытие бизнеса Zillow Offers</a:t>
            </a:r>
          </a:p>
          <a:p>
            <a:pPr algn="l">
              <a:lnSpc>
                <a:spcPts val="2244"/>
              </a:lnSpc>
              <a:spcAft>
                <a:spcPts val="400"/>
              </a:spcAft>
            </a:pPr>
            <a:r>
              <a:rPr sz="1700" b="0" i="1">
                <a:solidFill>
                  <a:srgbClr val="D6E2EC"/>
                </a:solidFill>
                <a:latin typeface="Arial"/>
              </a:rPr>
              <a:t>Zillow — крупнейший агрегатор объявлений о недвижимости в США. С 2018 года компания вела направление Zillow Offers, другое название — iBuying: алгоритмическая модель Zestimate оценивала дом по открытым данным, компания покупала его почти мгновенно по этой цене, делала минимальный ремонт и быстро перепродавала, зарабатывая на разнице между покупкой и продажей.</a:t>
            </a:r>
          </a:p>
          <a:p>
            <a:pPr algn="l">
              <a:lnSpc>
                <a:spcPts val="2244"/>
              </a:lnSpc>
              <a:spcAft>
                <a:spcPts val="400"/>
              </a:spcAft>
            </a:pPr>
            <a:r>
              <a:rPr sz="1700" b="0" i="1">
                <a:solidFill>
                  <a:srgbClr val="D6E2EC"/>
                </a:solidFill>
                <a:latin typeface="Arial"/>
              </a:rPr>
              <a:t>Списание запасов — $304,4 млн за 3-й квартал 2021 года, по итогам всего года — $407,9 млн. Сокращение штата — ~25%, это ~2000 человек. В том же квартале Zillow купила 9680 домов, продать успела лишь 3032 — средний убыток на каждый проданный дом составил ~$80 000.</a:t>
            </a:r>
          </a:p>
        </p:txBody>
      </p:sp>
      <p:sp>
        <p:nvSpPr>
          <p:cNvPr id="8" name="Rounded Rectangle 7"/>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окна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60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92778" y="1201166"/>
            <a:ext cx="23922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31347" y="1201166"/>
            <a:ext cx="5725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92778" y="1483233"/>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31347" y="1483233"/>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92778" y="2195512"/>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31347" y="2195512"/>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окно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92778" y="3090354"/>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31347" y="3090354"/>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92778" y="3985196"/>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31347" y="3985196"/>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окна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короткое окно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Карточка в Telegram</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Журнал прогона — зелёный, узел отправки вернул успешный ответ. У координатора в Telegram — ничего не пришло.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8567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36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2239035"/>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58491"/>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45849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319344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19344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372607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72607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425871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5871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52811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4092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Цена, которую не видно в журнале.</a:t>
            </a:r>
            <a:r>
              <a:rPr sz="15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класса требований к файлу</a:t>
            </a:r>
          </a:p>
        </p:txBody>
      </p:sp>
      <p:sp>
        <p:nvSpPr>
          <p:cNvPr id="3" name="Rounded Rectangle 2"/>
          <p:cNvSpPr/>
          <p:nvPr/>
        </p:nvSpPr>
        <p:spPr>
          <a:xfrm>
            <a:off x="502920" y="1612011"/>
            <a:ext cx="11183112" cy="2062162"/>
          </a:xfrm>
          <a:prstGeom prst="roundRect">
            <a:avLst>
              <a:gd name="adj" fmla="val 1478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94891"/>
            <a:ext cx="132186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 ТРЕБОВАНИЯ</a:t>
            </a:r>
          </a:p>
        </p:txBody>
      </p:sp>
      <p:sp>
        <p:nvSpPr>
          <p:cNvPr id="5" name="TextBox 4"/>
          <p:cNvSpPr txBox="1"/>
          <p:nvPr/>
        </p:nvSpPr>
        <p:spPr>
          <a:xfrm>
            <a:off x="2153964" y="1794891"/>
            <a:ext cx="50356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6" name="TextBox 5"/>
          <p:cNvSpPr txBox="1"/>
          <p:nvPr/>
        </p:nvSpPr>
        <p:spPr>
          <a:xfrm>
            <a:off x="7335914" y="1794891"/>
            <a:ext cx="40209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КТО ПРОВЕРЯЕТ</a:t>
            </a:r>
          </a:p>
        </p:txBody>
      </p:sp>
      <p:sp>
        <p:nvSpPr>
          <p:cNvPr id="7" name="TextBox 6"/>
          <p:cNvSpPr txBox="1"/>
          <p:nvPr/>
        </p:nvSpPr>
        <p:spPr>
          <a:xfrm>
            <a:off x="685800" y="2249297"/>
            <a:ext cx="132186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Механическое</a:t>
            </a:r>
          </a:p>
        </p:txBody>
      </p:sp>
      <p:sp>
        <p:nvSpPr>
          <p:cNvPr id="8" name="TextBox 7"/>
          <p:cNvSpPr txBox="1"/>
          <p:nvPr/>
        </p:nvSpPr>
        <p:spPr>
          <a:xfrm>
            <a:off x="2153964" y="2249297"/>
            <a:ext cx="503564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размер файла, формат, разрешение — у файла есть численные и перечислимые свойства</a:t>
            </a:r>
          </a:p>
        </p:txBody>
      </p:sp>
      <p:sp>
        <p:nvSpPr>
          <p:cNvPr id="9" name="TextBox 8"/>
          <p:cNvSpPr txBox="1"/>
          <p:nvPr/>
        </p:nvSpPr>
        <p:spPr>
          <a:xfrm>
            <a:off x="7335914" y="2249297"/>
            <a:ext cx="4020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детерминированная проверка перед отправкой</a:t>
            </a:r>
          </a:p>
        </p:txBody>
      </p:sp>
      <p:cxnSp>
        <p:nvCxnSpPr>
          <p:cNvPr id="10" name="Connector 9"/>
          <p:cNvCxnSpPr/>
          <p:nvPr/>
        </p:nvCxnSpPr>
        <p:spPr>
          <a:xfrm>
            <a:off x="685800" y="2779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79014"/>
            <a:ext cx="132186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Смысловое / по содержанию</a:t>
            </a:r>
          </a:p>
        </p:txBody>
      </p:sp>
      <p:sp>
        <p:nvSpPr>
          <p:cNvPr id="12" name="TextBox 11"/>
          <p:cNvSpPr txBox="1"/>
          <p:nvPr/>
        </p:nvSpPr>
        <p:spPr>
          <a:xfrm>
            <a:off x="2153964" y="2779014"/>
            <a:ext cx="503564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на самом деле показывает то, что нужно (не битый файл-заглушка, не чужое изображение, не пустой кадр)</a:t>
            </a:r>
          </a:p>
        </p:txBody>
      </p:sp>
      <p:sp>
        <p:nvSpPr>
          <p:cNvPr id="13" name="TextBox 12"/>
          <p:cNvSpPr txBox="1"/>
          <p:nvPr/>
        </p:nvSpPr>
        <p:spPr>
          <a:xfrm>
            <a:off x="7335914" y="2779014"/>
            <a:ext cx="40209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 распознаванием изображений — программная проверка размера ничего не знает о содержимом</a:t>
            </a:r>
          </a:p>
        </p:txBody>
      </p:sp>
      <p:sp>
        <p:nvSpPr>
          <p:cNvPr id="14" name="Rounded Rectangle 13"/>
          <p:cNvSpPr/>
          <p:nvPr/>
        </p:nvSpPr>
        <p:spPr>
          <a:xfrm>
            <a:off x="502920" y="434168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6970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png"/>
          <p:cNvPicPr>
            <a:picLocks noChangeAspect="1"/>
          </p:cNvPicPr>
          <p:nvPr/>
        </p:nvPicPr>
        <p:blipFill>
          <a:blip r:embed="rId2"/>
          <a:stretch>
            <a:fillRect/>
          </a:stretch>
        </p:blipFill>
        <p:spPr>
          <a:xfrm>
            <a:off x="1632557" y="1319784"/>
            <a:ext cx="8923836" cy="3011794"/>
          </a:xfrm>
          <a:prstGeom prst="rect">
            <a:avLst/>
          </a:prstGeom>
        </p:spPr>
      </p:pic>
      <p:sp>
        <p:nvSpPr>
          <p:cNvPr id="4" name="Rounded Rectangle 3"/>
          <p:cNvSpPr/>
          <p:nvPr/>
        </p:nvSpPr>
        <p:spPr>
          <a:xfrm>
            <a:off x="502920" y="4496170"/>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4624186"/>
            <a:ext cx="54043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624186"/>
            <a:ext cx="52300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30936" y="4906253"/>
            <a:ext cx="540437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Проверенный файл</a:t>
            </a:r>
          </a:p>
        </p:txBody>
      </p:sp>
      <p:sp>
        <p:nvSpPr>
          <p:cNvPr id="8" name="TextBox 7"/>
          <p:cNvSpPr txBox="1"/>
          <p:nvPr/>
        </p:nvSpPr>
        <p:spPr>
          <a:xfrm>
            <a:off x="6181614" y="4906253"/>
            <a:ext cx="5230097"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30936" y="517193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30936" y="5171937"/>
            <a:ext cx="540437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171937"/>
            <a:ext cx="5230097"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730229"/>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858245"/>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Ответ Telegram Bot API: </a:t>
            </a:r>
            <a:r>
              <a:rPr sz="1200" b="1" i="0">
                <a:solidFill>
                  <a:srgbClr val="141B2E"/>
                </a:solidFill>
                <a:latin typeface="Consolas"/>
              </a:rPr>
              <a:t>"Bad</a:t>
            </a:r>
            <a:r>
              <a:rPr sz="1200" b="1" i="0">
                <a:solidFill>
                  <a:srgbClr val="141B2E"/>
                </a:solidFill>
                <a:latin typeface="Arial"/>
              </a:rPr>
              <a:t> </a:t>
            </a:r>
            <a:r>
              <a:rPr sz="1200" b="1" i="0">
                <a:solidFill>
                  <a:srgbClr val="141B2E"/>
                </a:solidFill>
                <a:latin typeface="Consolas"/>
              </a:rPr>
              <a:t>Request:</a:t>
            </a:r>
            <a:r>
              <a:rPr sz="1200" b="1" i="0">
                <a:solidFill>
                  <a:srgbClr val="141B2E"/>
                </a:solidFill>
                <a:latin typeface="Arial"/>
              </a:rPr>
              <a:t> </a:t>
            </a:r>
            <a:r>
              <a:rPr sz="1200" b="1" i="0">
                <a:solidFill>
                  <a:srgbClr val="141B2E"/>
                </a:solidFill>
                <a:latin typeface="Consolas"/>
              </a:rPr>
              <a:t>file</a:t>
            </a:r>
            <a:r>
              <a:rPr sz="1200" b="1" i="0">
                <a:solidFill>
                  <a:srgbClr val="141B2E"/>
                </a:solidFill>
                <a:latin typeface="Arial"/>
              </a:rPr>
              <a:t> </a:t>
            </a:r>
            <a:r>
              <a:rPr sz="1200" b="1" i="0">
                <a:solidFill>
                  <a:srgbClr val="141B2E"/>
                </a:solidFill>
                <a:latin typeface="Consolas"/>
              </a:rPr>
              <a:t>of</a:t>
            </a:r>
            <a:r>
              <a:rPr sz="1200" b="1" i="0">
                <a:solidFill>
                  <a:srgbClr val="141B2E"/>
                </a:solidFill>
                <a:latin typeface="Arial"/>
              </a:rPr>
              <a:t> </a:t>
            </a:r>
            <a:r>
              <a:rPr sz="1200" b="1" i="0">
                <a:solidFill>
                  <a:srgbClr val="141B2E"/>
                </a:solidFill>
                <a:latin typeface="Consolas"/>
              </a:rPr>
              <a:t>size</a:t>
            </a:r>
            <a:r>
              <a:rPr sz="1200" b="1" i="0">
                <a:solidFill>
                  <a:srgbClr val="141B2E"/>
                </a:solidFill>
                <a:latin typeface="Arial"/>
              </a:rPr>
              <a:t> </a:t>
            </a:r>
            <a:r>
              <a:rPr sz="1200" b="1" i="0">
                <a:solidFill>
                  <a:srgbClr val="141B2E"/>
                </a:solidFill>
                <a:latin typeface="Consolas"/>
              </a:rPr>
              <a:t>12812355</a:t>
            </a:r>
            <a:r>
              <a:rPr sz="1200" b="1" i="0">
                <a:solidFill>
                  <a:srgbClr val="141B2E"/>
                </a:solidFill>
                <a:latin typeface="Arial"/>
              </a:rPr>
              <a:t> </a:t>
            </a:r>
            <a:r>
              <a:rPr sz="1200" b="1" i="0">
                <a:solidFill>
                  <a:srgbClr val="141B2E"/>
                </a:solidFill>
                <a:latin typeface="Consolas"/>
              </a:rPr>
              <a:t>bytes</a:t>
            </a:r>
            <a:r>
              <a:rPr sz="1200" b="1" i="0">
                <a:solidFill>
                  <a:srgbClr val="141B2E"/>
                </a:solidFill>
                <a:latin typeface="Arial"/>
              </a:rPr>
              <a:t> </a:t>
            </a:r>
            <a:r>
              <a:rPr sz="1200" b="1" i="0">
                <a:solidFill>
                  <a:srgbClr val="141B2E"/>
                </a:solidFill>
                <a:latin typeface="Consolas"/>
              </a:rPr>
              <a:t>is</a:t>
            </a:r>
            <a:r>
              <a:rPr sz="1200" b="1" i="0">
                <a:solidFill>
                  <a:srgbClr val="141B2E"/>
                </a:solidFill>
                <a:latin typeface="Arial"/>
              </a:rPr>
              <a:t> </a:t>
            </a:r>
            <a:r>
              <a:rPr sz="1200" b="1" i="0">
                <a:solidFill>
                  <a:srgbClr val="141B2E"/>
                </a:solidFill>
                <a:latin typeface="Consolas"/>
              </a:rPr>
              <a:t>too</a:t>
            </a:r>
            <a:r>
              <a:rPr sz="1200" b="1" i="0">
                <a:solidFill>
                  <a:srgbClr val="141B2E"/>
                </a:solidFill>
                <a:latin typeface="Arial"/>
              </a:rPr>
              <a:t> </a:t>
            </a:r>
            <a:r>
              <a:rPr sz="1200" b="1" i="0">
                <a:solidFill>
                  <a:srgbClr val="141B2E"/>
                </a:solidFill>
                <a:latin typeface="Consolas"/>
              </a:rPr>
              <a:t>big</a:t>
            </a:r>
            <a:r>
              <a:rPr sz="1200" b="1" i="0">
                <a:solidFill>
                  <a:srgbClr val="141B2E"/>
                </a:solidFill>
                <a:latin typeface="Arial"/>
              </a:rPr>
              <a:t> </a:t>
            </a:r>
            <a:r>
              <a:rPr sz="1200" b="1" i="0">
                <a:solidFill>
                  <a:srgbClr val="141B2E"/>
                </a:solidFill>
                <a:latin typeface="Consolas"/>
              </a:rPr>
              <a:t>for</a:t>
            </a:r>
            <a:r>
              <a:rPr sz="1200" b="1" i="0">
                <a:solidFill>
                  <a:srgbClr val="141B2E"/>
                </a:solidFill>
                <a:latin typeface="Arial"/>
              </a:rPr>
              <a:t> </a:t>
            </a:r>
            <a:r>
              <a:rPr sz="1200" b="1" i="0">
                <a:solidFill>
                  <a:srgbClr val="141B2E"/>
                </a:solidFill>
                <a:latin typeface="Consolas"/>
              </a:rPr>
              <a:t>a</a:t>
            </a:r>
            <a:r>
              <a:rPr sz="1200" b="1" i="0">
                <a:solidFill>
                  <a:srgbClr val="141B2E"/>
                </a:solidFill>
                <a:latin typeface="Arial"/>
              </a:rPr>
              <a:t> </a:t>
            </a:r>
            <a:r>
              <a:rPr sz="1200" b="1" i="0">
                <a:solidFill>
                  <a:srgbClr val="141B2E"/>
                </a:solidFill>
                <a:latin typeface="Consolas"/>
              </a:rPr>
              <a:t>photo;</a:t>
            </a:r>
            <a:r>
              <a:rPr sz="1200" b="1" i="0">
                <a:solidFill>
                  <a:srgbClr val="141B2E"/>
                </a:solidFill>
                <a:latin typeface="Arial"/>
              </a:rPr>
              <a:t> </a:t>
            </a:r>
            <a:r>
              <a:rPr sz="1200" b="1" i="0">
                <a:solidFill>
                  <a:srgbClr val="141B2E"/>
                </a:solidFill>
                <a:latin typeface="Consolas"/>
              </a:rPr>
              <a:t>the</a:t>
            </a:r>
            <a:r>
              <a:rPr sz="1200" b="1" i="0">
                <a:solidFill>
                  <a:srgbClr val="141B2E"/>
                </a:solidFill>
                <a:latin typeface="Arial"/>
              </a:rPr>
              <a:t> </a:t>
            </a:r>
            <a:r>
              <a:rPr sz="1200" b="1" i="0">
                <a:solidFill>
                  <a:srgbClr val="141B2E"/>
                </a:solidFill>
                <a:latin typeface="Consolas"/>
              </a:rPr>
              <a:t>maximum</a:t>
            </a:r>
            <a:r>
              <a:rPr sz="1200" b="1" i="0">
                <a:solidFill>
                  <a:srgbClr val="141B2E"/>
                </a:solidFill>
                <a:latin typeface="Arial"/>
              </a:rPr>
              <a:t> </a:t>
            </a:r>
            <a:r>
              <a:rPr sz="1200" b="1" i="0">
                <a:solidFill>
                  <a:srgbClr val="141B2E"/>
                </a:solidFill>
                <a:latin typeface="Consolas"/>
              </a:rPr>
              <a:t>size</a:t>
            </a:r>
            <a:r>
              <a:rPr sz="1200" b="1" i="0">
                <a:solidFill>
                  <a:srgbClr val="141B2E"/>
                </a:solidFill>
                <a:latin typeface="Arial"/>
              </a:rPr>
              <a:t> </a:t>
            </a:r>
            <a:r>
              <a:rPr sz="1200" b="1" i="0">
                <a:solidFill>
                  <a:srgbClr val="141B2E"/>
                </a:solidFill>
                <a:latin typeface="Consolas"/>
              </a:rPr>
              <a:t>is</a:t>
            </a:r>
            <a:r>
              <a:rPr sz="1200" b="1" i="0">
                <a:solidFill>
                  <a:srgbClr val="141B2E"/>
                </a:solidFill>
                <a:latin typeface="Arial"/>
              </a:rPr>
              <a:t> </a:t>
            </a:r>
            <a:r>
              <a:rPr sz="1200" b="1" i="0">
                <a:solidFill>
                  <a:srgbClr val="141B2E"/>
                </a:solidFill>
                <a:latin typeface="Consolas"/>
              </a:rPr>
              <a:t>10485760</a:t>
            </a:r>
            <a:r>
              <a:rPr sz="1200" b="1" i="0">
                <a:solidFill>
                  <a:srgbClr val="141B2E"/>
                </a:solidFill>
                <a:latin typeface="Arial"/>
              </a:rPr>
              <a:t> </a:t>
            </a:r>
            <a:r>
              <a:rPr sz="120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175131"/>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58011"/>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358011"/>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640078"/>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640078"/>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3523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235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35235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30646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06463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306463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776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76916"/>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776916"/>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51570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0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016404"/>
            <a:ext cx="11183112" cy="10511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44420"/>
            <a:ext cx="10634472" cy="79514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путь через цепочку</a:t>
            </a:r>
          </a:p>
          <a:p>
            <a:pPr algn="ctr">
              <a:lnSpc>
                <a:spcPts val="1891"/>
              </a:lnSpc>
              <a:spcAft>
                <a:spcPts val="300"/>
              </a:spcAft>
            </a:pPr>
            <a:r>
              <a:rPr sz="1550" b="1" i="0">
                <a:solidFill>
                  <a:srgbClr val="141B2E"/>
                </a:solidFill>
                <a:latin typeface="Arial"/>
              </a:rPr>
              <a:t>Дальше: </a:t>
            </a:r>
            <a:r>
              <a:rPr sz="1550" b="1" i="0">
                <a:solidFill>
                  <a:srgbClr val="141B2E"/>
                </a:solidFill>
                <a:latin typeface="Arial"/>
              </a:rPr>
              <a:t>вход типа А</a:t>
            </a:r>
            <a:r>
              <a:rPr sz="1550" b="1" i="0">
                <a:solidFill>
                  <a:srgbClr val="141B2E"/>
                </a:solidFill>
                <a:latin typeface="Arial"/>
              </a:rPr>
              <a:t> → один путь · </a:t>
            </a:r>
            <a:r>
              <a:rPr sz="1550" b="1" i="0">
                <a:solidFill>
                  <a:srgbClr val="141B2E"/>
                </a:solidFill>
                <a:latin typeface="Arial"/>
              </a:rPr>
              <a:t>вход типа Б</a:t>
            </a:r>
            <a:r>
              <a:rPr sz="1550" b="1" i="0">
                <a:solidFill>
                  <a:srgbClr val="141B2E"/>
                </a:solidFill>
                <a:latin typeface="Arial"/>
              </a:rPr>
              <a:t> → другой · </a:t>
            </a:r>
            <a:r>
              <a:rPr sz="1550" b="1" i="0">
                <a:solidFill>
                  <a:srgbClr val="141B2E"/>
                </a:solidFill>
                <a:latin typeface="Arial"/>
              </a:rPr>
              <a:t>вход, не подошедший ни под один тип</a:t>
            </a:r>
            <a:r>
              <a:rPr sz="1550" b="1" i="0">
                <a:solidFill>
                  <a:srgbClr val="141B2E"/>
                </a:solidFill>
                <a:latin typeface="Arial"/>
              </a:rPr>
              <a:t> → свой путь по умолчанию</a:t>
            </a:r>
          </a:p>
        </p:txBody>
      </p:sp>
      <p:sp>
        <p:nvSpPr>
          <p:cNvPr id="5" name="Rounded Rectangle 4"/>
          <p:cNvSpPr/>
          <p:nvPr/>
        </p:nvSpPr>
        <p:spPr>
          <a:xfrm>
            <a:off x="502920" y="37350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631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