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Обратите внимание на то, 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и на экране он настоящий: форма, извлечение полей, проверка по словарю тем, запись строки, экран результата. Ничего из устройства процесса сегодня не меняется — меняется то, чего теперь ждёт от него Ольга.</a:t>
            </a:r>
          </a:p>
          <a:p/>
          <a:p>
            <a:r>
              <a:t>Двадцать заявок в день, и большинство про одну тему: записаться на курс, перенести занятие, оплатить. По таким экран результата даёт всё нужное сразу — тема и срочность уже проставлены, кому передать, понятно с одного взгляда.</a:t>
            </a:r>
          </a:p>
          <a:p/>
          <a:p>
            <a:r>
              <a:t>Но раз в несколько заявок человек упоминает что-то сверх основного вопроса: оплату вдобавок к записи, перенос занятия вдобавок к вопросу про курс. Поле дополнительных тем в таблице это честно записывает. Проблема не в том, что процесс не заметил, — он заметил и записал верно. Проблема в том, кто и когда это прочитает.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отличается от обычных: заметить её можно единственным способом — открыть экран и прочитать конкретно эту строку.</a:t>
            </a:r>
          </a:p>
          <a:p/>
          <a:p>
            <a:r>
              <a:t>А многотемная заявка почти всегда срочнее.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 а через несколько часов.</a:t>
            </a:r>
          </a:p>
          <a:p/>
          <a:p>
            <a:r>
              <a:t>Отсюда и её просьба, сформулированная предельно конкретно — не «сделайте уведомления умными», а одна строка в Telegram на каждую многотемную заявку: кто написал, по какой теме, что упомянул ещё. Чтобы не идти проверять экран результата из-за одной заявки среди двадцати обычных.</a:t>
            </a:r>
          </a:p>
          <a:p/>
          <a:p>
            <a:r>
              <a:t>Задержите взгляд на кадре ещё на секунду. Всё, что на нём есть, уже работает и работает правильно. Ни один из этих пяти узлов сегодня трогать не придётся: вопрос кейса не в том, что чинить в готовом, а в том, что именно добавить рядом — и как это новое устроить. Как собрать нужную строку из трёх уже известных значений — с этого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Ольга,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и текст у неё получается живой, не казённой фразой.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 не в теории.</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архитектура обеих версий кейса в чистом виде, без единого имени конкретного инструмента. Если завтра ту же цепочку собирают не в том оркестраторе, которым пользуемся мы, формулировка не меняется ни на слово: после того как поля заявки извлечены, в цепочку встаёт один дополнительный шаг — и весь вопрос кейса в том, какой именно.</a:t>
            </a:r>
          </a:p>
          <a:p/>
          <a:p>
            <a:r>
              <a:t>Верхняя строка — версия с моделью. Третий узел на каждый прогон обращается к модели и получает от неё готовый свободный текст. Нижняя строка — версия с шаблоном. Тот же третий узел подставляет уже известные значения в один раз заданную форму; обращения к модели на этом шаге не происходит вовсе.</a:t>
            </a:r>
          </a:p>
          <a:p/>
          <a:p>
            <a:r>
              <a:t>Смотрите на три остальные колонки: они в обеих строках одинаковы и нарочно приглушены. Форма заявки, извлечение полей, отправка в Telegram — ни один из этих узлов правкой не затронут. Это и есть главное, что должна показать схема: мы меняем один узел, а не переписываем цепочку.</a:t>
            </a:r>
          </a:p>
          <a:p/>
          <a:p>
            <a:r>
              <a:t>Главное отличие по сути — не инструмент, а момент принятия решения. В верхней версии решение о том, как будет звучать текст, принимается заново при каждой заявке. В нижней оно принято один раз, заранее, когда форму придумали и зафиксировали, и дальше просто воспроизводится без вариаций. Отсюда прямое следствие для надёжности: у нижнего узла нет пространства для сочинительства — он не может вставить в сообщение деталь, которой не было в заявке, потому что он ничего не сочиняет.</a:t>
            </a:r>
          </a:p>
          <a:p/>
          <a:p>
            <a:r>
              <a:t>Почему вообще стоит сначала рисовать такую обезличенную схему, а не сразу открывать настоящий интерфейс. Потому что решение, правильный ли это узел для задачи, не зависит от того, в каком инструменте он собран. Вопрос «вызывает ли этот шаг модель на каждый прогон или решение принято заранее» звучит одинаково на любом движке.</a:t>
            </a:r>
          </a:p>
          <a:p/>
          <a:p>
            <a:r>
              <a:t>И сразу снимем напрашивающееся возражение: «а вдруг шаблон окажется не таким гибким, как модель». Ответ не «шаблон всегда лучше», а «для этой конкретной потребности шаблону хватает гибкости»: три значения, одна форма сообщения, ничего, что требовало бы по-настоящему разного текста от заявки к заявке. Была бы потребность другой — скажем, писать по-разному в зависимости от срочности, — тот же аргумент сработал бы в обратную сторону. Порядок событий при этом остаётся настоящим: сначала собрали версию с моделью, на практике нашли проблему, и только потом пришли ко второй. Рядом они стоят ради сравнения, а не потому, что были равноценными с самого начала.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экран, который открывается при входе в воркфлоу «Кейс 1 до правки». На кадре весь путь: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на верхнем ярусе. У узла «Compose notification…» подпись обрывается многоточием прямо в интерфейсе: карточка узкая, и n8n режет длинное имя, как резал бы любое другое. Полное имя — «Compose notification (LLM)», его видно, только если открыть сам узел; это ограничение интерфейса, а не огрубление с нашей стороны. Вторая деталь — пометка «Model» со звёздочкой под этим узлом: звёздочка значит, что параметр обязателен, вызов модели здесь не опция.</a:t>
            </a:r>
          </a:p>
          <a:p/>
          <a:p>
            <a:r>
              <a:t>Такая же пометка стоит и под узлом извлечения полей левее — и это не новость: без модели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нечего. Рядом виден ещё один блок, «Result screen Model (notification)»; у версии с шаблоном на том же месте его не будет вовсе.</a:t>
            </a:r>
          </a:p>
          <a:p/>
          <a:p>
            <a:r>
              <a:t>Нижний ярус — панель этого узла, открытая двойным щелчком. Слева само поле задания: модели передают три готовых значения — имя заявителя, основную тему и дополнительные темы, все извлечённые на предыдущих шагах, — и одну инструкцию: написать короткое дружелюбное уведомление, одно-два предложения, по-человечески. Никакой заданной формы фразы. Текст длиннее поля, и n8n прокручивает его: конец инструкции за кадром, а не срезан нами.</a:t>
            </a:r>
          </a:p>
          <a:p/>
          <a:p>
            <a:r>
              <a:t>Обратите внимание на то, чего в инструкции нет: ни слова вроде «обратись к координатору по имени». Имени координатора модели просто не сообщили — тексту, который получит Ольга, оно не нужно. Эта деталь станет важна через экран.</a:t>
            </a:r>
          </a:p>
          <a:p/>
          <a:p>
            <a:r>
              <a:t>Справа — два переключателя, и оба выключены. Формат ответа ничем не задан: модель может вернуть что угодно, лишь бы это был текст. Резервной модели на случай отказа основной тоже нет.</a:t>
            </a:r>
          </a:p>
          <a:p/>
          <a:p>
            <a:r>
              <a:t>Конфигурация выглядит аккуратно и ничем не намекает на будущую проблему: промпт короткий, понятный, без ошибок формулировки. Это стоит держать в голове дальше — если на следующих экранах найдётся находка, дело будет не в качестве написания промпта.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одно сообщение: «Новая заявка от Марии: тема «курс», также упомянуто: оплата.» Один пузырь, без вложений, без кнопок, без необходимости переходить куда-то ещё, чтобы понять, о чём речь.</a:t>
            </a:r>
          </a:p>
          <a:p/>
          <a:p>
            <a:r>
              <a:t>Форма сообщения выбрана не произвольно — это ровно те три значения, которые Ольга назвала достаточными в прошлой сцене: кто написал, по какой теме и что упомянул дополнительно. Не больше и не меньше. Добавь в строку ещё одно поле — например, статус оплаты или внутренний номер заявки — и уведомление перестанет читаться одним взглядом: оно превратится в текст, который нужно разбирать, а не бегло просматривать среди двадцати похожих сообщений за день.</a:t>
            </a:r>
          </a:p>
          <a:p/>
          <a:p>
            <a:r>
              <a:t>В интерфейсе это выглядит буднично, и это и есть главная мысль слайда. Новое сообщение просто появляется в том же чате, где уже лежит история всех прежних уведомлений центра — без отдельной вкладки, без нового значка, без перехода куда-либо ещё. Ольга читает этот чат сверху вниз точно так же, как читала его вчера и позавчера; меняется только содержимое одной строки, а не привычка, которой она уже пользуется.</a:t>
            </a:r>
          </a:p>
          <a:p/>
          <a:p>
            <a:r>
              <a:t>Это ровно тот пример, который Ольга назвала в прошлой сцене, слово в слово — кто написал, по какой теме, что упомянул дополнительно. Три значения, одна строка. Если сообщение выглядит так на каждой заявке, задача решена полностью: Ольге достаточно читать уведомления, не открывая экран результата из-за одной многотемной заявки среди двадцати обычных.</a:t>
            </a:r>
          </a:p>
          <a:p/>
          <a:p>
            <a:r>
              <a:t>Вопрос в том, выглядит ли оно так каждый раз, при любой заявке, а не только при этой одной. Следующий экран — настоящие прогоны одного и того же узла, не придуманный пример, и один из них выглядит иначе, чем этот.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реально получилось, не в теории, — два прогона одного и того же узла, одной и той же инструкции, на реальных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На этой заявке интерпретировать было действительно нечего сложного: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«Привет, [Имя координатора]! У нас новая многотемная заявка от Олега по вопросу переноса занятия и об оплате.» Прочитайте внимательно второе слово. Это не переменная, которая не подставилась технически, — это буквальный кусок собственного шаблона-инструкции модели, адресованный самой модели, а не Ольге, который она должна была заменить настоящим содержанием и не заменила.</a:t>
            </a:r>
          </a:p>
          <a:p/>
          <a:p>
            <a:r>
              <a:t>И важно, что произошло на уровне журнала выполнения: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прошлом экране, и тем же прямоугольником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 прошлом кадре под узлом композиции стояла пометка «Model» со звёздочкой, а рядом — дополнительный блок «Result screen Model (notification)». Здесь на этом месте обычный «Result screen», а под самим узлом стоит «manual»: он соединён прямой стрелкой с отправкой, без единого промежуточного узла модели. Подпись при этом читается целиком, без многоточия, — просто потому, что «template» короче, чем «LLM» с полным именем.</a:t>
            </a:r>
          </a:p>
          <a:p/>
          <a:p>
            <a:r>
              <a:t>Узел извлечения полей левее по-прежнему помечен «Model» со звёздочкой, и это важно не спутать: тот вызов общий для обеих версий. Разница между версиями — не «с моделью» против «совсем без модели», а «модель вызывается дважды» против «модель вызывается один раз, там, где без неё правда не обойтись».</a:t>
            </a:r>
          </a:p>
          <a:p/>
          <a:p>
            <a:r>
              <a:t>Нижний ярус — панель того же узла. Слева одно поле, </a:t>
            </a:r>
            <a:r>
              <a:rPr>
                <a:latin typeface="Consolas"/>
              </a:rPr>
              <a:t>notification_text</a:t>
            </a:r>
            <a:r>
              <a:t>, типа «строка», и в нём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оборот «также» только тогда, когда дополнительные темы вообще есть. В отличие от промпта с прошлого экрана, выражение видно целиком, без прокрутки: оно короче и умещается в поле.</a:t>
            </a:r>
          </a:p>
          <a:p/>
          <a:p>
            <a:r>
              <a:t>Справа — переключатель, который легко пропустить: узел не просто кладёт в новое поле собранный текст, он заодно пропускает дальше по цепочке все остальные поля заявки без изменений, чтобы следующие узлы не потеряли то, что им понадобится.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то, чего в заявке не было. Цена этой надёжности обратная: если форма сообщения когда-нибудь должна будет меняться по смыслу, а не по значениям, выражение придётся переписывать руками на каждый такой случай. Обе версии мы прогнали через одни и те же заявки — что из этого вышло,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первой версии не сломался и технически не ошибся: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не инструмент для создания нового смысла, а дорогой и не вполне предсказуемый способ пересказать своими словами то, что уже известно.</a:t>
            </a:r>
          </a:p>
          <a:p/>
          <a:p>
            <a:r>
              <a:t>Отсюда класс задачи, который переносится на любой оркестратор: сборка сообщения из уже извлечённых значений по фиксированной форме. Признак, по которому вы узнаете его в собственной цепочке, простой — если шаблон итогового сообщения можно написать заранее, не видя ни одной конкретной заявки, и в нём остаются только пустые места под подстановку, то сочинять здесь уже нечего.</a:t>
            </a:r>
          </a:p>
          <a:p/>
          <a:p>
            <a:r>
              <a:t>Два нюанса, прежде чем закрепить критерий, и оба про то, что ни одна из версий не безопасна навечно.</a:t>
            </a:r>
          </a:p>
          <a:p/>
          <a:p>
            <a:r>
              <a:t>Первый — лишний шаг модели это риск, а не только лишняя цена. Легко подумать, что раз задача тривиальная, то и опасаться нечего. Но мы только что видели: даже на форматировании вызов модели остаётся точкой, где может появиться деталь, которой не было на входе. Деньги и время здесь даже не главное — главное, что непредсказуемо, что именно окажется в тексте.</a:t>
            </a:r>
          </a:p>
          <a:p/>
          <a:p>
            <a:r>
              <a:t>Второй нюанс — ровно про шаблон, и он для равновесия. Шаблон не безопасен навсегда просто потому, что детерминированный. Понадобится форме настоящая вариативность — скажем, несколько языков или разная подробность для разных получателей — статическое выражение этого не почувствует само, и переписывать его придётся руками на каждый новый случай. Это другая цена, инженерная, но тоже реальная.</a:t>
            </a:r>
          </a:p>
          <a:p/>
          <a:p>
            <a:r>
              <a:t>Отсюда критерий, который можно унести с собой,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которой не случилось на предыдущем шаге. Шаблона достаточно, когда форма одна и значения уже структурированы.</a:t>
            </a:r>
          </a:p>
          <a:p/>
          <a:p>
            <a:r>
              <a:t>И возвращаемся к оси занятия. Первая строка: сообщение действительно ушло координатору, и это было правдой с самого начала. Чем оно оказалось — цепочка получилась короче и дешевле вовсе без узла модели. Заметьте: оба узла формально решили одну задачу, и прогон был зелёным у обоих.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И это не разовый случай. По ощущению самой Ольги, подобное повторение — вопрос другими словами, на который уже есть ответ, — происходит у неё примерно десять раз в день. Мы не замеряли это число инструментально, оно идёт от человека, который читает заявки каждый день, — но даже как оценка оно показывает, что перед нами не курьёз одного утра, а постоянная часть потока.</a:t>
            </a:r>
          </a:p>
          <a:p/>
          <a:p>
            <a:r>
              <a:t>Сегодня задача не в том, нужна проверка или нет — она нужна очевидно, раз это происходит каждый день, — а в том,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это не теория, а пять реальных способов, которые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Обратите внимание на формулировки: все пять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вопрос не о том, какой инструмент умнее в принципе, а о том, какой шаг вы бы поставили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реальные инженерные решения. Разбирать будем, что каждое реально ловит на нашей паре, а что — нет, и во что это обходится.</a:t>
            </a:r>
          </a:p>
          <a:p/>
          <a:p>
            <a:r>
              <a:t>Пятнадцать секунд, потом по рукам.</a:t>
            </a:r>
          </a:p>
          <a:p/>
          <a:p>
            <a:r>
              <a:t>И ещё один вопрос, уже не о выборе, а о предсказании — прежде чем смотреть разбор. Две из пяти схем мы измерили на одних и тех же двадцати парах: буквальное совпадение текстов и классический векторный подход, тот самый, что считает похожесть по общим словам. Какая из двух окажется точнее? Поставьте на одну, руками, до показа.</a:t>
            </a:r>
          </a:p>
          <a:p/>
          <a:p>
            <a:r>
              <a:t>Ответ на следующем экране, и он переворачивает ожидание: классика хуже — тринадцать против пятнадцати. Ставка на векторный подход совершенно разумна, и ровно поэтому его и измерили: более серьёзный инструмент не обязан быть лучше простого, но проверяется это измерением, а не рассуждением. Ставка на буквальное совпадение верна по другой причине, чем кажется: хэш ошибается только в одну сторону — пропускает, — а векторный подход научился ошибаться в обе.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Цена и скорость здесь не считаются отдельно: это сравнение строк,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реалистичный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на основе слов слепа к этому в принципе. Но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 цена не в деньгах,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из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По прайсу он не просто точнее дешёвой модели-судьи, а ещё и дешевле — на том же объёме около $0,003 в месяц; тоже оценка по прайсу, не измеренный факт.</a:t>
            </a:r>
          </a:p>
          <a:p/>
          <a:p>
            <a:r>
              <a:t>Главная 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и этому числу слепо сейчас. И ещё одна: обе суммы здесь —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 архитектурный вывод, и он не привязан ни к одному конкретному инструменту: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решает это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этого теста на дорогой шаг встал именно он, а не модель общего назначения — и это уже не мысль на будущее, а собранная цепочка.</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Но это не повод откладывать внедрение здесь: на этом наборе и для этой задачи разница чистая и с запасом, и решение уже стоит на стенде — дальше на двух экранах вы увидите настоящую настроенную цепочку, а не схему-черновик.</a:t>
            </a:r>
          </a:p>
          <a:p/>
          <a:p>
            <a:r>
              <a:t>Это тот же общий приём, что и в первом кейсе этого занятия: модель не убирается, а сдвигается туда, где она реально нужна, —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настоящих настроенных узла со стенда, на настоящем скрине холста.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здесь стоит отдельного внимания, хотя на этом экране он не виден, — это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два узла выглядят на самом деле, если открыть панель настройки каждого на живом стенде.</a:t>
            </a:r>
          </a:p>
          <a:p/>
          <a:p>
            <a:r>
              <a:t>Слева — узел </a:t>
            </a:r>
            <a:r>
              <a:rPr>
                <a:latin typeface="Consolas"/>
              </a:rPr>
              <a:t>Normalize + hash</a:t>
            </a:r>
            <a:r>
              <a:t>, режим ручного отображения полей. На кадре видно первое из трёх его полей, </a:t>
            </a:r>
            <a:r>
              <a:rPr>
                <a:latin typeface="Consolas"/>
              </a:rPr>
              <a:t>normalized_hash</a:t>
            </a:r>
            <a:r>
              <a:t>: оно берёт текст текущей заявки из формы, поле «Что нужно», и приводит его к общему виду — нижний регистр, обрезка пробелов по краям, схлопывание повторных пробелов внутри. Слово «hash» в имени поля здесь не про криптографический хэш: это просто нормализованная строка, и никакого необратимого преобразования за ним не стоит.</a:t>
            </a:r>
          </a:p>
          <a:p/>
          <a:p>
            <a:r>
              <a:t>Второе и третье поля того же узла в кадр не попали, и устроены они так же. </a:t>
            </a:r>
            <a:r>
              <a:rPr>
                <a:latin typeface="Consolas"/>
              </a:rPr>
              <a:t>recent_same_contact_text</a:t>
            </a:r>
            <a:r>
              <a:t> — недавнее сообщение того же контакта как есть, без изменений, на случай если текст понадобится показать, а не только сравнить. </a:t>
            </a:r>
            <a:r>
              <a:rPr>
                <a:latin typeface="Consolas"/>
              </a:rPr>
              <a:t>recent_same_contact_hash</a:t>
            </a:r>
            <a:r>
              <a:t> — тот же текст, пропущенный через ту же самую нормализацию. То есть узел готовит две строки к сравнению одной и той же операцией, и это важно: если бы текущую заявку и предыдущее сообщение нормализовали по-разному, сравнение потеряло бы смысл ещё до того, как дошло до условия.</a:t>
            </a:r>
          </a:p>
          <a:p/>
          <a:p>
            <a:r>
              <a:t>Внизу панели, тоже за границей кадра,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Справа — узел </a:t>
            </a:r>
            <a:r>
              <a:rPr>
                <a:latin typeface="Consolas"/>
              </a:rPr>
              <a:t>Exact duplicate in window?</a:t>
            </a:r>
            <a:r>
              <a:t>, тип </a:t>
            </a:r>
            <a:r>
              <a:rPr>
                <a:latin typeface="Consolas"/>
              </a:rPr>
              <a:t>IF</a:t>
            </a:r>
            <a:r>
              <a:t>, и его условие видно целиком: </a:t>
            </a:r>
            <a:r>
              <a:rPr>
                <a:latin typeface="Consolas"/>
              </a:rPr>
              <a:t>normalized_hash</a:t>
            </a:r>
            <a:r>
              <a:t> сравнивается оператором «равно» с </a:t>
            </a:r>
            <a:r>
              <a:rPr>
                <a:latin typeface="Consolas"/>
              </a:rPr>
              <a:t>recent_same_contact_hash</a:t>
            </a:r>
            <a:r>
              <a:t> — то есть ровно с тем третьим полем, которое посчитал предыдущий узел. Переключатель приведения типов выключен: строки сравниваются как есть, без тихого превращения разных значений в равные. Кнопка «Add condition» под условием показывает, что условие в узле одно — скрытой логики за кадром нет.</a:t>
            </a:r>
          </a:p>
          <a:p/>
          <a:p>
            <a:r>
              <a:t>Вместе эти два узла и есть весь дешёвый слой проверки: одна операция приведения к общему виду и одно сравнение. Ни одного параметра, который можно настроить удачно или неудачно, ни одного места, где решение зависело бы от формулировки. Дальше — второй, дорогой шаг, который видит только то, что это условие не остановило.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И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в этом случае тип </a:t>
            </a:r>
            <a:r>
              <a:rPr>
                <a:latin typeface="Consolas"/>
              </a:rPr>
              <a:t>noul</a:t>
            </a:r>
            <a:r>
              <a:t>, закрытый вопрос с ответом «да или нет», но не просто бинарным, а с вероятностью. Модели передают оба текста, явную инструкцию, что именно считается «тем же вопросом», и два явных критерия — что засчитывается как «да», что как «нет». Ничего из этого не нужно угадывать по тону формулировки, как в свободном промпте: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и это важно: результат не зависит от удачно подобранного порога,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не потому, что ошиблись, а потому что у них по конструкции нет общих значимых слов для сравнения: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подводить итог кейса, стоит посмотреть не на схему и не на настройку узла, а на то, что в итоге видит сама Ольга в таблице заявок, которую она открывает каждое утро. На экране — настоящая таблица учебного стенда, строки с пятнадцатой по двадцатую.</a:t>
            </a:r>
          </a:p>
          <a:p/>
          <a:p>
            <a:r>
              <a:t>Пятнадцатая и шестнадцатая — Пётр, одно и то же письмо слово в слово, между ними сутки. Следующие четыре — Анна, снова один и тот же текст, записанный четыре раза. Внутри каждой пары разница меньше двадцати миллисекунд: человек дважды нажал кнопку отправки, а форма честно приняла оба нажатия. Для таблицы это четыре разные заявки; никакого признака, по которому их можно было бы отличить от четырёх разных вопросов, в ней нет.</a:t>
            </a:r>
          </a:p>
          <a:p/>
          <a:p>
            <a:r>
              <a:t>Даты на кадре старше проверки на повтор — проверка появилась в цепочке позже, и ни одна из этих строк через неё не проходила. С ней картина меняется наполовину. Буквальный повтор до таблицы больше не доходит: дешёвый механический шаг останавливает заявку раньше, чем она туда попадёт, прогон при этом завершается штатно, и Ольга не увидит ни повтора, ни следа того, что он был. А тот же вопрос другими словами доходит по-прежнему. Проверку смыслом на этом шаге только что измерили — перефразировку от нового вопроса она отличает надёжно, — но её ответ никуда не сохраняется: колонки под него в таблице нет, и после неё в цепочке нет ни одной развилки. Строка записывается такой же, как первая.</a:t>
            </a:r>
          </a:p>
          <a:p/>
          <a:p>
            <a:r>
              <a:t>Это не промах измерения. Это граница между «различить» и «показать различие»: первое собрано и замерено, второе не собрано вовсе. Что делать с найденной перефразировкой — пропустить молча, записать с пометкой или гасить наравне с буквальным повтором — продуктовый вопрос, который уже назван нюансом кейса. Сегодня выбран первый ответ, и выбран он не решением, а умолчанием.</a:t>
            </a:r>
          </a:p>
          <a:p/>
          <a:p>
            <a:r>
              <a:t>Ещё одно наблюдение из той же таблицы, за пределами разбора. У строк с семнадцатой по двадцатую текст один, а тема, которую извлёк шаг классификации, разная: дважды «другое», потом «перенос занятия», потом «оплата». Та же история ниже по таблице: один текст в трёх строках получил «курс», «оплату» и «другое». Шаг извлечения полей, стоящий до всякой дедупликации, на одинаковом входе даёт разный выход — и именно поэтому повтор ищут по самому тексту, а не по извлечённой теме.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интервал времени сам по себе параметр с ценой. Слишком короткий интервал — и повтор, который человек прислал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какой именно моделью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Это не значит «всегда берите специализированный сервис»: значит, что выбор инструмента для этого шага стоит проверять так же, как мы проверили, нужен ли шаг вообще, — не угадывать.</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и каким именно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его тему; здесь она идёт на шаг дальше — после того как обращение распознано как просьба о возврате, она же решает, одобрить сумму автоматически или передать её руководителю. Не два разных процесса, а один, которому добавили ещё один шаг.</a:t>
            </a:r>
          </a:p>
          <a:p/>
          <a:p>
            <a:r>
              <a:t>Внутри этого шага правило звучит просто и на первый взгляд совершенно однозначно — порог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разбору похожей истории на другом масштабе — уже не учебного центра, а целой компании, —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и это не новый процесс с нуля — это продолжение того, что мы уже собрали в Семинаре 7.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Внутри этого шага совмещены сразу три операции: прочитать сумму, сравнить её с порогом, сформулировать ответ — и все три модель делает сама, без какой-либо проверки снаружи. Именно эту возможность — в рамках той же формы добавить автоматический возврат средств до заданного порога, не отправляя каждую мелкую заявку руководителю, — команда и реализовала месяц назад.</a:t>
            </a:r>
          </a:p>
          <a:p/>
          <a:p>
            <a:r>
              <a:t>Дальше развилка простая и в ней появляется деталь, которой не было в предыдущих кейсах: если решение «одобрить» — деньги не просто «оформляются», они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самом промте: переформулировать текст, явно развести, что происходит на самой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здесь нет одного очевидно неправильного варианта среди остальных. Все четыре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Два действия меняют ЧТО-ТО в том, как модель принимает решение, — переформулировку, инструмент.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для каждого теперь есть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 здесь нужно пояснить подробнее, почему это не решает проблему. Прежде чем калькулятор что-то сравнит, модели всё равно нужно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не убирает вероятностность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 ноль ошибок, включая все заложенные граничные случаи. Что он принципиально не закрывает — ошибку самого извлечения; на этом измерении её не нашлось, но архитектурно это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стоит рассказать про одну идею, которая появилась уже после того, как таблица на предыдущем экране была готова, и которая не вошла в неё пятой строкой — не потому что её постеснялись, а потому что проверка показала: собрать её так, как она задумывалась, нельзя.</a:t>
            </a:r>
          </a:p>
          <a:p/>
          <a:p>
            <a:r>
              <a:t>Идея звучала разумно. У нас уже есть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число нельзя выдумывать, его нужно измерить. И выяснилось то, что вы видите в верхнем ряду. У сервиса ровно четыре типа ответа: да или нет с вероятностью, выбор одного варианта из заранее перечисленных, позиция на заданной шкале, область на картинке. Открытого числа среди них нет вообще, ни в каком виде, — и пятая карточка перечёркнута не для красоты: это не «плохо поддерживается», это отсутствующая операция.</a:t>
            </a:r>
          </a:p>
          <a:p/>
          <a:p>
            <a:r>
              <a:t>Нижний ярус показывает, почему это не мелочь. Две суммы, две тысячи девятьсот девяносто девять и три тысячи один рубль, лежат по разные стороны настоящего порога. Обеим предложили одну и ту же шкалу диапазонов, заданную заранее. Сервис вернул для обеих один и тот же диапазон, с полной уверенностью в обоих случаях. Различить их получилось бы только если заранее зашить границу ровно в три тысячи в сам вопрос к сервису — то есть знать порог в момент формулировки вопроса, точно как в тексте правила, которое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просто переезжала на шаг раньше и там продолжала жить. У этого сервиса в данной задаче самой операции «вернуть число» не существует: это не плохо выполненная работа, а работа другого класса, которую он в принципе не берёт.</a:t>
            </a:r>
          </a:p>
          <a:p/>
          <a:p>
            <a:r>
              <a:t>Урок простой и универсальный, не только про возврат денег: прежде чем проектировать шаг вокруг стороннего сервиса, проверьте, что он физически умеет делать то, что от него хотят. Не исходите из того, что раз он хорош в соседней задаче, значит подойдёт и здесь.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где-то в случайном месте цепочки — ровно в одной точке: там, где принимается решение «одобрить» или «эскалировать». Прежде чем идти дальше и разбирать это число подробно, стоит показать, что мы с этой находкой сделали.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Дальше разберём, насколько хорошо это работает на самом деле: не просто headline-число, а как именно был устроен тест на сто один запрос и на каких конкретно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 и в этой волне метод стал ещё важнее: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И вот что добавлено в этой волне. Три тысячи рублей — это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просто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Набор воспроизводим целиком: стартовое значение генератора записано, и прогон можно повторить и получить те же сто один текст.</a:t>
            </a:r>
          </a:p>
          <a:p/>
          <a:p>
            <a:r>
              <a:t>Прежде чем переключать на результат — остановитесь и предположите сами, тремя вариантами руками: ошибок ноль, до пяти, больше двадцати. Правило месяц работало без единой жалобы, и это единственное, что про него известно заранее. Пауза здесь нужна настоящая: число на следующем экране стоит ровно столько, сколько стоило собственное предположение до него.</a:t>
            </a:r>
          </a:p>
          <a:p/>
          <a:p>
            <a:r>
              <a:t>Оба исхода предположения одинаково полезны. Ответ «до пяти» близок к истине по доле — девять из ста одного, — но доля здесь не главное: все девять ошибок стоят в одной точке, и это выясняется только из разбивки. Ответ «ноль» — самый частый и самый поучительный: месяц без единой жалобы не говорит о числе ошибок ничего, потому что тихая ошибка жалобы и не вызывает.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ответ. Девять ошибок из ста одного прогона у версии, где порог записан словами внутри промпта, и ноль ошибок у версии, где тот же порог стоит условием в коде. Один и тот же набор запросов, один и тот же учебный центр, одна и та же модель на шаге извлечения суммы — разница только в том, кто принимает решение «одобрить или эскалировать».</a:t>
            </a:r>
          </a:p>
          <a:p/>
          <a:p>
            <a:r>
              <a:t>Девять из ста одного — это чуть меньше девяти процентов. Само по себе это число мало что говорит: девять процентов ошибок на шаге, который срабатывает раз в неделю, и девять процентов на шаге, который срабатывает триста раз в месяц, — совершенно разные вещи. Но здесь важнее не доля, а то, где именно эти девять стоят.</a:t>
            </a:r>
          </a:p>
          <a:p/>
          <a:p>
            <a:r>
              <a:t>Все девять — на одной сумме. Не «в диапазоне около трёх тысяч», не «чем ближе к порогу, тем чаще», а ровно на трёх тысячах рублей, и ни на одной другой сумме набора. Две тысячи девятьсот девяносто девять — верно. Три тысячи одна — верно. Три тысячи — ошибка, каждый раз, в какой бы формулировке сумма ни пришла: прямым числом или посчитанная арифметикой внутри текста заявки.</a:t>
            </a:r>
          </a:p>
          <a:p/>
          <a:p>
            <a:r>
              <a:t>Почему именно там. Правило в промте написано словами: «не возвращай больше трёх тысяч». Человек читает это как «три тысячи ещё можно». Модель на самой границе читает это иначе и отправляет заявку руководителю. Спорить о том, чьё прочтение правильное, бессмысленно: формулировка допускает оба, и в этом вся беда — граница осталась предметом интерпретации вместо того, чтобы быть сравнением двух чисел.</a:t>
            </a:r>
          </a:p>
          <a:p/>
          <a:p>
            <a:r>
              <a:t>Для учебного центра три тысячи — не случайная сумма из середины диапазона. Это и есть заявленный порог, то самое место, где решение переключается, и именно на нём стоит самая частая заявка: клиенты просят вернуть ровно столько, сколько стоит занятие или блок занятий.</a:t>
            </a:r>
          </a:p>
          <a:p/>
          <a:p>
            <a:r>
              <a:t>На следующем экране — то же самое число, разложенное по шести блокам теста: сколько запросов в каждом, сколько ошибок и какой текст заявки за ними стоит. Смотреть там нужно не на итог — он уже перед вами, — а на то, в каких блоках ошибок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а потому что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Новый блок у самой границы, где суммы ещё плотнее прижаты к трём тысячам, — пятнадцать запросов, и неожиданно ноль ошибок: ни 2980, ни 2999, ни 3001, ни 3020 не сбили модель,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Это и есть главное, что подтверждает расширенный набор: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идеально, во всех случаях без исключения. Промах — только там, где сумма равна порогу буквально.</a:t>
            </a:r>
          </a:p>
          <a:p/>
          <a:p>
            <a:r>
              <a:t>И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сколь угодно близко к границе, модель безупречна.</a:t>
            </a:r>
          </a:p>
          <a:p/>
          <a:p>
            <a:r>
              <a:t>Разница между «случайная ошибка» и «систематическая ошибка ровно на границе» — это и есть то, что решение, которое мы уже показали на схеме, устраняет структурно: </a:t>
            </a:r>
            <a:r>
              <a:rPr>
                <a:latin typeface="Consolas"/>
              </a:rPr>
              <a:t>IF</a:t>
            </a:r>
            <a:r>
              <a:t>-узел меняет саму точку, где принимается решение, вместо того чтобы снижать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настоящей открытой панелью промпта версии один, который он заменил. Оба экрана настоящие, оба сняты с живого стенда, и ради контраста стоило положить их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целиком, здесь она договорена полностью. Обратите внимание, что в этом тексте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девять раз из ста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то же самое изнутри: ровно то, что видит инженер, открыв настройку двойным щелчком.</a:t>
            </a:r>
          </a:p>
          <a:p/>
          <a:p>
            <a:r>
              <a:t>Слева — узел, который достаёт сумму из текста заявки. Он называется «Information Extractor», и его задача задана не вольной инструкцией, а строгой схемой ответа на двенадцать строк. В схеме один параметр, </a:t>
            </a:r>
            <a:r>
              <a:rPr>
                <a:latin typeface="Consolas"/>
              </a:rPr>
              <a:t>amount_rub</a:t>
            </a:r>
            <a:r>
              <a:t>, тип у него — строго число, и он помечен обязательным. Модели внутри этого узла не разрешено вернуть текст, диапазон или слово «примерно»: результат либо проходит эту схему, либо узел считается не выполнившимся. Это тот самый шаг извлечения, который версия два не убирает — сумму по-прежнему достаёт модель, — но результат шага дисциплинирован форматом, а не только просьбой в промпте.</a:t>
            </a:r>
          </a:p>
          <a:p/>
          <a:p>
            <a:r>
              <a:t>Справа — узел, который заменил текстовое решение версии один. Условие у него одно, и читается оно буквально: уже извлечённое число сравнивается с тремя тысячами оператором «больше». Не абзац текста о пороге, а одна строка сравнения в форме, где у исполнителя нет пространства для толкования. Под условием стоит кнопка «добавить условие» — значит, скрытых правил рядом нет, и то, что видно, и есть всё правило целиком.</a:t>
            </a:r>
          </a:p>
          <a:p/>
          <a:p>
            <a:r>
              <a:t>Отдельно стоит переключатель приведения типов, и он выключен намеренно. Если бы он был включён, условие соглашалось бы сравнивать с числом строку — а строка приезжает сюда с предыдущего шага, где её собрала модель, и тихое преобразование «три тысячи рублей» в число или в ноль прошло бы без единого следа в журнале. Выключенный переключатель превращает такую ситуацию в честный сбой узла вместо тихо неверного ответа.</a:t>
            </a:r>
          </a:p>
          <a:p/>
          <a:p>
            <a:r>
              <a:t>Разница между этими двумя панелями и текстовым промптом версии один — не в количестве слов, а в том, где живёт смысл решения. В промпте правило растворено в естественном языке, и модель перечитывает и толкует его заново на каждом прогоне. Здесь правило — поле формы, которое либо заполнено верно, либо подсвечено ошибкой ещё до запуска. Остальная цепочка не изменилась: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стоит на секунду встать на сторону клиента и посмотреть, что он видит, когда его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Разница между версиями — в том, как внутри цепочки принимается это решение; для самого клиента её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заявка одобрена, и конкретная сумма уже отправлена на карту, которой он платил за занятие. Один пузырь, без вложений и без кнопок — ровно как и в первом кейсе этого занятия, где такое же короткое уведомление приходило в уже существующий чат.</a:t>
            </a:r>
          </a:p>
          <a:p/>
          <a:p>
            <a:r>
              <a:t>Важно, чего в этом сообщении нет. В нём нет имени узла, который принял решение, нет слова «порог» или числа «три тысячи», нет внутреннего идентификатора заявки или исполнения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это не особенность, привязанная именно к версии два. Если бы версия один, с её текстовым промптом, тоже решила одобрить эту заявку, клиент увидел бы ровно то же самое сообщение — потому что всё, что меняется между версиями, происходит до этого экрана, внутри цепочки, а не в интерфейсе, который видит клиент. Разница версий — это разница в надёжности самого решения, а не в том, что в итоге получает человек.</a:t>
            </a:r>
          </a:p>
          <a:p/>
          <a:p>
            <a:r>
              <a:t>Вопрос, который стоит держать в голове дальше: если бы сумма заявки случайно совпала с порогом в три тысячи рублей — а мы только что видели, где именно версия один раз за разом ошибалась, — пришло бы клиенту то же сообщение, или вместо него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расширенный набор из ста одного запроса — пятьдесят один исходный, на котором мы впервые нашли проблему, и пятьдесят новых, сложнее первых, добавленных именно для того, чтобы проверить находку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а ноль на наборе, который включает плотный кластер сумм прямо у границы, суммы в двадцати рублях от неё с обеих сторон, тексты с двумя числами и формулировки, где сумма получается арифметикой, а не названа прямо, —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не сбили версию один с толку.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 теперь расширенном — тесте, который эту находку дал и подтвердил.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этому обобщению. Переформулировка правила яснее — одно из четырёх разобранных действий — на практике полностью убрала именно эту ошибку: сто из ста на расширенном наборе. Это не противоречит выводу «решение должно быть кодом» — это уточняет его. Уточнённая формулировка — это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просто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 это не то же самое, что поставить </a:t>
            </a:r>
            <a:r>
              <a:rPr>
                <a:latin typeface="Consolas"/>
              </a:rPr>
              <a:t>IF</a:t>
            </a:r>
            <a:r>
              <a:t>-узел после извлечения.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В этот раз утверждение проверено настоящим прогоном — собрали агента с настоящим инструментом-калькулятором и прогнали его на той же сотне запросов. Результат оказался не просто «не гарантией», а измеримо хуже всех остальных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вообще не свелась к чистому слову «одобрить» или «эскалировать»; и почти десятая часть ошибок рассыпалась по всему диапазону сумм, а не сидела аккуратно на границе, как у версии один. Инструмент у модели — не гарантия, а перенос проблемы, и теперь это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Три числа на экране — не оценки журналистов, а прямые данные из отчётности перед SEC, и у каждого есть продолжение. Списание стоимости запасов домов — $304,4 млн за один третий квартал 2021 года; по итогам всего года набежало $407,9 млн. Сокращение штата — около двух тысяч человек, примерно четверть всех работавших в компании. Средний убыток в $80 000 на дом считается так: только за тот же третий квартал Zillow купила 9680 домов, а продать успела лишь 3032, и на каждом проданном в среднем потеряла эту сумму.</a:t>
            </a:r>
          </a:p>
          <a:p/>
          <a:p>
            <a:r>
              <a:t>Мы ставим этот разбор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который мы зададим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периода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период контроля, который мог бы это остановить.</a:t>
            </a:r>
          </a:p>
          <a:p/>
          <a:p>
            <a:r>
              <a:t>Разница между архивом и периодом контроля — не стилистическая тонкость. Архив говорит правду только после того, как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периода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 Держите в голове одну вещь на весь кейс: всё, чем мы сегодня научились проверять работу цепочки, здесь сказало «успех» — и ошиблось.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a:p/>
          <a:p>
            <a:r>
              <a:t>Значит, прежде чем звать это решением, нужно явно назвать, чему карточка обязана соответствовать — не постфактум, глядя на провал, а заранее, как требование. И требований здесь не одно, а два, и они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 от неё напрямую зависит, какой инструмент вообще способен такое требование проверить, и это ровно тот вопрос, который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a:p/>
          <a:p>
            <a:r>
              <a:t>И сразу второй вопрос, на предсказание — он понадобится через несколько экранов, когда дойдём до настоящего вызова. Файл, который отправляли, весит двенадцать и восемь десятых мегабайта. Предел самого n8n — шестнадцать мегабайт, предел Telegram на фотографию — десять. Дойдёт карточка до координатора или нет? Поставьте на один из двух ответов руками, прежде чем смотреть дальше.</a:t>
            </a:r>
          </a:p>
          <a:p/>
          <a:p>
            <a:r>
              <a:t>Ответ будет настоящим — дословный ответ интерфейса Telegram на экране про границу размера. Предсказание «дойдёт» опирается на верное наблюдение: файл прошёл предел инструмента, в котором собрана вся цепочка, и обычно этого хватает. Предсказание «не дойдёт» верно по той причине, которую и стоит унести: пределов здесь два, они принадлежат разным системам и не обязаны совпадать, а дешёвая проверка обязана знать меньший из них.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а разбор по двум требованиям, которые мы только что назвали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закрывает смысловое требование, и здесь честный ответ другой: сегодня в нашей цепочке такого шага нет. Единственный инструмент, который в принципе способен оценить, что на картинке, — модель с распознаванием изображений, и этот уровень сегодня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 Это тот же урок, что мы уже видели в «Уведомлениях» и в Zillow, перенесённый на картинку: механическое требование к файлу — задача кода; требование к содержимому — задача, которая нуждается в модели, а не отсутствие задачи вовсе.</a:t>
            </a:r>
          </a:p>
          <a:p/>
          <a:p>
            <a:r>
              <a:t>Первая строка таблицы и вторая — это один и тот же класс, закрытый сегодня. Третья строка — класс, названный, но не закрытый: дальше мы посмотрим, как выглядит архитектура, которая его хотя бы предусматривает, а потом —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вообще берутся на холсте.</a:t>
            </a:r>
          </a:p>
          <a:p/>
          <a:p>
            <a:r>
              <a:t>Это настоящий канвас живого стенда, тот же воркфлоу, что и на следующем экране, только в кадре чуть больше контекста. Слева — </a:t>
            </a:r>
            <a:r>
              <a:rPr>
                <a:latin typeface="Consolas"/>
              </a:rPr>
              <a:t>Write row</a:t>
            </a:r>
            <a:r>
              <a:t>: узел, который записывает заявку в таблицу, и </a:t>
            </a:r>
            <a:r>
              <a:rPr>
                <a:latin typeface="Consolas"/>
              </a:rPr>
              <a:t>Result screen</a:t>
            </a:r>
            <a:r>
              <a:t> — экран, которым обычная форма заканчивается. Это тот же самый путь приёма заявки, что мы уже видели на холсте Кейса 1: форма, извлечение полей, проверка по словарю тем, запись строки. Здесь он не повторяется заново — он просто виден слева, за кадром, потому что эта часть процесса не изменилась.</a:t>
            </a:r>
          </a:p>
          <a:p/>
          <a:p>
            <a:r>
              <a:t>А вот то, что изменилось,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реальном процессе появляется кейс 4» — не рядом, не вместо, а веткой из уже существующей точки.</a:t>
            </a:r>
          </a:p>
          <a:p/>
          <a:p>
            <a:r>
              <a:t>Специально оставлено честно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Мы не делаем вид, что канвас заканчивается ровно там, где заканчивается этот кадр, — он продолжается, просто не в эту сторону разбора.</a:t>
            </a:r>
          </a:p>
          <a:p/>
          <a:p>
            <a:r>
              <a:t>Теперь, когда видно, откуда растут эти три узла, — зум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три узла цепочки выглядят на самом деле, если открыть настройку каждого на живом стенде.</a:t>
            </a:r>
          </a:p>
          <a:p/>
          <a:p>
            <a:r>
              <a:t>Левая панель — </a:t>
            </a:r>
            <a:r>
              <a:rPr>
                <a:latin typeface="Consolas"/>
              </a:rPr>
              <a:t>Compose notification (template)</a:t>
            </a:r>
            <a:r>
              <a:t>, первый шаг. На прошлом экране прозвучало, что он собирает текст тем же приёмом подстановки значений, что мы настраивали в кейсе «Уведомления», — и здесь это не нужно принимать на слово: в поле </a:t>
            </a:r>
            <a:r>
              <a:rPr>
                <a:latin typeface="Consolas"/>
              </a:rPr>
              <a:t>notification_text</a:t>
            </a:r>
            <a:r>
              <a:t> стоит ровно то же выражение, что уже было на экране в Кейсе 1. Разбирать его заново смысла нет, это сделано там; увидеть, что узел буквально тот же, а не переписанный с нуля под новую задачу, стоило прямо здесь.</a:t>
            </a:r>
          </a:p>
          <a:p/>
          <a:p>
            <a:r>
              <a:t>Средняя панель — </a:t>
            </a:r>
            <a:r>
              <a:rPr>
                <a:latin typeface="Consolas"/>
              </a:rPr>
              <a:t>Fetch card image (HTTP)</a:t>
            </a:r>
            <a:r>
              <a:t>. Метод запроса GET, адрес виден буквально: </a:t>
            </a:r>
            <a:r>
              <a:rPr>
                <a:latin typeface="Consolas"/>
              </a:rPr>
              <a:t>picsum.photos</a:t>
            </a:r>
            <a:r>
              <a:t> с размером восемьсот на четыреста пятьдесят — настоящий публичный сервис тестовых картинок, не выдуманный для примера источник. Ниже на той же панели, уже за границей кадра, стоят четыре выключенных переключателя — аутентификация, параметры запроса, заголовки, тело, — их никто не трогал. А вот следующая за ними настройка решает многое: формат ответа указан как </a:t>
            </a:r>
            <a:r>
              <a:rPr>
                <a:latin typeface="Consolas"/>
              </a:rPr>
              <a:t>File</a:t>
            </a:r>
            <a:r>
              <a:t>, не как текст и не как JSON. Именно с этого поля содержимое узла становится двоичными данными — в этом вся разница между «скачать картинку» и «скачать текст, в котором случайно оказалась ссылка на картинку». Имя поля, куда узел кладёт эти данные, — </a:t>
            </a:r>
            <a:r>
              <a:rPr>
                <a:latin typeface="Consolas"/>
              </a:rPr>
              <a:t>data</a:t>
            </a:r>
            <a:r>
              <a:t>.</a:t>
            </a:r>
          </a:p>
          <a:p/>
          <a:p>
            <a:r>
              <a:t>Правая панель — </a:t>
            </a:r>
            <a:r>
              <a:rPr>
                <a:latin typeface="Consolas"/>
              </a:rPr>
              <a:t>Send card (Telegram photo)</a:t>
            </a:r>
            <a:r>
              <a:t>. Выбрана операция отправки фотографии, а не текстового сообщения: в Telegram это два разных вызова, и узел, настроенный на текст, картинку просто не возьмёт. За границей кадра на той же панели — учётные данные бота, числовой адресат, включённый переключатель двоичного файла с именем входного поля </a:t>
            </a:r>
            <a:r>
              <a:rPr>
                <a:latin typeface="Consolas"/>
              </a:rPr>
              <a:t>data</a:t>
            </a:r>
            <a:r>
              <a:t> (то самое имя, которое задал предыдущий узел) и подпись к фотографии, взятая из выражения первого узла цепочки.</a:t>
            </a:r>
          </a:p>
          <a:p/>
          <a:p>
            <a:r>
              <a:t>Стоит задержаться на имени поля. Эти три узла соединены не только стрелкой на холсте: средний кладёт двоичные данные в поле с именем </a:t>
            </a:r>
            <a:r>
              <a:rPr>
                <a:latin typeface="Consolas"/>
              </a:rPr>
              <a:t>data</a:t>
            </a:r>
            <a:r>
              <a:t>, правый ищет их в поле с именем </a:t>
            </a:r>
            <a:r>
              <a:rPr>
                <a:latin typeface="Consolas"/>
              </a:rPr>
              <a:t>data</a:t>
            </a:r>
            <a:r>
              <a:t>. Поменяйте имя в одном месте и не поменяйте в другом — стрелка на холсте останется на месте, а картинка исчезнет. Это и есть первый вид связи, который в цепочке не виден глазами.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на том, что мы на самом деле собрали на предыдущем экране, и сравним это с тем, что просил маркетинг в самом начале кейса.</a:t>
            </a:r>
          </a:p>
          <a:p/>
          <a:p>
            <a:r>
              <a:t>Маркетинг попросил карточку: текст поверх картинки, в одном изображении. А цепочка, которую мы настроили, делает другое — она забирает готовую картинку по ссылке и кладёт текст уведомления подписью к ней, отдельным текстовым полем сообщения Telegram. Это работает, Telegram действительно покажет текст рядом с фотографией, но текст не внутри изображения — это не то же самое, что «карточка с текстом поверх картинки», и честно об этом стоит сказать прямо, а не стереть разницу молчанием.</a:t>
            </a:r>
          </a:p>
          <a:p/>
          <a:p>
            <a:r>
              <a:t>Чтобы получить настоящую карточку — изображение, в котором текст физически встроен в пиксели, — нужен отдельный шаг, и обычный узел «забрать файл по ссылке» для этого не подходит: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готовый файл с текстом уже внутри.</a:t>
            </a:r>
          </a:p>
          <a:p/>
          <a:p>
            <a:r>
              <a:t>У этого шага есть цена, и не нулевая. Для ориентира взята публичная стоимость сопоставимой модели — gpt-image-1.5 от OpenAI: генерация одной картинки 1024 на 1024 точки обходится от неполного цента на низком качестве до 13 центов на высоком, в зависимости от того, какую точность и детализацию выбрать. Для короткого текстового уведомления на карточке наивысшая точность вряд ли нужна — разумный ориентир здесь порядка трёх с половиной центов за картинку, среднее качество. Это не измерение на нашем стенде — на стенде такого шага нет, — а честная оценка по чужому, но актуальному и проверяемому прайсингу.</a:t>
            </a:r>
          </a:p>
          <a:p/>
          <a:p>
            <a:r>
              <a:t>Три с половиной цента за одну карточку сами по себе ни о чём не говорят, пока не привязаны к объёму, — а сцена этого кейса частоту рассылки явно не называет. Объём не стоит выдумывать из воздуха: карточка заменяет то самое уведомление о каждой новой заявке, а этот поток нам известен из Кейса 1 — двадцать заявок в день. Если на карточки переходит весь поток, выходит около шестисот карточек в месяц и около двадцати долларов в месяц. Это иллюстративный пример расчёта, не измеренный объём: ни частота рассылки, ни полный переход на карточки в сцене явно не зафиксированы. Но с появившейся базой видно: для учебного центра это не та цена, из-за которой стоит отказываться от решения, и не ноль, который можно не считать вовсе.</a:t>
            </a:r>
          </a:p>
          <a:p/>
          <a:p>
            <a:r>
              <a:t>И последнее, что стоит сразу иметь в виду, даже не собирая этот шаг: генерирующие модели обычно отдают файл большого стандартного размера, который сжат не слишком сильно. Это значит, что готовую карточку нельзя отправлять в Telegram как есть — её нужно перекодировать в более лёгкий формат заранее, той же логикой, что мы уже видели на предыдущем экране с лимитом в 10 485 760 байт на фото. Генерация не отменяет проверку размера — она добавляет её ещё раз, на новом месте цепочки.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стоит явно назвать порядок, в котором эти два шага вообще должны идти — и это не произвольный выбор.</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уже прошло первую проверку: запускать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 вопрос, который владелец курса прямо попросил честно исследовать, а не предположить: имеет ли смысл сжимать картинку перед тем, как отправить её в модель-проверяющую. Ответ по общедоступным источникам, не измерение на нашем стенде: умеренное сжатие обычно выгодно и не портит точность заметно.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важная оговорка, и её нельзя отбрасывать молча. Задачи, где модель должна прочитать текст на изображении — а наша карточка именно такая, на ней читаемый текст, — деградируют от сжатия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Агрессивное сжатие ради лишней экономии здесь не оправдано: цена ошибки распознавания выше, чем цена лишних токенов.</a:t>
            </a:r>
          </a:p>
          <a:p/>
          <a:p>
            <a:r>
              <a:t>В таблице это разложено как три варианта действия, а не как один правильный ответ: без сжатия, умеренное сжатие и агрессивное сжатие — у каждого своя цена и свой риск, и выбор зависит от того, должна ли модель именно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стоит на секунду посмотреть на то же самое с другой стороны — глазами координатора, который просто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Марии: тема «курс», также упомянуто: оплата.»</a:t>
            </a:r>
          </a:p>
          <a:p/>
          <a:p>
            <a:r>
              <a:t>Эта подпись — не новый текст, придуманный специально для карточки. Это тот же самый текст, который мы уже видели в самом первом кейсе занятия, собранный той же формулой подстановки значений из полей заявки. Разница только в том, что теперь он не приходит отдельным сообщением, а идёт подписью к фотографии, вложенной в то же уведомление, — ровно то расширение, которое маркетинг попросил в сцене этого кейса.</a:t>
            </a:r>
          </a:p>
          <a:p/>
          <a:p>
            <a:r>
              <a:t>Важно, чего на этом экране нет. Нет имени узла, который собрал текст или забрал картинку по ссылке. Нет числа байт и нет слова «лимит» — координатору не нужно знать, где именно проходит граница, чтобы понять: заявка пришла. Нет журнала прогона и нет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ровно обратная сторона той сцены, с которой кейс начался. Там прогон был зелёным, а у координатора в чате было пусто — либо лежал обрезанный файл. Здесь прогон тоже зелёный, но координатор видит целую карточку, потому что на этот раз файл укладывается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измерять число байт настолько точно, насколько мы это сделали на предыдущих экранах: единственная причина мерить границу размера — чтобы координатор каждый раз видел именно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 В нашей сцене они разошлись ровно так: шестнадцать мегабайт у самого n8n против десяти с небольшим у отправки фотографии — и файл на двенадцать с лишним мегабайт прошёл первый порог и не прошёл второй.</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пороге без гейта,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На схеме это две строки. Верхняя, бледная, — сегодняшний день: любая заявка, одна цепочка, один выход. Нижняя — то, чего в цепочке пока нет: заявка приходит на развилку, развилка смотрит на тему и выбирает, куда её отправить. Две ветки там названы, а третья нарисована пунктиром — это вход, который не подошёл ни под одну названную ветку. Она пунктирная не потому, что сломана, а потому, что её никто не выбирал: она появляется сама, и большую часть времени про неё вспоминают, когда по ней уже что-то ушло.</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436239"/>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51560" y="4090035"/>
            <a:ext cx="10058400" cy="941070"/>
          </a:xfrm>
          <a:prstGeom prst="rect">
            <a:avLst/>
          </a:prstGeom>
          <a:noFill/>
        </p:spPr>
        <p:txBody>
          <a:bodyPr wrap="square" lIns="0" rIns="0" tIns="0" bIns="0" anchor="t">
            <a:spAutoFit/>
          </a:bodyPr>
          <a:lstStyle/>
          <a:p>
            <a:pPr algn="ctr">
              <a:lnSpc>
                <a:spcPts val="2470"/>
              </a:lnSpc>
              <a:spcAft>
                <a:spcPts val="400"/>
              </a:spcAft>
            </a:pPr>
            <a:r>
              <a:rPr sz="1900" b="1" i="0">
                <a:solidFill>
                  <a:srgbClr val="FFFFFF"/>
                </a:solidFill>
                <a:latin typeface="Arial"/>
              </a:rPr>
              <a:t>Автоматика отчиталась: всё отправлено. Человек не получил ничего. Сегодня это случится на экране четыре раза — и каждый раз по разной причине.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pic>
        <p:nvPicPr>
          <p:cNvPr id="3" name="Picture 2" descr="k1-stend-s7-tsepochka-real.png"/>
          <p:cNvPicPr>
            <a:picLocks noChangeAspect="1"/>
          </p:cNvPicPr>
          <p:nvPr/>
        </p:nvPicPr>
        <p:blipFill>
          <a:blip r:embed="rId2"/>
          <a:stretch>
            <a:fillRect/>
          </a:stretch>
        </p:blipFill>
        <p:spPr>
          <a:xfrm>
            <a:off x="502920" y="1064838"/>
            <a:ext cx="11183112" cy="2246607"/>
          </a:xfrm>
          <a:prstGeom prst="rect">
            <a:avLst/>
          </a:prstGeom>
        </p:spPr>
      </p:pic>
      <p:sp>
        <p:nvSpPr>
          <p:cNvPr id="4" name="Rounded Rectangle 3"/>
          <p:cNvSpPr/>
          <p:nvPr/>
        </p:nvSpPr>
        <p:spPr>
          <a:xfrm>
            <a:off x="502920" y="3779744"/>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20 заявок</a:t>
            </a:r>
          </a:p>
        </p:txBody>
      </p:sp>
      <p:sp>
        <p:nvSpPr>
          <p:cNvPr id="6" name="TextBox 5"/>
          <p:cNvSpPr txBox="1"/>
          <p:nvPr/>
        </p:nvSpPr>
        <p:spPr>
          <a:xfrm>
            <a:off x="630936"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в день — и почти все про одну тему</a:t>
            </a:r>
          </a:p>
        </p:txBody>
      </p:sp>
      <p:sp>
        <p:nvSpPr>
          <p:cNvPr id="7" name="Rounded Rectangle 6"/>
          <p:cNvSpPr/>
          <p:nvPr/>
        </p:nvSpPr>
        <p:spPr>
          <a:xfrm>
            <a:off x="6195059" y="3779744"/>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3075"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несколько часов</a:t>
            </a:r>
          </a:p>
        </p:txBody>
      </p:sp>
      <p:sp>
        <p:nvSpPr>
          <p:cNvPr id="9" name="TextBox 8"/>
          <p:cNvSpPr txBox="1"/>
          <p:nvPr/>
        </p:nvSpPr>
        <p:spPr>
          <a:xfrm>
            <a:off x="6323075"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многотемная заявка лежит в таблице, пока её никто не читает</a:t>
            </a:r>
          </a:p>
        </p:txBody>
      </p:sp>
      <p:sp>
        <p:nvSpPr>
          <p:cNvPr id="10" name="Rectangle 9"/>
          <p:cNvSpPr/>
          <p:nvPr/>
        </p:nvSpPr>
        <p:spPr>
          <a:xfrm>
            <a:off x="502920" y="558306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63793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Ольга: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1159510"/>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348359"/>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3 значения</a:t>
            </a:r>
          </a:p>
        </p:txBody>
      </p:sp>
      <p:sp>
        <p:nvSpPr>
          <p:cNvPr id="5" name="TextBox 4"/>
          <p:cNvSpPr txBox="1"/>
          <p:nvPr/>
        </p:nvSpPr>
        <p:spPr>
          <a:xfrm>
            <a:off x="630936" y="1906143"/>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уже извлечены на прошлом занятии: имя · тема · дополнительные темы</a:t>
            </a:r>
          </a:p>
        </p:txBody>
      </p:sp>
      <p:sp>
        <p:nvSpPr>
          <p:cNvPr id="6" name="Rounded Rectangle 5"/>
          <p:cNvSpPr/>
          <p:nvPr/>
        </p:nvSpPr>
        <p:spPr>
          <a:xfrm>
            <a:off x="6195059" y="1159510"/>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1348359"/>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1 строка</a:t>
            </a:r>
          </a:p>
        </p:txBody>
      </p:sp>
      <p:sp>
        <p:nvSpPr>
          <p:cNvPr id="8" name="TextBox 7"/>
          <p:cNvSpPr txBox="1"/>
          <p:nvPr/>
        </p:nvSpPr>
        <p:spPr>
          <a:xfrm>
            <a:off x="6323075" y="1906143"/>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Ольга просила на каждую такую заявку</a:t>
            </a:r>
          </a:p>
        </p:txBody>
      </p:sp>
      <p:sp>
        <p:nvSpPr>
          <p:cNvPr id="9" name="Rounded Rectangle 8"/>
          <p:cNvSpPr/>
          <p:nvPr/>
        </p:nvSpPr>
        <p:spPr>
          <a:xfrm>
            <a:off x="502920" y="305485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18287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11" name="Rounded Rectangle 10"/>
          <p:cNvSpPr/>
          <p:nvPr/>
        </p:nvSpPr>
        <p:spPr>
          <a:xfrm>
            <a:off x="502920"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13" name="Rounded Rectangle 12"/>
          <p:cNvSpPr/>
          <p:nvPr/>
        </p:nvSpPr>
        <p:spPr>
          <a:xfrm>
            <a:off x="3335274"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45002"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15" name="Rounded Rectangle 14"/>
          <p:cNvSpPr/>
          <p:nvPr/>
        </p:nvSpPr>
        <p:spPr>
          <a:xfrm>
            <a:off x="6167628"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77356"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7" name="Rounded Rectangle 16"/>
          <p:cNvSpPr/>
          <p:nvPr/>
        </p:nvSpPr>
        <p:spPr>
          <a:xfrm>
            <a:off x="8999982"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9710"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150924"/>
            <a:ext cx="28379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157255" y="1150924"/>
            <a:ext cx="231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621722" y="1150924"/>
            <a:ext cx="37351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432991"/>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157255" y="1432991"/>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не казённой фразой — умеет писать по-человечески</a:t>
            </a:r>
          </a:p>
        </p:txBody>
      </p:sp>
      <p:sp>
        <p:nvSpPr>
          <p:cNvPr id="11" name="TextBox 10"/>
          <p:cNvSpPr txBox="1"/>
          <p:nvPr/>
        </p:nvSpPr>
        <p:spPr>
          <a:xfrm>
            <a:off x="7621722" y="1432991"/>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 интерпретировать нечего;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510396"/>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157255" y="2510396"/>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621722" y="2510396"/>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форма сообщения когда-нибудь должна будет меняться по смыслу, а не только по значениям, выражение придётся переписывать руками</a:t>
            </a:r>
          </a:p>
        </p:txBody>
      </p:sp>
      <p:cxnSp>
        <p:nvCxnSpPr>
          <p:cNvPr id="17" name="Connector 16"/>
          <p:cNvCxnSpPr/>
          <p:nvPr/>
        </p:nvCxnSpPr>
        <p:spPr>
          <a:xfrm>
            <a:off x="685800" y="37703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0363"/>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770363"/>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157255" y="3770363"/>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реальном смешанном случае — когда хотя бы одно значение правда требует интерпретации, а не просто известно</a:t>
            </a:r>
          </a:p>
        </p:txBody>
      </p:sp>
      <p:sp>
        <p:nvSpPr>
          <p:cNvPr id="21" name="TextBox 20"/>
          <p:cNvSpPr txBox="1"/>
          <p:nvPr/>
        </p:nvSpPr>
        <p:spPr>
          <a:xfrm>
            <a:off x="7621722" y="3770363"/>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5030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030330"/>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5030330"/>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157255" y="5030330"/>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621722" y="5030330"/>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один узел против другого</a:t>
            </a:r>
          </a:p>
        </p:txBody>
      </p:sp>
      <p:pic>
        <p:nvPicPr>
          <p:cNvPr id="3" name="Picture 2" descr="k1-shema-dve-versii.png"/>
          <p:cNvPicPr>
            <a:picLocks noChangeAspect="1"/>
          </p:cNvPicPr>
          <p:nvPr/>
        </p:nvPicPr>
        <p:blipFill>
          <a:blip r:embed="rId2"/>
          <a:stretch>
            <a:fillRect/>
          </a:stretch>
        </p:blipFill>
        <p:spPr>
          <a:xfrm>
            <a:off x="502920" y="1111041"/>
            <a:ext cx="11183112" cy="3634511"/>
          </a:xfrm>
          <a:prstGeom prst="rect">
            <a:avLst/>
          </a:prstGeom>
        </p:spPr>
      </p:pic>
      <p:sp>
        <p:nvSpPr>
          <p:cNvPr id="4" name="Rounded Rectangle 3"/>
          <p:cNvSpPr/>
          <p:nvPr/>
        </p:nvSpPr>
        <p:spPr>
          <a:xfrm>
            <a:off x="502920" y="53293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573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о форме текста принимается либо заново на каждой заявке, либо один раз заранее. Всё остальное — те же три узла в том же порядке.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моделью на стенде: путь и настройка узла</a:t>
            </a:r>
          </a:p>
        </p:txBody>
      </p:sp>
      <p:pic>
        <p:nvPicPr>
          <p:cNvPr id="3" name="Picture 2" descr="k1-stend-versiya1-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sp>
        <p:nvSpPr>
          <p:cNvPr id="3" name="Rounded Rectangle 2"/>
          <p:cNvSpPr/>
          <p:nvPr/>
        </p:nvSpPr>
        <p:spPr>
          <a:xfrm>
            <a:off x="502920" y="21076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357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Новая заявка от Марии: тема «курс», также упомянуто: оплата.</a:t>
            </a:r>
          </a:p>
        </p:txBody>
      </p:sp>
      <p:sp>
        <p:nvSpPr>
          <p:cNvPr id="5" name="Rounded Rectangle 4"/>
          <p:cNvSpPr/>
          <p:nvPr/>
        </p:nvSpPr>
        <p:spPr>
          <a:xfrm>
            <a:off x="502920" y="3834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239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Ровно то, что Ольга описала в прошлой сцене, слово в слово: кто написал, по какой теме и что упомянул ещё — одна строка, без необходимости открывать экран результата.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sp>
        <p:nvSpPr>
          <p:cNvPr id="3" name="Rounded Rectangle 2"/>
          <p:cNvSpPr/>
          <p:nvPr/>
        </p:nvSpPr>
        <p:spPr>
          <a:xfrm>
            <a:off x="502920" y="1461871"/>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4751"/>
            <a:ext cx="2288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5" name="TextBox 4"/>
          <p:cNvSpPr txBox="1"/>
          <p:nvPr/>
        </p:nvSpPr>
        <p:spPr>
          <a:xfrm>
            <a:off x="3120500" y="1644751"/>
            <a:ext cx="82363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 И ПОЧЕМУ</a:t>
            </a:r>
          </a:p>
        </p:txBody>
      </p:sp>
      <p:sp>
        <p:nvSpPr>
          <p:cNvPr id="6" name="TextBox 5"/>
          <p:cNvSpPr txBox="1"/>
          <p:nvPr/>
        </p:nvSpPr>
        <p:spPr>
          <a:xfrm>
            <a:off x="685800" y="1926818"/>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 «хочу на курс по аналитике и ещё спросить про оплату, перезвоните сегодня»</a:t>
            </a:r>
          </a:p>
        </p:txBody>
      </p:sp>
      <p:sp>
        <p:nvSpPr>
          <p:cNvPr id="7" name="TextBox 6"/>
          <p:cNvSpPr txBox="1"/>
          <p:nvPr/>
        </p:nvSpPr>
        <p:spPr>
          <a:xfrm>
            <a:off x="3120500" y="1926818"/>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«Новая заявка от Марии: тема «курс», также упомянуто: оплата.» Текст свободный, но совпал по смыслу с целью — модели хватило инструкции и трёх значений, интерпретировать было действительно просто.</a:t>
            </a:r>
          </a:p>
        </p:txBody>
      </p:sp>
      <p:cxnSp>
        <p:nvCxnSpPr>
          <p:cNvPr id="8" name="Connector 7"/>
          <p:cNvCxnSpPr/>
          <p:nvPr/>
        </p:nvCxnSpPr>
        <p:spPr>
          <a:xfrm>
            <a:off x="685800" y="2821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21660"/>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 «хочу перенести занятие на пятницу и спросить про оплату курса»</a:t>
            </a:r>
          </a:p>
        </p:txBody>
      </p:sp>
      <p:sp>
        <p:nvSpPr>
          <p:cNvPr id="10" name="TextBox 9"/>
          <p:cNvSpPr txBox="1"/>
          <p:nvPr/>
        </p:nvSpPr>
        <p:spPr>
          <a:xfrm>
            <a:off x="3120500" y="2821660"/>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«Привет, </a:t>
            </a:r>
            <a:r>
              <a:rPr sz="1250" b="1" i="0">
                <a:solidFill>
                  <a:srgbClr val="141B2E"/>
                </a:solidFill>
                <a:latin typeface="Arial"/>
              </a:rPr>
              <a:t>[Имя координатора]</a:t>
            </a:r>
            <a:r>
              <a:rPr sz="1250" b="0" i="0">
                <a:solidFill>
                  <a:srgbClr val="141B2E"/>
                </a:solidFill>
                <a:latin typeface="Arial"/>
              </a:rPr>
              <a:t>! У нас новая многотемная заявка от Олега по вопросу переноса занятия и об оплате.» Модель вписала в текст буквальный кусок собственного шаблона-инструкции — слова, адресованные ей самой, а не Ольге. Узел не упал, сообщение доставлено, статус зелёный: расхождение видно только по содержанию.</a:t>
            </a:r>
          </a:p>
        </p:txBody>
      </p:sp>
      <p:sp>
        <p:nvSpPr>
          <p:cNvPr id="11" name="Rounded Rectangle 10"/>
          <p:cNvSpPr/>
          <p:nvPr/>
        </p:nvSpPr>
        <p:spPr>
          <a:xfrm>
            <a:off x="502920" y="456689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69491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форматом этого не ловит.</a:t>
            </a:r>
            <a:r>
              <a:rPr sz="150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шаблоном на стенде: путь и настройка узла</a:t>
            </a:r>
          </a:p>
        </p:txBody>
      </p:sp>
      <p:pic>
        <p:nvPicPr>
          <p:cNvPr id="3" name="Picture 2" descr="k1-stend-versiya2-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968501"/>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33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5661"/>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 задачи — сборка сообщения из уже извлечённых значений по фиксированной форме.</a:t>
            </a:r>
            <a:r>
              <a:rPr sz="1350" b="0" i="0">
                <a:solidFill>
                  <a:srgbClr val="141B2E"/>
                </a:solidFill>
                <a:latin typeface="Arial"/>
              </a:rPr>
              <a:t> Признак, по которому вы узнаете её в своей цепочке: шаблон итогового сообщения можно написать, не видя ни одной конкретной заявки.</a:t>
            </a:r>
          </a:p>
        </p:txBody>
      </p:sp>
      <p:sp>
        <p:nvSpPr>
          <p:cNvPr id="6" name="Rounded Rectangle 5"/>
          <p:cNvSpPr/>
          <p:nvPr/>
        </p:nvSpPr>
        <p:spPr>
          <a:xfrm>
            <a:off x="502920"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8" name="TextBox 7"/>
          <p:cNvSpPr txBox="1"/>
          <p:nvPr/>
        </p:nvSpPr>
        <p:spPr>
          <a:xfrm>
            <a:off x="685800" y="2461260"/>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9" name="Connector 8"/>
          <p:cNvCxnSpPr/>
          <p:nvPr/>
        </p:nvCxnSpPr>
        <p:spPr>
          <a:xfrm>
            <a:off x="685800" y="27799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79902"/>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11" name="Rounded Rectangle 10"/>
          <p:cNvSpPr/>
          <p:nvPr/>
        </p:nvSpPr>
        <p:spPr>
          <a:xfrm>
            <a:off x="6231636"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3" name="TextBox 12"/>
          <p:cNvSpPr txBox="1"/>
          <p:nvPr/>
        </p:nvSpPr>
        <p:spPr>
          <a:xfrm>
            <a:off x="6414516" y="246126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4" name="Connector 13"/>
          <p:cNvCxnSpPr/>
          <p:nvPr/>
        </p:nvCxnSpPr>
        <p:spPr>
          <a:xfrm>
            <a:off x="6414516" y="29522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952242"/>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6" name="Rounded Rectangle 15"/>
          <p:cNvSpPr/>
          <p:nvPr/>
        </p:nvSpPr>
        <p:spPr>
          <a:xfrm>
            <a:off x="502920" y="41982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32625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8" name="Rounded Rectangle 17"/>
          <p:cNvSpPr/>
          <p:nvPr/>
        </p:nvSpPr>
        <p:spPr>
          <a:xfrm>
            <a:off x="502920" y="54086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54635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5458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Первая строка оси закрыта.</a:t>
            </a:r>
            <a:r>
              <a:rPr sz="1350" b="0"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93111"/>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25571"/>
            <a:ext cx="9692640" cy="54787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007108"/>
          </a:xfrm>
          <a:prstGeom prst="roundRect">
            <a:avLst>
              <a:gd name="adj" fmla="val 1518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43286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2210103" y="1071372"/>
            <a:ext cx="63438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990788" y="1071372"/>
            <a:ext cx="1454139"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591232" y="1071372"/>
            <a:ext cx="301073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48270" y="1071372"/>
            <a:ext cx="366344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(ОЦЕНКА ПО ПРАЙСУ)</a:t>
            </a:r>
          </a:p>
        </p:txBody>
      </p:sp>
      <p:sp>
        <p:nvSpPr>
          <p:cNvPr id="9" name="TextBox 8"/>
          <p:cNvSpPr txBox="1"/>
          <p:nvPr/>
        </p:nvSpPr>
        <p:spPr>
          <a:xfrm>
            <a:off x="630936" y="1450848"/>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2210103" y="1450848"/>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990788" y="1450848"/>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и все 10 разных</a:t>
            </a:r>
          </a:p>
        </p:txBody>
      </p:sp>
      <p:sp>
        <p:nvSpPr>
          <p:cNvPr id="12" name="TextBox 11"/>
          <p:cNvSpPr txBox="1"/>
          <p:nvPr/>
        </p:nvSpPr>
        <p:spPr>
          <a:xfrm>
            <a:off x="4591232" y="1450848"/>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a:t>
            </a:r>
          </a:p>
        </p:txBody>
      </p:sp>
      <p:sp>
        <p:nvSpPr>
          <p:cNvPr id="13" name="TextBox 12"/>
          <p:cNvSpPr txBox="1"/>
          <p:nvPr/>
        </p:nvSpPr>
        <p:spPr>
          <a:xfrm>
            <a:off x="7748270" y="1450848"/>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432863"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2210103" y="1789176"/>
            <a:ext cx="63438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990788" y="1789176"/>
            <a:ext cx="1454139"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591232" y="1789176"/>
            <a:ext cx="3010733"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a:t>
            </a:r>
          </a:p>
        </p:txBody>
      </p:sp>
      <p:sp>
        <p:nvSpPr>
          <p:cNvPr id="19" name="TextBox 18"/>
          <p:cNvSpPr txBox="1"/>
          <p:nvPr/>
        </p:nvSpPr>
        <p:spPr>
          <a:xfrm>
            <a:off x="7748270" y="1789176"/>
            <a:ext cx="3663441"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2210103" y="2246376"/>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990788" y="2246376"/>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591232" y="2246376"/>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48270" y="2246376"/>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на кейсе (≈300/мес) ≈$0,006/мес</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432863"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2210103" y="2584704"/>
            <a:ext cx="634381"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990788" y="2584704"/>
            <a:ext cx="14541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a:t>
            </a:r>
          </a:p>
        </p:txBody>
      </p:sp>
      <p:sp>
        <p:nvSpPr>
          <p:cNvPr id="30" name="TextBox 29"/>
          <p:cNvSpPr txBox="1"/>
          <p:nvPr/>
        </p:nvSpPr>
        <p:spPr>
          <a:xfrm>
            <a:off x="4591232" y="2584704"/>
            <a:ext cx="3010733"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ошибок нет</a:t>
            </a:r>
          </a:p>
        </p:txBody>
      </p:sp>
      <p:sp>
        <p:nvSpPr>
          <p:cNvPr id="31" name="TextBox 30"/>
          <p:cNvSpPr txBox="1"/>
          <p:nvPr/>
        </p:nvSpPr>
        <p:spPr>
          <a:xfrm>
            <a:off x="7748270" y="2584704"/>
            <a:ext cx="366344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на кейсе ≈$0,003/мес</a:t>
            </a:r>
          </a:p>
        </p:txBody>
      </p:sp>
      <p:cxnSp>
        <p:nvCxnSpPr>
          <p:cNvPr id="32" name="Connector 31"/>
          <p:cNvCxnSpPr/>
          <p:nvPr/>
        </p:nvCxnSpPr>
        <p:spPr>
          <a:xfrm>
            <a:off x="502920" y="3014472"/>
            <a:ext cx="36576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87624"/>
            <a:ext cx="10908792" cy="205740"/>
          </a:xfrm>
          <a:prstGeom prst="rect">
            <a:avLst/>
          </a:prstGeom>
          <a:noFill/>
        </p:spPr>
        <p:txBody>
          <a:bodyPr wrap="square" lIns="0" rIns="0" tIns="0" bIns="0" anchor="t">
            <a:spAutoFit/>
          </a:bodyPr>
          <a:lstStyle/>
          <a:p>
            <a:pPr algn="l">
              <a:lnSpc>
                <a:spcPts val="1260"/>
              </a:lnSpc>
              <a:spcAft>
                <a:spcPts val="0"/>
              </a:spcAft>
            </a:pPr>
            <a:r>
              <a:rPr sz="1050" b="0" i="0">
                <a:solidFill>
                  <a:srgbClr val="6B7685"/>
                </a:solidFill>
                <a:latin typeface="Arial"/>
              </a:rPr>
              <a:t>jev — внешний сервис типизированных решений: отвечает только в заданной форме (да/нет, выбор, шкала), не свободным текстом.</a:t>
            </a:r>
          </a:p>
        </p:txBody>
      </p:sp>
      <p:sp>
        <p:nvSpPr>
          <p:cNvPr id="34" name="Rounded Rectangle 33"/>
          <p:cNvSpPr/>
          <p:nvPr/>
        </p:nvSpPr>
        <p:spPr>
          <a:xfrm>
            <a:off x="502920" y="3457956"/>
            <a:ext cx="82296" cy="4793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3585972"/>
            <a:ext cx="10643616" cy="22334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Одно измерение на 20 парах мало, чтобы менять работающую архитектуру; обе платные схемы дешевле цента в месяц — решает точность.</a:t>
            </a:r>
          </a:p>
        </p:txBody>
      </p:sp>
      <p:pic>
        <p:nvPicPr>
          <p:cNvPr id="36" name="Picture 35" descr="k2-n8n-test-stend-real.png"/>
          <p:cNvPicPr>
            <a:picLocks noChangeAspect="1"/>
          </p:cNvPicPr>
          <p:nvPr/>
        </p:nvPicPr>
        <p:blipFill>
          <a:blip r:embed="rId2"/>
          <a:stretch>
            <a:fillRect/>
          </a:stretch>
        </p:blipFill>
        <p:spPr>
          <a:xfrm>
            <a:off x="2504995" y="4101928"/>
            <a:ext cx="7178960" cy="2234510"/>
          </a:xfrm>
          <a:prstGeom prst="rect">
            <a:avLst/>
          </a:prstGeom>
        </p:spPr>
      </p:pic>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477471" y="943356"/>
            <a:ext cx="9234008" cy="3236745"/>
          </a:xfrm>
          <a:prstGeom prst="rect">
            <a:avLst/>
          </a:prstGeom>
        </p:spPr>
      </p:pic>
      <p:sp>
        <p:nvSpPr>
          <p:cNvPr id="4" name="Rounded Rectangle 3"/>
          <p:cNvSpPr/>
          <p:nvPr/>
        </p:nvSpPr>
        <p:spPr>
          <a:xfrm>
            <a:off x="502920" y="434469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270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445021"/>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3037"/>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Узел </a:t>
            </a:r>
            <a:r>
              <a:rPr sz="1100" b="1" i="0">
                <a:solidFill>
                  <a:srgbClr val="141B2E"/>
                </a:solidFill>
                <a:latin typeface="Consolas"/>
              </a:rPr>
              <a:t>Exact</a:t>
            </a:r>
            <a:r>
              <a:rPr sz="1100" b="1" i="0">
                <a:solidFill>
                  <a:srgbClr val="141B2E"/>
                </a:solidFill>
                <a:latin typeface="Arial"/>
              </a:rPr>
              <a:t> </a:t>
            </a:r>
            <a:r>
              <a:rPr sz="1100" b="1" i="0">
                <a:solidFill>
                  <a:srgbClr val="141B2E"/>
                </a:solidFill>
                <a:latin typeface="Consolas"/>
              </a:rPr>
              <a:t>duplicate</a:t>
            </a:r>
            <a:r>
              <a:rPr sz="1100" b="1" i="0">
                <a:solidFill>
                  <a:srgbClr val="141B2E"/>
                </a:solidFill>
                <a:latin typeface="Arial"/>
              </a:rPr>
              <a:t> </a:t>
            </a:r>
            <a:r>
              <a:rPr sz="1100" b="1" i="0">
                <a:solidFill>
                  <a:srgbClr val="141B2E"/>
                </a:solidFill>
                <a:latin typeface="Consolas"/>
              </a:rPr>
              <a:t>in</a:t>
            </a:r>
            <a:r>
              <a:rPr sz="1100" b="1" i="0">
                <a:solidFill>
                  <a:srgbClr val="141B2E"/>
                </a:solidFill>
                <a:latin typeface="Arial"/>
              </a:rPr>
              <a:t> </a:t>
            </a:r>
            <a:r>
              <a:rPr sz="1100" b="1" i="0">
                <a:solidFill>
                  <a:srgbClr val="141B2E"/>
                </a:solidFill>
                <a:latin typeface="Consolas"/>
              </a:rPr>
              <a:t>window?</a:t>
            </a:r>
            <a:r>
              <a:rPr sz="1100" b="1" i="0">
                <a:solidFill>
                  <a:srgbClr val="141B2E"/>
                </a:solidFill>
                <a:latin typeface="Arial"/>
              </a:rPr>
              <a:t> (</a:t>
            </a:r>
            <a:r>
              <a:rPr sz="1100" b="1" i="0">
                <a:solidFill>
                  <a:srgbClr val="141B2E"/>
                </a:solidFill>
                <a:latin typeface="Consolas"/>
              </a:rPr>
              <a:t>IF</a:t>
            </a:r>
            <a:r>
              <a:rPr sz="1100" b="1" i="0">
                <a:solidFill>
                  <a:srgbClr val="141B2E"/>
                </a:solidFill>
                <a:latin typeface="Arial"/>
              </a:rPr>
              <a:t>).</a:t>
            </a:r>
            <a:r>
              <a:rPr sz="1100" b="1" i="0">
                <a:solidFill>
                  <a:srgbClr val="141B2E"/>
                </a:solidFill>
                <a:latin typeface="Arial"/>
              </a:rPr>
              <a:t> Условие: </a:t>
            </a:r>
            <a:r>
              <a:rPr sz="1100" b="1" i="0">
                <a:solidFill>
                  <a:srgbClr val="141B2E"/>
                </a:solidFill>
                <a:latin typeface="Consolas"/>
              </a:rPr>
              <a:t>normalized_hash</a:t>
            </a:r>
            <a:r>
              <a:rPr sz="11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нормализация и точное сравнение</a:t>
            </a:r>
          </a:p>
        </p:txBody>
      </p:sp>
      <p:pic>
        <p:nvPicPr>
          <p:cNvPr id="3" name="Picture 2" descr="k2-panel-hash-crop-real.png"/>
          <p:cNvPicPr>
            <a:picLocks noChangeAspect="1"/>
          </p:cNvPicPr>
          <p:nvPr/>
        </p:nvPicPr>
        <p:blipFill>
          <a:blip r:embed="rId2"/>
          <a:stretch>
            <a:fillRect/>
          </a:stretch>
        </p:blipFill>
        <p:spPr>
          <a:xfrm>
            <a:off x="502920" y="1364430"/>
            <a:ext cx="11183112" cy="2917333"/>
          </a:xfrm>
          <a:prstGeom prst="rect">
            <a:avLst/>
          </a:prstGeom>
        </p:spPr>
      </p:pic>
      <p:sp>
        <p:nvSpPr>
          <p:cNvPr id="4" name="Rounded Rectangle 3"/>
          <p:cNvSpPr/>
          <p:nvPr/>
        </p:nvSpPr>
        <p:spPr>
          <a:xfrm>
            <a:off x="502920" y="494927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29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Весь дешёвый слой — это одна строка приведения текста к общему виду и один знак равенства. Ни модели, ни порога, ни настройки, которую можно подобрать неудачно.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499701" y="1319784"/>
            <a:ext cx="9189548" cy="3063182"/>
          </a:xfrm>
          <a:prstGeom prst="rect">
            <a:avLst/>
          </a:prstGeom>
        </p:spPr>
      </p:pic>
      <p:sp>
        <p:nvSpPr>
          <p:cNvPr id="4" name="Rounded Rectangle 3"/>
          <p:cNvSpPr/>
          <p:nvPr/>
        </p:nvSpPr>
        <p:spPr>
          <a:xfrm>
            <a:off x="502920" y="4547558"/>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75574"/>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671508"/>
            <a:ext cx="82296" cy="61363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99524"/>
            <a:ext cx="10643616" cy="35760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Результат на 20 реальных парах.</a:t>
            </a:r>
            <a:r>
              <a:rPr sz="1100" b="1" i="0">
                <a:solidFill>
                  <a:srgbClr val="141B2E"/>
                </a:solidFill>
                <a:latin typeface="Arial"/>
              </a:rPr>
              <a:t> Дубли — jev_noul </a:t>
            </a:r>
            <a:r>
              <a:rPr sz="1100" b="1" i="0">
                <a:solidFill>
                  <a:srgbClr val="141B2E"/>
                </a:solidFill>
                <a:latin typeface="Arial"/>
              </a:rPr>
              <a:t>0.70–0.97</a:t>
            </a:r>
            <a:r>
              <a:rPr sz="1100" b="1" i="0">
                <a:solidFill>
                  <a:srgbClr val="141B2E"/>
                </a:solidFill>
                <a:latin typeface="Arial"/>
              </a:rPr>
              <a:t>. Разные вопросы — </a:t>
            </a:r>
            <a:r>
              <a:rPr sz="1100" b="1" i="0">
                <a:solidFill>
                  <a:srgbClr val="141B2E"/>
                </a:solidFill>
                <a:latin typeface="Arial"/>
              </a:rPr>
              <a:t>0.02–0.08</a:t>
            </a:r>
            <a:r>
              <a:rPr sz="1100" b="1" i="0">
                <a:solidFill>
                  <a:srgbClr val="141B2E"/>
                </a:solidFill>
                <a:latin typeface="Arial"/>
              </a:rPr>
              <a:t>. Порог </a:t>
            </a:r>
            <a:r>
              <a:rPr sz="1100" b="1" i="0">
                <a:solidFill>
                  <a:srgbClr val="141B2E"/>
                </a:solidFill>
                <a:latin typeface="Arial"/>
              </a:rPr>
              <a:t>≥ 0.5 → дубль</a:t>
            </a:r>
            <a:r>
              <a:rPr sz="1100" b="1" i="0">
                <a:solidFill>
                  <a:srgbClr val="141B2E"/>
                </a:solidFill>
                <a:latin typeface="Arial"/>
              </a:rPr>
              <a:t>, разрыв чистый на промежутке 0.08–0.70 — счёт </a:t>
            </a:r>
            <a:r>
              <a:rPr sz="1100" b="1" i="0">
                <a:solidFill>
                  <a:srgbClr val="141B2E"/>
                </a:solidFill>
                <a:latin typeface="Arial"/>
              </a:rPr>
              <a:t>20 из 20</a:t>
            </a:r>
            <a:r>
              <a:rPr sz="11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pic>
        <p:nvPicPr>
          <p:cNvPr id="3" name="Picture 2" descr="k2-datatable-povtor-real.png"/>
          <p:cNvPicPr>
            <a:picLocks noChangeAspect="1"/>
          </p:cNvPicPr>
          <p:nvPr/>
        </p:nvPicPr>
        <p:blipFill>
          <a:blip r:embed="rId2"/>
          <a:stretch>
            <a:fillRect/>
          </a:stretch>
        </p:blipFill>
        <p:spPr>
          <a:xfrm>
            <a:off x="521286" y="943356"/>
            <a:ext cx="11146379" cy="2683957"/>
          </a:xfrm>
          <a:prstGeom prst="rect">
            <a:avLst/>
          </a:prstGeom>
        </p:spPr>
      </p:pic>
      <p:sp>
        <p:nvSpPr>
          <p:cNvPr id="4" name="Rounded Rectangle 3"/>
          <p:cNvSpPr/>
          <p:nvPr/>
        </p:nvSpPr>
        <p:spPr>
          <a:xfrm>
            <a:off x="502920" y="3791905"/>
            <a:ext cx="11183112" cy="11297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846769"/>
            <a:ext cx="64008" cy="102006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929065"/>
            <a:ext cx="10643616" cy="855471"/>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15 и 16 — один человек, один текст слово в слово. Между ними сутки.</a:t>
            </a:r>
          </a:p>
          <a:p>
            <a:pPr algn="l">
              <a:lnSpc>
                <a:spcPts val="1534"/>
              </a:lnSpc>
              <a:spcAft>
                <a:spcPts val="300"/>
              </a:spcAft>
            </a:pPr>
            <a:r>
              <a:rPr sz="1300" b="0" i="0">
                <a:solidFill>
                  <a:srgbClr val="141B2E"/>
                </a:solidFill>
                <a:latin typeface="Arial"/>
              </a:rPr>
              <a:t/>
            </a:r>
          </a:p>
          <a:p>
            <a:pPr algn="l">
              <a:lnSpc>
                <a:spcPts val="1534"/>
              </a:lnSpc>
              <a:spcAft>
                <a:spcPts val="300"/>
              </a:spcAft>
            </a:pPr>
            <a:r>
              <a:rPr sz="1300" b="1" i="0">
                <a:solidFill>
                  <a:srgbClr val="141B2E"/>
                </a:solidFill>
                <a:latin typeface="Arial"/>
              </a:rPr>
              <a:t>17–20 — тот же текст ещё четырежды: две пары, внутри каждой меньше двадцати миллисекунд. Так выглядит двойной щелчок по кнопке формы.</a:t>
            </a:r>
          </a:p>
        </p:txBody>
      </p:sp>
      <p:sp>
        <p:nvSpPr>
          <p:cNvPr id="7" name="Rounded Rectangle 6"/>
          <p:cNvSpPr/>
          <p:nvPr/>
        </p:nvSpPr>
        <p:spPr>
          <a:xfrm>
            <a:off x="502920" y="5086289"/>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14305"/>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Даты на кадре старше проверки на повтор: все эти строки записаны до того, как она появилась в цепочке. Пометки «похоже на повтор» в таблице нет и не будет — колонки под неё не существует, и ответ проверки смыслом никуда не сохраняется. Буквальный повтор с проверкой до таблицы больше не доходит; тот же вопрос другими словами доходит — и ложится строкой, неотличимой от первой.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214880"/>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2847340"/>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Месяц в работе. Ни одной жалобы. Сколько раз правило ошиблось — не знает никто.</a:t>
            </a:r>
          </a:p>
        </p:txBody>
      </p:sp>
      <p:sp>
        <p:nvSpPr>
          <p:cNvPr id="5" name="TextBox 4"/>
          <p:cNvSpPr txBox="1"/>
          <p:nvPr/>
        </p:nvSpPr>
        <p:spPr>
          <a:xfrm>
            <a:off x="1234440" y="3888232"/>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D6E2EC"/>
                </a:solidFill>
                <a:latin typeface="Arial"/>
              </a:rPr>
              <a:t>«Автоматический возврат средств — до заданного порога суммы. Выше порога — только через руководителя.»</a:t>
            </a:r>
          </a:p>
        </p:txBody>
      </p:sp>
      <p:sp>
        <p:nvSpPr>
          <p:cNvPr id="6" name="Rounded Rectangle 5"/>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8" name="Rounded Rectangle 7"/>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10" name="Rounded Rectangle 9"/>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2" name="Rounded Rectangle 11"/>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3912616"/>
          </a:xfrm>
          <a:prstGeom prst="roundRect">
            <a:avLst>
              <a:gd name="adj" fmla="val 77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7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562889" y="1126236"/>
            <a:ext cx="1915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624348" y="1126236"/>
            <a:ext cx="212664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897302" y="1126236"/>
            <a:ext cx="445954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Написать правило яснее в промте</a:t>
            </a:r>
          </a:p>
        </p:txBody>
      </p:sp>
      <p:sp>
        <p:nvSpPr>
          <p:cNvPr id="9" name="TextBox 8"/>
          <p:cNvSpPr txBox="1"/>
          <p:nvPr/>
        </p:nvSpPr>
        <p:spPr>
          <a:xfrm>
            <a:off x="2562889" y="1385824"/>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24348" y="1385824"/>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Измерено: версия 1 ошибалась 9/101 на границе, уточнённая формулировка — </a:t>
            </a:r>
            <a:r>
              <a:rPr sz="1000" b="1" i="0">
                <a:solidFill>
                  <a:srgbClr val="141B2E"/>
                </a:solidFill>
                <a:latin typeface="Arial"/>
              </a:rPr>
              <a:t>100/100</a:t>
            </a:r>
            <a:r>
              <a:rPr sz="1000" b="0" i="0">
                <a:solidFill>
                  <a:srgbClr val="141B2E"/>
                </a:solidFill>
                <a:latin typeface="Arial"/>
              </a:rPr>
              <a:t> на расширенном наборе</a:t>
            </a:r>
          </a:p>
        </p:txBody>
      </p:sp>
      <p:sp>
        <p:nvSpPr>
          <p:cNvPr id="11" name="TextBox 10"/>
          <p:cNvSpPr txBox="1"/>
          <p:nvPr/>
        </p:nvSpPr>
        <p:spPr>
          <a:xfrm>
            <a:off x="6897302" y="1385824"/>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134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34616"/>
            <a:ext cx="1730785"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Дать модели инструмент-калькулятор</a:t>
            </a:r>
          </a:p>
        </p:txBody>
      </p:sp>
      <p:sp>
        <p:nvSpPr>
          <p:cNvPr id="14" name="TextBox 13"/>
          <p:cNvSpPr txBox="1"/>
          <p:nvPr/>
        </p:nvSpPr>
        <p:spPr>
          <a:xfrm>
            <a:off x="2562889" y="2134616"/>
            <a:ext cx="1915154"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24348" y="2134616"/>
            <a:ext cx="212664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897302" y="2134616"/>
            <a:ext cx="445954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00" b="1" i="0">
                <a:solidFill>
                  <a:srgbClr val="141B2E"/>
                </a:solidFill>
                <a:latin typeface="Arial"/>
              </a:rPr>
              <a:t>56/100</a:t>
            </a:r>
            <a:r>
              <a:rPr sz="100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1755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75507"/>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Поставить </a:t>
            </a:r>
            <a:r>
              <a:rPr sz="1000" b="1" i="0">
                <a:solidFill>
                  <a:srgbClr val="141B2E"/>
                </a:solidFill>
                <a:latin typeface="Consolas"/>
              </a:rPr>
              <a:t>IF</a:t>
            </a:r>
            <a:r>
              <a:rPr sz="1000" b="1" i="0">
                <a:solidFill>
                  <a:srgbClr val="141B2E"/>
                </a:solidFill>
                <a:latin typeface="Arial"/>
              </a:rPr>
              <a:t>-узел после извлечения суммы</a:t>
            </a:r>
          </a:p>
        </p:txBody>
      </p:sp>
      <p:sp>
        <p:nvSpPr>
          <p:cNvPr id="19" name="TextBox 18"/>
          <p:cNvSpPr txBox="1"/>
          <p:nvPr/>
        </p:nvSpPr>
        <p:spPr>
          <a:xfrm>
            <a:off x="2562889" y="3175507"/>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24348" y="3175507"/>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вероятностность из точки решения. Измерено: </a:t>
            </a:r>
            <a:r>
              <a:rPr sz="1000" b="1" i="0">
                <a:solidFill>
                  <a:srgbClr val="141B2E"/>
                </a:solidFill>
                <a:latin typeface="Arial"/>
              </a:rPr>
              <a:t>0/101</a:t>
            </a:r>
            <a:r>
              <a:rPr sz="1000" b="0" i="0">
                <a:solidFill>
                  <a:srgbClr val="141B2E"/>
                </a:solidFill>
                <a:latin typeface="Arial"/>
              </a:rPr>
              <a:t> на расширенном наборе, включая граничные случаи</a:t>
            </a:r>
          </a:p>
        </p:txBody>
      </p:sp>
      <p:sp>
        <p:nvSpPr>
          <p:cNvPr id="21" name="TextBox 20"/>
          <p:cNvSpPr txBox="1"/>
          <p:nvPr/>
        </p:nvSpPr>
        <p:spPr>
          <a:xfrm>
            <a:off x="6897302" y="3175507"/>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39242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24299"/>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Сделать сумму явным числовым полем формы</a:t>
            </a:r>
          </a:p>
        </p:txBody>
      </p:sp>
      <p:sp>
        <p:nvSpPr>
          <p:cNvPr id="24" name="TextBox 23"/>
          <p:cNvSpPr txBox="1"/>
          <p:nvPr/>
        </p:nvSpPr>
        <p:spPr>
          <a:xfrm>
            <a:off x="2562889" y="3924299"/>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24348" y="3924299"/>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897302" y="3924299"/>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02056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14858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Мостик дальше.</a:t>
            </a:r>
            <a:r>
              <a:rPr sz="110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именно здесь — решает не спор за столом, а измерение, которое вы уже видите в этой таблице: следующий такт показывает,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pic>
        <p:nvPicPr>
          <p:cNvPr id="3" name="Picture 2" descr="k3-jev-tipy-otveta.png"/>
          <p:cNvPicPr>
            <a:picLocks noChangeAspect="1"/>
          </p:cNvPicPr>
          <p:nvPr/>
        </p:nvPicPr>
        <p:blipFill>
          <a:blip r:embed="rId2"/>
          <a:stretch>
            <a:fillRect/>
          </a:stretch>
        </p:blipFill>
        <p:spPr>
          <a:xfrm>
            <a:off x="1179576" y="1051560"/>
            <a:ext cx="9829800"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и только потом проектируют шаг вокруг него — не наоборот.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5707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508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Жалоба — не мера: тихая ошибка её не вызывает.</a:t>
            </a:r>
            <a:r>
              <a:rPr sz="1500" b="1" i="0">
                <a:solidFill>
                  <a:srgbClr val="141B2E"/>
                </a:solidFill>
                <a:latin typeface="Arial"/>
              </a:rPr>
              <a:t> Поэтому правило, месяц работавшее без единой жалобы, прогнали спроектированным набором из 101 запроса — 51 исходный плюс 50 сложнее: у самой границы, с двумя числами в тексте, с суммой, которую надо посчитать. Правильность каждого прогона читают из его данных, а не на глаз.</a:t>
            </a:r>
          </a:p>
        </p:txBody>
      </p:sp>
      <p:pic>
        <p:nvPicPr>
          <p:cNvPr id="5" name="Picture 4" descr="k3-n8n-variants-real.png"/>
          <p:cNvPicPr>
            <a:picLocks noChangeAspect="1"/>
          </p:cNvPicPr>
          <p:nvPr/>
        </p:nvPicPr>
        <p:blipFill>
          <a:blip r:embed="rId2"/>
          <a:stretch>
            <a:fillRect/>
          </a:stretch>
        </p:blipFill>
        <p:spPr>
          <a:xfrm>
            <a:off x="1376172" y="2375154"/>
            <a:ext cx="9436608" cy="3931920"/>
          </a:xfrm>
          <a:prstGeom prst="rect">
            <a:avLst/>
          </a:prstGeom>
        </p:spPr>
      </p:pic>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ошибок на 101 запросе</a:t>
            </a:r>
          </a:p>
        </p:txBody>
      </p:sp>
      <p:sp>
        <p:nvSpPr>
          <p:cNvPr id="3" name="Rounded Rectangle 2"/>
          <p:cNvSpPr/>
          <p:nvPr/>
        </p:nvSpPr>
        <p:spPr>
          <a:xfrm>
            <a:off x="502920" y="2414206"/>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9 из 101</a:t>
            </a:r>
          </a:p>
        </p:txBody>
      </p:sp>
      <p:sp>
        <p:nvSpPr>
          <p:cNvPr id="5" name="TextBox 4"/>
          <p:cNvSpPr txBox="1"/>
          <p:nvPr/>
        </p:nvSpPr>
        <p:spPr>
          <a:xfrm>
            <a:off x="630936"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правило в промте (версия 1)</a:t>
            </a:r>
          </a:p>
        </p:txBody>
      </p:sp>
      <p:sp>
        <p:nvSpPr>
          <p:cNvPr id="6" name="Rounded Rectangle 5"/>
          <p:cNvSpPr/>
          <p:nvPr/>
        </p:nvSpPr>
        <p:spPr>
          <a:xfrm>
            <a:off x="6195059" y="2414206"/>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0 из 101</a:t>
            </a:r>
          </a:p>
        </p:txBody>
      </p:sp>
      <p:sp>
        <p:nvSpPr>
          <p:cNvPr id="8" name="TextBox 7"/>
          <p:cNvSpPr txBox="1"/>
          <p:nvPr/>
        </p:nvSpPr>
        <p:spPr>
          <a:xfrm>
            <a:off x="6323075"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условие в коде (версия 2)</a:t>
            </a:r>
          </a:p>
        </p:txBody>
      </p:sp>
      <p:sp>
        <p:nvSpPr>
          <p:cNvPr id="9" name="Rounded Rectangle 8"/>
          <p:cNvSpPr/>
          <p:nvPr/>
        </p:nvSpPr>
        <p:spPr>
          <a:xfrm>
            <a:off x="502920" y="4380166"/>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35030"/>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17326"/>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И все девять — на сумме ровно 3000 руб.</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2" name="TextBox 5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964231"/>
            <a:ext cx="11183112" cy="2932585"/>
          </a:xfrm>
          <a:prstGeom prst="rect">
            <a:avLst/>
          </a:prstGeom>
        </p:spPr>
      </p:pic>
      <p:sp>
        <p:nvSpPr>
          <p:cNvPr id="4" name="Rounded Rectangle 3"/>
          <p:cNvSpPr/>
          <p:nvPr/>
        </p:nvSpPr>
        <p:spPr>
          <a:xfrm>
            <a:off x="502920" y="41135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416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31335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4137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panel-extract-crop-real.png"/>
          <p:cNvPicPr>
            <a:picLocks noChangeAspect="1"/>
          </p:cNvPicPr>
          <p:nvPr/>
        </p:nvPicPr>
        <p:blipFill>
          <a:blip r:embed="rId2"/>
          <a:stretch>
            <a:fillRect/>
          </a:stretch>
        </p:blipFill>
        <p:spPr>
          <a:xfrm>
            <a:off x="1572768" y="1352702"/>
            <a:ext cx="9043416"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Тип ответа задаёт схема, границу задаёт условие. Ни то, ни другое не оставлено тексту, который модель читает заново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Чат поддержки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Ваша заявка на возврат одобрена. 2500 рублей уже отправлены на карту, которой вы оплачивали занятие.</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сумма из сцены этого кейса: «прошу вернуть 2500 рублей за пропущенное занятие» — пример ниже порога, поэтому версия 2 одобряет его сама, без участия руководителя, и клиент видит результат, а не устройство решения.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реально: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71638"/>
            <a:ext cx="10607040" cy="391160"/>
          </a:xfrm>
          <a:prstGeom prst="rect">
            <a:avLst/>
          </a:prstGeom>
          <a:noFill/>
        </p:spPr>
        <p:txBody>
          <a:bodyPr wrap="square" lIns="0" rIns="0" tIns="0" bIns="0" anchor="t">
            <a:spAutoFit/>
          </a:bodyPr>
          <a:lstStyle/>
          <a:p>
            <a:pPr algn="l">
              <a:lnSpc>
                <a:spcPts val="3080"/>
              </a:lnSpc>
              <a:spcAft>
                <a:spcPts val="0"/>
              </a:spcAft>
            </a:pPr>
            <a:r>
              <a:rPr sz="2800" b="1" i="0">
                <a:solidFill>
                  <a:srgbClr val="FFFFFF"/>
                </a:solidFill>
                <a:latin typeface="Arial"/>
              </a:rPr>
              <a:t>Zillow Offers: алгоритмическая закупка жилья</a:t>
            </a:r>
          </a:p>
        </p:txBody>
      </p:sp>
      <p:sp>
        <p:nvSpPr>
          <p:cNvPr id="4" name="TextBox 3"/>
          <p:cNvSpPr txBox="1"/>
          <p:nvPr/>
        </p:nvSpPr>
        <p:spPr>
          <a:xfrm>
            <a:off x="685800" y="1873694"/>
            <a:ext cx="10607040" cy="511810"/>
          </a:xfrm>
          <a:prstGeom prst="rect">
            <a:avLst/>
          </a:prstGeom>
          <a:noFill/>
        </p:spPr>
        <p:txBody>
          <a:bodyPr wrap="square" lIns="0" rIns="0" tIns="0" bIns="0" anchor="t">
            <a:spAutoFit/>
          </a:bodyPr>
          <a:lstStyle/>
          <a:p>
            <a:pPr algn="l">
              <a:lnSpc>
                <a:spcPts val="2015"/>
              </a:lnSpc>
              <a:spcAft>
                <a:spcPts val="300"/>
              </a:spcAft>
            </a:pPr>
            <a:r>
              <a:rPr sz="1550" b="0" i="1">
                <a:solidFill>
                  <a:srgbClr val="FFFFFF"/>
                </a:solidFill>
                <a:latin typeface="Arial"/>
              </a:rPr>
              <a:t>«Непредсказуемость прогнозирования цен на жильё намного превышает то, что мы ожидали… частота ошибок оказалась гораздо более волатильной, чем мы считали возможным.»</a:t>
            </a:r>
          </a:p>
        </p:txBody>
      </p:sp>
      <p:sp>
        <p:nvSpPr>
          <p:cNvPr id="5" name="TextBox 4"/>
          <p:cNvSpPr txBox="1"/>
          <p:nvPr/>
        </p:nvSpPr>
        <p:spPr>
          <a:xfrm>
            <a:off x="685800" y="2495232"/>
            <a:ext cx="10607040" cy="182879"/>
          </a:xfrm>
          <a:prstGeom prst="rect">
            <a:avLst/>
          </a:prstGeom>
          <a:noFill/>
        </p:spPr>
        <p:txBody>
          <a:bodyPr wrap="square" lIns="0" rIns="0" tIns="0" bIns="0" anchor="t">
            <a:spAutoFit/>
          </a:bodyPr>
          <a:lstStyle/>
          <a:p>
            <a:pPr algn="l">
              <a:lnSpc>
                <a:spcPts val="1439"/>
              </a:lnSpc>
              <a:spcAft>
                <a:spcPts val="0"/>
              </a:spcAft>
            </a:pPr>
            <a:r>
              <a:rPr sz="1200" b="0" i="0">
                <a:solidFill>
                  <a:srgbClr val="D6E2EC"/>
                </a:solidFill>
                <a:latin typeface="Arial"/>
              </a:rPr>
              <a:t>Рич Бартон, CEO Zillow, 2 ноября 2021</a:t>
            </a:r>
          </a:p>
        </p:txBody>
      </p:sp>
      <p:sp>
        <p:nvSpPr>
          <p:cNvPr id="6" name="Rounded Rectangle 5"/>
          <p:cNvSpPr/>
          <p:nvPr/>
        </p:nvSpPr>
        <p:spPr>
          <a:xfrm>
            <a:off x="685800"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$304 млн</a:t>
            </a:r>
          </a:p>
        </p:txBody>
      </p:sp>
      <p:sp>
        <p:nvSpPr>
          <p:cNvPr id="8" name="TextBox 7"/>
          <p:cNvSpPr txBox="1"/>
          <p:nvPr/>
        </p:nvSpPr>
        <p:spPr>
          <a:xfrm>
            <a:off x="813816"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списание за квартал</a:t>
            </a:r>
          </a:p>
        </p:txBody>
      </p:sp>
      <p:sp>
        <p:nvSpPr>
          <p:cNvPr id="9" name="Rounded Rectangle 8"/>
          <p:cNvSpPr/>
          <p:nvPr/>
        </p:nvSpPr>
        <p:spPr>
          <a:xfrm>
            <a:off x="4288536"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~2000 человек</a:t>
            </a:r>
          </a:p>
        </p:txBody>
      </p:sp>
      <p:sp>
        <p:nvSpPr>
          <p:cNvPr id="11" name="TextBox 10"/>
          <p:cNvSpPr txBox="1"/>
          <p:nvPr/>
        </p:nvSpPr>
        <p:spPr>
          <a:xfrm>
            <a:off x="4416552"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четверть штата</a:t>
            </a:r>
          </a:p>
        </p:txBody>
      </p:sp>
      <p:sp>
        <p:nvSpPr>
          <p:cNvPr id="12" name="Rounded Rectangle 11"/>
          <p:cNvSpPr/>
          <p:nvPr/>
        </p:nvSpPr>
        <p:spPr>
          <a:xfrm>
            <a:off x="7891272"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~$80 000</a:t>
            </a:r>
          </a:p>
        </p:txBody>
      </p:sp>
      <p:sp>
        <p:nvSpPr>
          <p:cNvPr id="14" name="TextBox 13"/>
          <p:cNvSpPr txBox="1"/>
          <p:nvPr/>
        </p:nvSpPr>
        <p:spPr>
          <a:xfrm>
            <a:off x="8019288"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убыток на каждый проданный дом</a:t>
            </a:r>
          </a:p>
        </p:txBody>
      </p:sp>
      <p:sp>
        <p:nvSpPr>
          <p:cNvPr id="15" name="TextBox 14"/>
          <p:cNvSpPr txBox="1"/>
          <p:nvPr/>
        </p:nvSpPr>
        <p:spPr>
          <a:xfrm>
            <a:off x="685800" y="4836096"/>
            <a:ext cx="10607040" cy="255905"/>
          </a:xfrm>
          <a:prstGeom prst="rect">
            <a:avLst/>
          </a:prstGeom>
          <a:noFill/>
        </p:spPr>
        <p:txBody>
          <a:bodyPr wrap="square" lIns="0" rIns="0" tIns="0" bIns="0" anchor="t">
            <a:spAutoFit/>
          </a:bodyPr>
          <a:lstStyle/>
          <a:p>
            <a:pPr algn="l">
              <a:lnSpc>
                <a:spcPts val="2015"/>
              </a:lnSpc>
              <a:spcAft>
                <a:spcPts val="300"/>
              </a:spcAft>
            </a:pPr>
            <a:r>
              <a:rPr sz="1550" b="0" i="0">
                <a:solidFill>
                  <a:srgbClr val="FFFFFF"/>
                </a:solidFill>
                <a:latin typeface="Arial"/>
              </a:rPr>
              <a:t>Тот же порог без гейта, что в «Одобрении возврата», — на масштабе компании.</a:t>
            </a:r>
          </a:p>
        </p:txBody>
      </p:sp>
      <p:sp>
        <p:nvSpPr>
          <p:cNvPr id="16" name="Rounded Rectangle 15"/>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в Telegram</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Журнал выполнения — зелёный. Отправка подтверждена. У координатора в Telegram — ничего.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970387"/>
            <a:ext cx="11183112" cy="3865342"/>
          </a:xfrm>
          <a:prstGeom prst="rect">
            <a:avLst/>
          </a:prstGeom>
        </p:spPr>
      </p:pic>
      <p:sp>
        <p:nvSpPr>
          <p:cNvPr id="4" name="Rounded Rectangle 3"/>
          <p:cNvSpPr/>
          <p:nvPr/>
        </p:nvSpPr>
        <p:spPr>
          <a:xfrm>
            <a:off x="502920" y="5067900"/>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95916"/>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1066160" y="1319784"/>
            <a:ext cx="10056630" cy="2800199"/>
          </a:xfrm>
          <a:prstGeom prst="rect">
            <a:avLst/>
          </a:prstGeom>
        </p:spPr>
      </p:pic>
      <p:sp>
        <p:nvSpPr>
          <p:cNvPr id="4" name="Rounded Rectangle 3"/>
          <p:cNvSpPr/>
          <p:nvPr/>
        </p:nvSpPr>
        <p:spPr>
          <a:xfrm>
            <a:off x="502920" y="4284575"/>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40023"/>
            <a:ext cx="53769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440023"/>
            <a:ext cx="52026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58368" y="4722090"/>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Проверенный файл</a:t>
            </a:r>
          </a:p>
        </p:txBody>
      </p:sp>
      <p:sp>
        <p:nvSpPr>
          <p:cNvPr id="8" name="TextBox 7"/>
          <p:cNvSpPr txBox="1"/>
          <p:nvPr/>
        </p:nvSpPr>
        <p:spPr>
          <a:xfrm>
            <a:off x="6181614" y="4722090"/>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58368" y="502314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5023144"/>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023144"/>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64423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7225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Ответ Telegram Bot API: </a:t>
            </a:r>
            <a:r>
              <a:rPr sz="1250" b="1" i="0">
                <a:solidFill>
                  <a:srgbClr val="141B2E"/>
                </a:solidFill>
                <a:latin typeface="Consolas"/>
              </a:rPr>
              <a:t>"Bad</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file</a:t>
            </a:r>
            <a:r>
              <a:rPr sz="1250" b="1" i="0">
                <a:solidFill>
                  <a:srgbClr val="141B2E"/>
                </a:solidFill>
                <a:latin typeface="Arial"/>
              </a:rPr>
              <a:t> </a:t>
            </a:r>
            <a:r>
              <a:rPr sz="1250" b="1" i="0">
                <a:solidFill>
                  <a:srgbClr val="141B2E"/>
                </a:solidFill>
                <a:latin typeface="Consolas"/>
              </a:rPr>
              <a:t>of</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12812355</a:t>
            </a:r>
            <a:r>
              <a:rPr sz="1250" b="1" i="0">
                <a:solidFill>
                  <a:srgbClr val="141B2E"/>
                </a:solidFill>
                <a:latin typeface="Arial"/>
              </a:rPr>
              <a:t> </a:t>
            </a:r>
            <a:r>
              <a:rPr sz="1250" b="1" i="0">
                <a:solidFill>
                  <a:srgbClr val="141B2E"/>
                </a:solidFill>
                <a:latin typeface="Consolas"/>
              </a:rPr>
              <a:t>bytes</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too</a:t>
            </a:r>
            <a:r>
              <a:rPr sz="1250" b="1" i="0">
                <a:solidFill>
                  <a:srgbClr val="141B2E"/>
                </a:solidFill>
                <a:latin typeface="Arial"/>
              </a:rPr>
              <a:t> </a:t>
            </a:r>
            <a:r>
              <a:rPr sz="1250" b="1" i="0">
                <a:solidFill>
                  <a:srgbClr val="141B2E"/>
                </a:solidFill>
                <a:latin typeface="Consolas"/>
              </a:rPr>
              <a:t>big</a:t>
            </a:r>
            <a:r>
              <a:rPr sz="1250" b="1" i="0">
                <a:solidFill>
                  <a:srgbClr val="141B2E"/>
                </a:solidFill>
                <a:latin typeface="Arial"/>
              </a:rPr>
              <a:t> </a:t>
            </a:r>
            <a:r>
              <a:rPr sz="1250" b="1" i="0">
                <a:solidFill>
                  <a:srgbClr val="141B2E"/>
                </a:solidFill>
                <a:latin typeface="Consolas"/>
              </a:rPr>
              <a:t>for</a:t>
            </a:r>
            <a:r>
              <a:rPr sz="1250" b="1" i="0">
                <a:solidFill>
                  <a:srgbClr val="141B2E"/>
                </a:solidFill>
                <a:latin typeface="Arial"/>
              </a:rPr>
              <a:t> </a:t>
            </a:r>
            <a:r>
              <a:rPr sz="1250" b="1" i="0">
                <a:solidFill>
                  <a:srgbClr val="141B2E"/>
                </a:solidFill>
                <a:latin typeface="Consolas"/>
              </a:rPr>
              <a:t>a</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a:t>
            </a:r>
            <a:r>
              <a:rPr sz="1250" b="1" i="0">
                <a:solidFill>
                  <a:srgbClr val="141B2E"/>
                </a:solidFill>
                <a:latin typeface="Consolas"/>
              </a:rPr>
              <a:t>the</a:t>
            </a:r>
            <a:r>
              <a:rPr sz="1250" b="1" i="0">
                <a:solidFill>
                  <a:srgbClr val="141B2E"/>
                </a:solidFill>
                <a:latin typeface="Arial"/>
              </a:rPr>
              <a:t> </a:t>
            </a:r>
            <a:r>
              <a:rPr sz="1250" b="1" i="0">
                <a:solidFill>
                  <a:srgbClr val="141B2E"/>
                </a:solidFill>
                <a:latin typeface="Consolas"/>
              </a:rPr>
              <a:t>maximum</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10485760</a:t>
            </a:r>
            <a:r>
              <a:rPr sz="1250" b="1" i="0">
                <a:solidFill>
                  <a:srgbClr val="141B2E"/>
                </a:solidFill>
                <a:latin typeface="Arial"/>
              </a:rPr>
              <a:t> </a:t>
            </a:r>
            <a:r>
              <a:rPr sz="125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текст, картинка и отправка фото</a:t>
            </a:r>
          </a:p>
        </p:txBody>
      </p:sp>
      <p:pic>
        <p:nvPicPr>
          <p:cNvPr id="3" name="Picture 2" descr="k4-panel-uzly-crop-real.png"/>
          <p:cNvPicPr>
            <a:picLocks noChangeAspect="1"/>
          </p:cNvPicPr>
          <p:nvPr/>
        </p:nvPicPr>
        <p:blipFill>
          <a:blip r:embed="rId2"/>
          <a:stretch>
            <a:fillRect/>
          </a:stretch>
        </p:blipFill>
        <p:spPr>
          <a:xfrm>
            <a:off x="502920" y="1337051"/>
            <a:ext cx="11183112" cy="2985782"/>
          </a:xfrm>
          <a:prstGeom prst="rect">
            <a:avLst/>
          </a:prstGeom>
        </p:spPr>
      </p:pic>
      <p:sp>
        <p:nvSpPr>
          <p:cNvPr id="4" name="Rounded Rectangle 3"/>
          <p:cNvSpPr/>
          <p:nvPr/>
        </p:nvSpPr>
        <p:spPr>
          <a:xfrm>
            <a:off x="502920" y="49903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183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Картинку забирают отдельным запросом, а отправляют отдельной операцией: текстовое сообщение и фотография — два разных вызова, а не один с вложением.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shema-generatsii.png"/>
          <p:cNvPicPr>
            <a:picLocks noChangeAspect="1"/>
          </p:cNvPicPr>
          <p:nvPr/>
        </p:nvPicPr>
        <p:blipFill>
          <a:blip r:embed="rId2"/>
          <a:stretch>
            <a:fillRect/>
          </a:stretch>
        </p:blipFill>
        <p:spPr>
          <a:xfrm>
            <a:off x="502920" y="1055126"/>
            <a:ext cx="11183112" cy="3914089"/>
          </a:xfrm>
          <a:prstGeom prst="rect">
            <a:avLst/>
          </a:prstGeom>
        </p:spPr>
      </p:pic>
      <p:sp>
        <p:nvSpPr>
          <p:cNvPr id="4" name="Rounded Rectangle 3"/>
          <p:cNvSpPr/>
          <p:nvPr/>
        </p:nvSpPr>
        <p:spPr>
          <a:xfrm>
            <a:off x="502920" y="5413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1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 что мы собрали на предыдущем экране, — </a:t>
            </a:r>
            <a:r>
              <a:rPr sz="1500" b="1" i="0">
                <a:solidFill>
                  <a:srgbClr val="141B2E"/>
                </a:solidFill>
                <a:latin typeface="Arial"/>
              </a:rPr>
              <a:t>текст подписью к фотографии по ссылке</a:t>
            </a:r>
            <a:r>
              <a:rPr sz="1500" b="1" i="0">
                <a:solidFill>
                  <a:srgbClr val="141B2E"/>
                </a:solidFill>
                <a:latin typeface="Arial"/>
              </a:rPr>
              <a:t>. Маркетинг просил текст поверх картинки, то есть внутри самого изображения, — а это отдельный шаг.</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Фото-карточка, подписью к которой идёт текст уведомления: «Новая заявка от Марии: тема «курс», также упомянуто: оплата.»</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подпись, что в Кейсе 1 — текст уведомления здесь собирается той же формулой подстановки, только теперь он приходит не отдельным сообщением, а подписью к фотографии. Это успешный случай: файл укладывается в измеренную границу, и карточка доходит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975199"/>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8079"/>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158079"/>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440146"/>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440146"/>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1524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242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15242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28647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6470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286470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576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76984"/>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576984"/>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453378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8864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094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Из четырёх новых шагов узел языковой модели пережил проверку в одном</a:t>
            </a:r>
            <a:r>
              <a:rPr sz="1350" b="0" i="0">
                <a:solidFill>
                  <a:srgbClr val="141B2E"/>
                </a:solidFill>
                <a:latin typeface="Arial"/>
              </a:rPr>
              <a:t> — в «Одобрении возврата», и там он только извлекает сумму: решает условие в коде.</a:t>
            </a:r>
          </a:p>
        </p:txBody>
      </p:sp>
      <p:sp>
        <p:nvSpPr>
          <p:cNvPr id="20" name="Rounded Rectangle 19"/>
          <p:cNvSpPr/>
          <p:nvPr/>
        </p:nvSpPr>
        <p:spPr>
          <a:xfrm>
            <a:off x="502920" y="545692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58493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pic>
        <p:nvPicPr>
          <p:cNvPr id="3" name="Picture 2" descr="mostik-s9-razvilka.png"/>
          <p:cNvPicPr>
            <a:picLocks noChangeAspect="1"/>
          </p:cNvPicPr>
          <p:nvPr/>
        </p:nvPicPr>
        <p:blipFill>
          <a:blip r:embed="rId2"/>
          <a:stretch>
            <a:fillRect/>
          </a:stretch>
        </p:blipFill>
        <p:spPr>
          <a:xfrm>
            <a:off x="1249788" y="1004316"/>
            <a:ext cx="968937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