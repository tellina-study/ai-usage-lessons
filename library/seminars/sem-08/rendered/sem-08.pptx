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мы закончили работающей цепочкой: форма, извлечение полей моделью, сверка со справочником, запись в таблицу, экран результата. Сегодня мы не трогаем ни один из этих узлов — мы задаём цепочке новые шаги, которые ей сегодня предстоит получить: уведомление координатору, проверку на повторное обращение, решение о возврате денег, доставку картинки.</a:t>
            </a:r>
          </a:p>
          <a:p/>
          <a:p>
            <a:r>
              <a:t>На каждом из этих шагов мы будем задавать один и тот же вопрос: эту часть работы должна делать модель, или её должен делать код? Ответ не всегда очевиден заранее. Иногда шаг с моделью стоит там, где хватило бы простой подстановки уже известных значений — и тогда модель просто лишняя, со своей ценой и риском. А иногда, наоборот, текстовое правило внутри промпта вероятностно обходит то, что с самого начала должно было быть жёстким условием в коде — и это выясняется не сразу, а на практике, когда правило один раз ошибается именно там, где цена ошибки выше всего.</a:t>
            </a:r>
          </a:p>
          <a:p/>
          <a:p>
            <a:r>
              <a:t>Занятие практическое, но устроено иначе, чем прошлое. В прошлый раз я собирал узлы вживую у вас на глазах. Сегодня — на каждый кейс заранее собрана и прогнана готовая пара процессов, с моделью и без, — и мы смотрим на то, что они реально сделали на одних и тех же заявках одного и того же учебного центра. Для одного из кейсов мы пойдём ещё дальше и разберём целый эксперимент: несколько десятков прогонов с измеренным числом ошибок, а не предположение о том, как оно должно было бы работать.</a:t>
            </a:r>
          </a:p>
          <a:p/>
          <a:p>
            <a:r>
              <a:t>Мы остаёмся на той же ступени лестницы, что и в прошлый раз, — цепочка. Сегодня мы не поднимаемся выше, мы её усложняем. К концу занятия у вас будет не один новый узел, а критерий: как смотреть на любой шаг своей собственной цепочки и решать, кому в нём место — модели или коду.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есть процесс по классификации входящих обращений — вот он, на экране, настоящий снимок холста, а не нарисованная схема. Ровно те же шесть узлов, которые вы видели в конце прошлого занятия, в том же порядке, с теми же именами. Ни один узел не переименован, не удалён и не изменён — если вы открывали файл процесса у себя дома, сегодняшний стенд начинается с того же самого файла.</a:t>
            </a:r>
          </a:p>
          <a:p/>
          <a:p>
            <a:r>
              <a:t>Напомню устройство коротко, потому что дальше мы будем ссылаться на эти шаги по именам. Форма принимает заявку свободным текстом — человек пишет, как ему удобно, без формата. Извлечение — отдельный шаг модели, который достаёт из этого текста тему, срочность и контакт, если он упомянут в самом тексте. Справочник — не модель, а детерминированная сверка: значение либо из заданного списка, либо становится «другое» или «не указано», и пустых клеток после этого шага не бывает. Запись кладёт готовую строку в таблицу, а экран результата показывает заявителю все шаги сразу, одним полотном.</a:t>
            </a:r>
          </a:p>
          <a:p/>
          <a:p>
            <a:r>
              <a:t>Отдельно — ветка отказа, которой на этом конкретном кадре не видно: если извлечение не смогло разобрать текст даже после трёх попыток, заявка не исчезает, а уходит в ту же таблицу с отдельной пометкой, и у неё свой экран.</a:t>
            </a:r>
          </a:p>
          <a:p/>
          <a:p>
            <a:r>
              <a:t>Зачем мы вообще на это смотрим снова. Не потому, что здесь есть к чему придраться — к этим шести узлам сегодня претензий нет. А потому, что сегодняшние четыре кейса — это ровно те шаги, которые этой цепочке только предстоит получить: канал уведомления, проверка на повтор, решение по сумме возврата, доставка картинки. Ни для одного из них вопрос «это задача модели или задача кода» ещё не был задан. Мы начинаем с чистого, уже работающего основания и достраиваем его, кейс за кейсом, этим одним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Быстрое напоминание, не новое знакомство — эту лестницу вы уже видели на прошлом занятии, и я не буду снова проходить все девять ступеней.</a:t>
            </a:r>
          </a:p>
          <a:p/>
          <a:p>
            <a:r>
              <a:t>Короткая суть для тех, кто забыл детали. Девять ступеней снизу вверх, от простого к сложному: внизу — то, что закрывается одним вызовом модели или поиском по своим документам, это пройдено ещё на лекции. Дальше — цепочка: несколько шагов в заранее известном порядке, данные между ними. На ней мы были весь прошлый раз, и на ней же мы остаёмся весь сегодняшний.</a:t>
            </a:r>
          </a:p>
          <a:p/>
          <a:p>
            <a:r>
              <a:t>Это важно сказать прямо, потому что интуитивно кажется, что раз сегодня четыре новых кейса и один сложный эксперимент — значит, мы куда-то поднялись. Это не так. Маршрут, где путь выбирает категория входа, параллельные независимые проверки, циклы и подпроцессы, агент, который сам решает порядок шагов, несколько агентов вместе — всё это следующие занятия, другие ступени. Сегодня цепочка остаётся той же самой по устройству: шаг за шагом, в известном порядке. Меняется не высота, а глубина — мы учимся задавать одному и тому же устройству более точный вопрос про каждый отдельный шаг.</a:t>
            </a:r>
          </a:p>
          <a:p/>
          <a:p>
            <a:r>
              <a:t>Почему это стоит отдельного напоминания, а не только устного комментария. Потому что правило движения по лестнице из прошлого занятия звучит ровно так: не поднимайся без требования, которого ступень ниже не закрывает. А все четыре сегодняшних кейса — это именно требования, которые ступень «цепочка» не закрыла автоматически сама по себе: уведомление, которое не путает факты, проверка, которая не запускает повтор с нуля, решение по сумме, за которое можно ручаться, доставка картинки, которая не роняет прогон. Ни одно из них не требует подняться — все четыре закрываются внутри той же самой ступени, если на каждом шаге правильно ответить на один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четыре строки, и в каждой — то, что на первый взгляд выглядит нормальным, рабочим результатом. Прочитайте левую колонку. Сообщение ушло координатору. Заявка обработалась. В промте написано правило про сумму. Картинка дошла до Telegram. Каждая из этих четырёх фраз описывает момент, когда кажется, что задача решена и можно двигаться дальше.</a:t>
            </a:r>
          </a:p>
          <a:p/>
          <a:p>
            <a:r>
              <a:t>Правая колонка пустая, и это не недосмотр — это и есть план занятия. В каждой из этих четырёх историй есть что-то, что выглядывает наружу только при более внимательном взгляде: лишний шаг там, где он не нужен, повтор, который не узнали, вероятностное решение там, где нужно жёсткое условие, формат данных, который ведёт себя не так, как текст. Мы не называем это сейчас — мы его найдём и впишем в таблицу по ходу разбора каждого кейса.</a:t>
            </a:r>
          </a:p>
          <a:p/>
          <a:p>
            <a:r>
              <a:t>Четыре строки — это ровно четыре кейса сегодняшнего занятия: уведомления, проверка на повтор, одобрение возврата, картинка в Telegram. У каждого кейса в конце будет момент, где мы возвращаемся к этой самой таблице и вписываем ровно одну строку в правую колонку — не абстрактный вывод, а конкретное наблюдение с конкретного прогона, который мы только что видели своими глазами.</a:t>
            </a:r>
          </a:p>
          <a:p/>
          <a:p>
            <a:r>
              <a:t>Это не означает, что все четыре истории провальные с самого начала. Наоборот — каждая выглядит полностью рабочей, и в этом главная ловушка: то, что работает, легко спутать с тем, за что можно ручаться. Разница между этими двумя состояниями — то, что эта таблица и измеряет, строка за строкой, до самого конца занятия, когда мы увидим все четыре пары рядом и сможем сравнить их одним взглядом.</a:t>
            </a:r>
          </a:p>
          <a:p/>
          <a:p>
            <a:r>
              <a:t>Запомните эту таблицу — мы вернёмся к ней сразу после первого же кейса.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 администратор учебного центра, и у неё к цепочке с прошлого занятия одна конкретная просьба. Когда заявка касается больше одной темы сразу, она хочет получать сообщение в Telegram, а не идти проверять экран результата каждый раз, когда заявитель упомянул что-то кроме основного вопроса.</a:t>
            </a:r>
          </a:p>
          <a:p/>
          <a:p>
            <a:r>
              <a:t>Просьба звучит просто, и выполнить её как будто легко — цепочка уже знает всё нужное: имя, основную тему, дополнительные темы. Все три значения к этому моменту уже извлечены и лежат в таблице. Остаётся только собрать из них одно читаемое сообщение и отправить.</a:t>
            </a:r>
          </a:p>
          <a:p/>
          <a:p>
            <a:r>
              <a:t>Именно здесь кейс и начинается: как именно собрать текст из трёх уже известных значений — это и есть сегодняшний вопрос, не очевидный на первый взгляд. Дальше — живая сцена её рабочего дня, что было сделано первой попыткой, и чуть позже, на настоящих прогонах, — что эта попытка показала на практике.</a:t>
            </a:r>
          </a:p>
          <a:p/>
          <a:p>
            <a:r>
              <a:t>Обратите внимание на то, о чём Ольга НЕ просила. Она не просила «сделать уведомление умным» или «пусть модель решит, что писать». Она описала результат, который хочет видеть у себя в телефоне, — одну строку, по которой сразу понятно, кто написал и зачем. Как именно цепочка до этой строки дойдёт — её не касается вовсе, и это важно держать в голове: весь кейс дальше будет про то, что разные команды инженеров на этом самом месте выбирают разные ответы, а потребность у всех одна и та же, предельно конкретная.</a:t>
            </a:r>
          </a:p>
          <a:p/>
          <a:p>
            <a:r>
              <a:t>Эта потребность и есть то, с чем мы работаем весь кейс — не абстрактное «нужно уведомление», а именно эта фраза, слово за словом, с которой дальше можно сверять любое решение. Запомните её форму: так мы и будем проверять каждый вариант дальше — не на глаз, а подставляя в него настоящую заявку и глядя, получилась ли ровно эта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процесс, с которым мы закончили прошлое занятие: форма, извлечение полей, запись в таблицу, экран результата. Ничего из устройства процесса не меняется — меняется то, чего теперь ждёт от него Ольга.</a:t>
            </a:r>
          </a:p>
          <a:p/>
          <a:p>
            <a:r>
              <a:t>Двадцать заявок в день, и большинство — про одну тему: записаться на курс, перенести занятие, оплатить. По таким экран результата даёт всё нужное сразу: тема и срочность уже проставлены, кому передать — понятно с одного взгляда.</a:t>
            </a:r>
          </a:p>
          <a:p/>
          <a:p>
            <a:r>
              <a:t>Но раз в несколько заявок человек упоминает что-то сверх основного вопроса — оплату вдобавок к записи, перенос занятия вдобавок к вопросу про курс. Поле «дополнительные темы» в таблице это честно записывает. Проблема не в том, что процесс не заметил, — он заметил и записал верно. Проблема в том, кто и когда это увидит.</a:t>
            </a:r>
          </a:p>
          <a:p/>
          <a:p>
            <a:r>
              <a:t>Ольга не сидит перед экраном результата весь день. У неё двадцать заявок и обычная работа учебного центра вокруг них — она заходит проверять пачками, несколько раз за смену. Если многотемная заявка легла в таблицу между проверками, она там лежит с правильными полями и ничем не выделяется среди обычных заявок: заметить её можно только одним способом — открыть экран и прочитать конкретно эту строку.</a:t>
            </a:r>
          </a:p>
          <a:p/>
          <a:p>
            <a:r>
              <a:t>А многотемная заявка почти всегда срочнее одной темы. Человек не просто спрашивает про курс — он ещё и хочет перенести оплаченное занятие на сегодня или уточнить то, что должно случиться до конца дня. Пачка проверки раз в несколько часов превращает именно эту срочность в обычную очередь, и к вечеру Ольга честно признаёт: часть таких заявок она увидела не сразу.</a:t>
            </a:r>
          </a:p>
          <a:p/>
          <a:p>
            <a:r>
              <a:t>Отсюда и её просьба, сформулированная предельно конкретно, не «сделайте уведомления умными»: одна строка в Telegram на каждую многотемную заявку — кто написал, по какой теме, что упомянул ещё, — чтобы не идти проверять экран результата из-за одной заявки среди двадцати обычных.</a:t>
            </a:r>
          </a:p>
          <a:p/>
          <a:p>
            <a:r>
              <a:t>Как именно собрать эту строку из трёх уже известных значений — вопрос, с которого начинается сегодняшний кейс.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значения, из которых надо собрать уведомление, уже лежат в структурированном виде: имя, основная тема, дополнительные темы. Вопрос — не что собирать, а как.</a:t>
            </a:r>
          </a:p>
          <a:p/>
          <a:p>
            <a:r>
              <a:t>Первая карточка — модель пишет весь текст уведомления целиком, свободно. Это то, что уже сделала версия 1.</a:t>
            </a:r>
          </a:p>
          <a:p/>
          <a:p>
            <a:r>
              <a:t>Вторая — заполняем готовую форму сообщения алгоритмом целиком, только подстановка значений в заранее заданный шаблон, без единого вызова модели.</a:t>
            </a:r>
          </a:p>
          <a:p/>
          <a:p>
            <a:r>
              <a:t>Третья — смешанный вариант: то, что можно закрыть алгоритмом — сами значения, — закрываем им; а то, что требует интерпретации текста заявки и не извлечено заранее структурно, на то отдельно зовём модель.</a:t>
            </a:r>
          </a:p>
          <a:p/>
          <a:p>
            <a:r>
              <a:t>Четвёртая — берём алгоритмически собранный текст как основу, твёрдый костяк, и добавляем к нему одну короткую фразу тона или комментария, которую сочиняет модель поверх уже готового текста.</a:t>
            </a:r>
          </a:p>
          <a:p/>
          <a:p>
            <a:r>
              <a:t>Выбирайте не по ощущению, а прикиньте: какой из четырёх способов надёжно даст текст, совпадающий с тем, что просила Ольга, на любой заявке, а не только на удачной.</a:t>
            </a:r>
          </a:p>
          <a:p/>
          <a:p>
            <a:r>
              <a:t>Обратите внимание, что карточки выстроены спектром, не вразнобой: слева — вариант, где всю работу делает модель, справа — где всю работу делает алгоритм, а между ними — два смешанных варианта, каждый со своим способом разделить работу между моделью и кодом. Это сделано намеренно: вопрос не «модель или код», а «сколько именно работы в этой конкретной задаче реально требует интерпретации, а сколько — просто подстановки уже известного».</a:t>
            </a:r>
          </a:p>
          <a:p/>
          <a:p>
            <a:r>
              <a:t>Ни одна карточка здесь не отмечена как заведомо слабая — у каждой из четырёх есть ситуация в принципе, где она была бы разумным выбором. Сегодняшний вопрос — именно под потребность Ольги, с её конкретным примером текста и с уже структурированными значениями на входе. Для другой потребности, с другим набором известных и неизвестных значений, ответ мог бы быть другим — это стоит держать в голове, выбирая карточку, но разбирать мы будем именно эту, сегодняшнюю.</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 у каждого есть ситуация, где оно было бы правильным выбором. Вопрос в том, какая ситуация перед нами на самом деле.</a:t>
            </a:r>
          </a:p>
          <a:p/>
          <a:p>
            <a:r>
              <a:t>Первое — модель пишет весь текст целиком. Она умеет это сделать, вопросов нет, и текст у неё получается живой, не казённой фразой. Но смотрите, что у неё на входе: все три значения — имя, тема, дополнительные темы — уже извлечены, структурированы и лежат готовыми. Модели нечего интерпретировать, ей просто нечего добавить к тому, что и так известно. А раз она всё равно генерирует текст свободно на каждом прогоне, у неё остаётся шанс вписать в сообщение деталь, которой в заявке не было — чуть позже мы увидим это на настоящем прогоне, не в теории.</a:t>
            </a:r>
          </a:p>
          <a:p/>
          <a:p>
            <a:r>
              <a:t>Второе — алгоритм заполняет форму целиком. Это ровно тот объём работы, который реально нужен: три значения уже есть, форма сообщения всегда одна и та же, вариативности по сути не требуется. Результат предсказуемо совпадает с тем примером текста, который просила Ольга.</a:t>
            </a:r>
          </a:p>
          <a:p/>
          <a:p>
            <a:r>
              <a:t>Третье — смешанный вариант, алгоритм плюс модель только на то, что требует интерпретации. Идея разумная сама по себе, и она бы сработала, если бы в заявке оставалось хоть одно значение, которое нужно домысливать из текста — например, степень срочности, если бы она не была извлечена явно словом. Но в нашей цепочке срочность уже есть отдельным структурным полем ещё с прошлого занятия. Для модели здесь буквально не осталось работы — это решение для другой потребности, которой у нас сейчас нет.</a:t>
            </a:r>
          </a:p>
          <a:p/>
          <a:p>
            <a:r>
              <a:t>Четвёртое — алгоритмический костяк плюс фраза тона от модели поверх. Это уменьшенная версия первого варианта: модель всё ещё что-то сочиняет, просто меньше. Риск той же природы остаётся, просто меньшего размера.</a:t>
            </a:r>
          </a:p>
          <a:p/>
          <a:p>
            <a:r>
              <a:t>Какое действие на самом деле закрывает нашу потребность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схема — архитектура версии 1 в чистом виде, без единого имени конкретного инструмента. Если завтра эту же цепочку собирают не в том оркестраторе, которым пользуемся мы, формулировка не меняется ни на слово: после того как поля заявки извлечены, добавляется отдельный шаг, который на каждый прогон обращается к модели и получает от неё готовый свободный текст.</a:t>
            </a:r>
          </a:p>
          <a:p/>
          <a:p>
            <a:r>
              <a:t>Важное свойство этой архитектуры — не то, что она вызывает модель, а то, когда она это делает: решение о форме текста принимается заново при каждом прогоне, а не один раз заранее. Отсюда и растёт риск, который мы разберём чуть позже на настоящих прогонах: раз текст собирается заново при каждом вызове, он звучит каждый раз немного иначе, а иногда это «иначе» вмещает деталь, которой в заявке не было вовсе.</a:t>
            </a:r>
          </a:p>
          <a:p/>
          <a:p>
            <a:r>
              <a:t>Дальше — вторая архитектурная схема, без единого изменения в остальной цепочке, но с другим ответом ровно на этот один узел. Сравнивать мы будем именно эти два экрана — один против другого, не абзац против абзаца.</a:t>
            </a:r>
          </a:p>
          <a:p/>
          <a:p>
            <a:r>
              <a:t>Почему вообще стоит сначала рисовать такую обезличенную схему, а не сразу переходить к настоящему интерфейсу с настоящими именами полей. Потому что решение, правильный ли это узел для задачи, не зависит от того, в каком инструменте он собран. Если вы собираете похожую цепочку на другом движке, через код напрямую или через любой другой оркестратор, вопрос «вызывает ли этот шаг модель на каждый прогон, или решение принято заранее» звучит ровно так же и ответ на него не меняется. Конкретные имена узлов и параметров — это слой ниже, он идёт следом, на следующих экранах, и там он уже привязан к настоящему инструменту с его настоящими полями и настоящим текстом промпта.</a:t>
            </a:r>
          </a:p>
          <a:p/>
          <a:p>
            <a:r>
              <a:t>Здесь важно смотреть на расположение блока относительно остальной, уже знакомой вам цепочки: он встаёт не вместо какого-то старого узла, а рядом, новой веткой, после того как заявка уже записана в таблицу. Остальные пять узлов из прошлого занятия эта архитектура не трогает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вторая архитектурная схема, и её стоит смотреть не саму по себе, а рядом с предыдущей — разница между ними ровно в одном узле, остальная цепочка не тронута ни на шаг. Там, где в первой схеме стоял узел, вызывающий модель на каждый прогон, здесь стоит узел, который подставляет уже известные значения в один раз заданную форму текста. Никакого обращения к модели на этом шаге не происходит вовсе.</a:t>
            </a:r>
          </a:p>
          <a:p/>
          <a:p>
            <a:r>
              <a:t>Главное отличие по сути — не инструмент, а момент принятия решения. В версии с моделью решение о том, как будет звучать текст, принимается заново при каждой заявке. В этой версии решение принято один раз, заранее, когда форму текста придумали и зафиксировали, и дальше оно просто воспроизводится без вариаций.</a:t>
            </a:r>
          </a:p>
          <a:p/>
          <a:p>
            <a:r>
              <a:t>Отсюда прямое следствие для надёжности: у этого узла нет пространства для сочинительства. Он не может вставить в сообщение деталь, которой не было в заявке, — потому что он ничего не сочиняет, он только копирует значения на заранее размеченные места. Находка с плейсхолдером, которую мы разберём чуть позже на настоящих прогонах версии с моделью, структурно невозможна в этой архитектуре — не потому, что эта версия «умнее», а потому, что здесь просто нет шага, который мог бы её создать.</a:t>
            </a:r>
          </a:p>
          <a:p/>
          <a:p>
            <a:r>
              <a:t>Как это выглядит внутри конкретного инструмента, с настоящими параметрами обеих версий, — следующие экраны.</a:t>
            </a:r>
          </a:p>
          <a:p/>
          <a:p>
            <a:r>
              <a:t>Стоит сразу снять одно возражение, которое напрашивается: «а что, если шаблон окажется не таким гибким, как модель, и не впишет что-то важное». Это честный вопрос, и ответ на него — не «шаблон всегда лучше», а «для этой конкретной потребности шаблону хватает той гибкости, которая ему доступна»: три значения, одна форма сообщения, ничего, что требовало бы по-настоящему разного текста от заявки к заявке. Если бы потребность была другой — например, нужно было бы учитывать тон заявителя или писать по-разному в зависимости от срочности, — этот же аргумент сработал бы в обратную сторону, и схему с моделью стоило бы предпочесть.</a:t>
            </a:r>
          </a:p>
          <a:p/>
          <a:p>
            <a:r>
              <a:t>Порядок событий здесь остаётся ровно таким, каким он был на самом деле: сначала собрали версию с моделью, через практику нашли проблему с плейсхолдером, и только после этого пришли к архитектуре, которую вы видите на этом экране. Две схемы стоят рядом сейчас не потому, что они были равноценными вариантами с самого начала, а потому, что рядом их проще сравнить один к одному — что именно изменилось и почему это изменение закрывает найденную на практике проблему.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не иллюстрация и не упрощённая схема, а тот же экран, который открывается в n8n при входе в воркфлоу «Кейс 1 (до)». На кадре — весь путь целиком: форма заявки, извлечение полей, проверка по словарю тем, запись строки, узел композиции сообщения и отправка в Telegram.</a:t>
            </a:r>
          </a:p>
          <a:p/>
          <a:p>
            <a:r>
              <a:t>Присмотритесь к двум деталям прямо на кадре. Первая — у узла «Compose notification…» подпись обрывается многоточием прямо в интерфейсе: карточка узкая, и n8n режет длинное имя так же, как резал бы любое другое. Полное имя — «Compose notification (LLM)» — видно, только если открыть сам узел; это честное ограничение интерфейса, не огрубление с нашей стороны. Вторая деталь — пометка «Model*» под этим узлом: звёздочка значит, что параметр обязателен, вызов модели здесь не опция, а требование конфигурации.</a:t>
            </a:r>
          </a:p>
          <a:p/>
          <a:p>
            <a:r>
              <a:t>Такая же пометка стоит и под узлом извлечения полей чуть левее — и это не новость: модель там работала и в более простой схеме, без неё превратить свободный текст заявки в структурированные значения нельзя. Новое — именно второй вызов, на шаге композиции готового сообщения, где все нужные значения уже есть и извлекать, казалось бы, больше нечего. Рядом с узлом композиции виден ещё один блок — «Result screen Model (notification)»; на версии с шаблоном, которую мы увидим чуть позже, этого блока на том же месте нет вовсе — разница заметна уже на уровне холста, раньше, чем мы откроем хоть одну панель настройки.</a:t>
            </a:r>
          </a:p>
          <a:p/>
          <a:p>
            <a:r>
              <a:t>Что конкретно эта модель получает на вход и о чём её просят — на этом кадре не видно: канвас показывает карточки узлов, а не их открытые настройки. Объяснять это прозой рядом с кадром, который этого не показывает, значит просить вас поверить на слово. Вместо этого следующий экран — настоящая панель настройки того же узла, с настоящим текстом промпта, как он стоит на стенде прямо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панель настройки — то, что открывается, если дважды кликнуть по узлу «Compose notification (LLM)» на холсте с прошлого экрана. Источник промпта — «Define below»: текст задан прямо здесь, не вынесен в отдельный системный промпт где-то ещё.</a:t>
            </a:r>
          </a:p>
          <a:p/>
          <a:p>
            <a:r>
              <a:t>Модели передают три уже готовых значения — имя заявителя, основную тему и дополнительные темы, все извлечённые заранее, на предыдущих шагах цепочки, — и одну инструкцию: написать короткое дружелюбное уведомление координатору в Telegram, одно-два предложения, по-человечески. Никакой заданной формы фразы, никакого «ответь строго в таком виде» — это именно то разрешение на свободу, о котором шла речь на архитектурной схеме: смысловая задача без фиксированной структуры ответа.</a:t>
            </a:r>
          </a:p>
          <a:p/>
          <a:p>
            <a:r>
              <a:t>Обратите внимание на одну деталь уже сейчас, до того как мы увидим результат: в инструкции нет ничего похожего на «обратись к координатору по имени» или «вставь имя получателя». Модели просто не сообщили имя координатора вовсе — потому что тексту, который получит Ольга, оно не нужно. Эта деталь станет важна через два экрана, когда будут видны настоящие прогоны.</a:t>
            </a:r>
          </a:p>
          <a:p/>
          <a:p>
            <a:r>
              <a:t>Два переключателя под полем промпта — тоже часть настоящей конфигурации, не домыслены для разбора. «Require Specific Output Format» выключен: ответ ничем не ограничен по структуре. «Enable Fallback Model» тоже выключен: если основная модель не ответит, резервной здесь нет.</a:t>
            </a:r>
          </a:p>
          <a:p/>
          <a:p>
            <a:r>
              <a:t>Готовый текст от этого узла уходит напрямую в узел отправки сообщения координатору — без промежуточной сверки по пути; это видно уже на прошлом, общем кадре по прямой стрелке между двумя узлами.</a:t>
            </a:r>
          </a:p>
          <a:p/>
          <a:p>
            <a:r>
              <a:t>Сама конфигурация выглядит аккуратно и ничем не намекает на будущую проблему: промпт короткий, понятный, без явных ошибок формулировки. Это стоит держать в голове дальше — если на следующих экранах найдётся находка, дело будет не в качестве написания промпта, а в том, что любой текст, который модель сочиняет свободно под естественно звучащую инструкцию, может случайно утащить в вывод обрывок формы, с которой она работала, — и ни одна проверка формата этого не поймает, потому что получившийся текст синтаксически в порядке.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как это собирается внутри цепочки, посмотрим, что в итоге видит сама Ольга — у себя в телефоне, а не на экране результата внутри n8n.</a:t>
            </a:r>
          </a:p>
          <a:p/>
          <a:p>
            <a:r>
              <a:t>Она не открывает ничего нового. У неё уже есть чат с ботом уведомлений — тот же бот, которым центр пользуется и для других оповещений. В этот чат падает одно сообщение: «Новая заявка от Марии: тема «курс», также упомянуто: оплата.» Один пузырь, без вложений, без кнопок, без необходимости переходить куда-то ещё, чтобы понять, о чём речь.</a:t>
            </a:r>
          </a:p>
          <a:p/>
          <a:p>
            <a:r>
              <a:t>Форма сообщения выбрана не произвольно — это ровно те три значения, которые Ольга назвала достаточными в прошлой сцене: кто написал, по какой теме и что упомянул дополнительно. Не больше и не меньше. Добавь в строку ещё одно поле — например, статус оплаты или внутренний номер заявки — и уведомление перестанет читаться одним взглядом: оно превратится в текст, который нужно разбирать, а не бегло просматривать среди двадцати похожих сообщений за день.</a:t>
            </a:r>
          </a:p>
          <a:p/>
          <a:p>
            <a:r>
              <a:t>В интерфейсе это выглядит буднично, и это и есть главная мысль слайда. Новое сообщение просто появляется в том же чате, где уже лежит история всех прежних уведомлений центра — без отдельной вкладки, без нового значка, без перехода куда-либо ещё. Ольга читает этот чат сверху вниз точно так же, как читала его вчера и позавчера; меняется только содержимое одной строки, а не привычка, которой она уже пользуется.</a:t>
            </a:r>
          </a:p>
          <a:p/>
          <a:p>
            <a:r>
              <a:t>Это ровно тот пример, который Ольга назвала в прошлой сцене, слово в слово — кто написал, по какой теме, что упомянул дополнительно. Три значения, одна строка. Если сообщение выглядит так на каждой заявке, задача решена полностью: Ольге достаточно читать уведомления, не открывая экран результата из-за одной многотемной заявки среди двадцати обычных.</a:t>
            </a:r>
          </a:p>
          <a:p/>
          <a:p>
            <a:r>
              <a:t>Вопрос в том, выглядит ли оно так каждый раз, при любой заявке, а не только при этой одной. Следующий экран — настоящие прогоны одного и того же узла, не придуманный пример, и один из них выглядит иначе, чем этот.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реально получилось, не в теории, — два прогона одного и того же узла, одной и той же инструкции, на реальных заявках.</a:t>
            </a:r>
          </a:p>
          <a:p/>
          <a:p>
            <a:r>
              <a:t>Первая заявка — от Марии, про курс и оплату. Модель получила три значения и инструкцию написать короткое дружелюбное уведомление. Результат: «Новая заявка от Марии: тема «курс», также упомянуто: оплата.» Звучит свободно, по-человечески — и при этом совпадает по смыслу с тем, что просила Ольга. На этой заявке интерпретировать было действительно нечего сложного: три значения легко складываются в фразу.</a:t>
            </a:r>
          </a:p>
          <a:p/>
          <a:p>
            <a:r>
              <a:t>Вторая заявка — от Олега, про перенос занятия и оплату. Тот же узел, та же инструкция. И вот что он реально написал: «Привет, [Имя координатора]! У нас новая многотемная заявка от Олега по вопросу переноса занятия и об оплате.» Прочитайте внимательно второе слово. Это не переменная, которая не подставилась технически, — это буквальный кусок собственного шаблона-инструкции модели, адресованный самой модели, а не Ольге, который она должна была заменить настоящим содержанием и не заменила.</a:t>
            </a:r>
          </a:p>
          <a:p/>
          <a:p>
            <a:r>
              <a:t>И важно, что произошло на уровне журнала выполнения: ничего. Узел не упал, не вернул ошибку. Статус — success на обоих прогонах. Если смотреть только в журнал, второй прогон неотличим от первого.</a:t>
            </a:r>
          </a:p>
          <a:p/>
          <a:p>
            <a:r>
              <a:t>Узнать, что что-то не так, можно только одним способом — прочитать сам текст, который получил живой человек. Проверка формата сообщения здесь бессильна: получившийся текст синтаксически в порядке в обоих случаях, разница только в содержании.</a:t>
            </a:r>
          </a:p>
          <a:p/>
          <a:p>
            <a:r>
              <a:t>Вот и ответ на вопрос с прошлого экрана: сообщение иногда выглядит ровно так, как нужно, а иногда — нет, и заранее, по виду конфигурации узла, не предсказать, какой из двух случаев будет на следующей заявке. Дальше — архитектура без этого узла вовсе, и её настоящая конфигурация.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холст живого стенда, что и на предыдущем экране, с тем же кропом — нарочно, чтобы два кадра было проще наложить один на другой мысленно. Путь узнаётся сразу: форма заявки, извлечение полей, проверка по словарю тем, запись строки, узел композиции, отправка в Telegram.</a:t>
            </a:r>
          </a:p>
          <a:p/>
          <a:p>
            <a:r>
              <a:t>Разница — ровно в одном месте, и она видна уже здесь, до открытия любой панели настройки. На прошлом кадре под узлом композиции стояла пометка «Model*» и рядом — дополнительный блок «Result screen Model (notification)». Здесь на этом месте пусто: «Compose notification (template)» соединена прямой стрелкой сразу с узлом отправки, без единого промежуточного узла модели. Подпись при этом читается целиком, без многоточия, — просто потому что «(template)» короче «(LLM)», карточка узкая в обеих версиях одинаково.</a:t>
            </a:r>
          </a:p>
          <a:p/>
          <a:p>
            <a:r>
              <a:t>Узел извлечения полей чуть левее по-прежнему помечен «Model*» — и это важно не спутать: этот вызов общий для обеих версий, модель не ушла из цепочки целиком, она ушла только с одного конкретного шага. Разница между версией 1 и версией 2 — не «с моделью» против «совсем без модели», а «модель вызывается дважды» против «модель вызывается один раз, там, где без неё правда не обойтись». Узлы проверки по словарю тем и записи строки между ними вообще не тронуты правкой — они устроены одинаково в обеих версиях, и сравнивать их не нужно: разница живёт ровно в одном узле, не расползается по всей цепочке.</a:t>
            </a:r>
          </a:p>
          <a:p/>
          <a:p>
            <a:r>
              <a:t>Что именно делает узел «Compose notification (template)» вместо модели — одно выражение, написанное один раз руками, — на этом кадре тоже не видно: канвас показывает карточки, а не их настройки. Как и в прошлый раз, рассказывать это прозой рядом с кадром, который этого не показывает, значит просить поверить на слово. Следующий экран — настоящая панель настройки этого узла, с полным текстом выражения, как оно стоит на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панель настройки узла «Compose notification (template)» — и сравнивать её стоит прямо с панелью версии с моделью, которую мы видели два экрана назад, потому что узел один и тот же по назначению, а устроен принципиально иначе.</a:t>
            </a:r>
          </a:p>
          <a:p/>
          <a:p>
            <a:r>
              <a:t>Mode здесь — «Manual Mapping»: одно поле, </a:t>
            </a:r>
            <a:r>
              <a:rPr>
                <a:latin typeface="Consolas"/>
              </a:rPr>
              <a:t>notification_text</a:t>
            </a:r>
            <a:r>
              <a:t>, типа String, и в нём — выражение, написанное один раз руками. Оно подставляет в заранее заданные места уже известные значения: имя заявителя, основную тему и, если есть, дополнительные темы — с условием внутри самого выражения, которое добавляет фразу «также: …» только тогда, когда дополнительные темы вообще есть, и ничего не добавляет, если их нет. Никакого отдельного узла модели рядом с этим узлом нет — в этой версии цепочки такого узла не существует вовсе, что мы уже видели на прошлом, общем кадре по отсутствию пометки «Model*».</a:t>
            </a:r>
          </a:p>
          <a:p/>
          <a:p>
            <a:r>
              <a:t>В отличие от панели версии с моделью, это выражение видно на экране целиком, без прокрутки — оно короче и умещается в поле без обрыва. Сравните это с промптом версии 1: там текст заявления длиннее и часть его уходит за край видимой области поля.</a:t>
            </a:r>
          </a:p>
          <a:p/>
          <a:p>
            <a:r>
              <a:t>Отдельно стоит заметить переключатель «Include Other Input Fields»: он включён, и «Input Fields to Include» стоит на «All». Это значит, что узел не просто собирает текст уведомления в одно новое поле — он заодно пропускает дальше по цепочке все остальные поля заявки без изменений, чтобы следующие узлы не потеряли то, что им может понадобиться.</a:t>
            </a:r>
          </a:p>
          <a:p/>
          <a:p>
            <a:r>
              <a:t>Результат этого выражения детерминированный: при одних и тех же входных значениях текст всегда получается одним и тем же, без вариаций — и, как следствие, без риска вставить в сообщение что-то, чего в заявке не было. Цена этой надёжности — обратная сторона: если форма сообщения когда-нибудь должна будет меняться по смыслу, а не просто по значениям, это выражение придётся переписывать руками на каждый такой случай. Обе версии мы прогнали через одни и те же заявки — что из этого следует,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итог этого кейса в одно переносимое правило, а не в вывод, работающий только для уведомлений координатору.</a:t>
            </a:r>
          </a:p>
          <a:p/>
          <a:p>
            <a:r>
              <a:t>Узел модели в версии 1 не сломался и технически не ошибся — сообщение дошло, формат ответа был правильным. Он просто решал задачу, которой на самом деле не было: все три значения уже лежали в структурированном виде, интерпретировать было нечего, а форма итогового сообщения не менялась от заявки к заявке. В такой ситуации вызов модели — это не инструмент для генерации нового смысла, а дорогой и не вполне предсказуемый способ переписать то, что уже известно, своими словами.</a:t>
            </a:r>
          </a:p>
          <a:p/>
          <a:p>
            <a:r>
              <a:t>Отсюда и общее правило, которое переносится на любой оркестратор, не только на тот, которым мы пользуемся: не каждый текстовый вывод в цепочке — это генерация в смысле «модель создаёт что-то новое». Если весь нужный смысл уже извлечён на более ранних шагах и форма результата зафиксирована, перед нами задача форматирования, а не задача модели — и решать её нужно детерминированной подстановкой значений, а не свободным текстовым выводом.</a:t>
            </a:r>
          </a:p>
          <a:p/>
          <a:p>
            <a:r>
              <a:t>Класс задачи, который этот кейс закрывает, можно назвать так: сборка сообщения из уже извлечённых значений по фиксированной форме. Узнать его в своей собственной цепочке можно по одному признаку — если вы можете заранее, не видя конкретной заявки, написать шаблон итогового сообщения и в нём остаются только пустые места для подстановки, значит, сочинять здесь уже нечего и звать модель ради этого не нужно.</a:t>
            </a:r>
          </a:p>
          <a:p/>
          <a:p>
            <a:r>
              <a:t>Это не значит, что модель здесь лишняя всегда и везде — у этого правила есть границы, и к ним мы переходим на следующем экране.</a:t>
            </a:r>
          </a:p>
          <a:p/>
          <a:p>
            <a:r>
              <a:t>Стоит отдельно заметить, что оба узла, которые мы сравнивали, формально решили одну и ту же задачу: сообщение дошло до координатора в обоих случаях, и прогон был зелёным у обоих. Внешне, по факту доставки, различий между ними нет. Различие проявляется только тогда, когда смотришь не на то, что узел сделал один раз, а на то, что он может сделать на следующем прогоне, которого вы ещё не видели — и это ровно то смещение взгляда, вокруг которого строится всё сегодняшнее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нюанса, прежде чем мы закрепим критерий, и оба — про то, что ни одна из двух версий не безопасна навечно сама по себе.</a:t>
            </a:r>
          </a:p>
          <a:p/>
          <a:p>
            <a:r>
              <a:t>Первый нюанс — лишний шаг модели это риск, а не только лишняя цена. Легко подумать, что раз задача тривиальная — просто собрать уже известные слова в одну фразу — то и опасаться нечего. Но мы только что видели: даже на тривиальной задаче форматирования вызов модели остаётся точкой, где может появиться галлюцинация, то есть деталь, которой не было на входе. Цена в деньгах и времени здесь даже не главное — главное то, что в принципе непредсказуемо, что окажется в тексте.</a:t>
            </a:r>
          </a:p>
          <a:p/>
          <a:p>
            <a:r>
              <a:t>Второй нюанс — ровно про шаблон, и он для равновесия. Шаблон не навсегда безопасен просто потому, что он детерминированный. Если в какой-то момент форме сообщения понадобится настоящая вариативность — например, уведомления придётся писать на нескольких языках или с разной степенью подробности для разных получателей — статическое выражение этого не почувствует само, и его придётся вручную переписывать на каждый новый случай. Это другая цена, инженерная, не риск галлюцинации, но тоже реальная.</a:t>
            </a:r>
          </a:p>
          <a:p/>
          <a:p>
            <a:r>
              <a:t>Отсюда критерий, который можно унести с собой и применить к любой собственной цепочке, не вспоминая ни одного имени узла. Модель нужна тогда, когда контенту действительно нужна вариативность, или когда значение требует интерпретации текста заявки, которой не случилось на предыдущем шаге. Шаблона достаточно, когда форма сообщения одна и все нужные значения уже лежат структурированными.</a:t>
            </a:r>
          </a:p>
          <a:p/>
          <a:p>
            <a:r>
              <a:t>И возвращаемся к оси занятия. Первая строка: сообщение действительно ушло координатору, и это наблюдение было правдой с самого начала. Чем оно оказалось: цепочка получилась короче и дешевле без узла модели вовсе — тот же результат, без его цены и без его риска.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сочинением текста моделью на каждый прогон. Второй кейс начинается с другой потребности, но такой же обычной для учебного центра.</a:t>
            </a:r>
          </a:p>
          <a:p/>
          <a:p>
            <a:r>
              <a:t>Заявки на курсы обрабатывает администратор, и за день через неё проходит много сообщений от разных людей. Иногда один и тот же человек пишет об одном и том же вопросе дважды: забыл, что уже спрашивал, не увидел ответа, решил напомнить другими словами. Причина нам не важна. Важно, что цепочка, которую мы собираем, не должна каждый раз реагировать на повторное обращение так, будто видит его первый раз.</a:t>
            </a:r>
          </a:p>
          <a:p/>
          <a:p>
            <a:r>
              <a:t>Реплика на экране — не абстрактного клиента, а того, кто читает заявки на другом конце: администратора, которая весь день видит входящий поток и должна за секунду решить, новый это вопрос или она это уже разбирала. Разница с первым кейсом в том, откуда растёт потребность: там неудобство было у клиента, получавшего сухой или неровный текст уведомления, здесь неудобство — у администратора и, не в меньшей степени, у самого клиента, который вправе рассчитывать, что его уже не будут спрашивать заново о том, что он только что объяснил.</a:t>
            </a:r>
          </a:p>
          <a:p/>
          <a:p>
            <a:r>
              <a:t>Пока это выглядит как мелкая деталь интерфейса: ну прислали вопрос дважды, что такого. Но за каждым повторным прогоном стоит та же цепочка целиком — запись заявки, формирование уведомления, работа модели на предыдущих шагах. Если повтор не остановить на входе, вся эта работа делается заново ради вопроса, ответ на который уже есть. Дешевле остановить повтор на входе, чем прогонять его через всю цепочку и разбираться постфактум.</a:t>
            </a:r>
          </a:p>
          <a:p/>
          <a:p>
            <a:r>
              <a:t>Сегодня задача не в том, нужна проверка или нет — она нужна очевидно, — а в том, из чего её собрать. И, как мы увидим дальше, участвуют два разных инструмента по цене: один почти бесплатный, другой — ощутимо дороже. Вопрос не в том, какой выбрать единственным, а в том, как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и ровно та, с которой начинается этот кейс: администратор учебного центра Ольга ведёт учёт заявок. В понедельник утром она видит в таблице вопрос от клиента — «когда можно оплатить занятие?» — обрабатывает его и отвечает. Обычное утро, обычная заявка.</a:t>
            </a:r>
          </a:p>
          <a:p/>
          <a:p>
            <a:r>
              <a:t>Через два часа приходит вторая заявка от того же контакта: «как мне внести оплату за курс». По смыслу это тот же вопрос, просто сформулированный иначе. Но Ольга за день видит десятки обращений и не держит в голове, кто что спрашивал два часа назад, — она не узнаёт перефразировку и обрабатывает заявку как новую: тратит время повторно, отвечает ещё раз.</a:t>
            </a:r>
          </a:p>
          <a:p/>
          <a:p>
            <a:r>
              <a:t>Для клиента это выглядит иначе. Он получает два разных ответа от учебного центра с разницей в два часа — и единственное объяснение, которое приходит в голову, это что первый ответ потерялся или его никто не прочитал. Цена этой ошибки не абстрактная: это двойная работа администратора, которая могла бы уйти на что-то другое, и недоверие клиента, который теперь не уверен, что его вообще читают внимательно.</a:t>
            </a:r>
          </a:p>
          <a:p/>
          <a:p>
            <a:r>
              <a:t>И это не разовый случай. По ощущению самой Ольги, подобное повторение — вопрос другими словами, на который уже есть ответ, — происходит у неё примерно десять раз в день. Мы не замеряли это число инструментально, оно идёт от человека, который читает заявки каждый день, — но даже как оценка оно показывает, что перед нами не курьёз одного утра, а постоянная часть потока.</a:t>
            </a:r>
          </a:p>
          <a:p/>
          <a:p>
            <a:r>
              <a:t>Сегодня задача не в том, нужна проверка или нет — она нужна очевидно, раз это происходит каждый день, — а в том, из чего её собрать так, чтобы она ловила не только буквальное повторение, но и переформулировку, с которой мы только что столкнулись.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самая пара, на которой точное совпадение споткнулось: «как мне внести оплату за курс» — вопрос, заданный через два часа после «когда можно оплатить занятие?». По смыслу один и тот же вопрос. По буквам — два разных текста.</a:t>
            </a:r>
          </a:p>
          <a:p/>
          <a:p>
            <a:r>
              <a:t>Вопрос: как построить проверку на повтор.</a:t>
            </a:r>
          </a:p>
          <a:p/>
          <a:p>
            <a:r>
              <a:t>Пять карточек, и это не теория, а пять реальных способов, которые встречаются в живых системах. Сравнивать тексты буквально — точное совпадение после нормализации, то, что мы уже видели на предыдущем экране. Сравнивать тексты по общим словам — классический векторный подход с порогом, без обучаемой модели, но серьёзнее простого сравнения строк. Спросить у модели общего назначения, один ли это вопрос, просто сформулированный иначе. Спросить у специализированного сервиса, настроенного именно на сравнение вопросов, а не у модели, которая умеет вообще всё. Или сначала проверить точное совпадение дёшево, а дальше пускать только то, что осталось непонятным.</a:t>
            </a:r>
          </a:p>
          <a:p/>
          <a:p>
            <a:r>
              <a:t>Обратите внимание на формулировки: все пять описывают действие, которое можно взять и реализовать, а не утверждение о том, что умеет или не умеет какой-то инструмент сам по себе. «Сравнивать буквально» — действие. «Спросить у модели» и «спросить у специализированного сервиса» — тоже действия, а не готовый вывод вроде «специализированный сервис точнее модели общего назначения». Разница важна: вопрос не о том, какой инструмент умнее в принципе, а о том, какой шаг вы бы поставили первым и вторым в цепочке, которая обрабатывает заявки целого учебного центра.</a:t>
            </a:r>
          </a:p>
          <a:p/>
          <a:p>
            <a:r>
              <a:t>Четыре из пяти карточек — самостоятельные решения, которые можно взять и реализовать целиком: сравнение буквально, сравнение по словам, вызов модели общего назначения или вызов специализированного сервиса. Пятая — не ещё один отдельный инструмент, а способ скомбинировать уже названные: сначала дёшево, а дороже — только на то, что дёшево не разрешило. Если голоса разделятся между первыми четырьмя вариантами и пятым, это нормально: первые четыре отвечают на вопрос «чем сравнивать», пятый — на вопрос «в каком порядке».</a:t>
            </a:r>
          </a:p>
          <a:p/>
          <a:p>
            <a:r>
              <a:t>Выбирайте. Правильных ответов здесь больше одного, все пять — реальные инженерные решения. Разбирать будем, что каждое реально ловит на нашей паре, а что — нет, и во что это обходится.</a:t>
            </a:r>
          </a:p>
          <a:p/>
          <a:p>
            <a:r>
              <a:t>Пятнадцать секунд,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с прошлого экрана — на измерении, которое провели до того, как решать.</a:t>
            </a:r>
          </a:p>
          <a:p/>
          <a:p>
            <a:r>
              <a:t>Точное совпадение, действие первое, на наборе из 20 пар ловит 15: все 5 буквальных повторов и все 10 заведомо разных вопросов, но ни одной из 5 перефразировок — ноль из пяти. Цена и скорость здесь не считаются отдельно: это сравнение строк, оно либо бесплатно и мгновенно, либо его нет.</a:t>
            </a:r>
          </a:p>
          <a:p/>
          <a:p>
            <a:r>
              <a:t>Действие второе, классический векторный подход — TF-IDF плюс косинусная близость, порог 0,3, — выглядит серьёзнее: мера похожести, настраиваемый порог, реалистичный инженерный выбор, а не слабая альтернатива для контраста. Результат на том же наборе, тем же методом — 13 из 20, хуже хэша. Те же пять перефразировок пропущены по той же причине: «оплату» и «оплатить» разные словоформы, «курс» и «занятие» разные слова при одном смысле, мера на основе слов слепа к этому в принципе. Но добавились два ложных срабатывания на близкой теме — «курс по питону» и «курс по аналитике данных» делят почти все слова, и порог 0,3 посчитал их одним вопросом. Хэш на этой же паре не ошибается никогда — разные строки не совпадают по определению. Более серьёзный инструмент заплатил новой категорией ошибок за старую, тоже бесплатно — цена не в деньгах, а в пропущенных и ложных ответах.</a:t>
            </a:r>
          </a:p>
          <a:p/>
          <a:p>
            <a:r>
              <a:t>Действие третье, дешёвая модель-судья: прямой вопрос «это тот же вопрос, просто сформулированный иначе?», модель gpt-4o-mini. Результат — 17 из 20, все 10 настоящих дублей пойманы. Но три собственных ложных срабатывания, и не все из совпадения слов: пара «сколько длится одно занятие по времени» и «расскажите про группу для продолжающих» не делит ни одного слова, и модель всё равно сказала «да» — ошибка суждения о смысле, а не о словах. И здесь впервые появляется денежная цена: по прайсу gpt-4o-mini, на объёме кейса (~300 вызовов в месяц) — около $0,006 в месяц, меньше цента; оценка по прайсу, не измеренный факт.</a:t>
            </a:r>
          </a:p>
          <a:p/>
          <a:p>
            <a:r>
              <a:t>Действие четвёртое — специализированный внешний сервис jev, узкоспециализированный Decisions API, измерен тем же методом. Результат — 20 из 20, без единой ошибки: чистое разделение между всеми дублями и всеми разными вопросами, порог 0,5 берёт его с запасом. Лучший результат из четырёх схем — и это тот самый сервис, что раньше стоял с пометкой «не измерено»: причиной была не проблема доступа, а обычная ошибка конфигурации узла, которую нашли и исправили. По прайсу он не просто точнее дешёвой модели-судьи, а ещё и дешевле — на том же объёме около $0,003 в месяц; тоже оценка по прайсу, не измеренный факт.</a:t>
            </a:r>
          </a:p>
          <a:p/>
          <a:p>
            <a:r>
              <a:t>Главная честная находка: лучший результат дал не самый очевидный кандидат — узкий сервис обошёл универсальную модель-судью и обошёлся дешевле. Но одно измерение на 20 парах одной темы — не повод сразу переписывать уже показанную на стенде архитектуру: та же дисциплина, что не дала поверить jev на слово раньше, не даёт поверить и этому числу слепо сейчас. И ещё одна: обе суммы здесь — меньше цента в месяц, цена не аргумент.</a:t>
            </a:r>
          </a:p>
          <a:p/>
          <a:p>
            <a:r>
              <a:t>Действие пятое, порядок — дёшево сначала, дорого на спорное, — закрывает обе задачи по цене: 5 буквальных повторов гасятся бесплатно хэшем, дорогой шаг вызывается только на оставшееся. Как это выглядит архитектурно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экране мы измерили пять действий. Отсюда — архитектурный вывод, и он не привязан ни к одному конкретному инструменту: эта формулировка не изменится, если цепочку собирать не в n8n, а в чём угодно ещё, и не называет ни одного узла.</a:t>
            </a:r>
          </a:p>
          <a:p/>
          <a:p>
            <a:r>
              <a:t>Первый шаг — дешёвый, механический фильтр. Он берёт на себя всё, что решается без модели: все буквальные повторы, и решает это бесплатно и мгновенно. Классический векторный подход в этот шаг не идёт — измерение показало, что он не просто не даёт прироста над самым простым сравнением строк, а измеримо хуже него. Это не изменилось.</a:t>
            </a:r>
          </a:p>
          <a:p/>
          <a:p>
            <a:r>
              <a:t>Изменилось то, что стоит на втором шаге. Раньше здесь стояла только модель-судья — единственный измеренный кандидат на дорогой шаг. Измерение между ней и вторым кандидатом дало разницу не в пользу привычного выбора: специализированный сервис jev — 20 из 20, без единой ошибки, и по публичному прайсу ещё и дешевле дешёвой модели-судьи. По итогам этого теста на дорогой шаг встал именно он, а не модель общего назначения — и это уже не мысль на будущее, а собранная цепочка.</a:t>
            </a:r>
          </a:p>
          <a:p/>
          <a:p>
            <a:r>
              <a:t>И сразу честно про границы этого измерения: один тест на 20 парах одного языка и одной тематики — узкое основание для вывода «jev всегда лучше любой модели-судьи везде». Обобщаемость за пределы этого конкретного набора — другой язык, другая тематика, другой объём — никто не проверял. Та же дисциплина, что не дала поверить jev на слово раньше, не даёт сейчас говорить шире, чем показало измерение. Но это не повод откладывать внедрение здесь: на этом наборе и для этой задачи разница чистая и с запасом, и решение уже стоит на стенде — дальше на двух экранах вы увидите настоящую настроенную цепочку, а не схему-черновик.</a:t>
            </a:r>
          </a:p>
          <a:p/>
          <a:p>
            <a:r>
              <a:t>Это тот же общий приём, что и в первом кейсе этого занятия: модель не убирается, а сдвигается туда, где она реально нужна, — только здесь мы вдобавок увидели, что и внутри «дорогого» шага бывает больше одного кандидата, и выбор между ними — отдельная проверка, а не самоочевидность.</a:t>
            </a:r>
          </a:p>
          <a:p/>
          <a:p>
            <a:r>
              <a:t>Теперь посмотрим, как это выглядит не как принцип, а как настроенные узлы в уже собранной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первый, дешёвый шаг выглядит в настоящей цепочке — не принцип, а два настоящих настроенных узла со стенда, на настоящем скрине холста.</a:t>
            </a:r>
          </a:p>
          <a:p/>
          <a:p>
            <a:r>
              <a:t>Первый узел, </a:t>
            </a:r>
            <a:r>
              <a:rPr>
                <a:latin typeface="Consolas"/>
              </a:rPr>
              <a:t>Normalize + hash</a:t>
            </a:r>
            <a:r>
              <a:t>, — это </a:t>
            </a:r>
            <a:r>
              <a:rPr>
                <a:latin typeface="Consolas"/>
              </a:rPr>
              <a:t>Set</a:t>
            </a:r>
            <a:r>
              <a:t>, он ничего не вызывает, только считает значения. Берём текст заявки и приводим его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То же самое считается и для недавнего сообщения того же контакта, чтобы было с чем сравнивать.</a:t>
            </a:r>
          </a:p>
          <a:p/>
          <a:p>
            <a:r>
              <a:t>Второй узел, </a:t>
            </a:r>
            <a:r>
              <a:rPr>
                <a:latin typeface="Consolas"/>
              </a:rPr>
              <a:t>Exact duplicate in window?</a:t>
            </a:r>
            <a:r>
              <a:t>, — это </a:t>
            </a:r>
            <a:r>
              <a:rPr>
                <a:latin typeface="Consolas"/>
              </a:rPr>
              <a:t>IF</a:t>
            </a:r>
            <a:r>
              <a:t>, и у него одно условие: нормализованный хэш текущей заявки строго равен нормализованному хэшу недавнего обращения. Строки совпали — перед нами повтор, и дальше цепочка не идёт: ответ уже есть, новую запись делать не нужно, а сам прогон при этом завершается успешно — это важно запомнить, мы вернёмся к этому через экран. Строки не совпали — значит дешёвый фильтр не дал однозначного ответа, и заявка идёт дальше, к проверке смыслом.</a:t>
            </a:r>
          </a:p>
          <a:p/>
          <a:p>
            <a:r>
              <a:t>Обратите внимание: ни один из этих двух узлов не вызывает модель. Сравнение строк — чистая механика, дешёвая и мгновенная, и её можно позволить себе на каждую заявку без исключения — цена этого шага не растёт от того, сколько заявок приходит в час. Это ровно тот же дешёвый шаг, что и до сегодняшней архитектурной правки: меняется только то, что стоит дальше, за ним.</a:t>
            </a:r>
          </a:p>
          <a:p/>
          <a:p>
            <a:r>
              <a:t>Один параметр здесь стоит отдельного внимания, хотя на этом экране он не виден, — это интервал времени, за который мы ищем недавнее обращение того же контакта. Слишком короткий интервал пропустит повтор, если человек написал во второй раз не сразу. Слишком длинный начнёт путать разные, по-настоящему новые вопросы одного и того же человека с повтором одного и того же вопроса. Это параметр с ценой в обе стороны, и мы вернёмся к нему в нюансах.</a:t>
            </a:r>
          </a:p>
          <a:p/>
          <a:p>
            <a:r>
              <a:t>Как это устроено внутри каждого из двух узлов — на следующем экране: откроем панель настройки каждого и посмотрим на реальные поля и условие, а не на подписи холста.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эти два узла выглядят на самом деле, если открыть панель настройки каждого, — не пересказ словами, а то, что видно на экране, если открыть стенд вживую.</a:t>
            </a:r>
          </a:p>
          <a:p/>
          <a:p>
            <a:r>
              <a:t>Левая панель — узел </a:t>
            </a:r>
            <a:r>
              <a:rPr>
                <a:latin typeface="Consolas"/>
              </a:rPr>
              <a:t>Normalize + hash</a:t>
            </a:r>
            <a:r>
              <a:t>, режим </a:t>
            </a:r>
            <a:r>
              <a:rPr>
                <a:latin typeface="Consolas"/>
              </a:rPr>
              <a:t>Manual Mapping</a:t>
            </a:r>
            <a:r>
              <a:t>. В нём три поля, не одно. Первое, </a:t>
            </a:r>
            <a:r>
              <a:rPr>
                <a:latin typeface="Consolas"/>
              </a:rPr>
              <a:t>normalized_hash</a:t>
            </a:r>
            <a:r>
              <a:t>, берёт текст текущей заявки из узла </a:t>
            </a:r>
            <a:r>
              <a:rPr>
                <a:latin typeface="Consolas"/>
              </a:rPr>
              <a:t>Request form</a:t>
            </a:r>
            <a:r>
              <a:t>, поле «Что нужно», и нормализует его: нижний регистр, обрезка пробелов по краям, схлопывание повторных пробелов внутри. Второе поле, </a:t>
            </a:r>
            <a:r>
              <a:rPr>
                <a:latin typeface="Consolas"/>
              </a:rPr>
              <a:t>recent_same_contact_text</a:t>
            </a:r>
            <a:r>
              <a:t>, — просто недавнее сообщение того же контакта, без изменений, на случай если текст понадобится показать как есть, а не только сравнить. Третье, </a:t>
            </a:r>
            <a:r>
              <a:rPr>
                <a:latin typeface="Consolas"/>
              </a:rPr>
              <a:t>recent_same_contact_hash</a:t>
            </a:r>
            <a:r>
              <a:t>, — тот же текст из второго поля, пропущенный через ту же нормализацию. Слово «hash» в имени поля здесь не о криптографическом хэше: это нормализованная строка, та же самая операция, что и для текущей заявки, просто применённая к другому тексту. Внизу панели включён переключатель «Include Other Input Fields» со значением «All» — остальные поля заявки, тема, срочность, статус, проходят через узел насквозь и не теряются по дороге.</a:t>
            </a:r>
          </a:p>
          <a:p/>
          <a:p>
            <a:r>
              <a:t>Правая панель — узел </a:t>
            </a:r>
            <a:r>
              <a:rPr>
                <a:latin typeface="Consolas"/>
              </a:rPr>
              <a:t>Exact duplicate in window?</a:t>
            </a:r>
            <a:r>
              <a:t>, тип </a:t>
            </a:r>
            <a:r>
              <a:rPr>
                <a:latin typeface="Consolas"/>
              </a:rPr>
              <a:t>IF</a:t>
            </a:r>
            <a:r>
              <a:t>. В нём одно условие, и оно видно целиком: </a:t>
            </a:r>
            <a:r>
              <a:rPr>
                <a:latin typeface="Consolas"/>
              </a:rPr>
              <a:t>{{ $json.normalized_hash }}</a:t>
            </a:r>
            <a:r>
              <a:t> сравнивается оператором «is equal to» с </a:t>
            </a:r>
            <a:r>
              <a:rPr>
                <a:latin typeface="Consolas"/>
              </a:rPr>
              <a:t>{{ $json.recent_same_contact_hash }}</a:t>
            </a:r>
            <a:r>
              <a:t> — то есть ровно с тем третьим полем, которое посчитал предыдущий узел. Переключатель «Convert types where required» выключен — сравниваются строки как есть, без скрытого приведения типов, которое могло бы незаметно превратить разные значения в «равные». Кнопка «Add condition» ниже показывает, что условие в узле ровно одно — никакой скрытой логики за кадром нет.</a:t>
            </a:r>
          </a:p>
          <a:p/>
          <a:p>
            <a:r>
              <a:t>Вместе эти два узла — не абстрактная формула с прошлого экрана, а именно то, что стоит на стенде: три поля в </a:t>
            </a:r>
            <a:r>
              <a:rPr>
                <a:latin typeface="Consolas"/>
              </a:rPr>
              <a:t>Set</a:t>
            </a:r>
            <a:r>
              <a:t> и одно условие в </a:t>
            </a:r>
            <a:r>
              <a:rPr>
                <a:latin typeface="Consolas"/>
              </a:rPr>
              <a:t>IF</a:t>
            </a:r>
            <a:r>
              <a:t>, оба видны целиком. Дальше — второй, дорогой узел, тот, что видит только то, что это условие не разрешило.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то, что дешёвый фильтр не разрешил однозначно. И устроен он принципиально иначе, чем прежняя версия на этом же месте.</a:t>
            </a:r>
          </a:p>
          <a:p/>
          <a:p>
            <a:r>
              <a:t>Раньше здесь стоял запрос к модели общего назначения со свободным текстовым промптом: опиши задачу словами, попроси ответить «да» или «нет». Теперь — структурированный HTTP-запрос к специализированному сервису jev. Разница не только в инструменте, но и в самой форме вопроса: сервис принимает не произвольный текст, а явно типизированный вопрос — в этом случае тип </a:t>
            </a:r>
            <a:r>
              <a:rPr>
                <a:latin typeface="Consolas"/>
              </a:rPr>
              <a:t>noul</a:t>
            </a:r>
            <a:r>
              <a:t>, закрытый вопрос с ответом «да или нет», но не просто бинарным, а с вероятностью. Модели передают оба текста, явную инструкцию, что именно считается «тем же вопросом», и два явных критерия — что засчитывается как «да», что как «нет». Ничего из этого не нужно угадывать по тону формулировки, как в свободном промпте: критерии — отдельное явное поле запроса.</a:t>
            </a:r>
          </a:p>
          <a:p/>
          <a:p>
            <a:r>
              <a:t>Результат проверили не на двух показательных прогонах, а на всех двадцати парах тестового набора — том же самом, на котором раньше измеряли хэш, TF-IDF и модель-судью. Разделение получилось чистым: на десяти парах, где ожидался дубль, сервис вернул вероятность от 0.70 до 0.97. На десяти парах, где ожидался разный вопрос, — от 0.02 до 0.08. Между этими двумя группами — честный разрыв: максимум среди «разных» заметно ниже минимума среди «дублей». Порог 0.5 работает здесь с большим запасом, и это важно: результат не зависит от удачно подобранного порога, сервис развёл пары уверенно в обе стороны.</a:t>
            </a:r>
          </a:p>
          <a:p/>
          <a:p>
            <a:r>
              <a:t>Возьмём одну пару для конкретности, чтобы не оставаться только с диапазонами. «Когда можно оплатить занятие?» и «как мне внести оплату за курс» — разные слова, тот же смысл. Jev вернул 0.76 — уверенно выше порога. На этой же паре хэш и TF-IDF дают ноль не потому, что ошиблись, а потому что у них по конструкции нет общих значимых слов для сравнения: это ровно та задача, где механическое сравнение слепо в принципе, а проверка смыслом — нет.</a:t>
            </a:r>
          </a:p>
          <a:p/>
          <a:p>
            <a:r>
              <a:t>Теперь, после двух узлов настоящей цепочки, — что из этого следует для архитектуры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подвести итог кейса, стоит честно посмотреть не на схему и не на настройку узла, а на то, что в итоге видит сама Ольга в таблице заявок, которую она открывает каждое утро.</a:t>
            </a:r>
          </a:p>
          <a:p/>
          <a:p>
            <a:r>
              <a:t>Возьмём ту самую пару, с которой кейс начался. Первая заявка — «когда можно оплатить занятие?» — приходит обычной строкой, как любая другая. Если через два часа придёт точно такой же текст, слово в слово, — новой строки в таблице не появится вовсе: дешёвый механический шаг останавливает её раньше, чем она туда попадает, а сам прогон при этом завершается штатно. Ольга не увидит ни повтора, ни даже следа того, что он был, — для неё это просто не случилось.</a:t>
            </a:r>
          </a:p>
          <a:p/>
          <a:p>
            <a:r>
              <a:t>Если же через два часа придёт тот же вопрос другими словами — «как мне внести оплату за курс», ровно та заявка, с которой начиналась сцена, — картина другая. Проверку смыслом на этом шаге мы только что измерили: она отличает такую перефразировку от нового вопроса надёжно. Но само это различение сегодня никак не связано с тем, что в итоге попадает в таблицу: вторая строка всё равно записывается и выглядит абсолютно так же, как первая, — без какой-либо пометки, что это, вероятно, повтор. Ольга увидит две строки от одного контакта с разницей в два часа — ровно ту картину, с которой кейс и начался.</a:t>
            </a:r>
          </a:p>
          <a:p/>
          <a:p>
            <a:r>
              <a:t>Это не промах измерения точности — проверка смыслом действительно хорошо различает одно от другого на своём тесте. Это граница того, что сегодня реально собрано и доведено до результата: надёжно различить — не то же самое, что надёжно не показать дважды. Что делать с найденной перефразировкой — молча пропустить её дальше, записать с пометкой или остановить так же, как буквальный повтор, — тот самый продуктовый вопрос, который мы уже назвали нюансом: не каждый найденный повтор обязан исчезать из таблицы. Но сегодня по умолчанию он не исчезает, и об этом стоит знать заранее, а не узнавать как о сюрпризе, открыв таблицу.</a:t>
            </a:r>
          </a:p>
          <a:p/>
          <a:p>
            <a:r>
              <a:t>Возвращаемся к тому, что из этого всего следует для архитектуры кейса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этого кейса на измерении, которое мы только что видели, а не на предположении.</a:t>
            </a:r>
          </a:p>
          <a:p/>
          <a:p>
            <a:r>
              <a:t>Механическая проверка и проверка смыслом — не конкуренты, и ни одна не является «более совершенной версией» другой. Точное совпадение не ловит переформулировку в принципе: оно сравнивает строки, а не смысл, и иначе работать не умеет. Классический векторный подход выглядел более серьёзной альтернативой — у него есть мера и порог, — но измерение на 20 реальных парах дало ему хуже, чем простому хэшу: 13 из 20 против 15. Он ошибается там же, на тех же перефразировках, по той же причине — ноль общих слов при полном совпадении смысла, — и вдобавок даёт 2 ложных срабатывания там, где хэш не ошибается в принципе. «Более серьёзный» неязыковой инструмент не просто не гарантирует прироста — он может быть измеримо хуже. Это показало измерение на своих данных, не общее свойство метода.</a:t>
            </a:r>
          </a:p>
          <a:p/>
          <a:p>
            <a:r>
              <a:t>Системный приём, который стоит унести: тратить дорогой инструмент только там, где дешёвый явно не дал ответа. Точное совпадение остаётся в финальном решении — но как первый дешёвый фильтр, который берёт на себя буквальные повторы бесплатно и экономит на нашем наборе 5 вызовов модели из 20, а не как альтернатива LLM, с которой она якобы конкурирует. Модель вызывается только на то, что первый фильтр не разрешил однозначно, и тогда её цена оправдана, потому что заменить её нечем: ни хэш, ни классический векторный подход не решают переформулировку на русском языке.</a:t>
            </a:r>
          </a:p>
          <a:p/>
          <a:p>
            <a:r>
              <a:t>Это тот же системный приём, что в первом кейсе этого занятия, только там он смотрелся иначе: шаг модели убрали целиком и заменили подстановкой значений, потому что задача оказалась полностью детерминированной. Здесь задача не детерминирована целиком — определить, один ли смысл у двух разных строк текста, механика не умеет в общем случае, — поэтому модель не убирается, а сдвигается туда, где она реально нужна.</a:t>
            </a:r>
          </a:p>
          <a:p/>
          <a:p>
            <a:r>
              <a:t>И 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вместо сравнения нового текста с одним недавним обращением того же человека. Сегодняшняя проверка на повтор — по сути первая, самая узкая версия той же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то, какую из схем выбрать — все три всплывают уже после того, как выбор сделан и решение собрано.</a:t>
            </a:r>
          </a:p>
          <a:p/>
          <a:p>
            <a:r>
              <a:t>Первый — интервал времени сам по себе параметр с ценой. Слишком короткий интервал — и повтор, который человек прислал через день, а не через пару минут, проверка пропустит: формально это уже «не недавнее» обращение. Слишком длинный интервал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 LLM-проверка похожести — частный случай более общей задачи, когда модель выступает судьёй, оценивающим чужой текст. И у неё та же асимметрия ошибок, что у любой модели в роли оценщика: это не предположение, а задокументированный результат — Ватаока, Такахаси и Ри показали на NeurIPS 2024, на воркшопе Safe GenAI, что модель-судья систематически не нейтральна, даже когда формально просто отвечает «да» или «нет» на прямой вопрос. И это не абстрактная ссылка на чужую работу: мы только что увидели ровно это на своём тесте — три ложных срабатывания из двадцати, не ноль, и хотя бы одно из них не объясняется совпадением слов в вопросах — модель ошиблась на паре без единого общего слова. Проверка смыслом не идеальна, она просто ошибается иначе, чем механика.</a:t>
            </a:r>
          </a:p>
          <a:p/>
          <a:p>
            <a:r>
              <a:t>Третий нюанс — что мы вообще считаем дублем — это решение продукта, не только техники. Иногда человек специально переспрашивает другими словами, потому что ему нужен ответ срочнее второго раза, и схлопнуть это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 это решение стоит обсудить с тем, кто работает с заявками каждый день, не угадывать его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он не про то, какой инструмент принципиально лучше — все три работают, вопрос в том, что за повторы вы ожидаете и чем готовы платить за ошибку каждого.</a:t>
            </a:r>
          </a:p>
          <a:p/>
          <a:p>
            <a:r>
              <a:t>Точного совпадения достаточно для буквальных повторов — на нашем наборе это 75 процентов, 15 из 20, бесплатно и мгновенно. Это первый вопрос Бориса, заданный дважды одними и теми же словами, — для такого случая хэш справляется полностью, и тратить вызов модели на каждое обращение не окупается.</a:t>
            </a:r>
          </a:p>
          <a:p/>
          <a:p>
            <a:r>
              <a:t>Классический векторный подход не стоит добавлять «на всякий случай», рассчитывая на то, что мера похожести и настраиваемый порог сами по себе дадут прирост. Измерение на 20 реальных парах показало результат ХУЖЕ, чем у хэша, — 13 из 20 против 15: его нельзя брать как «более умного хэша» без проверки на своих данных, он может оказаться хуже самого простого варианта.</a:t>
            </a:r>
          </a:p>
          <a:p/>
          <a:p>
            <a:r>
              <a:t>Проверка смыслом нужна сверху там, где ожидаются именно переформулировки — второй вопрос Бориса, заданный другими словами. Модель нужна там, и важно помнить: её собственная частота ошибок — у нас три ложных срабатывания из двадцати, пятнадцать процентов — это цена, которую вы платите за эту точность, а не ноль. Если цена необнаруженного дубля — повторная работа администратора, повторный звонок, недоверие клиента вроде того, что получил Борис, — выше цены одного лишнего вызова модели на спорные случаи, проверка смыслом себя оправдывает.</a:t>
            </a:r>
          </a:p>
          <a:p/>
          <a:p>
            <a:r>
              <a:t>И отдельная строка критерия: какой именно моделью проверять смыслом — тоже решение, не очевидное по умолчанию. На нашем тесте дешёвая модель общего назначения дала 17 из 20, специализированный сервис jev — 20 из 20 и дешевле по прайсу. Это не значит «всегда берите специализированный сервис»: значит, что выбор инструмента для этого шага стоит проверять так же, как мы проверили, нужен ли шаг вообще, — не угадывать.</a:t>
            </a:r>
          </a:p>
          <a:p/>
          <a:p>
            <a:r>
              <a:t>И теперь закрываем вторую строку нашей таблицы. Выглядело надёжным: заявка про тот же вопрос пришла снова — формально это просто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 ровно то, что случилось у Ольги и Бориса. И важно унести именно это: ни точное совпадение, ни классический векторный подход не решают эту задачу целиком сами по себе — для настоящей переформулировки нужна проверка смыслом, со своей измеренной, а не воображаемой ценой ошибки, и именно поэтому в финальном решении она стоит вторым шагом, а не единственным.</a:t>
            </a:r>
          </a:p>
          <a:p/>
          <a:p>
            <a:r>
              <a:t>Кейс закрыт: путь прошли от потребности Ольги и её клиента через два неудачных или неполных дешёвых подхода, честное измерение на реальных текстах и выбор правильного порядка инструментов — до конкретного критерия, по которому решать, нужен ли второй, дорогой слой вообще, и каким именно инструментом его ставить.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дня, и тема меняется с текста на деньги. В первом кейсе решали, как составить уведомление из уже известных значений. Во втором — отличить повторный вопрос от нового. Здесь решение опирается на одно-единственное число: сумму возврата.</a:t>
            </a:r>
          </a:p>
          <a:p/>
          <a:p>
            <a:r>
              <a:t>Учебный центр принимает заявки на возврат оплаты — занятие пропустили, курс не подошёл, передумали. Часть таких заявок центр должен одобрять сам, не отрывая руководителя на каждую мелочь: это его повседневная работа, и ему нужно решать её быстро, без согласований сверху. Другую часть — крупные суммы — обязательно показывать руководителю: там цена ошибки выше, и решение нельзя отдавать без контроля. Разделяет эти две категории порог: три тысячи рублей.</a:t>
            </a:r>
          </a:p>
          <a:p/>
          <a:p>
            <a:r>
              <a:t>Почему нельзя просто отдать всё руководителю или всё — автоматике, тоже понятно без лишних слов. Если решать всё вручную, руководитель тонет в мелких заявках и не успевает заниматься тем, для чего он нужен. Если доверить автоматике вообще всё без разбора, крупная сумма может уйти без единого взгляда человека — а там, где счёт идёт на десятки тысяч, это риск, который никто сознательно на себя не берёт. Порог — это и есть компромисс между этими двумя крайностями, и от того, насколько точно он соблюдается, зависит, работает ли компромисс на практике или только на бумаге.</a:t>
            </a:r>
          </a:p>
          <a:p/>
          <a:p>
            <a:r>
              <a:t>Фраза на экране — не технический промпт и не инструкция для модели, а то, как эту идею сформулировал бы бизнес, прежде чем передавать её в реализацию: автоматический возврат средств — до заданного порога суммы. Это прямое продолжение процесса, который мы уже собирали в Семинаре 7: там система читала текст обращения и определяла его тему; здесь она идёт на шаг дальше — после того как обращение распознано как просьба о возврате, она же решает, одобрить сумму автоматически или передать её руководителю. Не два разных процесса, а один, которому добавили ещё один шаг.</a:t>
            </a:r>
          </a:p>
          <a:p/>
          <a:p>
            <a:r>
              <a:t>Внутри этого шага правило звучит просто и на первый взгляд совершенно однозначно — порог есть, сравнение есть, что тут можно перепутать.</a:t>
            </a:r>
          </a:p>
          <a:p/>
          <a:p>
            <a:r>
              <a:t>Именно эта кажущаяся однозначность и окажется на проверке неполной. Но не будем забегать: сначала посмотрим, как это правило живёт сегодня и кто его выполняет — следующий экран.</a:t>
            </a:r>
          </a:p>
          <a:p/>
          <a:p>
            <a:r>
              <a:t>Дорожка кейсов внизу экрана — третий из четырёх; после этого занятие перейдёт к бизнес-кейсу с похожей историей на другом масштабе, а затем к последнему, четвёртому кейсу этого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это работает сегодня, и это не новый процесс с нуля — это продолжение того, что мы уже собрали в Семинаре 7. Там система читала текст обращения и определяла его тему: оплата, перенос, вопрос по курсу. Здесь, после того как обращение распознано как просьба о возврате, добавлен ещё один шаг: та же система читает сумму внутри текста и сама решает, одобрить её автоматически или передать руководителю.</a:t>
            </a:r>
          </a:p>
          <a:p/>
          <a:p>
            <a:r>
              <a:t>Заявка приходит через ту же форму, которой мы пользовались в предыдущих двух кейсах: человек пишет своими словами, сумма называется внутри текста, а не в отдельном поле. «Прошу вернуть 2500 рублей за пропущенное занятие» — обычная формулировка, ничего структурированного.</a:t>
            </a:r>
          </a:p>
          <a:p/>
          <a:p>
            <a:r>
              <a:t>Решение принимает один шаг цепочки, и принимает его целиком. Внутри этого шага совмещены сразу три операции: прочитать сумму, сравнить её с порогом, сформулировать ответ — и все три модель делает сама, без какой-либо проверки снаружи. Именно эту возможность — в рамках той же формы добавить автоматический возврат средств до заданного порога, не отправляя каждую мелкую заявку руководителю, — команда и реализовала месяц назад.</a:t>
            </a:r>
          </a:p>
          <a:p/>
          <a:p>
            <a:r>
              <a:t>Дальше развилка простая и в ней появляется деталь, которой не было в предыдущих кейсах: если решение «одобрить» — деньги не просто «оформляются», они автоматически уходят на карту клиента, без единого касания человека. Если решение «эскалировать» — заявка попадает к руководителю, и он решает уже сам.</a:t>
            </a:r>
          </a:p>
          <a:p/>
          <a:p>
            <a:r>
              <a:t>И вот на чём держится сегодняшнее доверие к этой версии. Она работает месяц. За этот месяц никто не пришёл и не сказал «вот эта заявка одобрена неправильно» или «эту напрасно отправили руководителю». Команда, естественно, читает это как подтверждение: правило работает, модель справляется.</a:t>
            </a:r>
          </a:p>
          <a:p/>
          <a:p>
            <a:r>
              <a:t>Но стоит заметить вслух, что именно подтверждает отсутствие жалоб — и чего оно не подтверждает. Оно подтверждает, что ни одна ошибка не была достаточно заметной или достаточно дорогой, чтобы кто-то вернулся и пожаловался. Оно не подтверждает, что ошибок не было вовсе. Про разницу между этими двумя утверждениями — ровно следующий такт.</a:t>
            </a:r>
          </a:p>
          <a:p/>
          <a:p>
            <a:r>
              <a:t>Обратите внимание и на то, чего в этой версии нет между чтением суммы и финальным словом ответа. Нет отдельного шага, который бы вслух зафиксировал, что сумма такая-то, и отдельно — что порог такой-то, и отдельно — результат их сравнения. Всё это происходит внутри одного вызова модели, и наружу выходит только готовое слово «одобрить» или «эскалировать» — без промежуточного следа, по которому можно было бы проверить, как модель пришла к этому слову в конкретном случае. Именно эта непрозрачность одного вызова и есть то, что придётся распаковать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здесь на секунду, прежде чем идти дальше. Правило работает месяц, жалоб не было — и это ровно та точка, где инженер должен спросить себя: тишина — это доказательство, или просто отсутствие повода проверить?</a:t>
            </a:r>
          </a:p>
          <a:p/>
          <a:p>
            <a:r>
              <a:t>Вопрос, который стоит задать: как добиться, чтобы решение о пороге действительно никогда не принималось неверно? Не «как сделать ещё надёжнее» вообще, а именно про эту конкретную точку — сравнение суммы с порогом.</a:t>
            </a:r>
          </a:p>
          <a:p/>
          <a:p>
            <a:r>
              <a:t>Четыре карточки, и это четыре разных действия с процессом, не четыре мнения о модели.</a:t>
            </a:r>
          </a:p>
          <a:p/>
          <a:p>
            <a:r>
              <a:t>Первая — написать правило яснее в самом промте: переформулировать текст, явно развести, что происходит на самой границе и по обе стороны от неё.</a:t>
            </a:r>
          </a:p>
          <a:p/>
          <a:p>
            <a:r>
              <a:t>Вторая — дать модели инструмент-калькулятор: пусть не считает сама в уме, а вызывает отдельную функцию сравнения чисел.</a:t>
            </a:r>
          </a:p>
          <a:p/>
          <a:p>
            <a:r>
              <a:t>Третья — поставить </a:t>
            </a:r>
            <a:r>
              <a:rPr>
                <a:latin typeface="Consolas"/>
              </a:rPr>
              <a:t>IF</a:t>
            </a:r>
            <a:r>
              <a:t>-узел после извлечения суммы: пусть сумму достаёт модель, а сравнивает её с порогом уже код.</a:t>
            </a:r>
          </a:p>
          <a:p/>
          <a:p>
            <a:r>
              <a:t>Четвёртая — сделать сумму явным числовым полем формы: не писать её внутри свободного текста заявки, а собирать цифрами сразу на входе, в отдельном поле.</a:t>
            </a:r>
          </a:p>
          <a:p/>
          <a:p>
            <a:r>
              <a:t>Как и в прошлых кейсах: здесь нет одного очевидно неправильного варианта среди остальных. Все четыре — настоящие инженерные ходы, и у части из них есть реальное ограничение, которое проявляется не сразу. Подумайте не «что звучит надёжнее», а что устраняет саму возможность ошибки, а не просто снижает её частоту.</a:t>
            </a:r>
          </a:p>
          <a:p/>
          <a:p>
            <a:r>
              <a:t>И ещё одна подсказка на будущее, не про то, какая карточка верна, а про то, как к ним подходить. Два действия меняют ЧТО-ТО в том, как модель принимает решение, — переформулировку, инструмент. Два действия меняют, ГДЕ ВООБЩЕ принимается это решение — переносят его в код или убирают саму необходимость что-то извлекать. Разница между «лучше сделать то же самое» и «сделать по-другому» будет держать весь дальнейший разбор.</a:t>
            </a:r>
          </a:p>
          <a:p/>
          <a:p>
            <a:r>
              <a:t>Пятнадцать секунд на выбор, потом по рукам — разбор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и для каждого теперь есть не только рассуждение, но и настоящий прогон на живом стенде.</a:t>
            </a:r>
          </a:p>
          <a:p/>
          <a:p>
            <a:r>
              <a:t>Написать правило яснее — развести явно, что происходит по обе стороны границы. Прогнали на расширенном наборе из ста запросов, тех же, где версия один ошиблась девять раз из ста одного, — ноль ошибок. Это измеренный факт, но не структурная гарантия: решение всё ещё принимает текстовое понимание, а не код, и другая формулировка или модель может разойтись с правилом снова, просто в другом месте.</a:t>
            </a:r>
          </a:p>
          <a:p/>
          <a:p>
            <a:r>
              <a:t>Дать модели инструмент-калькулятор — здесь нужно пояснить подробнее, почему это не решает проблему. Прежде чем калькулятор что-то сравнит, модели всё равно нужно извлечь сумму из текста — тот же вероятностный шаг, что и без калькулятора. А дальше модель сама, тоже вероятностно, решает, вызывать ли инструмент и с какими аргументами. Калькулятор не убирает вероятностность — он добавляет её туда, где её раньше не было. Мы собрали настоящего агента с настоящим калькулятором и прогнали на той же сотне запросов: пятьдесят шесть из ста, хуже всех вариантов. Встроенный калькулятор n8n умеет арифметику, не умеет сравнений, и на «2500 меньше 3000» честно отвечал «не знаю, как это сделать» (11 из 100). Треть ответов не свелась к чистому слову — смешанный алфавит, рассуждение вместо ответа, одно переключение на китайский. Почти десятая часть ошибок рассыпалась по всему диапазону, не только у границы.</a:t>
            </a:r>
          </a:p>
          <a:p/>
          <a:p>
            <a:r>
              <a:t>Поставить </a:t>
            </a:r>
            <a:r>
              <a:rPr>
                <a:latin typeface="Consolas"/>
              </a:rPr>
              <a:t>IF</a:t>
            </a:r>
            <a:r>
              <a:t>-узел после извлечения — сумму достаёт модель, сравнивает код. На ста одном запросе — ноль ошибок, включая все заложенные граничные случаи. Что он принципиально не закрывает — ошибку самого извлечения; на этом измерении её не нашлось, но архитектурно это не его забота.</a:t>
            </a:r>
          </a:p>
          <a:p/>
          <a:p>
            <a:r>
              <a:t>И последнее — явное числовое поле формы. Точность здесь сознательно не измеряли: у шага извлечения, которого нет, нет и точности. Применимая мера — применимость: работает только если форму можно менять; иначе извлекать из текста всё равно придётся.</a:t>
            </a:r>
          </a:p>
          <a:p/>
          <a:p>
            <a:r>
              <a:t>Прежде чем выбирать между действиями, нужно узнать, насколько плохо дело сейчас и где именно версия 1 ошибается на расширенном наборе. Это измерение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дальше, стоит рассказать про одну идею, которая появилась уже после того, как таблица на предыдущем экране была готова, и которая не вошла в неё пятой строкой — не потому что её постеснялись, а потому что проверка показала: собрать её так, как она задумывалась, нельзя.</a:t>
            </a:r>
          </a:p>
          <a:p/>
          <a:p>
            <a:r>
              <a:t>Идея звучала разумно. У нас уже есть специализированный сервис jev — тот самый, который в прошлом кейсе отличал повторный вопрос от нового лучше дешёвой модели-судьи. Почему не поручить ему и здесь — достать сумму из текста заявки, а порог всё так же сравнивать кодом?</a:t>
            </a:r>
          </a:p>
          <a:p/>
          <a:p>
            <a:r>
              <a:t>Прежде чем собирать цепочку, идею проверили прямыми вызовами на живом стенде — число нельзя выдумывать, его нужно измерить. И выяснилось: у сервиса jev всего четыре типа ответа — да или нет с вероятностью, выбор одного варианта из заранее перечисленных, позиция на заданной шкале, область на картинке. Открытого числа среди них нет вообще, ни в каком виде.</a:t>
            </a:r>
          </a:p>
          <a:p/>
          <a:p>
            <a:r>
              <a:t>Решающий тест показал, почему это не мелочь. Две суммы, 2999 и 3001 рубль, лежат по разные стороны настоящего порога в три тысячи рублей. Обеим предложили одну и ту же заранее заданную шкалу диапазонов. Сервис вернул для обеих один и тот же диапазон, с полной уверенностью в обоих случаях, — он их не различил. Различить получилось бы только если заранее зашить границу диапазона ровно в три тысячи, то есть знать порог в момент формулировки вопроса к сервису, точно как в тексте промпта версии один, который мы и пытаемся обойти.</a:t>
            </a:r>
          </a:p>
          <a:p/>
          <a:p>
            <a:r>
              <a:t>Это другая история, чем с калькулятором, который мы разобрали минуту назад. У калькулятора модель могла вызвать инструмент — вероятностность просто переезжала на шаг раньше и там продолжала жить. У jev в этой конкретной задаче самой операции «вернуть число» в интерфейсе сервиса не существует — это не плохо выполненная работа, а работа другого класса, которую сервис в принципе не берёт.</a:t>
            </a:r>
          </a:p>
          <a:p/>
          <a:p>
            <a:r>
              <a:t>Урок простой и универсальный, не только про возврат денег: прежде чем проектировать шаг вокруг стороннего сервиса, нужно сначала проверить, что он физически умеет делать то, что от него хотят, — не исходить из того, что раз он хорош в соседней задаче, значит подойдёт и здесь. Задачи «выбрать из готовых вариантов» и «извлечь произвольное число» — разные классы, и успех в одном ничего не говорит про другой.</a:t>
            </a:r>
          </a:p>
          <a:p/>
          <a:p>
            <a:r>
              <a:t>Теперь — что мы сделали с этой находкой на практике: решение, которое заменяет ровно тот узел, где случается ошибка. Это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таблице действий мы только что проговорили число: версия один, та, что работает месяц, ошибается девять раз из ста одного. И не где-то в случайном месте цепочки — ровно в одной точке: там, где принимается решение «одобрить» или «эскалировать». Прежде чем идти дальше и разбирать это число подробно, стоит показать, что мы с этой находкой сделали. Версия два — это не новая цепочка с нуля, это версия один с заменой ровно этого одного узла.</a:t>
            </a:r>
          </a:p>
          <a:p/>
          <a:p>
            <a:r>
              <a:t>Посмотрите на схему. Верхняя полоса — версия один, та, что работала месяц. Форма со свободным текстом, модель достаёт из него сумму, и та же модель — тем же вызовом — решает, одобрить сумму или эскалировать её, читая текст правила. Вот это последнее действие, решение по тексту правила, и есть точка, где случались все девять ошибок.</a:t>
            </a:r>
          </a:p>
          <a:p/>
          <a:p>
            <a:r>
              <a:t>Нижняя полоса — версия два. Она появляется не параллельно версии один и не вместо неё с самого начала, а именно как ответ на то, что показал эксперимент. Форма та же, извлечение суммы то же — модели всё ещё нужно достать число из свободного текста заявки, потому что форму мы пока не меняли. А дальше, там, где раньше модель решала по тексту правила, теперь стоит </a:t>
            </a:r>
            <a:r>
              <a:rPr>
                <a:latin typeface="Consolas"/>
              </a:rPr>
              <a:t>IF</a:t>
            </a:r>
            <a:r>
              <a:t>-узел: он сравнивает уже извлечённое число с порогом как условие в коде, а не как текстовый вызов.</a:t>
            </a:r>
          </a:p>
          <a:p/>
          <a:p>
            <a:r>
              <a:t>Обратите внимание, что я рисую это не как два равноправных параллельных процесса, которые мы якобы собрали сразу и сравнили. Версия два появилась после версии один и из-за найденной в ней проблемы — это и есть правильный порядок рассказа про смену решения, и ровно он совпадает с тем, что произошло на самом деле: месяц работы, эксперимент, находка, и только потом — замена узла.</a:t>
            </a:r>
          </a:p>
          <a:p/>
          <a:p>
            <a:r>
              <a:t>Дальше разберём, насколько хорошо это работает на самом деле: не просто headline-число, а как именно был устроен тест на сто один запрос и на каких конкретно формулировках версия один раз за разом спотыкалась. Это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отдельный такт про сам процесс измерения, и он заслуживает полного экрана, а не одной итоговой строки — потому что метод здесь важнее числа, и в этой волне метод стал ещё важнее: исходные три ошибки на пятьдесят одном запросе звучали недостаточно представительно, чтобы на них опираться уверенно, и набор расширили.</a:t>
            </a:r>
          </a:p>
          <a:p/>
          <a:p>
            <a:r>
              <a:t>Начнём с того, зачем мерить вообще, если жалоб не было. Жалоба — это сигнал, который приходит только при одном условии: ошибка достаточно заметна и достаточно дорога, чтобы человек вернулся и указал на неё. Тихая ошибка — там, где чуть большую сумму одобрили, которую следовало эскалировать, или наоборот — жалобы не вызовет вообще никогда, потому что её, скорее всего, никто и не заметит.</a:t>
            </a:r>
          </a:p>
          <a:p/>
          <a:p>
            <a:r>
              <a:t>Исходный набор — пятьдесят запросов, сгенерированных один раз с зафиксированным стартовым значением генератора случайных чисел, плюс один ручной тест. Внутри — два кластера: двадцать пять сумм от тысячи до трёх тысяч рублей с плотной группировкой прямо у границы, и двадцать пять сумм явно выше порога, для которых правильный ответ очевиден.</a:t>
            </a:r>
          </a:p>
          <a:p/>
          <a:p>
            <a:r>
              <a:t>И вот что добавлено в этой волне. Три тысячи рублей — это одна конкретная сумма, и кластер вокруг неё в исходном наборе был плотным, но не исчерпывающим. Добавили пятнадцать сумм ещё плотнее к самой границе — буквально в пределах двадцати рублей от неё в обе стороны. Добавили двадцать текстов, где в одном сообщении встречаются два разных числа: отвлекающая сумма — то, что курс или занятие стоило раньше, — и целевая сумма, та, которую на самом деле просят вернуть. Правильный ответ считается по целевой, и экстрактору нужно отличить одно от другого, а не просто найти первое число в тексте. И добавили пятнадцать формулировок, где сумма вообще не названа прямым числом, а выводится арифметикой — «два занятия по тысяче пятьсот» — или словом «около», «примерно».</a:t>
            </a:r>
          </a:p>
          <a:p/>
          <a:p>
            <a:r>
              <a:t>Итого — сто один запрос, и правильность каждого прогона определяется не на глаз: решение, которое реально записано в данных выполнения, сравнивается с ожиданием, вытекающим из самого текста правила.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измерения на расширенном наборе. Сто один прогон, и у версии один — девять ошибок.</a:t>
            </a:r>
          </a:p>
          <a:p/>
          <a:p>
            <a:r>
              <a:t>Таблица разбита по блокам теста не для красоты, а потому что так сразу видно, где ошибка есть и где её нет. Исходный кластер у границы — двадцать пять запросов, три ошибки. Исходные суммы явно выше порога — двадцать пять запросов, ноль ошибок. Новый блок у самой границы, где суммы ещё плотнее прижаты к трём тысячам, — пятнадцать запросов, и неожиданно ноль ошибок: ни 2980, ни 2999, ни 3001, ни 3020 не сбили модель, потому что ни одна из них не совпадает РОВНО с порогом. Блок с двумя числами в тексте — двадцать запросов, тоже ноль: модель уверенно отличает отвлекающую сумму от целевой. А вот блок непрямых формулировок — пятнадцать запросов, и в нём шесть новых ошибок, и все шесть — там, где арифметика внутри текста («половина от шести тысяч», «три занятия по тысяче») в точности равна трём тысячам.</a:t>
            </a:r>
          </a:p>
          <a:p/>
          <a:p>
            <a:r>
              <a:t>Это и есть главное, что подтверждает расширенный набор: ошибка не размазана по диапазону и не зависит от того, насколько сложно сформулирован текст. Она привязана к ОДНОЙ ТОЧНОЙ СУММЕ — трём тысячам рублей, — независимо от того, пришла эта сумма прямым числом или арифметикой из двух чисел. Модель справляется с «очевидно много», с «очевидно мало» и даже с суммами в двадцати рублях от границы — идеально, во всех случаях без исключения. Промах — только там, где сумма равна порогу буквально.</a:t>
            </a:r>
          </a:p>
          <a:p/>
          <a:p>
            <a:r>
              <a:t>И это не случайная ошибка, которая иногда проскакивает где угодно. Это систематическая ошибка, сидящая в одной конкретной точке — там, где текст правила и его формальная интерпретация расходятся. В остальном диапазоне, сколь угодно близко к границе, модель безупречна.</a:t>
            </a:r>
          </a:p>
          <a:p/>
          <a:p>
            <a:r>
              <a:t>Разница между «случайная ошибка» и «систематическая ошибка ровно на границе» — это и есть то, что решение, которое мы уже показали на схеме, устраняет структурно: </a:t>
            </a:r>
            <a:r>
              <a:rPr>
                <a:latin typeface="Consolas"/>
              </a:rPr>
              <a:t>IF</a:t>
            </a:r>
            <a:r>
              <a:t>-узел меняет саму точку, где принимается решение, вместо того чтобы снижать частоту ошибки в ней. Дальше — как этот узел выглядит в настоящей настройке, рядом с промптом версии один для контраста.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настройка узла, который заменил решение модели в версии два — рядом с настоящей открытой панелью промпта версии один, который он заменил. Оба экрана настоящие, оба сняты с живого стенда, и ради контраста стоило положить их рядом.</a:t>
            </a:r>
          </a:p>
          <a:p/>
          <a:p>
            <a:r>
              <a:t>Слева — узел </a:t>
            </a:r>
            <a:r>
              <a:rPr>
                <a:latin typeface="Consolas"/>
              </a:rPr>
              <a:t>IF</a:t>
            </a:r>
            <a:r>
              <a:t>, названный по-русски для удобства, «Amount over threshold?» по смыслу. Условие внутри него одно: извлечённая сумма, уже число, а не текст, сравнивается с тремя тысячами строгим «больше». Если условие верно — заявка идёт по ветке «эскалировать». Если нет — по ветке «одобрить». Это операция сравнения чисел, и у неё нет пространства для интерпретации: либо число больше другого числа, либо нет.</a:t>
            </a:r>
          </a:p>
          <a:p/>
          <a:p>
            <a:r>
              <a:t>Справа — та самая панель узла </a:t>
            </a:r>
            <a:r>
              <a:rPr>
                <a:latin typeface="Consolas"/>
              </a:rPr>
              <a:t>Decide refund (model)</a:t>
            </a:r>
            <a:r>
              <a:t>, версия один, как она реально стояла в настройке. В открытом поле </a:t>
            </a:r>
            <a:r>
              <a:rPr>
                <a:latin typeface="Consolas"/>
              </a:rPr>
              <a:t>Prompt (User Message)</a:t>
            </a:r>
            <a:r>
              <a:t> — текст: «Правило: не возвращай больше 3000 рублей автоматически, иначе эскалируй руководителю. Сумма запроса: {{ $json.output.amount_rub }} рублей. Ответь строго одним словом: «одобрить» или «эскалировать».» На экране это поле обрезано по высоте самим интерфейсом n8n — видна не вся строка целиком, здесь она договорена полностью. Обратите внимание, что в этом тексте формально есть то же самое сравнение — «не больше 3000» — но оно существует только как часть смысла предложения, которое модель должна понять и применить. У модели нет отдельного шага «сравнить два числа»: есть один шаг «прочитать правило и сумму вместе и сформулировать ответ». И именно внутри этого одного шага девять раз из ста одного правило и его трактовка расходились — ровно на границе, там, где текст можно прочитать двояко.</a:t>
            </a:r>
          </a:p>
          <a:p/>
          <a:p>
            <a:r>
              <a:t>Это и есть разница между решением, принятым кодом, и решением, принятым текстовым пониманием, положенная рядом, без единого слова о том, какая версия лучше — она видна по самой форме настройки. Слева — число сравнивается с числом. Справа — число спрятано внутри фразы, которую нужно понять целиком, чтобы из неё извлечь тот же самый факт.</a:t>
            </a:r>
          </a:p>
          <a:p/>
          <a:p>
            <a:r>
              <a:t>Сумма, которую сравнивает </a:t>
            </a:r>
            <a:r>
              <a:rPr>
                <a:latin typeface="Consolas"/>
              </a:rPr>
              <a:t>IF</a:t>
            </a:r>
            <a:r>
              <a:t>-узел, всё ещё извлечена моделью из свободного текста заявки на предыдущем шаге — этот шаг версия два не меняла. Меняется только то, что происходит после извлечения: было решение текстом, стало условие в коде.</a:t>
            </a:r>
          </a:p>
          <a:p/>
          <a:p>
            <a:r>
              <a:t>Дальше — ещё две настоящие панели настройки: как выглядят параметры узла извлечения суммы и самого условия изнутри, не только снаружи на канвасе.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предыдущем экране узел </a:t>
            </a:r>
            <a:r>
              <a:rPr>
                <a:latin typeface="Consolas"/>
              </a:rPr>
              <a:t>IF</a:t>
            </a:r>
            <a:r>
              <a:t> был виден снаружи — карточкой на канвасе с именем и двумя ветками. Здесь — то же самое изнутри, ровно то, что видит инженер, когда дважды щёлкает по узлу и открывает его настройку.</a:t>
            </a:r>
          </a:p>
          <a:p/>
          <a:p>
            <a:r>
              <a:t>Слева — узел, который извлекает сумму из текста заявки. Он называется «Information Extractor», и его задача задана не вольным промптом, а строгой JSON-схемой: один параметр, </a:t>
            </a:r>
            <a:r>
              <a:rPr>
                <a:latin typeface="Consolas"/>
              </a:rPr>
              <a:t>amount_rub</a:t>
            </a:r>
            <a:r>
              <a:t>, тип — строго число, и он обязательный. Модели внутри этого узла не разрешено вернуть текст, диапазон или слово «примерно» — результат либо проходит эту схему, либо узел считается не выполнившимся. Это тот самый шаг извлечения, который версия два не убирает: сумму всё ещё достаёт модель, но результат этого шага дисциплинирован форматом, а не только инструкцией.</a:t>
            </a:r>
          </a:p>
          <a:p/>
          <a:p>
            <a:r>
              <a:t>Справа — узел, который заменил текстовое решение версии один. У него одно условие, и оно читается буквально: уже извлечённое число сравнивается с тремя тысячами оператором «больше». Не абзац текста о пороге, а одна строка сравнения в интерфейсе, где у оператора нет пространства для интерпретации. Переключатель приведения типов выключен намеренно: условию нужно готовое число, а не строка, которую ещё предстоит на лету превращать в число, рискуя тихой ошибкой преобразования.</a:t>
            </a:r>
          </a:p>
          <a:p/>
          <a:p>
            <a:r>
              <a:t>Разница между этими двумя панелями и текстовым промптом версии один, который мы видели раньше, — не в количестве слов, а в том, где именно живёт смысл решения. В промпте правило растворено в естественном языке, и модель каждый раз заново его перечитывает и трактует. Здесь правило — это строго типизированное поле формы настройки, которое либо заполнено верно, либо подсвечено ошибкой ещё до прогона. Остальная часть цепочки, которую мы разбирали на схеме, не изменилась — изменилось ровно то, что видно на этих двух панелях.</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сравнению версий, стоит на секунду встать на сторону клиента и посмотреть, что он видит, когда его заявка одобрена автоматически.</a:t>
            </a:r>
          </a:p>
          <a:p/>
          <a:p>
            <a:r>
              <a:t>Вспомним заявку со сцены: «прошу вернуть 2500 рублей за пропущенное занятие». Сумма ниже порога в три тысячи рублей, поэтому и версия один, и версия два одобрили бы её сами, без участия руководителя. Разница между версиями — в том, как внутри цепочки принимается это решение; для самого клиента её не видно вовсе.</a:t>
            </a:r>
          </a:p>
          <a:p/>
          <a:p>
            <a:r>
              <a:t>Клиент не открывает никакого отдельного экрана результата, не заходит в личный кабинет и не ждёт письма с вложением. В чат, где он уже переписывался с учебным центром, приходит одно короткое сообщение: заявка одобрена, и конкретная сумма уже отправлена на карту, которой он платил за занятие. Один пузырь, без вложений и без кнопок — ровно как и в первом кейсе этого занятия, где такое же короткое уведомление приходило в уже существующий чат.</a:t>
            </a:r>
          </a:p>
          <a:p/>
          <a:p>
            <a:r>
              <a:t>Важно, чего в этом сообщении нет. В нём нет имени узла, который принял решение, нет слова «порог» или числа «три тысячи», нет внутреннего идентификатора заявки или исполнения цепочки — ничего из того, что мы только что разбирали на схеме и в настройке узла. Это та же граница, о которой курс говорит с самого начала: служебные детали живут в наших разборах и в документации производства, а на экране, который видит реальный человек, — только то, что ему нужно знать, чтобы понять: деньги уже у него.</a:t>
            </a:r>
          </a:p>
          <a:p/>
          <a:p>
            <a:r>
              <a:t>И это не особенность, привязанная именно к версии два. Если бы версия один, с её текстовым промптом, тоже решила одобрить эту заявку, клиент увидел бы ровно то же самое сообщение — потому что всё, что меняется между версиями, происходит до этого экрана, внутри цепочки, а не в интерфейсе, который видит клиент. Разница версий — это разница в надёжности самого решения, а не в том, что в итоге получает человек.</a:t>
            </a:r>
          </a:p>
          <a:p/>
          <a:p>
            <a:r>
              <a:t>Вопрос, который стоит держать в голове дальше: если бы сумма заявки случайно совпала с порогом в три тысячи рублей — а мы только что видели, где именно версия один раз за разом ошибалась, — пришло бы клиенту то же сообщение, или вместо него другое, про передачу заявки руководителю? Ответ на него — в сравнении, к которому мы сейчас и возвращаемся.</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итоговое сравнение, и важно, на чём оно построено: это не новый тест, собранный специально под версию два, чтобы она выглядела хорошо. Это тот же самый расширенный набор из ста одного запроса — пятьдесят один исходный, на котором мы впервые нашли проблему, и пятьдесят новых, сложнее первых, добавленных именно для того, чтобы проверить находку на более трудных формулировках. Версия два прогнана ровно на нём же.</a:t>
            </a:r>
          </a:p>
          <a:p/>
          <a:p>
            <a:r>
              <a:t>Первая строка — число ошибок. Версия один — девять из ста одного. Версия два — ноль. Не «меньше», а ноль на наборе, который включает плотный кластер сумм прямо у границы, суммы в двадцати рублях от неё с обеих сторон, тексты с двумя числами и формулировки, где сумма получается арифметикой, а не названа прямо, — то есть на наборе, который даёт ошибке максимум шансов проявиться, если она есть.</a:t>
            </a:r>
          </a:p>
          <a:p/>
          <a:p>
            <a:r>
              <a:t>Вторая строка — то самое поведение на границе, из-за которого всё это затевалось. На сумме ровно три тысячи рублей — независимо от того, пришла она прямым числом или арифметикой внутри текста — версия один отвечала «эскалировать», хотя правило, если его прочитать внимательно, подразумевает, что саму эту сумму ещё можно одобрить. Версия два на той же сумме отвечает «одобрить», и причина не в том, что </a:t>
            </a:r>
            <a:r>
              <a:rPr>
                <a:latin typeface="Consolas"/>
              </a:rPr>
              <a:t>IF</a:t>
            </a:r>
            <a:r>
              <a:t>-узел «понял правило лучше». Причина в том, что условие «строго больше 3000» математически не допускает двойного толкования: число либо больше другого числа, либо нет.</a:t>
            </a:r>
          </a:p>
          <a:p/>
          <a:p>
            <a:r>
              <a:t>Третья строка — вне границы обе версии безупречны, и расширенный набор это подтвердил отдельно: ни суммы в двадцати рублях от порога, ни тексты с отвлекающим вторым числом не сбили версию один с толку. Она была плохой ровно в одной точке — и именно поэтому диагноз «систематическая ошибка на границе», а не «ненадёжная модель», был правильным диагнозом, а решение — точечной заменой одного узла, а не переписыванием всей цепочки.</a:t>
            </a:r>
          </a:p>
          <a:p/>
          <a:p>
            <a:r>
              <a:t>Это и есть форма, в которой положено сравнивать решения внутри кейса на этом курсе: не два мира, собранные параллельно для иллюстрации тезиса, а версия, построенная как прямой ответ на находку, и измеренная на том самом — теперь расширенном — тесте, который эту находку дал и подтвердил.</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обобщение — то, что должно остаться после того, как числа этого конкретного кейса забудутся.</a:t>
            </a:r>
          </a:p>
          <a:p/>
          <a:p>
            <a:r>
              <a:t>Первое, на чём стоит задержаться: формулировка находки важна буквально, не приблизительно. Неправильно сказать «модель иногда вероятностно ошибается» — это слишком общо и ничего не говорит о том, где искать проблему в следующий раз. Точная формулировка другая: модель систематически промахивается именно на границе условия — там, где текст правила и его формальная интерпретация расходятся, а во всём остальном диапазоне она ведёт себя безупречно. Разница между «иногда ошибается» и «систематически промахивается на границе» — это разница между «нужно больше проверок везде» и «нужно проверить ровно одну точку».</a:t>
            </a:r>
          </a:p>
          <a:p/>
          <a:p>
            <a:r>
              <a:t>Отсюда и класс задачи, который стоит унести с собой. Если решение можно выразить как условие над уже структурированным значением — число больше или меньше другого числа, дата раньше или позже другой даты, статус входит в список или не входит — такое решение не задача модели в точке принятия решения. Модель может оставаться нужной раньше в цепочке, там, где требуется разобрать свободный текст и достать из него значение. Но сам момент сравнения — это код, и только код.</a:t>
            </a:r>
          </a:p>
          <a:p/>
          <a:p>
            <a:r>
              <a:t>И практический вывод, который работает за пределами возврата денег: граничные значения — это первое, что нужно проверить прогоном, прежде чем доверять любому похожему правилу, построенному на пороге. Не середину диапазона, где всё обычно хорошо, а именно границу — там, где формулировка правила и её трактовка расходятся чаще всего.</a:t>
            </a:r>
          </a:p>
          <a:p/>
          <a:p>
            <a:r>
              <a:t>Это тот же урок, который уже встречался в кейсе про уведомления и в кейсе про повторные обращения, только здесь он формулируется точнее благодаря измерению: не «проверяйте модель на крайних случаях вообще», а конкретно — на той точке, где человеческая формулировка правила и буквальное условие могут не совпасть. Такая точка есть у любого порога, который кто-то когда-то написал словами.</a:t>
            </a:r>
          </a:p>
          <a:p/>
          <a:p>
            <a:r>
              <a:t>И ещё один штрих, который измерение добавило к этому обобщению. Переформулировка правила яснее — одно из четырёх разобранных действий — на практике полностью убрала именно эту ошибку: сто из ста на расширенном наборе. Это не противоречит выводу «решение должно быть кодом» — это уточняет его. Уточнённая формулировка — это измеренное улучшение КОНКРЕТНОГО промпта на КОНКРЕТНОМ наборе, а не структурная гарантия: ничто в архитектуре не исключает, что другая формулировка, другая модель или её будущее обновление разойдутся с правилом снова, просто в другом месте. </a:t>
            </a:r>
            <a:r>
              <a:rPr>
                <a:latin typeface="Consolas"/>
              </a:rPr>
              <a:t>IF</a:t>
            </a:r>
            <a:r>
              <a:t>-узел устраняет саму категорию такой ошибки: сравнение числа с числом в коде не нуждается в повторной проверке каждый раз, когда меняется формулировка или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прежде чем уносить вывод кейса как абсолютное правило.</a:t>
            </a:r>
          </a:p>
          <a:p/>
          <a:p>
            <a:r>
              <a:t>Первый — про калькулятор, который мы обсуждали среди четырёх карточек вопроса. Дать модели инструмент для сравнения чисел — это не то же самое, что поставить </a:t>
            </a:r>
            <a:r>
              <a:rPr>
                <a:latin typeface="Consolas"/>
              </a:rPr>
              <a:t>IF</a:t>
            </a:r>
            <a:r>
              <a:t>-узел после извлечения. В прошлый раз мы это только утверждали: вероятностность не исчезает, она переезжает на шаг раньше, туда, где модель решает, вызывать ли калькулятор и как передать в него значения. В этот раз утверждение проверено настоящим прогоном — собрали агента с настоящим инструментом-калькулятором и прогнали его на той же сотне запросов. Результат оказался не просто «не гарантией», а измеримо хуже всех остальных вариантов: пятьдесят шесть правильных ответов из ста. И нашлись отказы, которых никто не закладывал специально: встроенный калькулятор n8n не умеет сравнивать числа, только считать арифметику, и в одном случае из девяти честно отвечал «не знаю, как это сделать»; треть ответов агента вообще не свелась к чистому слову «одобрить» или «эскалировать»; и почти десятая часть ошибок рассыпалась по всему диапазону сумм, а не сидела аккуратно на границе, как у версии один. Инструмент у модели — не гарантия, а перенос проблемы, и теперь это не только довод, но и число.</a:t>
            </a:r>
          </a:p>
          <a:p/>
          <a:p>
            <a:r>
              <a:t>Второй — про сам порог. Три тысячи рублей сейчас живут в двух местах: в тексте промпта версии один и в условии </a:t>
            </a:r>
            <a:r>
              <a:rPr>
                <a:latin typeface="Consolas"/>
              </a:rPr>
              <a:t>IF</a:t>
            </a:r>
            <a:r>
              <a:t>-узла версии два. Если когда-нибудь порог изменится — скажем, на три тысячи пятьсот — и кто-то поправит его в одном месте, забыв про другое, получится ровно та же проблема, что с контрактом между шагами, который мы уже разбирали в прошлых кейсах этой дуги: два места, которые должны совпадать, но ничто не гарантирует, что совпадают. Порог обязан иметь ровно один источник правды.</a:t>
            </a:r>
          </a:p>
          <a:p/>
          <a:p>
            <a:r>
              <a:t>Третий, и он прямо отвечает на карточку вопроса про явное числовое поле формы. Модель, которая извлекает сумму из свободного текста, всё ещё может ошибиться: прочитать не ту цифру, перепутать сумму из одного предложения с суммой из другого. Вывод этого кейса — не «модель нигде не нужна в этом процессе», а точнее: «модель не должна быть точкой, где принимается решение». Если форму запроса можно изменить, явное числовое поле убирает и риск неверного извлечения — сумма приходит уже структурированной, и достраивать её из текста не нужно вовсе. Но если источник — письмо или чат, а не форма, которую мы контролируем, извлечение остаётся задачей модели, и его собственная точность — отдельный вопрос, не закрытый этим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можно унести этот кейс в свою собственную работу, не помня ни одной цифры и ни одного имени узла.</a:t>
            </a:r>
          </a:p>
          <a:p/>
          <a:p>
            <a:r>
              <a:t>Решение обязано быть кодом тогда, когда его можно сформулировать как условие над уже структурированным значением: число больше или меньше порога, дата раньше или позже определённой отметки, статус входит в заранее известный список или нет. Если условие можно записать на бумаге без единого слова неоднозначности — ему не место в тексте, который модель должна понимать и трактовать. Ему место в коде, где у сравнения нет пространства для двух прочтений.</a:t>
            </a:r>
          </a:p>
          <a:p/>
          <a:p>
            <a:r>
              <a:t>И есть более сильная версия того же критерия, на шаг раньше по цепочке: ещё лучше, если получится, — устранить саму потребность в извлечении значения вообще. Если источник данных можно сделать структурированным с самого начала, как это может быть с формой заявки, сравнение становится простым не потому, что мы научили код сравнивать числа — он и так это умел, — а потому что перестаёт существовать сам момент, где из свободного текста нужно что-то доставать.</a:t>
            </a:r>
          </a:p>
          <a:p/>
          <a:p>
            <a:r>
              <a:t>Теперь — закрытие оси этого занятия применительно к третьему кейсу. Ось спрашивает: где в цепочке решение принимает модель, а где должен — код, и что молчит, когда эту границу не назвали явно. Здесь ответ конкретный и измеренный, не общий: решение, оставленное модели, обходило собственное правило в измеренной доле прогонов — девять из ста одного на расширенном наборе, и ровно в одной точке, на границе условия, не где попало. Решение, отданное алгоритмическому гейту на том же самом тесте, — ноль из ста одного, то есть никогда. Разница между «измеримо редко» и «никогда» — это и есть вся дистанция между решением, которое доверяют модели, и решением, которое доверяют коду, применительно к пороговым условиям.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a:t>
            </a:r>
          </a:p>
          <a:p/>
          <a:p>
            <a:r>
              <a:t>Zillow — крупнейший агрегатор объявлений о недвижимости в США, и с 2018 года у компании было отдельное направление Zillow Offers, второе название — iBuying. Работало оно просто: алгоритмическая модель Zestimate оценивала дом по открытым данным, компания покупала дом почти мгновенно по этой цене, делала минимальный ремонт и быстро перепродавала, зарабатывая на разнице между покупкой и продажей. Схема работала, пока рынок жилья вёл себя так, как закладывала модель на исторических данных.</a:t>
            </a:r>
          </a:p>
          <a:p/>
          <a:p>
            <a:r>
              <a:t>Осенью 2021 года Zillow объявила об остановке этого бизнеса целиком. Цифры на экране — не оценки журналистов, а прямые данные из отчётности перед SEC: списание стоимости запасов домов составило $304,4 млн за один квартал и $407,9 млн за весь год, штат сократили примерно на четверть, около двух тысяч человек. Только за третий квартал 2021 года компания купила 9680 домов, а продать успела лишь 3032 — средний убыток на каждый проданный дом составил около $80 000.</a:t>
            </a:r>
          </a:p>
          <a:p/>
          <a:p>
            <a:r>
              <a:t>Мы разбираем этот кейс сразу после «Одобрения возврата» не случайно. Там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той же самой: порог риска, выше которого стоило бы остановить автоматическую покупку или передать решение человеку, существовал не как обязательное условие в контуре, а как ожидание, что модель справится, потому что справлялась раньше. Разница — только в масштабе: там это один разговор с клиентом, здесь — покупка дома за реальные деньги, и таких решений принимались тысячи подряд.</a:t>
            </a:r>
          </a:p>
          <a:p/>
          <a:p>
            <a:r>
              <a:t>На следующем экране — схема того, как этот контур был устроен на самом деле: без обязательного гейта и без короткого интервала проверки. А вопрос, который мы зададим после неё, не о том, можно ли было предсказать волатильность рынка заранее. Он о том, чего не хватало в самом контуре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 экране — тот же приём, которым мы уже сравнивали устройство решения в кейсе «Уведомления»: там одна полоса показывала цепочку с LLM-узлом, другая — без него. Здесь одна полоса показывает, как контур решения о покупке дома был устроен у Zillow на самом деле.</a:t>
            </a:r>
          </a:p>
          <a:p/>
          <a:p>
            <a:r>
              <a:t>Первый шаг — алгоритмическая оценка Zestimate: модель называет цену дома по открытым данным. Второй шаг — решение о покупке, и здесь первый пропуск: решение принималось без обязательного гейта выше определённого порога риска. Любая оценка, независимо от того, насколько она удалена от разумного диапазона, двигалась дальше по контуру без обязательной остановки.</a:t>
            </a:r>
          </a:p>
          <a:p/>
          <a:p>
            <a:r>
              <a:t>Третий шаг — покупка исполняется: деньги уходят, дом становится активом компании. И здесь второй пропуск, более дорогой: после покупки не было короткого периода мониторинга точности — часов или дней, за которые можно было бы заметить, что фактическая цена перепродажи систематически расходится с прогнозом. Такого периода не было вовсе.</a:t>
            </a:r>
          </a:p>
          <a:p/>
          <a:p>
            <a:r>
              <a:t>Из-за этого ошибка не обнаруживалась сразу — она накапливалась незаметно, покупка за покупкой, квартал за кварталом. Единственной точкой, где она становилась видимой, была квартальная отчётность перед SEC — то есть исторический архив, который подтверждает, что случилось, а не период контроля, который мог бы это остановить.</a:t>
            </a:r>
          </a:p>
          <a:p/>
          <a:p>
            <a:r>
              <a:t>Разница между архивом и периодом контроля — не стилистическая тонкость. Архив говорит правду только после того, как цена ошибки уже реализовалась. Период контроля мог бы остановить закупку по сегменту, пока убыток ещё маленький. У Zillow был только архив.</a:t>
            </a:r>
          </a:p>
          <a:p/>
          <a:p>
            <a:r>
              <a:t>На следующих двух экранах — вопрос и разбор, а дальше — схема того же контура, но с гейтом, которого здесь не было.</a:t>
            </a:r>
          </a:p>
          <a:p/>
          <a:p>
            <a:r>
              <a:t>Обратите внимание, что ни один из пяти шагов на этой схеме сам по себе не выглядит ошибкой. Оценка по открытым данным — обычная практика. Покупка по расчётной цене — обычная практика. Минимальный ремонт и быстрая перепродажа — тоже обычная практика. Ошибка не в одном шаге, а в том, что между шагами нет точки, где процесс мог бы остановиться и спросить «а точно ли эта оценка надёжна именно сейчас». Ровно это отсутствие точки остановки мы и будем искать в следующем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схему: оценка, покупка без обязательного гейта, ошибка видна только из квартального отчёта. Вопрос — что в этом контуре должно было стоять и не стояло.</a:t>
            </a:r>
          </a:p>
          <a:p/>
          <a:p>
            <a:r>
              <a:t>Zillow Offers покупала дома по алгоритмической оценке и перепродавала их. Модель оценивала цену, решение о покупке принималось почти автоматически, и так — тысячи раз подряд, пока рынок вёл себя привычно. Когда рынок жилья в 2021 году повёл себя волатильнее, чем закладывала история, частота ошибки модели выросла резко, а контур решения этого не поймал вовремя.</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Обратите внимание, что все четыре карточки звучат как разумные инженерные шаги, и это сделано намеренно: вопрос не в том, чтобы отличить нелепый вариант от серьёзных трёх, а в том, чтобы понять, какой из них на самом деле меняет контур решения, а какой только меняет формулировку того, что уже было. Удерживайтесь от того, чтобы угадывать по формулировке, какой вариант тут «лишний».</a:t>
            </a:r>
          </a:p>
          <a:p/>
          <a:p>
            <a:r>
              <a:t>Пятнадцать секунд на выбор, потом по рукам.</a:t>
            </a:r>
          </a:p>
          <a:p/>
          <a:p>
            <a:r>
              <a:t>И ещё одно соображение, прежде чем голосовать. Все четыре варианта стоят на одной схеме, которую мы только что видели: оценка, покупка, исполнение, отсутствие интервала проверки, квартальный отчёт. Подумайте не абстрактно «что из этого звучит разумно», а конкретно — какой из четырёх вариантов добавил бы на эту схему новый узел или новую точку остановки, а какой просто переформулировал бы то, что на ней уже нарисовано.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не было причиной. Модель Zestimate была откалибрована корректно на исторически стабильных данных: до пандемии её ошибка на срок владения в несколько месяцев была в пределах, которые компания считала рабочими. Виновата не калибровка — виновата сама волатильность рынка, которой не было в обучающей истории.</a:t>
            </a:r>
          </a:p>
          <a:p/>
          <a:p>
            <a:r>
              <a:t>Runtime-мониторинг дрейфа с автоматическим порогом остановки — вот то, чего на самом деле не хватало. У продакшен-модели, управляющей закупкой недвижимости на сотни миллионов долларов, не было короткого периода наблюдения за собственной частотой ошибки — часы или дни,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период,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вне зависимости от размера ставки. Ровно та же форма пропуска, что мы только что разбирали в «Одобрении возврата» — там порог суммы возврата был, но не был алгоритмическим гейтом.</a:t>
            </a:r>
          </a:p>
          <a:p/>
          <a:p>
            <a:r>
              <a:t>Заранее знать, что рынок поведёт себя непредсказуемо, — не инженерное решение вовсе, а пожелание. Пандемийная волатильность — реальный внешний фактор, но не точка, в которой инженер может что-то изменить.</a:t>
            </a:r>
          </a:p>
          <a:p/>
          <a:p>
            <a:r>
              <a:t>Решающее здесь то, что модель не подвела — подвёл контур вокруг неё: не было ни короткого периода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 На следующем экране — схема того же контура, но с гейтом.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Демо здесь не будет — это не наш стенд, а чужая, остановленная система. Но архитектурное решение называется так же прямо, как в любом нашем кейсе, и схема на экране — та же полоса, что мы рисовали без гейта, только с двумя добавленными узлами.</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фактическое отклонение превышает порог, автоматическая закупка по этому сегменту останавливается до ручной проверки, а не продолжается в ожидании следующего отчёта.</a:t>
            </a:r>
          </a:p>
          <a:p/>
          <a:p>
            <a:r>
              <a:t>Это тот же приём, что мы уже видели в «Одобрении возврата»: решение заменяется детерминированным условием там, где его можно выразить как условие над структурированным значением — суммой риска, отклонением цены. Разница — в масштабе условия и в масштабе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Важно, что ни одна из двух частей решения не работает сама по себе без другой. Человек-андеррайтер без circuit breaker всё равно узнаёт о проблеме только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реального капитала — не абстрактной метрики, а денег, которые компания платит буквально. У Zillow одна ошибка — это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именно это расхождение режимов, а не сама модель, стало источником ошибки.</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период,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мы поставили этот разбавитель именно здесь. Мысль та же, что мы уже разобрали на «Одобрении возврата», просто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именно в этом суть кейса: не в том, что что-то сломалось явно и заметно, а в том, что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а условие вообще ни при чём — весь путь прошёл формально безупречно.</a:t>
            </a:r>
          </a:p>
          <a:p/>
          <a:p>
            <a:r>
              <a:t>Саму 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кто-то не сверит журнал прогона с тем, что реально произошло у получателя.</a:t>
            </a:r>
          </a:p>
          <a:p/>
          <a:p>
            <a:r>
              <a:t>Разберём, что здесь произошло на самом деле, почему ни один из прежних приёмов этого не поймал, и что с этим делать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не с жалобы, а с просьбы, и это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уже работающего процесса. Текст готовится тем же узлом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ровно там же, где раньше видел текст. Цепочку включили в работу на этом основании — она прошла проверку, какую мы умели делать.</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Вот в чём настоящая цена этой сцены. Это не отказ узла: отказы мы умеем ловить ещё с прошлого занятия, повтором и веткой. Это тихая потеря результата ровно там, где всё формальное говорит «успех» — потому что до сих пор у нас не было повода проверять бинарные данные хоть чем-то, кроме того, что они вообще сформировались.</a:t>
            </a:r>
          </a:p>
          <a:p/>
          <a:p>
            <a:r>
              <a:t>Значит, прежде чем звать это решением, нужно явно назвать, чему карточка обязана соответствовать — не постфактум, глядя на провал, а заранее, как требование. И требований здесь не одно, а два, и они разной природы. Первое — механическое: у файла есть размер, формат, разрешение, и это числа и перечислимые значения, которые можно сравнить с условием. Второе — смысловое, или по содержанию: показывает ли картинка на самом деле то, что должна показывать, а не битую заглушку, чужое изображение или пустой кадр. Разница не формальность — от неё напрямую зависит, какой инструмент вообще способен такое требование проверить, и это ровно тот вопрос, который прозвучит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Сегодня весь день мы задавали цепочке один и тот же вопрос — решает этот шаг модель, или должен решать код. Применим его к картинке.</a:t>
            </a:r>
          </a:p>
          <a:p/>
          <a:p>
            <a:r>
              <a:t>Вопрос: как проверить, что картинка соответствует требованиям?</a:t>
            </a:r>
          </a:p>
          <a:p/>
          <a:p>
            <a:r>
              <a:t>Четыре карточки, и это осознанно не вопрос «что делать, если файл превысит лимит» — это вопрос о том, какую проверку построить заранее, до того как файл уйдёт дальше. Первая — проверить размер и формат файла перед отправкой, программно: это то же самое действие, что </a:t>
            </a:r>
            <a:r>
              <a:rPr>
                <a:latin typeface="Consolas"/>
              </a:rPr>
              <a:t>IF</a:t>
            </a:r>
            <a:r>
              <a:t>-узел в «Одобрении возврата», только применённое к свойствам файла, а не к сумме. Вторая — проверить, что картинка открывается без ошибок, тоже программно: убедиться, что файл технически исправен, не битый. Третья — проверить, что на картинке действительно то, что нужно показать, моделью с распознаванием изображений: это другая по природе задача, и для неё нужен другой инструмент. Четвёртая — ничего не проверять, довериться тому, что узел отправки сам разберётся: это ровно то, что произошло в нашей сцене.</a:t>
            </a:r>
          </a:p>
          <a:p/>
          <a:p>
            <a:r>
              <a:t>Обратите внимание, что первые две карточки и третья — разного рода действия, хоть и похожи по формулировке «проверить». Размер, формат, то, что файл открывается, — это свойства, которые можно посчитать и сравнить с числом. Соответствует ли содержимое картинки тому, что нужно показать, — это уже не число, а смысл.</a:t>
            </a:r>
          </a:p>
          <a:p/>
          <a:p>
            <a:r>
              <a:t>Выбирайте не по тому, что звучит надёжнее, а по тому, какой инструмент вообще способен провести такую проверку: можно ли её выразить условием над числом, или для неё нужно, чтобы кто-то — человек или модель — посмотрел на содержимое.</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вопроса — не четыре равноправных ответа, а разбор по двум требованиям, которые мы только что назвали в постановке: механическому и смысловому.</a:t>
            </a:r>
          </a:p>
          <a:p/>
          <a:p>
            <a:r>
              <a:t>Первая и вторая карточки — проверить размер и формат, проверить, что файл открывается без ошибок, — обе закрывают механическое требование: у файла есть численные и перечислимые свойства, и программа может сравнить их с условием так же детерминированно, как </a:t>
            </a:r>
            <a:r>
              <a:rPr>
                <a:latin typeface="Consolas"/>
              </a:rPr>
              <a:t>IF</a:t>
            </a:r>
            <a:r>
              <a:t>-узел в «Одобрении возврата» сравнивал сумму с порогом. Это код, и только код: модель здесь не нужна и ничего не добавляет.</a:t>
            </a:r>
          </a:p>
          <a:p/>
          <a:p>
            <a:r>
              <a:t>Третья карточка — проверить, что на картинке действительно то, что нужно показать, — закрывает смысловое требование, и здесь честный ответ другой: сегодня в нашей цепочке такого шага нет. Единственный инструмент, который в принципе способен оценить, что на картинке, — модель с распознаванием изображений, и этот уровень сегодня не покрыт вовсе.</a:t>
            </a:r>
          </a:p>
          <a:p/>
          <a:p>
            <a:r>
              <a:t>Четвёртая карточка — ничего не проверять — не закрывает ни одно из двух требований, и это ровно то, что произошло в сцене кейса: прогон зелёный, узел отправки получил положительный ответ, а результат у получателя не совпал с ожиданием.</a:t>
            </a:r>
          </a:p>
          <a:p/>
          <a:p>
            <a:r>
              <a:t>Отдельный пример, почему эти два требования нельзя подменить друг другом. Технически исправный файл — правильный размер, правильный формат — всё равно может показывать не то, что нужно: например, если узел получения картинки по ссылке получил страницу ошибки хостинга вместо самой картинки. Формат и размер страницы ошибки вполне могут пройти механическую проверку, а содержимое будет совершенно не тем, что требовалось показать. Это тот же урок, что мы уже видели в «Уведомлениях» и в Zillow, перенесённый на картинку: механическое требование к файлу — задача кода; требование к содержимому — задача, которая нуждается в модели, а не отсутствие задачи вовсе.</a:t>
            </a:r>
          </a:p>
          <a:p/>
          <a:p>
            <a:r>
              <a:t>Первая строка таблицы и вторая — это один и тот же класс, закрытый сегодня. Третья строка — класс, названный, но не закрытый: дальше мы посмотрим, как выглядит архитектура, которая его хотя бы предусматривает, а потом — честно собранную цепочку, где его пока нет.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прямо продолжает разбор, который мы только что сделали.</a:t>
            </a:r>
          </a:p>
          <a:p/>
          <a:p>
            <a:r>
              <a:t>Два класса требований из предыдущего экрана становятся двумя отдельными стрелками на схеме. Слева — механическое требование: у файла есть размер, формат, разрешение, и все три свойства можно проверить программно, тем же приёмом, которым мы в «Одобрении возврата» сравнивали сумму с порогом. Это проверка до отправки, не после: файл либо проходит условие, либо цепочка останавливает его раньше, чем он уйдёт в Telegram.</a:t>
            </a:r>
          </a:p>
          <a:p/>
          <a:p>
            <a:r>
              <a:t>Справа — смысловое требование: показывает ли картинка действительно то, что нужно. Для этой стрелки на схеме нет узла в нашей сегодняшней цепочке — честно показываем это пробелом, а не фиктивным блоком. Единственный инструмент, который в принципе способен оценить содержимое изображения, — модель с распознаванием изображений, и её сегодня в цепочке нет.</a:t>
            </a:r>
          </a:p>
          <a:p/>
          <a:p>
            <a:r>
              <a:t>Важно, почему эти две стрелки нарисованы раздельно, а не одной общей проверкой «проверить файл». Код, который проверяет размер и формат, ничего не знает о содержимом — он может пропустить файл правильного размера и формата, даже если внутри него не то изображение. И наоборот: модель, которая умеет оценивать содержимое, — избыточный и дорогой инструмент для вопроса «не превышен ли лимит в байтах», который прекрасно решается одним сравнением чисел.</a:t>
            </a:r>
          </a:p>
          <a:p/>
          <a:p>
            <a:r>
              <a:t>Это архитектурное правило, не настройка конкретного узла — конкретную настройку увидим на следующем экране, во втором слое.</a:t>
            </a:r>
          </a:p>
          <a:p/>
          <a:p>
            <a:r>
              <a:t>Полезно удержать в голове форму этой схемы, потому что она повторяет форму, которую мы уже видели два раза сегодня: в «Уведомлениях» мы разводили шаг, который сочиняет текст, и шаг, который подставляет значения; в «Одобрении возврата» — текстовое правило и условие над числом. Здесь то же самое разведение применено не к тексту и не к сумме, а к файлу: одна его сторона (размер, формат) формализуется и проверяется кодом, другая (содержимое) формализации не поддаётся и требует инструмента, который умеет смотреть на изображение, а не только измерять его.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открывать панели настройки — один кадр шире, чтобы увидеть, откуда эти три узла вообще берутся на холсте.</a:t>
            </a:r>
          </a:p>
          <a:p/>
          <a:p>
            <a:r>
              <a:t>Это настоящий канвас живого стенда, тот же воркфлоу, что и на следующем экране, только в кадре чуть больше контекста. Слева — </a:t>
            </a:r>
            <a:r>
              <a:rPr>
                <a:latin typeface="Consolas"/>
              </a:rPr>
              <a:t>Write row</a:t>
            </a:r>
            <a:r>
              <a:t>: узел, который записывает заявку в таблицу, и </a:t>
            </a:r>
            <a:r>
              <a:rPr>
                <a:latin typeface="Consolas"/>
              </a:rPr>
              <a:t>Result screen</a:t>
            </a:r>
            <a:r>
              <a:t> — экран, которым обычная форма заканчивается. Это тот же самый путь приёма заявки, что мы уже видели на холсте Кейса 1: форма, извлечение полей, проверка по словарю тем, запись строки. Здесь он не повторяется заново — он просто виден слева, за кадром, потому что эта часть процесса не изменилась.</a:t>
            </a:r>
          </a:p>
          <a:p/>
          <a:p>
            <a:r>
              <a:t>А вот то, что изменилось, видно на самой стрелке. От той же точки, сразу после </a:t>
            </a:r>
            <a:r>
              <a:rPr>
                <a:latin typeface="Consolas"/>
              </a:rPr>
              <a:t>Write row</a:t>
            </a:r>
            <a:r>
              <a:t>, уходит вторая стрелка — вверх, к узлу </a:t>
            </a:r>
            <a:r>
              <a:rPr>
                <a:latin typeface="Consolas"/>
              </a:rPr>
              <a:t>Compose notification (template)</a:t>
            </a:r>
            <a:r>
              <a:t>. Раньше, в Кейсе 1, из этой точки получатель видел только текстовое сообщение. Теперь к тому же месту процесса пристроена новая ветка: </a:t>
            </a:r>
            <a:r>
              <a:rPr>
                <a:latin typeface="Consolas"/>
              </a:rPr>
              <a:t>Compose notification (template)</a:t>
            </a:r>
            <a:r>
              <a:t> → </a:t>
            </a:r>
            <a:r>
              <a:rPr>
                <a:latin typeface="Consolas"/>
              </a:rPr>
              <a:t>Fetch card image (HTTP)</a:t>
            </a:r>
            <a:r>
              <a:t> → </a:t>
            </a:r>
            <a:r>
              <a:rPr>
                <a:latin typeface="Consolas"/>
              </a:rPr>
              <a:t>Send card (Telegram photo)</a:t>
            </a:r>
            <a:r>
              <a:t> — три узла, которые мы разберём по одному на следующих экранах. Это и есть честный ответ на вопрос «где в реальном процессе появляется кейс 4» — не рядом, не вместо, а веткой из уже существующей точки.</a:t>
            </a:r>
          </a:p>
          <a:p/>
          <a:p>
            <a:r>
              <a:t>Специально оставлено честно за кадром: правее по той же обвязке есть ещё одна ветка, на случай если модель не смогла разобрать заявку — тоже настоящая, тоже часть этого воркфлоу, но она про приём заявки, а не про сборку и отправку карточки, и сегодня не в фокусе. Мы не делаем вид, что канвас заканчивается ровно там, где заканчивается этот кадр, — он продолжается, просто не в эту сторону разбора.</a:t>
            </a:r>
          </a:p>
          <a:p/>
          <a:p>
            <a:r>
              <a:t>Теперь, когда видно, откуда растут эти три узла, — зум ближе: та же цепочка, но с настоящей проверкой границы размера, которая и привела нас в этот кейс.</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конкретными тремя узлами, плюс настоящая проверка той самой границы, о которой говорил первый слой.</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Второй узел забирает картинку по ссылке; важная деталь настройки — формат ответа указан как файл, а не как текст или JSON: с этого момента содержимое узла — бинарные данные. Третий узел — отправка в Telegram в режиме отправки фото, на входе у него бинарные данные картинки и подпись — текст из первого узла. Обратите внимание, чего в этой цепочке нет: ни на одном из трёх шагов не появляется модель, и отдельного узла проверки размера или формата здесь тоже нет — правило первого слоя живёт пока на уровне архитектуры, не внутри конкретного узла, и это честно показано, а не замаскировано.</a:t>
            </a:r>
          </a:p>
          <a:p/>
          <a:p>
            <a:r>
              <a:t>Поэтому границу проверили настоящим вызовом, а не предположением. Ограничение самого n8n по умолчанию — 16 МБ на бинарные данные. Ограничение Telegram на фото — отдельное и более узкое: 10 485 760 байт, то есть 10 МБ. 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размер и прямо называет предел — не тишина, а явная, читаемая ошибка. И это уточняет то, что мы видели в сцене кейса: там карточка пропадала тихо — потому что проблема на границе n8n чаще выглядит именно так, а сам Telegram на своей границе отвечает иначе, явным текстом. Проверка размера внутри цепочки не может полагаться на то, что хоть одна из двух сторон обязательно сообщит об ошибке 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эти три узла выглядят на самом деле, если открыть панель настройки каждого на живом стенде, — не пересказ словами, а то, что видно на экране.</a:t>
            </a:r>
          </a:p>
          <a:p/>
          <a:p>
            <a:r>
              <a:t>Левая панель — узел </a:t>
            </a:r>
            <a:r>
              <a:rPr>
                <a:latin typeface="Consolas"/>
              </a:rPr>
              <a:t>Compose notification (template)</a:t>
            </a:r>
            <a:r>
              <a:t>, первый шаг цепочки. На прошлом экране прозвучало, что он собирает текст тем же приёмом подстановки значений, что мы настраивали в кейсе «Уведомления» — и здесь это не нужно принимать на слово: вот сама панель, и в поле </a:t>
            </a:r>
            <a:r>
              <a:rPr>
                <a:latin typeface="Consolas"/>
              </a:rPr>
              <a:t>notification_text</a:t>
            </a:r>
            <a:r>
              <a:t> стоит ровно то же выражение, что уже было на экране в Кейсе 1. Разбирать его заново смысла нет — это уже сделано там, — но увидеть, что это буквально тот же узел, а не переписанный с нуля под новую задачу, стоило показать прямо здесь.</a:t>
            </a:r>
          </a:p>
          <a:p/>
          <a:p>
            <a:r>
              <a:t>Средняя панель — узел </a:t>
            </a:r>
            <a:r>
              <a:rPr>
                <a:latin typeface="Consolas"/>
              </a:rPr>
              <a:t>Fetch card image (HTTP)</a:t>
            </a:r>
            <a:r>
              <a:t>. Метод запроса — GET, и URL виден буквально: </a:t>
            </a:r>
            <a:r>
              <a:rPr>
                <a:latin typeface="Consolas"/>
              </a:rPr>
              <a:t>picsum.photos/800/450</a:t>
            </a:r>
            <a:r>
              <a:t>, настоящий публичный сервис тестовых картинок, не выдуманный для примера источник. Ниже на экране есть четыре переключателя — аутентификация, параметры запроса, заголовки, тело запроса, — и все четыре выключены, их никто не трогал; на фигуре этот кусок панели заменён прямой подписью, что именно пропущено, а не вычищен молча. А вот следующая настройка после них — важная: формат ответа указан как </a:t>
            </a:r>
            <a:r>
              <a:rPr>
                <a:latin typeface="Consolas"/>
              </a:rPr>
              <a:t>File</a:t>
            </a:r>
            <a:r>
              <a:t>, не как текст и не как JSON. Именно с этого поля содержимое узла становится бинарными данными — в этом вся разница между «скачать картинку» и «скачать текст, в котором случайно оказалась ссылка на картинку». Ниже — имя поля, в которое узел положит эти бинарные данные: </a:t>
            </a:r>
            <a:r>
              <a:rPr>
                <a:latin typeface="Consolas"/>
              </a:rPr>
              <a:t>data</a:t>
            </a:r>
            <a:r>
              <a:t>.</a:t>
            </a:r>
          </a:p>
          <a:p/>
          <a:p>
            <a:r>
              <a:t>Правая панель — узел </a:t>
            </a:r>
            <a:r>
              <a:rPr>
                <a:latin typeface="Consolas"/>
              </a:rPr>
              <a:t>Send card (Telegram photo)</a:t>
            </a:r>
            <a:r>
              <a:t>. Сверху — учётные данные Telegram-аккаунта и выбор операции: отправка фото, не текстового сообщения. Дальше — </a:t>
            </a:r>
            <a:r>
              <a:rPr>
                <a:latin typeface="Consolas"/>
              </a:rPr>
              <a:t>Chat ID</a:t>
            </a:r>
            <a:r>
              <a:t>, настоящий числовой адресат; на этом экране он замаскирован, потому что это личный идентификатор тестового Telegram-аккаунта стенда и к уроку отношения не имеет, но само поле и его роль видны честно. Ниже — переключатель </a:t>
            </a:r>
            <a:r>
              <a:rPr>
                <a:latin typeface="Consolas"/>
              </a:rPr>
              <a:t>Binary File</a:t>
            </a:r>
            <a:r>
              <a:t> включён, и имя входного поля — </a:t>
            </a:r>
            <a:r>
              <a:rPr>
                <a:latin typeface="Consolas"/>
              </a:rPr>
              <a:t>data</a:t>
            </a:r>
            <a:r>
              <a:t>, то самое имя, в которое предыдущий узел положил картинку: эти узлы соединены не только стрелкой на холсте, но и совпадающим именем поля. И в самом низу — </a:t>
            </a:r>
            <a:r>
              <a:rPr>
                <a:latin typeface="Consolas"/>
              </a:rPr>
              <a:t>Caption</a:t>
            </a:r>
            <a:r>
              <a:t>, подпись к фотографии: </a:t>
            </a:r>
            <a:r>
              <a:rPr>
                <a:latin typeface="Consolas"/>
              </a:rPr>
              <a:t>{{ $json.notification_text }}</a:t>
            </a:r>
            <a:r>
              <a:t>, то же выражение, которое собрал первый узел цепочки, разобранный ещё в Кейсе 1.</a:t>
            </a:r>
          </a:p>
          <a:p/>
          <a:p>
            <a:r>
              <a:t>Обратите внимание на панель INPUT на всех трёх скринах — там написано «No input data»: перед съёмкой экрана предыдущие узлы цепочки не прогонялись, это открытая конфигурация, а не результат прогона. Это честно показано, а не замаскировано под нечто большее, и единственное, что здесь измеряется, — настоящая панель параметров на каждой из трёх половин, не пустая левая часть.</a:t>
            </a:r>
          </a:p>
          <a:p/>
          <a:p>
            <a:r>
              <a:t>Теперь у нас есть не только путь на холсте, но и то, что реально настроено внутри каждого шага этого пути — включая первый, уже знакомый по прошлому кейсу.</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секунду на том, что мы на самом деле собрали на предыдущем экране, и сравним это с тем, что просил маркетинг в самом начале кейса.</a:t>
            </a:r>
          </a:p>
          <a:p/>
          <a:p>
            <a:r>
              <a:t>Маркетинг попросил карточку: текст поверх картинки, в одном изображении. А цепочка, которую мы настроили, делает другое — она забирает готовую картинку по ссылке и кладёт текст уведомления подписью к ней, отдельным текстовым полем сообщения Telegram. Это работает, Telegram действительно покажет текст рядом с фотографией, но текст не внутри изображения — это не то же самое, что «карточка с текстом поверх картинки», и честно об этом стоит сказать прямо, а не стереть разницу молчанием.</a:t>
            </a:r>
          </a:p>
          <a:p/>
          <a:p>
            <a:r>
              <a:t>Чтобы получить настоящую карточку — изображение, в котором текст физически встроен в пиксели, — нужен отдельный шаг, и обычный узел «забрать файл по ссылке» для этого не подходит: он умеет скачивать готовую картинку, а не рисовать на ней. Нужна специализированная генерирующая модель: на вход — текст уведомления и задача «сделай из этого текста читаемое изображение», на выход — готовый файл с текстом уже внутри.</a:t>
            </a:r>
          </a:p>
          <a:p/>
          <a:p>
            <a:r>
              <a:t>У этого шага есть цена, и не нулевая. Для ориентира взята публичная стоимость сопоставимой модели — gpt-image-1.5 от OpenAI: генерация одной картинки 1024 на 1024 точки обходится от неполного цента на низком качестве до 13 центов на высоком, в зависимости от того, какую точность и детализацию выбрать. Для короткого текстового уведомления на карточке наивысшая точность вряд ли нужна — разумный ориентир здесь порядка трёх с половиной центов за картинку, среднее качество. Это не измерение на нашем стенде — на стенде такого шага нет, — а честная оценка по чужому, но актуальному и проверяемому прайсингу.</a:t>
            </a:r>
          </a:p>
          <a:p/>
          <a:p>
            <a:r>
              <a:t>Три с половиной цента за одну карточку сами по себе ни о чём не говорят, пока не привязаны к объёму, — а сцена этого кейса частоту рассылки явно не называет. Объём не стоит выдумывать из воздуха: карточка заменяет то самое уведомление о каждой новой заявке, а этот поток нам известен из Кейса 1 — двадцать заявок в день. Если на карточки переходит весь поток, выходит около шестисот карточек в месяц и около двадцати долларов в месяц. Это иллюстративный пример расчёта, не измеренный объём: ни частота рассылки, ни полный переход на карточки в сцене явно не зафиксированы. Но с появившейся базой видно: для учебного центра это не та цена, из-за которой стоит отказываться от решения, и не ноль, который можно не считать вовсе.</a:t>
            </a:r>
          </a:p>
          <a:p/>
          <a:p>
            <a:r>
              <a:t>И последнее, что стоит сразу иметь в виду, даже не собирая этот шаг: генерирующие модели обычно отдают файл большого стандартного размера, который сжат не слишком сильно. Это значит, что готовую карточку нельзя отправлять в Telegram как есть — её нужно перекодировать в более лёгкий формат заранее, той же логикой, что мы уже видели на предыдущем экране с лимитом в 10 485 760 байт на фото. Генерация не отменяет проверку размера — она добавляет её ещё раз, на новом месте цепочки.</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про сжатие, стоит явно назвать порядок, в котором эти два шага вообще должны идти — и это не произвольный выбор.</a:t>
            </a:r>
          </a:p>
          <a:p/>
          <a:p>
            <a:r>
              <a:t>Механическая проверка идёт первой. Она дешёвая, быстрая и детерминированная: сравнила размер, формат и разрешение с условием — и либо пропустила файл дальше, либо отклонила его сразу, прежде чем он добрался до чего-то более дорогого. Модель проверки содержимого идёт второй, и только на то, что уже прошло первую проверку: запускать дорогой вызов модели на файле, который и так не пройдёт по формату, — пустая трата. Это та же экономия, которую мы видели на Кейсе 2: дешёвый механический шаг забирает на себя основную часть работы, а дорогой инструмент достаётся только тому, что действительно нуждается в его оценке.</a:t>
            </a:r>
          </a:p>
          <a:p/>
          <a:p>
            <a:r>
              <a:t>Теперь — вопрос, который владелец курса прямо попросил честно исследовать, а не предположить: имеет ли смысл сжимать картинку перед тем, как отправить её в модель-проверяющую. Ответ по общедоступным источникам, не измерение на нашем стенде: умеренное сжатие обычно выгодно и не портит точность заметно. Пример, который приводится в этих источниках: изображение 4032 на 3024 точки без сжатия обходится моделям примерно в полторы тысячи токенов обработки; то же изображение, уменьшенное до 720 на 540 при качестве JPEG 85, — примерно в 300 токенов, то есть впятеро дешевле, и для большинства задач это почти не сказывается на точности.</a:t>
            </a:r>
          </a:p>
          <a:p/>
          <a:p>
            <a:r>
              <a:t>Но есть важная оговорка, и её нельзя отбрасывать молча. Задачи, где модель должна прочитать текст на изображении — а наша карточка именно такая, на ней читаемый текст, — деградируют от сжатия заметнее прочих. Общая рекомендация — сжимать аккуратно, не опускаясь ниже примерно 1024 точек по большей стороне, если модель должна разобрать текст или цифры на карточке. Агрессивное сжатие ради лишней экономии здесь не оправдано: цена ошибки распознавания выше, чем цена лишних токенов.</a:t>
            </a:r>
          </a:p>
          <a:p/>
          <a:p>
            <a:r>
              <a:t>В таблице это разложено как три варианта действия, а не как один правильный ответ: без сжатия, умеренное сжатие и агрессивное сжатие — у каждого своя цена и свой риск, и выбор зависит от того, должна ли модель именно читать текст на карточке или достаточно оценить картинку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обобщению кейса, стоит на секунду посмотреть на то же самое с другой стороны — глазами координатора, который просто открывает Telegram.</a:t>
            </a:r>
          </a:p>
          <a:p/>
          <a:p>
            <a:r>
              <a:t>Когда файл укладывается в лимит — а мы только что измерили этот лимит настоящим вызовом API, — координатор не видит ни журнала прогона, ни узла отправки, ни числа байт. Он открывает тот же самый чат уведомлений учебного центра, где и раньше получал текстовые сообщения о новых заявках, в кейсе «Уведомления», и видит в нём фотографию с подписью: «Новая заявка от Марии: тема «курс», также упомянуто: оплата.»</a:t>
            </a:r>
          </a:p>
          <a:p/>
          <a:p>
            <a:r>
              <a:t>Эта подпись — не новый текст, придуманный специально для карточки. Это тот же самый текст, который мы уже видели в самом первом кейсе занятия, собранный той же формулой подстановки значений из полей заявки. Разница только в том, что теперь он не приходит отдельным сообщением, а идёт подписью к фотографии, вложенной в то же уведомление, — ровно то расширение, которое маркетинг попросил в сцене этого кейса.</a:t>
            </a:r>
          </a:p>
          <a:p/>
          <a:p>
            <a:r>
              <a:t>Важно, чего на этом экране нет. Нет имени узла, который собрал текст или забрал картинку по ссылке. Нет числа байт и нет слова «лимит» — координатору не нужно знать, где именно проходит граница, чтобы понять: заявка пришла. Нет журнала прогона и нет отметки, что всё «зелёное». Это та же граница, о которой курс говорит с самого начала: служебные детали живут в наших разборах и в документации производства, а на экране реального человека — только то, что ему нужно знать, чтобы понять, что происходит.</a:t>
            </a:r>
          </a:p>
          <a:p/>
          <a:p>
            <a:r>
              <a:t>И это ровно обратная сторона той сцены, с которой кейс начался. Там прогон был зелёным, а у координатора в чате было пусто — либо лежал обрезанный файл. Здесь прогон тоже зелёный, но координатор видит целую карточку, потому что на этот раз файл укладывается в измеренную границу. Разница между двумя этими состояниями не видна ни в журнале n8n, ни в ответе Telegram API сама по себе — она видна только здесь, в самом чате получателя, и только по одному признаку: дошла картинка целиком или нет.</a:t>
            </a:r>
          </a:p>
          <a:p/>
          <a:p>
            <a:r>
              <a:t>Ради этого и стоило измерять число байт настолько точно, насколько мы это сделали на предыдущих экранах: единственная причина мерить границу размера — чтобы координатор каждый раз видел именно такой чат, а не пустое место вместо карточки.</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от текстовых полей JSON, а не просто ещё одно значение в заявке. У текстового поля есть содержимое. У файла — есть содержимое, есть размер и есть формат, и именно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самой причине: формально успешный прогон ничего не говорит о том, дошёл ли результат до получателя в ожидаемом виде. Это один и тот же урок на двух разных типах данных внутри одного занятия, и это не совпадение — это одно и то же системное свойство любой цепочки: успех шага измеряет сам шаг, а не то, что произошло дальше.</a:t>
            </a:r>
          </a:p>
          <a:p/>
          <a:p>
            <a:r>
              <a:t>Теперь явная граница, за которую этот кейс сознательно не заходит. Мы ввели бинарные данные на уровне «один файл, один известный лимит, одна отправка»: получить файл, проверить его размер и формат, отправить. Хранение множества файлов, поиск среди них и обработка их содержимого моделью — векторное хранилище, поиск по изображениям, ответы на основе содержимого картинок — это задача следующего уровня, и она здесь намеренно не затронута.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Разница между двумя уровнями не в сложности инструмента, а в самом вопросе, который задаётся. Сегодня вопрос был «дойдёт ли этот конкретный файл в этом конкретном прогоне» — и ответ на него полностью известен заранее,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именно так выглядел файл в нашей сцене.</a:t>
            </a:r>
          </a:p>
          <a:p/>
          <a:p>
            <a:r>
              <a:t>Второй. Лимиты Telegram — отдельный, более узкий потолок, и они разные для фото и для документа. То, что прошло мимо лимита n8n, может всё равно не пройти мимо лимита канала доставки: это два независимых порога, не один, и проверка одного не освобождает от проверки другого.</a:t>
            </a:r>
          </a:p>
          <a:p/>
          <a:p>
            <a:r>
              <a:t>Третий. Ручной прогон с бинарными данными потребляет заметно больше памяти, чем автоматический, — это мы уже видели на текстовых данных в прошлом занятии, но на файле разница заметнее, и стоит иметь это в уме, если вы отлаживаете такой узел вживую на своём стенде.</a:t>
            </a:r>
          </a:p>
          <a:p/>
          <a:p>
            <a:r>
              <a:t>Критерий. Заботиться о бинарных данных как об отдельном контракте нужно всегда, когда в цепочке передаётся файл или изображение, а не только текстовые поля: проверка размера перед отправкой и знание лимита канала доставки — это базовый уровень, без исключений по типу задачи. А не требует этого занятия — ни в деке, ни в вашем собственном процессе дома — ничего сверх: хранение многих файлов, поиск среди них или обработка их содержимого моделью — это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заполняли её не мои слова, а экраны, которые мы только что видели.</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просто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реальном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было написано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 условие в коде — не ошибся ни разу на том же эксперименте. А дальше мы увидели ту же форму пропуска на масштабе целой компании: Zillow потеряла четверть штата и сотни миллионов долларов на том же непогейтированном пороге,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и то же: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сегодня прошла не по одному узлу, а по каждому шагу цепочки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уже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 замена того,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дёшево и мгновенно отсекает буквальные повторы, а на то, что осталось, —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доверяет тому,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было плотнее прошлого: не проверяйте все четыре решения за один вечер. Возьмите одно, то, что ближе к вашей собственной работе, и доведите его до состояния, когда вы можете объяснить коллеге, почему оно устроено именно так, —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но путь для любой заявки был один и тот же: она проходила по одной и той же последовательности шагов, независимо от того, про что она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у нас уже выделена отдельным полем ещё с прошлого занятия, и как только она выделена, видно, что заявка про оплату и заявка про перенос занятия должны идти дальше по-разному: одна — к бухгалтеру, другая — в расписание. Одной и той же дорогой это не делается.</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 у инструмента на этот случай есть ответ по умолчанию, и он не всегда тот, что вы ожидаете. И одна вещь, которую я скажу заранее, чтобы вы не поверили в обратное сами: ветки, которые на холсте выглядят параллельными, на самом деле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pic>
        <p:nvPicPr>
          <p:cNvPr id="3" name="Picture 2" descr="shov-s7-obzor-klassifikatsii.png"/>
          <p:cNvPicPr>
            <a:picLocks noChangeAspect="1"/>
          </p:cNvPicPr>
          <p:nvPr/>
        </p:nvPicPr>
        <p:blipFill>
          <a:blip r:embed="rId2"/>
          <a:stretch>
            <a:fillRect/>
          </a:stretch>
        </p:blipFill>
        <p:spPr>
          <a:xfrm>
            <a:off x="928602" y="1051560"/>
            <a:ext cx="10331747"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настоящий холст n8n, а не схема. У нас есть процесс по классификации входящих обращений — шесть узлов, тот же порядок, те же имена, что и в конце прошлого занятия.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502920" y="1129680"/>
            <a:ext cx="11183112" cy="3541318"/>
          </a:xfrm>
          <a:prstGeom prst="rect">
            <a:avLst/>
          </a:prstGeom>
        </p:spPr>
      </p:pic>
      <p:sp>
        <p:nvSpPr>
          <p:cNvPr id="4" name="Rounded Rectangle 3"/>
          <p:cNvSpPr/>
          <p:nvPr/>
        </p:nvSpPr>
        <p:spPr>
          <a:xfrm>
            <a:off x="502920" y="53014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294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Золотая полоса стоит там же, где и в прошлый раз. Сегодняшние четыре кейса — не подъём выше, а то, что происходит внутри одной и той же ступени, когда к цепочке добавляют новые шаги.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закроется не вся разом в конце, а по одной строке — сразу после того кейса, который её закрывает. И каждый раз не моим рассказом, а тем, что мы увидим на экране.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«Пришлите мне в Telegram одну строку: кто написал и про что — чтобы не лезть в таблицу на каждую заявку.»</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Экран результата и многотемная заявка</a:t>
            </a:r>
          </a:p>
        </p:txBody>
      </p:sp>
      <p:sp>
        <p:nvSpPr>
          <p:cNvPr id="3" name="Rounded Rectangle 2"/>
          <p:cNvSpPr/>
          <p:nvPr/>
        </p:nvSpPr>
        <p:spPr>
          <a:xfrm>
            <a:off x="502920" y="943356"/>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тот же процесс, что заработал на прошлом занятии: форма → извлечение полей → запись в таблицу с темой, дополнительными темами и срочностью → экран результата. Дальше с этим экраном работает Ольга, администратор — двадцать заявок в день, и большую часть она разбирает по экрану результата спокойно: тема и срочность уже там, кому передать — понятно сразу.</a:t>
            </a:r>
          </a:p>
        </p:txBody>
      </p:sp>
      <p:sp>
        <p:nvSpPr>
          <p:cNvPr id="5" name="Rounded Rectangle 4"/>
          <p:cNvSpPr/>
          <p:nvPr/>
        </p:nvSpPr>
        <p:spPr>
          <a:xfrm>
            <a:off x="502920" y="190195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2140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12140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Раз в несколько заявок текст короче обычного не получается: человек упомянул не только основной вопрос, а что-то ещё — спросил про оплату, попросил перенести занятие, уточнил расписание. Поле «дополнительные темы» в таблице это ловит и честно записывает.</a:t>
            </a:r>
          </a:p>
        </p:txBody>
      </p:sp>
      <p:sp>
        <p:nvSpPr>
          <p:cNvPr id="8" name="TextBox 7"/>
          <p:cNvSpPr txBox="1"/>
          <p:nvPr/>
        </p:nvSpPr>
        <p:spPr>
          <a:xfrm>
            <a:off x="722376" y="257911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57911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Экран результата Ольга открывает не на каждую заявку сразу — за день их двадцать, и открывать каждую по готовности было бы ровно той же работой руками, которую процесс должен был снять. Она проверяет пачками, несколько раз за смену.</a:t>
            </a:r>
          </a:p>
        </p:txBody>
      </p:sp>
      <p:sp>
        <p:nvSpPr>
          <p:cNvPr id="10" name="TextBox 9"/>
          <p:cNvSpPr txBox="1"/>
          <p:nvPr/>
        </p:nvSpPr>
        <p:spPr>
          <a:xfrm>
            <a:off x="722376" y="303682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03682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Если многотемная заявка пришла между проверками, она лежит в таблице с правильными полями — и ничем не выделяется среди обычных заявок, пока Ольга не откроет экран сама и не прочитает именно эту строку.</a:t>
            </a:r>
          </a:p>
        </p:txBody>
      </p:sp>
      <p:sp>
        <p:nvSpPr>
          <p:cNvPr id="12" name="TextBox 11"/>
          <p:cNvSpPr txBox="1"/>
          <p:nvPr/>
        </p:nvSpPr>
        <p:spPr>
          <a:xfrm>
            <a:off x="722376" y="349453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49453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 вечеру, если день был плотным, она честно признаёт: часть многотемных заявок она заметила не в момент прихода, а при следующей пачке проверки — иногда через несколько часов.</a:t>
            </a:r>
          </a:p>
        </p:txBody>
      </p:sp>
      <p:sp>
        <p:nvSpPr>
          <p:cNvPr id="14" name="Rounded Rectangle 13"/>
          <p:cNvSpPr/>
          <p:nvPr/>
        </p:nvSpPr>
        <p:spPr>
          <a:xfrm>
            <a:off x="502920" y="4336288"/>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64304"/>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 за задержку.</a:t>
            </a:r>
            <a:r>
              <a:rPr sz="1300" b="1" i="0">
                <a:solidFill>
                  <a:srgbClr val="141B2E"/>
                </a:solidFill>
                <a:latin typeface="Arial"/>
              </a:rPr>
              <a:t> Многотемная заявка почти всегда срочнее обычной: человек не просто спрашивает про курс, он ещё и хочет перенести оплаченное занятие на сегодня или уточнить то, что должно случиться до конца дня. Пачка проверки раз в несколько часов превращает именно эту срочность в обычную очередь.</a:t>
            </a:r>
          </a:p>
        </p:txBody>
      </p:sp>
      <p:sp>
        <p:nvSpPr>
          <p:cNvPr id="16" name="Rounded Rectangle 15"/>
          <p:cNvSpPr/>
          <p:nvPr/>
        </p:nvSpPr>
        <p:spPr>
          <a:xfrm>
            <a:off x="502920" y="5389372"/>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517388"/>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Ольга формулирует желание предельно конкретно: «Пришлите мне в Telegram одну строку на каждую такую заявку — кто написал, по какой теме и что ещё упомянул, — чтобы не идти проверять экран результата из-за одной многотемной заявки среди двадцати обычных.»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трёх значений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текст уведомления из этих трёх значений?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пишет весь текст уведомления целиком, свободно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заполняем готовую форму сообщения алгоритмом целиком — только подстановка значений</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что можно закрыть алгоритмом, закрываем им; то, что требует интерпретации текста заявки, на то отдельно зовём модель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берём алгоритмически собранный текст как основу и добавляем к нему одну фразу тона от модели поверх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408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72960" y="1150924"/>
            <a:ext cx="283799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157255" y="1150924"/>
            <a:ext cx="23181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621722" y="1150924"/>
            <a:ext cx="37351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пишет весь текст целиком</a:t>
            </a:r>
          </a:p>
        </p:txBody>
      </p:sp>
      <p:sp>
        <p:nvSpPr>
          <p:cNvPr id="9" name="TextBox 8"/>
          <p:cNvSpPr txBox="1"/>
          <p:nvPr/>
        </p:nvSpPr>
        <p:spPr>
          <a:xfrm>
            <a:off x="2172960" y="1432991"/>
            <a:ext cx="28379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получает три уже извлечённых значения и сочиняет текст уведомления свободно, без заданной формы</a:t>
            </a:r>
          </a:p>
        </p:txBody>
      </p:sp>
      <p:sp>
        <p:nvSpPr>
          <p:cNvPr id="10" name="TextBox 9"/>
          <p:cNvSpPr txBox="1"/>
          <p:nvPr/>
        </p:nvSpPr>
        <p:spPr>
          <a:xfrm>
            <a:off x="5157255" y="1432991"/>
            <a:ext cx="231816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звучит живо, не казённой фразой — умеет писать по-человечески</a:t>
            </a:r>
          </a:p>
        </p:txBody>
      </p:sp>
      <p:sp>
        <p:nvSpPr>
          <p:cNvPr id="11" name="TextBox 10"/>
          <p:cNvSpPr txBox="1"/>
          <p:nvPr/>
        </p:nvSpPr>
        <p:spPr>
          <a:xfrm>
            <a:off x="7621722" y="1432991"/>
            <a:ext cx="373512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значения уже извлечены — интерпретировать нечего; текст собирается заново на каждом прогоне, с риском вписать деталь, которой в заявке не было</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заполняет форму целиком</a:t>
            </a:r>
          </a:p>
        </p:txBody>
      </p:sp>
      <p:sp>
        <p:nvSpPr>
          <p:cNvPr id="14" name="TextBox 13"/>
          <p:cNvSpPr txBox="1"/>
          <p:nvPr/>
        </p:nvSpPr>
        <p:spPr>
          <a:xfrm>
            <a:off x="2172960" y="2510396"/>
            <a:ext cx="283799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подставляет три уже структурированных значения в один раз заданный шаблон текста, без обращения к модели</a:t>
            </a:r>
          </a:p>
        </p:txBody>
      </p:sp>
      <p:sp>
        <p:nvSpPr>
          <p:cNvPr id="15" name="TextBox 14"/>
          <p:cNvSpPr txBox="1"/>
          <p:nvPr/>
        </p:nvSpPr>
        <p:spPr>
          <a:xfrm>
            <a:off x="5157255" y="2510396"/>
            <a:ext cx="231816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результат детерминированный: совпадает с заданным примером текста на любой заявке, не только на удачной</a:t>
            </a:r>
          </a:p>
        </p:txBody>
      </p:sp>
      <p:sp>
        <p:nvSpPr>
          <p:cNvPr id="16" name="TextBox 15"/>
          <p:cNvSpPr txBox="1"/>
          <p:nvPr/>
        </p:nvSpPr>
        <p:spPr>
          <a:xfrm>
            <a:off x="7621722" y="2510396"/>
            <a:ext cx="373512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пространства для вариативности: если форма сообщения когда-нибудь должна будет меняться по смыслу, а не только по значениям, выражение придётся переписывать руками</a:t>
            </a:r>
          </a:p>
        </p:txBody>
      </p:sp>
      <p:cxnSp>
        <p:nvCxnSpPr>
          <p:cNvPr id="17" name="Connector 16"/>
          <p:cNvCxnSpPr/>
          <p:nvPr/>
        </p:nvCxnSpPr>
        <p:spPr>
          <a:xfrm>
            <a:off x="685800" y="37703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70363"/>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модель на то, что требует интерпретации</a:t>
            </a:r>
          </a:p>
        </p:txBody>
      </p:sp>
      <p:sp>
        <p:nvSpPr>
          <p:cNvPr id="19" name="TextBox 18"/>
          <p:cNvSpPr txBox="1"/>
          <p:nvPr/>
        </p:nvSpPr>
        <p:spPr>
          <a:xfrm>
            <a:off x="2172960" y="3770363"/>
            <a:ext cx="283799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структурированные значения подставляются алгоритмом; то, что осталось неструктурированным и требует интерпретации текста заявки, отдельно передаётся модели</a:t>
            </a:r>
          </a:p>
        </p:txBody>
      </p:sp>
      <p:sp>
        <p:nvSpPr>
          <p:cNvPr id="20" name="TextBox 19"/>
          <p:cNvSpPr txBox="1"/>
          <p:nvPr/>
        </p:nvSpPr>
        <p:spPr>
          <a:xfrm>
            <a:off x="5157255" y="3770363"/>
            <a:ext cx="231816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работало бы честно при реальном смешанном случае — когда хотя бы одно значение правда требует интерпретации, а не просто известно</a:t>
            </a:r>
          </a:p>
        </p:txBody>
      </p:sp>
      <p:sp>
        <p:nvSpPr>
          <p:cNvPr id="21" name="TextBox 20"/>
          <p:cNvSpPr txBox="1"/>
          <p:nvPr/>
        </p:nvSpPr>
        <p:spPr>
          <a:xfrm>
            <a:off x="7621722" y="3770363"/>
            <a:ext cx="373512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для этой конкретной потребности интерпретировать нечего: все три значения, включая срочность, уже извлечены структурно на прошлом занятии — модели здесь просто не находится работы</a:t>
            </a:r>
          </a:p>
        </p:txBody>
      </p:sp>
      <p:cxnSp>
        <p:nvCxnSpPr>
          <p:cNvPr id="22" name="Connector 21"/>
          <p:cNvCxnSpPr/>
          <p:nvPr/>
        </p:nvCxnSpPr>
        <p:spPr>
          <a:xfrm>
            <a:off x="685800" y="50303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030330"/>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тон модели поверх</a:t>
            </a:r>
          </a:p>
        </p:txBody>
      </p:sp>
      <p:sp>
        <p:nvSpPr>
          <p:cNvPr id="24" name="TextBox 23"/>
          <p:cNvSpPr txBox="1"/>
          <p:nvPr/>
        </p:nvSpPr>
        <p:spPr>
          <a:xfrm>
            <a:off x="2172960" y="5030330"/>
            <a:ext cx="28379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алгоритмический костяк текста собирается подстановкой значений, модель добавляет сверху одну короткую фразу тона или комментария</a:t>
            </a:r>
          </a:p>
        </p:txBody>
      </p:sp>
      <p:sp>
        <p:nvSpPr>
          <p:cNvPr id="25" name="TextBox 24"/>
          <p:cNvSpPr txBox="1"/>
          <p:nvPr/>
        </p:nvSpPr>
        <p:spPr>
          <a:xfrm>
            <a:off x="5157255" y="5030330"/>
            <a:ext cx="231816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масштаб свободы меньше, чем у первого действия — риск и цена вызова модели пропорционально ниже</a:t>
            </a:r>
          </a:p>
        </p:txBody>
      </p:sp>
      <p:sp>
        <p:nvSpPr>
          <p:cNvPr id="26" name="TextBox 25"/>
          <p:cNvSpPr txBox="1"/>
          <p:nvPr/>
        </p:nvSpPr>
        <p:spPr>
          <a:xfrm>
            <a:off x="7621722" y="5030330"/>
            <a:ext cx="373512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риск той же природы, что у первого действия, просто меньшего размера: модель всё равно генерирует текст и может вписать в него деталь, которой не было</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шаг-модель сочиняет текст</a:t>
            </a:r>
          </a:p>
        </p:txBody>
      </p:sp>
      <p:pic>
        <p:nvPicPr>
          <p:cNvPr id="3" name="Picture 2" descr="k1-shema-s-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блока: форма → извлечение полей → </a:t>
            </a:r>
            <a:r>
              <a:rPr sz="1500" b="1" i="0">
                <a:solidFill>
                  <a:srgbClr val="141B2E"/>
                </a:solidFill>
                <a:latin typeface="Arial"/>
              </a:rPr>
              <a:t>шаг, вызывающий модель на каждый прогон</a:t>
            </a:r>
            <a:r>
              <a:rPr sz="1500" b="1" i="0">
                <a:solidFill>
                  <a:srgbClr val="141B2E"/>
                </a:solidFill>
                <a:latin typeface="Arial"/>
              </a:rPr>
              <a:t> → Telegram. Решение о форме текста принимается заново при каждой заявке.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шаг-шаблон подставляет значения</a:t>
            </a:r>
          </a:p>
        </p:txBody>
      </p:sp>
      <p:pic>
        <p:nvPicPr>
          <p:cNvPr id="3" name="Picture 2" descr="k1-shema-bez-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цепочка: форма → извлечение полей → </a:t>
            </a:r>
            <a:r>
              <a:rPr sz="1500" b="1" i="0">
                <a:solidFill>
                  <a:srgbClr val="141B2E"/>
                </a:solidFill>
                <a:latin typeface="Arial"/>
              </a:rPr>
              <a:t>подстановка значений в фиксированную форму</a:t>
            </a:r>
            <a:r>
              <a:rPr sz="1500" b="1" i="0">
                <a:solidFill>
                  <a:srgbClr val="141B2E"/>
                </a:solidFill>
                <a:latin typeface="Arial"/>
              </a:rPr>
              <a:t> → Telegram. Решение о форме текста принято один раз, заранее, а не на каждом прогоне.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Весь путь на стенде: версия с моделью</a:t>
            </a:r>
          </a:p>
        </p:txBody>
      </p:sp>
      <p:pic>
        <p:nvPicPr>
          <p:cNvPr id="3" name="Picture 2" descr="k1-n8n-versiya1-real.png"/>
          <p:cNvPicPr>
            <a:picLocks noChangeAspect="1"/>
          </p:cNvPicPr>
          <p:nvPr/>
        </p:nvPicPr>
        <p:blipFill>
          <a:blip r:embed="rId2"/>
          <a:stretch>
            <a:fillRect/>
          </a:stretch>
        </p:blipFill>
        <p:spPr>
          <a:xfrm>
            <a:off x="502920" y="1158806"/>
            <a:ext cx="11183112" cy="3195174"/>
          </a:xfrm>
          <a:prstGeom prst="rect">
            <a:avLst/>
          </a:prstGeom>
        </p:spPr>
      </p:pic>
      <p:sp>
        <p:nvSpPr>
          <p:cNvPr id="4" name="Rounded Rectangle 3"/>
          <p:cNvSpPr/>
          <p:nvPr/>
        </p:nvSpPr>
        <p:spPr>
          <a:xfrm>
            <a:off x="502920" y="502149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4950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 заявки → извлечение полей (вызывает модель) → проверка по словарю тем → запись строки → </a:t>
            </a:r>
            <a:r>
              <a:rPr sz="1500" b="1" i="0">
                <a:solidFill>
                  <a:srgbClr val="141B2E"/>
                </a:solidFill>
                <a:latin typeface="Arial"/>
              </a:rPr>
              <a:t>«Compose notification…»</a:t>
            </a:r>
            <a:r>
              <a:rPr sz="1500" b="1" i="0">
                <a:solidFill>
                  <a:srgbClr val="141B2E"/>
                </a:solidFill>
                <a:latin typeface="Arial"/>
              </a:rPr>
              <a:t> (вызывает модель второй раз, подпись обрывается многоточием — так ведёт себя интерфейс n8n при узкой карточке) → отправка координатору в Telegram.</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промпт версии с моделью</a:t>
            </a:r>
          </a:p>
        </p:txBody>
      </p:sp>
      <p:pic>
        <p:nvPicPr>
          <p:cNvPr id="3" name="Picture 2" descr="k1-n8n-versiya1-nastroyka-llm.png"/>
          <p:cNvPicPr>
            <a:picLocks noChangeAspect="1"/>
          </p:cNvPicPr>
          <p:nvPr/>
        </p:nvPicPr>
        <p:blipFill>
          <a:blip r:embed="rId2"/>
          <a:stretch>
            <a:fillRect/>
          </a:stretch>
        </p:blipFill>
        <p:spPr>
          <a:xfrm>
            <a:off x="1473044" y="943356"/>
            <a:ext cx="9242863" cy="3235002"/>
          </a:xfrm>
          <a:prstGeom prst="rect">
            <a:avLst/>
          </a:prstGeom>
        </p:spPr>
      </p:pic>
      <p:sp>
        <p:nvSpPr>
          <p:cNvPr id="4" name="Rounded Rectangle 3"/>
          <p:cNvSpPr/>
          <p:nvPr/>
        </p:nvSpPr>
        <p:spPr>
          <a:xfrm>
            <a:off x="502920" y="4342950"/>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0966"/>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«Compose notification (LLM)», вкладка Parameters.</a:t>
            </a:r>
            <a:r>
              <a:rPr sz="1250" b="1" i="0">
                <a:solidFill>
                  <a:srgbClr val="141B2E"/>
                </a:solidFill>
                <a:latin typeface="Arial"/>
              </a:rPr>
              <a:t> Поле </a:t>
            </a:r>
            <a:r>
              <a:rPr sz="1250" b="1" i="0">
                <a:solidFill>
                  <a:srgbClr val="141B2E"/>
                </a:solidFill>
                <a:latin typeface="Arial"/>
              </a:rPr>
              <a:t>Prompt (User Message)</a:t>
            </a:r>
            <a:r>
              <a:rPr sz="1250" b="1" i="0">
                <a:solidFill>
                  <a:srgbClr val="141B2E"/>
                </a:solidFill>
                <a:latin typeface="Arial"/>
              </a:rPr>
              <a:t>: «Напиши короткое дружелюбное уведомление координатору учебного центра в Telegram о новой многотемной заявке. Имя заявителя: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form').item.json['Имя']</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Основная тема: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check').item.json.topic</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Также в заявке упомянуто: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check').item.json.extra_topics</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Пиши по-человечески, одно-два предложения.»</a:t>
            </a:r>
          </a:p>
        </p:txBody>
      </p:sp>
      <p:sp>
        <p:nvSpPr>
          <p:cNvPr id="6" name="Rounded Rectangle 5"/>
          <p:cNvSpPr/>
          <p:nvPr/>
        </p:nvSpPr>
        <p:spPr>
          <a:xfrm>
            <a:off x="502920" y="5569262"/>
            <a:ext cx="82296" cy="61719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97278"/>
            <a:ext cx="10643616" cy="36116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Переключатели </a:t>
            </a:r>
            <a:r>
              <a:rPr sz="1100" b="1" i="0">
                <a:solidFill>
                  <a:srgbClr val="141B2E"/>
                </a:solidFill>
                <a:latin typeface="Arial"/>
              </a:rPr>
              <a:t>Require Specific Output Format</a:t>
            </a:r>
            <a:r>
              <a:rPr sz="1100" b="1" i="0">
                <a:solidFill>
                  <a:srgbClr val="141B2E"/>
                </a:solidFill>
                <a:latin typeface="Arial"/>
              </a:rPr>
              <a:t> и </a:t>
            </a:r>
            <a:r>
              <a:rPr sz="1100" b="1" i="0">
                <a:solidFill>
                  <a:srgbClr val="141B2E"/>
                </a:solidFill>
                <a:latin typeface="Arial"/>
              </a:rPr>
              <a:t>Enable Fallback Model</a:t>
            </a:r>
            <a:r>
              <a:rPr sz="1100" b="1" i="0">
                <a:solidFill>
                  <a:srgbClr val="141B2E"/>
                </a:solidFill>
                <a:latin typeface="Arial"/>
              </a:rPr>
              <a:t> — оба выключены: никакой заданной структуры ответа, никакой резервной модели на случай сбоя.</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сообщение выглядит у Ольги в телефоне</a:t>
            </a:r>
          </a:p>
        </p:txBody>
      </p:sp>
      <p:sp>
        <p:nvSpPr>
          <p:cNvPr id="3" name="Rounded Rectangle 2"/>
          <p:cNvSpPr/>
          <p:nvPr/>
        </p:nvSpPr>
        <p:spPr>
          <a:xfrm>
            <a:off x="502920" y="2107692"/>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235708"/>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Новая заявка от Марии: тема «курс», также упомянуто: оплата.</a:t>
            </a:r>
          </a:p>
        </p:txBody>
      </p:sp>
      <p:sp>
        <p:nvSpPr>
          <p:cNvPr id="5" name="Rounded Rectangle 4"/>
          <p:cNvSpPr/>
          <p:nvPr/>
        </p:nvSpPr>
        <p:spPr>
          <a:xfrm>
            <a:off x="502920" y="38343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6239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Ровно то, что Ольга описала в прошлой сцене, слово в слово: кто написал, по какой теме и что упомянул ещё — одна строка, без необходимости открывать экран результата.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реально получилось на двух прогонах</a:t>
            </a:r>
          </a:p>
        </p:txBody>
      </p:sp>
      <p:sp>
        <p:nvSpPr>
          <p:cNvPr id="3" name="Rounded Rectangle 2"/>
          <p:cNvSpPr/>
          <p:nvPr/>
        </p:nvSpPr>
        <p:spPr>
          <a:xfrm>
            <a:off x="502920" y="1461871"/>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4751"/>
            <a:ext cx="22883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ТЕКСТ ЗАЯВКИ</a:t>
            </a:r>
          </a:p>
        </p:txBody>
      </p:sp>
      <p:sp>
        <p:nvSpPr>
          <p:cNvPr id="5" name="TextBox 4"/>
          <p:cNvSpPr txBox="1"/>
          <p:nvPr/>
        </p:nvSpPr>
        <p:spPr>
          <a:xfrm>
            <a:off x="3120500" y="1644751"/>
            <a:ext cx="82363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ПОЛУЧИЛОСЬ И ПОЧЕМУ</a:t>
            </a:r>
          </a:p>
        </p:txBody>
      </p:sp>
      <p:sp>
        <p:nvSpPr>
          <p:cNvPr id="6" name="TextBox 5"/>
          <p:cNvSpPr txBox="1"/>
          <p:nvPr/>
        </p:nvSpPr>
        <p:spPr>
          <a:xfrm>
            <a:off x="685800" y="1926818"/>
            <a:ext cx="228839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Мария: «хочу на курс по аналитике и ещё спросить про оплату, перезвоните сегодня»</a:t>
            </a:r>
          </a:p>
        </p:txBody>
      </p:sp>
      <p:sp>
        <p:nvSpPr>
          <p:cNvPr id="7" name="TextBox 6"/>
          <p:cNvSpPr txBox="1"/>
          <p:nvPr/>
        </p:nvSpPr>
        <p:spPr>
          <a:xfrm>
            <a:off x="3120500" y="1926818"/>
            <a:ext cx="823634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«Новая заявка от Марии: тема «курс», также упомянуто: оплата.» Текст свободный, но совпал по смыслу с целью — модели хватило инструкции и трёх значений, интерпретировать было действительно просто.</a:t>
            </a:r>
          </a:p>
        </p:txBody>
      </p:sp>
      <p:cxnSp>
        <p:nvCxnSpPr>
          <p:cNvPr id="8" name="Connector 7"/>
          <p:cNvCxnSpPr/>
          <p:nvPr/>
        </p:nvCxnSpPr>
        <p:spPr>
          <a:xfrm>
            <a:off x="685800" y="2821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21660"/>
            <a:ext cx="228839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Олег: «хочу перенести занятие на пятницу и спросить про оплату курса»</a:t>
            </a:r>
          </a:p>
        </p:txBody>
      </p:sp>
      <p:sp>
        <p:nvSpPr>
          <p:cNvPr id="10" name="TextBox 9"/>
          <p:cNvSpPr txBox="1"/>
          <p:nvPr/>
        </p:nvSpPr>
        <p:spPr>
          <a:xfrm>
            <a:off x="3120500" y="2821660"/>
            <a:ext cx="823634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«Привет, </a:t>
            </a:r>
            <a:r>
              <a:rPr sz="1250" b="1" i="0">
                <a:solidFill>
                  <a:srgbClr val="141B2E"/>
                </a:solidFill>
                <a:latin typeface="Arial"/>
              </a:rPr>
              <a:t>[Имя координатора]</a:t>
            </a:r>
            <a:r>
              <a:rPr sz="1250" b="0" i="0">
                <a:solidFill>
                  <a:srgbClr val="141B2E"/>
                </a:solidFill>
                <a:latin typeface="Arial"/>
              </a:rPr>
              <a:t>! У нас новая многотемная заявка от Олега по вопросу переноса занятия и об оплате.» Модель вписала в текст буквальный кусок собственного шаблона-инструкции — слова, адресованные ей самой, а не Ольге. Узел не упал, сообщение доставлено, статус зелёный: расхождение видно только по содержанию.</a:t>
            </a:r>
          </a:p>
        </p:txBody>
      </p:sp>
      <p:sp>
        <p:nvSpPr>
          <p:cNvPr id="11" name="Rounded Rectangle 10"/>
          <p:cNvSpPr/>
          <p:nvPr/>
        </p:nvSpPr>
        <p:spPr>
          <a:xfrm>
            <a:off x="502920" y="456689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69491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Проверка форматом этого не ловит.</a:t>
            </a:r>
            <a:r>
              <a:rPr sz="1500" b="1" i="0">
                <a:solidFill>
                  <a:srgbClr val="141B2E"/>
                </a:solidFill>
                <a:latin typeface="Arial"/>
              </a:rPr>
              <a:t> Оба прогона технически успешны: оба узла отработали, оба сообщения дошли. Единственный способ заметить разницу — прочитать сам текст, который получил живой человек.</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Весь путь на стенде: версия с шаблоном</a:t>
            </a:r>
          </a:p>
        </p:txBody>
      </p:sp>
      <p:pic>
        <p:nvPicPr>
          <p:cNvPr id="3" name="Picture 2" descr="k1-n8n-versiya2-real.png"/>
          <p:cNvPicPr>
            <a:picLocks noChangeAspect="1"/>
          </p:cNvPicPr>
          <p:nvPr/>
        </p:nvPicPr>
        <p:blipFill>
          <a:blip r:embed="rId2"/>
          <a:stretch>
            <a:fillRect/>
          </a:stretch>
        </p:blipFill>
        <p:spPr>
          <a:xfrm>
            <a:off x="502920" y="1158806"/>
            <a:ext cx="11183112" cy="3195174"/>
          </a:xfrm>
          <a:prstGeom prst="rect">
            <a:avLst/>
          </a:prstGeom>
        </p:spPr>
      </p:pic>
      <p:sp>
        <p:nvSpPr>
          <p:cNvPr id="4" name="Rounded Rectangle 3"/>
          <p:cNvSpPr/>
          <p:nvPr/>
        </p:nvSpPr>
        <p:spPr>
          <a:xfrm>
            <a:off x="502920" y="502149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4950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 заявки → извлечение полей (вызывает модель) → проверка по словарю тем → запись строки → </a:t>
            </a:r>
            <a:r>
              <a:rPr sz="1500" b="1" i="0">
                <a:solidFill>
                  <a:srgbClr val="141B2E"/>
                </a:solidFill>
                <a:latin typeface="Arial"/>
              </a:rPr>
              <a:t>«Compose notification (template)»</a:t>
            </a:r>
            <a:r>
              <a:rPr sz="1500" b="1" i="0">
                <a:solidFill>
                  <a:srgbClr val="141B2E"/>
                </a:solidFill>
                <a:latin typeface="Arial"/>
              </a:rPr>
              <a:t> (подпись читается целиком, без обращения к модели) → отправка координатору в Telegram напрямую.</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выражение версии с шаблоном</a:t>
            </a:r>
          </a:p>
        </p:txBody>
      </p:sp>
      <p:pic>
        <p:nvPicPr>
          <p:cNvPr id="3" name="Picture 2" descr="k1-n8n-versiya2-nastroyka-template.png"/>
          <p:cNvPicPr>
            <a:picLocks noChangeAspect="1"/>
          </p:cNvPicPr>
          <p:nvPr/>
        </p:nvPicPr>
        <p:blipFill>
          <a:blip r:embed="rId2"/>
          <a:stretch>
            <a:fillRect/>
          </a:stretch>
        </p:blipFill>
        <p:spPr>
          <a:xfrm>
            <a:off x="1163417" y="943356"/>
            <a:ext cx="9862117" cy="3451741"/>
          </a:xfrm>
          <a:prstGeom prst="rect">
            <a:avLst/>
          </a:prstGeom>
        </p:spPr>
      </p:pic>
      <p:sp>
        <p:nvSpPr>
          <p:cNvPr id="4" name="Rounded Rectangle 3"/>
          <p:cNvSpPr/>
          <p:nvPr/>
        </p:nvSpPr>
        <p:spPr>
          <a:xfrm>
            <a:off x="502920" y="455968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8770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«Compose notification (template)» (</a:t>
            </a:r>
            <a:r>
              <a:rPr sz="1250" b="1" i="0">
                <a:solidFill>
                  <a:srgbClr val="141B2E"/>
                </a:solidFill>
                <a:latin typeface="Consolas"/>
              </a:rPr>
              <a:t>Set</a:t>
            </a:r>
            <a:r>
              <a:rPr sz="1250" b="1" i="0">
                <a:solidFill>
                  <a:srgbClr val="141B2E"/>
                </a:solidFill>
                <a:latin typeface="Arial"/>
              </a:rPr>
              <a:t> / </a:t>
            </a:r>
            <a:r>
              <a:rPr sz="1250" b="1" i="0">
                <a:solidFill>
                  <a:srgbClr val="141B2E"/>
                </a:solidFill>
                <a:latin typeface="Consolas"/>
              </a:rPr>
              <a:t>Edit</a:t>
            </a:r>
            <a:r>
              <a:rPr sz="1250" b="1" i="0">
                <a:solidFill>
                  <a:srgbClr val="141B2E"/>
                </a:solidFill>
                <a:latin typeface="Arial"/>
              </a:rPr>
              <a:t> </a:t>
            </a:r>
            <a:r>
              <a:rPr sz="1250" b="1" i="0">
                <a:solidFill>
                  <a:srgbClr val="141B2E"/>
                </a:solidFill>
                <a:latin typeface="Consolas"/>
              </a:rPr>
              <a:t>Fields</a:t>
            </a:r>
            <a:r>
              <a:rPr sz="1250" b="1" i="0">
                <a:solidFill>
                  <a:srgbClr val="141B2E"/>
                </a:solidFill>
                <a:latin typeface="Arial"/>
              </a:rPr>
              <a:t>), Mode — Manual Mapping.</a:t>
            </a:r>
            <a:r>
              <a:rPr sz="1250" b="1" i="0">
                <a:solidFill>
                  <a:srgbClr val="141B2E"/>
                </a:solidFill>
                <a:latin typeface="Arial"/>
              </a:rPr>
              <a:t> Поле </a:t>
            </a:r>
            <a:r>
              <a:rPr sz="1250" b="1" i="0">
                <a:solidFill>
                  <a:srgbClr val="141B2E"/>
                </a:solidFill>
                <a:latin typeface="Consolas"/>
              </a:rPr>
              <a:t>notification_text</a:t>
            </a:r>
            <a:r>
              <a:rPr sz="1250" b="1" i="0">
                <a:solidFill>
                  <a:srgbClr val="141B2E"/>
                </a:solidFill>
                <a:latin typeface="Arial"/>
              </a:rPr>
              <a:t> (String): «Новая заявка от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form').item.json['Имя']</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тема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check').item.json.topic</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check').item.json.extra_topics</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также:</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check').item.json.extra_topics</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a:t>
            </a:r>
          </a:p>
        </p:txBody>
      </p:sp>
      <p:sp>
        <p:nvSpPr>
          <p:cNvPr id="6" name="Rectangle 5"/>
          <p:cNvSpPr/>
          <p:nvPr/>
        </p:nvSpPr>
        <p:spPr>
          <a:xfrm>
            <a:off x="502920" y="5625727"/>
            <a:ext cx="32004" cy="28575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5680591"/>
            <a:ext cx="10730484" cy="176022"/>
          </a:xfrm>
          <a:prstGeom prst="rect">
            <a:avLst/>
          </a:prstGeom>
          <a:noFill/>
        </p:spPr>
        <p:txBody>
          <a:bodyPr wrap="square" lIns="0" rIns="0" tIns="0" bIns="0" anchor="ctr">
            <a:spAutoFit/>
          </a:bodyPr>
          <a:lstStyle/>
          <a:p>
            <a:pPr algn="l">
              <a:lnSpc>
                <a:spcPts val="1386"/>
              </a:lnSpc>
              <a:spcAft>
                <a:spcPts val="300"/>
              </a:spcAft>
            </a:pPr>
            <a:r>
              <a:rPr sz="1100" b="0" i="1">
                <a:solidFill>
                  <a:srgbClr val="6B7685"/>
                </a:solidFill>
                <a:latin typeface="Arial"/>
              </a:rPr>
              <a:t>«Include Other Input Fields» — включено, «Input Fields to Include» — All: остальные поля заявки проходят дальше по цепочке без изменений.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 каждый текстовый вывод — это генерация</a:t>
            </a:r>
          </a:p>
        </p:txBody>
      </p:sp>
      <p:sp>
        <p:nvSpPr>
          <p:cNvPr id="3" name="Rounded Rectangle 2"/>
          <p:cNvSpPr/>
          <p:nvPr/>
        </p:nvSpPr>
        <p:spPr>
          <a:xfrm>
            <a:off x="502920" y="2557119"/>
            <a:ext cx="11183112" cy="1349882"/>
          </a:xfrm>
          <a:prstGeom prst="roundRect">
            <a:avLst>
              <a:gd name="adj" fmla="val 2257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39999"/>
            <a:ext cx="82664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ПРИНЦИП</a:t>
            </a:r>
          </a:p>
        </p:txBody>
      </p:sp>
      <p:sp>
        <p:nvSpPr>
          <p:cNvPr id="5" name="TextBox 4"/>
          <p:cNvSpPr txBox="1"/>
          <p:nvPr/>
        </p:nvSpPr>
        <p:spPr>
          <a:xfrm>
            <a:off x="1658751" y="2739999"/>
            <a:ext cx="96980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ЕСЛИ ВСЕ НУЖНЫЕ ЗНАЧЕНИЯ УЖЕ СТРУКТУРИРОВАНЫ И ФОРМА СООБЩЕНИЯ НЕ МЕНЯЕТСЯ ПО СУТИ — ЭТО ЗАДАЧА ФОРМАТИРОВАНИЯ, А НЕ ЗАДАЧА МОДЕЛИ.</a:t>
            </a:r>
          </a:p>
        </p:txBody>
      </p:sp>
      <p:sp>
        <p:nvSpPr>
          <p:cNvPr id="6" name="TextBox 5"/>
          <p:cNvSpPr txBox="1"/>
          <p:nvPr/>
        </p:nvSpPr>
        <p:spPr>
          <a:xfrm>
            <a:off x="685800" y="3194405"/>
            <a:ext cx="82664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 задачи</a:t>
            </a:r>
          </a:p>
        </p:txBody>
      </p:sp>
      <p:sp>
        <p:nvSpPr>
          <p:cNvPr id="7" name="TextBox 6"/>
          <p:cNvSpPr txBox="1"/>
          <p:nvPr/>
        </p:nvSpPr>
        <p:spPr>
          <a:xfrm>
            <a:off x="1658751" y="3194405"/>
            <a:ext cx="96980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Сборка сообщения из уже извлечённых значений по фиксированной форме.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НЮАНС</a:t>
            </a:r>
          </a:p>
        </p:txBody>
      </p:sp>
      <p:sp>
        <p:nvSpPr>
          <p:cNvPr id="5" name="TextBox 4"/>
          <p:cNvSpPr txBox="1"/>
          <p:nvPr/>
        </p:nvSpPr>
        <p:spPr>
          <a:xfrm>
            <a:off x="685800" y="1486814"/>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Лишний шаг — риск, а не только цена</a:t>
            </a:r>
          </a:p>
        </p:txBody>
      </p:sp>
      <p:cxnSp>
        <p:nvCxnSpPr>
          <p:cNvPr id="6" name="Connector 5"/>
          <p:cNvCxnSpPr/>
          <p:nvPr/>
        </p:nvCxnSpPr>
        <p:spPr>
          <a:xfrm>
            <a:off x="685800" y="180545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05457"/>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Шаблон не навсегда безопасен</a:t>
            </a:r>
          </a:p>
        </p:txBody>
      </p:sp>
      <p:sp>
        <p:nvSpPr>
          <p:cNvPr id="8" name="Rounded Rectangle 7"/>
          <p:cNvSpPr/>
          <p:nvPr/>
        </p:nvSpPr>
        <p:spPr>
          <a:xfrm>
            <a:off x="6231636"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ЧТО ЭТО ЗНАЧИТ</a:t>
            </a:r>
          </a:p>
        </p:txBody>
      </p:sp>
      <p:sp>
        <p:nvSpPr>
          <p:cNvPr id="10" name="TextBox 9"/>
          <p:cNvSpPr txBox="1"/>
          <p:nvPr/>
        </p:nvSpPr>
        <p:spPr>
          <a:xfrm>
            <a:off x="6414516" y="148681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модели — точка, где может появиться галлюцинация, даже в тривиальной задаче форматирования.</a:t>
            </a:r>
          </a:p>
        </p:txBody>
      </p:sp>
      <p:cxnSp>
        <p:nvCxnSpPr>
          <p:cNvPr id="11" name="Connector 10"/>
          <p:cNvCxnSpPr/>
          <p:nvPr/>
        </p:nvCxnSpPr>
        <p:spPr>
          <a:xfrm>
            <a:off x="6414516" y="197779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97779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форма сообщения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a:t>
            </a:r>
          </a:p>
        </p:txBody>
      </p:sp>
      <p:sp>
        <p:nvSpPr>
          <p:cNvPr id="13" name="Rounded Rectangle 12"/>
          <p:cNvSpPr/>
          <p:nvPr/>
        </p:nvSpPr>
        <p:spPr>
          <a:xfrm>
            <a:off x="502920" y="355945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68747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Модель нужна при реальной вариативности контента или когда значение требует интерпретации текста, которой не было на предыдущем шаге. Шаблон достаточен, когда форма сообщения одна и все значения уже структурированы.</a:t>
            </a:r>
          </a:p>
        </p:txBody>
      </p:sp>
      <p:sp>
        <p:nvSpPr>
          <p:cNvPr id="15" name="Rounded Rectangle 14"/>
          <p:cNvSpPr/>
          <p:nvPr/>
        </p:nvSpPr>
        <p:spPr>
          <a:xfrm>
            <a:off x="502920" y="510555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356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Первая строка оси закрыта.</a:t>
            </a:r>
            <a:r>
              <a:rPr sz="1500" b="1" i="0">
                <a:solidFill>
                  <a:srgbClr val="141B2E"/>
                </a:solidFill>
                <a:latin typeface="Arial"/>
              </a:rPr>
              <a:t> Сообщение действительно ушло координатору — а цепочка оказалась короче и дешевле без узла модели. LLM здесь был просто лишним шагом: то же самое получилось шаблоном, без его цены и риска.</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«Это ведь тот же вопрос, с которым он писал два часа назад?»</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Заявки дублируются</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утро. Ольга, администратор учебного центра, открывает таблицу заявок и видит вопрос от клиента: «когда можно оплатить занятие?» Она отвечает.</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два часа — вторая заявка от того же контакта: «как мне внести оплату за курс». По смыслу это тот же вопрос. Ольга не узнаёт перефразировку и обрабатывает её как новую: отвечает ещё раз.</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Клиент получает два разных ответа от центра с разницей в два часа — и это выглядит так, будто первый ответ потерялся.</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не редкость.</a:t>
            </a:r>
            <a:r>
              <a:rPr sz="1500" b="1" i="0">
                <a:solidFill>
                  <a:srgbClr val="141B2E"/>
                </a:solidFill>
                <a:latin typeface="Arial"/>
              </a:rPr>
              <a:t> По собственной оценке Ольги, такие повторы случаются примерно 10 раз в день: кто-то забыл, что уже спрашивал, кто-то не увидел ответа и переспросил другими словами.</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Цена ошибки не абстрактная.</a:t>
            </a:r>
            <a:r>
              <a:rPr sz="1650" b="1" i="0">
                <a:solidFill>
                  <a:srgbClr val="141B2E"/>
                </a:solidFill>
                <a:latin typeface="Arial"/>
              </a:rPr>
              <a:t> Двойная работа администратора — плюс недоверие клиента: «они не видят, что я уже спрашивал?»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2768803"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по общим словам — классический векторный подход с порогом</a:t>
            </a:r>
          </a:p>
        </p:txBody>
      </p:sp>
      <p:sp>
        <p:nvSpPr>
          <p:cNvPr id="9" name="Rounded Rectangle 8"/>
          <p:cNvSpPr/>
          <p:nvPr/>
        </p:nvSpPr>
        <p:spPr>
          <a:xfrm>
            <a:off x="5034686"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модели общего назначения, один ли это вопрос, просто сформулированный иначе</a:t>
            </a:r>
          </a:p>
        </p:txBody>
      </p:sp>
      <p:sp>
        <p:nvSpPr>
          <p:cNvPr id="11" name="Rounded Rectangle 10"/>
          <p:cNvSpPr/>
          <p:nvPr/>
        </p:nvSpPr>
        <p:spPr>
          <a:xfrm>
            <a:off x="7300569"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специализированного сервиса сравнения вопросов, а не у модели общего назначения</a:t>
            </a:r>
          </a:p>
        </p:txBody>
      </p:sp>
      <p:sp>
        <p:nvSpPr>
          <p:cNvPr id="13" name="Rounded Rectangle 12"/>
          <p:cNvSpPr/>
          <p:nvPr/>
        </p:nvSpPr>
        <p:spPr>
          <a:xfrm>
            <a:off x="9566452"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сначала проверить точное совпадение дёшево, а дальше пускать только то, что осталось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каждая схема</a:t>
            </a:r>
          </a:p>
        </p:txBody>
      </p:sp>
      <p:sp>
        <p:nvSpPr>
          <p:cNvPr id="3" name="Rounded Rectangle 2"/>
          <p:cNvSpPr/>
          <p:nvPr/>
        </p:nvSpPr>
        <p:spPr>
          <a:xfrm>
            <a:off x="502920" y="943356"/>
            <a:ext cx="11183112" cy="2107691"/>
          </a:xfrm>
          <a:prstGeom prst="roundRect">
            <a:avLst>
              <a:gd name="adj" fmla="val 144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120650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СХЕМА</a:t>
            </a:r>
          </a:p>
        </p:txBody>
      </p:sp>
      <p:sp>
        <p:nvSpPr>
          <p:cNvPr id="5" name="TextBox 4"/>
          <p:cNvSpPr txBox="1"/>
          <p:nvPr/>
        </p:nvSpPr>
        <p:spPr>
          <a:xfrm>
            <a:off x="1983741" y="1071372"/>
            <a:ext cx="61859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ВЕРНО ИЗ 20</a:t>
            </a:r>
          </a:p>
        </p:txBody>
      </p:sp>
      <p:sp>
        <p:nvSpPr>
          <p:cNvPr id="6" name="TextBox 5"/>
          <p:cNvSpPr txBox="1"/>
          <p:nvPr/>
        </p:nvSpPr>
        <p:spPr>
          <a:xfrm>
            <a:off x="2748636" y="1071372"/>
            <a:ext cx="1375132"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ПОЙМАЛА</a:t>
            </a:r>
          </a:p>
        </p:txBody>
      </p:sp>
      <p:sp>
        <p:nvSpPr>
          <p:cNvPr id="7" name="TextBox 6"/>
          <p:cNvSpPr txBox="1"/>
          <p:nvPr/>
        </p:nvSpPr>
        <p:spPr>
          <a:xfrm>
            <a:off x="4270073" y="1071372"/>
            <a:ext cx="3351535"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ПРОПУСТИЛА / ГДЕ ОШИБЛАСЬ</a:t>
            </a:r>
          </a:p>
        </p:txBody>
      </p:sp>
      <p:sp>
        <p:nvSpPr>
          <p:cNvPr id="8" name="TextBox 7"/>
          <p:cNvSpPr txBox="1"/>
          <p:nvPr/>
        </p:nvSpPr>
        <p:spPr>
          <a:xfrm>
            <a:off x="7767913" y="1071372"/>
            <a:ext cx="3643798"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СТОИМОСТЬ И СКОРОСТЬ</a:t>
            </a:r>
          </a:p>
        </p:txBody>
      </p:sp>
      <p:sp>
        <p:nvSpPr>
          <p:cNvPr id="9" name="TextBox 8"/>
          <p:cNvSpPr txBox="1"/>
          <p:nvPr/>
        </p:nvSpPr>
        <p:spPr>
          <a:xfrm>
            <a:off x="630936" y="1450848"/>
            <a:ext cx="120650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Хэш (точное совпадение)</a:t>
            </a:r>
          </a:p>
        </p:txBody>
      </p:sp>
      <p:sp>
        <p:nvSpPr>
          <p:cNvPr id="10" name="TextBox 9"/>
          <p:cNvSpPr txBox="1"/>
          <p:nvPr/>
        </p:nvSpPr>
        <p:spPr>
          <a:xfrm>
            <a:off x="1983741" y="1450848"/>
            <a:ext cx="61859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15/20</a:t>
            </a:r>
          </a:p>
        </p:txBody>
      </p:sp>
      <p:sp>
        <p:nvSpPr>
          <p:cNvPr id="11" name="TextBox 10"/>
          <p:cNvSpPr txBox="1"/>
          <p:nvPr/>
        </p:nvSpPr>
        <p:spPr>
          <a:xfrm>
            <a:off x="2748636" y="1450848"/>
            <a:ext cx="1375132"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повторов, все 10 разных</a:t>
            </a:r>
          </a:p>
        </p:txBody>
      </p:sp>
      <p:sp>
        <p:nvSpPr>
          <p:cNvPr id="12" name="TextBox 11"/>
          <p:cNvSpPr txBox="1"/>
          <p:nvPr/>
        </p:nvSpPr>
        <p:spPr>
          <a:xfrm>
            <a:off x="4270073" y="1450848"/>
            <a:ext cx="3351535"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перефразировок (0/5)</a:t>
            </a:r>
          </a:p>
        </p:txBody>
      </p:sp>
      <p:sp>
        <p:nvSpPr>
          <p:cNvPr id="13" name="TextBox 12"/>
          <p:cNvSpPr txBox="1"/>
          <p:nvPr/>
        </p:nvSpPr>
        <p:spPr>
          <a:xfrm>
            <a:off x="7767913" y="1450848"/>
            <a:ext cx="3643798"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 без вызова модели</a:t>
            </a:r>
          </a:p>
        </p:txBody>
      </p:sp>
      <p:cxnSp>
        <p:nvCxnSpPr>
          <p:cNvPr id="14" name="Connector 13"/>
          <p:cNvCxnSpPr/>
          <p:nvPr/>
        </p:nvCxnSpPr>
        <p:spPr>
          <a:xfrm>
            <a:off x="630936" y="17891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1789176"/>
            <a:ext cx="1206501"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TF-IDF + косинус</a:t>
            </a:r>
            <a:r>
              <a:rPr sz="900" b="0" i="0">
                <a:solidFill>
                  <a:srgbClr val="141B2E"/>
                </a:solidFill>
                <a:latin typeface="Arial"/>
              </a:rPr>
              <a:t> (порог 0,3)</a:t>
            </a:r>
          </a:p>
        </p:txBody>
      </p:sp>
      <p:sp>
        <p:nvSpPr>
          <p:cNvPr id="16" name="TextBox 15"/>
          <p:cNvSpPr txBox="1"/>
          <p:nvPr/>
        </p:nvSpPr>
        <p:spPr>
          <a:xfrm>
            <a:off x="1983741" y="1789176"/>
            <a:ext cx="618591"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13/20</a:t>
            </a:r>
            <a:r>
              <a:rPr sz="900" b="0" i="0">
                <a:solidFill>
                  <a:srgbClr val="141B2E"/>
                </a:solidFill>
                <a:latin typeface="Arial"/>
              </a:rPr>
              <a:t> — хуже хэша</a:t>
            </a:r>
          </a:p>
        </p:txBody>
      </p:sp>
      <p:sp>
        <p:nvSpPr>
          <p:cNvPr id="17" name="TextBox 16"/>
          <p:cNvSpPr txBox="1"/>
          <p:nvPr/>
        </p:nvSpPr>
        <p:spPr>
          <a:xfrm>
            <a:off x="2748636" y="1789176"/>
            <a:ext cx="1375132"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повторы, часть разных вопросов</a:t>
            </a:r>
          </a:p>
        </p:txBody>
      </p:sp>
      <p:sp>
        <p:nvSpPr>
          <p:cNvPr id="18" name="TextBox 17"/>
          <p:cNvSpPr txBox="1"/>
          <p:nvPr/>
        </p:nvSpPr>
        <p:spPr>
          <a:xfrm>
            <a:off x="4270073" y="1789176"/>
            <a:ext cx="3351535"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те же 5 перефразировок + 2 ложных срабатывания на близких темах (хэш здесь не ошибается)</a:t>
            </a:r>
          </a:p>
        </p:txBody>
      </p:sp>
      <p:sp>
        <p:nvSpPr>
          <p:cNvPr id="19" name="TextBox 18"/>
          <p:cNvSpPr txBox="1"/>
          <p:nvPr/>
        </p:nvSpPr>
        <p:spPr>
          <a:xfrm>
            <a:off x="7767913" y="1789176"/>
            <a:ext cx="3643798"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 без вызова модели</a:t>
            </a:r>
          </a:p>
        </p:txBody>
      </p:sp>
      <p:cxnSp>
        <p:nvCxnSpPr>
          <p:cNvPr id="20" name="Connector 19"/>
          <p:cNvCxnSpPr/>
          <p:nvPr/>
        </p:nvCxnSpPr>
        <p:spPr>
          <a:xfrm>
            <a:off x="630936" y="22463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2246376"/>
            <a:ext cx="120650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Модель-судья</a:t>
            </a:r>
            <a:r>
              <a:rPr sz="900" b="0" i="0">
                <a:solidFill>
                  <a:srgbClr val="141B2E"/>
                </a:solidFill>
                <a:latin typeface="Arial"/>
              </a:rPr>
              <a:t> (gpt-4o-mini)</a:t>
            </a:r>
          </a:p>
        </p:txBody>
      </p:sp>
      <p:sp>
        <p:nvSpPr>
          <p:cNvPr id="22" name="TextBox 21"/>
          <p:cNvSpPr txBox="1"/>
          <p:nvPr/>
        </p:nvSpPr>
        <p:spPr>
          <a:xfrm>
            <a:off x="1983741" y="2246376"/>
            <a:ext cx="61859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17/20</a:t>
            </a:r>
          </a:p>
        </p:txBody>
      </p:sp>
      <p:sp>
        <p:nvSpPr>
          <p:cNvPr id="23" name="TextBox 22"/>
          <p:cNvSpPr txBox="1"/>
          <p:nvPr/>
        </p:nvSpPr>
        <p:spPr>
          <a:xfrm>
            <a:off x="2748636" y="2246376"/>
            <a:ext cx="1375132"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10 дублей</a:t>
            </a:r>
          </a:p>
        </p:txBody>
      </p:sp>
      <p:sp>
        <p:nvSpPr>
          <p:cNvPr id="24" name="TextBox 23"/>
          <p:cNvSpPr txBox="1"/>
          <p:nvPr/>
        </p:nvSpPr>
        <p:spPr>
          <a:xfrm>
            <a:off x="4270073" y="2246376"/>
            <a:ext cx="3351535"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3 ложных срабатывания, включая пару без общих слов</a:t>
            </a:r>
          </a:p>
        </p:txBody>
      </p:sp>
      <p:sp>
        <p:nvSpPr>
          <p:cNvPr id="25" name="TextBox 24"/>
          <p:cNvSpPr txBox="1"/>
          <p:nvPr/>
        </p:nvSpPr>
        <p:spPr>
          <a:xfrm>
            <a:off x="7767913" y="2246376"/>
            <a:ext cx="3643798"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~$0,15/млн вход · $0,60/млн выход — на кейсе (≈300/мес) ≈$0,006/мес (оценка по прайсу)</a:t>
            </a:r>
          </a:p>
        </p:txBody>
      </p:sp>
      <p:cxnSp>
        <p:nvCxnSpPr>
          <p:cNvPr id="26" name="Connector 25"/>
          <p:cNvCxnSpPr/>
          <p:nvPr/>
        </p:nvCxnSpPr>
        <p:spPr>
          <a:xfrm>
            <a:off x="630936" y="258470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30936" y="2584704"/>
            <a:ext cx="120650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Сервис jev</a:t>
            </a:r>
          </a:p>
        </p:txBody>
      </p:sp>
      <p:sp>
        <p:nvSpPr>
          <p:cNvPr id="28" name="TextBox 27"/>
          <p:cNvSpPr txBox="1"/>
          <p:nvPr/>
        </p:nvSpPr>
        <p:spPr>
          <a:xfrm>
            <a:off x="1983741" y="2584704"/>
            <a:ext cx="61859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20/20</a:t>
            </a:r>
          </a:p>
        </p:txBody>
      </p:sp>
      <p:sp>
        <p:nvSpPr>
          <p:cNvPr id="29" name="TextBox 28"/>
          <p:cNvSpPr txBox="1"/>
          <p:nvPr/>
        </p:nvSpPr>
        <p:spPr>
          <a:xfrm>
            <a:off x="2748636" y="2584704"/>
            <a:ext cx="1375132"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20 без ошибок</a:t>
            </a:r>
          </a:p>
        </p:txBody>
      </p:sp>
      <p:sp>
        <p:nvSpPr>
          <p:cNvPr id="30" name="TextBox 29"/>
          <p:cNvSpPr txBox="1"/>
          <p:nvPr/>
        </p:nvSpPr>
        <p:spPr>
          <a:xfrm>
            <a:off x="4270073" y="2584704"/>
            <a:ext cx="3351535"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чистое разделение, без пересечений</a:t>
            </a:r>
          </a:p>
        </p:txBody>
      </p:sp>
      <p:sp>
        <p:nvSpPr>
          <p:cNvPr id="31" name="TextBox 30"/>
          <p:cNvSpPr txBox="1"/>
          <p:nvPr/>
        </p:nvSpPr>
        <p:spPr>
          <a:xfrm>
            <a:off x="7767913" y="2584704"/>
            <a:ext cx="3643798"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$0,042/млн вход, $0 выход — на кейсе ≈$0,003/мес (оценка по прайсу)</a:t>
            </a:r>
          </a:p>
        </p:txBody>
      </p:sp>
      <p:sp>
        <p:nvSpPr>
          <p:cNvPr id="32" name="Rounded Rectangle 31"/>
          <p:cNvSpPr/>
          <p:nvPr/>
        </p:nvSpPr>
        <p:spPr>
          <a:xfrm>
            <a:off x="502920" y="3215640"/>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3343656"/>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Честная находка.</a:t>
            </a:r>
            <a:r>
              <a:rPr sz="1100" b="1" i="0">
                <a:solidFill>
                  <a:srgbClr val="141B2E"/>
                </a:solidFill>
                <a:latin typeface="Arial"/>
              </a:rPr>
              <a:t> Порог 0,3 у TF-IDF пропускает все перефразировки и добавляет 2 ложных срабатывания там, где хэш не ошибается никогда. Лучший результат дал сервис jev — точнее и дешевле модели-судьи, но одно измерение на 20 парах недостаточно для смены уже работающей архитектуры. На объёме кейса (≈10 случаев в день) обе платные схемы стоят меньше цента в месяц: решает точность.</a:t>
            </a:r>
          </a:p>
        </p:txBody>
      </p:sp>
      <p:pic>
        <p:nvPicPr>
          <p:cNvPr id="34" name="Picture 33" descr="k2-n8n-test-stend-real.png"/>
          <p:cNvPicPr>
            <a:picLocks noChangeAspect="1"/>
          </p:cNvPicPr>
          <p:nvPr/>
        </p:nvPicPr>
        <p:blipFill>
          <a:blip r:embed="rId2"/>
          <a:stretch>
            <a:fillRect/>
          </a:stretch>
        </p:blipFill>
        <p:spPr>
          <a:xfrm>
            <a:off x="2738665" y="4174235"/>
            <a:ext cx="6711621" cy="2089047"/>
          </a:xfrm>
          <a:prstGeom prst="rect">
            <a:avLst/>
          </a:prstGeom>
        </p:spPr>
      </p:pic>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хэш первым, jev — на дорогом шаге</a:t>
            </a:r>
          </a:p>
        </p:txBody>
      </p:sp>
      <p:pic>
        <p:nvPicPr>
          <p:cNvPr id="3" name="Picture 2" descr="k2-shema-gibrid.png"/>
          <p:cNvPicPr>
            <a:picLocks noChangeAspect="1"/>
          </p:cNvPicPr>
          <p:nvPr/>
        </p:nvPicPr>
        <p:blipFill>
          <a:blip r:embed="rId2"/>
          <a:stretch>
            <a:fillRect/>
          </a:stretch>
        </p:blipFill>
        <p:spPr>
          <a:xfrm>
            <a:off x="1331297" y="943356"/>
            <a:ext cx="9526357" cy="3572384"/>
          </a:xfrm>
          <a:prstGeom prst="rect">
            <a:avLst/>
          </a:prstGeom>
        </p:spPr>
      </p:pic>
      <p:sp>
        <p:nvSpPr>
          <p:cNvPr id="4" name="Rounded Rectangle 3"/>
          <p:cNvSpPr/>
          <p:nvPr/>
        </p:nvSpPr>
        <p:spPr>
          <a:xfrm>
            <a:off x="502920" y="468033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08348"/>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Фигура: шаг 1 — дешёвый механический предфильтр, берёт на себя буквальные повторы бесплатно. Шаг 2 — проверка смыслом, решение по измерению — специализированный сервис (jev), точнее и дешевле модели общего назначения на этом тесте. Узел собран и стоит на стенде.</a:t>
            </a:r>
          </a:p>
        </p:txBody>
      </p:sp>
      <p:sp>
        <p:nvSpPr>
          <p:cNvPr id="6" name="Rounded Rectangle 5"/>
          <p:cNvSpPr/>
          <p:nvPr/>
        </p:nvSpPr>
        <p:spPr>
          <a:xfrm>
            <a:off x="502920" y="5733416"/>
            <a:ext cx="11183112" cy="58902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870576"/>
            <a:ext cx="10707624" cy="314705"/>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Честная оговорка — на самой схеме.</a:t>
            </a:r>
            <a:r>
              <a:rPr sz="1050" b="0" i="1">
                <a:solidFill>
                  <a:srgbClr val="6B7685"/>
                </a:solidFill>
                <a:latin typeface="Arial"/>
              </a:rPr>
              <a:t> Измерение одно, на 20 парах одного языка и одной тематики (запись на курсы). Обобщаемость за пределы этого набора не проверена — это граница измерения, а не повод не внедрять решение.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pic>
        <p:nvPicPr>
          <p:cNvPr id="3" name="Picture 2" descr="k2-n8n-mehanika-real.png"/>
          <p:cNvPicPr>
            <a:picLocks noChangeAspect="1"/>
          </p:cNvPicPr>
          <p:nvPr/>
        </p:nvPicPr>
        <p:blipFill>
          <a:blip r:embed="rId2"/>
          <a:stretch>
            <a:fillRect/>
          </a:stretch>
        </p:blipFill>
        <p:spPr>
          <a:xfrm>
            <a:off x="1265060" y="943356"/>
            <a:ext cx="9658831" cy="3153089"/>
          </a:xfrm>
          <a:prstGeom prst="rect">
            <a:avLst/>
          </a:prstGeom>
        </p:spPr>
      </p:pic>
      <p:sp>
        <p:nvSpPr>
          <p:cNvPr id="4" name="Rounded Rectangle 3"/>
          <p:cNvSpPr/>
          <p:nvPr/>
        </p:nvSpPr>
        <p:spPr>
          <a:xfrm>
            <a:off x="502920" y="4261037"/>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89053"/>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a:t>
            </a:r>
            <a:r>
              <a:rPr sz="1400" b="1" i="0">
                <a:solidFill>
                  <a:srgbClr val="141B2E"/>
                </a:solidFill>
                <a:latin typeface="Arial"/>
              </a:rPr>
              <a:t> Берёт текст заявки, приводит к нижнему регистру, убирает пробелы по краям, схлопывает повторные пробелы внутри: </a:t>
            </a:r>
            <a:r>
              <a:rPr sz="1400" b="1" i="0">
                <a:solidFill>
                  <a:srgbClr val="141B2E"/>
                </a:solidFill>
                <a:latin typeface="Consolas"/>
              </a:rPr>
              <a:t>normalized_hash</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текст.toLowerCase().trim().replace(/\s+/g,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Рядом — тот же расчёт для недавнего сообщения того же контакта.</a:t>
            </a:r>
          </a:p>
        </p:txBody>
      </p:sp>
      <p:sp>
        <p:nvSpPr>
          <p:cNvPr id="6" name="Rounded Rectangle 5"/>
          <p:cNvSpPr/>
          <p:nvPr/>
        </p:nvSpPr>
        <p:spPr>
          <a:xfrm>
            <a:off x="502920" y="5361365"/>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89381"/>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Узел </a:t>
            </a:r>
            <a:r>
              <a:rPr sz="1200" b="1" i="0">
                <a:solidFill>
                  <a:srgbClr val="141B2E"/>
                </a:solidFill>
                <a:latin typeface="Consolas"/>
              </a:rPr>
              <a:t>Exact</a:t>
            </a:r>
            <a:r>
              <a:rPr sz="1200" b="1" i="0">
                <a:solidFill>
                  <a:srgbClr val="141B2E"/>
                </a:solidFill>
                <a:latin typeface="Arial"/>
              </a:rPr>
              <a:t> </a:t>
            </a:r>
            <a:r>
              <a:rPr sz="1200" b="1" i="0">
                <a:solidFill>
                  <a:srgbClr val="141B2E"/>
                </a:solidFill>
                <a:latin typeface="Consolas"/>
              </a:rPr>
              <a:t>duplicate</a:t>
            </a:r>
            <a:r>
              <a:rPr sz="1200" b="1" i="0">
                <a:solidFill>
                  <a:srgbClr val="141B2E"/>
                </a:solidFill>
                <a:latin typeface="Arial"/>
              </a:rPr>
              <a:t> </a:t>
            </a:r>
            <a:r>
              <a:rPr sz="1200" b="1" i="0">
                <a:solidFill>
                  <a:srgbClr val="141B2E"/>
                </a:solidFill>
                <a:latin typeface="Consolas"/>
              </a:rPr>
              <a:t>in</a:t>
            </a:r>
            <a:r>
              <a:rPr sz="1200" b="1" i="0">
                <a:solidFill>
                  <a:srgbClr val="141B2E"/>
                </a:solidFill>
                <a:latin typeface="Arial"/>
              </a:rPr>
              <a:t> </a:t>
            </a:r>
            <a:r>
              <a:rPr sz="1200" b="1" i="0">
                <a:solidFill>
                  <a:srgbClr val="141B2E"/>
                </a:solidFill>
                <a:latin typeface="Consolas"/>
              </a:rPr>
              <a:t>window?</a:t>
            </a:r>
            <a:r>
              <a:rPr sz="1200" b="1" i="0">
                <a:solidFill>
                  <a:srgbClr val="141B2E"/>
                </a:solidFill>
                <a:latin typeface="Arial"/>
              </a:rPr>
              <a:t> (</a:t>
            </a:r>
            <a:r>
              <a:rPr sz="1200" b="1" i="0">
                <a:solidFill>
                  <a:srgbClr val="141B2E"/>
                </a:solidFill>
                <a:latin typeface="Consolas"/>
              </a:rPr>
              <a:t>IF</a:t>
            </a:r>
            <a:r>
              <a:rPr sz="1200" b="1" i="0">
                <a:solidFill>
                  <a:srgbClr val="141B2E"/>
                </a:solidFill>
                <a:latin typeface="Arial"/>
              </a:rPr>
              <a:t>).</a:t>
            </a:r>
            <a:r>
              <a:rPr sz="1200" b="1" i="0">
                <a:solidFill>
                  <a:srgbClr val="141B2E"/>
                </a:solidFill>
                <a:latin typeface="Arial"/>
              </a:rPr>
              <a:t> Условие: </a:t>
            </a:r>
            <a:r>
              <a:rPr sz="1200" b="1" i="0">
                <a:solidFill>
                  <a:srgbClr val="141B2E"/>
                </a:solidFill>
                <a:latin typeface="Consolas"/>
              </a:rPr>
              <a:t>normalized_hash</a:t>
            </a:r>
            <a:r>
              <a:rPr sz="1200" b="1" i="0">
                <a:solidFill>
                  <a:srgbClr val="141B2E"/>
                </a:solidFill>
                <a:latin typeface="Arial"/>
              </a:rPr>
              <a:t> строго равен хэшу недавнего обращения — строковое сравнение, оба значения уже в нижнем регистре. Совпало → повтор найден, гасится бесплатно, без записи. Не совпало → заявка идёт дальше по цепочке.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узлов: экран параметров</a:t>
            </a:r>
          </a:p>
        </p:txBody>
      </p:sp>
      <p:pic>
        <p:nvPicPr>
          <p:cNvPr id="3" name="Picture 2" descr="k2-n8n-panels-real.png"/>
          <p:cNvPicPr>
            <a:picLocks noChangeAspect="1"/>
          </p:cNvPicPr>
          <p:nvPr/>
        </p:nvPicPr>
        <p:blipFill>
          <a:blip r:embed="rId2"/>
          <a:stretch>
            <a:fillRect/>
          </a:stretch>
        </p:blipFill>
        <p:spPr>
          <a:xfrm>
            <a:off x="1429877" y="943356"/>
            <a:ext cx="9329196" cy="2626821"/>
          </a:xfrm>
          <a:prstGeom prst="rect">
            <a:avLst/>
          </a:prstGeom>
        </p:spPr>
      </p:pic>
      <p:sp>
        <p:nvSpPr>
          <p:cNvPr id="4" name="Rounded Rectangle 3"/>
          <p:cNvSpPr/>
          <p:nvPr/>
        </p:nvSpPr>
        <p:spPr>
          <a:xfrm>
            <a:off x="502920" y="3734769"/>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62785"/>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 режим </a:t>
            </a:r>
            <a:r>
              <a:rPr sz="1400" b="1" i="0">
                <a:solidFill>
                  <a:srgbClr val="141B2E"/>
                </a:solidFill>
                <a:latin typeface="Consolas"/>
              </a:rPr>
              <a:t>Manual</a:t>
            </a:r>
            <a:r>
              <a:rPr sz="1400" b="1" i="0">
                <a:solidFill>
                  <a:srgbClr val="141B2E"/>
                </a:solidFill>
                <a:latin typeface="Arial"/>
              </a:rPr>
              <a:t> </a:t>
            </a:r>
            <a:r>
              <a:rPr sz="1400" b="1" i="0">
                <a:solidFill>
                  <a:srgbClr val="141B2E"/>
                </a:solidFill>
                <a:latin typeface="Consolas"/>
              </a:rPr>
              <a:t>Mapping</a:t>
            </a:r>
            <a:r>
              <a:rPr sz="1400" b="1" i="0">
                <a:solidFill>
                  <a:srgbClr val="141B2E"/>
                </a:solidFill>
                <a:latin typeface="Arial"/>
              </a:rPr>
              <a:t>).</a:t>
            </a:r>
            <a:r>
              <a:rPr sz="1400" b="1" i="0">
                <a:solidFill>
                  <a:srgbClr val="141B2E"/>
                </a:solidFill>
                <a:latin typeface="Arial"/>
              </a:rPr>
              <a:t> Три поля с выражениями: </a:t>
            </a:r>
            <a:r>
              <a:rPr sz="1400" b="1" i="0">
                <a:solidFill>
                  <a:srgbClr val="141B2E"/>
                </a:solidFill>
                <a:latin typeface="Consolas"/>
              </a:rPr>
              <a:t>normalized_hash</a:t>
            </a:r>
            <a:r>
              <a:rPr sz="1400" b="1" i="0">
                <a:solidFill>
                  <a:srgbClr val="141B2E"/>
                </a:solidFill>
                <a:latin typeface="Arial"/>
              </a:rPr>
              <a:t> — нормализованный текст текущей заявки (</a:t>
            </a:r>
            <a:r>
              <a:rPr sz="1400" b="1" i="0">
                <a:solidFill>
                  <a:srgbClr val="141B2E"/>
                </a:solidFill>
                <a:latin typeface="Consolas"/>
              </a:rPr>
              <a:t>$('Request</a:t>
            </a:r>
            <a:r>
              <a:rPr sz="1400" b="1" i="0">
                <a:solidFill>
                  <a:srgbClr val="141B2E"/>
                </a:solidFill>
                <a:latin typeface="Arial"/>
              </a:rPr>
              <a:t> </a:t>
            </a:r>
            <a:r>
              <a:rPr sz="1400" b="1" i="0">
                <a:solidFill>
                  <a:srgbClr val="141B2E"/>
                </a:solidFill>
                <a:latin typeface="Consolas"/>
              </a:rPr>
              <a:t>form').item.json['Что</a:t>
            </a:r>
            <a:r>
              <a:rPr sz="1400" b="1" i="0">
                <a:solidFill>
                  <a:srgbClr val="141B2E"/>
                </a:solidFill>
                <a:latin typeface="Arial"/>
              </a:rPr>
              <a:t> </a:t>
            </a:r>
            <a:r>
              <a:rPr sz="1400" b="1" i="0">
                <a:solidFill>
                  <a:srgbClr val="141B2E"/>
                </a:solidFill>
                <a:latin typeface="Consolas"/>
              </a:rPr>
              <a:t>нужно'].toLowerCase().trim().replace(/\s+/g,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recent_same_contact_text</a:t>
            </a:r>
            <a:r>
              <a:rPr sz="1400" b="1" i="0">
                <a:solidFill>
                  <a:srgbClr val="141B2E"/>
                </a:solidFill>
                <a:latin typeface="Arial"/>
              </a:rPr>
              <a:t> — недавнее сообщение того же контакта как есть, без изменений; </a:t>
            </a:r>
            <a:r>
              <a:rPr sz="1400" b="1" i="0">
                <a:solidFill>
                  <a:srgbClr val="141B2E"/>
                </a:solidFill>
                <a:latin typeface="Consolas"/>
              </a:rPr>
              <a:t>recent_same_contact_hash</a:t>
            </a:r>
            <a:r>
              <a:rPr sz="1400" b="1" i="0">
                <a:solidFill>
                  <a:srgbClr val="141B2E"/>
                </a:solidFill>
                <a:latin typeface="Arial"/>
              </a:rPr>
              <a:t> — тот же текст, нормализованный той же формулой. «Include Other Input Fields» включён (All) — остальные поля заявки проходят насквозь.</a:t>
            </a:r>
          </a:p>
        </p:txBody>
      </p:sp>
      <p:sp>
        <p:nvSpPr>
          <p:cNvPr id="6" name="Rounded Rectangle 5"/>
          <p:cNvSpPr/>
          <p:nvPr/>
        </p:nvSpPr>
        <p:spPr>
          <a:xfrm>
            <a:off x="502920" y="5276041"/>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04057"/>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Exact</a:t>
            </a:r>
            <a:r>
              <a:rPr sz="1450" b="1" i="0">
                <a:solidFill>
                  <a:srgbClr val="141B2E"/>
                </a:solidFill>
                <a:latin typeface="Arial"/>
              </a:rPr>
              <a:t> </a:t>
            </a:r>
            <a:r>
              <a:rPr sz="1450" b="1" i="0">
                <a:solidFill>
                  <a:srgbClr val="141B2E"/>
                </a:solidFill>
                <a:latin typeface="Consolas"/>
              </a:rPr>
              <a:t>duplicate</a:t>
            </a:r>
            <a:r>
              <a:rPr sz="1450" b="1" i="0">
                <a:solidFill>
                  <a:srgbClr val="141B2E"/>
                </a:solidFill>
                <a:latin typeface="Arial"/>
              </a:rPr>
              <a:t> </a:t>
            </a:r>
            <a:r>
              <a:rPr sz="1450" b="1" i="0">
                <a:solidFill>
                  <a:srgbClr val="141B2E"/>
                </a:solidFill>
                <a:latin typeface="Consolas"/>
              </a:rPr>
              <a:t>in</a:t>
            </a:r>
            <a:r>
              <a:rPr sz="1450" b="1" i="0">
                <a:solidFill>
                  <a:srgbClr val="141B2E"/>
                </a:solidFill>
                <a:latin typeface="Arial"/>
              </a:rPr>
              <a:t> </a:t>
            </a:r>
            <a:r>
              <a:rPr sz="1450" b="1" i="0">
                <a:solidFill>
                  <a:srgbClr val="141B2E"/>
                </a:solidFill>
                <a:latin typeface="Consolas"/>
              </a:rPr>
              <a:t>window?</a:t>
            </a:r>
            <a:r>
              <a:rPr sz="1450" b="1" i="0">
                <a:solidFill>
                  <a:srgbClr val="141B2E"/>
                </a:solidFill>
                <a:latin typeface="Arial"/>
              </a:rPr>
              <a:t> (</a:t>
            </a:r>
            <a:r>
              <a:rPr sz="1450" b="1" i="0">
                <a:solidFill>
                  <a:srgbClr val="141B2E"/>
                </a:solidFill>
                <a:latin typeface="Consolas"/>
              </a:rPr>
              <a:t>IF</a:t>
            </a:r>
            <a:r>
              <a:rPr sz="1450" b="1" i="0">
                <a:solidFill>
                  <a:srgbClr val="141B2E"/>
                </a:solidFill>
                <a:latin typeface="Arial"/>
              </a:rPr>
              <a:t>).</a:t>
            </a:r>
            <a:r>
              <a:rPr sz="1450" b="1" i="0">
                <a:solidFill>
                  <a:srgbClr val="141B2E"/>
                </a:solidFill>
                <a:latin typeface="Arial"/>
              </a:rPr>
              <a:t> Единственное условие: </a:t>
            </a:r>
            <a:r>
              <a:rPr sz="1450" b="1" i="0">
                <a:solidFill>
                  <a:srgbClr val="141B2E"/>
                </a:solidFill>
                <a:latin typeface="Consolas"/>
              </a:rPr>
              <a:t>{{</a:t>
            </a:r>
            <a:r>
              <a:rPr sz="1450" b="1" i="0">
                <a:solidFill>
                  <a:srgbClr val="141B2E"/>
                </a:solidFill>
                <a:latin typeface="Arial"/>
              </a:rPr>
              <a:t> </a:t>
            </a:r>
            <a:r>
              <a:rPr sz="1450" b="1" i="0">
                <a:solidFill>
                  <a:srgbClr val="141B2E"/>
                </a:solidFill>
                <a:latin typeface="Consolas"/>
              </a:rPr>
              <a:t>$json.normalized_hash</a:t>
            </a:r>
            <a:r>
              <a:rPr sz="1450" b="1" i="0">
                <a:solidFill>
                  <a:srgbClr val="141B2E"/>
                </a:solidFill>
                <a:latin typeface="Arial"/>
              </a:rPr>
              <a:t> </a:t>
            </a:r>
            <a:r>
              <a:rPr sz="1450" b="1" i="0">
                <a:solidFill>
                  <a:srgbClr val="141B2E"/>
                </a:solidFill>
                <a:latin typeface="Consolas"/>
              </a:rPr>
              <a:t>}}</a:t>
            </a:r>
            <a:r>
              <a:rPr sz="1450" b="1" i="0">
                <a:solidFill>
                  <a:srgbClr val="141B2E"/>
                </a:solidFill>
                <a:latin typeface="Arial"/>
              </a:rPr>
              <a:t> </a:t>
            </a:r>
            <a:r>
              <a:rPr sz="1450" b="1" i="0">
                <a:solidFill>
                  <a:srgbClr val="141B2E"/>
                </a:solidFill>
                <a:latin typeface="Arial"/>
              </a:rPr>
              <a:t>is equal to</a:t>
            </a:r>
            <a:r>
              <a:rPr sz="1450" b="1" i="0">
                <a:solidFill>
                  <a:srgbClr val="141B2E"/>
                </a:solidFill>
                <a:latin typeface="Arial"/>
              </a:rPr>
              <a:t> </a:t>
            </a:r>
            <a:r>
              <a:rPr sz="1450" b="1" i="0">
                <a:solidFill>
                  <a:srgbClr val="141B2E"/>
                </a:solidFill>
                <a:latin typeface="Consolas"/>
              </a:rPr>
              <a:t>{{</a:t>
            </a:r>
            <a:r>
              <a:rPr sz="1450" b="1" i="0">
                <a:solidFill>
                  <a:srgbClr val="141B2E"/>
                </a:solidFill>
                <a:latin typeface="Arial"/>
              </a:rPr>
              <a:t> </a:t>
            </a:r>
            <a:r>
              <a:rPr sz="1450" b="1" i="0">
                <a:solidFill>
                  <a:srgbClr val="141B2E"/>
                </a:solidFill>
                <a:latin typeface="Consolas"/>
              </a:rPr>
              <a:t>$json.recent_same_contact_hash</a:t>
            </a:r>
            <a:r>
              <a:rPr sz="1450" b="1" i="0">
                <a:solidFill>
                  <a:srgbClr val="141B2E"/>
                </a:solidFill>
                <a:latin typeface="Arial"/>
              </a:rPr>
              <a:t> </a:t>
            </a:r>
            <a:r>
              <a:rPr sz="1450" b="1" i="0">
                <a:solidFill>
                  <a:srgbClr val="141B2E"/>
                </a:solidFill>
                <a:latin typeface="Consolas"/>
              </a:rPr>
              <a:t>}}</a:t>
            </a:r>
            <a:r>
              <a:rPr sz="1450" b="1" i="0">
                <a:solidFill>
                  <a:srgbClr val="141B2E"/>
                </a:solidFill>
                <a:latin typeface="Arial"/>
              </a:rPr>
              <a:t> — третье поле предыдущего узла сравнивается с первым. «Convert types where required» выключено: строки сравниваются как есть, без скрытого приведения типов.</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структурированный запрос вместо текстового промпта</a:t>
            </a:r>
          </a:p>
        </p:txBody>
      </p:sp>
      <p:pic>
        <p:nvPicPr>
          <p:cNvPr id="3" name="Picture 2" descr="k2-n8n-jev-real.png"/>
          <p:cNvPicPr>
            <a:picLocks noChangeAspect="1"/>
          </p:cNvPicPr>
          <p:nvPr/>
        </p:nvPicPr>
        <p:blipFill>
          <a:blip r:embed="rId2"/>
          <a:stretch>
            <a:fillRect/>
          </a:stretch>
        </p:blipFill>
        <p:spPr>
          <a:xfrm>
            <a:off x="1140616" y="1319784"/>
            <a:ext cx="9907718" cy="2936930"/>
          </a:xfrm>
          <a:prstGeom prst="rect">
            <a:avLst/>
          </a:prstGeom>
        </p:spPr>
      </p:pic>
      <p:sp>
        <p:nvSpPr>
          <p:cNvPr id="4" name="Rounded Rectangle 3"/>
          <p:cNvSpPr/>
          <p:nvPr/>
        </p:nvSpPr>
        <p:spPr>
          <a:xfrm>
            <a:off x="502920" y="442130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4932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Jev</a:t>
            </a:r>
            <a:r>
              <a:rPr sz="1450" b="1" i="0">
                <a:solidFill>
                  <a:srgbClr val="141B2E"/>
                </a:solidFill>
                <a:latin typeface="Arial"/>
              </a:rPr>
              <a:t> </a:t>
            </a:r>
            <a:r>
              <a:rPr sz="1450" b="1" i="0">
                <a:solidFill>
                  <a:srgbClr val="141B2E"/>
                </a:solidFill>
                <a:latin typeface="Consolas"/>
              </a:rPr>
              <a:t>decision</a:t>
            </a:r>
            <a:r>
              <a:rPr sz="1450" b="1" i="0">
                <a:solidFill>
                  <a:srgbClr val="141B2E"/>
                </a:solidFill>
                <a:latin typeface="Arial"/>
              </a:rPr>
              <a:t> </a:t>
            </a:r>
            <a:r>
              <a:rPr sz="1450" b="1" i="0">
                <a:solidFill>
                  <a:srgbClr val="141B2E"/>
                </a:solidFill>
                <a:latin typeface="Consolas"/>
              </a:rPr>
              <a:t>(reworded?)</a:t>
            </a:r>
            <a:r>
              <a:rPr sz="1450" b="1" i="0">
                <a:solidFill>
                  <a:srgbClr val="141B2E"/>
                </a:solidFill>
                <a:latin typeface="Arial"/>
              </a:rPr>
              <a:t> (</a:t>
            </a:r>
            <a:r>
              <a:rPr sz="1450" b="1" i="0">
                <a:solidFill>
                  <a:srgbClr val="141B2E"/>
                </a:solidFill>
                <a:latin typeface="Consolas"/>
              </a:rPr>
              <a:t>httpRequest</a:t>
            </a:r>
            <a:r>
              <a:rPr sz="1450" b="1" i="0">
                <a:solidFill>
                  <a:srgbClr val="141B2E"/>
                </a:solidFill>
                <a:latin typeface="Arial"/>
              </a:rPr>
              <a:t>).</a:t>
            </a:r>
            <a:r>
              <a:rPr sz="1450" b="1" i="0">
                <a:solidFill>
                  <a:srgbClr val="141B2E"/>
                </a:solidFill>
                <a:latin typeface="Arial"/>
              </a:rPr>
              <a:t> </a:t>
            </a:r>
            <a:r>
              <a:rPr sz="1450" b="1" i="0">
                <a:solidFill>
                  <a:srgbClr val="141B2E"/>
                </a:solidFill>
                <a:latin typeface="Consolas"/>
              </a:rPr>
              <a:t>POST</a:t>
            </a:r>
            <a:r>
              <a:rPr sz="1450" b="1" i="0">
                <a:solidFill>
                  <a:srgbClr val="141B2E"/>
                </a:solidFill>
                <a:latin typeface="Arial"/>
              </a:rPr>
              <a:t> </a:t>
            </a:r>
            <a:r>
              <a:rPr sz="1450" b="1" i="0">
                <a:solidFill>
                  <a:srgbClr val="141B2E"/>
                </a:solidFill>
                <a:latin typeface="Consolas"/>
              </a:rPr>
              <a:t>.../api/alpha/decisions</a:t>
            </a:r>
            <a:r>
              <a:rPr sz="1450" b="1" i="0">
                <a:solidFill>
                  <a:srgbClr val="141B2E"/>
                </a:solidFill>
                <a:latin typeface="Arial"/>
              </a:rPr>
              <a:t>, модель </a:t>
            </a:r>
            <a:r>
              <a:rPr sz="1450" b="1" i="0">
                <a:solidFill>
                  <a:srgbClr val="141B2E"/>
                </a:solidFill>
                <a:latin typeface="Consolas"/>
              </a:rPr>
              <a:t>typesafe/jev-1.13</a:t>
            </a:r>
            <a:r>
              <a:rPr sz="1450" b="1" i="0">
                <a:solidFill>
                  <a:srgbClr val="141B2E"/>
                </a:solidFill>
                <a:latin typeface="Arial"/>
              </a:rPr>
              <a:t>. Вопрос — тип </a:t>
            </a:r>
            <a:r>
              <a:rPr sz="1450" b="1" i="0">
                <a:solidFill>
                  <a:srgbClr val="141B2E"/>
                </a:solidFill>
                <a:latin typeface="Consolas"/>
              </a:rPr>
              <a:t>noul</a:t>
            </a:r>
            <a:r>
              <a:rPr sz="1450" b="1" i="0">
                <a:solidFill>
                  <a:srgbClr val="141B2E"/>
                </a:solidFill>
                <a:latin typeface="Arial"/>
              </a:rPr>
              <a:t>: «да/нет» с вероятностью, не свободный текст. Критерии заданы явно: «да» — тот же вопрос другими словами, «нет» — другой вопрос, даже если похожи темы или слова.</a:t>
            </a:r>
          </a:p>
        </p:txBody>
      </p:sp>
      <p:sp>
        <p:nvSpPr>
          <p:cNvPr id="6" name="Rounded Rectangle 5"/>
          <p:cNvSpPr/>
          <p:nvPr/>
        </p:nvSpPr>
        <p:spPr>
          <a:xfrm>
            <a:off x="502920" y="55452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732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Результат на 20 реальных парах.</a:t>
            </a:r>
            <a:r>
              <a:rPr sz="1200" b="1" i="0">
                <a:solidFill>
                  <a:srgbClr val="141B2E"/>
                </a:solidFill>
                <a:latin typeface="Arial"/>
              </a:rPr>
              <a:t> Дубли — jev_noul </a:t>
            </a:r>
            <a:r>
              <a:rPr sz="1200" b="1" i="0">
                <a:solidFill>
                  <a:srgbClr val="141B2E"/>
                </a:solidFill>
                <a:latin typeface="Arial"/>
              </a:rPr>
              <a:t>0.70–0.97</a:t>
            </a:r>
            <a:r>
              <a:rPr sz="1200" b="1" i="0">
                <a:solidFill>
                  <a:srgbClr val="141B2E"/>
                </a:solidFill>
                <a:latin typeface="Arial"/>
              </a:rPr>
              <a:t>. Разные вопросы — </a:t>
            </a:r>
            <a:r>
              <a:rPr sz="1200" b="1" i="0">
                <a:solidFill>
                  <a:srgbClr val="141B2E"/>
                </a:solidFill>
                <a:latin typeface="Arial"/>
              </a:rPr>
              <a:t>0.02–0.08</a:t>
            </a:r>
            <a:r>
              <a:rPr sz="1200" b="1" i="0">
                <a:solidFill>
                  <a:srgbClr val="141B2E"/>
                </a:solidFill>
                <a:latin typeface="Arial"/>
              </a:rPr>
              <a:t>. Порог </a:t>
            </a:r>
            <a:r>
              <a:rPr sz="1200" b="1" i="0">
                <a:solidFill>
                  <a:srgbClr val="141B2E"/>
                </a:solidFill>
                <a:latin typeface="Arial"/>
              </a:rPr>
              <a:t>≥ 0.5 → дубль</a:t>
            </a:r>
            <a:r>
              <a:rPr sz="1200" b="1" i="0">
                <a:solidFill>
                  <a:srgbClr val="141B2E"/>
                </a:solidFill>
                <a:latin typeface="Arial"/>
              </a:rPr>
              <a:t>, разрыв чистый на промежутке 0.08–0.70 — счёт </a:t>
            </a:r>
            <a:r>
              <a:rPr sz="1200" b="1" i="0">
                <a:solidFill>
                  <a:srgbClr val="141B2E"/>
                </a:solidFill>
                <a:latin typeface="Arial"/>
              </a:rPr>
              <a:t>20 из 20</a:t>
            </a:r>
            <a:r>
              <a:rPr sz="1200" b="1" i="0">
                <a:solidFill>
                  <a:srgbClr val="141B2E"/>
                </a:solidFill>
                <a:latin typeface="Arial"/>
              </a:rPr>
              <a:t>.</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Ольга при повторной заявке — и чего не видит</a:t>
            </a:r>
          </a:p>
        </p:txBody>
      </p:sp>
      <p:sp>
        <p:nvSpPr>
          <p:cNvPr id="3" name="Rounded Rectangle 2"/>
          <p:cNvSpPr/>
          <p:nvPr/>
        </p:nvSpPr>
        <p:spPr>
          <a:xfrm>
            <a:off x="502920" y="1479804"/>
            <a:ext cx="82296" cy="2392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7820"/>
            <a:ext cx="10643616" cy="21366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Таблица заявок, то самое утро.</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Строка 1 — «когда можно оплатить занятие?» — обычная заявка.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(Через два часа тот же текст слово в слово — второй строки нет. Повтор остановлен раньше, чем дошёл до таблицы.)</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Строка 2 — «как мне внести оплату за курс» — записана и выглядит ровно как обычная новая заявка.</a:t>
            </a:r>
          </a:p>
        </p:txBody>
      </p:sp>
      <p:sp>
        <p:nvSpPr>
          <p:cNvPr id="5" name="Rounded Rectangle 4"/>
          <p:cNvSpPr/>
          <p:nvPr/>
        </p:nvSpPr>
        <p:spPr>
          <a:xfrm>
            <a:off x="502920" y="45399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680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буквального повтора проблема сцены решена целиком: он просто не доходит до Ольги. Для той же самой перефразировки, с которой кейс начался, — она записывается как есть, второй строкой, без различия от первой.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Точное совпадение остаётся в финальном решении — но как первый дешёвый фильтр, экономящий 5 из 20 вызовов модели бесплатно, не как альтернатива LLM.</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120851"/>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403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40307"/>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Интервал времени — параметр с ценой в обе стороны.</a:t>
            </a:r>
            <a:r>
              <a:rPr sz="1350" b="0" i="0">
                <a:solidFill>
                  <a:srgbClr val="141B2E"/>
                </a:solidFill>
                <a:latin typeface="Arial"/>
              </a:rPr>
              <a:t> Слишком короткий интервал пропустит повтор, разнесённый на день-два. Слишком длинный начнёт путать разные последовательные обращения одного человека с повтором одного обращения.</a:t>
            </a:r>
          </a:p>
        </p:txBody>
      </p:sp>
      <p:sp>
        <p:nvSpPr>
          <p:cNvPr id="6" name="Rounded Rectangle 5"/>
          <p:cNvSpPr/>
          <p:nvPr/>
        </p:nvSpPr>
        <p:spPr>
          <a:xfrm>
            <a:off x="502920" y="2903042"/>
            <a:ext cx="11183112" cy="1376172"/>
          </a:xfrm>
          <a:prstGeom prst="roundRect">
            <a:avLst>
              <a:gd name="adj" fmla="val 2214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22498"/>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8" name="TextBox 7"/>
          <p:cNvSpPr txBox="1"/>
          <p:nvPr/>
        </p:nvSpPr>
        <p:spPr>
          <a:xfrm>
            <a:off x="1106424" y="3122498"/>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LLM-судья имеет собственную асимметрию ошибок</a:t>
            </a:r>
            <a:r>
              <a:rPr sz="1350" b="0" i="0">
                <a:solidFill>
                  <a:srgbClr val="141B2E"/>
                </a:solidFill>
                <a:latin typeface="Arial"/>
              </a:rPr>
              <a:t>, не ноль (Wataoka, Takahashi, Ri — NeurIPS 2024 Safe GenAI Workshop, arXiv:2410.21819, self-preference bias): модель-судья систематически не нейтральна, даже отвечая формально «да» или «нет». Наш тест это подтвердил напрямую: 3 ложных срабатывания из 20, и не все объясняются совпадением слов в вопросах.</a:t>
            </a:r>
          </a:p>
        </p:txBody>
      </p:sp>
      <p:sp>
        <p:nvSpPr>
          <p:cNvPr id="9" name="Rounded Rectangle 8"/>
          <p:cNvSpPr/>
          <p:nvPr/>
        </p:nvSpPr>
        <p:spPr>
          <a:xfrm>
            <a:off x="502920" y="4887544"/>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510700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1" name="TextBox 10"/>
          <p:cNvSpPr txBox="1"/>
          <p:nvPr/>
        </p:nvSpPr>
        <p:spPr>
          <a:xfrm>
            <a:off x="1106424" y="510700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как первый вопрос Бориса</a:t>
            </a:r>
          </a:p>
        </p:txBody>
      </p:sp>
      <p:cxnSp>
        <p:nvCxnSpPr>
          <p:cNvPr id="6" name="Connector 5"/>
          <p:cNvCxnSpPr/>
          <p:nvPr/>
        </p:nvCxnSpPr>
        <p:spPr>
          <a:xfrm>
            <a:off x="685800"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7284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нужен бесплатный и мгновенный фильтр на весь поток заявок</a:t>
            </a:r>
          </a:p>
        </p:txBody>
      </p:sp>
      <p:cxnSp>
        <p:nvCxnSpPr>
          <p:cNvPr id="8" name="Connector 7"/>
          <p:cNvCxnSpPr/>
          <p:nvPr/>
        </p:nvCxnSpPr>
        <p:spPr>
          <a:xfrm>
            <a:off x="685800" y="20914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09148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классический векторный подход не стоит добавлять «на всякий случай» — измерение показало результат ХУЖЕ хэша, не тот же самый</a:t>
            </a:r>
          </a:p>
        </p:txBody>
      </p:sp>
      <p:sp>
        <p:nvSpPr>
          <p:cNvPr id="10" name="Rounded Rectangle 9"/>
          <p:cNvSpPr/>
          <p:nvPr/>
        </p:nvSpPr>
        <p:spPr>
          <a:xfrm>
            <a:off x="6231636"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НУЖНА СВЕРХУ</a:t>
            </a:r>
          </a:p>
        </p:txBody>
      </p:sp>
      <p:sp>
        <p:nvSpPr>
          <p:cNvPr id="12" name="TextBox 11"/>
          <p:cNvSpPr txBox="1"/>
          <p:nvPr/>
        </p:nvSpPr>
        <p:spPr>
          <a:xfrm>
            <a:off x="6414516"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как его второй вопрос</a:t>
            </a:r>
          </a:p>
        </p:txBody>
      </p:sp>
      <p:cxnSp>
        <p:nvCxnSpPr>
          <p:cNvPr id="13" name="Connector 12"/>
          <p:cNvCxnSpPr/>
          <p:nvPr/>
        </p:nvCxnSpPr>
        <p:spPr>
          <a:xfrm>
            <a:off x="6414516"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17728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cxnSp>
        <p:nvCxnSpPr>
          <p:cNvPr id="15" name="Connector 14"/>
          <p:cNvCxnSpPr/>
          <p:nvPr/>
        </p:nvCxnSpPr>
        <p:spPr>
          <a:xfrm>
            <a:off x="6414516" y="22638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26382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частота ошибок самой модели — измеренная цена (у нас 3 ложных срабатывания из 20), а не ноль, и её тоже нужно закладывать</a:t>
            </a:r>
          </a:p>
        </p:txBody>
      </p:sp>
      <p:cxnSp>
        <p:nvCxnSpPr>
          <p:cNvPr id="17" name="Connector 16"/>
          <p:cNvCxnSpPr/>
          <p:nvPr/>
        </p:nvCxnSpPr>
        <p:spPr>
          <a:xfrm>
            <a:off x="6414516" y="29271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9271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 хэш, ни классический векторный подход не решают переформулировку на русском языке целиком сами по себе</a:t>
            </a:r>
          </a:p>
        </p:txBody>
      </p:sp>
      <p:cxnSp>
        <p:nvCxnSpPr>
          <p:cNvPr id="19" name="Connector 18"/>
          <p:cNvCxnSpPr/>
          <p:nvPr/>
        </p:nvCxnSpPr>
        <p:spPr>
          <a:xfrm>
            <a:off x="6414516" y="34181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418128"/>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конкретный инструмент смысловой проверки — тоже выбор: дешёвая модель общего назначения (17/20 на нашем тесте) или специализированный сервис jev (20/20) — не угадывается по умолчанию, нужна своя проверка</a:t>
            </a:r>
          </a:p>
        </p:txBody>
      </p:sp>
      <p:sp>
        <p:nvSpPr>
          <p:cNvPr id="21" name="Rounded Rectangle 20"/>
          <p:cNvSpPr/>
          <p:nvPr/>
        </p:nvSpPr>
        <p:spPr>
          <a:xfrm>
            <a:off x="502920" y="491825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04626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Выглядело надёжным: заявка про тот же вопрос пришла снова — обработали как новую. Чем оказалось: без проверки на дубль каждое повторное обращение запускает цепочку с нуля; ни хэш, ни классический векторный подход не решают это целиком для живого русского текста — нужна модель, с её собственной, измеренной ценой ошибки.</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«Автоматический возврат средств — до заданного порога суммы. Выше порога — только через руководителя.»</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продолжение процесса классификации</a:t>
            </a:r>
          </a:p>
        </p:txBody>
      </p:sp>
      <p:sp>
        <p:nvSpPr>
          <p:cNvPr id="3" name="Rounded Rectangle 2"/>
          <p:cNvSpPr/>
          <p:nvPr/>
        </p:nvSpPr>
        <p:spPr>
          <a:xfrm>
            <a:off x="502920" y="11250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30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форма обращения, которой мы уже пользовались в предыдущих кейсах: человек описывает ситуацию своими словами — «прошу вернуть 2500 рублей за пропущенное занятие».</a:t>
            </a:r>
          </a:p>
        </p:txBody>
      </p:sp>
      <p:sp>
        <p:nvSpPr>
          <p:cNvPr id="5" name="Rounded Rectangle 4"/>
          <p:cNvSpPr/>
          <p:nvPr/>
        </p:nvSpPr>
        <p:spPr>
          <a:xfrm>
            <a:off x="502920" y="2490698"/>
            <a:ext cx="11183112" cy="1962531"/>
          </a:xfrm>
          <a:prstGeom prst="roundRect">
            <a:avLst>
              <a:gd name="adj" fmla="val 1553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1015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1015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Человек пишет заявку свободным текстом — внутри него и просьба, и сумма.</a:t>
            </a:r>
          </a:p>
        </p:txBody>
      </p:sp>
      <p:sp>
        <p:nvSpPr>
          <p:cNvPr id="8" name="TextBox 7"/>
          <p:cNvSpPr txBox="1"/>
          <p:nvPr/>
        </p:nvSpPr>
        <p:spPr>
          <a:xfrm>
            <a:off x="722376" y="304048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4048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Процесс, который в Семинаре 7 определял тему обращения, здесь идёт на шаг дальше: читает текст и сам решает — одобрить сумму автоматически или передать её руководителю (модель </a:t>
            </a:r>
            <a:r>
              <a:rPr sz="1350" b="0" i="0">
                <a:solidFill>
                  <a:srgbClr val="141B2E"/>
                </a:solidFill>
                <a:latin typeface="Consolas"/>
              </a:rPr>
              <a:t>qwen/qwen-2.5-7b-instruct</a:t>
            </a:r>
            <a:r>
              <a:rPr sz="1350" b="0" i="0">
                <a:solidFill>
                  <a:srgbClr val="141B2E"/>
                </a:solidFill>
                <a:latin typeface="Arial"/>
              </a:rPr>
              <a:t>).</a:t>
            </a:r>
          </a:p>
        </p:txBody>
      </p:sp>
      <p:sp>
        <p:nvSpPr>
          <p:cNvPr id="10" name="TextBox 9"/>
          <p:cNvSpPr txBox="1"/>
          <p:nvPr/>
        </p:nvSpPr>
        <p:spPr>
          <a:xfrm>
            <a:off x="722376" y="3573119"/>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57311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«одобрить» — деньги автоматически уходят на карту клиента, без участия человека.</a:t>
            </a:r>
          </a:p>
        </p:txBody>
      </p:sp>
      <p:sp>
        <p:nvSpPr>
          <p:cNvPr id="12" name="TextBox 11"/>
          <p:cNvSpPr txBox="1"/>
          <p:nvPr/>
        </p:nvSpPr>
        <p:spPr>
          <a:xfrm>
            <a:off x="722376" y="3903446"/>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0344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«эскалировать» — заявка уходит руководителю, и дальше решает он.</a:t>
            </a:r>
          </a:p>
        </p:txBody>
      </p:sp>
      <p:sp>
        <p:nvSpPr>
          <p:cNvPr id="14" name="Rounded Rectangle 13"/>
          <p:cNvSpPr/>
          <p:nvPr/>
        </p:nvSpPr>
        <p:spPr>
          <a:xfrm>
            <a:off x="502920" y="507210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0011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чём стоит доверие.</a:t>
            </a:r>
            <a:r>
              <a:rPr sz="1500" b="1" i="0">
                <a:solidFill>
                  <a:srgbClr val="141B2E"/>
                </a:solidFill>
                <a:latin typeface="Arial"/>
              </a:rPr>
              <a:t> Версия работает уже месяц. Никто не пожаловался, что одобрено то, что следовало эскалировать, или наоборот. Команда считает правило надёжным — и ровно на этом основании: ничего плохого не заметили.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чтобы решение о пороге не ошибалось</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написать правило яснее в промте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поставить IF-узел после извлечения суммы</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сделать сумму явным числовым полем формы</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каждое из четырёх действий</a:t>
            </a:r>
          </a:p>
        </p:txBody>
      </p:sp>
      <p:sp>
        <p:nvSpPr>
          <p:cNvPr id="3" name="Rounded Rectangle 2"/>
          <p:cNvSpPr/>
          <p:nvPr/>
        </p:nvSpPr>
        <p:spPr>
          <a:xfrm>
            <a:off x="502920" y="943356"/>
            <a:ext cx="11183112" cy="3912616"/>
          </a:xfrm>
          <a:prstGeom prst="roundRect">
            <a:avLst>
              <a:gd name="adj" fmla="val 77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3078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2562889" y="1126236"/>
            <a:ext cx="191515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4624348" y="1126236"/>
            <a:ext cx="212664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6897302" y="1126236"/>
            <a:ext cx="445954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Написать правило яснее в промте</a:t>
            </a:r>
          </a:p>
        </p:txBody>
      </p:sp>
      <p:sp>
        <p:nvSpPr>
          <p:cNvPr id="9" name="TextBox 8"/>
          <p:cNvSpPr txBox="1"/>
          <p:nvPr/>
        </p:nvSpPr>
        <p:spPr>
          <a:xfrm>
            <a:off x="2562889" y="1385824"/>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Переформулировать правило, явно развести «≤3000 → одобрить» и «&gt;3000 → эскалировать»</a:t>
            </a:r>
          </a:p>
        </p:txBody>
      </p:sp>
      <p:sp>
        <p:nvSpPr>
          <p:cNvPr id="10" name="TextBox 9"/>
          <p:cNvSpPr txBox="1"/>
          <p:nvPr/>
        </p:nvSpPr>
        <p:spPr>
          <a:xfrm>
            <a:off x="4624348" y="1385824"/>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Измерено: версия 1 ошибалась 9/101 на границе, уточнённая формулировка — </a:t>
            </a:r>
            <a:r>
              <a:rPr sz="1000" b="1" i="0">
                <a:solidFill>
                  <a:srgbClr val="141B2E"/>
                </a:solidFill>
                <a:latin typeface="Arial"/>
              </a:rPr>
              <a:t>100/100</a:t>
            </a:r>
            <a:r>
              <a:rPr sz="1000" b="0" i="0">
                <a:solidFill>
                  <a:srgbClr val="141B2E"/>
                </a:solidFill>
                <a:latin typeface="Arial"/>
              </a:rPr>
              <a:t> на расширенном наборе</a:t>
            </a:r>
          </a:p>
        </p:txBody>
      </p:sp>
      <p:sp>
        <p:nvSpPr>
          <p:cNvPr id="11" name="TextBox 10"/>
          <p:cNvSpPr txBox="1"/>
          <p:nvPr/>
        </p:nvSpPr>
        <p:spPr>
          <a:xfrm>
            <a:off x="6897302" y="1385824"/>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Факт на конкретном наборе/модели, не структурная гарантия — решение всё ещё текстовое, не код; другая формулировка или модель может разойтись снова</a:t>
            </a:r>
          </a:p>
        </p:txBody>
      </p:sp>
      <p:cxnSp>
        <p:nvCxnSpPr>
          <p:cNvPr id="12" name="Connector 11"/>
          <p:cNvCxnSpPr/>
          <p:nvPr/>
        </p:nvCxnSpPr>
        <p:spPr>
          <a:xfrm>
            <a:off x="685800" y="2134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34616"/>
            <a:ext cx="1730785"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Дать модели инструмент-калькулятор</a:t>
            </a:r>
          </a:p>
        </p:txBody>
      </p:sp>
      <p:sp>
        <p:nvSpPr>
          <p:cNvPr id="14" name="TextBox 13"/>
          <p:cNvSpPr txBox="1"/>
          <p:nvPr/>
        </p:nvSpPr>
        <p:spPr>
          <a:xfrm>
            <a:off x="2562889" y="2134616"/>
            <a:ext cx="1915154"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получает функцию сравнения чисел вместо сравнения «в уме» и сама решает, вызывать её или нет</a:t>
            </a:r>
          </a:p>
        </p:txBody>
      </p:sp>
      <p:sp>
        <p:nvSpPr>
          <p:cNvPr id="15" name="TextBox 14"/>
          <p:cNvSpPr txBox="1"/>
          <p:nvPr/>
        </p:nvSpPr>
        <p:spPr>
          <a:xfrm>
            <a:off x="4624348" y="2134616"/>
            <a:ext cx="2126649"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 теории разделяет извлечение числа и сравнение на две операции</a:t>
            </a:r>
          </a:p>
        </p:txBody>
      </p:sp>
      <p:sp>
        <p:nvSpPr>
          <p:cNvPr id="16" name="TextBox 15"/>
          <p:cNvSpPr txBox="1"/>
          <p:nvPr/>
        </p:nvSpPr>
        <p:spPr>
          <a:xfrm>
            <a:off x="6897302" y="2134616"/>
            <a:ext cx="445954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сначала извлекает сумму из текста — тот же вероятностный шаг, затем сама решает, вызывать ли инструмент: вероятностность не исчезает, переезжает раньше. Измерено: </a:t>
            </a:r>
            <a:r>
              <a:rPr sz="1000" b="1" i="0">
                <a:solidFill>
                  <a:srgbClr val="141B2E"/>
                </a:solidFill>
                <a:latin typeface="Arial"/>
              </a:rPr>
              <a:t>56/100</a:t>
            </a:r>
            <a:r>
              <a:rPr sz="1000" b="0" i="0">
                <a:solidFill>
                  <a:srgbClr val="141B2E"/>
                </a:solidFill>
                <a:latin typeface="Arial"/>
              </a:rPr>
              <a:t> — хуже всех; калькулятор не умеет сравнений (11/100 отказов), 30/100 ответов не сводятся к слову, 9/100 ошибок разбросаны по диапазону</a:t>
            </a:r>
          </a:p>
        </p:txBody>
      </p:sp>
      <p:cxnSp>
        <p:nvCxnSpPr>
          <p:cNvPr id="17" name="Connector 16"/>
          <p:cNvCxnSpPr/>
          <p:nvPr/>
        </p:nvCxnSpPr>
        <p:spPr>
          <a:xfrm>
            <a:off x="685800" y="31755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175507"/>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Поставить </a:t>
            </a:r>
            <a:r>
              <a:rPr sz="1000" b="1" i="0">
                <a:solidFill>
                  <a:srgbClr val="141B2E"/>
                </a:solidFill>
                <a:latin typeface="Consolas"/>
              </a:rPr>
              <a:t>IF</a:t>
            </a:r>
            <a:r>
              <a:rPr sz="1000" b="1" i="0">
                <a:solidFill>
                  <a:srgbClr val="141B2E"/>
                </a:solidFill>
                <a:latin typeface="Arial"/>
              </a:rPr>
              <a:t>-узел после извлечения суммы</a:t>
            </a:r>
          </a:p>
        </p:txBody>
      </p:sp>
      <p:sp>
        <p:nvSpPr>
          <p:cNvPr id="19" name="TextBox 18"/>
          <p:cNvSpPr txBox="1"/>
          <p:nvPr/>
        </p:nvSpPr>
        <p:spPr>
          <a:xfrm>
            <a:off x="2562889" y="3175507"/>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Сумму достаёт модель, сравнивает с порогом код — условие, не текстовый вызов</a:t>
            </a:r>
          </a:p>
        </p:txBody>
      </p:sp>
      <p:sp>
        <p:nvSpPr>
          <p:cNvPr id="20" name="TextBox 19"/>
          <p:cNvSpPr txBox="1"/>
          <p:nvPr/>
        </p:nvSpPr>
        <p:spPr>
          <a:xfrm>
            <a:off x="4624348" y="3175507"/>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Устраняет вероятностность из точки решения. Измерено: </a:t>
            </a:r>
            <a:r>
              <a:rPr sz="1000" b="1" i="0">
                <a:solidFill>
                  <a:srgbClr val="141B2E"/>
                </a:solidFill>
                <a:latin typeface="Arial"/>
              </a:rPr>
              <a:t>0/101</a:t>
            </a:r>
            <a:r>
              <a:rPr sz="1000" b="0" i="0">
                <a:solidFill>
                  <a:srgbClr val="141B2E"/>
                </a:solidFill>
                <a:latin typeface="Arial"/>
              </a:rPr>
              <a:t> на расширенном наборе, включая граничные случаи</a:t>
            </a:r>
          </a:p>
        </p:txBody>
      </p:sp>
      <p:sp>
        <p:nvSpPr>
          <p:cNvPr id="21" name="TextBox 20"/>
          <p:cNvSpPr txBox="1"/>
          <p:nvPr/>
        </p:nvSpPr>
        <p:spPr>
          <a:xfrm>
            <a:off x="6897302" y="3175507"/>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Сумму всё ещё извлекает модель — ошибка извлечения (не сравнения) этим узлом не закрыта, хотя на наборе её не нашлось</a:t>
            </a:r>
          </a:p>
        </p:txBody>
      </p:sp>
      <p:cxnSp>
        <p:nvCxnSpPr>
          <p:cNvPr id="22" name="Connector 21"/>
          <p:cNvCxnSpPr/>
          <p:nvPr/>
        </p:nvCxnSpPr>
        <p:spPr>
          <a:xfrm>
            <a:off x="685800" y="39242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24299"/>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Сделать сумму явным числовым полем формы</a:t>
            </a:r>
          </a:p>
        </p:txBody>
      </p:sp>
      <p:sp>
        <p:nvSpPr>
          <p:cNvPr id="24" name="TextBox 23"/>
          <p:cNvSpPr txBox="1"/>
          <p:nvPr/>
        </p:nvSpPr>
        <p:spPr>
          <a:xfrm>
            <a:off x="2562889" y="3924299"/>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Собирать сумму цифрами в поле заявки — не извлекать из текста вовсе</a:t>
            </a:r>
          </a:p>
        </p:txBody>
      </p:sp>
      <p:sp>
        <p:nvSpPr>
          <p:cNvPr id="25" name="TextBox 24"/>
          <p:cNvSpPr txBox="1"/>
          <p:nvPr/>
        </p:nvSpPr>
        <p:spPr>
          <a:xfrm>
            <a:off x="4624348" y="3924299"/>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Устраняет неопределённость раньше: извлекать нечего — риска неверного извлечения нет</a:t>
            </a:r>
          </a:p>
        </p:txBody>
      </p:sp>
      <p:sp>
        <p:nvSpPr>
          <p:cNvPr id="26" name="TextBox 25"/>
          <p:cNvSpPr txBox="1"/>
          <p:nvPr/>
        </p:nvSpPr>
        <p:spPr>
          <a:xfrm>
            <a:off x="6897302" y="3924299"/>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Работает только если форму можно менять; письмо/чат/другой канал всё равно требует извлечения из текста. Метрика — применимость, не точность: шага извлечения нет, точности тоже</a:t>
            </a:r>
          </a:p>
        </p:txBody>
      </p:sp>
      <p:sp>
        <p:nvSpPr>
          <p:cNvPr id="27" name="Rounded Rectangle 26"/>
          <p:cNvSpPr/>
          <p:nvPr/>
        </p:nvSpPr>
        <p:spPr>
          <a:xfrm>
            <a:off x="502920" y="502056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14858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Мостик дальше.</a:t>
            </a:r>
            <a:r>
              <a:rPr sz="1100" b="1" i="0">
                <a:solidFill>
                  <a:srgbClr val="141B2E"/>
                </a:solidFill>
                <a:latin typeface="Arial"/>
              </a:rPr>
              <a:t> Одно действие измеримо исправило конкретную находку, одно измеримо провалилось, одно устраняет риск структурно и подтверждено измерением, одно меняет вход раньше решения и не нуждается в метрике точности. Какое из них нужно именно здесь — решает не спор за столом, а измерение, которое вы уже видите в этой таблице: следующий такт показывает, как оно было устроено.</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идеи: сервис jev для извлечения суммы</a:t>
            </a:r>
          </a:p>
        </p:txBody>
      </p:sp>
      <p:sp>
        <p:nvSpPr>
          <p:cNvPr id="3" name="Rounded Rectangle 2"/>
          <p:cNvSpPr/>
          <p:nvPr/>
        </p:nvSpPr>
        <p:spPr>
          <a:xfrm>
            <a:off x="502920" y="94472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Предложенная идея.</a:t>
            </a:r>
            <a:r>
              <a:rPr sz="1500" b="1" i="0">
                <a:solidFill>
                  <a:srgbClr val="141B2E"/>
                </a:solidFill>
                <a:latin typeface="Arial"/>
              </a:rPr>
              <a:t> Достать сумму возврата не моделью общего назначения, а специализированным сервисом jev — тем же, что в Кейсе 2 отличал повторный вопрос от нового, — а сравнение с порогом по-прежнему оставить коду, тому же </a:t>
            </a:r>
            <a:r>
              <a:rPr sz="1500" b="1" i="0">
                <a:solidFill>
                  <a:srgbClr val="141B2E"/>
                </a:solidFill>
                <a:latin typeface="Consolas"/>
              </a:rPr>
              <a:t>IF</a:t>
            </a:r>
            <a:r>
              <a:rPr sz="1500" b="1" i="0">
                <a:solidFill>
                  <a:srgbClr val="141B2E"/>
                </a:solidFill>
                <a:latin typeface="Arial"/>
              </a:rPr>
              <a:t>-узлу, что уже выбран версией 2.</a:t>
            </a:r>
          </a:p>
        </p:txBody>
      </p:sp>
      <p:sp>
        <p:nvSpPr>
          <p:cNvPr id="5" name="Rounded Rectangle 4"/>
          <p:cNvSpPr/>
          <p:nvPr/>
        </p:nvSpPr>
        <p:spPr>
          <a:xfrm>
            <a:off x="502920" y="2095728"/>
            <a:ext cx="82296" cy="1927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3744"/>
            <a:ext cx="10643616" cy="1671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показала проверка.</a:t>
            </a:r>
            <a:r>
              <a:rPr sz="1500" b="1" i="0">
                <a:solidFill>
                  <a:srgbClr val="141B2E"/>
                </a:solidFill>
                <a:latin typeface="Arial"/>
              </a:rPr>
              <a:t> У сервиса jev ровно четыре типа ответа: да/нет с вероятностью, выбор одного варианта из перечня, позиция на заранее заданной шкале, область на картинке. Открытого числа среди них нет. Решающий тест: суммы 2999 и 3001 рубль — по разные стороны настоящего порога в 3000 рублей — обе получили один и тот же диапазон шкалы с полной уверенностью. Сервис их не различил. Различить можно было бы только встроив границу диапазона ровно в 3000 заранее — то есть зная порог ещё в момент формулировки вопроса к сервису, точно как в тексте промпта версии 1.</a:t>
            </a:r>
          </a:p>
        </p:txBody>
      </p:sp>
      <p:sp>
        <p:nvSpPr>
          <p:cNvPr id="7" name="Rounded Rectangle 6"/>
          <p:cNvSpPr/>
          <p:nvPr/>
        </p:nvSpPr>
        <p:spPr>
          <a:xfrm>
            <a:off x="502920" y="419160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962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это отличается от калькулятора.</a:t>
            </a:r>
            <a:r>
              <a:rPr sz="1500" b="1" i="0">
                <a:solidFill>
                  <a:srgbClr val="141B2E"/>
                </a:solidFill>
                <a:latin typeface="Arial"/>
              </a:rPr>
              <a:t> У действия «дать модели инструмент-калькулятор» (предыдущий экран) модель МОГЛА вызвать инструмент — вероятностность не исчезала, она переезжала на шаг раньше. У jev в этой задаче самой операции «вернуть открытое число» в API нет вовсе — это не плохо выполненная работа, а работа, которую сервис структурно не берёт.</a:t>
            </a:r>
          </a:p>
        </p:txBody>
      </p:sp>
      <p:sp>
        <p:nvSpPr>
          <p:cNvPr id="9" name="Rounded Rectangle 8"/>
          <p:cNvSpPr/>
          <p:nvPr/>
        </p:nvSpPr>
        <p:spPr>
          <a:xfrm>
            <a:off x="502920" y="557883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70684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Урок.</a:t>
            </a:r>
            <a:r>
              <a:rPr sz="1500" b="1" i="0">
                <a:solidFill>
                  <a:srgbClr val="141B2E"/>
                </a:solidFill>
                <a:latin typeface="Arial"/>
              </a:rPr>
              <a:t> Сначала проверяют, что сервис умеет делать то, что от него хотят, и только потом вокруг этого проектируют шаг — не наоборот.</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тот же путь, одна точка меняется</a:t>
            </a:r>
          </a:p>
        </p:txBody>
      </p:sp>
      <p:pic>
        <p:nvPicPr>
          <p:cNvPr id="3" name="Picture 2" descr="k3-shema-versii.png"/>
          <p:cNvPicPr>
            <a:picLocks noChangeAspect="1"/>
          </p:cNvPicPr>
          <p:nvPr/>
        </p:nvPicPr>
        <p:blipFill>
          <a:blip r:embed="rId2"/>
          <a:stretch>
            <a:fillRect/>
          </a:stretch>
        </p:blipFill>
        <p:spPr>
          <a:xfrm>
            <a:off x="2533973" y="943356"/>
            <a:ext cx="7121005" cy="3115439"/>
          </a:xfrm>
          <a:prstGeom prst="rect">
            <a:avLst/>
          </a:prstGeom>
        </p:spPr>
      </p:pic>
      <p:sp>
        <p:nvSpPr>
          <p:cNvPr id="4" name="Rounded Rectangle 3"/>
          <p:cNvSpPr/>
          <p:nvPr/>
        </p:nvSpPr>
        <p:spPr>
          <a:xfrm>
            <a:off x="502920" y="422338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Версия 1 (было).</a:t>
            </a:r>
            <a:r>
              <a:rPr sz="1150" b="1" i="0">
                <a:solidFill>
                  <a:srgbClr val="141B2E"/>
                </a:solidFill>
                <a:latin typeface="Arial"/>
              </a:rPr>
              <a:t> Форма со свободным текстом → модель извлекает сумму → </a:t>
            </a:r>
            <a:r>
              <a:rPr sz="1150" b="1" i="0">
                <a:solidFill>
                  <a:srgbClr val="141B2E"/>
                </a:solidFill>
                <a:latin typeface="Arial"/>
              </a:rPr>
              <a:t>модель же решает по тексту правила</a:t>
            </a:r>
            <a:r>
              <a:rPr sz="1150" b="1" i="0">
                <a:solidFill>
                  <a:srgbClr val="141B2E"/>
                </a:solidFill>
                <a:latin typeface="Arial"/>
              </a:rPr>
              <a:t> → результат.</a:t>
            </a:r>
          </a:p>
        </p:txBody>
      </p:sp>
      <p:sp>
        <p:nvSpPr>
          <p:cNvPr id="6" name="Rounded Rectangle 5"/>
          <p:cNvSpPr/>
          <p:nvPr/>
        </p:nvSpPr>
        <p:spPr>
          <a:xfrm>
            <a:off x="502920" y="4843401"/>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71417"/>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Версия 2 (стало, прямой ответ на находку эксперимента).</a:t>
            </a:r>
            <a:r>
              <a:rPr sz="1100" b="1" i="0">
                <a:solidFill>
                  <a:srgbClr val="141B2E"/>
                </a:solidFill>
                <a:latin typeface="Arial"/>
              </a:rPr>
              <a:t> Та же форма → модель извлекает сумму → </a:t>
            </a:r>
            <a:r>
              <a:rPr sz="1100" b="1" i="0">
                <a:solidFill>
                  <a:srgbClr val="141B2E"/>
                </a:solidFill>
                <a:latin typeface="Consolas"/>
              </a:rPr>
              <a:t>IF</a:t>
            </a:r>
            <a:r>
              <a:rPr sz="1100" b="1" i="0">
                <a:solidFill>
                  <a:srgbClr val="141B2E"/>
                </a:solidFill>
                <a:latin typeface="Arial"/>
              </a:rPr>
              <a:t>-узел сравнивает число с порогом</a:t>
            </a:r>
            <a:r>
              <a:rPr sz="1100" b="1" i="0">
                <a:solidFill>
                  <a:srgbClr val="141B2E"/>
                </a:solidFill>
                <a:latin typeface="Arial"/>
              </a:rPr>
              <a:t> → результат.</a:t>
            </a:r>
          </a:p>
        </p:txBody>
      </p:sp>
      <p:sp>
        <p:nvSpPr>
          <p:cNvPr id="8" name="Rounded Rectangle 7"/>
          <p:cNvSpPr/>
          <p:nvPr/>
        </p:nvSpPr>
        <p:spPr>
          <a:xfrm>
            <a:off x="502920" y="5599685"/>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7701"/>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Цепочка не перестроена. Разница — ровно в одном узле, том самом, где раньше принималось решение. Всё остальное — форма, извлечение суммы, дальнейшая маршрутизация заявки — осталось тем же.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на практике, а не на веру</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Зачем мерить, а не ждать жалобу.</a:t>
            </a:r>
            <a:r>
              <a:rPr sz="1200" b="1" i="0">
                <a:solidFill>
                  <a:srgbClr val="141B2E"/>
                </a:solidFill>
                <a:latin typeface="Arial"/>
              </a:rPr>
              <a:t> Жалоба приходит только если ошибка достаточно заметна и достаточно дорога, чтобы кто-то вернулся. Тихая ошибка — одобрена чуть большая сумма, эскалирована чуть меньшая — жалобы не вызовет никогда.</a:t>
            </a:r>
          </a:p>
        </p:txBody>
      </p:sp>
      <p:sp>
        <p:nvSpPr>
          <p:cNvPr id="5" name="Rounded Rectangle 4"/>
          <p:cNvSpPr/>
          <p:nvPr/>
        </p:nvSpPr>
        <p:spPr>
          <a:xfrm>
            <a:off x="502920" y="176022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8823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Исходные 51 (кластер у границы).</a:t>
            </a:r>
            <a:r>
              <a:rPr sz="1200" b="1" i="0">
                <a:solidFill>
                  <a:srgbClr val="141B2E"/>
                </a:solidFill>
                <a:latin typeface="Arial"/>
              </a:rPr>
              <a:t> Фиксированный seed. 25 сумм </a:t>
            </a:r>
            <a:r>
              <a:rPr sz="1200" b="1" i="0">
                <a:solidFill>
                  <a:srgbClr val="141B2E"/>
                </a:solidFill>
                <a:latin typeface="Arial"/>
              </a:rPr>
              <a:t>near-or-below</a:t>
            </a:r>
            <a:r>
              <a:rPr sz="1200" b="1" i="0">
                <a:solidFill>
                  <a:srgbClr val="141B2E"/>
                </a:solidFill>
                <a:latin typeface="Arial"/>
              </a:rPr>
              <a:t> порога (1000–3000 руб., кластер у границы: 2900…3000, трижды ровно 3000; напр. «можно возврат 3000 рублей за один пропуск?»). 25 сумм </a:t>
            </a:r>
            <a:r>
              <a:rPr sz="1200" b="1" i="0">
                <a:solidFill>
                  <a:srgbClr val="141B2E"/>
                </a:solidFill>
                <a:latin typeface="Arial"/>
              </a:rPr>
              <a:t>явно выше</a:t>
            </a:r>
            <a:r>
              <a:rPr sz="1200" b="1" i="0">
                <a:solidFill>
                  <a:srgbClr val="141B2E"/>
                </a:solidFill>
                <a:latin typeface="Arial"/>
              </a:rPr>
              <a:t> (3200–9000 руб.; напр. «возврат 3200 рублей, иначе буду писать жалобу»). Плюс 1 ручной тест.</a:t>
            </a:r>
          </a:p>
        </p:txBody>
      </p:sp>
      <p:sp>
        <p:nvSpPr>
          <p:cNvPr id="7" name="Rounded Rectangle 6"/>
          <p:cNvSpPr/>
          <p:nvPr/>
        </p:nvSpPr>
        <p:spPr>
          <a:xfrm>
            <a:off x="502920" y="2766060"/>
            <a:ext cx="82296" cy="99872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894076"/>
            <a:ext cx="10643616" cy="742696"/>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Новые 50 (сложнее первых).</a:t>
            </a:r>
            <a:r>
              <a:rPr sz="1150" b="1" i="0">
                <a:solidFill>
                  <a:srgbClr val="141B2E"/>
                </a:solidFill>
                <a:latin typeface="Arial"/>
              </a:rPr>
              <a:t> </a:t>
            </a:r>
            <a:r>
              <a:rPr sz="1150" b="1" i="0">
                <a:solidFill>
                  <a:srgbClr val="141B2E"/>
                </a:solidFill>
                <a:latin typeface="Arial"/>
              </a:rPr>
              <a:t>tight border</a:t>
            </a:r>
            <a:r>
              <a:rPr sz="1150" b="1" i="0">
                <a:solidFill>
                  <a:srgbClr val="141B2E"/>
                </a:solidFill>
                <a:latin typeface="Arial"/>
              </a:rPr>
              <a:t> — 15 сумм в ±20 руб. от порога (2980…3020; напр. «прошу вернуть 2999 рублей, занятие отменили в последний момент»). </a:t>
            </a:r>
            <a:r>
              <a:rPr sz="1150" b="1" i="0">
                <a:solidFill>
                  <a:srgbClr val="141B2E"/>
                </a:solidFill>
                <a:latin typeface="Arial"/>
              </a:rPr>
              <a:t>Два числа</a:t>
            </a:r>
            <a:r>
              <a:rPr sz="1150" b="1" i="0">
                <a:solidFill>
                  <a:srgbClr val="141B2E"/>
                </a:solidFill>
                <a:latin typeface="Arial"/>
              </a:rPr>
              <a:t> — 20 текстов с отвлекающим и целевым числом (напр. «курс обошёлся в 12000 руб., хочу возврат 2400 рублей за один блок»). </a:t>
            </a:r>
            <a:r>
              <a:rPr sz="1150" b="1" i="0">
                <a:solidFill>
                  <a:srgbClr val="141B2E"/>
                </a:solidFill>
                <a:latin typeface="Arial"/>
              </a:rPr>
              <a:t>Непрямая формулировка</a:t>
            </a:r>
            <a:r>
              <a:rPr sz="1150" b="1" i="0">
                <a:solidFill>
                  <a:srgbClr val="141B2E"/>
                </a:solidFill>
                <a:latin typeface="Arial"/>
              </a:rPr>
              <a:t> — 15 текстов, сумма выводится арифметикой или словом «около» (напр. «занятие стоило 1500 рублей, прошу вернуть за два таких занятия»).</a:t>
            </a:r>
          </a:p>
        </p:txBody>
      </p:sp>
      <p:sp>
        <p:nvSpPr>
          <p:cNvPr id="9" name="Rounded Rectangle 8"/>
          <p:cNvSpPr/>
          <p:nvPr/>
        </p:nvSpPr>
        <p:spPr>
          <a:xfrm>
            <a:off x="502920" y="392938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5739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Итого 101 запрос.</a:t>
            </a:r>
            <a:r>
              <a:rPr sz="1200" b="1" i="0">
                <a:solidFill>
                  <a:srgbClr val="141B2E"/>
                </a:solidFill>
                <a:latin typeface="Arial"/>
              </a:rPr>
              <a:t> Критерий правильности — решение, прочитанное из </a:t>
            </a:r>
            <a:r>
              <a:rPr sz="1200" b="1" i="0">
                <a:solidFill>
                  <a:srgbClr val="141B2E"/>
                </a:solidFill>
                <a:latin typeface="Consolas"/>
              </a:rPr>
              <a:t>runData</a:t>
            </a:r>
            <a:r>
              <a:rPr sz="1200" b="1" i="0">
                <a:solidFill>
                  <a:srgbClr val="141B2E"/>
                </a:solidFill>
                <a:latin typeface="Arial"/>
              </a:rPr>
              <a:t> настоящего прогона, сравнивается с ожиданием «одобрить, если сумма ≤ 3000 руб., иначе эскалировать» — тем же правилом, которое задаёт сам текст промпта.</a:t>
            </a:r>
          </a:p>
        </p:txBody>
      </p:sp>
      <p:pic>
        <p:nvPicPr>
          <p:cNvPr id="11" name="Picture 10" descr="k3-n8n-variants-real.png"/>
          <p:cNvPicPr>
            <a:picLocks noChangeAspect="1"/>
          </p:cNvPicPr>
          <p:nvPr/>
        </p:nvPicPr>
        <p:blipFill>
          <a:blip r:embed="rId2"/>
          <a:stretch>
            <a:fillRect/>
          </a:stretch>
        </p:blipFill>
        <p:spPr>
          <a:xfrm>
            <a:off x="2161814" y="4746244"/>
            <a:ext cx="7865323" cy="1462104"/>
          </a:xfrm>
          <a:prstGeom prst="rect">
            <a:avLst/>
          </a:prstGeom>
        </p:spPr>
      </p:pic>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Результат: 9 ошибок из 101, и все девять в одной точке</a:t>
            </a:r>
          </a:p>
        </p:txBody>
      </p:sp>
      <p:sp>
        <p:nvSpPr>
          <p:cNvPr id="3" name="Rounded Rectangle 2"/>
          <p:cNvSpPr/>
          <p:nvPr/>
        </p:nvSpPr>
        <p:spPr>
          <a:xfrm>
            <a:off x="502920" y="943356"/>
            <a:ext cx="11183112" cy="3629215"/>
          </a:xfrm>
          <a:prstGeom prst="roundRect">
            <a:avLst>
              <a:gd name="adj" fmla="val 83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81393"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БЛОК ТЕСТА</a:t>
            </a:r>
          </a:p>
        </p:txBody>
      </p:sp>
      <p:sp>
        <p:nvSpPr>
          <p:cNvPr id="5" name="TextBox 4"/>
          <p:cNvSpPr txBox="1"/>
          <p:nvPr/>
        </p:nvSpPr>
        <p:spPr>
          <a:xfrm>
            <a:off x="3713497" y="1126236"/>
            <a:ext cx="78850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ЗАПРОСОВ</a:t>
            </a:r>
          </a:p>
        </p:txBody>
      </p:sp>
      <p:sp>
        <p:nvSpPr>
          <p:cNvPr id="6" name="TextBox 5"/>
          <p:cNvSpPr txBox="1"/>
          <p:nvPr/>
        </p:nvSpPr>
        <p:spPr>
          <a:xfrm>
            <a:off x="4648306"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В.1</a:t>
            </a:r>
          </a:p>
        </p:txBody>
      </p:sp>
      <p:sp>
        <p:nvSpPr>
          <p:cNvPr id="7" name="TextBox 6"/>
          <p:cNvSpPr txBox="1"/>
          <p:nvPr/>
        </p:nvSpPr>
        <p:spPr>
          <a:xfrm>
            <a:off x="5469609"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В.2</a:t>
            </a:r>
          </a:p>
        </p:txBody>
      </p:sp>
      <p:sp>
        <p:nvSpPr>
          <p:cNvPr id="8" name="TextBox 7"/>
          <p:cNvSpPr txBox="1"/>
          <p:nvPr/>
        </p:nvSpPr>
        <p:spPr>
          <a:xfrm>
            <a:off x="6290912" y="1126236"/>
            <a:ext cx="506593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ПРИМЕР ЗАПРОСА</a:t>
            </a:r>
          </a:p>
        </p:txBody>
      </p:sp>
      <p:sp>
        <p:nvSpPr>
          <p:cNvPr id="9" name="TextBox 8"/>
          <p:cNvSpPr txBox="1"/>
          <p:nvPr/>
        </p:nvSpPr>
        <p:spPr>
          <a:xfrm>
            <a:off x="685800" y="1550670"/>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границы и ниже (1000–3000 руб.)</a:t>
            </a:r>
          </a:p>
        </p:txBody>
      </p:sp>
      <p:sp>
        <p:nvSpPr>
          <p:cNvPr id="10" name="TextBox 9"/>
          <p:cNvSpPr txBox="1"/>
          <p:nvPr/>
        </p:nvSpPr>
        <p:spPr>
          <a:xfrm>
            <a:off x="3713497" y="1550670"/>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1" name="TextBox 10"/>
          <p:cNvSpPr txBox="1"/>
          <p:nvPr/>
        </p:nvSpPr>
        <p:spPr>
          <a:xfrm>
            <a:off x="4648306" y="1550670"/>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a:t>
            </a:r>
            <a:r>
              <a:rPr sz="1050" b="0" i="0">
                <a:solidFill>
                  <a:srgbClr val="141B2E"/>
                </a:solidFill>
                <a:latin typeface="Arial"/>
              </a:rPr>
              <a:t> (= 3000 руб.)</a:t>
            </a:r>
          </a:p>
        </p:txBody>
      </p:sp>
      <p:sp>
        <p:nvSpPr>
          <p:cNvPr id="12" name="TextBox 11"/>
          <p:cNvSpPr txBox="1"/>
          <p:nvPr/>
        </p:nvSpPr>
        <p:spPr>
          <a:xfrm>
            <a:off x="5469609" y="1550670"/>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3" name="TextBox 12"/>
          <p:cNvSpPr txBox="1"/>
          <p:nvPr/>
        </p:nvSpPr>
        <p:spPr>
          <a:xfrm>
            <a:off x="6290912" y="1550670"/>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«можно возврат 3000 рублей за один пропуск?»</a:t>
            </a:r>
          </a:p>
        </p:txBody>
      </p:sp>
      <p:cxnSp>
        <p:nvCxnSpPr>
          <p:cNvPr id="14" name="Connector 13"/>
          <p:cNvCxnSpPr/>
          <p:nvPr/>
        </p:nvCxnSpPr>
        <p:spPr>
          <a:xfrm>
            <a:off x="685800" y="2175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75319"/>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Явно выше (3200–9000 руб.)</a:t>
            </a:r>
          </a:p>
        </p:txBody>
      </p:sp>
      <p:sp>
        <p:nvSpPr>
          <p:cNvPr id="16" name="TextBox 15"/>
          <p:cNvSpPr txBox="1"/>
          <p:nvPr/>
        </p:nvSpPr>
        <p:spPr>
          <a:xfrm>
            <a:off x="3713497" y="2175319"/>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7" name="TextBox 16"/>
          <p:cNvSpPr txBox="1"/>
          <p:nvPr/>
        </p:nvSpPr>
        <p:spPr>
          <a:xfrm>
            <a:off x="4648306"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8" name="TextBox 17"/>
          <p:cNvSpPr txBox="1"/>
          <p:nvPr/>
        </p:nvSpPr>
        <p:spPr>
          <a:xfrm>
            <a:off x="5469609"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9" name="TextBox 18"/>
          <p:cNvSpPr txBox="1"/>
          <p:nvPr/>
        </p:nvSpPr>
        <p:spPr>
          <a:xfrm>
            <a:off x="6290912" y="2175319"/>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3200 рублей, иначе буду писать жалобу»</a:t>
            </a:r>
          </a:p>
        </p:txBody>
      </p:sp>
      <p:cxnSp>
        <p:nvCxnSpPr>
          <p:cNvPr id="20" name="Connector 19"/>
          <p:cNvCxnSpPr/>
          <p:nvPr/>
        </p:nvCxnSpPr>
        <p:spPr>
          <a:xfrm>
            <a:off x="685800" y="2493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93264"/>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Ручной тест</a:t>
            </a:r>
          </a:p>
        </p:txBody>
      </p:sp>
      <p:sp>
        <p:nvSpPr>
          <p:cNvPr id="22" name="TextBox 21"/>
          <p:cNvSpPr txBox="1"/>
          <p:nvPr/>
        </p:nvSpPr>
        <p:spPr>
          <a:xfrm>
            <a:off x="3713497" y="2493264"/>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a:t>
            </a:r>
          </a:p>
        </p:txBody>
      </p:sp>
      <p:sp>
        <p:nvSpPr>
          <p:cNvPr id="23" name="TextBox 22"/>
          <p:cNvSpPr txBox="1"/>
          <p:nvPr/>
        </p:nvSpPr>
        <p:spPr>
          <a:xfrm>
            <a:off x="4648306"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4" name="TextBox 23"/>
          <p:cNvSpPr txBox="1"/>
          <p:nvPr/>
        </p:nvSpPr>
        <p:spPr>
          <a:xfrm>
            <a:off x="5469609"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5" name="TextBox 24"/>
          <p:cNvSpPr txBox="1"/>
          <p:nvPr/>
        </p:nvSpPr>
        <p:spPr>
          <a:xfrm>
            <a:off x="6290912" y="2493264"/>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не сохранён как данные</a:t>
            </a:r>
          </a:p>
        </p:txBody>
      </p:sp>
      <p:cxnSp>
        <p:nvCxnSpPr>
          <p:cNvPr id="26" name="Connector 25"/>
          <p:cNvCxnSpPr/>
          <p:nvPr/>
        </p:nvCxnSpPr>
        <p:spPr>
          <a:xfrm>
            <a:off x="685800" y="2811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811208"/>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самой границы (±20 руб. от 3000 руб.)</a:t>
            </a:r>
          </a:p>
        </p:txBody>
      </p:sp>
      <p:sp>
        <p:nvSpPr>
          <p:cNvPr id="28" name="TextBox 27"/>
          <p:cNvSpPr txBox="1"/>
          <p:nvPr/>
        </p:nvSpPr>
        <p:spPr>
          <a:xfrm>
            <a:off x="3713497" y="2811208"/>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29" name="TextBox 28"/>
          <p:cNvSpPr txBox="1"/>
          <p:nvPr/>
        </p:nvSpPr>
        <p:spPr>
          <a:xfrm>
            <a:off x="4648306"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0" name="TextBox 29"/>
          <p:cNvSpPr txBox="1"/>
          <p:nvPr/>
        </p:nvSpPr>
        <p:spPr>
          <a:xfrm>
            <a:off x="5469609"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1" name="TextBox 30"/>
          <p:cNvSpPr txBox="1"/>
          <p:nvPr/>
        </p:nvSpPr>
        <p:spPr>
          <a:xfrm>
            <a:off x="6290912" y="2811208"/>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«прошу вернуть 2999 рублей, занятие отменили в последний момент»</a:t>
            </a:r>
          </a:p>
        </p:txBody>
      </p:sp>
      <p:cxnSp>
        <p:nvCxnSpPr>
          <p:cNvPr id="32" name="Connector 31"/>
          <p:cNvCxnSpPr/>
          <p:nvPr/>
        </p:nvCxnSpPr>
        <p:spPr>
          <a:xfrm>
            <a:off x="685800" y="31291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9153"/>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Два числа в одном тексте</a:t>
            </a:r>
          </a:p>
        </p:txBody>
      </p:sp>
      <p:sp>
        <p:nvSpPr>
          <p:cNvPr id="34" name="TextBox 33"/>
          <p:cNvSpPr txBox="1"/>
          <p:nvPr/>
        </p:nvSpPr>
        <p:spPr>
          <a:xfrm>
            <a:off x="3713497" y="3129153"/>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a:t>
            </a:r>
          </a:p>
        </p:txBody>
      </p:sp>
      <p:sp>
        <p:nvSpPr>
          <p:cNvPr id="35" name="TextBox 34"/>
          <p:cNvSpPr txBox="1"/>
          <p:nvPr/>
        </p:nvSpPr>
        <p:spPr>
          <a:xfrm>
            <a:off x="4648306"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6" name="TextBox 35"/>
          <p:cNvSpPr txBox="1"/>
          <p:nvPr/>
        </p:nvSpPr>
        <p:spPr>
          <a:xfrm>
            <a:off x="5469609"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7" name="TextBox 36"/>
          <p:cNvSpPr txBox="1"/>
          <p:nvPr/>
        </p:nvSpPr>
        <p:spPr>
          <a:xfrm>
            <a:off x="6290912" y="3129153"/>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«курс обошёлся в 12000 руб., хочу возврат 2400 рублей за один блок»</a:t>
            </a:r>
          </a:p>
        </p:txBody>
      </p:sp>
      <p:cxnSp>
        <p:nvCxnSpPr>
          <p:cNvPr id="38" name="Connector 37"/>
          <p:cNvCxnSpPr/>
          <p:nvPr/>
        </p:nvCxnSpPr>
        <p:spPr>
          <a:xfrm>
            <a:off x="685800" y="34470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47097"/>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Непрямая формулировка (арифметика/«около»)</a:t>
            </a:r>
          </a:p>
        </p:txBody>
      </p:sp>
      <p:sp>
        <p:nvSpPr>
          <p:cNvPr id="40" name="TextBox 39"/>
          <p:cNvSpPr txBox="1"/>
          <p:nvPr/>
        </p:nvSpPr>
        <p:spPr>
          <a:xfrm>
            <a:off x="3713497" y="3447097"/>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41" name="TextBox 40"/>
          <p:cNvSpPr txBox="1"/>
          <p:nvPr/>
        </p:nvSpPr>
        <p:spPr>
          <a:xfrm>
            <a:off x="4648306" y="3447097"/>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a:t>
            </a:r>
            <a:r>
              <a:rPr sz="1050" b="0" i="0">
                <a:solidFill>
                  <a:srgbClr val="141B2E"/>
                </a:solidFill>
                <a:latin typeface="Arial"/>
              </a:rPr>
              <a:t> (= 3000 руб.)</a:t>
            </a:r>
          </a:p>
        </p:txBody>
      </p:sp>
      <p:sp>
        <p:nvSpPr>
          <p:cNvPr id="42" name="TextBox 41"/>
          <p:cNvSpPr txBox="1"/>
          <p:nvPr/>
        </p:nvSpPr>
        <p:spPr>
          <a:xfrm>
            <a:off x="5469609" y="3447097"/>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43" name="TextBox 42"/>
          <p:cNvSpPr txBox="1"/>
          <p:nvPr/>
        </p:nvSpPr>
        <p:spPr>
          <a:xfrm>
            <a:off x="6290912" y="3447097"/>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«занятие стоило 1500 рублей, прошу вернуть за два таких занятия»</a:t>
            </a:r>
          </a:p>
        </p:txBody>
      </p:sp>
      <p:cxnSp>
        <p:nvCxnSpPr>
          <p:cNvPr id="44" name="Connector 43"/>
          <p:cNvCxnSpPr/>
          <p:nvPr/>
        </p:nvCxnSpPr>
        <p:spPr>
          <a:xfrm>
            <a:off x="685800" y="40717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66928" y="4071747"/>
            <a:ext cx="11055096" cy="3179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071747"/>
            <a:ext cx="2881393"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Итого</a:t>
            </a:r>
          </a:p>
        </p:txBody>
      </p:sp>
      <p:sp>
        <p:nvSpPr>
          <p:cNvPr id="47" name="TextBox 46"/>
          <p:cNvSpPr txBox="1"/>
          <p:nvPr/>
        </p:nvSpPr>
        <p:spPr>
          <a:xfrm>
            <a:off x="3713497" y="4071747"/>
            <a:ext cx="78850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101</a:t>
            </a:r>
          </a:p>
        </p:txBody>
      </p:sp>
      <p:sp>
        <p:nvSpPr>
          <p:cNvPr id="48" name="TextBox 47"/>
          <p:cNvSpPr txBox="1"/>
          <p:nvPr/>
        </p:nvSpPr>
        <p:spPr>
          <a:xfrm>
            <a:off x="4648306"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9</a:t>
            </a:r>
          </a:p>
        </p:txBody>
      </p:sp>
      <p:sp>
        <p:nvSpPr>
          <p:cNvPr id="49" name="TextBox 48"/>
          <p:cNvSpPr txBox="1"/>
          <p:nvPr/>
        </p:nvSpPr>
        <p:spPr>
          <a:xfrm>
            <a:off x="5469609"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a:t>
            </a:r>
          </a:p>
        </p:txBody>
      </p:sp>
      <p:sp>
        <p:nvSpPr>
          <p:cNvPr id="50" name="Rounded Rectangle 49"/>
          <p:cNvSpPr/>
          <p:nvPr/>
        </p:nvSpPr>
        <p:spPr>
          <a:xfrm>
            <a:off x="502920" y="473716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9536" y="4865179"/>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Что решила модель на границе.</a:t>
            </a:r>
            <a:r>
              <a:rPr sz="1450" b="1" i="0">
                <a:solidFill>
                  <a:srgbClr val="141B2E"/>
                </a:solidFill>
                <a:latin typeface="Arial"/>
              </a:rPr>
              <a:t> На сумме ровно 3000 руб. — в любой из формулировок, прямой или арифметической, — модель версии 1 отвечала «эскалировать», хотя правило («не возвращай больше 3000 рублей») подразумевает, что сама граница — «можно одобрить». Все 9 ошибок без исключения — на этой одной сумме; ни одна ошибка не случилась ни на 2999 руб., ни на 3001 руб., ни где-либо ещё в диапазоне.</a:t>
            </a:r>
          </a:p>
        </p:txBody>
      </p:sp>
      <p:sp>
        <p:nvSpPr>
          <p:cNvPr id="52" name="TextBox 5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IF-узел против текста правила</a:t>
            </a:r>
          </a:p>
        </p:txBody>
      </p:sp>
      <p:pic>
        <p:nvPicPr>
          <p:cNvPr id="3" name="Picture 2" descr="k3-n8n-reshenie-real.png"/>
          <p:cNvPicPr>
            <a:picLocks noChangeAspect="1"/>
          </p:cNvPicPr>
          <p:nvPr/>
        </p:nvPicPr>
        <p:blipFill>
          <a:blip r:embed="rId2"/>
          <a:stretch>
            <a:fillRect/>
          </a:stretch>
        </p:blipFill>
        <p:spPr>
          <a:xfrm>
            <a:off x="502920" y="1028677"/>
            <a:ext cx="11183112" cy="2449237"/>
          </a:xfrm>
          <a:prstGeom prst="rect">
            <a:avLst/>
          </a:prstGeom>
        </p:spPr>
      </p:pic>
      <p:sp>
        <p:nvSpPr>
          <p:cNvPr id="4" name="Rounded Rectangle 3"/>
          <p:cNvSpPr/>
          <p:nvPr/>
        </p:nvSpPr>
        <p:spPr>
          <a:xfrm>
            <a:off x="502920" y="38558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838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Слева — узел </a:t>
            </a:r>
            <a:r>
              <a:rPr sz="1500" b="1" i="0">
                <a:solidFill>
                  <a:srgbClr val="141B2E"/>
                </a:solidFill>
                <a:latin typeface="Consolas"/>
              </a:rPr>
              <a:t>IF</a:t>
            </a:r>
            <a:r>
              <a:rPr sz="1500" b="1" i="0">
                <a:solidFill>
                  <a:srgbClr val="141B2E"/>
                </a:solidFill>
                <a:latin typeface="Arial"/>
              </a:rPr>
              <a:t> («Amount over threshold?») на холсте, версия 2.</a:t>
            </a:r>
            <a:r>
              <a:rPr sz="1500" b="1" i="0">
                <a:solidFill>
                  <a:srgbClr val="141B2E"/>
                </a:solidFill>
                <a:latin typeface="Arial"/>
              </a:rPr>
              <a:t> Условие: извлечённая сумма (число) </a:t>
            </a:r>
            <a:r>
              <a:rPr sz="1500" b="1" i="0">
                <a:solidFill>
                  <a:srgbClr val="141B2E"/>
                </a:solidFill>
                <a:latin typeface="Arial"/>
              </a:rPr>
              <a:t>строго больше 3000</a:t>
            </a:r>
            <a:r>
              <a:rPr sz="1500" b="1" i="0">
                <a:solidFill>
                  <a:srgbClr val="141B2E"/>
                </a:solidFill>
                <a:latin typeface="Arial"/>
              </a:rPr>
              <a:t>. Ветка «да» → эскалировать руководителю. Ветка «нет» → одобрить. Сравнение — операция над числом, не текст, который нужно понять.</a:t>
            </a:r>
          </a:p>
        </p:txBody>
      </p:sp>
      <p:sp>
        <p:nvSpPr>
          <p:cNvPr id="6" name="Rounded Rectangle 5"/>
          <p:cNvSpPr/>
          <p:nvPr/>
        </p:nvSpPr>
        <p:spPr>
          <a:xfrm>
            <a:off x="502920" y="521668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4470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Справа — настоящая открытая панель узла </a:t>
            </a:r>
            <a:r>
              <a:rPr sz="1500" b="1" i="0">
                <a:solidFill>
                  <a:srgbClr val="141B2E"/>
                </a:solidFill>
                <a:latin typeface="Consolas"/>
              </a:rPr>
              <a:t>Decide</a:t>
            </a:r>
            <a:r>
              <a:rPr sz="1500" b="1" i="0">
                <a:solidFill>
                  <a:srgbClr val="141B2E"/>
                </a:solidFill>
                <a:latin typeface="Arial"/>
              </a:rPr>
              <a:t> </a:t>
            </a:r>
            <a:r>
              <a:rPr sz="1500" b="1" i="0">
                <a:solidFill>
                  <a:srgbClr val="141B2E"/>
                </a:solidFill>
                <a:latin typeface="Consolas"/>
              </a:rPr>
              <a:t>refund</a:t>
            </a:r>
            <a:r>
              <a:rPr sz="1500" b="1" i="0">
                <a:solidFill>
                  <a:srgbClr val="141B2E"/>
                </a:solidFill>
                <a:latin typeface="Arial"/>
              </a:rPr>
              <a:t> </a:t>
            </a:r>
            <a:r>
              <a:rPr sz="1500" b="1" i="0">
                <a:solidFill>
                  <a:srgbClr val="141B2E"/>
                </a:solidFill>
                <a:latin typeface="Consolas"/>
              </a:rPr>
              <a:t>(model)</a:t>
            </a:r>
            <a:r>
              <a:rPr sz="1500" b="1" i="0">
                <a:solidFill>
                  <a:srgbClr val="141B2E"/>
                </a:solidFill>
                <a:latin typeface="Arial"/>
              </a:rPr>
              <a:t>, версия 1.</a:t>
            </a:r>
            <a:r>
              <a:rPr sz="1500" b="1" i="0">
                <a:solidFill>
                  <a:srgbClr val="141B2E"/>
                </a:solidFill>
                <a:latin typeface="Arial"/>
              </a:rPr>
              <a:t> Поле </a:t>
            </a:r>
            <a:r>
              <a:rPr sz="1500" b="1" i="0">
                <a:solidFill>
                  <a:srgbClr val="141B2E"/>
                </a:solidFill>
                <a:latin typeface="Consolas"/>
              </a:rPr>
              <a:t>Prompt</a:t>
            </a:r>
            <a:r>
              <a:rPr sz="1500" b="1" i="0">
                <a:solidFill>
                  <a:srgbClr val="141B2E"/>
                </a:solidFill>
                <a:latin typeface="Arial"/>
              </a:rPr>
              <a:t> </a:t>
            </a:r>
            <a:r>
              <a:rPr sz="1500" b="1" i="0">
                <a:solidFill>
                  <a:srgbClr val="141B2E"/>
                </a:solidFill>
                <a:latin typeface="Consolas"/>
              </a:rPr>
              <a:t>(User</a:t>
            </a:r>
            <a:r>
              <a:rPr sz="1500" b="1" i="0">
                <a:solidFill>
                  <a:srgbClr val="141B2E"/>
                </a:solidFill>
                <a:latin typeface="Arial"/>
              </a:rPr>
              <a:t> </a:t>
            </a:r>
            <a:r>
              <a:rPr sz="1500" b="1" i="0">
                <a:solidFill>
                  <a:srgbClr val="141B2E"/>
                </a:solidFill>
                <a:latin typeface="Consolas"/>
              </a:rPr>
              <a:t>Message)</a:t>
            </a:r>
            <a:r>
              <a:rPr sz="1500" b="1" i="0">
                <a:solidFill>
                  <a:srgbClr val="141B2E"/>
                </a:solidFill>
                <a:latin typeface="Arial"/>
              </a:rPr>
              <a:t>: то же правило «не больше 3000 — иначе эскалируй», но как текст, который модель должна прочитать и понять, а не как условие в коде. Экран, а не пересказ.</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«Extract amount» и «Amount over threshold?»</a:t>
            </a:r>
          </a:p>
        </p:txBody>
      </p:sp>
      <p:pic>
        <p:nvPicPr>
          <p:cNvPr id="3" name="Picture 2" descr="k3-n8n-nastroyka-uzlov.png"/>
          <p:cNvPicPr>
            <a:picLocks noChangeAspect="1"/>
          </p:cNvPicPr>
          <p:nvPr/>
        </p:nvPicPr>
        <p:blipFill>
          <a:blip r:embed="rId2"/>
          <a:stretch>
            <a:fillRect/>
          </a:stretch>
        </p:blipFill>
        <p:spPr>
          <a:xfrm>
            <a:off x="1160863" y="1319784"/>
            <a:ext cx="9867224" cy="2735624"/>
          </a:xfrm>
          <a:prstGeom prst="rect">
            <a:avLst/>
          </a:prstGeom>
        </p:spPr>
      </p:pic>
      <p:sp>
        <p:nvSpPr>
          <p:cNvPr id="4" name="Rounded Rectangle 3"/>
          <p:cNvSpPr/>
          <p:nvPr/>
        </p:nvSpPr>
        <p:spPr>
          <a:xfrm>
            <a:off x="502920" y="4220000"/>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48016"/>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Узел «Extract amount» (Information Extractor).</a:t>
            </a:r>
            <a:r>
              <a:rPr sz="1350" b="1" i="0">
                <a:solidFill>
                  <a:srgbClr val="141B2E"/>
                </a:solidFill>
                <a:latin typeface="Arial"/>
              </a:rPr>
              <a:t> Вкладка Parameters, Schema Type — «Define using JSON Schema». Схема: </a:t>
            </a:r>
            <a:r>
              <a:rPr sz="1350" b="1" i="0">
                <a:solidFill>
                  <a:srgbClr val="141B2E"/>
                </a:solidFill>
                <a:latin typeface="Consolas"/>
              </a:rPr>
              <a:t>{"type":</a:t>
            </a:r>
            <a:r>
              <a:rPr sz="1350" b="1" i="0">
                <a:solidFill>
                  <a:srgbClr val="141B2E"/>
                </a:solidFill>
                <a:latin typeface="Arial"/>
              </a:rPr>
              <a:t> </a:t>
            </a:r>
            <a:r>
              <a:rPr sz="1350" b="1" i="0">
                <a:solidFill>
                  <a:srgbClr val="141B2E"/>
                </a:solidFill>
                <a:latin typeface="Consolas"/>
              </a:rPr>
              <a:t>"object",</a:t>
            </a:r>
            <a:r>
              <a:rPr sz="1350" b="1" i="0">
                <a:solidFill>
                  <a:srgbClr val="141B2E"/>
                </a:solidFill>
                <a:latin typeface="Arial"/>
              </a:rPr>
              <a:t> </a:t>
            </a:r>
            <a:r>
              <a:rPr sz="1350" b="1" i="0">
                <a:solidFill>
                  <a:srgbClr val="141B2E"/>
                </a:solidFill>
                <a:latin typeface="Consolas"/>
              </a:rPr>
              <a:t>"properties":</a:t>
            </a:r>
            <a:r>
              <a:rPr sz="1350" b="1" i="0">
                <a:solidFill>
                  <a:srgbClr val="141B2E"/>
                </a:solidFill>
                <a:latin typeface="Arial"/>
              </a:rPr>
              <a:t> </a:t>
            </a:r>
            <a:r>
              <a:rPr sz="1350" b="1" i="0">
                <a:solidFill>
                  <a:srgbClr val="141B2E"/>
                </a:solidFill>
                <a:latin typeface="Consolas"/>
              </a:rPr>
              <a:t>{"amount_rub":</a:t>
            </a:r>
            <a:r>
              <a:rPr sz="1350" b="1" i="0">
                <a:solidFill>
                  <a:srgbClr val="141B2E"/>
                </a:solidFill>
                <a:latin typeface="Arial"/>
              </a:rPr>
              <a:t> </a:t>
            </a:r>
            <a:r>
              <a:rPr sz="1350" b="1" i="0">
                <a:solidFill>
                  <a:srgbClr val="141B2E"/>
                </a:solidFill>
                <a:latin typeface="Consolas"/>
              </a:rPr>
              <a:t>{"type":</a:t>
            </a:r>
            <a:r>
              <a:rPr sz="1350" b="1" i="0">
                <a:solidFill>
                  <a:srgbClr val="141B2E"/>
                </a:solidFill>
                <a:latin typeface="Arial"/>
              </a:rPr>
              <a:t> </a:t>
            </a:r>
            <a:r>
              <a:rPr sz="1350" b="1" i="0">
                <a:solidFill>
                  <a:srgbClr val="141B2E"/>
                </a:solidFill>
                <a:latin typeface="Consolas"/>
              </a:rPr>
              <a:t>"number",</a:t>
            </a:r>
            <a:r>
              <a:rPr sz="1350" b="1" i="0">
                <a:solidFill>
                  <a:srgbClr val="141B2E"/>
                </a:solidFill>
                <a:latin typeface="Arial"/>
              </a:rPr>
              <a:t> </a:t>
            </a:r>
            <a:r>
              <a:rPr sz="1350" b="1" i="0">
                <a:solidFill>
                  <a:srgbClr val="141B2E"/>
                </a:solidFill>
                <a:latin typeface="Consolas"/>
              </a:rPr>
              <a:t>"description":</a:t>
            </a:r>
            <a:r>
              <a:rPr sz="1350" b="1" i="0">
                <a:solidFill>
                  <a:srgbClr val="141B2E"/>
                </a:solidFill>
                <a:latin typeface="Arial"/>
              </a:rPr>
              <a:t> </a:t>
            </a:r>
            <a:r>
              <a:rPr sz="1350" b="1" i="0">
                <a:solidFill>
                  <a:srgbClr val="141B2E"/>
                </a:solidFill>
                <a:latin typeface="Consolas"/>
              </a:rPr>
              <a:t>"сумма</a:t>
            </a:r>
            <a:r>
              <a:rPr sz="1350" b="1" i="0">
                <a:solidFill>
                  <a:srgbClr val="141B2E"/>
                </a:solidFill>
                <a:latin typeface="Arial"/>
              </a:rPr>
              <a:t> </a:t>
            </a:r>
            <a:r>
              <a:rPr sz="1350" b="1" i="0">
                <a:solidFill>
                  <a:srgbClr val="141B2E"/>
                </a:solidFill>
                <a:latin typeface="Consolas"/>
              </a:rPr>
              <a:t>возврата</a:t>
            </a:r>
            <a:r>
              <a:rPr sz="1350" b="1" i="0">
                <a:solidFill>
                  <a:srgbClr val="141B2E"/>
                </a:solidFill>
                <a:latin typeface="Arial"/>
              </a:rPr>
              <a:t> </a:t>
            </a:r>
            <a:r>
              <a:rPr sz="1350" b="1" i="0">
                <a:solidFill>
                  <a:srgbClr val="141B2E"/>
                </a:solidFill>
                <a:latin typeface="Consolas"/>
              </a:rPr>
              <a:t>в</a:t>
            </a:r>
            <a:r>
              <a:rPr sz="1350" b="1" i="0">
                <a:solidFill>
                  <a:srgbClr val="141B2E"/>
                </a:solidFill>
                <a:latin typeface="Arial"/>
              </a:rPr>
              <a:t> </a:t>
            </a:r>
            <a:r>
              <a:rPr sz="1350" b="1" i="0">
                <a:solidFill>
                  <a:srgbClr val="141B2E"/>
                </a:solidFill>
                <a:latin typeface="Consolas"/>
              </a:rPr>
              <a:t>рублях,</a:t>
            </a:r>
            <a:r>
              <a:rPr sz="1350" b="1" i="0">
                <a:solidFill>
                  <a:srgbClr val="141B2E"/>
                </a:solidFill>
                <a:latin typeface="Arial"/>
              </a:rPr>
              <a:t> </a:t>
            </a:r>
            <a:r>
              <a:rPr sz="1350" b="1" i="0">
                <a:solidFill>
                  <a:srgbClr val="141B2E"/>
                </a:solidFill>
                <a:latin typeface="Consolas"/>
              </a:rPr>
              <a:t>указанная</a:t>
            </a:r>
            <a:r>
              <a:rPr sz="1350" b="1" i="0">
                <a:solidFill>
                  <a:srgbClr val="141B2E"/>
                </a:solidFill>
                <a:latin typeface="Arial"/>
              </a:rPr>
              <a:t> </a:t>
            </a:r>
            <a:r>
              <a:rPr sz="1350" b="1" i="0">
                <a:solidFill>
                  <a:srgbClr val="141B2E"/>
                </a:solidFill>
                <a:latin typeface="Consolas"/>
              </a:rPr>
              <a:t>в</a:t>
            </a:r>
            <a:r>
              <a:rPr sz="1350" b="1" i="0">
                <a:solidFill>
                  <a:srgbClr val="141B2E"/>
                </a:solidFill>
                <a:latin typeface="Arial"/>
              </a:rPr>
              <a:t> </a:t>
            </a:r>
            <a:r>
              <a:rPr sz="1350" b="1" i="0">
                <a:solidFill>
                  <a:srgbClr val="141B2E"/>
                </a:solidFill>
                <a:latin typeface="Consolas"/>
              </a:rPr>
              <a:t>тексте"}},</a:t>
            </a:r>
            <a:r>
              <a:rPr sz="1350" b="1" i="0">
                <a:solidFill>
                  <a:srgbClr val="141B2E"/>
                </a:solidFill>
                <a:latin typeface="Arial"/>
              </a:rPr>
              <a:t> </a:t>
            </a:r>
            <a:r>
              <a:rPr sz="1350" b="1" i="0">
                <a:solidFill>
                  <a:srgbClr val="141B2E"/>
                </a:solidFill>
                <a:latin typeface="Consolas"/>
              </a:rPr>
              <a:t>"required":</a:t>
            </a:r>
            <a:r>
              <a:rPr sz="1350" b="1" i="0">
                <a:solidFill>
                  <a:srgbClr val="141B2E"/>
                </a:solidFill>
                <a:latin typeface="Arial"/>
              </a:rPr>
              <a:t> </a:t>
            </a:r>
            <a:r>
              <a:rPr sz="1350" b="1" i="0">
                <a:solidFill>
                  <a:srgbClr val="141B2E"/>
                </a:solidFill>
                <a:latin typeface="Consolas"/>
              </a:rPr>
              <a:t>["amount_rub"]}</a:t>
            </a:r>
            <a:r>
              <a:rPr sz="1350" b="1" i="0">
                <a:solidFill>
                  <a:srgbClr val="141B2E"/>
                </a:solidFill>
                <a:latin typeface="Arial"/>
              </a:rPr>
              <a:t>. Одно поле, тип строго </a:t>
            </a:r>
            <a:r>
              <a:rPr sz="1350" b="1" i="0">
                <a:solidFill>
                  <a:srgbClr val="141B2E"/>
                </a:solidFill>
                <a:latin typeface="Consolas"/>
              </a:rPr>
              <a:t>number</a:t>
            </a:r>
            <a:r>
              <a:rPr sz="1350" b="1" i="0">
                <a:solidFill>
                  <a:srgbClr val="141B2E"/>
                </a:solidFill>
                <a:latin typeface="Arial"/>
              </a:rPr>
              <a:t>, обязательное.</a:t>
            </a:r>
          </a:p>
        </p:txBody>
      </p:sp>
      <p:sp>
        <p:nvSpPr>
          <p:cNvPr id="6" name="Rounded Rectangle 5"/>
          <p:cNvSpPr/>
          <p:nvPr/>
        </p:nvSpPr>
        <p:spPr>
          <a:xfrm>
            <a:off x="502920" y="5296706"/>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24722"/>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«Amount over threshold?» (IF).</a:t>
            </a:r>
            <a:r>
              <a:rPr sz="1250" b="1" i="0">
                <a:solidFill>
                  <a:srgbClr val="141B2E"/>
                </a:solidFill>
                <a:latin typeface="Arial"/>
              </a:rPr>
              <a:t> Вкладка Parameters, единственное условие: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$json.output.amount_rub</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Arial"/>
              </a:rPr>
              <a:t>is greater than</a:t>
            </a:r>
            <a:r>
              <a:rPr sz="1250" b="1" i="0">
                <a:solidFill>
                  <a:srgbClr val="141B2E"/>
                </a:solidFill>
                <a:latin typeface="Arial"/>
              </a:rPr>
              <a:t> </a:t>
            </a:r>
            <a:r>
              <a:rPr sz="1250" b="1" i="0">
                <a:solidFill>
                  <a:srgbClr val="141B2E"/>
                </a:solidFill>
                <a:latin typeface="Consolas"/>
              </a:rPr>
              <a:t>3000</a:t>
            </a:r>
            <a:r>
              <a:rPr sz="1250" b="1" i="0">
                <a:solidFill>
                  <a:srgbClr val="141B2E"/>
                </a:solidFill>
                <a:latin typeface="Arial"/>
              </a:rPr>
              <a:t>. «Convert types where required» выключено — сравнение ждёт уже готовое число, ничего не приводит неявно.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клиент при автоматическом одобрении</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Чат поддержки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Ваша заявка на возврат одобрена. 2500 рублей уже отправлены на карту, которой вы оплачивали занятие.</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сумма из сцены этого кейса: «прошу вернуть 2500 рублей за пропущенное занятие» — пример ниже порога, поэтому версия 2 одобряет его сама, без участия руководителя, и клиент видит результат, а не устройство решения.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версий после теста</a:t>
            </a:r>
          </a:p>
        </p:txBody>
      </p:sp>
      <p:sp>
        <p:nvSpPr>
          <p:cNvPr id="3" name="Rounded Rectangle 2"/>
          <p:cNvSpPr/>
          <p:nvPr/>
        </p:nvSpPr>
        <p:spPr>
          <a:xfrm>
            <a:off x="502920" y="2202281"/>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85161"/>
            <a:ext cx="1549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381180" y="2385161"/>
            <a:ext cx="5828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8355546" y="2385161"/>
            <a:ext cx="30013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a:t>
            </a:r>
            <a:r>
              <a:rPr sz="1150" b="1" i="0">
                <a:solidFill>
                  <a:srgbClr val="6B7685"/>
                </a:solidFill>
                <a:latin typeface="Consolas"/>
              </a:rPr>
              <a:t>IF</a:t>
            </a:r>
            <a:r>
              <a:rPr sz="1150" b="1" i="0">
                <a:solidFill>
                  <a:srgbClr val="6B7685"/>
                </a:solidFill>
                <a:latin typeface="Arial"/>
              </a:rPr>
              <a:t>-УЗЕЛ)</a:t>
            </a:r>
          </a:p>
        </p:txBody>
      </p:sp>
      <p:sp>
        <p:nvSpPr>
          <p:cNvPr id="7" name="TextBox 6"/>
          <p:cNvSpPr txBox="1"/>
          <p:nvPr/>
        </p:nvSpPr>
        <p:spPr>
          <a:xfrm>
            <a:off x="685800" y="2667228"/>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101 запросе</a:t>
            </a:r>
          </a:p>
        </p:txBody>
      </p:sp>
      <p:sp>
        <p:nvSpPr>
          <p:cNvPr id="8" name="TextBox 7"/>
          <p:cNvSpPr txBox="1"/>
          <p:nvPr/>
        </p:nvSpPr>
        <p:spPr>
          <a:xfrm>
            <a:off x="2381180" y="2667228"/>
            <a:ext cx="58280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9</a:t>
            </a:r>
            <a:r>
              <a:rPr sz="1250" b="0" i="0">
                <a:solidFill>
                  <a:srgbClr val="141B2E"/>
                </a:solidFill>
                <a:latin typeface="Arial"/>
              </a:rPr>
              <a:t> — все на сумме 3000 руб.</a:t>
            </a:r>
          </a:p>
        </p:txBody>
      </p:sp>
      <p:sp>
        <p:nvSpPr>
          <p:cNvPr id="9" name="TextBox 8"/>
          <p:cNvSpPr txBox="1"/>
          <p:nvPr/>
        </p:nvSpPr>
        <p:spPr>
          <a:xfrm>
            <a:off x="8355546" y="2667228"/>
            <a:ext cx="30013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31969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96945"/>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(3000 руб.)</a:t>
            </a:r>
          </a:p>
        </p:txBody>
      </p:sp>
      <p:sp>
        <p:nvSpPr>
          <p:cNvPr id="12" name="TextBox 11"/>
          <p:cNvSpPr txBox="1"/>
          <p:nvPr/>
        </p:nvSpPr>
        <p:spPr>
          <a:xfrm>
            <a:off x="2381180" y="3196945"/>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«эскалировать», хотя правило подразумевает «можно одобрить»</a:t>
            </a:r>
          </a:p>
        </p:txBody>
      </p:sp>
      <p:sp>
        <p:nvSpPr>
          <p:cNvPr id="13" name="TextBox 12"/>
          <p:cNvSpPr txBox="1"/>
          <p:nvPr/>
        </p:nvSpPr>
        <p:spPr>
          <a:xfrm>
            <a:off x="8355546" y="3196945"/>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«одобрить» — условие </a:t>
            </a:r>
            <a:r>
              <a:rPr sz="1250" b="0" i="0">
                <a:solidFill>
                  <a:srgbClr val="141B2E"/>
                </a:solidFill>
                <a:latin typeface="Consolas"/>
              </a:rPr>
              <a:t>&gt;</a:t>
            </a:r>
            <a:r>
              <a:rPr sz="1250" b="0" i="0">
                <a:solidFill>
                  <a:srgbClr val="141B2E"/>
                </a:solidFill>
                <a:latin typeface="Arial"/>
              </a:rPr>
              <a:t> </a:t>
            </a:r>
            <a:r>
              <a:rPr sz="1250" b="0" i="0">
                <a:solidFill>
                  <a:srgbClr val="141B2E"/>
                </a:solidFill>
                <a:latin typeface="Consolas"/>
              </a:rPr>
              <a:t>3000</a:t>
            </a:r>
            <a:r>
              <a:rPr sz="1250" b="0" i="0">
                <a:solidFill>
                  <a:srgbClr val="141B2E"/>
                </a:solidFill>
                <a:latin typeface="Arial"/>
              </a:rPr>
              <a:t> не допускает двойного толкования</a:t>
            </a:r>
          </a:p>
        </p:txBody>
      </p:sp>
      <p:cxnSp>
        <p:nvCxnSpPr>
          <p:cNvPr id="14" name="Connector 13"/>
          <p:cNvCxnSpPr/>
          <p:nvPr/>
        </p:nvCxnSpPr>
        <p:spPr>
          <a:xfrm>
            <a:off x="685800" y="37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26662"/>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381180" y="3726662"/>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 включая суммы в 20 руб. от границы и тексты с двумя числами</a:t>
            </a:r>
          </a:p>
        </p:txBody>
      </p:sp>
      <p:sp>
        <p:nvSpPr>
          <p:cNvPr id="17" name="TextBox 16"/>
          <p:cNvSpPr txBox="1"/>
          <p:nvPr/>
        </p:nvSpPr>
        <p:spPr>
          <a:xfrm>
            <a:off x="8355546" y="3726662"/>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решение должно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Точная формулировка находки.</a:t>
            </a:r>
            <a:r>
              <a:rPr sz="1500" b="1" i="0">
                <a:solidFill>
                  <a:srgbClr val="141B2E"/>
                </a:solidFill>
                <a:latin typeface="Arial"/>
              </a:rPr>
              <a:t> Не «модель иногда вероятностно ошибается» — точнее: </a:t>
            </a:r>
            <a:r>
              <a:rPr sz="1500" b="1" i="0">
                <a:solidFill>
                  <a:srgbClr val="141B2E"/>
                </a:solidFill>
                <a:latin typeface="Arial"/>
              </a:rPr>
              <a:t>модель систематически промахивается именно на границе условия</a:t>
            </a:r>
            <a:r>
              <a:rPr sz="1500" b="1" i="0">
                <a:solidFill>
                  <a:srgbClr val="141B2E"/>
                </a:solidFill>
                <a:latin typeface="Arial"/>
              </a:rPr>
              <a:t>, там, где текст правила и его формальная интерпретация расходятся, а в остальном диапазоне безупречна.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a:t>
            </a:r>
            <a:r>
              <a:rPr sz="1500" b="1" i="0">
                <a:solidFill>
                  <a:srgbClr val="141B2E"/>
                </a:solidFill>
                <a:latin typeface="Arial"/>
              </a:rPr>
              <a:t>не задача модели в точке принятия решения</a:t>
            </a:r>
            <a:r>
              <a:rPr sz="1500" b="1" i="0">
                <a:solidFill>
                  <a:srgbClr val="141B2E"/>
                </a:solidFill>
                <a:latin typeface="Arial"/>
              </a:rPr>
              <a:t>. Граничные значения — первое, что нужно проверить прогоном, прежде чем доверять любому похожему правилу.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нюанса, прежде чем применять вывод</a:t>
            </a:r>
          </a:p>
        </p:txBody>
      </p:sp>
      <p:sp>
        <p:nvSpPr>
          <p:cNvPr id="3" name="Rounded Rectangle 2"/>
          <p:cNvSpPr/>
          <p:nvPr/>
        </p:nvSpPr>
        <p:spPr>
          <a:xfrm>
            <a:off x="502920" y="2039569"/>
            <a:ext cx="11183112" cy="2643759"/>
          </a:xfrm>
          <a:prstGeom prst="roundRect">
            <a:avLst>
              <a:gd name="adj" fmla="val 1152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59025"/>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259025"/>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Инструмент-калькулятор у модели — не гарантия, и на практике измеримо хуже.</a:t>
            </a:r>
            <a:r>
              <a:rPr sz="1350" b="0" i="0">
                <a:solidFill>
                  <a:srgbClr val="141B2E"/>
                </a:solidFill>
                <a:latin typeface="Arial"/>
              </a:rPr>
              <a:t> Вероятностность не исчезает, она переехала на шаг раньше: вызовет ли модель калькулятор и как передаст в него значения. Измерено реально: 56 из 100 — хуже всех остальных вариантов, с новыми отказами (смешанный алфавит в ответе, инструмент не умеет сравнений, ошибки разбросаны по всему диапазону).</a:t>
            </a:r>
          </a:p>
        </p:txBody>
      </p:sp>
      <p:sp>
        <p:nvSpPr>
          <p:cNvPr id="6" name="TextBox 5"/>
          <p:cNvSpPr txBox="1"/>
          <p:nvPr/>
        </p:nvSpPr>
        <p:spPr>
          <a:xfrm>
            <a:off x="722376" y="319628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319628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Порог X — единственный источник правды.</a:t>
            </a:r>
            <a:r>
              <a:rPr sz="1350" b="0" i="0">
                <a:solidFill>
                  <a:srgbClr val="141B2E"/>
                </a:solidFill>
                <a:latin typeface="Arial"/>
              </a:rPr>
              <a:t> Если он живёт в двух копиях — тексте промпта и условии </a:t>
            </a:r>
            <a:r>
              <a:rPr sz="1350" b="0" i="0">
                <a:solidFill>
                  <a:srgbClr val="141B2E"/>
                </a:solidFill>
                <a:latin typeface="Consolas"/>
              </a:rPr>
              <a:t>IF</a:t>
            </a:r>
            <a:r>
              <a:rPr sz="1350" b="0" i="0">
                <a:solidFill>
                  <a:srgbClr val="141B2E"/>
                </a:solidFill>
                <a:latin typeface="Arial"/>
              </a:rPr>
              <a:t> — расхождение этих копий — тот же класс проблемы, что рвущийся контракт между шагами.</a:t>
            </a:r>
          </a:p>
        </p:txBody>
      </p:sp>
      <p:sp>
        <p:nvSpPr>
          <p:cNvPr id="8" name="TextBox 7"/>
          <p:cNvSpPr txBox="1"/>
          <p:nvPr/>
        </p:nvSpPr>
        <p:spPr>
          <a:xfrm>
            <a:off x="722376" y="372892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72892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Модель-экстрактор всё ещё может ошибиться.</a:t>
            </a:r>
            <a:r>
              <a:rPr sz="1350" b="0" i="0">
                <a:solidFill>
                  <a:srgbClr val="141B2E"/>
                </a:solidFill>
                <a:latin typeface="Arial"/>
              </a:rPr>
              <a:t> Вывод не «модель нигде не нужна», а «модель не должна быть точкой решения»; явное числовое поле формы убирает и эту часть риска — но только если форму самого запроса можно менять, иначе извлечение остаётся задачей модели.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Критерий: когда решение обязано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Решение обязано быть кодом, когда оно формализуется как условие над уже структурированным значением. Ещё лучше — устранить саму потребность в извлечении, если источник данных можно сделать структурированным с самого начала.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Строка оси закрыта.</a:t>
            </a:r>
            <a:r>
              <a:rPr sz="1500" b="1" i="0">
                <a:solidFill>
                  <a:srgbClr val="141B2E"/>
                </a:solidFill>
                <a:latin typeface="Arial"/>
              </a:rPr>
              <a:t> Решение, оставленное модели, обходило правило в измеренной доле прогонов — девять из ста одного, и ровно на границе условия. Решение, отданное алгоритмическому гейту, — никогда.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10332720"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489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2489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6" name="TextBox 5"/>
          <p:cNvSpPr txBox="1"/>
          <p:nvPr/>
        </p:nvSpPr>
        <p:spPr>
          <a:xfrm>
            <a:off x="1536192" y="114300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Zillow Offers: алгоритмическая закупка жилья</a:t>
            </a:r>
          </a:p>
        </p:txBody>
      </p:sp>
      <p:sp>
        <p:nvSpPr>
          <p:cNvPr id="7" name="TextBox 6"/>
          <p:cNvSpPr txBox="1"/>
          <p:nvPr/>
        </p:nvSpPr>
        <p:spPr>
          <a:xfrm>
            <a:off x="822960" y="2360676"/>
            <a:ext cx="9509760" cy="4712208"/>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«Мы определили, что непредсказуемость прогнозирования цен на жильё намного превышает то, что мы ожидали… наблюдаемая частота ошибок оказалась гораздо более волатильной, чем мы вообще считали возможным.»</a:t>
            </a:r>
          </a:p>
          <a:p>
            <a:pPr algn="l">
              <a:lnSpc>
                <a:spcPts val="2244"/>
              </a:lnSpc>
              <a:spcAft>
                <a:spcPts val="400"/>
              </a:spcAft>
            </a:pPr>
            <a:r>
              <a:rPr sz="1700" b="0" i="1">
                <a:solidFill>
                  <a:srgbClr val="D6E2EC"/>
                </a:solidFill>
                <a:latin typeface="Arial"/>
              </a:rPr>
              <a:t>— Рич Бартон, CEO Zillow, 2 ноября 2021 года, объявляя закрытие бизнеса Zillow Offers</a:t>
            </a:r>
          </a:p>
          <a:p>
            <a:pPr algn="l">
              <a:lnSpc>
                <a:spcPts val="2244"/>
              </a:lnSpc>
              <a:spcAft>
                <a:spcPts val="400"/>
              </a:spcAft>
            </a:pPr>
            <a:r>
              <a:rPr sz="1700" b="0" i="1">
                <a:solidFill>
                  <a:srgbClr val="D6E2EC"/>
                </a:solidFill>
                <a:latin typeface="Arial"/>
              </a:rPr>
              <a:t>Zillow — крупнейший агрегатор объявлений о недвижимости в США. С 2018 года компания вела направление Zillow Offers, другое название — iBuying: алгоритмическая модель Zestimate оценивала дом по открытым данным, компания покупала его почти мгновенно по этой цене, делала минимальный ремонт и быстро перепродавала, зарабатывая на разнице между покупкой и продажей.</a:t>
            </a:r>
          </a:p>
          <a:p>
            <a:pPr algn="l">
              <a:lnSpc>
                <a:spcPts val="2244"/>
              </a:lnSpc>
              <a:spcAft>
                <a:spcPts val="400"/>
              </a:spcAft>
            </a:pPr>
            <a:r>
              <a:rPr sz="1700" b="0" i="1">
                <a:solidFill>
                  <a:srgbClr val="D6E2EC"/>
                </a:solidFill>
                <a:latin typeface="Arial"/>
              </a:rPr>
              <a:t>Списание запасов — $304,4 млн за 3-й квартал 2021 года, по итогам всего года — $407,9 млн. Сокращение штата — ~25%, это ~2000 человек. В том же квартале Zillow купила 9680 домов, продать успела лишь 3032 — средний убыток на каждый проданный дом составил ~$80 000.</a:t>
            </a:r>
          </a:p>
        </p:txBody>
      </p:sp>
      <p:sp>
        <p:nvSpPr>
          <p:cNvPr id="8" name="Rounded Rectangle 7"/>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решение о покупке работало на самом деле</a:t>
            </a:r>
          </a:p>
        </p:txBody>
      </p:sp>
      <p:pic>
        <p:nvPicPr>
          <p:cNvPr id="3" name="Picture 2" descr="zillow-shema-bez-geyta.png"/>
          <p:cNvPicPr>
            <a:picLocks noChangeAspect="1"/>
          </p:cNvPicPr>
          <p:nvPr/>
        </p:nvPicPr>
        <p:blipFill>
          <a:blip r:embed="rId2"/>
          <a:stretch>
            <a:fillRect/>
          </a:stretch>
        </p:blipFill>
        <p:spPr>
          <a:xfrm>
            <a:off x="502920" y="1150818"/>
            <a:ext cx="11183112" cy="3215144"/>
          </a:xfrm>
          <a:prstGeom prst="rect">
            <a:avLst/>
          </a:prstGeom>
        </p:spPr>
      </p:pic>
      <p:sp>
        <p:nvSpPr>
          <p:cNvPr id="4" name="Rounded Rectangle 3"/>
          <p:cNvSpPr/>
          <p:nvPr/>
        </p:nvSpPr>
        <p:spPr>
          <a:xfrm>
            <a:off x="502920" y="50334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614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 решение о покупке </a:t>
            </a:r>
            <a:r>
              <a:rPr sz="1500" b="1" i="0">
                <a:solidFill>
                  <a:srgbClr val="141B2E"/>
                </a:solidFill>
                <a:latin typeface="Arial"/>
              </a:rPr>
              <a:t>без обязательного гейта</a:t>
            </a:r>
            <a:r>
              <a:rPr sz="1500" b="1" i="0">
                <a:solidFill>
                  <a:srgbClr val="141B2E"/>
                </a:solidFill>
                <a:latin typeface="Arial"/>
              </a:rPr>
              <a:t> выше порога риска → покупка исполняется → </a:t>
            </a:r>
            <a:r>
              <a:rPr sz="1500" b="1" i="0">
                <a:solidFill>
                  <a:srgbClr val="141B2E"/>
                </a:solidFill>
                <a:latin typeface="Arial"/>
              </a:rPr>
              <a:t>без короткого периода мониторинга точности</a:t>
            </a:r>
            <a:r>
              <a:rPr sz="1500" b="1" i="0">
                <a:solidFill>
                  <a:srgbClr val="141B2E"/>
                </a:solidFill>
                <a:latin typeface="Arial"/>
              </a:rPr>
              <a:t> (часы-дни) → ошибка накапливается незаметно → видна только в квартальной отчётности перед SEC.</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546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86706" y="1201166"/>
            <a:ext cx="23858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18871" y="1201166"/>
            <a:ext cx="57379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86706" y="1483233"/>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18871" y="1483233"/>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86706" y="2195512"/>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18871" y="2195512"/>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период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86706" y="3090354"/>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18871" y="3090354"/>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86706" y="3985196"/>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18871" y="3985196"/>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периода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pic>
        <p:nvPicPr>
          <p:cNvPr id="3" name="Picture 2" descr="zillow-shema-s-geytom.png"/>
          <p:cNvPicPr>
            <a:picLocks noChangeAspect="1"/>
          </p:cNvPicPr>
          <p:nvPr/>
        </p:nvPicPr>
        <p:blipFill>
          <a:blip r:embed="rId2"/>
          <a:stretch>
            <a:fillRect/>
          </a:stretch>
        </p:blipFill>
        <p:spPr>
          <a:xfrm>
            <a:off x="502920" y="1448813"/>
            <a:ext cx="11183112" cy="3215144"/>
          </a:xfrm>
          <a:prstGeom prst="rect">
            <a:avLst/>
          </a:prstGeom>
        </p:spPr>
      </p:pic>
      <p:sp>
        <p:nvSpPr>
          <p:cNvPr id="4" name="Rounded Rectangle 3"/>
          <p:cNvSpPr/>
          <p:nvPr/>
        </p:nvSpPr>
        <p:spPr>
          <a:xfrm>
            <a:off x="502920" y="51511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791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вход, не решение) → </a:t>
            </a:r>
            <a:r>
              <a:rPr sz="1500" b="1" i="0">
                <a:solidFill>
                  <a:srgbClr val="141B2E"/>
                </a:solidFill>
                <a:latin typeface="Arial"/>
              </a:rPr>
              <a:t>человек-андеррайтер</a:t>
            </a:r>
            <a:r>
              <a:rPr sz="1500" b="1" i="0">
                <a:solidFill>
                  <a:srgbClr val="141B2E"/>
                </a:solidFill>
                <a:latin typeface="Arial"/>
              </a:rPr>
              <a:t> принимает финальное решение о покупке выше порога суммы/риска → </a:t>
            </a:r>
            <a:r>
              <a:rPr sz="1500" b="1" i="0">
                <a:solidFill>
                  <a:srgbClr val="141B2E"/>
                </a:solidFill>
                <a:latin typeface="Arial"/>
              </a:rPr>
              <a:t>explicit circuit breaker</a:t>
            </a:r>
            <a:r>
              <a:rPr sz="1500" b="1" i="0">
                <a:solidFill>
                  <a:srgbClr val="141B2E"/>
                </a:solidFill>
                <a:latin typeface="Arial"/>
              </a:rPr>
              <a:t> на отклонение фактической цены от прогнозной, проверяемый еженедельно или чаще — не поквартально.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короткий период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Карточка в Telegram</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Журнал прогона — зелёный, узел отправки вернул успешный ответ. У координатора в Telegram — ничего не пришло.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1760220"/>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7" name="TextBox 6"/>
          <p:cNvSpPr txBox="1"/>
          <p:nvPr/>
        </p:nvSpPr>
        <p:spPr>
          <a:xfrm>
            <a:off x="1106424" y="1979676"/>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2392426"/>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9" name="TextBox 8"/>
          <p:cNvSpPr txBox="1"/>
          <p:nvPr/>
        </p:nvSpPr>
        <p:spPr>
          <a:xfrm>
            <a:off x="1106424" y="2392426"/>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266280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1" name="TextBox 10"/>
          <p:cNvSpPr txBox="1"/>
          <p:nvPr/>
        </p:nvSpPr>
        <p:spPr>
          <a:xfrm>
            <a:off x="1106424" y="266280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307555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3" name="TextBox 12"/>
          <p:cNvSpPr txBox="1"/>
          <p:nvPr/>
        </p:nvSpPr>
        <p:spPr>
          <a:xfrm>
            <a:off x="1106424" y="307555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3872357"/>
            <a:ext cx="82296" cy="6627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000373"/>
            <a:ext cx="10643616" cy="4067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Цена, которую не видно в журнале.</a:t>
            </a:r>
            <a:r>
              <a:rPr sz="11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Rounded Rectangle 15"/>
          <p:cNvSpPr/>
          <p:nvPr/>
        </p:nvSpPr>
        <p:spPr>
          <a:xfrm>
            <a:off x="502920" y="4699719"/>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27735"/>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Что должно быть верно, прежде чем карточка считается готовой.</a:t>
            </a:r>
            <a:r>
              <a:rPr sz="1300" b="1" i="0">
                <a:solidFill>
                  <a:srgbClr val="141B2E"/>
                </a:solidFill>
                <a:latin typeface="Arial"/>
              </a:rPr>
              <a:t> Два класса требований, разных по природе:</a:t>
            </a:r>
          </a:p>
        </p:txBody>
      </p:sp>
      <p:sp>
        <p:nvSpPr>
          <p:cNvPr id="18" name="Rounded Rectangle 17"/>
          <p:cNvSpPr/>
          <p:nvPr/>
        </p:nvSpPr>
        <p:spPr>
          <a:xfrm>
            <a:off x="502920" y="5343355"/>
            <a:ext cx="11183112" cy="991108"/>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471371"/>
            <a:ext cx="222639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КЛАСС ТРЕБОВАНИЯ</a:t>
            </a:r>
          </a:p>
        </p:txBody>
      </p:sp>
      <p:sp>
        <p:nvSpPr>
          <p:cNvPr id="20" name="TextBox 19"/>
          <p:cNvSpPr txBox="1"/>
          <p:nvPr/>
        </p:nvSpPr>
        <p:spPr>
          <a:xfrm>
            <a:off x="3003638" y="5471371"/>
            <a:ext cx="84080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ПРОВЕРЯЕТСЯ</a:t>
            </a:r>
          </a:p>
        </p:txBody>
      </p:sp>
      <p:sp>
        <p:nvSpPr>
          <p:cNvPr id="21" name="TextBox 20"/>
          <p:cNvSpPr txBox="1"/>
          <p:nvPr/>
        </p:nvSpPr>
        <p:spPr>
          <a:xfrm>
            <a:off x="630936" y="5730959"/>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Механическое</a:t>
            </a:r>
          </a:p>
        </p:txBody>
      </p:sp>
      <p:sp>
        <p:nvSpPr>
          <p:cNvPr id="22" name="TextBox 21"/>
          <p:cNvSpPr txBox="1"/>
          <p:nvPr/>
        </p:nvSpPr>
        <p:spPr>
          <a:xfrm>
            <a:off x="3003638" y="5730959"/>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размер файла, формат, разрешение — у файла есть численные и перечислимые свойства</a:t>
            </a:r>
          </a:p>
        </p:txBody>
      </p:sp>
      <p:cxnSp>
        <p:nvCxnSpPr>
          <p:cNvPr id="23" name="Connector 22"/>
          <p:cNvCxnSpPr/>
          <p:nvPr/>
        </p:nvCxnSpPr>
        <p:spPr>
          <a:xfrm>
            <a:off x="630936" y="59687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5968703"/>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Смысловое / по содержанию</a:t>
            </a:r>
          </a:p>
        </p:txBody>
      </p:sp>
      <p:sp>
        <p:nvSpPr>
          <p:cNvPr id="25" name="TextBox 24"/>
          <p:cNvSpPr txBox="1"/>
          <p:nvPr/>
        </p:nvSpPr>
        <p:spPr>
          <a:xfrm>
            <a:off x="3003638" y="5968703"/>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картинка на самом деле показывает то, что нужно — не битый файл-заглушка, не чужое изображение, не пустой кадр</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проверить, что картинка соответствует требованиям</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проверить, что картинка соответствует требованиям?</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размер и формат файла перед отправкой — программно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картинка открывается без ошибок — программно</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на картинке действительно то, что нужно показать — моделью с распознаванием изображений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проверять — доверять тому, что узел отправки сам разберётся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Какая проверка закрывает какое требование</a:t>
            </a:r>
          </a:p>
        </p:txBody>
      </p:sp>
      <p:sp>
        <p:nvSpPr>
          <p:cNvPr id="3" name="Rounded Rectangle 2"/>
          <p:cNvSpPr/>
          <p:nvPr/>
        </p:nvSpPr>
        <p:spPr>
          <a:xfrm>
            <a:off x="502920" y="1019208"/>
            <a:ext cx="11183112" cy="2756471"/>
          </a:xfrm>
          <a:prstGeom prst="roundRect">
            <a:avLst>
              <a:gd name="adj" fmla="val 110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2088"/>
            <a:ext cx="420245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КАРТОЧКА</a:t>
            </a:r>
          </a:p>
        </p:txBody>
      </p:sp>
      <p:sp>
        <p:nvSpPr>
          <p:cNvPr id="5" name="TextBox 4"/>
          <p:cNvSpPr txBox="1"/>
          <p:nvPr/>
        </p:nvSpPr>
        <p:spPr>
          <a:xfrm>
            <a:off x="5034559" y="1202088"/>
            <a:ext cx="232645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КАКОЕ ТРЕБОВАНИЕ ЗАКРЫВАЕТ</a:t>
            </a:r>
          </a:p>
        </p:txBody>
      </p:sp>
      <p:sp>
        <p:nvSpPr>
          <p:cNvPr id="6" name="TextBox 5"/>
          <p:cNvSpPr txBox="1"/>
          <p:nvPr/>
        </p:nvSpPr>
        <p:spPr>
          <a:xfrm>
            <a:off x="7507314" y="1202088"/>
            <a:ext cx="38495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ЗАКРЫТО СЕГОДНЯ?</a:t>
            </a:r>
          </a:p>
        </p:txBody>
      </p:sp>
      <p:sp>
        <p:nvSpPr>
          <p:cNvPr id="7" name="TextBox 6"/>
          <p:cNvSpPr txBox="1"/>
          <p:nvPr/>
        </p:nvSpPr>
        <p:spPr>
          <a:xfrm>
            <a:off x="685800" y="1656494"/>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размер и формат файла перед отправкой</a:t>
            </a:r>
          </a:p>
        </p:txBody>
      </p:sp>
      <p:sp>
        <p:nvSpPr>
          <p:cNvPr id="8" name="TextBox 7"/>
          <p:cNvSpPr txBox="1"/>
          <p:nvPr/>
        </p:nvSpPr>
        <p:spPr>
          <a:xfrm>
            <a:off x="5034559" y="1656494"/>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a:t>
            </a:r>
          </a:p>
        </p:txBody>
      </p:sp>
      <p:sp>
        <p:nvSpPr>
          <p:cNvPr id="9" name="TextBox 8"/>
          <p:cNvSpPr txBox="1"/>
          <p:nvPr/>
        </p:nvSpPr>
        <p:spPr>
          <a:xfrm>
            <a:off x="7507314" y="1656494"/>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код, детерминированно, до отправки</a:t>
            </a:r>
          </a:p>
        </p:txBody>
      </p:sp>
      <p:cxnSp>
        <p:nvCxnSpPr>
          <p:cNvPr id="10" name="Connector 9"/>
          <p:cNvCxnSpPr/>
          <p:nvPr/>
        </p:nvCxnSpPr>
        <p:spPr>
          <a:xfrm>
            <a:off x="685800" y="2186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86211"/>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картинка открывается без ошибок</a:t>
            </a:r>
          </a:p>
        </p:txBody>
      </p:sp>
      <p:sp>
        <p:nvSpPr>
          <p:cNvPr id="12" name="TextBox 11"/>
          <p:cNvSpPr txBox="1"/>
          <p:nvPr/>
        </p:nvSpPr>
        <p:spPr>
          <a:xfrm>
            <a:off x="5034559" y="2186211"/>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 (тот же класс)</a:t>
            </a:r>
          </a:p>
        </p:txBody>
      </p:sp>
      <p:sp>
        <p:nvSpPr>
          <p:cNvPr id="13" name="TextBox 12"/>
          <p:cNvSpPr txBox="1"/>
          <p:nvPr/>
        </p:nvSpPr>
        <p:spPr>
          <a:xfrm>
            <a:off x="7507314" y="2186211"/>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тем же способом</a:t>
            </a:r>
          </a:p>
        </p:txBody>
      </p:sp>
      <p:cxnSp>
        <p:nvCxnSpPr>
          <p:cNvPr id="14" name="Connector 13"/>
          <p:cNvCxnSpPr/>
          <p:nvPr/>
        </p:nvCxnSpPr>
        <p:spPr>
          <a:xfrm>
            <a:off x="685800" y="27159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15928"/>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на картинке действительно то, что нужно</a:t>
            </a:r>
          </a:p>
        </p:txBody>
      </p:sp>
      <p:sp>
        <p:nvSpPr>
          <p:cNvPr id="16" name="TextBox 15"/>
          <p:cNvSpPr txBox="1"/>
          <p:nvPr/>
        </p:nvSpPr>
        <p:spPr>
          <a:xfrm>
            <a:off x="5034559" y="2715928"/>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смысловое / по содержанию</a:t>
            </a:r>
          </a:p>
        </p:txBody>
      </p:sp>
      <p:sp>
        <p:nvSpPr>
          <p:cNvPr id="17" name="TextBox 16"/>
          <p:cNvSpPr txBox="1"/>
          <p:nvPr/>
        </p:nvSpPr>
        <p:spPr>
          <a:xfrm>
            <a:off x="7507314" y="2715928"/>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в цепочке сегодня нет шага, который это умеет</a:t>
            </a:r>
          </a:p>
        </p:txBody>
      </p:sp>
      <p:cxnSp>
        <p:nvCxnSpPr>
          <p:cNvPr id="18" name="Connector 17"/>
          <p:cNvCxnSpPr/>
          <p:nvPr/>
        </p:nvCxnSpPr>
        <p:spPr>
          <a:xfrm>
            <a:off x="685800" y="3245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45645"/>
            <a:ext cx="4202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проверять</a:t>
            </a:r>
          </a:p>
        </p:txBody>
      </p:sp>
      <p:sp>
        <p:nvSpPr>
          <p:cNvPr id="20" name="TextBox 19"/>
          <p:cNvSpPr txBox="1"/>
          <p:nvPr/>
        </p:nvSpPr>
        <p:spPr>
          <a:xfrm>
            <a:off x="5034559" y="3245645"/>
            <a:ext cx="232645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одно</a:t>
            </a:r>
          </a:p>
        </p:txBody>
      </p:sp>
      <p:sp>
        <p:nvSpPr>
          <p:cNvPr id="21" name="TextBox 20"/>
          <p:cNvSpPr txBox="1"/>
          <p:nvPr/>
        </p:nvSpPr>
        <p:spPr>
          <a:xfrm>
            <a:off x="7507314" y="3245645"/>
            <a:ext cx="38495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это и случилось в сцене кейса</a:t>
            </a:r>
          </a:p>
        </p:txBody>
      </p:sp>
      <p:sp>
        <p:nvSpPr>
          <p:cNvPr id="22" name="Rounded Rectangle 21"/>
          <p:cNvSpPr/>
          <p:nvPr/>
        </p:nvSpPr>
        <p:spPr>
          <a:xfrm>
            <a:off x="502920" y="412990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25792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Технически исправный файл (правильный размер, правильный формат) всё равно может показывать не то, что нужно — например если узел получения картинки получил страницу ошибки хостинга вместо самой картинки: формат и размер пройдут механическую проверку, а содержимое будет не тем.</a:t>
            </a:r>
          </a:p>
        </p:txBody>
      </p:sp>
      <p:sp>
        <p:nvSpPr>
          <p:cNvPr id="24" name="Rounded Rectangle 23"/>
          <p:cNvSpPr/>
          <p:nvPr/>
        </p:nvSpPr>
        <p:spPr>
          <a:xfrm>
            <a:off x="502920" y="546710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59512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 как первые два пункта реализуются технически: архитектура без привязки к инструменту, а следом настоящая конфигурация в n8n.</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два класса требований к файлу</a:t>
            </a:r>
          </a:p>
        </p:txBody>
      </p:sp>
      <p:pic>
        <p:nvPicPr>
          <p:cNvPr id="3" name="Picture 2" descr="k4-shema-trebovaniya.png"/>
          <p:cNvPicPr>
            <a:picLocks noChangeAspect="1"/>
          </p:cNvPicPr>
          <p:nvPr/>
        </p:nvPicPr>
        <p:blipFill>
          <a:blip r:embed="rId2"/>
          <a:stretch>
            <a:fillRect/>
          </a:stretch>
        </p:blipFill>
        <p:spPr>
          <a:xfrm>
            <a:off x="502920" y="1007882"/>
            <a:ext cx="11183112" cy="3914089"/>
          </a:xfrm>
          <a:prstGeom prst="rect">
            <a:avLst/>
          </a:prstGeom>
        </p:spPr>
      </p:pic>
      <p:sp>
        <p:nvSpPr>
          <p:cNvPr id="4" name="Rounded Rectangle 3"/>
          <p:cNvSpPr/>
          <p:nvPr/>
        </p:nvSpPr>
        <p:spPr>
          <a:xfrm>
            <a:off x="502920" y="5247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75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 </a:t>
            </a:r>
            <a:r>
              <a:rPr sz="1500" b="1" i="0">
                <a:solidFill>
                  <a:srgbClr val="141B2E"/>
                </a:solidFill>
                <a:latin typeface="Arial"/>
              </a:rPr>
              <a:t>механическое требование</a:t>
            </a:r>
            <a:r>
              <a:rPr sz="1500" b="1" i="0">
                <a:solidFill>
                  <a:srgbClr val="141B2E"/>
                </a:solidFill>
                <a:latin typeface="Arial"/>
              </a:rPr>
              <a:t> (размер, формат, разрешение) → проверяет код, детерминированно, до отправки. Файл → </a:t>
            </a:r>
            <a:r>
              <a:rPr sz="1500" b="1" i="0">
                <a:solidFill>
                  <a:srgbClr val="141B2E"/>
                </a:solidFill>
                <a:latin typeface="Arial"/>
              </a:rPr>
              <a:t>смысловое требование</a:t>
            </a:r>
            <a:r>
              <a:rPr sz="1500" b="1" i="0">
                <a:solidFill>
                  <a:srgbClr val="141B2E"/>
                </a:solidFill>
                <a:latin typeface="Arial"/>
              </a:rPr>
              <a:t> (показывает ли нужное) → проверяет модель с распознаванием изображений — сегодня этого шага в цепочке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реальном канвасе</a:t>
            </a:r>
          </a:p>
        </p:txBody>
      </p:sp>
      <p:pic>
        <p:nvPicPr>
          <p:cNvPr id="3" name="Picture 2" descr="k4-n8n-vetvlenie-real.png"/>
          <p:cNvPicPr>
            <a:picLocks noChangeAspect="1"/>
          </p:cNvPicPr>
          <p:nvPr/>
        </p:nvPicPr>
        <p:blipFill>
          <a:blip r:embed="rId2"/>
          <a:stretch>
            <a:fillRect/>
          </a:stretch>
        </p:blipFill>
        <p:spPr>
          <a:xfrm>
            <a:off x="502920" y="1049646"/>
            <a:ext cx="11183112" cy="3469046"/>
          </a:xfrm>
          <a:prstGeom prst="rect">
            <a:avLst/>
          </a:prstGeom>
        </p:spPr>
      </p:pic>
      <p:sp>
        <p:nvSpPr>
          <p:cNvPr id="4" name="Rounded Rectangle 3"/>
          <p:cNvSpPr/>
          <p:nvPr/>
        </p:nvSpPr>
        <p:spPr>
          <a:xfrm>
            <a:off x="502920" y="494901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07702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Воркфлоу «С8 · Кейс 4 — картинка в Telegram», живой стенд.</a:t>
            </a:r>
            <a:r>
              <a:rPr sz="1500" b="1" i="0">
                <a:solidFill>
                  <a:srgbClr val="141B2E"/>
                </a:solidFill>
                <a:latin typeface="Arial"/>
              </a:rPr>
              <a:t>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 </a:t>
            </a:r>
            <a:r>
              <a:rPr sz="1500" b="1" i="0">
                <a:solidFill>
                  <a:srgbClr val="141B2E"/>
                </a:solidFill>
                <a:latin typeface="Consolas"/>
              </a:rPr>
              <a:t>Result</a:t>
            </a:r>
            <a:r>
              <a:rPr sz="1500" b="1" i="0">
                <a:solidFill>
                  <a:srgbClr val="141B2E"/>
                </a:solidFill>
                <a:latin typeface="Arial"/>
              </a:rPr>
              <a:t> </a:t>
            </a:r>
            <a:r>
              <a:rPr sz="1500" b="1" i="0">
                <a:solidFill>
                  <a:srgbClr val="141B2E"/>
                </a:solidFill>
                <a:latin typeface="Consolas"/>
              </a:rPr>
              <a:t>screen</a:t>
            </a:r>
            <a:r>
              <a:rPr sz="1500" b="1" i="0">
                <a:solidFill>
                  <a:srgbClr val="141B2E"/>
                </a:solidFill>
                <a:latin typeface="Arial"/>
              </a:rPr>
              <a:t> — тот же главный путь приёма заявки, что в Кейсе 1. От развилки после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стрелка уходит вверх, в </a:t>
            </a:r>
            <a:r>
              <a:rPr sz="1500" b="1" i="0">
                <a:solidFill>
                  <a:srgbClr val="141B2E"/>
                </a:solidFill>
                <a:latin typeface="Consolas"/>
              </a:rPr>
              <a:t>Compose</a:t>
            </a:r>
            <a:r>
              <a:rPr sz="1500" b="1" i="0">
                <a:solidFill>
                  <a:srgbClr val="141B2E"/>
                </a:solidFill>
                <a:latin typeface="Arial"/>
              </a:rPr>
              <a:t> </a:t>
            </a:r>
            <a:r>
              <a:rPr sz="1500" b="1" i="0">
                <a:solidFill>
                  <a:srgbClr val="141B2E"/>
                </a:solidFill>
                <a:latin typeface="Consolas"/>
              </a:rPr>
              <a:t>notification</a:t>
            </a:r>
            <a:r>
              <a:rPr sz="1500" b="1" i="0">
                <a:solidFill>
                  <a:srgbClr val="141B2E"/>
                </a:solidFill>
                <a:latin typeface="Arial"/>
              </a:rPr>
              <a:t> </a:t>
            </a:r>
            <a:r>
              <a:rPr sz="1500" b="1" i="0">
                <a:solidFill>
                  <a:srgbClr val="141B2E"/>
                </a:solidFill>
                <a:latin typeface="Consolas"/>
              </a:rPr>
              <a:t>(template)</a:t>
            </a:r>
            <a:r>
              <a:rPr sz="1500" b="1" i="0">
                <a:solidFill>
                  <a:srgbClr val="141B2E"/>
                </a:solidFill>
                <a:latin typeface="Arial"/>
              </a:rPr>
              <a:t> → </a:t>
            </a:r>
            <a:r>
              <a:rPr sz="1500" b="1" i="0">
                <a:solidFill>
                  <a:srgbClr val="141B2E"/>
                </a:solidFill>
                <a:latin typeface="Consolas"/>
              </a:rPr>
              <a:t>Fetch</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image</a:t>
            </a:r>
            <a:r>
              <a:rPr sz="1500" b="1" i="0">
                <a:solidFill>
                  <a:srgbClr val="141B2E"/>
                </a:solidFill>
                <a:latin typeface="Arial"/>
              </a:rPr>
              <a:t> </a:t>
            </a:r>
            <a:r>
              <a:rPr sz="1500" b="1" i="0">
                <a:solidFill>
                  <a:srgbClr val="141B2E"/>
                </a:solidFill>
                <a:latin typeface="Consolas"/>
              </a:rPr>
              <a:t>(HTTP)</a:t>
            </a:r>
            <a:r>
              <a:rPr sz="1500" b="1" i="0">
                <a:solidFill>
                  <a:srgbClr val="141B2E"/>
                </a:solidFill>
                <a:latin typeface="Arial"/>
              </a:rPr>
              <a:t> → </a:t>
            </a:r>
            <a:r>
              <a:rPr sz="1500" b="1" i="0">
                <a:solidFill>
                  <a:srgbClr val="141B2E"/>
                </a:solidFill>
                <a:latin typeface="Consolas"/>
              </a:rPr>
              <a:t>Send</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(Telegram</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 три узла, которые кейс разбирает дальше.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в n8n и граница размера, проверенная настоящим вызовом</a:t>
            </a:r>
          </a:p>
        </p:txBody>
      </p:sp>
      <p:pic>
        <p:nvPicPr>
          <p:cNvPr id="3" name="Picture 2" descr="k4-n8n-tsepochka-real.png"/>
          <p:cNvPicPr>
            <a:picLocks noChangeAspect="1"/>
          </p:cNvPicPr>
          <p:nvPr/>
        </p:nvPicPr>
        <p:blipFill>
          <a:blip r:embed="rId2"/>
          <a:stretch>
            <a:fillRect/>
          </a:stretch>
        </p:blipFill>
        <p:spPr>
          <a:xfrm>
            <a:off x="502920" y="1319785"/>
            <a:ext cx="11183112" cy="2589773"/>
          </a:xfrm>
          <a:prstGeom prst="rect">
            <a:avLst/>
          </a:prstGeom>
        </p:spPr>
      </p:pic>
      <p:sp>
        <p:nvSpPr>
          <p:cNvPr id="4" name="Rounded Rectangle 3"/>
          <p:cNvSpPr/>
          <p:nvPr/>
        </p:nvSpPr>
        <p:spPr>
          <a:xfrm>
            <a:off x="502920" y="4074154"/>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257034"/>
            <a:ext cx="5349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6" name="TextBox 5"/>
          <p:cNvSpPr txBox="1"/>
          <p:nvPr/>
        </p:nvSpPr>
        <p:spPr>
          <a:xfrm>
            <a:off x="6181614" y="4257034"/>
            <a:ext cx="5175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7" name="TextBox 6"/>
          <p:cNvSpPr txBox="1"/>
          <p:nvPr/>
        </p:nvSpPr>
        <p:spPr>
          <a:xfrm>
            <a:off x="685800" y="4539101"/>
            <a:ext cx="53495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Проверенный файл</a:t>
            </a:r>
          </a:p>
        </p:txBody>
      </p:sp>
      <p:sp>
        <p:nvSpPr>
          <p:cNvPr id="8" name="TextBox 7"/>
          <p:cNvSpPr txBox="1"/>
          <p:nvPr/>
        </p:nvSpPr>
        <p:spPr>
          <a:xfrm>
            <a:off x="6181614" y="4539101"/>
            <a:ext cx="51752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12 812 355</a:t>
            </a:r>
            <a:r>
              <a:rPr sz="1250" b="0" i="0">
                <a:solidFill>
                  <a:srgbClr val="141B2E"/>
                </a:solidFill>
                <a:latin typeface="Arial"/>
              </a:rPr>
              <a:t> (~12,8 МБ)</a:t>
            </a:r>
          </a:p>
        </p:txBody>
      </p:sp>
      <p:cxnSp>
        <p:nvCxnSpPr>
          <p:cNvPr id="9" name="Connector 8"/>
          <p:cNvCxnSpPr/>
          <p:nvPr/>
        </p:nvCxnSpPr>
        <p:spPr>
          <a:xfrm>
            <a:off x="685800" y="48862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886255"/>
            <a:ext cx="53495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Лимит Telegram на фото</a:t>
            </a:r>
          </a:p>
        </p:txBody>
      </p:sp>
      <p:sp>
        <p:nvSpPr>
          <p:cNvPr id="11" name="TextBox 10"/>
          <p:cNvSpPr txBox="1"/>
          <p:nvPr/>
        </p:nvSpPr>
        <p:spPr>
          <a:xfrm>
            <a:off x="6181614" y="4886255"/>
            <a:ext cx="51752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10 485 760</a:t>
            </a:r>
            <a:r>
              <a:rPr sz="1250" b="0" i="0">
                <a:solidFill>
                  <a:srgbClr val="141B2E"/>
                </a:solidFill>
                <a:latin typeface="Arial"/>
              </a:rPr>
              <a:t> (10 МБ)</a:t>
            </a:r>
          </a:p>
        </p:txBody>
      </p:sp>
      <p:sp>
        <p:nvSpPr>
          <p:cNvPr id="12" name="Rounded Rectangle 11"/>
          <p:cNvSpPr/>
          <p:nvPr/>
        </p:nvSpPr>
        <p:spPr>
          <a:xfrm>
            <a:off x="502920" y="558088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70890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Ответ Telegram Bot API: </a:t>
            </a:r>
            <a:r>
              <a:rPr sz="1500" b="1" i="0">
                <a:solidFill>
                  <a:srgbClr val="141B2E"/>
                </a:solidFill>
                <a:latin typeface="Consolas"/>
              </a:rPr>
              <a:t>"Bad</a:t>
            </a:r>
            <a:r>
              <a:rPr sz="1500" b="1" i="0">
                <a:solidFill>
                  <a:srgbClr val="141B2E"/>
                </a:solidFill>
                <a:latin typeface="Arial"/>
              </a:rPr>
              <a:t> </a:t>
            </a:r>
            <a:r>
              <a:rPr sz="1500" b="1" i="0">
                <a:solidFill>
                  <a:srgbClr val="141B2E"/>
                </a:solidFill>
                <a:latin typeface="Consolas"/>
              </a:rPr>
              <a:t>Request:</a:t>
            </a:r>
            <a:r>
              <a:rPr sz="1500" b="1" i="0">
                <a:solidFill>
                  <a:srgbClr val="141B2E"/>
                </a:solidFill>
                <a:latin typeface="Arial"/>
              </a:rPr>
              <a:t> </a:t>
            </a:r>
            <a:r>
              <a:rPr sz="1500" b="1" i="0">
                <a:solidFill>
                  <a:srgbClr val="141B2E"/>
                </a:solidFill>
                <a:latin typeface="Consolas"/>
              </a:rPr>
              <a:t>file</a:t>
            </a:r>
            <a:r>
              <a:rPr sz="1500" b="1" i="0">
                <a:solidFill>
                  <a:srgbClr val="141B2E"/>
                </a:solidFill>
                <a:latin typeface="Arial"/>
              </a:rPr>
              <a:t> </a:t>
            </a:r>
            <a:r>
              <a:rPr sz="1500" b="1" i="0">
                <a:solidFill>
                  <a:srgbClr val="141B2E"/>
                </a:solidFill>
                <a:latin typeface="Consolas"/>
              </a:rPr>
              <a:t>of</a:t>
            </a:r>
            <a:r>
              <a:rPr sz="1500" b="1" i="0">
                <a:solidFill>
                  <a:srgbClr val="141B2E"/>
                </a:solidFill>
                <a:latin typeface="Arial"/>
              </a:rPr>
              <a:t> </a:t>
            </a:r>
            <a:r>
              <a:rPr sz="1500" b="1" i="0">
                <a:solidFill>
                  <a:srgbClr val="141B2E"/>
                </a:solidFill>
                <a:latin typeface="Consolas"/>
              </a:rPr>
              <a:t>size</a:t>
            </a:r>
            <a:r>
              <a:rPr sz="1500" b="1" i="0">
                <a:solidFill>
                  <a:srgbClr val="141B2E"/>
                </a:solidFill>
                <a:latin typeface="Arial"/>
              </a:rPr>
              <a:t> </a:t>
            </a:r>
            <a:r>
              <a:rPr sz="1500" b="1" i="0">
                <a:solidFill>
                  <a:srgbClr val="141B2E"/>
                </a:solidFill>
                <a:latin typeface="Consolas"/>
              </a:rPr>
              <a:t>12812355</a:t>
            </a:r>
            <a:r>
              <a:rPr sz="1500" b="1" i="0">
                <a:solidFill>
                  <a:srgbClr val="141B2E"/>
                </a:solidFill>
                <a:latin typeface="Arial"/>
              </a:rPr>
              <a:t> </a:t>
            </a:r>
            <a:r>
              <a:rPr sz="1500" b="1" i="0">
                <a:solidFill>
                  <a:srgbClr val="141B2E"/>
                </a:solidFill>
                <a:latin typeface="Consolas"/>
              </a:rPr>
              <a:t>bytes</a:t>
            </a:r>
            <a:r>
              <a:rPr sz="1500" b="1" i="0">
                <a:solidFill>
                  <a:srgbClr val="141B2E"/>
                </a:solidFill>
                <a:latin typeface="Arial"/>
              </a:rPr>
              <a:t> </a:t>
            </a:r>
            <a:r>
              <a:rPr sz="1500" b="1" i="0">
                <a:solidFill>
                  <a:srgbClr val="141B2E"/>
                </a:solidFill>
                <a:latin typeface="Consolas"/>
              </a:rPr>
              <a:t>is</a:t>
            </a:r>
            <a:r>
              <a:rPr sz="1500" b="1" i="0">
                <a:solidFill>
                  <a:srgbClr val="141B2E"/>
                </a:solidFill>
                <a:latin typeface="Arial"/>
              </a:rPr>
              <a:t> </a:t>
            </a:r>
            <a:r>
              <a:rPr sz="1500" b="1" i="0">
                <a:solidFill>
                  <a:srgbClr val="141B2E"/>
                </a:solidFill>
                <a:latin typeface="Consolas"/>
              </a:rPr>
              <a:t>too</a:t>
            </a:r>
            <a:r>
              <a:rPr sz="1500" b="1" i="0">
                <a:solidFill>
                  <a:srgbClr val="141B2E"/>
                </a:solidFill>
                <a:latin typeface="Arial"/>
              </a:rPr>
              <a:t> </a:t>
            </a:r>
            <a:r>
              <a:rPr sz="1500" b="1" i="0">
                <a:solidFill>
                  <a:srgbClr val="141B2E"/>
                </a:solidFill>
                <a:latin typeface="Consolas"/>
              </a:rPr>
              <a:t>big</a:t>
            </a:r>
            <a:r>
              <a:rPr sz="1500" b="1" i="0">
                <a:solidFill>
                  <a:srgbClr val="141B2E"/>
                </a:solidFill>
                <a:latin typeface="Arial"/>
              </a:rPr>
              <a:t> </a:t>
            </a:r>
            <a:r>
              <a:rPr sz="1500" b="1" i="0">
                <a:solidFill>
                  <a:srgbClr val="141B2E"/>
                </a:solidFill>
                <a:latin typeface="Consolas"/>
              </a:rPr>
              <a:t>for</a:t>
            </a:r>
            <a:r>
              <a:rPr sz="1500" b="1" i="0">
                <a:solidFill>
                  <a:srgbClr val="141B2E"/>
                </a:solidFill>
                <a:latin typeface="Arial"/>
              </a:rPr>
              <a:t> </a:t>
            </a:r>
            <a:r>
              <a:rPr sz="1500" b="1" i="0">
                <a:solidFill>
                  <a:srgbClr val="141B2E"/>
                </a:solidFill>
                <a:latin typeface="Consolas"/>
              </a:rPr>
              <a:t>a</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a:t>
            </a:r>
            <a:r>
              <a:rPr sz="1500" b="1" i="0">
                <a:solidFill>
                  <a:srgbClr val="141B2E"/>
                </a:solidFill>
                <a:latin typeface="Consolas"/>
              </a:rPr>
              <a:t>the</a:t>
            </a:r>
            <a:r>
              <a:rPr sz="1500" b="1" i="0">
                <a:solidFill>
                  <a:srgbClr val="141B2E"/>
                </a:solidFill>
                <a:latin typeface="Arial"/>
              </a:rPr>
              <a:t> </a:t>
            </a:r>
            <a:r>
              <a:rPr sz="1500" b="1" i="0">
                <a:solidFill>
                  <a:srgbClr val="141B2E"/>
                </a:solidFill>
                <a:latin typeface="Consolas"/>
              </a:rPr>
              <a:t>maximum</a:t>
            </a:r>
            <a:r>
              <a:rPr sz="1500" b="1" i="0">
                <a:solidFill>
                  <a:srgbClr val="141B2E"/>
                </a:solidFill>
                <a:latin typeface="Arial"/>
              </a:rPr>
              <a:t> </a:t>
            </a:r>
            <a:r>
              <a:rPr sz="1500" b="1" i="0">
                <a:solidFill>
                  <a:srgbClr val="141B2E"/>
                </a:solidFill>
                <a:latin typeface="Consolas"/>
              </a:rPr>
              <a:t>size</a:t>
            </a:r>
            <a:r>
              <a:rPr sz="1500" b="1" i="0">
                <a:solidFill>
                  <a:srgbClr val="141B2E"/>
                </a:solidFill>
                <a:latin typeface="Arial"/>
              </a:rPr>
              <a:t> </a:t>
            </a:r>
            <a:r>
              <a:rPr sz="1500" b="1" i="0">
                <a:solidFill>
                  <a:srgbClr val="141B2E"/>
                </a:solidFill>
                <a:latin typeface="Consolas"/>
              </a:rPr>
              <a:t>is</a:t>
            </a:r>
            <a:r>
              <a:rPr sz="1500" b="1" i="0">
                <a:solidFill>
                  <a:srgbClr val="141B2E"/>
                </a:solidFill>
                <a:latin typeface="Arial"/>
              </a:rPr>
              <a:t> </a:t>
            </a:r>
            <a:r>
              <a:rPr sz="1500" b="1" i="0">
                <a:solidFill>
                  <a:srgbClr val="141B2E"/>
                </a:solidFill>
                <a:latin typeface="Consolas"/>
              </a:rPr>
              <a:t>10485760</a:t>
            </a:r>
            <a:r>
              <a:rPr sz="1500" b="1" i="0">
                <a:solidFill>
                  <a:srgbClr val="141B2E"/>
                </a:solidFill>
                <a:latin typeface="Arial"/>
              </a:rPr>
              <a:t> </a:t>
            </a:r>
            <a:r>
              <a:rPr sz="1500" b="1" i="0">
                <a:solidFill>
                  <a:srgbClr val="141B2E"/>
                </a:solidFill>
                <a:latin typeface="Consolas"/>
              </a:rPr>
              <a:t>bytes"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узлов: экран параметров</a:t>
            </a:r>
          </a:p>
        </p:txBody>
      </p:sp>
      <p:pic>
        <p:nvPicPr>
          <p:cNvPr id="3" name="Picture 2" descr="k4-uzly-nastroyka-real.png"/>
          <p:cNvPicPr>
            <a:picLocks noChangeAspect="1"/>
          </p:cNvPicPr>
          <p:nvPr/>
        </p:nvPicPr>
        <p:blipFill>
          <a:blip r:embed="rId2"/>
          <a:stretch>
            <a:fillRect/>
          </a:stretch>
        </p:blipFill>
        <p:spPr>
          <a:xfrm>
            <a:off x="1246182" y="943356"/>
            <a:ext cx="9696586" cy="1923925"/>
          </a:xfrm>
          <a:prstGeom prst="rect">
            <a:avLst/>
          </a:prstGeom>
        </p:spPr>
      </p:pic>
      <p:sp>
        <p:nvSpPr>
          <p:cNvPr id="4" name="Rounded Rectangle 3"/>
          <p:cNvSpPr/>
          <p:nvPr/>
        </p:nvSpPr>
        <p:spPr>
          <a:xfrm>
            <a:off x="502920" y="303187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15988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Compose</a:t>
            </a:r>
            <a:r>
              <a:rPr sz="1450" b="1" i="0">
                <a:solidFill>
                  <a:srgbClr val="141B2E"/>
                </a:solidFill>
                <a:latin typeface="Arial"/>
              </a:rPr>
              <a:t> </a:t>
            </a:r>
            <a:r>
              <a:rPr sz="1450" b="1" i="0">
                <a:solidFill>
                  <a:srgbClr val="141B2E"/>
                </a:solidFill>
                <a:latin typeface="Consolas"/>
              </a:rPr>
              <a:t>notification</a:t>
            </a:r>
            <a:r>
              <a:rPr sz="1450" b="1" i="0">
                <a:solidFill>
                  <a:srgbClr val="141B2E"/>
                </a:solidFill>
                <a:latin typeface="Arial"/>
              </a:rPr>
              <a:t> </a:t>
            </a:r>
            <a:r>
              <a:rPr sz="1450" b="1" i="0">
                <a:solidFill>
                  <a:srgbClr val="141B2E"/>
                </a:solidFill>
                <a:latin typeface="Consolas"/>
              </a:rPr>
              <a:t>(template)</a:t>
            </a:r>
            <a:r>
              <a:rPr sz="1450" b="1" i="0">
                <a:solidFill>
                  <a:srgbClr val="141B2E"/>
                </a:solidFill>
                <a:latin typeface="Arial"/>
              </a:rPr>
              <a:t>.</a:t>
            </a:r>
            <a:r>
              <a:rPr sz="1450" b="1" i="0">
                <a:solidFill>
                  <a:srgbClr val="141B2E"/>
                </a:solidFill>
                <a:latin typeface="Arial"/>
              </a:rPr>
              <a:t> </a:t>
            </a:r>
            <a:r>
              <a:rPr sz="1450" b="1" i="0">
                <a:solidFill>
                  <a:srgbClr val="141B2E"/>
                </a:solidFill>
                <a:latin typeface="Consolas"/>
              </a:rPr>
              <a:t>Mode</a:t>
            </a:r>
            <a:r>
              <a:rPr sz="1450" b="1" i="0">
                <a:solidFill>
                  <a:srgbClr val="141B2E"/>
                </a:solidFill>
                <a:latin typeface="Arial"/>
              </a:rPr>
              <a:t>: Manual Mapping. Поле </a:t>
            </a:r>
            <a:r>
              <a:rPr sz="1450" b="1" i="0">
                <a:solidFill>
                  <a:srgbClr val="141B2E"/>
                </a:solidFill>
                <a:latin typeface="Consolas"/>
              </a:rPr>
              <a:t>notification_text</a:t>
            </a:r>
            <a:r>
              <a:rPr sz="1450" b="1" i="0">
                <a:solidFill>
                  <a:srgbClr val="141B2E"/>
                </a:solidFill>
                <a:latin typeface="Arial"/>
              </a:rPr>
              <a:t>: то же выражение, что уже стояло на панели этого узла в Кейсе 1 — не переписано заново, не упрощено для демонстрации.</a:t>
            </a:r>
          </a:p>
        </p:txBody>
      </p:sp>
      <p:sp>
        <p:nvSpPr>
          <p:cNvPr id="6" name="Rounded Rectangle 5"/>
          <p:cNvSpPr/>
          <p:nvPr/>
        </p:nvSpPr>
        <p:spPr>
          <a:xfrm>
            <a:off x="502920" y="3927477"/>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55493"/>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Узел </a:t>
            </a:r>
            <a:r>
              <a:rPr sz="1300" b="1" i="0">
                <a:solidFill>
                  <a:srgbClr val="141B2E"/>
                </a:solidFill>
                <a:latin typeface="Consolas"/>
              </a:rPr>
              <a:t>Fetch</a:t>
            </a:r>
            <a:r>
              <a:rPr sz="1300" b="1" i="0">
                <a:solidFill>
                  <a:srgbClr val="141B2E"/>
                </a:solidFill>
                <a:latin typeface="Arial"/>
              </a:rPr>
              <a:t> </a:t>
            </a:r>
            <a:r>
              <a:rPr sz="1300" b="1" i="0">
                <a:solidFill>
                  <a:srgbClr val="141B2E"/>
                </a:solidFill>
                <a:latin typeface="Consolas"/>
              </a:rPr>
              <a:t>card</a:t>
            </a:r>
            <a:r>
              <a:rPr sz="1300" b="1" i="0">
                <a:solidFill>
                  <a:srgbClr val="141B2E"/>
                </a:solidFill>
                <a:latin typeface="Arial"/>
              </a:rPr>
              <a:t> </a:t>
            </a:r>
            <a:r>
              <a:rPr sz="1300" b="1" i="0">
                <a:solidFill>
                  <a:srgbClr val="141B2E"/>
                </a:solidFill>
                <a:latin typeface="Consolas"/>
              </a:rPr>
              <a:t>image</a:t>
            </a:r>
            <a:r>
              <a:rPr sz="1300" b="1" i="0">
                <a:solidFill>
                  <a:srgbClr val="141B2E"/>
                </a:solidFill>
                <a:latin typeface="Arial"/>
              </a:rPr>
              <a:t> </a:t>
            </a:r>
            <a:r>
              <a:rPr sz="1300" b="1" i="0">
                <a:solidFill>
                  <a:srgbClr val="141B2E"/>
                </a:solidFill>
                <a:latin typeface="Consolas"/>
              </a:rPr>
              <a:t>(HTTP)</a:t>
            </a:r>
            <a:r>
              <a:rPr sz="1300" b="1" i="0">
                <a:solidFill>
                  <a:srgbClr val="141B2E"/>
                </a:solidFill>
                <a:latin typeface="Arial"/>
              </a:rPr>
              <a:t>.</a:t>
            </a:r>
            <a:r>
              <a:rPr sz="1300" b="1" i="0">
                <a:solidFill>
                  <a:srgbClr val="141B2E"/>
                </a:solidFill>
                <a:latin typeface="Arial"/>
              </a:rPr>
              <a:t> </a:t>
            </a:r>
            <a:r>
              <a:rPr sz="1300" b="1" i="0">
                <a:solidFill>
                  <a:srgbClr val="141B2E"/>
                </a:solidFill>
                <a:latin typeface="Consolas"/>
              </a:rPr>
              <a:t>Method</a:t>
            </a:r>
            <a:r>
              <a:rPr sz="1300" b="1" i="0">
                <a:solidFill>
                  <a:srgbClr val="141B2E"/>
                </a:solidFill>
                <a:latin typeface="Arial"/>
              </a:rPr>
              <a:t>: </a:t>
            </a:r>
            <a:r>
              <a:rPr sz="1300" b="1" i="0">
                <a:solidFill>
                  <a:srgbClr val="141B2E"/>
                </a:solidFill>
                <a:latin typeface="Arial"/>
              </a:rPr>
              <a:t>GET</a:t>
            </a:r>
            <a:r>
              <a:rPr sz="1300" b="1" i="0">
                <a:solidFill>
                  <a:srgbClr val="141B2E"/>
                </a:solidFill>
                <a:latin typeface="Arial"/>
              </a:rPr>
              <a:t>. </a:t>
            </a:r>
            <a:r>
              <a:rPr sz="1300" b="1" i="0">
                <a:solidFill>
                  <a:srgbClr val="141B2E"/>
                </a:solidFill>
                <a:latin typeface="Consolas"/>
              </a:rPr>
              <a:t>URL</a:t>
            </a:r>
            <a:r>
              <a:rPr sz="1300" b="1" i="0">
                <a:solidFill>
                  <a:srgbClr val="141B2E"/>
                </a:solidFill>
                <a:latin typeface="Arial"/>
              </a:rPr>
              <a:t>: </a:t>
            </a:r>
            <a:r>
              <a:rPr sz="1300" b="1" i="0">
                <a:solidFill>
                  <a:srgbClr val="141B2E"/>
                </a:solidFill>
                <a:latin typeface="Consolas"/>
              </a:rPr>
              <a:t>https://picsum.photos/800/450</a:t>
            </a:r>
            <a:r>
              <a:rPr sz="1300" b="1" i="0">
                <a:solidFill>
                  <a:srgbClr val="141B2E"/>
                </a:solidFill>
                <a:latin typeface="Arial"/>
              </a:rPr>
              <a:t> — настоящий источник тестовой картинки, не придуманный для примера. Ниже, через пропущенный блок неизменённых переключателей: </a:t>
            </a:r>
            <a:r>
              <a:rPr sz="1300" b="1" i="0">
                <a:solidFill>
                  <a:srgbClr val="141B2E"/>
                </a:solidFill>
                <a:latin typeface="Consolas"/>
              </a:rPr>
              <a:t>Response</a:t>
            </a:r>
            <a:r>
              <a:rPr sz="1300" b="1" i="0">
                <a:solidFill>
                  <a:srgbClr val="141B2E"/>
                </a:solidFill>
                <a:latin typeface="Arial"/>
              </a:rPr>
              <a:t> </a:t>
            </a:r>
            <a:r>
              <a:rPr sz="1300" b="1" i="0">
                <a:solidFill>
                  <a:srgbClr val="141B2E"/>
                </a:solidFill>
                <a:latin typeface="Consolas"/>
              </a:rPr>
              <a:t>Format</a:t>
            </a:r>
            <a:r>
              <a:rPr sz="1300" b="1" i="0">
                <a:solidFill>
                  <a:srgbClr val="141B2E"/>
                </a:solidFill>
                <a:latin typeface="Arial"/>
              </a:rPr>
              <a:t> = </a:t>
            </a:r>
            <a:r>
              <a:rPr sz="1300" b="1" i="0">
                <a:solidFill>
                  <a:srgbClr val="141B2E"/>
                </a:solidFill>
                <a:latin typeface="Arial"/>
              </a:rPr>
              <a:t>File</a:t>
            </a:r>
            <a:r>
              <a:rPr sz="1300" b="1" i="0">
                <a:solidFill>
                  <a:srgbClr val="141B2E"/>
                </a:solidFill>
                <a:latin typeface="Arial"/>
              </a:rPr>
              <a:t> (с этого момента содержимое узла — бинарные данные, не текст и не JSON), </a:t>
            </a:r>
            <a:r>
              <a:rPr sz="1300" b="1" i="0">
                <a:solidFill>
                  <a:srgbClr val="141B2E"/>
                </a:solidFill>
                <a:latin typeface="Consolas"/>
              </a:rPr>
              <a:t>Put</a:t>
            </a:r>
            <a:r>
              <a:rPr sz="1300" b="1" i="0">
                <a:solidFill>
                  <a:srgbClr val="141B2E"/>
                </a:solidFill>
                <a:latin typeface="Arial"/>
              </a:rPr>
              <a:t> </a:t>
            </a:r>
            <a:r>
              <a:rPr sz="1300" b="1" i="0">
                <a:solidFill>
                  <a:srgbClr val="141B2E"/>
                </a:solidFill>
                <a:latin typeface="Consolas"/>
              </a:rPr>
              <a:t>Output</a:t>
            </a:r>
            <a:r>
              <a:rPr sz="1300" b="1" i="0">
                <a:solidFill>
                  <a:srgbClr val="141B2E"/>
                </a:solidFill>
                <a:latin typeface="Arial"/>
              </a:rPr>
              <a:t> </a:t>
            </a:r>
            <a:r>
              <a:rPr sz="1300" b="1" i="0">
                <a:solidFill>
                  <a:srgbClr val="141B2E"/>
                </a:solidFill>
                <a:latin typeface="Consolas"/>
              </a:rPr>
              <a:t>in</a:t>
            </a:r>
            <a:r>
              <a:rPr sz="1300" b="1" i="0">
                <a:solidFill>
                  <a:srgbClr val="141B2E"/>
                </a:solidFill>
                <a:latin typeface="Arial"/>
              </a:rPr>
              <a:t> </a:t>
            </a:r>
            <a:r>
              <a:rPr sz="1300" b="1" i="0">
                <a:solidFill>
                  <a:srgbClr val="141B2E"/>
                </a:solidFill>
                <a:latin typeface="Consolas"/>
              </a:rPr>
              <a:t>Field</a:t>
            </a:r>
            <a:r>
              <a:rPr sz="1300" b="1" i="0">
                <a:solidFill>
                  <a:srgbClr val="141B2E"/>
                </a:solidFill>
                <a:latin typeface="Arial"/>
              </a:rPr>
              <a:t> = </a:t>
            </a:r>
            <a:r>
              <a:rPr sz="1300" b="1" i="0">
                <a:solidFill>
                  <a:srgbClr val="141B2E"/>
                </a:solidFill>
                <a:latin typeface="Consolas"/>
              </a:rPr>
              <a:t>data</a:t>
            </a:r>
            <a:r>
              <a:rPr sz="1300" b="1" i="0">
                <a:solidFill>
                  <a:srgbClr val="141B2E"/>
                </a:solidFill>
                <a:latin typeface="Arial"/>
              </a:rPr>
              <a:t>.</a:t>
            </a:r>
          </a:p>
        </p:txBody>
      </p:sp>
      <p:sp>
        <p:nvSpPr>
          <p:cNvPr id="8" name="Rounded Rectangle 7"/>
          <p:cNvSpPr/>
          <p:nvPr/>
        </p:nvSpPr>
        <p:spPr>
          <a:xfrm>
            <a:off x="502920" y="4980561"/>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08577"/>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Узел </a:t>
            </a:r>
            <a:r>
              <a:rPr sz="1200" b="1" i="0">
                <a:solidFill>
                  <a:srgbClr val="141B2E"/>
                </a:solidFill>
                <a:latin typeface="Consolas"/>
              </a:rPr>
              <a:t>Send</a:t>
            </a:r>
            <a:r>
              <a:rPr sz="1200" b="1" i="0">
                <a:solidFill>
                  <a:srgbClr val="141B2E"/>
                </a:solidFill>
                <a:latin typeface="Arial"/>
              </a:rPr>
              <a:t> </a:t>
            </a:r>
            <a:r>
              <a:rPr sz="1200" b="1" i="0">
                <a:solidFill>
                  <a:srgbClr val="141B2E"/>
                </a:solidFill>
                <a:latin typeface="Consolas"/>
              </a:rPr>
              <a:t>card</a:t>
            </a:r>
            <a:r>
              <a:rPr sz="1200" b="1" i="0">
                <a:solidFill>
                  <a:srgbClr val="141B2E"/>
                </a:solidFill>
                <a:latin typeface="Arial"/>
              </a:rPr>
              <a:t> </a:t>
            </a:r>
            <a:r>
              <a:rPr sz="1200" b="1" i="0">
                <a:solidFill>
                  <a:srgbClr val="141B2E"/>
                </a:solidFill>
                <a:latin typeface="Consolas"/>
              </a:rPr>
              <a:t>(Telegram</a:t>
            </a:r>
            <a:r>
              <a:rPr sz="1200" b="1" i="0">
                <a:solidFill>
                  <a:srgbClr val="141B2E"/>
                </a:solidFill>
                <a:latin typeface="Arial"/>
              </a:rPr>
              <a:t> </a:t>
            </a:r>
            <a:r>
              <a:rPr sz="1200" b="1" i="0">
                <a:solidFill>
                  <a:srgbClr val="141B2E"/>
                </a:solidFill>
                <a:latin typeface="Consolas"/>
              </a:rPr>
              <a:t>photo)</a:t>
            </a:r>
            <a:r>
              <a:rPr sz="1200" b="1" i="0">
                <a:solidFill>
                  <a:srgbClr val="141B2E"/>
                </a:solidFill>
                <a:latin typeface="Arial"/>
              </a:rPr>
              <a:t>.</a:t>
            </a:r>
            <a:r>
              <a:rPr sz="1200" b="1" i="0">
                <a:solidFill>
                  <a:srgbClr val="141B2E"/>
                </a:solidFill>
                <a:latin typeface="Arial"/>
              </a:rPr>
              <a:t> </a:t>
            </a:r>
            <a:r>
              <a:rPr sz="1200" b="1" i="0">
                <a:solidFill>
                  <a:srgbClr val="141B2E"/>
                </a:solidFill>
                <a:latin typeface="Consolas"/>
              </a:rPr>
              <a:t>Credential</a:t>
            </a:r>
            <a:r>
              <a:rPr sz="1200" b="1" i="0">
                <a:solidFill>
                  <a:srgbClr val="141B2E"/>
                </a:solidFill>
                <a:latin typeface="Arial"/>
              </a:rPr>
              <a:t>: Telegram account (C8). </a:t>
            </a:r>
            <a:r>
              <a:rPr sz="1200" b="1" i="0">
                <a:solidFill>
                  <a:srgbClr val="141B2E"/>
                </a:solidFill>
                <a:latin typeface="Consolas"/>
              </a:rPr>
              <a:t>Resource</a:t>
            </a:r>
            <a:r>
              <a:rPr sz="1200" b="1" i="0">
                <a:solidFill>
                  <a:srgbClr val="141B2E"/>
                </a:solidFill>
                <a:latin typeface="Arial"/>
              </a:rPr>
              <a:t>: Message, </a:t>
            </a:r>
            <a:r>
              <a:rPr sz="1200" b="1" i="0">
                <a:solidFill>
                  <a:srgbClr val="141B2E"/>
                </a:solidFill>
                <a:latin typeface="Consolas"/>
              </a:rPr>
              <a:t>Operation</a:t>
            </a:r>
            <a:r>
              <a:rPr sz="1200" b="1" i="0">
                <a:solidFill>
                  <a:srgbClr val="141B2E"/>
                </a:solidFill>
                <a:latin typeface="Arial"/>
              </a:rPr>
              <a:t>: Send Photo. </a:t>
            </a:r>
            <a:r>
              <a:rPr sz="1200" b="1" i="0">
                <a:solidFill>
                  <a:srgbClr val="141B2E"/>
                </a:solidFill>
                <a:latin typeface="Consolas"/>
              </a:rPr>
              <a:t>Chat</a:t>
            </a:r>
            <a:r>
              <a:rPr sz="1200" b="1" i="0">
                <a:solidFill>
                  <a:srgbClr val="141B2E"/>
                </a:solidFill>
                <a:latin typeface="Arial"/>
              </a:rPr>
              <a:t> </a:t>
            </a:r>
            <a:r>
              <a:rPr sz="1200" b="1" i="0">
                <a:solidFill>
                  <a:srgbClr val="141B2E"/>
                </a:solidFill>
                <a:latin typeface="Consolas"/>
              </a:rPr>
              <a:t>ID</a:t>
            </a:r>
            <a:r>
              <a:rPr sz="1200" b="1" i="0">
                <a:solidFill>
                  <a:srgbClr val="141B2E"/>
                </a:solidFill>
                <a:latin typeface="Arial"/>
              </a:rPr>
              <a:t> — настоящий адресат (замаскирован на фигуре, не относится к уроку). </a:t>
            </a:r>
            <a:r>
              <a:rPr sz="1200" b="1" i="0">
                <a:solidFill>
                  <a:srgbClr val="141B2E"/>
                </a:solidFill>
                <a:latin typeface="Consolas"/>
              </a:rPr>
              <a:t>Binary</a:t>
            </a:r>
            <a:r>
              <a:rPr sz="1200" b="1" i="0">
                <a:solidFill>
                  <a:srgbClr val="141B2E"/>
                </a:solidFill>
                <a:latin typeface="Arial"/>
              </a:rPr>
              <a:t> </a:t>
            </a:r>
            <a:r>
              <a:rPr sz="1200" b="1" i="0">
                <a:solidFill>
                  <a:srgbClr val="141B2E"/>
                </a:solidFill>
                <a:latin typeface="Consolas"/>
              </a:rPr>
              <a:t>File</a:t>
            </a:r>
            <a:r>
              <a:rPr sz="1200" b="1" i="0">
                <a:solidFill>
                  <a:srgbClr val="141B2E"/>
                </a:solidFill>
                <a:latin typeface="Arial"/>
              </a:rPr>
              <a:t> включён, </a:t>
            </a:r>
            <a:r>
              <a:rPr sz="1200" b="1" i="0">
                <a:solidFill>
                  <a:srgbClr val="141B2E"/>
                </a:solidFill>
                <a:latin typeface="Consolas"/>
              </a:rPr>
              <a:t>Input</a:t>
            </a:r>
            <a:r>
              <a:rPr sz="1200" b="1" i="0">
                <a:solidFill>
                  <a:srgbClr val="141B2E"/>
                </a:solidFill>
                <a:latin typeface="Arial"/>
              </a:rPr>
              <a:t> </a:t>
            </a:r>
            <a:r>
              <a:rPr sz="1200" b="1" i="0">
                <a:solidFill>
                  <a:srgbClr val="141B2E"/>
                </a:solidFill>
                <a:latin typeface="Consolas"/>
              </a:rPr>
              <a:t>Binary</a:t>
            </a:r>
            <a:r>
              <a:rPr sz="1200" b="1" i="0">
                <a:solidFill>
                  <a:srgbClr val="141B2E"/>
                </a:solidFill>
                <a:latin typeface="Arial"/>
              </a:rPr>
              <a:t> </a:t>
            </a:r>
            <a:r>
              <a:rPr sz="1200" b="1" i="0">
                <a:solidFill>
                  <a:srgbClr val="141B2E"/>
                </a:solidFill>
                <a:latin typeface="Consolas"/>
              </a:rPr>
              <a:t>Field</a:t>
            </a:r>
            <a:r>
              <a:rPr sz="1200" b="1" i="0">
                <a:solidFill>
                  <a:srgbClr val="141B2E"/>
                </a:solidFill>
                <a:latin typeface="Arial"/>
              </a:rPr>
              <a:t> = </a:t>
            </a:r>
            <a:r>
              <a:rPr sz="1200" b="1" i="0">
                <a:solidFill>
                  <a:srgbClr val="141B2E"/>
                </a:solidFill>
                <a:latin typeface="Consolas"/>
              </a:rPr>
              <a:t>data</a:t>
            </a:r>
            <a:r>
              <a:rPr sz="1200" b="1" i="0">
                <a:solidFill>
                  <a:srgbClr val="141B2E"/>
                </a:solidFill>
                <a:latin typeface="Arial"/>
              </a:rPr>
              <a:t> — то же имя поля, что задал предыдущий узел. </a:t>
            </a:r>
            <a:r>
              <a:rPr sz="1200" b="1" i="0">
                <a:solidFill>
                  <a:srgbClr val="141B2E"/>
                </a:solidFill>
                <a:latin typeface="Consolas"/>
              </a:rPr>
              <a:t>Caption</a:t>
            </a:r>
            <a:r>
              <a:rPr sz="1200" b="1" i="0">
                <a:solidFill>
                  <a:srgbClr val="141B2E"/>
                </a:solidFill>
                <a:latin typeface="Arial"/>
              </a:rPr>
              <a:t>: </a:t>
            </a:r>
            <a:r>
              <a:rPr sz="1200" b="1" i="0">
                <a:solidFill>
                  <a:srgbClr val="141B2E"/>
                </a:solidFill>
                <a:latin typeface="Consolas"/>
              </a:rPr>
              <a:t>{{</a:t>
            </a:r>
            <a:r>
              <a:rPr sz="1200" b="1" i="0">
                <a:solidFill>
                  <a:srgbClr val="141B2E"/>
                </a:solidFill>
                <a:latin typeface="Arial"/>
              </a:rPr>
              <a:t> </a:t>
            </a:r>
            <a:r>
              <a:rPr sz="1200" b="1" i="0">
                <a:solidFill>
                  <a:srgbClr val="141B2E"/>
                </a:solidFill>
                <a:latin typeface="Consolas"/>
              </a:rPr>
              <a:t>$json.notification_text</a:t>
            </a:r>
            <a:r>
              <a:rPr sz="1200" b="1" i="0">
                <a:solidFill>
                  <a:srgbClr val="141B2E"/>
                </a:solidFill>
                <a:latin typeface="Arial"/>
              </a:rPr>
              <a:t> </a:t>
            </a:r>
            <a:r>
              <a:rPr sz="1200" b="1" i="0">
                <a:solidFill>
                  <a:srgbClr val="141B2E"/>
                </a:solidFill>
                <a:latin typeface="Consolas"/>
              </a:rPr>
              <a:t>}}</a:t>
            </a:r>
            <a:r>
              <a:rPr sz="1200" b="1" i="0">
                <a:solidFill>
                  <a:srgbClr val="141B2E"/>
                </a:solidFill>
                <a:latin typeface="Arial"/>
              </a:rPr>
              <a:t> — подпись к фото берётся из первого узла цепочки.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Генерация карточки: текст внутри изображения</a:t>
            </a:r>
          </a:p>
        </p:txBody>
      </p:sp>
      <p:pic>
        <p:nvPicPr>
          <p:cNvPr id="3" name="Picture 2" descr="k4-shema-generatsii.png"/>
          <p:cNvPicPr>
            <a:picLocks noChangeAspect="1"/>
          </p:cNvPicPr>
          <p:nvPr/>
        </p:nvPicPr>
        <p:blipFill>
          <a:blip r:embed="rId2"/>
          <a:stretch>
            <a:fillRect/>
          </a:stretch>
        </p:blipFill>
        <p:spPr>
          <a:xfrm>
            <a:off x="1604500" y="943356"/>
            <a:ext cx="8979951" cy="3142982"/>
          </a:xfrm>
          <a:prstGeom prst="rect">
            <a:avLst/>
          </a:prstGeom>
        </p:spPr>
      </p:pic>
      <p:sp>
        <p:nvSpPr>
          <p:cNvPr id="4" name="Rounded Rectangle 3"/>
          <p:cNvSpPr/>
          <p:nvPr/>
        </p:nvSpPr>
        <p:spPr>
          <a:xfrm>
            <a:off x="502920" y="4250930"/>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78946"/>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Текст уведомления и требование «текст поверх картинки» → </a:t>
            </a:r>
            <a:r>
              <a:rPr sz="1400" b="1" i="0">
                <a:solidFill>
                  <a:srgbClr val="141B2E"/>
                </a:solidFill>
                <a:latin typeface="Arial"/>
              </a:rPr>
              <a:t>специализированная генерирующая модель</a:t>
            </a:r>
            <a:r>
              <a:rPr sz="1400" b="1" i="0">
                <a:solidFill>
                  <a:srgbClr val="141B2E"/>
                </a:solidFill>
                <a:latin typeface="Arial"/>
              </a:rPr>
              <a:t> (текст → изображение) → готовая карточка, текст уже встроен в пиксели → отправка в Telegram как фото.</a:t>
            </a:r>
          </a:p>
        </p:txBody>
      </p:sp>
      <p:sp>
        <p:nvSpPr>
          <p:cNvPr id="6" name="Rounded Rectangle 5"/>
          <p:cNvSpPr/>
          <p:nvPr/>
        </p:nvSpPr>
        <p:spPr>
          <a:xfrm>
            <a:off x="502920" y="5130786"/>
            <a:ext cx="11183112" cy="109855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267946"/>
            <a:ext cx="10707624" cy="824229"/>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Стоимость генерации одной картинки</a:t>
            </a:r>
            <a:r>
              <a:rPr sz="1100" b="0" i="1">
                <a:solidFill>
                  <a:srgbClr val="6B7685"/>
                </a:solidFill>
                <a:latin typeface="Arial"/>
              </a:rPr>
              <a:t> — gpt-image-1.5 (OpenAI), 1024×1024: низкое качество $0,009 · среднее $0,034 · высокое $0,133 за картинку. Для уведомления подойдёт среднее — ≈$0,034 за карточку. </a:t>
            </a:r>
            <a:r>
              <a:rPr sz="1100" b="1" i="1">
                <a:solidFill>
                  <a:srgbClr val="6B7685"/>
                </a:solidFill>
                <a:latin typeface="Arial"/>
              </a:rPr>
              <a:t>Иллюстративно, не измеренный объём:</a:t>
            </a:r>
            <a:r>
              <a:rPr sz="1100" b="0" i="1">
                <a:solidFill>
                  <a:srgbClr val="6B7685"/>
                </a:solidFill>
                <a:latin typeface="Arial"/>
              </a:rPr>
              <a:t> сцена кейса не называет частоту рассылки явно — если это ≈20 карточек в день, тот же поток заявок, что и в Кейсе 1 (n06), — выходит ≈600 карточек в месяц и ≈$20,4 в месяц. </a:t>
            </a:r>
            <a:r>
              <a:rPr sz="1100" b="1" i="1">
                <a:solidFill>
                  <a:srgbClr val="6B7685"/>
                </a:solidFill>
                <a:latin typeface="Arial"/>
              </a:rPr>
              <a:t>Примечание.</a:t>
            </a:r>
            <a:r>
              <a:rPr sz="1100" b="0" i="1">
                <a:solidFill>
                  <a:srgbClr val="6B7685"/>
                </a:solidFill>
                <a:latin typeface="Arial"/>
              </a:rPr>
              <a:t> Генерируемые картинки приходят большого стандартного размера, слабо сжатые — перед отправкой в Telegram нужна перекодировка в более лёгкий формат, тот же лимит </a:t>
            </a:r>
            <a:r>
              <a:rPr sz="1100" b="0" i="1">
                <a:solidFill>
                  <a:srgbClr val="6B7685"/>
                </a:solidFill>
                <a:latin typeface="Consolas"/>
              </a:rPr>
              <a:t>sendPhoto</a:t>
            </a:r>
            <a:r>
              <a:rPr sz="1100" b="0" i="1">
                <a:solidFill>
                  <a:srgbClr val="6B7685"/>
                </a:solidFill>
                <a:latin typeface="Arial"/>
              </a:rPr>
              <a:t> 10 МБ, что мы уже измерили.</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проверки и вопрос сжатия</a:t>
            </a:r>
          </a:p>
        </p:txBody>
      </p:sp>
      <p:pic>
        <p:nvPicPr>
          <p:cNvPr id="3" name="Picture 2" descr="k4-shema-szhatie.png"/>
          <p:cNvPicPr>
            <a:picLocks noChangeAspect="1"/>
          </p:cNvPicPr>
          <p:nvPr/>
        </p:nvPicPr>
        <p:blipFill>
          <a:blip r:embed="rId2"/>
          <a:stretch>
            <a:fillRect/>
          </a:stretch>
        </p:blipFill>
        <p:spPr>
          <a:xfrm>
            <a:off x="1799097" y="943356"/>
            <a:ext cx="8590757" cy="3651071"/>
          </a:xfrm>
          <a:prstGeom prst="rect">
            <a:avLst/>
          </a:prstGeom>
        </p:spPr>
      </p:pic>
      <p:sp>
        <p:nvSpPr>
          <p:cNvPr id="4" name="Rounded Rectangle 3"/>
          <p:cNvSpPr/>
          <p:nvPr/>
        </p:nvSpPr>
        <p:spPr>
          <a:xfrm>
            <a:off x="502920" y="4759019"/>
            <a:ext cx="11183112" cy="1558036"/>
          </a:xfrm>
          <a:prstGeom prst="roundRect">
            <a:avLst>
              <a:gd name="adj" fmla="val 195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941899"/>
            <a:ext cx="203378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6" name="TextBox 5"/>
          <p:cNvSpPr txBox="1"/>
          <p:nvPr/>
        </p:nvSpPr>
        <p:spPr>
          <a:xfrm>
            <a:off x="2865890" y="4941899"/>
            <a:ext cx="261183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7" name="TextBox 6"/>
          <p:cNvSpPr txBox="1"/>
          <p:nvPr/>
        </p:nvSpPr>
        <p:spPr>
          <a:xfrm>
            <a:off x="5624030" y="4941899"/>
            <a:ext cx="28399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8" name="TextBox 7"/>
          <p:cNvSpPr txBox="1"/>
          <p:nvPr/>
        </p:nvSpPr>
        <p:spPr>
          <a:xfrm>
            <a:off x="8610323" y="4941899"/>
            <a:ext cx="27465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9" name="TextBox 8"/>
          <p:cNvSpPr txBox="1"/>
          <p:nvPr/>
        </p:nvSpPr>
        <p:spPr>
          <a:xfrm>
            <a:off x="685800" y="5201487"/>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Без сжатия</a:t>
            </a:r>
          </a:p>
        </p:txBody>
      </p:sp>
      <p:sp>
        <p:nvSpPr>
          <p:cNvPr id="10" name="TextBox 9"/>
          <p:cNvSpPr txBox="1"/>
          <p:nvPr/>
        </p:nvSpPr>
        <p:spPr>
          <a:xfrm>
            <a:off x="2865890" y="5201487"/>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 есть (4032×3024)</a:t>
            </a:r>
          </a:p>
        </p:txBody>
      </p:sp>
      <p:sp>
        <p:nvSpPr>
          <p:cNvPr id="11" name="TextBox 10"/>
          <p:cNvSpPr txBox="1"/>
          <p:nvPr/>
        </p:nvSpPr>
        <p:spPr>
          <a:xfrm>
            <a:off x="5624030" y="5201487"/>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максимум деталей</a:t>
            </a:r>
          </a:p>
        </p:txBody>
      </p:sp>
      <p:sp>
        <p:nvSpPr>
          <p:cNvPr id="12" name="TextBox 11"/>
          <p:cNvSpPr txBox="1"/>
          <p:nvPr/>
        </p:nvSpPr>
        <p:spPr>
          <a:xfrm>
            <a:off x="8610323" y="5201487"/>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дорого — ≈1500 токенов</a:t>
            </a:r>
          </a:p>
        </p:txBody>
      </p:sp>
      <p:cxnSp>
        <p:nvCxnSpPr>
          <p:cNvPr id="13" name="Connector 12"/>
          <p:cNvCxnSpPr/>
          <p:nvPr/>
        </p:nvCxnSpPr>
        <p:spPr>
          <a:xfrm>
            <a:off x="685800" y="55123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5512383"/>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Умеренное сжатие</a:t>
            </a:r>
          </a:p>
        </p:txBody>
      </p:sp>
      <p:sp>
        <p:nvSpPr>
          <p:cNvPr id="15" name="TextBox 14"/>
          <p:cNvSpPr txBox="1"/>
          <p:nvPr/>
        </p:nvSpPr>
        <p:spPr>
          <a:xfrm>
            <a:off x="2865890" y="5512383"/>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Q75–85, ≤1024 px</a:t>
            </a:r>
          </a:p>
        </p:txBody>
      </p:sp>
      <p:sp>
        <p:nvSpPr>
          <p:cNvPr id="16" name="TextBox 15"/>
          <p:cNvSpPr txBox="1"/>
          <p:nvPr/>
        </p:nvSpPr>
        <p:spPr>
          <a:xfrm>
            <a:off x="5624030" y="5512383"/>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≈300 токенов, впятеро дешевле</a:t>
            </a:r>
          </a:p>
        </p:txBody>
      </p:sp>
      <p:sp>
        <p:nvSpPr>
          <p:cNvPr id="17" name="TextBox 16"/>
          <p:cNvSpPr txBox="1"/>
          <p:nvPr/>
        </p:nvSpPr>
        <p:spPr>
          <a:xfrm>
            <a:off x="8610323" y="5512383"/>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режет мелкий текст у предела</a:t>
            </a:r>
          </a:p>
        </p:txBody>
      </p:sp>
      <p:cxnSp>
        <p:nvCxnSpPr>
          <p:cNvPr id="18" name="Connector 17"/>
          <p:cNvCxnSpPr/>
          <p:nvPr/>
        </p:nvCxnSpPr>
        <p:spPr>
          <a:xfrm>
            <a:off x="685800" y="58232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823279"/>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Агрессивное сжатие</a:t>
            </a:r>
          </a:p>
        </p:txBody>
      </p:sp>
      <p:sp>
        <p:nvSpPr>
          <p:cNvPr id="20" name="TextBox 19"/>
          <p:cNvSpPr txBox="1"/>
          <p:nvPr/>
        </p:nvSpPr>
        <p:spPr>
          <a:xfrm>
            <a:off x="2865890" y="5823279"/>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низкое качество, &lt; ~1024 px</a:t>
            </a:r>
          </a:p>
        </p:txBody>
      </p:sp>
      <p:sp>
        <p:nvSpPr>
          <p:cNvPr id="21" name="TextBox 20"/>
          <p:cNvSpPr txBox="1"/>
          <p:nvPr/>
        </p:nvSpPr>
        <p:spPr>
          <a:xfrm>
            <a:off x="5624030" y="5823279"/>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ещё дешевле</a:t>
            </a:r>
          </a:p>
        </p:txBody>
      </p:sp>
      <p:sp>
        <p:nvSpPr>
          <p:cNvPr id="22" name="TextBox 21"/>
          <p:cNvSpPr txBox="1"/>
          <p:nvPr/>
        </p:nvSpPr>
        <p:spPr>
          <a:xfrm>
            <a:off x="8610323" y="5823279"/>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текст и детали не распознать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координатор при успешной отправке</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Фото-карточка, подписью к которой идёт текст уведомления: «Новая заявка от Марии: тема «курс», также упомянуто: оплата.»</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подпись, что в Кейсе 1 — текст уведомления здесь собирается той же формулой подстановки, только теперь он приходит не отдельным сообщением, а подписью к фотографии. Это успешный случай: файл укладывается в измеренную границу, и карточка доходит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1175131"/>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58011"/>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358011"/>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640078"/>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640078"/>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3523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5235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35235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30646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06463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306463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776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76916"/>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776916"/>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51570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2850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2016404"/>
            <a:ext cx="11183112" cy="10511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44420"/>
            <a:ext cx="10634472" cy="795147"/>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Сейчас: </a:t>
            </a:r>
            <a:r>
              <a:rPr sz="1550" b="1" i="0">
                <a:solidFill>
                  <a:srgbClr val="141B2E"/>
                </a:solidFill>
                <a:latin typeface="Arial"/>
              </a:rPr>
              <a:t>любой вход</a:t>
            </a:r>
            <a:r>
              <a:rPr sz="1550" b="1" i="0">
                <a:solidFill>
                  <a:srgbClr val="141B2E"/>
                </a:solidFill>
                <a:latin typeface="Arial"/>
              </a:rPr>
              <a:t> → один и тот же путь через цепочку</a:t>
            </a:r>
          </a:p>
          <a:p>
            <a:pPr algn="ctr">
              <a:lnSpc>
                <a:spcPts val="1891"/>
              </a:lnSpc>
              <a:spcAft>
                <a:spcPts val="300"/>
              </a:spcAft>
            </a:pPr>
            <a:r>
              <a:rPr sz="1550" b="1" i="0">
                <a:solidFill>
                  <a:srgbClr val="141B2E"/>
                </a:solidFill>
                <a:latin typeface="Arial"/>
              </a:rPr>
              <a:t>Дальше: </a:t>
            </a:r>
            <a:r>
              <a:rPr sz="1550" b="1" i="0">
                <a:solidFill>
                  <a:srgbClr val="141B2E"/>
                </a:solidFill>
                <a:latin typeface="Arial"/>
              </a:rPr>
              <a:t>вход типа А</a:t>
            </a:r>
            <a:r>
              <a:rPr sz="1550" b="1" i="0">
                <a:solidFill>
                  <a:srgbClr val="141B2E"/>
                </a:solidFill>
                <a:latin typeface="Arial"/>
              </a:rPr>
              <a:t> → один путь · </a:t>
            </a:r>
            <a:r>
              <a:rPr sz="1550" b="1" i="0">
                <a:solidFill>
                  <a:srgbClr val="141B2E"/>
                </a:solidFill>
                <a:latin typeface="Arial"/>
              </a:rPr>
              <a:t>вход типа Б</a:t>
            </a:r>
            <a:r>
              <a:rPr sz="1550" b="1" i="0">
                <a:solidFill>
                  <a:srgbClr val="141B2E"/>
                </a:solidFill>
                <a:latin typeface="Arial"/>
              </a:rPr>
              <a:t> → другой · </a:t>
            </a:r>
            <a:r>
              <a:rPr sz="1550" b="1" i="0">
                <a:solidFill>
                  <a:srgbClr val="141B2E"/>
                </a:solidFill>
                <a:latin typeface="Arial"/>
              </a:rPr>
              <a:t>вход, не подошедший ни под один тип</a:t>
            </a:r>
            <a:r>
              <a:rPr sz="1550" b="1" i="0">
                <a:solidFill>
                  <a:srgbClr val="141B2E"/>
                </a:solidFill>
                <a:latin typeface="Arial"/>
              </a:rPr>
              <a:t> → свой путь по умолчанию</a:t>
            </a:r>
          </a:p>
        </p:txBody>
      </p:sp>
      <p:sp>
        <p:nvSpPr>
          <p:cNvPr id="5" name="Rounded Rectangle 4"/>
          <p:cNvSpPr/>
          <p:nvPr/>
        </p:nvSpPr>
        <p:spPr>
          <a:xfrm>
            <a:off x="502920" y="37350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631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