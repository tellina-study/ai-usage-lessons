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подстановки уже известных значений, — и тогда модель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выясняется это не сразу: на практике, когда правило один раз ошибается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работало бы.</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есть процесс по классификации входящих обращений — вот он, на экране, настоящий снимок холста, а не нарисованная схема.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a:t>
            </a:r>
          </a:p>
          <a:p/>
          <a:p>
            <a:r>
              <a:t>Отдельно — ветка отказа, которой на этом конкретном кадре не видно: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смотрим на это снова. К этим шести узлам сегодня претензий нет; смотрим потому, что сегодняшние четыре кейса — ровно те шаги, которые этой цепочке только предстоит получить: канал уведомления, проверка на повтор, решение по сумме возврата, доставка картинки. Ни одному из них вопрос «это задача модели или задача кода» ещё не задавали.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Напоминание, и короткое: эту лестницу вы уже видели на прошлом занятии, и я не буду снова проходить все девять ступеней заново.</a:t>
            </a:r>
          </a:p>
          <a:p/>
          <a:p>
            <a:r>
              <a:t>Коротко суть, одним абзацем.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Скажу это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под это отдан отдельный экран.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как раз требования, которые ступень «цепочка» не закрыла сама собой: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пустая она намеренно: это и есть план занятия. В каждой из этих четырёх историй есть что-то, что выглядывает наружу только со второго, более внимательного взгляда: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вся ловушка: то, что работает, легко спутать с тем, за что можно ручаться. Разницу между этими двумя состояниями таблица и измеряет, строка за строкой, до самого конца занятия: там все четыре пары встанут рядом, и сравнить их можно будет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 администратор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Здесь кейс и начинается: как именно собрать текст из трёх уже известных значений — это и есть сегодняшний вопрос, не очевидный на первый взгляд. Дальше — живая сцена её рабочего дня, что было сделано первой попыткой, и чуть позже, на настоящих прогонах, — что эта попытка показала на практике.</a:t>
            </a:r>
          </a:p>
          <a:p/>
          <a:p>
            <a:r>
              <a:t>О чём Ольга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цепочка до этой строки дойдёт — её не касается вовсе. А дальше весь кейс про то, что разные команды инженеров на этом самом месте выбирают разные ответы, хотя потребность у всех одна и та же, предельно конкретная.</a:t>
            </a:r>
          </a:p>
          <a:p/>
          <a:p>
            <a:r>
              <a:t>С этой потребностью мы и работаем весь кейс: с этой её фразой, слово за словом — с ней дальше сверяется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процесс, с которым мы закончили прошлое занятие, и на экране он настоящий: форма, извлечение полей, проверка по словарю тем, запись строки, экран результата. Ничего из устройства процесса сегодня не меняется — меняется то, чего теперь ждёт от него Ольга.</a:t>
            </a:r>
          </a:p>
          <a:p/>
          <a:p>
            <a:r>
              <a:t>Двадцать заявок в день, и большинство про одну тему: записаться на курс, перенести занятие, оплатить. По таким экран результата даёт всё нужное сразу — тема и срочность уже проставлены, кому передать, понятно с одного взгляда.</a:t>
            </a:r>
          </a:p>
          <a:p/>
          <a:p>
            <a:r>
              <a:t>Но раз в несколько заявок человек упоминает что-то сверх основного вопроса: оплату вдобавок к записи, перенос занятия вдобавок к вопросу про курс. Поле дополнительных тем в таблице это честно записывает. Процесс её не прозевал: заметил и записал верно. Остаётся одно — кто и когда это прочитает.</a:t>
            </a:r>
          </a:p>
          <a:p/>
          <a:p>
            <a:r>
              <a:t>Ольга не сидит перед экраном результата весь день. У неё двадцать заявок и обычная работа учебного центра вокруг них — она заходит проверять пачками, несколько раз за смену. Если многотемная заявка легла в таблицу между проверками, она там лежит с правильными полями и ничем не отличается от обычных: заметить её можно единственным способом — открыть экран и прочитать конкретно эту строку.</a:t>
            </a:r>
          </a:p>
          <a:p/>
          <a:p>
            <a:r>
              <a:t>А многотемная заявка почти всегда срочнее. Человек не просто спрашивает про курс —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 и к вечеру Ольга честно признаёт: часть таких заявок она увидела не сразу, а через несколько часов.</a:t>
            </a:r>
          </a:p>
          <a:p/>
          <a:p>
            <a:r>
              <a:t>Отсюда и её просьба, сформулированная предельно конкретно — не «сделайте уведомления умными», а одна строка в Telegram на каждую многотемную заявку: кто написал, по какой теме, что упомянул ещё. Чтобы не идти проверять экран результата из-за одной заявки среди двадцати обычных.</a:t>
            </a:r>
          </a:p>
          <a:p/>
          <a:p>
            <a:r>
              <a:t>Задержите взгляд на кадре ещё на секунду. Всё, что на нём есть, уже работает и работает правильно. Ни один из этих пяти узлов сегодня трогать не придётся: в готовом чинить нечего, кейс про то, что добавить рядом — и как это новое устроить. Как собрать нужную строку из трёх уже известных значений — с этого начинается сегодняшний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Не выбирайте по ощущению — прикиньте: какой из четырёх способов надёжно даст текст, совпадающий с тем, что просила Ольга, на любой заявке, а не только на удачной.</a:t>
            </a:r>
          </a:p>
          <a:p/>
          <a:p>
            <a:r>
              <a:t>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работы в этой задаче требует интерпретации, а сколько —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Ольги,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но разбирать мы будем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a:t>
            </a:r>
          </a:p>
          <a:p/>
          <a:p>
            <a:r>
              <a:t>Первое — модель пишет весь текст целиком. Она умеет это сделать, вопросов нет, и текст у неё получается живой.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 нечего добавить к тому, что и так известно. А раз она всё равно генерирует текст свободно на каждом прогоне, у неё остаётся шанс вписать в сообщение деталь, которой в заявке не было — чуть позже мы увидим это на настоящем прогоне.</a:t>
            </a:r>
          </a:p>
          <a:p/>
          <a:p>
            <a:r>
              <a:t>Второе — алгоритм заполняет форму целиком. Это ровно тот объём работы, который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Ольга.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архитектура обеих версий кейса в чистом виде, без единого имени конкретного инструмента. Если завтра ту же цепочку собирают не в том оркестраторе, которым пользуемся мы, формулировка не меняется ни на слово: после того как поля заявки извлечены, в цепочку встаёт один дополнительный шаг — и весь вопрос кейса в том, какой именно.</a:t>
            </a:r>
          </a:p>
          <a:p/>
          <a:p>
            <a:r>
              <a:t>Верхняя строка — версия с моделью. Третий узел на каждый прогон обращается к модели и получает от неё готовый свободный текст. Нижняя строка — версия с шаблоном. Тот же третий узел подставляет уже известные значения в один раз заданную форму; обращения к модели на этом шаге не происходит вовсе.</a:t>
            </a:r>
          </a:p>
          <a:p/>
          <a:p>
            <a:r>
              <a:t>Смотрите на три остальные колонки: они в обеих строках одинаковы и нарочно приглушены. Форма заявки, извлечение полей, отправка в Telegram — ни один из этих узлов правкой не затронут. Это и есть то, что должна показать схема: мы меняем один узел, а не переписываем цепочку.</a:t>
            </a:r>
          </a:p>
          <a:p/>
          <a:p>
            <a:r>
              <a:t>По сути версии различает момент принятия решения. В верхней версии решение о том, как будет звучать текст, принимается заново при каждой заявке. В нижней оно принято один раз, заранее, когда форму придумали и зафиксировали, и дальше просто воспроизводится без вариаций. Отсюда прямое следствие для надёжности: у нижнего узла нет пространства для сочинительства — он не может вставить в сообщение деталь, которой не было в заявке, потому что он ничего не сочиняет.</a:t>
            </a:r>
          </a:p>
          <a:p/>
          <a:p>
            <a:r>
              <a:t>Почему мы сначала рисуем обезличенную схему, а не сразу открываем настоящий интерфейс. Потому что решение, правильный ли это узел для задачи, не зависит от того, в каком инструменте он собран. Вопрос «вызывает ли этот шаг модель на каждый прогон или решение принято заранее» звучит одинаково на любом движке.</a:t>
            </a:r>
          </a:p>
          <a:p/>
          <a:p>
            <a:r>
              <a:t>И сразу снимем напрашивающееся возражение: «а вдруг шаблон окажется не таким гибким, как модель». Ответ не «шаблон всегда лучше», а «для этой конкретной потребности шаблону хватает гибкости»: три значения, одна форма сообщения, ничего, что требовало бы по-настоящему разного текста от заявки к заявке. Была бы потребность другой — скажем, писать по-разному в зависимости от срочности, — тот же аргумент сработал бы в обратную сторону. Порядок событий при этом остаётся настоящим: сначала собрали версию с моделью, на практике нашли проблему, и только потом пришли ко второй. Рядом они стоят ради сравнения, а не потому, что были равноценными с самого начала.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экран, который открывается при входе в воркфлоу «Кейс 1 до правки». На кадре весь путь: форма заявки, извлечение полей, проверка по словарю тем, запись строки, узел композиции сообщения и отправка в Telegram.</a:t>
            </a:r>
          </a:p>
          <a:p/>
          <a:p>
            <a:r>
              <a:t>Присмотритесь к двум деталям на верхнем ярусе. У узла «Compose notification…» подпись обрывается многоточием прямо в интерфейсе: карточка узкая, и n8n режет длинное имя, как резал бы любое другое. Полное имя — «Compose notification (LLM)», его видно, только если открыть сам узел; это ограничение интерфейса, а не огрубление с нашей стороны. Вторая деталь — пометка «Model» со звёздочкой под этим узлом: звёздочка значит, что параметр обязателен, вызов модели здесь не опция.</a:t>
            </a:r>
          </a:p>
          <a:p/>
          <a:p>
            <a:r>
              <a:t>Такая же пометка стоит и под узлом извлечения полей левее — и это не новость: без модели превратить свободный текст заявки в структурированные значения нельзя. Новое — именно второй вызов, на шаге композиции готового сообщения, где все нужные значения уже есть и извлекать, казалось бы, нечего. Рядом виден ещё один блок, «Result screen Model (notification)»; у версии с шаблоном на том же месте его не будет вовсе.</a:t>
            </a:r>
          </a:p>
          <a:p/>
          <a:p>
            <a:r>
              <a:t>Нижний ярус — панель этого узла, открытая двойным щелчком. Слева само поле задания: модели передают три готовых значения — имя заявителя, основную тему и дополнительные темы, все извлечённые на предыдущих шагах, — и одну инструкцию: написать короткое дружелюбное уведомление, одно-два предложения, по-человечески. Никакой заданной формы фразы. Текст длиннее поля, и n8n прокручивает его: конец инструкции за кадром, а не срезан нами.</a:t>
            </a:r>
          </a:p>
          <a:p/>
          <a:p>
            <a:r>
              <a:t>Теперь о пропуске: в инструкции нет ни слова вроде «обратись к координатору по имени». Имени координатора модели не сообщили — тексту, который получит Ольга, оно не нужно. Эта деталь станет важна через экран.</a:t>
            </a:r>
          </a:p>
          <a:p/>
          <a:p>
            <a:r>
              <a:t>Справа — два переключателя, и оба выключены. Формат ответа ничем не задан: модель может вернуть что угодно, лишь бы это был текст. Резервной модели на случай отказа основной тоже нет.</a:t>
            </a:r>
          </a:p>
          <a:p/>
          <a:p>
            <a:r>
              <a:t>Конфигурация выглядит аккуратно и ничем не намекает на будущую проблему: промпт короткий, понятный, без ошибок формулировки. Запомните это: если на следующих экранах найдётся находка, причина будет не в том, как написан промпт.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как это собирается внутри цепочки, посмотрим, что в итоге видит сама Ольга — у себя в телефоне, а не на экране результата внутри n8n.</a:t>
            </a:r>
          </a:p>
          <a:p/>
          <a:p>
            <a:r>
              <a:t>Она не открывает ничего нового. У неё уже есть чат с ботом уведомлений — тот же бот, которым центр пользуется и для других оповещений. В этот чат падает одно сообщение: «Новая заявка от Марии: тема «курс», также упомянуто: оплата.» Один пузырь, без вложений, без кнопок, без необходимости переходить куда-то ещё, чтобы понять, о чём речь.</a:t>
            </a:r>
          </a:p>
          <a:p/>
          <a:p>
            <a:r>
              <a:t>Форма сообщения выбрана не произвольно — это ровно те три значения, которые Ольга назвала достаточными в прошлой сцене: кто написал, по какой теме и что упомянул дополнительно. Не больше и не меньше. Добавь в строку ещё одно поле — например, статус оплаты или внутренний номер заявки — и уведомление перестанет читаться одним взглядом: оно превратится в текст, который нужно разбирать, а не бегло просматривать среди двадцати похожих сообщений за день.</a:t>
            </a:r>
          </a:p>
          <a:p/>
          <a:p>
            <a:r>
              <a:t>В интерфейсе это выглядит буднично, и будничность тут не случайна. Новое сообщение просто появляется в том же чате, где уже лежит история всех прежних уведомлений центра — без отдельной вкладки, без нового значка, без перехода куда-либо ещё. Ольга читает этот чат сверху вниз точно так же, как читала его вчера и позавчера; меняется только содержимое одной строки, а не привычка, которой она уже пользуется.</a:t>
            </a:r>
          </a:p>
          <a:p/>
          <a:p>
            <a:r>
              <a:t>Три значения, одна строка — ровно то, что Ольга назвала в прошлой сцене. Если сообщение выглядит так на каждой заявке, задача решена полностью: Ольге достаточно читать уведомления, не открывая экран результата из-за одной многотемной заявки среди двадцати обычных.</a:t>
            </a:r>
          </a:p>
          <a:p/>
          <a:p>
            <a:r>
              <a:t>Вопрос в том, выглядит ли оно так каждый раз, при любой заявке, а не только при этой одной. Следующий экран — настоящие прогоны одного и того же узла, не придуманный пример, и один из них выглядит иначе, чем этот.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 теперь — что получилось на деле: два прогона одного и того же узла, одной и той же инструкции, на настоящих заявках.</a:t>
            </a:r>
          </a:p>
          <a:p/>
          <a:p>
            <a:r>
              <a:t>Первая заявка — от Марии, про курс и оплату. Модель получила три значения и инструкцию написать короткое дружелюбное уведомление. Результат: «Новая заявка от Марии: тема «курс», также упомянуто: оплата.» Звучит свободно, по-человечески — и при этом совпадает по смыслу с тем, что просила Ольга. Сложного на этой заявке и не было: три значения легко складываются в фразу.</a:t>
            </a:r>
          </a:p>
          <a:p/>
          <a:p>
            <a:r>
              <a:t>Вторая заявка — от Олега, про перенос занятия и оплату. Тот же узел, та же инструкция. И вот что он реально написал: «Привет, [Имя координатора]! У нас новая многотемная заявка от Олега по вопросу переноса занятия и об оплате.» Прочитайте внимательно второе слово. Это не переменная, которая не подставилась технически. Это буквальный кусок собственного шаблона-инструкции модели, адресованный самой модели, а не Ольге: модель должна была заменить его настоящим содержанием и не заменила.</a:t>
            </a:r>
          </a:p>
          <a:p/>
          <a:p>
            <a:r>
              <a:t>А в журнале выполнения при этом не произошло ничего. Узел не упал, не вернул ошибку. Статус — success на обоих прогонах. Если смотреть только в журнал, второй прогон неотличим от первого.</a:t>
            </a:r>
          </a:p>
          <a:p/>
          <a:p>
            <a:r>
              <a:t>Узнать, что что-то не так, можно только одним способом — прочитать сам текст, который получил живой человек. Проверка формата сообщения здесь бессильна: получившийся текст синтаксически в порядке в обоих случаях, разница только в содержании.</a:t>
            </a:r>
          </a:p>
          <a:p/>
          <a:p>
            <a:r>
              <a:t>Вот и ответ на вопрос с прошлого экрана: сообщение иногда выглядит ровно так, как нужно, а иногда — нет, и заранее, по виду конфигурации узла, не предсказать, какой из двух случаев будет на следующей заявке. Дальше — архитектура без этого узла вовсе, и её настоящая конфигурация.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холст живого стенда, что и на прошлом экране, и тем же прямоугольником — нарочно, чтобы два кадра было проще наложить один на другой мысленно. Путь узнаётся сразу: форма заявки, извлечение полей, проверка по словарю тем, запись строки, узел композиции, отправка в Telegram.</a:t>
            </a:r>
          </a:p>
          <a:p/>
          <a:p>
            <a:r>
              <a:t>Разница — ровно в одном месте, и она видна уже здесь, до открытия любой панели. На прошлом кадре под узлом композиции стояла пометка «Model» со звёздочкой, а рядом — дополнительный блок «Result screen Model (notification)». Здесь на этом месте обычный «Result screen», а под самим узлом стоит «manual»: он соединён прямой стрелкой с отправкой, без единого промежуточного узла модели. Подпись при этом читается целиком, без многоточия, — просто потому, что «template» короче, чем «LLM» с полным именем.</a:t>
            </a:r>
          </a:p>
          <a:p/>
          <a:p>
            <a:r>
              <a:t>Узел извлечения полей левее по-прежнему помечен «Model» со звёздочкой — и спутать здесь легко: тот вызов общий для обеих версий. Разница между версиями — не «с моделью» против «совсем без модели», а «модель вызывается дважды» против «модель вызывается один раз, там, где без неё правда не обойтись».</a:t>
            </a:r>
          </a:p>
          <a:p/>
          <a:p>
            <a:r>
              <a:t>Нижний ярус — панель того же узла. Слева одно поле, </a:t>
            </a:r>
            <a:r>
              <a:rPr>
                <a:latin typeface="Consolas"/>
              </a:rPr>
              <a:t>notification_text</a:t>
            </a:r>
            <a:r>
              <a:t>, типа «строка», и в нём выражение, написанное один раз руками. Оно подставляет в заранее заданные места уже известные значения: имя заявителя, основную тему и, если есть, дополнительные темы — с условием внутри самого выражения, которое добавляет оборот «также» только тогда, когда дополнительные темы вообще есть. В отличие от промпта с прошлого экрана, выражение видно целиком, без прокрутки: оно короче и умещается в поле.</a:t>
            </a:r>
          </a:p>
          <a:p/>
          <a:p>
            <a:r>
              <a:t>Справа — переключатель, который легко пропустить: узел не только кладёт в новое поле собранный текст, он заодно пропускает дальше по цепочке все остальные поля заявки без изменений, чтобы следующие узлы не потеряли то, что им понадобится.</a:t>
            </a:r>
          </a:p>
          <a:p/>
          <a:p>
            <a:r>
              <a:t>Результат этого выражения детерминированный: при одних и тех же входных значениях текст всегда получается одним и тем же, без вариаций — и, как следствие, без риска вставить в сообщение то, чего в заявке не было. Цена этой надёжности обратная: если форма сообщения когда-нибудь должна будет меняться по смыслу, а не по значениям, выражение придётся переписывать руками на каждый такой случай. Обе версии мы прогнали через одни и те же заявки — что из этого вышло,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a:t>
            </a:r>
          </a:p>
          <a:p/>
          <a:p>
            <a:r>
              <a:t>Узел модели в первой версии не сломался и технически не ошибся: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нового смысла не создаёт — он лишь пересказывает своими словами то, что уже известно, дорого и не вполне предсказуемо.</a:t>
            </a:r>
          </a:p>
          <a:p/>
          <a:p>
            <a:r>
              <a:t>Отсюда класс задачи, который переносится на любой оркестратор: сборка сообщения из уже извлечённых значений по фиксированной форме. Признак, по которому вы узнаете его в собственной цепочке, простой — если шаблон итогового сообщения можно написать заранее, не видя ни одной конкретной заявки, и в нём остаются только пустые места под подстановку, то сочинять здесь уже нечего.</a:t>
            </a:r>
          </a:p>
          <a:p/>
          <a:p>
            <a:r>
              <a:t>Два нюанса, прежде чем закрепить критерий, и оба про то, что ни одна из версий не безопасна навечно.</a:t>
            </a:r>
          </a:p>
          <a:p/>
          <a:p>
            <a:r>
              <a:t>Первый — лишний шаг модели это риск, а не только лишняя цена. Легко подумать, что раз задача тривиальная, то и опасаться нечего. Но мы только что видели: даже на форматировании вызов модели остаётся точкой, где может появиться деталь, которой не было на входе. Дороже денег и времени здесь другое: непредсказуемо, что именно окажется в тексте.</a:t>
            </a:r>
          </a:p>
          <a:p/>
          <a:p>
            <a:r>
              <a:t>Второй нюанс — ровно про шаблон, и он для равновесия. Шаблон не безопасен навсегда — одной детерминированности мало. Понадобится форме настоящая вариативность — скажем, несколько языков или разная подробность для разных получателей — статическое выражение этого не почувствует само, и переписывать его придётся руками на каждый новый случай. Это другая цена, инженерная, но тоже реальная.</a:t>
            </a:r>
          </a:p>
          <a:p/>
          <a:p>
            <a:r>
              <a:t>Отсюда критерий, который можно унести с собой,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которой не случилось на предыдущем шаге. Шаблона достаточно, когда форма одна и значения уже структурированы.</a:t>
            </a:r>
          </a:p>
          <a:p/>
          <a:p>
            <a:r>
              <a:t>И возвращаемся к оси занятия. Первая строка: сообщение действительно ушло координатору, и это было правдой с самого начала. Чем оно оказалось — цепочка получилась короче и дешевле вовсе без узла модели. Заметьте: оба узла формально решили одну задачу, и прогон был зелёным у обоих. Различие проявляется, только если смотреть не на то, что узел сделал один раз, а на то, что он может сделать на следующем прогоне, которого вы ещё не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сочиняется моделью заново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всё равно.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неудобно было клиенту, получавшему сухой или неровный текст уведомления; здесь неудобно администратору — и клиенту, который вправе рассчитывать, что его не станут заново спрашивать о том, что он только что объяснил.</a:t>
            </a:r>
          </a:p>
          <a:p/>
          <a:p>
            <a:r>
              <a:t>Пока это выглядит мелкой деталью интерфейса: ну прислали вопрос дважды, что такого. Но за каждым повторным прогоном стоит та же цепочка целиком — запись заявки, сборка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Нужна проверка или нет — не вопрос: нужна очевидно. Вопрос, из чего её собрать. Инструментов тут два, и они разной цены: один почти бесплатный, другой ощутимо дороже. Выбирать единственный не придётся — придётся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с неё начинается этот кейс: администратор учебного центра Ольга ведёт учёт заявок. В понедельник утром она видит в таблице вопрос от клиента — «когда можно оплатить занятие?» — обрабатывает его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Ольга за день видит десятки обращений и не держит в голове, кто что спрашивал два часа назад. Перефразировку она не узнаёт и обрабатывает заявку как новую: тратит время повторно, отвечает ещё раз.</a:t>
            </a:r>
          </a:p>
          <a:p/>
          <a:p>
            <a:r>
              <a:t>Для клиента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читают внимательно.</a:t>
            </a:r>
          </a:p>
          <a:p/>
          <a:p>
            <a:r>
              <a:t>И это не разовый случай. По ощущению самой Ольги, такое повторение — вопрос другими словами, на который уже есть ответ, — случается у неё примерно десять раз в день. Инструментально мы это число не замеряли, оно идёт от человека, который читает заявки каждый день. Но даже как оценка оно показывает: перед нами не курьёз одного утра, а постоянная часть потока.</a:t>
            </a:r>
          </a:p>
          <a:p/>
          <a:p>
            <a:r>
              <a:t>Нужна проверка или нет — не вопрос: раз это случается каждый день, нужна очевидно. Вопрос, из чего её собрать так, чтобы она ловила не только буквальное повторение, но и переформулировку, с которой мы только что столкнулись.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точное совпадение споткнулось: «как мне внести оплату за курс» — вопрос, заданный через два часа после «когда можно оплатить занятие?». По смыслу один и тот же вопрос. По буквам — два разных текста.</a:t>
            </a:r>
          </a:p>
          <a:p/>
          <a:p>
            <a:r>
              <a:t>Вопрос: как построить проверку на повтор.</a:t>
            </a:r>
          </a:p>
          <a:p/>
          <a:p>
            <a:r>
              <a:t>Пять карточек, и все пять встречаются в живых системах. Сравнивать тексты буквально — точное совпадение после нормализации, то, что мы уже видели на предыдущем экране. Сравнивать тексты по общим словам — классический векторный подход с порогом: обучаемой модели нет, но это серьёзнее простого сравнения строк. Спросить у модели общего назначения, один ли это вопрос, просто сформулированный иначе. Спросить у специализированного сервиса, настроенного именно на сравнение вопросов, а не у модели, которая умеет вообще всё. Или сначала проверить точное совпадение дёшево, а дальше пускать только то, что осталось непонятным.</a:t>
            </a:r>
          </a:p>
          <a:p/>
          <a:p>
            <a:r>
              <a:t>Все пять формулировок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и «спросить у специализированного сервиса» — тоже действия, а не готовый вывод вроде «специализированный сервис точнее модели общего назначения». Разница важна: отвечать надо не за то, какой инструмент умнее в принципе, а за то, какой шаг вы поставите первым и вторым в цепочке, которая обрабатывает заявки целого учебного центра.</a:t>
            </a:r>
          </a:p>
          <a:p/>
          <a:p>
            <a:r>
              <a:t>Четыре из пяти карточек — самостоятельные решения, которые можно взять и реализовать целиком: сравнение буквально, сравнение по словам, вызов модели общего назначения или вызов специализированного сервиса. Пятая отдельным инструментом и не была: она комбинирует уже названные — сначала дёшево, а дороже только на то, что дёшево не разрешило. Если голоса разделятся между первыми четырьмя вариантами и пятым, это нормально: первые четыре отвечают на вопрос «чем сравнивать», пятый — на вопрос «в каком порядке».</a:t>
            </a:r>
          </a:p>
          <a:p/>
          <a:p>
            <a:r>
              <a:t>Выбирайте. Правильных ответов здесь больше одного, все пять — настоящие инженерные решения. Разбирать будем, что каждое ловит на нашей паре, чего не ловит и во что это обходится.</a:t>
            </a:r>
          </a:p>
          <a:p/>
          <a:p>
            <a:r>
              <a:t>Пятнадцать секунд, потом по рукам.</a:t>
            </a:r>
          </a:p>
          <a:p/>
          <a:p>
            <a:r>
              <a:t>И ещё один вопрос, уже не о выборе, а о предсказании — прежде чем смотреть разбор. Две из пяти схем мы измерили на одних и тех же двадцати парах: буквальное совпадение текстов и классический векторный подход, тот самый, что считает похожесть по общим словам. Какая из двух окажется точнее? Поставьте на одну, руками, до показа.</a:t>
            </a:r>
          </a:p>
          <a:p/>
          <a:p>
            <a:r>
              <a:t>Ответ на следующем экране, и он переворачивает ожидание: классика хуже — тринадцать против пятнадцати. Ставка на векторный подход совершенно разумна, и поэтому его и измерили: более серьёзный инструмент не обязан быть лучше простого, и проверяется это измерением, а не рассуждением. Ставка на буквальное совпадение верна по другой причине, чем кажется: хэш ошибается только в одну сторону — пропускает, — а векторный подход научился ошибаться в обе.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с прошлого экрана — на измерении, которое провели до того, как решать.</a:t>
            </a:r>
          </a:p>
          <a:p/>
          <a:p>
            <a:r>
              <a:t>Точное совпадение, действие первое, на наборе из 20 пар ловит 15: все 5 буквальных повторов и все 10 заведомо разных вопросов, но ни одной из 5 перефразировок — ноль из пяти. Цену и скорость здесь не считают отдельно: это сравнение строк — оно либо бесплатно и мгновенно, либо его нет.</a:t>
            </a:r>
          </a:p>
          <a:p/>
          <a:p>
            <a:r>
              <a:t>Действие второе, классический векторный подход — TF-IDF плюс косинусная близость, порог 0,3, — выглядит серьёзнее: мера похожести, настраиваемый порог — настоящий инженерный выбор, а не слабая альтернатива для контраста. Результат на том же наборе, тем же методом — 13 из 20, хуже хэша. Те же пять перефразировок пропущены по той же причине: «оплату» и «оплатить» разные словоформы, «курс» и «занятие» разные слова при одном смысле, мера по словам к этому слепа в принципе. Зато добавились два ложных срабатывания на близкой теме — «курс по питону» и «курс по аналитике данных»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заплатил новой категорией ошибок за старую, тоже бесплатно: цена здесь не денежная, а в пропущенных и ложных ответах.</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Зато три собственных ложных срабатывания, и не все от совпадения слов: пара «сколько длится одно занятие по времени» и «расскажите про группу для продолжающих» не делит ни одного слова, и модель всё равно сказала «да» — ошибка суждения о смысле, а не о словах. И здесь впервые появляется денежная цена: по прайсу gpt-4o-mini, на объёме кейса (~300 вызовов в месяц) — около $0,006 в месяц, меньше цента; оценка по прайсу, не измеренный факт.</a:t>
            </a:r>
          </a:p>
          <a:p/>
          <a:p>
            <a:r>
              <a:t>Действие четвёртое — специализированный внешний сервис jev, узкоспециализированный Decisions API, измерен тем же методом. Результат — 20 из 20, без единой ошибки: чистое разделение между всеми дублями и всеми разными вопросами, порог 0,5 берёт его с запасом. Лучший результат из четырёх схем. По прайсу он не просто точнее дешёвой модели-судьи, а ещё и дешевле — на том же объёме около $0,003 в месяц; тоже оценка по прайсу, не измеренный факт.</a:t>
            </a:r>
          </a:p>
          <a:p/>
          <a:p>
            <a:r>
              <a:t>Честная находка: лучший результат дал не самый очевидный кандидат — узкий сервис обошёл универсальную модель-судью и обошёлся дешевле. Но одно измерение на 20 парах одной темы — не повод сразу переписывать уже показанную на стенде архитектуру: та же дисциплина, что не дала поверить jev на слово раньше, не даёт поверить слепо и этому числу. И вторая находка: обе суммы здесь меньше цента в месяц, цена не аргумент.</a:t>
            </a:r>
          </a:p>
          <a:p/>
          <a:p>
            <a:r>
              <a:t>Действие пятое, порядок — дёшево сначала, дорого на спорное, — закрывает обе задачи по цене: 5 буквальных повторов гасятся бесплатно хэшем, дорогой шаг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экране мы измерили пять действий. Отсюда архитектурный вывод, не привязанный ни к одному инструменту: эта формулировка не назовёт ни одного узла и не изменится, если цепочку собирать не в n8n, а в чём угодно ещё.</a:t>
            </a:r>
          </a:p>
          <a:p/>
          <a:p>
            <a:r>
              <a:t>Первый шаг — дешёвый, механический фильтр. Он берёт на себя всё, что решается без модели: буквальные повторы гасит бесплатно и мгновенно. Классический векторный подход в этот шаг не идёт — измерение показало, что он не просто не даёт прироста над самым простым сравнением строк, а измеримо хуже него. Это не изменилось.</a:t>
            </a:r>
          </a:p>
          <a:p/>
          <a:p>
            <a:r>
              <a:t>Изменилось то, что стоит на втором шаге. Раньше здесь стояла только модель-судья — единственный измеренный кандидат на дорогой шаг. Измерение между ней и вторым кандидатом дало разницу не в пользу привычного выбора: специализированный сервис jev — 20 из 20, без единой ошибки, и по публичному прайсу ещё и дешевле дешёвой модели-судьи. По итогам теста на дорогой шаг встал он, а не модель общего назначения, — и стоит он там уже собранной цепочкой.</a:t>
            </a:r>
          </a:p>
          <a:p/>
          <a:p>
            <a:r>
              <a:t>И сразу честно про границы этого измерения: один тест на 20 парах одного языка и одной тематики — узкое основание для вывода «jev всегда лучше любой модели-судьи везде». Обобщаемость за пределы этого конкретного набора — другой язык, другая тематика, другой объём — никто не проверял. Та же дисциплина, что не дала поверить jev на слово раньше, не даёт сейчас говорить шире, чем показало измерение. Откладывать внедрение здесь она тоже не велит: на этом наборе и для этой задачи разница чистая и с запасом, а решение уже стоит на стенде — дальше на двух экранах вы увидите настоящую настроенную цепочку.</a:t>
            </a:r>
          </a:p>
          <a:p/>
          <a:p>
            <a:r>
              <a:t>Это тот же общий приём, что и в первом кейсе занятия: модель не убирается, а сдвигается туда, где она нужна. Только здесь мы вдобавок увидели, что и внутри дорогого шага бывает больше одного кандидата, и выбор между ними — отдельная проверка, а не самоочевидность.</a:t>
            </a:r>
          </a:p>
          <a:p/>
          <a:p>
            <a:r>
              <a:t>Теперь посмотрим, как это выглядит не как принцип, а как настроенные узлы в уже собранной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Так первый, дешёвый шаг выглядит в настоящей цепочке: два настроенных узла со стенда, на снятом с него холсте.</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прогон при этом завершается успешно. Запомните это, мы вернёмся сюда через экран. Строки не совпали — значит дешёвый фильтр не дал однозначного ответа, и заявка идёт дальше, к проверке смыслом.</a:t>
            </a:r>
          </a:p>
          <a:p/>
          <a:p>
            <a:r>
              <a:t>Ни один из этих двух узлов не вызывает модель. Сравнение строк — чистая механика, дешёвая и мгновенная; позволить её себе можно на каждую заявку без исключения, цена шага не растёт от того, сколько заявок приходит в час. Это ровно тот же дешёвый шаг, что и до сегодняшней архитектурной правки: меняется только то, что стоит дальше, за ним.</a:t>
            </a:r>
          </a:p>
          <a:p/>
          <a:p>
            <a:r>
              <a:t>Один параметр на этом экране не виден, а решает многое, — интервал времени, за который мы ищем недавнее обращение того же контакта. Слишком короткий интервал пропустит повтор, если человек написал во второй раз не сразу. Слишком длинный начнёт путать разные, по-настоящему новые вопросы одного человека с повтором одного и того же вопроса. Цена у этого параметра в обе стороны, и мы вернёмся к нему в нюансах.</a:t>
            </a:r>
          </a:p>
          <a:p/>
          <a:p>
            <a:r>
              <a:t>Как это устроено внутри каждого из двух узлов — на следующем экране: откроем панель настройки каждого и посмотрим на реальные поля и условие, а не на подписи холста.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Откроем панель настройки каждого на живом стенде — и увидим эти два узла изнутри.</a:t>
            </a:r>
          </a:p>
          <a:p/>
          <a:p>
            <a:r>
              <a:t>Слева — узел </a:t>
            </a:r>
            <a:r>
              <a:rPr>
                <a:latin typeface="Consolas"/>
              </a:rPr>
              <a:t>Normalize + hash</a:t>
            </a:r>
            <a:r>
              <a:t>, режим ручного отображения полей. На кадре видно первое из трёх его полей, </a:t>
            </a:r>
            <a:r>
              <a:rPr>
                <a:latin typeface="Consolas"/>
              </a:rPr>
              <a:t>normalized_hash</a:t>
            </a:r>
            <a:r>
              <a:t>: оно берёт текст текущей заявки из формы, поле «Что нужно», и приводит его к общему виду — нижний регистр, обрезка пробелов по краям, схлопывание повторных пробелов внутри. Слово «hash» в имени поля здесь не про криптографический хэш: за ним стоит нормализованная строка и ни одного необратимого преобразования.</a:t>
            </a:r>
          </a:p>
          <a:p/>
          <a:p>
            <a:r>
              <a:t>Второе и третье поля того же узла в кадр не попали, и устроены они так же. </a:t>
            </a:r>
            <a:r>
              <a:rPr>
                <a:latin typeface="Consolas"/>
              </a:rPr>
              <a:t>recent_same_contact_text</a:t>
            </a:r>
            <a:r>
              <a:t> — недавнее сообщение того же контакта как есть, без изменений, на случай если текст понадобится показать, а не только сравнить. </a:t>
            </a:r>
            <a:r>
              <a:rPr>
                <a:latin typeface="Consolas"/>
              </a:rPr>
              <a:t>recent_same_contact_hash</a:t>
            </a:r>
            <a:r>
              <a:t> — тот же текст, пропущенный через ту же самую нормализацию. То есть узел готовит обе строки к сравнению одной и той же операцией. Нормализуй текущую заявку и предыдущее сообщение по-разному — и сравнение потеряет смысл ещё до того, как дойдёт до условия.</a:t>
            </a:r>
          </a:p>
          <a:p/>
          <a:p>
            <a:r>
              <a:t>Внизу панели, тоже за границей кадра, включён переключатель «Include Other Input Fields» со значением «All» — остальные поля заявки, тема, срочность, статус, проходят через узел насквозь и не теряются по дороге.</a:t>
            </a:r>
          </a:p>
          <a:p/>
          <a:p>
            <a:r>
              <a:t>Справа — узел </a:t>
            </a:r>
            <a:r>
              <a:rPr>
                <a:latin typeface="Consolas"/>
              </a:rPr>
              <a:t>Exact duplicate in window?</a:t>
            </a:r>
            <a:r>
              <a:t>, тип </a:t>
            </a:r>
            <a:r>
              <a:rPr>
                <a:latin typeface="Consolas"/>
              </a:rPr>
              <a:t>IF</a:t>
            </a:r>
            <a:r>
              <a:t>, и его условие видно целиком: </a:t>
            </a:r>
            <a:r>
              <a:rPr>
                <a:latin typeface="Consolas"/>
              </a:rPr>
              <a:t>normalized_hash</a:t>
            </a:r>
            <a:r>
              <a:t> сравнивается оператором «равно» с </a:t>
            </a:r>
            <a:r>
              <a:rPr>
                <a:latin typeface="Consolas"/>
              </a:rPr>
              <a:t>recent_same_contact_hash</a:t>
            </a:r>
            <a:r>
              <a:t> — то есть ровно с тем третьим полем, которое посчитал предыдущий узел. Переключатель приведения типов выключен: строки сравниваются как есть, без тихого превращения разных значений в равные. Кнопка «Add condition» под условием показывает, что условие в узле одно — скрытой логики за кадром нет.</a:t>
            </a:r>
          </a:p>
          <a:p/>
          <a:p>
            <a:r>
              <a:t>Вместе эти два узла и есть весь дешёвый слой проверки: одна операция приведения к общему виду и одно сравнение. Ни одного параметра, который можно настроить удачно или неудачно; ни одного места, где решение зависело бы от формулировки. Дальше — второй, дорогой шаг: он видит только то, что это условие не остановило.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не разрешённое дешёвым фильтром. Устроен он принципиально иначе, чем прежняя версия на этом же месте.</a:t>
            </a:r>
          </a:p>
          <a:p/>
          <a:p>
            <a:r>
              <a:t>Раньше здесь стоял запрос к модели общего назначения со свободным текстовым промптом: опиши задачу словами, попроси ответить «да» или «нет». Теперь — структурированный HTTP-запрос к специализированному сервису jev. Разница не только в инструменте, но и в самой форме вопроса: сервис принимает не произвольный текст, а явно типизированный вопрос — здесь это тип </a:t>
            </a:r>
            <a:r>
              <a:rPr>
                <a:latin typeface="Consolas"/>
              </a:rPr>
              <a:t>noul</a:t>
            </a:r>
            <a:r>
              <a:t>, закрытый вопрос «да или нет» с вероятностью вместо чистой двоичности. Модели передают оба текста, явную инструкцию, что именно считается «тем же вопросом», и два явных критерия — что засчитывается как «да», что как «нет». Угадывать это по тону формулировки, как в свободном промпте, не нужно: критерии — отдельное явное поле запроса.</a:t>
            </a:r>
          </a:p>
          <a:p/>
          <a:p>
            <a:r>
              <a:t>Результат проверили не на двух показательных прогонах, а на всех двадцати парах тестового набора — том же самом, на котором раньше измеряли хэш, TF-IDF и модель-судью. Разделение получилось чистым: на десяти парах, где ожидался дубль, сервис вернул вероятность от 0.70 до 0.97. На десяти парах, где ожидался разный вопрос, — от 0.02 до 0.08. Между этими двумя группами — честный разрыв: максимум среди «разных» заметно ниже минимума среди «дублей». Порог 0.5 работает здесь с большим запасом — значит, результат не держится на удачно подобранном пороге: сервис развёл пары уверенно в обе стороны.</a:t>
            </a:r>
          </a:p>
          <a:p/>
          <a:p>
            <a:r>
              <a:t>Возьмём одну пару для конкретности, чтобы не оставаться только с диапазонами. «Когда можно оплатить занятие?» и «как мне внести оплату за курс» — разные слова, тот же смысл. Jev вернул 0.76 — уверенно выше порога. На этой же паре хэш и TF-IDF дают ноль — не от ошибки, а потому что по конструкции им не из чего сравнивать: общих значимых слов нет. Это ровно та задача, где механическое сравнение слепо в принципе, а проверка смыслом — нет.</a:t>
            </a:r>
          </a:p>
          <a:p/>
          <a:p>
            <a:r>
              <a:t>Теперь, после двух узлов настоящей цепочки, — что из этого следует для архитектуры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подводить итог кейса — не схема и не настройка узла, а то, что в итоге видит сама Ольга в таблице заявок, которую открывает каждое утро. На экране — настоящая таблица учебного стенда, строки с пятнадцатой по двадцатую.</a:t>
            </a:r>
          </a:p>
          <a:p/>
          <a:p>
            <a:r>
              <a:t>Пятнадцатая и шестнадцатая — Пётр, одно и то же письмо слово в слово, между ними сутки. Следующие четыре — Анна, снова один и тот же текст, записанный четыре раза. Внутри каждой пары разница меньше двадцати миллисекунд: человек дважды нажал кнопку отправки, а форма честно приняла оба нажатия. Для таблицы это четыре разные заявки, и признака, по которому их отличить от четырёх разных вопросов, в ней нет.</a:t>
            </a:r>
          </a:p>
          <a:p/>
          <a:p>
            <a:r>
              <a:t>Даты на кадре старше проверки на повтор — проверка появилась в цепочке позже, и ни одна из этих строк через неё не проходила. С ней картина меняется наполовину. Буквальный повтор до таблицы больше не доходит: дешёвый механический шаг останавливает заявку раньше, чем она туда попадёт, прогон при этом завершается штатно, и Ольга не увидит ни повтора, ни следа того, что он был. А тот же вопрос другими словами доходит по-прежнему. Проверку смыслом на этом шаге только что измерили: перефразировку от нового вопроса она отличает надёжно. Но её ответ никуда не сохраняется — колонки под него в таблице нет, и после неё в цепочке нет ни одной развилки. Строка записывается такой же, как первая.</a:t>
            </a:r>
          </a:p>
          <a:p/>
          <a:p>
            <a:r>
              <a:t>Это не промах измерения, а граница между «различить» и «показать различие»: первое собрано и замерено, второе не собрано вовсе. Что делать с найденной перефразировкой — пропустить молча, записать с пометкой или гасить наравне с буквальным повтором — продуктовый вопрос, уже названный нюансом кейса. Сегодня выбран первый ответ, и выбран он не решением, а умолчанием.</a:t>
            </a:r>
          </a:p>
          <a:p/>
          <a:p>
            <a:r>
              <a:t>Ещё одно наблюдение из той же таблицы, за пределами разбора. У строк с семнадцатой по двадцатую текст один, а тема, извлечённая шагом классификации, всякий раз разная: дважды «другое», потом «перенос занятия», потом «оплата». Та же история ниже по таблице: один текст в трёх строках получил «курс», «оплату» и «другое». Шаг извлечения полей, стоящий до всякой дедупликации, на одинаковом входе даёт разный выход — и именно поэтому повтор ищут по самому тексту, а не по извлечённой теме.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кейса на измерении, которое мы только что видели.</a:t>
            </a:r>
          </a:p>
          <a:p/>
          <a:p>
            <a:r>
              <a:t>Механическая проверка и проверка смыслом друг другу не конкуренты, и ни одна не служит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мера, порог, — но измерение на 20 настоящих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только не гарантирует прироста — он может быть измеримо хуже. Так показало измерение на своих данных; общим свойством метода это не считайте.</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не разрешённое первым фильтром, и тогда её цена оправдана: заменить её нечем — ни хэш, ни классический векторный подход переформулировку на русском языке не решают.</a:t>
            </a:r>
          </a:p>
          <a:p/>
          <a:p>
            <a:r>
              <a:t>Тот же системный приём работал и в первом кейсе занятия, только смотрелся иначе: шаг модели убрали целиком и заменили подстановкой значений, потому что задача оказалась полностью детерминированной. Здесь она детерминирована не целиком: определить, один ли смысл у двух разных строк текста, механика в общем случае не умеет. Поэтому модель не убирается, а сдвигается туда, где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выбор схемы: все три всплывают после того, как выбор сделан и решение собрано.</a:t>
            </a:r>
          </a:p>
          <a:p/>
          <a:p>
            <a:r>
              <a:t>Первый — интервал времени сам по себе параметр с ценой. Слишком короткий — и повтор, присланный через день, а не через пару минут, проверка пропустит: формально это уже «не недавнее» обращение. Слишком длинный интервал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проверка похожести моделью — частный случай более общей задачи, где модель судит чужой текст. Асимметрия ошибок у неё та же, что у любой модели в роли оценщика, и это задокументированный результат: Ватаока, Такахаси и Ри показали на NeurIPS 2024, на воркшопе Safe GenAI, что модель-судья систематически не нейтральна — даже когда формально отвечает «да» или «нет» на прямой вопрос. И это не ссылка на чужую работу вместо своей: ровно это мы только что увидели на своём тесте — три ложных срабатывания из двадцати, не ноль. Хотя бы одно совпадением слов не объясняется: модель ошиблась на паре без единого общего слова. Проверка смыслом не идеальна — она ошибается иначе, чем механика.</a:t>
            </a:r>
          </a:p>
          <a:p/>
          <a:p>
            <a:r>
              <a:t>Третий нюанс — что мы считаем дублем — решение продукта, не только техники. Иногда человек переспрашивает другими словами нарочно: ему нужен ответ срочнее второго раза, и схлопнуть такое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такое решение обсуждают с тем, кто работает с заявками каждый день, а не угадывают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Работают все три, и спор о том, какой принципиально лучше, ничего не решает: решают два обстоятельства — какие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здесь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что мера похожести и настраиваемый порог сами по себе дадут прирост. Измерение на 20 настоящих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 и помните про её собственную частоту ошибок: у нас три ложных срабатывания из двадцати, пятнадцать процентов. Это цена, которую вы платите за такую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отдельная строка критерия: чем именно проверять смыслом — тоже решение, не очевидное по умолчанию. На нашем тесте дешёвая модель общего назначения дала 17 из 20, специализированный сервис jev — 20 из 20 и дешевле по прайсу. Из этого не следует «всегда берите специализированный сервис». Следует другое: выбор инструмента для этого шага проверяют так же, как мы проверили, нужен ли шаг, — а не угадывают.</a:t>
            </a:r>
          </a:p>
          <a:p/>
          <a:p>
            <a:r>
              <a:t>И закрываем вторую строку нашей таблицы. Выглядело надёжным: заявка про тот же вопрос пришла снова — формально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Ольги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Ольги и её клиента через два неполных дешёвых подхода, честное измерение на настоящих текстах и выбор правильного порядка инструментов — до критерия, по которому решают, нужен ли второй, дорогой слой и каким инструментом его ставить.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повседневная работа, и решать её надо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отдать всё руководителю или всё автоматике, понятно без лишних слов. Решать всё вручную — руководитель тонет в мелких заявках и не успевает заниматься тем, для чего нужен. Доверить всё автоматике без разбора — крупная сумма уйдёт без единого взгляда человека, а там, где счёт идёт на десятки тысяч, такой риск никто сознательно на себя не берёт. Порог и есть компромисс между этими крайностями, и держится он ровно настолько, насколько точно его соблюдают: иначе компромисс остаётся на бумаге.</a:t>
            </a:r>
          </a:p>
          <a:p/>
          <a:p>
            <a:r>
              <a:t>Фраза на экране — не технический промпт и не инструкция для модели, а то, как эту идею сформулировал бы бизнес, прежде чем передавать её в реализацию: автоматический возврат средств — до заданного порога суммы. Это прямое продолжение процесса, который мы уже собирали в Семинаре 7: там система читала текст обращения и определяла тему; здесь она идёт на шаг дальше — распознав в обращении просьбу о возврате, она же решает, одобрить сумму автоматически или передать руководителю. Процесс один, ему добавили ещё один шаг.</a:t>
            </a:r>
          </a:p>
          <a:p/>
          <a:p>
            <a:r>
              <a:t>Внутри этого шага правило звучит просто и на первый взгляд однозначно: порог есть, сравнение есть — что тут перепутаешь.</a:t>
            </a:r>
          </a:p>
          <a:p/>
          <a:p>
            <a:r>
              <a:t>Эта кажущаяся однозначность и окажется на проверке неполной. Но не будем забегать: сначала посмотрим, как правило живёт сегодня и кто его выполняет, — следующий экран.</a:t>
            </a:r>
          </a:p>
          <a:p/>
          <a:p>
            <a:r>
              <a:t>Дорожка кейсов внизу экрана — третий из четырёх; после этого занятие перейдёт к разбору похожей истории на другом масштабе — уже не учебного центра, а целой компании, —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это работает продолжением того, что мы уже собрали в Семинаре 7, а не новым процессом с нуля. Там система читала текст обращения и определяла его тему: оплата, перенос, вопрос по курсу. Здесь, после того как обращение распознано как просьба о возврате, добавлен ещё один шаг: та же система читает сумму внутри текста и сама решает, одобрить её автоматически или передать руководителю.</a:t>
            </a:r>
          </a:p>
          <a:p/>
          <a:p>
            <a:r>
              <a:t>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целиком. Внутри него совмещены три операции: прочитать сумму, сравнить с порогом, сформулировать ответ — и все три модель делает сама, без проверки снаружи. Эту возможность — добавить к той же форме автоматический возврат до заданного порога, не отправляя каждую мелкую заявку руководителю — команда и собрала месяц назад.</a:t>
            </a:r>
          </a:p>
          <a:p/>
          <a:p>
            <a:r>
              <a:t>Дальше развилка простая, и в ней появляется деталь, которой не было в предыдущих кейсах: решение «одобрить» — и деньги не «оформляются», а автоматически уходят на карту клиента, без единого касания человека. Если решение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читает это как подтверждение: правило работает, модель справляется.</a:t>
            </a:r>
          </a:p>
          <a:p/>
          <a:p>
            <a:r>
              <a:t>Но скажем вслух, что подтверждает отсутствие жалоб и чего оно не подтверждает. Подтверждает: ни одна ошибка не была достаточно заметной или достаточно дорогой, чтобы кто-то вернулся и пожаловался. Не подтверждает: что ошибок не было вовсе. Про разницу между этими двумя утверждениями — следующий такт.</a:t>
            </a:r>
          </a:p>
          <a:p/>
          <a:p>
            <a:r>
              <a:t>Посмотрите, чего в этой версии нет между чтением суммы и финальным словом ответа. Нет отдельного шага, который зафиксировал бы вслух: сумма такая-то, порог такой-то, результат их сравнения такой-то. Всё это происходит внутри одного вызова модели, и наружу выходит только готовое слово «одобрить» или «эскалировать» — без промежуточного следа, по которому проверишь, как модель пришла к этому слову в конкретном случае. Эту непрозрачность одного вызова и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прежде чем идти дальше. Правило работает месяц, жалоб не было — и здесь инженер обязан спросить себя: тишина — это доказательство или отсутствие повода проверить?</a:t>
            </a:r>
          </a:p>
          <a:p/>
          <a:p>
            <a:r>
              <a:t>Вопрос дня: как добиться, чтобы решение о пороге никогда не принималось неверно? Не «как сделать ещё надёжнее» вообще, а про одну точку — сравнение суммы с порогом.</a:t>
            </a:r>
          </a:p>
          <a:p/>
          <a:p>
            <a:r>
              <a:t>Четыре карточки, и это четыре разных действия с процессом, не четыре мнения о модели.</a:t>
            </a:r>
          </a:p>
          <a:p/>
          <a:p>
            <a:r>
              <a:t>Первая — написать правило яснее в промте: переформулировать текст, явно развести, что происходит на границе и по обе стороны от неё.</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 сделать сумму явным числовым полем формы: не писать её внутри свободного текста заявки, а собирать цифрами сразу на входе, в отдельном поле.</a:t>
            </a:r>
          </a:p>
          <a:p/>
          <a:p>
            <a:r>
              <a:t>Как и в прошлых кейсах, очевидно неправильного варианта среди остальных здесь нет. Все четыре — настоящие инженерные ходы, и у части есть ограничение, которое проявляется не сразу. Думайте не про то, что звучит надёжнее, а про то, что устраняет саму возможность ошибки, а не снижает её частоту.</a:t>
            </a:r>
          </a:p>
          <a:p/>
          <a:p>
            <a:r>
              <a:t>И ещё одна подсказка — не про то, какая карточка верна, а про то, как к ним подходить. Два действия меняют ЧТО-ТО в том, как модель принимает решение: переформулировку, инструмент. Два других меняют, ГДЕ это решение принимается, — переносят его в код или вовсе снимают нужду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за каждым теперь не только рассуждение, но и настоящий прогон на живом стенде.</a:t>
            </a:r>
          </a:p>
          <a:p/>
          <a:p>
            <a:r>
              <a:t>Написать правило яснее — развести явно, что происходит по обе стороны границы. Прогнали на расширенном наборе из ста запросов, тех же, где версия один ошиблась девять раз из ста одного, — ноль ошибок. Это измеренный факт, но не структурная гарантия: решение всё ещё принимает текстовое понимание, а не код, и другая формулировка или модель может разойтись с правилом снова, просто в другом месте.</a:t>
            </a:r>
          </a:p>
          <a:p/>
          <a:p>
            <a:r>
              <a:t>Дать модели инструмент-калькулятор. Поясню подробнее, почему это не решает проблему. Прежде чем калькулятор что-то сравнит, модели всё равно надо извлечь сумму из текста — тот же вероятностный шаг, что и без калькулятора. А дальше модель сама, тоже вероятностно, решает, вызывать ли инструмент и с какими аргументами. Калькулятор вероятностность не убирает — он добавляет её туда, где её раньше не было. Мы собрали настоящего агента с настоящим калькулятором и прогнали на той же сотне запросов: пятьдесят шесть из ста, хуже всех вариантов. Встроенный калькулятор n8n умеет арифметику, не умеет сравнений, и на «2500 меньше 3000» честно отвечал «не знаю, как это сделать» (11 из 100). Треть ответов не свелась к чистому слову — смешанный алфавит, рассуждение вместо ответа, одно переключение на китайский. Почти десятая часть ошибок рассыпалась по всему диапазону, не только у границы.</a:t>
            </a:r>
          </a:p>
          <a:p/>
          <a:p>
            <a:r>
              <a:t>Поставить </a:t>
            </a:r>
            <a:r>
              <a:rPr>
                <a:latin typeface="Consolas"/>
              </a:rPr>
              <a:t>IF</a:t>
            </a:r>
            <a:r>
              <a:t>-узел после извлечения — сумму достаёт модель, сравнивает код. На ста одном запросе ноль ошибок, включая все заложенные граничные случаи. Чего он принципиально не закрывает — ошибку самого извлечения: на этом измерении её не нашлось, но архитектурно это и не его забота.</a:t>
            </a:r>
          </a:p>
          <a:p/>
          <a:p>
            <a:r>
              <a:t>И последнее — явное числовое поле формы. Точность здесь сознательно не измеряли: у шага извлечения, которого нет, нет и точности. Применимая мера — применимость: работает, только если форму можно менять, иначе извлекать из текста всё равно придётся.</a:t>
            </a:r>
          </a:p>
          <a:p/>
          <a:p>
            <a:r>
              <a:t>Прежде чем выбирать между действиями, нужно узнать, насколько плохо дело сейчас и где именно версия 1 ошибается на расширенном наборе.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 одна идея, появившаяся уже после того, как таблица на предыдущем экране была готова. Пятой строкой она в таблицу не вошла, и не из стеснения: проверка показала, что собрать её так, как она задумывалась, нельзя.</a:t>
            </a:r>
          </a:p>
          <a:p/>
          <a:p>
            <a:r>
              <a:t>Идея звучала разумно. У нас уже есть сервис jev — тот самый, который в прошлом кейсе отличал повторный вопрос от нового лучше дешёвой модели-судьи. Почему не поручить ему и здесь — достать сумму из текста заявки, а порог всё так же сравнивать кодом?</a:t>
            </a:r>
          </a:p>
          <a:p/>
          <a:p>
            <a:r>
              <a:t>Прежде чем собирать цепочку, идею проверили прямыми вызовами на живом стенде: число не выдумывают, его измеряют. И выяснилось то, что вы видите в верхнем ряду. У сервиса ровно четыре типа ответа: да или нет с вероятностью, выбор одного варианта из заранее перечисленных, позиция на заданной шкале, область на картинке. Открытого числа среди них нет ни в каком виде, и пятая карточка перечёркнута не для красоты: это не «плохо поддерживается», а отсутствующая операция.</a:t>
            </a:r>
          </a:p>
          <a:p/>
          <a:p>
            <a:r>
              <a:t>Нижний ярус показывает, почему это не мелочь. Две суммы, две тысячи девятьсот девяносто девять и три тысячи один рубль, лежат по разные стороны настоящего порога. Обеим предложили одну и ту же шкалу диапазонов, заданную заранее. Сервис вернул для обеих один и тот же диапазон, с полной уверенностью в обоих случаях. Различить их удалось бы единственным способом: заранее зашить границу ровно в три тысячи в сам вопрос к сервису — то есть знать порог, когда вопрос формулируешь, точно как в тексте правила, которое мы и пытаемся обойти.</a:t>
            </a:r>
          </a:p>
          <a:p/>
          <a:p>
            <a:r>
              <a:t>Это другая история, чем с калькулятором, который мы разобрали минуту назад. У калькулятора модель могла вызвать инструмент — вероятностность переезжала на шаг раньше и там продолжала жить. У этого сервиса в такой задаче самой операции «вернуть число» не существует: это не плохо выполненная работа, а работа другого класса, которую он в принципе не берёт.</a:t>
            </a:r>
          </a:p>
          <a:p/>
          <a:p>
            <a:r>
              <a:t>Урок простой и переносимый, не только про возврат денег: прежде чем проектировать шаг вокруг стороннего сервиса, проверьте, что он физически умеет делать то, что от него хотят. И не считайте, что раз он хорош в соседней задаче, значит подойдёт и здесь. «Выбрать из готовых вариантов» и «извлечь произвольное число» — разные классы, и успех в одном ничего не говорит про другой.</a:t>
            </a:r>
          </a:p>
          <a:p/>
          <a:p>
            <a:r>
              <a:t>Теперь — что мы сделали с этой находкой на практике: решение, которое заменяет ровно тот узел, где случается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таблице действий мы только что проговорили число: версия один, та, что работает месяц, ошибается девять раз из ста одного. И не в случайном месте цепочки — ровно в одной точке: там, где принимается решение «одобрить» или «эскалировать». Прежде чем разбирать это число подробно, покажу, что мы с находкой сделали. Версия два — не новая цепочка с нуля, а версия один с заменой одного узла.</a:t>
            </a:r>
          </a:p>
          <a:p/>
          <a:p>
            <a:r>
              <a:t>Посмотрите на схему. Верхняя полоса — версия один, та, что работала месяц. Форма со свободным текстом, модель достаёт из него сумму, и та же модель — тем же вызовом — решает, одобрить сумму или эскалировать её, читая текст правила. Последнее действие, решение по тексту правила, и есть точка, где случались все девять ошибок.</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И рисую я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он совпадает с тем, что было: месяц работы, эксперимент, находка, и только потом замена узла.</a:t>
            </a:r>
          </a:p>
          <a:p/>
          <a:p>
            <a:r>
              <a:t>Дальше разберём, насколько хорошо это работает: не одно итоговое число, а как был устроен тест на сто один запрос и на каких формулировках версия один раз за разом спотыкалась.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метод здесь важнее числа. В этой волне метод стал важнее вдвойне — исходные три ошибки на пятьдесят одном запросе звучали недостаточно представительно, чтобы на них опираться уверенно, и набор расширили.</a:t>
            </a:r>
          </a:p>
          <a:p/>
          <a:p>
            <a:r>
              <a:t>Начнём с того, зачем мерить, если жалоб не было. Жалоба приходит при одном условии: ошибка достаточно заметна и достаточно дорога, чтобы человек вернулся и указал на неё. Тихая ошибка — одобрили чуть большую сумму, которую следовало эскалировать, или наоборот — жалобы не вызовет никогда, потому что её, скорее всего, никто и не заметит.</a:t>
            </a:r>
          </a:p>
          <a:p/>
          <a:p>
            <a:r>
              <a:t>Исходный набор — пятьдесят запросов, сгенерированных один раз с зафиксированным стартовым значением генератора случайных чисел, плюс один ручной тест. Внутри — два кластера: двадцать пять сумм от тысячи до трёх тысяч рублей с плотной группировкой прямо у границы, и двадцать пять сумм явно выше порога, для которых правильный ответ очевиден.</a:t>
            </a:r>
          </a:p>
          <a:p/>
          <a:p>
            <a:r>
              <a:t>Что добавлено в этой волне. Три тысячи рублей — одна конкретная сумма, и кластер вокруг неё в исходном наборе был плотным, но не исчерпывающим. Добавили пятнадцать сумм ещё плотнее к самой границе — буквально в пределах двадцати рублей от неё в обе стороны. Добавили двадцать текстов, где в одном сообщении встречаются два разных числа: отвлекающая сумма — то, что курс или занятие стоило раньше, — и целевая сумма, та, которую на самом деле просят вернуть. Правильный ответ считается по целевой, и экстрактору нужно отличить одно от другого, а не найти первое число в тексте. И добавили пятнадцать формулировок, где сумма вообще не названа прямым числом, а выводится арифметикой — «два занятия по тысяче пятьсот» — или словом «около», «примерно».</a:t>
            </a:r>
          </a:p>
          <a:p/>
          <a:p>
            <a:r>
              <a:t>Итого — сто один запрос, и 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 Набор воспроизводим целиком: стартовое значение генератора записано, и прогон можно повторить и получить те же сто один текст.</a:t>
            </a:r>
          </a:p>
          <a:p/>
          <a:p>
            <a:r>
              <a:t>Прежде чем переключать на результат — остановитесь и предположите сами, тремя вариантами руками: ошибок ноль, до пяти, больше двадцати. Правило месяц работало без единой жалобы, и это единственное, что про него известно заранее. Пауза здесь нужна настоящая: число на следующем экране стоит столько, сколько стоило собственное предположение до него.</a:t>
            </a:r>
          </a:p>
          <a:p/>
          <a:p>
            <a:r>
              <a:t>Оба исхода предположения одинаково полезны. Ответ «до пяти» близок к истине по доле — девять из ста одного, — но доля здесь решает меньше всего: все девять ошибок стоят в одной точке, и это выясняется только из разбивки. Ответ «ноль» — самый частый и самый поучительный: месяц без единой жалобы не говорит о числе ошибок ничего, потому что тихая ошибка жалобы и не вызывает.</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Ответ. Девять ошибок из ста одного прогона у версии, где порог записан словами внутри промпта, и ноль ошибок у версии, где тот же порог стоит условием в коде. Один и тот же набор запросов, один и тот же учебный центр, одна и та же модель на шаге извлечения суммы — разница только в том, кто принимает решение «одобрить или эскалировать».</a:t>
            </a:r>
          </a:p>
          <a:p/>
          <a:p>
            <a:r>
              <a:t>Девять из ста одного — чуть меньше девяти процентов. Само по себе это число говорит мало: девять процентов ошибок на шаге, который срабатывает раз в неделю, и девять процентов на шаге, который срабатывает триста раз в месяц, — разные вещи. Но здесь важнее доли другое: где эти девять стоят.</a:t>
            </a:r>
          </a:p>
          <a:p/>
          <a:p>
            <a:r>
              <a:t>Все девять — на одной сумме. Не «в диапазоне около трёх тысяч», не «чем ближе к порогу, тем чаще», а ровно на трёх тысячах рублей, и ни на одной другой сумме набора. Две тысячи девятьсот девяносто девять — верно. Три тысячи одна — верно. Три тысячи — ошибка, каждый раз, в какой бы формулировке сумма ни пришла: прямым числом или посчитанная арифметикой внутри текста заявки.</a:t>
            </a:r>
          </a:p>
          <a:p/>
          <a:p>
            <a:r>
              <a:t>Почему именно там. Правило в промте написано словами: «не возвращай больше трёх тысяч». Человек читает это как «три тысячи ещё можно». Модель на самой границе читает это иначе и отправляет заявку руководителю. Спорить о том, чьё прочтение правильное, бессмысленно: формулировка допускает оба, и в этом вся беда — граница осталась предметом толкования, а сравнением двух чисел так и не стала.</a:t>
            </a:r>
          </a:p>
          <a:p/>
          <a:p>
            <a:r>
              <a:t>Для учебного центра три тысячи — не случайная сумма из середины диапазона. Это и есть заявленный порог, то место, где решение переключается, и на нём стоит самая частая заявка: клиенты просят вернуть ровно столько, сколько стоит занятие или блок занятий.</a:t>
            </a:r>
          </a:p>
          <a:p/>
          <a:p>
            <a:r>
              <a:t>На следующем экране — то же самое число, разложенное по шести блокам теста: сколько запросов в каждом, сколько ошибок и какой текст заявки за ними стоит. Смотреть там нужно не на итог — он уже перед вами, — а на то, в каких блоках ошибок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на расширенном наборе. Сто один прогон, и у версии один — девять ошибок.</a:t>
            </a:r>
          </a:p>
          <a:p/>
          <a:p>
            <a:r>
              <a:t>Таблица разбита по блокам теста не для красоты: так сразу видно, где ошибка есть и где её нет. Исходный кластер у границы — двадцать пять запросов, три ошибки. Исходные суммы явно выше порога — двадцать пять запросов, ноль ошибок. Блок у границы, где суммы ещё плотнее прижаты к трём тысячам, — пятнадцать запросов, и неожиданно ноль ошибок: ни 2980, ни 2999, ни 3001, ни 3020 модель не сбили, потому что ни одна из них не совпадает РОВНО с порогом. Блок с двумя числами в тексте — двадцать запросов, тоже ноль: модель уверенно отличает отвлекающую сумму от целевой. А вот блок непрямых формулировок — пятнадцать запросов, и в нём шесть новых ошибок, и все шесть — там, где арифметика внутри текста («половина от шести тысяч», «три занятия по тысяче») в точности равна трём тысячам.</a:t>
            </a:r>
          </a:p>
          <a:p/>
          <a:p>
            <a:r>
              <a:t>Расширенный набор подтверждает вот что: ошибка не размазана по диапазону и не зависит от того, насколько сложно сформулирован текст. Она привязана к ОДНОЙ ТОЧНОЙ СУММЕ — трём тысячам рублей, — независимо от того, пришла эта сумма прямым числом или арифметикой из двух чисел. Модель справляется с «очевидно много», с «очевидно мало» и даже с суммами в двадцати рублях от границы — во всех случаях без исключения. Промах один: там, где сумма равна порогу буквально.</a:t>
            </a:r>
          </a:p>
          <a:p/>
          <a:p>
            <a:r>
              <a:t>И это не случайная ошибка, которая иногда проскакивает где угодно, а систематическая, сидящая в одной точке: там, где текст правила и его формальное толкование расходятся. В остальном диапазоне, сколь угодно близко к границе, модель безупречна.</a:t>
            </a:r>
          </a:p>
          <a:p/>
          <a:p>
            <a:r>
              <a:t>Разницу между «случайной ошибкой» и «систематической ошибкой ровно на границе» решение, уже показанное на схеме, и устраняет структурно: </a:t>
            </a:r>
            <a:r>
              <a:rPr>
                <a:latin typeface="Consolas"/>
              </a:rPr>
              <a:t>IF</a:t>
            </a:r>
            <a:r>
              <a:t>-узел меняет саму точку, где принимается решение, а не снижает частоту ошибки в ней. Дальше — как этот узел выглядит в настоящей настройке, рядом с промптом версии один для контраста.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Настройка узла, который заменил решение модели в версии два, — и рядом открытая панель промпта версии один, который он заменил. Оба кадра сняты с живого стенда, и ради контраста их стоило положить рядом.</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пространства для толкования у неё нет: либо число больше другого числа, либо нет.</a:t>
            </a:r>
          </a:p>
          <a:p/>
          <a:p>
            <a:r>
              <a:t>Справа — та самая панель узла </a:t>
            </a:r>
            <a:r>
              <a:rPr>
                <a:latin typeface="Consolas"/>
              </a:rPr>
              <a:t>Decide refund (model)</a:t>
            </a:r>
            <a:r>
              <a:t>, версия один, как она реально стояла в настройке. В открытом поле </a:t>
            </a:r>
            <a:r>
              <a:rPr>
                <a:latin typeface="Consolas"/>
              </a:rPr>
              <a:t>Prompt (User Message)</a:t>
            </a:r>
            <a:r>
              <a:t> — текст: «Правило: не возвращай больше 3000 рублей автоматически, иначе эскалируй руководителю. Сумма запроса: {{ $json.output.amount_rub }} рублей. Ответь строго одним словом: «одобрить» или «эскалировать».» На экране это поле обрезано по высоте самим интерфейсом n8n — видна не вся строка, здесь она договорена полностью. В этом тексте формально есть то же самое сравнение — «не больше 3000», — но живёт оно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Внутри этого одного шага девять раз из ста одного правило и его трактовка и расходились — ровно на границе, там, где текст можно прочитать двояко.</a:t>
            </a:r>
          </a:p>
          <a:p/>
          <a:p>
            <a:r>
              <a:t>Вот и вся разница между решением, принятым кодом, и решением, принятым текстовым пониманием: положили рядом, и ни одного слова о том, какая версия лучше, не понадобилось — разницу видно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ещё две настоящие панели настройки: как выглядят параметры узла извлечения суммы и самого условия изнутри, не только снаружи на канвасе.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экране узел </a:t>
            </a:r>
            <a:r>
              <a:rPr>
                <a:latin typeface="Consolas"/>
              </a:rPr>
              <a:t>IF</a:t>
            </a:r>
            <a:r>
              <a:t> был виден снаружи — карточкой на канвасе с именем и двумя ветками. Здесь он изнутри: то, что видит инженер, открыв настройку двойным щелчком.</a:t>
            </a:r>
          </a:p>
          <a:p/>
          <a:p>
            <a:r>
              <a:t>Слева — узел, который достаёт сумму из текста заявки. Он называется «Information Extractor», и задача ему задана не вольной инструкцией, а строгой схемой ответа на двенадцать строк. В схеме один параметр, </a:t>
            </a:r>
            <a:r>
              <a:rPr>
                <a:latin typeface="Consolas"/>
              </a:rPr>
              <a:t>amount_rub</a:t>
            </a:r>
            <a:r>
              <a:t>, тип у него — строго число, и он помечен обязательным. Модели внутри этого узла не разрешено вернуть текст, диапазон или слово «примерно»: результат либо проходит схему, либо узел не выполнился. Это тот самый шаг извлечения, который версия два не убирает — сумму по-прежнему достаёт модель, — но результат шага дисциплинирован форматом, а не только просьбой в промпте.</a:t>
            </a:r>
          </a:p>
          <a:p/>
          <a:p>
            <a:r>
              <a:t>Справа — узел, который заменил текстовое решение версии один. Условие у него одно, и читается оно буквально: уже извлечённое число сравнивается с тремя тысячами оператором «больше». Не абзац текста о пороге, а одна строка сравнения — в форме, где у исполнителя нет пространства для толкования. Под условием стоит кнопка «добавить условие»: скрытых правил рядом нет, и то, что видно, и есть всё правило целиком.</a:t>
            </a:r>
          </a:p>
          <a:p/>
          <a:p>
            <a:r>
              <a:t>Отдельно стоит переключатель приведения типов, и выключен он намеренно. Включи его — и условие согласится сравнивать с числом строку, а строка приезжает сюда с предыдущего шага, где её собрала модель: тихое преобразование «три тысячи рублей» в число или в ноль прошло бы без единого следа в журнале. Выключенный переключатель превращает такую ситуацию в честный сбой узла вместо тихо неверного ответа.</a:t>
            </a:r>
          </a:p>
          <a:p/>
          <a:p>
            <a:r>
              <a:t>Эти две панели и текстовый промпт версии один различает не количество слов, а место, где живёт смысл решения. В промпте правило растворено в естественном языке, и модель перечитывает и толкует его заново на каждом прогоне. Здесь правило — поле формы, которое либо заполнено верно, либо подсвечено ошибкой ещё до запуска. Остальная цепочка не изменилась: изменилось ровно то, что видно на этих двух панелях.</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сравнению версий — на секунду встанем на сторону клиента: что он видит, когда заявка одобрена автоматически.</a:t>
            </a:r>
          </a:p>
          <a:p/>
          <a:p>
            <a:r>
              <a:t>Вспомним заявку со сцены: «прошу вернуть 2500 рублей за пропущенное занятие». Сумма ниже порога в три тысячи рублей, поэтому и версия один, и версия два одобрили бы её сами, без участия руководителя. Версии различает то, как внутри цепочки принимается это решение; для клиента разницы не видно вовсе.</a:t>
            </a:r>
          </a:p>
          <a:p/>
          <a:p>
            <a:r>
              <a:t>Клиент не открывает никакого отдельного экрана результата, не заходит в личный кабинет и не ждёт письма с вложением. В чат, где он уже переписывался с учебным центром, приходит одно короткое сообщение: заявка одобрена, и конкретная сумма уже отправлена на карту, которой он платил за занятие. Один пузырь, без вложений и без кнопок — ровно как и в первом кейсе этого занятия, где такое же короткое уведомление приходило в уже существующий чат.</a:t>
            </a:r>
          </a:p>
          <a:p/>
          <a:p>
            <a:r>
              <a:t>А вот чего в этом сообщении нет. Нет имени узла, который принял решение; нет слова «порог» и числа «три тысячи»; нет внутреннего идентификатора заявки или прогона цепочки — ничего из того, что мы только что разбирали на схеме и в настройке узла. Это та же граница, о которой курс говорит с самого начала: служебные детали живут в наших разборах и в документации производства, а на экране, который видит реальный человек, — только то, что ему нужно знать, чтобы понять: деньги уже у него.</a:t>
            </a:r>
          </a:p>
          <a:p/>
          <a:p>
            <a:r>
              <a:t>И к версии два это не привязано. Реши версия один, с её текстовым промптом, одобрить ту же заявку — клиент увидел бы ровно то же сообщение: всё, что меняется между версиями, происходит до этого экрана, внутри цепочки, а не в интерфейсе клиента. Версии различает надёжность самого решения, а не то, что в итоге получает человек.</a:t>
            </a:r>
          </a:p>
          <a:p/>
          <a:p>
            <a:r>
              <a:t>Вопрос на дальше: если бы сумма заявки случайно совпала с порогом в три тысячи рублей — а мы только что видели, где версия один раз за разом ошибалась, — пришло бы клиенту то же сообщение или другое, про передачу заявки руководителю? Ответ на него — в сравнении, к которому мы сейчас и возвращаемся.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Итоговое сравнение, и вся его сила в том, на чём оно построено. Это не новый тест, собранный под версию два, чтобы она выглядела хорошо, а тот же расширенный набор из ста одного запроса: пятьдесят один исходный, на котором мы впервые нашли проблему, и пятьдесят новых, сложнее первых, добавленных ради проверки находки на более трудных формулировках. Версия два прогнана ровно на нём же.</a:t>
            </a:r>
          </a:p>
          <a:p/>
          <a:p>
            <a:r>
              <a:t>Первая строка — число ошибок. Версия один — девять из ста одного. Версия два — ноль. Не «меньше» — ноль. И ноль на наборе, который включает плотный кластер сумм у границы, суммы в двадцати рублях от неё с обеих сторон, тексты с двумя числами и формулировки, где сумма получается арифметикой, а не названа прямо: набор даёт ошибке максимум шансов проявиться, если она есть.</a:t>
            </a:r>
          </a:p>
          <a:p/>
          <a:p>
            <a:r>
              <a:t>Вторая строка — поведение на границе, из-за которого всё и затевалось. На сумме ровно три тысячи рублей — независимо от того, пришла она прямым числом или арифметикой внутри текста — версия один отвечала «эскалировать», хотя правило, если его прочитать внимательно, подразумевает, что саму эту сумму ещё можно одобрить. Версия два на той же сумме отвечает «одобрить», и вовсе не потому, что </a:t>
            </a:r>
            <a:r>
              <a:rPr>
                <a:latin typeface="Consolas"/>
              </a:rPr>
              <a:t>IF</a:t>
            </a:r>
            <a:r>
              <a:t>-узел «понял правило лучше». Условие «строго больше 3000» математически не допускает двойного толкования: число либо больше другого числа, либо нет.</a:t>
            </a:r>
          </a:p>
          <a:p/>
          <a:p>
            <a:r>
              <a:t>Третья строка — вне границы обе версии безупречны, и расширенный набор это подтвердил отдельно: ни суммы в двадцати рублях от порога, ни тексты с отвлекающим вторым числом версию один с толку не сбили. Плоха она была ровно в одной точке. Поэтому и диагноз звучал «систематическая ошибка на границе», а не «ненадёжная модель», а лечение свелось к замене одного узла, не к переписыванию всей цепочки.</a:t>
            </a:r>
          </a:p>
          <a:p/>
          <a:p>
            <a:r>
              <a:t>Так на этом курсе и положено сравнивать решения внутри кейса: версия строится прямым ответом на находку и измеряется на том самом — теперь расширенном — тесте, который эту находку дал и подтвердил. Не два мира, собранные параллельно ради иллюстрации тезиса.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останется, когда числа этого кейса забудутся.</a:t>
            </a:r>
          </a:p>
          <a:p/>
          <a:p>
            <a:r>
              <a:t>Первое: формулировка находки важна буквально, не приблизительно. Сказать «модель иногда вероятностно ошибается» — слишком общо, и о том, где искать проблему в следующий раз, это не говорит ничего. Точная формулировка другая: модель систематически промахивается именно на границе условия — там, где текст правила и его формальное толкование расходятся, а во всём остальном диапазоне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уносят с собой. Если решение выражается условием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проверяют прогоном первыми, прежде чем доверять любому правилу на пороге. Не середину диапазона, где обычно всё хорошо, а границу — там формулировка правила и её трактовка расходятся чаще всего.</a:t>
            </a:r>
          </a:p>
          <a:p/>
          <a:p>
            <a:r>
              <a:t>Тот же урок встречался в кейсе про уведомления и в кейсе про повторные обращения; здесь измерение дало ему точность: проверяйте не «крайние случаи» вообще, а ту точку,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a:p/>
          <a:p>
            <a:r>
              <a:t>И ещё один штрих, который измерение добавило к обобщению. Переформулировка правила яснее — одно из четырёх разобранных действий — на практике убрала эту ошибку целиком: сто из ста на расширенном наборе. Выводу «решение должно быть кодом» это не противоречит, а уточняет его. Уточнённая формулировка — измеренное улучшение КОНКРЕТНОГО промпта на КОНКРЕТНОМ наборе, а не структурная гарантия: ничто в архитектуре не исключает, что другая формулировка, другая модель или её будущее обновление разойдутся с правилом снова, только в другом месте. </a:t>
            </a:r>
            <a:r>
              <a:rPr>
                <a:latin typeface="Consolas"/>
              </a:rPr>
              <a:t>IF</a:t>
            </a:r>
            <a:r>
              <a:t>-узел устраняет саму категорию такой ошибки: сравнение числа с числом в коде не нуждается в повторной проверке каждый раз, когда меняется формулировка или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унести вывод кейса как абсолютное правило.</a:t>
            </a:r>
          </a:p>
          <a:p/>
          <a:p>
            <a:r>
              <a:t>Первый — про калькулятор, который мы обсуждали среди четырёх карточек вопроса. Дать модели инструмент для сравнения чисел и поставить </a:t>
            </a:r>
            <a:r>
              <a:rPr>
                <a:latin typeface="Consolas"/>
              </a:rPr>
              <a:t>IF</a:t>
            </a:r>
            <a:r>
              <a:t>-узел после извлечения — вещи разные. В прошлый раз мы это только утверждали: вероятностность не исчезает, она переезжает на шаг раньше, туда, где модель решает, вызывать ли калькулятор и как передать в него значения. Теперь утверждение проверено прогоном — собрали агента с настоящим инструментом-калькулятором и прогнали его на той же сотне запросов. Результат вышел не только «не гарантией», а измеримо худшим из всех вариантов: пятьдесят шесть правильных ответов из ста. И нашлись отказы, которых никто не закладывал специально: встроенный калькулятор n8n не умеет сравнивать числа, только считать арифметику, и в одном случае из девяти честно отвечал «не знаю, как это сделать»; треть ответов агента не свелась к чистому слову «одобрить» или «эскалировать»; почти десятая часть ошибок рассыпалась по всему диапазону сумм, а не сидела аккуратно на границе, как у версии один. Инструмент у модели проблему не снимает, а переносит, и теперь за этим стоит не только довод, но и число.</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Изменится когда-нибудь порог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разбирали в прошлых кейсах этой дуги. Два места, которые должны совпадать, и ничего, что бы это гарантировало. Порог обязан иметь ровно один источник правды.</a:t>
            </a:r>
          </a:p>
          <a:p/>
          <a:p>
            <a:r>
              <a:t>Третий отвечает прямо на карточку вопроса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кейса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этот кейс уносят в свою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записывается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если получится — устранить саму потребность в извлечении значения.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измеренный, не общий: решение, оставленное модели, обходило собственное правило в измеренной доле прогонов — девять из ста одного на расширенном наборе, и ровно в одной точке, на границе условия, не где попало. Решение, отданное алгоритмическому гейту на том же самом тесте, — ноль из ста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 этой цене почти мгновенно, делала минимальный ремонт и быстро перепродавала, зарабатывая на разнице.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Три числа на экране — не оценки журналистов, а прямые данные из отчётности перед SEC, и у каждого есть продолжение. Списание стоимости запасов домов — $304,4 млн за один третий квартал 2021 года; по итогам всего года набежало $407,9 млн. Сокращение штата — около двух тысяч человек, примерно четверть всех работавших в компании. Средний убыток в $80 000 на дом считается так: только за тот же третий квартал Zillow купила 9680 домов, а продать успела лишь 3032, и на каждом проданном в среднем потеряла эту сумму.</a:t>
            </a:r>
          </a:p>
          <a:p/>
          <a:p>
            <a:r>
              <a:t>Этот разбор стоит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та же. Порог риска, выше которого стоило бы остановить автоматическую покупку или передать решение человеку, существовал не обязательным условием в контуре, а ожиданием, что модель справится, — ведь справлялась раньше. Разница только в масштабе: там это один разговор с клиентом, здесь — покупка дома за настоящие деньги, и таких решений принимали тысячи подряд.</a:t>
            </a:r>
          </a:p>
          <a:p/>
          <a:p>
            <a:r>
              <a:t>На следующем экране — схема того, как этот контур был устроен на самом деле: без обязательного гейта и без короткого интервала проверки. А вопрос после неё будет не про то, можно ли было предсказать волатильность рынка заранее, — а про то,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полоса одна, и на ней — как контур решения о покупке дома был устроен у Zillow.</a:t>
            </a:r>
          </a:p>
          <a:p/>
          <a:p>
            <a:r>
              <a:t>Первый шаг — алгоритмическая оценка Zestimate: модель называет цену дома по открытым данным. Второй шаг — решение о покупке, и здесь первый пропуск: обязательного гейта выше определённого порога риска не стояло. Любая оценка, как далеко ни уходи она от разумного диапазона, двигалась дальше по контуру без остановки.</a:t>
            </a:r>
          </a:p>
          <a:p/>
          <a:p>
            <a:r>
              <a:t>Третий шаг — покупка исполняется: деньги уходят, дом становится активом компании. И здесь второй пропуск, дороже первого: после покупки не было короткого периода мониторинга точности — часов или дней, за которые заметишь, что фактическая цена перепродажи систематически расходится с прогнозом. Такого периода не было вовсе.</a:t>
            </a:r>
          </a:p>
          <a:p/>
          <a:p>
            <a:r>
              <a:t>Из-за этого ошибка не обнаруживалась сразу — она накапливалась незаметно, покупка за покупкой, квартал за кварталом. Видимой она становилась в одной точке — в квартальной отчётности перед SEC. А это исторический архив, который подтверждает, что случилось, а не период контроля, который мог бы это остановить.</a:t>
            </a:r>
          </a:p>
          <a:p/>
          <a:p>
            <a:r>
              <a:t>Архив и период контроля различает не стилистическая тонкость. Архив говорит правду, когда цена ошибки уже реализовалась. Период контроля мог бы остановить закупку по сегменту, пока убыток ещё маленький. У Zillow был только архив.</a:t>
            </a:r>
          </a:p>
          <a:p/>
          <a:p>
            <a:r>
              <a:t>На следующих двух экранах — вопрос и разбор, а дальше — схема того же контура, но с гейтом, которого здесь не было.</a:t>
            </a:r>
          </a:p>
          <a:p/>
          <a:p>
            <a:r>
              <a:t>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между шагами нет точки, где процесс мог бы остановиться и спросить, надёжна ли эта оценка сейчас. Эту пропавшую точку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принимали почти автоматически — и так тысячи раз подряд, пока рынок вёл себя привычно. В 2021 году рынок жилья повёл себя волатильнее, чем закладывала история: частота ошибки модели выросла резко, а контур решения этого вовремя не поймал.</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Все четыре карточки звучат разумными инженерными шагами, и звучат так намеренно: нелепый вариант отличать от трёх серьёзных не придётся. Придётся понять, какой из четырёх меняет контур решения, а какой меняет лишь формулировку того, что уже было. И не угадывайте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интервала проверки, квартальный отчёт. Думайте не про то, что звучит разумно, а про то, какой из четырёх добавил бы на эту схему новый узел или новую точку остановки, а какой переформулировал бы уже нарисованное.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причиной не было. Модель Zestimate была откалибрована корректно на исторически стабильных данных: до пандемии её ошибка на срок владения в несколько месяцев держалась в пределах, которые компания считала рабочими. Виновата здесь волатильность рынка, которой не было в обучающей истории, а не калибровка.</a:t>
            </a:r>
          </a:p>
          <a:p/>
          <a:p>
            <a:r>
              <a:t>Не хватало как раз второго — runtime-мониторинга дрейфа с автоматическим порогом остановки, того самого наблюдения за моделью в реальном времени. У рабочей модели, управлявшей закупкой недвижимости на сотни миллионов долларов, не было короткого периода наблюдения за собственной частотой ошибки — часов или дней,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период,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независимо от размера ставки. Ровно та же форма пропуска, что мы только что разбирали в «Одобрении возврата»: порог суммы возврата там был, алгоритмическим гейтом не стал.</a:t>
            </a:r>
          </a:p>
          <a:p/>
          <a:p>
            <a:r>
              <a:t>Заранее знать, что рынок поведёт себя непредсказуемо, — пожелание, а не инженерное решение. Пандемийная волатильность — настоящий внешний фактор, но не та точка, в которой инженер может что-то изменить.</a:t>
            </a:r>
          </a:p>
          <a:p/>
          <a:p>
            <a:r>
              <a:t>Решает здесь вот что: модель не подвела — подвёл контур вокруг неё. Не было ни короткого периода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Показа на стенде здесь не будет: система чужая и остановленная.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отклонение переходит порог, автоматическая закупка по этому сегменту встаёт до ручной проверки, а не ждёт следующего отчёта.</a:t>
            </a:r>
          </a:p>
          <a:p/>
          <a:p>
            <a:r>
              <a:t>Тот же приём мы уже видели в «Одобрении возврата»: решение заменяют детерминированным условием там, где оно выражается условием над структурированным значением — суммой риска, отклонением цены. Различаются масштаб условия и масштаб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Ни одна из двух частей решения не работает без другой. Человек-андеррайтер без circuit breaker узнаёт о проблеме всё равно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настоящего капитала — не абстрактной метрики, а денег, которые компания платит буквально. У Zillow одна ошибка —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источником ошибки стало это расхождение режимов, а не сама модель.</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период,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этот разбавитель стоит здесь. Мысль та же, что мы уже разобрали на «Одобрении возврата», только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в этом суть кейса. Явно и заметно не сломалось ничего: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условие ни при чём — весь путь прошёл формально безупречно.</a:t>
            </a:r>
          </a:p>
          <a:p/>
          <a:p>
            <a:r>
              <a:t>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кто-нибудь не сверит журнал прогона с тем, что произошло у получателя.</a:t>
            </a:r>
          </a:p>
          <a:p/>
          <a:p>
            <a:r>
              <a:t>Разберём по порядку, что здесь произошло, почему ни один из прежних приёмов этого не поймал и что с этим делать дальше. Держите в голове одно на весь кейс: всё, чем мы сегодня научились проверять работу цепочки, здесь сказало «успех» — и ошиблось.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с просьбы, не с жалобы, —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Текст готовит тот же узел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там же, где раньше видел текст. На этом её и включили в работу: проверку, какую мы умели делать, она прошла.</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Теперь о цене этой сцены. Отказ узла мы ловить умеем ещё с прошлого занятия, повтором и веткой. А здесь — тихая потеря результата ровно там, где всё формальное говорит «успех»: до сих пор у нас не было повода проверять бинарные данные хоть чем-то, кроме самого факта, что они сформировались.</a:t>
            </a:r>
          </a:p>
          <a:p/>
          <a:p>
            <a:r>
              <a:t>Значит, прежде чем звать это решением, надо явно назвать, чему карточка обязана соответствовать — заранее, как требование, а не постфактум, глядя на провал. И требований здесь два, разной природы. Первое — механическое: у файла есть размер, формат, разрешение, и это числа и перечислимые значения, которые можно сравнить с условием. Второе — смысловое, или по содержанию: показывает ли картинка на самом деле то, что должна показывать, а не битую заглушку, чужое изображение или пустой кадр. Разница не формальность: от неё зависит, какой инструмент способен такое требование проверить. Этот вопрос и прозвучит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спрашиваем мы сознательно не «что делать, если файл превысит лимит», а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узлу отправки: ровно это и произошло в нашей сцене.</a:t>
            </a:r>
          </a:p>
          <a:p/>
          <a:p>
            <a:r>
              <a:t>Первые две карточки и третья — действия разного рода, хоть и похожи формулировкой «проверить». Размер, формат, то, что файл открывается, — свойства, которые можно посчитать и сравнить с числом. Соответствует ли содержимое картинки тому, что нужно показать, — уже не число, а смысл.</a:t>
            </a:r>
          </a:p>
          <a:p/>
          <a:p>
            <a:r>
              <a:t>Выбирайте по тому, какой инструмент способен провести такую проверку: выражается ли она условием над числом — или кому-то, человеку или модели, придётся посмотреть на содержимое.</a:t>
            </a:r>
          </a:p>
          <a:p/>
          <a:p>
            <a:r>
              <a:t>Пятнадцать секунд на выбор, потом по рукам.</a:t>
            </a:r>
          </a:p>
          <a:p/>
          <a:p>
            <a:r>
              <a:t>И сразу второй вопрос, на предсказание — он понадобится через несколько экранов, когда дойдём до настоящего вызова. Файл, который отправляли, весит двенадцать и восемь десятых мегабайта. Предел самого n8n — шестнадцать мегабайт, предел Telegram на фотографию — десять. Дойдёт карточка до координатора или нет? Поставьте на один из двух ответов руками, прежде чем смотреть дальше.</a:t>
            </a:r>
          </a:p>
          <a:p/>
          <a:p>
            <a:r>
              <a:t>Ответ будет настоящим — дословная реплика Telegram про границу размера, на экране. Предсказание «дойдёт» опирается на верное наблюдение: файл прошёл предел инструмента, в котором собрана вся цепочка, а обычно этого хватает. Предсказание «не дойдёт» верно по той причине, которую и стоит унести: пределов здесь два, они принадлежат разным системам и не обязаны совпадать, а дешёвая проверка обязана знать меньший из них.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 не четыре равноправных ответа: разбираем их по двум требованиям, названным в постановке, механическому и смысловому.</a:t>
            </a:r>
          </a:p>
          <a:p/>
          <a:p>
            <a:r>
              <a:t>Первая и вторая карточки — проверить размер и формат, проверить, что файл открывается без ошибок, — обе закрывают механическое требование: у файла есть численные и перечислимые свойства, и программа сравнит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добавит.</a:t>
            </a:r>
          </a:p>
          <a:p/>
          <a:p>
            <a:r>
              <a:t>Третья карточка — проверить, что на картинке то, что нужно показать, — закрывает смысловое требование, и здесь честный ответ другой: такого шага в нашей цепочке сегодня нет. Оценить, что на картинке, в принципе способна только модель с распознаванием изображений, и этот уровень не покрыт вовсе.</a:t>
            </a:r>
          </a:p>
          <a:p/>
          <a:p>
            <a:r>
              <a:t>Четвёртая карточка — ничего не проверять — не закрывает ни одно из двух требований, и это ровно то, что произошло в сцене кейса: прогон зелёный, узел отправки получил положительный ответ, а результат у получателя не совпал с ожиданием.</a:t>
            </a:r>
          </a:p>
          <a:p/>
          <a:p>
            <a:r>
              <a:t>Отдельный пример, почему эти два требования нельзя подменить друг другом. Технически исправный файл — правильный размер, правильный формат — всё равно может показывать не то, что нужно. Скажем, узел получения картинки по ссылке получил вместо картинки страницу ошибки хостинга: формат и размер такой страницы механическую проверку пройдут, а содержимое окажется совсем не тем. Тот же урок мы уже видели в «Уведомлениях» и в Zillow, здесь он перенесён на картинку: механическое требование к файлу — задача кода, требование к содержимому — задача для модели, а не отсутствие задачи вовсе.</a:t>
            </a:r>
          </a:p>
          <a:p/>
          <a:p>
            <a:r>
              <a:t>Первая и вторая строки таблицы — один и тот же класс, закрытый сегодня. Третья — класс названный, но не закрытый: дальше посмотрим архитектуру, которая его хотя бы предусматривает, а потом честно собранную цепочку, где его пока нет.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только что сделанный разбор.</a:t>
            </a:r>
          </a:p>
          <a:p/>
          <a:p>
            <a:r>
              <a:t>Два класса требований с предыдущего экрана становятся на схеме двумя отдельными стрелками. Слева — механическое: у файла есть размер, формат, разрешение, и все три свойства проверяются программно, тем же приёмом, которым мы в «Одобрении возврата» сравнивали сумму с порогом. Проверка идёт до отправки, не после: файл либо проходит условие, либо цепочка останавливает его раньше, чем он уйдёт в Telegram.</a:t>
            </a:r>
          </a:p>
          <a:p/>
          <a:p>
            <a:r>
              <a:t>Справа — смысловое: показывает ли картинка то, что нужно. Узла под эту стрелку в нашей сегодняшней цепочке нет, и мы показываем это пробелом, а не фиктивным блоком. Оценить содержимое изображения в принципе способна только модель с распознаванием изображений, и её сегодня в цепочке нет.</a:t>
            </a:r>
          </a:p>
          <a:p/>
          <a:p>
            <a:r>
              <a:t>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он пропустит файл правильного размера и формата, даже если внутри не то изображение. И наоборот: модель, умеющая оценивать содержимое, — избыточный и дорогой инструмент для вопроса «не превышен ли лимит в байтах», который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Форму этой схемы стоит удержать в голове: сегодня мы видели её уже дважды. В «Уведомлениях» разводили шаг, который сочиняет текст, и шаг, который подставляет значения; в «Одобрении возврата» — текстовое правило и условие над числом. Здесь то же разведение применено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открывать панели настройки — один кадр шире, чтобы увидеть, откуда эти три узла берутся на холсте.</a:t>
            </a:r>
          </a:p>
          <a:p/>
          <a:p>
            <a:r>
              <a:t>Это настоящий канвас живого стенда, тот же воркфлоу, что и на следующем экране, только в кадре чуть больше контекста. Слева </a:t>
            </a:r>
            <a:r>
              <a:rPr>
                <a:latin typeface="Consolas"/>
              </a:rPr>
              <a:t>Write row</a:t>
            </a:r>
            <a:r>
              <a:t> — узел, который записывает заявку в таблицу, и </a:t>
            </a:r>
            <a:r>
              <a:rPr>
                <a:latin typeface="Consolas"/>
              </a:rPr>
              <a:t>Result screen</a:t>
            </a:r>
            <a:r>
              <a:t> — экран, которым обычная форма заканчивается. Тот же путь приёма заявки, что мы уже видели на холсте Кейса 1: форма, извлечение полей, проверка по словарю тем, запись строки. Заново он здесь не разбирается — просто виден слева, потому что эта часть процесса не изменилась.</a:t>
            </a:r>
          </a:p>
          <a:p/>
          <a:p>
            <a:r>
              <a:t>А изменившееся видно на самой стрелке. От той же точки, сразу после </a:t>
            </a:r>
            <a:r>
              <a:rPr>
                <a:latin typeface="Consolas"/>
              </a:rPr>
              <a:t>Write row</a:t>
            </a:r>
            <a:r>
              <a:t>, уходит вторая стрелка — вверх, к узлу </a:t>
            </a:r>
            <a:r>
              <a:rPr>
                <a:latin typeface="Consolas"/>
              </a:rPr>
              <a:t>Compose notification (template)</a:t>
            </a:r>
            <a:r>
              <a:t>. Раньше, в Кейсе 1, из этой точки получатель видел только текстовое сообщение. Теперь к тому же месту процесса пристроена новая ветка: </a:t>
            </a:r>
            <a:r>
              <a:rPr>
                <a:latin typeface="Consolas"/>
              </a:rPr>
              <a:t>Compose notification (template)</a:t>
            </a:r>
            <a:r>
              <a:t> → </a:t>
            </a:r>
            <a:r>
              <a:rPr>
                <a:latin typeface="Consolas"/>
              </a:rPr>
              <a:t>Fetch card image (HTTP)</a:t>
            </a:r>
            <a:r>
              <a:t> → </a:t>
            </a:r>
            <a:r>
              <a:rPr>
                <a:latin typeface="Consolas"/>
              </a:rPr>
              <a:t>Send card (Telegram photo)</a:t>
            </a:r>
            <a:r>
              <a:t> — три узла, которые мы разберём по одному на следующих экранах. Это и есть честный ответ на вопрос «где в настоящем процессе появляется кейс 4»: веткой из уже существующей точки, не рядом и не вместо.</a:t>
            </a:r>
          </a:p>
          <a:p/>
          <a:p>
            <a:r>
              <a:t>И честно про то, что осталось за кадром. Правее по той же обвязке есть ещё одна ветка, на случай если модель не смогла разобрать заявку, — тоже настоящая, тоже часть этого воркфлоу, но она про приём заявки, а не про сборку и отправку карточки, и сегодня не в фокусе. Канвас не заканчивается там, где заканчивается кадр: он продолжается, только не в сторону нашего разбора.</a:t>
            </a:r>
          </a:p>
          <a:p/>
          <a:p>
            <a:r>
              <a:t>Теперь, когда видно, откуда растут эти три узла, — кадр ближе: та же цепочка, но с настоящей проверкой границы размера, которая и привела нас в этот кейс.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тремя конкретными узлами, и настоящая проверка той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Теперь о том, чего в этой цепочке нет. Модель не появляется ни на одном из трёх шагов, и отдельного узла проверки размера или формата здесь тоже нет: правило первого слоя живёт пока на уровне архитектуры, не внутри узла, — и мы это показываем, а не маскируем.</a:t>
            </a:r>
          </a:p>
          <a:p/>
          <a:p>
            <a:r>
              <a:t>Поэтому границу проверили настоящим вызовом.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и размер, и предел: явная, читаемая ошибка, а не тишина. И это уточняет то, что мы видели в сцене кейса — там карточка пропадала тихо, потому что проблема на границе n8n чаще так и выглядит, а сам Telegram на своей границе отвечает явным текстом. Проверка размера внутри цепочки не вправе рассчитывать, что хоть одна из двух сторон честно сообщит об ошибке.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узла цепочки изнутри — настройка каждого, открытая на живом стенде.</a:t>
            </a:r>
          </a:p>
          <a:p/>
          <a:p>
            <a:r>
              <a:t>Левая панель — </a:t>
            </a:r>
            <a:r>
              <a:rPr>
                <a:latin typeface="Consolas"/>
              </a:rPr>
              <a:t>Compose notification (template)</a:t>
            </a:r>
            <a:r>
              <a:t>, первый шаг. На прошлом экране прозвучало, что он собирает текст тем же приёмом подстановки значений, что мы настраивали в кейсе «Уведомления». На слово это принимать не надо: в поле </a:t>
            </a:r>
            <a:r>
              <a:rPr>
                <a:latin typeface="Consolas"/>
              </a:rPr>
              <a:t>notification_text</a:t>
            </a:r>
            <a:r>
              <a:t> стоит ровно то же выражение, что уже было на экране в Кейсе 1. Разбирать его заново смысла нет — разобрали там. А вот увидеть, что узел буквально тот же, а не переписанный с нуля под новую задачу, стоило прямо здесь.</a:t>
            </a:r>
          </a:p>
          <a:p/>
          <a:p>
            <a:r>
              <a:t>Средняя панель — </a:t>
            </a:r>
            <a:r>
              <a:rPr>
                <a:latin typeface="Consolas"/>
              </a:rPr>
              <a:t>Fetch card image (HTTP)</a:t>
            </a:r>
            <a:r>
              <a:t>. Метод запроса GET, адрес виден буквально: </a:t>
            </a:r>
            <a:r>
              <a:rPr>
                <a:latin typeface="Consolas"/>
              </a:rPr>
              <a:t>picsum.photos</a:t>
            </a:r>
            <a:r>
              <a:t> с размером восемьсот на четыреста пятьдесят — настоящий публичный сервис тестовых картинок, не выдуманный для примера. Ниже на той же панели, уже за границей кадра, стоят четыре выключенных переключателя — аутентификация, параметры запроса, заголовки, тело, — их никто не трогал. А следующая за ними настройка решает многое: формат ответа указан как </a:t>
            </a:r>
            <a:r>
              <a:rPr>
                <a:latin typeface="Consolas"/>
              </a:rPr>
              <a:t>File</a:t>
            </a:r>
            <a:r>
              <a:t>, не как текст и не как JSON. С этого поля содержимое узла и становится двоичными данными — вот вся разница между «скачать картинку» и «скачать текст, в котором случайно оказалась ссылка на картинку». Имя поля, куда узел кладёт эти данные, — </a:t>
            </a:r>
            <a:r>
              <a:rPr>
                <a:latin typeface="Consolas"/>
              </a:rPr>
              <a:t>data</a:t>
            </a:r>
            <a:r>
              <a:t>.</a:t>
            </a:r>
          </a:p>
          <a:p/>
          <a:p>
            <a:r>
              <a:t>Правая панель — </a:t>
            </a:r>
            <a:r>
              <a:rPr>
                <a:latin typeface="Consolas"/>
              </a:rPr>
              <a:t>Send card (Telegram photo)</a:t>
            </a:r>
            <a:r>
              <a:t>. Выбрана операция отправки фотографии, а не текстового сообщения: в Telegram это два разных вызова, и узел, настроенный на текст, картинку просто не возьмёт. За границей кадра на той же панели — учётные данные бота, числовой адресат, включённый переключатель двоичного файла с именем входного поля </a:t>
            </a:r>
            <a:r>
              <a:rPr>
                <a:latin typeface="Consolas"/>
              </a:rPr>
              <a:t>data</a:t>
            </a:r>
            <a:r>
              <a:t> (то самое имя, которое задал предыдущий узел) и подпись к фотографии, взятая из выражения первого узла цепочки.</a:t>
            </a:r>
          </a:p>
          <a:p/>
          <a:p>
            <a:r>
              <a:t>Задержитесь на имени поля. Эти три узла соединены не только стрелкой на холсте: средний кладёт двоичные данные в поле с именем </a:t>
            </a:r>
            <a:r>
              <a:rPr>
                <a:latin typeface="Consolas"/>
              </a:rPr>
              <a:t>data</a:t>
            </a:r>
            <a:r>
              <a:t>, правый там же их и ищет. Поменяйте имя в одном месте и не поменяйте в другом — стрелка на холсте останется, а картинка исчезнет. Вот первый вид связи, которого в цепочке не видно глазами.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что мы собрали на предыдущем экране — и что просил маркетинг в начале кейса.</a:t>
            </a:r>
          </a:p>
          <a:p/>
          <a:p>
            <a:r>
              <a:t>Маркетинг попросил карточку: текст поверх картинки, в одном изображении. А цепочка, которую мы настроили, делает другое: забирает готовую картинку по ссылке и кладёт текст уведомления подписью к ней, отдельным текстовым полем сообщения Telegram. Это работает, Telegram покажет текст рядом с фотографией — но не внутри изображения, а «карточка с текстом поверх картинки» значит именно внутри. Эту разницу молчанием не стирают.</a:t>
            </a:r>
          </a:p>
          <a:p/>
          <a:p>
            <a:r>
              <a:t>Чтобы получить настоящую карточку — изображение, в котором текст физически встроен в пиксели, — нужен отдельный шаг. Обычный узел «забрать файл по ссылке» тут не годится: он умеет скачивать готовую картинку, а не рисовать на ней. Нужна специализированная генерирующая модель: на вход — текст уведомления и задача «сделай из этого текста читаемое изображение», на выход — готовый файл с текстом уже внутри.</a:t>
            </a:r>
          </a:p>
          <a:p/>
          <a:p>
            <a:r>
              <a:t>Цена у этого шага есть, и не нулевая. Для ориентира взята публичная стоимость сопоставимой модели — gpt-image-1.5 от OpenAI: одна картинка 1024 на 1024 точки обходится от неполного цента на низком качестве до 13 центов на высоком, смотря какую точность и детализацию выбрать. Короткому текстовому уведомлению на карточке высшая точность вряд ли нужна — разумный ориентир здесь порядка трёх с половиной центов за картинку, среднее качество. Это не измерение на нашем стенде, такого шага на стенде нет: это честная оценка по чужому, но свежему и проверяемому прайсу.</a:t>
            </a:r>
          </a:p>
          <a:p/>
          <a:p>
            <a:r>
              <a:t>Три с половиной цента за карточку сами по себе ни о чём не говорят, пока не привязаны к объёму, — а сцена этого кейса частоту рассылки не называет. Выдумывать объём из воздуха не станем: карточка заменяет уведомление о каждой новой заявке, а этот поток известен из Кейса 1 — двадцать заявок в день. Если на карточки переходит весь поток, выходит около шестисот карточек в месяц и около двадцати долларов в месяц. Это иллюстративный пример расчёта, не измеренный объём: ни частота рассылки, ни полный переход на карточки в сцене явно не зафиксированы. Зато с базой видно: для учебного центра это не та цена, из-за которой отказываются от решения, и не ноль, который можно не считать вовсе.</a:t>
            </a:r>
          </a:p>
          <a:p/>
          <a:p>
            <a:r>
              <a:t>И последнее, что надо знать заранее, даже не собирая этот шаг: генерирующие модели обычно отдают файл большого стандартного размера, сжатый не слишком сильно. Значит, готовую карточку нельзя отправлять в Telegram как есть — её перекодируют в более лёгкий формат заранее, той же логикой, что мы видели на предыдущем экране с лимитом в 10 485 760 байт на фото. Генерация не отменяет проверку размера — она добавляет её ещё раз, на новом месте цепочки.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про сжатие, назовём порядок, в котором эти два шага должны идти. Порядок здесь не произвольный.</a:t>
            </a:r>
          </a:p>
          <a:p/>
          <a:p>
            <a:r>
              <a:t>Механическая проверка идёт первой. Она дешёвая, быстрая и детерминированная: сравнила размер, формат и разрешение с условием — и либо пропустила файл дальше, либо отклонила его сразу, прежде чем он добрался до чего-то более дорогого. Модель проверки содержимого идёт второй, и только на то, что прошло первую: дорогой вызов модели на файле, который и так не пройдёт по формату, — пустая трата. Это та же экономия, которую мы видели на Кейсе 2: дешёвый механический шаг забирает на себя основную часть работы, а дорогой инструмент достаётся только тому, что действительно нуждается в его оценке.</a:t>
            </a:r>
          </a:p>
          <a:p/>
          <a:p>
            <a:r>
              <a:t>Теперь вопрос, который прямо просили исследовать, а не предположить: стоит ли сжимать картинку перед отправкой в модель-проверяющую. Ответ по общедоступным источникам, не измерение на нашем стенде: умеренное сжатие обычно выгодно и точность заметно не портит. Пример, который приводится в этих источниках: изображение 4032 на 3024 точки без сжатия обходится моделям примерно в полторы тысячи токенов обработки; то же изображение, уменьшенное до 720 на 540 при качестве JPEG 85, — примерно в 300 токенов, то есть впятеро дешевле, и для большинства задач это почти не сказывается на точности.</a:t>
            </a:r>
          </a:p>
          <a:p/>
          <a:p>
            <a:r>
              <a:t>Но есть оговорка, и отбрасывать её молча нельзя. Задачи, где модель должна прочитать текст на изображении — а наша карточка такая, на ней читаемый текст, — от сжатия портятся заметнее прочих. Общая рекомендация — сжимать аккуратно, не опускаясь ниже примерно 1024 точек по большей стороне, если модель должна разобрать текст или цифры на карточке. Сильное сжатие ради лишней экономии здесь не оправдано: ошибка распознавания стоит дороже лишних токенов.</a:t>
            </a:r>
          </a:p>
          <a:p/>
          <a:p>
            <a:r>
              <a:t>В таблице это разложено тремя вариантами действия, а не одним правильным ответом: без сжатия, умеренное и сильное — у каждого своя цена и свой риск. Выбор зависит от того, должна ли модель читать текст на карточке или достаточно оценить картинку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обобщению кейса — на секунду с другой стороны, глазами координатора, который открывает Telegram.</a:t>
            </a:r>
          </a:p>
          <a:p/>
          <a:p>
            <a:r>
              <a:t>Когда файл укладывается в лимит — а мы только что измерили этот лимит настоящим вызовом API, — координатор не видит ни журнала прогона, ни узла отправки, ни числа байт. Он открывает тот же самый чат уведомлений учебного центра, где и раньше получал текстовые сообщения о новых заявках, в кейсе «Уведомления», и видит в нём фотографию с подписью: «Новая заявка от Марии: тема «курс», также упомянуто: оплата.»</a:t>
            </a:r>
          </a:p>
          <a:p/>
          <a:p>
            <a:r>
              <a:t>Эта подпись — не новый текст, придуманный для карточки. Тот же текст, который мы видели в первом кейсе занятия, собранный той же формулой подстановки значений из полей заявки. Изменилось одно: теперь он идёт не отдельным сообщением, а подписью к фотографии в том же уведомлении, — ровно то расширение, которое маркетинг попросил в сцене этого кейса.</a:t>
            </a:r>
          </a:p>
          <a:p/>
          <a:p>
            <a:r>
              <a:t>А вот чего на этом экране нет. Нет имени узла, который собрал текст или забрал картинку по ссылке. Нет числа байт и слова «лимит» — чтобы понять «заявка пришла», координатору не нужно знать, где проходит граница. Нет журнала прогона и отметки, что всё «зелёное». Это та же граница, о которой курс говорит с самого начала: служебные детали живут в наших разборах и в документации производства, а на экране реального человека — только то, что ему нужно знать, чтобы понять, что происходит.</a:t>
            </a:r>
          </a:p>
          <a:p/>
          <a:p>
            <a:r>
              <a:t>И это обратная сторона той сцены, с которой кейс начался. Там прогон был зелёным, а у координатора в чате пусто — либо обрезанный файл. Здесь прогон тоже зелёный, но координатор видит целую карточку: на этот раз файл уложился в измеренную границу. Разница между двумя этими состояниями не видна ни в журнале n8n, ни в ответе Telegram API сама по себе — она видна только здесь, в самом чате получателя, и только по одному признаку: дошла картинка целиком или нет.</a:t>
            </a:r>
          </a:p>
          <a:p/>
          <a:p>
            <a:r>
              <a:t>Ради этого и стоило мерить число байт так точно, как мы мерили его на предыдущих экранах: границу размера мерят затем, чтобы координатор каждый раз видел такой чат, а не пустое место вместо карточки.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а не ещё одно значение в заявке. У текстового поля есть содержимое. У файла — содержимое, размер и формат, и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причине: формально успешный прогон ничего не говорит о том, дошёл ли результат до получателя в ожидаемом виде. Один урок на двух разных типах данных внутри одного занятия, и совпадением это не назвать: успех шага измеряет сам шаг, а не то, что произошло дальше.</a:t>
            </a:r>
          </a:p>
          <a:p/>
          <a:p>
            <a:r>
              <a:t>Теперь явная граница, за которую этот кейс сознательно не заходит. Бинарные данные мы ввели на уровне «один файл, один известный лимит, одна отправка»: получить файл, проверить размер и формат, отправить. Хранить множество файлов, искать среди них, отдавать их содержимое модели — векторное хранилище, поиск по изображениям, ответы по содержимому картинок — задача следующего уровня, и здесь мы её намеренно не трогаем.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Два уровня различает не сложность инструмента, а сам задаваемый вопрос. Сегодня вопрос был «дойдёт ли этот файл в этом прогоне» — и ответ на него известен заранее целиком,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так и выглядел файл в нашей сцене.</a:t>
            </a:r>
          </a:p>
          <a:p/>
          <a:p>
            <a:r>
              <a:t>Второй. Лимиты Telegram — отдельный, более узкий потолок, и они разные для фото и для документа. Прошедшее мимо лимита n8n может всё равно не пройти мимо лимита канала доставки: пороги независимы, их два, и проверка одного не освобождает от проверки другого. В нашей сцене они разошлись ровно так: шестнадцать мегабайт у самого n8n против десяти с небольшим у отправки фотографии — файл на двенадцать с лишним мегабайт прошёл первый порог и не прошёл второй.</a:t>
            </a:r>
          </a:p>
          <a:p/>
          <a:p>
            <a:r>
              <a:t>Третий. Ручной прогон с бинарными данными съедает заметно больше памяти, чем автоматический. На текстовых данных мы это видели ещё в прошлом занятии, но на файле разница ощутимее — держите это в уме, если отлаживаете такой узел вживую на своём стенде.</a:t>
            </a:r>
          </a:p>
          <a:p/>
          <a:p>
            <a:r>
              <a:t>Критерий. Заботиться о бинарных данных как об отдельном контракте нужно всегда, когда по цепочке идёт файл или изображение, а не только текстовые поля: проверить размер перед отправкой и знать лимит канала доставки — базовый уровень, без исключений по типу задачи. Сверх этого занятие не требует ничего — ни в деке, ни в вашем процессе дома: хранить много файлов, искать среди них, отдавать их содержимое модели —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заполнили её экраны, которые мы только что видели, а не мои слова.</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настоящем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стояло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условие в коде, на том же эксперименте не ошибся ни разу. А дальше мы увидели ту же форму пропуска на масштабе целой компании: Zillow потеряла четверть штата и сотни миллионов долларов на том же пороге без гейта,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прошла сегодня по каждому шагу цепочки отдельно, а не по одному узлу.</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меняет то,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буквальные повторы отсекаются дёшево и мгновенно, а на остальное идёт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надеется,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вышло плотнее прошлого: не проверяйте все четыре решения за один вечер. Возьмите одно, ближе к вашей работе, и доведите до того, чтобы объяснить коллеге, почему оно устроено именно так.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а путь для любой заявки оставался один: одна и та же последовательность шагов, про что бы заявка ни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выделена отдельным полем ещё с прошлого занятия, и как только она выделена, видно: заявка про оплату и заявка про перенос занятия должны идти дальше по-разному — одна к бухгалтеру, другая в расписание. Одной дорогой это не делается.</a:t>
            </a:r>
          </a:p>
          <a:p/>
          <a:p>
            <a:r>
              <a:t>На схеме это две строки. Верхняя, бледная, — сегодняшний день: любая заявка, одна цепочка, один выход. Нижняя — то, чего в цепочке пока нет: заявка приходит на развилку, развилка смотрит на тему и выбирает, куда её отправить. Две ветки там названы, а третья нарисована пунктиром — это вход, который не подошёл ни под одну названную ветку. Пунктирная она не от поломки: её никто не выбирал. Она появляется сама, и чаще всего про неё вспоминают, когда по ней уже что-то ушло.</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у инструмента на этот случай есть ответ по умолчанию, и он не всегда тот, что вы ожидаете. И одно скажу заранее, чтобы вы не поверили в обратное сами: ветки, которые на холсте выглядят параллельными,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436239"/>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51560" y="4090035"/>
            <a:ext cx="10058400" cy="941070"/>
          </a:xfrm>
          <a:prstGeom prst="rect">
            <a:avLst/>
          </a:prstGeom>
          <a:noFill/>
        </p:spPr>
        <p:txBody>
          <a:bodyPr wrap="square" lIns="0" rIns="0" tIns="0" bIns="0" anchor="t">
            <a:spAutoFit/>
          </a:bodyPr>
          <a:lstStyle/>
          <a:p>
            <a:pPr algn="ctr">
              <a:lnSpc>
                <a:spcPts val="2470"/>
              </a:lnSpc>
              <a:spcAft>
                <a:spcPts val="400"/>
              </a:spcAft>
            </a:pPr>
            <a:r>
              <a:rPr sz="1900" b="1" i="0">
                <a:solidFill>
                  <a:srgbClr val="FFFFFF"/>
                </a:solidFill>
                <a:latin typeface="Arial"/>
              </a:rPr>
              <a:t>Автоматика отчиталась: всё отправлено. Человек не получил ничего. Сегодня это случится на экране четыре раза — и каждый раз по разной причине.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obzor-klassifikatsii.png"/>
          <p:cNvPicPr>
            <a:picLocks noChangeAspect="1"/>
          </p:cNvPicPr>
          <p:nvPr/>
        </p:nvPicPr>
        <p:blipFill>
          <a:blip r:embed="rId2"/>
          <a:stretch>
            <a:fillRect/>
          </a:stretch>
        </p:blipFill>
        <p:spPr>
          <a:xfrm>
            <a:off x="928602" y="1051560"/>
            <a:ext cx="10331747"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настоящий холст n8n, а не схема. У нас есть процесс по классификации входящих обращений — шесть узлов, тот же порядок, те же имена, что и в конце прошлого занятия.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происходят внутри одной и той же ступени: к цепочке добавляют новые шаги, а выше она не поднимается.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закрывается по одной строке — сразу после того кейса, который её закрывает. И каждую строку впишет экран, не мой рассказ.</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Экран результата и многотемная заявка</a:t>
            </a:r>
          </a:p>
        </p:txBody>
      </p:sp>
      <p:pic>
        <p:nvPicPr>
          <p:cNvPr id="3" name="Picture 2" descr="k1-stend-s7-tsepochka-real.png"/>
          <p:cNvPicPr>
            <a:picLocks noChangeAspect="1"/>
          </p:cNvPicPr>
          <p:nvPr/>
        </p:nvPicPr>
        <p:blipFill>
          <a:blip r:embed="rId2"/>
          <a:stretch>
            <a:fillRect/>
          </a:stretch>
        </p:blipFill>
        <p:spPr>
          <a:xfrm>
            <a:off x="502920" y="1064838"/>
            <a:ext cx="11183112" cy="2246607"/>
          </a:xfrm>
          <a:prstGeom prst="rect">
            <a:avLst/>
          </a:prstGeom>
        </p:spPr>
      </p:pic>
      <p:sp>
        <p:nvSpPr>
          <p:cNvPr id="4" name="Rounded Rectangle 3"/>
          <p:cNvSpPr/>
          <p:nvPr/>
        </p:nvSpPr>
        <p:spPr>
          <a:xfrm>
            <a:off x="502920" y="3779744"/>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3968593"/>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20 заявок</a:t>
            </a:r>
          </a:p>
        </p:txBody>
      </p:sp>
      <p:sp>
        <p:nvSpPr>
          <p:cNvPr id="6" name="TextBox 5"/>
          <p:cNvSpPr txBox="1"/>
          <p:nvPr/>
        </p:nvSpPr>
        <p:spPr>
          <a:xfrm>
            <a:off x="630936" y="4526377"/>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в день — и почти все про одну тему</a:t>
            </a:r>
          </a:p>
        </p:txBody>
      </p:sp>
      <p:sp>
        <p:nvSpPr>
          <p:cNvPr id="7" name="Rounded Rectangle 6"/>
          <p:cNvSpPr/>
          <p:nvPr/>
        </p:nvSpPr>
        <p:spPr>
          <a:xfrm>
            <a:off x="6195059" y="3779744"/>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23075" y="3968593"/>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несколько часов</a:t>
            </a:r>
          </a:p>
        </p:txBody>
      </p:sp>
      <p:sp>
        <p:nvSpPr>
          <p:cNvPr id="9" name="TextBox 8"/>
          <p:cNvSpPr txBox="1"/>
          <p:nvPr/>
        </p:nvSpPr>
        <p:spPr>
          <a:xfrm>
            <a:off x="6323075" y="4526377"/>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столько многотемная заявка лежит в таблице, пока её никто не читает</a:t>
            </a:r>
          </a:p>
        </p:txBody>
      </p:sp>
      <p:sp>
        <p:nvSpPr>
          <p:cNvPr id="10" name="Rectangle 9"/>
          <p:cNvSpPr/>
          <p:nvPr/>
        </p:nvSpPr>
        <p:spPr>
          <a:xfrm>
            <a:off x="502920" y="558306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63793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Ольга: «Пришлите мне в Telegram одну строку на каждую такую заявку — кто написал, по какой теме и что ещё упомянул, — чтобы не идти проверять экран результата из-за одной многотемной заявки среди двадцати обычных.»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1159510"/>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348359"/>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3 значения</a:t>
            </a:r>
          </a:p>
        </p:txBody>
      </p:sp>
      <p:sp>
        <p:nvSpPr>
          <p:cNvPr id="5" name="TextBox 4"/>
          <p:cNvSpPr txBox="1"/>
          <p:nvPr/>
        </p:nvSpPr>
        <p:spPr>
          <a:xfrm>
            <a:off x="630936" y="1906143"/>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уже извлечены на прошлом занятии: имя · тема · дополнительные темы</a:t>
            </a:r>
          </a:p>
        </p:txBody>
      </p:sp>
      <p:sp>
        <p:nvSpPr>
          <p:cNvPr id="6" name="Rounded Rectangle 5"/>
          <p:cNvSpPr/>
          <p:nvPr/>
        </p:nvSpPr>
        <p:spPr>
          <a:xfrm>
            <a:off x="6195059" y="1159510"/>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3075" y="1348359"/>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1 строка</a:t>
            </a:r>
          </a:p>
        </p:txBody>
      </p:sp>
      <p:sp>
        <p:nvSpPr>
          <p:cNvPr id="8" name="TextBox 7"/>
          <p:cNvSpPr txBox="1"/>
          <p:nvPr/>
        </p:nvSpPr>
        <p:spPr>
          <a:xfrm>
            <a:off x="6323075" y="1906143"/>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столько Ольга просила на каждую такую заявку</a:t>
            </a:r>
          </a:p>
        </p:txBody>
      </p:sp>
      <p:sp>
        <p:nvSpPr>
          <p:cNvPr id="9" name="Rounded Rectangle 8"/>
          <p:cNvSpPr/>
          <p:nvPr/>
        </p:nvSpPr>
        <p:spPr>
          <a:xfrm>
            <a:off x="502920" y="305485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18287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11" name="Rounded Rectangle 10"/>
          <p:cNvSpPr/>
          <p:nvPr/>
        </p:nvSpPr>
        <p:spPr>
          <a:xfrm>
            <a:off x="502920"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13" name="Rounded Rectangle 12"/>
          <p:cNvSpPr/>
          <p:nvPr/>
        </p:nvSpPr>
        <p:spPr>
          <a:xfrm>
            <a:off x="3335274"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45002"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15" name="Rounded Rectangle 14"/>
          <p:cNvSpPr/>
          <p:nvPr/>
        </p:nvSpPr>
        <p:spPr>
          <a:xfrm>
            <a:off x="6167628"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77356"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7" name="Rounded Rectangle 16"/>
          <p:cNvSpPr/>
          <p:nvPr/>
        </p:nvSpPr>
        <p:spPr>
          <a:xfrm>
            <a:off x="8999982"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9710"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1041069"/>
            <a:ext cx="11183112" cy="5140007"/>
          </a:xfrm>
          <a:prstGeom prst="roundRect">
            <a:avLst>
              <a:gd name="adj" fmla="val 59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23949"/>
            <a:ext cx="13408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72960" y="1223949"/>
            <a:ext cx="29080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227300" y="1223949"/>
            <a:ext cx="2188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562435" y="1223949"/>
            <a:ext cx="37944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506016"/>
            <a:ext cx="1340856"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9" name="TextBox 8"/>
          <p:cNvSpPr txBox="1"/>
          <p:nvPr/>
        </p:nvSpPr>
        <p:spPr>
          <a:xfrm>
            <a:off x="2172960" y="1506016"/>
            <a:ext cx="290803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получает три уже извлечённых значения и сочиняет текст уведомления свободно, без заданной формы</a:t>
            </a:r>
          </a:p>
        </p:txBody>
      </p:sp>
      <p:sp>
        <p:nvSpPr>
          <p:cNvPr id="10" name="TextBox 9"/>
          <p:cNvSpPr txBox="1"/>
          <p:nvPr/>
        </p:nvSpPr>
        <p:spPr>
          <a:xfrm>
            <a:off x="5227300" y="1506016"/>
            <a:ext cx="218883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звучит живо — модель умеет писать по-человечески</a:t>
            </a:r>
          </a:p>
        </p:txBody>
      </p:sp>
      <p:sp>
        <p:nvSpPr>
          <p:cNvPr id="11" name="TextBox 10"/>
          <p:cNvSpPr txBox="1"/>
          <p:nvPr/>
        </p:nvSpPr>
        <p:spPr>
          <a:xfrm>
            <a:off x="7562435" y="1506016"/>
            <a:ext cx="37944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значения уже извлечены, интерпретировать нечего; а текст собирается заново на каждом прогоне, с риском вписать деталь, которой в заявке не было</a:t>
            </a:r>
          </a:p>
        </p:txBody>
      </p:sp>
      <p:cxnSp>
        <p:nvCxnSpPr>
          <p:cNvPr id="12" name="Connector 11"/>
          <p:cNvCxnSpPr/>
          <p:nvPr/>
        </p:nvCxnSpPr>
        <p:spPr>
          <a:xfrm>
            <a:off x="685800" y="24008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00858"/>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4" name="TextBox 13"/>
          <p:cNvSpPr txBox="1"/>
          <p:nvPr/>
        </p:nvSpPr>
        <p:spPr>
          <a:xfrm>
            <a:off x="2172960" y="2400858"/>
            <a:ext cx="2908036"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подставляет три уже структурированных значения в один раз заданный шаблон текста, без обращения к модели</a:t>
            </a:r>
          </a:p>
        </p:txBody>
      </p:sp>
      <p:sp>
        <p:nvSpPr>
          <p:cNvPr id="15" name="TextBox 14"/>
          <p:cNvSpPr txBox="1"/>
          <p:nvPr/>
        </p:nvSpPr>
        <p:spPr>
          <a:xfrm>
            <a:off x="5227300" y="2400858"/>
            <a:ext cx="2188830"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 детерминированный: совпадает с заданным примером текста на любой заявке, не только на удачной</a:t>
            </a:r>
          </a:p>
        </p:txBody>
      </p:sp>
      <p:sp>
        <p:nvSpPr>
          <p:cNvPr id="16" name="TextBox 15"/>
          <p:cNvSpPr txBox="1"/>
          <p:nvPr/>
        </p:nvSpPr>
        <p:spPr>
          <a:xfrm>
            <a:off x="7562435" y="2400858"/>
            <a:ext cx="379441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пространства для вариативности: если форме сообщения однажды понадобится меняться по смыслу, а не только по значениям, выражение придётся переписывать руками</a:t>
            </a:r>
          </a:p>
        </p:txBody>
      </p:sp>
      <p:cxnSp>
        <p:nvCxnSpPr>
          <p:cNvPr id="17" name="Connector 16"/>
          <p:cNvCxnSpPr/>
          <p:nvPr/>
        </p:nvCxnSpPr>
        <p:spPr>
          <a:xfrm>
            <a:off x="685800" y="36608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660825"/>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9" name="TextBox 18"/>
          <p:cNvSpPr txBox="1"/>
          <p:nvPr/>
        </p:nvSpPr>
        <p:spPr>
          <a:xfrm>
            <a:off x="2172960" y="3660825"/>
            <a:ext cx="2908036"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структурированные значения подставляются алгоритмом; то, что осталось неструктурированным и требует интерпретации текста заявки, отдельно передаётся модели</a:t>
            </a:r>
          </a:p>
        </p:txBody>
      </p:sp>
      <p:sp>
        <p:nvSpPr>
          <p:cNvPr id="20" name="TextBox 19"/>
          <p:cNvSpPr txBox="1"/>
          <p:nvPr/>
        </p:nvSpPr>
        <p:spPr>
          <a:xfrm>
            <a:off x="5227300" y="3660825"/>
            <a:ext cx="2188830"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честно при смешанном случае: когда хотя бы одно значение требует интерпретации, а не просто известно</a:t>
            </a:r>
          </a:p>
        </p:txBody>
      </p:sp>
      <p:sp>
        <p:nvSpPr>
          <p:cNvPr id="21" name="TextBox 20"/>
          <p:cNvSpPr txBox="1"/>
          <p:nvPr/>
        </p:nvSpPr>
        <p:spPr>
          <a:xfrm>
            <a:off x="7562435" y="3660825"/>
            <a:ext cx="379441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для этой конкретной потребности интерпретировать нечего: все три значения, включая срочность, уже извлечены структурно на прошлом занятии — модели здесь просто не находится работы</a:t>
            </a:r>
          </a:p>
        </p:txBody>
      </p:sp>
      <p:cxnSp>
        <p:nvCxnSpPr>
          <p:cNvPr id="22" name="Connector 21"/>
          <p:cNvCxnSpPr/>
          <p:nvPr/>
        </p:nvCxnSpPr>
        <p:spPr>
          <a:xfrm>
            <a:off x="685800" y="49207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20792"/>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4" name="TextBox 23"/>
          <p:cNvSpPr txBox="1"/>
          <p:nvPr/>
        </p:nvSpPr>
        <p:spPr>
          <a:xfrm>
            <a:off x="2172960" y="4920792"/>
            <a:ext cx="2908036"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алгоритмический костяк текста собирается подстановкой значений, модель добавляет сверху одну короткую фразу тона или комментария</a:t>
            </a:r>
          </a:p>
        </p:txBody>
      </p:sp>
      <p:sp>
        <p:nvSpPr>
          <p:cNvPr id="25" name="TextBox 24"/>
          <p:cNvSpPr txBox="1"/>
          <p:nvPr/>
        </p:nvSpPr>
        <p:spPr>
          <a:xfrm>
            <a:off x="5227300" y="4920792"/>
            <a:ext cx="2188830"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масштаб свободы меньше, чем у первого действия — риск и цена вызова модели пропорционально ниже</a:t>
            </a:r>
          </a:p>
        </p:txBody>
      </p:sp>
      <p:sp>
        <p:nvSpPr>
          <p:cNvPr id="26" name="TextBox 25"/>
          <p:cNvSpPr txBox="1"/>
          <p:nvPr/>
        </p:nvSpPr>
        <p:spPr>
          <a:xfrm>
            <a:off x="7562435" y="4920792"/>
            <a:ext cx="379441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риск той же природы, что у первого действия, просто меньшего размера: модель всё равно генерирует текст и может вписать в него деталь, которой не было</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один узел против другого</a:t>
            </a:r>
          </a:p>
        </p:txBody>
      </p:sp>
      <p:pic>
        <p:nvPicPr>
          <p:cNvPr id="3" name="Picture 2" descr="k1-shema-dve-versii.png"/>
          <p:cNvPicPr>
            <a:picLocks noChangeAspect="1"/>
          </p:cNvPicPr>
          <p:nvPr/>
        </p:nvPicPr>
        <p:blipFill>
          <a:blip r:embed="rId2"/>
          <a:stretch>
            <a:fillRect/>
          </a:stretch>
        </p:blipFill>
        <p:spPr>
          <a:xfrm>
            <a:off x="502920" y="1111041"/>
            <a:ext cx="11183112" cy="3634511"/>
          </a:xfrm>
          <a:prstGeom prst="rect">
            <a:avLst/>
          </a:prstGeom>
        </p:spPr>
      </p:pic>
      <p:sp>
        <p:nvSpPr>
          <p:cNvPr id="4" name="Rounded Rectangle 3"/>
          <p:cNvSpPr/>
          <p:nvPr/>
        </p:nvSpPr>
        <p:spPr>
          <a:xfrm>
            <a:off x="502920" y="53293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573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о форме текста принимается либо заново на каждой заявке, либо один раз заранее. Всё остальное — те же три узла в том же порядке.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с моделью на стенде: путь и настройка узла</a:t>
            </a:r>
          </a:p>
        </p:txBody>
      </p:sp>
      <p:pic>
        <p:nvPicPr>
          <p:cNvPr id="3" name="Picture 2" descr="k1-stend-versiya1-real.png"/>
          <p:cNvPicPr>
            <a:picLocks noChangeAspect="1"/>
          </p:cNvPicPr>
          <p:nvPr/>
        </p:nvPicPr>
        <p:blipFill>
          <a:blip r:embed="rId2"/>
          <a:stretch>
            <a:fillRect/>
          </a:stretch>
        </p:blipFill>
        <p:spPr>
          <a:xfrm>
            <a:off x="686534" y="943356"/>
            <a:ext cx="10815883"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сообщение выглядит у Ольги в телефоне</a:t>
            </a:r>
          </a:p>
        </p:txBody>
      </p:sp>
      <p:sp>
        <p:nvSpPr>
          <p:cNvPr id="3" name="Rounded Rectangle 2"/>
          <p:cNvSpPr/>
          <p:nvPr/>
        </p:nvSpPr>
        <p:spPr>
          <a:xfrm>
            <a:off x="502920" y="210769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3570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Новая заявка от Марии: тема «курс», также упомянуто: оплата.</a:t>
            </a:r>
          </a:p>
        </p:txBody>
      </p:sp>
      <p:sp>
        <p:nvSpPr>
          <p:cNvPr id="5" name="Rounded Rectangle 4"/>
          <p:cNvSpPr/>
          <p:nvPr/>
        </p:nvSpPr>
        <p:spPr>
          <a:xfrm>
            <a:off x="502920" y="38343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6239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Ровно то, что Ольга описала в прошлой сцене, слово в слово: кто написал, по какой теме и что упомянул ещё — одна строка, без необходимости открывать экран результата.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реально получилось на двух прогонах</a:t>
            </a:r>
          </a:p>
        </p:txBody>
      </p:sp>
      <p:sp>
        <p:nvSpPr>
          <p:cNvPr id="3" name="Rounded Rectangle 2"/>
          <p:cNvSpPr/>
          <p:nvPr/>
        </p:nvSpPr>
        <p:spPr>
          <a:xfrm>
            <a:off x="502920" y="1461871"/>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4751"/>
            <a:ext cx="23186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ТЕКСТ ЗАЯВКИ</a:t>
            </a:r>
          </a:p>
        </p:txBody>
      </p:sp>
      <p:sp>
        <p:nvSpPr>
          <p:cNvPr id="5" name="TextBox 4"/>
          <p:cNvSpPr txBox="1"/>
          <p:nvPr/>
        </p:nvSpPr>
        <p:spPr>
          <a:xfrm>
            <a:off x="3150716" y="1644751"/>
            <a:ext cx="8206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ПОЛУЧИЛОСЬ И ПОЧЕМУ</a:t>
            </a:r>
          </a:p>
        </p:txBody>
      </p:sp>
      <p:sp>
        <p:nvSpPr>
          <p:cNvPr id="6" name="TextBox 5"/>
          <p:cNvSpPr txBox="1"/>
          <p:nvPr/>
        </p:nvSpPr>
        <p:spPr>
          <a:xfrm>
            <a:off x="685800" y="1926818"/>
            <a:ext cx="23186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Мария: «хочу на курс по аналитике и ещё спросить про оплату, перезвоните сегодня»</a:t>
            </a:r>
          </a:p>
        </p:txBody>
      </p:sp>
      <p:sp>
        <p:nvSpPr>
          <p:cNvPr id="7" name="TextBox 6"/>
          <p:cNvSpPr txBox="1"/>
          <p:nvPr/>
        </p:nvSpPr>
        <p:spPr>
          <a:xfrm>
            <a:off x="3150716" y="1926818"/>
            <a:ext cx="820613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«Новая заявка от Марии: тема «курс», также упомянуто: оплата.» Текст свободный, но совпал по смыслу с целью — модели хватило инструкции и трёх значений, интерпретировать здесь было просто.</a:t>
            </a:r>
          </a:p>
        </p:txBody>
      </p:sp>
      <p:cxnSp>
        <p:nvCxnSpPr>
          <p:cNvPr id="8" name="Connector 7"/>
          <p:cNvCxnSpPr/>
          <p:nvPr/>
        </p:nvCxnSpPr>
        <p:spPr>
          <a:xfrm>
            <a:off x="685800" y="2821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21660"/>
            <a:ext cx="23186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Олег: «хочу перенести занятие на пятницу и спросить про оплату курса»</a:t>
            </a:r>
          </a:p>
        </p:txBody>
      </p:sp>
      <p:sp>
        <p:nvSpPr>
          <p:cNvPr id="10" name="TextBox 9"/>
          <p:cNvSpPr txBox="1"/>
          <p:nvPr/>
        </p:nvSpPr>
        <p:spPr>
          <a:xfrm>
            <a:off x="3150716" y="2821660"/>
            <a:ext cx="820613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«Привет, </a:t>
            </a:r>
            <a:r>
              <a:rPr sz="1250" b="1" i="0">
                <a:solidFill>
                  <a:srgbClr val="141B2E"/>
                </a:solidFill>
                <a:latin typeface="Arial"/>
              </a:rPr>
              <a:t>[Имя координатора]</a:t>
            </a:r>
            <a:r>
              <a:rPr sz="1250" b="0" i="0">
                <a:solidFill>
                  <a:srgbClr val="141B2E"/>
                </a:solidFill>
                <a:latin typeface="Arial"/>
              </a:rPr>
              <a:t>! У нас новая многотемная заявка от Олега по вопросу переноса занятия и об оплате.» Модель вписала в текст буквальный кусок собственного шаблона-инструкции — слова, адресованные ей самой, а не Ольге. Узел не упал, сообщение доставлено, статус зелёный: расхождение видно только по содержанию.</a:t>
            </a:r>
          </a:p>
        </p:txBody>
      </p:sp>
      <p:sp>
        <p:nvSpPr>
          <p:cNvPr id="11" name="Rounded Rectangle 10"/>
          <p:cNvSpPr/>
          <p:nvPr/>
        </p:nvSpPr>
        <p:spPr>
          <a:xfrm>
            <a:off x="502920" y="456689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69491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Проверка форматом этого не ловит.</a:t>
            </a:r>
            <a:r>
              <a:rPr sz="1500" b="1" i="0">
                <a:solidFill>
                  <a:srgbClr val="141B2E"/>
                </a:solidFill>
                <a:latin typeface="Arial"/>
              </a:rPr>
              <a:t> Оба прогона технически успешны: оба узла отработали, оба сообщения дошли. Единственный способ заметить разницу — прочитать сам текст, который получил живой человек.</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с шаблоном на стенде: путь и настройка узла</a:t>
            </a:r>
          </a:p>
        </p:txBody>
      </p:sp>
      <p:pic>
        <p:nvPicPr>
          <p:cNvPr id="3" name="Picture 2" descr="k1-stend-versiya2-real.png"/>
          <p:cNvPicPr>
            <a:picLocks noChangeAspect="1"/>
          </p:cNvPicPr>
          <p:nvPr/>
        </p:nvPicPr>
        <p:blipFill>
          <a:blip r:embed="rId2"/>
          <a:stretch>
            <a:fillRect/>
          </a:stretch>
        </p:blipFill>
        <p:spPr>
          <a:xfrm>
            <a:off x="686534" y="943356"/>
            <a:ext cx="10815883"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968501"/>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2336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05661"/>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Класс задачи — сборка сообщения из уже извлечённых значений по фиксированной форме.</a:t>
            </a:r>
            <a:r>
              <a:rPr sz="1350" b="0" i="0">
                <a:solidFill>
                  <a:srgbClr val="141B2E"/>
                </a:solidFill>
                <a:latin typeface="Arial"/>
              </a:rPr>
              <a:t> Признак, по которому вы узнаете её в своей цепочке: шаблон итогового сообщения можно написать, не видя ни одной конкретной заявки.</a:t>
            </a:r>
          </a:p>
        </p:txBody>
      </p:sp>
      <p:sp>
        <p:nvSpPr>
          <p:cNvPr id="6" name="Rounded Rectangle 5"/>
          <p:cNvSpPr/>
          <p:nvPr/>
        </p:nvSpPr>
        <p:spPr>
          <a:xfrm>
            <a:off x="502920" y="2077211"/>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8694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8" name="TextBox 7"/>
          <p:cNvSpPr txBox="1"/>
          <p:nvPr/>
        </p:nvSpPr>
        <p:spPr>
          <a:xfrm>
            <a:off x="685800" y="2461260"/>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9" name="Connector 8"/>
          <p:cNvCxnSpPr/>
          <p:nvPr/>
        </p:nvCxnSpPr>
        <p:spPr>
          <a:xfrm>
            <a:off x="685800" y="27799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79902"/>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11" name="Rounded Rectangle 10"/>
          <p:cNvSpPr/>
          <p:nvPr/>
        </p:nvSpPr>
        <p:spPr>
          <a:xfrm>
            <a:off x="6231636" y="2077211"/>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218694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3" name="TextBox 12"/>
          <p:cNvSpPr txBox="1"/>
          <p:nvPr/>
        </p:nvSpPr>
        <p:spPr>
          <a:xfrm>
            <a:off x="6414516" y="246126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4" name="Connector 13"/>
          <p:cNvCxnSpPr/>
          <p:nvPr/>
        </p:nvCxnSpPr>
        <p:spPr>
          <a:xfrm>
            <a:off x="6414516" y="29522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952242"/>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6" name="Rounded Rectangle 15"/>
          <p:cNvSpPr/>
          <p:nvPr/>
        </p:nvSpPr>
        <p:spPr>
          <a:xfrm>
            <a:off x="502920" y="41982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32625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8" name="Rounded Rectangle 17"/>
          <p:cNvSpPr/>
          <p:nvPr/>
        </p:nvSpPr>
        <p:spPr>
          <a:xfrm>
            <a:off x="502920" y="54086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54635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54583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Первая строка оси закрыта.</a:t>
            </a:r>
            <a:r>
              <a:rPr sz="1350" b="0"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93111"/>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25571"/>
            <a:ext cx="9692640" cy="54787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Заявки дублируются</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Ольга, администратор учебного центра, открывает таблицу заявок и видит вопрос от клиента: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Ольга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Клиент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редкость.</a:t>
            </a:r>
            <a:r>
              <a:rPr sz="1500" b="1" i="0">
                <a:solidFill>
                  <a:srgbClr val="141B2E"/>
                </a:solidFill>
                <a:latin typeface="Arial"/>
              </a:rPr>
              <a:t> По собственной оценке Ольги, такие повторы случаются примерно 10 раз в день: кто-то забыл, что уже спрашивал, кто-то не увидел ответа и переспросил другими словами.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модели общего назначения, один ли это вопрос, просто сформулированный иначе</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специализированного сервиса сравнения вопросов, а не у модели общего назначения</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сначала проверить точное совпадение дёшево, а дальше пускать только то, что осталось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11183112" cy="2007108"/>
          </a:xfrm>
          <a:prstGeom prst="roundRect">
            <a:avLst>
              <a:gd name="adj" fmla="val 1518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143286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СХЕМА</a:t>
            </a:r>
          </a:p>
        </p:txBody>
      </p:sp>
      <p:sp>
        <p:nvSpPr>
          <p:cNvPr id="5" name="TextBox 4"/>
          <p:cNvSpPr txBox="1"/>
          <p:nvPr/>
        </p:nvSpPr>
        <p:spPr>
          <a:xfrm>
            <a:off x="2210103" y="1071372"/>
            <a:ext cx="63438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ВЕРНО ИЗ 20</a:t>
            </a:r>
          </a:p>
        </p:txBody>
      </p:sp>
      <p:sp>
        <p:nvSpPr>
          <p:cNvPr id="6" name="TextBox 5"/>
          <p:cNvSpPr txBox="1"/>
          <p:nvPr/>
        </p:nvSpPr>
        <p:spPr>
          <a:xfrm>
            <a:off x="2990788" y="1071372"/>
            <a:ext cx="1454139"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ПОЙМАЛА</a:t>
            </a:r>
          </a:p>
        </p:txBody>
      </p:sp>
      <p:sp>
        <p:nvSpPr>
          <p:cNvPr id="7" name="TextBox 6"/>
          <p:cNvSpPr txBox="1"/>
          <p:nvPr/>
        </p:nvSpPr>
        <p:spPr>
          <a:xfrm>
            <a:off x="4591232" y="1071372"/>
            <a:ext cx="301073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ПРОПУСТИЛА / ГДЕ ОШИБЛАСЬ</a:t>
            </a:r>
          </a:p>
        </p:txBody>
      </p:sp>
      <p:sp>
        <p:nvSpPr>
          <p:cNvPr id="8" name="TextBox 7"/>
          <p:cNvSpPr txBox="1"/>
          <p:nvPr/>
        </p:nvSpPr>
        <p:spPr>
          <a:xfrm>
            <a:off x="7748270" y="1071372"/>
            <a:ext cx="366344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СТОИМОСТЬ (ОЦЕНКА ПО ПРАЙСУ)</a:t>
            </a:r>
          </a:p>
        </p:txBody>
      </p:sp>
      <p:sp>
        <p:nvSpPr>
          <p:cNvPr id="9" name="TextBox 8"/>
          <p:cNvSpPr txBox="1"/>
          <p:nvPr/>
        </p:nvSpPr>
        <p:spPr>
          <a:xfrm>
            <a:off x="630936" y="1450848"/>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Хэш (точное совпадение)</a:t>
            </a:r>
          </a:p>
        </p:txBody>
      </p:sp>
      <p:sp>
        <p:nvSpPr>
          <p:cNvPr id="10" name="TextBox 9"/>
          <p:cNvSpPr txBox="1"/>
          <p:nvPr/>
        </p:nvSpPr>
        <p:spPr>
          <a:xfrm>
            <a:off x="2210103" y="1450848"/>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15/20</a:t>
            </a:r>
          </a:p>
        </p:txBody>
      </p:sp>
      <p:sp>
        <p:nvSpPr>
          <p:cNvPr id="11" name="TextBox 10"/>
          <p:cNvSpPr txBox="1"/>
          <p:nvPr/>
        </p:nvSpPr>
        <p:spPr>
          <a:xfrm>
            <a:off x="2990788" y="1450848"/>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повторов и все 10 разных</a:t>
            </a:r>
          </a:p>
        </p:txBody>
      </p:sp>
      <p:sp>
        <p:nvSpPr>
          <p:cNvPr id="12" name="TextBox 11"/>
          <p:cNvSpPr txBox="1"/>
          <p:nvPr/>
        </p:nvSpPr>
        <p:spPr>
          <a:xfrm>
            <a:off x="4591232" y="1450848"/>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перефразировок</a:t>
            </a:r>
          </a:p>
        </p:txBody>
      </p:sp>
      <p:sp>
        <p:nvSpPr>
          <p:cNvPr id="13" name="TextBox 12"/>
          <p:cNvSpPr txBox="1"/>
          <p:nvPr/>
        </p:nvSpPr>
        <p:spPr>
          <a:xfrm>
            <a:off x="7748270" y="1450848"/>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14" name="Connector 13"/>
          <p:cNvCxnSpPr/>
          <p:nvPr/>
        </p:nvCxnSpPr>
        <p:spPr>
          <a:xfrm>
            <a:off x="630936" y="17891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1789176"/>
            <a:ext cx="1432863"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TF-IDF + косинус</a:t>
            </a:r>
            <a:r>
              <a:rPr sz="900" b="0" i="0">
                <a:solidFill>
                  <a:srgbClr val="141B2E"/>
                </a:solidFill>
                <a:latin typeface="Arial"/>
              </a:rPr>
              <a:t> (порог 0,3)</a:t>
            </a:r>
          </a:p>
        </p:txBody>
      </p:sp>
      <p:sp>
        <p:nvSpPr>
          <p:cNvPr id="16" name="TextBox 15"/>
          <p:cNvSpPr txBox="1"/>
          <p:nvPr/>
        </p:nvSpPr>
        <p:spPr>
          <a:xfrm>
            <a:off x="2210103" y="1789176"/>
            <a:ext cx="63438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13/20</a:t>
            </a:r>
            <a:r>
              <a:rPr sz="900" b="0" i="0">
                <a:solidFill>
                  <a:srgbClr val="141B2E"/>
                </a:solidFill>
                <a:latin typeface="Arial"/>
              </a:rPr>
              <a:t> — хуже хэша</a:t>
            </a:r>
          </a:p>
        </p:txBody>
      </p:sp>
      <p:sp>
        <p:nvSpPr>
          <p:cNvPr id="17" name="TextBox 16"/>
          <p:cNvSpPr txBox="1"/>
          <p:nvPr/>
        </p:nvSpPr>
        <p:spPr>
          <a:xfrm>
            <a:off x="2990788" y="1789176"/>
            <a:ext cx="1454139"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повторы, часть разных вопросов</a:t>
            </a:r>
          </a:p>
        </p:txBody>
      </p:sp>
      <p:sp>
        <p:nvSpPr>
          <p:cNvPr id="18" name="TextBox 17"/>
          <p:cNvSpPr txBox="1"/>
          <p:nvPr/>
        </p:nvSpPr>
        <p:spPr>
          <a:xfrm>
            <a:off x="4591232" y="1789176"/>
            <a:ext cx="3010733"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те же 5 перефразировок + 2 ложных срабатывания на близких темах</a:t>
            </a:r>
          </a:p>
        </p:txBody>
      </p:sp>
      <p:sp>
        <p:nvSpPr>
          <p:cNvPr id="19" name="TextBox 18"/>
          <p:cNvSpPr txBox="1"/>
          <p:nvPr/>
        </p:nvSpPr>
        <p:spPr>
          <a:xfrm>
            <a:off x="7748270" y="1789176"/>
            <a:ext cx="3663441"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20" name="Connector 19"/>
          <p:cNvCxnSpPr/>
          <p:nvPr/>
        </p:nvCxnSpPr>
        <p:spPr>
          <a:xfrm>
            <a:off x="630936" y="22463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2246376"/>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Модель-судья</a:t>
            </a:r>
            <a:r>
              <a:rPr sz="900" b="0" i="0">
                <a:solidFill>
                  <a:srgbClr val="141B2E"/>
                </a:solidFill>
                <a:latin typeface="Arial"/>
              </a:rPr>
              <a:t> (gpt-4o-mini)</a:t>
            </a:r>
          </a:p>
        </p:txBody>
      </p:sp>
      <p:sp>
        <p:nvSpPr>
          <p:cNvPr id="22" name="TextBox 21"/>
          <p:cNvSpPr txBox="1"/>
          <p:nvPr/>
        </p:nvSpPr>
        <p:spPr>
          <a:xfrm>
            <a:off x="2210103" y="2246376"/>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17/20</a:t>
            </a:r>
          </a:p>
        </p:txBody>
      </p:sp>
      <p:sp>
        <p:nvSpPr>
          <p:cNvPr id="23" name="TextBox 22"/>
          <p:cNvSpPr txBox="1"/>
          <p:nvPr/>
        </p:nvSpPr>
        <p:spPr>
          <a:xfrm>
            <a:off x="2990788" y="2246376"/>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10 дублей</a:t>
            </a:r>
          </a:p>
        </p:txBody>
      </p:sp>
      <p:sp>
        <p:nvSpPr>
          <p:cNvPr id="24" name="TextBox 23"/>
          <p:cNvSpPr txBox="1"/>
          <p:nvPr/>
        </p:nvSpPr>
        <p:spPr>
          <a:xfrm>
            <a:off x="4591232" y="2246376"/>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3 ложных срабатывания, включая пару без общих слов</a:t>
            </a:r>
          </a:p>
        </p:txBody>
      </p:sp>
      <p:sp>
        <p:nvSpPr>
          <p:cNvPr id="25" name="TextBox 24"/>
          <p:cNvSpPr txBox="1"/>
          <p:nvPr/>
        </p:nvSpPr>
        <p:spPr>
          <a:xfrm>
            <a:off x="7748270" y="2246376"/>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~$0,15/млн вход · $0,60/млн выход; на кейсе (≈300/мес) ≈$0,006/мес</a:t>
            </a:r>
          </a:p>
        </p:txBody>
      </p:sp>
      <p:cxnSp>
        <p:nvCxnSpPr>
          <p:cNvPr id="26" name="Connector 25"/>
          <p:cNvCxnSpPr/>
          <p:nvPr/>
        </p:nvCxnSpPr>
        <p:spPr>
          <a:xfrm>
            <a:off x="630936" y="258470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30936" y="2584704"/>
            <a:ext cx="1432863"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Сервис jev</a:t>
            </a:r>
          </a:p>
        </p:txBody>
      </p:sp>
      <p:sp>
        <p:nvSpPr>
          <p:cNvPr id="28" name="TextBox 27"/>
          <p:cNvSpPr txBox="1"/>
          <p:nvPr/>
        </p:nvSpPr>
        <p:spPr>
          <a:xfrm>
            <a:off x="2210103" y="2584704"/>
            <a:ext cx="634381"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20/20</a:t>
            </a:r>
          </a:p>
        </p:txBody>
      </p:sp>
      <p:sp>
        <p:nvSpPr>
          <p:cNvPr id="29" name="TextBox 28"/>
          <p:cNvSpPr txBox="1"/>
          <p:nvPr/>
        </p:nvSpPr>
        <p:spPr>
          <a:xfrm>
            <a:off x="2990788" y="2584704"/>
            <a:ext cx="1454139"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20</a:t>
            </a:r>
          </a:p>
        </p:txBody>
      </p:sp>
      <p:sp>
        <p:nvSpPr>
          <p:cNvPr id="30" name="TextBox 29"/>
          <p:cNvSpPr txBox="1"/>
          <p:nvPr/>
        </p:nvSpPr>
        <p:spPr>
          <a:xfrm>
            <a:off x="4591232" y="2584704"/>
            <a:ext cx="3010733"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ошибок нет</a:t>
            </a:r>
          </a:p>
        </p:txBody>
      </p:sp>
      <p:sp>
        <p:nvSpPr>
          <p:cNvPr id="31" name="TextBox 30"/>
          <p:cNvSpPr txBox="1"/>
          <p:nvPr/>
        </p:nvSpPr>
        <p:spPr>
          <a:xfrm>
            <a:off x="7748270" y="2584704"/>
            <a:ext cx="366344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$0,042/млн вход, $0 выход; на кейсе ≈$0,003/мес</a:t>
            </a:r>
          </a:p>
        </p:txBody>
      </p:sp>
      <p:cxnSp>
        <p:nvCxnSpPr>
          <p:cNvPr id="32" name="Connector 31"/>
          <p:cNvCxnSpPr/>
          <p:nvPr/>
        </p:nvCxnSpPr>
        <p:spPr>
          <a:xfrm>
            <a:off x="502920" y="3014472"/>
            <a:ext cx="365760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87624"/>
            <a:ext cx="10908792" cy="205740"/>
          </a:xfrm>
          <a:prstGeom prst="rect">
            <a:avLst/>
          </a:prstGeom>
          <a:noFill/>
        </p:spPr>
        <p:txBody>
          <a:bodyPr wrap="square" lIns="0" rIns="0" tIns="0" bIns="0" anchor="t">
            <a:spAutoFit/>
          </a:bodyPr>
          <a:lstStyle/>
          <a:p>
            <a:pPr algn="l">
              <a:lnSpc>
                <a:spcPts val="1260"/>
              </a:lnSpc>
              <a:spcAft>
                <a:spcPts val="0"/>
              </a:spcAft>
            </a:pPr>
            <a:r>
              <a:rPr sz="1050" b="0" i="0">
                <a:solidFill>
                  <a:srgbClr val="6B7685"/>
                </a:solidFill>
                <a:latin typeface="Arial"/>
              </a:rPr>
              <a:t>jev — внешний сервис типизированных решений: отвечает только в заданной форме (да/нет, выбор, шкала), не свободным текстом.</a:t>
            </a:r>
          </a:p>
        </p:txBody>
      </p:sp>
      <p:sp>
        <p:nvSpPr>
          <p:cNvPr id="34" name="Rounded Rectangle 33"/>
          <p:cNvSpPr/>
          <p:nvPr/>
        </p:nvSpPr>
        <p:spPr>
          <a:xfrm>
            <a:off x="502920" y="3457956"/>
            <a:ext cx="82296" cy="4793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3585972"/>
            <a:ext cx="10643616" cy="22334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Честная находка.</a:t>
            </a:r>
            <a:r>
              <a:rPr sz="1100" b="1" i="0">
                <a:solidFill>
                  <a:srgbClr val="141B2E"/>
                </a:solidFill>
                <a:latin typeface="Arial"/>
              </a:rPr>
              <a:t> Одно измерение на 20 парах мало, чтобы менять работающую архитектуру; обе платные схемы дешевле цента в месяц — решает точность.</a:t>
            </a:r>
          </a:p>
        </p:txBody>
      </p:sp>
      <p:pic>
        <p:nvPicPr>
          <p:cNvPr id="36" name="Picture 35" descr="k2-n8n-test-stend-real.png"/>
          <p:cNvPicPr>
            <a:picLocks noChangeAspect="1"/>
          </p:cNvPicPr>
          <p:nvPr/>
        </p:nvPicPr>
        <p:blipFill>
          <a:blip r:embed="rId2"/>
          <a:stretch>
            <a:fillRect/>
          </a:stretch>
        </p:blipFill>
        <p:spPr>
          <a:xfrm>
            <a:off x="2504995" y="4101928"/>
            <a:ext cx="7178960" cy="2234510"/>
          </a:xfrm>
          <a:prstGeom prst="rect">
            <a:avLst/>
          </a:prstGeom>
        </p:spPr>
      </p:pic>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хэш первым, jev — на дорогом шаге</a:t>
            </a:r>
          </a:p>
        </p:txBody>
      </p:sp>
      <p:pic>
        <p:nvPicPr>
          <p:cNvPr id="3" name="Picture 2" descr="k2-shema-gibrid.png"/>
          <p:cNvPicPr>
            <a:picLocks noChangeAspect="1"/>
          </p:cNvPicPr>
          <p:nvPr/>
        </p:nvPicPr>
        <p:blipFill>
          <a:blip r:embed="rId2"/>
          <a:stretch>
            <a:fillRect/>
          </a:stretch>
        </p:blipFill>
        <p:spPr>
          <a:xfrm>
            <a:off x="1331297" y="943356"/>
            <a:ext cx="9526357" cy="3572384"/>
          </a:xfrm>
          <a:prstGeom prst="rect">
            <a:avLst/>
          </a:prstGeom>
        </p:spPr>
      </p:pic>
      <p:sp>
        <p:nvSpPr>
          <p:cNvPr id="4" name="Rounded Rectangle 3"/>
          <p:cNvSpPr/>
          <p:nvPr/>
        </p:nvSpPr>
        <p:spPr>
          <a:xfrm>
            <a:off x="502920" y="468033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08348"/>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Фигура: шаг 1 — дешёвый механический предфильтр, берёт на себя буквальные повторы бесплатно. Шаг 2 — проверка смыслом, решение по измерению — специализированный сервис (jev), точнее и дешевле модели общего назначения на этом тесте. Узел собран и стоит на стенде.</a:t>
            </a:r>
          </a:p>
        </p:txBody>
      </p:sp>
      <p:sp>
        <p:nvSpPr>
          <p:cNvPr id="6" name="Rounded Rectangle 5"/>
          <p:cNvSpPr/>
          <p:nvPr/>
        </p:nvSpPr>
        <p:spPr>
          <a:xfrm>
            <a:off x="502920" y="5733416"/>
            <a:ext cx="11183112" cy="58902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870576"/>
            <a:ext cx="10707624" cy="314705"/>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Честная оговорка — на самой схеме.</a:t>
            </a:r>
            <a:r>
              <a:rPr sz="1050" b="0" i="1">
                <a:solidFill>
                  <a:srgbClr val="6B7685"/>
                </a:solidFill>
                <a:latin typeface="Arial"/>
              </a:rPr>
              <a:t> Измерение одно, на 20 парах одного языка и одной тематики (запись на курсы). Обобщаемость за пределы этого набора не проверена — это граница измерения, а не повод не внедрять решение.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real.png"/>
          <p:cNvPicPr>
            <a:picLocks noChangeAspect="1"/>
          </p:cNvPicPr>
          <p:nvPr/>
        </p:nvPicPr>
        <p:blipFill>
          <a:blip r:embed="rId2"/>
          <a:stretch>
            <a:fillRect/>
          </a:stretch>
        </p:blipFill>
        <p:spPr>
          <a:xfrm>
            <a:off x="1477471" y="943356"/>
            <a:ext cx="9234008" cy="3236745"/>
          </a:xfrm>
          <a:prstGeom prst="rect">
            <a:avLst/>
          </a:prstGeom>
        </p:spPr>
      </p:pic>
      <p:sp>
        <p:nvSpPr>
          <p:cNvPr id="4" name="Rounded Rectangle 3"/>
          <p:cNvSpPr/>
          <p:nvPr/>
        </p:nvSpPr>
        <p:spPr>
          <a:xfrm>
            <a:off x="502920" y="4344693"/>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2709"/>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445021"/>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3037"/>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Узел </a:t>
            </a:r>
            <a:r>
              <a:rPr sz="1100" b="1" i="0">
                <a:solidFill>
                  <a:srgbClr val="141B2E"/>
                </a:solidFill>
                <a:latin typeface="Consolas"/>
              </a:rPr>
              <a:t>Exact</a:t>
            </a:r>
            <a:r>
              <a:rPr sz="1100" b="1" i="0">
                <a:solidFill>
                  <a:srgbClr val="141B2E"/>
                </a:solidFill>
                <a:latin typeface="Arial"/>
              </a:rPr>
              <a:t> </a:t>
            </a:r>
            <a:r>
              <a:rPr sz="1100" b="1" i="0">
                <a:solidFill>
                  <a:srgbClr val="141B2E"/>
                </a:solidFill>
                <a:latin typeface="Consolas"/>
              </a:rPr>
              <a:t>duplicate</a:t>
            </a:r>
            <a:r>
              <a:rPr sz="1100" b="1" i="0">
                <a:solidFill>
                  <a:srgbClr val="141B2E"/>
                </a:solidFill>
                <a:latin typeface="Arial"/>
              </a:rPr>
              <a:t> </a:t>
            </a:r>
            <a:r>
              <a:rPr sz="1100" b="1" i="0">
                <a:solidFill>
                  <a:srgbClr val="141B2E"/>
                </a:solidFill>
                <a:latin typeface="Consolas"/>
              </a:rPr>
              <a:t>in</a:t>
            </a:r>
            <a:r>
              <a:rPr sz="1100" b="1" i="0">
                <a:solidFill>
                  <a:srgbClr val="141B2E"/>
                </a:solidFill>
                <a:latin typeface="Arial"/>
              </a:rPr>
              <a:t> </a:t>
            </a:r>
            <a:r>
              <a:rPr sz="1100" b="1" i="0">
                <a:solidFill>
                  <a:srgbClr val="141B2E"/>
                </a:solidFill>
                <a:latin typeface="Consolas"/>
              </a:rPr>
              <a:t>window?</a:t>
            </a:r>
            <a:r>
              <a:rPr sz="1100" b="1" i="0">
                <a:solidFill>
                  <a:srgbClr val="141B2E"/>
                </a:solidFill>
                <a:latin typeface="Arial"/>
              </a:rPr>
              <a:t> (</a:t>
            </a:r>
            <a:r>
              <a:rPr sz="1100" b="1" i="0">
                <a:solidFill>
                  <a:srgbClr val="141B2E"/>
                </a:solidFill>
                <a:latin typeface="Consolas"/>
              </a:rPr>
              <a:t>IF</a:t>
            </a:r>
            <a:r>
              <a:rPr sz="1100" b="1" i="0">
                <a:solidFill>
                  <a:srgbClr val="141B2E"/>
                </a:solidFill>
                <a:latin typeface="Arial"/>
              </a:rPr>
              <a:t>).</a:t>
            </a:r>
            <a:r>
              <a:rPr sz="1100" b="1" i="0">
                <a:solidFill>
                  <a:srgbClr val="141B2E"/>
                </a:solidFill>
                <a:latin typeface="Arial"/>
              </a:rPr>
              <a:t> Условие: </a:t>
            </a:r>
            <a:r>
              <a:rPr sz="1100" b="1" i="0">
                <a:solidFill>
                  <a:srgbClr val="141B2E"/>
                </a:solidFill>
                <a:latin typeface="Consolas"/>
              </a:rPr>
              <a:t>normalized_hash</a:t>
            </a:r>
            <a:r>
              <a:rPr sz="110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нормализация и точное сравнение</a:t>
            </a:r>
          </a:p>
        </p:txBody>
      </p:sp>
      <p:pic>
        <p:nvPicPr>
          <p:cNvPr id="3" name="Picture 2" descr="k2-panel-hash-crop-real.png"/>
          <p:cNvPicPr>
            <a:picLocks noChangeAspect="1"/>
          </p:cNvPicPr>
          <p:nvPr/>
        </p:nvPicPr>
        <p:blipFill>
          <a:blip r:embed="rId2"/>
          <a:stretch>
            <a:fillRect/>
          </a:stretch>
        </p:blipFill>
        <p:spPr>
          <a:xfrm>
            <a:off x="502920" y="1364430"/>
            <a:ext cx="11183112" cy="2917333"/>
          </a:xfrm>
          <a:prstGeom prst="rect">
            <a:avLst/>
          </a:prstGeom>
        </p:spPr>
      </p:pic>
      <p:sp>
        <p:nvSpPr>
          <p:cNvPr id="4" name="Rounded Rectangle 3"/>
          <p:cNvSpPr/>
          <p:nvPr/>
        </p:nvSpPr>
        <p:spPr>
          <a:xfrm>
            <a:off x="502920" y="494927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07729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Весь дешёвый слой — это одна строка приведения текста к общему виду и один знак равенства. Ни модели, ни порога, ни настройки, которую можно подобрать неудачно.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структурированный запрос вместо текстового промпта</a:t>
            </a:r>
          </a:p>
        </p:txBody>
      </p:sp>
      <p:pic>
        <p:nvPicPr>
          <p:cNvPr id="3" name="Picture 2" descr="k2-n8n-jev-real.png"/>
          <p:cNvPicPr>
            <a:picLocks noChangeAspect="1"/>
          </p:cNvPicPr>
          <p:nvPr/>
        </p:nvPicPr>
        <p:blipFill>
          <a:blip r:embed="rId2"/>
          <a:stretch>
            <a:fillRect/>
          </a:stretch>
        </p:blipFill>
        <p:spPr>
          <a:xfrm>
            <a:off x="1499701" y="1319784"/>
            <a:ext cx="9189548" cy="3063182"/>
          </a:xfrm>
          <a:prstGeom prst="rect">
            <a:avLst/>
          </a:prstGeom>
        </p:spPr>
      </p:pic>
      <p:sp>
        <p:nvSpPr>
          <p:cNvPr id="4" name="Rounded Rectangle 3"/>
          <p:cNvSpPr/>
          <p:nvPr/>
        </p:nvSpPr>
        <p:spPr>
          <a:xfrm>
            <a:off x="502920" y="4547558"/>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75574"/>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Jev</a:t>
            </a:r>
            <a:r>
              <a:rPr sz="1450" b="1" i="0">
                <a:solidFill>
                  <a:srgbClr val="141B2E"/>
                </a:solidFill>
                <a:latin typeface="Arial"/>
              </a:rPr>
              <a:t> </a:t>
            </a:r>
            <a:r>
              <a:rPr sz="1450" b="1" i="0">
                <a:solidFill>
                  <a:srgbClr val="141B2E"/>
                </a:solidFill>
                <a:latin typeface="Consolas"/>
              </a:rPr>
              <a:t>decision</a:t>
            </a:r>
            <a:r>
              <a:rPr sz="1450" b="1" i="0">
                <a:solidFill>
                  <a:srgbClr val="141B2E"/>
                </a:solidFill>
                <a:latin typeface="Arial"/>
              </a:rPr>
              <a:t> </a:t>
            </a:r>
            <a:r>
              <a:rPr sz="1450" b="1" i="0">
                <a:solidFill>
                  <a:srgbClr val="141B2E"/>
                </a:solidFill>
                <a:latin typeface="Consolas"/>
              </a:rPr>
              <a:t>(reworded?)</a:t>
            </a:r>
            <a:r>
              <a:rPr sz="1450" b="1" i="0">
                <a:solidFill>
                  <a:srgbClr val="141B2E"/>
                </a:solidFill>
                <a:latin typeface="Arial"/>
              </a:rPr>
              <a:t> (</a:t>
            </a:r>
            <a:r>
              <a:rPr sz="1450" b="1" i="0">
                <a:solidFill>
                  <a:srgbClr val="141B2E"/>
                </a:solidFill>
                <a:latin typeface="Consolas"/>
              </a:rPr>
              <a:t>httpRequest</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POST</a:t>
            </a:r>
            <a:r>
              <a:rPr sz="1450" b="1" i="0">
                <a:solidFill>
                  <a:srgbClr val="141B2E"/>
                </a:solidFill>
                <a:latin typeface="Arial"/>
              </a:rPr>
              <a:t> </a:t>
            </a:r>
            <a:r>
              <a:rPr sz="1450" b="1" i="0">
                <a:solidFill>
                  <a:srgbClr val="141B2E"/>
                </a:solidFill>
                <a:latin typeface="Consolas"/>
              </a:rPr>
              <a:t>.../api/alpha/decisions</a:t>
            </a:r>
            <a:r>
              <a:rPr sz="1450" b="1" i="0">
                <a:solidFill>
                  <a:srgbClr val="141B2E"/>
                </a:solidFill>
                <a:latin typeface="Arial"/>
              </a:rPr>
              <a:t>, модель </a:t>
            </a:r>
            <a:r>
              <a:rPr sz="1450" b="1" i="0">
                <a:solidFill>
                  <a:srgbClr val="141B2E"/>
                </a:solidFill>
                <a:latin typeface="Consolas"/>
              </a:rPr>
              <a:t>typesafe/jev-1.13</a:t>
            </a:r>
            <a:r>
              <a:rPr sz="1450" b="1" i="0">
                <a:solidFill>
                  <a:srgbClr val="141B2E"/>
                </a:solidFill>
                <a:latin typeface="Arial"/>
              </a:rPr>
              <a:t>. Вопрос — тип </a:t>
            </a:r>
            <a:r>
              <a:rPr sz="1450" b="1" i="0">
                <a:solidFill>
                  <a:srgbClr val="141B2E"/>
                </a:solidFill>
                <a:latin typeface="Consolas"/>
              </a:rPr>
              <a:t>noul</a:t>
            </a:r>
            <a:r>
              <a:rPr sz="1450" b="1" i="0">
                <a:solidFill>
                  <a:srgbClr val="141B2E"/>
                </a:solidFill>
                <a:latin typeface="Arial"/>
              </a:rPr>
              <a:t>: «да/нет» с вероятностью, не свободный текст. Критерии заданы явно: «да» — тот же вопрос другими словами, «нет» — другой вопрос, даже если похожи темы или слова.</a:t>
            </a:r>
          </a:p>
        </p:txBody>
      </p:sp>
      <p:sp>
        <p:nvSpPr>
          <p:cNvPr id="6" name="Rounded Rectangle 5"/>
          <p:cNvSpPr/>
          <p:nvPr/>
        </p:nvSpPr>
        <p:spPr>
          <a:xfrm>
            <a:off x="502920" y="5671508"/>
            <a:ext cx="82296" cy="61363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99524"/>
            <a:ext cx="10643616" cy="35760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Результат на 20 реальных парах.</a:t>
            </a:r>
            <a:r>
              <a:rPr sz="1100" b="1" i="0">
                <a:solidFill>
                  <a:srgbClr val="141B2E"/>
                </a:solidFill>
                <a:latin typeface="Arial"/>
              </a:rPr>
              <a:t> Дубли — jev_noul </a:t>
            </a:r>
            <a:r>
              <a:rPr sz="1100" b="1" i="0">
                <a:solidFill>
                  <a:srgbClr val="141B2E"/>
                </a:solidFill>
                <a:latin typeface="Arial"/>
              </a:rPr>
              <a:t>0.70–0.97</a:t>
            </a:r>
            <a:r>
              <a:rPr sz="1100" b="1" i="0">
                <a:solidFill>
                  <a:srgbClr val="141B2E"/>
                </a:solidFill>
                <a:latin typeface="Arial"/>
              </a:rPr>
              <a:t>. Разные вопросы — </a:t>
            </a:r>
            <a:r>
              <a:rPr sz="1100" b="1" i="0">
                <a:solidFill>
                  <a:srgbClr val="141B2E"/>
                </a:solidFill>
                <a:latin typeface="Arial"/>
              </a:rPr>
              <a:t>0.02–0.08</a:t>
            </a:r>
            <a:r>
              <a:rPr sz="1100" b="1" i="0">
                <a:solidFill>
                  <a:srgbClr val="141B2E"/>
                </a:solidFill>
                <a:latin typeface="Arial"/>
              </a:rPr>
              <a:t>. Порог </a:t>
            </a:r>
            <a:r>
              <a:rPr sz="1100" b="1" i="0">
                <a:solidFill>
                  <a:srgbClr val="141B2E"/>
                </a:solidFill>
                <a:latin typeface="Arial"/>
              </a:rPr>
              <a:t>≥ 0.5 → дубль</a:t>
            </a:r>
            <a:r>
              <a:rPr sz="1100" b="1" i="0">
                <a:solidFill>
                  <a:srgbClr val="141B2E"/>
                </a:solidFill>
                <a:latin typeface="Arial"/>
              </a:rPr>
              <a:t>, разрыв чистый на промежутке 0.08–0.70 — счёт </a:t>
            </a:r>
            <a:r>
              <a:rPr sz="1100" b="1" i="0">
                <a:solidFill>
                  <a:srgbClr val="141B2E"/>
                </a:solidFill>
                <a:latin typeface="Arial"/>
              </a:rPr>
              <a:t>20 из 20</a:t>
            </a:r>
            <a:r>
              <a:rPr sz="1100" b="1" i="0">
                <a:solidFill>
                  <a:srgbClr val="141B2E"/>
                </a:solidFill>
                <a:latin typeface="Arial"/>
              </a:rPr>
              <a:t>.</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Ольга при повторной заявке — и чего не видит</a:t>
            </a:r>
          </a:p>
        </p:txBody>
      </p:sp>
      <p:pic>
        <p:nvPicPr>
          <p:cNvPr id="3" name="Picture 2" descr="k2-datatable-povtor-real.png"/>
          <p:cNvPicPr>
            <a:picLocks noChangeAspect="1"/>
          </p:cNvPicPr>
          <p:nvPr/>
        </p:nvPicPr>
        <p:blipFill>
          <a:blip r:embed="rId2"/>
          <a:stretch>
            <a:fillRect/>
          </a:stretch>
        </p:blipFill>
        <p:spPr>
          <a:xfrm>
            <a:off x="521286" y="943356"/>
            <a:ext cx="11146379" cy="2683957"/>
          </a:xfrm>
          <a:prstGeom prst="rect">
            <a:avLst/>
          </a:prstGeom>
        </p:spPr>
      </p:pic>
      <p:sp>
        <p:nvSpPr>
          <p:cNvPr id="4" name="Rounded Rectangle 3"/>
          <p:cNvSpPr/>
          <p:nvPr/>
        </p:nvSpPr>
        <p:spPr>
          <a:xfrm>
            <a:off x="502920" y="3791905"/>
            <a:ext cx="11183112" cy="112979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846769"/>
            <a:ext cx="64008" cy="102006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929065"/>
            <a:ext cx="10643616" cy="855471"/>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15 и 16 — один человек, один текст слово в слово. Между ними сутки.</a:t>
            </a:r>
          </a:p>
          <a:p>
            <a:pPr algn="l">
              <a:lnSpc>
                <a:spcPts val="1534"/>
              </a:lnSpc>
              <a:spcAft>
                <a:spcPts val="300"/>
              </a:spcAft>
            </a:pPr>
            <a:r>
              <a:rPr sz="1300" b="0" i="0">
                <a:solidFill>
                  <a:srgbClr val="141B2E"/>
                </a:solidFill>
                <a:latin typeface="Arial"/>
              </a:rPr>
              <a:t/>
            </a:r>
          </a:p>
          <a:p>
            <a:pPr algn="l">
              <a:lnSpc>
                <a:spcPts val="1534"/>
              </a:lnSpc>
              <a:spcAft>
                <a:spcPts val="300"/>
              </a:spcAft>
            </a:pPr>
            <a:r>
              <a:rPr sz="1300" b="1" i="0">
                <a:solidFill>
                  <a:srgbClr val="141B2E"/>
                </a:solidFill>
                <a:latin typeface="Arial"/>
              </a:rPr>
              <a:t>17–20 — тот же текст ещё четырежды: две пары, внутри каждой меньше двадцати миллисекунд. Так выглядит двойной щелчок по кнопке формы.</a:t>
            </a:r>
          </a:p>
        </p:txBody>
      </p:sp>
      <p:sp>
        <p:nvSpPr>
          <p:cNvPr id="7" name="Rounded Rectangle 6"/>
          <p:cNvSpPr/>
          <p:nvPr/>
        </p:nvSpPr>
        <p:spPr>
          <a:xfrm>
            <a:off x="502920" y="5086289"/>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14305"/>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Даты на кадре старше проверки на повтор: все эти строки записаны до того, как она появилась в цепочке. Пометки «похоже на повтор» в таблице нет и не будет — колонки под неё не существует, и ответ проверки смыслом никуда не сохраняется. Буквальный повтор с проверкой до таблицы больше не доходит; тот же вопрос другими словами доходит — и ложится строкой, неотличимой от первой.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20851"/>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403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40307"/>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Интервал времени — параметр с ценой в обе стороны.</a:t>
            </a:r>
            <a:r>
              <a:rPr sz="1350" b="0" i="0">
                <a:solidFill>
                  <a:srgbClr val="141B2E"/>
                </a:solidFill>
                <a:latin typeface="Arial"/>
              </a:rPr>
              <a:t> Слишком короткий интервал пропустит повтор, разнесённый на день-два. Слишком длинный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03042"/>
            <a:ext cx="11183112" cy="1376172"/>
          </a:xfrm>
          <a:prstGeom prst="roundRect">
            <a:avLst>
              <a:gd name="adj" fmla="val 221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22498"/>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122498"/>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У LLM-судьи своя асимметрия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9" name="Rounded Rectangle 8"/>
          <p:cNvSpPr/>
          <p:nvPr/>
        </p:nvSpPr>
        <p:spPr>
          <a:xfrm>
            <a:off x="502920" y="4887544"/>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1070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1070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728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0914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9148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7728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2638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26382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29271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9271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cxnSp>
        <p:nvCxnSpPr>
          <p:cNvPr id="19" name="Connector 18"/>
          <p:cNvCxnSpPr/>
          <p:nvPr/>
        </p:nvCxnSpPr>
        <p:spPr>
          <a:xfrm>
            <a:off x="6414516" y="34181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418128"/>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конкретный инструмент смысловой проверки — тоже выбор: дешёвая модель общего назначения (17/20 на нашем тесте) или специализированный сервис jev (20/20) — не угадывается по умолчанию, нужна своя проверка</a:t>
            </a:r>
          </a:p>
        </p:txBody>
      </p:sp>
      <p:sp>
        <p:nvSpPr>
          <p:cNvPr id="21" name="Rounded Rectangle 20"/>
          <p:cNvSpPr/>
          <p:nvPr/>
        </p:nvSpPr>
        <p:spPr>
          <a:xfrm>
            <a:off x="502920" y="491825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04626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214880"/>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2847340"/>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Месяц в работе. Ни одной жалобы. Сколько раз правило ошиблось — не знает никто.</a:t>
            </a:r>
          </a:p>
        </p:txBody>
      </p:sp>
      <p:sp>
        <p:nvSpPr>
          <p:cNvPr id="5" name="TextBox 4"/>
          <p:cNvSpPr txBox="1"/>
          <p:nvPr/>
        </p:nvSpPr>
        <p:spPr>
          <a:xfrm>
            <a:off x="1234440" y="3888232"/>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D6E2EC"/>
                </a:solidFill>
                <a:latin typeface="Arial"/>
              </a:rPr>
              <a:t>«Автоматический возврат средств — до заданного порога суммы. Выше порога — только через руководителя.»</a:t>
            </a:r>
          </a:p>
        </p:txBody>
      </p:sp>
      <p:sp>
        <p:nvSpPr>
          <p:cNvPr id="6" name="Rounded Rectangle 5"/>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8" name="Rounded Rectangle 7"/>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10" name="Rounded Rectangle 9"/>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2" name="Rounded Rectangle 11"/>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продолжение процесса классификации</a:t>
            </a:r>
          </a:p>
        </p:txBody>
      </p:sp>
      <p:sp>
        <p:nvSpPr>
          <p:cNvPr id="3" name="Rounded Rectangle 2"/>
          <p:cNvSpPr/>
          <p:nvPr/>
        </p:nvSpPr>
        <p:spPr>
          <a:xfrm>
            <a:off x="502920" y="11250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30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обращения, которой мы уже пользовались в предыдущих кейсах: человек описывает ситуацию своими словами — «прошу вернуть 2500 рублей за пропущенное занятие».</a:t>
            </a:r>
          </a:p>
        </p:txBody>
      </p:sp>
      <p:sp>
        <p:nvSpPr>
          <p:cNvPr id="5" name="Rounded Rectangle 4"/>
          <p:cNvSpPr/>
          <p:nvPr/>
        </p:nvSpPr>
        <p:spPr>
          <a:xfrm>
            <a:off x="502920" y="2490698"/>
            <a:ext cx="11183112" cy="1962531"/>
          </a:xfrm>
          <a:prstGeom prst="roundRect">
            <a:avLst>
              <a:gd name="adj" fmla="val 1553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1015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1015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Человек пишет заявку свободным текстом — внутри него и просьба, и сумма.</a:t>
            </a:r>
          </a:p>
        </p:txBody>
      </p:sp>
      <p:sp>
        <p:nvSpPr>
          <p:cNvPr id="8" name="TextBox 7"/>
          <p:cNvSpPr txBox="1"/>
          <p:nvPr/>
        </p:nvSpPr>
        <p:spPr>
          <a:xfrm>
            <a:off x="722376" y="304048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4048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Процесс, который в Семинаре 7 определял тему обращения, здесь идёт на шаг дальше: читает текст и сам решает — одобрить сумму автоматически или передать её руководителю (модель </a:t>
            </a:r>
            <a:r>
              <a:rPr sz="1350" b="0" i="0">
                <a:solidFill>
                  <a:srgbClr val="141B2E"/>
                </a:solidFill>
                <a:latin typeface="Consolas"/>
              </a:rPr>
              <a:t>qwen/qwen-2.5-7b-instruct</a:t>
            </a:r>
            <a:r>
              <a:rPr sz="1350" b="0" i="0">
                <a:solidFill>
                  <a:srgbClr val="141B2E"/>
                </a:solidFill>
                <a:latin typeface="Arial"/>
              </a:rPr>
              <a:t>).</a:t>
            </a:r>
          </a:p>
        </p:txBody>
      </p:sp>
      <p:sp>
        <p:nvSpPr>
          <p:cNvPr id="10" name="TextBox 9"/>
          <p:cNvSpPr txBox="1"/>
          <p:nvPr/>
        </p:nvSpPr>
        <p:spPr>
          <a:xfrm>
            <a:off x="722376" y="357311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7311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«одобрить» — деньги автоматически уходят на карту клиента, без участия человека.</a:t>
            </a:r>
          </a:p>
        </p:txBody>
      </p:sp>
      <p:sp>
        <p:nvSpPr>
          <p:cNvPr id="12" name="TextBox 11"/>
          <p:cNvSpPr txBox="1"/>
          <p:nvPr/>
        </p:nvSpPr>
        <p:spPr>
          <a:xfrm>
            <a:off x="722376" y="390344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0344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«эскалировать» — заявка уходит руководителю, и дальше решает он.</a:t>
            </a:r>
          </a:p>
        </p:txBody>
      </p:sp>
      <p:sp>
        <p:nvSpPr>
          <p:cNvPr id="14" name="Rounded Rectangle 13"/>
          <p:cNvSpPr/>
          <p:nvPr/>
        </p:nvSpPr>
        <p:spPr>
          <a:xfrm>
            <a:off x="502920" y="507210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0011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сделать сумму явным числовым полем формы</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четырёх действий</a:t>
            </a:r>
          </a:p>
        </p:txBody>
      </p:sp>
      <p:sp>
        <p:nvSpPr>
          <p:cNvPr id="3" name="Rounded Rectangle 2"/>
          <p:cNvSpPr/>
          <p:nvPr/>
        </p:nvSpPr>
        <p:spPr>
          <a:xfrm>
            <a:off x="502920" y="943356"/>
            <a:ext cx="11183112" cy="4358259"/>
          </a:xfrm>
          <a:prstGeom prst="roundRect">
            <a:avLst>
              <a:gd name="adj" fmla="val 699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81556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2647672" y="1126236"/>
            <a:ext cx="189560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4689584" y="1126236"/>
            <a:ext cx="210501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940907" y="1126236"/>
            <a:ext cx="4415940"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1815568"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Написать правило яснее в промте</a:t>
            </a:r>
          </a:p>
        </p:txBody>
      </p:sp>
      <p:sp>
        <p:nvSpPr>
          <p:cNvPr id="9" name="TextBox 8"/>
          <p:cNvSpPr txBox="1"/>
          <p:nvPr/>
        </p:nvSpPr>
        <p:spPr>
          <a:xfrm>
            <a:off x="2647672" y="1393317"/>
            <a:ext cx="1895608"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Переформулировать правило, явно развести «≤3000 → одобрить» и «&gt;3000 → эскалировать»</a:t>
            </a:r>
          </a:p>
        </p:txBody>
      </p:sp>
      <p:sp>
        <p:nvSpPr>
          <p:cNvPr id="10" name="TextBox 9"/>
          <p:cNvSpPr txBox="1"/>
          <p:nvPr/>
        </p:nvSpPr>
        <p:spPr>
          <a:xfrm>
            <a:off x="4689584" y="1393317"/>
            <a:ext cx="2105019"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Измерено: версия 1 ошибалась 9/101 на границе, уточнённая формулировка — </a:t>
            </a:r>
            <a:r>
              <a:rPr sz="1050" b="1" i="0">
                <a:solidFill>
                  <a:srgbClr val="141B2E"/>
                </a:solidFill>
                <a:latin typeface="Arial"/>
              </a:rPr>
              <a:t>100/100</a:t>
            </a:r>
            <a:r>
              <a:rPr sz="1050" b="0" i="0">
                <a:solidFill>
                  <a:srgbClr val="141B2E"/>
                </a:solidFill>
                <a:latin typeface="Arial"/>
              </a:rPr>
              <a:t> на расширенном наборе</a:t>
            </a:r>
          </a:p>
        </p:txBody>
      </p:sp>
      <p:sp>
        <p:nvSpPr>
          <p:cNvPr id="11" name="TextBox 10"/>
          <p:cNvSpPr txBox="1"/>
          <p:nvPr/>
        </p:nvSpPr>
        <p:spPr>
          <a:xfrm>
            <a:off x="6940907" y="1393317"/>
            <a:ext cx="4415940"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Факт на конкретном наборе/модели, не структурная гарантия — решение всё ещё текстовое, не код; другая формулировка или модель может разойтись снова</a:t>
            </a:r>
          </a:p>
        </p:txBody>
      </p:sp>
      <p:cxnSp>
        <p:nvCxnSpPr>
          <p:cNvPr id="12" name="Connector 11"/>
          <p:cNvCxnSpPr/>
          <p:nvPr/>
        </p:nvCxnSpPr>
        <p:spPr>
          <a:xfrm>
            <a:off x="685800" y="23246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24671"/>
            <a:ext cx="1815568"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Дать модели инструмент-калькулятор</a:t>
            </a:r>
          </a:p>
        </p:txBody>
      </p:sp>
      <p:sp>
        <p:nvSpPr>
          <p:cNvPr id="14" name="TextBox 13"/>
          <p:cNvSpPr txBox="1"/>
          <p:nvPr/>
        </p:nvSpPr>
        <p:spPr>
          <a:xfrm>
            <a:off x="2647672" y="2324671"/>
            <a:ext cx="1895608"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Модель получает функцию сравнения чисел вместо сравнения «в уме» и сама решает, вызывать её или нет</a:t>
            </a:r>
          </a:p>
        </p:txBody>
      </p:sp>
      <p:sp>
        <p:nvSpPr>
          <p:cNvPr id="15" name="TextBox 14"/>
          <p:cNvSpPr txBox="1"/>
          <p:nvPr/>
        </p:nvSpPr>
        <p:spPr>
          <a:xfrm>
            <a:off x="4689584" y="2324671"/>
            <a:ext cx="2105019"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теории разделяет извлечение числа и сравнение на две операции</a:t>
            </a:r>
          </a:p>
        </p:txBody>
      </p:sp>
      <p:sp>
        <p:nvSpPr>
          <p:cNvPr id="16" name="TextBox 15"/>
          <p:cNvSpPr txBox="1"/>
          <p:nvPr/>
        </p:nvSpPr>
        <p:spPr>
          <a:xfrm>
            <a:off x="6940907" y="2324671"/>
            <a:ext cx="4415940"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Модель сначала извлекает сумму из текста — тот же вероятностный шаг, затем сама решает, вызывать ли инструмент: вероятностность не исчезает, переезжает раньше. Измерено: </a:t>
            </a:r>
            <a:r>
              <a:rPr sz="1050" b="1" i="0">
                <a:solidFill>
                  <a:srgbClr val="141B2E"/>
                </a:solidFill>
                <a:latin typeface="Arial"/>
              </a:rPr>
              <a:t>56/100</a:t>
            </a:r>
            <a:r>
              <a:rPr sz="1050" b="0" i="0">
                <a:solidFill>
                  <a:srgbClr val="141B2E"/>
                </a:solidFill>
                <a:latin typeface="Arial"/>
              </a:rPr>
              <a:t> — хуже всех; калькулятор не умеет сравнений (11/100 отказов), 30/100 ответов не сводятся к слову, 9/100 ошибок разбросаны по диапазону</a:t>
            </a:r>
          </a:p>
        </p:txBody>
      </p:sp>
      <p:cxnSp>
        <p:nvCxnSpPr>
          <p:cNvPr id="17" name="Connector 16"/>
          <p:cNvCxnSpPr/>
          <p:nvPr/>
        </p:nvCxnSpPr>
        <p:spPr>
          <a:xfrm>
            <a:off x="685800" y="34093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9378"/>
            <a:ext cx="1815568"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Поставить </a:t>
            </a:r>
            <a:r>
              <a:rPr sz="1050" b="1" i="0">
                <a:solidFill>
                  <a:srgbClr val="141B2E"/>
                </a:solidFill>
                <a:latin typeface="Consolas"/>
              </a:rPr>
              <a:t>IF</a:t>
            </a:r>
            <a:r>
              <a:rPr sz="1050" b="1" i="0">
                <a:solidFill>
                  <a:srgbClr val="141B2E"/>
                </a:solidFill>
                <a:latin typeface="Arial"/>
              </a:rPr>
              <a:t>-узел после извлечения суммы</a:t>
            </a:r>
          </a:p>
        </p:txBody>
      </p:sp>
      <p:sp>
        <p:nvSpPr>
          <p:cNvPr id="19" name="TextBox 18"/>
          <p:cNvSpPr txBox="1"/>
          <p:nvPr/>
        </p:nvSpPr>
        <p:spPr>
          <a:xfrm>
            <a:off x="2647672" y="3409378"/>
            <a:ext cx="1895608"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Сумму достаёт модель, сравнивает с порогом код — условие, не текстовый вызов</a:t>
            </a:r>
          </a:p>
        </p:txBody>
      </p:sp>
      <p:sp>
        <p:nvSpPr>
          <p:cNvPr id="20" name="TextBox 19"/>
          <p:cNvSpPr txBox="1"/>
          <p:nvPr/>
        </p:nvSpPr>
        <p:spPr>
          <a:xfrm>
            <a:off x="4689584" y="3409378"/>
            <a:ext cx="2105019"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Устраняет вероятностность из точки решения. Измерено: </a:t>
            </a:r>
            <a:r>
              <a:rPr sz="1050" b="1" i="0">
                <a:solidFill>
                  <a:srgbClr val="141B2E"/>
                </a:solidFill>
                <a:latin typeface="Arial"/>
              </a:rPr>
              <a:t>0/101</a:t>
            </a:r>
            <a:r>
              <a:rPr sz="1050" b="0" i="0">
                <a:solidFill>
                  <a:srgbClr val="141B2E"/>
                </a:solidFill>
                <a:latin typeface="Arial"/>
              </a:rPr>
              <a:t> на расширенном наборе, включая граничные случаи</a:t>
            </a:r>
          </a:p>
        </p:txBody>
      </p:sp>
      <p:sp>
        <p:nvSpPr>
          <p:cNvPr id="21" name="TextBox 20"/>
          <p:cNvSpPr txBox="1"/>
          <p:nvPr/>
        </p:nvSpPr>
        <p:spPr>
          <a:xfrm>
            <a:off x="6940907" y="3409378"/>
            <a:ext cx="4415940"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Сумму всё ещё извлекает модель — ошибка извлечения (не сравнения) этим узлом не закрыта, хотя на наборе её не нашлось</a:t>
            </a:r>
          </a:p>
        </p:txBody>
      </p:sp>
      <p:cxnSp>
        <p:nvCxnSpPr>
          <p:cNvPr id="22" name="Connector 21"/>
          <p:cNvCxnSpPr/>
          <p:nvPr/>
        </p:nvCxnSpPr>
        <p:spPr>
          <a:xfrm>
            <a:off x="685800" y="43407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340732"/>
            <a:ext cx="1815568"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Сделать сумму явным числовым полем формы</a:t>
            </a:r>
          </a:p>
        </p:txBody>
      </p:sp>
      <p:sp>
        <p:nvSpPr>
          <p:cNvPr id="24" name="TextBox 23"/>
          <p:cNvSpPr txBox="1"/>
          <p:nvPr/>
        </p:nvSpPr>
        <p:spPr>
          <a:xfrm>
            <a:off x="2647672" y="4340732"/>
            <a:ext cx="1895608"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Собирать сумму цифрами в поле заявки — не извлекать из текста вовсе</a:t>
            </a:r>
          </a:p>
        </p:txBody>
      </p:sp>
      <p:sp>
        <p:nvSpPr>
          <p:cNvPr id="25" name="TextBox 24"/>
          <p:cNvSpPr txBox="1"/>
          <p:nvPr/>
        </p:nvSpPr>
        <p:spPr>
          <a:xfrm>
            <a:off x="4689584" y="4340732"/>
            <a:ext cx="2105019"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Устраняет неопределённость раньше: извлекать нечего — риска неверного извлечения нет</a:t>
            </a:r>
          </a:p>
        </p:txBody>
      </p:sp>
      <p:sp>
        <p:nvSpPr>
          <p:cNvPr id="26" name="TextBox 25"/>
          <p:cNvSpPr txBox="1"/>
          <p:nvPr/>
        </p:nvSpPr>
        <p:spPr>
          <a:xfrm>
            <a:off x="6940907" y="4340732"/>
            <a:ext cx="4415940"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Работает только если форму можно менять; письмо/чат/другой канал всё равно требует извлечения из текста. Метрика — применимость, не точность: шага извлечения нет, точности тоже</a:t>
            </a:r>
          </a:p>
        </p:txBody>
      </p:sp>
      <p:sp>
        <p:nvSpPr>
          <p:cNvPr id="27" name="Rounded Rectangle 26"/>
          <p:cNvSpPr/>
          <p:nvPr/>
        </p:nvSpPr>
        <p:spPr>
          <a:xfrm>
            <a:off x="502920" y="5466207"/>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594223"/>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Мостик дальше.</a:t>
            </a:r>
            <a:r>
              <a:rPr sz="1150" b="1" i="0">
                <a:solidFill>
                  <a:srgbClr val="141B2E"/>
                </a:solidFill>
                <a:latin typeface="Arial"/>
              </a:rPr>
              <a:t> Одно действие измеримо исправило конкретную находку, одно измеримо провалилось, одно устраняет риск структурно и подтверждено измерением, одно меняет вход раньше решения и не нуждается в метрике точности. Какое из них нужно здесь, показывает измерение — то самое, что уже стоит в этой таблице. Следующий такт — как оно было устроено.</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идеи: сервис jev для извлечения суммы</a:t>
            </a:r>
          </a:p>
        </p:txBody>
      </p:sp>
      <p:pic>
        <p:nvPicPr>
          <p:cNvPr id="3" name="Picture 2" descr="k3-jev-tipy-otveta.png"/>
          <p:cNvPicPr>
            <a:picLocks noChangeAspect="1"/>
          </p:cNvPicPr>
          <p:nvPr/>
        </p:nvPicPr>
        <p:blipFill>
          <a:blip r:embed="rId2"/>
          <a:stretch>
            <a:fillRect/>
          </a:stretch>
        </p:blipFill>
        <p:spPr>
          <a:xfrm>
            <a:off x="1179576" y="1051560"/>
            <a:ext cx="9829800"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Урок.</a:t>
            </a:r>
            <a:r>
              <a:rPr sz="1500" b="1" i="0">
                <a:solidFill>
                  <a:srgbClr val="141B2E"/>
                </a:solidFill>
                <a:latin typeface="Arial"/>
              </a:rPr>
              <a:t> Сначала проверяют, что сервис умеет делать то, что от него хотят. Проектируют шаг вокруг него только потом.</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5707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8508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Жалоба — не мера: тихая ошибка её не вызывает.</a:t>
            </a:r>
            <a:r>
              <a:rPr sz="1500" b="1" i="0">
                <a:solidFill>
                  <a:srgbClr val="141B2E"/>
                </a:solidFill>
                <a:latin typeface="Arial"/>
              </a:rPr>
              <a:t> Поэтому правило, месяц работавшее без единой жалобы, прогнали спроектированным набором из 101 запроса — 51 исходный плюс 50 сложнее: у самой границы, с двумя числами в тексте, с суммой, которую надо посчитать. Правильность каждого прогона читают из его данных, а не на глаз.</a:t>
            </a:r>
          </a:p>
        </p:txBody>
      </p:sp>
      <p:pic>
        <p:nvPicPr>
          <p:cNvPr id="5" name="Picture 4" descr="k3-n8n-variants-real.png"/>
          <p:cNvPicPr>
            <a:picLocks noChangeAspect="1"/>
          </p:cNvPicPr>
          <p:nvPr/>
        </p:nvPicPr>
        <p:blipFill>
          <a:blip r:embed="rId2"/>
          <a:stretch>
            <a:fillRect/>
          </a:stretch>
        </p:blipFill>
        <p:spPr>
          <a:xfrm>
            <a:off x="1376172" y="2375154"/>
            <a:ext cx="9436608" cy="3931920"/>
          </a:xfrm>
          <a:prstGeom prst="rect">
            <a:avLst/>
          </a:prstGeom>
        </p:spPr>
      </p:pic>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ошибок на 101 запросе</a:t>
            </a:r>
          </a:p>
        </p:txBody>
      </p:sp>
      <p:sp>
        <p:nvSpPr>
          <p:cNvPr id="3" name="Rounded Rectangle 2"/>
          <p:cNvSpPr/>
          <p:nvPr/>
        </p:nvSpPr>
        <p:spPr>
          <a:xfrm>
            <a:off x="502920" y="2414206"/>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9 из 101</a:t>
            </a:r>
          </a:p>
        </p:txBody>
      </p:sp>
      <p:sp>
        <p:nvSpPr>
          <p:cNvPr id="5" name="TextBox 4"/>
          <p:cNvSpPr txBox="1"/>
          <p:nvPr/>
        </p:nvSpPr>
        <p:spPr>
          <a:xfrm>
            <a:off x="630936"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правило в промте (версия 1)</a:t>
            </a:r>
          </a:p>
        </p:txBody>
      </p:sp>
      <p:sp>
        <p:nvSpPr>
          <p:cNvPr id="6" name="Rounded Rectangle 5"/>
          <p:cNvSpPr/>
          <p:nvPr/>
        </p:nvSpPr>
        <p:spPr>
          <a:xfrm>
            <a:off x="6195059" y="2414206"/>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3075"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0 из 101</a:t>
            </a:r>
          </a:p>
        </p:txBody>
      </p:sp>
      <p:sp>
        <p:nvSpPr>
          <p:cNvPr id="8" name="TextBox 7"/>
          <p:cNvSpPr txBox="1"/>
          <p:nvPr/>
        </p:nvSpPr>
        <p:spPr>
          <a:xfrm>
            <a:off x="6323075"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условие в коде (версия 2)</a:t>
            </a:r>
          </a:p>
        </p:txBody>
      </p:sp>
      <p:sp>
        <p:nvSpPr>
          <p:cNvPr id="9" name="Rounded Rectangle 8"/>
          <p:cNvSpPr/>
          <p:nvPr/>
        </p:nvSpPr>
        <p:spPr>
          <a:xfrm>
            <a:off x="502920" y="4380166"/>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35030"/>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17326"/>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И все девять — на сумме ровно 3000 руб.</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9 ошибок из 101, и все девять в одной точке</a:t>
            </a:r>
          </a:p>
        </p:txBody>
      </p:sp>
      <p:sp>
        <p:nvSpPr>
          <p:cNvPr id="3" name="Rounded Rectangle 2"/>
          <p:cNvSpPr/>
          <p:nvPr/>
        </p:nvSpPr>
        <p:spPr>
          <a:xfrm>
            <a:off x="502920" y="943356"/>
            <a:ext cx="11183112" cy="3629215"/>
          </a:xfrm>
          <a:prstGeom prst="roundRect">
            <a:avLst>
              <a:gd name="adj" fmla="val 8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81393"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БЛОК ТЕСТА</a:t>
            </a:r>
          </a:p>
        </p:txBody>
      </p:sp>
      <p:sp>
        <p:nvSpPr>
          <p:cNvPr id="5" name="TextBox 4"/>
          <p:cNvSpPr txBox="1"/>
          <p:nvPr/>
        </p:nvSpPr>
        <p:spPr>
          <a:xfrm>
            <a:off x="3713497" y="1126236"/>
            <a:ext cx="78850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ЗАПРОСОВ</a:t>
            </a:r>
          </a:p>
        </p:txBody>
      </p:sp>
      <p:sp>
        <p:nvSpPr>
          <p:cNvPr id="6" name="TextBox 5"/>
          <p:cNvSpPr txBox="1"/>
          <p:nvPr/>
        </p:nvSpPr>
        <p:spPr>
          <a:xfrm>
            <a:off x="4648306"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В.1</a:t>
            </a:r>
          </a:p>
        </p:txBody>
      </p:sp>
      <p:sp>
        <p:nvSpPr>
          <p:cNvPr id="7" name="TextBox 6"/>
          <p:cNvSpPr txBox="1"/>
          <p:nvPr/>
        </p:nvSpPr>
        <p:spPr>
          <a:xfrm>
            <a:off x="5469609"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В.2</a:t>
            </a:r>
          </a:p>
        </p:txBody>
      </p:sp>
      <p:sp>
        <p:nvSpPr>
          <p:cNvPr id="8" name="TextBox 7"/>
          <p:cNvSpPr txBox="1"/>
          <p:nvPr/>
        </p:nvSpPr>
        <p:spPr>
          <a:xfrm>
            <a:off x="6290912" y="1126236"/>
            <a:ext cx="506593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ПРИМЕР ЗАПРОСА</a:t>
            </a:r>
          </a:p>
        </p:txBody>
      </p:sp>
      <p:sp>
        <p:nvSpPr>
          <p:cNvPr id="9" name="TextBox 8"/>
          <p:cNvSpPr txBox="1"/>
          <p:nvPr/>
        </p:nvSpPr>
        <p:spPr>
          <a:xfrm>
            <a:off x="685800" y="1550670"/>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границы и ниже (1000–3000 руб.)</a:t>
            </a:r>
          </a:p>
        </p:txBody>
      </p:sp>
      <p:sp>
        <p:nvSpPr>
          <p:cNvPr id="10" name="TextBox 9"/>
          <p:cNvSpPr txBox="1"/>
          <p:nvPr/>
        </p:nvSpPr>
        <p:spPr>
          <a:xfrm>
            <a:off x="3713497" y="1550670"/>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1" name="TextBox 10"/>
          <p:cNvSpPr txBox="1"/>
          <p:nvPr/>
        </p:nvSpPr>
        <p:spPr>
          <a:xfrm>
            <a:off x="4648306" y="1550670"/>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a:t>
            </a:r>
            <a:r>
              <a:rPr sz="1050" b="0" i="0">
                <a:solidFill>
                  <a:srgbClr val="141B2E"/>
                </a:solidFill>
                <a:latin typeface="Arial"/>
              </a:rPr>
              <a:t> (= 3000 руб.)</a:t>
            </a:r>
          </a:p>
        </p:txBody>
      </p:sp>
      <p:sp>
        <p:nvSpPr>
          <p:cNvPr id="12" name="TextBox 11"/>
          <p:cNvSpPr txBox="1"/>
          <p:nvPr/>
        </p:nvSpPr>
        <p:spPr>
          <a:xfrm>
            <a:off x="5469609" y="1550670"/>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3" name="TextBox 12"/>
          <p:cNvSpPr txBox="1"/>
          <p:nvPr/>
        </p:nvSpPr>
        <p:spPr>
          <a:xfrm>
            <a:off x="6290912" y="1550670"/>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«можно возврат 3000 рублей за один пропуск?»</a:t>
            </a:r>
          </a:p>
        </p:txBody>
      </p:sp>
      <p:cxnSp>
        <p:nvCxnSpPr>
          <p:cNvPr id="14" name="Connector 13"/>
          <p:cNvCxnSpPr/>
          <p:nvPr/>
        </p:nvCxnSpPr>
        <p:spPr>
          <a:xfrm>
            <a:off x="685800" y="2175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75319"/>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Явно выше (3200–9000 руб.)</a:t>
            </a:r>
          </a:p>
        </p:txBody>
      </p:sp>
      <p:sp>
        <p:nvSpPr>
          <p:cNvPr id="16" name="TextBox 15"/>
          <p:cNvSpPr txBox="1"/>
          <p:nvPr/>
        </p:nvSpPr>
        <p:spPr>
          <a:xfrm>
            <a:off x="3713497" y="2175319"/>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7" name="TextBox 16"/>
          <p:cNvSpPr txBox="1"/>
          <p:nvPr/>
        </p:nvSpPr>
        <p:spPr>
          <a:xfrm>
            <a:off x="4648306"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8" name="TextBox 17"/>
          <p:cNvSpPr txBox="1"/>
          <p:nvPr/>
        </p:nvSpPr>
        <p:spPr>
          <a:xfrm>
            <a:off x="5469609"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9" name="TextBox 18"/>
          <p:cNvSpPr txBox="1"/>
          <p:nvPr/>
        </p:nvSpPr>
        <p:spPr>
          <a:xfrm>
            <a:off x="6290912" y="2175319"/>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3200 рублей, иначе буду писать жалобу»</a:t>
            </a:r>
          </a:p>
        </p:txBody>
      </p:sp>
      <p:cxnSp>
        <p:nvCxnSpPr>
          <p:cNvPr id="20" name="Connector 19"/>
          <p:cNvCxnSpPr/>
          <p:nvPr/>
        </p:nvCxnSpPr>
        <p:spPr>
          <a:xfrm>
            <a:off x="685800" y="2493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93264"/>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Ручной тест</a:t>
            </a:r>
          </a:p>
        </p:txBody>
      </p:sp>
      <p:sp>
        <p:nvSpPr>
          <p:cNvPr id="22" name="TextBox 21"/>
          <p:cNvSpPr txBox="1"/>
          <p:nvPr/>
        </p:nvSpPr>
        <p:spPr>
          <a:xfrm>
            <a:off x="3713497" y="2493264"/>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a:t>
            </a:r>
          </a:p>
        </p:txBody>
      </p:sp>
      <p:sp>
        <p:nvSpPr>
          <p:cNvPr id="23" name="TextBox 22"/>
          <p:cNvSpPr txBox="1"/>
          <p:nvPr/>
        </p:nvSpPr>
        <p:spPr>
          <a:xfrm>
            <a:off x="4648306"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4" name="TextBox 23"/>
          <p:cNvSpPr txBox="1"/>
          <p:nvPr/>
        </p:nvSpPr>
        <p:spPr>
          <a:xfrm>
            <a:off x="5469609"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5" name="TextBox 24"/>
          <p:cNvSpPr txBox="1"/>
          <p:nvPr/>
        </p:nvSpPr>
        <p:spPr>
          <a:xfrm>
            <a:off x="6290912" y="2493264"/>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не сохранён как данные</a:t>
            </a:r>
          </a:p>
        </p:txBody>
      </p:sp>
      <p:cxnSp>
        <p:nvCxnSpPr>
          <p:cNvPr id="26" name="Connector 25"/>
          <p:cNvCxnSpPr/>
          <p:nvPr/>
        </p:nvCxnSpPr>
        <p:spPr>
          <a:xfrm>
            <a:off x="685800" y="2811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811208"/>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самой границы (±20 руб. от 3000 руб.)</a:t>
            </a:r>
          </a:p>
        </p:txBody>
      </p:sp>
      <p:sp>
        <p:nvSpPr>
          <p:cNvPr id="28" name="TextBox 27"/>
          <p:cNvSpPr txBox="1"/>
          <p:nvPr/>
        </p:nvSpPr>
        <p:spPr>
          <a:xfrm>
            <a:off x="3713497" y="2811208"/>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29" name="TextBox 28"/>
          <p:cNvSpPr txBox="1"/>
          <p:nvPr/>
        </p:nvSpPr>
        <p:spPr>
          <a:xfrm>
            <a:off x="4648306"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0" name="TextBox 29"/>
          <p:cNvSpPr txBox="1"/>
          <p:nvPr/>
        </p:nvSpPr>
        <p:spPr>
          <a:xfrm>
            <a:off x="5469609"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1" name="TextBox 30"/>
          <p:cNvSpPr txBox="1"/>
          <p:nvPr/>
        </p:nvSpPr>
        <p:spPr>
          <a:xfrm>
            <a:off x="6290912" y="2811208"/>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«прошу вернуть 2999 рублей, занятие отменили в последний момент»</a:t>
            </a:r>
          </a:p>
        </p:txBody>
      </p:sp>
      <p:cxnSp>
        <p:nvCxnSpPr>
          <p:cNvPr id="32" name="Connector 31"/>
          <p:cNvCxnSpPr/>
          <p:nvPr/>
        </p:nvCxnSpPr>
        <p:spPr>
          <a:xfrm>
            <a:off x="685800" y="3129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9153"/>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Два числа в одном тексте</a:t>
            </a:r>
          </a:p>
        </p:txBody>
      </p:sp>
      <p:sp>
        <p:nvSpPr>
          <p:cNvPr id="34" name="TextBox 33"/>
          <p:cNvSpPr txBox="1"/>
          <p:nvPr/>
        </p:nvSpPr>
        <p:spPr>
          <a:xfrm>
            <a:off x="3713497" y="3129153"/>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a:t>
            </a:r>
          </a:p>
        </p:txBody>
      </p:sp>
      <p:sp>
        <p:nvSpPr>
          <p:cNvPr id="35" name="TextBox 34"/>
          <p:cNvSpPr txBox="1"/>
          <p:nvPr/>
        </p:nvSpPr>
        <p:spPr>
          <a:xfrm>
            <a:off x="4648306"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6" name="TextBox 35"/>
          <p:cNvSpPr txBox="1"/>
          <p:nvPr/>
        </p:nvSpPr>
        <p:spPr>
          <a:xfrm>
            <a:off x="5469609"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7" name="TextBox 36"/>
          <p:cNvSpPr txBox="1"/>
          <p:nvPr/>
        </p:nvSpPr>
        <p:spPr>
          <a:xfrm>
            <a:off x="6290912" y="3129153"/>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«курс обошёлся в 12000 руб., хочу возврат 2400 рублей за один блок»</a:t>
            </a:r>
          </a:p>
        </p:txBody>
      </p:sp>
      <p:cxnSp>
        <p:nvCxnSpPr>
          <p:cNvPr id="38" name="Connector 37"/>
          <p:cNvCxnSpPr/>
          <p:nvPr/>
        </p:nvCxnSpPr>
        <p:spPr>
          <a:xfrm>
            <a:off x="685800" y="34470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47097"/>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Непрямая формулировка (арифметика/«около»)</a:t>
            </a:r>
          </a:p>
        </p:txBody>
      </p:sp>
      <p:sp>
        <p:nvSpPr>
          <p:cNvPr id="40" name="TextBox 39"/>
          <p:cNvSpPr txBox="1"/>
          <p:nvPr/>
        </p:nvSpPr>
        <p:spPr>
          <a:xfrm>
            <a:off x="3713497" y="3447097"/>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41" name="TextBox 40"/>
          <p:cNvSpPr txBox="1"/>
          <p:nvPr/>
        </p:nvSpPr>
        <p:spPr>
          <a:xfrm>
            <a:off x="4648306" y="3447097"/>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a:t>
            </a:r>
            <a:r>
              <a:rPr sz="1050" b="0" i="0">
                <a:solidFill>
                  <a:srgbClr val="141B2E"/>
                </a:solidFill>
                <a:latin typeface="Arial"/>
              </a:rPr>
              <a:t> (= 3000 руб.)</a:t>
            </a:r>
          </a:p>
        </p:txBody>
      </p:sp>
      <p:sp>
        <p:nvSpPr>
          <p:cNvPr id="42" name="TextBox 41"/>
          <p:cNvSpPr txBox="1"/>
          <p:nvPr/>
        </p:nvSpPr>
        <p:spPr>
          <a:xfrm>
            <a:off x="5469609" y="3447097"/>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43" name="TextBox 42"/>
          <p:cNvSpPr txBox="1"/>
          <p:nvPr/>
        </p:nvSpPr>
        <p:spPr>
          <a:xfrm>
            <a:off x="6290912" y="3447097"/>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«занятие стоило 1500 рублей, прошу вернуть за два таких занятия»</a:t>
            </a:r>
          </a:p>
        </p:txBody>
      </p:sp>
      <p:cxnSp>
        <p:nvCxnSpPr>
          <p:cNvPr id="44" name="Connector 43"/>
          <p:cNvCxnSpPr/>
          <p:nvPr/>
        </p:nvCxnSpPr>
        <p:spPr>
          <a:xfrm>
            <a:off x="685800" y="40717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66928" y="4071747"/>
            <a:ext cx="11055096" cy="3179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071747"/>
            <a:ext cx="2881393"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Итого</a:t>
            </a:r>
          </a:p>
        </p:txBody>
      </p:sp>
      <p:sp>
        <p:nvSpPr>
          <p:cNvPr id="47" name="TextBox 46"/>
          <p:cNvSpPr txBox="1"/>
          <p:nvPr/>
        </p:nvSpPr>
        <p:spPr>
          <a:xfrm>
            <a:off x="3713497" y="4071747"/>
            <a:ext cx="78850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101</a:t>
            </a:r>
          </a:p>
        </p:txBody>
      </p:sp>
      <p:sp>
        <p:nvSpPr>
          <p:cNvPr id="48" name="TextBox 47"/>
          <p:cNvSpPr txBox="1"/>
          <p:nvPr/>
        </p:nvSpPr>
        <p:spPr>
          <a:xfrm>
            <a:off x="4648306"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9</a:t>
            </a:r>
          </a:p>
        </p:txBody>
      </p:sp>
      <p:sp>
        <p:nvSpPr>
          <p:cNvPr id="49" name="TextBox 48"/>
          <p:cNvSpPr txBox="1"/>
          <p:nvPr/>
        </p:nvSpPr>
        <p:spPr>
          <a:xfrm>
            <a:off x="5469609"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a:t>
            </a:r>
          </a:p>
        </p:txBody>
      </p:sp>
      <p:sp>
        <p:nvSpPr>
          <p:cNvPr id="50" name="Rounded Rectangle 49"/>
          <p:cNvSpPr/>
          <p:nvPr/>
        </p:nvSpPr>
        <p:spPr>
          <a:xfrm>
            <a:off x="502920" y="473716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4865179"/>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Что решила модель на границе.</a:t>
            </a:r>
            <a:r>
              <a:rPr sz="1450" b="1" i="0">
                <a:solidFill>
                  <a:srgbClr val="141B2E"/>
                </a:solidFill>
                <a:latin typeface="Arial"/>
              </a:rPr>
              <a:t> На сумме ровно 3000 руб. — в любой из формулировок, прямой или арифметической, — модель версии 1 отвечала «эскалировать», хотя правило («не возвращай больше 3000 рублей») подразумевает, что сама граница — «можно одобрить». Все 9 ошибок без исключения — на этой одной сумме; ни одна ошибка не случилась ни на 2999 руб., ни на 3001 руб., ни где-либо ещё в диапазоне.</a:t>
            </a:r>
          </a:p>
        </p:txBody>
      </p:sp>
      <p:sp>
        <p:nvSpPr>
          <p:cNvPr id="52" name="TextBox 5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reshenie-real.png"/>
          <p:cNvPicPr>
            <a:picLocks noChangeAspect="1"/>
          </p:cNvPicPr>
          <p:nvPr/>
        </p:nvPicPr>
        <p:blipFill>
          <a:blip r:embed="rId2"/>
          <a:stretch>
            <a:fillRect/>
          </a:stretch>
        </p:blipFill>
        <p:spPr>
          <a:xfrm>
            <a:off x="502920" y="964231"/>
            <a:ext cx="11183112" cy="2932585"/>
          </a:xfrm>
          <a:prstGeom prst="rect">
            <a:avLst/>
          </a:prstGeom>
        </p:spPr>
      </p:pic>
      <p:sp>
        <p:nvSpPr>
          <p:cNvPr id="4" name="Rounded Rectangle 3"/>
          <p:cNvSpPr/>
          <p:nvPr/>
        </p:nvSpPr>
        <p:spPr>
          <a:xfrm>
            <a:off x="502920" y="41135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416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Слева — узел </a:t>
            </a:r>
            <a:r>
              <a:rPr sz="1500" b="1" i="0">
                <a:solidFill>
                  <a:srgbClr val="141B2E"/>
                </a:solidFill>
                <a:latin typeface="Consolas"/>
              </a:rPr>
              <a:t>IF</a:t>
            </a:r>
            <a:r>
              <a:rPr sz="1500" b="1" i="0">
                <a:solidFill>
                  <a:srgbClr val="141B2E"/>
                </a:solidFill>
                <a:latin typeface="Arial"/>
              </a:rPr>
              <a:t> («Amount over threshold?») на холсте, версия 2.</a:t>
            </a:r>
            <a:r>
              <a:rPr sz="1500" b="1" i="0">
                <a:solidFill>
                  <a:srgbClr val="141B2E"/>
                </a:solidFill>
                <a:latin typeface="Arial"/>
              </a:rPr>
              <a:t> Условие: извлечённая сумма (число) </a:t>
            </a:r>
            <a:r>
              <a:rPr sz="1500" b="1" i="0">
                <a:solidFill>
                  <a:srgbClr val="141B2E"/>
                </a:solidFill>
                <a:latin typeface="Arial"/>
              </a:rPr>
              <a:t>строго больше 3000</a:t>
            </a:r>
            <a:r>
              <a:rPr sz="150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31335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4137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Справа — настоящая открытая панель узла </a:t>
            </a:r>
            <a:r>
              <a:rPr sz="1500" b="1" i="0">
                <a:solidFill>
                  <a:srgbClr val="141B2E"/>
                </a:solidFill>
                <a:latin typeface="Consolas"/>
              </a:rPr>
              <a:t>Decide</a:t>
            </a:r>
            <a:r>
              <a:rPr sz="1500" b="1" i="0">
                <a:solidFill>
                  <a:srgbClr val="141B2E"/>
                </a:solidFill>
                <a:latin typeface="Arial"/>
              </a:rPr>
              <a:t> </a:t>
            </a:r>
            <a:r>
              <a:rPr sz="1500" b="1" i="0">
                <a:solidFill>
                  <a:srgbClr val="141B2E"/>
                </a:solidFill>
                <a:latin typeface="Consolas"/>
              </a:rPr>
              <a:t>refund</a:t>
            </a:r>
            <a:r>
              <a:rPr sz="1500" b="1" i="0">
                <a:solidFill>
                  <a:srgbClr val="141B2E"/>
                </a:solidFill>
                <a:latin typeface="Arial"/>
              </a:rPr>
              <a:t> </a:t>
            </a:r>
            <a:r>
              <a:rPr sz="1500" b="1" i="0">
                <a:solidFill>
                  <a:srgbClr val="141B2E"/>
                </a:solidFill>
                <a:latin typeface="Consolas"/>
              </a:rPr>
              <a:t>(model)</a:t>
            </a:r>
            <a:r>
              <a:rPr sz="1500" b="1" i="0">
                <a:solidFill>
                  <a:srgbClr val="141B2E"/>
                </a:solidFill>
                <a:latin typeface="Arial"/>
              </a:rPr>
              <a:t>, версия 1.</a:t>
            </a:r>
            <a:r>
              <a:rPr sz="1500" b="1" i="0">
                <a:solidFill>
                  <a:srgbClr val="141B2E"/>
                </a:solidFill>
                <a:latin typeface="Arial"/>
              </a:rPr>
              <a:t> Поле </a:t>
            </a:r>
            <a:r>
              <a:rPr sz="1500" b="1" i="0">
                <a:solidFill>
                  <a:srgbClr val="141B2E"/>
                </a:solidFill>
                <a:latin typeface="Consolas"/>
              </a:rPr>
              <a:t>Prompt</a:t>
            </a:r>
            <a:r>
              <a:rPr sz="1500" b="1" i="0">
                <a:solidFill>
                  <a:srgbClr val="141B2E"/>
                </a:solidFill>
                <a:latin typeface="Arial"/>
              </a:rPr>
              <a:t> </a:t>
            </a:r>
            <a:r>
              <a:rPr sz="1500" b="1" i="0">
                <a:solidFill>
                  <a:srgbClr val="141B2E"/>
                </a:solidFill>
                <a:latin typeface="Consolas"/>
              </a:rPr>
              <a:t>(User</a:t>
            </a:r>
            <a:r>
              <a:rPr sz="1500" b="1" i="0">
                <a:solidFill>
                  <a:srgbClr val="141B2E"/>
                </a:solidFill>
                <a:latin typeface="Arial"/>
              </a:rPr>
              <a:t> </a:t>
            </a:r>
            <a:r>
              <a:rPr sz="1500" b="1" i="0">
                <a:solidFill>
                  <a:srgbClr val="141B2E"/>
                </a:solidFill>
                <a:latin typeface="Consolas"/>
              </a:rPr>
              <a:t>Message)</a:t>
            </a:r>
            <a:r>
              <a:rPr sz="1500" b="1" i="0">
                <a:solidFill>
                  <a:srgbClr val="141B2E"/>
                </a:solidFill>
                <a:latin typeface="Arial"/>
              </a:rPr>
              <a:t>: то же правило «не больше 3000 — иначе эскалируй», но как текст, который модель должна прочитать и понять, а не как условие в коде. Экран, а не пересказ.</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«Extract amount» и «Amount over threshold?»</a:t>
            </a:r>
          </a:p>
        </p:txBody>
      </p:sp>
      <p:pic>
        <p:nvPicPr>
          <p:cNvPr id="3" name="Picture 2" descr="k3-panel-extract-crop-real.png"/>
          <p:cNvPicPr>
            <a:picLocks noChangeAspect="1"/>
          </p:cNvPicPr>
          <p:nvPr/>
        </p:nvPicPr>
        <p:blipFill>
          <a:blip r:embed="rId2"/>
          <a:stretch>
            <a:fillRect/>
          </a:stretch>
        </p:blipFill>
        <p:spPr>
          <a:xfrm>
            <a:off x="1572768" y="1352702"/>
            <a:ext cx="9043416" cy="3931920"/>
          </a:xfrm>
          <a:prstGeom prst="rect">
            <a:avLst/>
          </a:prstGeom>
        </p:spPr>
      </p:pic>
      <p:sp>
        <p:nvSpPr>
          <p:cNvPr id="4" name="Rounded Rectangle 3"/>
          <p:cNvSpPr/>
          <p:nvPr/>
        </p:nvSpPr>
        <p:spPr>
          <a:xfrm>
            <a:off x="502920" y="55315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6595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Тип ответа задаёт схема, границу задаёт условие. Ни то, ни другое не оставлено тексту, который модель читает заново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клиент при автоматическом одобрении</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Чат поддержки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Ваша заявка на возврат одобрена. 2500 рублей уже отправлены на карту, которой вы оплачивали занятие.</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сумма из сцены этого кейса: «прошу вернуть 2500 рублей за пропущенное занятие» — пример ниже порога, поэтому версия 2 одобряет его сама, без участия руководителя, и клиент видит результат, а не устройство решения.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0228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85161"/>
            <a:ext cx="1549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81180" y="2385161"/>
            <a:ext cx="5828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8355546" y="2385161"/>
            <a:ext cx="30013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667228"/>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101 запросе</a:t>
            </a:r>
          </a:p>
        </p:txBody>
      </p:sp>
      <p:sp>
        <p:nvSpPr>
          <p:cNvPr id="8" name="TextBox 7"/>
          <p:cNvSpPr txBox="1"/>
          <p:nvPr/>
        </p:nvSpPr>
        <p:spPr>
          <a:xfrm>
            <a:off x="2381180" y="2667228"/>
            <a:ext cx="58280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9</a:t>
            </a:r>
            <a:r>
              <a:rPr sz="1250" b="0" i="0">
                <a:solidFill>
                  <a:srgbClr val="141B2E"/>
                </a:solidFill>
                <a:latin typeface="Arial"/>
              </a:rPr>
              <a:t> — все на сумме 3000 руб.</a:t>
            </a:r>
          </a:p>
        </p:txBody>
      </p:sp>
      <p:sp>
        <p:nvSpPr>
          <p:cNvPr id="9" name="TextBox 8"/>
          <p:cNvSpPr txBox="1"/>
          <p:nvPr/>
        </p:nvSpPr>
        <p:spPr>
          <a:xfrm>
            <a:off x="8355546" y="2667228"/>
            <a:ext cx="30013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1969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96945"/>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 руб.)</a:t>
            </a:r>
          </a:p>
        </p:txBody>
      </p:sp>
      <p:sp>
        <p:nvSpPr>
          <p:cNvPr id="12" name="TextBox 11"/>
          <p:cNvSpPr txBox="1"/>
          <p:nvPr/>
        </p:nvSpPr>
        <p:spPr>
          <a:xfrm>
            <a:off x="2381180" y="3196945"/>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8355546" y="3196945"/>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26662"/>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381180" y="3726662"/>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 включая суммы в 20 руб. от границы и тексты с двумя числами</a:t>
            </a:r>
          </a:p>
        </p:txBody>
      </p:sp>
      <p:sp>
        <p:nvSpPr>
          <p:cNvPr id="17" name="TextBox 16"/>
          <p:cNvSpPr txBox="1"/>
          <p:nvPr/>
        </p:nvSpPr>
        <p:spPr>
          <a:xfrm>
            <a:off x="8355546" y="3726662"/>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039569"/>
            <a:ext cx="11183112" cy="2643759"/>
          </a:xfrm>
          <a:prstGeom prst="roundRect">
            <a:avLst>
              <a:gd name="adj" fmla="val 1152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59025"/>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259025"/>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 и на практике измеримо хуже.</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 Измерено: 56 из 100 — хуже всех остальных вариантов, с новыми отказами (смешанный алфавит в ответе, инструмент не умеет сравнений, ошибки разбросаны по всему диапазону).</a:t>
            </a:r>
          </a:p>
        </p:txBody>
      </p:sp>
      <p:sp>
        <p:nvSpPr>
          <p:cNvPr id="6" name="TextBox 5"/>
          <p:cNvSpPr txBox="1"/>
          <p:nvPr/>
        </p:nvSpPr>
        <p:spPr>
          <a:xfrm>
            <a:off x="722376" y="319628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319628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72892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72892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девять из ста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171638"/>
            <a:ext cx="10607040" cy="391160"/>
          </a:xfrm>
          <a:prstGeom prst="rect">
            <a:avLst/>
          </a:prstGeom>
          <a:noFill/>
        </p:spPr>
        <p:txBody>
          <a:bodyPr wrap="square" lIns="0" rIns="0" tIns="0" bIns="0" anchor="t">
            <a:spAutoFit/>
          </a:bodyPr>
          <a:lstStyle/>
          <a:p>
            <a:pPr algn="l">
              <a:lnSpc>
                <a:spcPts val="3080"/>
              </a:lnSpc>
              <a:spcAft>
                <a:spcPts val="0"/>
              </a:spcAft>
            </a:pPr>
            <a:r>
              <a:rPr sz="2800" b="1" i="0">
                <a:solidFill>
                  <a:srgbClr val="FFFFFF"/>
                </a:solidFill>
                <a:latin typeface="Arial"/>
              </a:rPr>
              <a:t>Zillow Offers: алгоритмическая закупка жилья</a:t>
            </a:r>
          </a:p>
        </p:txBody>
      </p:sp>
      <p:sp>
        <p:nvSpPr>
          <p:cNvPr id="4" name="TextBox 3"/>
          <p:cNvSpPr txBox="1"/>
          <p:nvPr/>
        </p:nvSpPr>
        <p:spPr>
          <a:xfrm>
            <a:off x="685800" y="1873694"/>
            <a:ext cx="10607040" cy="511810"/>
          </a:xfrm>
          <a:prstGeom prst="rect">
            <a:avLst/>
          </a:prstGeom>
          <a:noFill/>
        </p:spPr>
        <p:txBody>
          <a:bodyPr wrap="square" lIns="0" rIns="0" tIns="0" bIns="0" anchor="t">
            <a:spAutoFit/>
          </a:bodyPr>
          <a:lstStyle/>
          <a:p>
            <a:pPr algn="l">
              <a:lnSpc>
                <a:spcPts val="2015"/>
              </a:lnSpc>
              <a:spcAft>
                <a:spcPts val="300"/>
              </a:spcAft>
            </a:pPr>
            <a:r>
              <a:rPr sz="1550" b="0" i="1">
                <a:solidFill>
                  <a:srgbClr val="FFFFFF"/>
                </a:solidFill>
                <a:latin typeface="Arial"/>
              </a:rPr>
              <a:t>«Непредсказуемость прогнозирования цен на жильё намного превышает то, что мы ожидали… частота ошибок оказалась гораздо более волатильной, чем мы считали возможным.»</a:t>
            </a:r>
          </a:p>
        </p:txBody>
      </p:sp>
      <p:sp>
        <p:nvSpPr>
          <p:cNvPr id="5" name="TextBox 4"/>
          <p:cNvSpPr txBox="1"/>
          <p:nvPr/>
        </p:nvSpPr>
        <p:spPr>
          <a:xfrm>
            <a:off x="685800" y="2495232"/>
            <a:ext cx="10607040" cy="182879"/>
          </a:xfrm>
          <a:prstGeom prst="rect">
            <a:avLst/>
          </a:prstGeom>
          <a:noFill/>
        </p:spPr>
        <p:txBody>
          <a:bodyPr wrap="square" lIns="0" rIns="0" tIns="0" bIns="0" anchor="t">
            <a:spAutoFit/>
          </a:bodyPr>
          <a:lstStyle/>
          <a:p>
            <a:pPr algn="l">
              <a:lnSpc>
                <a:spcPts val="1439"/>
              </a:lnSpc>
              <a:spcAft>
                <a:spcPts val="0"/>
              </a:spcAft>
            </a:pPr>
            <a:r>
              <a:rPr sz="1200" b="0" i="0">
                <a:solidFill>
                  <a:srgbClr val="D6E2EC"/>
                </a:solidFill>
                <a:latin typeface="Arial"/>
              </a:rPr>
              <a:t>Рич Бартон, CEO Zillow, 2 ноября 2021</a:t>
            </a:r>
          </a:p>
        </p:txBody>
      </p:sp>
      <p:sp>
        <p:nvSpPr>
          <p:cNvPr id="6" name="Rounded Rectangle 5"/>
          <p:cNvSpPr/>
          <p:nvPr/>
        </p:nvSpPr>
        <p:spPr>
          <a:xfrm>
            <a:off x="685800"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$304 млн</a:t>
            </a:r>
          </a:p>
        </p:txBody>
      </p:sp>
      <p:sp>
        <p:nvSpPr>
          <p:cNvPr id="8" name="TextBox 7"/>
          <p:cNvSpPr txBox="1"/>
          <p:nvPr/>
        </p:nvSpPr>
        <p:spPr>
          <a:xfrm>
            <a:off x="813816"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списание за квартал</a:t>
            </a:r>
          </a:p>
        </p:txBody>
      </p:sp>
      <p:sp>
        <p:nvSpPr>
          <p:cNvPr id="9" name="Rounded Rectangle 8"/>
          <p:cNvSpPr/>
          <p:nvPr/>
        </p:nvSpPr>
        <p:spPr>
          <a:xfrm>
            <a:off x="4288536"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~2000 человек</a:t>
            </a:r>
          </a:p>
        </p:txBody>
      </p:sp>
      <p:sp>
        <p:nvSpPr>
          <p:cNvPr id="11" name="TextBox 10"/>
          <p:cNvSpPr txBox="1"/>
          <p:nvPr/>
        </p:nvSpPr>
        <p:spPr>
          <a:xfrm>
            <a:off x="4416552"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четверть штата</a:t>
            </a:r>
          </a:p>
        </p:txBody>
      </p:sp>
      <p:sp>
        <p:nvSpPr>
          <p:cNvPr id="12" name="Rounded Rectangle 11"/>
          <p:cNvSpPr/>
          <p:nvPr/>
        </p:nvSpPr>
        <p:spPr>
          <a:xfrm>
            <a:off x="7891272"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~$80 000</a:t>
            </a:r>
          </a:p>
        </p:txBody>
      </p:sp>
      <p:sp>
        <p:nvSpPr>
          <p:cNvPr id="14" name="TextBox 13"/>
          <p:cNvSpPr txBox="1"/>
          <p:nvPr/>
        </p:nvSpPr>
        <p:spPr>
          <a:xfrm>
            <a:off x="8019288"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убыток на каждый проданный дом</a:t>
            </a:r>
          </a:p>
        </p:txBody>
      </p:sp>
      <p:sp>
        <p:nvSpPr>
          <p:cNvPr id="15" name="TextBox 14"/>
          <p:cNvSpPr txBox="1"/>
          <p:nvPr/>
        </p:nvSpPr>
        <p:spPr>
          <a:xfrm>
            <a:off x="685800" y="4836096"/>
            <a:ext cx="10607040" cy="255905"/>
          </a:xfrm>
          <a:prstGeom prst="rect">
            <a:avLst/>
          </a:prstGeom>
          <a:noFill/>
        </p:spPr>
        <p:txBody>
          <a:bodyPr wrap="square" lIns="0" rIns="0" tIns="0" bIns="0" anchor="t">
            <a:spAutoFit/>
          </a:bodyPr>
          <a:lstStyle/>
          <a:p>
            <a:pPr algn="l">
              <a:lnSpc>
                <a:spcPts val="2015"/>
              </a:lnSpc>
              <a:spcAft>
                <a:spcPts val="300"/>
              </a:spcAft>
            </a:pPr>
            <a:r>
              <a:rPr sz="1550" b="0" i="0">
                <a:solidFill>
                  <a:srgbClr val="FFFFFF"/>
                </a:solidFill>
                <a:latin typeface="Arial"/>
              </a:rPr>
              <a:t>Тот же порог без гейта, что в «Одобрении возврата», — на масштабе компании.</a:t>
            </a:r>
          </a:p>
        </p:txBody>
      </p:sp>
      <p:sp>
        <p:nvSpPr>
          <p:cNvPr id="16" name="Rounded Rectangle 15"/>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периода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546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86706" y="1201166"/>
            <a:ext cx="23858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18871" y="1201166"/>
            <a:ext cx="57379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86706" y="1483233"/>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18871" y="1483233"/>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86706" y="2195512"/>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18871" y="2195512"/>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период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86706" y="3090354"/>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18871" y="3090354"/>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86706" y="3985196"/>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18871" y="3985196"/>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периода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явный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короткий период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Карточка в Telegram</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Журнал выполнения — зелёный. Отправка подтверждена. У координатора в Telegram — ничего.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1760220"/>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7" name="TextBox 6"/>
          <p:cNvSpPr txBox="1"/>
          <p:nvPr/>
        </p:nvSpPr>
        <p:spPr>
          <a:xfrm>
            <a:off x="1106424" y="1979676"/>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2392426"/>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9" name="TextBox 8"/>
          <p:cNvSpPr txBox="1"/>
          <p:nvPr/>
        </p:nvSpPr>
        <p:spPr>
          <a:xfrm>
            <a:off x="1106424" y="2392426"/>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266280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1" name="TextBox 10"/>
          <p:cNvSpPr txBox="1"/>
          <p:nvPr/>
        </p:nvSpPr>
        <p:spPr>
          <a:xfrm>
            <a:off x="1106424" y="266280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307555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3" name="TextBox 12"/>
          <p:cNvSpPr txBox="1"/>
          <p:nvPr/>
        </p:nvSpPr>
        <p:spPr>
          <a:xfrm>
            <a:off x="1106424" y="307555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3872357"/>
            <a:ext cx="82296" cy="6627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000373"/>
            <a:ext cx="10643616" cy="4067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Цена, которую не видно в журнале.</a:t>
            </a:r>
            <a:r>
              <a:rPr sz="11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Rounded Rectangle 15"/>
          <p:cNvSpPr/>
          <p:nvPr/>
        </p:nvSpPr>
        <p:spPr>
          <a:xfrm>
            <a:off x="502920" y="469971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27735"/>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Что должно быть верно, прежде чем карточка считается готовой.</a:t>
            </a:r>
            <a:r>
              <a:rPr sz="1300" b="1" i="0">
                <a:solidFill>
                  <a:srgbClr val="141B2E"/>
                </a:solidFill>
                <a:latin typeface="Arial"/>
              </a:rPr>
              <a:t> Два класса требований, разных по природе:</a:t>
            </a:r>
          </a:p>
        </p:txBody>
      </p:sp>
      <p:sp>
        <p:nvSpPr>
          <p:cNvPr id="18" name="Rounded Rectangle 17"/>
          <p:cNvSpPr/>
          <p:nvPr/>
        </p:nvSpPr>
        <p:spPr>
          <a:xfrm>
            <a:off x="502920" y="5343355"/>
            <a:ext cx="11183112" cy="991108"/>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471371"/>
            <a:ext cx="22263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КЛАСС ТРЕБОВАНИЯ</a:t>
            </a:r>
          </a:p>
        </p:txBody>
      </p:sp>
      <p:sp>
        <p:nvSpPr>
          <p:cNvPr id="20" name="TextBox 19"/>
          <p:cNvSpPr txBox="1"/>
          <p:nvPr/>
        </p:nvSpPr>
        <p:spPr>
          <a:xfrm>
            <a:off x="3003638" y="5471371"/>
            <a:ext cx="84080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ПРОВЕРЯЕТСЯ</a:t>
            </a:r>
          </a:p>
        </p:txBody>
      </p:sp>
      <p:sp>
        <p:nvSpPr>
          <p:cNvPr id="21" name="TextBox 20"/>
          <p:cNvSpPr txBox="1"/>
          <p:nvPr/>
        </p:nvSpPr>
        <p:spPr>
          <a:xfrm>
            <a:off x="630936" y="5730959"/>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Механическое</a:t>
            </a:r>
          </a:p>
        </p:txBody>
      </p:sp>
      <p:sp>
        <p:nvSpPr>
          <p:cNvPr id="22" name="TextBox 21"/>
          <p:cNvSpPr txBox="1"/>
          <p:nvPr/>
        </p:nvSpPr>
        <p:spPr>
          <a:xfrm>
            <a:off x="3003638" y="5730959"/>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размер файла, формат, разрешение — у файла есть численные и перечислимые свойства</a:t>
            </a:r>
          </a:p>
        </p:txBody>
      </p:sp>
      <p:cxnSp>
        <p:nvCxnSpPr>
          <p:cNvPr id="23" name="Connector 22"/>
          <p:cNvCxnSpPr/>
          <p:nvPr/>
        </p:nvCxnSpPr>
        <p:spPr>
          <a:xfrm>
            <a:off x="630936" y="59687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5968703"/>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Смысловое / по содержанию</a:t>
            </a:r>
          </a:p>
        </p:txBody>
      </p:sp>
      <p:sp>
        <p:nvSpPr>
          <p:cNvPr id="25" name="TextBox 24"/>
          <p:cNvSpPr txBox="1"/>
          <p:nvPr/>
        </p:nvSpPr>
        <p:spPr>
          <a:xfrm>
            <a:off x="3003638" y="5968703"/>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картинка на самом деле показывает то, что нужно — не битый файл-заглушка, не чужое изображение, не пустой кадр</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Какая проверка закрывает какое требование</a:t>
            </a:r>
          </a:p>
        </p:txBody>
      </p:sp>
      <p:sp>
        <p:nvSpPr>
          <p:cNvPr id="3" name="Rounded Rectangle 2"/>
          <p:cNvSpPr/>
          <p:nvPr/>
        </p:nvSpPr>
        <p:spPr>
          <a:xfrm>
            <a:off x="502920" y="1019208"/>
            <a:ext cx="11183112" cy="2756471"/>
          </a:xfrm>
          <a:prstGeom prst="roundRect">
            <a:avLst>
              <a:gd name="adj" fmla="val 110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2088"/>
            <a:ext cx="420245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КАРТОЧКА</a:t>
            </a:r>
          </a:p>
        </p:txBody>
      </p:sp>
      <p:sp>
        <p:nvSpPr>
          <p:cNvPr id="5" name="TextBox 4"/>
          <p:cNvSpPr txBox="1"/>
          <p:nvPr/>
        </p:nvSpPr>
        <p:spPr>
          <a:xfrm>
            <a:off x="5034559" y="1202088"/>
            <a:ext cx="232645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КАКОЕ ТРЕБОВАНИЕ ЗАКРЫВАЕТ</a:t>
            </a:r>
          </a:p>
        </p:txBody>
      </p:sp>
      <p:sp>
        <p:nvSpPr>
          <p:cNvPr id="6" name="TextBox 5"/>
          <p:cNvSpPr txBox="1"/>
          <p:nvPr/>
        </p:nvSpPr>
        <p:spPr>
          <a:xfrm>
            <a:off x="7507314" y="1202088"/>
            <a:ext cx="38495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ЗАКРЫТО СЕГОДНЯ?</a:t>
            </a:r>
          </a:p>
        </p:txBody>
      </p:sp>
      <p:sp>
        <p:nvSpPr>
          <p:cNvPr id="7" name="TextBox 6"/>
          <p:cNvSpPr txBox="1"/>
          <p:nvPr/>
        </p:nvSpPr>
        <p:spPr>
          <a:xfrm>
            <a:off x="685800" y="1656494"/>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размер и формат файла перед отправкой</a:t>
            </a:r>
          </a:p>
        </p:txBody>
      </p:sp>
      <p:sp>
        <p:nvSpPr>
          <p:cNvPr id="8" name="TextBox 7"/>
          <p:cNvSpPr txBox="1"/>
          <p:nvPr/>
        </p:nvSpPr>
        <p:spPr>
          <a:xfrm>
            <a:off x="5034559" y="1656494"/>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a:t>
            </a:r>
          </a:p>
        </p:txBody>
      </p:sp>
      <p:sp>
        <p:nvSpPr>
          <p:cNvPr id="9" name="TextBox 8"/>
          <p:cNvSpPr txBox="1"/>
          <p:nvPr/>
        </p:nvSpPr>
        <p:spPr>
          <a:xfrm>
            <a:off x="7507314" y="1656494"/>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код, детерминированно, до отправки</a:t>
            </a:r>
          </a:p>
        </p:txBody>
      </p:sp>
      <p:cxnSp>
        <p:nvCxnSpPr>
          <p:cNvPr id="10" name="Connector 9"/>
          <p:cNvCxnSpPr/>
          <p:nvPr/>
        </p:nvCxnSpPr>
        <p:spPr>
          <a:xfrm>
            <a:off x="685800" y="2186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86211"/>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картинка открывается без ошибок</a:t>
            </a:r>
          </a:p>
        </p:txBody>
      </p:sp>
      <p:sp>
        <p:nvSpPr>
          <p:cNvPr id="12" name="TextBox 11"/>
          <p:cNvSpPr txBox="1"/>
          <p:nvPr/>
        </p:nvSpPr>
        <p:spPr>
          <a:xfrm>
            <a:off x="5034559" y="2186211"/>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 (тот же класс)</a:t>
            </a:r>
          </a:p>
        </p:txBody>
      </p:sp>
      <p:sp>
        <p:nvSpPr>
          <p:cNvPr id="13" name="TextBox 12"/>
          <p:cNvSpPr txBox="1"/>
          <p:nvPr/>
        </p:nvSpPr>
        <p:spPr>
          <a:xfrm>
            <a:off x="7507314" y="2186211"/>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тем же способом</a:t>
            </a:r>
          </a:p>
        </p:txBody>
      </p:sp>
      <p:cxnSp>
        <p:nvCxnSpPr>
          <p:cNvPr id="14" name="Connector 13"/>
          <p:cNvCxnSpPr/>
          <p:nvPr/>
        </p:nvCxnSpPr>
        <p:spPr>
          <a:xfrm>
            <a:off x="685800" y="27159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15928"/>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на картинке действительно то, что нужно</a:t>
            </a:r>
          </a:p>
        </p:txBody>
      </p:sp>
      <p:sp>
        <p:nvSpPr>
          <p:cNvPr id="16" name="TextBox 15"/>
          <p:cNvSpPr txBox="1"/>
          <p:nvPr/>
        </p:nvSpPr>
        <p:spPr>
          <a:xfrm>
            <a:off x="5034559" y="2715928"/>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смысловое / по содержанию</a:t>
            </a:r>
          </a:p>
        </p:txBody>
      </p:sp>
      <p:sp>
        <p:nvSpPr>
          <p:cNvPr id="17" name="TextBox 16"/>
          <p:cNvSpPr txBox="1"/>
          <p:nvPr/>
        </p:nvSpPr>
        <p:spPr>
          <a:xfrm>
            <a:off x="7507314" y="2715928"/>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в цепочке сегодня нет шага, который это умеет</a:t>
            </a:r>
          </a:p>
        </p:txBody>
      </p:sp>
      <p:cxnSp>
        <p:nvCxnSpPr>
          <p:cNvPr id="18" name="Connector 17"/>
          <p:cNvCxnSpPr/>
          <p:nvPr/>
        </p:nvCxnSpPr>
        <p:spPr>
          <a:xfrm>
            <a:off x="685800" y="3245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45645"/>
            <a:ext cx="4202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проверять</a:t>
            </a:r>
          </a:p>
        </p:txBody>
      </p:sp>
      <p:sp>
        <p:nvSpPr>
          <p:cNvPr id="20" name="TextBox 19"/>
          <p:cNvSpPr txBox="1"/>
          <p:nvPr/>
        </p:nvSpPr>
        <p:spPr>
          <a:xfrm>
            <a:off x="5034559" y="3245645"/>
            <a:ext cx="232645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одно</a:t>
            </a:r>
          </a:p>
        </p:txBody>
      </p:sp>
      <p:sp>
        <p:nvSpPr>
          <p:cNvPr id="21" name="TextBox 20"/>
          <p:cNvSpPr txBox="1"/>
          <p:nvPr/>
        </p:nvSpPr>
        <p:spPr>
          <a:xfrm>
            <a:off x="7507314" y="3245645"/>
            <a:ext cx="38495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это и случилось в сцене кейса</a:t>
            </a:r>
          </a:p>
        </p:txBody>
      </p:sp>
      <p:sp>
        <p:nvSpPr>
          <p:cNvPr id="22" name="Rounded Rectangle 21"/>
          <p:cNvSpPr/>
          <p:nvPr/>
        </p:nvSpPr>
        <p:spPr>
          <a:xfrm>
            <a:off x="502920" y="41299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2579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24" name="Rounded Rectangle 23"/>
          <p:cNvSpPr/>
          <p:nvPr/>
        </p:nvSpPr>
        <p:spPr>
          <a:xfrm>
            <a:off x="502920" y="546710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59512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 как первые два пункта реализуются технически: архитектура без привязки к инструменту, а следом настоящая конфигурация в n8n.</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реальном канвасе</a:t>
            </a:r>
          </a:p>
        </p:txBody>
      </p:sp>
      <p:pic>
        <p:nvPicPr>
          <p:cNvPr id="3" name="Picture 2" descr="k4-n8n-vetvlenie-real.png"/>
          <p:cNvPicPr>
            <a:picLocks noChangeAspect="1"/>
          </p:cNvPicPr>
          <p:nvPr/>
        </p:nvPicPr>
        <p:blipFill>
          <a:blip r:embed="rId2"/>
          <a:stretch>
            <a:fillRect/>
          </a:stretch>
        </p:blipFill>
        <p:spPr>
          <a:xfrm>
            <a:off x="502920" y="970387"/>
            <a:ext cx="11183112" cy="3865342"/>
          </a:xfrm>
          <a:prstGeom prst="rect">
            <a:avLst/>
          </a:prstGeom>
        </p:spPr>
      </p:pic>
      <p:sp>
        <p:nvSpPr>
          <p:cNvPr id="4" name="Rounded Rectangle 3"/>
          <p:cNvSpPr/>
          <p:nvPr/>
        </p:nvSpPr>
        <p:spPr>
          <a:xfrm>
            <a:off x="502920" y="5067900"/>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95916"/>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Воркфлоу «С8 · Кейс 4 — картинка в Telegram», живой стенд.</a:t>
            </a:r>
            <a:r>
              <a:rPr sz="1500" b="1" i="0">
                <a:solidFill>
                  <a:srgbClr val="141B2E"/>
                </a:solidFill>
                <a:latin typeface="Arial"/>
              </a:rPr>
              <a:t>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 тот же главный путь приёма заявки, что в Кейсе 1. От развилки после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стрелка уходит вверх, в </a:t>
            </a:r>
            <a:r>
              <a:rPr sz="1500" b="1" i="0">
                <a:solidFill>
                  <a:srgbClr val="141B2E"/>
                </a:solidFill>
                <a:latin typeface="Consolas"/>
              </a:rPr>
              <a:t>Compose</a:t>
            </a:r>
            <a:r>
              <a:rPr sz="1500" b="1" i="0">
                <a:solidFill>
                  <a:srgbClr val="141B2E"/>
                </a:solidFill>
                <a:latin typeface="Arial"/>
              </a:rPr>
              <a:t> </a:t>
            </a:r>
            <a:r>
              <a:rPr sz="1500" b="1" i="0">
                <a:solidFill>
                  <a:srgbClr val="141B2E"/>
                </a:solidFill>
                <a:latin typeface="Consolas"/>
              </a:rPr>
              <a:t>notification</a:t>
            </a:r>
            <a:r>
              <a:rPr sz="1500" b="1" i="0">
                <a:solidFill>
                  <a:srgbClr val="141B2E"/>
                </a:solidFill>
                <a:latin typeface="Arial"/>
              </a:rPr>
              <a:t> </a:t>
            </a:r>
            <a:r>
              <a:rPr sz="1500" b="1" i="0">
                <a:solidFill>
                  <a:srgbClr val="141B2E"/>
                </a:solidFill>
                <a:latin typeface="Consolas"/>
              </a:rPr>
              <a:t>(template)</a:t>
            </a:r>
            <a:r>
              <a:rPr sz="1500" b="1" i="0">
                <a:solidFill>
                  <a:srgbClr val="141B2E"/>
                </a:solidFill>
                <a:latin typeface="Arial"/>
              </a:rPr>
              <a:t> → </a:t>
            </a:r>
            <a:r>
              <a:rPr sz="1500" b="1" i="0">
                <a:solidFill>
                  <a:srgbClr val="141B2E"/>
                </a:solidFill>
                <a:latin typeface="Consolas"/>
              </a:rPr>
              <a:t>Fetch</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image</a:t>
            </a:r>
            <a:r>
              <a:rPr sz="1500" b="1" i="0">
                <a:solidFill>
                  <a:srgbClr val="141B2E"/>
                </a:solidFill>
                <a:latin typeface="Arial"/>
              </a:rPr>
              <a:t> </a:t>
            </a:r>
            <a:r>
              <a:rPr sz="1500" b="1" i="0">
                <a:solidFill>
                  <a:srgbClr val="141B2E"/>
                </a:solidFill>
                <a:latin typeface="Consolas"/>
              </a:rPr>
              <a:t>(HTTP)</a:t>
            </a:r>
            <a:r>
              <a:rPr sz="1500" b="1" i="0">
                <a:solidFill>
                  <a:srgbClr val="141B2E"/>
                </a:solidFill>
                <a:latin typeface="Arial"/>
              </a:rPr>
              <a:t> → </a:t>
            </a:r>
            <a:r>
              <a:rPr sz="1500" b="1" i="0">
                <a:solidFill>
                  <a:srgbClr val="141B2E"/>
                </a:solidFill>
                <a:latin typeface="Consolas"/>
              </a:rPr>
              <a:t>Send</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(Telegram</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 три узла, которые кейс разбирает дальше.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real.png"/>
          <p:cNvPicPr>
            <a:picLocks noChangeAspect="1"/>
          </p:cNvPicPr>
          <p:nvPr/>
        </p:nvPicPr>
        <p:blipFill>
          <a:blip r:embed="rId2"/>
          <a:stretch>
            <a:fillRect/>
          </a:stretch>
        </p:blipFill>
        <p:spPr>
          <a:xfrm>
            <a:off x="1066160" y="1319784"/>
            <a:ext cx="10056630" cy="2800199"/>
          </a:xfrm>
          <a:prstGeom prst="rect">
            <a:avLst/>
          </a:prstGeom>
        </p:spPr>
      </p:pic>
      <p:sp>
        <p:nvSpPr>
          <p:cNvPr id="4" name="Rounded Rectangle 3"/>
          <p:cNvSpPr/>
          <p:nvPr/>
        </p:nvSpPr>
        <p:spPr>
          <a:xfrm>
            <a:off x="502920" y="4284575"/>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40023"/>
            <a:ext cx="53769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440023"/>
            <a:ext cx="52026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58368" y="4722090"/>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Проверенный файл</a:t>
            </a:r>
          </a:p>
        </p:txBody>
      </p:sp>
      <p:sp>
        <p:nvSpPr>
          <p:cNvPr id="8" name="TextBox 7"/>
          <p:cNvSpPr txBox="1"/>
          <p:nvPr/>
        </p:nvSpPr>
        <p:spPr>
          <a:xfrm>
            <a:off x="6181614" y="4722090"/>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58368" y="502314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5023144"/>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5023144"/>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644237"/>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77225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Ответ Telegram Bot API: </a:t>
            </a:r>
            <a:r>
              <a:rPr sz="1250" b="1" i="0">
                <a:solidFill>
                  <a:srgbClr val="141B2E"/>
                </a:solidFill>
                <a:latin typeface="Consolas"/>
              </a:rPr>
              <a:t>"Bad</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file</a:t>
            </a:r>
            <a:r>
              <a:rPr sz="1250" b="1" i="0">
                <a:solidFill>
                  <a:srgbClr val="141B2E"/>
                </a:solidFill>
                <a:latin typeface="Arial"/>
              </a:rPr>
              <a:t> </a:t>
            </a:r>
            <a:r>
              <a:rPr sz="1250" b="1" i="0">
                <a:solidFill>
                  <a:srgbClr val="141B2E"/>
                </a:solidFill>
                <a:latin typeface="Consolas"/>
              </a:rPr>
              <a:t>of</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12812355</a:t>
            </a:r>
            <a:r>
              <a:rPr sz="1250" b="1" i="0">
                <a:solidFill>
                  <a:srgbClr val="141B2E"/>
                </a:solidFill>
                <a:latin typeface="Arial"/>
              </a:rPr>
              <a:t> </a:t>
            </a:r>
            <a:r>
              <a:rPr sz="1250" b="1" i="0">
                <a:solidFill>
                  <a:srgbClr val="141B2E"/>
                </a:solidFill>
                <a:latin typeface="Consolas"/>
              </a:rPr>
              <a:t>bytes</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too</a:t>
            </a:r>
            <a:r>
              <a:rPr sz="1250" b="1" i="0">
                <a:solidFill>
                  <a:srgbClr val="141B2E"/>
                </a:solidFill>
                <a:latin typeface="Arial"/>
              </a:rPr>
              <a:t> </a:t>
            </a:r>
            <a:r>
              <a:rPr sz="1250" b="1" i="0">
                <a:solidFill>
                  <a:srgbClr val="141B2E"/>
                </a:solidFill>
                <a:latin typeface="Consolas"/>
              </a:rPr>
              <a:t>big</a:t>
            </a:r>
            <a:r>
              <a:rPr sz="1250" b="1" i="0">
                <a:solidFill>
                  <a:srgbClr val="141B2E"/>
                </a:solidFill>
                <a:latin typeface="Arial"/>
              </a:rPr>
              <a:t> </a:t>
            </a:r>
            <a:r>
              <a:rPr sz="1250" b="1" i="0">
                <a:solidFill>
                  <a:srgbClr val="141B2E"/>
                </a:solidFill>
                <a:latin typeface="Consolas"/>
              </a:rPr>
              <a:t>for</a:t>
            </a:r>
            <a:r>
              <a:rPr sz="1250" b="1" i="0">
                <a:solidFill>
                  <a:srgbClr val="141B2E"/>
                </a:solidFill>
                <a:latin typeface="Arial"/>
              </a:rPr>
              <a:t> </a:t>
            </a:r>
            <a:r>
              <a:rPr sz="1250" b="1" i="0">
                <a:solidFill>
                  <a:srgbClr val="141B2E"/>
                </a:solidFill>
                <a:latin typeface="Consolas"/>
              </a:rPr>
              <a:t>a</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a:t>
            </a:r>
            <a:r>
              <a:rPr sz="1250" b="1" i="0">
                <a:solidFill>
                  <a:srgbClr val="141B2E"/>
                </a:solidFill>
                <a:latin typeface="Consolas"/>
              </a:rPr>
              <a:t>the</a:t>
            </a:r>
            <a:r>
              <a:rPr sz="1250" b="1" i="0">
                <a:solidFill>
                  <a:srgbClr val="141B2E"/>
                </a:solidFill>
                <a:latin typeface="Arial"/>
              </a:rPr>
              <a:t> </a:t>
            </a:r>
            <a:r>
              <a:rPr sz="1250" b="1" i="0">
                <a:solidFill>
                  <a:srgbClr val="141B2E"/>
                </a:solidFill>
                <a:latin typeface="Consolas"/>
              </a:rPr>
              <a:t>maximum</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10485760</a:t>
            </a:r>
            <a:r>
              <a:rPr sz="1250" b="1" i="0">
                <a:solidFill>
                  <a:srgbClr val="141B2E"/>
                </a:solidFill>
                <a:latin typeface="Arial"/>
              </a:rPr>
              <a:t> </a:t>
            </a:r>
            <a:r>
              <a:rPr sz="125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текст, картинка и отправка фото</a:t>
            </a:r>
          </a:p>
        </p:txBody>
      </p:sp>
      <p:pic>
        <p:nvPicPr>
          <p:cNvPr id="3" name="Picture 2" descr="k4-panel-uzly-crop-real.png"/>
          <p:cNvPicPr>
            <a:picLocks noChangeAspect="1"/>
          </p:cNvPicPr>
          <p:nvPr/>
        </p:nvPicPr>
        <p:blipFill>
          <a:blip r:embed="rId2"/>
          <a:stretch>
            <a:fillRect/>
          </a:stretch>
        </p:blipFill>
        <p:spPr>
          <a:xfrm>
            <a:off x="502920" y="1337051"/>
            <a:ext cx="11183112" cy="2985782"/>
          </a:xfrm>
          <a:prstGeom prst="rect">
            <a:avLst/>
          </a:prstGeom>
        </p:spPr>
      </p:pic>
      <p:sp>
        <p:nvSpPr>
          <p:cNvPr id="4" name="Rounded Rectangle 3"/>
          <p:cNvSpPr/>
          <p:nvPr/>
        </p:nvSpPr>
        <p:spPr>
          <a:xfrm>
            <a:off x="502920" y="49903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183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Картинку забирают отдельным запросом, а отправляют отдельной операцией: текстовое сообщение и фотография — два разных вызова, а не один с вложением.</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Генерация карточки: текст внутри изображения</a:t>
            </a:r>
          </a:p>
        </p:txBody>
      </p:sp>
      <p:pic>
        <p:nvPicPr>
          <p:cNvPr id="3" name="Picture 2" descr="k4-shema-generatsii.png"/>
          <p:cNvPicPr>
            <a:picLocks noChangeAspect="1"/>
          </p:cNvPicPr>
          <p:nvPr/>
        </p:nvPicPr>
        <p:blipFill>
          <a:blip r:embed="rId2"/>
          <a:stretch>
            <a:fillRect/>
          </a:stretch>
        </p:blipFill>
        <p:spPr>
          <a:xfrm>
            <a:off x="502920" y="1055126"/>
            <a:ext cx="11183112" cy="3914089"/>
          </a:xfrm>
          <a:prstGeom prst="rect">
            <a:avLst/>
          </a:prstGeom>
        </p:spPr>
      </p:pic>
      <p:sp>
        <p:nvSpPr>
          <p:cNvPr id="4" name="Rounded Rectangle 3"/>
          <p:cNvSpPr/>
          <p:nvPr/>
        </p:nvSpPr>
        <p:spPr>
          <a:xfrm>
            <a:off x="502920" y="54132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12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 что мы собрали на предыдущем экране, — </a:t>
            </a:r>
            <a:r>
              <a:rPr sz="1500" b="1" i="0">
                <a:solidFill>
                  <a:srgbClr val="141B2E"/>
                </a:solidFill>
                <a:latin typeface="Arial"/>
              </a:rPr>
              <a:t>текст подписью к фотографии по ссылке</a:t>
            </a:r>
            <a:r>
              <a:rPr sz="1500" b="1" i="0">
                <a:solidFill>
                  <a:srgbClr val="141B2E"/>
                </a:solidFill>
                <a:latin typeface="Arial"/>
              </a:rPr>
              <a:t>. Маркетинг просил текст поверх картинки, то есть внутри самого изображения, — а это отдельный шаг.</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проверки и вопрос сжатия</a:t>
            </a:r>
          </a:p>
        </p:txBody>
      </p:sp>
      <p:pic>
        <p:nvPicPr>
          <p:cNvPr id="3" name="Picture 2" descr="k4-shema-szhatie.png"/>
          <p:cNvPicPr>
            <a:picLocks noChangeAspect="1"/>
          </p:cNvPicPr>
          <p:nvPr/>
        </p:nvPicPr>
        <p:blipFill>
          <a:blip r:embed="rId2"/>
          <a:stretch>
            <a:fillRect/>
          </a:stretch>
        </p:blipFill>
        <p:spPr>
          <a:xfrm>
            <a:off x="1799097" y="943356"/>
            <a:ext cx="8590757" cy="3651071"/>
          </a:xfrm>
          <a:prstGeom prst="rect">
            <a:avLst/>
          </a:prstGeom>
        </p:spPr>
      </p:pic>
      <p:sp>
        <p:nvSpPr>
          <p:cNvPr id="4" name="Rounded Rectangle 3"/>
          <p:cNvSpPr/>
          <p:nvPr/>
        </p:nvSpPr>
        <p:spPr>
          <a:xfrm>
            <a:off x="502920" y="4759019"/>
            <a:ext cx="11183112" cy="1558036"/>
          </a:xfrm>
          <a:prstGeom prst="roundRect">
            <a:avLst>
              <a:gd name="adj" fmla="val 195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941899"/>
            <a:ext cx="203378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2865890" y="4941899"/>
            <a:ext cx="261183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624030" y="4941899"/>
            <a:ext cx="28399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8610323" y="4941899"/>
            <a:ext cx="27465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5201487"/>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сжатия</a:t>
            </a:r>
          </a:p>
        </p:txBody>
      </p:sp>
      <p:sp>
        <p:nvSpPr>
          <p:cNvPr id="10" name="TextBox 9"/>
          <p:cNvSpPr txBox="1"/>
          <p:nvPr/>
        </p:nvSpPr>
        <p:spPr>
          <a:xfrm>
            <a:off x="2865890" y="5201487"/>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 есть (4032×3024)</a:t>
            </a:r>
          </a:p>
        </p:txBody>
      </p:sp>
      <p:sp>
        <p:nvSpPr>
          <p:cNvPr id="11" name="TextBox 10"/>
          <p:cNvSpPr txBox="1"/>
          <p:nvPr/>
        </p:nvSpPr>
        <p:spPr>
          <a:xfrm>
            <a:off x="5624030" y="5201487"/>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максимум деталей</a:t>
            </a:r>
          </a:p>
        </p:txBody>
      </p:sp>
      <p:sp>
        <p:nvSpPr>
          <p:cNvPr id="12" name="TextBox 11"/>
          <p:cNvSpPr txBox="1"/>
          <p:nvPr/>
        </p:nvSpPr>
        <p:spPr>
          <a:xfrm>
            <a:off x="8610323" y="5201487"/>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дорого — ≈1500 токенов</a:t>
            </a:r>
          </a:p>
        </p:txBody>
      </p:sp>
      <p:cxnSp>
        <p:nvCxnSpPr>
          <p:cNvPr id="13" name="Connector 12"/>
          <p:cNvCxnSpPr/>
          <p:nvPr/>
        </p:nvCxnSpPr>
        <p:spPr>
          <a:xfrm>
            <a:off x="685800" y="55123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5512383"/>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Умеренное сжатие</a:t>
            </a:r>
          </a:p>
        </p:txBody>
      </p:sp>
      <p:sp>
        <p:nvSpPr>
          <p:cNvPr id="15" name="TextBox 14"/>
          <p:cNvSpPr txBox="1"/>
          <p:nvPr/>
        </p:nvSpPr>
        <p:spPr>
          <a:xfrm>
            <a:off x="2865890" y="5512383"/>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Q75–85, ≤1024 px</a:t>
            </a:r>
          </a:p>
        </p:txBody>
      </p:sp>
      <p:sp>
        <p:nvSpPr>
          <p:cNvPr id="16" name="TextBox 15"/>
          <p:cNvSpPr txBox="1"/>
          <p:nvPr/>
        </p:nvSpPr>
        <p:spPr>
          <a:xfrm>
            <a:off x="5624030" y="5512383"/>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≈300 токенов, впятеро дешевле</a:t>
            </a:r>
          </a:p>
        </p:txBody>
      </p:sp>
      <p:sp>
        <p:nvSpPr>
          <p:cNvPr id="17" name="TextBox 16"/>
          <p:cNvSpPr txBox="1"/>
          <p:nvPr/>
        </p:nvSpPr>
        <p:spPr>
          <a:xfrm>
            <a:off x="8610323" y="5512383"/>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режет мелкий текст у предела</a:t>
            </a:r>
          </a:p>
        </p:txBody>
      </p:sp>
      <p:cxnSp>
        <p:nvCxnSpPr>
          <p:cNvPr id="18" name="Connector 17"/>
          <p:cNvCxnSpPr/>
          <p:nvPr/>
        </p:nvCxnSpPr>
        <p:spPr>
          <a:xfrm>
            <a:off x="685800" y="58232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823279"/>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Агрессивное сжатие</a:t>
            </a:r>
          </a:p>
        </p:txBody>
      </p:sp>
      <p:sp>
        <p:nvSpPr>
          <p:cNvPr id="20" name="TextBox 19"/>
          <p:cNvSpPr txBox="1"/>
          <p:nvPr/>
        </p:nvSpPr>
        <p:spPr>
          <a:xfrm>
            <a:off x="2865890" y="5823279"/>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низкое качество, &lt; ~1024 px</a:t>
            </a:r>
          </a:p>
        </p:txBody>
      </p:sp>
      <p:sp>
        <p:nvSpPr>
          <p:cNvPr id="21" name="TextBox 20"/>
          <p:cNvSpPr txBox="1"/>
          <p:nvPr/>
        </p:nvSpPr>
        <p:spPr>
          <a:xfrm>
            <a:off x="5624030" y="5823279"/>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ещё дешевле</a:t>
            </a:r>
          </a:p>
        </p:txBody>
      </p:sp>
      <p:sp>
        <p:nvSpPr>
          <p:cNvPr id="22" name="TextBox 21"/>
          <p:cNvSpPr txBox="1"/>
          <p:nvPr/>
        </p:nvSpPr>
        <p:spPr>
          <a:xfrm>
            <a:off x="8610323" y="5823279"/>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и детали не распознать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координатор при успешной отправке</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Фото-карточка, подписью к которой идёт текст уведомления: «Новая заявка от Марии: тема «курс», также упомянуто: оплата.»</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подпись, что в Кейсе 1 — текст уведомления здесь собирается той же формулой подстановки, только теперь он приходит не отдельным сообщением, а подписью к фотографии. Это успешный случай: файл укладывается в измеренную границу, и карточка доходит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975199"/>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8079"/>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158079"/>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440146"/>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440146"/>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1524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242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15242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28647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6470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286470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5769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576984"/>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576984"/>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453378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8864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67094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Из четырёх новых шагов узел языковой модели пережил проверку в одном</a:t>
            </a:r>
            <a:r>
              <a:rPr sz="1350" b="0" i="0">
                <a:solidFill>
                  <a:srgbClr val="141B2E"/>
                </a:solidFill>
                <a:latin typeface="Arial"/>
              </a:rPr>
              <a:t> — в «Одобрении возврата», и там он только извлекает сумму: решает условие в коде.</a:t>
            </a:r>
          </a:p>
        </p:txBody>
      </p:sp>
      <p:sp>
        <p:nvSpPr>
          <p:cNvPr id="20" name="Rounded Rectangle 19"/>
          <p:cNvSpPr/>
          <p:nvPr/>
        </p:nvSpPr>
        <p:spPr>
          <a:xfrm>
            <a:off x="502920" y="545692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58493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pic>
        <p:nvPicPr>
          <p:cNvPr id="3" name="Picture 2" descr="mostik-s9-razvilka.png"/>
          <p:cNvPicPr>
            <a:picLocks noChangeAspect="1"/>
          </p:cNvPicPr>
          <p:nvPr/>
        </p:nvPicPr>
        <p:blipFill>
          <a:blip r:embed="rId2"/>
          <a:stretch>
            <a:fillRect/>
          </a:stretch>
        </p:blipFill>
        <p:spPr>
          <a:xfrm>
            <a:off x="1249788" y="1004316"/>
            <a:ext cx="9689374"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