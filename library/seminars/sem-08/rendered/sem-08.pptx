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мы собрали первый работающий процесс: триггер, шаг модели, запись результата — и научили один шаг не падать молча. Сегодня процесс остаётся тем же самым, а вопрос меняется. Мы смотрим на цепочку целиком и для каждого нового шага, который она получает, задаём один и тот же вопрос: здесь нужна модель, или с этим справится код?</a:t>
            </a:r>
          </a:p>
          <a:p/>
          <a:p>
            <a:r>
              <a:t>Сегодня мы пройдём через четыре небольшие доработки одного и того же учебного центра: уведомление координатору, проверка на повторное обращение, решение об одобрении возврата денег и карточка с картинкой в Telegram. В каждой доработке решение сначала выглядит рабочим — прогон зелёный, результат пришёл. А дальше мы смотрим, чем оно оказывается на практике.</a:t>
            </a:r>
          </a:p>
          <a:p/>
          <a:p>
            <a:r>
              <a:t>Ничего из того, что мы уже собрали, сегодня не переделывается. Процесс с прошлого занятия открывает сегодняшнее ровно таким, каким вы его оставили.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на чём остановились. Вот процесс с прошлого занятия, напечатанный как есть, без единой правки: форма принимает заявку, узел извлечения читает её текст по схеме, узел сверки проверяет тему и срочность по справочнику, узел записи кладёт результат в таблицу, экран показывает путь заявки целиком. Рядом — ветка отказа: если извлечение не отработало, процесс повторяет попытку и, если и это не помогло, кладёт заявку в ту же таблицу с отдельной отметкой, что её не распознали.</a:t>
            </a:r>
          </a:p>
          <a:p/>
          <a:p>
            <a:r>
              <a:t>На прошлом занятии мы решали надёжность ровно одного из этих узлов — того, что извлекает поля. Мы научили его не падать молча и показывать отказ явно, когда он действительно происходит.</a:t>
            </a:r>
          </a:p>
          <a:p/>
          <a:p>
            <a:r>
              <a:t>Сегодня вопрос другой, и он касается не одного узла, а всей цепочки целиком. Учебный центр, с которым мы работаем, получает четыре новые задачи: уведомить координатора о сложной заявке, не завести повторное обращение как новое, надёжно одобрять мелкие возвраты денег и доставить в уведомлении картинку, а не только текст. Для каждой из этих задач кто-то уже собрал первое решение — и для каждой мы зададим один и тот же вопрос: эту часть решения правильно доверить модели, или её надёжнее отдать коду?</a:t>
            </a:r>
          </a:p>
          <a:p/>
          <a:p>
            <a:r>
              <a:t>Это не вопрос «модель хуже кода». Это вопрос о том, где вероятностный шаг оправдан, а где он просто не нужен или прямо опасен. Процесс при этом не собирается заново с нуля — он тот же самый, и каждая доработка встаёт в него ровно одним новым узлом, поверх того, что уже работает.</a:t>
            </a:r>
          </a:p>
          <a:p/>
          <a:p>
            <a:r>
              <a:t>Порядок, в котором мы пойдём по этим четырём доработкам, не случаен. Сначала — самый простой случай, где вопрос решается одним шаблоном вместо шага-модели. Дальше — случай, где дёшево и дорого нужно расставить по очереди, а не выбрать одно вместо другого. Третий — тот, где текстовое правило внутри промпта оказывается вероятностным именно там, где его меньше всего ждёшь, на границе условия, и это можно измерить. И последний — тот же вопрос на бинарных данных, не на тексте: файл, который формально дошёл, но не долетел до получателя целиком. Каждый раз экран результата будет выглядеть одинаково убедительно — прогон зелёный, ответ пришёл. Разница между этими кейсами в том, что именно скрывается за этой зелёной галочкой.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без повторного ввода — вы уже видели эту картинку на прошлом занятии. Девять ступеней, от простого к сложному, и правило движения по ним: не поднимайся без требования, которого ступень ниже не закрывает.</a:t>
            </a:r>
          </a:p>
          <a:p/>
          <a:p>
            <a:r>
              <a:t>Золотая ступень — «цепочка»: несколько шагов подряд, данные идут между ними. На прошлом занятии мы на ней собрали первый работающий процесс и решили надёжность одного шага — того, что отказывался некорректно. Сегодня мы на той же самой ступени, не выше. Это не повтор материала и не задержка — это заканчивание того, что ступень «цепочка» на самом деле требует: не один надёжный шаг, а дисциплина для всей цепочки целиком.</a:t>
            </a:r>
          </a:p>
          <a:p/>
          <a:p>
            <a:r>
              <a:t>Разница в масштабе вопроса. С7 спрашивал про один узел: что он делает, когда ломается. С8 спрашивает про каждый новый узел, который цепочка получает: вообще нужна ли здесь модель, или это задача, которую надёжнее и дешевле решить кодом. Сегодня мы пройдём четыре таких узла — и каждый раз ответ будет не «модель плохая», а «эта конкретная часть задачи не требовала вероятностного шага» или, наоборот, «здесь он оправдан, и вот почему».</a:t>
            </a:r>
          </a:p>
          <a:p/>
          <a:p>
            <a:r>
              <a:t>Выше по лестнице — маршрут, где путь заявки выбирается по условию, параллельные проверки, циклы, подпроцессы, агент, который сам решает порядок шагов, и несколько агентов вместе. Туда мы перейдём в следующих занятиях. Сегодня мы туда не поднимаемся — вся работа происходит на одной и той же ступени, мы просто доводим её до конца.</a:t>
            </a:r>
          </a:p>
          <a:p/>
          <a:p>
            <a:r>
              <a:t>Зачем вообще задерживаться на одной ступени целое занятие, если её устройство уже знакомо. Потому что именно здесь, по правилу движения по лестнице, чаще всего и ошибаются: не из-за того, что цепочка сложна технически, а из-за того, что внутри неё остаются отдельные шаги, про которые никто не задал простой вопрос — нужен ли здесь вызов модели вообще, или можно решить то же самое детерминированно. Это ровно то, чем мы займёмся сегодня: не новой техникой построения процессов, а дисциплиной проверки того, что уже построено, шаг за шагом.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вопрос, на который отвечает всё сегодняшнее занятие, и он стоит здесь прежде любого кейса, не после.</a:t>
            </a:r>
          </a:p>
          <a:p/>
          <a:p>
            <a:r>
              <a:t>Где в цепочке решение принимает модель, а где должен — код? И второй, более опасный вопрос: что молчит, когда эту границу не назвали явно? Не «модель ошиблась и прогон упал» — а «прогон зелёный, результат пришёл, и тем не менее что-то в нём не то, и никто этого не заметил».</a:t>
            </a:r>
          </a:p>
          <a:p/>
          <a:p>
            <a:r>
              <a:t>Таблица перед вами — четыре строки, и в каждой левая клетка уже заполнена: то, что на первый взгляд выглядит рабочим и надёжным. Сообщение ушло координатору — цепочка стала короче и дешевле, потому что в ней нет лишнего вызова модели. Заявка про тот же вопрос пришла снова — мы обработали её как новую. В промте написано правило «не возвращай больше суммы X» — и правило месяц в работе без единой жалобы. Картинка собралась и ушла в Telegram — прогон зелёный.</a:t>
            </a:r>
          </a:p>
          <a:p/>
          <a:p>
            <a:r>
              <a:t>Правая колонка пустая, и останется пустой до конца соответствующего кейса. Мы не заполним её рассказом — каждую клетку заполнит экран, который покажет, чем на самом деле оказалось то, что в левой колонке выглядело рабочим. Первая строка закроется кейсом «Уведомления», вторая — «Проверкой на повтор», третья — «Одобрением возврата» и примером Zillow, четвёртая — «Карточкой в Telegram».</a:t>
            </a:r>
          </a:p>
          <a:p/>
          <a:p>
            <a:r>
              <a:t>К концу занятия мы вернёмся к этой же таблице, уже полностью заполненной, и увидим все четыре пары рядом. Запомните форму вопроса — не «что умеет модель», а «куда именно в этой цепочке попало решение, которое должно было быть детерминированным, и как мы об этом узнали».</a:t>
            </a:r>
          </a:p>
          <a:p/>
          <a:p>
            <a:r>
              <a:t>Обратите внимание, что ни одна из четырёх строк левой колонки не описывает отказ. Нигде не сказано «прогон упал» или «система вернула ошибку» — везде написано ровно противоположное: результат выглядит достигнутым. Это не случайность формулировки, это сам предмет сегодняшнего занятия. Самый дорогой класс проблем в цепочках на моделях — не тот, что останавливает процесс и требует внимания немедленно, а тот, что проходит незамеченным, потому что формально всё отработало. Каждый кейс сегодня будет устроен одинаково в этом смысле: сначала решение, которое выглядит рабочим, и только потом — то, что оно на самом деле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с которым мы работаем всё занятие, ведёт заявки через форму на сайте. Форма работает, заявки доезжают до таблицы — процесс с прошлого занятия справляется с этим исправно.</a:t>
            </a:r>
          </a:p>
          <a:p/>
          <a:p>
            <a:r>
              <a:t>Но у заявок, в которых человек упомянул больше одной темы, есть особенность: их стоит рассмотреть внимательнее, и желательно сразу, а не вечером при разборе таблицы. Сейчас об этом узнаёт координатор Марина — и узнаёт только одним способом: если сама заходит на экран результата и читает, что там написано. Она не заходит на каждую заявку, у неё есть и другая работа.</a:t>
            </a:r>
          </a:p>
          <a:p/>
          <a:p>
            <a:r>
              <a:t>Потребность простая и конкретная: когда в заявке больше одной темы, координатору должно прийти уведомление прямо в Telegram, сразу, без того, чтобы она сама искала эту заявку среди прочих.</a:t>
            </a:r>
          </a:p>
          <a:p/>
          <a:p>
            <a:r>
              <a:t>Обратите внимание на форму этой потребности: мы не говорим «у нас стоит плохое решение, давайте поймём, почему оно плохое». Решения пока нет вовсе — есть то, чего не хватает. Это важно, потому что дальше мы будем проектировать решение с нуля, а не разбирать чужую ошибку задним числом. Кто-то уже попробовал закрыть эту потребность первой доработкой — что из этого вышло, увидим на следующем экране.</a:t>
            </a:r>
          </a:p>
          <a:p/>
          <a:p>
            <a:r>
              <a:t>Это первый из четырёх кейсов сегодняшнего занятия, и он самый компактный по объёму доработки: один новый шаг в уже существующей цепочке. Именно поэтому с него удобно начать — на небольшой доработке проще увидеть, где именно решение расходится с задачей, прежде чем переходить к более насыщенным кейсам дальше. Дорожка кейсов внизу экрана будет сопровождать нас всё занятие: «Уведомления», «Проверка на повтор», «Одобрение возврата», «Карточка в Telegram» — каждый следующий кейс чуть сложнее предыдущего по устройству решения, хотя вопрос, который мы задаём, остаётся одним и тем же.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собрали первым. Кто-то решил закрыть потребность с предыдущего экрана отдельным шагом-моделью: она получает из заявки имя, основную тему и то, что ещё в ней упомянуто, и сочиняет на основе этого текст уведомления — не механическую фразу, а предложение с тоном, как будто его написал человек.</a:t>
            </a:r>
          </a:p>
          <a:p/>
          <a:p>
            <a:r>
              <a:t>Решение на первый взгляд совершенно разумное. Сообщение адресовано человеку, и логично, что оно должно звучать по-человечески, а не как подстановка переменных в шаблон. Если бы вопрос был только в этом, спорить было бы не с чем.</a:t>
            </a:r>
          </a:p>
          <a:p/>
          <a:p>
            <a:r>
              <a:t>Но мы проверили это не на доверии, а настоящими прогонами на стенде. На одной заявке всё отработало честно: связный, живой текст, координатор получил ровно то, что ожидал. А на другой — и это не придуманный для занятия пример, а реальный, наблюдённый результат настоящего прогона — модель вставила в сообщение буквальный текст «Имя координатора» в квадратных скобках вместо того, чтобы подставить настоящее имя. Технически она не ошиблась и не отказала: узел отработал, сообщение дошло, прогон зелёный. Просто содержание сообщения, которое увидел координатор, было неправильным.</a:t>
            </a:r>
          </a:p>
          <a:p/>
          <a:p>
            <a:r>
              <a:t>Это и есть главная цена такого решения, и она дороже одной смешной опечатки. Прогон, который формально успешен, ничего не говорит о том, что на самом деле написано в тексте, который ушёл человеку. Проверка «дошло ли сообщение» и проверка «правильное ли в нём содержание» — это два разных вопроса, и первый не отвечает на второй.</a:t>
            </a:r>
          </a:p>
          <a:p/>
          <a:p>
            <a:r>
              <a:t>И есть вторая, менее заметная цена. Сообщение состоит из четырёх уже известных значений — имя, тема, контакт, список дополнительных тем. Для его сборки модель не нужна вовсе: всё, что в нём есть, уже лежит в заявке. Но каждый прогон всё равно идёт через отдельный вызов модели — а это и стоит денег, и идёт заметно дольше, чем простая подстановка, причём платим мы за это на каждой заявке, даже на тех, где содержание не разошлось.</a:t>
            </a:r>
          </a:p>
          <a:p/>
          <a:p>
            <a:r>
              <a:t>Теперь вопрос к вам: как собрать это же уведомление из уже известных значений.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простой по формулировке и не такой простой по ответу. У нас уже есть все значения, которые нужны для сообщения: имя заявителя, основная тема, контакт, список того, что ещё упомянуто. Вопрос не в том, где взять данные — они уже есть. Вопрос в том, как из них собрать текст, который уйдёт координатору.</a:t>
            </a:r>
          </a:p>
          <a:p/>
          <a:p>
            <a:r>
              <a:t>Четыре карточки, и это четыре разных действия, а не четыре факта о том, что умеет или не умеет модель. Первое — подставить значения в заранее готовую форму сообщения: написать один раз фразу с пропусками и каждый раз заполнять пропуски данными заявки. Второе — дать модели самой сочинять текст с тоном на каждый прогон, то есть не задавать форму заранее, а поручать модели придумывать её каждый раз заново. Третье — в любом случае доверить это модели, потому что на выходе всё равно естественный язык, а не структурированное значение. Четвёртое — усилить модель, если получателей уведомления в будущем станет больше одного.</a:t>
            </a:r>
          </a:p>
          <a:p/>
          <a:p>
            <a:r>
              <a:t>Выбирайте не по тому, что звучит современнее, а по тому, что реально нужно для этой конкретной задачи: собрать короткое сообщение из уже известных значений. Пятнадцать секунд на выбор — и разбираем, что каждое из этих действий даёт и чего не даёт.</a:t>
            </a:r>
          </a:p>
          <a:p/>
          <a:p>
            <a:r>
              <a:t>Заметьте, что среди карточек нет варианта «оставить версию 1 без изменений» — мы уже видели, во что она превращается на практике, и возвращаться к этому обсуждению не нужно. Вопрос именно про то, как спроектировать шаг заново, а не про то, почему прежний вариант был неидеален. И ещё одна вещь, важная для самого выбора: правильных действий среди четырёх карточек может быть не одно — некоторые из них описывают разумные решения для других задач, просто не для этой. Разбор, который последует, покажет это предметно, без заранее данного вердикта.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порядку, и сразу главное: ни одно из четырёх действий не глупое само по себе, но только одно отвечает на вопрос, который мы задали.</a:t>
            </a:r>
          </a:p>
          <a:p/>
          <a:p>
            <a:r>
              <a:t>Подставить значения в готовую форму — это ровно наш случай. У сообщения одна форма: «новая заявка от такого-то, тема такая-то». Меняются только значения внутри неё, модель вызывать не нужно вовсе. Из ограничений: если форма сообщения со временем начнёт требовать реальной вариативности — разные языки, разная степень подробности — шаблон придётся переписывать руками на каждый новый случай. Это тоже цена, просто не денежная, а инженерная.</a:t>
            </a:r>
          </a:p>
          <a:p/>
          <a:p>
            <a:r>
              <a:t>Дать модели сочинять текст с тоном на каждый прогон — рабочее решение, но не для этой задачи. Оно подходит, когда тон, язык или длина сообщения действительно должны меняться от случая к случаю. Для нашего сообщения это не так: текст не требует интерпретации, его нужно просто собрать из уже известных значений.</a:t>
            </a:r>
          </a:p>
          <a:p/>
          <a:p>
            <a:r>
              <a:t>В любом случае доверить это модели, потому что на выходе естественный язык, — рассуждение, которое ломается на одном наблюдении. Шаблон тоже выдаёт естественный язык, который читает человек. Дело не в том, похож ли результат на язык, а в том, кто придумывает форму этого языка: человек один раз, заранее, — это шаблон; модель каждый раз заново — это генерация. Похожесть результата на язык не говорит, какой путь к нему привёл.</a:t>
            </a:r>
          </a:p>
          <a:p/>
          <a:p>
            <a:r>
              <a:t>Усилить модель при росте числа получателей — действие, которое отвечает не на тот вопрос. Число получателей не связано с тем, насколько вариативен контент сообщения. Одно и то же шаблонное сообщение можно рассылать любому числу адресатов, и модель для этого не нужна.</a:t>
            </a:r>
          </a:p>
          <a:p/>
          <a:p>
            <a:r>
              <a:t>Поворот, который стоит здесь унести: смотреть не на то, выглядит ли результат языком, а на то, кто придумывает его форму. Это и есть граница между форматированием и генерацией — переходим к решению.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настроено в конкретном инструменте, — само решение, в общем виде, применимом к любому оркестратору процессов, не только к тому, которым мы пользуемся.</a:t>
            </a:r>
          </a:p>
          <a:p/>
          <a:p>
            <a:r>
              <a:t>Правило простое и не зависит от конкретного инструмента: если форма сообщения не меняется по сути от заявки к заявке — меняются только значения внутри неё, а не структура или тон, — то узел, который это сообщение строит, подставляет значения в шаблон и не вызывает модель вовсе.</a:t>
            </a:r>
          </a:p>
          <a:p/>
          <a:p>
            <a:r>
              <a:t>Это прямое следствие разбора, который мы только что провели. Разница между форматированием и генерацией — не в том, выглядит ли результат естественным языком, а в том, кто придумывает его форму. Если форму придумывает человек один раз заранее, и дальше меняются только значения, — это задача форматирования. Модель здесь ничего не решает, которого не мог бы решить простой шаблон, и каждый лишний вызов модели в такой задаче — это только цена без выигрыша.</a:t>
            </a:r>
          </a:p>
          <a:p/>
          <a:p>
            <a:r>
              <a:t>Модель нужна там, где форма или содержание сообщения требуют интерпретации — где тон, длина или сама структура текста должны реально меняться от случая к случаю, а не только числа и имена внутри фиксированной фразы. Для нашей задачи это не так.</a:t>
            </a:r>
          </a:p>
          <a:p/>
          <a:p>
            <a:r>
              <a:t>Это правило переносится на любой оркестратор процессов — n8n, другой no-code инструмент или собственный код: вопрос, который надо задать перед тем, как ставить шаг-модель, один и тот же — меняется ли реально форма вывода, или меняются только значения внутри неё. Если только значения — модель лишняя. Теперь посмотрим, как это настроено на практике, в нашем конкретном инструменте.</a:t>
            </a:r>
          </a:p>
          <a:p/>
          <a:p>
            <a:r>
              <a:t>Важно, что это правило не отменяет саму модель в цепочке целиком — она остаётся на своих местах, где текст действительно нужно понять или интерпретировать: извлечение полей из свободного текста заявки, сверка со справочником значений, которые сами по себе не всегда однозначны. Правило касается только точки, где форма результата уже известна заранее и требуется лишь собрать в неё готовые значения. Это различие — между «моделью где-то в цепочке» и «моделью именно в этой конкретной точке» — и есть то, что сегодняшнее занятие проверяет на каждом из четырёх кейсов по отдельности.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собрали первым — не пересказ, а то, что реально стоит в конфигурации на стенде.</a:t>
            </a:r>
          </a:p>
          <a:p/>
          <a:p>
            <a:r>
              <a:t>Узел получает на вход четыре значения из заявки: имя заявителя, основную тему, список того, что ещё упомянуто, и контакт. И получает промпт — инструкцию для модели, слово в слово: написать короткое дружелюбное уведомление координатору учебного центра в Telegram о новой многотемной заявке, подставив туда имя, основную тему и дополнительные темы, и написать это по-человечески, одним-двумя предложениями.</a:t>
            </a:r>
          </a:p>
          <a:p/>
          <a:p>
            <a:r>
              <a:t>Обратите внимание, что в этом промпте нет ничего сложного или неправильного самого по себе. Инструкция понятная, значения подставляются через выражения, модель честно пытается её выполнить. Проблема не в том, что промпт плохо написан — проблема в том, что сама задача не требует того, что этот узел делает на каждый прогон: сочинения текста заново.</a:t>
            </a:r>
          </a:p>
          <a:p/>
          <a:p>
            <a:r>
              <a:t>Все четыре значения, которые узел получает на вход, уже известны и уже готовы к использованию. Модели не нужно ничего домысливать — ей нужно собрать их в читаемое предложение. И именно это — чистую сборку известных значений в известную форму — она делает способом, рассчитанным на задачи, где форма или содержание должны меняться по сути, а не только значения внутри них.</a:t>
            </a:r>
          </a:p>
          <a:p/>
          <a:p>
            <a:r>
              <a:t>Сейчас мы прогоним через этот узел настоящую заявку — кликом по форме, без единой правки в настройках, — и посмотрим, какой текст получится. А следом — то же самое через вторую, настроенную иначе версию того же шага.</a:t>
            </a:r>
          </a:p>
          <a:p/>
          <a:p>
            <a:r>
              <a:t>Обе версии уже заранее собраны и опубликованы: на занятии мы ничего не настраиваем в узлах вживую, а только прогоняем уже готовые процессы и сравниваем результат. Это сознательное решение: сборка узла при зале отвлекает от самого сравнения, а здесь важно именно оно — какой текст получает координатор при одних и тех же входных данных, в зависимости от того, какой узел эти данные обрабатывает.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настоящая настройка, и она гораздо проще первой. Один узел, одно поле — назовём его полем текста уведомления, — и в нём не промпт, а выражение: «Новая заявка от», дальше имя, «: тема», дальше тема в кавычках, и если в заявке были дополнительные темы — через запятую «также» и они. Никакого вызова модели здесь нет: узел просто собирает строку из значений, которые уже лежат в заявке.</a:t>
            </a:r>
          </a:p>
          <a:p/>
          <a:p>
            <a:r>
              <a:t>Теперь — то, ради чего стоило показать оба узла рядом, а не по отдельности. Вот реальный результат версии 1 на одной из заявок: в тексте, который должен был содержать обращение к координатору, оказался буквальный текст «Имя координатора» в квадратных скобках — не имя, а название поля, которое не заполнилось смыслом. Технически узел отработал, сообщение дошло, но содержание неверно.</a:t>
            </a:r>
          </a:p>
          <a:p/>
          <a:p>
            <a:r>
              <a:t>А вот результат версии 2 на другой заявке, с темой «другое» и двумя дополнительными упоминаниями: «Новая заявка от Светлана: тема «другое», также: перенос занятия, оплата». Текст суховат, в нём нет живого тона — и это ровно то, что мы и просили: ни одного лишнего слова, ни одной возможности для несовпадения между тем, что в заявке, и тем, что в сообщении. Эта форма будет одинаковой на любой заявке, без исключений, потому что её не придумывает модель заново, а один раз придумал человек.</a:t>
            </a:r>
          </a:p>
          <a:p/>
          <a:p>
            <a:r>
              <a:t>Вот и разница между двумя версиями, предъявленная не абстрактным рассуждением, а двумя настоящими текстами на двух настоящих заявках: версия 1 может написать содержательно неверный текст и не заметить этого; версия 2 физически не может ошибиться в содержании, потому что в ней нет шага, который мог бы его придумать.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 кейса, одной мыслью, которую стоит унести за пределы этого конкретного сообщения.</a:t>
            </a:r>
          </a:p>
          <a:p/>
          <a:p>
            <a:r>
              <a:t>Узел-модель версии 1 не был технически неисправен. Он не упал, не вернул ошибку, не отказал ни на одном прогоне. Сообщение, которое он собрал, в каждом случае дошло до координатора. Проблема не в том, что узел работал плохо — проблема в том, что сама задача, которую он решал, не была задачей генерации. Она была задачей форматирования: собрать уже известные значения в известную форму, — а для такой задачи вызов модели не даёт выигрыша, только добавляет риск и цену.</a:t>
            </a:r>
          </a:p>
          <a:p/>
          <a:p>
            <a:r>
              <a:t>Класс задачи, который стоит назвать явно и унести с собой: сборка сообщения из уже извлечённых значений по фиксированной форме. Это не частность одного кейса про уведомления — это узнаваемый паттерн, который встречается в любой цепочке: как только все значения для вывода уже лежат в структуре, а форма вывода не меняется по сути, шаг-модель в этой точке избыточен.</a:t>
            </a:r>
          </a:p>
          <a:p/>
          <a:p>
            <a:r>
              <a:t>И отдельно стоит отметить саму природу отказа, который мы здесь увидели, потому что она вернётся в этом же занятии ещё раз, только на другом материале. Прогон зелёный, узел отработал успешно, сообщение доставлено — и при этом результат, который видит человек, не тот, что должен быть. Это тихий отказ: его не показывает журнал прогонов, его может заметить только человек, который прочитал содержание. В кейсе «Карточка в Telegram» мы увидим ровно эту же форму провала, но не на тексте, а на бинарных данных — файле, который либо не дошёл, либо дошёл обрезанным, при том же зелёном прогоне.</a:t>
            </a:r>
          </a:p>
          <a:p/>
          <a:p>
            <a:r>
              <a:t>Если вынести из этого кейса одно практическое действие — прежде чем ставить шаг-модель в новую точку цепочки, стоит сначала спросить: все ли значения, которые должны оказаться в результате, уже известны заранее? Если да, и меняется только их расположение внутри одной и той же формы, — вызов модели здесь не прибавляет качества, а прибавляет только цену и риск. Это тот самый вопрос, который мы будем задавать и в следующих трёх кейсах, просто к другим узлам и с другими последствиями ошибки.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нюанса, прежде чем мы сведём всё к одному критерию.</a:t>
            </a:r>
          </a:p>
          <a:p/>
          <a:p>
            <a:r>
              <a:t>Первый — про цену лишнего шага, которую легко недооценить. Это не только деньги за вызов модели и не только лишняя секунда ожидания. Это ещё и риск: каждый отдельный вызов модели — отдельная точка, в которой может появиться галлюцинация, и это верно даже для такой тривиальной задачи, как сборка готового сообщения. Мы это видели своими глазами: узел не упал, не ошибся технически, а просто написал то, чего в заявке не было.</a:t>
            </a:r>
          </a:p>
          <a:p/>
          <a:p>
            <a:r>
              <a:t>Второй нюанс — в обратную сторону, чтобы не превратить шаблон в универсальный ответ по умолчанию. Шаблон хорош ровно до тех пор, пока форма сообщения не меняется по сути. Если со временем появится реальная необходимость в вариативности — разные языки для разных клиентов, разная степень подробности для разных типов заявки — шаблон придётся переписывать руками на каждый новый случай. Это тоже цена, просто инженерная, а не денежная, и выбор между моделью и шаблоном должен зависеть от факта реальной вариативности, а не от привычки один раз выбрать и не возвращаться к вопросу.</a:t>
            </a:r>
          </a:p>
          <a:p/>
          <a:p>
            <a:r>
              <a:t>Отсюда критерий, с которым можно уйти с этого занятия и применить к своей работе. Модель нужна там, где контент должен реально меняться по тону, языку или длине, или где сам текст требует интерпретации. Шаблона достаточно, когда форма сообщения всегда одна и меняются только значения внутри неё — а здесь не нужно интерпретировать вообще ничего, всё уже известно.</a:t>
            </a:r>
          </a:p>
          <a:p/>
          <a:p>
            <a:r>
              <a:t>И возвращаемся к оси, с которой начали занятие. Первая строка: сообщение ушло координатору, цепочка стала короче и дешевле без LLM. Чем это оказалось: LLM здесь был просто лишним шагом — то же самое, без риска и без лишней задержки, делает шаблон.</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a:t>
            </a:r>
          </a:p>
          <a:p/>
          <a:p>
            <a:r>
              <a:t>Учебный центр принимает заявки через форму — и иногда один и тот же человек присылает один и тот же вопрос дважды. Может, забыл, что уже писал. Может, не увидел ответа и решил напомнить.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Нужна проверка на повтор — шаг, который смотрит на входящий текст и решает: это новое обращение или мы это уже разбирали. Как именно эту проверку построить — отдельный вопрос, и сейчас мы его спроектируем вместе с залом, а не починим чьё-то готовое решение.</a:t>
            </a:r>
          </a:p>
          <a:p/>
          <a:p>
            <a:r>
              <a:t>Кейс второй из четырёх в этом занятии — на дорожке он подсвечен.</a:t>
            </a:r>
          </a:p>
          <a:p/>
          <a:p>
            <a:r>
              <a:t>Эта реплика — не слова студента и не абстрактного клиента, а того, кто читает заявки на другом конце: координатора, которому ежедневно приходит поток сообщений от одних и тех же людей.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координатора, который видит, что цепочка снова отработала на вопрос, ответ на который уже дан.</a:t>
            </a:r>
          </a:p>
          <a:p/>
          <a:p>
            <a:r>
              <a:t>Пока это выглядит как мелкая деталь интерфейса: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предыдущем шаге, — и если повтор не остановить раньше, вся эта работа делается заново ради вопроса, ответ на который уже лежит готовый. Дешевле остановить повтор на входе, чем прогонять его через всю цепочку и разбираться постфактум.</a:t>
            </a:r>
          </a:p>
          <a:p/>
          <a:p>
            <a:r>
              <a:t>Сегодняшняя задача не в том, нужна проверка или не нужна — она нужна очевидно, — а в том, из чего её собрать. И, как мы увидим дальше, участвуют сразу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кто-то иногда присылает один и тот же вопрос дважды, и мы не хотим гонять цепочку с нуля на повторное обращение, если ответ на него уже есть.</a:t>
            </a:r>
          </a:p>
          <a:p/>
          <a:p>
            <a:r>
              <a:t>Первая версия, которую естественно собрать, — точное совпадение текста. Нормализуем входящую строку: убираем регистр, схлопываем лишние пробелы, — и сравниваем с недавними обращениями того же контакта за разумное окно времени. Совпали строки — перед нами повтор. Решение дёшево и честное: ни одного вызова модели, результат мгновенный.</a:t>
            </a:r>
          </a:p>
          <a:p/>
          <a:p>
            <a:r>
              <a:t>Практика показала на одном и том же утре два случая. В первом тот же человек присылает буквально тот же текст — «когда можно оплатить занятие?» — ещё раз. Точное совпадение после нормализации ловит это мгновенно: строки совпали посимвольно, проверка отработала ровно так, как задумана.</a:t>
            </a:r>
          </a:p>
          <a:p/>
          <a:p>
            <a:r>
              <a:t>Во втором случае тот же человек, в тот же день, спрашивает о том же самом — но другими словами: «как мне внести оплату за курс». По смыслу это тот же вопрос, который он уже задавал чуть раньше. Но строки разные, нормализация не делает их одинаковыми, и проверка на точное совпадение честно отвечает: это новое обращение. Цепочка запускается с нуля, как будто вопроса никогда не было.</a:t>
            </a:r>
          </a:p>
          <a:p/>
          <a:p>
            <a:r>
              <a:t>Важно: проверка не ошиблась технически. Она сделала ровно то, для чего её написали — сравнила две строки символ за символом. Проблема не в коде проверки, а в том, что совпадение символов и совпадение смысла — разные вещи, и первое не гарантирует второго.</a:t>
            </a:r>
          </a:p>
          <a:p/>
          <a:p>
            <a:r>
              <a:t>Вопрос, который отсюда вырастает: как построить проверку на повтор так, чтобы она ловила не только буквальное совпадение, но и переформулировку? И прежде чем сразу звать модель — есть ли более серьёзный способ сделать это механически?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тот самый вопрос, на котором версия 1 споткнулась: «как мне внести оплату за курс» — заданный тем же человеком вслед за «когда можно оплатить занятие?». По смыслу один вопрос. По буквам — два разных текста.</a:t>
            </a:r>
          </a:p>
          <a:p/>
          <a:p>
            <a:r>
              <a:t>Вопрос залу: как построить проверку на повтор.</a:t>
            </a:r>
          </a:p>
          <a:p/>
          <a:p>
            <a:r>
              <a:t>Четыре карточки, и это не теория, а четыре реальных способа, которые встречаются в живых системах. Сравнивать тексты буквально — точное совпадение после нормализации, то, что мы уже видели. Сравнивать тексты по общим словам — мера похожести с порогом, когда совпадение не обязано быть стопроцентным. Спросить у модели, один ли это вопрос, просто сформулированный иначе. Или сначала проверить точное совпадение дёшево, а по модели пускать только то, что осталось непонятным.</a:t>
            </a:r>
          </a:p>
          <a:p/>
          <a:p>
            <a:r>
              <a:t>Обратите внимание: все четыре — это действия, которые можно взять и реализовать, а не утверждения о том, что умеет или не умеет какой-то инструмент. Выбирайте, какое действие вы бы поставили первым шагом.</a:t>
            </a:r>
          </a:p>
          <a:p/>
          <a:p>
            <a:r>
              <a:t>Пятнадцать секунд, потом по рукам.</a:t>
            </a:r>
          </a:p>
          <a:p/>
          <a:p>
            <a:r>
              <a:t>Обратите внимание на формулировки этих действий — все они описывают, что нужно СДЕЛАТЬ, а не то, что инструмент умеет или не умеет сам по себе. «Сравнивать буквально» — действие. «Спросить у модели» — тоже действие, а не утверждение вроде «модель понимает смысл, а хэш не понимает». Разница важна: вопрос не о том, какой инструмент умнее в принципе, а о том, какой шаг вы бы поставили первым в реальной цепочке.</a:t>
            </a:r>
          </a:p>
          <a:p/>
          <a:p>
            <a:r>
              <a:t>Три из четырёх карточек — самостоятельные инженерные решения, которые можно взять и реализовать целиком: сравнение буквально, сравнение по словам или вызов модели. Четвёртая карточка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тремя вариантами и четвёртым, это нормально: первые три отвечают на вопрос «чем сравнивать», четвёртый — на вопрос «в каком порядке».</a:t>
            </a:r>
          </a:p>
          <a:p/>
          <a:p>
            <a:r>
              <a:t>Через минуту разберём, что каждое из этих действий реально ловит, а что — нет, на том самом примере с «оплату» и «оплатить», с которого начали.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все четыре, и начнём с того, что уже видели. Точное совпадение ловит буквальный повтор мгновенно и бесплатно — это случай «тот же текст дважды». Чего оно не делает: не ловит переформулировку, потому что для него совпадение — это совпадение строк, символ за символом, а не смысла.</a:t>
            </a:r>
          </a:p>
          <a:p/>
          <a:p>
            <a:r>
              <a:t>Похожесть по словам выглядит серьёзнее. У неё есть мера — доля общих слов, — и есть порог, который можно настроить. Это реалистичный инженерный выбор, который инженер без доступа к модели рассмотрел бы первым. Но вот что показывает проверка на настоящем тексте, а не на предположении.</a:t>
            </a:r>
          </a:p>
          <a:p/>
          <a:p>
            <a:r>
              <a:t>Возьмём ту самую пару. Текст первый: «как мне внести оплату за курс». Слова: как, мне, внести, оплату, за, курс. Текст второй: «когда можно оплатить занятие?». Слова: когда, можно, оплатить, занятие.</a:t>
            </a:r>
          </a:p>
          <a:p/>
          <a:p>
            <a:r>
              <a:t>Посчитаем пересечение. Ни одно слово первого текста не совпадает ни с одним словом второго. Ноль из десяти уникальных слов. «Оплату» и «оплатить» — разные словоформы, компьютер не знает, что это одно и то же слово в разных падежах. «Курс» и «занятие» — разные слова вовсе, хотя по смыслу это одно и то же — то, за что человек платит.</a:t>
            </a:r>
          </a:p>
          <a:p/>
          <a:p>
            <a:r>
              <a:t>Это значит: похожесть по словам с любым разумным порогом — хоть треть, хоть половина — тоже не признает эту пару повтором. Не потому, что порог настроен неправильно. Потому, что общих слов физически нет, при полном совпадении смысла.</a:t>
            </a:r>
          </a:p>
          <a:p/>
          <a:p>
            <a:r>
              <a:t>Дальше — спросить у модели. Она ловит смысл в обеих ситуациях: и буквальный повтор, и переформулировку. Но каждый вызов стоит денег и времени, и у неё своя частота ошибок в обе стороны — иногда примет разное за одно, иногда одно за разное. Не «всегда точнее», а иначе ошибается.</a:t>
            </a:r>
          </a:p>
          <a:p/>
          <a:p>
            <a:r>
              <a:t>И последнее действие — сначала дёшево, потом по модели только на то, что осталось. Оно закрывает обе задачи по цене: буквальные повторы гасятся бесплатно, модель тратится только там, где механика честно не дала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ни точное совпадение, ни похожесть по словам не решают задачу целиком, а проверка смыслом стоит дороже и медленнее на каждый вызов. Вопрос не «что выбрать одно из трёх», а как их расставить по порядку.</a:t>
            </a:r>
          </a:p>
          <a:p/>
          <a:p>
            <a:r>
              <a:t>Вот архитектурное решение, и оно не привязано ни к одному конкретному инструменту — эта формулировка не изменится, если цепочку собирать не в n8n, а в чём угодно ещё.</a:t>
            </a:r>
          </a:p>
          <a:p/>
          <a:p>
            <a:r>
              <a:t>Первый шаг — дешёвый фильтр. Сравниваем входящий текст с недавними обращениями того же контакта. Совпало буквально — перед нами повтор, и дальше процесс не идёт: ответ уже есть, вызывать что-то дороже не нужно.</a:t>
            </a:r>
          </a:p>
          <a:p/>
          <a:p>
            <a:r>
              <a:t>Второй шаг — дорогая проверка, но только на то, что осталось. Всё, что дешёвый фильтр не смог разрешить однозначно — разные строки текста, тот же контакт, близкое по времени обращение, — передаётся на проверку смыслом.</a:t>
            </a:r>
          </a:p>
          <a:p/>
          <a:p>
            <a:r>
              <a:t>Главное правило здесь — не про инструменты, а про порядок: дорогой инструмент используется только там, где дешёвый явно не дал ответа, а не вместо него и не всегда вместе с ним. Если вызывать модель на каждое обращение подряд, вы платите за вызов там, где бесплатная проверка уже справилась. Если не вызывать модель вовсе, вы теряете все переформулировки, как мы видели на реальном примере.</a:t>
            </a:r>
          </a:p>
          <a:p/>
          <a:p>
            <a:r>
              <a:t>Это общий архитектурный приём, не особенность именно этой проверки на повтор: дешёвая проверка идёт первой всегда, когда она покрывает значимую долю случаев сама, а дорогой инструмент держат в резерве для того, что дешёвая часть оставила нерешённым. Тот же приём уже встречался в первом кейсе этого занятия, только выглядел иначе: там решение о том, что писать в уведомлении, перестало быть задачей модели целиком и стало подстановкой значений в готовый шаблон. Здесь решение не убирается целиком, а делится на два шага разной цены, и каждый решает свою часть задачи.</a:t>
            </a:r>
          </a:p>
          <a:p/>
          <a:p>
            <a:r>
              <a:t>Оба шага остаются обязательными — это не замена одного другим. Убрать второй шаг — и вы потеряете все переформулированные повторы, как мы только что увидели на реальном примере. Убрать первый шаг и спрашивать модель всегда — и вы платите за вызов там, где бесплатная проверка строки на строку уже дала бы верный ответ без единого обращения к модели.</a:t>
            </a:r>
          </a:p>
          <a:p/>
          <a:p>
            <a:r>
              <a:t>Теперь посмотрим, как это выглядит не как принцип, а как настроенный шаг в реальной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настроенный узел.</a:t>
            </a:r>
          </a:p>
          <a:p/>
          <a:p>
            <a:r>
              <a:t>Первый параметр — что мы нормализуем.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Результат кладём в отдельное поле рядом с исходным текстом заявки.</a:t>
            </a:r>
          </a:p>
          <a:p/>
          <a:p>
            <a:r>
              <a:t>Второй параметр — условие сравнения. Берём этот нормализованный текст и сравниваем его с нормализованным текстом недавнего обращения того же контакта за разумное окно времени. Строки равны — перед нами повтор, и дальше цепочка не идёт: ответ уже есть, записывать новую заявку не нужно. Строки не равны — значит дешёвый фильтр не дал однозначного ответа, и мы идём дальше, на проверку смыслом.</a:t>
            </a:r>
          </a:p>
          <a:p/>
          <a:p>
            <a:r>
              <a:t>У меня на стенде нет живого экрана интерфейса, который я мог бы вам показать прямо сейчас — это честно признанное ограничение, не подмена. Но параметры перед вами настоящие: это та самая конфигурация, что стоит на стенде, а не придуманная для слайда.</a:t>
            </a:r>
          </a:p>
          <a:p/>
          <a:p>
            <a:r>
              <a:t>Обратите внимание: ни один из этих двух шагов не вызывает модель. Сравнение строк — это чистая механика, дешёвая и мгновенная. Всё, что на этом шаге не разрешилось однозначно, переходит к следующему узлу — и вот там модель наконец понадобится.</a:t>
            </a:r>
          </a:p>
          <a:p/>
          <a:p>
            <a:r>
              <a:t>Промежуток времени, за который мы ищем недавнее обращение того же контакта, — отдельный параметр со своей ценой, а не техническая деталь, которую настраивают один раз и забывают. Слишком короткий промежуток пропустит повтор, если человек написал во второй раз не сразу, а через день-два. Слишком длинный начнёт путать разные, по-настоящему новые обращения одного и того же человека с повтором одного и того же вопроса — если человек подряд написал два разных вопроса в течение одного дня, широкий промежуток рискует принять второй вопрос за повтор первого просто потому, что оба пришли от одного контакта близко по времени.</a:t>
            </a:r>
          </a:p>
          <a:p/>
          <a:p>
            <a:r>
              <a:t>Узел </a:t>
            </a:r>
            <a:r>
              <a:rPr>
                <a:latin typeface="Consolas"/>
              </a:rPr>
              <a:t>IF</a:t>
            </a:r>
            <a:r>
              <a:t>, который принимает это решение, не вызывает ни одной модели и не стоит дорого — он сравнивает две уже готовые строки символ за символом. Именно поэтому его можно позволить себе на каждую заявку без исключения: цена этого шага не растёт от того, сколько заявок приходит в час.</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У него один параметр, и это текст промпта: «это новое сообщение: вот этот текст. Недавнее сообщение того же контакта: вот этот текст. Это тот же вопрос, просто сформулированный иначе? Ответь строго «да» или «нет».» Заметьте, промпт не просит оценить похожесть и не просит процент совпадения — он прямо ставит вопрос, который нас интересует, и просит короткий ответ, который легко обработать дальше по цепочке.</a:t>
            </a:r>
          </a:p>
          <a:p/>
          <a:p>
            <a:r>
              <a:t>Теперь — два настоящих прогона с этого же стенда, те самые два случая из постановки.</a:t>
            </a:r>
          </a:p>
          <a:p/>
          <a:p>
            <a:r>
              <a:t>Первый прогон: тот же текст дважды, «когда можно оплатить занятие?» и снова он же. Дешёвый фильтр поймал совпадение раньше, чем дело дошло до модели. Что важно: заявка не записана, ответа не было — и при этом сам прогон завершился технически успешно. Ничего не сломалось, ничего не упало, просто вторая запись не появилась, потому что в ней не было смысла: ответ на этот вопрос уже существует. Зелёный статус здесь — не признак того, что всё сделано, а признак того, что фильтр сработал так, как задумано.</a:t>
            </a:r>
          </a:p>
          <a:p/>
          <a:p>
            <a:r>
              <a:t>Второй прогон: тот же человек спрашивает другими словами — «как мне внести оплату за курс», после уже заданного «когда можно оплатить занятие?». Дешёвый фильтр не разрешил это однозначно: строки разные. Запрос дошёл до узла-модели, и модель получила оба текста — новый и недавний. Ответ — «да», тот же вопрос, просто сформулированный иначе.</a:t>
            </a:r>
          </a:p>
          <a:p/>
          <a:p>
            <a:r>
              <a:t>Обратите внимание, где именно модель оказалась полезна: ровно там, где мы на предыдущем слайде посчитали, что у похожести по словам на этой же паре общих слов — ноль. Там, где механическое сравнение слепо в принципе, проверка смыслом дала верный ответ.</a:t>
            </a:r>
          </a:p>
          <a:p/>
          <a:p>
            <a:r>
              <a:t>На экране перед вами оба результата без единого служебного идентификатора — важны тексты заявок и ответ, не номер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Похожесть по словам выглядит более серьёзной альтернативой — у неё есть мера и порог, — но мы только что посчитали на настоящем тексте: на этой самой переформулировке общих слов ноль. Она проваливается там же, где и точное совпадение, просто по другой причине: переформулировка на русском языке может не оставить ни одного общего слова при полном совпадении смысла, а любая проверка, работающая со словами как с единицами сравнения, слепа к этому в принципе.</a:t>
            </a:r>
          </a:p>
          <a:p/>
          <a:p>
            <a:r>
              <a:t>Системный приём, который стоит унести: тратить дорогой инструмент только там, где дешёвый явно не дал ответа. Точное совпадение берёт на себя буквальные повторы бесплатно и мгновенно. Модель вызывается только на то, что первый фильтр не разрешил однозначно — и тогда её цена оправдана, потому что заменить её нечем.</a:t>
            </a:r>
          </a:p>
          <a:p/>
          <a:p>
            <a:r>
              <a:t>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Сегодняшняя проверка на повтор — это, по сути, первая, самая узкая версия той же задачи.</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 текст уведомления собирается из готовых кусков без единого творческого решения. Здесь задача не детерминирована целиком: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 на то, что осталось непонятным после дешёвой проверки.</a:t>
            </a:r>
          </a:p>
          <a:p/>
          <a:p>
            <a:r>
              <a:t>Куда это ведёт дальше, стоит сказать чуть подробнее. Сегодня мы сравниваем новый текст с одним недавним обращением того же человека — узкая, почти локальная задача. На Семинаре 10 сравнение смысла вырастает в задачу другого масштаба: вместо одного недавнего сообщения появляется целая база уже отвеченных вопросов, и новый вопрос сравнивается не с одной строкой, а со всей базой сразу — чтобы найти в ней готовый ответ, если такой уже есть, и чтобы объединить разные формулировки одного и того же вопроса в одну запись, а не плодить дубли в самой базе. Механика, которую мы собрали сегодня для одной пары текстов, — по сути тот же вопрос «один ли это смысл», только заданный в меньшем масштабе.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какой из трёх инструментов выбрать — все три всплывают уже после того, как выбор сделан.</a:t>
            </a:r>
          </a:p>
          <a:p/>
          <a:p>
            <a:r>
              <a:t>Первый — окно времени само по себе параметр с ценой. Слишком короткое окно — и повтор, который человек прислал через пару дней, а не через пару минут, проверка пропустит: формально это уже «не недавнее» обращение. Слишком длинное окно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это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Стоит иметь это в уме: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a:t>
            </a:r>
          </a:p>
          <a:p/>
          <a:p>
            <a:r>
              <a:t>Точного совпадения достаточно, если повторы в основном буквальные: один канал, одна форма на сайте, и человек просто два раза нажал «отправить», не переписывая текст. В этом случае переформулировки — редкость, и тратить вызов модели на каждое обращение не окупается.</a:t>
            </a:r>
          </a:p>
          <a:p/>
          <a:p>
            <a:r>
              <a:t>Проверка смыслом сверху оправдана, когда ожидаются именно переформулировки: разные каналы — сайт, телефон, мессенджер, — разный интервал между обращениями, и человек каждый раз пишет своими словами, как в нашем примере. Здесь важно сравнить не абсолютную точность, а цену: необнаруженный дубль — это повторная работа, повторный звонок, цепочка, запущенная с нуля там, где ответ уже есть, — и если эта цена выше цены одного вызова модели на оставшиеся спорные случаи, проверка смыслом себя оправдывает.</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И важно унести именно это: ни точное совпадение, ни похожесть по словам не решают эту задачу целиком сами по себе — для настоящей переформулировки, с какой мы и столкнулись на реальном тексте, нужна проверка смыслом, и именно поэтому в финальном решении она стоит вторым шагом, а не единственным.</a:t>
            </a:r>
          </a:p>
          <a:p/>
          <a:p>
            <a:r>
              <a:t>Это тот же вопрос, который стоит задавать для любого похожего шага в любой цепочке, не только для проверки на повтор: не «что технически точнее», а «что обойдётся дороже — ошибка дешёвого инструмента или цена дорогого инструмента на каждый случай». Для буквальных повторов в одном канале ответ обычно «дешёвая проверка окупает себя полностью», потому что переформулировки там статистически редки. Для разнородного потока обращений — форма на сайте, звонок, мессенджер, где один и тот же человек в разных каналах объясняет свою мысль разными словами, — цена необнаруженного дубля быстро перевешивает цену одного лишнего вызова модели.</a:t>
            </a:r>
          </a:p>
          <a:p/>
          <a:p>
            <a:r>
              <a:t>Кейс закрыт: путь прошли от потребности («не гонять цепочку с нуля на повторный вопрос») через два неудачных дешёвых подхода, честный расчёт на реальном тексте и выбор правильного порядка инструментов — до конкретного критерия, по которому решать, нужен ли второй, дорогой слой вообще.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начинается не со сцены и не с жалобы, а с текста самого правила — буквально, той строкой, которая сегодня стоит в промпте шага, принимающего решение.</a:t>
            </a:r>
          </a:p>
          <a:p/>
          <a:p>
            <a:r>
              <a:t>Учебный центр обрабатывает запросы на возврат денег. Часть из них мелкие, часть крупные, и центр хочет одобрять мелкие самостоятельно, не отрывая руководителя на каждую мелочь, а крупные — эскалировать ему. Порог между «мелким» и «крупным» — три тысячи рублей.</a:t>
            </a:r>
          </a:p>
          <a:p/>
          <a:p>
            <a:r>
              <a:t>Вот эта цитата — не пересказ, а то, что сегодня действительно читает модель перед тем, как ответить «одобрить» или «эскалировать». Решение о пороге целиком доверено тексту: сумма запроса подставляется в фигурные скобки, и дальше модель сама решает, укладывается она в правило или нет.</a:t>
            </a:r>
          </a:p>
          <a:p/>
          <a:p>
            <a:r>
              <a:t>Выглядит разумным ходом: порог один, формулировка простая, лишнего узла в процессе нет. Четыре слайда назад мы разбирали похожий вопрос — где в цепочке ставить шаг модели, а где хватает кода. Здесь тот же вопрос, только ставка выше: речь не про текст уведомления, а про решение, которое напрямую управляет деньгами.</a:t>
            </a:r>
          </a:p>
          <a:p/>
          <a:p>
            <a:r>
              <a:t>Дальше — что это за решение сегодня и почему оно вообще оказалось под вопросом.</a:t>
            </a:r>
          </a:p>
          <a:p/>
          <a:p>
            <a:r>
              <a:t>Для сравнения: первый дивайдер этого занятия открывался репликой сотрудника, второй — прямой потребностью центра, названной словами постановки, а этот — чистым текстом правила, которое предстоит разбирать. Три разных входа подряд — это не случайность: каждый кейс выбирает ту форму, которая честнее всего показывает, с чем именно предстоит работать дальше. Здесь работать предстоит с текстом правила, а не со сценой или метафорой.</a:t>
            </a:r>
          </a:p>
          <a:p/>
          <a:p>
            <a:r>
              <a:t>Обратите внимание на фигурные скобки — </a:t>
            </a:r>
            <a:r>
              <a:rPr>
                <a:latin typeface="Consolas"/>
              </a:rPr>
              <a:t>{{сумма}}</a:t>
            </a:r>
            <a:r>
              <a:t>. Это не декоративная деталь: именно сюда на каждом прогоне подставляется реальная сумма конкретного запроса, и дальше вся ответственность за решение лежит на том, как модель прочитает число внутри уже готового текста правила и соотнесёт его с порогом. Отдельного шага сравнения чисел в этой версии процесса не стоит — сравнение происходит внутри самого текстового ответа модели, вместе с пониманием естественного языка правила.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это решение вообще появилось.</a:t>
            </a:r>
          </a:p>
          <a:p/>
          <a:p>
            <a:r>
              <a:t>У учебного центра есть нормальный, частый поток заявок на возврат денег: кто-то не пришёл на занятие, кто-то передумал. Часть сумм мелкая — несколько сотен или пара тысяч рублей, часть крупная. Центр хочет, чтобы мелкие возвраты одобрялись сами, без похода к руководителю по каждой мелочи, а крупные всё равно шли через него. Задача простая: нужен способ надёжно отличить «мелкий» от «крупного» по сумме запроса.</a:t>
            </a:r>
          </a:p>
          <a:p/>
          <a:p>
            <a:r>
              <a:t>Решение, которое взяли, — то самое правило, которое мы только что прочитали на предыдущем экране. Чтобы не добавлять в процесс отдельный узел сравнения, порог в три тысячи рублей вписали прямо в текст промпта того шага, который и принимает решение. Шаг — модель, конкретно qwen-2.5-7b-instruct через OpenRouter, та же инфраструктура, которой мы уже пользовались на прошлом занятии для извлечения полей. Модели на вход приходит сумма запроса, и она сама, прочитав правило, отвечает одним словом: «одобрить» или «эскалировать».</a:t>
            </a:r>
          </a:p>
          <a:p/>
          <a:p>
            <a:r>
              <a:t>Это решение выглядит разумным, и не потому, что кто-то поленился. Узел получился один, формулировка простая, порог меняется одной правкой текста без касания схемы процесса. Ровно так в реальных командах и появляются такие решения: не как заведомая ошибка, а как самый короткий путь от требования до работающего прода.</a:t>
            </a:r>
          </a:p>
          <a:p/>
          <a:p>
            <a:r>
              <a:t>И это решение действительно работает — уже месяц. Жалоб не было. Руководитель не получал сигналов, что его дёргают по мелочам чаще, чем должны, и клиенты не писали, что им отказали там, где должны были одобрить. По всем доступным наблюдениям, правило держит порог.</a:t>
            </a:r>
          </a:p>
          <a:p/>
          <a:p>
            <a:r>
              <a:t>Вопрос, который стоит задать дальше, — не «работает оно или нет», а: достаточно ли отсутствия жалоб за месяц, чтобы доверять этому решению дальше? Это и будет следующий шаг разбора.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продолжать доверять правилу, стоит спросить: а что вообще значит «надёжно» в этом случае? Месяц без жалоб — это отсутствие повода проверить, а не доказательство того, что проверять нечего.</a:t>
            </a:r>
          </a:p>
          <a:p/>
          <a:p>
            <a:r>
              <a:t>Вопрос, который хочу задать залу: как добиться, чтобы решение о пороге никогда не принималось неверно? Не «как сделать лучше вообще», а конкретно — какое действие гарантирует, что модель не перепутает мелкий возврат с крупным.</a:t>
            </a:r>
          </a:p>
          <a:p/>
          <a:p>
            <a:r>
              <a:t>Четыре карточки, и каждая — реальное инженерное действие, которое можно предпринять прямо сейчас, без переписывания всего процесса.</a:t>
            </a:r>
          </a:p>
          <a:p/>
          <a:p>
            <a:r>
              <a:t>Первое — написать правило яснее в промте. Самый дешёвый ход: ничего не меняется в структуре процесса, переписывается только текст.</a:t>
            </a:r>
          </a:p>
          <a:p/>
          <a:p>
            <a:r>
              <a:t>Второе — дать модели инструмент-калькулятор для сравнения сумм. Модель остаётся точкой решения, но ей дают внешний инструмент, которому можно доверить саму арифметику.</a:t>
            </a:r>
          </a:p>
          <a:p/>
          <a:p>
            <a:r>
              <a:t>Третье — поставить </a:t>
            </a:r>
            <a:r>
              <a:rPr>
                <a:latin typeface="Consolas"/>
              </a:rPr>
              <a:t>IF</a:t>
            </a:r>
            <a:r>
              <a:t>-узел после извлечения суммы. Это уже меняет структуру процесса: после того как сумма извлечена из текста заявки, сравнение с порогом делает не модель, а отдельный узел условия.</a:t>
            </a:r>
          </a:p>
          <a:p/>
          <a:p>
            <a:r>
              <a:t>Четвёртое — прогнать несколько раз и взять большинство голосов. Идея из машинного обучения: если ответ не детерминирован, спросить несколько раз и довериться тому, что отвечает чаще.</a:t>
            </a:r>
          </a:p>
          <a:p/>
          <a:p>
            <a:r>
              <a:t>Голосуйте: какое из этих четырёх действий вы бы сделали первым, если бы это был ваш процесс и ваши деньги? Пятнадцать секунд.</a:t>
            </a:r>
          </a:p>
          <a:p/>
          <a:p>
            <a:r>
              <a:t>И сразу честно: правильных действий здесь может быть больше одного — вопрос не в том, что остальные три бесполезны, а в том, какое из них решает задачу структурно, а какое только снижает частоту ошибки. Это и разберём следующим экраном.</a:t>
            </a:r>
          </a:p>
          <a:p/>
          <a:p>
            <a:r>
              <a:t>Стоит заметить, что первые две карточки оставляют точку принятия решения ровно там же, где она стоит сегодня — внутри текстового ответа модели, просто с более ясной формулировкой или с дополнительным инструментом под рукой. Третья и четвёртая карточки, наоборот, меняют, где принимается решение: третья выносит его в отдельный узел условия, четвёртая оставляет решение за моделью, но спрашивает несколько раз подряд. Этот вопрос — тот же, что мы задавали в кейсе про проверку на повтор: не какой инструмент умнее по отдельности, а какую роль вы отводите каждому в цепочке и где именно граница между тем, что решает модель, и тем, что решает код.</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карточки по одной, и сразу оговорюсь: ни одна из них не глупая, вопрос в том, что именно каждая чинит.</a:t>
            </a:r>
          </a:p>
          <a:p/>
          <a:p>
            <a:r>
              <a:t>Написать правило яснее. Самое дешёвое действие — просто переписать текст промпта точнее, явно указать, что значит «не больше X». Это снижает частоту ошибки: чем понятнее сформулировано правило, тем легче модели его соблюсти. Но решение остаётся текстовым вызовом модели, и сколь угодно аккуратная формулировка не даёт гарантии на каждый отдельный прогон — модель всё равно читает текст и интерпретирует его, а не проверяет условие механически.</a:t>
            </a:r>
          </a:p>
          <a:p/>
          <a:p>
            <a:r>
              <a:t>Дать модели калькулятор. Это шаг вперёд относительно первого: вместо того чтобы модель сама прикидывала, больше сумма или меньше, ей дают внешний инструмент, который сравнивает числа детерминированно. Собственная арифметическая ошибка модели снижается. Но смотрите, где остаётся вероятность: решение всё равно идёт через то, вызовет ли модель этот инструмент в конкретном прогоне и правильно ли передаст туда значения. Вероятность не исчезла — она переехала на шаг раньше, к вызову инструмента.</a:t>
            </a:r>
          </a:p>
          <a:p/>
          <a:p>
            <a:r>
              <a:t>Поставить </a:t>
            </a:r>
            <a:r>
              <a:rPr>
                <a:latin typeface="Consolas"/>
              </a:rPr>
              <a:t>IF</a:t>
            </a:r>
            <a:r>
              <a:t>-узел после извлечения суммы. Здесь меняется сама структура: сравнение суммы с порогом теперь делает не модель, а условие в коде оркестратора, отдельным узлом после того, как сумма уже извлечена из текста заявки. Это единственное из четырёх действий, которое убирает вероятность из самой точки принятия решения, а не снижает её частоту и не переносит на шаг раньше.</a:t>
            </a:r>
          </a:p>
          <a:p/>
          <a:p>
            <a:r>
              <a:t>Прогнать несколько раз и взять большинство голосов. Идея понятная и в некоторых задачах рабочая: если ответ модели не детерминирован, спросить несколько раз и довериться более частому ответу. Это действительно помогает, если ошибка — случайный разброс: в одном прогоне модель ответила не так, как в соседнем на той же сумме. Но если дело не в разбросе, а в том, что модель </a:t>
            </a:r>
            <a:r>
              <a:rPr b="1"/>
              <a:t>систематически</a:t>
            </a:r>
            <a:r>
              <a:t>, каждый раз одинаково, неверно трактует саму границу условия — голосование не лечит это, оно просто размножает ту же неверную трактовку в несколько раз дороже.</a:t>
            </a:r>
          </a:p>
          <a:p/>
          <a:p>
            <a:r>
              <a:t>И вот здесь рассуждение заканчивается, а начинается вопрос, на который рассуждением не ответить: какая у этой ошибки природа — случайный разброс или систематическая неверная трактовка границы? Единственный способ узнать — прогнать правило на реальных суммах и посчитать. Это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Месяц без жалоб — это отсутствие повода проверить, не доказательство надёжности. Спроектировали эксперимент: прогнать через версию 1 много запросов на возврат с суммами вокруг и выше порога и посчитать, сколько решений противоречат правилу.</a:t>
            </a:r>
          </a:p>
          <a:p/>
          <a:p>
            <a:r>
              <a:t>Прогнали 51 запрос настоящими выполнениями на стенде — не на бумаге, не в уме: пятьдесят заготовленных сумм вокруг и выше порога в три тысячи рублей и один ручной тест сверху. Результат: три ошибки из пятидесяти одной.</a:t>
            </a:r>
          </a:p>
          <a:p/>
          <a:p>
            <a:r>
              <a:t>И здесь важно не число само по себе, а то, где именно эти три ошибки оказались. Все три — на сумме, РОВНО равной порогу, три тысячи рублей. Не рядом, не в диапазоне около порога — точно на нём.</a:t>
            </a:r>
          </a:p>
          <a:p/>
          <a:p>
            <a:r>
              <a:t>Посмотрим на остальной диапазон. На любой сумме строго выше трёх тысяч модель эскалирует верно — ноль ошибок. На любой сумме строго ниже трёх тысяч модель одобряет верно — ноль ошибок. То есть модель прекрасно понимает правило и прекрасно его применяет — везде, кроме одной точки.</a:t>
            </a:r>
          </a:p>
          <a:p/>
          <a:p>
            <a:r>
              <a:t>И это не случайный разброс, который можно было бы объяснить тем, что модель иногда просто путается. Это систематический промах ровно там, где текст правила и его формальная трактовка расходятся. Правило говорит «не возвращай больше 3000 рублей» — а что делать, если сумма равна ровно 3000? «Больше 3000» их не включает, значит, 3000 можно одобрить самому. Но модель во всех трёх прогонах на этой точной сумме решила «эскалировать», а не «одобрить» — она трактует границу как «на пороге и выше» целиком, а не строго «больше».</a:t>
            </a:r>
          </a:p>
          <a:p/>
          <a:p>
            <a:r>
              <a:t>Это важнее, чем просто «модель иногда вероятностно ошибается». Случайную ошибку можно снизить повторами или усреднением — мы это уже обсуждали на прошлом экране. Систематическую ошибку на границе так не снизить: модель будет повторять её на этой же сумме каждый раз, потому что дело не в удаче конкретного прогона, а в том, как она формально читает слово «больше».</a:t>
            </a:r>
          </a:p>
          <a:p/>
          <a:p>
            <a:r>
              <a:t>Вспомните карточки предыдущего экрана. Голосование большинством здесь ничем не поможет — модель не колеблется между «одобрить» и «эскалировать» на сумме 3000, она стабильно выбирает «эскалировать». А вот карточка про </a:t>
            </a:r>
            <a:r>
              <a:rPr>
                <a:latin typeface="Consolas"/>
              </a:rPr>
              <a:t>IF</a:t>
            </a:r>
            <a:r>
              <a:t>-узел — вот куда мы идём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Эксперимент на прошлом экране нашёл не случайную ошибку, а систематический промах ровно на границе условия. Вывод из этого — не «модель плохая», а «эта модель стоит не на своём месте»: в точке, где решение принимается условием, а не смыслом.</a:t>
            </a:r>
          </a:p>
          <a:p/>
          <a:p>
            <a:r>
              <a:t>Вот архитектурный ответ на эту находку, пока без привязки к конкретному инструменту. Сумма запроса — это уже структурированное значение: число, извлечённое из текста заявки на предыдущем шаге. Критерий решения — «эта сумма больше порога или нет» — это условие, которое можно выразить формально, без интерпретации естественного языка. А там, где критерий можно выразить как условие над уже структурированным значением — суммой, датой, принадлежностью готовому списку — решение этого условия отдаётся коду оркестратора, а не тексту промпта.</a:t>
            </a:r>
          </a:p>
          <a:p/>
          <a:p>
            <a:r>
              <a:t>Модель при этом не уходит из процесса совсем. Она остаётся там, где её работа действительно нужна: прочитать свободный текст заявки и извлечь из него число — сумму запроса. Это задача понимания текста, и ровно там модель уместна. А дальше, когда число уже есть, сравнение этого числа с порогом не требует понимания естественного языка вообще — это обычная арифметика, и отдавать её модели означает просить её делать то, что код делает детерминированно и без интерпретации.</a:t>
            </a:r>
          </a:p>
          <a:p/>
          <a:p>
            <a:r>
              <a:t>Важно: это решение появилось не само по себе и не параллельно версии 1 для сравнения. Оно появилось именно потому, что эксперимент на предыдущем экране показал конкретную, измеренную проблему версии 1 — систематическую ошибку на границе. Версия 2 — это прямой ответ на эту находку, а не вторая гипотеза, которая была готова с самого начала.</a:t>
            </a:r>
          </a:p>
          <a:p/>
          <a:p>
            <a:r>
              <a:t>Как именно это выглядит в нашем процессе — следующий экран, с настоящей конфигурацией узла.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архитектурное решение с прошлого экрана выглядит на реальном стенде.</a:t>
            </a:r>
          </a:p>
          <a:p/>
          <a:p>
            <a:r>
              <a:t>Первый узел в этой паре не поменялся вообще: это тот же узел извлечения суммы, что стоял и в версии 1 — он читает свободный текст заявки на возврат и достаёт из него число, сумму в рублях. Модель здесь всё ещё нужна, потому что текст заявки свободный, и извлечь из него число — задача понимания языка.</a:t>
            </a:r>
          </a:p>
          <a:p/>
          <a:p>
            <a:r>
              <a:t>А дальше, там, где раньше начинался текстовый промпт с правилом, теперь стоит обычный узел условия. Условие простое: извлечённая сумма строго больше трёх тысяч. Обратите внимание на две детали конфигурации, которые раньше жили только в голове у того, кто писал промпт, а теперь явно зафиксированы в настройках узла. Первое — тип значения: число, а не текст. Второе — строгость сравнения: включена точная проверка типа, то есть узел не станет молча сравнивать число со строкой «3000» и получать неожиданный результат.</a:t>
            </a:r>
          </a:p>
          <a:p/>
          <a:p>
            <a:r>
              <a:t>Оператор — строго «больше». Не «больше или равно». Это тот самый порог, на котором версия 1 ошиблась все три раза, и здесь он зафиксирован однозначно: сумма, равная трём тысячам, условию «больше» не удовлетворяет — она идёт по ветке «не больше», то есть одобряется самостоятельно, ровно как и предполагает человеческое прочтение правила «не возвращай больше 3000».</a:t>
            </a:r>
          </a:p>
          <a:p/>
          <a:p>
            <a:r>
              <a:t>На выходе из узла — две ветки. Одна ведёт к шагу эскалации руководителю, вторая — к шагу самостоятельного одобрения. Больше никакого текста, который нужно интерпретировать, между суммой и решением не стоит.</a:t>
            </a:r>
          </a:p>
          <a:p/>
          <a:p>
            <a:r>
              <a:t>Экрана живой настройки узла в интерфейсе у нас сегодня нет — стенд поднят, но интерактивный вход в сам интерфейс n8n из этой подготовки недостижим, и это не маскируется подменой жанра: вы видите настоящие значения полей узла, прочитанные прямо из файла его конфигурации, а не из таблицы идентификаторов прогонов.</a:t>
            </a:r>
          </a:p>
          <a:p/>
          <a:p>
            <a:r>
              <a:t>Дальше — сравним обе версии на том же самом эксперименте, который нашёл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новое измерение и не абстрактное сравнение свойств — тот же самый тест, те же пятьдесят один запрос, те же суммы, что уже прогнали через версию 1 несколько экранов назад. Теперь он прогнан и через версию 2.</a:t>
            </a:r>
          </a:p>
          <a:p/>
          <a:p>
            <a:r>
              <a:t>Результат по числу ошибок: версия 1 — три из пятидесяти одной, версия 2 — ноль. Но интереснее не сам счёт, а то, где именно разница. На любой сумме вне границы — что выше, что ниже трёх тысяч — обе версии решают одинаково верно. Вся разница сосредоточена ровно в той одной точке, которую мы уже назвали: сумма, равная порогу.</a:t>
            </a:r>
          </a:p>
          <a:p/>
          <a:p>
            <a:r>
              <a:t>На этой сумме версия 1 во всех трёх прогонах решила «эскалировать», хотя правило «не возвращай больше 3000» подразумевает, что три тысячи ровно — это ещё не «больше», значит, можно одобрить самому. Версия 2 на той же сумме во всех случаях решила «одобрить» — условие «сумма строго больше 3000» не допускает двойного толкования: число либо больше, либо нет, и для 3000 ответ однозначен.</a:t>
            </a:r>
          </a:p>
          <a:p/>
          <a:p>
            <a:r>
              <a:t>Сейчас прогоним несколько граничных сумм вживую через обе уже готовые версии — не повторяя весь эксперимент, а просто чтобы вы увидели своими глазами тот момент расхождения, который таблица только описывает. [Ведущий прогоняет сумму 3000₽ и одну-две суммы рядом через обе версии на стенде.]</a:t>
            </a:r>
          </a:p>
          <a:p/>
          <a:p>
            <a:r>
              <a:t>Почему это стоило отдельного такта, а не просто строчки в обобщении: обобщение, которое будет дальше, назовёт класс задачи вообще — любое решение, выразимое условием над числом. А этот экран показывает не класс, а конкретный факт: вот тест, который нашёл проблему, и вот тот же тест, подтвердивший, что проблема исчезла именно там, где она была, и нигде больше не появилась. Разница между версиями — это не гипотеза о будущем поведении, а измеренный факт о прошлом прогоне.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поднимемся с конкретного кейса на принцип, который переносится на любой оркестратор — не только на n8n и не только на возврат денег.</a:t>
            </a:r>
          </a:p>
          <a:p/>
          <a:p>
            <a:r>
              <a:t>Тезис здесь тот же, что мы уже видели в кейсе «Уведомления» и в кейсе «Проверка на повтор»: там, где решение можно выразить детерминированным условием над уже извлечённым значением, решение должно принимать код, а модель используется только для извлечения значений в структуру заранее. Разница с теми кейсами не в самом тезисе, а в том, чем он подкреплён. Там это было рассуждение и наблюдение за одним прогоном. Здесь — измеренное число на пятьдесят одной попытке.</a:t>
            </a:r>
          </a:p>
          <a:p/>
          <a:p>
            <a:r>
              <a:t>И число говорит не просто «модель иногда вероятностно ошибается» — оно говорит точнее и, честно говоря, опаснее: модель систематически промахивается именно на границе условия, там, где текст правила — «не больше X» — и его формальная трактовка — «X уже больше или ещё нет» — расходятся. А в остальном диапазоне, подальше от границы, она ведёт себя безупречно.</a:t>
            </a:r>
          </a:p>
          <a:p/>
          <a:p>
            <a:r>
              <a:t>Почему это хуже обычного случайного шума. Случайную ошибку можно снизить известными средствами: повторить прогон несколько раз, усреднить, взять большинство голосов — мы это обсуждали на карточках вопроса. Системную ошибку на границе так не вылечить. Она не станет реже от повторов, потому что дело не в удаче конкретного прогона — она будет повторяться на этой же самой границе каждый раз, потому что модель раз за разом одинаково читает слово «больше».</a:t>
            </a:r>
          </a:p>
          <a:p/>
          <a:p>
            <a:r>
              <a:t>Класс задачи, который стоит назвать явно и унести с собой: решение, формализуемое как условие над числом, — не задача модели в точке принятия решения, даже если модель уже где-то раньше в цепочке участвует. И практический вывод из способа, которым мы это обнаружили: граничные значения условия — это первое, что надо проверить прогоном, а не предположить по тексту правила. Если бы мы прогнали только суммы, далёкие от порога, — ошибку бы не нашли вовсе.</a:t>
            </a:r>
          </a:p>
          <a:p/>
          <a:p>
            <a:r>
              <a:t>Этот же принцип, только на масштабе целой компании, — следующий такт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граблей, на которые наступают именно вокруг этого решения, а не абстрактные предостережения.</a:t>
            </a:r>
          </a:p>
          <a:p/>
          <a:p>
            <a:r>
              <a:t>Первая — и это прямой ответ на одну из карточек, которую мы разбирали раньше. Казалось бы, если дать модели инструмент-калькулятор для сравнения сумм, вероятность уйдёт из решения. На практике это не так: даже когда агенту подключён инструмент сравнения чисел, нет гарантии, что модель решит его вызвать в конкретном прогоне или передаст туда правильно считанные значения. Надёжность решения всё равно идёт через то, вызвала ли модель инструмент и как интерпретировала то, что он вернул. Вероятность не исчезла — она просто переместилась на шаг раньше, туда, где решается, вызывать инструмент или нет. Это ровно то, из-за чего карточка «дать калькулятор» на разборе четырёх действий не стала финальным решением.</a:t>
            </a:r>
          </a:p>
          <a:p/>
          <a:p>
            <a:r>
              <a:t>Вторая грабля — про сам порог как число. В нашем процессе он теперь живёт в условии узла сравнения. Но если где-то рядом, например в тексте уведомления руководителю, число 3000 всё ещё упоминается отдельно и вручную — это тот же класс проблемы, что рвущийся контракт между любыми двумя шагами цепочки, который мы уже видели в кейсе про уведомления. У числа должно быть одно место хранения, не два, которые просто надеются совпадать. Поменяется порог — поменять его придётся в одном месте, а не искать все копии по памяти.</a:t>
            </a:r>
          </a:p>
          <a:p/>
          <a:p>
            <a:r>
              <a:t>Третья — важное ограничение самого обобщения. Мы сказали: модель не должна быть точкой решения о пороге. Это не значит, что модель вообще не нужна в этом кейсе. Извлечение суммы из свободного текста заявки — «верните, пожалуйста, деньги за занятие, которое я оплатил на три тысячи» — всё ещё задача, где текст нужно понять, и ровно здесь модель уместна. Но и здесь она может ошибиться: прочитать не ту сумму, перепутать валюту, не найти число вовсе. Это отдельная проверка, не закрытая тем, что мы убрали модель из точки решения.</a:t>
            </a:r>
          </a:p>
          <a:p/>
          <a:p>
            <a:r>
              <a:t>Критерий, который собирает всё это воедино,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выйти отсюда и применить к своей работе, не помня ни одного имени узла из сегодняшнего занятия.</a:t>
            </a:r>
          </a:p>
          <a:p/>
          <a:p>
            <a:r>
              <a:t>Решение обязано быть кодом, когда критерий можно выразить как условие над уже структурированным значением: сумма, дата, принадлежность готовому списку. Если значение уже числовое, временное или перечислимое — сравнение с порогом формализуется без остатка, и доверять его тексту внутри промпта означает добровольно вносить вероятность туда, где её можно было не вносить вовсе.</a:t>
            </a:r>
          </a:p>
          <a:p/>
          <a:p>
            <a:r>
              <a:t>Модель в самой точке решения допустима только там, где критерий принципиально не формализуется как условие: оценка тона письма, намерения человека, нестандартной формулировки без явного числового порога. Это не компромисс и не «пока не придумали, как автоматизировать» — это задачи, где единственно верного числового ответа, который можно было бы заранее прописать условием, попросту не существует.</a:t>
            </a:r>
          </a:p>
          <a:p/>
          <a:p>
            <a:r>
              <a:t>Проверочный вопрос, который стоит задавать себе на любом новом шаге: можно ли проверить границу условия прогоном? Если да — вы обязаны это сделать прежде, чем доверять правилу в тексте, а не предполагать по формулировке, как мы сначала предполагали месяц. Если границы, которую можно так проверить, нет вообще — значит, перед вами действительно задача для модели, а не для кода, который мы просто ленимся написать.</a:t>
            </a:r>
          </a:p>
          <a:p/>
          <a:p>
            <a:r>
              <a:t>И теперь — возвращаемся к оси занятия. Третья строка была: «в промте написано «не возвращай больше суммы X»», и выглядело это надёжным решением. Чем оказалось: решение вероятностное — модель обходит собственное правило в измеренной доле прогонов, причём не случайно, а систематически, ровно на границе. Алгоритмический гейт в коде — не обходит это правило никогда, потому что для него это не правило, а условие.</a:t>
            </a:r>
          </a:p>
          <a:p/>
          <a:p>
            <a:r>
              <a:t>Это тот же урок, что мы уже видели дважды сегодня — в уведомлениях и в проверке на повтор, — но здесь он подтверждён не рассуждением, а измерением на пятьдесят одном запросе. Дальше посмотрим, что происходит, когда тот же непогейтированный порог стоит не на одном возврате клиенту, а на решении, управляющем сотнями миллионов долларов.</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 Zillow Offers, другое название — iBuying, работал просто: алгоритмическая оценка Zestimate называла цену дома, компания покупала дом по этой цене, немного доводила его и быстро перепродавала, зарабатывая на разнице между покупкой и продажей. Схема работала до тех пор, пока рынок жилья вёл себя так, как закладывала модель на исторических данных.</a:t>
            </a:r>
          </a:p>
          <a:p/>
          <a:p>
            <a:r>
              <a:t>Осенью 2021 года Zillow объявила об остановке этого бизнеса целиком. Цифры на экране — не оценки журналистов, а прямые данные из отчётности перед SEC: списание стоимости запасов домов составило $304,4 млн за один квартал и $407,9 млн за весь год, штат компании сократили примерно на четверть, около двух тысяч человек. Только за третий квартал 2021 года Zillow купила 9680 домов, а успела продать лишь 3032 — средний убыток на каждый проданный дом составил около $80 000.</a:t>
            </a:r>
          </a:p>
          <a:p/>
          <a:p>
            <a:r>
              <a:t>Мы разбираем этот кейс сразу после «Одобрения возврата» не по случайности. В учебном центре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Пандемия изменила волатильность цен сильнее, чем модель закладывала по истории, и ошибка, которая на стабильном рынке осталась бы шумом, стала систематической. Вопрос, который мы сейчас зададим залу, не о том, можно ли было предсказать пандемию заранее. Он о том, чего не хватало в самом контуре принятия решения — независимо от того, что в этот момент происходило на рынке.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в разбор — короткое напоминание и вопрос.</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 единственной проверкой оставалась квартальная отчётность — число, которое приходит раз в три месяца, когда убыток уже накопился.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a:t>
            </a:r>
          </a:p>
          <a:p/>
          <a:p>
            <a:r>
              <a:t>Как и в прошлых кейсах, выбирайте не по ощущению, а по тому, что из этого в принципе можно встроить в контур решения до следующей покупки. Один из четырёх вариантов стоит на экране не для того, чтобы его отбросили сразу, — удерживайтесь от того, чтобы угадывать по формулировке, какой вариант тут «лишний».</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окна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окно,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окна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a:t>
            </a:r>
          </a:p>
          <a:p/>
          <a:p>
            <a:r>
              <a:t>Для капиталоёмких автоматизированных решений дисциплина допустимой доли ошибок должна применяться не только к доступности сервиса — к тому, отвечает ли сервер на запросы, — а к качеству предсказания в реальном времени: как часто модель ошибается именно сейчас, а не как часто она ошибалась в прошлом квартале.</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окно,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Повод — размер файла, который оказался больше тестовых картинок, на которых цепочку проверяли.</a:t>
            </a:r>
          </a:p>
          <a:p/>
          <a:p>
            <a:r>
              <a:t>Вопрос: как обработать картинку, которая может оказаться больше лимита?</a:t>
            </a:r>
          </a:p>
          <a:p/>
          <a:p>
            <a:r>
              <a:t>Четыре карточки. Первая — положиться на то, что сам n8n подрежет картинку перед отправкой, если она окажется большой: то есть опереться на платформу. Вторая — добавить в цепочку узел, который явно вернёт ошибку о превышении размера, прежде чем файл уйдёт дальше: опереться на явную проверку внутри самой цепочки. Третья — ничего не менять: прогон и так останется зелёным, а это мы уже привыкли считать достаточным сигналом успеха — опереться на статус прогона, который мы уже проверяли в прошлых кейсах. Четвёртая — переложить сжатие на сторону Telegram, раз уж файл в итоге попадает именно туда: опереться на канал доставки.</a:t>
            </a:r>
          </a:p>
          <a:p/>
          <a:p>
            <a:r>
              <a:t>Каждый вариант звучит как разумное инженерное решение, и это не случайно: ни один из четырёх не выдуман специально, чтобы его отбросили сразу. Четыре карточки — это четыре разных места, на которые можно переложить ответственность за размер файла: саму платформу, отдельный узел-проверку, статус прогона, который мы уже научились читать, или получателя на другом конце. Прежде чем выбрать, спросите себя не «что звучит правильно», а «где конкретно в этой цепочке стоит проверка, которую я выбрал» — и если ответ «нигде», это тоже ответ.</a:t>
            </a:r>
          </a:p>
          <a:p/>
          <a:p>
            <a:r>
              <a:t>И держите в голове, что лимитов здесь может оказаться не один — мы разберём это отдельно чуть дальше: у самой платформы свой предел на размер бинарных данных, а у канала доставки — свой, и они не обязательно совпадают.</a:t>
            </a:r>
          </a:p>
          <a:p/>
          <a:p>
            <a:r>
              <a:t>Отвечайте по тому же правилу, что и на прошлых вопросах занятия: не по тому, что звучит привычно, а по тому, что конкретно произойдёт с файлом в момент, когда он окажется больше, чем вы рассчитывали.</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Положиться на то, что n8n сама подрежет картинку перед отправкой, — не работает ни в каком смысле. n8n не производит автоматическое сжатие бинарных данных сама по себе: это не функция платформы, а поведение конкретного узла и конкретного API, через которые данные идут дальше. Надеяться на подрезание — надеяться на то, чего в цепочке попросту нет.</a:t>
            </a:r>
          </a:p>
          <a:p/>
          <a:p>
            <a:r>
              <a:t>Добавить узел, который вернёт явную ошибку о превышении размера, — работает, но только отчасти. Часть превышений действительно возвращает явный код ошибки от API, и такую ошибку легко поймать. Но не все: многое зависит от того, на каком именно рубеже размер превышен — собственном payload limit n8n по умолчанию или отдельном, более узком лимите самого Telegram. Один явный узел на один из этих рубежей не закрывает оба.</a:t>
            </a:r>
          </a:p>
          <a:p/>
          <a:p>
            <a:r>
              <a:t>Ничего не менять, раз прогон всё равно останется зелёным, — это ровно то, что уже произошло в нашей сцене, и оно не работает. Узел технически отработал, вернул успешный ответ от Telegram API, а результат у получателя не совпал с ожиданием. Зелёный статус прогона проверяет, что шаг выполнился, а не то, что получатель увидел то, что ему прислали.</a:t>
            </a:r>
          </a:p>
          <a:p/>
          <a:p>
            <a:r>
              <a:t>Переложить сжатие на сторону Telegram — тоже не надёжно. У Telegram свои лимиты на размер и формат, разные для фото и для документа, но ответственность за соответствие этим лимитам лежит на отправляющем узле — на нашей стороне цепочки, — а не на автоматическом сжатии на стороне получателя.</a:t>
            </a:r>
          </a:p>
          <a:p/>
          <a:p>
            <a:r>
              <a:t>Поворот, ради которого стоило разбирать все четыре. Ни платформа, ни статус прогона, ни получатель не решают эту задачу за нас. Размер и формат файла нужно проверить до отправки, явным условием внутри самой цепочки, — и это ровно то, с чем мы идём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звучит так же, как решение в «Уведомлениях», только применённое к другому типу данных.</a:t>
            </a:r>
          </a:p>
          <a:p/>
          <a:p>
            <a:r>
              <a:t>Бинарные данные — это отдельная модель данных, не просто ещё одно значение поля рядом с текстовыми. У обычного текстового поля есть содержимое, и всё. У файла — есть содержимое, есть размер, и есть формат, и оба этих свойства должны быть проверены прежде, чем файл уйдёт дальше по цепочке.</a:t>
            </a:r>
          </a:p>
          <a:p/>
          <a:p>
            <a:r>
              <a:t>Контракт между шагами, который мы уже видели рвущимся в кейсе «Уведомления» — узел не упал, результат тихо не тот, — здесь рвётся на формате и размере, а не на смысле текста, но по той же самой причине: формально успешный прогон ничего не говорит о том, дошёл ли результат до получателя в ожидаемом виде. Узел отправки получает от API положительный ответ не потому, что получатель увидел результат, а потому, что API принял запрос.</a:t>
            </a:r>
          </a:p>
          <a:p/>
          <a:p>
            <a:r>
              <a:t>Отсюда правило. Прежде чем файл уходит дальше по цепочке — к следующему узлу или наружу, в Telegram, — его размер и формат сверяются явным условием внутри самой цепочки. Не предполагаются заранее, потому что на тестовых данных всё помещалось. Не проверяются постфактум по ответу API, потому что ответ API говорит про сам вызов, а не про то, что увидел человек на другом конце. Проверяются именно там, где файл ещё внутри цепочки и у нас есть шанс остановить его или обработать иначе, прежде чем отправка состоится.</a:t>
            </a:r>
          </a:p>
          <a:p/>
          <a:p>
            <a:r>
              <a:t>Это и отличает архитектурное решение от любой из четырёх карточек вопроса. Карточки предлагали переложить ответственность на платформу, на статус прогона или на получателя — то есть куда-то за пределы точки, где мы ещё могли бы что-то изменить. Правильное место для проверки — ровно здесь, внутри нашей собственной цепочки, до того как файл её покинул.</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без единого вызова модели на этом участке.</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Та же форма, тот же принцип: значения подставляются в готовую фразу, модель не вызывается.</a:t>
            </a:r>
          </a:p>
          <a:p/>
          <a:p>
            <a:r>
              <a:t>Второй узел забирает картинку по ссылке. Важная деталь настройки — формат ответа. Он указан не как текст и не как JSON, а как файл: с этого момента содержимое узла — бинарные данные, а не строка и не структура полей, и дальше по цепочке с ним нужно работать соответственно.</a:t>
            </a:r>
          </a:p>
          <a:p/>
          <a:p>
            <a:r>
              <a:t>Третий узел — отправка в Telegram в режиме отправки фото. На входе у него ровно две вещи: бинарные данные картинки, полученные вторым узлом, и подпись — текст уведомления, собранный первым узлом. Узел кладёт текст подписью к изображению и отправляет оба вместе одним вызовом.</a:t>
            </a:r>
          </a:p>
          <a:p/>
          <a:p>
            <a:r>
              <a:t>Обратите внимание на то, чего в этой цепочке нет: ни на одном из трёх шагов не появляется модель. Текст собирается подстановкой, картинка — прямым запросом по ссылке, отправка — обычным вызовом API с готовыми данными. Всё, что здесь происходит, детерминировано и повторяется одинаково на любом прогоне с тем же входом.</a:t>
            </a:r>
          </a:p>
          <a:p/>
          <a:p>
            <a:r>
              <a:t>Это ровно те же три узла, что были в сцене кейса, — цепочку не пересобирали с нуля. Правило предыдущего экрана («размер и формат проверяются явным условием до отправки») живёт пока на уровне архитектуры, а не внутри одного из этих трёх узлов: именно здесь и проходит граница между тем, что мы знаем, что нужно делать, и тем, что реально стоит в цепочке. Вопрос, который эта конфигурация пока не решает, — что происходит, если файл, который возвращает второй узел, окажется больше, чем ожидалось. Это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Проверили границу настоящим вызовом, а не предположением.</a:t>
            </a:r>
          </a:p>
          <a:p/>
          <a:p>
            <a:r>
              <a:t>Ограничение самого n8n по умолчанию — 16 МБ на сообщение с бинарными данными. Ограничение Telegram на фото, отправленное через узел отправки фото, — отдельное и более узкое: 10 485 760 байт, то есть 10 МБ. Это два разных порога, и файл может пройти мимо первого и не пройти мимо второго.</a:t>
            </a:r>
          </a:p>
          <a:p/>
          <a:p>
            <a:r>
              <a:t>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 только без самого n8n между нами и Telegram, потому что промежуточный хостинг для подачи такого файла через узел получения картинки в момент проверки был недоступен.</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файла и прямо называет предел — не тишина, не обрыв соединения, а явная, читаемая ошибка.</a:t>
            </a:r>
          </a:p>
          <a:p/>
          <a:p>
            <a:r>
              <a:t>И это уточняет то, что мы видели в сцене кейса. Там карточка пропадала тихо, без явной ошибки, — потому что проблема на границе n8n чаще выглядит именно так. Сам Telegram на своей собственной границе отвечает иначе: явным текстом, который можно поймать и показать человеку. Тихая потеря вероятнее на стороне платформы-оркестратора или при сетевом сбое, а не на стороне самого Telegram API, который о своём лимите говорит прямо.</a:t>
            </a:r>
          </a:p>
          <a:p/>
          <a:p>
            <a:r>
              <a:t>Отсюда практический вывод для архитектурного правила с прошлого экрана. Проверку размера нельзя строить только на том, что API рано или поздно откажет с понятным текстом: часть превышений — на стороне Telegram — действительно откажет явно, а часть — на стороне самого n8n или при сетевой проблеме — откажет тихо. Условие внутри цепочки, которое сверяет размер и формат до отправки, не зависит от того, какая из двух сторон в конкретный момент решит сообщить об ошибке честно, а какая — промолчать.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 из шести.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sp>
        <p:nvSpPr>
          <p:cNvPr id="3" name="Rounded Rectangle 2"/>
          <p:cNvSpPr/>
          <p:nvPr/>
        </p:nvSpPr>
        <p:spPr>
          <a:xfrm>
            <a:off x="502920" y="154183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6984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печатает входной файл процесса как есть — ничего не изменилось с прошлого занятия.</a:t>
            </a:r>
          </a:p>
        </p:txBody>
      </p:sp>
      <p:sp>
        <p:nvSpPr>
          <p:cNvPr id="5" name="Rounded Rectangle 4"/>
          <p:cNvSpPr/>
          <p:nvPr/>
        </p:nvSpPr>
        <p:spPr>
          <a:xfrm>
            <a:off x="502920" y="271988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84789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 извлечение полей со схемой → сверка со справочником → запись в таблицу → экран результата, плюс ветка отказа: повтор на узле извлечения и запись со статусом «не распознано» в ту же таблицу.</a:t>
            </a:r>
          </a:p>
        </p:txBody>
      </p:sp>
      <p:sp>
        <p:nvSpPr>
          <p:cNvPr id="7" name="Rounded Rectangle 6"/>
          <p:cNvSpPr/>
          <p:nvPr/>
        </p:nvSpPr>
        <p:spPr>
          <a:xfrm>
            <a:off x="502920" y="43703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4498390"/>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«Это тот же процесс, с которым вы ушли с прошлого занятия. Сегодня мы не чиним в нём ничего — мы будем задавать каждому новому шагу, который он получит, один и тот же вопрос: это решает модель, или это должен решать код?»</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1374510" y="943356"/>
            <a:ext cx="9439931" cy="2989311"/>
          </a:xfrm>
          <a:prstGeom prst="rect">
            <a:avLst/>
          </a:prstGeom>
        </p:spPr>
      </p:pic>
      <p:sp>
        <p:nvSpPr>
          <p:cNvPr id="4" name="Rounded Rectangle 3"/>
          <p:cNvSpPr/>
          <p:nvPr/>
        </p:nvSpPr>
        <p:spPr>
          <a:xfrm>
            <a:off x="502920" y="409725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2527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Та же лестница. Золотая ступень — «цепочка» — не сдвинулась: мы не поднимаемся, мы заканчиваем то, что на ней.</a:t>
            </a:r>
          </a:p>
        </p:txBody>
      </p:sp>
      <p:sp>
        <p:nvSpPr>
          <p:cNvPr id="6" name="Rounded Rectangle 5"/>
          <p:cNvSpPr/>
          <p:nvPr/>
        </p:nvSpPr>
        <p:spPr>
          <a:xfrm>
            <a:off x="502920" y="4740895"/>
            <a:ext cx="11183112" cy="83731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896343"/>
            <a:ext cx="526911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СЕМИНАР 7</a:t>
            </a:r>
          </a:p>
        </p:txBody>
      </p:sp>
      <p:sp>
        <p:nvSpPr>
          <p:cNvPr id="8" name="TextBox 7"/>
          <p:cNvSpPr txBox="1"/>
          <p:nvPr/>
        </p:nvSpPr>
        <p:spPr>
          <a:xfrm>
            <a:off x="6073788" y="4896343"/>
            <a:ext cx="531049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СЕМИНАР 8</a:t>
            </a:r>
          </a:p>
        </p:txBody>
      </p:sp>
      <p:sp>
        <p:nvSpPr>
          <p:cNvPr id="9" name="TextBox 8"/>
          <p:cNvSpPr txBox="1"/>
          <p:nvPr/>
        </p:nvSpPr>
        <p:spPr>
          <a:xfrm>
            <a:off x="658368" y="5148438"/>
            <a:ext cx="5269116"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Один шаг научили не падать молча</a:t>
            </a:r>
          </a:p>
        </p:txBody>
      </p:sp>
      <p:sp>
        <p:nvSpPr>
          <p:cNvPr id="10" name="TextBox 9"/>
          <p:cNvSpPr txBox="1"/>
          <p:nvPr/>
        </p:nvSpPr>
        <p:spPr>
          <a:xfrm>
            <a:off x="6073788" y="5148438"/>
            <a:ext cx="5310491"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Каждый новый шаг: модель или код</a:t>
            </a:r>
          </a:p>
        </p:txBody>
      </p:sp>
      <p:sp>
        <p:nvSpPr>
          <p:cNvPr id="11" name="Rounded Rectangle 10"/>
          <p:cNvSpPr/>
          <p:nvPr/>
        </p:nvSpPr>
        <p:spPr>
          <a:xfrm>
            <a:off x="502920" y="574279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87081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Выше — маршрут, параллель, цикл, агент. Туда мы сегодня не идём.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824837"/>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07717"/>
            <a:ext cx="59990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6831125" y="2007717"/>
            <a:ext cx="45257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89784"/>
            <a:ext cx="59990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6831125" y="2289784"/>
            <a:ext cx="452572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(закроется в кейсе «Уведомления»)</a:t>
            </a:r>
          </a:p>
        </p:txBody>
      </p:sp>
      <p:cxnSp>
        <p:nvCxnSpPr>
          <p:cNvPr id="8" name="Connector 7"/>
          <p:cNvCxnSpPr/>
          <p:nvPr/>
        </p:nvCxnSpPr>
        <p:spPr>
          <a:xfrm>
            <a:off x="685800" y="26369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36939"/>
            <a:ext cx="59990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6831125" y="2636939"/>
            <a:ext cx="452572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(закроется в кейсе «Проверка на повтор»)</a:t>
            </a:r>
          </a:p>
        </p:txBody>
      </p:sp>
      <p:cxnSp>
        <p:nvCxnSpPr>
          <p:cNvPr id="11" name="Connector 10"/>
          <p:cNvCxnSpPr/>
          <p:nvPr/>
        </p:nvCxnSpPr>
        <p:spPr>
          <a:xfrm>
            <a:off x="685800" y="29840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84093"/>
            <a:ext cx="59990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6831125" y="2984093"/>
            <a:ext cx="452572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(закроется в кейсе «Одобрение возврата» / Zillow)</a:t>
            </a:r>
          </a:p>
        </p:txBody>
      </p:sp>
      <p:cxnSp>
        <p:nvCxnSpPr>
          <p:cNvPr id="14" name="Connector 13"/>
          <p:cNvCxnSpPr/>
          <p:nvPr/>
        </p:nvCxnSpPr>
        <p:spPr>
          <a:xfrm>
            <a:off x="685800" y="33312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31248"/>
            <a:ext cx="59990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6831125" y="3331248"/>
            <a:ext cx="452572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(закроется в кейсе «Карточка в Telegram»)</a:t>
            </a:r>
          </a:p>
        </p:txBody>
      </p:sp>
      <p:sp>
        <p:nvSpPr>
          <p:cNvPr id="17" name="Rounded Rectangle 16"/>
          <p:cNvSpPr/>
          <p:nvPr/>
        </p:nvSpPr>
        <p:spPr>
          <a:xfrm>
            <a:off x="502920" y="452879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8365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65954"/>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заполняется экраном каждого кейса, не рассказом.</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«Я узнаю, что заявка была сложной, только если сама зайду и посмотрю экран результата. А я захожу не на каждую.»</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отдельный шаг сочиняет текст</a:t>
            </a:r>
          </a:p>
        </p:txBody>
      </p:sp>
      <p:sp>
        <p:nvSpPr>
          <p:cNvPr id="3" name="Rounded Rectangle 2"/>
          <p:cNvSpPr/>
          <p:nvPr/>
        </p:nvSpPr>
        <p:spPr>
          <a:xfrm>
            <a:off x="502920" y="114185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6131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6131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Доработка добавила отдельный шаг-модель. Он получает имя заявителя, основную тему и то, что ещё упомянуто в заявке, и сочиняет на их основе текст уведомления — не казённую фразу, а живое предложение с тоном.</a:t>
            </a:r>
          </a:p>
        </p:txBody>
      </p:sp>
      <p:sp>
        <p:nvSpPr>
          <p:cNvPr id="6" name="TextBox 5"/>
          <p:cNvSpPr txBox="1"/>
          <p:nvPr/>
        </p:nvSpPr>
        <p:spPr>
          <a:xfrm>
            <a:off x="722376" y="209626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09626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выглядело разумным: текст для человека и должен звучать по-человечески, а не как подстановка переменных.</a:t>
            </a:r>
          </a:p>
        </p:txBody>
      </p:sp>
      <p:sp>
        <p:nvSpPr>
          <p:cNvPr id="8" name="TextBox 7"/>
          <p:cNvSpPr txBox="1"/>
          <p:nvPr/>
        </p:nvSpPr>
        <p:spPr>
          <a:xfrm>
            <a:off x="722376" y="262890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62890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Проверено на стенде настоящими прогонами. На одной из заявок всё в порядке: связный текст, доставлен координатору без замечаний.</a:t>
            </a:r>
          </a:p>
        </p:txBody>
      </p:sp>
      <p:sp>
        <p:nvSpPr>
          <p:cNvPr id="10" name="TextBox 9"/>
          <p:cNvSpPr txBox="1"/>
          <p:nvPr/>
        </p:nvSpPr>
        <p:spPr>
          <a:xfrm>
            <a:off x="722376" y="316153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16153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На другой — реальной, не придуманной для примера — модель вставила в сообщение буквальный плейсхолдер </a:t>
            </a:r>
            <a:r>
              <a:rPr sz="1350" b="1" i="0">
                <a:solidFill>
                  <a:srgbClr val="141B2E"/>
                </a:solidFill>
                <a:latin typeface="Arial"/>
              </a:rPr>
              <a:t>«[Имя координатора]»</a:t>
            </a:r>
            <a:r>
              <a:rPr sz="1350" b="0" i="0">
                <a:solidFill>
                  <a:srgbClr val="141B2E"/>
                </a:solidFill>
                <a:latin typeface="Arial"/>
              </a:rPr>
              <a:t> вместо настоящего имени.</a:t>
            </a:r>
          </a:p>
        </p:txBody>
      </p:sp>
      <p:sp>
        <p:nvSpPr>
          <p:cNvPr id="12" name="Rounded Rectangle 11"/>
          <p:cNvSpPr/>
          <p:nvPr/>
        </p:nvSpPr>
        <p:spPr>
          <a:xfrm>
            <a:off x="502920" y="457447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0249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платим.</a:t>
            </a:r>
            <a:r>
              <a:rPr sz="1500" b="1" i="0">
                <a:solidFill>
                  <a:srgbClr val="141B2E"/>
                </a:solidFill>
                <a:latin typeface="Arial"/>
              </a:rPr>
              <a:t> Технически узел не упал и не ошибся: сообщение сформировано и отправлено успешно. Просто его содержание не совпадает с тем, что должно было там быть — и ни одна техническая проверка этого не поймает, потому что прогон зелёный. Это не единственная цена: вызов модели для сообщения из уже известных четырёх значений стоит и идёт заметно дольше на каждом прогоне, независимо от того, разошлось ли содержание в этот раз.</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известных значений</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уведомление из уже известных значений заявки?</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подставить значения в заранее готовую форму сообщения</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дать модели самой сочинять текст с тоном на каждый прогон</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любом случае доверить это модели — на выходе естественный язык, а не структура</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усилить модель, если получателей уведомления станет больше одного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971042"/>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3922"/>
            <a:ext cx="148040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312513" y="1153922"/>
            <a:ext cx="27060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164873" y="1153922"/>
            <a:ext cx="61919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35989"/>
            <a:ext cx="1480409"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подставить значения в готовую форму</a:t>
            </a:r>
          </a:p>
        </p:txBody>
      </p:sp>
      <p:sp>
        <p:nvSpPr>
          <p:cNvPr id="8" name="TextBox 7"/>
          <p:cNvSpPr txBox="1"/>
          <p:nvPr/>
        </p:nvSpPr>
        <p:spPr>
          <a:xfrm>
            <a:off x="2312513" y="1435989"/>
            <a:ext cx="270605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ровно наш случай: сообщение с одной формой, в которую подставляются только значения полей, без вызова модели</a:t>
            </a:r>
          </a:p>
        </p:txBody>
      </p:sp>
      <p:sp>
        <p:nvSpPr>
          <p:cNvPr id="9" name="TextBox 8"/>
          <p:cNvSpPr txBox="1"/>
          <p:nvPr/>
        </p:nvSpPr>
        <p:spPr>
          <a:xfrm>
            <a:off x="5164873" y="1435989"/>
            <a:ext cx="619197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меняется сам, если позже форма сообщения потребует реальной вариативности — тогда её придётся переписывать руками на каждый новый случай</a:t>
            </a:r>
          </a:p>
        </p:txBody>
      </p:sp>
      <p:cxnSp>
        <p:nvCxnSpPr>
          <p:cNvPr id="10" name="Connector 9"/>
          <p:cNvCxnSpPr/>
          <p:nvPr/>
        </p:nvCxnSpPr>
        <p:spPr>
          <a:xfrm>
            <a:off x="685800" y="25133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13393"/>
            <a:ext cx="148040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дать модели сочинять текст с тоном</a:t>
            </a:r>
          </a:p>
        </p:txBody>
      </p:sp>
      <p:sp>
        <p:nvSpPr>
          <p:cNvPr id="12" name="TextBox 11"/>
          <p:cNvSpPr txBox="1"/>
          <p:nvPr/>
        </p:nvSpPr>
        <p:spPr>
          <a:xfrm>
            <a:off x="2312513" y="2513393"/>
            <a:ext cx="27060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когда тон, язык или длина должны реально меняться от заявки к заявке</a:t>
            </a:r>
          </a:p>
        </p:txBody>
      </p:sp>
      <p:sp>
        <p:nvSpPr>
          <p:cNvPr id="13" name="TextBox 12"/>
          <p:cNvSpPr txBox="1"/>
          <p:nvPr/>
        </p:nvSpPr>
        <p:spPr>
          <a:xfrm>
            <a:off x="5164873" y="2513393"/>
            <a:ext cx="619197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нашего сообщения — не тот случай: текст не требует интерпретации, только сборки из уже известных значений</a:t>
            </a:r>
          </a:p>
        </p:txBody>
      </p:sp>
      <p:cxnSp>
        <p:nvCxnSpPr>
          <p:cNvPr id="14" name="Connector 13"/>
          <p:cNvCxnSpPr/>
          <p:nvPr/>
        </p:nvCxnSpPr>
        <p:spPr>
          <a:xfrm>
            <a:off x="685800" y="3225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25673"/>
            <a:ext cx="148040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 любом случае доверить это модели</a:t>
            </a:r>
          </a:p>
        </p:txBody>
      </p:sp>
      <p:sp>
        <p:nvSpPr>
          <p:cNvPr id="16" name="TextBox 15"/>
          <p:cNvSpPr txBox="1"/>
          <p:nvPr/>
        </p:nvSpPr>
        <p:spPr>
          <a:xfrm>
            <a:off x="2312513" y="3225673"/>
            <a:ext cx="27060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действительно выдаёт естественный язык на выходе</a:t>
            </a:r>
          </a:p>
        </p:txBody>
      </p:sp>
      <p:sp>
        <p:nvSpPr>
          <p:cNvPr id="17" name="TextBox 16"/>
          <p:cNvSpPr txBox="1"/>
          <p:nvPr/>
        </p:nvSpPr>
        <p:spPr>
          <a:xfrm>
            <a:off x="5164873" y="3225673"/>
            <a:ext cx="619197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работает как общее правило: шаблон тоже выдаёт естественный язык читателю — разница не в том, похож ли результат на язык, а в том, кто придумывает его форму</a:t>
            </a:r>
          </a:p>
        </p:txBody>
      </p:sp>
      <p:cxnSp>
        <p:nvCxnSpPr>
          <p:cNvPr id="18" name="Connector 17"/>
          <p:cNvCxnSpPr/>
          <p:nvPr/>
        </p:nvCxnSpPr>
        <p:spPr>
          <a:xfrm>
            <a:off x="685800" y="39379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37952"/>
            <a:ext cx="148040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усилить модель при росте получателей</a:t>
            </a:r>
          </a:p>
        </p:txBody>
      </p:sp>
      <p:sp>
        <p:nvSpPr>
          <p:cNvPr id="20" name="TextBox 19"/>
          <p:cNvSpPr txBox="1"/>
          <p:nvPr/>
        </p:nvSpPr>
        <p:spPr>
          <a:xfrm>
            <a:off x="2312513" y="3937952"/>
            <a:ext cx="27060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усиливает модель</a:t>
            </a:r>
          </a:p>
        </p:txBody>
      </p:sp>
      <p:sp>
        <p:nvSpPr>
          <p:cNvPr id="21" name="TextBox 20"/>
          <p:cNvSpPr txBox="1"/>
          <p:nvPr/>
        </p:nvSpPr>
        <p:spPr>
          <a:xfrm>
            <a:off x="5164873" y="3937952"/>
            <a:ext cx="619197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задаче: число получателей не связано с вариативностью контента — одно и то же шаблонное сообщение рассылается любому числу адресатов без модели</a:t>
            </a:r>
          </a:p>
        </p:txBody>
      </p:sp>
      <p:sp>
        <p:nvSpPr>
          <p:cNvPr id="22" name="Rounded Rectangle 21"/>
          <p:cNvSpPr/>
          <p:nvPr/>
        </p:nvSpPr>
        <p:spPr>
          <a:xfrm>
            <a:off x="502920" y="506691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19493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Поворот.</a:t>
            </a:r>
            <a:r>
              <a:rPr sz="1500" b="1" i="0">
                <a:solidFill>
                  <a:srgbClr val="141B2E"/>
                </a:solidFill>
                <a:latin typeface="Arial"/>
              </a:rPr>
              <a:t> Разница между решениями — не в том, выглядит ли результат естественным языком. Шаблон тоже выдаёт язык, который читает человек. Разница в том, кто придумывает форму сообщения: человек один раз заранее — это шаблон, или модель на каждый отдельный прогон — это генерация.</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форматирование, а не генерация</a:t>
            </a:r>
          </a:p>
        </p:txBody>
      </p:sp>
      <p:sp>
        <p:nvSpPr>
          <p:cNvPr id="3" name="Rounded Rectangle 2"/>
          <p:cNvSpPr/>
          <p:nvPr/>
        </p:nvSpPr>
        <p:spPr>
          <a:xfrm>
            <a:off x="502920" y="223266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36067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Правило.</a:t>
            </a:r>
            <a:r>
              <a:rPr sz="1500" b="1" i="0">
                <a:solidFill>
                  <a:srgbClr val="141B2E"/>
                </a:solidFill>
                <a:latin typeface="Arial"/>
              </a:rPr>
              <a:t> Если форма сообщения не меняется по сути от заявки к заявке, узел, который его строит, подставляет значения в шаблон и не вызывает модель вовсе.</a:t>
            </a:r>
          </a:p>
        </p:txBody>
      </p:sp>
      <p:sp>
        <p:nvSpPr>
          <p:cNvPr id="5" name="Rounded Rectangle 4"/>
          <p:cNvSpPr/>
          <p:nvPr/>
        </p:nvSpPr>
        <p:spPr>
          <a:xfrm>
            <a:off x="502920" y="36469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77494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Модель и форматирование решают разные задачи: модель нужна, когда текст требует интерпретации; форматирование — когда нужно собрать уже известные значения в известную форму.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Узел-модель: что он получает на вход</a:t>
            </a:r>
          </a:p>
        </p:txBody>
      </p:sp>
      <p:sp>
        <p:nvSpPr>
          <p:cNvPr id="3" name="Rounded Rectangle 2"/>
          <p:cNvSpPr/>
          <p:nvPr/>
        </p:nvSpPr>
        <p:spPr>
          <a:xfrm>
            <a:off x="502920" y="15483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7640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Узел-модель получает четыре значения из заявки и промпт, который просит сочинить текст уведомления:</a:t>
            </a:r>
          </a:p>
        </p:txBody>
      </p:sp>
      <p:sp>
        <p:nvSpPr>
          <p:cNvPr id="5" name="Rectangle 4"/>
          <p:cNvSpPr/>
          <p:nvPr/>
        </p:nvSpPr>
        <p:spPr>
          <a:xfrm>
            <a:off x="502920" y="2999232"/>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3054096"/>
            <a:ext cx="10730484" cy="624077"/>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«Напиши короткое дружелюбное уведомление координатору учебного центра в Telegram о новой многотемной заявке. Имя заявителя: {{имя}}. Основная тема: {{тема}}. Также в заявке упомянуто: {{доп. темы}}. Пиши по-человечески, одно-два предложения.»</a:t>
            </a:r>
          </a:p>
        </p:txBody>
      </p:sp>
      <p:sp>
        <p:nvSpPr>
          <p:cNvPr id="7" name="Rounded Rectangle 6"/>
          <p:cNvSpPr/>
          <p:nvPr/>
        </p:nvSpPr>
        <p:spPr>
          <a:xfrm>
            <a:off x="502920" y="443712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56514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входе — имя, основная тема, список дополнительных тем, контакт. На выходе — текст, который модель сочиняет заново на каждый прогон, даже если все четыре значения уже есть и ничего интерпретировать не нужно.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Узел подстановки: одно выражение вместо промпта</a:t>
            </a:r>
          </a:p>
        </p:txBody>
      </p:sp>
      <p:sp>
        <p:nvSpPr>
          <p:cNvPr id="3" name="Rounded Rectangle 2"/>
          <p:cNvSpPr/>
          <p:nvPr/>
        </p:nvSpPr>
        <p:spPr>
          <a:xfrm>
            <a:off x="502920" y="106052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853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Второй узел — тоже настоящий, тоже из конфигурации стенда. Одно поле, одно выражение, без вызова модели:</a:t>
            </a:r>
          </a:p>
        </p:txBody>
      </p:sp>
      <p:sp>
        <p:nvSpPr>
          <p:cNvPr id="5" name="Rounded Rectangle 4"/>
          <p:cNvSpPr/>
          <p:nvPr/>
        </p:nvSpPr>
        <p:spPr>
          <a:xfrm>
            <a:off x="502920" y="226478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39280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Новая</a:t>
            </a:r>
            <a:r>
              <a:rPr sz="1500" b="1" i="0">
                <a:solidFill>
                  <a:srgbClr val="141B2E"/>
                </a:solidFill>
                <a:latin typeface="Arial"/>
              </a:rPr>
              <a:t> </a:t>
            </a:r>
            <a:r>
              <a:rPr sz="1500" b="1" i="0">
                <a:solidFill>
                  <a:srgbClr val="141B2E"/>
                </a:solidFill>
                <a:latin typeface="Consolas"/>
              </a:rPr>
              <a:t>заявка</a:t>
            </a:r>
            <a:r>
              <a:rPr sz="1500" b="1" i="0">
                <a:solidFill>
                  <a:srgbClr val="141B2E"/>
                </a:solidFill>
                <a:latin typeface="Arial"/>
              </a:rPr>
              <a:t> </a:t>
            </a:r>
            <a:r>
              <a:rPr sz="1500" b="1" i="0">
                <a:solidFill>
                  <a:srgbClr val="141B2E"/>
                </a:solidFill>
                <a:latin typeface="Consolas"/>
              </a:rPr>
              <a:t>от</a:t>
            </a:r>
            <a:r>
              <a:rPr sz="1500" b="1" i="0">
                <a:solidFill>
                  <a:srgbClr val="141B2E"/>
                </a:solidFill>
                <a:latin typeface="Arial"/>
              </a:rPr>
              <a:t> </a:t>
            </a:r>
            <a:r>
              <a:rPr sz="1500" b="1" i="0">
                <a:solidFill>
                  <a:srgbClr val="141B2E"/>
                </a:solidFill>
                <a:latin typeface="Consolas"/>
              </a:rPr>
              <a:t>{{имя}}:</a:t>
            </a:r>
            <a:r>
              <a:rPr sz="1500" b="1" i="0">
                <a:solidFill>
                  <a:srgbClr val="141B2E"/>
                </a:solidFill>
                <a:latin typeface="Arial"/>
              </a:rPr>
              <a:t> </a:t>
            </a:r>
            <a:r>
              <a:rPr sz="1500" b="1" i="0">
                <a:solidFill>
                  <a:srgbClr val="141B2E"/>
                </a:solidFill>
                <a:latin typeface="Consolas"/>
              </a:rPr>
              <a:t>тема</a:t>
            </a:r>
            <a:r>
              <a:rPr sz="1500" b="1" i="0">
                <a:solidFill>
                  <a:srgbClr val="141B2E"/>
                </a:solidFill>
                <a:latin typeface="Arial"/>
              </a:rPr>
              <a:t> </a:t>
            </a:r>
            <a:r>
              <a:rPr sz="1500" b="1" i="0">
                <a:solidFill>
                  <a:srgbClr val="141B2E"/>
                </a:solidFill>
                <a:latin typeface="Consolas"/>
              </a:rPr>
              <a:t>«{{тема}}»{{,</a:t>
            </a:r>
            <a:r>
              <a:rPr sz="1500" b="1" i="0">
                <a:solidFill>
                  <a:srgbClr val="141B2E"/>
                </a:solidFill>
                <a:latin typeface="Arial"/>
              </a:rPr>
              <a:t> </a:t>
            </a:r>
            <a:r>
              <a:rPr sz="1500" b="1" i="0">
                <a:solidFill>
                  <a:srgbClr val="141B2E"/>
                </a:solidFill>
                <a:latin typeface="Consolas"/>
              </a:rPr>
              <a:t>также:</a:t>
            </a:r>
            <a:r>
              <a:rPr sz="1500" b="1" i="0">
                <a:solidFill>
                  <a:srgbClr val="141B2E"/>
                </a:solidFill>
                <a:latin typeface="Arial"/>
              </a:rPr>
              <a:t> </a:t>
            </a:r>
            <a:r>
              <a:rPr sz="1500" b="1" i="0">
                <a:solidFill>
                  <a:srgbClr val="141B2E"/>
                </a:solidFill>
                <a:latin typeface="Consolas"/>
              </a:rPr>
              <a:t>доп.</a:t>
            </a:r>
            <a:r>
              <a:rPr sz="1500" b="1" i="0">
                <a:solidFill>
                  <a:srgbClr val="141B2E"/>
                </a:solidFill>
                <a:latin typeface="Arial"/>
              </a:rPr>
              <a:t> </a:t>
            </a:r>
            <a:r>
              <a:rPr sz="1500" b="1" i="0">
                <a:solidFill>
                  <a:srgbClr val="141B2E"/>
                </a:solidFill>
                <a:latin typeface="Consolas"/>
              </a:rPr>
              <a:t>темы}}.</a:t>
            </a:r>
          </a:p>
        </p:txBody>
      </p:sp>
      <p:sp>
        <p:nvSpPr>
          <p:cNvPr id="7" name="Rounded Rectangle 6"/>
          <p:cNvSpPr/>
          <p:nvPr/>
        </p:nvSpPr>
        <p:spPr>
          <a:xfrm>
            <a:off x="502920" y="323283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6084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реальных результата рядом, на тех же данных.</a:t>
            </a:r>
          </a:p>
        </p:txBody>
      </p:sp>
      <p:sp>
        <p:nvSpPr>
          <p:cNvPr id="9" name="Rounded Rectangle 8"/>
          <p:cNvSpPr/>
          <p:nvPr/>
        </p:nvSpPr>
        <p:spPr>
          <a:xfrm>
            <a:off x="502920" y="420087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32889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 (узел-модель), заявка Олега: «...сообщение координатору о заявке от [Имя координатора]...» — буквальный плейсхолдер вместо настоящего имени.</a:t>
            </a:r>
          </a:p>
        </p:txBody>
      </p:sp>
      <p:sp>
        <p:nvSpPr>
          <p:cNvPr id="11" name="Rounded Rectangle 10"/>
          <p:cNvSpPr/>
          <p:nvPr/>
        </p:nvSpPr>
        <p:spPr>
          <a:xfrm>
            <a:off x="502920" y="540514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53315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2 (узел подстановки), заявка Светланы: «Новая заявка от Светлана: тема «другое», также: перенос занятия · оплата.» — без плейсхолдера, без вызова модели, одинаково на каждом прогоне.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 каждый текстовый вывод — это генерация</a:t>
            </a:r>
          </a:p>
        </p:txBody>
      </p:sp>
      <p:sp>
        <p:nvSpPr>
          <p:cNvPr id="3" name="Rounded Rectangle 2"/>
          <p:cNvSpPr/>
          <p:nvPr/>
        </p:nvSpPr>
        <p:spPr>
          <a:xfrm>
            <a:off x="502920" y="1589125"/>
            <a:ext cx="11183112" cy="1177544"/>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72005"/>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1443014" y="1772005"/>
            <a:ext cx="537174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 УЗЕЛ-МОДЕЛЬ</a:t>
            </a:r>
          </a:p>
        </p:txBody>
      </p:sp>
      <p:sp>
        <p:nvSpPr>
          <p:cNvPr id="6" name="TextBox 5"/>
          <p:cNvSpPr txBox="1"/>
          <p:nvPr/>
        </p:nvSpPr>
        <p:spPr>
          <a:xfrm>
            <a:off x="6961064" y="1772005"/>
            <a:ext cx="43957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 УЗЕЛ ПОДСТАНОВКИ</a:t>
            </a:r>
          </a:p>
        </p:txBody>
      </p:sp>
      <p:sp>
        <p:nvSpPr>
          <p:cNvPr id="7" name="TextBox 6"/>
          <p:cNvSpPr txBox="1"/>
          <p:nvPr/>
        </p:nvSpPr>
        <p:spPr>
          <a:xfrm>
            <a:off x="685800" y="2054072"/>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Итог</a:t>
            </a:r>
          </a:p>
        </p:txBody>
      </p:sp>
      <p:sp>
        <p:nvSpPr>
          <p:cNvPr id="8" name="TextBox 7"/>
          <p:cNvSpPr txBox="1"/>
          <p:nvPr/>
        </p:nvSpPr>
        <p:spPr>
          <a:xfrm>
            <a:off x="1443014" y="2054072"/>
            <a:ext cx="53717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упал, не ошибся технически — сообщение доставлено; содержание иногда неверно</a:t>
            </a:r>
          </a:p>
        </p:txBody>
      </p:sp>
      <p:sp>
        <p:nvSpPr>
          <p:cNvPr id="9" name="TextBox 8"/>
          <p:cNvSpPr txBox="1"/>
          <p:nvPr/>
        </p:nvSpPr>
        <p:spPr>
          <a:xfrm>
            <a:off x="6961064" y="2054072"/>
            <a:ext cx="43957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закрывает задачу без модели, без вариативности, мгновенно</a:t>
            </a:r>
          </a:p>
        </p:txBody>
      </p:sp>
      <p:sp>
        <p:nvSpPr>
          <p:cNvPr id="10" name="Rounded Rectangle 9"/>
          <p:cNvSpPr/>
          <p:nvPr/>
        </p:nvSpPr>
        <p:spPr>
          <a:xfrm>
            <a:off x="502920" y="34341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5621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сборка сообщения из уже извлечённых значений по фиксированной форме.</a:t>
            </a:r>
          </a:p>
        </p:txBody>
      </p:sp>
      <p:sp>
        <p:nvSpPr>
          <p:cNvPr id="12" name="Rounded Rectangle 11"/>
          <p:cNvSpPr/>
          <p:nvPr/>
        </p:nvSpPr>
        <p:spPr>
          <a:xfrm>
            <a:off x="502920" y="46122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402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паттерн — «прогон зелёный, а результат тихо не тот» — вернётся в этом занятии в кейсе «Карточка в Telegram». Там на бинарных данных, здесь на тексте.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98262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064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Нюанс 1.</a:t>
            </a:r>
            <a:r>
              <a:rPr sz="1500" b="1" i="0">
                <a:solidFill>
                  <a:srgbClr val="141B2E"/>
                </a:solidFill>
                <a:latin typeface="Arial"/>
              </a:rPr>
              <a:t> Лишний шаг — это не только цена денег и задержка, это ещё и риск: каждый вызов модели — ещё одна точка, где может появиться галлюцинация, даже в тривиальной задаче форматирования, как в этом кейсе.</a:t>
            </a:r>
          </a:p>
        </p:txBody>
      </p:sp>
      <p:sp>
        <p:nvSpPr>
          <p:cNvPr id="5" name="Rounded Rectangle 4"/>
          <p:cNvSpPr/>
          <p:nvPr/>
        </p:nvSpPr>
        <p:spPr>
          <a:xfrm>
            <a:off x="502920" y="222836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35638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Нюанс 2.</a:t>
            </a:r>
            <a:r>
              <a:rPr sz="1500" b="1" i="0">
                <a:solidFill>
                  <a:srgbClr val="141B2E"/>
                </a:solidFill>
                <a:latin typeface="Arial"/>
              </a:rPr>
              <a:t> Шаблон — не навсегда безопасный выбор по умолчанию: если форма сообщения со временем начнёт требовать реальной вариативности (разные языки, разная степень детализации), шаблон придётся переписывать руками на каждый новый случай — это тоже цена, просто другого типа.</a:t>
            </a:r>
          </a:p>
        </p:txBody>
      </p:sp>
      <p:sp>
        <p:nvSpPr>
          <p:cNvPr id="7" name="Rounded Rectangle 6"/>
          <p:cNvSpPr/>
          <p:nvPr/>
        </p:nvSpPr>
        <p:spPr>
          <a:xfrm>
            <a:off x="502920" y="3710330"/>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2005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МОДЕЛЬ НУЖНА</a:t>
            </a:r>
          </a:p>
        </p:txBody>
      </p:sp>
      <p:sp>
        <p:nvSpPr>
          <p:cNvPr id="9" name="TextBox 8"/>
          <p:cNvSpPr txBox="1"/>
          <p:nvPr/>
        </p:nvSpPr>
        <p:spPr>
          <a:xfrm>
            <a:off x="685800" y="409437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реальная вариативность контента: тон, язык, длина меняются от случая к случаю</a:t>
            </a:r>
          </a:p>
        </p:txBody>
      </p:sp>
      <p:cxnSp>
        <p:nvCxnSpPr>
          <p:cNvPr id="10" name="Connector 9"/>
          <p:cNvCxnSpPr/>
          <p:nvPr/>
        </p:nvCxnSpPr>
        <p:spPr>
          <a:xfrm>
            <a:off x="685800" y="45853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58536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текст требует интерпретации, а не просто сборки</a:t>
            </a:r>
          </a:p>
        </p:txBody>
      </p:sp>
      <p:sp>
        <p:nvSpPr>
          <p:cNvPr id="12" name="Rounded Rectangle 11"/>
          <p:cNvSpPr/>
          <p:nvPr/>
        </p:nvSpPr>
        <p:spPr>
          <a:xfrm>
            <a:off x="6231636" y="3710330"/>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2005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ШАБЛОНА ДОСТАТОЧНО</a:t>
            </a:r>
          </a:p>
        </p:txBody>
      </p:sp>
      <p:sp>
        <p:nvSpPr>
          <p:cNvPr id="14" name="TextBox 13"/>
          <p:cNvSpPr txBox="1"/>
          <p:nvPr/>
        </p:nvSpPr>
        <p:spPr>
          <a:xfrm>
            <a:off x="6414516" y="409437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форма сообщения всегда одна, меняются только значения внутри неё</a:t>
            </a:r>
          </a:p>
        </p:txBody>
      </p:sp>
      <p:cxnSp>
        <p:nvCxnSpPr>
          <p:cNvPr id="15" name="Connector 14"/>
          <p:cNvCxnSpPr/>
          <p:nvPr/>
        </p:nvCxnSpPr>
        <p:spPr>
          <a:xfrm>
            <a:off x="6414516" y="45853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8536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ничего интерпретировать не нужно — все значения уже известны</a:t>
            </a:r>
          </a:p>
        </p:txBody>
      </p:sp>
      <p:sp>
        <p:nvSpPr>
          <p:cNvPr id="17" name="Rounded Rectangle 16"/>
          <p:cNvSpPr/>
          <p:nvPr/>
        </p:nvSpPr>
        <p:spPr>
          <a:xfrm>
            <a:off x="502920" y="552198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65000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ушло координатору, цепочка короче и дешевле без LLM» → чем оказался: LLM здесь просто лишний шаг — то же самое делает шаблон, без риска и без задержки.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«Мне прислали тот же вопрос второй раз — зачем отвечать как в первый?»</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Одно утро: вопрос пришёл дважды</a:t>
            </a:r>
          </a:p>
        </p:txBody>
      </p:sp>
      <p:sp>
        <p:nvSpPr>
          <p:cNvPr id="3" name="Rounded Rectangle 2"/>
          <p:cNvSpPr/>
          <p:nvPr/>
        </p:nvSpPr>
        <p:spPr>
          <a:xfrm>
            <a:off x="502920" y="128305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107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 — точное совпадение.</a:t>
            </a:r>
            <a:r>
              <a:rPr sz="1500" b="1" i="0">
                <a:solidFill>
                  <a:srgbClr val="141B2E"/>
                </a:solidFill>
                <a:latin typeface="Arial"/>
              </a:rPr>
              <a:t> Нормализовать текст (убрать регистр, лишние пробелы) и сравнить с недавними обращениями того же контакта за окно N часов. Совпали строки — это повтор.</a:t>
            </a:r>
          </a:p>
        </p:txBody>
      </p:sp>
      <p:sp>
        <p:nvSpPr>
          <p:cNvPr id="5" name="Rounded Rectangle 4"/>
          <p:cNvSpPr/>
          <p:nvPr/>
        </p:nvSpPr>
        <p:spPr>
          <a:xfrm>
            <a:off x="502920" y="2697327"/>
            <a:ext cx="11183112" cy="1706499"/>
          </a:xfrm>
          <a:prstGeom prst="roundRect">
            <a:avLst>
              <a:gd name="adj" fmla="val 178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1678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91678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человек присылает буквально тот же текст: «когда можно оплатить занятие?» — дважды. Точное совпадение после нормализации ловит это мгновенно.</a:t>
            </a:r>
          </a:p>
        </p:txBody>
      </p:sp>
      <p:sp>
        <p:nvSpPr>
          <p:cNvPr id="8" name="TextBox 7"/>
          <p:cNvSpPr txBox="1"/>
          <p:nvPr/>
        </p:nvSpPr>
        <p:spPr>
          <a:xfrm>
            <a:off x="722376" y="3449421"/>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44942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человек, тот же день, тот же вопрос другими словами: «как мне внести оплату за курс» — после того же «когда можно оплатить занятие?». Строки разные. Точное совпадение не срабатывает: для проверки это новое обращение.</a:t>
            </a:r>
          </a:p>
        </p:txBody>
      </p:sp>
      <p:sp>
        <p:nvSpPr>
          <p:cNvPr id="10" name="Rounded Rectangle 9"/>
          <p:cNvSpPr/>
          <p:nvPr/>
        </p:nvSpPr>
        <p:spPr>
          <a:xfrm>
            <a:off x="502920" y="507133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19935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Проверка не ошиблась технически — она сделала ровно то, что умеет делать: сравнила строки. Вопрос в том, достаточно ли этого, когда человек имеет право спросить своими словами.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по общим словам — мера похожести с порогом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у модели, один ли это вопрос, просто сформулированный иначе</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проверить точное совпадение дёшево, а по модели пускать только то, что осталось</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943356"/>
            <a:ext cx="11183112" cy="2452370"/>
          </a:xfrm>
          <a:prstGeom prst="roundRect">
            <a:avLst>
              <a:gd name="adj" fmla="val 124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0705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539157" y="1126236"/>
            <a:ext cx="2852622"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ДЕЛАЕТ</a:t>
            </a:r>
          </a:p>
        </p:txBody>
      </p:sp>
      <p:sp>
        <p:nvSpPr>
          <p:cNvPr id="6" name="TextBox 5"/>
          <p:cNvSpPr txBox="1"/>
          <p:nvPr/>
        </p:nvSpPr>
        <p:spPr>
          <a:xfrm>
            <a:off x="5538083" y="1126236"/>
            <a:ext cx="581876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НЕ ДЕЛАЕТ</a:t>
            </a:r>
          </a:p>
        </p:txBody>
      </p:sp>
      <p:sp>
        <p:nvSpPr>
          <p:cNvPr id="7" name="TextBox 6"/>
          <p:cNvSpPr txBox="1"/>
          <p:nvPr/>
        </p:nvSpPr>
        <p:spPr>
          <a:xfrm>
            <a:off x="685800" y="1385824"/>
            <a:ext cx="1707053"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a:t>
            </a:r>
          </a:p>
        </p:txBody>
      </p:sp>
      <p:sp>
        <p:nvSpPr>
          <p:cNvPr id="8" name="TextBox 7"/>
          <p:cNvSpPr txBox="1"/>
          <p:nvPr/>
        </p:nvSpPr>
        <p:spPr>
          <a:xfrm>
            <a:off x="2539157" y="1385824"/>
            <a:ext cx="2852622"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ловит буквальный повтор мгновенно и бесплатно</a:t>
            </a:r>
          </a:p>
        </p:txBody>
      </p:sp>
      <p:sp>
        <p:nvSpPr>
          <p:cNvPr id="9" name="TextBox 8"/>
          <p:cNvSpPr txBox="1"/>
          <p:nvPr/>
        </p:nvSpPr>
        <p:spPr>
          <a:xfrm>
            <a:off x="5538083" y="1385824"/>
            <a:ext cx="581876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ловит переформулировку: строка другая — для проверки это новый текст</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1707053"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Похожесть по словам</a:t>
            </a:r>
          </a:p>
        </p:txBody>
      </p:sp>
      <p:sp>
        <p:nvSpPr>
          <p:cNvPr id="12" name="TextBox 11"/>
          <p:cNvSpPr txBox="1"/>
          <p:nvPr/>
        </p:nvSpPr>
        <p:spPr>
          <a:xfrm>
            <a:off x="2539157" y="1842516"/>
            <a:ext cx="2852622"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выглядит более серьёзной альтернативой — есть мера, есть порог</a:t>
            </a:r>
          </a:p>
        </p:txBody>
      </p:sp>
      <p:sp>
        <p:nvSpPr>
          <p:cNvPr id="13" name="TextBox 12"/>
          <p:cNvSpPr txBox="1"/>
          <p:nvPr/>
        </p:nvSpPr>
        <p:spPr>
          <a:xfrm>
            <a:off x="5538083" y="1842516"/>
            <a:ext cx="581876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 этой переформулировке даёт ноль общих слов — тоже не ловит, и не потому что порог выбран неверно</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1707053"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Спросить у модели</a:t>
            </a:r>
          </a:p>
        </p:txBody>
      </p:sp>
      <p:sp>
        <p:nvSpPr>
          <p:cNvPr id="16" name="TextBox 15"/>
          <p:cNvSpPr txBox="1"/>
          <p:nvPr/>
        </p:nvSpPr>
        <p:spPr>
          <a:xfrm>
            <a:off x="2539157" y="2299208"/>
            <a:ext cx="2852622"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ловит смысл в обоих случаях</a:t>
            </a:r>
          </a:p>
        </p:txBody>
      </p:sp>
      <p:sp>
        <p:nvSpPr>
          <p:cNvPr id="17" name="TextBox 16"/>
          <p:cNvSpPr txBox="1"/>
          <p:nvPr/>
        </p:nvSpPr>
        <p:spPr>
          <a:xfrm>
            <a:off x="5538083" y="2299208"/>
            <a:ext cx="581876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дороже на каждый вызов и ошибается — в обе стороны, иначе, не «всегда точнее»</a:t>
            </a:r>
          </a:p>
        </p:txBody>
      </p:sp>
      <p:cxnSp>
        <p:nvCxnSpPr>
          <p:cNvPr id="18" name="Connector 17"/>
          <p:cNvCxnSpPr/>
          <p:nvPr/>
        </p:nvCxnSpPr>
        <p:spPr>
          <a:xfrm>
            <a:off x="685800" y="2610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610104"/>
            <a:ext cx="1707053"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Сначала дёшево, потом по модели на спорное</a:t>
            </a:r>
          </a:p>
        </p:txBody>
      </p:sp>
      <p:sp>
        <p:nvSpPr>
          <p:cNvPr id="20" name="TextBox 19"/>
          <p:cNvSpPr txBox="1"/>
          <p:nvPr/>
        </p:nvSpPr>
        <p:spPr>
          <a:xfrm>
            <a:off x="2539157" y="2610104"/>
            <a:ext cx="2852622"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закрывает обе задачи по цене</a:t>
            </a:r>
          </a:p>
        </p:txBody>
      </p:sp>
      <p:sp>
        <p:nvSpPr>
          <p:cNvPr id="21" name="TextBox 20"/>
          <p:cNvSpPr txBox="1"/>
          <p:nvPr/>
        </p:nvSpPr>
        <p:spPr>
          <a:xfrm>
            <a:off x="5538083" y="2610104"/>
            <a:ext cx="581876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требует настроить и дешёвый фильтр, и дорогую проверку — не один шаг вместо другого</a:t>
            </a:r>
          </a:p>
        </p:txBody>
      </p:sp>
      <p:sp>
        <p:nvSpPr>
          <p:cNvPr id="22" name="Rounded Rectangle 21"/>
          <p:cNvSpPr/>
          <p:nvPr/>
        </p:nvSpPr>
        <p:spPr>
          <a:xfrm>
            <a:off x="502920" y="3560318"/>
            <a:ext cx="82296" cy="5922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3688334"/>
            <a:ext cx="10643616" cy="3361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Проверка на реальном тексте, а не на предположении.</a:t>
            </a:r>
            <a:r>
              <a:rPr sz="1100" b="1" i="0">
                <a:solidFill>
                  <a:srgbClr val="141B2E"/>
                </a:solidFill>
                <a:latin typeface="Arial"/>
              </a:rPr>
              <a:t> Текст 1 — «как мне внести оплату за курс», текст 2 — «когда можно оплатить занятие», и вот что получается при сравнении слов.</a:t>
            </a:r>
          </a:p>
        </p:txBody>
      </p:sp>
      <p:sp>
        <p:nvSpPr>
          <p:cNvPr id="24" name="Rounded Rectangle 23"/>
          <p:cNvSpPr/>
          <p:nvPr/>
        </p:nvSpPr>
        <p:spPr>
          <a:xfrm>
            <a:off x="502920" y="4317119"/>
            <a:ext cx="11183112" cy="1335151"/>
          </a:xfrm>
          <a:prstGeom prst="roundRect">
            <a:avLst>
              <a:gd name="adj" fmla="val 228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4445135"/>
            <a:ext cx="427156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26" name="TextBox 25"/>
          <p:cNvSpPr txBox="1"/>
          <p:nvPr/>
        </p:nvSpPr>
        <p:spPr>
          <a:xfrm>
            <a:off x="5048809" y="4445135"/>
            <a:ext cx="63629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СЛОВА</a:t>
            </a:r>
          </a:p>
        </p:txBody>
      </p:sp>
      <p:sp>
        <p:nvSpPr>
          <p:cNvPr id="27" name="TextBox 26"/>
          <p:cNvSpPr txBox="1"/>
          <p:nvPr/>
        </p:nvSpPr>
        <p:spPr>
          <a:xfrm>
            <a:off x="630936" y="4727202"/>
            <a:ext cx="4271569"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Текст 1</a:t>
            </a:r>
          </a:p>
        </p:txBody>
      </p:sp>
      <p:sp>
        <p:nvSpPr>
          <p:cNvPr id="28" name="TextBox 27"/>
          <p:cNvSpPr txBox="1"/>
          <p:nvPr/>
        </p:nvSpPr>
        <p:spPr>
          <a:xfrm>
            <a:off x="5048809" y="4727202"/>
            <a:ext cx="6362902"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как · мне · внести · оплату · за · курс</a:t>
            </a:r>
          </a:p>
        </p:txBody>
      </p:sp>
      <p:cxnSp>
        <p:nvCxnSpPr>
          <p:cNvPr id="29" name="Connector 28"/>
          <p:cNvCxnSpPr/>
          <p:nvPr/>
        </p:nvCxnSpPr>
        <p:spPr>
          <a:xfrm>
            <a:off x="630936" y="499288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4992886"/>
            <a:ext cx="4271569"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Текст 2</a:t>
            </a:r>
          </a:p>
        </p:txBody>
      </p:sp>
      <p:sp>
        <p:nvSpPr>
          <p:cNvPr id="31" name="TextBox 30"/>
          <p:cNvSpPr txBox="1"/>
          <p:nvPr/>
        </p:nvSpPr>
        <p:spPr>
          <a:xfrm>
            <a:off x="5048809" y="4992886"/>
            <a:ext cx="6362902"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когда · можно · оплатить · занятие</a:t>
            </a:r>
          </a:p>
        </p:txBody>
      </p:sp>
      <p:cxnSp>
        <p:nvCxnSpPr>
          <p:cNvPr id="32" name="Connector 31"/>
          <p:cNvCxnSpPr/>
          <p:nvPr/>
        </p:nvCxnSpPr>
        <p:spPr>
          <a:xfrm>
            <a:off x="630936" y="525857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5258570"/>
            <a:ext cx="4271569"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Общих слов</a:t>
            </a:r>
          </a:p>
        </p:txBody>
      </p:sp>
      <p:sp>
        <p:nvSpPr>
          <p:cNvPr id="34" name="TextBox 33"/>
          <p:cNvSpPr txBox="1"/>
          <p:nvPr/>
        </p:nvSpPr>
        <p:spPr>
          <a:xfrm>
            <a:off x="5048809" y="5258570"/>
            <a:ext cx="6362902"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0 из 10</a:t>
            </a:r>
            <a:r>
              <a:rPr sz="1250" b="0" i="0">
                <a:solidFill>
                  <a:srgbClr val="141B2E"/>
                </a:solidFill>
                <a:latin typeface="Arial"/>
              </a:rPr>
              <a:t> уникальных слов</a:t>
            </a:r>
          </a:p>
        </p:txBody>
      </p:sp>
      <p:sp>
        <p:nvSpPr>
          <p:cNvPr id="35" name="Rectangle 34"/>
          <p:cNvSpPr/>
          <p:nvPr/>
        </p:nvSpPr>
        <p:spPr>
          <a:xfrm>
            <a:off x="502920" y="5853438"/>
            <a:ext cx="32004" cy="40182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908302"/>
            <a:ext cx="10730484" cy="292096"/>
          </a:xfrm>
          <a:prstGeom prst="rect">
            <a:avLst/>
          </a:prstGeom>
          <a:noFill/>
        </p:spPr>
        <p:txBody>
          <a:bodyPr wrap="square" lIns="0" rIns="0" tIns="0" bIns="0" anchor="ctr">
            <a:spAutoFit/>
          </a:bodyPr>
          <a:lstStyle/>
          <a:p>
            <a:pPr algn="l">
              <a:lnSpc>
                <a:spcPts val="1260"/>
              </a:lnSpc>
              <a:spcAft>
                <a:spcPts val="300"/>
              </a:spcAft>
            </a:pPr>
            <a:r>
              <a:rPr sz="1000" b="0" i="1">
                <a:solidFill>
                  <a:srgbClr val="6B7685"/>
                </a:solidFill>
                <a:latin typeface="Arial"/>
              </a:rPr>
              <a:t>«Оплату» и «оплатить» — разные словоформы. «Курс» и «занятие» — разные слова при одном и том же смысле. Похожесть по словам с любым разумным порогом эту пару тоже не признает повтором.</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Дёшево сначала, дорого — на спорное</a:t>
            </a:r>
          </a:p>
        </p:txBody>
      </p:sp>
      <p:sp>
        <p:nvSpPr>
          <p:cNvPr id="3" name="Rounded Rectangle 2"/>
          <p:cNvSpPr/>
          <p:nvPr/>
        </p:nvSpPr>
        <p:spPr>
          <a:xfrm>
            <a:off x="502920" y="166695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79496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Шаг 1 — дешёвый фильтр.</a:t>
            </a:r>
            <a:r>
              <a:rPr sz="1500" b="1" i="0">
                <a:solidFill>
                  <a:srgbClr val="141B2E"/>
                </a:solidFill>
                <a:latin typeface="Arial"/>
              </a:rPr>
              <a:t> Сравнение текста с недавними обращениями того же контакта. Совпало буквально — повтор найден, дальше процесс не идёт.</a:t>
            </a:r>
          </a:p>
        </p:txBody>
      </p:sp>
      <p:sp>
        <p:nvSpPr>
          <p:cNvPr id="5" name="Rounded Rectangle 4"/>
          <p:cNvSpPr/>
          <p:nvPr/>
        </p:nvSpPr>
        <p:spPr>
          <a:xfrm>
            <a:off x="502920" y="308122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20923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Шаг 2 — дорогая проверка, только на остаток.</a:t>
            </a:r>
            <a:r>
              <a:rPr sz="1500" b="1" i="0">
                <a:solidFill>
                  <a:srgbClr val="141B2E"/>
                </a:solidFill>
                <a:latin typeface="Arial"/>
              </a:rPr>
              <a:t> Всё, что дешёвый фильтр не разрешил однозначно (разные тексты, тот же контакт, близкое время), передаётся на проверку смыслом.</a:t>
            </a:r>
          </a:p>
        </p:txBody>
      </p:sp>
      <p:sp>
        <p:nvSpPr>
          <p:cNvPr id="7" name="Rounded Rectangle 6"/>
          <p:cNvSpPr/>
          <p:nvPr/>
        </p:nvSpPr>
        <p:spPr>
          <a:xfrm>
            <a:off x="502920" y="449549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351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Дорогой инструмент не стоит вместо дешёвого и не стоит рядом с ним на каждый прогон — он стоит дальше по цепочке и включается только тогда, когда первый шаг явно не дал ответа.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sp>
        <p:nvSpPr>
          <p:cNvPr id="3" name="Rounded Rectangle 2"/>
          <p:cNvSpPr/>
          <p:nvPr/>
        </p:nvSpPr>
        <p:spPr>
          <a:xfrm>
            <a:off x="502920" y="138348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1150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нормализации — что считаем.</a:t>
            </a:r>
            <a:r>
              <a:rPr sz="1500" b="1" i="0">
                <a:solidFill>
                  <a:srgbClr val="141B2E"/>
                </a:solidFill>
                <a:latin typeface="Arial"/>
              </a:rPr>
              <a:t> Берём текст заявки, приводим к нижнему регистру, убираем пробелы по краям, схлопываем повторные пробелы внутри. Результат кладём в отдельное поле рядом с текстом.</a:t>
            </a:r>
          </a:p>
        </p:txBody>
      </p:sp>
      <p:sp>
        <p:nvSpPr>
          <p:cNvPr id="5" name="Rounded Rectangle 4"/>
          <p:cNvSpPr/>
          <p:nvPr/>
        </p:nvSpPr>
        <p:spPr>
          <a:xfrm>
            <a:off x="502920" y="303397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6199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сравнения — условие.</a:t>
            </a:r>
            <a:r>
              <a:rPr sz="1500" b="1" i="0">
                <a:solidFill>
                  <a:srgbClr val="141B2E"/>
                </a:solidFill>
                <a:latin typeface="Arial"/>
              </a:rPr>
              <a:t> Нормализованный текст текущей заявки строго равен нормализованному тексту недавнего обращения того же контакта за окно времени → повтор найден, записи не будет. Не равен → идём дальше, на проверку смыслом.</a:t>
            </a:r>
          </a:p>
        </p:txBody>
      </p:sp>
      <p:sp>
        <p:nvSpPr>
          <p:cNvPr id="7" name="Rounded Rectangle 6"/>
          <p:cNvSpPr/>
          <p:nvPr/>
        </p:nvSpPr>
        <p:spPr>
          <a:xfrm>
            <a:off x="502920" y="468447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1248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стенде это два шага подряд: один считает нормализованный текст, второй сравнивает его с недавним обращением и решает, останавливать цепочку здесь или нет. Ни один из них не вызывает модель.</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узел-модель спрашивает напрямую</a:t>
            </a:r>
          </a:p>
        </p:txBody>
      </p:sp>
      <p:sp>
        <p:nvSpPr>
          <p:cNvPr id="3" name="Rounded Rectangle 2"/>
          <p:cNvSpPr/>
          <p:nvPr/>
        </p:nvSpPr>
        <p:spPr>
          <a:xfrm>
            <a:off x="502920" y="118826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31627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Промпт узла-модели.</a:t>
            </a:r>
            <a:r>
              <a:rPr sz="1500" b="1" i="0">
                <a:solidFill>
                  <a:srgbClr val="141B2E"/>
                </a:solidFill>
                <a:latin typeface="Arial"/>
              </a:rPr>
              <a:t> «Это новое сообщение: «{{новый текст}}». Недавнее сообщение того же контакта: «{{старый текст}}». Это тот же вопрос, просто сформулированный иначе? Ответь строго «да» или «нет».»</a:t>
            </a:r>
          </a:p>
        </p:txBody>
      </p:sp>
      <p:sp>
        <p:nvSpPr>
          <p:cNvPr id="5" name="Rounded Rectangle 4"/>
          <p:cNvSpPr/>
          <p:nvPr/>
        </p:nvSpPr>
        <p:spPr>
          <a:xfrm>
            <a:off x="502920" y="2838754"/>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021634"/>
            <a:ext cx="6632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ПРОГОН</a:t>
            </a:r>
          </a:p>
        </p:txBody>
      </p:sp>
      <p:sp>
        <p:nvSpPr>
          <p:cNvPr id="7" name="TextBox 6"/>
          <p:cNvSpPr txBox="1"/>
          <p:nvPr/>
        </p:nvSpPr>
        <p:spPr>
          <a:xfrm>
            <a:off x="1495345" y="3021634"/>
            <a:ext cx="43357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ПОДАЛИ</a:t>
            </a:r>
          </a:p>
        </p:txBody>
      </p:sp>
      <p:sp>
        <p:nvSpPr>
          <p:cNvPr id="8" name="TextBox 7"/>
          <p:cNvSpPr txBox="1"/>
          <p:nvPr/>
        </p:nvSpPr>
        <p:spPr>
          <a:xfrm>
            <a:off x="5977369" y="3021634"/>
            <a:ext cx="53794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ПОЛУЧИЛОСЬ</a:t>
            </a:r>
          </a:p>
        </p:txBody>
      </p:sp>
      <p:sp>
        <p:nvSpPr>
          <p:cNvPr id="9" name="TextBox 8"/>
          <p:cNvSpPr txBox="1"/>
          <p:nvPr/>
        </p:nvSpPr>
        <p:spPr>
          <a:xfrm>
            <a:off x="685800" y="3303701"/>
            <a:ext cx="66324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Прогон 1</a:t>
            </a:r>
          </a:p>
        </p:txBody>
      </p:sp>
      <p:sp>
        <p:nvSpPr>
          <p:cNvPr id="10" name="TextBox 9"/>
          <p:cNvSpPr txBox="1"/>
          <p:nvPr/>
        </p:nvSpPr>
        <p:spPr>
          <a:xfrm>
            <a:off x="1495345" y="3303701"/>
            <a:ext cx="4335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текст дважды — «когда можно оплатить занятие?»</a:t>
            </a:r>
          </a:p>
        </p:txBody>
      </p:sp>
      <p:sp>
        <p:nvSpPr>
          <p:cNvPr id="11" name="TextBox 10"/>
          <p:cNvSpPr txBox="1"/>
          <p:nvPr/>
        </p:nvSpPr>
        <p:spPr>
          <a:xfrm>
            <a:off x="5977369" y="3303701"/>
            <a:ext cx="53794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остановлен дешёвым фильтром раньше модели; новой записи не было, ответа не было, сам прогон технически успешен</a:t>
            </a:r>
          </a:p>
        </p:txBody>
      </p:sp>
      <p:cxnSp>
        <p:nvCxnSpPr>
          <p:cNvPr id="12" name="Connector 11"/>
          <p:cNvCxnSpPr/>
          <p:nvPr/>
        </p:nvCxnSpPr>
        <p:spPr>
          <a:xfrm>
            <a:off x="685800" y="3833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33418"/>
            <a:ext cx="66324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Прогон 2</a:t>
            </a:r>
          </a:p>
        </p:txBody>
      </p:sp>
      <p:sp>
        <p:nvSpPr>
          <p:cNvPr id="14" name="TextBox 13"/>
          <p:cNvSpPr txBox="1"/>
          <p:nvPr/>
        </p:nvSpPr>
        <p:spPr>
          <a:xfrm>
            <a:off x="1495345" y="3833418"/>
            <a:ext cx="4335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переформулировка — «как мне внести оплату за курс» после «когда можно оплатить занятие?»</a:t>
            </a:r>
          </a:p>
        </p:txBody>
      </p:sp>
      <p:sp>
        <p:nvSpPr>
          <p:cNvPr id="15" name="TextBox 14"/>
          <p:cNvSpPr txBox="1"/>
          <p:nvPr/>
        </p:nvSpPr>
        <p:spPr>
          <a:xfrm>
            <a:off x="5977369" y="3833418"/>
            <a:ext cx="53794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дешёвый фильтр не разрешил; дошло до узла-модели; ответ — </a:t>
            </a:r>
            <a:r>
              <a:rPr sz="1250" b="1" i="0">
                <a:solidFill>
                  <a:srgbClr val="141B2E"/>
                </a:solidFill>
                <a:latin typeface="Arial"/>
              </a:rPr>
              <a:t>«да»</a:t>
            </a:r>
          </a:p>
        </p:txBody>
      </p:sp>
      <p:sp>
        <p:nvSpPr>
          <p:cNvPr id="16" name="Rounded Rectangle 15"/>
          <p:cNvSpPr/>
          <p:nvPr/>
        </p:nvSpPr>
        <p:spPr>
          <a:xfrm>
            <a:off x="502920" y="521352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4154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прогоне 1 ничего не произошло молча, при зелёном статусе — ровно то, ради чего дешёвый фильтр и стоит первым. На прогоне 2 модель ответила верно там, где оба механических подхода дают ноль.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Тратить дорогой инструмент только там, где дешёвый явно не дал ответа — не вместо него, не на каждый прогон рядом с ним.</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 и объединения типовых вопросов.</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54430"/>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73886"/>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73886"/>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Окно времени — параметр с ценой.</a:t>
            </a:r>
            <a:r>
              <a:rPr sz="1350" b="0" i="0">
                <a:solidFill>
                  <a:srgbClr val="141B2E"/>
                </a:solidFill>
                <a:latin typeface="Arial"/>
              </a:rPr>
              <a:t> Слишком короткое окно пропустит повтор, разнесённый на пару дней. Слишком длинное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95803"/>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215259"/>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21525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LLM-проверка похожести — частный случай LLM-судьи</a:t>
            </a:r>
            <a:r>
              <a:rPr sz="1350" b="0" i="0">
                <a:solidFill>
                  <a:srgbClr val="141B2E"/>
                </a:solidFill>
                <a:latin typeface="Arial"/>
              </a:rPr>
              <a:t>, и у неё та же асимметрия ошибок, что у любой модели в этой роли: модель-судья не нейтральна даже когда формально отвечает (Wataoka, Takahashi, Ri — NeurIPS 2024 Safe GenAI Workshop, arXiv:2410.21819, self-preference bias).</a:t>
            </a:r>
          </a:p>
        </p:txBody>
      </p:sp>
      <p:sp>
        <p:nvSpPr>
          <p:cNvPr id="9" name="Rounded Rectangle 8"/>
          <p:cNvSpPr/>
          <p:nvPr/>
        </p:nvSpPr>
        <p:spPr>
          <a:xfrm>
            <a:off x="502920" y="4837176"/>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056632"/>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056632"/>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536852"/>
            <a:ext cx="5454396" cy="2013839"/>
          </a:xfrm>
          <a:prstGeom prst="roundRect">
            <a:avLst>
              <a:gd name="adj" fmla="val 151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65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9209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a:t>
            </a:r>
          </a:p>
        </p:txBody>
      </p:sp>
      <p:cxnSp>
        <p:nvCxnSpPr>
          <p:cNvPr id="6" name="Connector 5"/>
          <p:cNvCxnSpPr/>
          <p:nvPr/>
        </p:nvCxnSpPr>
        <p:spPr>
          <a:xfrm>
            <a:off x="685800" y="22395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2395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один канал, один интерфейс</a:t>
            </a:r>
          </a:p>
        </p:txBody>
      </p:sp>
      <p:cxnSp>
        <p:nvCxnSpPr>
          <p:cNvPr id="8" name="Connector 7"/>
          <p:cNvCxnSpPr/>
          <p:nvPr/>
        </p:nvCxnSpPr>
        <p:spPr>
          <a:xfrm>
            <a:off x="685800" y="25581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818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человек просто дважды нажал «отправить»</a:t>
            </a:r>
          </a:p>
        </p:txBody>
      </p:sp>
      <p:cxnSp>
        <p:nvCxnSpPr>
          <p:cNvPr id="10" name="Connector 9"/>
          <p:cNvCxnSpPr/>
          <p:nvPr/>
        </p:nvCxnSpPr>
        <p:spPr>
          <a:xfrm>
            <a:off x="685800" y="28768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7682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невелика</a:t>
            </a:r>
          </a:p>
        </p:txBody>
      </p:sp>
      <p:sp>
        <p:nvSpPr>
          <p:cNvPr id="12" name="Rounded Rectangle 11"/>
          <p:cNvSpPr/>
          <p:nvPr/>
        </p:nvSpPr>
        <p:spPr>
          <a:xfrm>
            <a:off x="6231636" y="1536852"/>
            <a:ext cx="5454396" cy="2013839"/>
          </a:xfrm>
          <a:prstGeom prst="roundRect">
            <a:avLst>
              <a:gd name="adj" fmla="val 151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6465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ОПРАВДАНА СВЕРХУ</a:t>
            </a:r>
          </a:p>
        </p:txBody>
      </p:sp>
      <p:sp>
        <p:nvSpPr>
          <p:cNvPr id="14" name="TextBox 13"/>
          <p:cNvSpPr txBox="1"/>
          <p:nvPr/>
        </p:nvSpPr>
        <p:spPr>
          <a:xfrm>
            <a:off x="6414516" y="19209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a:t>
            </a:r>
          </a:p>
        </p:txBody>
      </p:sp>
      <p:cxnSp>
        <p:nvCxnSpPr>
          <p:cNvPr id="15" name="Connector 14"/>
          <p:cNvCxnSpPr/>
          <p:nvPr/>
        </p:nvCxnSpPr>
        <p:spPr>
          <a:xfrm>
            <a:off x="6414516" y="22395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395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разные каналы, разный интервал</a:t>
            </a:r>
          </a:p>
        </p:txBody>
      </p:sp>
      <p:cxnSp>
        <p:nvCxnSpPr>
          <p:cNvPr id="17" name="Connector 16"/>
          <p:cNvCxnSpPr/>
          <p:nvPr/>
        </p:nvCxnSpPr>
        <p:spPr>
          <a:xfrm>
            <a:off x="6414516" y="25581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55818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человек каждый раз пишет своими словами</a:t>
            </a:r>
          </a:p>
        </p:txBody>
      </p:sp>
      <p:cxnSp>
        <p:nvCxnSpPr>
          <p:cNvPr id="19" name="Connector 18"/>
          <p:cNvCxnSpPr/>
          <p:nvPr/>
        </p:nvCxnSpPr>
        <p:spPr>
          <a:xfrm>
            <a:off x="6414516" y="28768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7682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sp>
        <p:nvSpPr>
          <p:cNvPr id="21" name="Rounded Rectangle 20"/>
          <p:cNvSpPr/>
          <p:nvPr/>
        </p:nvSpPr>
        <p:spPr>
          <a:xfrm>
            <a:off x="502920" y="421820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346219"/>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«Заявка про тот же вопрос пришла снова — обработали как новую» → чем оказался: без проверки на дубль каждое повторное обращение запускает цепочку с нуля; ни точное совпадение, ни похожесть по словам не решают эту задачу целиком — для реальной переформулировки нужна проверка смыслом.</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«Правило: не возвращай больше 3000 рублей автоматически, иначе эскалируй руководителю. Сумма запроса: {{сумма}} рублей. Ответь строго одним словом: «одобрить» или «эскалировать».»</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и первое решение</a:t>
            </a:r>
          </a:p>
        </p:txBody>
      </p:sp>
      <p:sp>
        <p:nvSpPr>
          <p:cNvPr id="3" name="Rounded Rectangle 2"/>
          <p:cNvSpPr/>
          <p:nvPr/>
        </p:nvSpPr>
        <p:spPr>
          <a:xfrm>
            <a:off x="502920" y="138348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1150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Потребность.</a:t>
            </a:r>
            <a:r>
              <a:rPr sz="1500" b="1" i="0">
                <a:solidFill>
                  <a:srgbClr val="141B2E"/>
                </a:solidFill>
                <a:latin typeface="Arial"/>
              </a:rPr>
              <a:t> Учебный центр обрабатывает запросы на возврат денег. Мелкие возвраты центр должен одобрять сам, не отрывая руководителя на каждую мелочь, а крупные — эскалировать ему. Нужно решение, которое надёжно различает «мелкий» и «крупный» по сумме.</a:t>
            </a:r>
          </a:p>
        </p:txBody>
      </p:sp>
      <p:sp>
        <p:nvSpPr>
          <p:cNvPr id="5" name="Rounded Rectangle 4"/>
          <p:cNvSpPr/>
          <p:nvPr/>
        </p:nvSpPr>
        <p:spPr>
          <a:xfrm>
            <a:off x="502920" y="303397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6199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 — правило в промпте.</a:t>
            </a:r>
            <a:r>
              <a:rPr sz="1500" b="1" i="0">
                <a:solidFill>
                  <a:srgbClr val="141B2E"/>
                </a:solidFill>
                <a:latin typeface="Arial"/>
              </a:rPr>
              <a:t> Чтобы не городить лишний узел, порог 3000₽ вписали прямо в текст шага, который принимает решение. Решение о том, одобрить возврат или эскалировать его, модель (OpenRouter, qwen/qwen-2.5-7b-instruct) принимает сама, по тексту правила — того самого, что было на предыдущем экране.</a:t>
            </a:r>
          </a:p>
        </p:txBody>
      </p:sp>
      <p:sp>
        <p:nvSpPr>
          <p:cNvPr id="7" name="Rounded Rectangle 6"/>
          <p:cNvSpPr/>
          <p:nvPr/>
        </p:nvSpPr>
        <p:spPr>
          <a:xfrm>
            <a:off x="502920" y="49206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04870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работает уже месяц</a:t>
            </a:r>
            <a:r>
              <a:rPr sz="1500" b="1" i="0">
                <a:solidFill>
                  <a:srgbClr val="141B2E"/>
                </a:solidFill>
                <a:latin typeface="Arial"/>
              </a:rPr>
              <a:t> и всё это время считается надёжным — ни одной явной жалобы не было.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застраховаться от неверного решения о пороге</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прогнать несколько раз и взять большинство голосов</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110354"/>
          </a:xfrm>
          <a:prstGeom prst="roundRect">
            <a:avLst>
              <a:gd name="adj" fmla="val 74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0700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902118" y="1126236"/>
            <a:ext cx="37049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753405" y="1126236"/>
            <a:ext cx="4603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08303"/>
            <a:ext cx="2070014" cy="86563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написать правило яснее в промте</a:t>
            </a:r>
          </a:p>
        </p:txBody>
      </p:sp>
      <p:sp>
        <p:nvSpPr>
          <p:cNvPr id="8" name="TextBox 7"/>
          <p:cNvSpPr txBox="1"/>
          <p:nvPr/>
        </p:nvSpPr>
        <p:spPr>
          <a:xfrm>
            <a:off x="2902118" y="1408303"/>
            <a:ext cx="370498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снижает частоту ошибки — понятнее сформулированное правило модели легче соблюсти</a:t>
            </a:r>
          </a:p>
        </p:txBody>
      </p:sp>
      <p:sp>
        <p:nvSpPr>
          <p:cNvPr id="9" name="TextBox 8"/>
          <p:cNvSpPr txBox="1"/>
          <p:nvPr/>
        </p:nvSpPr>
        <p:spPr>
          <a:xfrm>
            <a:off x="6753405" y="1408303"/>
            <a:ext cx="460344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 устраняет её структурно: решение остаётся текстовым вызовом модели, и сколь угодно чёткая формулировка не гарантирует выполнения правила в каждом отдельном прогоне</a:t>
            </a:r>
          </a:p>
        </p:txBody>
      </p:sp>
      <p:cxnSp>
        <p:nvCxnSpPr>
          <p:cNvPr id="10" name="Connector 9"/>
          <p:cNvCxnSpPr/>
          <p:nvPr/>
        </p:nvCxnSpPr>
        <p:spPr>
          <a:xfrm>
            <a:off x="685800" y="22739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73935"/>
            <a:ext cx="2070014" cy="86563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дать модели инструмент-калькулятор</a:t>
            </a:r>
          </a:p>
        </p:txBody>
      </p:sp>
      <p:sp>
        <p:nvSpPr>
          <p:cNvPr id="12" name="TextBox 11"/>
          <p:cNvSpPr txBox="1"/>
          <p:nvPr/>
        </p:nvSpPr>
        <p:spPr>
          <a:xfrm>
            <a:off x="2902118" y="2273935"/>
            <a:ext cx="370498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делает лучше, чем просто текст: детерминированное сравнение сумм вне самой модели снижает её собственную арифметическую ошибку</a:t>
            </a:r>
          </a:p>
        </p:txBody>
      </p:sp>
      <p:sp>
        <p:nvSpPr>
          <p:cNvPr id="13" name="TextBox 12"/>
          <p:cNvSpPr txBox="1"/>
          <p:nvPr/>
        </p:nvSpPr>
        <p:spPr>
          <a:xfrm>
            <a:off x="6753405" y="2273935"/>
            <a:ext cx="460344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решение всё равно идёт через то, вызовет ли модель этот инструмент и правильно ли передаст туда значения — вероятность не исчезает, она перемещается на шаг раньше</a:t>
            </a:r>
          </a:p>
        </p:txBody>
      </p:sp>
      <p:cxnSp>
        <p:nvCxnSpPr>
          <p:cNvPr id="14" name="Connector 13"/>
          <p:cNvCxnSpPr/>
          <p:nvPr/>
        </p:nvCxnSpPr>
        <p:spPr>
          <a:xfrm>
            <a:off x="685800" y="31395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39567"/>
            <a:ext cx="2070014" cy="86563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поставить </a:t>
            </a:r>
            <a:r>
              <a:rPr sz="1200" b="1" i="0">
                <a:solidFill>
                  <a:srgbClr val="141B2E"/>
                </a:solidFill>
                <a:latin typeface="Consolas"/>
              </a:rPr>
              <a:t>IF</a:t>
            </a:r>
            <a:r>
              <a:rPr sz="1200" b="1" i="0">
                <a:solidFill>
                  <a:srgbClr val="141B2E"/>
                </a:solidFill>
                <a:latin typeface="Arial"/>
              </a:rPr>
              <a:t>-узел после извлечения суммы</a:t>
            </a:r>
          </a:p>
        </p:txBody>
      </p:sp>
      <p:sp>
        <p:nvSpPr>
          <p:cNvPr id="16" name="TextBox 15"/>
          <p:cNvSpPr txBox="1"/>
          <p:nvPr/>
        </p:nvSpPr>
        <p:spPr>
          <a:xfrm>
            <a:off x="2902118" y="3139567"/>
            <a:ext cx="370498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единственный вариант, который убирает вероятность из самой точки принятия решения: сравнение «сумма &gt; порога» становится условием в коде оркестратора</a:t>
            </a:r>
          </a:p>
        </p:txBody>
      </p:sp>
      <p:sp>
        <p:nvSpPr>
          <p:cNvPr id="17" name="TextBox 16"/>
          <p:cNvSpPr txBox="1"/>
          <p:nvPr/>
        </p:nvSpPr>
        <p:spPr>
          <a:xfrm>
            <a:off x="6753405" y="3139567"/>
            <a:ext cx="460344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ничего не делает с извлечением самой суммы из текста заявки — эта часть остаётся за моделью</a:t>
            </a:r>
          </a:p>
        </p:txBody>
      </p:sp>
      <p:cxnSp>
        <p:nvCxnSpPr>
          <p:cNvPr id="18" name="Connector 17"/>
          <p:cNvCxnSpPr/>
          <p:nvPr/>
        </p:nvCxnSpPr>
        <p:spPr>
          <a:xfrm>
            <a:off x="685800" y="4005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5198"/>
            <a:ext cx="2070014" cy="86563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прогнать несколько раз, взять большинство голосов</a:t>
            </a:r>
          </a:p>
        </p:txBody>
      </p:sp>
      <p:sp>
        <p:nvSpPr>
          <p:cNvPr id="20" name="TextBox 19"/>
          <p:cNvSpPr txBox="1"/>
          <p:nvPr/>
        </p:nvSpPr>
        <p:spPr>
          <a:xfrm>
            <a:off x="2902118" y="4005198"/>
            <a:ext cx="370498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помогает против случайного разброса в ответах модели — если в разных прогонах она отвечает по-разному на одну и ту же сумму</a:t>
            </a:r>
          </a:p>
        </p:txBody>
      </p:sp>
      <p:sp>
        <p:nvSpPr>
          <p:cNvPr id="21" name="TextBox 20"/>
          <p:cNvSpPr txBox="1"/>
          <p:nvPr/>
        </p:nvSpPr>
        <p:spPr>
          <a:xfrm>
            <a:off x="6753405" y="4005198"/>
            <a:ext cx="460344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 помогает, если модель раз за разом </a:t>
            </a:r>
            <a:r>
              <a:rPr sz="1200" b="1" i="0">
                <a:solidFill>
                  <a:srgbClr val="141B2E"/>
                </a:solidFill>
                <a:latin typeface="Arial"/>
              </a:rPr>
              <a:t>одинаково</a:t>
            </a:r>
            <a:r>
              <a:rPr sz="1200" b="0" i="0">
                <a:solidFill>
                  <a:srgbClr val="141B2E"/>
                </a:solidFill>
                <a:latin typeface="Arial"/>
              </a:rPr>
              <a:t> неверно трактует саму границу условия — голосование просто размножает ту же интерпретацию в несколько раз дороже, не исправляя её</a:t>
            </a:r>
          </a:p>
        </p:txBody>
      </p:sp>
      <p:sp>
        <p:nvSpPr>
          <p:cNvPr id="22" name="Rounded Rectangle 21"/>
          <p:cNvSpPr/>
          <p:nvPr/>
        </p:nvSpPr>
        <p:spPr>
          <a:xfrm>
            <a:off x="502920" y="5218302"/>
            <a:ext cx="11183112" cy="81381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5355462"/>
            <a:ext cx="10707624" cy="539495"/>
          </a:xfrm>
          <a:prstGeom prst="rect">
            <a:avLst/>
          </a:prstGeom>
          <a:noFill/>
        </p:spPr>
        <p:txBody>
          <a:bodyPr wrap="square" lIns="0" rIns="0" tIns="0" bIns="0" anchor="ctr">
            <a:spAutoFit/>
          </a:bodyPr>
          <a:lstStyle/>
          <a:p>
            <a:pPr algn="l">
              <a:lnSpc>
                <a:spcPts val="1416"/>
              </a:lnSpc>
              <a:spcAft>
                <a:spcPts val="300"/>
              </a:spcAft>
            </a:pPr>
            <a:r>
              <a:rPr sz="1200" b="1" i="1">
                <a:solidFill>
                  <a:srgbClr val="6B7685"/>
                </a:solidFill>
                <a:latin typeface="Arial"/>
              </a:rPr>
              <a:t>Пока рассуждение, не измерение.</a:t>
            </a:r>
            <a:r>
              <a:rPr sz="1200" b="0" i="1">
                <a:solidFill>
                  <a:srgbClr val="6B7685"/>
                </a:solidFill>
                <a:latin typeface="Arial"/>
              </a:rPr>
              <a:t> Какое из этих четырёх действий на самом деле нужно — зависит от того, какая у правила ошибка: случайный разброс ответов или одна и та же неверная трактовка границы каждый раз. Это разные болезни и разные лечения. Проверим, какая это ошибка, на следующем экране.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версии 1 на практике</a:t>
            </a:r>
          </a:p>
        </p:txBody>
      </p:sp>
      <p:sp>
        <p:nvSpPr>
          <p:cNvPr id="3" name="Rounded Rectangle 2"/>
          <p:cNvSpPr/>
          <p:nvPr/>
        </p:nvSpPr>
        <p:spPr>
          <a:xfrm>
            <a:off x="502920" y="146273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9075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Эксперимент.</a:t>
            </a:r>
            <a:r>
              <a:rPr sz="1500" b="1" i="0">
                <a:solidFill>
                  <a:srgbClr val="141B2E"/>
                </a:solidFill>
                <a:latin typeface="Arial"/>
              </a:rPr>
              <a:t> 51 запрос на возврат — 50 заготовленных сумм вокруг и выше порога в 3000₽ плюс один ручной тест — прогнали через версию 1 настоящими выполнениями на стенде.</a:t>
            </a:r>
          </a:p>
        </p:txBody>
      </p:sp>
      <p:sp>
        <p:nvSpPr>
          <p:cNvPr id="5" name="Rounded Rectangle 4"/>
          <p:cNvSpPr/>
          <p:nvPr/>
        </p:nvSpPr>
        <p:spPr>
          <a:xfrm>
            <a:off x="502920" y="2877007"/>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05023"/>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 3 ошибки из 51</a:t>
            </a:r>
          </a:p>
          <a:p>
            <a:pPr algn="l">
              <a:lnSpc>
                <a:spcPts val="1860"/>
              </a:lnSpc>
              <a:spcAft>
                <a:spcPts val="300"/>
              </a:spcAft>
            </a:pPr>
            <a:r>
              <a:rPr sz="1500" b="1" i="0">
                <a:solidFill>
                  <a:srgbClr val="141B2E"/>
                </a:solidFill>
                <a:latin typeface="Arial"/>
              </a:rPr>
              <a:t>и все три — на сумме, РОВНО равной порогу (3000₽)</a:t>
            </a:r>
          </a:p>
        </p:txBody>
      </p:sp>
      <p:sp>
        <p:nvSpPr>
          <p:cNvPr id="7" name="Rounded Rectangle 6"/>
          <p:cNvSpPr/>
          <p:nvPr/>
        </p:nvSpPr>
        <p:spPr>
          <a:xfrm>
            <a:off x="502920" y="432937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45739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любой сумме строго выше порога модель эскалирует верно — 0 ошибок. На любой сумме строго ниже порога модель одобряет верно — 0 ошибок. Ошибка не разбросана по диапазону — она сидит в одной точке: там, где текст правила («не больше 3000») и его формальная трактовка («3000 — это уже больше или ещё нет?») расходятся.</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условие вместо текстового правила</a:t>
            </a:r>
          </a:p>
        </p:txBody>
      </p:sp>
      <p:sp>
        <p:nvSpPr>
          <p:cNvPr id="3" name="Rounded Rectangle 2"/>
          <p:cNvSpPr/>
          <p:nvPr/>
        </p:nvSpPr>
        <p:spPr>
          <a:xfrm>
            <a:off x="502920" y="157246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70047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2 — прямой ответ на находку эксперимента</a:t>
            </a:r>
            <a:r>
              <a:rPr sz="1500" b="1" i="0">
                <a:solidFill>
                  <a:srgbClr val="141B2E"/>
                </a:solidFill>
                <a:latin typeface="Arial"/>
              </a:rPr>
              <a:t>, не параллельное решение, собранное на всякий случай.</a:t>
            </a:r>
          </a:p>
        </p:txBody>
      </p:sp>
      <p:sp>
        <p:nvSpPr>
          <p:cNvPr id="5" name="Rounded Rectangle 4"/>
          <p:cNvSpPr/>
          <p:nvPr/>
        </p:nvSpPr>
        <p:spPr>
          <a:xfrm>
            <a:off x="502920" y="298673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1475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Было (версия 1).</a:t>
            </a:r>
            <a:r>
              <a:rPr sz="1500" b="1" i="0">
                <a:solidFill>
                  <a:srgbClr val="141B2E"/>
                </a:solidFill>
                <a:latin typeface="Arial"/>
              </a:rPr>
              <a:t> Модель читает текст правила и сама решает, укладывается сумма в порог или нет.</a:t>
            </a:r>
          </a:p>
        </p:txBody>
      </p:sp>
      <p:sp>
        <p:nvSpPr>
          <p:cNvPr id="7" name="Rounded Rectangle 6"/>
          <p:cNvSpPr/>
          <p:nvPr/>
        </p:nvSpPr>
        <p:spPr>
          <a:xfrm>
            <a:off x="502920" y="416478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9280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Стало (версия 2).</a:t>
            </a:r>
            <a:r>
              <a:rPr sz="1500" b="1" i="0">
                <a:solidFill>
                  <a:srgbClr val="141B2E"/>
                </a:solidFill>
                <a:latin typeface="Arial"/>
              </a:rPr>
              <a:t> Сумма — уже структурированное значение (число), а не фраза, которую нужно интерпретировать. Критерий «больше порога или нет» выражается как условие в коде оркестратора. Модель остаётся на своём месте — извлечении суммы из текста заявки, — просто больше не стоит в точке принятия решения о пороге.</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Узел сравнения с порогом в процессе</a:t>
            </a:r>
          </a:p>
        </p:txBody>
      </p:sp>
      <p:sp>
        <p:nvSpPr>
          <p:cNvPr id="3" name="Rounded Rectangle 2"/>
          <p:cNvSpPr/>
          <p:nvPr/>
        </p:nvSpPr>
        <p:spPr>
          <a:xfrm>
            <a:off x="502920" y="147797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извлечения суммы</a:t>
            </a:r>
            <a:r>
              <a:rPr sz="1500" b="1" i="0">
                <a:solidFill>
                  <a:srgbClr val="141B2E"/>
                </a:solidFill>
                <a:latin typeface="Arial"/>
              </a:rPr>
              <a:t> — тот же, что в версии 1: читает текст заявки и достаёт из него число — сумму запроса в рублях. Без изменений.</a:t>
            </a:r>
          </a:p>
        </p:txBody>
      </p:sp>
      <p:sp>
        <p:nvSpPr>
          <p:cNvPr id="5" name="Rounded Rectangle 4"/>
          <p:cNvSpPr/>
          <p:nvPr/>
        </p:nvSpPr>
        <p:spPr>
          <a:xfrm>
            <a:off x="502920" y="289224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2026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сравнения с порогом.</a:t>
            </a:r>
            <a:r>
              <a:rPr sz="1500" b="1" i="0">
                <a:solidFill>
                  <a:srgbClr val="141B2E"/>
                </a:solidFill>
                <a:latin typeface="Arial"/>
              </a:rPr>
              <a:t> Условие: извлечённая сумма — </a:t>
            </a:r>
            <a:r>
              <a:rPr sz="1500" b="1" i="0">
                <a:solidFill>
                  <a:srgbClr val="141B2E"/>
                </a:solidFill>
                <a:latin typeface="Arial"/>
              </a:rPr>
              <a:t>строго больше</a:t>
            </a:r>
            <a:r>
              <a:rPr sz="1500" b="1" i="0">
                <a:solidFill>
                  <a:srgbClr val="141B2E"/>
                </a:solidFill>
                <a:latin typeface="Arial"/>
              </a:rPr>
              <a:t> — </a:t>
            </a:r>
            <a:r>
              <a:rPr sz="1500" b="1" i="0">
                <a:solidFill>
                  <a:srgbClr val="141B2E"/>
                </a:solidFill>
                <a:latin typeface="Arial"/>
              </a:rPr>
              <a:t>3000</a:t>
            </a:r>
            <a:r>
              <a:rPr sz="1500" b="1" i="0">
                <a:solidFill>
                  <a:srgbClr val="141B2E"/>
                </a:solidFill>
                <a:latin typeface="Arial"/>
              </a:rPr>
              <a:t>. Тип значения — число, сравнение строгое (включённый режим точной проверки типа, не текстовое сопоставление). Две ветки на выходе: «больше порога» → эскалировать руководителю, «не больше» → одобрить самостоятельно.</a:t>
            </a:r>
          </a:p>
        </p:txBody>
      </p:sp>
      <p:sp>
        <p:nvSpPr>
          <p:cNvPr id="7" name="Rounded Rectangle 6"/>
          <p:cNvSpPr/>
          <p:nvPr/>
        </p:nvSpPr>
        <p:spPr>
          <a:xfrm>
            <a:off x="502920" y="47789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9069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3000 здесь — число в поле условия, а не слово в тексте. Сравнению всё равно, как сформулирован текст правила: число либо больше порога, либо нет.</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и версия 2 на одном и том же тесте</a:t>
            </a:r>
          </a:p>
        </p:txBody>
      </p:sp>
      <p:sp>
        <p:nvSpPr>
          <p:cNvPr id="3" name="Rounded Rectangle 2"/>
          <p:cNvSpPr/>
          <p:nvPr/>
        </p:nvSpPr>
        <p:spPr>
          <a:xfrm>
            <a:off x="502920" y="1709597"/>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2477"/>
            <a:ext cx="15719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404019" y="1892477"/>
            <a:ext cx="45816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7131936" y="1892477"/>
            <a:ext cx="42249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(УЗЕЛ СРАВНЕНИЯ)</a:t>
            </a:r>
          </a:p>
        </p:txBody>
      </p:sp>
      <p:sp>
        <p:nvSpPr>
          <p:cNvPr id="7" name="TextBox 6"/>
          <p:cNvSpPr txBox="1"/>
          <p:nvPr/>
        </p:nvSpPr>
        <p:spPr>
          <a:xfrm>
            <a:off x="685800" y="2174544"/>
            <a:ext cx="157191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51 запросе</a:t>
            </a:r>
          </a:p>
        </p:txBody>
      </p:sp>
      <p:sp>
        <p:nvSpPr>
          <p:cNvPr id="8" name="TextBox 7"/>
          <p:cNvSpPr txBox="1"/>
          <p:nvPr/>
        </p:nvSpPr>
        <p:spPr>
          <a:xfrm>
            <a:off x="2404019" y="2174544"/>
            <a:ext cx="458161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r>
              <a:rPr sz="1250" b="0" i="0">
                <a:solidFill>
                  <a:srgbClr val="141B2E"/>
                </a:solidFill>
                <a:latin typeface="Arial"/>
              </a:rPr>
              <a:t> — все три на сумме 3000₽</a:t>
            </a:r>
          </a:p>
        </p:txBody>
      </p:sp>
      <p:sp>
        <p:nvSpPr>
          <p:cNvPr id="9" name="TextBox 8"/>
          <p:cNvSpPr txBox="1"/>
          <p:nvPr/>
        </p:nvSpPr>
        <p:spPr>
          <a:xfrm>
            <a:off x="7131936" y="2174544"/>
            <a:ext cx="42249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2704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04261"/>
            <a:ext cx="157191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(сумма = 3000₽)</a:t>
            </a:r>
          </a:p>
        </p:txBody>
      </p:sp>
      <p:sp>
        <p:nvSpPr>
          <p:cNvPr id="12" name="TextBox 11"/>
          <p:cNvSpPr txBox="1"/>
          <p:nvPr/>
        </p:nvSpPr>
        <p:spPr>
          <a:xfrm>
            <a:off x="2404019" y="2704261"/>
            <a:ext cx="45816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решает «эскалировать», хотя правило подразумевает «можно одобрить»</a:t>
            </a:r>
          </a:p>
        </p:txBody>
      </p:sp>
      <p:sp>
        <p:nvSpPr>
          <p:cNvPr id="13" name="TextBox 12"/>
          <p:cNvSpPr txBox="1"/>
          <p:nvPr/>
        </p:nvSpPr>
        <p:spPr>
          <a:xfrm>
            <a:off x="7131936" y="2704261"/>
            <a:ext cx="422491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решает «одобрить» — условие «строго больше 3000» не допускает двойного толкования</a:t>
            </a:r>
          </a:p>
        </p:txBody>
      </p:sp>
      <p:cxnSp>
        <p:nvCxnSpPr>
          <p:cNvPr id="14" name="Connector 13"/>
          <p:cNvCxnSpPr/>
          <p:nvPr/>
        </p:nvCxnSpPr>
        <p:spPr>
          <a:xfrm>
            <a:off x="685800" y="32339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33978"/>
            <a:ext cx="1571915"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404019" y="3233978"/>
            <a:ext cx="458161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эскалирует/одобряет верно во всех случаях</a:t>
            </a:r>
          </a:p>
        </p:txBody>
      </p:sp>
      <p:sp>
        <p:nvSpPr>
          <p:cNvPr id="17" name="TextBox 16"/>
          <p:cNvSpPr txBox="1"/>
          <p:nvPr/>
        </p:nvSpPr>
        <p:spPr>
          <a:xfrm>
            <a:off x="7131936" y="3233978"/>
            <a:ext cx="42249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эскалирует/одобряет верно во всех случаях</a:t>
            </a:r>
          </a:p>
        </p:txBody>
      </p:sp>
      <p:sp>
        <p:nvSpPr>
          <p:cNvPr id="18" name="Rounded Rectangle 17"/>
          <p:cNvSpPr/>
          <p:nvPr/>
        </p:nvSpPr>
        <p:spPr>
          <a:xfrm>
            <a:off x="502920" y="443152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5954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Вне границы обе версии не различить. Разница — ровно в одной точке, и это та же точка, которую нашёл эксперимент на предыдущих экранах.</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условие над числом — не для модели</a:t>
            </a:r>
          </a:p>
        </p:txBody>
      </p:sp>
      <p:sp>
        <p:nvSpPr>
          <p:cNvPr id="3" name="Rounded Rectangle 2"/>
          <p:cNvSpPr/>
          <p:nvPr/>
        </p:nvSpPr>
        <p:spPr>
          <a:xfrm>
            <a:off x="502920" y="10864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144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тезис, что уже предъявлен в кейсах «Уведомления» и «Проверка на повтор». Разница здесь — число на 51 попытке, а не рассуждение и не одно наблюдение.</a:t>
            </a:r>
          </a:p>
        </p:txBody>
      </p:sp>
      <p:sp>
        <p:nvSpPr>
          <p:cNvPr id="5" name="Rounded Rectangle 4"/>
          <p:cNvSpPr/>
          <p:nvPr/>
        </p:nvSpPr>
        <p:spPr>
          <a:xfrm>
            <a:off x="502920" y="235557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8358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Число говорит точнее, чем «модель иногда ошибается».</a:t>
            </a:r>
            <a:r>
              <a:rPr sz="1500" b="1" i="0">
                <a:solidFill>
                  <a:srgbClr val="141B2E"/>
                </a:solidFill>
                <a:latin typeface="Arial"/>
              </a:rPr>
              <a:t> Оно говорит: модель систематически промахивается именно на границе условия, там, где текст правила и его формальная трактовка расходятся — а в остальном диапазоне ведёт себя безупречно.</a:t>
            </a:r>
          </a:p>
        </p:txBody>
      </p:sp>
      <p:sp>
        <p:nvSpPr>
          <p:cNvPr id="7" name="Rounded Rectangle 6"/>
          <p:cNvSpPr/>
          <p:nvPr/>
        </p:nvSpPr>
        <p:spPr>
          <a:xfrm>
            <a:off x="502920" y="38609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889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хуже случайного шума.</a:t>
            </a:r>
            <a:r>
              <a:rPr sz="1500" b="1" i="0">
                <a:solidFill>
                  <a:srgbClr val="141B2E"/>
                </a:solidFill>
                <a:latin typeface="Arial"/>
              </a:rPr>
              <a:t> Случайную ошибку снижают повторами и усреднением. Системную ошибку на границе — нет: она повторится на этой же границе каждый раз.</a:t>
            </a:r>
          </a:p>
        </p:txBody>
      </p:sp>
      <p:sp>
        <p:nvSpPr>
          <p:cNvPr id="9" name="Rounded Rectangle 8"/>
          <p:cNvSpPr/>
          <p:nvPr/>
        </p:nvSpPr>
        <p:spPr>
          <a:xfrm>
            <a:off x="502920" y="513001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25802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не задача модели в точке принятия решения, даже если модель уже участвует в цепочке раньше. Граничные значения условия — первое, что надо проверить прогоном, а не предположить по тексту правила.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грабли вокруг решения</a:t>
            </a:r>
          </a:p>
        </p:txBody>
      </p:sp>
      <p:sp>
        <p:nvSpPr>
          <p:cNvPr id="3" name="Rounded Rectangle 2"/>
          <p:cNvSpPr/>
          <p:nvPr/>
        </p:nvSpPr>
        <p:spPr>
          <a:xfrm>
            <a:off x="502920" y="106669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71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 Инструмент-калькулятор у модели — не гарантия.</a:t>
            </a:r>
            <a:r>
              <a:rPr sz="1500" b="1" i="0">
                <a:solidFill>
                  <a:srgbClr val="141B2E"/>
                </a:solidFill>
                <a:latin typeface="Arial"/>
              </a:rPr>
              <a:t> Даже когда модели подключён инструмент сравнения чисел, нет гарантии, что она решит его вызвать в конкретном прогоне или передаст туда правильно считанные значения. Надёжность решения всё равно идёт через то, вызвала ли модель инструмент и как интерпретировала результат — вероятность не исчезла, она переместилась на шаг раньше, а не пропала.</a:t>
            </a:r>
          </a:p>
        </p:txBody>
      </p:sp>
      <p:sp>
        <p:nvSpPr>
          <p:cNvPr id="5" name="Rounded Rectangle 4"/>
          <p:cNvSpPr/>
          <p:nvPr/>
        </p:nvSpPr>
        <p:spPr>
          <a:xfrm>
            <a:off x="502920" y="299506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2308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2. Порог должен жить в одном месте.</a:t>
            </a:r>
            <a:r>
              <a:rPr sz="1500" b="1" i="0">
                <a:solidFill>
                  <a:srgbClr val="141B2E"/>
                </a:solidFill>
                <a:latin typeface="Arial"/>
              </a:rPr>
              <a:t> Если число 3000 хранится отдельно в промпте версии 1 и в условии узла сравнения версии 2, расхождение этих двух копий одного порога — тот же класс проблемы, что рвущийся контракт между любыми двумя шагами цепочки: число должно иметь одно место хранения, а не два, которые надеются совпадать.</a:t>
            </a:r>
          </a:p>
        </p:txBody>
      </p:sp>
      <p:sp>
        <p:nvSpPr>
          <p:cNvPr id="7" name="Rounded Rectangle 6"/>
          <p:cNvSpPr/>
          <p:nvPr/>
        </p:nvSpPr>
        <p:spPr>
          <a:xfrm>
            <a:off x="502920" y="4687214"/>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15230"/>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3. Извлечение суммы — тоже задача модели, и она тоже может ошибиться.</a:t>
            </a:r>
            <a:r>
              <a:rPr sz="1500" b="1" i="0">
                <a:solidFill>
                  <a:srgbClr val="141B2E"/>
                </a:solidFill>
                <a:latin typeface="Arial"/>
              </a:rPr>
              <a:t> Обобщение не значит «модель нигде не нужна в этом кейсе» — оно значит «модель не должна быть точкой решения». Извлечение суммы из свободного текста заявки остаётся задачей, где текст нужно понять, и это ровно та часть, где модель уместна — и где её собственная ошибка возможна и требует отдельной проверки.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обязано быть кодом</a:t>
            </a:r>
          </a:p>
        </p:txBody>
      </p:sp>
      <p:sp>
        <p:nvSpPr>
          <p:cNvPr id="3" name="Rounded Rectangle 2"/>
          <p:cNvSpPr/>
          <p:nvPr/>
        </p:nvSpPr>
        <p:spPr>
          <a:xfrm>
            <a:off x="502920" y="1748383"/>
            <a:ext cx="5454396" cy="1721231"/>
          </a:xfrm>
          <a:prstGeom prst="roundRect">
            <a:avLst>
              <a:gd name="adj" fmla="val 1770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58111"/>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ОБЯЗАНО БЫТЬ КОДОМ</a:t>
            </a:r>
          </a:p>
        </p:txBody>
      </p:sp>
      <p:sp>
        <p:nvSpPr>
          <p:cNvPr id="5" name="TextBox 4"/>
          <p:cNvSpPr txBox="1"/>
          <p:nvPr/>
        </p:nvSpPr>
        <p:spPr>
          <a:xfrm>
            <a:off x="685800" y="213243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критерий — сумма, дата, принадлежность готовому списку: значение уже структурировано, сравнение формализуется как условие</a:t>
            </a:r>
          </a:p>
        </p:txBody>
      </p:sp>
      <p:cxnSp>
        <p:nvCxnSpPr>
          <p:cNvPr id="6" name="Connector 5"/>
          <p:cNvCxnSpPr/>
          <p:nvPr/>
        </p:nvCxnSpPr>
        <p:spPr>
          <a:xfrm>
            <a:off x="685800" y="27957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7957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граничное значение условия поддаётся прямой проверке прогоном</a:t>
            </a:r>
          </a:p>
        </p:txBody>
      </p:sp>
      <p:sp>
        <p:nvSpPr>
          <p:cNvPr id="8" name="Rounded Rectangle 7"/>
          <p:cNvSpPr/>
          <p:nvPr/>
        </p:nvSpPr>
        <p:spPr>
          <a:xfrm>
            <a:off x="6231636" y="1748383"/>
            <a:ext cx="5454396" cy="1721231"/>
          </a:xfrm>
          <a:prstGeom prst="roundRect">
            <a:avLst>
              <a:gd name="adj" fmla="val 1770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858111"/>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МОДЕЛЬ В ТОЧКЕ РЕШЕНИЯ ДОПУСТИМА</a:t>
            </a:r>
          </a:p>
        </p:txBody>
      </p:sp>
      <p:sp>
        <p:nvSpPr>
          <p:cNvPr id="10" name="TextBox 9"/>
          <p:cNvSpPr txBox="1"/>
          <p:nvPr/>
        </p:nvSpPr>
        <p:spPr>
          <a:xfrm>
            <a:off x="6414516" y="213243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критерий принципиально не формализуется как условие — оценка тона, намерения, нестандартной формулировки без явного числового порога</a:t>
            </a:r>
          </a:p>
        </p:txBody>
      </p:sp>
      <p:cxnSp>
        <p:nvCxnSpPr>
          <p:cNvPr id="11" name="Connector 10"/>
          <p:cNvCxnSpPr/>
          <p:nvPr/>
        </p:nvCxnSpPr>
        <p:spPr>
          <a:xfrm>
            <a:off x="6414516" y="27957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27957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границы нет единственно верного ответа, который можно было бы измерить прогоном</a:t>
            </a:r>
          </a:p>
        </p:txBody>
      </p:sp>
      <p:sp>
        <p:nvSpPr>
          <p:cNvPr id="13" name="Rounded Rectangle 12"/>
          <p:cNvSpPr/>
          <p:nvPr/>
        </p:nvSpPr>
        <p:spPr>
          <a:xfrm>
            <a:off x="502920" y="413712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26514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Третья строка оси занятия закрыта.</a:t>
            </a:r>
            <a:r>
              <a:rPr sz="1500" b="1" i="0">
                <a:solidFill>
                  <a:srgbClr val="141B2E"/>
                </a:solidFill>
                <a:latin typeface="Arial"/>
              </a:rPr>
              <a:t> «В промте написано «не возвращай больше суммы X»» → чем оказался: решение вероятностное — модель обходит правило в измеренной доле прогонов, алгоритмический гейт — никогда.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10332720"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489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2489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6" name="TextBox 5"/>
          <p:cNvSpPr txBox="1"/>
          <p:nvPr/>
        </p:nvSpPr>
        <p:spPr>
          <a:xfrm>
            <a:off x="1536192" y="114300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Zillow Offers: алгоритмическая закупка жилья</a:t>
            </a:r>
          </a:p>
        </p:txBody>
      </p:sp>
      <p:sp>
        <p:nvSpPr>
          <p:cNvPr id="7" name="TextBox 6"/>
          <p:cNvSpPr txBox="1"/>
          <p:nvPr/>
        </p:nvSpPr>
        <p:spPr>
          <a:xfrm>
            <a:off x="822960" y="2360676"/>
            <a:ext cx="9509760" cy="481380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a:t>
            </a:r>
          </a:p>
          <a:p>
            <a:pPr algn="l">
              <a:lnSpc>
                <a:spcPts val="2244"/>
              </a:lnSpc>
              <a:spcAft>
                <a:spcPts val="400"/>
              </a:spcAft>
            </a:pPr>
            <a:r>
              <a:rPr sz="1700" b="0" i="1">
                <a:solidFill>
                  <a:srgbClr val="D6E2EC"/>
                </a:solidFill>
                <a:latin typeface="Arial"/>
              </a:rPr>
              <a:t>— Рич Бартон, CEO Zillow, 2 ноября 2021 года, объявляя закрытие бизнеса Zillow Offers</a:t>
            </a:r>
          </a:p>
          <a:p>
            <a:pPr algn="l">
              <a:lnSpc>
                <a:spcPts val="2244"/>
              </a:lnSpc>
              <a:spcAft>
                <a:spcPts val="400"/>
              </a:spcAft>
            </a:pPr>
            <a:r>
              <a:rPr sz="1700" b="0" i="1">
                <a:solidFill>
                  <a:srgbClr val="D6E2EC"/>
                </a:solidFill>
                <a:latin typeface="Arial"/>
              </a:rPr>
              <a:t>Списание запасов — $304,4 млн за 3-й квартал 2021 года, по итогам всего года — $407,9 млн (форма 10-K для SEC). Сокращение штата — ~25%, это ~2000 человек. В том же</a:t>
            </a:r>
          </a:p>
          <a:p>
            <a:pPr algn="l">
              <a:lnSpc>
                <a:spcPts val="2244"/>
              </a:lnSpc>
              <a:spcAft>
                <a:spcPts val="400"/>
              </a:spcAft>
            </a:pPr>
            <a:r>
              <a:rPr sz="1700" b="0" i="1">
                <a:solidFill>
                  <a:srgbClr val="D6E2EC"/>
                </a:solidFill>
                <a:latin typeface="Arial"/>
              </a:rPr>
              <a:t>квартале Zillow купила 9680 домов, продать успела лишь 3032 — средний убыток на</a:t>
            </a:r>
          </a:p>
          <a:p>
            <a:pPr algn="l">
              <a:lnSpc>
                <a:spcPts val="2244"/>
              </a:lnSpc>
              <a:spcAft>
                <a:spcPts val="400"/>
              </a:spcAft>
            </a:pPr>
            <a:r>
              <a:rPr sz="1700" b="0" i="1">
                <a:solidFill>
                  <a:srgbClr val="D6E2EC"/>
                </a:solidFill>
                <a:latin typeface="Arial"/>
              </a:rPr>
              <a:t>каждый проданный дом составил ~$80 000.</a:t>
            </a:r>
          </a:p>
          <a:p>
            <a:pPr algn="l">
              <a:lnSpc>
                <a:spcPts val="2244"/>
              </a:lnSpc>
              <a:spcAft>
                <a:spcPts val="400"/>
              </a:spcAft>
            </a:pPr>
            <a:r>
              <a:rPr sz="1700" b="0" i="1">
                <a:solidFill>
                  <a:srgbClr val="D6E2EC"/>
                </a:solidFill>
                <a:latin typeface="Arial"/>
              </a:rPr>
              <a:t>Zillow Offers (iBuying) покупала дома по алгоритмической оценке Zestimate и быстро перепродавала. Цифры — не иллюстрация к тезису, а масштаб одного и того же порога решения, который мы только что разобрали на одном возврате клиенту.</a:t>
            </a:r>
          </a:p>
        </p:txBody>
      </p:sp>
      <p:sp>
        <p:nvSpPr>
          <p:cNvPr id="8" name="Rounded Rectangle 7"/>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60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92778" y="1201166"/>
            <a:ext cx="23922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31347" y="1201166"/>
            <a:ext cx="5725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92778" y="1483233"/>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31347" y="1483233"/>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92778" y="2195512"/>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31347" y="2195512"/>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окно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92778" y="3090354"/>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31347" y="3090354"/>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92778" y="3985196"/>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31347" y="3985196"/>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окна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sp>
        <p:nvSpPr>
          <p:cNvPr id="3" name="Rounded Rectangle 2"/>
          <p:cNvSpPr/>
          <p:nvPr/>
        </p:nvSpPr>
        <p:spPr>
          <a:xfrm>
            <a:off x="502920" y="15189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4693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Алгоритмическая оценка как вход, не как решение.</a:t>
            </a:r>
            <a:r>
              <a:rPr sz="1500" b="1" i="0">
                <a:solidFill>
                  <a:srgbClr val="141B2E"/>
                </a:solidFill>
                <a:latin typeface="Arial"/>
              </a:rPr>
              <a:t> Покупка дома выше определённого порога суммы риска требует финального решения человека-андеррайтера — именно в точке принятия решения, а не постфактум.</a:t>
            </a:r>
          </a:p>
        </p:txBody>
      </p:sp>
      <p:sp>
        <p:nvSpPr>
          <p:cNvPr id="5" name="Rounded Rectangle 4"/>
          <p:cNvSpPr/>
          <p:nvPr/>
        </p:nvSpPr>
        <p:spPr>
          <a:xfrm>
            <a:off x="502920" y="316433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29234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Явный circuit breaker.</a:t>
            </a:r>
            <a:r>
              <a:rPr sz="1500" b="1" i="0">
                <a:solidFill>
                  <a:srgbClr val="141B2E"/>
                </a:solidFill>
                <a:latin typeface="Arial"/>
              </a:rPr>
              <a:t> Порог отклонения фактической цены продажи от прогнозной, проверяемый еженедельно или чаще — не поквартально. Превышение порога останавливает автоматическую закупку по сегменту до ручной проверки.</a:t>
            </a:r>
          </a:p>
        </p:txBody>
      </p:sp>
      <p:sp>
        <p:nvSpPr>
          <p:cNvPr id="7" name="Rounded Rectangle 6"/>
          <p:cNvSpPr/>
          <p:nvPr/>
        </p:nvSpPr>
        <p:spPr>
          <a:xfrm>
            <a:off x="502920" y="4809744"/>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937759"/>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мысль, что в «Одобрении возврата», на другом масштабе условия.</a:t>
            </a:r>
            <a:r>
              <a:rPr sz="1500" b="1" i="0">
                <a:solidFill>
                  <a:srgbClr val="141B2E"/>
                </a:solidFill>
                <a:latin typeface="Arial"/>
              </a:rPr>
              <a:t> Там решение заменили детерминированным условием над структурированным значением — суммой. Здесь условие — над суммой риска и над отклонением цены, и масштаб цены пропуска — не разговор с клиентом, а реализованный убыток в сотни миллионов.</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короткое окно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Карточка в Telegram</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Журнал прогона — зелёный, узел отправки вернул успешный ответ. У координатора в Telegram — ничего не пришло.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8567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36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2239035"/>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58491"/>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45849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319344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19344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372607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72607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425871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5871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52811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4092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Цена, которую не видно в журнале.</a:t>
            </a:r>
            <a:r>
              <a:rPr sz="15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обработать картинку, которая может оказаться больше лимита</a:t>
            </a:r>
          </a:p>
        </p:txBody>
      </p:sp>
      <p:sp>
        <p:nvSpPr>
          <p:cNvPr id="3" name="Rounded Rectangle 2"/>
          <p:cNvSpPr/>
          <p:nvPr/>
        </p:nvSpPr>
        <p:spPr>
          <a:xfrm>
            <a:off x="502920" y="230124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42925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обработать картинку, которая может оказаться больше лимита?</a:t>
            </a:r>
          </a:p>
        </p:txBody>
      </p:sp>
      <p:sp>
        <p:nvSpPr>
          <p:cNvPr id="5" name="Rounded Rectangle 4"/>
          <p:cNvSpPr/>
          <p:nvPr/>
        </p:nvSpPr>
        <p:spPr>
          <a:xfrm>
            <a:off x="502920" y="3791712"/>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791712"/>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то, что n8n сама подрежет картинку перед отправкой</a:t>
            </a:r>
          </a:p>
        </p:txBody>
      </p:sp>
      <p:sp>
        <p:nvSpPr>
          <p:cNvPr id="7" name="Rounded Rectangle 6"/>
          <p:cNvSpPr/>
          <p:nvPr/>
        </p:nvSpPr>
        <p:spPr>
          <a:xfrm>
            <a:off x="3335274" y="3791712"/>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791712"/>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узел, который вернёт явную ошибку о превышении размера</a:t>
            </a:r>
          </a:p>
        </p:txBody>
      </p:sp>
      <p:sp>
        <p:nvSpPr>
          <p:cNvPr id="9" name="Rounded Rectangle 8"/>
          <p:cNvSpPr/>
          <p:nvPr/>
        </p:nvSpPr>
        <p:spPr>
          <a:xfrm>
            <a:off x="6167628" y="3791712"/>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791712"/>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менять — прогон всё равно останется зелёным, и это достаточный сигнал</a:t>
            </a:r>
          </a:p>
        </p:txBody>
      </p:sp>
      <p:sp>
        <p:nvSpPr>
          <p:cNvPr id="11" name="Rounded Rectangle 10"/>
          <p:cNvSpPr/>
          <p:nvPr/>
        </p:nvSpPr>
        <p:spPr>
          <a:xfrm>
            <a:off x="8999982" y="3791712"/>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791712"/>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переложить сжатие на сторону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вариант</a:t>
            </a:r>
          </a:p>
        </p:txBody>
      </p:sp>
      <p:sp>
        <p:nvSpPr>
          <p:cNvPr id="3" name="Rounded Rectangle 2"/>
          <p:cNvSpPr/>
          <p:nvPr/>
        </p:nvSpPr>
        <p:spPr>
          <a:xfrm>
            <a:off x="502920" y="943356"/>
            <a:ext cx="11183112" cy="4208907"/>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631956"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5" name="TextBox 4"/>
          <p:cNvSpPr txBox="1"/>
          <p:nvPr/>
        </p:nvSpPr>
        <p:spPr>
          <a:xfrm>
            <a:off x="2464060" y="1126236"/>
            <a:ext cx="879637"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ДЕЛАЕТ</a:t>
            </a:r>
          </a:p>
        </p:txBody>
      </p:sp>
      <p:sp>
        <p:nvSpPr>
          <p:cNvPr id="6" name="TextBox 5"/>
          <p:cNvSpPr txBox="1"/>
          <p:nvPr/>
        </p:nvSpPr>
        <p:spPr>
          <a:xfrm>
            <a:off x="3490002" y="1126236"/>
            <a:ext cx="786684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ЧЕГО НЕ ДЕЛАЕТ</a:t>
            </a:r>
          </a:p>
        </p:txBody>
      </p:sp>
      <p:sp>
        <p:nvSpPr>
          <p:cNvPr id="7" name="TextBox 6"/>
          <p:cNvSpPr txBox="1"/>
          <p:nvPr/>
        </p:nvSpPr>
        <p:spPr>
          <a:xfrm>
            <a:off x="685800" y="1550670"/>
            <a:ext cx="163195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положиться на автоматическое подрезание n8n</a:t>
            </a:r>
          </a:p>
        </p:txBody>
      </p:sp>
      <p:sp>
        <p:nvSpPr>
          <p:cNvPr id="8" name="TextBox 7"/>
          <p:cNvSpPr txBox="1"/>
          <p:nvPr/>
        </p:nvSpPr>
        <p:spPr>
          <a:xfrm>
            <a:off x="2464060" y="1550670"/>
            <a:ext cx="8796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a:t>
            </a:r>
          </a:p>
        </p:txBody>
      </p:sp>
      <p:sp>
        <p:nvSpPr>
          <p:cNvPr id="9" name="TextBox 8"/>
          <p:cNvSpPr txBox="1"/>
          <p:nvPr/>
        </p:nvSpPr>
        <p:spPr>
          <a:xfrm>
            <a:off x="3490002" y="1550670"/>
            <a:ext cx="786684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работает: n8n не производит автоматическое сжатие бинарных данных сама по себе; превышение лимита решает тот узел и тот API, через которые данные идут дальше, а не платформа за них</a:t>
            </a:r>
          </a:p>
        </p:txBody>
      </p:sp>
      <p:cxnSp>
        <p:nvCxnSpPr>
          <p:cNvPr id="10" name="Connector 9"/>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5319"/>
            <a:ext cx="1631956" cy="154476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добавить узел с явной ошибкой о превышении</a:t>
            </a:r>
          </a:p>
        </p:txBody>
      </p:sp>
      <p:sp>
        <p:nvSpPr>
          <p:cNvPr id="12" name="TextBox 11"/>
          <p:cNvSpPr txBox="1"/>
          <p:nvPr/>
        </p:nvSpPr>
        <p:spPr>
          <a:xfrm>
            <a:off x="2464060" y="2175319"/>
            <a:ext cx="879637" cy="154476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возвращает явный код ошибки, когда рубеж превышен именно там, где этот код виден</a:t>
            </a:r>
          </a:p>
        </p:txBody>
      </p:sp>
      <p:sp>
        <p:nvSpPr>
          <p:cNvPr id="13" name="TextBox 12"/>
          <p:cNvSpPr txBox="1"/>
          <p:nvPr/>
        </p:nvSpPr>
        <p:spPr>
          <a:xfrm>
            <a:off x="3490002" y="2175319"/>
            <a:ext cx="7866845" cy="154476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только отчасти: часть превышений возвращает явный ответ от API, а часть — нет, зависит от того, на каком именно рубеже превышен лимит — собственном payload limit n8n или отдельном лимите Telegram</a:t>
            </a:r>
          </a:p>
        </p:txBody>
      </p:sp>
      <p:cxnSp>
        <p:nvCxnSpPr>
          <p:cNvPr id="14" name="Connector 13"/>
          <p:cNvCxnSpPr/>
          <p:nvPr/>
        </p:nvCxnSpPr>
        <p:spPr>
          <a:xfrm>
            <a:off x="685800" y="37200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0084"/>
            <a:ext cx="163195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ничего не менять, прогон зелёный — достаточный сигнал</a:t>
            </a:r>
          </a:p>
        </p:txBody>
      </p:sp>
      <p:sp>
        <p:nvSpPr>
          <p:cNvPr id="16" name="TextBox 15"/>
          <p:cNvSpPr txBox="1"/>
          <p:nvPr/>
        </p:nvSpPr>
        <p:spPr>
          <a:xfrm>
            <a:off x="2464060" y="3720084"/>
            <a:ext cx="8796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a:t>
            </a:r>
          </a:p>
        </p:txBody>
      </p:sp>
      <p:sp>
        <p:nvSpPr>
          <p:cNvPr id="17" name="TextBox 16"/>
          <p:cNvSpPr txBox="1"/>
          <p:nvPr/>
        </p:nvSpPr>
        <p:spPr>
          <a:xfrm>
            <a:off x="3490002" y="3720084"/>
            <a:ext cx="786684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работает: именно эта тихая комбинация и произошла в сцене — узел технически отработал и вернул успешный ответ, а результат у получателя не совпал с ожиданием; зелёный статус проверяет, что шаг выполнился, не то, что получатель увидел результат</a:t>
            </a:r>
          </a:p>
        </p:txBody>
      </p:sp>
      <p:cxnSp>
        <p:nvCxnSpPr>
          <p:cNvPr id="18" name="Connector 17"/>
          <p:cNvCxnSpPr/>
          <p:nvPr/>
        </p:nvCxnSpPr>
        <p:spPr>
          <a:xfrm>
            <a:off x="685800" y="43447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344733"/>
            <a:ext cx="163195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переложить сжатие на сторону Telegram</a:t>
            </a:r>
          </a:p>
        </p:txBody>
      </p:sp>
      <p:sp>
        <p:nvSpPr>
          <p:cNvPr id="20" name="TextBox 19"/>
          <p:cNvSpPr txBox="1"/>
          <p:nvPr/>
        </p:nvSpPr>
        <p:spPr>
          <a:xfrm>
            <a:off x="2464060" y="4344733"/>
            <a:ext cx="8796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a:t>
            </a:r>
          </a:p>
        </p:txBody>
      </p:sp>
      <p:sp>
        <p:nvSpPr>
          <p:cNvPr id="21" name="TextBox 20"/>
          <p:cNvSpPr txBox="1"/>
          <p:nvPr/>
        </p:nvSpPr>
        <p:spPr>
          <a:xfrm>
            <a:off x="3490002" y="4344733"/>
            <a:ext cx="786684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работает надёжно: у Telegram свои лимиты на размер и формат, разные для фото и для документа, но ответственность за соответствие им лежит на отправляющем узле, не на автоматическом сжатии получателя</a:t>
            </a:r>
          </a:p>
        </p:txBody>
      </p:sp>
      <p:sp>
        <p:nvSpPr>
          <p:cNvPr id="22" name="Rounded Rectangle 21"/>
          <p:cNvSpPr/>
          <p:nvPr/>
        </p:nvSpPr>
        <p:spPr>
          <a:xfrm>
            <a:off x="502920" y="5316855"/>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444871"/>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Поворот.</a:t>
            </a:r>
            <a:r>
              <a:rPr sz="1400" b="1" i="0">
                <a:solidFill>
                  <a:srgbClr val="141B2E"/>
                </a:solidFill>
                <a:latin typeface="Arial"/>
              </a:rPr>
              <a:t> Ни платформа, ни статус прогона, ни получатель не решают эту задачу сами. Размер и формат файла нужно проверить до отправки, явным условием внутри самой цепочки — с этого и начинается решение.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бинарные данные как отдельный контракт</a:t>
            </a:r>
          </a:p>
        </p:txBody>
      </p:sp>
      <p:sp>
        <p:nvSpPr>
          <p:cNvPr id="3" name="Rounded Rectangle 2"/>
          <p:cNvSpPr/>
          <p:nvPr/>
        </p:nvSpPr>
        <p:spPr>
          <a:xfrm>
            <a:off x="502920" y="147797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 отдельная модель данных от текстовых значений.</a:t>
            </a:r>
            <a:r>
              <a:rPr sz="1500" b="1" i="0">
                <a:solidFill>
                  <a:srgbClr val="141B2E"/>
                </a:solidFill>
                <a:latin typeface="Arial"/>
              </a:rPr>
              <a:t> У файла есть размер и есть формат, и оба должны быть проверены перед отправкой, явным условием в цепочке.</a:t>
            </a:r>
          </a:p>
        </p:txBody>
      </p:sp>
      <p:sp>
        <p:nvSpPr>
          <p:cNvPr id="5" name="Rounded Rectangle 4"/>
          <p:cNvSpPr/>
          <p:nvPr/>
        </p:nvSpPr>
        <p:spPr>
          <a:xfrm>
            <a:off x="502920" y="289224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2026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контракт, что рвался на тексте, здесь рвётся на формате и размере.</a:t>
            </a:r>
            <a:r>
              <a:rPr sz="1500" b="1" i="0">
                <a:solidFill>
                  <a:srgbClr val="141B2E"/>
                </a:solidFill>
                <a:latin typeface="Arial"/>
              </a:rPr>
              <a:t> В кейсе «Уведомления» узел не падал, а результат тихо оказывался не тем. Здесь узел тоже не падает — рвётся соответствие между тем, что отправлено, и тем, что дошло, по той же причине: формально успешный прогон ничего не говорит о том, дошёл ли результат до получателя в ожидаемом виде.</a:t>
            </a:r>
          </a:p>
        </p:txBody>
      </p:sp>
      <p:sp>
        <p:nvSpPr>
          <p:cNvPr id="7" name="Rounded Rectangle 6"/>
          <p:cNvSpPr/>
          <p:nvPr/>
        </p:nvSpPr>
        <p:spPr>
          <a:xfrm>
            <a:off x="502920" y="47789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9069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Правило.</a:t>
            </a:r>
            <a:r>
              <a:rPr sz="1500" b="1" i="0">
                <a:solidFill>
                  <a:srgbClr val="141B2E"/>
                </a:solidFill>
                <a:latin typeface="Arial"/>
              </a:rPr>
              <a:t> Прежде чем файл уходит дальше по цепочке, его размер и формат сверяются явным условием — не предполагаются заранее и не проверяются постфактум по ответу API.</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трёх узлов</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23476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УЗЕЛ</a:t>
            </a:r>
          </a:p>
        </p:txBody>
      </p:sp>
      <p:sp>
        <p:nvSpPr>
          <p:cNvPr id="5" name="TextBox 4"/>
          <p:cNvSpPr txBox="1"/>
          <p:nvPr/>
        </p:nvSpPr>
        <p:spPr>
          <a:xfrm>
            <a:off x="3179729" y="2385161"/>
            <a:ext cx="81771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НАСТРОЕНО</a:t>
            </a:r>
          </a:p>
        </p:txBody>
      </p:sp>
      <p:sp>
        <p:nvSpPr>
          <p:cNvPr id="6" name="TextBox 5"/>
          <p:cNvSpPr txBox="1"/>
          <p:nvPr/>
        </p:nvSpPr>
        <p:spPr>
          <a:xfrm>
            <a:off x="685800" y="2667228"/>
            <a:ext cx="234762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узел подстановки текста</a:t>
            </a:r>
          </a:p>
        </p:txBody>
      </p:sp>
      <p:sp>
        <p:nvSpPr>
          <p:cNvPr id="7" name="TextBox 6"/>
          <p:cNvSpPr txBox="1"/>
          <p:nvPr/>
        </p:nvSpPr>
        <p:spPr>
          <a:xfrm>
            <a:off x="3179729" y="2667228"/>
            <a:ext cx="81771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выражение: «Новая заявка от {{имя}}: тема «{{тема}}»{{, также: доп. темы}}.» — тот же приём, что в кейсе «Уведомления»</a:t>
            </a:r>
          </a:p>
        </p:txBody>
      </p:sp>
      <p:cxnSp>
        <p:nvCxnSpPr>
          <p:cNvPr id="8" name="Connector 7"/>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196945"/>
            <a:ext cx="234762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узел получения картинки по ссылке</a:t>
            </a:r>
          </a:p>
        </p:txBody>
      </p:sp>
      <p:sp>
        <p:nvSpPr>
          <p:cNvPr id="10" name="TextBox 9"/>
          <p:cNvSpPr txBox="1"/>
          <p:nvPr/>
        </p:nvSpPr>
        <p:spPr>
          <a:xfrm>
            <a:off x="3179729" y="3196945"/>
            <a:ext cx="81771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забирает файл по URL; формат ответа — файл, то есть бинарные данные, а не текст и не JSON</a:t>
            </a:r>
          </a:p>
        </p:txBody>
      </p:sp>
      <p:cxnSp>
        <p:nvCxnSpPr>
          <p:cNvPr id="11" name="Connector 10"/>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726662"/>
            <a:ext cx="234762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узел отправки фото в Telegram</a:t>
            </a:r>
          </a:p>
        </p:txBody>
      </p:sp>
      <p:sp>
        <p:nvSpPr>
          <p:cNvPr id="13" name="TextBox 12"/>
          <p:cNvSpPr txBox="1"/>
          <p:nvPr/>
        </p:nvSpPr>
        <p:spPr>
          <a:xfrm>
            <a:off x="3179729" y="3726662"/>
            <a:ext cx="81771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входе — бинарные данные картинки; подпись — текст из узла подстановки</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Граница размера — проверено настоящим вызовом</a:t>
            </a:r>
          </a:p>
        </p:txBody>
      </p:sp>
      <p:sp>
        <p:nvSpPr>
          <p:cNvPr id="3" name="Rounded Rectangle 2"/>
          <p:cNvSpPr/>
          <p:nvPr/>
        </p:nvSpPr>
        <p:spPr>
          <a:xfrm>
            <a:off x="502920" y="184040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23287"/>
            <a:ext cx="656109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5" name="TextBox 4"/>
          <p:cNvSpPr txBox="1"/>
          <p:nvPr/>
        </p:nvSpPr>
        <p:spPr>
          <a:xfrm>
            <a:off x="7393199" y="2023287"/>
            <a:ext cx="396364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6" name="TextBox 5"/>
          <p:cNvSpPr txBox="1"/>
          <p:nvPr/>
        </p:nvSpPr>
        <p:spPr>
          <a:xfrm>
            <a:off x="685800" y="2305354"/>
            <a:ext cx="65610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Проверенный файл (несжатый JPEG)</a:t>
            </a:r>
          </a:p>
        </p:txBody>
      </p:sp>
      <p:sp>
        <p:nvSpPr>
          <p:cNvPr id="7" name="TextBox 6"/>
          <p:cNvSpPr txBox="1"/>
          <p:nvPr/>
        </p:nvSpPr>
        <p:spPr>
          <a:xfrm>
            <a:off x="7393199" y="2305354"/>
            <a:ext cx="396364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12 812 355 байт</a:t>
            </a:r>
            <a:r>
              <a:rPr sz="1250" b="0" i="0">
                <a:solidFill>
                  <a:srgbClr val="141B2E"/>
                </a:solidFill>
                <a:latin typeface="Arial"/>
              </a:rPr>
              <a:t> (~12,8 МБ)</a:t>
            </a:r>
          </a:p>
        </p:txBody>
      </p:sp>
      <p:cxnSp>
        <p:nvCxnSpPr>
          <p:cNvPr id="8" name="Connector 7"/>
          <p:cNvCxnSpPr/>
          <p:nvPr/>
        </p:nvCxnSpPr>
        <p:spPr>
          <a:xfrm>
            <a:off x="685800" y="26525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2509"/>
            <a:ext cx="65610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Лимит Telegram на фото (</a:t>
            </a:r>
            <a:r>
              <a:rPr sz="1250" b="0" i="0">
                <a:solidFill>
                  <a:srgbClr val="141B2E"/>
                </a:solidFill>
                <a:latin typeface="Consolas"/>
              </a:rPr>
              <a:t>sendPhoto</a:t>
            </a:r>
            <a:r>
              <a:rPr sz="1250" b="0" i="0">
                <a:solidFill>
                  <a:srgbClr val="141B2E"/>
                </a:solidFill>
                <a:latin typeface="Arial"/>
              </a:rPr>
              <a:t>)</a:t>
            </a:r>
          </a:p>
        </p:txBody>
      </p:sp>
      <p:sp>
        <p:nvSpPr>
          <p:cNvPr id="10" name="TextBox 9"/>
          <p:cNvSpPr txBox="1"/>
          <p:nvPr/>
        </p:nvSpPr>
        <p:spPr>
          <a:xfrm>
            <a:off x="7393199" y="2652509"/>
            <a:ext cx="396364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10 485 760 байт</a:t>
            </a:r>
            <a:r>
              <a:rPr sz="1250" b="0" i="0">
                <a:solidFill>
                  <a:srgbClr val="141B2E"/>
                </a:solidFill>
                <a:latin typeface="Arial"/>
              </a:rPr>
              <a:t> (10 МБ)</a:t>
            </a:r>
          </a:p>
        </p:txBody>
      </p:sp>
      <p:cxnSp>
        <p:nvCxnSpPr>
          <p:cNvPr id="11" name="Connector 10"/>
          <p:cNvCxnSpPr/>
          <p:nvPr/>
        </p:nvCxnSpPr>
        <p:spPr>
          <a:xfrm>
            <a:off x="685800" y="2999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99663"/>
            <a:ext cx="65610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Собственный лимит n8n на бинарные данные (справочно)</a:t>
            </a:r>
          </a:p>
        </p:txBody>
      </p:sp>
      <p:sp>
        <p:nvSpPr>
          <p:cNvPr id="13" name="TextBox 12"/>
          <p:cNvSpPr txBox="1"/>
          <p:nvPr/>
        </p:nvSpPr>
        <p:spPr>
          <a:xfrm>
            <a:off x="7393199" y="2999663"/>
            <a:ext cx="396364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16 МБ</a:t>
            </a:r>
          </a:p>
        </p:txBody>
      </p:sp>
      <p:sp>
        <p:nvSpPr>
          <p:cNvPr id="14" name="Rounded Rectangle 13"/>
          <p:cNvSpPr/>
          <p:nvPr/>
        </p:nvSpPr>
        <p:spPr>
          <a:xfrm>
            <a:off x="502920" y="4197210"/>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25226"/>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Настоящий ответ Telegram Bot API на этом файле:</a:t>
            </a:r>
          </a:p>
          <a:p>
            <a:pPr algn="l">
              <a:lnSpc>
                <a:spcPts val="1860"/>
              </a:lnSpc>
              <a:spcAft>
                <a:spcPts val="300"/>
              </a:spcAft>
            </a:pPr>
            <a:r>
              <a:rPr sz="1500" b="1" i="0">
                <a:solidFill>
                  <a:srgbClr val="141B2E"/>
                </a:solidFill>
                <a:latin typeface="Consolas"/>
              </a:rPr>
              <a:t>"Bad</a:t>
            </a:r>
            <a:r>
              <a:rPr sz="1500" b="1" i="0">
                <a:solidFill>
                  <a:srgbClr val="141B2E"/>
                </a:solidFill>
                <a:latin typeface="Arial"/>
              </a:rPr>
              <a:t> </a:t>
            </a:r>
            <a:r>
              <a:rPr sz="1500" b="1" i="0">
                <a:solidFill>
                  <a:srgbClr val="141B2E"/>
                </a:solidFill>
                <a:latin typeface="Consolas"/>
              </a:rPr>
              <a:t>Request:</a:t>
            </a:r>
            <a:r>
              <a:rPr sz="1500" b="1" i="0">
                <a:solidFill>
                  <a:srgbClr val="141B2E"/>
                </a:solidFill>
                <a:latin typeface="Arial"/>
              </a:rPr>
              <a:t> </a:t>
            </a:r>
            <a:r>
              <a:rPr sz="1500" b="1" i="0">
                <a:solidFill>
                  <a:srgbClr val="141B2E"/>
                </a:solidFill>
                <a:latin typeface="Consolas"/>
              </a:rPr>
              <a:t>file</a:t>
            </a:r>
            <a:r>
              <a:rPr sz="1500" b="1" i="0">
                <a:solidFill>
                  <a:srgbClr val="141B2E"/>
                </a:solidFill>
                <a:latin typeface="Arial"/>
              </a:rPr>
              <a:t> </a:t>
            </a:r>
            <a:r>
              <a:rPr sz="1500" b="1" i="0">
                <a:solidFill>
                  <a:srgbClr val="141B2E"/>
                </a:solidFill>
                <a:latin typeface="Consolas"/>
              </a:rPr>
              <a:t>of</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12812355</a:t>
            </a:r>
            <a:r>
              <a:rPr sz="1500" b="1" i="0">
                <a:solidFill>
                  <a:srgbClr val="141B2E"/>
                </a:solidFill>
                <a:latin typeface="Arial"/>
              </a:rPr>
              <a:t> </a:t>
            </a:r>
            <a:r>
              <a:rPr sz="1500" b="1" i="0">
                <a:solidFill>
                  <a:srgbClr val="141B2E"/>
                </a:solidFill>
                <a:latin typeface="Consolas"/>
              </a:rPr>
              <a:t>bytes</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too</a:t>
            </a:r>
            <a:r>
              <a:rPr sz="1500" b="1" i="0">
                <a:solidFill>
                  <a:srgbClr val="141B2E"/>
                </a:solidFill>
                <a:latin typeface="Arial"/>
              </a:rPr>
              <a:t> </a:t>
            </a:r>
            <a:r>
              <a:rPr sz="1500" b="1" i="0">
                <a:solidFill>
                  <a:srgbClr val="141B2E"/>
                </a:solidFill>
                <a:latin typeface="Consolas"/>
              </a:rPr>
              <a:t>big</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a</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a:t>
            </a:r>
            <a:r>
              <a:rPr sz="1500" b="1" i="0">
                <a:solidFill>
                  <a:srgbClr val="141B2E"/>
                </a:solidFill>
                <a:latin typeface="Consolas"/>
              </a:rPr>
              <a:t>the</a:t>
            </a:r>
            <a:r>
              <a:rPr sz="1500" b="1" i="0">
                <a:solidFill>
                  <a:srgbClr val="141B2E"/>
                </a:solidFill>
                <a:latin typeface="Arial"/>
              </a:rPr>
              <a:t> </a:t>
            </a:r>
            <a:r>
              <a:rPr sz="1500" b="1" i="0">
                <a:solidFill>
                  <a:srgbClr val="141B2E"/>
                </a:solidFill>
                <a:latin typeface="Consolas"/>
              </a:rPr>
              <a:t>maximum</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10485760</a:t>
            </a:r>
            <a:r>
              <a:rPr sz="1500" b="1" i="0">
                <a:solidFill>
                  <a:srgbClr val="141B2E"/>
                </a:solidFill>
                <a:latin typeface="Arial"/>
              </a:rPr>
              <a:t> </a:t>
            </a:r>
            <a:r>
              <a:rPr sz="1500" b="1" i="0">
                <a:solidFill>
                  <a:srgbClr val="141B2E"/>
                </a:solidFill>
                <a:latin typeface="Consolas"/>
              </a:rPr>
              <a:t>bytes"</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175131"/>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58011"/>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358011"/>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640078"/>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640078"/>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3523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235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35235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30646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06463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306463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776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76916"/>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776916"/>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51570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0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016404"/>
            <a:ext cx="11183112" cy="10511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44420"/>
            <a:ext cx="10634472" cy="79514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путь через цепочку</a:t>
            </a:r>
          </a:p>
          <a:p>
            <a:pPr algn="ctr">
              <a:lnSpc>
                <a:spcPts val="1891"/>
              </a:lnSpc>
              <a:spcAft>
                <a:spcPts val="300"/>
              </a:spcAft>
            </a:pPr>
            <a:r>
              <a:rPr sz="1550" b="1" i="0">
                <a:solidFill>
                  <a:srgbClr val="141B2E"/>
                </a:solidFill>
                <a:latin typeface="Arial"/>
              </a:rPr>
              <a:t>Дальше: </a:t>
            </a:r>
            <a:r>
              <a:rPr sz="1550" b="1" i="0">
                <a:solidFill>
                  <a:srgbClr val="141B2E"/>
                </a:solidFill>
                <a:latin typeface="Arial"/>
              </a:rPr>
              <a:t>вход типа А</a:t>
            </a:r>
            <a:r>
              <a:rPr sz="1550" b="1" i="0">
                <a:solidFill>
                  <a:srgbClr val="141B2E"/>
                </a:solidFill>
                <a:latin typeface="Arial"/>
              </a:rPr>
              <a:t> → один путь · </a:t>
            </a:r>
            <a:r>
              <a:rPr sz="1550" b="1" i="0">
                <a:solidFill>
                  <a:srgbClr val="141B2E"/>
                </a:solidFill>
                <a:latin typeface="Arial"/>
              </a:rPr>
              <a:t>вход типа Б</a:t>
            </a:r>
            <a:r>
              <a:rPr sz="1550" b="1" i="0">
                <a:solidFill>
                  <a:srgbClr val="141B2E"/>
                </a:solidFill>
                <a:latin typeface="Arial"/>
              </a:rPr>
              <a:t> → другой · </a:t>
            </a:r>
            <a:r>
              <a:rPr sz="1550" b="1" i="0">
                <a:solidFill>
                  <a:srgbClr val="141B2E"/>
                </a:solidFill>
                <a:latin typeface="Arial"/>
              </a:rPr>
              <a:t>вход, не подошедший ни под один тип</a:t>
            </a:r>
            <a:r>
              <a:rPr sz="1550" b="1" i="0">
                <a:solidFill>
                  <a:srgbClr val="141B2E"/>
                </a:solidFill>
                <a:latin typeface="Arial"/>
              </a:rPr>
              <a:t> → свой путь по умолчанию</a:t>
            </a:r>
          </a:p>
        </p:txBody>
      </p:sp>
      <p:sp>
        <p:nvSpPr>
          <p:cNvPr id="5" name="Rounded Rectangle 4"/>
          <p:cNvSpPr/>
          <p:nvPr/>
        </p:nvSpPr>
        <p:spPr>
          <a:xfrm>
            <a:off x="502920" y="37350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631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