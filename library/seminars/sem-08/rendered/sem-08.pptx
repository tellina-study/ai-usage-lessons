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мы закончили работающей цепочкой: форма, извлечение полей моделью, сверка со справочником, запись в таблицу, экран результата. Сегодня мы не трогаем ни один из этих узлов — мы задаём цепочке новые шаги, которые ей сегодня предстоит получить: уведомление координатору, проверку на повторное обращение, решение о возврате денег, доставку картинки.</a:t>
            </a:r>
          </a:p>
          <a:p/>
          <a:p>
            <a:r>
              <a:t>На каждом из этих шагов мы будем задавать один и тот же вопрос: эту часть работы должна делать модель, или её должен делать код? Ответ не всегда очевиден заранее. Иногда шаг с моделью стоит там, где хватило бы простой подстановки уже известных значений — и тогда модель просто лишняя, со своей ценой и риском. А иногда, наоборот, текстовое правило внутри промпта вероятностно обходит то, что с самого начала должно было быть жёстким условием в коде — и это выясняется не сразу, а на практике, когда правило один раз ошибается именно там, где цена ошибки выше всего.</a:t>
            </a:r>
          </a:p>
          <a:p/>
          <a:p>
            <a:r>
              <a:t>Занятие практическое, но устроено иначе, чем прошлое. В прошлый раз я собирал узлы вживую у вас на глазах. Сегодня — на каждый кейс заранее собрана и прогнана готовая пара процессов, с моделью и без, — и мы смотрим на то, что они реально сделали на одних и тех же заявках одного и того же учебного центра. Для одного из кейсов мы пойдём ещё дальше и разберём целый эксперимент: несколько десятков прогонов с измеренным числом ошибок, а не предположение о том, как оно должно было бы работать.</a:t>
            </a:r>
          </a:p>
          <a:p/>
          <a:p>
            <a:r>
              <a:t>Мы остаёмся на той же ступени лестницы, что и в прошлый раз, — цепочка. Сегодня мы не поднимаемся выше, мы её усложняем. К концу занятия у вас будет не один новый узел, а критерий: как смотреть на любой шаг своей собственной цепочки и решать, кому в нём место — модели или коду.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входная точка сегодняшнего занятия, и она буквальная, не пересказанная: ровно те же шесть узлов, которые вы видели в конце прошлого занятия, в том же порядке, с теми же именами. Ни один узел не переименован, не удалён и не изменён — если вы открывали файл процесса у себя дома, сегодняшний стенд начинается с того же самого файла.</a:t>
            </a:r>
          </a:p>
          <a:p/>
          <a:p>
            <a:r>
              <a:t>Напомню устройство коротко, потому что дальше мы будем ссылаться на эти шаги по именам. Форма принимает заявку свободным текстом — человек пишет, как ему удобно, без формата. Извлечение — отдельный шаг модели, который достаёт из этого текста тему, срочность и контакт, если он упомянут в самом тексте. Справочник — не модель, а детерминированная сверка: значение либо из заданного списка, либо становится «другое» или «не указано», и пустых клеток после этого шага не бывает. Запись кладёт готовую строку в таблицу, а экран результата показывает заявителю все шаги сразу, одним полотном. И отдельно — ветка отказа: если извлечение не смогло разобрать текст даже после трёх попыток, заявка не исчезает, а уходит в ту же таблицу с отдельной пометкой, и у неё свой экран.</a:t>
            </a:r>
          </a:p>
          <a:p/>
          <a:p>
            <a:r>
              <a:t>Зачем мы вообще на это смотрим снова. Не потому, что здесь есть к чему придраться — к этим шести узлам сегодня претензий нет. А потому, что сегодняшние четыре кейса — это ровно те шаги, которые этой цепочке только предстоит получить: канал уведомления, проверка на повтор, решение по сумме возврата, доставка картинки. Ни для одного из них вопрос «это задача модели или задача кода» ещё не был задан. Мы начинаем с чистого, уже работающего основания и достраиваем его, кейс за кейсом, этим одним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Быстрое напоминание, не новое знакомство — эту лестницу вы уже видели на прошлом занятии, и я не буду снова проходить все девять ступеней.</a:t>
            </a:r>
          </a:p>
          <a:p/>
          <a:p>
            <a:r>
              <a:t>Короткая суть для тех, кто забыл детали. Девять ступеней снизу вверх, от простого к сложному: внизу — то, что закрывается одним вызовом модели или поиском по своим документам, это пройдено ещё на лекции. Дальше — цепочка: несколько шагов в заранее известном порядке, данные между ними. На ней мы были весь прошлый раз, и на ней же мы остаёмся весь сегодняшний.</a:t>
            </a:r>
          </a:p>
          <a:p/>
          <a:p>
            <a:r>
              <a:t>Это важно сказать прямо, потому что интуитивно кажется, что раз сегодня четыре новых кейса и один сложный эксперимент — значит, мы куда-то поднялись. Это не так. Маршрут, где путь выбирает категория входа, параллельные независимые проверки, циклы и подпроцессы, агент, который сам решает порядок шагов, несколько агентов вместе — всё это следующие занятия, другие ступени. Сегодня цепочка остаётся той же самой по устройству: шаг за шагом, в известном порядке. Меняется не высота, а глубина — мы учимся задавать одному и тому же устройству более точный вопрос про каждый отдельный шаг.</a:t>
            </a:r>
          </a:p>
          <a:p/>
          <a:p>
            <a:r>
              <a:t>Почему это стоит отдельного напоминания, а не только устного комментария. Потому что правило движения по лестнице из прошлого занятия звучит ровно так: не поднимайся без требования, которого ступень ниже не закрывает. А все четыре сегодняшних кейса — это именно требования, которые ступень «цепочка» не закрыла автоматически сама по себе: уведомление, которое не путает факты, проверка, которая не запускает повтор с нуля, решение по сумме, за которое можно ручаться, доставка картинки, которая не роняет прогон. Ни одно из них не требует подняться — все четыре закрываются внутри той же самой ступени, если на каждом шаге правильно ответить на один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четыре строки, и в каждой — то, что на первый взгляд выглядит нормальным, рабочим результатом. Прочитайте левую колонку. Сообщение ушло координатору. Заявка обработалась. В промте написано правило про сумму. Картинка дошла до Telegram. Каждая из этих четырёх фраз описывает момент, когда кажется, что задача решена и можно двигаться дальше.</a:t>
            </a:r>
          </a:p>
          <a:p/>
          <a:p>
            <a:r>
              <a:t>Правая колонка пустая, и это не недосмотр — это и есть план занятия. В каждой из этих четырёх историй есть что-то, что выглядывает наружу только при более внимательном взгляде: лишний шаг там, где он не нужен, повтор, который не узнали, вероятностное решение там, где нужно жёсткое условие, формат данных, который ведёт себя не так, как текст. Мы не называем это сейчас — мы его найдём и впишем в таблицу по ходу разбора каждого кейса.</a:t>
            </a:r>
          </a:p>
          <a:p/>
          <a:p>
            <a:r>
              <a:t>Четыре строки — это ровно четыре кейса сегодняшнего занятия: уведомления, проверка на повтор, одобрение возврата, картинка в Telegram. У каждого кейса в конце будет момент, где мы возвращаемся к этой самой таблице и вписываем ровно одну строку в правую колонку — не абстрактный вывод, а конкретное наблюдение с конкретного прогона, который мы только что видели своими глазами.</a:t>
            </a:r>
          </a:p>
          <a:p/>
          <a:p>
            <a:r>
              <a:t>Это не означает, что все четыре истории провальные с самого начала. Наоборот — каждая выглядит полностью рабочей, и в этом главная ловушка: то, что работает, легко спутать с тем, за что можно ручаться. Разница между этими двумя состояниями — то, что эта таблица и измеряет, строка за строкой, до самого конца занятия, когда мы увидим все четыре пары рядом и сможем сравнить их одним взглядом.</a:t>
            </a:r>
          </a:p>
          <a:p/>
          <a:p>
            <a:r>
              <a:t>Запомните эту таблицу — мы вернёмся к ней сразу после первого же кейса.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Марина — координатор учебного центра, и у неё к цепочке с прошлого занятия одна конкретная просьба. Когда заявка касается больше одной темы сразу, она хочет получать сообщение в Telegram, а не идти проверять таблицу или экран результата каждый раз, когда заявитель упомянул что-то кроме основного вопроса.</a:t>
            </a:r>
          </a:p>
          <a:p/>
          <a:p>
            <a:r>
              <a:t>Просьба звучит просто, и выполнить её как будто легко — цепочка уже знает всё нужное: имя, основную тему, дополнительные темы. Все три значения к этому моменту уже извлечены и лежат в таблице. Остаётся только собрать из них одно читаемое сообщение и отправить.</a:t>
            </a:r>
          </a:p>
          <a:p/>
          <a:p>
            <a:r>
              <a:t>Именно здесь кейс и начинается: как именно собрать текст из трёх уже известных значений — это и есть сегодняшний вопрос, не очевидный на первый взгляд. Следующий экран показывает, что было сделано первой попыткой и что эта попытка показала на практике.</a:t>
            </a:r>
          </a:p>
          <a:p/>
          <a:p>
            <a:r>
              <a:t>Обратите внимание на то, о чём Марина НЕ просила. Она не просила «сделать уведомление умным» или «пусть модель решит, что писать». Она описала результат, который хочет видеть у себя в телефоне, — одну строку, по которой сразу понятно, кто написал и зачем. Как именно цепочка до этой строки дойдёт — её не касается вовсе, и это важно держать в голове: весь кейс дальше будет про то, что разные команды инженеров на этом самом месте выбирают разные ответы, а потребность у всех одна и та же, предельно конкретная.</a:t>
            </a:r>
          </a:p>
          <a:p/>
          <a:p>
            <a:r>
              <a:t>Эта потребность и есть то, с чем мы работаем весь кейс — не абстрактное «нужно уведомление», а именно эта фраза, слово за словом, с которой дальше можно сверять любое решение. Запомните её форму: так мы и будем проверять каждый вариант дальше — не на глаз, а подставляя в него настоящую заявку и глядя, получилась ли ровно эта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сделала версия 1, и вот что у неё реально получилось — не в теории, а на настоящем прогоне.</a:t>
            </a:r>
          </a:p>
          <a:p/>
          <a:p>
            <a:r>
              <a:t>Сначала — что именно просила Марина, слово за словом. Ей нужна одна строка такого вида: «Новая заявка от Марии: тема «курс», также упомянуто: оплата.» Три значения — имя, основная тема, дополнительные темы — собранные в одну читаемую фразу. Контакт заявителя сюда не входит, он уже виден на экране результата, а это уведомление решает только одну задачу — заметить многотемную заявку сразу. Это не абстрактное пожелание, а конкретный пример текста, по которому можно сверить любое решение.</a:t>
            </a:r>
          </a:p>
          <a:p/>
          <a:p>
            <a:r>
              <a:t>Версия 1 подошла к этому так: добавила к цепочке ещё один узел, отдельный от уже существующего извлечения полей, и этот узел — модель. На вход она получает те же самые три значения, которые к этому моменту уже лежат в структурированном виде. А дальше ей дают свободу: сочини текст уведомления сама, по-человечески, одно-два предложения. Звучит разумно: модель умеет писать живые фразы лучше любого шаблона.</a:t>
            </a:r>
          </a:p>
          <a:p/>
          <a:p>
            <a:r>
              <a:t>И вот что показала практика через настоящие прогоны. Первое — тексты каждый раз звучат по-разному, и это само по себе не беда, живому человеку даже приятнее читать не казённую форму. Второе, и это главная находка: на одной из заявок, у Олега, модель вставила в готовое сообщение буквальный текст «[Имя координатора]» — то есть кусок собственного шаблона-инструкции, адресованный модели, а не заявителю, который она должна была заменить настоящим содержанием и не заменила. Сообщение при этом не упало технически, не вернуло ошибку — оно спокойно ушло в Telegram именно с этим текстом внутри. Снаружи всё выглядело штатно: узел отработал, статус зелёный.</a:t>
            </a:r>
          </a:p>
          <a:p/>
          <a:p>
            <a:r>
              <a:t>Вопрос, который отсюда вытекает: как вообще нужно было собирать эту строку из трёх уже известных значений —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значения, из которых надо собрать уведомление, уже лежат в структурированном виде: имя, основная тема, дополнительные темы. Вопрос — не что собирать, а как.</a:t>
            </a:r>
          </a:p>
          <a:p/>
          <a:p>
            <a:r>
              <a:t>Первая карточка — модель пишет весь текст уведомления целиком, свободно. Это то, что уже сделала версия 1.</a:t>
            </a:r>
          </a:p>
          <a:p/>
          <a:p>
            <a:r>
              <a:t>Вторая — заполняем готовую форму сообщения алгоритмом целиком, только подстановка значений в заранее заданный шаблон, без единого вызова модели.</a:t>
            </a:r>
          </a:p>
          <a:p/>
          <a:p>
            <a:r>
              <a:t>Третья — смешанный вариант: то, что можно закрыть алгоритмом — сами значения, — закрываем им; а то, что требует интерпретации текста заявки и не извлечено заранее структурно, на то отдельно зовём модель.</a:t>
            </a:r>
          </a:p>
          <a:p/>
          <a:p>
            <a:r>
              <a:t>Четвёртая — берём алгоритмически собранный текст как основу, твёрдый костяк, и добавляем к нему одну короткую фразу тона или комментария, которую сочиняет модель поверх уже готового текста.</a:t>
            </a:r>
          </a:p>
          <a:p/>
          <a:p>
            <a:r>
              <a:t>Выбирайте не по ощущению, а прикиньте: какой из четырёх способов надёжно даст текст, совпадающий с тем, что просила Марина, на любой заявке, а не только на удачной.</a:t>
            </a:r>
          </a:p>
          <a:p/>
          <a:p>
            <a:r>
              <a:t>Обратите внимание, что карточки выстроены спектром, не вразнобой: слева — вариант, где всю работу делает модель, справа — где всю работу делает алгоритм, а между ними — два смешанных варианта, каждый со своим способом разделить работу между моделью и кодом. Это сделано намеренно: вопрос не «модель или код», а «сколько именно работы в этой конкретной задаче реально требует интерпретации, а сколько — просто подстановки уже известного».</a:t>
            </a:r>
          </a:p>
          <a:p/>
          <a:p>
            <a:r>
              <a:t>Ни одна карточка здесь не отмечена как заведомо слабая — у каждой из четырёх есть ситуация в принципе, где она была бы разумным выбором. Сегодняшний вопрос — именно под потребность Марины, с её конкретным примером текста и с уже структурированными значениями на входе. Для другой потребности, с другим набором известных и неизвестных значений, ответ мог бы быть другим — это стоит держать в голове, выбирая карточку, но разбирать мы будем именно эту, сегодняшнюю.</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 у каждого есть ситуация, где оно было бы правильным выбором. Вопрос в том, какая ситуация перед нами на самом деле.</a:t>
            </a:r>
          </a:p>
          <a:p/>
          <a:p>
            <a:r>
              <a:t>Первое — модель пишет весь текст целиком. Она умеет это сделать, вопросов нет. Но смотрите, что у неё на входе: все три значения — имя, тема, дополнительные темы — уже извлечены, структурированы и лежат готовыми. Модели нечего интерпретировать, ей просто нечего добавить к тому, что и так известно. А раз она всё равно генерирует текст свободно, у неё остаётся шанс сочинить лишнюю деталь, которой в заявке не было — мы это только что видели на практике.</a:t>
            </a:r>
          </a:p>
          <a:p/>
          <a:p>
            <a:r>
              <a:t>Второе — алгоритм заполняет форму целиком. Это ровно тот объём работы, который реально нужен: три значения уже есть, форма сообщения всегда одна и та же, вариативности по сути не требуется. Результат предсказуемо совпадает с тем примером текста, который просила Марина.</a:t>
            </a:r>
          </a:p>
          <a:p/>
          <a:p>
            <a:r>
              <a:t>Третье — смешанный вариант, алгоритм плюс модель только на то, что требует интерпретации. Идея разумная сама по себе, и она бы сработала, если бы в заявке оставалось хоть одно значение, которое нужно домысливать из текста — например, степень срочности, если бы она не была извлечена явно словом. Но в нашей цепочке срочность уже есть отдельным структурным полем ещё с прошлого занятия. Для модели здесь буквально не осталось работы — это решение для другой потребности, которой у нас сейчас нет.</a:t>
            </a:r>
          </a:p>
          <a:p/>
          <a:p>
            <a:r>
              <a:t>Четвёртое — алгоритмический костяк плюс фраза тона от модели поверх. Это уменьшенная версия первого варианта: модель всё ещё что-то сочиняет, просто меньше. Риск той же природы остаётся, просто меньшего размера.</a:t>
            </a:r>
          </a:p>
          <a:p/>
          <a:p>
            <a:r>
              <a:t>Какое действие на самом деле закрывает нашу потребность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схема — архитектура версии 1 в чистом виде, без единого имени конкретного инструмента. Если завтра эту же цепочку собирают не в том оркестраторе, которым пользуемся мы, формулировка не меняется ни на слово: после того как поля заявки извлечены, добавляется отдельный шаг, который на каждый прогон обращается к модели и получает от неё готовый свободный текст.</a:t>
            </a:r>
          </a:p>
          <a:p/>
          <a:p>
            <a:r>
              <a:t>Важное свойство этой архитектуры — не то, что она вызывает модель, а то, когда она это делает: решение о форме текста принимается заново при каждом прогоне, а не один раз заранее. Отсюда и растёт то, что мы видели на предыдущем экране — текст звучит каждый раз немного иначе, и однажды это «иначе» включило в себя деталь, которой в заявке не было вовсе.</a:t>
            </a:r>
          </a:p>
          <a:p/>
          <a:p>
            <a:r>
              <a:t>Дальше — вторая архитектурная схема, без единого изменения в остальной цепочке, но с другим ответом ровно на этот один узел. Сравнивать мы будем именно эти два экрана — один против другого, не абзац против абзаца.</a:t>
            </a:r>
          </a:p>
          <a:p/>
          <a:p>
            <a:r>
              <a:t>Почему вообще стоит сначала рисовать такую обезличенную схему, а не сразу переходить к настоящему интерфейсу с настоящими именами полей. Потому что решение, правильный ли это узел для задачи, не зависит от того, в каком инструменте он собран. Если вы собираете похожую цепочку на другом движке, через код напрямую или через любой другой оркестратор, вопрос «вызывает ли этот шаг модель на каждый прогон, или решение принято заранее» звучит ровно так же и ответ на него не меняется. Конкретные имена узлов и параметров — это слой ниже, он идёт следом, на следующих двух экранах, и там он уже привязан к настоящему инструменту с его настоящими полями и настоящим текстом промпта.</a:t>
            </a:r>
          </a:p>
          <a:p/>
          <a:p>
            <a:r>
              <a:t>Здесь важно смотреть на расположение блока относительно остальной, уже знакомой вам цепочки: он встаёт не вместо какого-то старого узла, а рядом, новой веткой, после того как заявка уже записана в таблицу. Остальные пять узлов из прошлого занятия эта архитектура не трогает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вторая архитектурная схема, и её стоит смотреть не саму по себе, а рядом с предыдущей — разница между ними ровно в одном узле, остальная цепочка не тронута ни на шаг. Там, где в первой схеме стоял узел, вызывающий модель на каждый прогон, здесь стоит узел, который подставляет уже известные значения в один раз заданную форму текста. Никакого обращения к модели на этом шаге не происходит вовсе.</a:t>
            </a:r>
          </a:p>
          <a:p/>
          <a:p>
            <a:r>
              <a:t>Главное отличие по сути — не инструмент, а момент принятия решения. В версии с моделью решение о том, как будет звучать текст, принимается заново при каждой заявке. В этой версии решение принято один раз, заранее, когда форму текста придумали и зафиксировали, и дальше оно просто воспроизводится без вариаций.</a:t>
            </a:r>
          </a:p>
          <a:p/>
          <a:p>
            <a:r>
              <a:t>Отсюда прямое следствие для надёжности: у этого узла нет пространства для сочинительства. Он не может вставить в сообщение деталь, которой не было в заявке, — потому что он ничего не сочиняет, он только копирует значения на заранее размеченные места. Та находка с плейсхолдером, которую мы видели у версии с моделью, структурно невозможна в этой архитектуре — не потому, что эта версия «умнее», а потому, что здесь просто нет шага, который мог бы её создать.</a:t>
            </a:r>
          </a:p>
          <a:p/>
          <a:p>
            <a:r>
              <a:t>Как это выглядит внутри конкретного инструмента, с настоящими параметрами обеих версий, — следующие два экрана.</a:t>
            </a:r>
          </a:p>
          <a:p/>
          <a:p>
            <a:r>
              <a:t>Стоит сразу снять одно возражение, которое напрашивается: «а что, если шаблон окажется не таким гибким, как модель, и не впишет что-то важное». Это честный вопрос, и ответ на него — не «шаблон всегда лучше», а «для этой конкретной потребности шаблону хватает той гибкости, которая ему доступна»: три значения, одна форма сообщения, ничего, что требовало бы по-настоящему разного текста от заявки к заявке. Если бы потребность была другой — например, нужно было бы учитывать тон заявителя или писать по-разному в зависимости от срочности, — этот же аргумент сработал бы в обратную сторону, и схему с моделью стоило бы предпочесть.</a:t>
            </a:r>
          </a:p>
          <a:p/>
          <a:p>
            <a:r>
              <a:t>Порядок событий здесь остаётся ровно таким, каким он был на самом деле: сначала собрали версию с моделью, через практику нашли проблему с плейсхолдером, и только после этого пришли к архитектуре, которую вы видите на этом экране. Две схемы стоят рядом сейчас не потому, что они были равноценными вариантами с самого начала, а потому, что рядом их проще сравнить один к одному — что именно изменилось и почему это изменение закрывает найденную на практике проблему.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конфигурация версии 1, какой она реально стоит на стенде — не макет и не упрощение. Узел называется «Compose notification (LLM)», и рядом с ним отдельный узел модели — gpt-4o-mini, та же модель, которой цепочка уже пользуется на шаге извлечения полей.</a:t>
            </a:r>
          </a:p>
          <a:p/>
          <a:p>
            <a:r>
              <a:t>Что в промпте написано буквально. Модели дают имя заявителя, основную тему, дополнительные темы — все уже известные, структурированные значения — и просят написать короткое дружелюбное уведомление координатору в Telegram, одно-два предложения, по-человечески, без заданной формы. Это именно то разрешение на свободу, о котором мы говорили на схеме архитектуры: никакого шаблона, никакой фиксированной структуры фразы — только смысловая задача.</a:t>
            </a:r>
          </a:p>
          <a:p/>
          <a:p>
            <a:r>
              <a:t>И вот что в этом промпте важно заметить задним числом, после того как мы уже видели находку с плейсхолдером: инструкция модели не содержит ничего похожего на «вставь реальное имя координатора» — модели просто не сообщили имя координатора вовсе, потому что оно и не нужно получателю текста. Проблема не в том, что промпт был плохо написан, а в том, что любой текст, который модель сочиняет свободно под естественно звучащую инструкцию, может случайно утащить в вывод обрывок формы или шаблона, с которым она работала, — и ни одна проверка формата этого не поймает, потому что получившийся текст синтаксически в порядке.</a:t>
            </a:r>
          </a:p>
          <a:p/>
          <a:p>
            <a:r>
              <a:t>Готовый текст от этого узла идёт напрямую в узел отправки сообщения в Telegram координатору — без дополнительной сверки по пути. Промежуточной проверки между сочинённым текстом и отправкой здесь нет вовсе: что модель вернула, то и уходит получателю без исключений.</a:t>
            </a:r>
          </a:p>
          <a:p/>
          <a:p>
            <a:r>
              <a:t>Обратите внимание, что сама конфигурация выглядит аккуратно и ничем не намекает на будущую проблему — промпт короткий, понятный, без явных ошибок формулировки. Находка с плейсхолдером не связана с качеством написания промпта, и это стоит подчеркнуть отдельно: даже хорошо написанная инструкция свободной генерации не даёт гарантии, что в тексте не окажется чего-то постороннего по форме, если сама задача такой гарантии не требовала с самого начала. Следующий экран — та же точка цепочки, но без этого узла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конфигурация версии 2 — и сравнивать её стоит прямо с предыдущим экраном, потому что узел отправки в Telegram у обеих версий один и тот же; разница целиком в том, что происходит до него.</a:t>
            </a:r>
          </a:p>
          <a:p/>
          <a:p>
            <a:r>
              <a:t>Узел называется «Compose notification (template)», и устроен он без единого обращения к модели: это выражение, которое один раз написали руками, а дальше оно просто подставляет в заранее заданные места уже известные значения — имя заявителя, основную тему и, если есть, дополнительные темы. Никакого отдельного узла модели рядом с ним нет вовсе — в этой версии цепочки такого узла просто не существует.</a:t>
            </a:r>
          </a:p>
          <a:p/>
          <a:p>
            <a:r>
              <a:t>Что это даёт на практике. Результат детерминированный: при одних и тех же входных значениях текст всегда получается одним и тем же, без вариаций, и значит без риска вставить в сообщение что-то, чего в заявке не было. Цена этой надёжности — обратная сторона: если форма сообщения когда-нибудь должна будет меняться по смыслу, а не просто по значениям — скажем, появится необходимость писать на разных языках или с разной степенью детализации — это выражение придётся переписывать руками на каждый такой случай, и само оно этого не почувствует.</a:t>
            </a:r>
          </a:p>
          <a:p/>
          <a:p>
            <a:r>
              <a:t>Обе версии мы сейчас прогнали через одни и те же заявки. Что из этого следует для нашей потребности конкретно — на следующем экране.</a:t>
            </a:r>
          </a:p>
          <a:p/>
          <a:p>
            <a:r>
              <a:t>Обратите внимание, что это ровно тот же приём, который мы уже видели на прошлом занятии в узле сверки со справочником: один раз написанное детерминированное выражение вместо повторного обращения к модели там, где модель уже сделала свою часть работы раньше в цепочке. Разница только в том, что там мы подставляли значения в структуру данных, а здесь — в текст сообщения для человека. Устройство приёма не меняется в зависимости от того, что в итоге получает: таблицу или читаемую строку.</a:t>
            </a:r>
          </a:p>
          <a:p/>
          <a:p>
            <a:r>
              <a:t>И это ровно то, что просила Марина, слово в слово: выражение собирает текст из имени, темы и дополнительных тем — те же три значения, что назвала постановка, ни больше, ни меньше. Контакт заявителя в это уведомление сознательно не входит: он уже виден на экране результата, а это сообщение в Telegram решает одну узкую задачу — заметить многотемную заявку сразу, а не продублировать все данные заявки.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итог этого кейса в одно переносимое правило, а не в вывод, работающий только для уведомлений координатору.</a:t>
            </a:r>
          </a:p>
          <a:p/>
          <a:p>
            <a:r>
              <a:t>Узел модели в версии 1 не сломался и технически не ошибся — сообщение дошло, формат ответа был правильным. Он просто решал задачу, которой на самом деле не было: все три значения уже лежали в структурированном виде, интерпретировать было нечего, а форма итогового сообщения не менялась от заявки к заявке. В такой ситуации вызов модели — это не инструмент для генерации нового смысла, а дорогой и не вполне предсказуемый способ переписать то, что уже известно, своими словами.</a:t>
            </a:r>
          </a:p>
          <a:p/>
          <a:p>
            <a:r>
              <a:t>Отсюда и общее правило, которое переносится на любой оркестратор, не только на тот, которым мы пользуемся: не каждый текстовый вывод в цепочке — это генерация в смысле «модель создаёт что-то новое». Если весь нужный смысл уже извлечён на более ранних шагах и форма результата зафиксирована, перед нами задача форматирования, а не задача модели — и решать её нужно детерминированной подстановкой значений, а не свободным текстовым выводом.</a:t>
            </a:r>
          </a:p>
          <a:p/>
          <a:p>
            <a:r>
              <a:t>Класс задачи, который этот кейс закрывает, можно назвать так: сборка сообщения из уже извлечённых значений по фиксированной форме. Узнать его в своей собственной цепочке можно по одному признаку — если вы можете заранее, не видя конкретной заявки, написать шаблон итогового сообщения и в нём остаются только пустые места для подстановки, значит, сочинять здесь уже нечего и звать модель ради этого не нужно.</a:t>
            </a:r>
          </a:p>
          <a:p/>
          <a:p>
            <a:r>
              <a:t>Это не значит, что модель здесь лишняя всегда и везде — у этого правила есть границы, и к ним мы переходим на следующем экране.</a:t>
            </a:r>
          </a:p>
          <a:p/>
          <a:p>
            <a:r>
              <a:t>Стоит отдельно заметить, что оба узла, которые мы сравнивали, формально решили одну и ту же задачу: сообщение дошло до координатора в обоих случаях, и прогон был зелёным у обоих. Внешне, по факту доставки, различий между ними нет. Различие проявляется только тогда, когда смотришь не на то, что узел сделал один раз, а на то, что он может сделать на следующем прогоне, которого вы ещё не видели — и это ровно то смещение взгляда, вокруг которого строится всё сегодняшнее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нюанса, прежде чем мы закрепим критерий, и оба — про то, что ни одна из двух версий не безопасна навечно сама по себе.</a:t>
            </a:r>
          </a:p>
          <a:p/>
          <a:p>
            <a:r>
              <a:t>Первый нюанс — лишний шаг модели это риск, а не только лишняя цена. Легко подумать, что раз задача тривиальная — просто собрать уже известные слова в одну фразу — то и опасаться нечего. Но мы только что видели: даже на тривиальной задаче форматирования вызов модели остаётся точкой, где может появиться галлюцинация, то есть деталь, которой не было на входе. Цена в деньгах и времени здесь даже не главное — главное то, что в принципе непредсказуемо, что окажется в тексте.</a:t>
            </a:r>
          </a:p>
          <a:p/>
          <a:p>
            <a:r>
              <a:t>Второй нюанс — ровно про шаблон, и он для равновесия. Шаблон не навсегда безопасен просто потому, что он детерминированный. Если в какой-то момент форме сообщения понадобится настоящая вариативность — например, уведомления придётся писать на нескольких языках или с разной степенью подробности для разных получателей — статическое выражение этого не почувствует само, и его придётся вручную переписывать на каждый новый случай. Это другая цена, инженерная, не риск галлюцинации, но тоже реальная.</a:t>
            </a:r>
          </a:p>
          <a:p/>
          <a:p>
            <a:r>
              <a:t>Отсюда критерий, который можно унести с собой и применить к любой собственной цепочке, не вспоминая ни одного имени узла. Модель нужна тогда, когда контенту действительно нужна вариативность, или когда значение требует интерпретации текста заявки, которой не случилось на предыдущем шаге. Шаблона достаточно, когда форма сообщения одна и все нужные значения уже лежат структурированными.</a:t>
            </a:r>
          </a:p>
          <a:p/>
          <a:p>
            <a:r>
              <a:t>И возвращаемся к оси занятия. Первая строка: сообщение действительно ушло координатору, и это наблюдение было правдой с самого начала. Чем оно оказалось: цепочка получилась короче и дешевле без узла модели вовсе — тот же результат, без его цены и без его риска.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сочинением текста моделью на каждый прогон. Второй кейс начинается с другой потребности, но такой же обычной для учебного центра.</a:t>
            </a:r>
          </a:p>
          <a:p/>
          <a:p>
            <a:r>
              <a:t>Заявки на курсы обрабатывает администратор, и за день через неё проходит много сообщений от разных людей. Иногда один и тот же человек пишет об одном и том же вопросе дважды: забыл, что уже спрашивал, не увидел ответа, решил напомнить другими словами. Причина нам не важна. Важно, что цепочка, которую мы собираем, не должна каждый раз реагировать на повторное обращение так, будто видит его первый раз.</a:t>
            </a:r>
          </a:p>
          <a:p/>
          <a:p>
            <a:r>
              <a:t>Реплика на экране — не абстрактного клиента, а того, кто читает заявки на другом конце: администратора, которая весь день видит входящий поток и должна за секунду решить, новый это вопрос или она это уже разбирала. Разница с первым кейсом в том, откуда растёт потребность: там неудобство было у клиента, получавшего сухой или неровный текст уведомления, здесь неудобство — у администратора и, не в меньшей степени, у самого клиента, который вправе рассчитывать, что его уже не будут спрашивать заново о том, что он только что объяснил.</a:t>
            </a:r>
          </a:p>
          <a:p/>
          <a:p>
            <a:r>
              <a:t>Пока это выглядит как мелкая деталь интерфейса: ну прислали вопрос дважды, что такого. Но за каждым повторным прогоном стоит та же цепочка целиком — запись заявки, формирование уведомления, работа модели на предыдущих шагах. Если повтор не остановить на входе, вся эта работа делается заново ради вопроса, ответ на который уже есть. Дешевле остановить повтор на входе, чем прогонять его через всю цепочку и разбираться постфактум.</a:t>
            </a:r>
          </a:p>
          <a:p/>
          <a:p>
            <a:r>
              <a:t>Сегодня задача не в том, нужна проверка или нет — она нужна очевидно, — а в том, из чего её собрать. И, как мы увидим дальше, участвуют два разных инструмента по цене: один почти бесплатный, другой — ощутимо дороже. Вопрос не в том, какой выбрать единственным, а в том, как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и ровно та, с которой начинается этот кейс: администратор учебного центра Светлана ведёт учёт заявок. В понедельник утром она видит в таблице заявку от Бориса — «когда можно оплатить занятие?» — обрабатывает её и отвечает. Обычное утро, обычная заявка.</a:t>
            </a:r>
          </a:p>
          <a:p/>
          <a:p>
            <a:r>
              <a:t>Через два часа приходит вторая заявка от того же контакта: «как мне внести оплату за курс». По смыслу это тот же вопрос, просто сформулированный иначе. Но Светлана за день видит десятки обращений и не держит в голове, кто что спрашивал два часа назад, — она не узнаёт перефразировку и обрабатывает заявку как новую: тратит время повторно, отвечает ещё раз.</a:t>
            </a:r>
          </a:p>
          <a:p/>
          <a:p>
            <a:r>
              <a:t>Для Бориса это выглядит иначе. Он получает два разных ответа от учебного центра с разницей в два часа — и единственное объяснение, которое приходит в голову, это что первый ответ потерялся или его никто не прочитал. Цена этой ошибки не абстрактная: это двойная работа администратора, которая могла бы уйти на что-то другое, и недоверие клиента, который теперь не уверен, что его вообще читают внимательно.</a:t>
            </a:r>
          </a:p>
          <a:p/>
          <a:p>
            <a:r>
              <a:t>Первое, что здесь естественно собрать, — точное совпадение текста. Нормализуем входящую строку: убираем регистр, лишние пробелы, — и сравниваем с недавними обращениями того же контакта за разумное окно времени. Совпали строки — перед нами повтор. Решение дёшевое и честное: ни одного вызова модели, результат мгновенный.</a:t>
            </a:r>
          </a:p>
          <a:p/>
          <a:p>
            <a:r>
              <a:t>И вот что показывает практика на этой самой паре. Первое сообщение Бориса и второе отличаются по смыслу ровно ничем — это один и тот же вопрос. Но по буквам это два разных текста: «оплатить занятие» и «внести оплату за курс» не совпадают ни посимвольно, ни после нормализации. Точное совпадение честно отвечает: это новое обращение. Цепочка запускается с нуля, как будто вопроса никогда не было, — и мы снова получаем ту самую ситуацию, с которой начали: два ответа, два часа, недоверие.</a:t>
            </a:r>
          </a:p>
          <a:p/>
          <a:p>
            <a:r>
              <a:t>Проверка не ошиблась технически. Она сделала ровно то, для чего её написали: сравнила две строки символ за символом. Проблема не в коде проверки, а в том, что совпадение символов и совпадение смысла — разные вещи, и первое не гарантирует второго. Вопрос, который отсюда вырастает: как построить проверку так, чтобы она ловила не только буквальное совпадение, но и переформулировку, с которой мы столкнулись у Бориса?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самая пара, на которой версия 1 споткнулась: «как мне внести оплату за курс» — вопрос Бориса, заданный через два часа после «когда можно оплатить занятие?». По смыслу один и тот же вопрос. По буквам — два разных текста.</a:t>
            </a:r>
          </a:p>
          <a:p/>
          <a:p>
            <a:r>
              <a:t>Вопрос залу: как построить проверку на повтор.</a:t>
            </a:r>
          </a:p>
          <a:p/>
          <a:p>
            <a:r>
              <a:t>Четыре карточки, и это не теория, а четыре реальных способа, которые встречаются в живых системах. Сравнивать тексты буквально — точное совпадение после нормализации, то, что мы уже видели на Борисе. Сравнивать тексты по общим словам — классический векторный подход с порогом, без обучаемой модели, но серьёзнее простого сравнения строк. Спросить у модели, один ли это вопрос, просто сформулированный иначе. Или сначала проверить точное совпадение дёшево, а по модели пускать только то, что осталось непонятным.</a:t>
            </a:r>
          </a:p>
          <a:p/>
          <a:p>
            <a:r>
              <a:t>Обратите внимание на формулировки: все четыре описывают действие, которое можно взять и реализовать, а не утверждение о том, что умеет или не умеет какой-то инструмент сам по себе. «Сравнивать буквально» — действие. «Спросить у модели» — тоже действие, а не готовый вывод вроде «модель понимает смысл, а хэш — нет». Разница важна: вопрос не о том, какой инструмент умнее в принципе, а о том, какой шаг вы бы поставили первым в цепочке, которая обрабатывает заявки Бориса и всех остальных.</a:t>
            </a:r>
          </a:p>
          <a:p/>
          <a:p>
            <a:r>
              <a:t>Три из четырёх карточек — самостоятельные решения, которые можно взять и реализовать целиком: сравнение буквально, сравнение по словам или вызов модели. Четвёртая — не ещё один отдельный инструмент, а способ скомбинировать уже названные: сначала дёшево, а дороже — только на то, что дёшево не разрешило. Если голоса разделятся между первыми тремя вариантами и четвёртым, это нормально: первые три отвечают на вопрос «чем сравнивать», четвёртый — на вопрос «в каком порядке».</a:t>
            </a:r>
          </a:p>
          <a:p/>
          <a:p>
            <a:r>
              <a:t>Выбирайте. Правильных ответов здесь больше одного, все четыре — реальные инженерные решения. Разбирать будем, что каждое реально ловит на паре Бориса, а что — нет, и во что это обходится.</a:t>
            </a:r>
          </a:p>
          <a:p/>
          <a:p>
            <a:r>
              <a:t>Пятнадцать секунд,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все четыре действия, и не на предположении, а на измерении, которое провели до того, как решать.</a:t>
            </a:r>
          </a:p>
          <a:p/>
          <a:p>
            <a:r>
              <a:t>Точное совпадение — действие первое — на этом наборе из 20 пар ловит 15: все 5 буквальных повторов и все 10 заведомо разных вопросов. Это 75 процентов, если считать в процентах, но важнее знаменатель: ни одна из 5 перефразировок, вроде пары Бориса, не поймана — ноль из пяти.</a:t>
            </a:r>
          </a:p>
          <a:p/>
          <a:p>
            <a:r>
              <a:t>Действие второе, классический векторный подход — TF-IDF плюс косинусная близость, порог 0,3, — выглядит серьёзнее: есть мера похожести, есть настраиваемый порог, это реалистичный инженерный выбор, а не придуманная для контраста слабая альтернатива. Измерили его на том же наборе, тем же методом. Результат — тоже 15 из 20, ровно то же самое. И это самое важное в разборе: подход не даёт прироста там, где должен бы его дать, — на тех же пяти перефразировках, потому что у большинства этих пар ноль общих слов при полном совпадении смысла. «Оплату» и «оплатить» — разные словоформы, «курс» и «занятие» — разные слова при одном смысле, и мера на основе слов слепа к этому в принципе.</a:t>
            </a:r>
          </a:p>
          <a:p/>
          <a:p>
            <a:r>
              <a:t>Действие третье, дешёвая модель-судья: прямой вопрос «это тот же вопрос, просто сформулированный иначе?», модель gpt-4o-mini. Результат — 19 из 20, все 10 настоящих дублей и 9 из 10 разных вопросов. Но и у неё собственная ошибка: одно ложное срабатывание, и оно показательное — пара про возврат средств за пропущенный урок и про расписание на четверг тематически близки, оба про занятия, но по сути разные вопросы. Модель сказала «да».</a:t>
            </a:r>
          </a:p>
          <a:p/>
          <a:p>
            <a:r>
              <a:t>И честная находка, которая не очевидна заранее: если понизить порог TF-IDF, чтобы поймать пропущенную перефразировку, один из верно классифицированных «разных вопросов» тут же становится ложным срабатыванием. На этом наборе не существует единого порога, который побил бы хэш, — классический векторный подход здесь не «более умный хэш», а тот же результат другим способом.</a:t>
            </a:r>
          </a:p>
          <a:p/>
          <a:p>
            <a:r>
              <a:t>Действие четвёртое, порядок, — дёшево сначала, дорого на спорное, — закрывает обе задачи по цене: 5 буквальных повторов гасятся бесплатно хэшем, модель вызывается только на оставшееся. Как это выглядит архитектурно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три схемы, которые мы только что разобрали, теперь рядом, на одном и том же тесте. Хэш и классический векторный подход дают одинаковые 15 из 20 — несмотря на то, что второй выглядит серьёзнее. Модель — 19 из 20, дороже на каждый вызов, но ловит то, к чему механика слепа в принципе.</a:t>
            </a:r>
          </a:p>
          <a:p/>
          <a:p>
            <a:r>
              <a:t>Отсюда архитектурное решение, и оно не привязано ни к одному конкретному инструменту — эта формулировка не изменится, если цепочку собирать не в n8n, а в чём угодно ещё, и не называет ни одного узла.</a:t>
            </a:r>
          </a:p>
          <a:p/>
          <a:p>
            <a:r>
              <a:t>Первый шаг — дешёвый, механический фильтр. Он берёт на себя всё, что решается без модели: все буквальные повторы, и он решает это бесплатно и мгновенно. Классический векторный подход в этот шаг не идёт — измерение только что показало, что он не даёт прироста над самым простым сравнением строк, а значит добавлять его как отдельный шаг — лишняя сложность без выигрыша.</a:t>
            </a:r>
          </a:p>
          <a:p/>
          <a:p>
            <a:r>
              <a:t>Второй шаг — дорогая проверка смыслом, но только на то, что первый шаг не разрешил однозначно. Модель вызывается не на каждое обращение, а на остаток — ровно на те случаи, где механическое сравнение бессильно в принципе, потому что переформулировка на русском языке может не оставить ни одного общего слова при полном совпадении смысла.</a:t>
            </a:r>
          </a:p>
          <a:p/>
          <a:p>
            <a:r>
              <a:t>Это тот же общий приём, что и в первом кейсе этого занятия, только выглядел он иначе: там решение о том, что писать в уведомлении, убрали у модели целиком, потому что задача оказалась полностью детерминированной. Здесь задача не детерминирована целиком — определить, один ли смысл у двух разных строк, механика не умеет в общем случае, — и поэтому модель не убирается, а сдвигается туда, где она реально нужна: на то, что дешёвый шаг оставил нерешённым.</a:t>
            </a:r>
          </a:p>
          <a:p/>
          <a:p>
            <a:r>
              <a:t>Теперь посмотрим, как оба шага выглядят не как принцип, а как настроенные узлы в реальной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первый, дешёвый шаг выглядит в настоящей цепочке — не принцип, а два настроенных узла со стенда.</a:t>
            </a:r>
          </a:p>
          <a:p/>
          <a:p>
            <a:r>
              <a:t>Первый узел, </a:t>
            </a:r>
            <a:r>
              <a:rPr>
                <a:latin typeface="Consolas"/>
              </a:rPr>
              <a:t>Normalize + hash</a:t>
            </a:r>
            <a:r>
              <a:t>, — это </a:t>
            </a:r>
            <a:r>
              <a:rPr>
                <a:latin typeface="Consolas"/>
              </a:rPr>
              <a:t>Set</a:t>
            </a:r>
            <a:r>
              <a:t>, он ничего не вызывает, только считает значения. Берём текст заявки и приводим его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То же самое считается и для недавнего сообщения того же контакта, чтобы было с чем сравнивать.</a:t>
            </a:r>
          </a:p>
          <a:p/>
          <a:p>
            <a:r>
              <a:t>Второй узел, </a:t>
            </a:r>
            <a:r>
              <a:rPr>
                <a:latin typeface="Consolas"/>
              </a:rPr>
              <a:t>Exact duplicate in window?</a:t>
            </a:r>
            <a:r>
              <a:t>, — это </a:t>
            </a:r>
            <a:r>
              <a:rPr>
                <a:latin typeface="Consolas"/>
              </a:rPr>
              <a:t>IF</a:t>
            </a:r>
            <a:r>
              <a:t>, и у него одно условие: нормализованный хэш текущей заявки строго равен нормализованному хэшу недавнего обращения. Строки совпали — перед нами повтор, и дальше цепочка не идёт: ответ уже есть, новую запись делать не нужно, а сам прогон при этом завершается успешно — это важно запомнить, мы вернёмся к этому через экран. Строки не совпали — значит дешёвый фильтр не дал однозначного ответа, и заявка идёт дальше, к проверке смыслом.</a:t>
            </a:r>
          </a:p>
          <a:p/>
          <a:p>
            <a:r>
              <a:t>Обратите внимание: ни один из этих двух узлов не вызывает модель. Сравнение строк — чистая механика, дешёвая и мгновенная, и её можно позволить себе на каждую заявку без исключения — цена этого шага не растёт от того, сколько заявок приходит в час.</a:t>
            </a:r>
          </a:p>
          <a:p/>
          <a:p>
            <a:r>
              <a:t>Один параметр здесь стоит отдельного внимания, хотя на этом экране он не виден, — это окно времени, за которое мы ищем недавнее обращение того же контакта. Слишком короткое окно пропустит повтор, если человек написал во второй раз не сразу. Слишком длинное начнёт путать разные, по-настоящему новые вопросы одного и того же человека с повтором одного и того же вопроса. Это параметр с ценой в обе стороны, и мы вернёмся к нему в нюансах.</a:t>
            </a:r>
          </a:p>
          <a:p/>
          <a:p>
            <a:r>
              <a:t>Теперь — второй, дорогой узел, тот, что видит только то, что этот фильтр не разрешил.</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то, что дешёвый фильтр не разрешил однозначно. У него один параметр, и это текст промпта: «это новое сообщение: вот этот текст. Недавнее сообщение того же контакта: вот этот текст. Это тот же вопрос, просто сформулированный иначе? Ответь строго «да» или «нет».» Промпт не просит оценить похожесть и не просит процент совпадения — он прямо ставит вопрос, который нас интересует, и просит короткий ответ, который легко обработать дальше по цепочке.</a:t>
            </a:r>
          </a:p>
          <a:p/>
          <a:p>
            <a:r>
              <a:t>Теперь — два настоящих прогона с этого же стенда.</a:t>
            </a:r>
          </a:p>
          <a:p/>
          <a:p>
            <a:r>
              <a:t>Прогон первый: тот же текст дважды. Точное совпадение поймало мгновенно, раньше, чем дело дошло до модели. Заявка не записана, ответа не было — и при этом сам прогон завершился технически успешно. Ничего не сломалось, ничего не упало, просто новой записи не появилось, потому что в ней не было смысла: ответ на этот вопрос уже существует. Зелёный статус здесь — не признак того, что всё сделано, а признак того, что фильтр сработал так, как задумано; и это честная находка сама по себе — «успешно» не значит «результат там, где его ждут».</a:t>
            </a:r>
          </a:p>
          <a:p/>
          <a:p>
            <a:r>
              <a:t>Прогон второй: та самая пара Бориса. «Когда можно оплатить занятие?» и следом, через время, «как мне внести оплату за курс». Дешёвый фильтр не разрешил это однозначно: строки разные. Запрос дошёл до узла-модели, модель получила оба текста — новый и недавний. Ответ — «да», тот же вопрос, просто сформулированный иначе.</a:t>
            </a:r>
          </a:p>
          <a:p/>
          <a:p>
            <a:r>
              <a:t>Обратите внимание, где именно модель оказалась полезна: ровно там, где на разборе мы посчитали, что у хэша и у классического векторного подхода на этой же паре — ноль. Там, где механическое сравнение слепо в принципе, проверка смыслом дала верный ответ.</a:t>
            </a:r>
          </a:p>
          <a:p/>
          <a:p>
            <a:r>
              <a:t>На экране перед вами оба результата без единого служебного идентификатора — важны тексты заявок и ответ модели, не номер прогона на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этого кейса на измерении, которое мы только что видели, а не на предположении.</a:t>
            </a:r>
          </a:p>
          <a:p/>
          <a:p>
            <a:r>
              <a:t>Механическая проверка и проверка смыслом — не конкуренты, и ни одна не является «более совершенной версией» другой. Точное совпадение не ловит переформулировку в принципе: оно сравнивает строки, а не смысл, и иначе работать не умеет. Классический векторный подход выглядел более серьёзной альтернативой — у него есть мера и порог, — но измерение на 20 реальных парах дало ему ровно столько же, сколько простому хэшу: 15 из 20, и ошибается он там же, на тех же перефразировках, просто по другой причине — ноль общих слов при полном совпадении смысла. «Более серьёзный» неязыковой инструмент не гарантирует прироста — это показало измерение на своих данных, не общее свойство метода.</a:t>
            </a:r>
          </a:p>
          <a:p/>
          <a:p>
            <a:r>
              <a:t>Системный приём, который стоит унести: тратить дорогой инструмент только там, где дешёвый явно не дал ответа. Точное совпадение остаётся в финальном решении — но как первый дешёвый фильтр, который берёт на себя буквальные повторы бесплатно и экономит на нашем наборе 5 вызовов модели из 20, а не как альтернатива LLM, с которой она якобы конкурирует. Модель вызывается только на то, что первый фильтр не разрешил однозначно, и тогда её цена оправдана, потому что заменить её нечем: ни хэш, ни классический векторный подход не решают переформулировку на русском языке.</a:t>
            </a:r>
          </a:p>
          <a:p/>
          <a:p>
            <a:r>
              <a:t>Это тот же системный приём, что в первом кейсе этого занятия, только там он смотрелся иначе: шаг модели убрали целиком и заменили подстановкой значений, потому что задача оказалась полностью детерминированной. Здесь задача не детерминирована целиком — определить, один ли смысл у двух разных строк текста, механика не умеет в общем случае, — поэтому модель не убирается, а сдвигается туда, где она реально нужна.</a:t>
            </a:r>
          </a:p>
          <a:p/>
          <a:p>
            <a:r>
              <a:t>И 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вместо сравнения нового текста с одним недавним обращением того же человека. Сегодняшняя проверка на повтор — по сути первая, самая узкая версия той же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то, какую из схем выбрать — все три всплывают уже после того, как выбор сделан и решение собрано.</a:t>
            </a:r>
          </a:p>
          <a:p/>
          <a:p>
            <a:r>
              <a:t>Первый — окно времени само по себе параметр с ценой. Слишком короткое окно — и повтор, который человек прислал через день, а не через пару минут, проверка пропустит: формально это уже «не недавнее» обращение. Слишком длинное окно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 LLM-проверка похожести — частный случай более общей задачи, когда модель выступает судьёй, оценивающим чужой текст. И у неё та же асимметрия ошибок, что у любой модели в роли оценщика: это не предположение, а задокументированный результат — Ватаока, Такахаси и Ри показали на NeurIPS 2024, на воркшопе Safe GenAI, что модель-судья систематически не нейтральна, даже когда формально просто отвечает «да» или «нет» на прямой вопрос. И это не абстрактная ссылка на чужую работу: мы только что увидели ровно это на своём тесте — одно ложное срабатывание из двадцати, не ноль. Проверка смыслом не идеальна, она просто ошибается иначе, чем механика.</a:t>
            </a:r>
          </a:p>
          <a:p/>
          <a:p>
            <a:r>
              <a:t>Третий нюанс — что мы вообще считаем дублем — это решение продукта, не только техники. Иногда человек специально переспрашивает другими словами, потому что ему нужен ответ срочнее второго раза, и схлопнуть это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 это решение стоит обсудить с тем, кто работает с заявками каждый день, не угадывать его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он не про то, какой инструмент принципиально лучше — все три работают, вопрос в том, что за повторы вы ожидаете и чем готовы платить за ошибку каждого.</a:t>
            </a:r>
          </a:p>
          <a:p/>
          <a:p>
            <a:r>
              <a:t>Точного совпадения достаточно для буквальных повторов — на нашем наборе это 75 процентов, 15 из 20, бесплатно и мгновенно. Это первый вопрос Бориса, заданный дважды одними и теми же словами, — для такого случая хэш справляется полностью, и тратить вызов модели на каждое обращение не окупается.</a:t>
            </a:r>
          </a:p>
          <a:p/>
          <a:p>
            <a:r>
              <a:t>Классический векторный подход не стоит добавлять «на всякий случай», рассчитывая на то, что мера похожести и настраиваемый порог сами по себе дадут прирост. Измерение на 20 реальных парах показало то же самое, что у хэша: его нельзя брать как «более умного хэша» без проверки на своих данных.</a:t>
            </a:r>
          </a:p>
          <a:p/>
          <a:p>
            <a:r>
              <a:t>Проверка смыслом нужна сверху там, где ожидаются именно переформулировки — второй вопрос Бориса, заданный другими словами. Модель нужна там, и важно помнить: её собственная частота ошибок — у нас одно ложное срабатывание из двадцати, пять процентов — это цена, которую вы платите за эту точность, а не ноль. Если цена необнаруженного дубля — повторная работа администратора, повторный звонок, недоверие клиента вроде того, что получил Борис, — выше цены одного лишнего вызова модели на спорные случаи, проверка смыслом себя оправдывает.</a:t>
            </a:r>
          </a:p>
          <a:p/>
          <a:p>
            <a:r>
              <a:t>И теперь закрываем вторую строку нашей таблицы. Выглядело надёжным: заявка про тот же вопрос пришла снова — формально это просто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 ровно то, что случилось у Светланы и Бориса. И важно унести именно это: ни точное совпадение, ни классический векторный подход не решают эту задачу целиком сами по себе — для настоящей переформулировки нужна проверка смыслом, со своей измеренной, а не воображаемой ценой ошибки, и именно поэтому в финальном решении она стоит вторым шагом, а не единственным.</a:t>
            </a:r>
          </a:p>
          <a:p/>
          <a:p>
            <a:r>
              <a:t>Кейс закрыт: путь прошли от потребности Светланы и Бориса через два неудачных или неполных дешёвых подхода, честное измерение на реальных текстах и выбор правильного порядка инструментов — до конкретного критерия, по которому решать, нужен ли второй, дорогой слой вообще.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дня, и тема меняется с текста на деньги. В первом кейсе решали, как составить уведомление из уже известных значений. Во втором — отличить повторный вопрос от нового. Здесь решение опирается на одно-единственное число: сумму возврата.</a:t>
            </a:r>
          </a:p>
          <a:p/>
          <a:p>
            <a:r>
              <a:t>Учебный центр принимает заявки на возврат оплаты — занятие пропустили, курс не подошёл, передумали. Часть таких заявок центр должен одобрять сам, не отрывая руководителя на каждую мелочь: это его повседневная работа, и ему нужно решать её быстро, без согласований сверху. Другую часть — крупные суммы — обязательно показывать руководителю: там цена ошибки выше, и решение нельзя отдавать без контроля. Разделяет эти две категории порог: три тысячи рублей.</a:t>
            </a:r>
          </a:p>
          <a:p/>
          <a:p>
            <a:r>
              <a:t>Почему нельзя просто отдать всё руководителю или всё — автоматике, тоже понятно без лишних слов. Если решать всё вручную, руководитель тонет в мелких заявках и не успевает заниматься тем, для чего он нужен. Если доверить автоматике вообще всё без разбора, крупная сумма может уйти без единого взгляда человека — а там, где счёт идёт на десятки тысяч, это риск, который никто сознательно на себя не берёт. Порог — это и есть компромисс между этими двумя крайностями, и от того, насколько точно он соблюдается, зависит, работает ли компромисс на практике или только на бумаге.</a:t>
            </a:r>
          </a:p>
          <a:p/>
          <a:p>
            <a:r>
              <a:t>Фраза на экране — не пересказ и не вывод, а буквальный текст, который лежит в промпте уже месяц: «не возвращай больше 3000 рублей автоматически, иначе эскалируй руководителю». Коротко, конкретно, и на первый взгляд совершенно однозначно — число есть, сравнение есть, что тут можно перепутать.</a:t>
            </a:r>
          </a:p>
          <a:p/>
          <a:p>
            <a:r>
              <a:t>Именно эта кажущаяся однозначность и окажется на проверке неполной. Но не будем забегать: сначала посмотрим, как это правило живёт сегодня и кто его выполняет — следующий экран.</a:t>
            </a:r>
          </a:p>
          <a:p/>
          <a:p>
            <a:r>
              <a:t>Дорожка кейсов внизу экрана — третий из четырёх; после этого занятие перейдёт к бизнес-кейсу с похожей историей на другом масштабе, а затем к последнему, четвёртому кейсу этого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это работает сегодня. Заявка приходит через ту же форму, которой мы пользовались в предыдущих двух кейсах: человек пишет своими словами, сумма называется внутри текста, а не в отдельном поле. «Прошу вернуть 2500 рублей за пропущенное занятие» — обычная формулировка, ничего структурированного.</a:t>
            </a:r>
          </a:p>
          <a:p/>
          <a:p>
            <a:r>
              <a:t>Решение принимает один шаг цепочки, и принимает его целиком. В запрос к модели попадает сразу два смысла: правило целиком текстом — «не возвращай больше 3000 рублей автоматически, иначе эскалируй руководителю» — и сумма из заявки. Модель читает это одним куском и отвечает одним словом: «одобрить» или «эскалировать». Внутри этого запроса происходит сразу три операции сразу: прочитать сумму, сравнить её с порогом, сформулировать ответ — и все три модель делает сама, без какой-либо проверки снаружи.</a:t>
            </a:r>
          </a:p>
          <a:p/>
          <a:p>
            <a:r>
              <a:t>Дальше развилка простая. «Одобрить» — возврат оформляется без участия человека. «Эскалировать» — заявка попадает к руководителю, и он решает уже сам.</a:t>
            </a:r>
          </a:p>
          <a:p/>
          <a:p>
            <a:r>
              <a:t>И вот на чём держится сегодняшнее доверие к этой версии. Она работает месяц. За этот месяц никто не пришёл и не сказал «вот эта заявка одобрена неправильно» или «эту напрасно отправили руководителю». Команда, естественно, читает это как подтверждение: правило работает, модель справляется.</a:t>
            </a:r>
          </a:p>
          <a:p/>
          <a:p>
            <a:r>
              <a:t>Но стоит заметить вслух, что именно подтверждает отсутствие жалоб — и чего оно не подтверждает. Оно подтверждает, что ни одна ошибка не была достаточно заметной или достаточно дорогой, чтобы кто-то вернулся и пожаловался. Оно не подтверждает, что ошибок не было вовсе. Про разницу между этими двумя утверждениями — ровно следующий такт.</a:t>
            </a:r>
          </a:p>
          <a:p/>
          <a:p>
            <a:r>
              <a:t>Обратите внимание и на то, чего в этой версии нет между чтением суммы и финальным словом ответа. Нет отдельного шага, который бы вслух зафиксировал, что сумма такая-то, и отдельно — что порог такой-то, и отдельно — результат их сравнения. Всё это происходит внутри одного вызова модели, и наружу выходит только готовое слово «одобрить» или «эскалировать» — без промежуточного следа, по которому можно было бы проверить, как модель пришла к этому слову в конкретном случае. Именно эта непрозрачность одного вызова и есть то, что придётся распаковать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здесь на секунду, прежде чем идти дальше. Правило работает месяц, жалоб не было — и это ровно та точка, где инженер должен спросить себя: тишина — это доказательство, или просто отсутствие повода проверить?</a:t>
            </a:r>
          </a:p>
          <a:p/>
          <a:p>
            <a:r>
              <a:t>Вопрос, который стоит задать: как добиться, чтобы решение о пороге действительно никогда не принималось неверно? Не «как сделать ещё надёжнее» вообще, а именно про эту конкретную точку — сравнение суммы с порогом.</a:t>
            </a:r>
          </a:p>
          <a:p/>
          <a:p>
            <a:r>
              <a:t>Пять карточек, и это пять разных действий с процессом, не пять мнений о модели.</a:t>
            </a:r>
          </a:p>
          <a:p/>
          <a:p>
            <a:r>
              <a:t>Первая — написать правило яснее в самом промте: переформулировать текст, добавить примеры, уточнить формулировку условия.</a:t>
            </a:r>
          </a:p>
          <a:p/>
          <a:p>
            <a:r>
              <a:t>Вторая — дать модели инструмент-калькулятор: пусть не считает сама в уме, а вызывает отдельную функцию сравнения чисел.</a:t>
            </a:r>
          </a:p>
          <a:p/>
          <a:p>
            <a:r>
              <a:t>Третья — поставить </a:t>
            </a:r>
            <a:r>
              <a:rPr>
                <a:latin typeface="Consolas"/>
              </a:rPr>
              <a:t>IF</a:t>
            </a:r>
            <a:r>
              <a:t>-узел после извлечения суммы: пусть сумму достаёт модель, а сравнивает её с порогом уже код.</a:t>
            </a:r>
          </a:p>
          <a:p/>
          <a:p>
            <a:r>
              <a:t>Четвёртая, новая по сравнению с тем, что мы обсуждали в прошлых кейсах, — сделать сумму явным числовым полем формы: не писать её внутри свободного текста заявки, а собирать цифрами сразу на входе, в отдельном поле.</a:t>
            </a:r>
          </a:p>
          <a:p/>
          <a:p>
            <a:r>
              <a:t>Пятая — прогнать один и тот же запрос несколько раз и взять решение по большинству голосов.</a:t>
            </a:r>
          </a:p>
          <a:p/>
          <a:p>
            <a:r>
              <a:t>Как и в прошлых кейсах: здесь нет одного очевидно неправильного варианта среди остальных. Все пять — настоящие инженерные ходы, и у части из них есть реальное ограничение, которое проявляется не сразу. Подумайте не «что звучит надёжнее», а что устраняет саму возможность ошибки, а не просто снижает её частоту.</a:t>
            </a:r>
          </a:p>
          <a:p/>
          <a:p>
            <a:r>
              <a:t>И ещё одна подсказка на будущее, не про то, какая карточка верна, а про то, как к ним подходить. Три из пяти действий меняют ЧТО-ТО в том, как модель принимает решение, — переформулировку, инструмент, повторный прогон. Два действия меняют, ГДЕ ВООБЩЕ принимается это решение — переносят его в код или убирают саму необходимость что-то извлекать. Разница между «лучше сделать то же самое» и «сделать по-другому» будет держать весь дальнейший разбор.</a:t>
            </a:r>
          </a:p>
          <a:p/>
          <a:p>
            <a:r>
              <a:t>Пятнадцать секунд на выбор, потом по рукам — разбор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и сразу скажу: ни одно из них не глупость, у каждого есть своя логика. Разница между ними — в том, что именно каждое устраняет.</a:t>
            </a:r>
          </a:p>
          <a:p/>
          <a:p>
            <a:r>
              <a:t>Написать правило яснее. Это самое дешёвое действие — поменять формулировку в тексте промта, добавить пример, уточнить словами. Оно может снизить частоту ошибки: модель начнёт реже путаться. Но оно ничего не меняет структурно: решение всё равно принимает текстовый вызов модели, и у него по-прежнему есть вероятность ошибиться — просто немного ниже.</a:t>
            </a:r>
          </a:p>
          <a:p/>
          <a:p>
            <a:r>
              <a:t>Дать модели инструмент-калькулятор. Это шаг вперёд: модель не сравнивает числа «в уме», а вызывает отдельную функцию. Звучит надёжно, но вероятностность здесь не исчезает — она переезжает на шаг раньше. Теперь неопределённость в том, вызовет ли модель этот калькулятор вообще, и в том, как она передаст в него значения. Решение осталось вероятностным, просто в другой точке.</a:t>
            </a:r>
          </a:p>
          <a:p/>
          <a:p>
            <a:r>
              <a:t>Поставить </a:t>
            </a:r>
            <a:r>
              <a:rPr>
                <a:latin typeface="Consolas"/>
              </a:rPr>
              <a:t>IF</a:t>
            </a:r>
            <a:r>
              <a:t>-узел после извлечения суммы. Вот это меняет саму точку решения: сумму достаёт модель, а сравнивает её с порогом — код. Сравнение числа с числом в коде не ошибается по той причине, по которой ошибается текстовый вызов: оно не читает смысл, оно сравнивает значения.</a:t>
            </a:r>
          </a:p>
          <a:p/>
          <a:p>
            <a:r>
              <a:t>Сделать сумму явным числовым полем формы — новое действие по сравнению с тем, что мы обсуждали раньше. Если человек вводит сумму цифрами в отдельное поле, модели вообще не нужно её извлекать из текста — неопределённость просто не возникает там, откуда она сегодня приходит. Но у этого действия есть собственный предел: оно работает только если форму самого запроса можно менять. Если источник — письмо или чат, а не наша форма, извлекать сумму из текста всё равно придётся.</a:t>
            </a:r>
          </a:p>
          <a:p/>
          <a:p>
            <a:r>
              <a:t>И последнее, прогнать несколько раз и взять большинство голосов — оно звучит как разумная защита от случайной ошибки, но бессильно именно против систематической. Если модель раз за разом одинаково неверно трактует саму границу условия, голосование просто размножит ту же неверную интерпретацию — большинство голосов будет неправильным большинством.</a:t>
            </a:r>
          </a:p>
          <a:p/>
          <a:p>
            <a:r>
              <a:t>Прежде чем выбирать между действиями, которые устраняют вероятностность по-настоящему, стоит сначала узнать, насколько плохо дело сейчас и где именно версия 1 ошибается. Это не спор, это измерение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отдельный такт про сам процесс измерения, и он заслуживает полного экрана, а не одной итоговой строки — потому что метод здесь важнее числа.</a:t>
            </a:r>
          </a:p>
          <a:p/>
          <a:p>
            <a:r>
              <a:t>Начнём с того, зачем мерить вообще, если жалоб не было. Жалоба — это сигнал, который приходит только при одном условии: ошибка достаточно заметна и достаточно дорога, чтобы человек вернулся и указал на неё. Тихая ошибка — там, где чуть большую сумму одобрили, которую следовало эскалировать, или наоборот — жалобы не вызовет вообще никогда, потому что её, скорее всего, никто и не заметит. Отсутствие жалоб — это отсутствие сигналов такого рода, не отсутствие ошибок.</a:t>
            </a:r>
          </a:p>
          <a:p/>
          <a:p>
            <a:r>
              <a:t>Дальше — как собран тестовый набор. Пятьдесят сумм, и они не взяты наугад в момент прогона: набор сгенерирован один раз с зафиксированным стартовым значением генератора случайных чисел, так что при повторной генерации получится тот же самый набор, не другой. Это важно для честности замера: число ошибок не зависит от того, в какой момент мы его считали.</a:t>
            </a:r>
          </a:p>
          <a:p/>
          <a:p>
            <a:r>
              <a:t>Внутри набора — два разных по смыслу кластера. Двадцать пять сумм — от тысячи до трёх тысяч рублей включительно, и внутри этой группы есть плотная группировка прямо у самой границы: две тысячи девятьсот, две тысячи девятьсот пятьдесят, две тысячи девятьсот девяносто, две тысячи девятьсот девяносто девять, и ровно три тысячи — причём эта точная сумма встречается в наборе трижды, намеренно, чтобы граничный случай был статистически весомым, а не одной случайной строкой. Вторые двадцать пять — суммы явно выше порога, от трёх тысяч двухсот до девяти тысяч, разбросанные широко и без кластера у границы: это контрольная группа, для которой правильный ответ очевиден, «эскалировать», и на ней проверяется, что модель не ошибается там, где ошибаться совсем не должна.</a:t>
            </a:r>
          </a:p>
          <a:p/>
          <a:p>
            <a:r>
              <a:t>И последняя важная деталь метода: ни одна сумма не передаётся модели голым числом. Каждая вставлена в один из четырёх реалистичных шаблонов фразы запроса — «прошу вернуть сумму за пропущенное занятие», «хочу вернуть сумму, курс не подошёл» и подобные — чтобы модель реально извлекала число из обычного текста заявки, как это происходит на практике, а не получала готовое значение в чистом виде. Плюс один ручной тест сверху — всего пятьдесят один прогон.</a:t>
            </a:r>
          </a:p>
          <a:p/>
          <a:p>
            <a:r>
              <a:t>Правильность каждого прогона определяется не на глаз: решение, которое реально записано в данных выполнения, сравнивается с ожиданием, вытекающим из самого текста правила — одобрить, если сумма не больше трёх тысяч, иначе эскалировать. Это и есть критерий, по которому дальше считается число ошибок.</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измерения, которое мы только что спроектировали. Пятьдесят один прогон, и у версии один — три ошибки.</a:t>
            </a:r>
          </a:p>
          <a:p/>
          <a:p>
            <a:r>
              <a:t>Первое, на что стоит обратить внимание: не три ошибки из пятидесяти одного где-то по диапазону, а три ошибки, и все три — на одной и той же сумме. Ровно на пороге, на трёх тысячах рублей. На любой сумме строго выше трёх тысяч — ноль ошибок. На любой сумме строго ниже — тоже ноль. Модель справляется с «очевидно много» и с «очевидно мало» идеально, во всех случаях без исключения.</a:t>
            </a:r>
          </a:p>
          <a:p/>
          <a:p>
            <a:r>
              <a:t>Второе, и это главное: что именно произошло на границе. Правило в промте сформулировано как «не возвращай больше 3000 рублей автоматически» — а это по смыслу значит, что сама сумма в три тысячи ещё укладывается в условие, её можно одобрить. Модель на этой самой сумме отвечала «эскалировать» — то есть трактовала границу в противоположную сторону от той, что подразумевает текст правила.</a:t>
            </a:r>
          </a:p>
          <a:p/>
          <a:p>
            <a:r>
              <a:t>И третье, самое важное для того, что мы будем делать дальше: это не случайная ошибка, которая иногда проскакивает где угодно. Это систематическая ошибка, сидящая в одной конкретной точке — там, где текст правила и его формальная интерпретация расходятся. В остальном диапазоне модель безупречна.</a:t>
            </a:r>
          </a:p>
          <a:p/>
          <a:p>
            <a:r>
              <a:t>Разница между «случайная ошибка» и «систематическая ошибка на границе» решает, какое из пяти действий, которые мы только что разбирали, реально нужно. Против случайного шума годится многое, включая голосование большинством. Против систематической ошибки на границе голосование не поможет — оно просто повторит ту же неверную трактовку снова и снова. Нужно что-то, что меняет саму точку, где принимается решение. Это и есть то, что мы соберём следующим тактом.</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ошибки, которые мы только что нашли, сидели не где-то в случайном месте цепочки — они сидели ровно в одной точке: там, где принимается решение «одобрить» или «эскалировать». Версия два — это не новая цепочка с нуля, это версия один с заменой ровно этого одного узла.</a:t>
            </a:r>
          </a:p>
          <a:p/>
          <a:p>
            <a:r>
              <a:t>Посмотрите на схему. Верхняя полоса — версия один, та, что работала месяц и которую мы только что измерили. Форма со свободным текстом, модель достаёт из него сумму, и та же модель — тем же вызовом — решает, одобрить сумму или эскалировать её, читая текст правила. Вот это последнее действие, решение по тексту правила, и есть точка, где случались все три ошибки.</a:t>
            </a:r>
          </a:p>
          <a:p/>
          <a:p>
            <a:r>
              <a:t>Нижняя полоса — версия два. Она появляется не параллельно версии один и не вместо неё с самого начала, а именно как ответ на то, что показал эксперимент. Форма та же, извлечение суммы то же — модели всё ещё нужно достать число из свободного текста заявки, потому что форму мы пока не меняли. А дальше, там, где раньше модель решала по тексту правила, теперь стоит </a:t>
            </a:r>
            <a:r>
              <a:rPr>
                <a:latin typeface="Consolas"/>
              </a:rPr>
              <a:t>IF</a:t>
            </a:r>
            <a:r>
              <a:t>-узел: он сравнивает уже извлечённое число с порогом как условие в коде, а не как текстовый вызов.</a:t>
            </a:r>
          </a:p>
          <a:p/>
          <a:p>
            <a:r>
              <a:t>Обратите внимание, что я рисую это не как два равноправных параллельных процесса, которые мы якобы собрали сразу и сравнили. Версия два появилась после версии один и из-за найденной в ней проблемы — это и есть правильный порядок рассказа про смену решения, и ровно он совпадает с тем, что произошло на самом деле: месяц работы, эксперимент, находка, и только потом — замена узла.</a:t>
            </a:r>
          </a:p>
          <a:p/>
          <a:p>
            <a:r>
              <a:t>Следующий экран — как этот </a:t>
            </a:r>
            <a:r>
              <a:rPr>
                <a:latin typeface="Consolas"/>
              </a:rPr>
              <a:t>IF</a:t>
            </a:r>
            <a:r>
              <a:t>-узел выглядит в настоящей настройке, и рядом — промпт версии один для контраста: один и тот же шаг цепочки, решение принимается принципиально по-разному.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настройка узла, который заменил решение модели в версии два — рядом с промптом версии один, который он заменил. Контраст виден сразу, и ради него стоило положить обе формулировки на один экран.</a:t>
            </a:r>
          </a:p>
          <a:p/>
          <a:p>
            <a:r>
              <a:t>Слева — узел </a:t>
            </a:r>
            <a:r>
              <a:rPr>
                <a:latin typeface="Consolas"/>
              </a:rPr>
              <a:t>IF</a:t>
            </a:r>
            <a:r>
              <a:t>, названный по-русски для удобства, «Amount over threshold?» по смыслу. Условие внутри него одно: извлечённая сумма, уже число, а не текст, сравнивается с тремя тысячами строгим «больше». Если условие верно — заявка идёт по ветке «эскалировать». Если нет — по ветке «одобрить». Это операция сравнения чисел, и у неё нет пространства для интерпретации: либо число больше другого числа, либо нет.</a:t>
            </a:r>
          </a:p>
          <a:p/>
          <a:p>
            <a:r>
              <a:t>Справа — промпт версии один, тот самый, что был на сцене. Обратите внимание, что в нём формально есть то же самое сравнение — «не больше 3000» — но оно существует только как часть смысла предложения, которое модель должна понять и применить. У модели нет отдельного шага «сравнить два числа»: есть один шаг «прочитать правило и сумму вместе и сформулировать ответ». И именно внутри этого одного шага три раза из пятидесяти одного правило и его трактовка расходились — ровно на границе, там, где текст можно прочитать двояко.</a:t>
            </a:r>
          </a:p>
          <a:p/>
          <a:p>
            <a:r>
              <a:t>Это и есть разница между решением, принятым кодом, и решением, принятым текстовым пониманием, положенная рядом, без единого слова о том, какая версия лучше — она видна по самой форме настройки. Слева — число сравнивается с числом. Справа — число спрятано внутри фразы, которую нужно понять целиком, чтобы из неё извлечь тот же самый факт.</a:t>
            </a:r>
          </a:p>
          <a:p/>
          <a:p>
            <a:r>
              <a:t>Сумма, которую сравнивает </a:t>
            </a:r>
            <a:r>
              <a:rPr>
                <a:latin typeface="Consolas"/>
              </a:rPr>
              <a:t>IF</a:t>
            </a:r>
            <a:r>
              <a:t>-узел, всё ещё извлечена моделью из свободного текста заявки на предыдущем шаге — этот шаг версия два не меняла. Меняется только то, что происходит после извлечения: было решение текстом, стало условие в коде.</a:t>
            </a:r>
          </a:p>
          <a:p/>
          <a:p>
            <a:r>
              <a:t>Дальше — таблица: как эти две версии реально сработали на том самом тесте, который нашёл проблему.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итоговое сравнение, и важно, на чём оно построено: это не новый тест, собранный специально под версию два, чтобы она выглядела хорошо. Это тот же самый набор из пятидесяти одного запроса, который мы спроектировали несколькими экранами назад и на котором нашли три ошибки версии один. Версия два прогнана ровно на нём же.</a:t>
            </a:r>
          </a:p>
          <a:p/>
          <a:p>
            <a:r>
              <a:t>Первая строка — число ошибок. Версия один — три из пятидесяти одного. Версия два — ноль. Не «меньше», а ноль на том же наборе, который специально построен с плотным кластером сумм прямо у границы, то есть на наборе, который даёт ошибке максимум шансов проявиться, если она есть.</a:t>
            </a:r>
          </a:p>
          <a:p/>
          <a:p>
            <a:r>
              <a:t>Вторая строка — то самое поведение на границе, из-за которого всё это затевалось. На сумме ровно три тысячи рублей версия один отвечала «эскалировать», хотя правило, если его прочитать внимательно — «не возвращай больше 3000 рублей» — подразумевает, что саму эту сумму ещё можно одобрить. Версия два на той же сумме отвечает «одобрить», и причина не в том, что </a:t>
            </a:r>
            <a:r>
              <a:rPr>
                <a:latin typeface="Consolas"/>
              </a:rPr>
              <a:t>IF</a:t>
            </a:r>
            <a:r>
              <a:t>-узел «понял правило лучше». Причина в том, что условие «строго больше 3000» математически не допускает двойного толкования: число либо больше другого числа, либо нет, и трёхтысячная сумма этому условию не удовлетворяет — значит, идёт по ветке «одобрить».</a:t>
            </a:r>
          </a:p>
          <a:p/>
          <a:p>
            <a:r>
              <a:t>Третья строка — вне границы обе версии безупречны. Это стоит сказать прямо, без преувеличения: версия один не была плохой почти везде. Она была плохой ровно в одной точке — и именно поэтому диагноз «систематическая ошибка на границе», а не «ненадёжная модель», был правильным диагнозом, а решение — точечной заменой одного узла, а не переписыванием всей цепочки.</a:t>
            </a:r>
          </a:p>
          <a:p/>
          <a:p>
            <a:r>
              <a:t>Это и есть форма, в которой положено сравнивать решения внутри кейса на этом курсе: не два мира, собранные параллельно для иллюстрации тезиса, а версия, построенная как прямой ответ на находку, и измеренная на том самом тесте, который эту находку дал.</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обобщение — то, что должно остаться после того, как числа этого конкретного кейса забудутся.</a:t>
            </a:r>
          </a:p>
          <a:p/>
          <a:p>
            <a:r>
              <a:t>Первое, на чём стоит задержаться: формулировка находки важна буквально, не приблизительно. Неправильно сказать «модель иногда вероятностно ошибается» — это слишком общо и ничего не говорит о том, где искать проблему в следующий раз. Точная формулировка другая: модель систематически промахивается именно на границе условия — там, где текст правила и его формальная интерпретация расходятся, а во всём остальном диапазоне она ведёт себя безупречно. Разница между «иногда ошибается» и «систематически промахивается на границе» — это разница между «нужно больше проверок везде» и «нужно проверить ровно одну точку».</a:t>
            </a:r>
          </a:p>
          <a:p/>
          <a:p>
            <a:r>
              <a:t>Отсюда и класс задачи, который стоит унести с собой. Если решение можно выразить как условие над уже структурированным значением — число больше или меньше другого числа, дата раньше или позже другой даты, статус входит в список или не входит — такое решение не задача модели в точке принятия решения. Модель может оставаться нужной раньше в цепочке, там, где требуется разобрать свободный текст и достать из него значение. Но сам момент сравнения — это код, и только код.</a:t>
            </a:r>
          </a:p>
          <a:p/>
          <a:p>
            <a:r>
              <a:t>И практический вывод, который работает за пределами возврата денег: граничные значения — это первое, что нужно проверить прогоном, прежде чем доверять любому похожему правилу, построенному на пороге. Не середину диапазона, где всё обычно хорошо, а именно границу — там, где формулировка правила и её трактовка расходятся чаще всего.</a:t>
            </a:r>
          </a:p>
          <a:p/>
          <a:p>
            <a:r>
              <a:t>Это тот же урок, который уже встречался в кейсе про уведомления и в кейсе про повторные обращения, только здесь он формулируется точнее благодаря измерению: не «проверяйте модель на крайних случаях вообще», а конкретно — на той точке, где человеческая формулировка правила и буквальное условие могут не совпасть. Такая точка есть у любого порога, который кто-то когда-то написал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прежде чем уносить вывод кейса как абсолютное правило.</a:t>
            </a:r>
          </a:p>
          <a:p/>
          <a:p>
            <a:r>
              <a:t>Первый — про калькулятор, который мы обсуждали среди пяти карточек вопроса. Дать модели инструмент для сравнения чисел — это не то же самое, что поставить </a:t>
            </a:r>
            <a:r>
              <a:rPr>
                <a:latin typeface="Consolas"/>
              </a:rPr>
              <a:t>IF</a:t>
            </a:r>
            <a:r>
              <a:t>-узел после извлечения. Вероятностность не исчезает, она просто переезжает на шаг раньше: теперь неопределённость в том, вызовет ли модель этот калькулятор вообще и правильно ли передаст в него оба значения. Инструмент у модели — не гарантия, а перенос проблемы.</a:t>
            </a:r>
          </a:p>
          <a:p/>
          <a:p>
            <a:r>
              <a:t>Второй — про сам порог. Три тысячи рублей сейчас живут в двух местах: в тексте промпта версии один и в условии </a:t>
            </a:r>
            <a:r>
              <a:rPr>
                <a:latin typeface="Consolas"/>
              </a:rPr>
              <a:t>IF</a:t>
            </a:r>
            <a:r>
              <a:t>-узла версии два. Если когда-нибудь порог изменится — скажем, на три тысячи пятьсот — и кто-то поправит его в одном месте, забыв про другое, получится ровно та же проблема, что с контрактом между шагами, который мы уже разбирали в прошлых кейсах этой дуги: два места, которые должны совпадать, но ничто не гарантирует, что совпадают. Порог обязан иметь ровно один источник правды.</a:t>
            </a:r>
          </a:p>
          <a:p/>
          <a:p>
            <a:r>
              <a:t>Третий, и он прямо отвечает на пятую карточку вопроса, которую мы обсуждали, — про явное числовое поле формы. Модель, которая извлекает сумму из свободного текста, всё ещё может ошибиться: прочитать не ту цифру, перепутать сумму из одного предложения с суммой из другого. Вывод этого кейса — не «модель нигде не нужна в этом процессе», а точнее: «модель не должна быть точкой, где принимается решение». Если форму запроса можно изменить, явное числовое поле убирает и риск неверного извлечения — сумма приходит уже структурированной, и достраивать её из текста не нужно вовсе. Но если источник — письмо или чат, а не форма, которую мы контролируем, извлечение остаётся задачей модели, и его собственная точность — отдельный вопрос, не закрытый этим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можно унести этот кейс в свою собственную работу, не помня ни одной цифры и ни одного имени узла.</a:t>
            </a:r>
          </a:p>
          <a:p/>
          <a:p>
            <a:r>
              <a:t>Решение обязано быть кодом тогда, когда его можно сформулировать как условие над уже структурированным значением: число больше или меньше порога, дата раньше или позже определённой отметки, статус входит в заранее известный список или нет. Если условие можно записать на бумаге без единого слова неоднозначности — ему не место в тексте, который модель должна понимать и трактовать. Ему место в коде, где у сравнения нет пространства для двух прочтений.</a:t>
            </a:r>
          </a:p>
          <a:p/>
          <a:p>
            <a:r>
              <a:t>И есть более сильная версия того же критерия, на шаг раньше по цепочке: ещё лучше, если получится, — устранить саму потребность в извлечении значения вообще. Если источник данных можно сделать структурированным с самого начала, как это может быть с формой заявки, сравнение становится простым не потому, что мы научили код сравнивать числа — он и так это умел, — а потому что перестаёт существовать сам момент, где из свободного текста нужно что-то доставать.</a:t>
            </a:r>
          </a:p>
          <a:p/>
          <a:p>
            <a:r>
              <a:t>Теперь — закрытие оси этого занятия применительно к третьему кейсу. Ось спрашивает: где в цепочке решение принимает модель, а где должен — код, и что молчит, когда эту границу не назвали явно. Здесь ответ конкретный и измеренный, не общий: решение, оставленное модели, обходило собственное правило в измеренной доле прогонов — три из пятидесяти одного, и ровно в одной точке, на границе условия, не где попало. Решение, отданное алгоритмическому гейту на том же самом тесте, — ноль из пятидесяти одного, то есть никогда. Разница между «измеримо редко» и «никогда» — это и есть вся дистанция между решением, которое доверяют модели, и решением, которое доверяют коду, применительно к пороговым условиям.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a:t>
            </a:r>
          </a:p>
          <a:p/>
          <a:p>
            <a:r>
              <a:t>Zillow — крупнейший агрегатор объявлений о недвижимости в США, и с 2018 года у компании было отдельное направление Zillow Offers, второе название — iBuying. Работало оно просто: алгоритмическая модель Zestimate оценивала дом по открытым данным, компания покупала дом почти мгновенно по этой цене, делала минимальный ремонт и быстро перепродавала, зарабатывая на разнице между покупкой и продажей. Схема работала, пока рынок жилья вёл себя так, как закладывала модель на исторических данных.</a:t>
            </a:r>
          </a:p>
          <a:p/>
          <a:p>
            <a:r>
              <a:t>Осенью 2021 года Zillow объявила об остановке этого бизнеса целиком. Цифры на экране — не оценки журналистов, а прямые данные из отчётности перед SEC: списание стоимости запасов домов составило $304,4 млн за один квартал и $407,9 млн за весь год, штат сократили примерно на четверть, около двух тысяч человек. Только за третий квартал 2021 года компания купила 9680 домов, а продать успела лишь 3032 — средний убыток на каждый проданный дом составил около $80 000.</a:t>
            </a:r>
          </a:p>
          <a:p/>
          <a:p>
            <a:r>
              <a:t>Мы разбираем этот кейс сразу после «Одобрения возврата» не случайно. Там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той же самой: порог риска, выше которого стоило бы остановить автоматическую покупку или передать решение человеку, существовал не как обязательное условие в контуре, а как ожидание, что модель справится, потому что справлялась раньше. Разница — только в масштабе: там это один разговор с клиентом, здесь — покупка дома за реальные деньги, и таких решений принимались тысячи подряд.</a:t>
            </a:r>
          </a:p>
          <a:p/>
          <a:p>
            <a:r>
              <a:t>На следующем экране — схема того, как этот контур был устроен на самом деле: без обязательного гейта и без короткого окна проверки. А вопрос, который мы зададим залу после неё, не о том, можно ли было предсказать волатильность рынка заранее. Он о том, чего не хватало в самом контуре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 экране — тот же приём, которым мы уже сравнивали устройство решения в кейсе «Уведомления»: там одна полоса показывала цепочку с LLM-узлом, другая — без него. Здесь одна полоса показывает, как контур решения о покупке дома был устроен у Zillow на самом деле.</a:t>
            </a:r>
          </a:p>
          <a:p/>
          <a:p>
            <a:r>
              <a:t>Первый шаг — алгоритмическая оценка Zestimate: модель называет цену дома по открытым данным. Второй шаг — решение о покупке, и здесь первый пропуск: решение принималось без обязательного гейта выше определённого порога риска. Любая оценка, независимо от того, насколько она удалена от разумного диапазона, двигалась дальше по контуру без обязательной остановки.</a:t>
            </a:r>
          </a:p>
          <a:p/>
          <a:p>
            <a:r>
              <a:t>Третий шаг — покупка исполняется: деньги уходят, дом становится активом компании. И здесь второй пропуск, более дорогой: после покупки не было короткого окна мониторинга точности — часов или дней, за которые можно было бы заметить, что фактическая цена перепродажи систематически расходится с прогнозом. Такого окна не было вовсе.</a:t>
            </a:r>
          </a:p>
          <a:p/>
          <a:p>
            <a:r>
              <a:t>Из-за этого ошибка не обнаруживалась сразу — она накапливалась незаметно, покупка за покупкой, квартал за кварталом. Единственной точкой, где она становилась видимой, была квартальная отчётность перед SEC — то есть исторический архив, который подтверждает, что случилось, а не окно контроля, которое могло бы это остановить.</a:t>
            </a:r>
          </a:p>
          <a:p/>
          <a:p>
            <a:r>
              <a:t>Разница между архивом и окном контроля — не стилистическая тонкость. Архив говорит правду только после того, как цена ошибки уже реализовалась. Окно контроля могло бы остановить закупку по сегменту, пока убыток ещё маленький. У Zillow был только архив.</a:t>
            </a:r>
          </a:p>
          <a:p/>
          <a:p>
            <a:r>
              <a:t>На следующих двух экранах — вопрос залу и разбор, а дальше — схема того же контура, но с гейтом, которого здесь не было.</a:t>
            </a:r>
          </a:p>
          <a:p/>
          <a:p>
            <a:r>
              <a:t>Обратите внимание, что ни один из пяти шагов на этой схеме сам по себе не выглядит ошибкой. Оценка по открытым данным — обычная практика. Покупка по расчётной цене — обычная практика. Минимальный ремонт и быстрая перепродажа — тоже обычная практика. Ошибка не в одном шаге, а в том, что между шагами нет точки, где процесс мог бы остановиться и спросить «а точно ли эта оценка надёжна именно сейчас». Ровно это отсутствие точки остановки мы и будем искать в следующем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схему: оценка, покупка без обязательного гейта, ошибка видна только из квартального отчёта. Вопрос — что в этом контуре должно было стоять и не стояло.</a:t>
            </a:r>
          </a:p>
          <a:p/>
          <a:p>
            <a:r>
              <a:t>Zillow Offers покупала дома по алгоритмической оценке и перепродавала их. Модель оценивала цену, решение о покупке принималось почти автоматически, и так — тысячи раз подряд, пока рынок вёл себя привычно. Когда рынок жилья в 2021 году повёл себя волатильнее, чем закладывала история, частота ошибки модели выросла резко, а контур решения этого не поймал вовремя.</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Обратите внимание, что все четыре карточки звучат как разумные инженерные шаги, и это сделано намеренно: вопрос не в том, чтобы отличить нелепый вариант от серьёзных трёх, а в том, чтобы понять, какой из них на самом деле меняет контур решения, а какой только меняет формулировку того, что уже было. Удерживайтесь от того, чтобы угадывать по формулировке, какой вариант тут «лишний».</a:t>
            </a:r>
          </a:p>
          <a:p/>
          <a:p>
            <a:r>
              <a:t>Пятнадцать секунд на выбор, потом по рукам.</a:t>
            </a:r>
          </a:p>
          <a:p/>
          <a:p>
            <a:r>
              <a:t>И ещё одно соображение, прежде чем голосовать. Все четыре варианта стоят на одной схеме, которую мы только что видели: оценка, покупка, исполнение, отсутствие окна проверки, квартальный отчёт. Подумайте не абстрактно «что из этого звучит разумно», а конкретно — какой из четырёх вариантов добавил бы на эту схему новый узел или новую точку остановки, а какой просто переформулировал бы то, что на ней уже нарисовано.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не было причиной. Модель Zestimate была откалибрована корректно на исторически стабильных данных: до пандемии её ошибка на срок владения в несколько месяцев была в пределах, которые компания считала рабочими. Виновата не калибровка — виновата сама волатильность рынка, которой не было в обучающей истории.</a:t>
            </a:r>
          </a:p>
          <a:p/>
          <a:p>
            <a:r>
              <a:t>Runtime-мониторинг дрейфа с автоматическим порогом остановки — вот то, чего на самом деле не хватало. У продакшен-модели, управляющей закупкой недвижимости на сотни миллионов долларов, не было короткого окна наблюдения за собственной частотой ошибки — часы или дни,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окно,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вне зависимости от размера ставки. Ровно та же форма пропуска, что мы только что разбирали в «Одобрении возврата» — там порог суммы возврата был, но не был алгоритмическим гейтом.</a:t>
            </a:r>
          </a:p>
          <a:p/>
          <a:p>
            <a:r>
              <a:t>Заранее знать, что рынок поведёт себя непредсказуемо, — не инженерное решение вовсе, а пожелание. Пандемийная волатильность — реальный внешний фактор, но не точка, в которой инженер может что-то изменить.</a:t>
            </a:r>
          </a:p>
          <a:p/>
          <a:p>
            <a:r>
              <a:t>Решающее здесь то, что модель не подвела — подвёл контур вокруг неё: не было ни короткого окна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 На следующем экране — схема того же контура, но с гейтом.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Демо здесь не будет — это не наш стенд, а чужая, остановленная система. Но архитектурное решение называется так же прямо, как в любом нашем кейсе, и схема на экране — та же полоса, что мы рисовали без гейта, только с двумя добавленными узлами.</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фактическое отклонение превышает порог, автоматическая закупка по этому сегменту останавливается до ручной проверки, а не продолжается в ожидании следующего отчёта.</a:t>
            </a:r>
          </a:p>
          <a:p/>
          <a:p>
            <a:r>
              <a:t>Это тот же приём, что мы уже видели в «Одобрении возврата»: решение заменяется детерминированным условием там, где его можно выразить как условие над структурированным значением — суммой риска, отклонением цены. Разница — в масштабе условия и в масштабе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Важно, что ни одна из двух частей решения не работает сама по себе без другой. Человек-андеррайтер без circuit breaker всё равно узнаёт о проблеме только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реального капитала — не абстрактной метрики, а денег, которые компания платит буквально. У Zillow одна ошибка — это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именно это расхождение режимов, а не сама модель, стало источником ошибки.</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окно,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мы поставили этот разбавитель именно здесь. Мысль та же, что мы уже разобрали на «Одобрении возврата», просто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именно в этом суть кейса: не в том, что что-то сломалось явно и заметно, а в том, что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а условие вообще ни при чём — весь путь прошёл формально безупречно.</a:t>
            </a:r>
          </a:p>
          <a:p/>
          <a:p>
            <a:r>
              <a:t>Саму 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кто-то не сверит журнал прогона с тем, что реально произошло у получателя.</a:t>
            </a:r>
          </a:p>
          <a:p/>
          <a:p>
            <a:r>
              <a:t>Разберём, что здесь произошло на самом деле, почему ни один из прежних приёмов этого не поймал, и что с этим делать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не с жалобы, а с просьбы, и это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уже работающего процесса. Текст готовится тем же узлом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ровно там же, где раньше видел текст. Цепочку включили в работу на этом основании — она прошла проверку, какую мы умели делать.</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Вот в чём настоящая цена этой сцены. Это не отказ узла: отказы мы умеем ловить ещё с прошлого занятия, повтором и веткой. Это тихая потеря результата ровно там, где всё формальное говорит «успех» — потому что до сих пор у нас не было повода проверять бинарные данные хоть чем-то, кроме того, что они вообще сформировались.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Сегодня весь день мы задавали цепочке один и тот же вопрос — решает этот шаг модель, или должен решать код. Применим его к картинке.</a:t>
            </a:r>
          </a:p>
          <a:p/>
          <a:p>
            <a:r>
              <a:t>Вопрос: как проверить, что картинка соответствует требованиям?</a:t>
            </a:r>
          </a:p>
          <a:p/>
          <a:p>
            <a:r>
              <a:t>Четыре карточки, и это осознанно не вопрос «что делать, если файл превысит лимит» — это вопрос о том, какую проверку построить заранее, до того как файл уйдёт дальше. Первая — проверить размер и формат файла перед отправкой, программно: это то же самое действие, что </a:t>
            </a:r>
            <a:r>
              <a:rPr>
                <a:latin typeface="Consolas"/>
              </a:rPr>
              <a:t>IF</a:t>
            </a:r>
            <a:r>
              <a:t>-узел в «Одобрении возврата», только применённое к свойствам файла, а не к сумме. Вторая — проверить, что картинка открывается без ошибок, тоже программно: убедиться, что файл технически исправен, не битый. Третья — проверить, что на картинке действительно то, что нужно показать, моделью с распознаванием изображений: это другая по природе задача, и для неё нужен другой инструмент. Четвёртая — ничего не проверять, довериться тому, что узел отправки сам разберётся: это ровно то, что произошло в нашей сцене.</a:t>
            </a:r>
          </a:p>
          <a:p/>
          <a:p>
            <a:r>
              <a:t>Обратите внимание, что первые две карточки и третья — разного рода действия, хоть и похожи по формулировке «проверить». Размер, формат, то, что файл открывается, — это свойства, которые можно посчитать и сравнить с числом. Соответствует ли содержимое картинки тому, что нужно показать, — это уже не число, а смысл.</a:t>
            </a:r>
          </a:p>
          <a:p/>
          <a:p>
            <a:r>
              <a:t>Выбирайте не по тому, что звучит надёжнее, а по тому, какой инструмент вообще способен провести такую проверку: можно ли её выразить условием над числом, или для неё нужно, чтобы кто-то — человек или модель — посмотрел на содержимое.</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вопроса сводятся не к четырём разным ответам, а к двум разным классам задачи, и это главная находка кейса.</a:t>
            </a:r>
          </a:p>
          <a:p/>
          <a:p>
            <a:r>
              <a:t>Первая и вторая карточки — проверить размер и формат, проверить, что файл открывается без ошибок, — обе про механическое требование: у файла есть численные и перечислимые свойства, и программа может сравнить их с условием так же детерминированно, как </a:t>
            </a:r>
            <a:r>
              <a:rPr>
                <a:latin typeface="Consolas"/>
              </a:rPr>
              <a:t>IF</a:t>
            </a:r>
            <a:r>
              <a:t>-узел в «Одобрении возврата» сравнивал сумму с порогом. Это код, и только код: модель здесь не нужна и ничего не добавляет.</a:t>
            </a:r>
          </a:p>
          <a:p/>
          <a:p>
            <a:r>
              <a:t>Третья карточка — проверить, что на картинке действительно то, что нужно показать, — про другой класс требования: смысловое, или по содержанию. Технически исправный файл может быть битой заглушкой, чужим изображением или пустым кадром — ни одно из этих состояний не ловится проверкой размера или формата. Единственный инструмент, который способен оценить, что на картинке, — модель с распознаванием изображений, и этот уровень сегодня не покрыт вовсе: в нашей цепочке такого шага нет.</a:t>
            </a:r>
          </a:p>
          <a:p/>
          <a:p>
            <a:r>
              <a:t>Четвёртая карточка — ничего не проверять — это ровно то, что произошло в сцене кейса: прогон зелёный, узел отправки получил положительный ответ, а результат у получателя не совпал с ожиданием. Доверие к тому, что узел отправки сам разберётся, не покрывает ни один из двух классов требований.</a:t>
            </a:r>
          </a:p>
          <a:p/>
          <a:p>
            <a:r>
              <a:t>Отдельный пример, почему эти два класса нельзя подменить друг другом. Технически исправный файл — правильный размер, правильный формат — всё равно может показывать не то, что нужно: например, если узел получения картинки по ссылке получил страницу ошибки хостинга вместо самой картинки. Формат и размер страницы ошибки вполне могут пройти механическую проверку, а содержимое будет совершенно не тем, что требовалось показать.</a:t>
            </a:r>
          </a:p>
          <a:p/>
          <a:p>
            <a:r>
              <a:t>Это тот же урок, что мы уже видели в «Уведомлениях» и в Zillow, перенесённый на картинку: механические требования к файлу — задача кода; требования к содержимому — задача, которая нуждается в модели, а не отсутствие задачи вовсе.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прямо продолжает разбор, который мы только что сделали.</a:t>
            </a:r>
          </a:p>
          <a:p/>
          <a:p>
            <a:r>
              <a:t>Два класса требований из предыдущего экрана становятся двумя отдельными стрелками на схеме. Слева — механическое требование: у файла есть размер, формат, разрешение, и все три свойства можно проверить программно, тем же приёмом, которым мы в «Одобрении возврата» сравнивали сумму с порогом. Это проверка до отправки, не после: файл либо проходит условие, либо цепочка останавливает его раньше, чем он уйдёт в Telegram.</a:t>
            </a:r>
          </a:p>
          <a:p/>
          <a:p>
            <a:r>
              <a:t>Справа — смысловое требование: показывает ли картинка действительно то, что нужно. Для этой стрелки на схеме нет узла в нашей сегодняшней цепочке — честно показываем это пробелом, а не фиктивным блоком. Единственный инструмент, который в принципе способен оценить содержимое изображения, — модель с распознаванием изображений, и её сегодня в цепочке нет.</a:t>
            </a:r>
          </a:p>
          <a:p/>
          <a:p>
            <a:r>
              <a:t>Важно, почему эти две стрелки нарисованы раздельно, а не одной общей проверкой «проверить файл». Код, который проверяет размер и формат, ничего не знает о содержимом — он может пропустить файл правильного размера и формата, даже если внутри него не то изображение. И наоборот: модель, которая умеет оценивать содержимое, — избыточный и дорогой инструмент для вопроса «не превышен ли лимит в байтах», который прекрасно решается одним сравнением чисел.</a:t>
            </a:r>
          </a:p>
          <a:p/>
          <a:p>
            <a:r>
              <a:t>Это архитектурное правило, не настройка конкретного узла — конкретную настройку увидим на следующем экране, во втором слое.</a:t>
            </a:r>
          </a:p>
          <a:p/>
          <a:p>
            <a:r>
              <a:t>Полезно удержать в голове форму этой схемы, потому что она повторяет форму, которую мы уже видели два раза сегодня: в «Уведомлениях» мы разводили шаг, который сочиняет текст, и шаг, который подставляет значения; в «Одобрении возврата» — текстовое правило и условие над числом. Здесь то же самое разведение применено не к тексту и не к сумме, а к файлу: одна его сторона (размер, формат) формализуется и проверяется кодом, другая (содержимое) формализации не поддаётся и требует инструмента, который умеет смотреть на изображение, а не только измерять его.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конкретными тремя узлами, плюс настоящая проверка той самой границы, о которой говорил первый слой.</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Второй узел забирает картинку по ссылке; важная деталь настройки — формат ответа указан как файл, а не как текст или JSON: с этого момента содержимое узла — бинарные данные. Третий узел — отправка в Telegram в режиме отправки фото, на входе у него бинарные данные картинки и подпись — текст из первого узла. Обратите внимание, чего в этой цепочке нет: ни на одном из трёх шагов не появляется модель, и отдельного узла проверки размера или формата здесь тоже нет — правило первого слоя живёт пока на уровне архитектуры, не внутри конкретного узла, и это честно показано, а не замаскировано.</a:t>
            </a:r>
          </a:p>
          <a:p/>
          <a:p>
            <a:r>
              <a:t>Поэтому границу проверили настоящим вызовом, а не предположением. Ограничение самого n8n по умолчанию — 16 МБ на бинарные данные. Ограничение Telegram на фото — отдельное и более узкое: 10 485 760 байт, то есть 10 МБ. 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размер и прямо называет предел — не тишина, а явная, читаемая ошибка. И это уточняет то, что мы видели в сцене кейса: там карточка пропадала тихо — потому что проблема на границе n8n чаще выглядит именно так, а сам Telegram на своей границе отвечает иначе, явным текстом. Проверка размера внутри цепочки не может полагаться на то, что хоть одна из двух сторон обязательно сообщит об ошибке 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от текстовых полей JSON, а не просто ещё одно значение в заявке. У текстового поля есть содержимое. У файла — есть содержимое, есть размер и есть формат, и именно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самой причине: формально успешный прогон ничего не говорит о том, дошёл ли результат до получателя в ожидаемом виде. Это один и тот же урок на двух разных типах данных внутри одного занятия, и это не совпадение — это одно и то же системное свойство любой цепочки: успех шага измеряет сам шаг, а не то, что произошло дальше.</a:t>
            </a:r>
          </a:p>
          <a:p/>
          <a:p>
            <a:r>
              <a:t>Теперь явная граница, за которую этот кейс сознательно не заходит. Мы ввели бинарные данные на уровне «один файл, один известный лимит, одна отправка»: получить файл, проверить его размер и формат, отправить. Хранение множества файлов, поиск среди них и обработка их содержимого моделью — векторное хранилище, поиск по изображениям, ответы на основе содержимого картинок — это задача следующего уровня, и она здесь намеренно не затронута.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Разница между двумя уровнями не в сложности инструмента, а в самом вопросе, который задаётся. Сегодня вопрос был «дойдёт ли этот конкретный файл в этом конкретном прогоне» — и ответ на него полностью известен заранее,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именно так выглядел файл в нашей сцене.</a:t>
            </a:r>
          </a:p>
          <a:p/>
          <a:p>
            <a:r>
              <a:t>Второй. Лимиты Telegram — отдельный, более узкий потолок, и они разные для фото и для документа. То, что прошло мимо лимита n8n, может всё равно не пройти мимо лимита канала доставки: это два независимых порога, не один, и проверка одного не освобождает от проверки другого.</a:t>
            </a:r>
          </a:p>
          <a:p/>
          <a:p>
            <a:r>
              <a:t>Третий. Ручной прогон с бинарными данными потребляет заметно больше памяти, чем автоматический, — это мы уже видели на текстовых данных в прошлом занятии, но на файле разница заметнее, и стоит иметь это в уме, если вы отлаживаете такой узел вживую на своём стенде.</a:t>
            </a:r>
          </a:p>
          <a:p/>
          <a:p>
            <a:r>
              <a:t>Критерий. Заботиться о бинарных данных как об отдельном контракте нужно всегда, когда в цепочке передаётся файл или изображение, а не только текстовые поля: проверка размера перед отправкой и знание лимита канала доставки — это базовый уровень, без исключений по типу задачи. А не требует этого занятия — ни в деке, ни в вашем собственном процессе дома — ничего сверх: хранение многих файлов, поиск среди них или обработка их содержимого моделью — это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заполняли её не мои слова, а экраны, которые мы только что видели.</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просто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реальном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было написано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 условие в коде — не ошибся ни разу на том же эксперименте. А дальше мы увидели ту же форму пропуска на масштабе целой компании: Zillow потеряла четверть штата и сотни миллионов долларов на том же непогейтированном пороге,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и то же: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сегодня прошла не по одному узлу, а по каждому шагу цепочки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уже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 замена того,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дёшево и мгновенно отсекает буквальные повторы, а на то, что осталось, —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доверяет тому,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было плотнее прошлого: не проверяйте все четыре решения за один вечер. Возьмите одно, то, что ближе к вашей собственной работе, и доведите его до состояния, когда вы можете объяснить коллеге, почему оно устроено именно так, —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но путь для любой заявки был один и тот же: она проходила по одной и той же последовательности шагов, независимо от того, про что она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у нас уже выделена отдельным полем ещё с прошлого занятия, и как только она выделена, видно, что заявка про оплату и заявка про перенос занятия должны идти дальше по-разному: одна — к бухгалтеру, другая — в расписание. Одной и той же дорогой это не делается.</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 у инструмента на этот случай есть ответ по умолчанию, и он не всегда тот, что вы ожидаете. И одна вещь, которую я скажу заранее, чтобы вы не поверили в обратное сами: ветки, которые на холсте выглядят параллельными, на самом деле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pic>
        <p:nvPicPr>
          <p:cNvPr id="3" name="Picture 2" descr="shov-s7-s8.png"/>
          <p:cNvPicPr>
            <a:picLocks noChangeAspect="1"/>
          </p:cNvPicPr>
          <p:nvPr/>
        </p:nvPicPr>
        <p:blipFill>
          <a:blip r:embed="rId2"/>
          <a:stretch>
            <a:fillRect/>
          </a:stretch>
        </p:blipFill>
        <p:spPr>
          <a:xfrm>
            <a:off x="502920" y="1076439"/>
            <a:ext cx="11183112" cy="3494722"/>
          </a:xfrm>
          <a:prstGeom prst="rect">
            <a:avLst/>
          </a:prstGeom>
        </p:spPr>
      </p:pic>
      <p:sp>
        <p:nvSpPr>
          <p:cNvPr id="4" name="Rounded Rectangle 3"/>
          <p:cNvSpPr/>
          <p:nvPr/>
        </p:nvSpPr>
        <p:spPr>
          <a:xfrm>
            <a:off x="502920" y="5068462"/>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5196478"/>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Это тот же процесс, с которым вы ушли с прошлого занятия. Сегодня мы не чиним в нём ничего — мы задаём каждому новому шагу, который он получит, один и тот же вопрос: это решает модель, или это должен решать код?</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502920" y="1129680"/>
            <a:ext cx="11183112" cy="3541318"/>
          </a:xfrm>
          <a:prstGeom prst="rect">
            <a:avLst/>
          </a:prstGeom>
        </p:spPr>
      </p:pic>
      <p:sp>
        <p:nvSpPr>
          <p:cNvPr id="4" name="Rounded Rectangle 3"/>
          <p:cNvSpPr/>
          <p:nvPr/>
        </p:nvSpPr>
        <p:spPr>
          <a:xfrm>
            <a:off x="502920" y="53014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294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Золотая полоса стоит там же, где и в прошлый раз. Сегодняшние четыре кейса — не подъём выше, а то, что происходит внутри одной и той же ступени, когда к цепочке добавляют новые шаги.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закроется не вся разом в конце, а по одной строке — сразу после того кейса, который её закрывает. И каждый раз не моим рассказом, а тем, что мы увидим на экране.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«Пришлите мне в Telegram одну строку: кто написал и про что — чтобы не лезть в таблицу на каждую заявку.»</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отдельный шаг сочиняет текст</a:t>
            </a:r>
          </a:p>
        </p:txBody>
      </p:sp>
      <p:sp>
        <p:nvSpPr>
          <p:cNvPr id="3" name="Rounded Rectangle 2"/>
          <p:cNvSpPr/>
          <p:nvPr/>
        </p:nvSpPr>
        <p:spPr>
          <a:xfrm>
            <a:off x="502920" y="11296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770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просила Марина, буквально.</a:t>
            </a:r>
            <a:r>
              <a:rPr sz="1500" b="1" i="0">
                <a:solidFill>
                  <a:srgbClr val="141B2E"/>
                </a:solidFill>
                <a:latin typeface="Arial"/>
              </a:rPr>
              <a:t> «Новая заявка от Марии: тема «курс», также упомянуто: оплата.» — три значения (имя, основная тема, дополнительные темы) в одну читаемую строку, без необходимости открывать экран результата.</a:t>
            </a:r>
          </a:p>
        </p:txBody>
      </p:sp>
      <p:sp>
        <p:nvSpPr>
          <p:cNvPr id="5" name="Rounded Rectangle 4"/>
          <p:cNvSpPr/>
          <p:nvPr/>
        </p:nvSpPr>
        <p:spPr>
          <a:xfrm>
            <a:off x="502920" y="27430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8711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1.</a:t>
            </a:r>
            <a:r>
              <a:rPr sz="1500" b="1" i="0">
                <a:solidFill>
                  <a:srgbClr val="141B2E"/>
                </a:solidFill>
                <a:latin typeface="Arial"/>
              </a:rPr>
              <a:t> К цепочке добавлен отдельный узел-модель. На вход он получает те же три уже извлечённых значения — и сочиняет текст уведомления «по-человечески», свободно, не по заданной форме.</a:t>
            </a:r>
          </a:p>
        </p:txBody>
      </p:sp>
      <p:sp>
        <p:nvSpPr>
          <p:cNvPr id="7" name="Rounded Rectangle 6"/>
          <p:cNvSpPr/>
          <p:nvPr/>
        </p:nvSpPr>
        <p:spPr>
          <a:xfrm>
            <a:off x="502920" y="4356506"/>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484522"/>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показала практика.</a:t>
            </a:r>
            <a:r>
              <a:rPr sz="1500" b="1" i="0">
                <a:solidFill>
                  <a:srgbClr val="141B2E"/>
                </a:solidFill>
                <a:latin typeface="Arial"/>
              </a:rPr>
              <a:t> Сообщения каждый раз звучат по-разному — само по себе не проблема. Проблема в другом: на одной из реальных заявок (у Олега) модель вставила в текст буквальный текст-плейсхолдер </a:t>
            </a:r>
            <a:r>
              <a:rPr sz="1500" b="1" i="0">
                <a:solidFill>
                  <a:srgbClr val="141B2E"/>
                </a:solidFill>
                <a:latin typeface="Arial"/>
              </a:rPr>
              <a:t>«[Имя координатора]»</a:t>
            </a:r>
            <a:r>
              <a:rPr sz="1500" b="1" i="0">
                <a:solidFill>
                  <a:srgbClr val="141B2E"/>
                </a:solidFill>
                <a:latin typeface="Arial"/>
              </a:rPr>
              <a:t> — слова из шаблона собственной инструкции, которые должна была заменить настоящим содержанием, а вместо этого напечатала как есть. Сообщение не упало и технически отправилось успешно — просто то, что в нём написано, разошлось с тем, что должно было там быть.</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трёх значений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текст уведомления из этих трёх значений?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пишет весь текст уведомления целиком, свободно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заполняем готовую форму сообщения алгоритмом целиком — только подстановка значений</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что можно закрыть алгоритмом, закрываем им; то, что требует интерпретации текста заявки, на то отдельно зовём модель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берём алгоритмически собранный текст как основу и добавляем к нему одну фразу тона от модели поверх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1552244"/>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5124"/>
            <a:ext cx="14612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293340" y="1735124"/>
            <a:ext cx="3921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361087" y="1735124"/>
            <a:ext cx="49957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 / ОГРАНИЧЕНИЕ</a:t>
            </a:r>
          </a:p>
        </p:txBody>
      </p:sp>
      <p:sp>
        <p:nvSpPr>
          <p:cNvPr id="7" name="TextBox 6"/>
          <p:cNvSpPr txBox="1"/>
          <p:nvPr/>
        </p:nvSpPr>
        <p:spPr>
          <a:xfrm>
            <a:off x="685800" y="2017191"/>
            <a:ext cx="146123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пишет весь текст целиком</a:t>
            </a:r>
          </a:p>
        </p:txBody>
      </p:sp>
      <p:sp>
        <p:nvSpPr>
          <p:cNvPr id="8" name="TextBox 7"/>
          <p:cNvSpPr txBox="1"/>
          <p:nvPr/>
        </p:nvSpPr>
        <p:spPr>
          <a:xfrm>
            <a:off x="2293340" y="2017191"/>
            <a:ext cx="392144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делает это, но без необходимости: все три значения уже извлечены на предыдущем шаге цепочки</a:t>
            </a:r>
          </a:p>
        </p:txBody>
      </p:sp>
      <p:sp>
        <p:nvSpPr>
          <p:cNvPr id="9" name="TextBox 8"/>
          <p:cNvSpPr txBox="1"/>
          <p:nvPr/>
        </p:nvSpPr>
        <p:spPr>
          <a:xfrm>
            <a:off x="6361087" y="2017191"/>
            <a:ext cx="49957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модели нечего интерпретировать — она просто пересказывает уже известное, с риском сочинить лишнюю деталь (видели на практике)</a:t>
            </a:r>
          </a:p>
        </p:txBody>
      </p:sp>
      <p:cxnSp>
        <p:nvCxnSpPr>
          <p:cNvPr id="10" name="Connector 9"/>
          <p:cNvCxnSpPr/>
          <p:nvPr/>
        </p:nvCxnSpPr>
        <p:spPr>
          <a:xfrm>
            <a:off x="685800" y="27294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29471"/>
            <a:ext cx="1461236"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заполняет форму целиком</a:t>
            </a:r>
          </a:p>
        </p:txBody>
      </p:sp>
      <p:sp>
        <p:nvSpPr>
          <p:cNvPr id="12" name="TextBox 11"/>
          <p:cNvSpPr txBox="1"/>
          <p:nvPr/>
        </p:nvSpPr>
        <p:spPr>
          <a:xfrm>
            <a:off x="2293340" y="2729471"/>
            <a:ext cx="3921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ровно то, что нужно для этой потребности: все три атрибута уже структурированы, форма сообщения всегда одна</a:t>
            </a:r>
          </a:p>
        </p:txBody>
      </p:sp>
      <p:sp>
        <p:nvSpPr>
          <p:cNvPr id="13" name="TextBox 12"/>
          <p:cNvSpPr txBox="1"/>
          <p:nvPr/>
        </p:nvSpPr>
        <p:spPr>
          <a:xfrm>
            <a:off x="6361087" y="2729471"/>
            <a:ext cx="49957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полное соответствие заданному примеру текста; свободы для вариативности нет вовсе</a:t>
            </a:r>
          </a:p>
        </p:txBody>
      </p:sp>
      <p:cxnSp>
        <p:nvCxnSpPr>
          <p:cNvPr id="14" name="Connector 13"/>
          <p:cNvCxnSpPr/>
          <p:nvPr/>
        </p:nvCxnSpPr>
        <p:spPr>
          <a:xfrm>
            <a:off x="685800" y="36243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24313"/>
            <a:ext cx="1461236"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модель на то, что требует интерпретации</a:t>
            </a:r>
          </a:p>
        </p:txBody>
      </p:sp>
      <p:sp>
        <p:nvSpPr>
          <p:cNvPr id="16" name="TextBox 15"/>
          <p:cNvSpPr txBox="1"/>
          <p:nvPr/>
        </p:nvSpPr>
        <p:spPr>
          <a:xfrm>
            <a:off x="2293340" y="3624313"/>
            <a:ext cx="3921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работало бы, если бы один из атрибутов не был извлечён структурно заранее</a:t>
            </a:r>
          </a:p>
        </p:txBody>
      </p:sp>
      <p:sp>
        <p:nvSpPr>
          <p:cNvPr id="17" name="TextBox 16"/>
          <p:cNvSpPr txBox="1"/>
          <p:nvPr/>
        </p:nvSpPr>
        <p:spPr>
          <a:xfrm>
            <a:off x="6361087" y="3624313"/>
            <a:ext cx="49957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срочность — пример такого атрибута — уже есть структурным полем с прошлого занятия; для модели здесь не осталось работы: это решение для другой потребности, не для этой</a:t>
            </a:r>
          </a:p>
        </p:txBody>
      </p:sp>
      <p:cxnSp>
        <p:nvCxnSpPr>
          <p:cNvPr id="18" name="Connector 17"/>
          <p:cNvCxnSpPr/>
          <p:nvPr/>
        </p:nvCxnSpPr>
        <p:spPr>
          <a:xfrm>
            <a:off x="685800" y="4519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19155"/>
            <a:ext cx="146123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тон модели поверх</a:t>
            </a:r>
          </a:p>
        </p:txBody>
      </p:sp>
      <p:sp>
        <p:nvSpPr>
          <p:cNvPr id="20" name="TextBox 19"/>
          <p:cNvSpPr txBox="1"/>
          <p:nvPr/>
        </p:nvSpPr>
        <p:spPr>
          <a:xfrm>
            <a:off x="2293340" y="4519155"/>
            <a:ext cx="392144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риск той же природы, что версия 1 — модель всё равно генерирует текст, просто более короткий кусок</a:t>
            </a:r>
          </a:p>
        </p:txBody>
      </p:sp>
      <p:sp>
        <p:nvSpPr>
          <p:cNvPr id="21" name="TextBox 20"/>
          <p:cNvSpPr txBox="1"/>
          <p:nvPr/>
        </p:nvSpPr>
        <p:spPr>
          <a:xfrm>
            <a:off x="6361087" y="4519155"/>
            <a:ext cx="49957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цена и риск галлюцинации пропорционально меньше, чем у версии 1, но не исключены вовсе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шаг-модель сочиняет текст</a:t>
            </a:r>
          </a:p>
        </p:txBody>
      </p:sp>
      <p:pic>
        <p:nvPicPr>
          <p:cNvPr id="3" name="Picture 2" descr="k1-shema-s-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блока: форма → извлечение полей → </a:t>
            </a:r>
            <a:r>
              <a:rPr sz="1500" b="1" i="0">
                <a:solidFill>
                  <a:srgbClr val="141B2E"/>
                </a:solidFill>
                <a:latin typeface="Arial"/>
              </a:rPr>
              <a:t>шаг, вызывающий модель на каждый прогон</a:t>
            </a:r>
            <a:r>
              <a:rPr sz="1500" b="1" i="0">
                <a:solidFill>
                  <a:srgbClr val="141B2E"/>
                </a:solidFill>
                <a:latin typeface="Arial"/>
              </a:rPr>
              <a:t> → Telegram. Решение о форме текста принимается заново при каждой заявке.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шаг-шаблон подставляет значения</a:t>
            </a:r>
          </a:p>
        </p:txBody>
      </p:sp>
      <p:pic>
        <p:nvPicPr>
          <p:cNvPr id="3" name="Picture 2" descr="k1-shema-bez-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цепочка: форма → извлечение полей → </a:t>
            </a:r>
            <a:r>
              <a:rPr sz="1500" b="1" i="0">
                <a:solidFill>
                  <a:srgbClr val="141B2E"/>
                </a:solidFill>
                <a:latin typeface="Arial"/>
              </a:rPr>
              <a:t>подстановка значений в фиксированную форму</a:t>
            </a:r>
            <a:r>
              <a:rPr sz="1500" b="1" i="0">
                <a:solidFill>
                  <a:srgbClr val="141B2E"/>
                </a:solidFill>
                <a:latin typeface="Arial"/>
              </a:rPr>
              <a:t> → Telegram. Решение о форме текста принято один раз, заранее, а не на каждом прогоне.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версия с моделью</a:t>
            </a:r>
          </a:p>
        </p:txBody>
      </p:sp>
      <p:pic>
        <p:nvPicPr>
          <p:cNvPr id="3" name="Picture 2" descr="k1-n8n-versiya1.png"/>
          <p:cNvPicPr>
            <a:picLocks noChangeAspect="1"/>
          </p:cNvPicPr>
          <p:nvPr/>
        </p:nvPicPr>
        <p:blipFill>
          <a:blip r:embed="rId2"/>
          <a:stretch>
            <a:fillRect/>
          </a:stretch>
        </p:blipFill>
        <p:spPr>
          <a:xfrm>
            <a:off x="1328512" y="1004316"/>
            <a:ext cx="9531927"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a:t>
            </a:r>
            <a:r>
              <a:rPr sz="1500" b="1" i="0">
                <a:solidFill>
                  <a:srgbClr val="141B2E"/>
                </a:solidFill>
                <a:latin typeface="Arial"/>
              </a:rPr>
              <a:t>«Compose notification (LLM)»</a:t>
            </a:r>
            <a:r>
              <a:rPr sz="1500" b="1" i="0">
                <a:solidFill>
                  <a:srgbClr val="141B2E"/>
                </a:solidFill>
                <a:latin typeface="Arial"/>
              </a:rPr>
              <a:t> получает три уже извлечённых значения и инструкцию «напиши короткое дружелюбное уведомление... одно-два предложения, пиши по-человечески». Текст уходит прямиком в узел отправки в Telegram.</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версия с шаблоном</a:t>
            </a:r>
          </a:p>
        </p:txBody>
      </p:sp>
      <p:pic>
        <p:nvPicPr>
          <p:cNvPr id="3" name="Picture 2" descr="k1-n8n-versiya2.png"/>
          <p:cNvPicPr>
            <a:picLocks noChangeAspect="1"/>
          </p:cNvPicPr>
          <p:nvPr/>
        </p:nvPicPr>
        <p:blipFill>
          <a:blip r:embed="rId2"/>
          <a:stretch>
            <a:fillRect/>
          </a:stretch>
        </p:blipFill>
        <p:spPr>
          <a:xfrm>
            <a:off x="671138" y="1004316"/>
            <a:ext cx="10846675"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a:t>
            </a:r>
            <a:r>
              <a:rPr sz="1500" b="1" i="0">
                <a:solidFill>
                  <a:srgbClr val="141B2E"/>
                </a:solidFill>
                <a:latin typeface="Arial"/>
              </a:rPr>
              <a:t>«Compose notification (template)»</a:t>
            </a:r>
            <a:r>
              <a:rPr sz="1500" b="1" i="0">
                <a:solidFill>
                  <a:srgbClr val="141B2E"/>
                </a:solidFill>
                <a:latin typeface="Arial"/>
              </a:rPr>
              <a:t> собирает текст одним выражением: «Новая заявка от [имя]: тема «[тема]»[, также: [доп. темы]].» — значения подставляются в заранее написанную форму. Результат уходит в тот же узел отправки, что и у версии с моделью.</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 каждый текстовый вывод — это генерация</a:t>
            </a:r>
          </a:p>
        </p:txBody>
      </p:sp>
      <p:sp>
        <p:nvSpPr>
          <p:cNvPr id="3" name="Rounded Rectangle 2"/>
          <p:cNvSpPr/>
          <p:nvPr/>
        </p:nvSpPr>
        <p:spPr>
          <a:xfrm>
            <a:off x="502920" y="2557119"/>
            <a:ext cx="11183112" cy="1349882"/>
          </a:xfrm>
          <a:prstGeom prst="roundRect">
            <a:avLst>
              <a:gd name="adj" fmla="val 2257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39999"/>
            <a:ext cx="82664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ПРИНЦИП</a:t>
            </a:r>
          </a:p>
        </p:txBody>
      </p:sp>
      <p:sp>
        <p:nvSpPr>
          <p:cNvPr id="5" name="TextBox 4"/>
          <p:cNvSpPr txBox="1"/>
          <p:nvPr/>
        </p:nvSpPr>
        <p:spPr>
          <a:xfrm>
            <a:off x="1658751" y="2739999"/>
            <a:ext cx="96980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ЕСЛИ ВСЕ НУЖНЫЕ ЗНАЧЕНИЯ УЖЕ СТРУКТУРИРОВАНЫ И ФОРМА СООБЩЕНИЯ НЕ МЕНЯЕТСЯ ПО СУТИ — ЭТО ЗАДАЧА ФОРМАТИРОВАНИЯ, А НЕ ЗАДАЧА МОДЕЛИ.</a:t>
            </a:r>
          </a:p>
        </p:txBody>
      </p:sp>
      <p:sp>
        <p:nvSpPr>
          <p:cNvPr id="6" name="TextBox 5"/>
          <p:cNvSpPr txBox="1"/>
          <p:nvPr/>
        </p:nvSpPr>
        <p:spPr>
          <a:xfrm>
            <a:off x="685800" y="3194405"/>
            <a:ext cx="82664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 задачи</a:t>
            </a:r>
          </a:p>
        </p:txBody>
      </p:sp>
      <p:sp>
        <p:nvSpPr>
          <p:cNvPr id="7" name="TextBox 6"/>
          <p:cNvSpPr txBox="1"/>
          <p:nvPr/>
        </p:nvSpPr>
        <p:spPr>
          <a:xfrm>
            <a:off x="1658751" y="3194405"/>
            <a:ext cx="96980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Сборка сообщения из уже извлечённых значений по фиксированной форме.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НЮАНС</a:t>
            </a:r>
          </a:p>
        </p:txBody>
      </p:sp>
      <p:sp>
        <p:nvSpPr>
          <p:cNvPr id="5" name="TextBox 4"/>
          <p:cNvSpPr txBox="1"/>
          <p:nvPr/>
        </p:nvSpPr>
        <p:spPr>
          <a:xfrm>
            <a:off x="685800" y="1486814"/>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Лишний шаг — риск, а не только цена</a:t>
            </a:r>
          </a:p>
        </p:txBody>
      </p:sp>
      <p:cxnSp>
        <p:nvCxnSpPr>
          <p:cNvPr id="6" name="Connector 5"/>
          <p:cNvCxnSpPr/>
          <p:nvPr/>
        </p:nvCxnSpPr>
        <p:spPr>
          <a:xfrm>
            <a:off x="685800" y="180545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05457"/>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Шаблон не навсегда безопасен</a:t>
            </a:r>
          </a:p>
        </p:txBody>
      </p:sp>
      <p:sp>
        <p:nvSpPr>
          <p:cNvPr id="8" name="Rounded Rectangle 7"/>
          <p:cNvSpPr/>
          <p:nvPr/>
        </p:nvSpPr>
        <p:spPr>
          <a:xfrm>
            <a:off x="6231636"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ЧТО ЭТО ЗНАЧИТ</a:t>
            </a:r>
          </a:p>
        </p:txBody>
      </p:sp>
      <p:sp>
        <p:nvSpPr>
          <p:cNvPr id="10" name="TextBox 9"/>
          <p:cNvSpPr txBox="1"/>
          <p:nvPr/>
        </p:nvSpPr>
        <p:spPr>
          <a:xfrm>
            <a:off x="6414516" y="148681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модели — точка, где может появиться галлюцинация, даже в тривиальной задаче форматирования.</a:t>
            </a:r>
          </a:p>
        </p:txBody>
      </p:sp>
      <p:cxnSp>
        <p:nvCxnSpPr>
          <p:cNvPr id="11" name="Connector 10"/>
          <p:cNvCxnSpPr/>
          <p:nvPr/>
        </p:nvCxnSpPr>
        <p:spPr>
          <a:xfrm>
            <a:off x="6414516" y="197779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97779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форма сообщения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a:t>
            </a:r>
          </a:p>
        </p:txBody>
      </p:sp>
      <p:sp>
        <p:nvSpPr>
          <p:cNvPr id="13" name="Rounded Rectangle 12"/>
          <p:cNvSpPr/>
          <p:nvPr/>
        </p:nvSpPr>
        <p:spPr>
          <a:xfrm>
            <a:off x="502920" y="355945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68747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Модель нужна при реальной вариативности контента или когда значение требует интерпретации текста, которой не было на предыдущем шаге. Шаблон достаточен, когда форма сообщения одна и все значения уже структурированы.</a:t>
            </a:r>
          </a:p>
        </p:txBody>
      </p:sp>
      <p:sp>
        <p:nvSpPr>
          <p:cNvPr id="15" name="Rounded Rectangle 14"/>
          <p:cNvSpPr/>
          <p:nvPr/>
        </p:nvSpPr>
        <p:spPr>
          <a:xfrm>
            <a:off x="502920" y="510555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356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Первая строка оси закрыта.</a:t>
            </a:r>
            <a:r>
              <a:rPr sz="1500" b="1" i="0">
                <a:solidFill>
                  <a:srgbClr val="141B2E"/>
                </a:solidFill>
                <a:latin typeface="Arial"/>
              </a:rPr>
              <a:t> Сообщение действительно ушло координатору — а цепочка оказалась короче и дешевле без узла модели. LLM здесь был просто лишним шагом: то же самое получилось шаблоном, без его цены и риска.</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«Это ведь тот же вопрос, с которым он писал два часа назад?»</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Заявка от Бориса приходит дважды</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утро. Светлана, администратор учебного центра, открывает таблицу заявок и видит вопрос от Бориса: «когда можно оплатить занятие?» Она отвечает.</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два часа — вторая заявка от того же контакта: «как мне внести оплату за курс». По смыслу это тот же вопрос. Светлана не узнаёт перефразировку и обрабатывает её как новую: отвечает ещё раз.</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Борис получает два разных ответа от центра с разницей в два часа — и это выглядит так, будто первый ответ потерялся.</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1 — точное совпадение текста.</a:t>
            </a:r>
            <a:r>
              <a:rPr sz="1500" b="1" i="0">
                <a:solidFill>
                  <a:srgbClr val="141B2E"/>
                </a:solidFill>
                <a:latin typeface="Arial"/>
              </a:rPr>
              <a:t> Нормализовать текст и сравнить с недавними записями того же контакта за окно N часов. Дёшево, без единого вызова модели.</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Цена ошибки не абстрактная.</a:t>
            </a:r>
            <a:r>
              <a:rPr sz="1650" b="1" i="0">
                <a:solidFill>
                  <a:srgbClr val="141B2E"/>
                </a:solidFill>
                <a:latin typeface="Arial"/>
              </a:rPr>
              <a:t> Двойная работа администратора — плюс недоверие клиента: «они не видят, что я уже спрашивал?»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тексты по общим словам — классический векторный подход с порогом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у модели, один ли это вопрос, просто сформулированный иначе</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проверить точное совпадение дёшево, а по модели пускать только то, что осталось</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каждая схема</a:t>
            </a:r>
          </a:p>
        </p:txBody>
      </p:sp>
      <p:sp>
        <p:nvSpPr>
          <p:cNvPr id="3" name="Rounded Rectangle 2"/>
          <p:cNvSpPr/>
          <p:nvPr/>
        </p:nvSpPr>
        <p:spPr>
          <a:xfrm>
            <a:off x="502920" y="9609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889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20 тестовых пар: 10 настоящих дублей (5 буквальных повторов + 5 перефразировок вроде пары Бориса) и 10 заведомо разных вопросов, часть — на близкую тему, для честной проверки ложных срабатываний.</a:t>
            </a:r>
          </a:p>
        </p:txBody>
      </p:sp>
      <p:sp>
        <p:nvSpPr>
          <p:cNvPr id="5" name="Rounded Rectangle 4"/>
          <p:cNvSpPr/>
          <p:nvPr/>
        </p:nvSpPr>
        <p:spPr>
          <a:xfrm>
            <a:off x="502920" y="2152594"/>
            <a:ext cx="11183112" cy="2957004"/>
          </a:xfrm>
          <a:prstGeom prst="roundRect">
            <a:avLst>
              <a:gd name="adj" fmla="val 103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35474"/>
            <a:ext cx="252127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СХЕМА</a:t>
            </a:r>
          </a:p>
        </p:txBody>
      </p:sp>
      <p:sp>
        <p:nvSpPr>
          <p:cNvPr id="7" name="TextBox 6"/>
          <p:cNvSpPr txBox="1"/>
          <p:nvPr/>
        </p:nvSpPr>
        <p:spPr>
          <a:xfrm>
            <a:off x="3353374" y="2335474"/>
            <a:ext cx="61091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ВЕРНО ИЗ 20</a:t>
            </a:r>
          </a:p>
        </p:txBody>
      </p:sp>
      <p:sp>
        <p:nvSpPr>
          <p:cNvPr id="8" name="TextBox 7"/>
          <p:cNvSpPr txBox="1"/>
          <p:nvPr/>
        </p:nvSpPr>
        <p:spPr>
          <a:xfrm>
            <a:off x="4110589" y="2335474"/>
            <a:ext cx="186418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ПОЙМАЛА</a:t>
            </a:r>
          </a:p>
        </p:txBody>
      </p:sp>
      <p:sp>
        <p:nvSpPr>
          <p:cNvPr id="9" name="TextBox 8"/>
          <p:cNvSpPr txBox="1"/>
          <p:nvPr/>
        </p:nvSpPr>
        <p:spPr>
          <a:xfrm>
            <a:off x="6121074" y="2335474"/>
            <a:ext cx="523577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ПРОПУСТИЛА / ГДЕ ОШИБЛАСЬ</a:t>
            </a:r>
          </a:p>
        </p:txBody>
      </p:sp>
      <p:sp>
        <p:nvSpPr>
          <p:cNvPr id="10" name="TextBox 9"/>
          <p:cNvSpPr txBox="1"/>
          <p:nvPr/>
        </p:nvSpPr>
        <p:spPr>
          <a:xfrm>
            <a:off x="685800" y="2789880"/>
            <a:ext cx="252127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Точное совпадение (хэш)</a:t>
            </a:r>
          </a:p>
        </p:txBody>
      </p:sp>
      <p:sp>
        <p:nvSpPr>
          <p:cNvPr id="11" name="TextBox 10"/>
          <p:cNvSpPr txBox="1"/>
          <p:nvPr/>
        </p:nvSpPr>
        <p:spPr>
          <a:xfrm>
            <a:off x="3353374" y="2789880"/>
            <a:ext cx="61091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15/20</a:t>
            </a:r>
          </a:p>
        </p:txBody>
      </p:sp>
      <p:sp>
        <p:nvSpPr>
          <p:cNvPr id="12" name="TextBox 11"/>
          <p:cNvSpPr txBox="1"/>
          <p:nvPr/>
        </p:nvSpPr>
        <p:spPr>
          <a:xfrm>
            <a:off x="4110589" y="2789880"/>
            <a:ext cx="18641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все 5 буквальных повторов, все 10 разных вопросов</a:t>
            </a:r>
          </a:p>
        </p:txBody>
      </p:sp>
      <p:sp>
        <p:nvSpPr>
          <p:cNvPr id="13" name="TextBox 12"/>
          <p:cNvSpPr txBox="1"/>
          <p:nvPr/>
        </p:nvSpPr>
        <p:spPr>
          <a:xfrm>
            <a:off x="6121074" y="2789880"/>
            <a:ext cx="523577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все 5 перефразировок — 0 из 5 на них</a:t>
            </a:r>
          </a:p>
        </p:txBody>
      </p:sp>
      <p:cxnSp>
        <p:nvCxnSpPr>
          <p:cNvPr id="14" name="Connector 13"/>
          <p:cNvCxnSpPr/>
          <p:nvPr/>
        </p:nvCxnSpPr>
        <p:spPr>
          <a:xfrm>
            <a:off x="685800" y="35021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502160"/>
            <a:ext cx="252127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TF-IDF + косинус</a:t>
            </a:r>
            <a:r>
              <a:rPr sz="1250" b="0" i="0">
                <a:solidFill>
                  <a:srgbClr val="141B2E"/>
                </a:solidFill>
                <a:latin typeface="Arial"/>
              </a:rPr>
              <a:t> (классический векторный подход, порог 0,3)</a:t>
            </a:r>
          </a:p>
        </p:txBody>
      </p:sp>
      <p:sp>
        <p:nvSpPr>
          <p:cNvPr id="16" name="TextBox 15"/>
          <p:cNvSpPr txBox="1"/>
          <p:nvPr/>
        </p:nvSpPr>
        <p:spPr>
          <a:xfrm>
            <a:off x="3353374" y="3502160"/>
            <a:ext cx="61091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15/20</a:t>
            </a:r>
          </a:p>
        </p:txBody>
      </p:sp>
      <p:sp>
        <p:nvSpPr>
          <p:cNvPr id="17" name="TextBox 16"/>
          <p:cNvSpPr txBox="1"/>
          <p:nvPr/>
        </p:nvSpPr>
        <p:spPr>
          <a:xfrm>
            <a:off x="4110589" y="3502160"/>
            <a:ext cx="18641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ровно то же, что хэш</a:t>
            </a:r>
          </a:p>
        </p:txBody>
      </p:sp>
      <p:sp>
        <p:nvSpPr>
          <p:cNvPr id="18" name="TextBox 17"/>
          <p:cNvSpPr txBox="1"/>
          <p:nvPr/>
        </p:nvSpPr>
        <p:spPr>
          <a:xfrm>
            <a:off x="6121074" y="3502160"/>
            <a:ext cx="523577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 же пятёрка перефразировок: у большинства пар ноль общих слов при полном совпадении смысла</a:t>
            </a:r>
          </a:p>
        </p:txBody>
      </p:sp>
      <p:cxnSp>
        <p:nvCxnSpPr>
          <p:cNvPr id="19" name="Connector 18"/>
          <p:cNvCxnSpPr/>
          <p:nvPr/>
        </p:nvCxnSpPr>
        <p:spPr>
          <a:xfrm>
            <a:off x="685800" y="42144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214439"/>
            <a:ext cx="252127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Дешёвая модель-судья</a:t>
            </a:r>
            <a:r>
              <a:rPr sz="1250" b="0" i="0">
                <a:solidFill>
                  <a:srgbClr val="141B2E"/>
                </a:solidFill>
                <a:latin typeface="Arial"/>
              </a:rPr>
              <a:t> (gpt-4o-mini, прямой вопрос «это тот же вопрос?»)</a:t>
            </a:r>
          </a:p>
        </p:txBody>
      </p:sp>
      <p:sp>
        <p:nvSpPr>
          <p:cNvPr id="21" name="TextBox 20"/>
          <p:cNvSpPr txBox="1"/>
          <p:nvPr/>
        </p:nvSpPr>
        <p:spPr>
          <a:xfrm>
            <a:off x="3353374" y="4214439"/>
            <a:ext cx="61091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19/20</a:t>
            </a:r>
          </a:p>
        </p:txBody>
      </p:sp>
      <p:sp>
        <p:nvSpPr>
          <p:cNvPr id="22" name="TextBox 21"/>
          <p:cNvSpPr txBox="1"/>
          <p:nvPr/>
        </p:nvSpPr>
        <p:spPr>
          <a:xfrm>
            <a:off x="4110589" y="4214439"/>
            <a:ext cx="18641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все 10 дублей, 9 из 10 разных вопросов</a:t>
            </a:r>
          </a:p>
        </p:txBody>
      </p:sp>
      <p:sp>
        <p:nvSpPr>
          <p:cNvPr id="23" name="TextBox 22"/>
          <p:cNvSpPr txBox="1"/>
          <p:nvPr/>
        </p:nvSpPr>
        <p:spPr>
          <a:xfrm>
            <a:off x="6121074" y="4214439"/>
            <a:ext cx="523577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ложное срабатывание: «хочу возврат средств за урок, на который не попал» и «в какое время у нас урок в четверг» — модель сказала «да», хотя вопросы разные</a:t>
            </a:r>
          </a:p>
        </p:txBody>
      </p:sp>
      <p:sp>
        <p:nvSpPr>
          <p:cNvPr id="24" name="Rounded Rectangle 23"/>
          <p:cNvSpPr/>
          <p:nvPr/>
        </p:nvSpPr>
        <p:spPr>
          <a:xfrm>
            <a:off x="502920" y="531823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44625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Честная находка.</a:t>
            </a:r>
            <a:r>
              <a:rPr sz="1500" b="1" i="0">
                <a:solidFill>
                  <a:srgbClr val="141B2E"/>
                </a:solidFill>
                <a:latin typeface="Arial"/>
              </a:rPr>
              <a:t> Попытка занизить порог TF-IDF, чтобы поймать пропущенную перефразировку, тут же превращает один из верно классифицированных «разных вопросов» в ложное срабатывание — на этом наборе нет единого порога, который побил бы хэш.</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Сравнение трёх схем на одном тесте</a:t>
            </a:r>
          </a:p>
        </p:txBody>
      </p:sp>
      <p:pic>
        <p:nvPicPr>
          <p:cNvPr id="3" name="Picture 2" descr="k2-shema-sravnenie.png"/>
          <p:cNvPicPr>
            <a:picLocks noChangeAspect="1"/>
          </p:cNvPicPr>
          <p:nvPr/>
        </p:nvPicPr>
        <p:blipFill>
          <a:blip r:embed="rId2"/>
          <a:stretch>
            <a:fillRect/>
          </a:stretch>
        </p:blipFill>
        <p:spPr>
          <a:xfrm>
            <a:off x="1473044" y="943356"/>
            <a:ext cx="9242863" cy="3235002"/>
          </a:xfrm>
          <a:prstGeom prst="rect">
            <a:avLst/>
          </a:prstGeom>
        </p:spPr>
      </p:pic>
      <p:sp>
        <p:nvSpPr>
          <p:cNvPr id="4" name="Rounded Rectangle 3"/>
          <p:cNvSpPr/>
          <p:nvPr/>
        </p:nvSpPr>
        <p:spPr>
          <a:xfrm>
            <a:off x="502920" y="4342950"/>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0966"/>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Фигура: три карточки — точное совпадение (хэш) 15/20, классический векторный подход (TF-IDF-косинус) 15/20, дешёвая модель-судья 19/20 — на одних и тех же 20 тестовых парах. Внизу подпись: числа — измерение, не предположение; четвёртая схема (внешний сервис) не реализована.</a:t>
            </a:r>
          </a:p>
        </p:txBody>
      </p:sp>
      <p:sp>
        <p:nvSpPr>
          <p:cNvPr id="6" name="Rounded Rectangle 5"/>
          <p:cNvSpPr/>
          <p:nvPr/>
        </p:nvSpPr>
        <p:spPr>
          <a:xfrm>
            <a:off x="502920" y="530154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2956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Архитектурное решение.</a:t>
            </a:r>
            <a:r>
              <a:rPr sz="1200" b="1" i="0">
                <a:solidFill>
                  <a:srgbClr val="141B2E"/>
                </a:solidFill>
                <a:latin typeface="Arial"/>
              </a:rPr>
              <a:t> Дешёвый, механический шаг идёт первым и берёт на себя всё, что решается без модели. Всё, что он не разрешил однозначно, передаётся дорогому шагу — проверке смыслом. Дорогой шаг не стоит вместо дешёвого и не стоит рядом с ним на каждый прогон — он стоит дальше по цепочке и включается только там, где первый шаг явно не дал ответа.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pic>
        <p:nvPicPr>
          <p:cNvPr id="3" name="Picture 2" descr="k2-n8n-mehanika.png"/>
          <p:cNvPicPr>
            <a:picLocks noChangeAspect="1"/>
          </p:cNvPicPr>
          <p:nvPr/>
        </p:nvPicPr>
        <p:blipFill>
          <a:blip r:embed="rId2"/>
          <a:stretch>
            <a:fillRect/>
          </a:stretch>
        </p:blipFill>
        <p:spPr>
          <a:xfrm>
            <a:off x="1132846" y="943356"/>
            <a:ext cx="9923258" cy="3101018"/>
          </a:xfrm>
          <a:prstGeom prst="rect">
            <a:avLst/>
          </a:prstGeom>
        </p:spPr>
      </p:pic>
      <p:sp>
        <p:nvSpPr>
          <p:cNvPr id="4" name="Rounded Rectangle 3"/>
          <p:cNvSpPr/>
          <p:nvPr/>
        </p:nvSpPr>
        <p:spPr>
          <a:xfrm>
            <a:off x="502920" y="420896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3698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a:t>
            </a:r>
            <a:r>
              <a:rPr sz="1400" b="1" i="0">
                <a:solidFill>
                  <a:srgbClr val="141B2E"/>
                </a:solidFill>
                <a:latin typeface="Arial"/>
              </a:rPr>
              <a:t> Берёт текст заявки, приводит к нижнему регистру, убирает пробелы по краям, схлопывает повторные пробелы внутри: </a:t>
            </a:r>
            <a:r>
              <a:rPr sz="1400" b="1" i="0">
                <a:solidFill>
                  <a:srgbClr val="141B2E"/>
                </a:solidFill>
                <a:latin typeface="Consolas"/>
              </a:rPr>
              <a:t>normalized_hash</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текст.toLowerCase().trim().replace(/\s+/g,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Рядом — тот же расчёт для недавнего сообщения того же контакта.</a:t>
            </a:r>
          </a:p>
        </p:txBody>
      </p:sp>
      <p:sp>
        <p:nvSpPr>
          <p:cNvPr id="6" name="Rounded Rectangle 5"/>
          <p:cNvSpPr/>
          <p:nvPr/>
        </p:nvSpPr>
        <p:spPr>
          <a:xfrm>
            <a:off x="502920" y="5309294"/>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37310"/>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a:t>
            </a:r>
            <a:r>
              <a:rPr sz="1250" b="1" i="0">
                <a:solidFill>
                  <a:srgbClr val="141B2E"/>
                </a:solidFill>
                <a:latin typeface="Consolas"/>
              </a:rPr>
              <a:t>Exact</a:t>
            </a:r>
            <a:r>
              <a:rPr sz="1250" b="1" i="0">
                <a:solidFill>
                  <a:srgbClr val="141B2E"/>
                </a:solidFill>
                <a:latin typeface="Arial"/>
              </a:rPr>
              <a:t> </a:t>
            </a:r>
            <a:r>
              <a:rPr sz="1250" b="1" i="0">
                <a:solidFill>
                  <a:srgbClr val="141B2E"/>
                </a:solidFill>
                <a:latin typeface="Consolas"/>
              </a:rPr>
              <a:t>duplicate</a:t>
            </a:r>
            <a:r>
              <a:rPr sz="1250" b="1" i="0">
                <a:solidFill>
                  <a:srgbClr val="141B2E"/>
                </a:solidFill>
                <a:latin typeface="Arial"/>
              </a:rPr>
              <a:t> </a:t>
            </a:r>
            <a:r>
              <a:rPr sz="1250" b="1" i="0">
                <a:solidFill>
                  <a:srgbClr val="141B2E"/>
                </a:solidFill>
                <a:latin typeface="Consolas"/>
              </a:rPr>
              <a:t>in</a:t>
            </a:r>
            <a:r>
              <a:rPr sz="1250" b="1" i="0">
                <a:solidFill>
                  <a:srgbClr val="141B2E"/>
                </a:solidFill>
                <a:latin typeface="Arial"/>
              </a:rPr>
              <a:t> </a:t>
            </a:r>
            <a:r>
              <a:rPr sz="1250" b="1" i="0">
                <a:solidFill>
                  <a:srgbClr val="141B2E"/>
                </a:solidFill>
                <a:latin typeface="Consolas"/>
              </a:rPr>
              <a:t>window?</a:t>
            </a:r>
            <a:r>
              <a:rPr sz="1250" b="1" i="0">
                <a:solidFill>
                  <a:srgbClr val="141B2E"/>
                </a:solidFill>
                <a:latin typeface="Arial"/>
              </a:rPr>
              <a:t> (</a:t>
            </a:r>
            <a:r>
              <a:rPr sz="1250" b="1" i="0">
                <a:solidFill>
                  <a:srgbClr val="141B2E"/>
                </a:solidFill>
                <a:latin typeface="Consolas"/>
              </a:rPr>
              <a:t>IF</a:t>
            </a:r>
            <a:r>
              <a:rPr sz="1250" b="1" i="0">
                <a:solidFill>
                  <a:srgbClr val="141B2E"/>
                </a:solidFill>
                <a:latin typeface="Arial"/>
              </a:rPr>
              <a:t>).</a:t>
            </a:r>
            <a:r>
              <a:rPr sz="1250" b="1" i="0">
                <a:solidFill>
                  <a:srgbClr val="141B2E"/>
                </a:solidFill>
                <a:latin typeface="Arial"/>
              </a:rPr>
              <a:t> Условие: </a:t>
            </a:r>
            <a:r>
              <a:rPr sz="1250" b="1" i="0">
                <a:solidFill>
                  <a:srgbClr val="141B2E"/>
                </a:solidFill>
                <a:latin typeface="Consolas"/>
              </a:rPr>
              <a:t>normalized_hash</a:t>
            </a:r>
            <a:r>
              <a:rPr sz="1250" b="1" i="0">
                <a:solidFill>
                  <a:srgbClr val="141B2E"/>
                </a:solidFill>
                <a:latin typeface="Arial"/>
              </a:rPr>
              <a:t> строго равен хэшу недавнего обращения — строковое сравнение, оба значения уже в нижнем регистре. Совпало → повтор найден, гасится бесплатно, без записи. Не совпало → заявка идёт дальше по цепочке.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узел-модель спрашивает напрямую</a:t>
            </a:r>
          </a:p>
        </p:txBody>
      </p:sp>
      <p:pic>
        <p:nvPicPr>
          <p:cNvPr id="3" name="Picture 2" descr="k2-n8n-llm-provexa.png"/>
          <p:cNvPicPr>
            <a:picLocks noChangeAspect="1"/>
          </p:cNvPicPr>
          <p:nvPr/>
        </p:nvPicPr>
        <p:blipFill>
          <a:blip r:embed="rId2"/>
          <a:stretch>
            <a:fillRect/>
          </a:stretch>
        </p:blipFill>
        <p:spPr>
          <a:xfrm>
            <a:off x="2655831" y="943356"/>
            <a:ext cx="6877288" cy="2407050"/>
          </a:xfrm>
          <a:prstGeom prst="rect">
            <a:avLst/>
          </a:prstGeom>
        </p:spPr>
      </p:pic>
      <p:sp>
        <p:nvSpPr>
          <p:cNvPr id="4" name="Rounded Rectangle 3"/>
          <p:cNvSpPr/>
          <p:nvPr/>
        </p:nvSpPr>
        <p:spPr>
          <a:xfrm>
            <a:off x="502920" y="3514998"/>
            <a:ext cx="82296" cy="6045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43014"/>
            <a:ext cx="10643616" cy="3484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Промпт узла </a:t>
            </a:r>
            <a:r>
              <a:rPr sz="1100" b="1" i="0">
                <a:solidFill>
                  <a:srgbClr val="141B2E"/>
                </a:solidFill>
                <a:latin typeface="Consolas"/>
              </a:rPr>
              <a:t>Same</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a:t>
            </a:r>
            <a:r>
              <a:rPr sz="1100" b="1" i="0">
                <a:solidFill>
                  <a:srgbClr val="141B2E"/>
                </a:solidFill>
                <a:latin typeface="Consolas"/>
              </a:rPr>
              <a:t>reworded?</a:t>
            </a:r>
            <a:r>
              <a:rPr sz="1100" b="1" i="0">
                <a:solidFill>
                  <a:srgbClr val="141B2E"/>
                </a:solidFill>
                <a:latin typeface="Arial"/>
              </a:rPr>
              <a:t> (</a:t>
            </a:r>
            <a:r>
              <a:rPr sz="1100" b="1" i="0">
                <a:solidFill>
                  <a:srgbClr val="141B2E"/>
                </a:solidFill>
                <a:latin typeface="Consolas"/>
              </a:rPr>
              <a:t>chainLlm</a:t>
            </a:r>
            <a:r>
              <a:rPr sz="1100" b="1" i="0">
                <a:solidFill>
                  <a:srgbClr val="141B2E"/>
                </a:solidFill>
                <a:latin typeface="Arial"/>
              </a:rPr>
              <a:t>).</a:t>
            </a:r>
            <a:r>
              <a:rPr sz="1100" b="1" i="0">
                <a:solidFill>
                  <a:srgbClr val="141B2E"/>
                </a:solidFill>
                <a:latin typeface="Arial"/>
              </a:rPr>
              <a:t> «Это новое сообщение: «{{новый текст}}». Недавнее сообщение того же контакта: «{{старый текст}}». Это тот же вопрос, просто сформулированный иначе? Ответь строго «да» или «нет».»</a:t>
            </a:r>
          </a:p>
        </p:txBody>
      </p:sp>
      <p:sp>
        <p:nvSpPr>
          <p:cNvPr id="6" name="Rounded Rectangle 5"/>
          <p:cNvSpPr/>
          <p:nvPr/>
        </p:nvSpPr>
        <p:spPr>
          <a:xfrm>
            <a:off x="502920" y="4284094"/>
            <a:ext cx="11183112" cy="1245108"/>
          </a:xfrm>
          <a:prstGeom prst="roundRect">
            <a:avLst>
              <a:gd name="adj" fmla="val 2447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4412110"/>
            <a:ext cx="180296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ПРОГОН</a:t>
            </a:r>
          </a:p>
        </p:txBody>
      </p:sp>
      <p:sp>
        <p:nvSpPr>
          <p:cNvPr id="8" name="TextBox 7"/>
          <p:cNvSpPr txBox="1"/>
          <p:nvPr/>
        </p:nvSpPr>
        <p:spPr>
          <a:xfrm>
            <a:off x="2580203" y="4412110"/>
            <a:ext cx="324392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ПОДАЛИ</a:t>
            </a:r>
          </a:p>
        </p:txBody>
      </p:sp>
      <p:sp>
        <p:nvSpPr>
          <p:cNvPr id="9" name="TextBox 8"/>
          <p:cNvSpPr txBox="1"/>
          <p:nvPr/>
        </p:nvSpPr>
        <p:spPr>
          <a:xfrm>
            <a:off x="5970435" y="4412110"/>
            <a:ext cx="544127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ПОЛУЧИЛОСЬ</a:t>
            </a:r>
          </a:p>
        </p:txBody>
      </p:sp>
      <p:sp>
        <p:nvSpPr>
          <p:cNvPr id="10" name="TextBox 9"/>
          <p:cNvSpPr txBox="1"/>
          <p:nvPr/>
        </p:nvSpPr>
        <p:spPr>
          <a:xfrm>
            <a:off x="630936" y="4671698"/>
            <a:ext cx="1802963" cy="364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Прогон 1 — буквальный повтор</a:t>
            </a:r>
          </a:p>
        </p:txBody>
      </p:sp>
      <p:sp>
        <p:nvSpPr>
          <p:cNvPr id="11" name="TextBox 10"/>
          <p:cNvSpPr txBox="1"/>
          <p:nvPr/>
        </p:nvSpPr>
        <p:spPr>
          <a:xfrm>
            <a:off x="2580203" y="4671698"/>
            <a:ext cx="3243927"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тот же текст дважды</a:t>
            </a:r>
          </a:p>
        </p:txBody>
      </p:sp>
      <p:sp>
        <p:nvSpPr>
          <p:cNvPr id="12" name="TextBox 11"/>
          <p:cNvSpPr txBox="1"/>
          <p:nvPr/>
        </p:nvSpPr>
        <p:spPr>
          <a:xfrm>
            <a:off x="5970435" y="4671698"/>
            <a:ext cx="5441276"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точное совпадение поймало мгновенно: заявка не записана, ответа не было; сам прогон технически успешен</a:t>
            </a:r>
          </a:p>
        </p:txBody>
      </p:sp>
      <p:cxnSp>
        <p:nvCxnSpPr>
          <p:cNvPr id="13" name="Connector 12"/>
          <p:cNvCxnSpPr/>
          <p:nvPr/>
        </p:nvCxnSpPr>
        <p:spPr>
          <a:xfrm>
            <a:off x="630936" y="503644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0936" y="5036442"/>
            <a:ext cx="1802963" cy="364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Прогон 2 — перефразировка</a:t>
            </a:r>
          </a:p>
        </p:txBody>
      </p:sp>
      <p:sp>
        <p:nvSpPr>
          <p:cNvPr id="15" name="TextBox 14"/>
          <p:cNvSpPr txBox="1"/>
          <p:nvPr/>
        </p:nvSpPr>
        <p:spPr>
          <a:xfrm>
            <a:off x="2580203" y="5036442"/>
            <a:ext cx="3243927"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пара Бориса: «когда можно оплатить занятие?» → «как мне внести оплату за курс»</a:t>
            </a:r>
          </a:p>
        </p:txBody>
      </p:sp>
      <p:sp>
        <p:nvSpPr>
          <p:cNvPr id="16" name="TextBox 15"/>
          <p:cNvSpPr txBox="1"/>
          <p:nvPr/>
        </p:nvSpPr>
        <p:spPr>
          <a:xfrm>
            <a:off x="5970435" y="5036442"/>
            <a:ext cx="5441276"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точное совпадение не поймало — дошло до модели; ответ — </a:t>
            </a:r>
            <a:r>
              <a:rPr sz="1000" b="1" i="0">
                <a:solidFill>
                  <a:srgbClr val="141B2E"/>
                </a:solidFill>
                <a:latin typeface="Arial"/>
              </a:rPr>
              <a:t>«да»</a:t>
            </a:r>
          </a:p>
        </p:txBody>
      </p:sp>
      <p:sp>
        <p:nvSpPr>
          <p:cNvPr id="17" name="Rounded Rectangle 16"/>
          <p:cNvSpPr/>
          <p:nvPr/>
        </p:nvSpPr>
        <p:spPr>
          <a:xfrm>
            <a:off x="502920" y="5693794"/>
            <a:ext cx="82296" cy="6045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5821810"/>
            <a:ext cx="10643616" cy="3484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На прогоне 1 ничего не произошло молча при зелёном статусе — ровно то, ради чего дешёвый фильтр и стоит первым. На прогоне 2 модель ответила верно там, где оба механических подхода на этой паре дают ноль.</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Точное совпадение остаётся в финальном решении — но как первый дешёвый фильтр, экономящий 5 из 20 вызовов модели бесплатно, не как альтернатива LLM.</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154430"/>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73886"/>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73886"/>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Окно времени — параметр с ценой в обе стороны.</a:t>
            </a:r>
            <a:r>
              <a:rPr sz="1350" b="0" i="0">
                <a:solidFill>
                  <a:srgbClr val="141B2E"/>
                </a:solidFill>
                <a:latin typeface="Arial"/>
              </a:rPr>
              <a:t> Слишком короткое окно пропустит повтор, разнесённый на день-два. Слишком длинное начнёт путать разные последовательные обращения одного человека с повтором одного обращения.</a:t>
            </a:r>
          </a:p>
        </p:txBody>
      </p:sp>
      <p:sp>
        <p:nvSpPr>
          <p:cNvPr id="6" name="Rounded Rectangle 5"/>
          <p:cNvSpPr/>
          <p:nvPr/>
        </p:nvSpPr>
        <p:spPr>
          <a:xfrm>
            <a:off x="502920" y="2995803"/>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215259"/>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8" name="TextBox 7"/>
          <p:cNvSpPr txBox="1"/>
          <p:nvPr/>
        </p:nvSpPr>
        <p:spPr>
          <a:xfrm>
            <a:off x="1106424" y="321525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LLM-судья имеет собственную асимметрию ошибок</a:t>
            </a:r>
            <a:r>
              <a:rPr sz="1350" b="0" i="0">
                <a:solidFill>
                  <a:srgbClr val="141B2E"/>
                </a:solidFill>
                <a:latin typeface="Arial"/>
              </a:rPr>
              <a:t>, не ноль (Wataoka, Takahashi, Ri — NeurIPS 2024 Safe GenAI Workshop, arXiv:2410.21819, self-preference bias): модель-судья систематически не нейтральна, даже отвечая формально «да» или «нет». Наш тест это подтвердил напрямую: 1 ложное срабатывание из 20, не ноль.</a:t>
            </a:r>
          </a:p>
        </p:txBody>
      </p:sp>
      <p:sp>
        <p:nvSpPr>
          <p:cNvPr id="9" name="Rounded Rectangle 8"/>
          <p:cNvSpPr/>
          <p:nvPr/>
        </p:nvSpPr>
        <p:spPr>
          <a:xfrm>
            <a:off x="502920" y="4837176"/>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5056632"/>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1" name="TextBox 10"/>
          <p:cNvSpPr txBox="1"/>
          <p:nvPr/>
        </p:nvSpPr>
        <p:spPr>
          <a:xfrm>
            <a:off x="1106424" y="5056632"/>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330045"/>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3977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71409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как первый вопрос Бориса</a:t>
            </a:r>
          </a:p>
        </p:txBody>
      </p:sp>
      <p:cxnSp>
        <p:nvCxnSpPr>
          <p:cNvPr id="6" name="Connector 5"/>
          <p:cNvCxnSpPr/>
          <p:nvPr/>
        </p:nvCxnSpPr>
        <p:spPr>
          <a:xfrm>
            <a:off x="685800" y="20327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03273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нужен бесплатный и мгновенный фильтр на весь поток заявок</a:t>
            </a:r>
          </a:p>
        </p:txBody>
      </p:sp>
      <p:cxnSp>
        <p:nvCxnSpPr>
          <p:cNvPr id="8" name="Connector 7"/>
          <p:cNvCxnSpPr/>
          <p:nvPr/>
        </p:nvCxnSpPr>
        <p:spPr>
          <a:xfrm>
            <a:off x="685800" y="23513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5137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классический векторный подход не стоит добавлять «на всякий случай» — измерение показало тот же результат, что у хэша</a:t>
            </a:r>
          </a:p>
        </p:txBody>
      </p:sp>
      <p:sp>
        <p:nvSpPr>
          <p:cNvPr id="10" name="Rounded Rectangle 9"/>
          <p:cNvSpPr/>
          <p:nvPr/>
        </p:nvSpPr>
        <p:spPr>
          <a:xfrm>
            <a:off x="6231636" y="1330045"/>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43977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НУЖНА СВЕРХУ</a:t>
            </a:r>
          </a:p>
        </p:txBody>
      </p:sp>
      <p:sp>
        <p:nvSpPr>
          <p:cNvPr id="12" name="TextBox 11"/>
          <p:cNvSpPr txBox="1"/>
          <p:nvPr/>
        </p:nvSpPr>
        <p:spPr>
          <a:xfrm>
            <a:off x="6414516" y="171409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как его второй вопрос</a:t>
            </a:r>
          </a:p>
        </p:txBody>
      </p:sp>
      <p:cxnSp>
        <p:nvCxnSpPr>
          <p:cNvPr id="13" name="Connector 12"/>
          <p:cNvCxnSpPr/>
          <p:nvPr/>
        </p:nvCxnSpPr>
        <p:spPr>
          <a:xfrm>
            <a:off x="6414516" y="20327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03273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cxnSp>
        <p:nvCxnSpPr>
          <p:cNvPr id="15" name="Connector 14"/>
          <p:cNvCxnSpPr/>
          <p:nvPr/>
        </p:nvCxnSpPr>
        <p:spPr>
          <a:xfrm>
            <a:off x="6414516" y="252371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52371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частота ошибок самой модели — измеренная цена (у нас 1 ложное срабатывание из 20), а не ноль, и её тоже нужно закладывать</a:t>
            </a:r>
          </a:p>
        </p:txBody>
      </p:sp>
      <p:cxnSp>
        <p:nvCxnSpPr>
          <p:cNvPr id="17" name="Connector 16"/>
          <p:cNvCxnSpPr/>
          <p:nvPr/>
        </p:nvCxnSpPr>
        <p:spPr>
          <a:xfrm>
            <a:off x="6414516" y="31870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8703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 хэш, ни классический векторный подход не решают переформулировку на русском языке целиком сами по себе</a:t>
            </a:r>
          </a:p>
        </p:txBody>
      </p:sp>
      <p:sp>
        <p:nvSpPr>
          <p:cNvPr id="19" name="Rounded Rectangle 18"/>
          <p:cNvSpPr/>
          <p:nvPr/>
        </p:nvSpPr>
        <p:spPr>
          <a:xfrm>
            <a:off x="502920" y="4528413"/>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656429"/>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Выглядело надёжным: заявка про тот же вопрос пришла снова — обработали как новую. Чем оказалось: без проверки на дубль каждое повторное обращение запускает цепочку с нуля; ни хэш, ни классический векторный подход не решают это целиком для живого русского текста — нужна модель, с её собственной, измеренной ценой ошибки.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«Правило: не возвращай больше 3000 рублей автоматически, иначе эскалируй руководителю.»</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правило в промпте</a:t>
            </a:r>
          </a:p>
        </p:txBody>
      </p:sp>
      <p:sp>
        <p:nvSpPr>
          <p:cNvPr id="3" name="Rounded Rectangle 2"/>
          <p:cNvSpPr/>
          <p:nvPr/>
        </p:nvSpPr>
        <p:spPr>
          <a:xfrm>
            <a:off x="502920" y="103962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63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форма заявки, которой мы уже пользовались в предыдущих кейсах: человек описывает ситуацию своими словами и называет сумму внутри текста — «прошу вернуть 2500 рублей за пропущенное занятие».</a:t>
            </a:r>
          </a:p>
        </p:txBody>
      </p:sp>
      <p:sp>
        <p:nvSpPr>
          <p:cNvPr id="5" name="Rounded Rectangle 4"/>
          <p:cNvSpPr/>
          <p:nvPr/>
        </p:nvSpPr>
        <p:spPr>
          <a:xfrm>
            <a:off x="502920" y="2427859"/>
            <a:ext cx="11183112" cy="2367153"/>
          </a:xfrm>
          <a:prstGeom prst="roundRect">
            <a:avLst>
              <a:gd name="adj" fmla="val 1287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64731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64731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Шаг цепочки (модель </a:t>
            </a:r>
            <a:r>
              <a:rPr sz="1350" b="0" i="0">
                <a:solidFill>
                  <a:srgbClr val="141B2E"/>
                </a:solidFill>
                <a:latin typeface="Consolas"/>
              </a:rPr>
              <a:t>qwen/qwen-2.5-7b-instruct</a:t>
            </a:r>
            <a:r>
              <a:rPr sz="1350" b="0" i="0">
                <a:solidFill>
                  <a:srgbClr val="141B2E"/>
                </a:solidFill>
                <a:latin typeface="Arial"/>
              </a:rPr>
              <a:t>) получает один запрос: «Правило: не возвращай больше 3000 рублей автоматически, иначе эскалируй руководителю. Сумма запроса: {{сумма}} рублей. Ответь строго одним словом: «одобрить» или «эскалировать».»</a:t>
            </a:r>
          </a:p>
        </p:txBody>
      </p:sp>
      <p:sp>
        <p:nvSpPr>
          <p:cNvPr id="8" name="TextBox 7"/>
          <p:cNvSpPr txBox="1"/>
          <p:nvPr/>
        </p:nvSpPr>
        <p:spPr>
          <a:xfrm>
            <a:off x="722376" y="338226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38226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сама читает сумму из текста, сама сравнивает её с порогом из того же текста правила, сама отвечает одним словом.</a:t>
            </a:r>
          </a:p>
        </p:txBody>
      </p:sp>
      <p:sp>
        <p:nvSpPr>
          <p:cNvPr id="10" name="TextBox 9"/>
          <p:cNvSpPr txBox="1"/>
          <p:nvPr/>
        </p:nvSpPr>
        <p:spPr>
          <a:xfrm>
            <a:off x="722376" y="3914902"/>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914902"/>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Ответ «одобрить» — возврат оформляется процессом, без участия руководителя.</a:t>
            </a:r>
          </a:p>
        </p:txBody>
      </p:sp>
      <p:sp>
        <p:nvSpPr>
          <p:cNvPr id="12" name="TextBox 11"/>
          <p:cNvSpPr txBox="1"/>
          <p:nvPr/>
        </p:nvSpPr>
        <p:spPr>
          <a:xfrm>
            <a:off x="722376" y="4245229"/>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24522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Ответ «эскалировать» — заявка уходит руководителю.</a:t>
            </a:r>
          </a:p>
        </p:txBody>
      </p:sp>
      <p:sp>
        <p:nvSpPr>
          <p:cNvPr id="14" name="Rounded Rectangle 13"/>
          <p:cNvSpPr/>
          <p:nvPr/>
        </p:nvSpPr>
        <p:spPr>
          <a:xfrm>
            <a:off x="502920" y="520026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2828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чём стоит доверие.</a:t>
            </a:r>
            <a:r>
              <a:rPr sz="1500" b="1" i="0">
                <a:solidFill>
                  <a:srgbClr val="141B2E"/>
                </a:solidFill>
                <a:latin typeface="Arial"/>
              </a:rPr>
              <a:t> Версия работает уже месяц. Никто не пожаловался, что одобрено то, что следовало эскалировать, или наоборот. Команда считает правило надёжным — и ровно на этом основании: ничего плохого не заметили.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чтобы решение о пороге не ошибалось</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написать правило яснее в промте</a:t>
            </a:r>
          </a:p>
        </p:txBody>
      </p:sp>
      <p:sp>
        <p:nvSpPr>
          <p:cNvPr id="7" name="Rounded Rectangle 6"/>
          <p:cNvSpPr/>
          <p:nvPr/>
        </p:nvSpPr>
        <p:spPr>
          <a:xfrm>
            <a:off x="2768803"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5034686"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поставить IF-узел после извлечения суммы</a:t>
            </a:r>
          </a:p>
        </p:txBody>
      </p:sp>
      <p:sp>
        <p:nvSpPr>
          <p:cNvPr id="11" name="Rounded Rectangle 10"/>
          <p:cNvSpPr/>
          <p:nvPr/>
        </p:nvSpPr>
        <p:spPr>
          <a:xfrm>
            <a:off x="7300569"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сделать сумму явным числовым полем формы</a:t>
            </a:r>
          </a:p>
        </p:txBody>
      </p:sp>
      <p:sp>
        <p:nvSpPr>
          <p:cNvPr id="13" name="Rounded Rectangle 12"/>
          <p:cNvSpPr/>
          <p:nvPr/>
        </p:nvSpPr>
        <p:spPr>
          <a:xfrm>
            <a:off x="9566452"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прогнать несколько раз и взять большинство голосов</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каждое из пяти действий</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21543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986454" y="1131735"/>
            <a:ext cx="25049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a:t>
            </a:r>
          </a:p>
        </p:txBody>
      </p:sp>
      <p:sp>
        <p:nvSpPr>
          <p:cNvPr id="6" name="TextBox 5"/>
          <p:cNvSpPr txBox="1"/>
          <p:nvPr/>
        </p:nvSpPr>
        <p:spPr>
          <a:xfrm>
            <a:off x="5637746" y="1131735"/>
            <a:ext cx="57191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ПРЕДЕЛ</a:t>
            </a:r>
          </a:p>
        </p:txBody>
      </p:sp>
      <p:sp>
        <p:nvSpPr>
          <p:cNvPr id="7" name="TextBox 6"/>
          <p:cNvSpPr txBox="1"/>
          <p:nvPr/>
        </p:nvSpPr>
        <p:spPr>
          <a:xfrm>
            <a:off x="685800" y="1413802"/>
            <a:ext cx="215435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написать правило яснее в промте</a:t>
            </a:r>
          </a:p>
        </p:txBody>
      </p:sp>
      <p:sp>
        <p:nvSpPr>
          <p:cNvPr id="8" name="TextBox 7"/>
          <p:cNvSpPr txBox="1"/>
          <p:nvPr/>
        </p:nvSpPr>
        <p:spPr>
          <a:xfrm>
            <a:off x="2986454" y="1413802"/>
            <a:ext cx="25049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может снизить частоту ошибки</a:t>
            </a:r>
          </a:p>
        </p:txBody>
      </p:sp>
      <p:sp>
        <p:nvSpPr>
          <p:cNvPr id="9" name="TextBox 8"/>
          <p:cNvSpPr txBox="1"/>
          <p:nvPr/>
        </p:nvSpPr>
        <p:spPr>
          <a:xfrm>
            <a:off x="5637746" y="1413802"/>
            <a:ext cx="57191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устраняет её структурно: решение всё равно принимается текстовым вызовом модели</a:t>
            </a:r>
          </a:p>
        </p:txBody>
      </p:sp>
      <p:cxnSp>
        <p:nvCxnSpPr>
          <p:cNvPr id="10" name="Connector 9"/>
          <p:cNvCxnSpPr/>
          <p:nvPr/>
        </p:nvCxnSpPr>
        <p:spPr>
          <a:xfrm>
            <a:off x="685800" y="19435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43519"/>
            <a:ext cx="215435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дать модели инструмент-калькулятор</a:t>
            </a:r>
          </a:p>
        </p:txBody>
      </p:sp>
      <p:sp>
        <p:nvSpPr>
          <p:cNvPr id="12" name="TextBox 11"/>
          <p:cNvSpPr txBox="1"/>
          <p:nvPr/>
        </p:nvSpPr>
        <p:spPr>
          <a:xfrm>
            <a:off x="2986454" y="1943519"/>
            <a:ext cx="25049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лучше, чем голый текст правила</a:t>
            </a:r>
          </a:p>
        </p:txBody>
      </p:sp>
      <p:sp>
        <p:nvSpPr>
          <p:cNvPr id="13" name="TextBox 12"/>
          <p:cNvSpPr txBox="1"/>
          <p:nvPr/>
        </p:nvSpPr>
        <p:spPr>
          <a:xfrm>
            <a:off x="5637746" y="1943519"/>
            <a:ext cx="57191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вероятностность не исчезает — она переезжает на шаг раньше: на то, вызовет ли модель инструмент и как передаст в него значения</a:t>
            </a:r>
          </a:p>
        </p:txBody>
      </p:sp>
      <p:cxnSp>
        <p:nvCxnSpPr>
          <p:cNvPr id="14" name="Connector 13"/>
          <p:cNvCxnSpPr/>
          <p:nvPr/>
        </p:nvCxnSpPr>
        <p:spPr>
          <a:xfrm>
            <a:off x="685800" y="2655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55798"/>
            <a:ext cx="215435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поставить </a:t>
            </a:r>
            <a:r>
              <a:rPr sz="1250" b="1" i="0">
                <a:solidFill>
                  <a:srgbClr val="141B2E"/>
                </a:solidFill>
                <a:latin typeface="Consolas"/>
              </a:rPr>
              <a:t>IF</a:t>
            </a:r>
            <a:r>
              <a:rPr sz="1250" b="1" i="0">
                <a:solidFill>
                  <a:srgbClr val="141B2E"/>
                </a:solidFill>
                <a:latin typeface="Arial"/>
              </a:rPr>
              <a:t>-узел после извлечения суммы</a:t>
            </a:r>
          </a:p>
        </p:txBody>
      </p:sp>
      <p:sp>
        <p:nvSpPr>
          <p:cNvPr id="16" name="TextBox 15"/>
          <p:cNvSpPr txBox="1"/>
          <p:nvPr/>
        </p:nvSpPr>
        <p:spPr>
          <a:xfrm>
            <a:off x="2986454" y="2655798"/>
            <a:ext cx="25049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устраняет вероятностность из самой точки решения</a:t>
            </a:r>
          </a:p>
        </p:txBody>
      </p:sp>
      <p:sp>
        <p:nvSpPr>
          <p:cNvPr id="17" name="TextBox 16"/>
          <p:cNvSpPr txBox="1"/>
          <p:nvPr/>
        </p:nvSpPr>
        <p:spPr>
          <a:xfrm>
            <a:off x="5637746" y="2655798"/>
            <a:ext cx="57191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сравнение становится условием в коде, а не текстовым вызовом — но сумму всё равно извлекает модель</a:t>
            </a:r>
          </a:p>
        </p:txBody>
      </p:sp>
      <p:cxnSp>
        <p:nvCxnSpPr>
          <p:cNvPr id="18" name="Connector 17"/>
          <p:cNvCxnSpPr/>
          <p:nvPr/>
        </p:nvCxnSpPr>
        <p:spPr>
          <a:xfrm>
            <a:off x="685800" y="3368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68078"/>
            <a:ext cx="21543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сделать сумму явным числовым полем формы</a:t>
            </a:r>
          </a:p>
        </p:txBody>
      </p:sp>
      <p:sp>
        <p:nvSpPr>
          <p:cNvPr id="20" name="TextBox 19"/>
          <p:cNvSpPr txBox="1"/>
          <p:nvPr/>
        </p:nvSpPr>
        <p:spPr>
          <a:xfrm>
            <a:off x="2986454" y="3368078"/>
            <a:ext cx="2504988"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устраняет неопределённость ещё раньше по цепочке — извлекать сумму моделью вообще не нужно</a:t>
            </a:r>
          </a:p>
        </p:txBody>
      </p:sp>
      <p:sp>
        <p:nvSpPr>
          <p:cNvPr id="21" name="TextBox 20"/>
          <p:cNvSpPr txBox="1"/>
          <p:nvPr/>
        </p:nvSpPr>
        <p:spPr>
          <a:xfrm>
            <a:off x="5637746" y="3368078"/>
            <a:ext cx="571910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только если форму запроса можно менять; если источник — письмо или чат, а не наша форма, извлечение из текста всё равно нужно</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215435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прогнать несколько раз, взять большинство голосов</a:t>
            </a:r>
          </a:p>
        </p:txBody>
      </p:sp>
      <p:sp>
        <p:nvSpPr>
          <p:cNvPr id="24" name="TextBox 23"/>
          <p:cNvSpPr txBox="1"/>
          <p:nvPr/>
        </p:nvSpPr>
        <p:spPr>
          <a:xfrm>
            <a:off x="2986454" y="4262920"/>
            <a:ext cx="25049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даёт против систематической ошибки на границе</a:t>
            </a:r>
          </a:p>
        </p:txBody>
      </p:sp>
      <p:sp>
        <p:nvSpPr>
          <p:cNvPr id="25" name="TextBox 24"/>
          <p:cNvSpPr txBox="1"/>
          <p:nvPr/>
        </p:nvSpPr>
        <p:spPr>
          <a:xfrm>
            <a:off x="5637746" y="4262920"/>
            <a:ext cx="57191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модель раз за разом одинаково неверно трактует саму границу, голосование размножает ту же неверную интерпретацию, а не исправляет её</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Мостик дальше.</a:t>
            </a:r>
            <a:r>
              <a:rPr sz="1500" b="1" i="0">
                <a:solidFill>
                  <a:srgbClr val="141B2E"/>
                </a:solidFill>
                <a:latin typeface="Arial"/>
              </a:rPr>
              <a:t> Два действия устраняют вероятностность структурно, одно снижает её частоту, одно переносит её на шаг раньше, одно бессильно против систематики. Какое из них нужно именно здесь — решает не спор за столом, а измерение: сколько версия 1 реально ошибается и где именно.</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на практике, а не на веру</a:t>
            </a:r>
          </a:p>
        </p:txBody>
      </p:sp>
      <p:sp>
        <p:nvSpPr>
          <p:cNvPr id="3" name="Rounded Rectangle 2"/>
          <p:cNvSpPr/>
          <p:nvPr/>
        </p:nvSpPr>
        <p:spPr>
          <a:xfrm>
            <a:off x="502920" y="943356"/>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Зачем мерить, а не ждать жалобу.</a:t>
            </a:r>
            <a:r>
              <a:rPr sz="1250" b="1" i="0">
                <a:solidFill>
                  <a:srgbClr val="141B2E"/>
                </a:solidFill>
                <a:latin typeface="Arial"/>
              </a:rPr>
              <a:t> Жалоба приходит только если ошибка достаточно заметна и достаточно дорога, чтобы кто-то вернулся. Тихая ошибка — одобрена чуть большая сумма, эскалирована чуть меньшая — жалобы не вызовет никогда.</a:t>
            </a:r>
          </a:p>
        </p:txBody>
      </p:sp>
      <p:sp>
        <p:nvSpPr>
          <p:cNvPr id="5" name="Rounded Rectangle 4"/>
          <p:cNvSpPr/>
          <p:nvPr/>
        </p:nvSpPr>
        <p:spPr>
          <a:xfrm>
            <a:off x="502920" y="1972817"/>
            <a:ext cx="82296" cy="178358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00834"/>
            <a:ext cx="10643616" cy="152755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Как собраны 50 тестовых сумм.</a:t>
            </a:r>
            <a:r>
              <a:rPr sz="1300" b="1" i="0">
                <a:solidFill>
                  <a:srgbClr val="141B2E"/>
                </a:solidFill>
                <a:latin typeface="Arial"/>
              </a:rPr>
              <a:t> Сгенерированы детерминированно: фиксированный seed, набор воспроизводим, не меняется при перегенерации. Два кластера:</a:t>
            </a:r>
          </a:p>
          <a:p>
            <a:pPr algn="l">
              <a:lnSpc>
                <a:spcPts val="1612"/>
              </a:lnSpc>
              <a:spcAft>
                <a:spcPts val="300"/>
              </a:spcAft>
            </a:pPr>
            <a:r>
              <a:rPr sz="1300" b="1" i="0">
                <a:solidFill>
                  <a:srgbClr val="141B2E"/>
                </a:solidFill>
                <a:latin typeface="Arial"/>
              </a:rPr>
              <a:t>- </a:t>
            </a:r>
            <a:r>
              <a:rPr sz="1300" b="1" i="0">
                <a:solidFill>
                  <a:srgbClr val="141B2E"/>
                </a:solidFill>
                <a:latin typeface="Arial"/>
              </a:rPr>
              <a:t>25 сумм near-or-below</a:t>
            </a:r>
            <a:r>
              <a:rPr sz="1300" b="1" i="0">
                <a:solidFill>
                  <a:srgbClr val="141B2E"/>
                </a:solidFill>
                <a:latin typeface="Arial"/>
              </a:rPr>
              <a:t> порога — от 1000 до 3000₽ включительно, с плотной группировкой у самой границы: 2900, 2950, 2990, 2999, и ровно 3000₽ встречается </a:t>
            </a:r>
            <a:r>
              <a:rPr sz="1300" b="1" i="0">
                <a:solidFill>
                  <a:srgbClr val="141B2E"/>
                </a:solidFill>
                <a:latin typeface="Arial"/>
              </a:rPr>
              <a:t>трижды</a:t>
            </a:r>
            <a:r>
              <a:rPr sz="1300" b="1" i="0">
                <a:solidFill>
                  <a:srgbClr val="141B2E"/>
                </a:solidFill>
                <a:latin typeface="Arial"/>
              </a:rPr>
              <a:t> намеренно — граничный случай статистически весомый, не единичный.</a:t>
            </a:r>
          </a:p>
          <a:p>
            <a:pPr algn="l">
              <a:lnSpc>
                <a:spcPts val="1612"/>
              </a:lnSpc>
              <a:spcAft>
                <a:spcPts val="300"/>
              </a:spcAft>
            </a:pPr>
            <a:r>
              <a:rPr sz="1300" b="1" i="0">
                <a:solidFill>
                  <a:srgbClr val="141B2E"/>
                </a:solidFill>
                <a:latin typeface="Arial"/>
              </a:rPr>
              <a:t>- </a:t>
            </a:r>
            <a:r>
              <a:rPr sz="1300" b="1" i="0">
                <a:solidFill>
                  <a:srgbClr val="141B2E"/>
                </a:solidFill>
                <a:latin typeface="Arial"/>
              </a:rPr>
              <a:t>25 сумм явно выше</a:t>
            </a:r>
            <a:r>
              <a:rPr sz="1300" b="1" i="0">
                <a:solidFill>
                  <a:srgbClr val="141B2E"/>
                </a:solidFill>
                <a:latin typeface="Arial"/>
              </a:rPr>
              <a:t> — от 3200 до 9000₽, разброс шире, без кластера у границы: это контрольная группа «очевидно эскалировать».</a:t>
            </a:r>
          </a:p>
        </p:txBody>
      </p:sp>
      <p:sp>
        <p:nvSpPr>
          <p:cNvPr id="7" name="Rounded Rectangle 6"/>
          <p:cNvSpPr/>
          <p:nvPr/>
        </p:nvSpPr>
        <p:spPr>
          <a:xfrm>
            <a:off x="502920" y="3920997"/>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49013"/>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Как сумма становится запросом.</a:t>
            </a:r>
            <a:r>
              <a:rPr sz="1400" b="1" i="0">
                <a:solidFill>
                  <a:srgbClr val="141B2E"/>
                </a:solidFill>
                <a:latin typeface="Arial"/>
              </a:rPr>
              <a:t> Каждая сумма вставлена в один из </a:t>
            </a:r>
            <a:r>
              <a:rPr sz="1400" b="1" i="0">
                <a:solidFill>
                  <a:srgbClr val="141B2E"/>
                </a:solidFill>
                <a:latin typeface="Arial"/>
              </a:rPr>
              <a:t>четырёх реалистичных шаблонов</a:t>
            </a:r>
            <a:r>
              <a:rPr sz="1400" b="1" i="0">
                <a:solidFill>
                  <a:srgbClr val="141B2E"/>
                </a:solidFill>
                <a:latin typeface="Arial"/>
              </a:rPr>
              <a:t> фразы, не передаётся голым числом: «прошу вернуть {сумма} рублей за пропущенное занятие», «хочу вернуть {сумма} руб, занятие не состоялось по моей вине, но прошу всё равно» и другие — чтобы модель реально извлекала число из текста, а не получала его готовым. Плюс один ручной тест — </a:t>
            </a:r>
            <a:r>
              <a:rPr sz="1400" b="1" i="0">
                <a:solidFill>
                  <a:srgbClr val="141B2E"/>
                </a:solidFill>
                <a:latin typeface="Arial"/>
              </a:rPr>
              <a:t>итого 51 запрос</a:t>
            </a:r>
            <a:r>
              <a:rPr sz="1400" b="1" i="0">
                <a:solidFill>
                  <a:srgbClr val="141B2E"/>
                </a:solidFill>
                <a:latin typeface="Arial"/>
              </a:rPr>
              <a:t>.</a:t>
            </a:r>
          </a:p>
        </p:txBody>
      </p:sp>
      <p:sp>
        <p:nvSpPr>
          <p:cNvPr id="9" name="Rounded Rectangle 8"/>
          <p:cNvSpPr/>
          <p:nvPr/>
        </p:nvSpPr>
        <p:spPr>
          <a:xfrm>
            <a:off x="502920" y="524179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6981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 правильности.</a:t>
            </a:r>
            <a:r>
              <a:rPr sz="1250" b="1" i="0">
                <a:solidFill>
                  <a:srgbClr val="141B2E"/>
                </a:solidFill>
                <a:latin typeface="Arial"/>
              </a:rPr>
              <a:t> Решение, прочитанное из </a:t>
            </a:r>
            <a:r>
              <a:rPr sz="1250" b="1" i="0">
                <a:solidFill>
                  <a:srgbClr val="141B2E"/>
                </a:solidFill>
                <a:latin typeface="Consolas"/>
              </a:rPr>
              <a:t>runData</a:t>
            </a:r>
            <a:r>
              <a:rPr sz="1250" b="1" i="0">
                <a:solidFill>
                  <a:srgbClr val="141B2E"/>
                </a:solidFill>
                <a:latin typeface="Arial"/>
              </a:rPr>
              <a:t> каждого настоящего прогона, сравнивается с ожиданием «одобрить, если сумма ≤ 3000₽ (порог включительно), иначе эскалировать» — тем самым правилом, которое задаёт сам текст промпта.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Результат: 3 ошибки из 51, и все три в одной точке</a:t>
            </a:r>
          </a:p>
        </p:txBody>
      </p:sp>
      <p:sp>
        <p:nvSpPr>
          <p:cNvPr id="3" name="Rounded Rectangle 2"/>
          <p:cNvSpPr/>
          <p:nvPr/>
        </p:nvSpPr>
        <p:spPr>
          <a:xfrm>
            <a:off x="502920" y="1643761"/>
            <a:ext cx="11183112" cy="2219007"/>
          </a:xfrm>
          <a:prstGeom prst="roundRect">
            <a:avLst>
              <a:gd name="adj" fmla="val 137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26641"/>
            <a:ext cx="32708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4102982" y="1826641"/>
            <a:ext cx="72538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НА 51 ЗАПРОСЕ</a:t>
            </a:r>
          </a:p>
        </p:txBody>
      </p:sp>
      <p:sp>
        <p:nvSpPr>
          <p:cNvPr id="6" name="Rounded Rectangle 5"/>
          <p:cNvSpPr/>
          <p:nvPr/>
        </p:nvSpPr>
        <p:spPr>
          <a:xfrm>
            <a:off x="566928" y="2108708"/>
            <a:ext cx="11055096" cy="34715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08708"/>
            <a:ext cx="327087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всего</a:t>
            </a:r>
          </a:p>
        </p:txBody>
      </p:sp>
      <p:sp>
        <p:nvSpPr>
          <p:cNvPr id="8" name="TextBox 7"/>
          <p:cNvSpPr txBox="1"/>
          <p:nvPr/>
        </p:nvSpPr>
        <p:spPr>
          <a:xfrm>
            <a:off x="4102982" y="2108708"/>
            <a:ext cx="7253865"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p>
        </p:txBody>
      </p:sp>
      <p:cxnSp>
        <p:nvCxnSpPr>
          <p:cNvPr id="9" name="Connector 8"/>
          <p:cNvCxnSpPr/>
          <p:nvPr/>
        </p:nvCxnSpPr>
        <p:spPr>
          <a:xfrm>
            <a:off x="685800" y="24558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455862"/>
            <a:ext cx="327087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Где именно</a:t>
            </a:r>
          </a:p>
        </p:txBody>
      </p:sp>
      <p:sp>
        <p:nvSpPr>
          <p:cNvPr id="11" name="TextBox 10"/>
          <p:cNvSpPr txBox="1"/>
          <p:nvPr/>
        </p:nvSpPr>
        <p:spPr>
          <a:xfrm>
            <a:off x="4102982" y="2455862"/>
            <a:ext cx="72538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все три — на сумме, </a:t>
            </a:r>
            <a:r>
              <a:rPr sz="1250" b="1" i="0">
                <a:solidFill>
                  <a:srgbClr val="141B2E"/>
                </a:solidFill>
                <a:latin typeface="Arial"/>
              </a:rPr>
              <a:t>ровно равной порогу</a:t>
            </a:r>
            <a:r>
              <a:rPr sz="1250" b="0" i="0">
                <a:solidFill>
                  <a:srgbClr val="141B2E"/>
                </a:solidFill>
                <a:latin typeface="Arial"/>
              </a:rPr>
              <a:t> (3000₽)</a:t>
            </a:r>
          </a:p>
        </p:txBody>
      </p:sp>
      <p:cxnSp>
        <p:nvCxnSpPr>
          <p:cNvPr id="12" name="Connector 11"/>
          <p:cNvCxnSpPr/>
          <p:nvPr/>
        </p:nvCxnSpPr>
        <p:spPr>
          <a:xfrm>
            <a:off x="685800" y="28030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03017"/>
            <a:ext cx="32708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Строго выше или строго ниже порога</a:t>
            </a:r>
          </a:p>
        </p:txBody>
      </p:sp>
      <p:sp>
        <p:nvSpPr>
          <p:cNvPr id="14" name="TextBox 13"/>
          <p:cNvSpPr txBox="1"/>
          <p:nvPr/>
        </p:nvSpPr>
        <p:spPr>
          <a:xfrm>
            <a:off x="4102982" y="2803017"/>
            <a:ext cx="725386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r>
              <a:rPr sz="1250" b="0" i="0">
                <a:solidFill>
                  <a:srgbClr val="141B2E"/>
                </a:solidFill>
                <a:latin typeface="Arial"/>
              </a:rPr>
              <a:t> ошибок</a:t>
            </a:r>
          </a:p>
        </p:txBody>
      </p:sp>
      <p:cxnSp>
        <p:nvCxnSpPr>
          <p:cNvPr id="15" name="Connector 14"/>
          <p:cNvCxnSpPr/>
          <p:nvPr/>
        </p:nvCxnSpPr>
        <p:spPr>
          <a:xfrm>
            <a:off x="685800" y="33327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332734"/>
            <a:ext cx="327087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Характер ошибки</a:t>
            </a:r>
          </a:p>
        </p:txBody>
      </p:sp>
      <p:sp>
        <p:nvSpPr>
          <p:cNvPr id="17" name="TextBox 16"/>
          <p:cNvSpPr txBox="1"/>
          <p:nvPr/>
        </p:nvSpPr>
        <p:spPr>
          <a:xfrm>
            <a:off x="4102982" y="3332734"/>
            <a:ext cx="72538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систематическая, не случайная — сидит в одной точке, не разбросана по диапазону</a:t>
            </a:r>
          </a:p>
        </p:txBody>
      </p:sp>
      <p:sp>
        <p:nvSpPr>
          <p:cNvPr id="18" name="Rounded Rectangle 17"/>
          <p:cNvSpPr/>
          <p:nvPr/>
        </p:nvSpPr>
        <p:spPr>
          <a:xfrm>
            <a:off x="502920" y="45302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65829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решила модель на границе.</a:t>
            </a:r>
            <a:r>
              <a:rPr sz="1500" b="1" i="0">
                <a:solidFill>
                  <a:srgbClr val="141B2E"/>
                </a:solidFill>
                <a:latin typeface="Arial"/>
              </a:rPr>
              <a:t> На сумме ровно 3000₽ модель отвечала «эскалировать», хотя правило («не возвращай больше 3000 рублей») подразумевает, что сама граница — «можно одобрить».</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тот же путь, одна точка меняется</a:t>
            </a:r>
          </a:p>
        </p:txBody>
      </p:sp>
      <p:pic>
        <p:nvPicPr>
          <p:cNvPr id="3" name="Picture 2" descr="k3-shema-versii.png"/>
          <p:cNvPicPr>
            <a:picLocks noChangeAspect="1"/>
          </p:cNvPicPr>
          <p:nvPr/>
        </p:nvPicPr>
        <p:blipFill>
          <a:blip r:embed="rId2"/>
          <a:stretch>
            <a:fillRect/>
          </a:stretch>
        </p:blipFill>
        <p:spPr>
          <a:xfrm>
            <a:off x="2533973" y="943356"/>
            <a:ext cx="7121005" cy="3115439"/>
          </a:xfrm>
          <a:prstGeom prst="rect">
            <a:avLst/>
          </a:prstGeom>
        </p:spPr>
      </p:pic>
      <p:sp>
        <p:nvSpPr>
          <p:cNvPr id="4" name="Rounded Rectangle 3"/>
          <p:cNvSpPr/>
          <p:nvPr/>
        </p:nvSpPr>
        <p:spPr>
          <a:xfrm>
            <a:off x="502920" y="422338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Версия 1 (было).</a:t>
            </a:r>
            <a:r>
              <a:rPr sz="1150" b="1" i="0">
                <a:solidFill>
                  <a:srgbClr val="141B2E"/>
                </a:solidFill>
                <a:latin typeface="Arial"/>
              </a:rPr>
              <a:t> Форма со свободным текстом → модель извлекает сумму → </a:t>
            </a:r>
            <a:r>
              <a:rPr sz="1150" b="1" i="0">
                <a:solidFill>
                  <a:srgbClr val="141B2E"/>
                </a:solidFill>
                <a:latin typeface="Arial"/>
              </a:rPr>
              <a:t>модель же решает по тексту правила</a:t>
            </a:r>
            <a:r>
              <a:rPr sz="1150" b="1" i="0">
                <a:solidFill>
                  <a:srgbClr val="141B2E"/>
                </a:solidFill>
                <a:latin typeface="Arial"/>
              </a:rPr>
              <a:t> → результат.</a:t>
            </a:r>
          </a:p>
        </p:txBody>
      </p:sp>
      <p:sp>
        <p:nvSpPr>
          <p:cNvPr id="6" name="Rounded Rectangle 5"/>
          <p:cNvSpPr/>
          <p:nvPr/>
        </p:nvSpPr>
        <p:spPr>
          <a:xfrm>
            <a:off x="502920" y="4843401"/>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71417"/>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Версия 2 (стало, прямой ответ на находку эксперимента).</a:t>
            </a:r>
            <a:r>
              <a:rPr sz="1100" b="1" i="0">
                <a:solidFill>
                  <a:srgbClr val="141B2E"/>
                </a:solidFill>
                <a:latin typeface="Arial"/>
              </a:rPr>
              <a:t> Та же форма → модель извлекает сумму → </a:t>
            </a:r>
            <a:r>
              <a:rPr sz="1100" b="1" i="0">
                <a:solidFill>
                  <a:srgbClr val="141B2E"/>
                </a:solidFill>
                <a:latin typeface="Consolas"/>
              </a:rPr>
              <a:t>IF</a:t>
            </a:r>
            <a:r>
              <a:rPr sz="1100" b="1" i="0">
                <a:solidFill>
                  <a:srgbClr val="141B2E"/>
                </a:solidFill>
                <a:latin typeface="Arial"/>
              </a:rPr>
              <a:t>-узел сравнивает число с порогом</a:t>
            </a:r>
            <a:r>
              <a:rPr sz="1100" b="1" i="0">
                <a:solidFill>
                  <a:srgbClr val="141B2E"/>
                </a:solidFill>
                <a:latin typeface="Arial"/>
              </a:rPr>
              <a:t> → результат.</a:t>
            </a:r>
          </a:p>
        </p:txBody>
      </p:sp>
      <p:sp>
        <p:nvSpPr>
          <p:cNvPr id="8" name="Rounded Rectangle 7"/>
          <p:cNvSpPr/>
          <p:nvPr/>
        </p:nvSpPr>
        <p:spPr>
          <a:xfrm>
            <a:off x="502920" y="5599685"/>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7701"/>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Цепочка не перестроена. Разница — ровно в одном узле, том самом, где раньше принималось решение. Всё остальное — форма, извлечение суммы, дальнейшая маршрутизация заявки — осталось тем же.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IF-узел против текста правила</a:t>
            </a:r>
          </a:p>
        </p:txBody>
      </p:sp>
      <p:pic>
        <p:nvPicPr>
          <p:cNvPr id="3" name="Picture 2" descr="k3-n8n-if-uzel.png"/>
          <p:cNvPicPr>
            <a:picLocks noChangeAspect="1"/>
          </p:cNvPicPr>
          <p:nvPr/>
        </p:nvPicPr>
        <p:blipFill>
          <a:blip r:embed="rId2"/>
          <a:stretch>
            <a:fillRect/>
          </a:stretch>
        </p:blipFill>
        <p:spPr>
          <a:xfrm>
            <a:off x="1544776" y="943356"/>
            <a:ext cx="9099399" cy="3071047"/>
          </a:xfrm>
          <a:prstGeom prst="rect">
            <a:avLst/>
          </a:prstGeom>
        </p:spPr>
      </p:pic>
      <p:sp>
        <p:nvSpPr>
          <p:cNvPr id="4" name="Rounded Rectangle 3"/>
          <p:cNvSpPr/>
          <p:nvPr/>
        </p:nvSpPr>
        <p:spPr>
          <a:xfrm>
            <a:off x="502920" y="4178995"/>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0701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a:t>
            </a:r>
            <a:r>
              <a:rPr sz="1250" b="1" i="0">
                <a:solidFill>
                  <a:srgbClr val="141B2E"/>
                </a:solidFill>
                <a:latin typeface="Consolas"/>
              </a:rPr>
              <a:t>IF</a:t>
            </a:r>
            <a:r>
              <a:rPr sz="1250" b="1" i="0">
                <a:solidFill>
                  <a:srgbClr val="141B2E"/>
                </a:solidFill>
                <a:latin typeface="Arial"/>
              </a:rPr>
              <a:t> («Amount over threshold?»), версия 2.</a:t>
            </a:r>
            <a:r>
              <a:rPr sz="1250" b="1" i="0">
                <a:solidFill>
                  <a:srgbClr val="141B2E"/>
                </a:solidFill>
                <a:latin typeface="Arial"/>
              </a:rPr>
              <a:t> Условие: извлечённая сумма (число) </a:t>
            </a:r>
            <a:r>
              <a:rPr sz="1250" b="1" i="0">
                <a:solidFill>
                  <a:srgbClr val="141B2E"/>
                </a:solidFill>
                <a:latin typeface="Arial"/>
              </a:rPr>
              <a:t>строго больше 3000</a:t>
            </a:r>
            <a:r>
              <a:rPr sz="1250" b="1" i="0">
                <a:solidFill>
                  <a:srgbClr val="141B2E"/>
                </a:solidFill>
                <a:latin typeface="Arial"/>
              </a:rPr>
              <a:t>. Ветка «да» → эскалировать руководителю. Ветка «нет» → одобрить. Сравнение — операция над числом, не текст, который нужно понять.</a:t>
            </a:r>
          </a:p>
        </p:txBody>
      </p:sp>
      <p:sp>
        <p:nvSpPr>
          <p:cNvPr id="6" name="Rounded Rectangle 5"/>
          <p:cNvSpPr/>
          <p:nvPr/>
        </p:nvSpPr>
        <p:spPr>
          <a:xfrm>
            <a:off x="502920" y="5011607"/>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139623"/>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Для контраста — промпт версии 1, тот же шаг.</a:t>
            </a:r>
            <a:r>
              <a:rPr sz="1400" b="1" i="0">
                <a:solidFill>
                  <a:srgbClr val="141B2E"/>
                </a:solidFill>
                <a:latin typeface="Arial"/>
              </a:rPr>
              <a:t> «Правило: не возвращай больше 3000 рублей автоматически, иначе эскалируй руководителю. Сумма запроса: {{сумма}} рублей. Ответь строго одним словом: «одобрить» или «эскалировать».» Здесь то же сравнение существует только как смысл внутри текста — у модели нет отдельной операции «сравнить числа», есть только одна операция «понять и ответить».</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версий после теста</a:t>
            </a:r>
          </a:p>
        </p:txBody>
      </p:sp>
      <p:sp>
        <p:nvSpPr>
          <p:cNvPr id="3" name="Rounded Rectangle 2"/>
          <p:cNvSpPr/>
          <p:nvPr/>
        </p:nvSpPr>
        <p:spPr>
          <a:xfrm>
            <a:off x="502920" y="2275306"/>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458186"/>
            <a:ext cx="17883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620490" y="2458186"/>
            <a:ext cx="48378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7604665" y="2458186"/>
            <a:ext cx="37521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a:t>
            </a:r>
            <a:r>
              <a:rPr sz="1150" b="1" i="0">
                <a:solidFill>
                  <a:srgbClr val="6B7685"/>
                </a:solidFill>
                <a:latin typeface="Consolas"/>
              </a:rPr>
              <a:t>IF</a:t>
            </a:r>
            <a:r>
              <a:rPr sz="1150" b="1" i="0">
                <a:solidFill>
                  <a:srgbClr val="6B7685"/>
                </a:solidFill>
                <a:latin typeface="Arial"/>
              </a:rPr>
              <a:t>-УЗЕЛ)</a:t>
            </a:r>
          </a:p>
        </p:txBody>
      </p:sp>
      <p:sp>
        <p:nvSpPr>
          <p:cNvPr id="7" name="TextBox 6"/>
          <p:cNvSpPr txBox="1"/>
          <p:nvPr/>
        </p:nvSpPr>
        <p:spPr>
          <a:xfrm>
            <a:off x="685800" y="2740253"/>
            <a:ext cx="178838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51 запросе</a:t>
            </a:r>
          </a:p>
        </p:txBody>
      </p:sp>
      <p:sp>
        <p:nvSpPr>
          <p:cNvPr id="8" name="TextBox 7"/>
          <p:cNvSpPr txBox="1"/>
          <p:nvPr/>
        </p:nvSpPr>
        <p:spPr>
          <a:xfrm>
            <a:off x="2620490" y="2740253"/>
            <a:ext cx="483787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r>
              <a:rPr sz="1250" b="0" i="0">
                <a:solidFill>
                  <a:srgbClr val="141B2E"/>
                </a:solidFill>
                <a:latin typeface="Arial"/>
              </a:rPr>
              <a:t> — все на сумме 3000₽</a:t>
            </a:r>
          </a:p>
        </p:txBody>
      </p:sp>
      <p:sp>
        <p:nvSpPr>
          <p:cNvPr id="9" name="TextBox 8"/>
          <p:cNvSpPr txBox="1"/>
          <p:nvPr/>
        </p:nvSpPr>
        <p:spPr>
          <a:xfrm>
            <a:off x="7604665" y="2740253"/>
            <a:ext cx="375218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3269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269970"/>
            <a:ext cx="178838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(3000₽)</a:t>
            </a:r>
          </a:p>
        </p:txBody>
      </p:sp>
      <p:sp>
        <p:nvSpPr>
          <p:cNvPr id="12" name="TextBox 11"/>
          <p:cNvSpPr txBox="1"/>
          <p:nvPr/>
        </p:nvSpPr>
        <p:spPr>
          <a:xfrm>
            <a:off x="2620490" y="3269970"/>
            <a:ext cx="48378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«эскалировать», хотя правило подразумевает «можно одобрить»</a:t>
            </a:r>
          </a:p>
        </p:txBody>
      </p:sp>
      <p:sp>
        <p:nvSpPr>
          <p:cNvPr id="13" name="TextBox 12"/>
          <p:cNvSpPr txBox="1"/>
          <p:nvPr/>
        </p:nvSpPr>
        <p:spPr>
          <a:xfrm>
            <a:off x="7604665" y="3269970"/>
            <a:ext cx="375218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«одобрить» — условие </a:t>
            </a:r>
            <a:r>
              <a:rPr sz="1250" b="0" i="0">
                <a:solidFill>
                  <a:srgbClr val="141B2E"/>
                </a:solidFill>
                <a:latin typeface="Consolas"/>
              </a:rPr>
              <a:t>&gt;</a:t>
            </a:r>
            <a:r>
              <a:rPr sz="1250" b="0" i="0">
                <a:solidFill>
                  <a:srgbClr val="141B2E"/>
                </a:solidFill>
                <a:latin typeface="Arial"/>
              </a:rPr>
              <a:t> </a:t>
            </a:r>
            <a:r>
              <a:rPr sz="1250" b="0" i="0">
                <a:solidFill>
                  <a:srgbClr val="141B2E"/>
                </a:solidFill>
                <a:latin typeface="Consolas"/>
              </a:rPr>
              <a:t>3000</a:t>
            </a:r>
            <a:r>
              <a:rPr sz="1250" b="0" i="0">
                <a:solidFill>
                  <a:srgbClr val="141B2E"/>
                </a:solidFill>
                <a:latin typeface="Arial"/>
              </a:rPr>
              <a:t> не допускает двойного толкования</a:t>
            </a:r>
          </a:p>
        </p:txBody>
      </p:sp>
      <p:cxnSp>
        <p:nvCxnSpPr>
          <p:cNvPr id="14" name="Connector 13"/>
          <p:cNvCxnSpPr/>
          <p:nvPr/>
        </p:nvCxnSpPr>
        <p:spPr>
          <a:xfrm>
            <a:off x="685800" y="37996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99687"/>
            <a:ext cx="178838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620490" y="3799687"/>
            <a:ext cx="483787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7" name="TextBox 16"/>
          <p:cNvSpPr txBox="1"/>
          <p:nvPr/>
        </p:nvSpPr>
        <p:spPr>
          <a:xfrm>
            <a:off x="7604665" y="3799687"/>
            <a:ext cx="375218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решение должно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Точная формулировка находки.</a:t>
            </a:r>
            <a:r>
              <a:rPr sz="1500" b="1" i="0">
                <a:solidFill>
                  <a:srgbClr val="141B2E"/>
                </a:solidFill>
                <a:latin typeface="Arial"/>
              </a:rPr>
              <a:t> Не «модель иногда вероятностно ошибается» — точнее: </a:t>
            </a:r>
            <a:r>
              <a:rPr sz="1500" b="1" i="0">
                <a:solidFill>
                  <a:srgbClr val="141B2E"/>
                </a:solidFill>
                <a:latin typeface="Arial"/>
              </a:rPr>
              <a:t>модель систематически промахивается именно на границе условия</a:t>
            </a:r>
            <a:r>
              <a:rPr sz="1500" b="1" i="0">
                <a:solidFill>
                  <a:srgbClr val="141B2E"/>
                </a:solidFill>
                <a:latin typeface="Arial"/>
              </a:rPr>
              <a:t>, там, где текст правила и его формальная интерпретация расходятся, а в остальном диапазоне безупречна.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a:t>
            </a:r>
            <a:r>
              <a:rPr sz="1500" b="1" i="0">
                <a:solidFill>
                  <a:srgbClr val="141B2E"/>
                </a:solidFill>
                <a:latin typeface="Arial"/>
              </a:rPr>
              <a:t>не задача модели в точке принятия решения</a:t>
            </a:r>
            <a:r>
              <a:rPr sz="1500" b="1" i="0">
                <a:solidFill>
                  <a:srgbClr val="141B2E"/>
                </a:solidFill>
                <a:latin typeface="Arial"/>
              </a:rPr>
              <a:t>. Граничные значения — первое, что нужно проверить прогоном, прежде чем доверять любому похожему правилу.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нюанса, прежде чем применять вывод</a:t>
            </a:r>
          </a:p>
        </p:txBody>
      </p:sp>
      <p:sp>
        <p:nvSpPr>
          <p:cNvPr id="3" name="Rounded Rectangle 2"/>
          <p:cNvSpPr/>
          <p:nvPr/>
        </p:nvSpPr>
        <p:spPr>
          <a:xfrm>
            <a:off x="502920" y="2201418"/>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42087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42087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Инструмент-калькулятор у модели — не гарантия.</a:t>
            </a:r>
            <a:r>
              <a:rPr sz="1350" b="0" i="0">
                <a:solidFill>
                  <a:srgbClr val="141B2E"/>
                </a:solidFill>
                <a:latin typeface="Arial"/>
              </a:rPr>
              <a:t> Вероятностность не исчезает, она переехала на шаг раньше: вызовет ли модель калькулятор и как передаст в него значения.</a:t>
            </a:r>
          </a:p>
        </p:txBody>
      </p:sp>
      <p:sp>
        <p:nvSpPr>
          <p:cNvPr id="6" name="TextBox 5"/>
          <p:cNvSpPr txBox="1"/>
          <p:nvPr/>
        </p:nvSpPr>
        <p:spPr>
          <a:xfrm>
            <a:off x="722376" y="295351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95351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Порог X — единственный источник правды.</a:t>
            </a:r>
            <a:r>
              <a:rPr sz="1350" b="0" i="0">
                <a:solidFill>
                  <a:srgbClr val="141B2E"/>
                </a:solidFill>
                <a:latin typeface="Arial"/>
              </a:rPr>
              <a:t> Если он живёт в двух копиях — тексте промпта и условии </a:t>
            </a:r>
            <a:r>
              <a:rPr sz="1350" b="0" i="0">
                <a:solidFill>
                  <a:srgbClr val="141B2E"/>
                </a:solidFill>
                <a:latin typeface="Consolas"/>
              </a:rPr>
              <a:t>IF</a:t>
            </a:r>
            <a:r>
              <a:rPr sz="1350" b="0" i="0">
                <a:solidFill>
                  <a:srgbClr val="141B2E"/>
                </a:solidFill>
                <a:latin typeface="Arial"/>
              </a:rPr>
              <a:t> — расхождение этих копий — тот же класс проблемы, что рвущийся контракт между шагами.</a:t>
            </a:r>
          </a:p>
        </p:txBody>
      </p:sp>
      <p:sp>
        <p:nvSpPr>
          <p:cNvPr id="8" name="TextBox 7"/>
          <p:cNvSpPr txBox="1"/>
          <p:nvPr/>
        </p:nvSpPr>
        <p:spPr>
          <a:xfrm>
            <a:off x="722376" y="348615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48615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Модель-экстрактор всё ещё может ошибиться.</a:t>
            </a:r>
            <a:r>
              <a:rPr sz="1350" b="0" i="0">
                <a:solidFill>
                  <a:srgbClr val="141B2E"/>
                </a:solidFill>
                <a:latin typeface="Arial"/>
              </a:rPr>
              <a:t> Вывод не «модель нигде не нужна», а «модель не должна быть точкой решения»; явное числовое поле формы убирает и эту часть риска — но только если форму самого запроса можно менять, иначе извлечение остаётся задачей модели.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Критерий: когда решение обязано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Решение обязано быть кодом, когда оно формализуется как условие над уже структурированным значением. Ещё лучше — устранить саму потребность в извлечении, если источник данных можно сделать структурированным с самого начала.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Строка оси закрыта.</a:t>
            </a:r>
            <a:r>
              <a:rPr sz="1500" b="1" i="0">
                <a:solidFill>
                  <a:srgbClr val="141B2E"/>
                </a:solidFill>
                <a:latin typeface="Arial"/>
              </a:rPr>
              <a:t> Решение, оставленное модели, обходило правило в измеренной доле прогонов — три из пятидесяти одного, и ровно на границе условия. Решение, отданное алгоритмическому гейту, — никогда.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10332720"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489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2489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6" name="TextBox 5"/>
          <p:cNvSpPr txBox="1"/>
          <p:nvPr/>
        </p:nvSpPr>
        <p:spPr>
          <a:xfrm>
            <a:off x="1536192" y="114300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Zillow Offers: алгоритмическая закупка жилья</a:t>
            </a:r>
          </a:p>
        </p:txBody>
      </p:sp>
      <p:sp>
        <p:nvSpPr>
          <p:cNvPr id="7" name="TextBox 6"/>
          <p:cNvSpPr txBox="1"/>
          <p:nvPr/>
        </p:nvSpPr>
        <p:spPr>
          <a:xfrm>
            <a:off x="822960" y="2360676"/>
            <a:ext cx="9509760" cy="4712208"/>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«Мы определили, что непредсказуемость прогнозирования цен на жильё намного превышает то, что мы ожидали… наблюдаемая частота ошибок оказалась гораздо более волатильной, чем мы вообще считали возможным.»</a:t>
            </a:r>
          </a:p>
          <a:p>
            <a:pPr algn="l">
              <a:lnSpc>
                <a:spcPts val="2244"/>
              </a:lnSpc>
              <a:spcAft>
                <a:spcPts val="400"/>
              </a:spcAft>
            </a:pPr>
            <a:r>
              <a:rPr sz="1700" b="0" i="1">
                <a:solidFill>
                  <a:srgbClr val="D6E2EC"/>
                </a:solidFill>
                <a:latin typeface="Arial"/>
              </a:rPr>
              <a:t>— Рич Бартон, CEO Zillow, 2 ноября 2021 года, объявляя закрытие бизнеса Zillow Offers</a:t>
            </a:r>
          </a:p>
          <a:p>
            <a:pPr algn="l">
              <a:lnSpc>
                <a:spcPts val="2244"/>
              </a:lnSpc>
              <a:spcAft>
                <a:spcPts val="400"/>
              </a:spcAft>
            </a:pPr>
            <a:r>
              <a:rPr sz="1700" b="0" i="1">
                <a:solidFill>
                  <a:srgbClr val="D6E2EC"/>
                </a:solidFill>
                <a:latin typeface="Arial"/>
              </a:rPr>
              <a:t>Zillow — крупнейший агрегатор объявлений о недвижимости в США. С 2018 года компания вела направление Zillow Offers, другое название — iBuying: алгоритмическая модель Zestimate оценивала дом по открытым данным, компания покупала его почти мгновенно по этой цене, делала минимальный ремонт и быстро перепродавала, зарабатывая на разнице между покупкой и продажей.</a:t>
            </a:r>
          </a:p>
          <a:p>
            <a:pPr algn="l">
              <a:lnSpc>
                <a:spcPts val="2244"/>
              </a:lnSpc>
              <a:spcAft>
                <a:spcPts val="400"/>
              </a:spcAft>
            </a:pPr>
            <a:r>
              <a:rPr sz="1700" b="0" i="1">
                <a:solidFill>
                  <a:srgbClr val="D6E2EC"/>
                </a:solidFill>
                <a:latin typeface="Arial"/>
              </a:rPr>
              <a:t>Списание запасов — $304,4 млн за 3-й квартал 2021 года, по итогам всего года — $407,9 млн. Сокращение штата — ~25%, это ~2000 человек. В том же квартале Zillow купила 9680 домов, продать успела лишь 3032 — средний убыток на каждый проданный дом составил ~$80 000.</a:t>
            </a:r>
          </a:p>
        </p:txBody>
      </p:sp>
      <p:sp>
        <p:nvSpPr>
          <p:cNvPr id="8" name="Rounded Rectangle 7"/>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решение о покупке работало на самом деле</a:t>
            </a:r>
          </a:p>
        </p:txBody>
      </p:sp>
      <p:pic>
        <p:nvPicPr>
          <p:cNvPr id="3" name="Picture 2" descr="zillow-shema-bez-geyta.png"/>
          <p:cNvPicPr>
            <a:picLocks noChangeAspect="1"/>
          </p:cNvPicPr>
          <p:nvPr/>
        </p:nvPicPr>
        <p:blipFill>
          <a:blip r:embed="rId2"/>
          <a:stretch>
            <a:fillRect/>
          </a:stretch>
        </p:blipFill>
        <p:spPr>
          <a:xfrm>
            <a:off x="502920" y="1150818"/>
            <a:ext cx="11183112" cy="3215144"/>
          </a:xfrm>
          <a:prstGeom prst="rect">
            <a:avLst/>
          </a:prstGeom>
        </p:spPr>
      </p:pic>
      <p:sp>
        <p:nvSpPr>
          <p:cNvPr id="4" name="Rounded Rectangle 3"/>
          <p:cNvSpPr/>
          <p:nvPr/>
        </p:nvSpPr>
        <p:spPr>
          <a:xfrm>
            <a:off x="502920" y="50334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614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 решение о покупке </a:t>
            </a:r>
            <a:r>
              <a:rPr sz="1500" b="1" i="0">
                <a:solidFill>
                  <a:srgbClr val="141B2E"/>
                </a:solidFill>
                <a:latin typeface="Arial"/>
              </a:rPr>
              <a:t>без обязательного гейта</a:t>
            </a:r>
            <a:r>
              <a:rPr sz="1500" b="1" i="0">
                <a:solidFill>
                  <a:srgbClr val="141B2E"/>
                </a:solidFill>
                <a:latin typeface="Arial"/>
              </a:rPr>
              <a:t> выше порога риска → покупка исполняется → </a:t>
            </a:r>
            <a:r>
              <a:rPr sz="1500" b="1" i="0">
                <a:solidFill>
                  <a:srgbClr val="141B2E"/>
                </a:solidFill>
                <a:latin typeface="Arial"/>
              </a:rPr>
              <a:t>без короткого окна мониторинга точности</a:t>
            </a:r>
            <a:r>
              <a:rPr sz="1500" b="1" i="0">
                <a:solidFill>
                  <a:srgbClr val="141B2E"/>
                </a:solidFill>
                <a:latin typeface="Arial"/>
              </a:rPr>
              <a:t> (часы-дни) → ошибка накапливается незаметно → видна только в квартальной отчётности перед SEC.</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60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92778" y="1201166"/>
            <a:ext cx="23922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31347" y="1201166"/>
            <a:ext cx="5725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60674"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92778" y="1483233"/>
            <a:ext cx="239226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31347" y="1483233"/>
            <a:ext cx="57255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60674"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92778" y="2195512"/>
            <a:ext cx="239226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31347" y="2195512"/>
            <a:ext cx="572550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окно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60674"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92778" y="3090354"/>
            <a:ext cx="239226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31347" y="3090354"/>
            <a:ext cx="572550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60674"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92778" y="3985196"/>
            <a:ext cx="239226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31347" y="3985196"/>
            <a:ext cx="57255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окна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pic>
        <p:nvPicPr>
          <p:cNvPr id="3" name="Picture 2" descr="zillow-shema-s-geytom.png"/>
          <p:cNvPicPr>
            <a:picLocks noChangeAspect="1"/>
          </p:cNvPicPr>
          <p:nvPr/>
        </p:nvPicPr>
        <p:blipFill>
          <a:blip r:embed="rId2"/>
          <a:stretch>
            <a:fillRect/>
          </a:stretch>
        </p:blipFill>
        <p:spPr>
          <a:xfrm>
            <a:off x="502920" y="1448813"/>
            <a:ext cx="11183112" cy="3215144"/>
          </a:xfrm>
          <a:prstGeom prst="rect">
            <a:avLst/>
          </a:prstGeom>
        </p:spPr>
      </p:pic>
      <p:sp>
        <p:nvSpPr>
          <p:cNvPr id="4" name="Rounded Rectangle 3"/>
          <p:cNvSpPr/>
          <p:nvPr/>
        </p:nvSpPr>
        <p:spPr>
          <a:xfrm>
            <a:off x="502920" y="51511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791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вход, не решение) → </a:t>
            </a:r>
            <a:r>
              <a:rPr sz="1500" b="1" i="0">
                <a:solidFill>
                  <a:srgbClr val="141B2E"/>
                </a:solidFill>
                <a:latin typeface="Arial"/>
              </a:rPr>
              <a:t>человек-андеррайтер</a:t>
            </a:r>
            <a:r>
              <a:rPr sz="1500" b="1" i="0">
                <a:solidFill>
                  <a:srgbClr val="141B2E"/>
                </a:solidFill>
                <a:latin typeface="Arial"/>
              </a:rPr>
              <a:t> принимает финальное решение о покупке выше порога суммы/риска → </a:t>
            </a:r>
            <a:r>
              <a:rPr sz="1500" b="1" i="0">
                <a:solidFill>
                  <a:srgbClr val="141B2E"/>
                </a:solidFill>
                <a:latin typeface="Arial"/>
              </a:rPr>
              <a:t>explicit circuit breaker</a:t>
            </a:r>
            <a:r>
              <a:rPr sz="1500" b="1" i="0">
                <a:solidFill>
                  <a:srgbClr val="141B2E"/>
                </a:solidFill>
                <a:latin typeface="Arial"/>
              </a:rPr>
              <a:t> на отклонение фактической цены от прогнозной, проверяемый еженедельно или чаще — не поквартально.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короткое окно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Карточка в Telegram</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Журнал прогона — зелёный, узел отправки вернул успешный ответ. У координатора в Telegram — ничего не пришло.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8567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36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2239035"/>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58491"/>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458491"/>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319344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19344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372607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72607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425871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25871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528119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40920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Цена, которую не видно в журнале.</a:t>
            </a:r>
            <a:r>
              <a:rPr sz="15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проверить, что картинка соответствует требованиям</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проверить, что картинка соответствует требованиям?</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размер и формат файла перед отправкой — программно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картинка открывается без ошибок — программно</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на картинке действительно то, что нужно показать — моделью с распознаванием изображений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проверять — доверять тому, что узел отправки сам разберётся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класса требований к файлу</a:t>
            </a:r>
          </a:p>
        </p:txBody>
      </p:sp>
      <p:sp>
        <p:nvSpPr>
          <p:cNvPr id="3" name="Rounded Rectangle 2"/>
          <p:cNvSpPr/>
          <p:nvPr/>
        </p:nvSpPr>
        <p:spPr>
          <a:xfrm>
            <a:off x="502920" y="1612011"/>
            <a:ext cx="11183112" cy="2062162"/>
          </a:xfrm>
          <a:prstGeom prst="roundRect">
            <a:avLst>
              <a:gd name="adj" fmla="val 1478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94891"/>
            <a:ext cx="132186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 ТРЕБОВАНИЯ</a:t>
            </a:r>
          </a:p>
        </p:txBody>
      </p:sp>
      <p:sp>
        <p:nvSpPr>
          <p:cNvPr id="5" name="TextBox 4"/>
          <p:cNvSpPr txBox="1"/>
          <p:nvPr/>
        </p:nvSpPr>
        <p:spPr>
          <a:xfrm>
            <a:off x="2153964" y="1794891"/>
            <a:ext cx="503564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6" name="TextBox 5"/>
          <p:cNvSpPr txBox="1"/>
          <p:nvPr/>
        </p:nvSpPr>
        <p:spPr>
          <a:xfrm>
            <a:off x="7335914" y="1794891"/>
            <a:ext cx="40209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КТО ПРОВЕРЯЕТ</a:t>
            </a:r>
          </a:p>
        </p:txBody>
      </p:sp>
      <p:sp>
        <p:nvSpPr>
          <p:cNvPr id="7" name="TextBox 6"/>
          <p:cNvSpPr txBox="1"/>
          <p:nvPr/>
        </p:nvSpPr>
        <p:spPr>
          <a:xfrm>
            <a:off x="685800" y="2249297"/>
            <a:ext cx="132186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Механическое</a:t>
            </a:r>
          </a:p>
        </p:txBody>
      </p:sp>
      <p:sp>
        <p:nvSpPr>
          <p:cNvPr id="8" name="TextBox 7"/>
          <p:cNvSpPr txBox="1"/>
          <p:nvPr/>
        </p:nvSpPr>
        <p:spPr>
          <a:xfrm>
            <a:off x="2153964" y="2249297"/>
            <a:ext cx="503564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размер файла, формат, разрешение — у файла есть численные и перечислимые свойства</a:t>
            </a:r>
          </a:p>
        </p:txBody>
      </p:sp>
      <p:sp>
        <p:nvSpPr>
          <p:cNvPr id="9" name="TextBox 8"/>
          <p:cNvSpPr txBox="1"/>
          <p:nvPr/>
        </p:nvSpPr>
        <p:spPr>
          <a:xfrm>
            <a:off x="7335914" y="2249297"/>
            <a:ext cx="4020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 детерминированная проверка перед отправкой</a:t>
            </a:r>
          </a:p>
        </p:txBody>
      </p:sp>
      <p:cxnSp>
        <p:nvCxnSpPr>
          <p:cNvPr id="10" name="Connector 9"/>
          <p:cNvCxnSpPr/>
          <p:nvPr/>
        </p:nvCxnSpPr>
        <p:spPr>
          <a:xfrm>
            <a:off x="685800" y="2779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79014"/>
            <a:ext cx="132186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Смысловое / по содержанию</a:t>
            </a:r>
          </a:p>
        </p:txBody>
      </p:sp>
      <p:sp>
        <p:nvSpPr>
          <p:cNvPr id="12" name="TextBox 11"/>
          <p:cNvSpPr txBox="1"/>
          <p:nvPr/>
        </p:nvSpPr>
        <p:spPr>
          <a:xfrm>
            <a:off x="2153964" y="2779014"/>
            <a:ext cx="503564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на самом деле показывает то, что нужно (не битый файл-заглушка, не чужое изображение, не пустой кадр)</a:t>
            </a:r>
          </a:p>
        </p:txBody>
      </p:sp>
      <p:sp>
        <p:nvSpPr>
          <p:cNvPr id="13" name="TextBox 12"/>
          <p:cNvSpPr txBox="1"/>
          <p:nvPr/>
        </p:nvSpPr>
        <p:spPr>
          <a:xfrm>
            <a:off x="7335914" y="2779014"/>
            <a:ext cx="40209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 распознаванием изображений — программная проверка размера ничего не знает о содержимом</a:t>
            </a:r>
          </a:p>
        </p:txBody>
      </p:sp>
      <p:sp>
        <p:nvSpPr>
          <p:cNvPr id="14" name="Rounded Rectangle 13"/>
          <p:cNvSpPr/>
          <p:nvPr/>
        </p:nvSpPr>
        <p:spPr>
          <a:xfrm>
            <a:off x="502920" y="434168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6970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Технически исправный файл (правильный размер, правильный формат) всё равно может показывать не то, что нужно — например если узел получения картинки получил страницу ошибки хостинга вместо самой картинки: формат и размер пройдут механическую проверку, а содержимое будет не тем.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два класса требований к файлу</a:t>
            </a:r>
          </a:p>
        </p:txBody>
      </p:sp>
      <p:pic>
        <p:nvPicPr>
          <p:cNvPr id="3" name="Picture 2" descr="k4-shema-trebovaniya.png"/>
          <p:cNvPicPr>
            <a:picLocks noChangeAspect="1"/>
          </p:cNvPicPr>
          <p:nvPr/>
        </p:nvPicPr>
        <p:blipFill>
          <a:blip r:embed="rId2"/>
          <a:stretch>
            <a:fillRect/>
          </a:stretch>
        </p:blipFill>
        <p:spPr>
          <a:xfrm>
            <a:off x="502920" y="1007882"/>
            <a:ext cx="11183112" cy="3914089"/>
          </a:xfrm>
          <a:prstGeom prst="rect">
            <a:avLst/>
          </a:prstGeom>
        </p:spPr>
      </p:pic>
      <p:sp>
        <p:nvSpPr>
          <p:cNvPr id="4" name="Rounded Rectangle 3"/>
          <p:cNvSpPr/>
          <p:nvPr/>
        </p:nvSpPr>
        <p:spPr>
          <a:xfrm>
            <a:off x="502920" y="5247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75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 </a:t>
            </a:r>
            <a:r>
              <a:rPr sz="1500" b="1" i="0">
                <a:solidFill>
                  <a:srgbClr val="141B2E"/>
                </a:solidFill>
                <a:latin typeface="Arial"/>
              </a:rPr>
              <a:t>механическое требование</a:t>
            </a:r>
            <a:r>
              <a:rPr sz="1500" b="1" i="0">
                <a:solidFill>
                  <a:srgbClr val="141B2E"/>
                </a:solidFill>
                <a:latin typeface="Arial"/>
              </a:rPr>
              <a:t> (размер, формат, разрешение) → проверяет код, детерминированно, до отправки. Файл → </a:t>
            </a:r>
            <a:r>
              <a:rPr sz="1500" b="1" i="0">
                <a:solidFill>
                  <a:srgbClr val="141B2E"/>
                </a:solidFill>
                <a:latin typeface="Arial"/>
              </a:rPr>
              <a:t>смысловое требование</a:t>
            </a:r>
            <a:r>
              <a:rPr sz="1500" b="1" i="0">
                <a:solidFill>
                  <a:srgbClr val="141B2E"/>
                </a:solidFill>
                <a:latin typeface="Arial"/>
              </a:rPr>
              <a:t> (показывает ли нужное) → проверяет модель с распознаванием изображений — сегодня этого шага в цепочке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в n8n и граница размера, проверенная настоящим вызовом</a:t>
            </a:r>
          </a:p>
        </p:txBody>
      </p:sp>
      <p:pic>
        <p:nvPicPr>
          <p:cNvPr id="3" name="Picture 2" descr="k4-n8n-tsepochka.png"/>
          <p:cNvPicPr>
            <a:picLocks noChangeAspect="1"/>
          </p:cNvPicPr>
          <p:nvPr/>
        </p:nvPicPr>
        <p:blipFill>
          <a:blip r:embed="rId2"/>
          <a:stretch>
            <a:fillRect/>
          </a:stretch>
        </p:blipFill>
        <p:spPr>
          <a:xfrm>
            <a:off x="1632557" y="1319784"/>
            <a:ext cx="8923836" cy="3011794"/>
          </a:xfrm>
          <a:prstGeom prst="rect">
            <a:avLst/>
          </a:prstGeom>
        </p:spPr>
      </p:pic>
      <p:sp>
        <p:nvSpPr>
          <p:cNvPr id="4" name="Rounded Rectangle 3"/>
          <p:cNvSpPr/>
          <p:nvPr/>
        </p:nvSpPr>
        <p:spPr>
          <a:xfrm>
            <a:off x="502920" y="4496170"/>
            <a:ext cx="11183112" cy="106946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4624186"/>
            <a:ext cx="54043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6" name="TextBox 5"/>
          <p:cNvSpPr txBox="1"/>
          <p:nvPr/>
        </p:nvSpPr>
        <p:spPr>
          <a:xfrm>
            <a:off x="6181614" y="4624186"/>
            <a:ext cx="52300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7" name="TextBox 6"/>
          <p:cNvSpPr txBox="1"/>
          <p:nvPr/>
        </p:nvSpPr>
        <p:spPr>
          <a:xfrm>
            <a:off x="630936" y="4906253"/>
            <a:ext cx="540437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Проверенный файл</a:t>
            </a:r>
          </a:p>
        </p:txBody>
      </p:sp>
      <p:sp>
        <p:nvSpPr>
          <p:cNvPr id="8" name="TextBox 7"/>
          <p:cNvSpPr txBox="1"/>
          <p:nvPr/>
        </p:nvSpPr>
        <p:spPr>
          <a:xfrm>
            <a:off x="6181614" y="4906253"/>
            <a:ext cx="5230097"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12 812 355</a:t>
            </a:r>
            <a:r>
              <a:rPr sz="1250" b="0" i="0">
                <a:solidFill>
                  <a:srgbClr val="141B2E"/>
                </a:solidFill>
                <a:latin typeface="Arial"/>
              </a:rPr>
              <a:t> (~12,8 МБ)</a:t>
            </a:r>
          </a:p>
        </p:txBody>
      </p:sp>
      <p:cxnSp>
        <p:nvCxnSpPr>
          <p:cNvPr id="9" name="Connector 8"/>
          <p:cNvCxnSpPr/>
          <p:nvPr/>
        </p:nvCxnSpPr>
        <p:spPr>
          <a:xfrm>
            <a:off x="630936" y="517193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30936" y="5171937"/>
            <a:ext cx="540437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Лимит Telegram на фото</a:t>
            </a:r>
          </a:p>
        </p:txBody>
      </p:sp>
      <p:sp>
        <p:nvSpPr>
          <p:cNvPr id="11" name="TextBox 10"/>
          <p:cNvSpPr txBox="1"/>
          <p:nvPr/>
        </p:nvSpPr>
        <p:spPr>
          <a:xfrm>
            <a:off x="6181614" y="5171937"/>
            <a:ext cx="5230097"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10 485 760</a:t>
            </a:r>
            <a:r>
              <a:rPr sz="1250" b="0" i="0">
                <a:solidFill>
                  <a:srgbClr val="141B2E"/>
                </a:solidFill>
                <a:latin typeface="Arial"/>
              </a:rPr>
              <a:t> (10 МБ)</a:t>
            </a:r>
          </a:p>
        </p:txBody>
      </p:sp>
      <p:sp>
        <p:nvSpPr>
          <p:cNvPr id="12" name="Rounded Rectangle 11"/>
          <p:cNvSpPr/>
          <p:nvPr/>
        </p:nvSpPr>
        <p:spPr>
          <a:xfrm>
            <a:off x="502920" y="5730229"/>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858245"/>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Ответ Telegram Bot API: </a:t>
            </a:r>
            <a:r>
              <a:rPr sz="1200" b="1" i="0">
                <a:solidFill>
                  <a:srgbClr val="141B2E"/>
                </a:solidFill>
                <a:latin typeface="Consolas"/>
              </a:rPr>
              <a:t>"Bad</a:t>
            </a:r>
            <a:r>
              <a:rPr sz="1200" b="1" i="0">
                <a:solidFill>
                  <a:srgbClr val="141B2E"/>
                </a:solidFill>
                <a:latin typeface="Arial"/>
              </a:rPr>
              <a:t> </a:t>
            </a:r>
            <a:r>
              <a:rPr sz="1200" b="1" i="0">
                <a:solidFill>
                  <a:srgbClr val="141B2E"/>
                </a:solidFill>
                <a:latin typeface="Consolas"/>
              </a:rPr>
              <a:t>Request:</a:t>
            </a:r>
            <a:r>
              <a:rPr sz="1200" b="1" i="0">
                <a:solidFill>
                  <a:srgbClr val="141B2E"/>
                </a:solidFill>
                <a:latin typeface="Arial"/>
              </a:rPr>
              <a:t> </a:t>
            </a:r>
            <a:r>
              <a:rPr sz="1200" b="1" i="0">
                <a:solidFill>
                  <a:srgbClr val="141B2E"/>
                </a:solidFill>
                <a:latin typeface="Consolas"/>
              </a:rPr>
              <a:t>file</a:t>
            </a:r>
            <a:r>
              <a:rPr sz="1200" b="1" i="0">
                <a:solidFill>
                  <a:srgbClr val="141B2E"/>
                </a:solidFill>
                <a:latin typeface="Arial"/>
              </a:rPr>
              <a:t> </a:t>
            </a:r>
            <a:r>
              <a:rPr sz="1200" b="1" i="0">
                <a:solidFill>
                  <a:srgbClr val="141B2E"/>
                </a:solidFill>
                <a:latin typeface="Consolas"/>
              </a:rPr>
              <a:t>of</a:t>
            </a:r>
            <a:r>
              <a:rPr sz="1200" b="1" i="0">
                <a:solidFill>
                  <a:srgbClr val="141B2E"/>
                </a:solidFill>
                <a:latin typeface="Arial"/>
              </a:rPr>
              <a:t> </a:t>
            </a:r>
            <a:r>
              <a:rPr sz="1200" b="1" i="0">
                <a:solidFill>
                  <a:srgbClr val="141B2E"/>
                </a:solidFill>
                <a:latin typeface="Consolas"/>
              </a:rPr>
              <a:t>size</a:t>
            </a:r>
            <a:r>
              <a:rPr sz="1200" b="1" i="0">
                <a:solidFill>
                  <a:srgbClr val="141B2E"/>
                </a:solidFill>
                <a:latin typeface="Arial"/>
              </a:rPr>
              <a:t> </a:t>
            </a:r>
            <a:r>
              <a:rPr sz="1200" b="1" i="0">
                <a:solidFill>
                  <a:srgbClr val="141B2E"/>
                </a:solidFill>
                <a:latin typeface="Consolas"/>
              </a:rPr>
              <a:t>12812355</a:t>
            </a:r>
            <a:r>
              <a:rPr sz="1200" b="1" i="0">
                <a:solidFill>
                  <a:srgbClr val="141B2E"/>
                </a:solidFill>
                <a:latin typeface="Arial"/>
              </a:rPr>
              <a:t> </a:t>
            </a:r>
            <a:r>
              <a:rPr sz="1200" b="1" i="0">
                <a:solidFill>
                  <a:srgbClr val="141B2E"/>
                </a:solidFill>
                <a:latin typeface="Consolas"/>
              </a:rPr>
              <a:t>bytes</a:t>
            </a:r>
            <a:r>
              <a:rPr sz="1200" b="1" i="0">
                <a:solidFill>
                  <a:srgbClr val="141B2E"/>
                </a:solidFill>
                <a:latin typeface="Arial"/>
              </a:rPr>
              <a:t> </a:t>
            </a:r>
            <a:r>
              <a:rPr sz="1200" b="1" i="0">
                <a:solidFill>
                  <a:srgbClr val="141B2E"/>
                </a:solidFill>
                <a:latin typeface="Consolas"/>
              </a:rPr>
              <a:t>is</a:t>
            </a:r>
            <a:r>
              <a:rPr sz="1200" b="1" i="0">
                <a:solidFill>
                  <a:srgbClr val="141B2E"/>
                </a:solidFill>
                <a:latin typeface="Arial"/>
              </a:rPr>
              <a:t> </a:t>
            </a:r>
            <a:r>
              <a:rPr sz="1200" b="1" i="0">
                <a:solidFill>
                  <a:srgbClr val="141B2E"/>
                </a:solidFill>
                <a:latin typeface="Consolas"/>
              </a:rPr>
              <a:t>too</a:t>
            </a:r>
            <a:r>
              <a:rPr sz="1200" b="1" i="0">
                <a:solidFill>
                  <a:srgbClr val="141B2E"/>
                </a:solidFill>
                <a:latin typeface="Arial"/>
              </a:rPr>
              <a:t> </a:t>
            </a:r>
            <a:r>
              <a:rPr sz="1200" b="1" i="0">
                <a:solidFill>
                  <a:srgbClr val="141B2E"/>
                </a:solidFill>
                <a:latin typeface="Consolas"/>
              </a:rPr>
              <a:t>big</a:t>
            </a:r>
            <a:r>
              <a:rPr sz="1200" b="1" i="0">
                <a:solidFill>
                  <a:srgbClr val="141B2E"/>
                </a:solidFill>
                <a:latin typeface="Arial"/>
              </a:rPr>
              <a:t> </a:t>
            </a:r>
            <a:r>
              <a:rPr sz="1200" b="1" i="0">
                <a:solidFill>
                  <a:srgbClr val="141B2E"/>
                </a:solidFill>
                <a:latin typeface="Consolas"/>
              </a:rPr>
              <a:t>for</a:t>
            </a:r>
            <a:r>
              <a:rPr sz="1200" b="1" i="0">
                <a:solidFill>
                  <a:srgbClr val="141B2E"/>
                </a:solidFill>
                <a:latin typeface="Arial"/>
              </a:rPr>
              <a:t> </a:t>
            </a:r>
            <a:r>
              <a:rPr sz="1200" b="1" i="0">
                <a:solidFill>
                  <a:srgbClr val="141B2E"/>
                </a:solidFill>
                <a:latin typeface="Consolas"/>
              </a:rPr>
              <a:t>a</a:t>
            </a:r>
            <a:r>
              <a:rPr sz="1200" b="1" i="0">
                <a:solidFill>
                  <a:srgbClr val="141B2E"/>
                </a:solidFill>
                <a:latin typeface="Arial"/>
              </a:rPr>
              <a:t> </a:t>
            </a:r>
            <a:r>
              <a:rPr sz="1200" b="1" i="0">
                <a:solidFill>
                  <a:srgbClr val="141B2E"/>
                </a:solidFill>
                <a:latin typeface="Consolas"/>
              </a:rPr>
              <a:t>photo;</a:t>
            </a:r>
            <a:r>
              <a:rPr sz="1200" b="1" i="0">
                <a:solidFill>
                  <a:srgbClr val="141B2E"/>
                </a:solidFill>
                <a:latin typeface="Arial"/>
              </a:rPr>
              <a:t> </a:t>
            </a:r>
            <a:r>
              <a:rPr sz="1200" b="1" i="0">
                <a:solidFill>
                  <a:srgbClr val="141B2E"/>
                </a:solidFill>
                <a:latin typeface="Consolas"/>
              </a:rPr>
              <a:t>the</a:t>
            </a:r>
            <a:r>
              <a:rPr sz="1200" b="1" i="0">
                <a:solidFill>
                  <a:srgbClr val="141B2E"/>
                </a:solidFill>
                <a:latin typeface="Arial"/>
              </a:rPr>
              <a:t> </a:t>
            </a:r>
            <a:r>
              <a:rPr sz="1200" b="1" i="0">
                <a:solidFill>
                  <a:srgbClr val="141B2E"/>
                </a:solidFill>
                <a:latin typeface="Consolas"/>
              </a:rPr>
              <a:t>maximum</a:t>
            </a:r>
            <a:r>
              <a:rPr sz="1200" b="1" i="0">
                <a:solidFill>
                  <a:srgbClr val="141B2E"/>
                </a:solidFill>
                <a:latin typeface="Arial"/>
              </a:rPr>
              <a:t> </a:t>
            </a:r>
            <a:r>
              <a:rPr sz="1200" b="1" i="0">
                <a:solidFill>
                  <a:srgbClr val="141B2E"/>
                </a:solidFill>
                <a:latin typeface="Consolas"/>
              </a:rPr>
              <a:t>size</a:t>
            </a:r>
            <a:r>
              <a:rPr sz="1200" b="1" i="0">
                <a:solidFill>
                  <a:srgbClr val="141B2E"/>
                </a:solidFill>
                <a:latin typeface="Arial"/>
              </a:rPr>
              <a:t> </a:t>
            </a:r>
            <a:r>
              <a:rPr sz="1200" b="1" i="0">
                <a:solidFill>
                  <a:srgbClr val="141B2E"/>
                </a:solidFill>
                <a:latin typeface="Consolas"/>
              </a:rPr>
              <a:t>is</a:t>
            </a:r>
            <a:r>
              <a:rPr sz="1200" b="1" i="0">
                <a:solidFill>
                  <a:srgbClr val="141B2E"/>
                </a:solidFill>
                <a:latin typeface="Arial"/>
              </a:rPr>
              <a:t> </a:t>
            </a:r>
            <a:r>
              <a:rPr sz="1200" b="1" i="0">
                <a:solidFill>
                  <a:srgbClr val="141B2E"/>
                </a:solidFill>
                <a:latin typeface="Consolas"/>
              </a:rPr>
              <a:t>10485760</a:t>
            </a:r>
            <a:r>
              <a:rPr sz="1200" b="1" i="0">
                <a:solidFill>
                  <a:srgbClr val="141B2E"/>
                </a:solidFill>
                <a:latin typeface="Arial"/>
              </a:rPr>
              <a:t> </a:t>
            </a:r>
            <a:r>
              <a:rPr sz="1200" b="1" i="0">
                <a:solidFill>
                  <a:srgbClr val="141B2E"/>
                </a:solidFill>
                <a:latin typeface="Consolas"/>
              </a:rPr>
              <a:t>bytes"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1175131"/>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58011"/>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358011"/>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640078"/>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640078"/>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3523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5235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35235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30646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06463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306463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776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76916"/>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776916"/>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51570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2850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2016404"/>
            <a:ext cx="11183112" cy="10511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44420"/>
            <a:ext cx="10634472" cy="795147"/>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Сейчас: </a:t>
            </a:r>
            <a:r>
              <a:rPr sz="1550" b="1" i="0">
                <a:solidFill>
                  <a:srgbClr val="141B2E"/>
                </a:solidFill>
                <a:latin typeface="Arial"/>
              </a:rPr>
              <a:t>любой вход</a:t>
            </a:r>
            <a:r>
              <a:rPr sz="1550" b="1" i="0">
                <a:solidFill>
                  <a:srgbClr val="141B2E"/>
                </a:solidFill>
                <a:latin typeface="Arial"/>
              </a:rPr>
              <a:t> → один и тот же путь через цепочку</a:t>
            </a:r>
          </a:p>
          <a:p>
            <a:pPr algn="ctr">
              <a:lnSpc>
                <a:spcPts val="1891"/>
              </a:lnSpc>
              <a:spcAft>
                <a:spcPts val="300"/>
              </a:spcAft>
            </a:pPr>
            <a:r>
              <a:rPr sz="1550" b="1" i="0">
                <a:solidFill>
                  <a:srgbClr val="141B2E"/>
                </a:solidFill>
                <a:latin typeface="Arial"/>
              </a:rPr>
              <a:t>Дальше: </a:t>
            </a:r>
            <a:r>
              <a:rPr sz="1550" b="1" i="0">
                <a:solidFill>
                  <a:srgbClr val="141B2E"/>
                </a:solidFill>
                <a:latin typeface="Arial"/>
              </a:rPr>
              <a:t>вход типа А</a:t>
            </a:r>
            <a:r>
              <a:rPr sz="1550" b="1" i="0">
                <a:solidFill>
                  <a:srgbClr val="141B2E"/>
                </a:solidFill>
                <a:latin typeface="Arial"/>
              </a:rPr>
              <a:t> → один путь · </a:t>
            </a:r>
            <a:r>
              <a:rPr sz="1550" b="1" i="0">
                <a:solidFill>
                  <a:srgbClr val="141B2E"/>
                </a:solidFill>
                <a:latin typeface="Arial"/>
              </a:rPr>
              <a:t>вход типа Б</a:t>
            </a:r>
            <a:r>
              <a:rPr sz="1550" b="1" i="0">
                <a:solidFill>
                  <a:srgbClr val="141B2E"/>
                </a:solidFill>
                <a:latin typeface="Arial"/>
              </a:rPr>
              <a:t> → другой · </a:t>
            </a:r>
            <a:r>
              <a:rPr sz="1550" b="1" i="0">
                <a:solidFill>
                  <a:srgbClr val="141B2E"/>
                </a:solidFill>
                <a:latin typeface="Arial"/>
              </a:rPr>
              <a:t>вход, не подошедший ни под один тип</a:t>
            </a:r>
            <a:r>
              <a:rPr sz="1550" b="1" i="0">
                <a:solidFill>
                  <a:srgbClr val="141B2E"/>
                </a:solidFill>
                <a:latin typeface="Arial"/>
              </a:rPr>
              <a:t> → свой путь по умолчанию</a:t>
            </a:r>
          </a:p>
        </p:txBody>
      </p:sp>
      <p:sp>
        <p:nvSpPr>
          <p:cNvPr id="5" name="Rounded Rectangle 4"/>
          <p:cNvSpPr/>
          <p:nvPr/>
        </p:nvSpPr>
        <p:spPr>
          <a:xfrm>
            <a:off x="502920" y="37350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631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