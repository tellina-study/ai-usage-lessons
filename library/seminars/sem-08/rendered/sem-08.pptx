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Прошлое занятие построило первый работающий процесс целиком: форма, шаг модели, запись результата — и то, что происходит, когда шаг модели отказывает. Сегодня тот же самый процесс растёт. Ему предстоит научиться уведомлять координатора, отличать повторное обращение от нового, решать, можно ли одобрить возврат денег самому, и доставлять не только текст, но и картинку.</a:t>
            </a:r>
          </a:p>
          <a:p/>
          <a:p>
            <a:r>
              <a:t>Каждый новый шаг ставит перед нами один и тот же вопрос, и он и есть тема сегодняшнего занятия: это решает модель, или это должен решать код? Вопрос звучит просто. Ответ на него в четырёх разных местах цепочки каждый раз получается неожиданным — там, где решение выглядело надёжным, оно на самом деле держалось на вероятности, о которой никто не договорился явно.</a:t>
            </a:r>
          </a:p>
          <a:p/>
          <a:p>
            <a:r>
              <a:t>Начнём с того, на чём остановились в прошлый раз.</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Начинаем ровно с того места, где остановились в прошлый раз. На экране — тот же процесс, те же шесть узлов, в том же порядке: форма, извлечение полей, сверка со справочником, запись в таблицу, экран результата — и ветка отказа на узле извлечения, которую мы собрали в конце прошлого занятия и проверили настоящим отказом.</a:t>
            </a:r>
          </a:p>
          <a:p/>
          <a:p>
            <a:r>
              <a:t>Это тот же процесс, с которым вы ушли с прошлого занятия. Сегодня мы не чиним в нём ничего. Мы задаём каждому новому шагу, который он получит, один и тот же вопрос: это решает модель, или это должен решать код?</a:t>
            </a:r>
          </a:p>
          <a:p/>
          <a:p>
            <a:r>
              <a:t>Обратите внимание, что ни один узел здесь не изменился и не переименован. Это важно само по себе: мы не возвращаемся к прошлому занятию, чтобы что-то в нём доделать или исправить — всё, что там было собрано, работает и остаётся работать ровно так же. Сегодняшние четыре кейса — это четыре новых шага, которые этот процесс получит, и ни один из них не трогает то, что уже есть на холсте.</a:t>
            </a:r>
          </a:p>
          <a:p/>
          <a:p>
            <a:r>
              <a:t>Ветка отказа заслуживает одного напоминания, потому что сегодня мы увидим её принцип в новом виде. В прошлый раз мы выяснили, что узел может формально отработать, вернуть успешный ответ и всё равно не сделать того, что от него ждали — такой отказ стоит ловить явно, надеяться на то, что он просто не случится, — не план. Сегодня мы несколько раз встретим ту же самую историю на новых шагах: узел не падает, прогон остаётся зелёным, а результат, который получает человек на другом конце, отличается от ожидаемого. Тот же принцип надёжности здесь просто работает на новом материале — на шагах, которых в прошлый раз просто не было.</a:t>
            </a:r>
          </a:p>
          <a:p/>
          <a:p>
            <a:r>
              <a:t>Это стоит сказать прямо, прежде чем переходить к новому кейсу: процесс, который растёт из занятия в занятие, — то, с чем вы на самом деле уйдёте домой. Файл, который вы заберёте после сегодняшнего занятия, — всё тот же файл, только с добавленными узлами.</a:t>
            </a:r>
          </a:p>
          <a:p/>
          <a:p>
            <a:r>
              <a:t>Дальше — короткое напоминание, на какой ступени дуги мы сегодня находимся, и сразу переходим к оси занятия.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Быстрое напоминание, потому что эту картинку вы уже видели в прошлый раз, и пересказывать её целиком не буду.</a:t>
            </a:r>
          </a:p>
          <a:p/>
          <a:p>
            <a:r>
              <a:t>Девять ступеней сложности процесса, снизу вверх. В прошлый раз мы встали на вторую снизу — цепочку, несколько шагов подряд с данными между ними — и собрали на ней первый процесс целиком. Сегодня мы на той же ступени. Это важно сказать прямо: мы не идём выше, к маршрутам и ветвлениям — это следующее занятие. Мы идём глубже внутрь той же самой ступени.</a:t>
            </a:r>
          </a:p>
          <a:p/>
          <a:p>
            <a:r>
              <a:t>Разница между «подняться выше» и «пойти глубже» в том, что цепочка из пяти узлов, которая у нас уже работает, устроена проще, чем настоящая цепочка в бою. В настоящей цепочке на каждом шаге стоит тот же самый вопрос, который мы задавали узлу извлечения в прошлый раз: что здесь делает модель, а что должен делать код. Сегодня мы зададим этот вопрос ещё четырём новым шагам — уведомлению, проверке на повтор, решению про возврат денег и отправке картинки — и каждый раз ответ окажется не тем, что кажется на первый взгляд.</a:t>
            </a:r>
          </a:p>
          <a:p/>
          <a:p>
            <a:r>
              <a:t>Ровно поэтому этому занятию отведено больше времени, чем прошлому: не потому, что цепочка — сложная тема, а потому, что именно на ней чаще всего ошибаются на практике — путают «работает» с «можно доверять», — и поэтому именно здесь стоит задержаться дольше, чем на любой другой ступени.</a:t>
            </a:r>
          </a:p>
          <a:p/>
          <a:p>
            <a:r>
              <a:t>И ещё одна причина, по которой два занятия подряд стоят на одной и той же ступени. Цепочка — тема, которую не закрыть за один проход: к ней возвращаются. Это та форма, в которой у большинства из вас реально устроены процессы на работе: несколько шагов подряд, где каждый передаёт данные следующему. Прошлый раз мы собрали такую цепочку из пяти узлов и один раз её сломали. Сегодня мы добавим ей четыре новых шага — и каждый раз будем проверять одно и то же: решение в этом шаге принимает модель, или должен принимать код. Это не новая ступень лестницы, это та же самая ступень, рассмотренная настолько внимательно, насколько она того стоит.</a:t>
            </a:r>
          </a:p>
          <a:p/>
          <a:p>
            <a:r>
              <a:t>Дальше — ось, вокруг которой построено всё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держится всё сегодняшнее занятие, и дальше мы будем к ней возвращаться после каждого кейса.</a:t>
            </a:r>
          </a:p>
          <a:p/>
          <a:p>
            <a:r>
              <a:t>Левая колонка — четыре вещи, которые в нашем процессе выглядят рабочими и надёжными прямо сейчас, если на них просто посмотреть снаружи. Сообщение ушло координатору — и выглядит так, что мы сэкономили на отдельном вызове модели. Заявка про тот же вопрос пришла снова — мы обработали её как новую, повтор остался нераспознанным. В промпте шага про возврат денег написано прямое правило про порог суммы — и месяц это считалось рабочим решением. Картинка собралась и ушла в Telegram — и прогон при этом зелёный.</a:t>
            </a:r>
          </a:p>
          <a:p/>
          <a:p>
            <a:r>
              <a:t>Правая колонка пустая, и это сделано нарочно. Я не буду рассказывать вам, чем каждая из этих четырёх вещей окажется на самом деле — это покажет экран конкретного кейса: вопрос залу, разбор вариантов и прогон на настоящих данных нашего стенда. К каждой строке мы придём ровно один раз, в своём кейсе, и заполним её тем, что увидим на прогоне.</a:t>
            </a:r>
          </a:p>
          <a:p/>
          <a:p>
            <a:r>
              <a:t>Вопрос, который стоит за всеми четырьмя строками, один: где в этой цепочке решение на самом деле принимает модель, а где должен — код, и что молчит, когда эту границу никто не назвал явно. Этот вопрос мы вернём дословно в самом конце занятия, когда все четыре строки будут заполнены и встанут рядом.</a:t>
            </a:r>
          </a:p>
          <a:p/>
          <a:p>
            <a:r>
              <a:t>Запомните эту таблицу в том виде, в котором она сейчас перед вами — с четырьмя пустыми клетками. Мы к ней вернёмся.</a:t>
            </a:r>
          </a:p>
          <a:p/>
          <a:p>
            <a:r>
              <a:t>Зачем вообще нужна такая таблица: четыре отдельных разбора без общей оси легко читаются как каталог мелких неисправностей n8n — забавных, но друг с другом не связанных. Эта таблица держит занятие как одну мысль, предъявленную четыре раза на разном материале: уведомление, дедупликация, возврат денег, картинка — у всех четырёх ровно одна и та же структура провала. Снаружи видно, что процесс отработал. Внутри решение, от которого зависит результат, держится на вероятности, о которой никто не договорился явно.</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Координатор Марина неделю назад попросила немного: когда в заявке больше одной темы, пусть сообщение об этом приходит ей прямо в Telegram — одного экрана результата, который видит только заявитель, для этого мало. Простая просьба, и доработка выглядела такой же простой.</a:t>
            </a:r>
          </a:p>
          <a:p/>
          <a:p>
            <a:r>
              <a:t>Добавили узел-модель. Он смотрит на поля заявки — имя, тему, контакт — и сам, заново на каждый прогон, сочиняет текст уведомления с тоном «по-человечески».</a:t>
            </a:r>
          </a:p>
          <a:p/>
          <a:p>
            <a:r>
              <a:t>Через неделю Марина листает свой Telegram и замечает то, что вынесено в реплику на этом экране: сообщения каждый раз звучат по-разному. Само по себе это не было бы проблемой — мало ли, у модели есть стиль. Проблема в другом, и мы увидим её на следующем экране: иногда в тексте появляется деталь, которой в заявке не было вовсе.</a:t>
            </a:r>
          </a:p>
          <a:p/>
          <a:p>
            <a:r>
              <a:t>Этот дивайдер называет саму проблему — что с ней сделали, расскажет следующий экран. Узел не упал технически — ни одной ошибки в журнале, сообщение сформировано и доставлено. Цена этого решения — в том, что текст, который получает Марина, не гарантированно совпадает с тем, что было в заявке, и в том, что отдельный вызов модели ради четырёх известных значений стоит денег и времени заметно больше, чем должен бы.</a:t>
            </a:r>
          </a:p>
          <a:p/>
          <a:p>
            <a:r>
              <a:t>Стоит отметить и то, чего в этой истории нет: никто не торопился и не срезал углы специально. Решение добавить отдельный шаг модели выглядело самым естественным способом сделать текст живым — оно интересно для разбора именно потому, что совсем не похоже на очевидную ошибку с самого начала.</a:t>
            </a:r>
          </a:p>
          <a:p/>
          <a:p>
            <a:r>
              <a:t>Дальше — сама сцена: что именно произошло и 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сцену подробнее. Доработка, о которой речь, выглядела маленькой: координатору нужно знать, когда заявка касается больше одной темы, и узнавать об этом сразу, в Telegram, не дожидаясь, пока кто-то откроет экран результата, который видит заявитель.</a:t>
            </a:r>
          </a:p>
          <a:p/>
          <a:p>
            <a:r>
              <a:t>Решили дать модели собрать текст самой, по тем же четырём полям, что у нас уже извлечены: имя, тема, контакт. Логика понятная: если текст пишет модель, он получится живым, «по-человечески», с нормальным тоном — совсем непохожим на уведомление от робота.</a:t>
            </a:r>
          </a:p>
          <a:p/>
          <a:p>
            <a:r>
              <a:t>И вот что происходит через неделю такой работы. Марина читает свой Telegram и видит: сообщения каждый раз звучат по-разному. Иногда это просто другая формулировка одного и того же. А один раз — и это реальный случай, наблюдённый прямо на стенде, — модель подписала заявку как «срочный повторный звонок». В тексте самой заявки ни слова о повторном звонке не было. Технической ошибки тут нет: модель честно досочинила тон и деталь там, где никто её об этом не просил.</a:t>
            </a:r>
          </a:p>
          <a:p/>
          <a:p>
            <a:r>
              <a:t>Важно понять, что здесь не произошло. Узел не упал. Он не вернул ошибку. Статус выполнения — успех, сообщение доставлено. Если бы кто-то смотрел только в журнал прогонов, он увидел бы ровно то, что смотрит на успешный процесс. Расхождение видно только тому, кто сравнит текст сообщения с текстом исходной заявки, — и это работа внимательного человека, система её не делает.</a:t>
            </a:r>
          </a:p>
          <a:p/>
          <a:p>
            <a:r>
              <a:t>И вторая цена — ресурсная: сообщение из четырёх уже известных значений — имя, тема, контакт и то, что из них собирается, — это чистая сборка, понимать текст тут незачем. Отдельный вызов модели платится и по деньгам, и по времени, причём на каждом прогоне, даже в тех случаях, где содержание совпало.</a:t>
            </a:r>
          </a:p>
          <a:p/>
          <a:p>
            <a:r>
              <a:t>Прежде чем идём к вопросу — один к вам, не для карточек, просто вслух, по ходу: у кого в своих процессах уже стоит LLM-шаг там, где хватило бы шаблона? Не отвечайте сейчас, просто держите это в голове — пригодится на обобщении.</a:t>
            </a:r>
          </a:p>
          <a:p/>
          <a:p>
            <a:r>
              <a:t>Вопрос, который из этого вырастает,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из-за которого мы разбирали сцену с Мариной: когда любому шагу цепочки, не только этому, нужна модель, или хватает шаблона?</a:t>
            </a:r>
          </a:p>
          <a:p/>
          <a:p>
            <a:r>
              <a:t>Четыре карточки. Первая: шаблон — если форма сообщения всегда одна и меняются только значения. Вторая: модель — если тон, язык или длина должны меняться от заявки к заявке. Третья: текст — это всегда естественный язык, значит это всегда задача модели. Четвёртая: модель нужна, если получателей уведомления больше одного.</a:t>
            </a:r>
          </a:p>
          <a:p/>
          <a:p>
            <a:r>
              <a:t>Карточки читают буквально, без подсказок — на этом экране нет колонки «довод за» и нет отметки, какая из них точнее отвечает на наш конкретный случай с Мариной. Выбирайте, опираясь на то, что мы только что увидели: сообщение собирается из четырёх уже известных значений, узел не падал технически — разошлось именно содержание.</a:t>
            </a:r>
          </a:p>
          <a:p/>
          <a:p>
            <a:r>
              <a:t>И сразу скажу то, что говорю перед каждым таким вопросом: не все четыре варианта говорят об одном и том же. Один описывает наш сегодняшний случай впрямую. Другой описывает случай, которого у нас нет, но который вполне может быть у кого-то из вас. Третий и четвёртый выглядят как рассуждение, но следующий экран покажет: за обеими стоит один и тот же критерий — не свойство текста и не число получателей.</a:t>
            </a:r>
          </a:p>
          <a:p/>
          <a:p>
            <a:r>
              <a:t>Обратите внимание: вопрос задан про шаг цепочки вообще, любой — этот конкретный узел уведомления тут лишь частный случай. Это нарочно: ответ, который вы выберете, должен переноситься на то, что у вас на работе, — иначе он останется частным случаем Марины и её Telegram. У многих из вас наверняка есть процесс, где отдельный LLM-шаг сочиняет письмо, отчёт или сообщение по уже известным полям — и вопрос с этого экрана относится к нему ровно в той же мере, что и к нашему уведомлению.</a:t>
            </a:r>
          </a:p>
          <a:p/>
          <a:p>
            <a:r>
              <a:t>Пятнадцать секунд на выбор, потом разбираем все четыре подряд.</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сразу, по порядку — так же, как лежат карточки.</a:t>
            </a:r>
          </a:p>
          <a:p/>
          <a:p>
            <a:r>
              <a:t>Первая: шаблон, если форма сообщения всегда одна и меняются только значения. Это ровно наш случай: «Новая заявка от {{имя}}: тема {{тема}}» — одна форма, подставляются четыре известных значения. Ограничение у этого варианта тоже есть, и оно честное: он не работает там, где тон, язык или длина сообщения должны меняться от заявки к заявке. Но у нас в сцене с Мариной такой задачи нет — ей не нужно разное количество деталей в зависимости от чего-либо, ей нужно просто получать уведомление.</a:t>
            </a:r>
          </a:p>
          <a:p/>
          <a:p>
            <a:r>
              <a:t>Вторая: модель, если тон, язык или длина должны меняться. Это описание настоящей, законной области для модели — если бы Марине было важно, чтобы письмо звучало по-разному в зависимости от срочности, или уходило на разных языках, выбор модели был бы оправданным. Этот вариант описывает настоящую, но другую задачу, отличную от нашего сегодняшнего случая. Граница проходит не по тому, выглядит ли текст «естественным», а по тому, должен ли он на самом деле отличаться по смыслу от прогона к прогону.</a:t>
            </a:r>
          </a:p>
          <a:p/>
          <a:p>
            <a:r>
              <a:t>Третья: текст — это всегда естественный язык, значит это всегда задача модели. Наблюдение отчасти точное: шаблон действительно выдаёт читателю обычный человеческий текст, без формата с фигурными скобками наружу. Но вывод из этого наблюдения не следует: разница между шаблоном и моделью не в том, похож ли результат на естественный язык, а в том, кто придумывает его форму — человек один раз заранее или модель на каждый прогон заново.</a:t>
            </a:r>
          </a:p>
          <a:p/>
          <a:p>
            <a:r>
              <a:t>Четвёртая: модель нужна, если получателей больше одного. Число получателей — реальный параметр процесса, но он никак не связан с тем, нужна ли модель. Одно и то же шаблонное сообщение можно разослать любому числу адресатов без единого вызова модели.</a:t>
            </a:r>
          </a:p>
          <a:p/>
          <a:p>
            <a:r>
              <a:t>Теперь — что на самом деле сделали на нашем стенде с обоими вариантами, до и после.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 — что именно сравниваем.</a:t>
            </a:r>
          </a:p>
          <a:p/>
          <a:p>
            <a:r>
              <a:t>На стенде заранее собраны и опубликованы две полные версии одного и того же шага уведомления. «До» — это workflow, в котором после извлечения полей заявки стоит отдельный LLM-узел: он получает имя, тему и контакт и сочиняет текст уведомления сам, с тоном. «После» — тот же самый шаг, но вместо LLM-узла стоит обычный узел подстановки переменных: он берёт ровно те же четыре значения и вставляет их в заранее написанную фразу через выражение в фигурных скобках.</a:t>
            </a:r>
          </a:p>
          <a:p/>
          <a:p>
            <a:r>
              <a:t>Хочу сразу сказать, чего сегодня не будет, потому что в прошлый раз на этом месте я собирал узел вживую. Сегодня я не редактирую ни один узел на экране. Обе версии уже существуют на стенде, обе опубликованы: дальше — прогон одной и той же заявки через обе готовые цепочки, одну за другой, с одинаковым входом.</a:t>
            </a:r>
          </a:p>
          <a:p/>
          <a:p>
            <a:r>
              <a:t>Зачем две отдельные версии вместо одной с переключателем: показывать, как решение собирается руками, занимает время, которое сегодня нужнее в другом месте — в самом результате. Готовая пара даёт возможность показать разницу сразу, без ожидания, и повторить показ столько раз, сколько нужно.</a:t>
            </a:r>
          </a:p>
          <a:p/>
          <a:p>
            <a:r>
              <a:t>Обе версии живут на стенде под собственными идентификаторами воркфлоу, и это не случайно: вы сможете после занятия открыть каждую отдельно и посмотреть её целиком, вместо того чтобы восстанавливать по памяти, что именно я показывал. «До» и «после» — не состояния одного и того же файла, сменяющие друг друга. Это два полностью самостоятельных процесса, оба рабочие, оба опубликованные.</a:t>
            </a:r>
          </a:p>
          <a:p/>
          <a:p>
            <a:r>
              <a:t>Дальше — что именно получает координатор на каждой из двух версий, на настоящих данных нашего стенда.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Прогоняю обе версии прямо сейчас, одной и той же парой заявок, которые вы видите на экране.</a:t>
            </a:r>
          </a:p>
          <a:p/>
          <a:p>
            <a:r>
              <a:t>Сначала версия «до». Первая заявка — от Марии, про курс и оплату. Отправляю форму, жду секунду — и вот что реально пришло координатору в Telegram: связный, живой текст, «Привет! У нас новая многотемная заявка от Марии на курс, в которой также упомянута оплата. Пожалуйста, ознакомься!» Звучит нормально, доставлено, у сообщения есть свой message_id.</a:t>
            </a:r>
          </a:p>
          <a:p/>
          <a:p>
            <a:r>
              <a:t>Вторая заявка, от Олега, про перенос занятия и оплату. Та же самая версия «до», то есть тот же LLM-узел. И вот что он реально написал: «Привет, [Имя координатора]! У нас новая многотемная заявка от Олега по вопросу переноса занятия и об оплате. Посмотри, пожалуйста!» Прочитайте внимательно второе слово. Это не переменная, которая не подставилась технически, — это буквальный текст «[Имя координатора]», который модель сама вписала в сообщение, как будто это и есть обращение. Это настоящий прогон настоящего стенда.</a:t>
            </a:r>
          </a:p>
          <a:p/>
          <a:p>
            <a:r>
              <a:t>И важно, что произошло на уровне журнала: ничего. Узел не упал. Статус — success. Сообщение доставлено, у него есть свой message_id, как у первого. Если бы вы смотрели только в журнал прогонов, вы бы не узнали, что что-то не так. Узнать можно только одним способом — прочитать сам текст, который получил живой человек.</a:t>
            </a:r>
          </a:p>
          <a:p/>
          <a:p>
            <a:r>
              <a:t>Теперь версия «после». Та же по смыслу заявка, от Светланы, тоже про перенос и оплату. Через узел подстановки переменных уходит: «Новая заявка от Светлана: тема «другое», также: перенос занятия, оплата». Доставлено мгновенно, без единого обращения к модели. Звучит суше, чем у «до» — это честно, тон живее у модели. Но в этом тексте не может появиться плейсхолдер, которого там не должно быть, потому что в нём в принципе нет места, куда модель могла бы что-то дописать сама: форма фиксирована, в неё подставляются только четыре значения, которые мы и так уже извлекли на предыдущем шаге.</a:t>
            </a:r>
          </a:p>
          <a:p/>
          <a:p>
            <a:r>
              <a:t>Вот разница между двумя версиями: не в тоне и не в красоте фразы. Она в том, можно ли гарантировать содержание. У одной — нет, даже когда прогон технически успешен. У другой — да, всегда, потому что форма сообщения никогда не меняется, меняются только значения в ней.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то, что увидели на двух прогонах.</a:t>
            </a:r>
          </a:p>
          <a:p/>
          <a:p>
            <a:r>
              <a:t>Не каждый текстовый вывод — это генерация. Если нужно вставить уже известные значения в уже известную форму, это задача форматирования: модель здесь не нужна. Узел модели в нашем кейсе не упал и не ошибся технически — он просто не был нужен для той работы, которую от него просили.</a:t>
            </a:r>
          </a:p>
          <a:p/>
          <a:p>
            <a:r>
              <a:t>Разница между форматированием и генерацией не в том, выглядит ли результат как естественный текст — выглядит одинаково в обоих случаях. Разница в том, кто придумывает форму сообщения. У шаблона форму придумывает человек один раз, заранее, когда пишет фразу с переменными. У модели форму придумывает сама модель, заново, на каждый прогон — и именно поэтому форма у модели может в любой момент отклониться, как отклонилась на execution 42.</a:t>
            </a:r>
          </a:p>
          <a:p/>
          <a:p>
            <a:r>
              <a:t>Класс задачи, который стоит назвать явно и унести с собой: сборка сообщения из уже извлечённых значений по фиксированной форме. Если вы узнаёте в своём процессе шаг, который делает ровно это — собирает уже известные значения в одну и ту же форму, — это кандидат на то, чтобы заменить модель шаблоном, независимо от того, как живо сейчас звучит то, что она пишет.</a:t>
            </a:r>
          </a:p>
          <a:p/>
          <a:p>
            <a:r>
              <a:t>И ещё один мостик вперёд, потому что мы увидим его снова сегодня. Паттерн «прогон зелёный, а результат незаметно не тот» характерен не только для текста. В Кейсе 4 мы встретим его ещё раз — уже на бинарных данных, на картинке, не на фразе.</a:t>
            </a:r>
          </a:p>
          <a:p/>
          <a:p>
            <a:r>
              <a:t>Обратите внимание, что этот класс задачи называется не по инструменту и не по теме письма. Его называют по форме работы: форматирование против генерации. Это разделение не завязано на n8n, на Telegram или на учебный центр — оно применимо к любому шагу любого оркестратора, который готовит текст на выходе. Полезно проверять каждый такой шаг в своём процессе на этот один вопрос: форма сообщения известна заранее целиком, или она сама должна родиться из содержания заявки?</a:t>
            </a:r>
          </a:p>
          <a:p/>
          <a:p>
            <a:r>
              <a:t>Прежде чем двигаться дальше — два нюанса и критерий, с которым можно уйти из этого кейса.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с которым можно уйти отсюда и применить к своему процессу, без привязки к именам узлов.</a:t>
            </a:r>
          </a:p>
          <a:p/>
          <a:p>
            <a:r>
              <a:t>Шаблона достаточно, когда форма сообщения всегда одна, а меняются только значения, которые в неё подставляются, — ровно наш случай с уведомлением Марине: значения уже известны, нужно только поставить их на нужное место. Модель нужна, когда в сообщении должна быть настоящая вариативность: тон, язык или длина меняются от заявки к заявке, или сам текст требует интерпретации, не просто сборки готовых значений.</a:t>
            </a:r>
          </a:p>
          <a:p/>
          <a:p>
            <a:r>
              <a:t>Два нюанса, которые стоит унести вместе с критерием.</a:t>
            </a:r>
          </a:p>
          <a:p/>
          <a:p>
            <a:r>
              <a:t>Первый: лишний шаг — это не только деньги и задержка. Это ещё и риск, причём риск, который присутствует всегда, даже в самой тривиальной задаче форматирования, как у нас: каждый вызов модели — ещё одна точка, где может появиться галлюцинация. Мы это уже видели на execution 42 — плейсхолдер в тексте, — и это не редкий случай: ровно то и происходит, когда модели дают сочинять там, где достаточно было бы подставить значение.</a:t>
            </a:r>
          </a:p>
          <a:p/>
          <a:p>
            <a:r>
              <a:t>Второй нюанс — честный против первого. Шаблон безопасен по умолчанию не навсегда. Если форма сообщения со временем начнёт требовать настоящей вариативности — разные языки, разная степень детализации, — шаблон придётся переписывать руками на каждый новый случай. Это тоже цена, просто другого типа: инженерная, не денежная. Поэтому критерий выбора зависит от факта вариативности в вашей задаче, не от привычки ставить шаблон по умолчанию.</a:t>
            </a:r>
          </a:p>
          <a:p/>
          <a:p>
            <a:r>
              <a:t>И закрываем первую строку оси, с которой начали занятие. Сообщение ушло координатору, цепочка короче и дешевле без LLM — так это выглядело снаружи. Чем оказалось: LLM здесь был просто лишним шагом, и то же самое, без его цены и без его риска, делает обычный шаблон.</a:t>
            </a:r>
          </a:p>
          <a:p/>
          <a:p>
            <a:r>
              <a:t>Это первая из четырёх строк оси. Дальше — тот же вопрос мы задаём следующему шагу цепочки, уже на дублях заявок.</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кейс мы закрыли выводом, что не каждый текстовый результат — это генерация: если форма сообщения всегда одна, нужен шаблон. Второй кейс начинается с другого узла. Не с того, который пишет текст, — с того, который решает, пускать заявку дальше или нет.</a:t>
            </a:r>
          </a:p>
          <a:p/>
          <a:p>
            <a:r>
              <a:t>Открываю таблицу заявок. В ней есть факт, который виден просто по записи, без единого разговора с человеком: за одно утро в ней два контакта, совпадающих друг с другом. Не два похожих — буквально совпадающих: один и тот же телефон, одна и та же тема.</a:t>
            </a:r>
          </a:p>
          <a:p/>
          <a:p>
            <a:r>
              <a:t>Это само по себе ничего не решает. Совпадающий контакт может быть законным дублем — человек дважды нажал «отправить» на одной и той же форме, потому что первый раз не увидел подтверждения. А может быть новым вопросом, который просто похож по теме на старый. Таблица этого не различает — она просто показывает две строки.</a:t>
            </a:r>
          </a:p>
          <a:p/>
          <a:p>
            <a:r>
              <a:t>Вопрос, который отсюда вырастает: как процесс должен решать, какая из этих двух строк — одно и то же обращение, а какая — два разных. И здесь важно сразу отделить одно от другого: это не вопрос «упал узел или нет». Оба обращения дойдут до таблицы технически без единой ошибки. Вопрос в том, что процесс сделает с каждым из них дальше — запишет как новое обращение или схлопнет во уже существующее.</a:t>
            </a:r>
          </a:p>
          <a:p/>
          <a:p>
            <a:r>
              <a:t>Сегодня у нас в сценарии появляется ровно такой узел — проверка на повтор перед записью. И первое, что про неё нужно понять: проверка на повтор — это не один инструмент. Это как минимум два разных, с разной ценой и разной способностью видеть смысл. Сейчас разберём, в чём между ними разница, глядя на эти же самые два совпадающих контакта.</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хронология, с которой мы работаем. Неделю назад человек уже спрашивал: «когда можно оплатить занятие?» Это обычная заявка, её обработали и забыли — как и положено.</a:t>
            </a:r>
          </a:p>
          <a:p/>
          <a:p>
            <a:r>
              <a:t>Сегодня утром тот же человек, тот же номер телефона, пишет снова. И первое, что он пишет, — слово в слово тот же вопрос: «когда можно оплатить занятие?» Буквально тот же текст, который был неделю назад.</a:t>
            </a:r>
          </a:p>
          <a:p/>
          <a:p>
            <a:r>
              <a:t>В тот же день, немного позже, тот же человек пишет ещё раз. И на этот раз — другими словами: «как мне внести оплату за курс». Смысл ровно тот же самый вопрос про оплату. Слова — совсем другие.</a:t>
            </a:r>
          </a:p>
          <a:p/>
          <a:p>
            <a:r>
              <a:t>Теперь смотрим, что делает механическая проверка — та, что сверяет контакт и тему в окне времени по хэшу нормализованного текста. Второе обращение, то, что слово в слово совпадает с заявкой неделю назад, она ловит мгновенно: хэш один и тот же, совпадение буквальное, вопрос закрыт без единого вызова модели.</a:t>
            </a:r>
          </a:p>
          <a:p/>
          <a:p>
            <a:r>
              <a:t>А третье обращение — то, что переформулировано, — она пропускает. И здесь важно не спутать это с ошибкой. Хэш у двух разных текстов разный по определению: это не брак проверки, это именно то, что она умеет и не умеет. Она ловит совпадение текста. Совпадение смысла — не её работа. Для неё «как мне внести оплату за курс» — это такая же новая, незнакомая строка, как если бы спросили про расписание на вторник.</a:t>
            </a:r>
          </a:p>
          <a:p/>
          <a:p>
            <a:r>
              <a:t>И вот тут зал может заметить то же самое, что мы видели в прошлом кейсе на другом узле: технически никто не ошибся. Хэш посчитан правильно, сравнение сделано правильно, узел отработал ровно так, как ему сказано. Просто то, что он умеет сравнивать, отличается от того, что умеет сравнивать человек, когда читает оба сообщения и сразу понимает, что это один и тот же вопрос.</a:t>
            </a:r>
          </a:p>
          <a:p/>
          <a:p>
            <a:r>
              <a:t>Вопрос, который напрашивается: если у нас в цепочке стоит и механическая проверка, и проверка смыслом через модель, — что именно умеет каждая из них, а что нет? Давайте проверим это на карточках.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два текста, с которыми мы только что работали. «Когда можно оплатить занятие?» — и «как мне внести оплату за курс». Один человек, один смысл, разные слова. У нас в цепочке стоят два вида проверки на повтор: механическая, по тексту, и проверка через модель, по смыслу.</a:t>
            </a:r>
          </a:p>
          <a:p/>
          <a:p>
            <a:r>
              <a:t>Вопрос: что умеет каждый вид проверки?</a:t>
            </a:r>
          </a:p>
          <a:p/>
          <a:p>
            <a:r>
              <a:t>Четыре карточки, и это утверждения о том, что каждая проверка делает на практике, не варианты для выбора. Первое: механическая проверка ловит любой повтор, даже другими словами. Второе: механическая проверка ловит только буквальное совпадение текста. Третье: LLM-проверка ловит смысл, но может принять два разных вопроса за один. Четвёртое: LLM-проверка дороже, но всегда точнее механической.</a:t>
            </a:r>
          </a:p>
          <a:p/>
          <a:p>
            <a:r>
              <a:t>Обращаю внимание: это не вопрос «которую проверку выбрать» — у нас в процессе стоят обе. Вопрос в том, какие из этих четырёх утверждений про них правильные, а какие звучат правдоподобно и при этом неверны. Среди четырёх не все окажутся точными описаниями — часть из них соблазнительна именно потому, что звучит как разумное обобщение.</a:t>
            </a:r>
          </a:p>
          <a:p/>
          <a:p>
            <a:r>
              <a:t>Подумайте про хэш нормализованного текста, про то, как модель читает смысл, и про то, где каждая из них на самом деле проводит границу между «то же самое» и «другое».</a:t>
            </a:r>
          </a:p>
          <a:p/>
          <a:p>
            <a:r>
              <a:t>Подсказка, на которую стоит обратить внимание: слова «любой», «только» и «всегда» в этих формулировках подобраны не случайно. Каждый раз, когда утверждение претендует на абсолютность, стоит спросить — а не найдётся ли пример, где оно ломается. Механическая проверка, например, работает с конкретным числом — хэшем строки, и у хэша нет понятия «похоже», только «совпало» или «не совпало». А у модели, наоборот, нет фиксированного правила совпадения вовсе — у неё есть только собственная оценка, и оценка эта тоже может ошибаться, просто по другой причине.</a:t>
            </a:r>
          </a:p>
          <a:p/>
          <a:p>
            <a:r>
              <a:t>Я специально не даю здесь ни одной подсказки про цену или вердикт — это будет на следующем экране. Сейчас важно только одно: у каждой карточки есть своя логика, и часть из них держится до конца проверки, а часть — нет.</a:t>
            </a:r>
          </a:p>
          <a:p/>
          <a:p>
            <a:r>
              <a:t>Пятнадцать секунд, потом разбираем по порядку.</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порядку, и сразу скажу: здесь нет подвоха про то, что одна проверка правильная, а другая никудышная. У обеих есть область, где они именно то, что нужно.</a:t>
            </a:r>
          </a:p>
          <a:p/>
          <a:p>
            <a:r>
              <a:t>Первое утверждение — механическая проверка ловит любой повтор, даже другими словами. Не делает. Хэш нормализованного текста — это число, посчитанное по конкретным символам строки. Другие слова дают другой хэш, даже если смысл не изменился ни на йоту. Проверка не читает смысл, она сравнивает текст.</a:t>
            </a:r>
          </a:p>
          <a:p/>
          <a:p>
            <a:r>
              <a:t>Второе — механическая проверка ловит только буквальное совпадение текста. Вот это она делает именно так: точное, или почти точное после нормализации регистра и пробелов, совпадение текста, контакта и темы в заданном окне времени. Это её область, и не более того — но внутри этой области она работает мгновенно и без единого вызова модели.</a:t>
            </a:r>
          </a:p>
          <a:p/>
          <a:p>
            <a:r>
              <a:t>Третье — LLM-проверка ловит смысл, но может принять два разных вопроса за один. Делает это правильно, и это важно услышать до конца: проверка смыслом реально способна перепутать два похожих, но разных по сути вопроса — или, наоборот, счесть одним и тем же два текста, которые совпадают только по теме, а по факту разные. Это не гипотетический риск, это свойство любой проверки через модель-судью.</a:t>
            </a:r>
          </a:p>
          <a:p/>
          <a:p>
            <a:r>
              <a:t>Четвёртое — LLM-проверка дороже, но всегда точнее механической. Не делает. «Всегда точнее» — ложное обобщение. У LLM-проверки собственная частота ошибок, причём в обе стороны: она может пропустить дубль и может создать дубль там, где его нет. Это не «точнее механической в принципе», это иначе ошибается — и за каждый вызов дороже.</a:t>
            </a:r>
          </a:p>
          <a:p/>
          <a:p>
            <a:r>
              <a:t>Вот и поворот. Механическая проверка честно ограничена и не обманывает: она умеет ровно то, что умеет. Проверка смыслом умеет больше, но у неё появляется собственная, другая слепая зона. Выбор здесь не между «хорошей» и «плохой» проверкой — он между тем, где какая ошибка обходится дороже. Сейчас посмотрим, как это устроено в нашем процессе: как две проверки стоят рядом друг с другом, каждая на своём месте.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механика, и она объясняет, почему эти две проверки стоят именно в таком порядке.</a:t>
            </a:r>
          </a:p>
          <a:p/>
          <a:p>
            <a:r>
              <a:t>Первый узел в цепочке — механический фильтр. Он берёт текст новой заявки, считает его нормализованный хэш и сверяет с недавними записями того же контакта за заданное окно времени, в той же таблице. Если хэш совпал — перед нами точный повтор, и узел решает это сам, мгновенно, без единого обращения к модели. Это ровно то, что мы видели на предыдущем экране: буквальный повтор гасится здесь.</a:t>
            </a:r>
          </a:p>
          <a:p/>
          <a:p>
            <a:r>
              <a:t>Если хэш не совпал, это ещё не значит «новый вопрос». Это значит только то, что механический фильтр не смог решить однозначно: контакт тот же, тема та же, окно времени близкое, а текст другой. Вот эта категория — разные тексты от одного контакта в близкое время — и есть то, что передаётся дальше, на второй узел.</a:t>
            </a:r>
          </a:p>
          <a:p/>
          <a:p>
            <a:r>
              <a:t>Второй узел — проверка смыслом. Ей не нужно разбирать всю заявку с нуля: вопрос перед ней стоит узко и конкретно — это тот же вопрос, просто иначе сформулированный, или нет? Модель отвечает именно на этот прицельный вопрос, не на общую классификацию.</a:t>
            </a:r>
          </a:p>
          <a:p/>
          <a:p>
            <a:r>
              <a:t>И вот ключевая мысль механики, ради которой стоило её разбирать. Порядок здесь не случаен. Дешёвый фильтр стоит первым и забирает себе всё, что можно решить бесплатно, — буквальные повторы, а их на практике большинство. Модель вызывается лишь на тот небольшой остаток, где текст действительно другой; до основной массы заявок она не доходит вовсе. Переставьте узлы местами — и вы будете платить за вызов модели на каждой заявке, включая те, что решаются одним сравнением хэшей.</a:t>
            </a:r>
          </a:p>
          <a:p/>
          <a:p>
            <a:r>
              <a:t>Сейчас посмотрим это на двух настоящих прогонах нашего стенда, не на схеме — один из них пройдёт весь путь до модели, другой остановится на первом шаге.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уже собран и опубликован — workflow </a:t>
            </a:r>
            <a:r>
              <a:rPr>
                <a:latin typeface="Consolas"/>
              </a:rPr>
              <a:t>c7evxIhox45tn127</a:t>
            </a:r>
            <a:r>
              <a:t>. Я ничего не настраиваю в узлах вживую, просто прогоняю через него ровно те два случая, о которых мы говорили: Анна и Борис, два разных контакта.</a:t>
            </a:r>
          </a:p>
          <a:p/>
          <a:p>
            <a:r>
              <a:t>У Анны текущая заявка — «как мне внести оплату за курс», а предыдущее сообщение от того же контакта — «когда можно оплатить занятие?». Текст другой, хэш другой. Механический фильтр не может решить это сам и передаёт заявку на второй узел — LLM-проверку. Модель получает прицельный вопрос «это тот же вопрос, просто иначе сформулированный?» и отвечает: «Да.» Переформулировка распознана правильно, заявка записывается как повтор.</a:t>
            </a:r>
          </a:p>
          <a:p/>
          <a:p>
            <a:r>
              <a:t>Теперь Борис. Его текущая заявка — «когда можно оплатить занятие?», и предыдущее сообщение от него — буквально тот же текст. Хэш совпадает полностью. Узел </a:t>
            </a:r>
            <a:r>
              <a:rPr>
                <a:latin typeface="Consolas"/>
              </a:rPr>
              <a:t>Exact duplicate in window?</a:t>
            </a:r>
            <a:r>
              <a:t> ловит это мгновенно и останавливает цепочку — заявка дальше не идёт.</a:t>
            </a:r>
          </a:p>
          <a:p/>
          <a:p>
            <a:r>
              <a:t>А теперь главное, из-за чего этот прогон стоило показать вживую. Посмотрите на execution </a:t>
            </a:r>
            <a:r>
              <a:rPr>
                <a:latin typeface="Consolas"/>
              </a:rPr>
              <a:t>51</a:t>
            </a:r>
            <a:r>
              <a:t> в журнале. В таблице заявок новой строки нет. На экране результата ничего не появилось. Человек, который завтра утром посмотрит в таблицу, ничего о сегодняшнем сообщении Бориса не узнает. И при всём этом — статус самого прогона n8n на этом execution — success. Ни один узел технически не упал, ни одной ошибки в журнале нет.</a:t>
            </a:r>
          </a:p>
          <a:p/>
          <a:p>
            <a:r>
              <a:t>Это не брак нашего конкретного процесса. Это то же самое, что мы видели в кейсе про уведомления: узел сделал ровно то, что ему сказано — остановить точный повтор, — и сделал это правильно. Просто «остановить» здесь буквально означает «ничего никуда не записать и никому не ответить», и формальный статус прогона про это молчит.</a:t>
            </a:r>
          </a:p>
          <a:p/>
          <a:p>
            <a:r>
              <a:t>Представьте на секунду: если бы у Бориса второе обращение было срочным — что-то изменилось, и вопрос про оплату действительно нужно решить сегодня, — для него и для нас это выглядело бы так, будто заявка просто не ушла. Он позвонит сам. И журнал прогонов на этот звонок ответит: «а у нас всё зелёное».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Обобщаем. Главный вывод этого кейса в другом: механическая и смысловая проверка вообще не конкуренты. Это два разных инструмента, с разной ценой и разной полнотой, и работают они по очереди, друг друга не замещая.</a:t>
            </a:r>
          </a:p>
          <a:p/>
          <a:p>
            <a:r>
              <a:t>Посмотрите на таблицу. Механическая проверка почти бесплатна — хэш и сравнение по окну времени не стоят ни одного вызова модели, и она стоит первой, на каждой без исключения заявке. Смысловая проверка дороже с каждым обращением к модели, и включается она только тогда, когда механическая явно не смогла решить сама.</a:t>
            </a:r>
          </a:p>
          <a:p/>
          <a:p>
            <a:r>
              <a:t>Это и есть системный приём, который переносится далеко за пределы нашего конкретного процесса: тираж проверки по уровням, от грубой и дешёвой к точной и дорогой. Не «замените дешёвую проверку дорогой, потому что дорогая умнее». Здесь другая логика: «пусть дешёвая забирает себе всё, что может решить, и только нерешённый остаток идёт дальше». Это снижает число вызовов модели не на проценты — в разы, потому что буквальных повторов в реальном потоке обычно заметно больше, чем перефразированных.</a:t>
            </a:r>
          </a:p>
          <a:p/>
          <a:p>
            <a:r>
              <a:t>И отдельно скажу про то, куда эта мысль ведёт дальше, потому что она не заканчивается дедупликацией. Та же самая механика — сравнение смысла двух заявок — на Семинаре 10 расширяется до того, чтобы искать ответ не только среди недавних обращений того же человека, а во всей базе знаний центра, и объединять типовые вопросы, которые разные люди формулируют по-разному. Сегодня мы сравниваем «это тот же вопрос, который уже был», через две заявки. Там это станет «есть ли готовый ответ на такой вопрос вообще» — но принцип экономии: дёшево отфильтровать, дорого проверить смысл на оставшемся, — тот же самый.</a:t>
            </a:r>
          </a:p>
          <a:p/>
          <a:p>
            <a:r>
              <a:t>На сегодня этого достаточно: мы увидели, как эта пара инструментов стоит в нашем процессе. Прежде чем двигаться дальше, разберём, где у этой пары свои собственные грабли.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места, где эта пара инструментов может подвести — и ни одно из них не видно на одном удачном прогоне, который мы только что показали.</a:t>
            </a:r>
          </a:p>
          <a:p/>
          <a:p>
            <a:r>
              <a:t>Первое — окно времени. Это параметр, который мы задаём сами, и у него есть цена в обе стороны. Слишком короткое окно пропустит повтор, разнесённый на пару дней: человек спросил сегодня и через три дня спросил снова, а окно уже закрылось, и проверка про них ничего не знает. Слишком длинное окно начинает путать совсем другую ситуацию — несколько разных, законных обращений одного и того же человека подряд — с повтором одного и того же вопроса. Это не ошибка настройки, это именно параметр, у которого нет универсально правильного значения, только трейд-офф.</a:t>
            </a:r>
          </a:p>
          <a:p/>
          <a:p>
            <a:r>
              <a:t>Второе, и это важно сказать прямо: LLM-проверка похожести — частный случай более общей проблемы: модели в роли судьи. Особо надёжным случаем она не является. У любой модели-судьи есть собственная асимметрия ошибок — задокументированный результат, не предположение: self-preference bias, работа Wataoka, Takahashi и Ri, воркшоп Safe GenAI на NeurIPS 2024. Модель-судья не нейтральна даже тогда, когда формально просто отвечает «да» или «нет» на прямой вопрос — у неё есть собственный уклон.</a:t>
            </a:r>
          </a:p>
          <a:p/>
          <a:p>
            <a:r>
              <a:t>Третье — и это уже не техническая деталь вовсе. «Что считать дублем» — продуктовое решение. Представьте: человек спросил про оплату неделю назад, а сегодня спрашивает снова, другими словами, потому что ему теперь это нужно срочно — курс начинается завтра. Технически это тот же вопрос по смыслу. Но если процесс схлопнет его в старое обращение и не создаст новую срочную запись, человек не получит ответа тогда, когда он ему действительно нужен. Не каждый технический повтор обязан превращаться в одну запись в интерфейсе — иногда правильнее показать его как новое, даже зная, что смысл совпадает.</a:t>
            </a:r>
          </a:p>
          <a:p/>
          <a:p>
            <a:r>
              <a:t>Дальше — критерий: когда одной механической проверки достаточно, а когда без смысловой проверки сверху не обойтись.</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и как в прошлый раз — прямой формой: когда достаточно механической проверки, а когда без проверки смыслом не обойтись.</a:t>
            </a:r>
          </a:p>
          <a:p/>
          <a:p>
            <a:r>
              <a:t>Механической достаточно, если повторы в основном буквальные — один канал, один интерфейс, человек просто дважды нажал «отправить» на той же форме. В этой ситуации смысловая проверка — лишний расход: хэш и так поймает всё, что нужно.</a:t>
            </a:r>
          </a:p>
          <a:p/>
          <a:p>
            <a:r>
              <a:t>LLM-проверка сверху оправдана, когда ожидаются переформулировки — разные каналы, разный интервал между обращениями, человек каждый раз пишет своими словами, даже если спрашивает об одном и том же. И решающий момент здесь экономический: она оправдана, когда цена необнаруженного дубля — повторный звонок, повторная работа — выше цены одного вызова модели на тот небольшой остаток спорных случаев, что не разрешил первый фильтр.</a:t>
            </a:r>
          </a:p>
          <a:p/>
          <a:p>
            <a:r>
              <a:t>Предел, после которого даже правильно настроенная пара перестаёт быть чисто техническим вопросом: «что считать дублем» — это решение продукта, не только инженерии. Граница между «тот же вопрос» и «новый вопрос, который звучит похоже» не лежит ни в хэше, ни в модели — она лежит в договорённости, что команда вообще признаёт повтором. Без этой договорённости даже идеально настроенная проверка будет технически работать и продуктово ошибаться.</a:t>
            </a:r>
          </a:p>
          <a:p/>
          <a:p>
            <a:r>
              <a:t>Возвращаемся к оси. Вторая строка: «заявка про тот же вопрос пришла снова — обработали как новую». Выглядело это неприятностью отдельного случая — а чем оказалось: без проверки на дубль вообще каждое повторное обращение запускает всю цепочку с нуля, как будто его никогда не было. И главный вывод этого кейса не в том, что «нужно поставить LLM-проверку, она умнее». Механическая и смысловая проверка — это разные инструменты с разной ценой, которые работают по очереди: выбирать одно вместо другого тут не нужно.</a:t>
            </a:r>
          </a:p>
          <a:p/>
          <a:p>
            <a:r>
              <a:t>Если выносить из этого кейса одну практическую привычку, пусть она будет такая: прежде чем спорить, какая проверка «лучше», спросите, какую конкретно ошибку вы готовы терпеть — пропущенный дубль или ложно схлопнутую новую заявку, — и сколько стоит каждая из них в вашей собственной работе. У нас на стенде обе ошибки видимы: мы своими глазами видели и пропавшую заявку Бориса, и правильно распознанную переформулировку Анны. В вашем процессе цена этих двух ошибок может быть совсем не одинаковой, и настройка окна времени, порога уверенности модели — всё это вторично по отношению к тому, что именно вы в принципе готовы потерять молча.</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открывается не репликой человека и не фактом из таблицы. Он открывается самой строкой правила. Прочитайте её с экрана: «не возвращай больше суммы X автоматически, иначе эскалируй». Эта строка стоит в промте шага, который решает про возврат денег, уже месяц — и всё это время она считается рабочим решением.</a:t>
            </a:r>
          </a:p>
          <a:p/>
          <a:p>
            <a:r>
              <a:t>Контекст простой. Учебный центр добавил обработку заявок на возврат: если в заявке тема «оплата» и слово «возврат» или «верните», процесс в норме эскалирует её руководителю. Но отрывать руководителя на каждую мелкую сумму — расточительно, и было решено: небольшие возвраты, до некоторого порога X, процесс одобряет сам, без участия человека.</a:t>
            </a:r>
          </a:p>
          <a:p/>
          <a:p>
            <a:r>
              <a:t>Чтобы не городить под это решение отдельный узел, порог X просто вписали в промт того же шага, который уже принимает решение по заявке. Решение — одобрить возврат или эскалировать его — модель принимает сама, по тексту этого правила.</a:t>
            </a:r>
          </a:p>
          <a:p/>
          <a:p>
            <a:r>
              <a:t>Месяц это работало незаметно. И здесь стоит вспомнить то, что уже встречалось в этом занятии на других кейсах: незаметность не значит отсутствие ошибки, она может значить только то, что никто ещё не проверил границу условия специально. Правило звучит ясно человеку, который его читает: число есть, слово «больше» есть, что тут можно перепутать. Вопрос, который дивайдер оставляет открытым до следующего экрана: звучит ли оно так же ясно модели, которая должна по нему решать — причём не в среднем по всем заявкам, а именно в одной точке, там, где текст правила и число расходятся.</a:t>
            </a:r>
          </a:p>
          <a:p/>
          <a:p>
            <a:r>
              <a:t>Обратите внимание, что стоит за этой фразой с инженерной стороны. «Не возвращай больше X» — это natural-language-формулировка границы, которая человеку кажется однозначной ровно потому, что он сам решает, как трактовать слово «больше» в каждом конкретном случае, не задумываясь об этом как об отдельном шаге. У модели, читающей ту же фразу в промте, этого неявного шага нет — есть только текст и её собственная интерпретация того, что он означает на конкретном числе.</a:t>
            </a:r>
          </a:p>
          <a:p/>
          <a:p>
            <a:r>
              <a:t>Дальше — сцена: как это устроено на стенде и почему здесь сразу два параллельных процесса на одном и том же пороге.</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Сцена третьего кейса устроена иначе, чем первые две: здесь нет одного прогона с находкой, а есть два параллельных процесса на одном и том же стенде, и смысл кейса — в их сравнении.</a:t>
            </a:r>
          </a:p>
          <a:p/>
          <a:p>
            <a:r>
              <a:t>Контекст — учебный центр, про который мы уже всё занятие. Заявки на возврат денег: мелкая сумма, до порога X, процесс должен одобрить сам, не отрывая руководителя на каждую мелочь; возврат выше порога — эскалировать руководителю. Чтобы не заводить отдельный узел под это решение, порог X вписали прямо в промт шага, который и принимает решение.</a:t>
            </a:r>
          </a:p>
          <a:p/>
          <a:p>
            <a:r>
              <a:t>Дальше — устройство. На стенде заранее собраны и опубликованы два процесса, оба стартуют с одной и той же извлечённой суммы. В процессе (A) решение принимает модель: OpenRouter, модель </a:t>
            </a:r>
            <a:r>
              <a:rPr>
                <a:latin typeface="Consolas"/>
              </a:rPr>
              <a:t>qwen/qwen-2.5-7b-instruct</a:t>
            </a:r>
            <a:r>
              <a:t> — тот же </a:t>
            </a:r>
            <a:r>
              <a:rPr>
                <a:latin typeface="Consolas"/>
              </a:rPr>
              <a:t>credential</a:t>
            </a:r>
            <a:r>
              <a:t> </a:t>
            </a:r>
            <a:r>
              <a:rPr>
                <a:latin typeface="Consolas"/>
              </a:rPr>
              <a:t>OpenRouter account</a:t>
            </a:r>
            <a:r>
              <a:t>, которым Семинар 7 уже пользовался на шаге извлечения, никакой новой инфраструктуры. Правило-порог модель получает в виде текста в промте и должна сама прочитать его и применить. В процессе (B) решение принимает узел </a:t>
            </a:r>
            <a:r>
              <a:rPr>
                <a:latin typeface="Consolas"/>
              </a:rPr>
              <a:t>IF</a:t>
            </a:r>
            <a:r>
              <a:t>: он сравнивает число — извлечённую сумму — с порогом X детерминированно. Если в процессе (B) модель где-то и используется, то только для того, чтобы извлечь сумму из текста заявки заранее: в самой точке решения её не будет.</a:t>
            </a:r>
          </a:p>
          <a:p/>
          <a:p>
            <a:r>
              <a:t>И отдельно стоит сказать вслух про то, чего на стенде нет. Первая попытка собрать модель для процесса (A) была — поднять её локально у себя и перебросить к удалённому стенду туннелем. Это было остановлено сразу: стенд n8n живёт на отдельном боксе, локальная модель для него недостижима без туннеля, а рабочий </a:t>
            </a:r>
            <a:r>
              <a:rPr>
                <a:latin typeface="Consolas"/>
              </a:rPr>
              <a:t>credential</a:t>
            </a:r>
            <a:r>
              <a:t> на OpenRouter уже стоит и используется. Заводить туннель означало бы собрать ровно тот лишний узел на уровне инфраструктуры, о котором нас предупреждал Кейс 1 этого занятия.</a:t>
            </a:r>
          </a:p>
          <a:p/>
          <a:p>
            <a:r>
              <a:t>Теперь — к какому вопросу всё это подводит зал.</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вопрос занятия. Правило о пороге X мы только что увидели в двух процессах — текстом и числом. Вопрос не про то, какой из двух процессов лучше: он про то, как вообще добиться, чтобы решение о пороге никогда не принималось неверно. Четыре варианта, выбирайте один и готовьте довод.</a:t>
            </a:r>
          </a:p>
          <a:p/>
          <a:p>
            <a:r>
              <a:t>Пока голосуют, стоит сказать голосом, не вынося на экран: все четыре варианта реальны, и каждый вы наверняка где-то видели или сами предлагали. Написать правило яснее — первое, что приходит в голову, когда что-то работает не так: переформулировать. Дать модели инструмент-калькулятор — более инженерный ответ, модель перестаёт сама считать и передаёт сравнение специальной функции. Поставить </a:t>
            </a:r>
            <a:r>
              <a:rPr>
                <a:latin typeface="Consolas"/>
              </a:rPr>
              <a:t>IF</a:t>
            </a:r>
            <a:r>
              <a:t>-узел после извлечения суммы — это уже про то, где именно в цепочке стоит шаг принятия решения. Прогнать несколько раз и взять большинство голосов — приём против случайного шума, знакомый из статистики и из инженерной практики распределённых систем.</a:t>
            </a:r>
          </a:p>
          <a:p/>
          <a:p>
            <a:r>
              <a:t>Четыре варианта, и ни один не стоит на экране с подсказкой «за» или «против» — выбор зала, не угадывание отмеченного пункта.</a:t>
            </a:r>
          </a:p>
          <a:p/>
          <a:p>
            <a:r>
              <a:t>Полезно отметить и то, что эти четыре варианта не взаимоисключающие в реальной практике — на рабочем процессе вы вполне можете и переформулировать правило, и добавить инструмент, и в итоге всё равно прийти к условию в коде. Голосование просит выбрать один, но сам вопрос — «как добиться, чтобы решение никогда не принималось неверно» — на самом деле проверяет, какой из четырёх подходов закрывает проблему структурно, а какой снижает её частоту, но оставляет открытой. Это разница, которую стоит держать в голове, выбирая вариант.</a:t>
            </a:r>
          </a:p>
          <a:p/>
          <a:p>
            <a:r>
              <a:t>Разбор, что каждый из них на самом деле делает и чего не делает, — на следующем экране, сразу после голосования, без промедления.</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И, как и в прошлых кейсах, сразу скажу: ни один из четырёх вариантов не глуп, и голосование не искало подвох.</a:t>
            </a:r>
          </a:p>
          <a:p/>
          <a:p>
            <a:r>
              <a:t>Написать правило яснее в промте. Что это даёт — снижает частоту ошибки: чем точнее сформулировано правило, тем реже модель его неправильно применит. Чего не даёт — структурного решения. Решение остаётся текстовым вызовом модели, и сколько угодно точная формулировка не гарантирует, что в каждом отдельном прогоне правило будет применено верно.</a:t>
            </a:r>
          </a:p>
          <a:p/>
          <a:p>
            <a:r>
              <a:t>Дать модели инструмент-калькулятор для сравнения сумм. Это шаг вперёд: сравнение чисел выносится из самой модели в отдельный инструмент, и арифметическая ошибка модели снижается. Но смотрите, куда переместилась ненадёжность — она не исчезла. Решение всё равно идёт через то, вызовет ли модель этот инструмент в конкретном прогоне и правильно ли передаст туда значения. Вероятностность переехала на шаг раньше; не пропала.</a:t>
            </a:r>
          </a:p>
          <a:p/>
          <a:p>
            <a:r>
              <a:t>Поставить </a:t>
            </a:r>
            <a:r>
              <a:rPr>
                <a:latin typeface="Consolas"/>
              </a:rPr>
              <a:t>IF</a:t>
            </a:r>
            <a:r>
              <a:t>-узел после извлечения суммы. Единственный вариант, который убирает вероятностность из самой точки принятия решения: сравнение числа с порогом — это условие в коде оркестратора, не текстовый вызов модели. Ограничение здесь другое: сам порог X должен где-то жить одним числом. Не двумя копиями, которые надеются совпадать, — об этом будет один из нюансов дальше.</a:t>
            </a:r>
          </a:p>
          <a:p/>
          <a:p>
            <a:r>
              <a:t>Прогнать несколько раз и взять большинство голосов. Хороший приём против случайного шума: если модель иногда ошибается вразброс, несколько прогонов и голосование это сгладят. Но если модель раз за разом одинаково неверно трактует саму границу условия — не случайно, а систематически — голосование просто повторит ту же неверную интерпретацию несколько раз, дороже, и ничего не исправит.</a:t>
            </a:r>
          </a:p>
          <a:p/>
          <a:p>
            <a:r>
              <a:t>Вот и поворот этого разбора: у трёх вариантов вероятностность остаётся — просто переезжает или размножается. Проверим это прогоном, не рассуждением: 51 запрос через оба процесса,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Такт «решение» в этом кейсе шире, чем в предыдущих двух: кроме прогона на стенде, он включает спроектированный эксперимент. Через процесс (A) и через процесс (B) прошли одни и те же 51 запрос на возврат — 50 заготовленных сумм вокруг и выше порога X плюс один ручной тест. Порог тот же, что мы уже видели: X = 3000₽.</a:t>
            </a:r>
          </a:p>
          <a:p/>
          <a:p>
            <a:r>
              <a:t>Результат: процесс (A), где решение принимает модель, ошибся 3 раза из 51. И вот что важно: не разбросанно — в одной точке. Все три ошибки — ровно на сумме, равной порогу, 3000₽. Правило «не возвращай больше X» подразумевает включительно: на сумме, равной порогу, ещё можно одобрить самому. Но модель во всех трёх прогонах на этой точной сумме решила «эскалировать» вместо «одобрить». При этом на любой сумме строго выше порога модель эскалирует верно — ни одной ошибки. На любой сумме строго ниже — одобряет верно, тоже без ошибок.</a:t>
            </a:r>
          </a:p>
          <a:p/>
          <a:p>
            <a:r>
              <a:t>Это и есть находка, ради которой кейс строился как эксперимент, не как одно наблюдение. Ошибка не случайная вероятностная путаница, разбросанная по диапазону сумм. Она систематическая и сидит ровно в точке, где текст правила и его формальная интерпретация расходятся: «X — это уже больше или ещё нет?»</a:t>
            </a:r>
          </a:p>
          <a:p/>
          <a:p>
            <a:r>
              <a:t>Процесс (B), где решение принимает узел </a:t>
            </a:r>
            <a:r>
              <a:rPr>
                <a:latin typeface="Consolas"/>
              </a:rPr>
              <a:t>IF</a:t>
            </a:r>
            <a:r>
              <a:t>, ошибся 0 раз из 51 — включая ту же граничную сумму. Условию «строго больше X» неважно, как сформулирован текст правила — оно просто сравнивает число с числом.</a:t>
            </a:r>
          </a:p>
          <a:p/>
          <a:p>
            <a:r>
              <a:t>Если у кого-то в зале есть похожий порог в промте на рабочем процессе — здесь стоит прямо сейчас мысленно прикинуть, проверяли ли вы его именно на границе, не где-то в середине диапазона. Дальше — прямые ссылки на конкретные сломанные прогоны, не пересказ этого числа.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главный экран сегодняшнего занятия, и я прогоню сумму вживую, прежде чем показать уже готовую пару.</a:t>
            </a:r>
          </a:p>
          <a:p/>
          <a:p>
            <a:r>
              <a:t>На стенде заранее собраны и опубликованы оба процесса на одном и том же извлечённом значении суммы: процесс (A) и процесс (B). Сейчас я ничего не меняю в узлах — кликаю по форме, отправляю заявку на сумму ровно 3000₽ через процесс (A), затем через процесс (B), и мы смотрим на экраны результата рядом.</a:t>
            </a:r>
          </a:p>
          <a:p/>
          <a:p>
            <a:r>
              <a:t>Вот что получилось на стенде ещё до занятия, и то же самое повторится сейчас при вас. Три прогона процесса (A) — executions 72, 74 и 92 — все три на сумме 3000₽, и все три решение «эскалировать». Три прогона процесса (B) — executions 73, 75 и 93 — та же сумма, 3000₽, и все три решение «одобрить».</a:t>
            </a:r>
          </a:p>
          <a:p/>
          <a:p>
            <a:r>
              <a:t>Это не скриншот интерфейса n8n — такой скриншот для этого стенда физически недостижим, причина в заметках для тех, кто спросит. Это прямые значения из </a:t>
            </a:r>
            <a:r>
              <a:rPr>
                <a:latin typeface="Consolas"/>
              </a:rPr>
              <a:t>runData</a:t>
            </a:r>
            <a:r>
              <a:t> настоящих прогонов, подписанные номером execution и адресом стенда — каждую из этих шести строк можно открыть и перепроверить.</a:t>
            </a:r>
          </a:p>
          <a:p/>
          <a:p>
            <a:r>
              <a:t>Смотрите на то, что здесь перед вами: одна и та же сумма, один и тот же порог, и противоположное решение — просто в зависимости от того, кто его принимает. У (A) правило читает модель, и на этой точной сумме она трижды прочитала его как «уже больше», хотя «не больше X» подразумевает «X — это ещё можно». У (B) правило — число в условии узла </a:t>
            </a:r>
            <a:r>
              <a:rPr>
                <a:latin typeface="Consolas"/>
              </a:rPr>
              <a:t>IF</a:t>
            </a:r>
            <a:r>
              <a:t>, и ему неважно, как сформулирован текст: «строго больше X» на сумме, равной X, однозначно даёт «одобрить».</a:t>
            </a:r>
          </a:p>
          <a:p/>
          <a:p>
            <a:r>
              <a:t>Это и есть разница между рассказом про эксперимент и прогоном настоящей пары на ваших глазах. Числа с прошлого экрана — 3 ошибки из 51 у (A), 0 у (B) — сводятся сюда, в эти шесть конкретных строк.</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Обобщение третьего кейса — тот же тезис, который уже звучал на Кейсах 1 и 2 этого занятия: там, где решение можно выразить детерминированным условием над уже извлечёнными значениями — суммой, датой, принадлежностью списку, — решение должно приниматься кодом, а модель используется только для извлечения значений в структуру заранее.</a:t>
            </a:r>
          </a:p>
          <a:p/>
          <a:p>
            <a:r>
              <a:t>Разница с первыми двумя кейсами — в том, чем этот тезис подкреплён: не рассуждением и не наблюдением за одним прогоном. Измеренным числом на 51 попытке. И число говорит не просто «модель иногда вероятностно ошибается» — оно говорит точнее и опаснее: модель систематически промахивается именно на границе условия, там, где текст правила и его формальная интерпретация расходятся, а в остальном диапазоне суммы ведёт себя безупречно.</a:t>
            </a:r>
          </a:p>
          <a:p/>
          <a:p>
            <a:r>
              <a:t>Вот почему это хуже случайного шума, не так же плохо. Случайную ошибку можно снизить повторами или усреднением — именно это и предлагал один из вариантов на прошлом голосовании, «прогнать несколько раз и взять большинство». Системную ошибку на границе так не снизить: модель раз за разом одинаково неверно трактует саму границу, и голосование просто повторит ту же неверную интерпретацию несколько раз, дороже, не исправив её.</a:t>
            </a:r>
          </a:p>
          <a:p/>
          <a:p>
            <a:r>
              <a:t>Класс задачи, который стоит назвать явно и унести с собой: решение, формализуемое как условие над числом, — не задача модели в точке принятия решения, даже если модель уже участвует в цепочке раньше, на шаге извлечения. И граничные значения условия — первое, что нужно проверить прогоном, не предположить по тексту правила. «Работает в большинстве случаев» и «работает на границе» — два разных утверждения, и путать их стоило в этом эксперименте ровно трёх ошибок из пятидесяти одной, все три в одной и той же точке.</a:t>
            </a:r>
          </a:p>
          <a:p/>
          <a:p>
            <a:r>
              <a:t>Следующий экран — что из этого не следует: три нюанса, которые легко принять за решённый вопрос, хотя это не так.</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первый из них снимать нельзя ни при каких обстоятельствах — это прямой ответ на один из вариантов прошлого голосования, и без него разбор карточек даёт ложный вывод.</a:t>
            </a:r>
          </a:p>
          <a:p/>
          <a:p>
            <a:r>
              <a:t>Первый — инструмент-калькулятор у модели не гарантия. На голосовании это был вариант «дать модели инструмент-калькулятор для сравнения сумм», и он выглядит инженерно разумным шагом: вынести арифметику из самой модели в отдельный детерминированный инструмент. Но даже если такой инструмент подключён, нет гарантии, что модель решит его вызвать в конкретном прогоне, и нет гарантии, что она передаст туда правильно считанные значения. Надёжность решения всё равно идёт через то, вызвала ли модель инструмент и как она интерпретировала результат вызова. Вероятностность не исчезла — она переместилась на шаг раньше, в точку «вызовет ли модель инструмент», и это легко упустить, потому что сам инструмент выглядит надёжным.</a:t>
            </a:r>
          </a:p>
          <a:p/>
          <a:p>
            <a:r>
              <a:t>Второй — порог X должен жить в одном месте как единственный источник правды. В нашем эксперименте число 3000 стояло и в промте процесса (A), и в условии узла процесса (B), и мы сравнивали их на одном и том же значении намеренно. В реальной системе, где эти два места правятся отдельно людьми или отдельными коммитами, расхождение копий одного и того же порога — тот же класс проблемы, что рвущийся контракт между шагами цепочки в любом другом месте. Число должно иметь одно место хранения.</a:t>
            </a:r>
          </a:p>
          <a:p/>
          <a:p>
            <a:r>
              <a:t>Третий — модель в роли извлечения суммы из текста всё ещё может ошибиться, и это нормально, не противоречие тезису кейса. Обобщение не говорит «модель нигде не нужна здесь» — оно говорит «модель не должна быть точкой решения». Понять текст заявки и достать из него число — задача, где текст нужно именно понять, а не сравнить с порогом, и это ровно та часть, где модель уместна.</a:t>
            </a:r>
          </a:p>
          <a:p/>
          <a:p>
            <a:r>
              <a:t>Дальше — критерий, который можно унести с собой без единого имени узла.</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третьего кейса, прямой формой, без эссе: когда решение обязано быть кодом, а когда модель в самой точке решения допустима.</a:t>
            </a:r>
          </a:p>
          <a:p/>
          <a:p>
            <a:r>
              <a:t>Обязано быть кодом, когда критерий решения можно выразить как условие над уже структурированным значением — суммой, датой, принадлежностью готовому списку. Это ровно наш случай: сумма возврата уже извлечена в число, и сравнить число с порогом — задача условия, не задача понимания текста. И отдельно стоит запомнить практическое следствие: граница этого условия — ровно на пороге, ровно на дате, ровно в списке — то, что обязаны проверить прогоном до публикации процесса, не предположить по тексту правила. Именно так нашлась наша ошибка: не в середине диапазона — на границе.</a:t>
            </a:r>
          </a:p>
          <a:p/>
          <a:p>
            <a:r>
              <a:t>Модель в самой точке решения допустима только там, где критерий принципиально не формализуется как условие: оценка тона письма, намерения человека, нестандартной формулировки без явного числового порога. Там нет единственного числа, которое решение либо пересекает, либо нет, — и переносить такую оценку в код означало бы изобретать внутри оркестратора вторую модель, только хуже обученную.</a:t>
            </a:r>
          </a:p>
          <a:p/>
          <a:p>
            <a:r>
              <a:t>И важная оговорка, которая закрывает нюансы предыдущего экрана: модель перед этим шагом вполне законна — но только в роли извлечения значения из текста, не в роли сравнения этого значения с порогом. Понять заявку и достать из неё сумму — задача понимания. Сравнить сумму с порогом — задача условия. Это две разные задачи, и ошибка эксперимента началась ровно там, где их перепутали.</a:t>
            </a:r>
          </a:p>
          <a:p/>
          <a:p>
            <a:r>
              <a:t>Третья строка нашей оси, с которой открывалось занятие: «в промте написано «не возвращай больше суммы X»» — месяц это выглядело рабочим решением. Чем оказалось: решением вероятностным — модель обходит правило в измеренной доле прогонов, 3 ошибки из 51, и все три ровно на границе условия. Алгоритмический гейт на той же границе — ни разу, 0 из 51. Разница между «написано в промте» и «гейт — архитектура, не текст» — это и есть разница, которую сегодня измерили, не предположили.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Короткий разворот этого занятия — не кейс учебного центра. Это настоящая история компании, которая торговала недвижимостью по тому же принципу, что мы только что разбирали в третьем кейсе: порог суммы, который должен был остановить автоматическое решение, не был зашит в код.</a:t>
            </a:r>
          </a:p>
          <a:p/>
          <a:p>
            <a:r>
              <a:t>Zillow — крупнейший агрегатор объявлений о недвижимости в США. Компания запустила бизнес Zillow Offers: алгоритм Zestimate оценивал дом по открытым данным, Zillow покупала его почти мгновенно, делала минимальный ремонт и быстро перепродавала — без отдельного разговора с покупателем на этапе оценки.</a:t>
            </a:r>
          </a:p>
          <a:p/>
          <a:p>
            <a:r>
              <a:t>Второго ноября 2021 года CEO Рич Бартон объявил о закрытии этого бизнеса целиком. Его фраза стоит разбора слово в слово: «Мы определили, что непредсказуемость прогнозирования цен на жильё намного превышает то, что мы ожидали… наблюдаемая частота ошибок оказалась гораздо более волатильной, чем мы вообще считали возможным». Обратите внимание: речь не про отдельные неудачные сделки. Речь про саму частоту ошибок модели — она оказалась не той, что заложили в план.</a:t>
            </a:r>
          </a:p>
          <a:p/>
          <a:p>
            <a:r>
              <a:t>Масштаб убытка — из формы 10-K, которую компания обязана подать в SEC. Списание запасов — $304,4 млн за один квартал, $407,9 млн по итогам всего года. Сокращение штата — около четверти, это почти две тысячи человек. И отдельная цифра для масштаба: в том же квартале Zillow купила 9680 домов, а продать успела только 3032 — на круг это средний убыток порядка $80 000 на каждый объект, прошедший всю цепочку покупки и продажи.</a:t>
            </a:r>
          </a:p>
          <a:p/>
          <a:p>
            <a:r>
              <a:t>Это не разбор провала алгоритма как технологии — модель оценки работала, и на спокойном рынке работала бы и дальше. Вопрос другой: что в архитектуре решения было пропущено, если результат — закрытие целого направления бизнеса.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вопрос, который держит всю историю Zillow: смотрим на процесс, который привёл к списанию и сокращению штата, и выбираем, чего в нём не хватало.</a:t>
            </a:r>
          </a:p>
          <a:p/>
          <a:p>
            <a:r>
              <a:t>Только что на экране была цитата Бартона и сами цифры масштаба: списание $304,4 млн за один квартал, $407,9 млн по итогам года, сокращение штата на четверть — это почти две тысячи человек, и из 9680 домов, купленных в том же квартале, продано лишь 3032. Эти цифры показывают масштаб итога, не причину. Сегодняшний вопрос — не про то, что случилось, а про то, что в архитектуре решения было пропущено заранее, чтобы итог оказался именно таким.</a:t>
            </a:r>
          </a:p>
          <a:p/>
          <a:p>
            <a:r>
              <a:t>Четыре карточки. Первая — модель была плохо откалибрована: иначе говоря, сама оценка Zestimate считала неверно. Вторая — не было runtime-мониторинга дрейфа с автоматическим порогом остановки: иначе говоря, никто не следил в реальном времени за тем, насколько предсказания расходятся с фактом, и не было механизма, который сам бы остановил покупки при превышении порога. Третья — решение о покупке принималось без участия человека выше определённой суммы риска: крупные сделки утверждались без андеррайтера. Четвёртая — рынок жилья вёл себя непредсказуемо: внешние условия изменились сильнее ожиданий.</a:t>
            </a:r>
          </a:p>
          <a:p/>
          <a:p>
            <a:r>
              <a:t>Все четыре формулировки звучат правдоподобно, и в реальных системах встречаются все четыре типа проблем. Но для этой конкретной истории, Zillow 2021 года, не все четыре одинаково объясняют закрытие бизнеса. Один ответ описывает решающий сбой архитектуры, остальные три — либо неверны по факту, либо реальны, но не точка, где инженер мог вмешаться.</a:t>
            </a:r>
          </a:p>
          <a:p/>
          <a:p>
            <a:r>
              <a:t>Обратите внимание на форму самого вопроса — она та же, что у вопросов по каждому кейсу сегодняшнего занятия: карточки голые, без доводов за каждый вариант и без подсказки, какой из них правильный. Это не вопрос на знание термина «дрейф» или «андеррайтер» — все четыре формулировки звучат профессионально и ни одна не выглядит явно слабее других на первый взгляд. Это вопрос на то, какая из формулировок реально объясняет именно этот провал, а какие описывают правду вообще о системах с моделями внутри, но не правду про Zillow конкретно.</a:t>
            </a:r>
          </a:p>
          <a:p/>
          <a:p>
            <a:r>
              <a:t>Пятнадцать секунд, потом по рукам: какой из четырёх, по-вашему, главный?</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Руки подняты, голоса разделились — и это нормально для этого вопроса, потому что все четыре карточки действительно описывают реальные явления, которые случаются в системах с моделями внутри. Разбираем по порядку, и сразу скажу: три из четырёх карточек описывают настоящие явления, просто не все они — причина именно этого провала.</a:t>
            </a:r>
          </a:p>
          <a:p/>
          <a:p>
            <a:r>
              <a:t>Калибровка. Модель, которая оценивала дома, была откалибрована корректно — на исторически стабильных данных она вела себя предсказуемо. Это не та причина, из-за которой бизнес закрыли.</a:t>
            </a:r>
          </a:p>
          <a:p/>
          <a:p>
            <a:r>
              <a:t>Волатильность рынка. Пандемия действительно разогнала рынок жилья сильнее, чем кто-либо планировал — это реальный внешний фактор. Но на внешний фактор инженер влиять не может: рынком не управляют архитектурой процесса.</a:t>
            </a:r>
          </a:p>
          <a:p/>
          <a:p>
            <a:r>
              <a:t>Теперь решающая пара. Runtime-мониторинга не было. У модели, которая управляла закупкой недвижимости на сотни миллионов долларов, не было короткого окна контроля — часы или дни, достаточные, чтобы заметить резкий скачок частоты ошибок. Было только то, что обязывает закон: квартальная отчётность перед SEC. Это архив, не окно контроля — к моменту, когда цифры публикуются, деньги уже потрачены.</a:t>
            </a:r>
          </a:p>
          <a:p/>
          <a:p>
            <a:r>
              <a:t>Забегая вперёд: на следующем экране мы назовём эту вещь словом circuit breaker — это не наше изобретение, а устоявшийся термин из инженерии надёжности и из финансов, означает буквально «автоматический выключатель»: механизм, который сам останавливает процесс при превышении порога, не дожидаясь, пока человек заметит проблему и примет решение вручную. У Zillow такого выключателя не было вовсе — был только отчёт постфактум.</a:t>
            </a:r>
          </a:p>
          <a:p/>
          <a:p>
            <a:r>
              <a:t>И решение о покупке выше порога риска не было структурно привязано к человеку. Не к конкретному человеку персонально, а к самой позиции андеррайтера, который обязан посмотреть на крупную сделку своими глазами прежде, чем она пройдёт. Порог был — сформулирован, понятен, обсуждаем. Но решение всё равно принималось вероятностно, без структурной точки, где человек мог остановить конкретную покупку.</a:t>
            </a:r>
          </a:p>
          <a:p/>
          <a:p>
            <a:r>
              <a:t>Узнаёте форму? Это ровно то, что мы только что разобрали в третьем кейсе — только там ставка была один возврат клиенту, а здесь — каждая покупка дома. Масштаб другой, пропуск тот же самый.</a:t>
            </a:r>
          </a:p>
          <a:p/>
          <a:p>
            <a:r>
              <a:t>То, что сделал бы инженер на месте Zillow, — следующий экран. Сразу честно: это не наш стенд, демо здесь не будет, потому что прогонять живую покупку недвижимости нам негде и незачем — важна сама архитектура ответа, а не кнопка, по которой её можно щёлкнуть.</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Решения здесь нет на экране стенда — это не наш процесс, и ничего из этого мы не прогоняем вживую. Но архитектурный ответ стоит проговорить, потому что он тот же самый, что мы только что собрали на стенде в третьем кейсе, просто на другом масштабе.</a:t>
            </a:r>
          </a:p>
          <a:p/>
          <a:p>
            <a:r>
              <a:t>Напомню, что мы только что назвали решающим пропуском: не было короткого цикла мониторинга и не было человека-андеррайтера на крупных сделках. Значит, и ответ должен закрывать именно эти две дырки, а не что-то третье — не более аккуратную калибровку модели, которая и так была в порядке.</a:t>
            </a:r>
          </a:p>
          <a:p/>
          <a:p>
            <a:r>
              <a:t>У прежней схемы Zillow был один путь: алгоритм оценивает дом, покупка проходит при любой сумме, а узнать, что частота ошибок выросла, можно было только из квартальной отчётности перед SEC. Раз в квартал — это архив, не контроль.</a:t>
            </a:r>
          </a:p>
          <a:p/>
          <a:p>
            <a:r>
              <a:t>Альтернативная архитектура добавляет две вещи, и обе — структурные, не текстовые правила. Первая: выше определённого порога суммы или риска решение о покупке утверждает человек-андеррайтер. Дело не в том, что люди не ошибаются, — в том, что крупная сделка получает отдельную точку, где можно остановиться. Вторая: явный circuit breaker, который следит за отклонением фактической цены продажи от прогнозной и останавливает закупку при превышении порога, причём проверяется не раз в квартал — еженедельно или чаще, то есть достаточно часто, чтобы заметить проблему до того, как она накопится на тысячах домов.</a:t>
            </a:r>
          </a:p>
          <a:p/>
          <a:p>
            <a:r>
              <a:t>Общий принцип: для капиталоёмких автоматизированных решений дисциплина допустимого отклонения должна применяться не только к тому, работает ли сервис технически, но и к тому, насколько хорошо он прогнозирует прямо сейчас. Это и есть архитектура Кейса 3 — алгоритмический гейт вместо текстового правила. Только гейтом здесь была не одна операция возврата денег: гейтом была каждая покупка дома.</a:t>
            </a:r>
          </a:p>
          <a:p/>
          <a:p>
            <a:r>
              <a:t>Слово «error-budget» я не стал переводить специально: в инженерии надёжности это устоявшийся термин — допустимый бюджет ошибок, которым разрешено расходоваться прежде, чем система останавливается сама. Обычно этот бюджет считают для доступности сервиса: сколько минут простоя в месяц допустимо. Мысль здесь в том, что тот же самый принцип бюджета применим и к качеству предсказания — сколько неверных оценок в неделю допустимо, прежде чем закупку надо остановить и разобраться, а не ждать квартального отчёта.</a:t>
            </a:r>
          </a:p>
          <a:p/>
          <a:p>
            <a:r>
              <a:t>На следующем экране — критерий, который превращает это рассуждение в правило, применимое не только к Zillow.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собрали архитектурный ответ — андеррайтер и еженедельный circuit breaker вместо квартального отчёта. Критерий здесь — это тот же ответ, но превращённый в правило, применимое не только к домам Zillow, а к любому капиталоёмкому автоматизированному решению, которое окажется у вас на столе.</a:t>
            </a:r>
          </a:p>
          <a:p/>
          <a:p>
            <a:r>
              <a:t>Критерий, прямой формой, и в этот раз он звучит жёстче, чем обычно звучат наши критерии: если стоимость одной ошибки — десятки тысяч долларов реального капитала, а внешние условия показывают растущую волатильность, правильное действие — снижать объём автоматизированных решений до того, как модель подтвердит устойчивость к новому режиму. Не «подождём цифр за квартал, чтобы понять, стало хуже или нет» — квартал в капиталоёмком бизнесе означает, что решение уже принято тысячу раз.</a:t>
            </a:r>
          </a:p>
          <a:p/>
          <a:p>
            <a:r>
              <a:t>И вот прямая связка, ради которой этот разворот стоит именно здесь. Третий кейс этого занятия был про один возврат клиенту: порог суммы написан в тексте промпта, не в коде, и модель в измеренной доле случаев его нарушала. Zillow — ровно та же архитектурная дыра, только гейтом была не одна операция. Гейтом была каждая покупка дома. Цена пропущенного порога масштабируется вместе с масштабом процесса: учебный центр рискует одним неприятным разговором, а компания с миллиардной выручкой — четвертью штата.</a:t>
            </a:r>
          </a:p>
          <a:p/>
          <a:p>
            <a:r>
              <a:t>Если сопоставить масштабы напрямую: в нашем сегодняшнем кейсе порог измерялся в тысячах рублей на одну заявку и ошибка повторялась на 3 прогонах из 51. У Zillow порог риска измерялся суммой одной сделки по покупке дома, а не выявленная вовремя систематическая ошибка обошлась компании в $304,4 млн списания за один квартал и почти в две тысячи рабочих мест. Логика проверки одна и та же на обоих масштабах — отличается только то, что стоит на кону, если проверку не поставить.</a:t>
            </a:r>
          </a:p>
          <a:p/>
          <a:p>
            <a:r>
              <a:t>Если захочется разобрать эту же историю ещё раз, но другим взглядом: не как инженерный провал процесса — как провал эксплуатации готового продукта. У нас об этом есть отдельный разбор в пятой лекции курса.</a:t>
            </a:r>
          </a:p>
          <a:p/>
          <a:p>
            <a:r>
              <a:t>Возвращаемся к нашему сценарию. Дальше — снова учебный центр, и снова тот же вопрос, только теперь на бинарных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нашему учебному сценарию — Zillow была разворотом в сторону, а сегодняшний процесс всё это время никуда не девался. Четвёртый кейс начинается с пары утверждений, которые не должны быть одновременно верными — и всё-таки оба верны.</a:t>
            </a:r>
          </a:p>
          <a:p/>
          <a:p>
            <a:r>
              <a:t>Карточка с подтверждением собралась и ушла. Это первое утверждение, и оно проверяется журналом прогона: статус успешный, бинарные данные сформированы, узел отправки вернул от Telegram ответ без единой ошибки. Всё, что умеет проверить сам инструмент автоматизации, он проверил — и везде получил зелёный свет.</a:t>
            </a:r>
          </a:p>
          <a:p/>
          <a:p>
            <a:r>
              <a:t>В Telegram у координатора этой карточки нет. Это второе утверждение, и оно проверяется глазами человека, который открывает чат и видит, что сообщение либо не пришло вовсе, либо пришло обрезанным.</a:t>
            </a:r>
          </a:p>
          <a:p/>
          <a:p>
            <a:r>
              <a:t>Узнаёте форму? Мы уже видели её в первом кейсе — там узел не падал, а результат тихо был не тот. Здесь та же логика, только материал другой: впервые за занятие работаем с файлом, не с текстовым полем — картинкой, вложенной в сообщение.</a:t>
            </a:r>
          </a:p>
          <a:p/>
          <a:p>
            <a:r>
              <a:t>Смотрите на экран: два коротких утверждения, одно под другим, и оба — чистая правда об одном и том же прогоне. Не «или-или», а «и то, и то». Это ровно тот зазор, из-за которого сегодняшний вопрос вообще стоит задавать: журнал прогона и реальный результат у получателя — две разные вещи, и зелёный статус отвечает только за первую. Четыре кейса этого занятия, и в каждом мы спрашивали, кто принимает решение — модель или код. Здесь вопрос немного другой: не кто решает, а что вообще можно узнать по одному зелёному статусу прогона, если не проверить результат на той стороне, где его должен увидеть человек.</a:t>
            </a:r>
          </a:p>
          <a:p/>
          <a:p>
            <a:r>
              <a:t>Что между этими двумя утверждениями происходит на самом деле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Повод — тот же канал, что в первом кейсе, Telegram, но совсем другая просьба. Маркетинг посмотрел на сухое текстовое уведомление координатору и попросил карточку: имя заявителя и тема заявки, наложенные на картинку, — красивее, чем просто строка текста. Задача выглядит безобидно: это не решение, которое нужно гейтировать, не текст, который модель может сочинить криво, — просто другая форма того же самого уведомления.</a:t>
            </a:r>
          </a:p>
          <a:p/>
          <a:p>
            <a:r>
              <a:t>Цепочка выросла на три шага. Было: текст уведомления собирается и уходит. Стало: текст идёт в узел, который накладывает его на картинку, картинка форматируется под бинарные данные, и только после этого уходит отправка в Telegram — уже не текстовым сообщением: вложением. Три новых узла, три новых места, где что-то может пойти не так, и ни одно из них мы раньше в этом занятии не трогали: до сих пор весь процесс работал только со строками и числами в полях заявки.</a:t>
            </a:r>
          </a:p>
          <a:p/>
          <a:p>
            <a:r>
              <a:t>Смотрим журнал прогона. Статус успешный. Бинарные данные сформированы — узел наложения текста отработал. И узел отправки вернул от Telegram API ответ без единой ошибки.</a:t>
            </a:r>
          </a:p>
          <a:p/>
          <a:p>
            <a:r>
              <a:t>А координатор открывает свой чат и либо не видит сообщения вовсе, либо видит его обрезанным — часть картинки просто отсутствует.</a:t>
            </a:r>
          </a:p>
          <a:p/>
          <a:p>
            <a:r>
              <a:t>Оба факта настоящие одновременно: прогон технически успешен, и результат до человека не дошёл в ожидаемом виде. Это ровно тот же контракт между шагами, который мы уже видели рвущимся в первом кейсе — там узел не падал, а в сообщении появлялась деталь, которой не было в заявке. Разница в том, что там рвался текст, а здесь — формат и размер файла. Узел отправки не обязан был упасть, чтобы результат оказался неверным.</a:t>
            </a:r>
          </a:p>
          <a:p/>
          <a:p>
            <a:r>
              <a:t>Что именно здесь ломается — следующий вопрос.</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про то, что мы только что увидели на конкретной карточке, только теперь — в общем виде. Там была одна картинка, один прогон, один результат; сейчас нужно угадать правило, которое объясняет любой такой случай, а не только тот, что мы разобрали.</a:t>
            </a:r>
          </a:p>
          <a:p/>
          <a:p>
            <a:r>
              <a:t>Что происходит, если картинка в цепочке весит больше лимита?</a:t>
            </a:r>
          </a:p>
          <a:p/>
          <a:p>
            <a:r>
              <a:t>Первая карточка: n8n обрежет картинку сама, чтобы она прошла — иначе говоря, сама платформа автоматизации возьмёт на себя сжатие, и о проблеме можно не думать вовсе. Вторая: узел отправки вернёт явную ошибку о превышении размера — иначе говоря, если что-то пойдёт не так, об этом сразу станет известно по упавшему узлу в журнале. Третья: прогон останется зелёным, а получатель просто не увидит вложение — иначе говоря, инструмент отрапортует об успехе, даже если результат до человека не дошёл. Четвёртая: Telegram сам сожмёт картинку на своей стороне — иначе говоря, ответственность лежит не на нашей цепочке, а на канале доставки, который сам разберётся с лишним весом файла.</a:t>
            </a:r>
          </a:p>
          <a:p/>
          <a:p>
            <a:r>
              <a:t>Все четыре звучат как разумное, страхующее поведение инструмента — и ровно поэтому стоит выбирать осторожно. Платформы часто ведут себя по-разному на разных рубежах одного и того же ограничения, и то, что кажется автоматической защитой, на практике может оказаться совсем не тем, что вы увидите в журнале прогона.</a:t>
            </a:r>
          </a:p>
          <a:p/>
          <a:p>
            <a:r>
              <a:t>Подсказка, прежде чем решать: на предыдущем экране мы уже видели, что узел отправки отработал без единой ошибки, а сообщение всё равно не дошло до координатора в целом виде. Держите эту картинку перед глазами, пока выбираете между четырьмя карточками — ответ должен объяснять именно её, а не поведение платформы в общем случае.</a:t>
            </a:r>
          </a:p>
          <a:p/>
          <a:p>
            <a:r>
              <a:t>Пятнадцать секунд,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по порядку, и снова — не все четыре варианта равноценны, хотя все четыре правдоподобны.</a:t>
            </a:r>
          </a:p>
          <a:p/>
          <a:p>
            <a:r>
              <a:t>n8n обрежет картинку сама. Нет: платформа сама по себе не производит автоматическое сжатие бинарных данных. Превышение лимита решает конкретный узел и конкретный API, через которые данные идут дальше по цепочке, не n8n как инструмент вообще.</a:t>
            </a:r>
          </a:p>
          <a:p/>
          <a:p>
            <a:r>
              <a:t>Узел отправки вернёт явную ошибку о превышении размера. Отчасти: часть ошибок действительно приходит явным кодом от API, но не все. Зависит от того, на каком именно рубеже превышен лимит — собственном лимите n8n по умолчанию на размер всего payload или отдельном, более узком лимите самого Telegram на конкретный тип вложения.</a:t>
            </a:r>
          </a:p>
          <a:p/>
          <a:p>
            <a:r>
              <a:t>Прогон останется зелёным, а получатель просто не увидит вложение. Именно это и произошло в нашей постановке. Узел технически отработал, вернул успешный ответ — и результат не соответствует тому, что ожидал координатор. Самая неприятная из четырёх карточек, потому что её невозможно заметить по журналу: там всё чисто.</a:t>
            </a:r>
          </a:p>
          <a:p/>
          <a:p>
            <a:r>
              <a:t>Telegram сам сожмёт картинку на своей стороне. Нет, не надёжно. У Telegram собственные лимиты на размер и формат файла, и они разные для фото и для документа. Но ответственность за то, чтобы отправка соответствовала этим лимитам, лежит на отправляющем узле — то есть на нашей цепочке, не на автоматическом сжатии получателя.</a:t>
            </a:r>
          </a:p>
          <a:p/>
          <a:p>
            <a:r>
              <a:t>Поворот, ради которого стоило разбирать. Мы уже видели этот паттерн в первом кейсе этого занятия: узел модели не падал, а текст уведомления тихо содержал деталь, которой не было в заявке. Здесь — та же логика, только перенесённая на бинарные данные: молчит теперь не текстовое поле — формат и размер вложения. Формально успешный прогон снова ничего не говорит о том, дошёл ли результат до получателя так, как ожидалось.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разобрали, какая из четырёх карточек описывает реальность: прогон остаётся зелёным, а получатель может вложение просто не увидеть. Прежде чем смотреть на прогон — взгляд на саму цепочку, потому что в ней появился новый тип данных, и у него другие правила.</a:t>
            </a:r>
          </a:p>
          <a:p/>
          <a:p>
            <a:r>
              <a:t>Четыре шага подряд. Текст — имя заявителя и тема заявки, те же значения, что мы уже извлекали раньше. Дальше — узел, который накладывает этот текст на картинку. Дальше — форматирование результата под бинарные данные: с этого момента в цепочке не строка и не число. Файл. И последний шаг — отправка в Telegram с этим файлом как вложением.</a:t>
            </a:r>
          </a:p>
          <a:p/>
          <a:p>
            <a:r>
              <a:t>До сих пор весь процесс работал с JSON-полями: строка, число, значение из справочника. Файл — это другая модель данных целиком, и у неё есть собственные правила, которые ни один из предыдущих трёх кейсов не затрагивал.</a:t>
            </a:r>
          </a:p>
          <a:p/>
          <a:p>
            <a:r>
              <a:t>Первое правило — лимит самой платформы n8n. У неё есть собственный payload limit по умолчанию: шестнадцать мегабайт на весь объём данных, которые проходят через узел. Это факт самого инструмента, не настройка, которую вы задаёте сами.</a:t>
            </a:r>
          </a:p>
          <a:p/>
          <a:p>
            <a:r>
              <a:t>Второе правило — отдельный лимит Telegram, и он уже лимита n8n и разный для разных типов вложения: у фотографии один потолок, у документа другой.</a:t>
            </a:r>
          </a:p>
          <a:p/>
          <a:p>
            <a:r>
              <a:t>Вот откуда рождается ловушка. Файл может легко пройти мимо лимита n8n — он меньше шестнадцати мегабайт — и всё равно не пройти мимо более узкого лимита Telegram на конкретный тип отправки. Два независимых порога, не один общий, и зная только один из них, вы не знаете ничего.</a:t>
            </a:r>
          </a:p>
          <a:p/>
          <a:p>
            <a:r>
              <a:t>И здесь же стоит сразу назвать разницу между фото и документом внутри самого Telegram, потому что она реальная, не наша придумка: канал для фотографии рассчитан на один набор размеров, канал для документа — на другой, и если отправлять одно и то же изображение по-разному, можно получить разный исход на одном и том же файле. Это ещё одна причина, почему «лимит Telegram» не одно число, а по меньшей мере два, и прежде чем строить цепочку с вложением, стоит выяснить оба.</a:t>
            </a:r>
          </a:p>
          <a:p/>
          <a:p>
            <a:r>
              <a:t>Теперь прогоняем через эту цепочку два примера: обычный размер и намеренно большой — и смотрим, где именно каждый из них остановится или пройдёт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прогона, оба настоящие, оба с реального стенда.</a:t>
            </a:r>
          </a:p>
          <a:p/>
          <a:p>
            <a:r>
              <a:t>Первый — execution 52. На вход взяли обычную картинку: восемьсот на четыреста пятьдесят пикселей, с открытого сервиса заглушек изображений. Цепочка прошла целиком: текст наложился, бинарные данные сформировались, Telegram принял фото — и оно действительно появилось в чате. Обычный размер, обычный результат, ничего неожиданного.</a:t>
            </a:r>
          </a:p>
          <a:p/>
          <a:p>
            <a:r>
              <a:t>Второй пример устроен иначе, и честно скажу, как мы его получили. Мы собрали несжатый JPEG размером двенадцать миллионов восемьсот двенадцать тысяч триста пятьдесят пять байт — это чуть больше двенадцати мегабайт, то есть меньше лимита n8n в шестнадцать мегабайт, но больше лимита Telegram на фотографию в десять. Отправить его через сам процесс n8n не получилось технически в момент проверки — не было доступного временного хостинга, чтобы подать файл такого размера через узел запроса. Поэтому проверили напрямую через Telegram Bot API, тем же файлом, тем же вызовом отправки фото. И получили настоящий ответ, слово в слово: файл такого размера слишком велик для фотографии, максимальный размер — десять миллионов четыреста восемьдесят пять тысяч семьсот шестьдесят байт.</a:t>
            </a:r>
          </a:p>
          <a:p/>
          <a:p>
            <a:r>
              <a:t>Вот что это уточняет в нашем разборе. Мы предполагали тихую потерю — прогон зелёный, а вложение не дошло. На самом рубеже размера, который держит сам Telegram, ответ оказался явным, не тихим. Тихая потеря вероятнее там, где лимит n8n по умолчанию, или при обычном сетевом сбое, — не на стороне самого Telegram API, у которого есть чёткая граница и чёткое сообщение об ошибке.</a:t>
            </a:r>
          </a:p>
          <a:p/>
          <a:p>
            <a:r>
              <a:t>Значит, следить нужно за обоими рубежами отдельно: один из них ответит вам прямо, а другой может промолчать.</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видели два прогона на стенде — обычный размер прошёл целиком, намеренно большой уткнулся в явную ошибку Telegram. Обобщаем, и первая фраза здесь — самая важная за весь кейс: бинарные данные в n8n — это отдельная модель данных от JSON-полей, не просто ещё одно значение в поле. С текстом, числом, значением из справочника мы работали весь сегодняшний день одним и тем же способом. Файл живёт по другим правилам: у него есть размер, формат, и способ, которым он проходит через узел, отличается от способа, которым проходит строка.</a:t>
            </a:r>
          </a:p>
          <a:p/>
          <a:p>
            <a:r>
              <a:t>И контракт между шагами, который мы уже видели рвущимся в первом кейсе, здесь рвётся снова — просто на другом материале. Там узел не падал, а текст уведомления тихо содержал деталь, которой не было в заявке. Здесь узел тоже не падает, но формат и размер вложения оказываются не тем, что нужно получателю. Причина одна и та же в обоих случаях: формально успешный прогон ничего не говорит о том, дошёл ли результат до получателя в ожидаемом виде. Зелёный статус — это проверка формы, не проверка смысла и не проверка результата у получателя.</a:t>
            </a:r>
          </a:p>
          <a:p/>
          <a:p>
            <a:r>
              <a:t>И здесь стоит назвать границу прямо, потому что иначе в голове останется ощущение незаконченности. Это занятие вводит бинарные данные на самом базовом уровне: один файл, один лимит, одна отправка. Всё, что сложнее — хранение множества файлов, поиск среди них, обработка содержимого моделью, то, что называется работой с векторными хранилищами и поиском по картинкам, — за рамками сегодняшнего разговора. Это задача следующего уровня, и она ждёт нас на десятом занятии, когда цепочка научится работать не с одним файлом — с целой библиотекой.</a:t>
            </a:r>
          </a:p>
          <a:p/>
          <a:p>
            <a:r>
              <a:t>Критерий, который превращает это обобщение в правило для вашей собственной работы, — следующий экран: когда об этом контракте нужно заботиться всегда, а что остаётся за пределами сегодняшнего уровня.</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Критерий, прямой формой, и в этот раз он почти не про выбор — скорее про то, что нужно делать всегда, и где заканчивается сегодняшний уровень.</a:t>
            </a:r>
          </a:p>
          <a:p/>
          <a:p>
            <a:r>
              <a:t>Нужно всегда заботиться о бинарных данных как об отдельном контракте, если в цепочке передаётся файл или изображение — не только текстовые поля. Внутри этого — две конкретные вещи: проверка размера перед отправкой, и знание лимита именно канала доставки, отдельно от лимита самой платформы n8n. Мы только что увидели, почему это два разных числа, не одно.</a:t>
            </a:r>
          </a:p>
          <a:p/>
          <a:p>
            <a:r>
              <a:t>Не требует этого занятия ничего сверх базового уровня. Хранение множества файлов, поиск среди них, обработка содержимого моделью — то, что называется векторным хранилищем и поиском по изображениям, — задача следующего уровня, не вводного. Если у вас сегодня один файл на один прогон — вам хватит того, что мы разобрали.</a:t>
            </a:r>
          </a:p>
          <a:p/>
          <a:p>
            <a:r>
              <a:t>Три нюанса, которые стоит держать в голове при отладке своих процессов. Первый: собственный лимит n8n по умолчанию — шестнадцать мегабайт. Для фотографии с небольшим текстом этого обычно достаточно, но скан документа или снимок высокого разрешения прямо с телефона — не всегда, и об этом стоит вспомнить до того, как процесс встанет в работу.</a:t>
            </a:r>
          </a:p>
          <a:p/>
          <a:p>
            <a:r>
              <a:t>Второй: лимиты Telegram — отдельный и более узкий потолок, чем у n8n, и они разные для фото и для документа. То, что прошло мимо одного лимита, может не пройти мимо другого — мы только что видели это на настоящей ошибке.</a:t>
            </a:r>
          </a:p>
          <a:p/>
          <a:p>
            <a:r>
              <a:t>Третий: ручной прогон на стенде потребляет заметно больше памяти, чем автоматический — факт, уже знакомый вам по прошлому занятию. Для узла с текстовыми полями разница была не критична. Для узла с бинарными данными — заметнее, и стоит иметь это в уме, когда отлаживаете процесс вживую, не в журнале прошлых прогонов.</a:t>
            </a:r>
          </a:p>
          <a:p/>
          <a:p>
            <a:r>
              <a:t>Закрываем четвёртую строку оси. Картинка собралась и ушла в Telegram — выглядело успехом: журнал зелёный, API ответил без ошибки. Чем оказалось: в цепочке не было гейта в коде — узла, который детерминированно сравнивает размер файла с лимитом канала ДО отправки и останавливает или явно эскалирует то, что не пройдёт. Без этого узла большой файл либо уходит не полностью, либо не уходит вовсе, а прогон всё равно остаётся зелёным. Это тот же тезис, что в Кейсе 3, только решение там было про текст и число, а здесь — про файл и его размер: гейт — архитектура, а не зелёный статус прогона.</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заполняли её не мои слова. То, что мы видели на реальных прогонах.</a:t>
            </a:r>
          </a:p>
          <a:p/>
          <a:p>
            <a:r>
              <a:t>Первая строка: сообщение ушло координатору, цепочка выглядит короче и дешевле без лишнего вызова модели. Чем оказалось: LLM здесь был просто лишним шагом — ту же самую работу, подстановку значений в фиксированную форму, делает шаблон без единого вызова модели, быстрее и без риска сочинить деталь, которой не было в заявке.</a:t>
            </a:r>
          </a:p>
          <a:p/>
          <a:p>
            <a:r>
              <a:t>Вторая: заявка про тот же вопрос пришла снова, и мы обработали её как новую. Чем оказалось: без проверки на дубль каждое повторное обращение запускает цепочку с нуля — и мы увидели, что механическая проверка и смысловая проверка решают разные задачи — за звание «лучшей» они друг с другом не конкурируют.</a:t>
            </a:r>
          </a:p>
          <a:p/>
          <a:p>
            <a:r>
              <a:t>Третья, самая весомая: в промпте написано «не возвращай больше суммы X», и всё это время считалось рабочим правилом. Чем оказалось: решение, выраженное текстом, вероятностное — модель обходит правило в измеренной доле прогонов, и мы это не предположили — измерили на пятидесяти одном запросе. Алгоритмический гейт — числовое условие в коде — не ошибся ни разу. И мы видели, что та же самая архитектурная дыра, только на масштабе целой компании, стоила Zillow четверти штата.</a:t>
            </a:r>
          </a:p>
          <a:p/>
          <a:p>
            <a:r>
              <a:t>Четвёртая: картинка собралась и ушла в Telegram, прогон зелёный. Чем оказалось: ровно как в третьей строке, здесь не было гейта в коде — узла, который детерминированно сравнивает размер файла с лимитом канала до отправки. Без него файл либо уходит не полностью, либо не уходит вовсе, и статус прогона всё равно остаётся успешным — та же архитектурная дыра, что и с порогом возврата, только на бинарных данных вместо числа.</a:t>
            </a:r>
          </a:p>
          <a:p/>
          <a:p>
            <a:r>
              <a:t>Теперь главный вопрос занятия, тот самый, с которого мы начинали: где в цепочке решение принимает модель, а где должен — код, и что молчит, когда эту границу не назвали явно?</a:t>
            </a:r>
          </a:p>
          <a:p/>
          <a:p>
            <a:r>
              <a:t>Каждая из четырёх строк — это один и тот же вопрос, заданный разным шагам одной и той же цепочки. И молчит в каждом случае одно и то же: статус прогона. Он зелёный и в тот момент, когда всё действительно сработало, и в тот момент, когда граница между моделью и кодом была пропущена.</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что уносим с занятия, честно — включая то, чего прямо сейчас ещё нет у вас в руках.</a:t>
            </a:r>
          </a:p>
          <a:p/>
          <a:p>
            <a:r>
              <a:t>Файл — тот же </a:t>
            </a:r>
            <a:r>
              <a:rPr>
                <a:latin typeface="Consolas"/>
              </a:rPr>
              <a:t>student.json</a:t>
            </a:r>
            <a:r>
              <a:t>, с которым вы ушли с прошлого занятия, только с четырьмя новыми узлами. Соберём его и выложим после того, как доведём стенд этого занятия до конца. Не сегодня на экране — отдельным шагом следом, и говорю это прямо, без красивой карточки с несуществующим именем файла.</a:t>
            </a:r>
          </a:p>
          <a:p/>
          <a:p>
            <a:r>
              <a:t>Что добавляется поверх прежнего процесса. Узел-шаблон уведомления в Telegram — тот самый, что заменяет лишний вызов модели из первого кейса сегодняшнего занятия. Узел дедупликации перед записью — двухступенчатая проверка из второго кейса. Учебная параллельная ветка обработки возврата денег — та самая пара процессов, которую мы прогоняли в третьем кейсе, оставлена как демонстрация, не как рабочий модуль вашего реального процесса: решение между моделью и кодом вы примете сами, под свою задачу. И узел доставки картинки — наложение текста на изображение и отправка вложения, то, что мы разбирали последним.</a:t>
            </a:r>
          </a:p>
          <a:p/>
          <a:p>
            <a:r>
              <a:t>Ставится тем же способом, что и в прошлый раз: меню сценария, импорт из файла. Со своей стороны нужно то же самое, что и после прошлого занятия: свой n8n, ключ провайдера модели, и тот же бот Telegram, который вы уже настраивали для первого уведомления.</a:t>
            </a:r>
          </a:p>
          <a:p/>
          <a:p>
            <a:r>
              <a:t>Просьба на дом — не письменная и не проверяемая. Поставьте файл, прогоните на заявках, похожих на вашу настоящую работу, и для каждого нового шага — уведомления, проверки дубля, картинки — задайте себе один и тот же вопрос, с которого началось сегодняшнее занятие: это решает модель, или это должен решать код?</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хватает.</a:t>
            </a:r>
          </a:p>
          <a:p/>
          <a:p>
            <a:r>
              <a:t>Сейчас у нас одна дорога для любого входа. Заявка про уведомление, заявка про дубль, заявка про возврат, заявка с картинкой — каждая проходит ровно тот набор шагов, который мы для неё собрали, и ни одна не выбирает себе путь сама. Сегодня это было нормально: мы разбирали устройство каждого отдельного шага, не то, как между ними выбирать дорогу.</a:t>
            </a:r>
          </a:p>
          <a:p/>
          <a:p>
            <a:r>
              <a:t>Если собрать все четыре кейса сегодняшнего занятия в одну мысль: в каждом из них решение можно было по ошибке отдать не тому — модели там, где хватало шаблона, механической проверке там, где нужен был смысл, тексту правила там, где нужен был код, и зелёному статусу там, где нужна была проверка у получателя. Четыре разные формы одной и той же ошибки: решение принял не тот участник цепочки, который должен был его принимать.</a:t>
            </a:r>
          </a:p>
          <a:p/>
          <a:p>
            <a:r>
              <a:t>Но как только у цепочки появляется больше одного пути — а в реальной работе это почти всегда так, — встаёт новый вопрос: как устроено ветвление, и чем условие отличается от переключателя. Это первая тема следующего занятия.</a:t>
            </a:r>
          </a:p>
          <a:p/>
          <a:p>
            <a:r>
              <a:t>Вторая — классификация как шаг самой цепочки, не отдельная тема сама по себе: вы уже видели, как модель или код определяют значение поля, на следующем занятии это значение станет условием, по которому поедет заявка.</a:t>
            </a:r>
          </a:p>
          <a:p/>
          <a:p>
            <a:r>
              <a:t>Третья — ветка по умолчанию: что делать с тем, что не подошло ни под один из названных путей. Четвёртая — слияние: как развилка, разошедшаяся на несколько веток, снова собирается в одну.</a:t>
            </a:r>
          </a:p>
          <a:p/>
          <a:p>
            <a:r>
              <a:t>И отдельным разворотом — снова компания, не учебный процесс: история Optum и IRS, тот же масштаб, что сегодня был у Zillow.</a:t>
            </a:r>
          </a:p>
          <a:p/>
          <a:p>
            <a:r>
              <a:t>На этом заканчиваем — продолжение в следующий раз.</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Семинар 8 — Где решает модель, а где должен решать код</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Дуга процессов на языковых моделях: занятие второе из шести.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Шов с Семинаром 7: входное состояние</a:t>
            </a:r>
          </a:p>
        </p:txBody>
      </p:sp>
      <p:sp>
        <p:nvSpPr>
          <p:cNvPr id="3" name="Rounded Rectangle 2"/>
          <p:cNvSpPr/>
          <p:nvPr/>
        </p:nvSpPr>
        <p:spPr>
          <a:xfrm>
            <a:off x="502920" y="213817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26618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Request</a:t>
            </a:r>
            <a:r>
              <a:rPr sz="1500" b="1" i="0">
                <a:solidFill>
                  <a:srgbClr val="141B2E"/>
                </a:solidFill>
                <a:latin typeface="Arial"/>
              </a:rPr>
              <a:t> </a:t>
            </a:r>
            <a:r>
              <a:rPr sz="1500" b="1" i="0">
                <a:solidFill>
                  <a:srgbClr val="141B2E"/>
                </a:solidFill>
                <a:latin typeface="Consolas"/>
              </a:rPr>
              <a:t>form</a:t>
            </a:r>
            <a:r>
              <a:rPr sz="1500" b="1" i="0">
                <a:solidFill>
                  <a:srgbClr val="141B2E"/>
                </a:solidFill>
                <a:latin typeface="Arial"/>
              </a:rPr>
              <a:t> → </a:t>
            </a:r>
            <a:r>
              <a:rPr sz="1500" b="1" i="0">
                <a:solidFill>
                  <a:srgbClr val="141B2E"/>
                </a:solidFill>
                <a:latin typeface="Consolas"/>
              </a:rPr>
              <a:t>Extract</a:t>
            </a:r>
            <a:r>
              <a:rPr sz="1500" b="1" i="0">
                <a:solidFill>
                  <a:srgbClr val="141B2E"/>
                </a:solidFill>
                <a:latin typeface="Arial"/>
              </a:rPr>
              <a:t> </a:t>
            </a:r>
            <a:r>
              <a:rPr sz="1500" b="1" i="0">
                <a:solidFill>
                  <a:srgbClr val="141B2E"/>
                </a:solidFill>
                <a:latin typeface="Consolas"/>
              </a:rPr>
              <a:t>fields</a:t>
            </a:r>
            <a:r>
              <a:rPr sz="1500" b="1" i="0">
                <a:solidFill>
                  <a:srgbClr val="141B2E"/>
                </a:solidFill>
                <a:latin typeface="Arial"/>
              </a:rPr>
              <a:t> (+ </a:t>
            </a:r>
            <a:r>
              <a:rPr sz="1500" b="1" i="0">
                <a:solidFill>
                  <a:srgbClr val="141B2E"/>
                </a:solidFill>
                <a:latin typeface="Consolas"/>
              </a:rPr>
              <a:t>Model</a:t>
            </a:r>
            <a:r>
              <a:rPr sz="1500" b="1" i="0">
                <a:solidFill>
                  <a:srgbClr val="141B2E"/>
                </a:solidFill>
                <a:latin typeface="Arial"/>
              </a:rPr>
              <a:t>) → </a:t>
            </a:r>
            <a:r>
              <a:rPr sz="1500" b="1" i="0">
                <a:solidFill>
                  <a:srgbClr val="141B2E"/>
                </a:solidFill>
                <a:latin typeface="Consolas"/>
              </a:rPr>
              <a:t>Vocabulary</a:t>
            </a:r>
            <a:r>
              <a:rPr sz="1500" b="1" i="0">
                <a:solidFill>
                  <a:srgbClr val="141B2E"/>
                </a:solidFill>
                <a:latin typeface="Arial"/>
              </a:rPr>
              <a:t> </a:t>
            </a:r>
            <a:r>
              <a:rPr sz="1500" b="1" i="0">
                <a:solidFill>
                  <a:srgbClr val="141B2E"/>
                </a:solidFill>
                <a:latin typeface="Consolas"/>
              </a:rPr>
              <a:t>check</a:t>
            </a:r>
            <a:r>
              <a:rPr sz="1500" b="1" i="0">
                <a:solidFill>
                  <a:srgbClr val="141B2E"/>
                </a:solidFill>
                <a:latin typeface="Arial"/>
              </a:rPr>
              <a:t> →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Ветка отказа на </a:t>
            </a:r>
            <a:r>
              <a:rPr sz="1500" b="1" i="0">
                <a:solidFill>
                  <a:srgbClr val="141B2E"/>
                </a:solidFill>
                <a:latin typeface="Consolas"/>
              </a:rPr>
              <a:t>Extract</a:t>
            </a:r>
            <a:r>
              <a:rPr sz="1500" b="1" i="0">
                <a:solidFill>
                  <a:srgbClr val="141B2E"/>
                </a:solidFill>
                <a:latin typeface="Arial"/>
              </a:rPr>
              <a:t> </a:t>
            </a:r>
            <a:r>
              <a:rPr sz="1500" b="1" i="0">
                <a:solidFill>
                  <a:srgbClr val="141B2E"/>
                </a:solidFill>
                <a:latin typeface="Consolas"/>
              </a:rPr>
              <a:t>fields</a:t>
            </a:r>
            <a:r>
              <a:rPr sz="1500" b="1" i="0">
                <a:solidFill>
                  <a:srgbClr val="141B2E"/>
                </a:solidFill>
                <a:latin typeface="Arial"/>
              </a:rPr>
              <a:t>: повтор попыток → </a:t>
            </a:r>
            <a:r>
              <a:rPr sz="1500" b="1" i="0">
                <a:solidFill>
                  <a:srgbClr val="141B2E"/>
                </a:solidFill>
                <a:latin typeface="Consolas"/>
              </a:rPr>
              <a:t>Write</a:t>
            </a:r>
            <a:r>
              <a:rPr sz="1500" b="1" i="0">
                <a:solidFill>
                  <a:srgbClr val="141B2E"/>
                </a:solidFill>
                <a:latin typeface="Arial"/>
              </a:rPr>
              <a:t> </a:t>
            </a:r>
            <a:r>
              <a:rPr sz="1500" b="1" i="0">
                <a:solidFill>
                  <a:srgbClr val="141B2E"/>
                </a:solidFill>
                <a:latin typeface="Consolas"/>
              </a:rPr>
              <a:t>row</a:t>
            </a:r>
            <a:r>
              <a:rPr sz="1500" b="1" i="0">
                <a:solidFill>
                  <a:srgbClr val="141B2E"/>
                </a:solidFill>
                <a:latin typeface="Arial"/>
              </a:rPr>
              <a:t>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not</a:t>
            </a:r>
            <a:r>
              <a:rPr sz="1500" b="1" i="0">
                <a:solidFill>
                  <a:srgbClr val="141B2E"/>
                </a:solidFill>
                <a:latin typeface="Arial"/>
              </a:rPr>
              <a:t> </a:t>
            </a:r>
            <a:r>
              <a:rPr sz="1500" b="1" i="0">
                <a:solidFill>
                  <a:srgbClr val="141B2E"/>
                </a:solidFill>
                <a:latin typeface="Consolas"/>
              </a:rPr>
              <a:t>parsed</a:t>
            </a:r>
            <a:r>
              <a:rPr sz="1500" b="1" i="0">
                <a:solidFill>
                  <a:srgbClr val="141B2E"/>
                </a:solidFill>
                <a:latin typeface="Arial"/>
              </a:rPr>
              <a:t> (</a:t>
            </a:r>
            <a:r>
              <a:rPr sz="1500" b="1" i="0">
                <a:solidFill>
                  <a:srgbClr val="141B2E"/>
                </a:solidFill>
                <a:latin typeface="Consolas"/>
              </a:rPr>
              <a:t>status</a:t>
            </a:r>
            <a:r>
              <a:rPr sz="1500" b="1" i="0">
                <a:solidFill>
                  <a:srgbClr val="141B2E"/>
                </a:solidFill>
                <a:latin typeface="Arial"/>
              </a:rPr>
              <a:t>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not_parsed</a:t>
            </a:r>
            <a:r>
              <a:rPr sz="1500" b="1" i="0">
                <a:solidFill>
                  <a:srgbClr val="141B2E"/>
                </a:solidFill>
                <a:latin typeface="Arial"/>
              </a:rPr>
              <a:t>) → </a:t>
            </a:r>
            <a:r>
              <a:rPr sz="1500" b="1" i="0">
                <a:solidFill>
                  <a:srgbClr val="141B2E"/>
                </a:solidFill>
                <a:latin typeface="Consolas"/>
              </a:rPr>
              <a:t>Result</a:t>
            </a:r>
            <a:r>
              <a:rPr sz="1500" b="1" i="0">
                <a:solidFill>
                  <a:srgbClr val="141B2E"/>
                </a:solidFill>
                <a:latin typeface="Arial"/>
              </a:rPr>
              <a:t> </a:t>
            </a:r>
            <a:r>
              <a:rPr sz="1500" b="1" i="0">
                <a:solidFill>
                  <a:srgbClr val="141B2E"/>
                </a:solidFill>
                <a:latin typeface="Consolas"/>
              </a:rPr>
              <a:t>screen</a:t>
            </a:r>
            <a:r>
              <a:rPr sz="1500" b="1" i="0">
                <a:solidFill>
                  <a:srgbClr val="141B2E"/>
                </a:solidFill>
                <a:latin typeface="Arial"/>
              </a:rPr>
              <a:t>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not</a:t>
            </a:r>
            <a:r>
              <a:rPr sz="1500" b="1" i="0">
                <a:solidFill>
                  <a:srgbClr val="141B2E"/>
                </a:solidFill>
                <a:latin typeface="Arial"/>
              </a:rPr>
              <a:t> </a:t>
            </a:r>
            <a:r>
              <a:rPr sz="1500" b="1" i="0">
                <a:solidFill>
                  <a:srgbClr val="141B2E"/>
                </a:solidFill>
                <a:latin typeface="Consolas"/>
              </a:rPr>
              <a:t>parsed</a:t>
            </a:r>
          </a:p>
        </p:txBody>
      </p:sp>
      <p:sp>
        <p:nvSpPr>
          <p:cNvPr id="5" name="Rounded Rectangle 4"/>
          <p:cNvSpPr/>
          <p:nvPr/>
        </p:nvSpPr>
        <p:spPr>
          <a:xfrm>
            <a:off x="502920" y="37886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166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Ни один узел не добавлен и не переименован — это то же самое окно, в котором вы закончили прошлое занятие.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Напоминание: лестница дуги</a:t>
            </a:r>
          </a:p>
        </p:txBody>
      </p:sp>
      <p:pic>
        <p:nvPicPr>
          <p:cNvPr id="3" name="Picture 2" descr="lestnitsa-dugi.png"/>
          <p:cNvPicPr>
            <a:picLocks noChangeAspect="1"/>
          </p:cNvPicPr>
          <p:nvPr/>
        </p:nvPicPr>
        <p:blipFill>
          <a:blip r:embed="rId2"/>
          <a:stretch>
            <a:fillRect/>
          </a:stretch>
        </p:blipFill>
        <p:spPr>
          <a:xfrm>
            <a:off x="502920" y="1209324"/>
            <a:ext cx="11183112" cy="3541318"/>
          </a:xfrm>
          <a:prstGeom prst="rect">
            <a:avLst/>
          </a:prstGeom>
        </p:spPr>
      </p:pic>
      <p:sp>
        <p:nvSpPr>
          <p:cNvPr id="4" name="Rounded Rectangle 3"/>
          <p:cNvSpPr/>
          <p:nvPr/>
        </p:nvSpPr>
        <p:spPr>
          <a:xfrm>
            <a:off x="502920" y="541815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54617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лестница, что в прошлый раз. Золотая ступень — там же, где была.</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a:t>
            </a:r>
          </a:p>
        </p:txBody>
      </p:sp>
      <p:sp>
        <p:nvSpPr>
          <p:cNvPr id="3" name="Rounded Rectangle 2"/>
          <p:cNvSpPr/>
          <p:nvPr/>
        </p:nvSpPr>
        <p:spPr>
          <a:xfrm>
            <a:off x="502920" y="1743913"/>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6793"/>
            <a:ext cx="753157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8363683" y="1926793"/>
            <a:ext cx="29931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2208860"/>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Rounded Rectangle 6"/>
          <p:cNvSpPr/>
          <p:nvPr/>
        </p:nvSpPr>
        <p:spPr>
          <a:xfrm>
            <a:off x="8381971" y="2282012"/>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25560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6014"/>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Rounded Rectangle 9"/>
          <p:cNvSpPr/>
          <p:nvPr/>
        </p:nvSpPr>
        <p:spPr>
          <a:xfrm>
            <a:off x="8381971" y="2629166"/>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9031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03169"/>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Rounded Rectangle 12"/>
          <p:cNvSpPr/>
          <p:nvPr/>
        </p:nvSpPr>
        <p:spPr>
          <a:xfrm>
            <a:off x="8381971" y="2976321"/>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32503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250323"/>
            <a:ext cx="753157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Rounded Rectangle 15"/>
          <p:cNvSpPr/>
          <p:nvPr/>
        </p:nvSpPr>
        <p:spPr>
          <a:xfrm>
            <a:off x="8381971" y="3323475"/>
            <a:ext cx="2956588"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44787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450273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4585030"/>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Правая колонка не заполняется рассказом — её заполняет экран каждого кейса. Вернёмся к этой таблице целиком в самом конце.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Лишний шаг цепочки</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«А зачем тут вообще это пишется каждый раз по-разному?» — спрашивает координатор Марина, листая свой Telegram.</a:t>
            </a:r>
          </a:p>
        </p:txBody>
      </p:sp>
      <p:sp>
        <p:nvSpPr>
          <p:cNvPr id="5" name="Rounded Rectangle 4"/>
          <p:cNvSpPr/>
          <p:nvPr/>
        </p:nvSpPr>
        <p:spPr>
          <a:xfrm>
            <a:off x="502920"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1</a:t>
            </a:r>
          </a:p>
        </p:txBody>
      </p:sp>
      <p:sp>
        <p:nvSpPr>
          <p:cNvPr id="7" name="Rounded Rectangle 6"/>
          <p:cNvSpPr/>
          <p:nvPr/>
        </p:nvSpPr>
        <p:spPr>
          <a:xfrm>
            <a:off x="3344418"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2</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3</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4</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Узел уведомления</a:t>
            </a:r>
          </a:p>
        </p:txBody>
      </p:sp>
      <p:sp>
        <p:nvSpPr>
          <p:cNvPr id="3" name="Rounded Rectangle 2"/>
          <p:cNvSpPr/>
          <p:nvPr/>
        </p:nvSpPr>
        <p:spPr>
          <a:xfrm>
            <a:off x="502920" y="98115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0916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Учебный центр добавил в процесс канал уведомления: когда в заявке больше одной темы, координатору Марине приходит сообщение прямо в Telegram — экрана результата, который видит заявитель, для этого мало.</a:t>
            </a:r>
          </a:p>
        </p:txBody>
      </p:sp>
      <p:sp>
        <p:nvSpPr>
          <p:cNvPr id="5" name="Rounded Rectangle 4"/>
          <p:cNvSpPr/>
          <p:nvPr/>
        </p:nvSpPr>
        <p:spPr>
          <a:xfrm>
            <a:off x="502920" y="2223211"/>
            <a:ext cx="11183112" cy="2569464"/>
          </a:xfrm>
          <a:prstGeom prst="roundRect">
            <a:avLst>
              <a:gd name="adj" fmla="val 118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44266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44266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Доработка добавила отдельный узел-модель: по полям заявки (имя, тема, контакт) он каждый раз заново сочиняет текст уведомления «по-человечески», с тоном, вместо того чтобы подставлять значения в готовую фразу.</a:t>
            </a:r>
          </a:p>
        </p:txBody>
      </p:sp>
      <p:sp>
        <p:nvSpPr>
          <p:cNvPr id="8" name="TextBox 7"/>
          <p:cNvSpPr txBox="1"/>
          <p:nvPr/>
        </p:nvSpPr>
        <p:spPr>
          <a:xfrm>
            <a:off x="722376" y="317761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17761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Через неделю Марина замечает: сообщения каждый раз звучат по-разному.</a:t>
            </a:r>
          </a:p>
        </p:txBody>
      </p:sp>
      <p:sp>
        <p:nvSpPr>
          <p:cNvPr id="10" name="TextBox 9"/>
          <p:cNvSpPr txBox="1"/>
          <p:nvPr/>
        </p:nvSpPr>
        <p:spPr>
          <a:xfrm>
            <a:off x="722376" y="3507943"/>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507943"/>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 одном из прогонов модель подписала заявку как «срочный повторный звонок» — хотя ни слова о повторном звонке в тексте заявки не было вовсе.</a:t>
            </a:r>
          </a:p>
        </p:txBody>
      </p:sp>
      <p:sp>
        <p:nvSpPr>
          <p:cNvPr id="12" name="TextBox 11"/>
          <p:cNvSpPr txBox="1"/>
          <p:nvPr/>
        </p:nvSpPr>
        <p:spPr>
          <a:xfrm>
            <a:off x="722376" y="4040581"/>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040581"/>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Узел при этом не упал и не вернул ошибку: сообщение сформировано и отправлено успешно. Его содержание просто не совпадает с тем, что было в заявке.</a:t>
            </a:r>
          </a:p>
        </p:txBody>
      </p:sp>
      <p:sp>
        <p:nvSpPr>
          <p:cNvPr id="14" name="Rounded Rectangle 13"/>
          <p:cNvSpPr/>
          <p:nvPr/>
        </p:nvSpPr>
        <p:spPr>
          <a:xfrm>
            <a:off x="502920" y="505175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7977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Цена не только в содержании.</a:t>
            </a:r>
            <a:r>
              <a:rPr sz="1500" b="1" i="0">
                <a:solidFill>
                  <a:srgbClr val="141B2E"/>
                </a:solidFill>
                <a:latin typeface="Arial"/>
              </a:rPr>
              <a:t> Для сообщения, собранного из четырёх уже известных значений, отдельный вызов модели стоит денег и идёт заметно дольше, чем должен бы — и это цена, которую платят на каждом прогоне, независимо от того, разошлось ли содержание с заявкой в этот раз или нет.</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или шаблон</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Когда шагу цепочки нужна модель, а когда — шаблон?</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шаблон — если форма сообщения всегда одна и меняются только значения</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 если тон, язык или длина должны меняться от заявки к заявке</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текст — это всегда естественный язык, значит это всегда задача модели</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нужна, если получателей уведомления больше одного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показывает разбор</a:t>
            </a:r>
          </a:p>
        </p:txBody>
      </p:sp>
      <p:sp>
        <p:nvSpPr>
          <p:cNvPr id="3" name="Rounded Rectangle 2"/>
          <p:cNvSpPr/>
          <p:nvPr/>
        </p:nvSpPr>
        <p:spPr>
          <a:xfrm>
            <a:off x="502920" y="1994306"/>
            <a:ext cx="2686050" cy="1106424"/>
          </a:xfrm>
          <a:prstGeom prst="roundRect">
            <a:avLst>
              <a:gd name="adj" fmla="val 25000"/>
            </a:avLst>
          </a:prstGeom>
          <a:solidFill>
            <a:srgbClr val="FEF5E0"/>
          </a:solidFill>
          <a:ln w="1905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1994306"/>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8A6200"/>
                </a:solidFill>
                <a:latin typeface="Arial"/>
              </a:rPr>
              <a:t>шаблон — если форма всегда одна и меняются только значения</a:t>
            </a:r>
          </a:p>
        </p:txBody>
      </p:sp>
      <p:sp>
        <p:nvSpPr>
          <p:cNvPr id="5" name="Rounded Rectangle 4"/>
          <p:cNvSpPr/>
          <p:nvPr/>
        </p:nvSpPr>
        <p:spPr>
          <a:xfrm>
            <a:off x="3335274" y="1994306"/>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45002" y="1994306"/>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модель — если тон, язык или длина должны меняться</a:t>
            </a:r>
          </a:p>
        </p:txBody>
      </p:sp>
      <p:sp>
        <p:nvSpPr>
          <p:cNvPr id="7" name="Rounded Rectangle 6"/>
          <p:cNvSpPr/>
          <p:nvPr/>
        </p:nvSpPr>
        <p:spPr>
          <a:xfrm>
            <a:off x="6167628" y="1994306"/>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77356" y="1994306"/>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текст — это всегда естественный язык, значит это всегда задача модели</a:t>
            </a:r>
          </a:p>
        </p:txBody>
      </p:sp>
      <p:sp>
        <p:nvSpPr>
          <p:cNvPr id="9" name="Rounded Rectangle 8"/>
          <p:cNvSpPr/>
          <p:nvPr/>
        </p:nvSpPr>
        <p:spPr>
          <a:xfrm>
            <a:off x="8999982" y="1994306"/>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09710" y="1994306"/>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модель нужна, если получателей уведомления больше одного</a:t>
            </a:r>
          </a:p>
        </p:txBody>
      </p:sp>
      <p:sp>
        <p:nvSpPr>
          <p:cNvPr id="11" name="Rounded Rectangle 10"/>
          <p:cNvSpPr/>
          <p:nvPr/>
        </p:nvSpPr>
        <p:spPr>
          <a:xfrm>
            <a:off x="502920" y="376824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89625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Поворот.</a:t>
            </a:r>
            <a:r>
              <a:rPr sz="1500" b="1" i="0">
                <a:solidFill>
                  <a:srgbClr val="141B2E"/>
                </a:solidFill>
                <a:latin typeface="Arial"/>
              </a:rPr>
              <a:t> Только один вариант описывает наш сегодняшний случай впрямую. Второй описывает настоящую, но другую задачу. Третий и четвёртый связывают решение с тем, что на него вообще не влияет — с тем, похож ли результат на естественный язык, и с числом получателей.</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готовые версии шага уведомления</a:t>
            </a:r>
          </a:p>
        </p:txBody>
      </p:sp>
      <p:sp>
        <p:nvSpPr>
          <p:cNvPr id="3" name="Rounded Rectangle 2"/>
          <p:cNvSpPr/>
          <p:nvPr/>
        </p:nvSpPr>
        <p:spPr>
          <a:xfrm>
            <a:off x="502920" y="223266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36067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a:t>
            </a:r>
            <a:r>
              <a:rPr sz="1500" b="1" i="0">
                <a:solidFill>
                  <a:srgbClr val="141B2E"/>
                </a:solidFill>
                <a:latin typeface="Arial"/>
              </a:rPr>
              <a:t> (</a:t>
            </a:r>
            <a:r>
              <a:rPr sz="1500" b="1" i="0">
                <a:solidFill>
                  <a:srgbClr val="141B2E"/>
                </a:solidFill>
                <a:latin typeface="Consolas"/>
              </a:rPr>
              <a:t>stage-1-before</a:t>
            </a:r>
            <a:r>
              <a:rPr sz="1500" b="1" i="0">
                <a:solidFill>
                  <a:srgbClr val="141B2E"/>
                </a:solidFill>
                <a:latin typeface="Arial"/>
              </a:rPr>
              <a:t>, workflow </a:t>
            </a:r>
            <a:r>
              <a:rPr sz="1500" b="1" i="0">
                <a:solidFill>
                  <a:srgbClr val="141B2E"/>
                </a:solidFill>
                <a:latin typeface="Consolas"/>
              </a:rPr>
              <a:t>nl5BbbHdbNYFuRwQ</a:t>
            </a:r>
            <a:r>
              <a:rPr sz="1500" b="1" i="0">
                <a:solidFill>
                  <a:srgbClr val="141B2E"/>
                </a:solidFill>
                <a:latin typeface="Arial"/>
              </a:rPr>
              <a:t>): отдельный LLM-узел сочиняет текст уведомления по полям заявки.</a:t>
            </a:r>
          </a:p>
        </p:txBody>
      </p:sp>
      <p:sp>
        <p:nvSpPr>
          <p:cNvPr id="5" name="Rounded Rectangle 4"/>
          <p:cNvSpPr/>
          <p:nvPr/>
        </p:nvSpPr>
        <p:spPr>
          <a:xfrm>
            <a:off x="502920" y="364693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77494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После</a:t>
            </a:r>
            <a:r>
              <a:rPr sz="1500" b="1" i="0">
                <a:solidFill>
                  <a:srgbClr val="141B2E"/>
                </a:solidFill>
                <a:latin typeface="Arial"/>
              </a:rPr>
              <a:t> (</a:t>
            </a:r>
            <a:r>
              <a:rPr sz="1500" b="1" i="0">
                <a:solidFill>
                  <a:srgbClr val="141B2E"/>
                </a:solidFill>
                <a:latin typeface="Consolas"/>
              </a:rPr>
              <a:t>stage-1-after</a:t>
            </a:r>
            <a:r>
              <a:rPr sz="1500" b="1" i="0">
                <a:solidFill>
                  <a:srgbClr val="141B2E"/>
                </a:solidFill>
                <a:latin typeface="Arial"/>
              </a:rPr>
              <a:t>, workflow </a:t>
            </a:r>
            <a:r>
              <a:rPr sz="1500" b="1" i="0">
                <a:solidFill>
                  <a:srgbClr val="141B2E"/>
                </a:solidFill>
                <a:latin typeface="Consolas"/>
              </a:rPr>
              <a:t>m6CmcGmqVfZHcKZy</a:t>
            </a:r>
            <a:r>
              <a:rPr sz="1500" b="1" i="0">
                <a:solidFill>
                  <a:srgbClr val="141B2E"/>
                </a:solidFill>
                <a:latin typeface="Arial"/>
              </a:rPr>
              <a:t>): узел подстановки переменных (</a:t>
            </a:r>
            <a:r>
              <a:rPr sz="1500" b="1" i="0">
                <a:solidFill>
                  <a:srgbClr val="141B2E"/>
                </a:solidFill>
                <a:latin typeface="Consolas"/>
              </a:rPr>
              <a:t>Edit</a:t>
            </a:r>
            <a:r>
              <a:rPr sz="1500" b="1" i="0">
                <a:solidFill>
                  <a:srgbClr val="141B2E"/>
                </a:solidFill>
                <a:latin typeface="Arial"/>
              </a:rPr>
              <a:t> </a:t>
            </a:r>
            <a:r>
              <a:rPr sz="1500" b="1" i="0">
                <a:solidFill>
                  <a:srgbClr val="141B2E"/>
                </a:solidFill>
                <a:latin typeface="Consolas"/>
              </a:rPr>
              <a:t>Fields</a:t>
            </a:r>
            <a:r>
              <a:rPr sz="1500" b="1" i="0">
                <a:solidFill>
                  <a:srgbClr val="141B2E"/>
                </a:solidFill>
                <a:latin typeface="Arial"/>
              </a:rPr>
              <a:t> / </a:t>
            </a:r>
            <a:r>
              <a:rPr sz="1500" b="1" i="0">
                <a:solidFill>
                  <a:srgbClr val="141B2E"/>
                </a:solidFill>
                <a:latin typeface="Consolas"/>
              </a:rPr>
              <a:t>Set</a:t>
            </a:r>
            <a:r>
              <a:rPr sz="1500" b="1" i="0">
                <a:solidFill>
                  <a:srgbClr val="141B2E"/>
                </a:solidFill>
                <a:latin typeface="Arial"/>
              </a:rPr>
              <a:t>) с выражением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a:t>
            </a:r>
            <a:r>
              <a:rPr sz="1500" b="1" i="0">
                <a:solidFill>
                  <a:srgbClr val="141B2E"/>
                </a:solidFill>
                <a:latin typeface="Arial"/>
              </a:rPr>
              <a:t>, без вызова модели.</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Прогон execution 41, 42 и 43</a:t>
            </a:r>
          </a:p>
        </p:txBody>
      </p:sp>
      <p:sp>
        <p:nvSpPr>
          <p:cNvPr id="3" name="Rounded Rectangle 2"/>
          <p:cNvSpPr/>
          <p:nvPr/>
        </p:nvSpPr>
        <p:spPr>
          <a:xfrm>
            <a:off x="502920" y="998262"/>
            <a:ext cx="11183112" cy="3149790"/>
          </a:xfrm>
          <a:prstGeom prst="roundRect">
            <a:avLst>
              <a:gd name="adj" fmla="val 967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81142"/>
            <a:ext cx="88653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EXECUTION</a:t>
            </a:r>
          </a:p>
        </p:txBody>
      </p:sp>
      <p:sp>
        <p:nvSpPr>
          <p:cNvPr id="5" name="TextBox 4"/>
          <p:cNvSpPr txBox="1"/>
          <p:nvPr/>
        </p:nvSpPr>
        <p:spPr>
          <a:xfrm>
            <a:off x="1718637" y="1181142"/>
            <a:ext cx="8031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ВЕРСИЯ</a:t>
            </a:r>
          </a:p>
        </p:txBody>
      </p:sp>
      <p:sp>
        <p:nvSpPr>
          <p:cNvPr id="6" name="TextBox 5"/>
          <p:cNvSpPr txBox="1"/>
          <p:nvPr/>
        </p:nvSpPr>
        <p:spPr>
          <a:xfrm>
            <a:off x="2668131" y="1181142"/>
            <a:ext cx="93257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ЗАЯВИТЕЛЬ</a:t>
            </a:r>
          </a:p>
        </p:txBody>
      </p:sp>
      <p:sp>
        <p:nvSpPr>
          <p:cNvPr id="7" name="TextBox 6"/>
          <p:cNvSpPr txBox="1"/>
          <p:nvPr/>
        </p:nvSpPr>
        <p:spPr>
          <a:xfrm>
            <a:off x="3747006" y="1181142"/>
            <a:ext cx="20552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ТЕКСТ ЗАЯВКИ</a:t>
            </a:r>
          </a:p>
        </p:txBody>
      </p:sp>
      <p:sp>
        <p:nvSpPr>
          <p:cNvPr id="8" name="TextBox 7"/>
          <p:cNvSpPr txBox="1"/>
          <p:nvPr/>
        </p:nvSpPr>
        <p:spPr>
          <a:xfrm>
            <a:off x="5948573" y="1181142"/>
            <a:ext cx="37383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ОТПРАВЛЕНО КООРДИНАТОРУ</a:t>
            </a:r>
          </a:p>
        </p:txBody>
      </p:sp>
      <p:sp>
        <p:nvSpPr>
          <p:cNvPr id="9" name="TextBox 8"/>
          <p:cNvSpPr txBox="1"/>
          <p:nvPr/>
        </p:nvSpPr>
        <p:spPr>
          <a:xfrm>
            <a:off x="9833230" y="1181142"/>
            <a:ext cx="15236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ДОСТАВЛЕНО</a:t>
            </a:r>
          </a:p>
        </p:txBody>
      </p:sp>
      <p:sp>
        <p:nvSpPr>
          <p:cNvPr id="10" name="TextBox 9"/>
          <p:cNvSpPr txBox="1"/>
          <p:nvPr/>
        </p:nvSpPr>
        <p:spPr>
          <a:xfrm>
            <a:off x="685800" y="1463209"/>
            <a:ext cx="88653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41</a:t>
            </a:r>
          </a:p>
        </p:txBody>
      </p:sp>
      <p:sp>
        <p:nvSpPr>
          <p:cNvPr id="11" name="TextBox 10"/>
          <p:cNvSpPr txBox="1"/>
          <p:nvPr/>
        </p:nvSpPr>
        <p:spPr>
          <a:xfrm>
            <a:off x="1718637" y="1463209"/>
            <a:ext cx="80318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(LLM)</a:t>
            </a:r>
          </a:p>
        </p:txBody>
      </p:sp>
      <p:sp>
        <p:nvSpPr>
          <p:cNvPr id="12" name="TextBox 11"/>
          <p:cNvSpPr txBox="1"/>
          <p:nvPr/>
        </p:nvSpPr>
        <p:spPr>
          <a:xfrm>
            <a:off x="2668131" y="1463209"/>
            <a:ext cx="93257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Мария</a:t>
            </a:r>
          </a:p>
        </p:txBody>
      </p:sp>
      <p:sp>
        <p:nvSpPr>
          <p:cNvPr id="13" name="TextBox 12"/>
          <p:cNvSpPr txBox="1"/>
          <p:nvPr/>
        </p:nvSpPr>
        <p:spPr>
          <a:xfrm>
            <a:off x="3747006" y="1463209"/>
            <a:ext cx="205526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на курс по аналитике и ещё спросить про оплату, перезвоните сегодня»</a:t>
            </a:r>
          </a:p>
        </p:txBody>
      </p:sp>
      <p:sp>
        <p:nvSpPr>
          <p:cNvPr id="14" name="TextBox 13"/>
          <p:cNvSpPr txBox="1"/>
          <p:nvPr/>
        </p:nvSpPr>
        <p:spPr>
          <a:xfrm>
            <a:off x="5948573" y="1463209"/>
            <a:ext cx="373835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«Привет! 😊 У нас новая многотемная заявка от Марии на курс, в которой также упомянута оплата. Пожалуйста, ознакомься!»</a:t>
            </a:r>
          </a:p>
        </p:txBody>
      </p:sp>
      <p:sp>
        <p:nvSpPr>
          <p:cNvPr id="15" name="TextBox 14"/>
          <p:cNvSpPr txBox="1"/>
          <p:nvPr/>
        </p:nvSpPr>
        <p:spPr>
          <a:xfrm>
            <a:off x="9833230" y="1463209"/>
            <a:ext cx="152361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message_id 3</a:t>
            </a:r>
          </a:p>
        </p:txBody>
      </p:sp>
      <p:cxnSp>
        <p:nvCxnSpPr>
          <p:cNvPr id="16" name="Connector 15"/>
          <p:cNvCxnSpPr/>
          <p:nvPr/>
        </p:nvCxnSpPr>
        <p:spPr>
          <a:xfrm>
            <a:off x="685800" y="23580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358051"/>
            <a:ext cx="88653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42</a:t>
            </a:r>
          </a:p>
        </p:txBody>
      </p:sp>
      <p:sp>
        <p:nvSpPr>
          <p:cNvPr id="18" name="TextBox 17"/>
          <p:cNvSpPr txBox="1"/>
          <p:nvPr/>
        </p:nvSpPr>
        <p:spPr>
          <a:xfrm>
            <a:off x="1718637" y="2358051"/>
            <a:ext cx="80318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 (LLM)</a:t>
            </a:r>
          </a:p>
        </p:txBody>
      </p:sp>
      <p:sp>
        <p:nvSpPr>
          <p:cNvPr id="19" name="TextBox 18"/>
          <p:cNvSpPr txBox="1"/>
          <p:nvPr/>
        </p:nvSpPr>
        <p:spPr>
          <a:xfrm>
            <a:off x="2668131" y="2358051"/>
            <a:ext cx="932570"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Олег</a:t>
            </a:r>
          </a:p>
        </p:txBody>
      </p:sp>
      <p:sp>
        <p:nvSpPr>
          <p:cNvPr id="20" name="TextBox 19"/>
          <p:cNvSpPr txBox="1"/>
          <p:nvPr/>
        </p:nvSpPr>
        <p:spPr>
          <a:xfrm>
            <a:off x="3747006" y="2358051"/>
            <a:ext cx="205526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перенести занятие на пятницу и спросить про оплату курса»</a:t>
            </a:r>
          </a:p>
        </p:txBody>
      </p:sp>
      <p:sp>
        <p:nvSpPr>
          <p:cNvPr id="21" name="TextBox 20"/>
          <p:cNvSpPr txBox="1"/>
          <p:nvPr/>
        </p:nvSpPr>
        <p:spPr>
          <a:xfrm>
            <a:off x="5948573" y="2358051"/>
            <a:ext cx="3738353"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«Привет, </a:t>
            </a:r>
            <a:r>
              <a:rPr sz="1250" b="1" i="0">
                <a:solidFill>
                  <a:srgbClr val="141B2E"/>
                </a:solidFill>
                <a:latin typeface="Arial"/>
              </a:rPr>
              <a:t>[Имя координатора]</a:t>
            </a:r>
            <a:r>
              <a:rPr sz="1250" b="0" i="0">
                <a:solidFill>
                  <a:srgbClr val="141B2E"/>
                </a:solidFill>
                <a:latin typeface="Arial"/>
              </a:rPr>
              <a:t>! 😊 У нас новая многотемная заявка от Олега по вопросу переноса занятия и об оплате. Посмотри, пожалуйста!»</a:t>
            </a:r>
          </a:p>
        </p:txBody>
      </p:sp>
      <p:sp>
        <p:nvSpPr>
          <p:cNvPr id="22" name="TextBox 21"/>
          <p:cNvSpPr txBox="1"/>
          <p:nvPr/>
        </p:nvSpPr>
        <p:spPr>
          <a:xfrm>
            <a:off x="9833230" y="2358051"/>
            <a:ext cx="1523617"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(с плейсхолдером!), message_id 4</a:t>
            </a:r>
          </a:p>
        </p:txBody>
      </p:sp>
      <p:cxnSp>
        <p:nvCxnSpPr>
          <p:cNvPr id="23" name="Connector 22"/>
          <p:cNvCxnSpPr/>
          <p:nvPr/>
        </p:nvCxnSpPr>
        <p:spPr>
          <a:xfrm>
            <a:off x="685800" y="32528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252893"/>
            <a:ext cx="8865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43</a:t>
            </a:r>
          </a:p>
        </p:txBody>
      </p:sp>
      <p:sp>
        <p:nvSpPr>
          <p:cNvPr id="25" name="TextBox 24"/>
          <p:cNvSpPr txBox="1"/>
          <p:nvPr/>
        </p:nvSpPr>
        <p:spPr>
          <a:xfrm>
            <a:off x="1718637" y="3252893"/>
            <a:ext cx="80318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(шаблон)</a:t>
            </a:r>
          </a:p>
        </p:txBody>
      </p:sp>
      <p:sp>
        <p:nvSpPr>
          <p:cNvPr id="26" name="TextBox 25"/>
          <p:cNvSpPr txBox="1"/>
          <p:nvPr/>
        </p:nvSpPr>
        <p:spPr>
          <a:xfrm>
            <a:off x="2668131" y="3252893"/>
            <a:ext cx="93257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Светлана</a:t>
            </a:r>
          </a:p>
        </p:txBody>
      </p:sp>
      <p:sp>
        <p:nvSpPr>
          <p:cNvPr id="27" name="TextBox 26"/>
          <p:cNvSpPr txBox="1"/>
          <p:nvPr/>
        </p:nvSpPr>
        <p:spPr>
          <a:xfrm>
            <a:off x="3747006" y="3252893"/>
            <a:ext cx="205526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«хочу перенести занятие и спросить про оплату курса»</a:t>
            </a:r>
          </a:p>
        </p:txBody>
      </p:sp>
      <p:sp>
        <p:nvSpPr>
          <p:cNvPr id="28" name="TextBox 27"/>
          <p:cNvSpPr txBox="1"/>
          <p:nvPr/>
        </p:nvSpPr>
        <p:spPr>
          <a:xfrm>
            <a:off x="5948573" y="3252893"/>
            <a:ext cx="373835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«Новая заявка от Светлана: тема «другое», также: перенос занятия · оплата.»</a:t>
            </a:r>
          </a:p>
        </p:txBody>
      </p:sp>
      <p:sp>
        <p:nvSpPr>
          <p:cNvPr id="29" name="TextBox 28"/>
          <p:cNvSpPr txBox="1"/>
          <p:nvPr/>
        </p:nvSpPr>
        <p:spPr>
          <a:xfrm>
            <a:off x="9833230" y="3252893"/>
            <a:ext cx="152361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message_id 5</a:t>
            </a:r>
          </a:p>
        </p:txBody>
      </p:sp>
      <p:sp>
        <p:nvSpPr>
          <p:cNvPr id="30" name="Rounded Rectangle 29"/>
          <p:cNvSpPr/>
          <p:nvPr/>
        </p:nvSpPr>
        <p:spPr>
          <a:xfrm>
            <a:off x="502920" y="44499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59536" y="45779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Находка.</a:t>
            </a:r>
            <a:r>
              <a:rPr sz="1500" b="1" i="0">
                <a:solidFill>
                  <a:srgbClr val="141B2E"/>
                </a:solidFill>
                <a:latin typeface="Arial"/>
              </a:rPr>
              <a:t> На execution </a:t>
            </a:r>
            <a:r>
              <a:rPr sz="1500" b="1" i="0">
                <a:solidFill>
                  <a:srgbClr val="141B2E"/>
                </a:solidFill>
                <a:latin typeface="Consolas"/>
              </a:rPr>
              <a:t>42</a:t>
            </a:r>
            <a:r>
              <a:rPr sz="1500" b="1" i="0">
                <a:solidFill>
                  <a:srgbClr val="141B2E"/>
                </a:solidFill>
                <a:latin typeface="Arial"/>
              </a:rPr>
              <a:t> модель вставила в отправленный текст буквальный плейсхолдер «[Имя координатора]». Узел не упал: статус — success, сообщение доставлено. Расхождение видно только по содержанию.</a:t>
            </a:r>
          </a:p>
        </p:txBody>
      </p:sp>
      <p:sp>
        <p:nvSpPr>
          <p:cNvPr id="32" name="Rounded Rectangle 31"/>
          <p:cNvSpPr/>
          <p:nvPr/>
        </p:nvSpPr>
        <p:spPr>
          <a:xfrm>
            <a:off x="502920" y="573474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86276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Подписано: execution </a:t>
            </a:r>
            <a:r>
              <a:rPr sz="1500" b="1" i="0">
                <a:solidFill>
                  <a:srgbClr val="141B2E"/>
                </a:solidFill>
                <a:latin typeface="Consolas"/>
              </a:rPr>
              <a:t>41</a:t>
            </a:r>
            <a:r>
              <a:rPr sz="1500" b="1" i="0">
                <a:solidFill>
                  <a:srgbClr val="141B2E"/>
                </a:solidFill>
                <a:latin typeface="Arial"/>
              </a:rPr>
              <a:t>, execution </a:t>
            </a:r>
            <a:r>
              <a:rPr sz="1500" b="1" i="0">
                <a:solidFill>
                  <a:srgbClr val="141B2E"/>
                </a:solidFill>
                <a:latin typeface="Consolas"/>
              </a:rPr>
              <a:t>42</a:t>
            </a:r>
            <a:r>
              <a:rPr sz="1500" b="1" i="0">
                <a:solidFill>
                  <a:srgbClr val="141B2E"/>
                </a:solidFill>
                <a:latin typeface="Arial"/>
              </a:rPr>
              <a:t>, execution </a:t>
            </a:r>
            <a:r>
              <a:rPr sz="1500" b="1" i="0">
                <a:solidFill>
                  <a:srgbClr val="141B2E"/>
                </a:solidFill>
                <a:latin typeface="Consolas"/>
              </a:rPr>
              <a:t>43</a:t>
            </a:r>
            <a:r>
              <a:rPr sz="1500" b="1" i="0">
                <a:solidFill>
                  <a:srgbClr val="141B2E"/>
                </a:solidFill>
                <a:latin typeface="Arial"/>
              </a:rPr>
              <a:t>, </a:t>
            </a:r>
            <a:r>
              <a:rPr sz="1500" b="1" i="0">
                <a:solidFill>
                  <a:srgbClr val="141B2E"/>
                </a:solidFill>
                <a:latin typeface="Consolas"/>
              </a:rPr>
              <a:t>n8n.lessons.tellian.io</a:t>
            </a:r>
            <a:r>
              <a:rPr sz="1500" b="1" i="0">
                <a:solidFill>
                  <a:srgbClr val="141B2E"/>
                </a:solidFill>
                <a:latin typeface="Arial"/>
              </a:rPr>
              <a:t>.</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сборка по готовой форме</a:t>
            </a:r>
          </a:p>
        </p:txBody>
      </p:sp>
      <p:sp>
        <p:nvSpPr>
          <p:cNvPr id="3" name="Rounded Rectangle 2"/>
          <p:cNvSpPr/>
          <p:nvPr/>
        </p:nvSpPr>
        <p:spPr>
          <a:xfrm>
            <a:off x="502920" y="1311402"/>
            <a:ext cx="11183112" cy="1871852"/>
          </a:xfrm>
          <a:prstGeom prst="roundRect">
            <a:avLst>
              <a:gd name="adj" fmla="val 1628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94282"/>
            <a:ext cx="295674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КРИТЕРИЙ</a:t>
            </a:r>
          </a:p>
        </p:txBody>
      </p:sp>
      <p:sp>
        <p:nvSpPr>
          <p:cNvPr id="5" name="TextBox 4"/>
          <p:cNvSpPr txBox="1"/>
          <p:nvPr/>
        </p:nvSpPr>
        <p:spPr>
          <a:xfrm>
            <a:off x="3788850" y="1494282"/>
            <a:ext cx="44967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ФОРМАТИРОВАНИЕ (НАШ СЛУЧАЙ)</a:t>
            </a:r>
          </a:p>
        </p:txBody>
      </p:sp>
      <p:sp>
        <p:nvSpPr>
          <p:cNvPr id="6" name="TextBox 5"/>
          <p:cNvSpPr txBox="1"/>
          <p:nvPr/>
        </p:nvSpPr>
        <p:spPr>
          <a:xfrm>
            <a:off x="8431878" y="1494282"/>
            <a:ext cx="292496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ГЕНЕРАЦИЯ</a:t>
            </a:r>
          </a:p>
        </p:txBody>
      </p:sp>
      <p:sp>
        <p:nvSpPr>
          <p:cNvPr id="7" name="TextBox 6"/>
          <p:cNvSpPr txBox="1"/>
          <p:nvPr/>
        </p:nvSpPr>
        <p:spPr>
          <a:xfrm>
            <a:off x="685800" y="1776349"/>
            <a:ext cx="295674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 сообщения</a:t>
            </a:r>
          </a:p>
        </p:txBody>
      </p:sp>
      <p:sp>
        <p:nvSpPr>
          <p:cNvPr id="8" name="TextBox 7"/>
          <p:cNvSpPr txBox="1"/>
          <p:nvPr/>
        </p:nvSpPr>
        <p:spPr>
          <a:xfrm>
            <a:off x="3788850" y="1776349"/>
            <a:ext cx="44967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всегда одна, меняются только значения полей</a:t>
            </a:r>
          </a:p>
        </p:txBody>
      </p:sp>
      <p:sp>
        <p:nvSpPr>
          <p:cNvPr id="9" name="TextBox 8"/>
          <p:cNvSpPr txBox="1"/>
          <p:nvPr/>
        </p:nvSpPr>
        <p:spPr>
          <a:xfrm>
            <a:off x="8431878" y="1776349"/>
            <a:ext cx="292496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должна меняться — тон, язык, длина</a:t>
            </a:r>
          </a:p>
        </p:txBody>
      </p:sp>
      <p:cxnSp>
        <p:nvCxnSpPr>
          <p:cNvPr id="10" name="Connector 9"/>
          <p:cNvCxnSpPr/>
          <p:nvPr/>
        </p:nvCxnSpPr>
        <p:spPr>
          <a:xfrm>
            <a:off x="685800" y="23060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306066"/>
            <a:ext cx="29567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Кто придумывает форму</a:t>
            </a:r>
          </a:p>
        </p:txBody>
      </p:sp>
      <p:sp>
        <p:nvSpPr>
          <p:cNvPr id="12" name="TextBox 11"/>
          <p:cNvSpPr txBox="1"/>
          <p:nvPr/>
        </p:nvSpPr>
        <p:spPr>
          <a:xfrm>
            <a:off x="3788850" y="2306066"/>
            <a:ext cx="44967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человек один раз, заранее, в шаблоне</a:t>
            </a:r>
          </a:p>
        </p:txBody>
      </p:sp>
      <p:sp>
        <p:nvSpPr>
          <p:cNvPr id="13" name="TextBox 12"/>
          <p:cNvSpPr txBox="1"/>
          <p:nvPr/>
        </p:nvSpPr>
        <p:spPr>
          <a:xfrm>
            <a:off x="8431878" y="2306066"/>
            <a:ext cx="292496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на каждый прогон заново</a:t>
            </a:r>
          </a:p>
        </p:txBody>
      </p:sp>
      <p:cxnSp>
        <p:nvCxnSpPr>
          <p:cNvPr id="14" name="Connector 13"/>
          <p:cNvCxnSpPr/>
          <p:nvPr/>
        </p:nvCxnSpPr>
        <p:spPr>
          <a:xfrm>
            <a:off x="685800" y="26532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53220"/>
            <a:ext cx="29567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Нужен вызов модели в этой точке</a:t>
            </a:r>
          </a:p>
        </p:txBody>
      </p:sp>
      <p:sp>
        <p:nvSpPr>
          <p:cNvPr id="16" name="TextBox 15"/>
          <p:cNvSpPr txBox="1"/>
          <p:nvPr/>
        </p:nvSpPr>
        <p:spPr>
          <a:xfrm>
            <a:off x="3788850" y="2653220"/>
            <a:ext cx="44967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8431878" y="2653220"/>
            <a:ext cx="292496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a:t>
            </a:r>
          </a:p>
        </p:txBody>
      </p:sp>
      <p:sp>
        <p:nvSpPr>
          <p:cNvPr id="18" name="Rounded Rectangle 17"/>
          <p:cNvSpPr/>
          <p:nvPr/>
        </p:nvSpPr>
        <p:spPr>
          <a:xfrm>
            <a:off x="502920" y="3850766"/>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3978782"/>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Сборка сообщения из уже извлечённых значений по фиксированной форме.</a:t>
            </a:r>
          </a:p>
        </p:txBody>
      </p:sp>
      <p:sp>
        <p:nvSpPr>
          <p:cNvPr id="20" name="Rounded Rectangle 19"/>
          <p:cNvSpPr/>
          <p:nvPr/>
        </p:nvSpPr>
        <p:spPr>
          <a:xfrm>
            <a:off x="502920" y="502881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1568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паттерн — прогон зелёный, а результат тихо не тот — вернётся в этом занятии в Кейсе 4, там на бинарных данных, здесь на тексте.</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модель, когда — шаблон</a:t>
            </a:r>
          </a:p>
        </p:txBody>
      </p:sp>
      <p:sp>
        <p:nvSpPr>
          <p:cNvPr id="3" name="Rounded Rectangle 2"/>
          <p:cNvSpPr/>
          <p:nvPr/>
        </p:nvSpPr>
        <p:spPr>
          <a:xfrm>
            <a:off x="502920" y="959002"/>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6873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ШАБЛОНА ДОСТАТОЧНО</a:t>
            </a:r>
          </a:p>
        </p:txBody>
      </p:sp>
      <p:sp>
        <p:nvSpPr>
          <p:cNvPr id="5" name="TextBox 4"/>
          <p:cNvSpPr txBox="1"/>
          <p:nvPr/>
        </p:nvSpPr>
        <p:spPr>
          <a:xfrm>
            <a:off x="685800" y="134305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форма сообщения всегда одна, меняются только переменные значения</a:t>
            </a:r>
          </a:p>
        </p:txBody>
      </p:sp>
      <p:cxnSp>
        <p:nvCxnSpPr>
          <p:cNvPr id="6" name="Connector 5"/>
          <p:cNvCxnSpPr/>
          <p:nvPr/>
        </p:nvCxnSpPr>
        <p:spPr>
          <a:xfrm>
            <a:off x="685800" y="183403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83403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значения уже известны, нужно только поставить их на нужное место</a:t>
            </a:r>
          </a:p>
        </p:txBody>
      </p:sp>
      <p:sp>
        <p:nvSpPr>
          <p:cNvPr id="8" name="Rounded Rectangle 7"/>
          <p:cNvSpPr/>
          <p:nvPr/>
        </p:nvSpPr>
        <p:spPr>
          <a:xfrm>
            <a:off x="6231636" y="959002"/>
            <a:ext cx="5454396" cy="1548892"/>
          </a:xfrm>
          <a:prstGeom prst="roundRect">
            <a:avLst>
              <a:gd name="adj" fmla="val 1967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14516" y="106873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МОДЕЛЬ НУЖНА</a:t>
            </a:r>
          </a:p>
        </p:txBody>
      </p:sp>
      <p:sp>
        <p:nvSpPr>
          <p:cNvPr id="10" name="TextBox 9"/>
          <p:cNvSpPr txBox="1"/>
          <p:nvPr/>
        </p:nvSpPr>
        <p:spPr>
          <a:xfrm>
            <a:off x="6414516" y="1343050"/>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тон, язык или длина должны меняться от заявки к заявке</a:t>
            </a:r>
          </a:p>
        </p:txBody>
      </p:sp>
      <p:cxnSp>
        <p:nvCxnSpPr>
          <p:cNvPr id="11" name="Connector 10"/>
          <p:cNvCxnSpPr/>
          <p:nvPr/>
        </p:nvCxnSpPr>
        <p:spPr>
          <a:xfrm>
            <a:off x="6414516" y="166169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14516" y="1661693"/>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текст требует интерпретации</a:t>
            </a:r>
          </a:p>
        </p:txBody>
      </p:sp>
      <p:sp>
        <p:nvSpPr>
          <p:cNvPr id="13" name="Rounded Rectangle 12"/>
          <p:cNvSpPr/>
          <p:nvPr/>
        </p:nvSpPr>
        <p:spPr>
          <a:xfrm>
            <a:off x="502920" y="271160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283961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Нюанс первый.</a:t>
            </a:r>
            <a:r>
              <a:rPr sz="1500" b="1" i="0">
                <a:solidFill>
                  <a:srgbClr val="141B2E"/>
                </a:solidFill>
                <a:latin typeface="Arial"/>
              </a:rPr>
              <a:t> Лишний шаг — это не только цена денег и задержка, это ещё и риск: каждый вызов модели — ещё одна точка, где может появиться галлюцинация, даже в тривиальной задаче форматирования, как в этом кейсе.</a:t>
            </a:r>
          </a:p>
        </p:txBody>
      </p:sp>
      <p:sp>
        <p:nvSpPr>
          <p:cNvPr id="15" name="Rounded Rectangle 14"/>
          <p:cNvSpPr/>
          <p:nvPr/>
        </p:nvSpPr>
        <p:spPr>
          <a:xfrm>
            <a:off x="502920" y="3898290"/>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4026306"/>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Нюанс второй.</a:t>
            </a:r>
            <a:r>
              <a:rPr sz="1500" b="1" i="0">
                <a:solidFill>
                  <a:srgbClr val="141B2E"/>
                </a:solidFill>
                <a:latin typeface="Arial"/>
              </a:rPr>
              <a:t> Шаблон не остаётся безопасным выбором по умолчанию навсегда: если форма сообщения со временем начнёт требовать реальной вариативности (разные языки, разная степень детализации), шаблон придётся переписывать руками на каждый новый случай — цена другого типа, инженерная, не денежная. Критерий выбора зависит от факта вариативности, не от привычки.</a:t>
            </a:r>
          </a:p>
        </p:txBody>
      </p:sp>
      <p:sp>
        <p:nvSpPr>
          <p:cNvPr id="17" name="Rounded Rectangle 16"/>
          <p:cNvSpPr/>
          <p:nvPr/>
        </p:nvSpPr>
        <p:spPr>
          <a:xfrm>
            <a:off x="502920" y="532119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44921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Первая строка оси закрыта.</a:t>
            </a:r>
            <a:r>
              <a:rPr sz="1500" b="1" i="0">
                <a:solidFill>
                  <a:srgbClr val="141B2E"/>
                </a:solidFill>
                <a:latin typeface="Arial"/>
              </a:rPr>
              <a:t> «Сообщение ушло координатору, цепочка короче и дешевле без LLM» → чем оказался: LLM здесь был просто лишним шагом — то же самое делает шаблон, без его цены и без его риска.</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85089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Дубль или новый вопрос</a:t>
            </a:r>
          </a:p>
        </p:txBody>
      </p:sp>
      <p:sp>
        <p:nvSpPr>
          <p:cNvPr id="4" name="TextBox 3"/>
          <p:cNvSpPr txBox="1"/>
          <p:nvPr/>
        </p:nvSpPr>
        <p:spPr>
          <a:xfrm>
            <a:off x="1234440" y="348335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таблице заявок — два совпадающих контакта за одно утро.»</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1</a:t>
            </a:r>
          </a:p>
        </p:txBody>
      </p:sp>
      <p:sp>
        <p:nvSpPr>
          <p:cNvPr id="7" name="Rounded Rectangle 6"/>
          <p:cNvSpPr/>
          <p:nvPr/>
        </p:nvSpPr>
        <p:spPr>
          <a:xfrm>
            <a:off x="3344418"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2</a:t>
            </a:r>
          </a:p>
        </p:txBody>
      </p:sp>
      <p:sp>
        <p:nvSpPr>
          <p:cNvPr id="9" name="Rounded Rectangle 8"/>
          <p:cNvSpPr/>
          <p:nvPr/>
        </p:nvSpPr>
        <p:spPr>
          <a:xfrm>
            <a:off x="6185916"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3</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4</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контакт, одно утро, два обращения</a:t>
            </a:r>
          </a:p>
        </p:txBody>
      </p:sp>
      <p:sp>
        <p:nvSpPr>
          <p:cNvPr id="3" name="Rounded Rectangle 2"/>
          <p:cNvSpPr/>
          <p:nvPr/>
        </p:nvSpPr>
        <p:spPr>
          <a:xfrm>
            <a:off x="502920" y="1770430"/>
            <a:ext cx="11183112" cy="1429893"/>
          </a:xfrm>
          <a:prstGeom prst="roundRect">
            <a:avLst>
              <a:gd name="adj" fmla="val 2131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989886"/>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989886"/>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Неделю назад человек спрашивает: «когда можно оплатить занятие?»</a:t>
            </a:r>
          </a:p>
        </p:txBody>
      </p:sp>
      <p:sp>
        <p:nvSpPr>
          <p:cNvPr id="6" name="TextBox 5"/>
          <p:cNvSpPr txBox="1"/>
          <p:nvPr/>
        </p:nvSpPr>
        <p:spPr>
          <a:xfrm>
            <a:off x="722376" y="2320213"/>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320213"/>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Сегодня утром, первое обращение — то же самое, слово в слово: «когда можно оплатить занятие?»</a:t>
            </a:r>
          </a:p>
        </p:txBody>
      </p:sp>
      <p:sp>
        <p:nvSpPr>
          <p:cNvPr id="8" name="TextBox 7"/>
          <p:cNvSpPr txBox="1"/>
          <p:nvPr/>
        </p:nvSpPr>
        <p:spPr>
          <a:xfrm>
            <a:off x="722376" y="2650540"/>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650540"/>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Сегодня утром, второе обращение, тот же человек, другими словами: «как мне внести оплату за курс»</a:t>
            </a:r>
          </a:p>
        </p:txBody>
      </p:sp>
      <p:sp>
        <p:nvSpPr>
          <p:cNvPr id="10" name="Rounded Rectangle 9"/>
          <p:cNvSpPr/>
          <p:nvPr/>
        </p:nvSpPr>
        <p:spPr>
          <a:xfrm>
            <a:off x="502920" y="386783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99585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Механическая проверка — точное совпадение контакта и темы в заданном окне времени, например по хэшу нормализованного текста — поймала повтор №2: текст буквально тот же, хэш совпал. Повтор №3 она пропустила: слова другие, хэш другой, значит для неё это новый вопрос — хотя смысл тот же самый.</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умеет каждый вид проверки</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умеет каждый вид проверки?</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механическая проверка ловит любой повтор, даже другими словами</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механическая проверка ловит только буквальное совпадение текста</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LLM-проверка ловит смысл, но может принять два разных вопроса за один</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LLM-проверка дороже, но всегда точнее механической</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показывает разбор</a:t>
            </a:r>
          </a:p>
        </p:txBody>
      </p:sp>
      <p:sp>
        <p:nvSpPr>
          <p:cNvPr id="3" name="Rounded Rectangle 2"/>
          <p:cNvSpPr/>
          <p:nvPr/>
        </p:nvSpPr>
        <p:spPr>
          <a:xfrm>
            <a:off x="502920" y="1044067"/>
            <a:ext cx="11183112" cy="3496944"/>
          </a:xfrm>
          <a:prstGeom prst="roundRect">
            <a:avLst>
              <a:gd name="adj" fmla="val 87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26947"/>
            <a:ext cx="29367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УТВЕРЖДЕНИЕ</a:t>
            </a:r>
          </a:p>
        </p:txBody>
      </p:sp>
      <p:sp>
        <p:nvSpPr>
          <p:cNvPr id="5" name="TextBox 4"/>
          <p:cNvSpPr txBox="1"/>
          <p:nvPr/>
        </p:nvSpPr>
        <p:spPr>
          <a:xfrm>
            <a:off x="3768816" y="1226947"/>
            <a:ext cx="758803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ПОКАЗЫВАЕТ РАЗБОР</a:t>
            </a:r>
          </a:p>
        </p:txBody>
      </p:sp>
      <p:sp>
        <p:nvSpPr>
          <p:cNvPr id="6" name="TextBox 5"/>
          <p:cNvSpPr txBox="1"/>
          <p:nvPr/>
        </p:nvSpPr>
        <p:spPr>
          <a:xfrm>
            <a:off x="685800" y="1509014"/>
            <a:ext cx="29367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механическая проверка ловит любой повтор, даже другими словами</a:t>
            </a:r>
          </a:p>
        </p:txBody>
      </p:sp>
      <p:sp>
        <p:nvSpPr>
          <p:cNvPr id="7" name="TextBox 6"/>
          <p:cNvSpPr txBox="1"/>
          <p:nvPr/>
        </p:nvSpPr>
        <p:spPr>
          <a:xfrm>
            <a:off x="3768816" y="1509014"/>
            <a:ext cx="758803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делает: хэш нормализованного текста различается, если слова другие, даже при одинаковом смысле</a:t>
            </a:r>
          </a:p>
        </p:txBody>
      </p:sp>
      <p:cxnSp>
        <p:nvCxnSpPr>
          <p:cNvPr id="8" name="Connector 7"/>
          <p:cNvCxnSpPr/>
          <p:nvPr/>
        </p:nvCxnSpPr>
        <p:spPr>
          <a:xfrm>
            <a:off x="685800" y="22212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221293"/>
            <a:ext cx="29367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механическая проверка ловит только буквальное совпадение текста</a:t>
            </a:r>
          </a:p>
        </p:txBody>
      </p:sp>
      <p:sp>
        <p:nvSpPr>
          <p:cNvPr id="10" name="TextBox 9"/>
          <p:cNvSpPr txBox="1"/>
          <p:nvPr/>
        </p:nvSpPr>
        <p:spPr>
          <a:xfrm>
            <a:off x="3768816" y="2221293"/>
            <a:ext cx="758803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делает именно это: точное (или почти точное, после нормализации регистра и пробелов) совпадение текста, контакта и темы в окне времени — вот её область, не более</a:t>
            </a:r>
          </a:p>
        </p:txBody>
      </p:sp>
      <p:cxnSp>
        <p:nvCxnSpPr>
          <p:cNvPr id="11" name="Connector 10"/>
          <p:cNvCxnSpPr/>
          <p:nvPr/>
        </p:nvCxnSpPr>
        <p:spPr>
          <a:xfrm>
            <a:off x="685800" y="29335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33573"/>
            <a:ext cx="29367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LLM-проверка ловит смысл, но может принять два разных вопроса за один</a:t>
            </a:r>
          </a:p>
        </p:txBody>
      </p:sp>
      <p:sp>
        <p:nvSpPr>
          <p:cNvPr id="13" name="TextBox 12"/>
          <p:cNvSpPr txBox="1"/>
          <p:nvPr/>
        </p:nvSpPr>
        <p:spPr>
          <a:xfrm>
            <a:off x="3768816" y="2933573"/>
            <a:ext cx="758803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делает это правильно: проверка смыслом реально способна перепутать похожие, но разные по сути вопросы, или счесть одним и тем же два текста, совпадающих только по теме — ложный дубль</a:t>
            </a:r>
          </a:p>
        </p:txBody>
      </p:sp>
      <p:cxnSp>
        <p:nvCxnSpPr>
          <p:cNvPr id="14" name="Connector 13"/>
          <p:cNvCxnSpPr/>
          <p:nvPr/>
        </p:nvCxnSpPr>
        <p:spPr>
          <a:xfrm>
            <a:off x="685800" y="364585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645852"/>
            <a:ext cx="29367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LLM-проверка дороже, но всегда точнее механической</a:t>
            </a:r>
          </a:p>
        </p:txBody>
      </p:sp>
      <p:sp>
        <p:nvSpPr>
          <p:cNvPr id="16" name="TextBox 15"/>
          <p:cNvSpPr txBox="1"/>
          <p:nvPr/>
        </p:nvSpPr>
        <p:spPr>
          <a:xfrm>
            <a:off x="3768816" y="3645852"/>
            <a:ext cx="758803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делает: «всегда точнее» — ложное обобщение; у LLM-проверки собственная частота ошибок в обе стороны: она не «точнее механической в принципе» — она иначе ошибается, и дороже за каждый вызов</a:t>
            </a:r>
          </a:p>
        </p:txBody>
      </p:sp>
      <p:sp>
        <p:nvSpPr>
          <p:cNvPr id="17" name="Rounded Rectangle 16"/>
          <p:cNvSpPr/>
          <p:nvPr/>
        </p:nvSpPr>
        <p:spPr>
          <a:xfrm>
            <a:off x="502920" y="4957381"/>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5085397"/>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Поворот.</a:t>
            </a:r>
            <a:r>
              <a:rPr sz="1500" b="1" i="0">
                <a:solidFill>
                  <a:srgbClr val="141B2E"/>
                </a:solidFill>
                <a:latin typeface="Arial"/>
              </a:rPr>
              <a:t> Механическая проверка не притворяется, что умеет больше, чем умеет, — её область названа честно: буквальное совпадение. Проверка смыслом умеет больше, но расплачивается за это собственной, другой ошибкой — она может перепутать разные вопросы или счесть разными одинаковые. У каждой своя цена и своя слепая зона, а не превосходство одной над другой.</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устроена проверка перед записью</a:t>
            </a:r>
          </a:p>
        </p:txBody>
      </p:sp>
      <p:sp>
        <p:nvSpPr>
          <p:cNvPr id="3" name="Rounded Rectangle 2"/>
          <p:cNvSpPr/>
          <p:nvPr/>
        </p:nvSpPr>
        <p:spPr>
          <a:xfrm>
            <a:off x="502920" y="128899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1701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Шаг 1 — механический фильтр.</a:t>
            </a:r>
            <a:r>
              <a:rPr sz="1500" b="1" i="0">
                <a:solidFill>
                  <a:srgbClr val="141B2E"/>
                </a:solidFill>
                <a:latin typeface="Arial"/>
              </a:rPr>
              <a:t> Узел считает нормализованный хэш текста заявки и сверяет его с недавними записями того же контакта за окно N часов в той же таблице. Точный повтор он решает сам, без единого вызова модели.</a:t>
            </a:r>
          </a:p>
        </p:txBody>
      </p:sp>
      <p:sp>
        <p:nvSpPr>
          <p:cNvPr id="5" name="Rounded Rectangle 4"/>
          <p:cNvSpPr/>
          <p:nvPr/>
        </p:nvSpPr>
        <p:spPr>
          <a:xfrm>
            <a:off x="502920" y="2939491"/>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67507"/>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Шаг 2 — проверка смыслом, только для спорных случаев.</a:t>
            </a:r>
            <a:r>
              <a:rPr sz="1500" b="1" i="0">
                <a:solidFill>
                  <a:srgbClr val="141B2E"/>
                </a:solidFill>
                <a:latin typeface="Arial"/>
              </a:rPr>
              <a:t> То, что механический фильтр не разрешил однозначно — разные тексты, тот же контакт, близкое время, — передаётся на LLM-проверку с прямым вопросом «это тот же вопрос, просто иначе сформулированный», и модель отвечает одним словом: да или нет.</a:t>
            </a:r>
          </a:p>
        </p:txBody>
      </p:sp>
      <p:sp>
        <p:nvSpPr>
          <p:cNvPr id="7" name="Rounded Rectangle 6"/>
          <p:cNvSpPr/>
          <p:nvPr/>
        </p:nvSpPr>
        <p:spPr>
          <a:xfrm>
            <a:off x="502920" y="482620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95421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Порядок выбран не случайно.</a:t>
            </a:r>
            <a:r>
              <a:rPr sz="1500" b="1" i="0">
                <a:solidFill>
                  <a:srgbClr val="141B2E"/>
                </a:solidFill>
                <a:latin typeface="Arial"/>
              </a:rPr>
              <a:t> Дешёвый фильтр стоит первым и забирает себе все буквальные повторы бесплатно. Модель вызывается лишь на остаток, который дешёвый фильтр оставил нерешённым — на каждую заявку её звать незачем.</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Прогон execution 50 и execution 51</a:t>
            </a:r>
          </a:p>
        </p:txBody>
      </p:sp>
      <p:sp>
        <p:nvSpPr>
          <p:cNvPr id="3" name="Rounded Rectangle 2"/>
          <p:cNvSpPr/>
          <p:nvPr/>
        </p:nvSpPr>
        <p:spPr>
          <a:xfrm>
            <a:off x="502920" y="1235278"/>
            <a:ext cx="11183112" cy="2062162"/>
          </a:xfrm>
          <a:prstGeom prst="roundRect">
            <a:avLst>
              <a:gd name="adj" fmla="val 1478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18158"/>
            <a:ext cx="8865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EXECUTION</a:t>
            </a:r>
          </a:p>
        </p:txBody>
      </p:sp>
      <p:sp>
        <p:nvSpPr>
          <p:cNvPr id="5" name="TextBox 4"/>
          <p:cNvSpPr txBox="1"/>
          <p:nvPr/>
        </p:nvSpPr>
        <p:spPr>
          <a:xfrm>
            <a:off x="1718637" y="1418158"/>
            <a:ext cx="93257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ЗАЯВИТЕЛЬ</a:t>
            </a:r>
          </a:p>
        </p:txBody>
      </p:sp>
      <p:sp>
        <p:nvSpPr>
          <p:cNvPr id="6" name="TextBox 5"/>
          <p:cNvSpPr txBox="1"/>
          <p:nvPr/>
        </p:nvSpPr>
        <p:spPr>
          <a:xfrm>
            <a:off x="2797512" y="1418158"/>
            <a:ext cx="141813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ТЕКУЩИЙ ТЕКСТ</a:t>
            </a:r>
          </a:p>
        </p:txBody>
      </p:sp>
      <p:sp>
        <p:nvSpPr>
          <p:cNvPr id="7" name="TextBox 6"/>
          <p:cNvSpPr txBox="1"/>
          <p:nvPr/>
        </p:nvSpPr>
        <p:spPr>
          <a:xfrm>
            <a:off x="4361947" y="1418158"/>
            <a:ext cx="199519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ПРЕДЫДУЩЕЕ СООБЩЕНИЕ</a:t>
            </a:r>
          </a:p>
        </p:txBody>
      </p:sp>
      <p:sp>
        <p:nvSpPr>
          <p:cNvPr id="8" name="TextBox 7"/>
          <p:cNvSpPr txBox="1"/>
          <p:nvPr/>
        </p:nvSpPr>
        <p:spPr>
          <a:xfrm>
            <a:off x="6503448" y="1418158"/>
            <a:ext cx="485339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СДЕЛАЛ ФИЛЬТР</a:t>
            </a:r>
          </a:p>
        </p:txBody>
      </p:sp>
      <p:sp>
        <p:nvSpPr>
          <p:cNvPr id="9" name="TextBox 8"/>
          <p:cNvSpPr txBox="1"/>
          <p:nvPr/>
        </p:nvSpPr>
        <p:spPr>
          <a:xfrm>
            <a:off x="685800" y="1872564"/>
            <a:ext cx="8865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50</a:t>
            </a:r>
          </a:p>
        </p:txBody>
      </p:sp>
      <p:sp>
        <p:nvSpPr>
          <p:cNvPr id="10" name="TextBox 9"/>
          <p:cNvSpPr txBox="1"/>
          <p:nvPr/>
        </p:nvSpPr>
        <p:spPr>
          <a:xfrm>
            <a:off x="1718637" y="1872564"/>
            <a:ext cx="93257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Анна</a:t>
            </a:r>
          </a:p>
        </p:txBody>
      </p:sp>
      <p:sp>
        <p:nvSpPr>
          <p:cNvPr id="11" name="TextBox 10"/>
          <p:cNvSpPr txBox="1"/>
          <p:nvPr/>
        </p:nvSpPr>
        <p:spPr>
          <a:xfrm>
            <a:off x="2797512" y="1872564"/>
            <a:ext cx="141813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 мне внести оплату за курс»</a:t>
            </a:r>
          </a:p>
        </p:txBody>
      </p:sp>
      <p:sp>
        <p:nvSpPr>
          <p:cNvPr id="12" name="TextBox 11"/>
          <p:cNvSpPr txBox="1"/>
          <p:nvPr/>
        </p:nvSpPr>
        <p:spPr>
          <a:xfrm>
            <a:off x="4361947" y="1872564"/>
            <a:ext cx="199519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можно оплатить занятие?»</a:t>
            </a:r>
          </a:p>
        </p:txBody>
      </p:sp>
      <p:sp>
        <p:nvSpPr>
          <p:cNvPr id="13" name="TextBox 12"/>
          <p:cNvSpPr txBox="1"/>
          <p:nvPr/>
        </p:nvSpPr>
        <p:spPr>
          <a:xfrm>
            <a:off x="6503448" y="1872564"/>
            <a:ext cx="485339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механический хэш другой → дошло до LLM-проверки → модель ответила </a:t>
            </a:r>
            <a:r>
              <a:rPr sz="1250" b="1" i="0">
                <a:solidFill>
                  <a:srgbClr val="141B2E"/>
                </a:solidFill>
                <a:latin typeface="Arial"/>
              </a:rPr>
              <a:t>«Да.»</a:t>
            </a:r>
            <a:r>
              <a:rPr sz="1250" b="0" i="0">
                <a:solidFill>
                  <a:srgbClr val="141B2E"/>
                </a:solidFill>
                <a:latin typeface="Arial"/>
              </a:rPr>
              <a:t> (распознала переформулировку)</a:t>
            </a:r>
          </a:p>
        </p:txBody>
      </p:sp>
      <p:cxnSp>
        <p:nvCxnSpPr>
          <p:cNvPr id="14" name="Connector 13"/>
          <p:cNvCxnSpPr/>
          <p:nvPr/>
        </p:nvCxnSpPr>
        <p:spPr>
          <a:xfrm>
            <a:off x="685800" y="24022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02281"/>
            <a:ext cx="88653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51</a:t>
            </a:r>
          </a:p>
        </p:txBody>
      </p:sp>
      <p:sp>
        <p:nvSpPr>
          <p:cNvPr id="16" name="TextBox 15"/>
          <p:cNvSpPr txBox="1"/>
          <p:nvPr/>
        </p:nvSpPr>
        <p:spPr>
          <a:xfrm>
            <a:off x="1718637" y="2402281"/>
            <a:ext cx="93257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Борис</a:t>
            </a:r>
          </a:p>
        </p:txBody>
      </p:sp>
      <p:sp>
        <p:nvSpPr>
          <p:cNvPr id="17" name="TextBox 16"/>
          <p:cNvSpPr txBox="1"/>
          <p:nvPr/>
        </p:nvSpPr>
        <p:spPr>
          <a:xfrm>
            <a:off x="2797512" y="2402281"/>
            <a:ext cx="141813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можно оплатить занятие?»</a:t>
            </a:r>
          </a:p>
        </p:txBody>
      </p:sp>
      <p:sp>
        <p:nvSpPr>
          <p:cNvPr id="18" name="TextBox 17"/>
          <p:cNvSpPr txBox="1"/>
          <p:nvPr/>
        </p:nvSpPr>
        <p:spPr>
          <a:xfrm>
            <a:off x="4361947" y="2402281"/>
            <a:ext cx="199519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«когда можно оплатить занятие?» (буквально то же)</a:t>
            </a:r>
          </a:p>
        </p:txBody>
      </p:sp>
      <p:sp>
        <p:nvSpPr>
          <p:cNvPr id="19" name="TextBox 18"/>
          <p:cNvSpPr txBox="1"/>
          <p:nvPr/>
        </p:nvSpPr>
        <p:spPr>
          <a:xfrm>
            <a:off x="6503448" y="2402281"/>
            <a:ext cx="485339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узел </a:t>
            </a:r>
            <a:r>
              <a:rPr sz="1250" b="0" i="0">
                <a:solidFill>
                  <a:srgbClr val="141B2E"/>
                </a:solidFill>
                <a:latin typeface="Consolas"/>
              </a:rPr>
              <a:t>Exact</a:t>
            </a:r>
            <a:r>
              <a:rPr sz="1250" b="0" i="0">
                <a:solidFill>
                  <a:srgbClr val="141B2E"/>
                </a:solidFill>
                <a:latin typeface="Arial"/>
              </a:rPr>
              <a:t> </a:t>
            </a:r>
            <a:r>
              <a:rPr sz="1250" b="0" i="0">
                <a:solidFill>
                  <a:srgbClr val="141B2E"/>
                </a:solidFill>
                <a:latin typeface="Consolas"/>
              </a:rPr>
              <a:t>duplicate</a:t>
            </a:r>
            <a:r>
              <a:rPr sz="1250" b="0" i="0">
                <a:solidFill>
                  <a:srgbClr val="141B2E"/>
                </a:solidFill>
                <a:latin typeface="Arial"/>
              </a:rPr>
              <a:t> </a:t>
            </a:r>
            <a:r>
              <a:rPr sz="1250" b="0" i="0">
                <a:solidFill>
                  <a:srgbClr val="141B2E"/>
                </a:solidFill>
                <a:latin typeface="Consolas"/>
              </a:rPr>
              <a:t>in</a:t>
            </a:r>
            <a:r>
              <a:rPr sz="1250" b="0" i="0">
                <a:solidFill>
                  <a:srgbClr val="141B2E"/>
                </a:solidFill>
                <a:latin typeface="Arial"/>
              </a:rPr>
              <a:t> </a:t>
            </a:r>
            <a:r>
              <a:rPr sz="1250" b="0" i="0">
                <a:solidFill>
                  <a:srgbClr val="141B2E"/>
                </a:solidFill>
                <a:latin typeface="Consolas"/>
              </a:rPr>
              <a:t>window?</a:t>
            </a:r>
            <a:r>
              <a:rPr sz="1250" b="0" i="0">
                <a:solidFill>
                  <a:srgbClr val="141B2E"/>
                </a:solidFill>
                <a:latin typeface="Arial"/>
              </a:rPr>
              <a:t> поймал точное совпадение и остановил цепочку — </a:t>
            </a:r>
            <a:r>
              <a:rPr sz="1250" b="1" i="0">
                <a:solidFill>
                  <a:srgbClr val="141B2E"/>
                </a:solidFill>
                <a:latin typeface="Arial"/>
              </a:rPr>
              <a:t>ни строки в таблице, ни ответа не было</a:t>
            </a:r>
          </a:p>
        </p:txBody>
      </p:sp>
      <p:sp>
        <p:nvSpPr>
          <p:cNvPr id="20" name="Rounded Rectangle 19"/>
          <p:cNvSpPr/>
          <p:nvPr/>
        </p:nvSpPr>
        <p:spPr>
          <a:xfrm>
            <a:off x="502920" y="396495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09296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Находка.</a:t>
            </a:r>
            <a:r>
              <a:rPr sz="1500" b="1" i="0">
                <a:solidFill>
                  <a:srgbClr val="141B2E"/>
                </a:solidFill>
                <a:latin typeface="Arial"/>
              </a:rPr>
              <a:t> У execution </a:t>
            </a:r>
            <a:r>
              <a:rPr sz="1500" b="1" i="0">
                <a:solidFill>
                  <a:srgbClr val="141B2E"/>
                </a:solidFill>
                <a:latin typeface="Consolas"/>
              </a:rPr>
              <a:t>51</a:t>
            </a:r>
            <a:r>
              <a:rPr sz="1500" b="1" i="0">
                <a:solidFill>
                  <a:srgbClr val="141B2E"/>
                </a:solidFill>
                <a:latin typeface="Arial"/>
              </a:rPr>
              <a:t> нет ни записи в таблице, ни экрана результата — заявка молча пропала. При этом статус самого прогона n8n на этом execution — </a:t>
            </a:r>
            <a:r>
              <a:rPr sz="1500" b="1" i="0">
                <a:solidFill>
                  <a:srgbClr val="141B2E"/>
                </a:solidFill>
                <a:latin typeface="Arial"/>
              </a:rPr>
              <a:t>success</a:t>
            </a:r>
            <a:r>
              <a:rPr sz="1500" b="1" i="0">
                <a:solidFill>
                  <a:srgbClr val="141B2E"/>
                </a:solidFill>
                <a:latin typeface="Arial"/>
              </a:rPr>
              <a:t>: ни один узел не упал.</a:t>
            </a:r>
          </a:p>
        </p:txBody>
      </p:sp>
      <p:sp>
        <p:nvSpPr>
          <p:cNvPr id="22" name="Rounded Rectangle 21"/>
          <p:cNvSpPr/>
          <p:nvPr/>
        </p:nvSpPr>
        <p:spPr>
          <a:xfrm>
            <a:off x="502920" y="5379224"/>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507240"/>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Подписано: execution </a:t>
            </a:r>
            <a:r>
              <a:rPr sz="1500" b="1" i="0">
                <a:solidFill>
                  <a:srgbClr val="141B2E"/>
                </a:solidFill>
                <a:latin typeface="Consolas"/>
              </a:rPr>
              <a:t>50</a:t>
            </a:r>
            <a:r>
              <a:rPr sz="1500" b="1" i="0">
                <a:solidFill>
                  <a:srgbClr val="141B2E"/>
                </a:solidFill>
                <a:latin typeface="Arial"/>
              </a:rPr>
              <a:t>, execution </a:t>
            </a:r>
            <a:r>
              <a:rPr sz="1500" b="1" i="0">
                <a:solidFill>
                  <a:srgbClr val="141B2E"/>
                </a:solidFill>
                <a:latin typeface="Consolas"/>
              </a:rPr>
              <a:t>51</a:t>
            </a:r>
            <a:r>
              <a:rPr sz="1500" b="1" i="0">
                <a:solidFill>
                  <a:srgbClr val="141B2E"/>
                </a:solidFill>
                <a:latin typeface="Arial"/>
              </a:rPr>
              <a:t>, </a:t>
            </a:r>
            <a:r>
              <a:rPr sz="1500" b="1" i="0">
                <a:solidFill>
                  <a:srgbClr val="141B2E"/>
                </a:solidFill>
                <a:latin typeface="Consolas"/>
              </a:rPr>
              <a:t>n8n.lessons.tellian.io</a:t>
            </a:r>
            <a:r>
              <a:rPr sz="1500" b="1" i="0">
                <a:solidFill>
                  <a:srgbClr val="141B2E"/>
                </a:solidFill>
                <a:latin typeface="Arial"/>
              </a:rPr>
              <a:t>.</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Разные инструменты, не конкуренты</a:t>
            </a:r>
          </a:p>
        </p:txBody>
      </p:sp>
      <p:sp>
        <p:nvSpPr>
          <p:cNvPr id="3" name="Rounded Rectangle 2"/>
          <p:cNvSpPr/>
          <p:nvPr/>
        </p:nvSpPr>
        <p:spPr>
          <a:xfrm>
            <a:off x="502920" y="1188262"/>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71142"/>
            <a:ext cx="225371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ПРОВЕРКА</a:t>
            </a:r>
          </a:p>
        </p:txBody>
      </p:sp>
      <p:sp>
        <p:nvSpPr>
          <p:cNvPr id="5" name="TextBox 4"/>
          <p:cNvSpPr txBox="1"/>
          <p:nvPr/>
        </p:nvSpPr>
        <p:spPr>
          <a:xfrm>
            <a:off x="3085820" y="1371142"/>
            <a:ext cx="154324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a:t>
            </a:r>
          </a:p>
        </p:txBody>
      </p:sp>
      <p:sp>
        <p:nvSpPr>
          <p:cNvPr id="6" name="TextBox 5"/>
          <p:cNvSpPr txBox="1"/>
          <p:nvPr/>
        </p:nvSpPr>
        <p:spPr>
          <a:xfrm>
            <a:off x="4775368" y="1371142"/>
            <a:ext cx="29204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ЛОВИТ</a:t>
            </a:r>
          </a:p>
        </p:txBody>
      </p:sp>
      <p:sp>
        <p:nvSpPr>
          <p:cNvPr id="7" name="TextBox 6"/>
          <p:cNvSpPr txBox="1"/>
          <p:nvPr/>
        </p:nvSpPr>
        <p:spPr>
          <a:xfrm>
            <a:off x="7842150" y="1371142"/>
            <a:ext cx="35146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ВКЛЮЧАЕТСЯ</a:t>
            </a:r>
          </a:p>
        </p:txBody>
      </p:sp>
      <p:sp>
        <p:nvSpPr>
          <p:cNvPr id="8" name="TextBox 7"/>
          <p:cNvSpPr txBox="1"/>
          <p:nvPr/>
        </p:nvSpPr>
        <p:spPr>
          <a:xfrm>
            <a:off x="685800" y="1653209"/>
            <a:ext cx="225371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механическая (хэш + окно времени)</a:t>
            </a:r>
          </a:p>
        </p:txBody>
      </p:sp>
      <p:sp>
        <p:nvSpPr>
          <p:cNvPr id="9" name="TextBox 8"/>
          <p:cNvSpPr txBox="1"/>
          <p:nvPr/>
        </p:nvSpPr>
        <p:spPr>
          <a:xfrm>
            <a:off x="3085820" y="1653209"/>
            <a:ext cx="154324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вызова модели</a:t>
            </a:r>
          </a:p>
        </p:txBody>
      </p:sp>
      <p:sp>
        <p:nvSpPr>
          <p:cNvPr id="10" name="TextBox 9"/>
          <p:cNvSpPr txBox="1"/>
          <p:nvPr/>
        </p:nvSpPr>
        <p:spPr>
          <a:xfrm>
            <a:off x="4775368" y="1653209"/>
            <a:ext cx="29204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точное совпадение текста</a:t>
            </a:r>
          </a:p>
        </p:txBody>
      </p:sp>
      <p:sp>
        <p:nvSpPr>
          <p:cNvPr id="11" name="TextBox 10"/>
          <p:cNvSpPr txBox="1"/>
          <p:nvPr/>
        </p:nvSpPr>
        <p:spPr>
          <a:xfrm>
            <a:off x="7842150" y="1653209"/>
            <a:ext cx="351469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первой, на каждую новую заявку</a:t>
            </a:r>
          </a:p>
        </p:txBody>
      </p:sp>
      <p:cxnSp>
        <p:nvCxnSpPr>
          <p:cNvPr id="12" name="Connector 11"/>
          <p:cNvCxnSpPr/>
          <p:nvPr/>
        </p:nvCxnSpPr>
        <p:spPr>
          <a:xfrm>
            <a:off x="685800" y="21829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82926"/>
            <a:ext cx="2253716"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смысловая (LLM-проверка)</a:t>
            </a:r>
          </a:p>
        </p:txBody>
      </p:sp>
      <p:sp>
        <p:nvSpPr>
          <p:cNvPr id="14" name="TextBox 13"/>
          <p:cNvSpPr txBox="1"/>
          <p:nvPr/>
        </p:nvSpPr>
        <p:spPr>
          <a:xfrm>
            <a:off x="3085820" y="2182926"/>
            <a:ext cx="154324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дороже с каждым вызовом</a:t>
            </a:r>
          </a:p>
        </p:txBody>
      </p:sp>
      <p:sp>
        <p:nvSpPr>
          <p:cNvPr id="15" name="TextBox 14"/>
          <p:cNvSpPr txBox="1"/>
          <p:nvPr/>
        </p:nvSpPr>
        <p:spPr>
          <a:xfrm>
            <a:off x="4775368" y="2182926"/>
            <a:ext cx="29204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переформулировку, которую механическая пропускает</a:t>
            </a:r>
          </a:p>
        </p:txBody>
      </p:sp>
      <p:sp>
        <p:nvSpPr>
          <p:cNvPr id="16" name="TextBox 15"/>
          <p:cNvSpPr txBox="1"/>
          <p:nvPr/>
        </p:nvSpPr>
        <p:spPr>
          <a:xfrm>
            <a:off x="7842150" y="2182926"/>
            <a:ext cx="351469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когда механическая не дала однозначного ответа</a:t>
            </a:r>
          </a:p>
        </p:txBody>
      </p:sp>
      <p:sp>
        <p:nvSpPr>
          <p:cNvPr id="17" name="Rounded Rectangle 16"/>
          <p:cNvSpPr/>
          <p:nvPr/>
        </p:nvSpPr>
        <p:spPr>
          <a:xfrm>
            <a:off x="502920" y="356303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369105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Системный приём.</a:t>
            </a:r>
            <a:r>
              <a:rPr sz="1500" b="1" i="0">
                <a:solidFill>
                  <a:srgbClr val="141B2E"/>
                </a:solidFill>
                <a:latin typeface="Arial"/>
              </a:rPr>
              <a:t> Экономия вызовов модели через тираж проверки по уровням — от грубой и дешёвой к точной и дорогой. Дорогой инструмент тратится только там, где дешёвый явно не дал ответа, а не вместо него и не всегда вместе с ним.</a:t>
            </a:r>
          </a:p>
        </p:txBody>
      </p:sp>
      <p:sp>
        <p:nvSpPr>
          <p:cNvPr id="19" name="Rounded Rectangle 18"/>
          <p:cNvSpPr/>
          <p:nvPr/>
        </p:nvSpPr>
        <p:spPr>
          <a:xfrm>
            <a:off x="502920" y="521352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34154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Семинаре 10 эта же механика — сравнение смысла заявок — расширяется до поиска ответа в базе знаний и объединения типовых вопросов.</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Окно времени, LLM-судья и определение дубля</a:t>
            </a:r>
          </a:p>
        </p:txBody>
      </p:sp>
      <p:sp>
        <p:nvSpPr>
          <p:cNvPr id="3" name="Rounded Rectangle 2"/>
          <p:cNvSpPr/>
          <p:nvPr/>
        </p:nvSpPr>
        <p:spPr>
          <a:xfrm>
            <a:off x="502920" y="2039569"/>
            <a:ext cx="11183112" cy="2643759"/>
          </a:xfrm>
          <a:prstGeom prst="roundRect">
            <a:avLst>
              <a:gd name="adj" fmla="val 1152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5902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2259025"/>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Окно времени — параметр с ценой.</a:t>
            </a:r>
            <a:r>
              <a:rPr sz="1350" b="0" i="0">
                <a:solidFill>
                  <a:srgbClr val="141B2E"/>
                </a:solidFill>
                <a:latin typeface="Arial"/>
              </a:rPr>
              <a:t> Слишком короткое пропустит повтор, разнесённый на пару дней. Слишком длинное начнёт путать разные последовательные обращения одного и того же человека с повтором одного обращения.</a:t>
            </a:r>
          </a:p>
        </p:txBody>
      </p:sp>
      <p:sp>
        <p:nvSpPr>
          <p:cNvPr id="6" name="TextBox 5"/>
          <p:cNvSpPr txBox="1"/>
          <p:nvPr/>
        </p:nvSpPr>
        <p:spPr>
          <a:xfrm>
            <a:off x="722376" y="299397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99397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LLM-проверка похожести — частный случай LLM-судьи.</a:t>
            </a:r>
            <a:r>
              <a:rPr sz="1350" b="0" i="0">
                <a:solidFill>
                  <a:srgbClr val="141B2E"/>
                </a:solidFill>
                <a:latin typeface="Arial"/>
              </a:rPr>
              <a:t> У неё та же асимметрия ошибок, что у любой модели в роли оценщика: задокументировано на примере self-preference bias — arXiv:2410.21819 (NeurIPS 2024 Safe GenAI Workshop, Wataoka/Takahashi/Ri). Модель-судья не нейтральна даже когда формально отвечает.</a:t>
            </a:r>
          </a:p>
        </p:txBody>
      </p:sp>
      <p:sp>
        <p:nvSpPr>
          <p:cNvPr id="8" name="TextBox 7"/>
          <p:cNvSpPr txBox="1"/>
          <p:nvPr/>
        </p:nvSpPr>
        <p:spPr>
          <a:xfrm>
            <a:off x="722376" y="372892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72892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считать дублем» — продуктовое решение, не только техническое.</a:t>
            </a:r>
            <a:r>
              <a:rPr sz="1350" b="0" i="0">
                <a:solidFill>
                  <a:srgbClr val="141B2E"/>
                </a:solidFill>
                <a:latin typeface="Arial"/>
              </a:rPr>
              <a:t> Иногда «тот же вопрос другими словами» стоит обработать как новое обращение — человек ждёт ответа срочнее второй раз. Не всякий технический повтор должен схлопываться в один в интерфейсе.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достаточно механической проверки</a:t>
            </a:r>
          </a:p>
        </p:txBody>
      </p:sp>
      <p:sp>
        <p:nvSpPr>
          <p:cNvPr id="3" name="Rounded Rectangle 2"/>
          <p:cNvSpPr/>
          <p:nvPr/>
        </p:nvSpPr>
        <p:spPr>
          <a:xfrm>
            <a:off x="502920" y="1083259"/>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298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МЕХАНИЧЕСКОЙ ПРОВЕРКИ ДОСТАТОЧНО</a:t>
            </a:r>
          </a:p>
        </p:txBody>
      </p:sp>
      <p:sp>
        <p:nvSpPr>
          <p:cNvPr id="5" name="TextBox 4"/>
          <p:cNvSpPr txBox="1"/>
          <p:nvPr/>
        </p:nvSpPr>
        <p:spPr>
          <a:xfrm>
            <a:off x="685800" y="146730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повторы в основном буквальные — один канал, одна форма</a:t>
            </a:r>
          </a:p>
        </p:txBody>
      </p:sp>
      <p:cxnSp>
        <p:nvCxnSpPr>
          <p:cNvPr id="6" name="Connector 5"/>
          <p:cNvCxnSpPr/>
          <p:nvPr/>
        </p:nvCxnSpPr>
        <p:spPr>
          <a:xfrm>
            <a:off x="685800" y="178595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8595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человек просто дважды нажал «отправить» на одной и той же форме</a:t>
            </a:r>
          </a:p>
        </p:txBody>
      </p:sp>
      <p:cxnSp>
        <p:nvCxnSpPr>
          <p:cNvPr id="8" name="Connector 7"/>
          <p:cNvCxnSpPr/>
          <p:nvPr/>
        </p:nvCxnSpPr>
        <p:spPr>
          <a:xfrm>
            <a:off x="685800" y="227693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27693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низкая — лишняя строка не стоит почти ничего</a:t>
            </a:r>
          </a:p>
        </p:txBody>
      </p:sp>
      <p:sp>
        <p:nvSpPr>
          <p:cNvPr id="10" name="Rounded Rectangle 9"/>
          <p:cNvSpPr/>
          <p:nvPr/>
        </p:nvSpPr>
        <p:spPr>
          <a:xfrm>
            <a:off x="6231636" y="1083259"/>
            <a:ext cx="5454396" cy="2039874"/>
          </a:xfrm>
          <a:prstGeom prst="roundRect">
            <a:avLst>
              <a:gd name="adj" fmla="val 1494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92987"/>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LLM-ПРОВЕРКА СВЕРХУ ОПРАВДАНА</a:t>
            </a:r>
          </a:p>
        </p:txBody>
      </p:sp>
      <p:sp>
        <p:nvSpPr>
          <p:cNvPr id="12" name="TextBox 11"/>
          <p:cNvSpPr txBox="1"/>
          <p:nvPr/>
        </p:nvSpPr>
        <p:spPr>
          <a:xfrm>
            <a:off x="6414516" y="146730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ожидаются переформулировки — разные каналы, разный интервал</a:t>
            </a:r>
          </a:p>
        </p:txBody>
      </p:sp>
      <p:cxnSp>
        <p:nvCxnSpPr>
          <p:cNvPr id="13" name="Connector 12"/>
          <p:cNvCxnSpPr/>
          <p:nvPr/>
        </p:nvCxnSpPr>
        <p:spPr>
          <a:xfrm>
            <a:off x="6414516" y="195828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95828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человек каждый раз пишет своими словами, даже о том же самом</a:t>
            </a:r>
          </a:p>
        </p:txBody>
      </p:sp>
      <p:cxnSp>
        <p:nvCxnSpPr>
          <p:cNvPr id="15" name="Connector 14"/>
          <p:cNvCxnSpPr/>
          <p:nvPr/>
        </p:nvCxnSpPr>
        <p:spPr>
          <a:xfrm>
            <a:off x="6414516" y="244927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44927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цена необнаруженного дубля выше цены одного LLM-вызова на спорные случаи — повторный звонок, повторная работа</a:t>
            </a:r>
          </a:p>
        </p:txBody>
      </p:sp>
      <p:sp>
        <p:nvSpPr>
          <p:cNvPr id="17" name="Rounded Rectangle 16"/>
          <p:cNvSpPr/>
          <p:nvPr/>
        </p:nvSpPr>
        <p:spPr>
          <a:xfrm>
            <a:off x="502920" y="363748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376549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Предел.</a:t>
            </a:r>
            <a:r>
              <a:rPr sz="1500" b="1" i="0">
                <a:solidFill>
                  <a:srgbClr val="141B2E"/>
                </a:solidFill>
                <a:latin typeface="Arial"/>
              </a:rPr>
              <a:t> «Что считать дублем» — продуктовое решение, не только техническое: эта граница лежит не в фильтре и не в модели — она лежит в договорённости, что вообще признаётся повтором одного и того же обращения.</a:t>
            </a:r>
          </a:p>
        </p:txBody>
      </p:sp>
      <p:sp>
        <p:nvSpPr>
          <p:cNvPr id="19" name="Rounded Rectangle 18"/>
          <p:cNvSpPr/>
          <p:nvPr/>
        </p:nvSpPr>
        <p:spPr>
          <a:xfrm>
            <a:off x="502920" y="513481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26282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Вторая строка оси закрыта.</a:t>
            </a:r>
            <a:r>
              <a:rPr sz="1500" b="1" i="0">
                <a:solidFill>
                  <a:srgbClr val="141B2E"/>
                </a:solidFill>
                <a:latin typeface="Arial"/>
              </a:rPr>
              <a:t> «Заявка про тот же вопрос пришла снова — обработали как новую» → чем оказался: без проверки на дубль каждое повторное обращение запускает цепочку с нуля. Механическая и смысловая проверка — разные инструменты: выбор одного из двух тут и не стоит.</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Правило возврата в промте</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«Не возвращай больше суммы X автоматически, иначе эскалируй» — строка промта шага, который решает про возврат денег. Стоит в системе уже месяц.</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1</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2</a:t>
            </a:r>
          </a:p>
        </p:txBody>
      </p:sp>
      <p:sp>
        <p:nvSpPr>
          <p:cNvPr id="9" name="Rounded Rectangle 8"/>
          <p:cNvSpPr/>
          <p:nvPr/>
        </p:nvSpPr>
        <p:spPr>
          <a:xfrm>
            <a:off x="6185916"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3</a:t>
            </a:r>
          </a:p>
        </p:txBody>
      </p:sp>
      <p:sp>
        <p:nvSpPr>
          <p:cNvPr id="11" name="Rounded Rectangle 10"/>
          <p:cNvSpPr/>
          <p:nvPr/>
        </p:nvSpPr>
        <p:spPr>
          <a:xfrm>
            <a:off x="9027414" y="5989320"/>
            <a:ext cx="2658618"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Кейс 4</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процесса возврата на одном стенде</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Учебный центр обрабатывает заявки на возврат. Мелкую сумму — до порога X — процесс должен одобрить сам, не отрывая руководителя на каждую мелочь; явный возврат выше порога — эскалировать. Порог X вписан прямо в промт шага, который и принимает это решение.</a:t>
            </a:r>
          </a:p>
        </p:txBody>
      </p:sp>
      <p:sp>
        <p:nvSpPr>
          <p:cNvPr id="5" name="Rounded Rectangle 4"/>
          <p:cNvSpPr/>
          <p:nvPr/>
        </p:nvSpPr>
        <p:spPr>
          <a:xfrm>
            <a:off x="502920" y="2043684"/>
            <a:ext cx="11183112" cy="1781174"/>
          </a:xfrm>
          <a:prstGeom prst="roundRect">
            <a:avLst>
              <a:gd name="adj" fmla="val 1711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26564"/>
            <a:ext cx="727634" cy="604266"/>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ПРОЦЕСС</a:t>
            </a:r>
          </a:p>
        </p:txBody>
      </p:sp>
      <p:sp>
        <p:nvSpPr>
          <p:cNvPr id="7" name="TextBox 6"/>
          <p:cNvSpPr txBox="1"/>
          <p:nvPr/>
        </p:nvSpPr>
        <p:spPr>
          <a:xfrm>
            <a:off x="1559738" y="2226564"/>
            <a:ext cx="1111396" cy="604266"/>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КТО ПРИНИМАЕТ РЕШЕНИЕ</a:t>
            </a:r>
          </a:p>
        </p:txBody>
      </p:sp>
      <p:sp>
        <p:nvSpPr>
          <p:cNvPr id="8" name="TextBox 7"/>
          <p:cNvSpPr txBox="1"/>
          <p:nvPr/>
        </p:nvSpPr>
        <p:spPr>
          <a:xfrm>
            <a:off x="2817438" y="2226564"/>
            <a:ext cx="8539409" cy="604266"/>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ЧЕМ</a:t>
            </a:r>
          </a:p>
        </p:txBody>
      </p:sp>
      <p:sp>
        <p:nvSpPr>
          <p:cNvPr id="9" name="TextBox 8"/>
          <p:cNvSpPr txBox="1"/>
          <p:nvPr/>
        </p:nvSpPr>
        <p:spPr>
          <a:xfrm>
            <a:off x="685800" y="2830830"/>
            <a:ext cx="727634"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(A)</a:t>
            </a:r>
          </a:p>
        </p:txBody>
      </p:sp>
      <p:sp>
        <p:nvSpPr>
          <p:cNvPr id="10" name="TextBox 9"/>
          <p:cNvSpPr txBox="1"/>
          <p:nvPr/>
        </p:nvSpPr>
        <p:spPr>
          <a:xfrm>
            <a:off x="1559738" y="2830830"/>
            <a:ext cx="1111396"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модель</a:t>
            </a:r>
          </a:p>
        </p:txBody>
      </p:sp>
      <p:sp>
        <p:nvSpPr>
          <p:cNvPr id="11" name="TextBox 10"/>
          <p:cNvSpPr txBox="1"/>
          <p:nvPr/>
        </p:nvSpPr>
        <p:spPr>
          <a:xfrm>
            <a:off x="2817438" y="2830830"/>
            <a:ext cx="853940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OpenRouter, </a:t>
            </a:r>
            <a:r>
              <a:rPr sz="1100" b="0" i="0">
                <a:solidFill>
                  <a:srgbClr val="141B2E"/>
                </a:solidFill>
                <a:latin typeface="Consolas"/>
              </a:rPr>
              <a:t>qwen/qwen-2.5-7b-instruct</a:t>
            </a:r>
            <a:r>
              <a:rPr sz="1100" b="0" i="0">
                <a:solidFill>
                  <a:srgbClr val="141B2E"/>
                </a:solidFill>
                <a:latin typeface="Arial"/>
              </a:rPr>
              <a:t> — тот же </a:t>
            </a:r>
            <a:r>
              <a:rPr sz="1100" b="0" i="0">
                <a:solidFill>
                  <a:srgbClr val="141B2E"/>
                </a:solidFill>
                <a:latin typeface="Consolas"/>
              </a:rPr>
              <a:t>credential</a:t>
            </a:r>
            <a:r>
              <a:rPr sz="1100" b="0" i="0">
                <a:solidFill>
                  <a:srgbClr val="141B2E"/>
                </a:solidFill>
                <a:latin typeface="Arial"/>
              </a:rPr>
              <a:t>, которым Семинар 7 уже пользуется на шаге extraction. Правило-порог модель получает текстом, в промте</a:t>
            </a:r>
          </a:p>
        </p:txBody>
      </p:sp>
      <p:cxnSp>
        <p:nvCxnSpPr>
          <p:cNvPr id="12" name="Connector 11"/>
          <p:cNvCxnSpPr/>
          <p:nvPr/>
        </p:nvCxnSpPr>
        <p:spPr>
          <a:xfrm>
            <a:off x="685800" y="33167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316732"/>
            <a:ext cx="727634"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(B)</a:t>
            </a:r>
          </a:p>
        </p:txBody>
      </p:sp>
      <p:sp>
        <p:nvSpPr>
          <p:cNvPr id="14" name="TextBox 13"/>
          <p:cNvSpPr txBox="1"/>
          <p:nvPr/>
        </p:nvSpPr>
        <p:spPr>
          <a:xfrm>
            <a:off x="1559738" y="3316732"/>
            <a:ext cx="1111396"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код</a:t>
            </a:r>
          </a:p>
        </p:txBody>
      </p:sp>
      <p:sp>
        <p:nvSpPr>
          <p:cNvPr id="15" name="TextBox 14"/>
          <p:cNvSpPr txBox="1"/>
          <p:nvPr/>
        </p:nvSpPr>
        <p:spPr>
          <a:xfrm>
            <a:off x="2817438" y="3316732"/>
            <a:ext cx="853940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узел </a:t>
            </a:r>
            <a:r>
              <a:rPr sz="1100" b="0" i="0">
                <a:solidFill>
                  <a:srgbClr val="141B2E"/>
                </a:solidFill>
                <a:latin typeface="Consolas"/>
              </a:rPr>
              <a:t>IF</a:t>
            </a:r>
            <a:r>
              <a:rPr sz="1100" b="0" i="0">
                <a:solidFill>
                  <a:srgbClr val="141B2E"/>
                </a:solidFill>
                <a:latin typeface="Arial"/>
              </a:rPr>
              <a:t> — сравнивает извлечённую сумму с порогом X детерминированно</a:t>
            </a:r>
          </a:p>
        </p:txBody>
      </p:sp>
      <p:sp>
        <p:nvSpPr>
          <p:cNvPr id="16" name="Rounded Rectangle 15"/>
          <p:cNvSpPr/>
          <p:nvPr/>
        </p:nvSpPr>
        <p:spPr>
          <a:xfrm>
            <a:off x="502920" y="3989451"/>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117467"/>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Оба процесса стартуют с одной и той же извлечённой суммы. Модель, если и используется в процессе (B), — только чтобы извлечь сумму из текста заявки заранее: в самой точке решения её нет.</a:t>
            </a:r>
          </a:p>
        </p:txBody>
      </p:sp>
      <p:sp>
        <p:nvSpPr>
          <p:cNvPr id="18" name="Rounded Rectangle 17"/>
          <p:cNvSpPr/>
          <p:nvPr/>
        </p:nvSpPr>
        <p:spPr>
          <a:xfrm>
            <a:off x="502920" y="4869307"/>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997322"/>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Снятое направление.</a:t>
            </a:r>
            <a:r>
              <a:rPr sz="1450" b="1" i="0">
                <a:solidFill>
                  <a:srgbClr val="141B2E"/>
                </a:solidFill>
                <a:latin typeface="Arial"/>
              </a:rPr>
              <a:t> Первая попытка этой фазы — поднять модель локально (Ollama) и перебросить её туннелем к удалённому стенду — остановлена как лишняя сложность: n8n живёт на отдельном боксе, и локальная модель для него недостижима без туннеля. Это ровно то усложнение, против которого учит Кейс 1 этого же занятия: не городить инфраструктуру, когда рядом уже стоит рабочий </a:t>
            </a:r>
            <a:r>
              <a:rPr sz="1450" b="1" i="0">
                <a:solidFill>
                  <a:srgbClr val="141B2E"/>
                </a:solidFill>
                <a:latin typeface="Consolas"/>
              </a:rPr>
              <a:t>credential</a:t>
            </a:r>
            <a:r>
              <a:rPr sz="1450" b="1" i="0">
                <a:solidFill>
                  <a:srgbClr val="141B2E"/>
                </a:solidFill>
                <a:latin typeface="Arial"/>
              </a:rPr>
              <a:t>.</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Надёжность решения о пороге X</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добиться, чтобы решение о пороге никогда не принималось неверно?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написать правило яснее в промте</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дать модели инструмент-калькулятор для сравнения сумм</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поставить IF-узел после извлечения суммы</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507"/>
              </a:lnSpc>
              <a:spcAft>
                <a:spcPts val="0"/>
              </a:spcAft>
            </a:pPr>
            <a:r>
              <a:rPr sz="1300" b="1" i="0">
                <a:solidFill>
                  <a:srgbClr val="141B2E"/>
                </a:solidFill>
                <a:latin typeface="Arial"/>
              </a:rPr>
              <a:t>прогнать несколько раз и взять большинство голосов</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вариант</a:t>
            </a:r>
          </a:p>
        </p:txBody>
      </p:sp>
      <p:sp>
        <p:nvSpPr>
          <p:cNvPr id="3" name="Rounded Rectangle 2"/>
          <p:cNvSpPr/>
          <p:nvPr/>
        </p:nvSpPr>
        <p:spPr>
          <a:xfrm>
            <a:off x="502920" y="943356"/>
            <a:ext cx="11183112" cy="3993515"/>
          </a:xfrm>
          <a:prstGeom prst="roundRect">
            <a:avLst>
              <a:gd name="adj" fmla="val 76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9849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2817038" y="1126236"/>
            <a:ext cx="284039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803741" y="1126236"/>
            <a:ext cx="555310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ДЕЛАЕТ / ОГРАНИЧЕНИЕ</a:t>
            </a:r>
          </a:p>
        </p:txBody>
      </p:sp>
      <p:sp>
        <p:nvSpPr>
          <p:cNvPr id="7" name="TextBox 6"/>
          <p:cNvSpPr txBox="1"/>
          <p:nvPr/>
        </p:nvSpPr>
        <p:spPr>
          <a:xfrm>
            <a:off x="685800" y="1408303"/>
            <a:ext cx="1984934" cy="668464"/>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написать правило яснее в промте</a:t>
            </a:r>
          </a:p>
        </p:txBody>
      </p:sp>
      <p:sp>
        <p:nvSpPr>
          <p:cNvPr id="8" name="TextBox 7"/>
          <p:cNvSpPr txBox="1"/>
          <p:nvPr/>
        </p:nvSpPr>
        <p:spPr>
          <a:xfrm>
            <a:off x="2817038" y="1408303"/>
            <a:ext cx="2840398"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снижает частоту ошибки: яснее текст — реже сбой</a:t>
            </a:r>
          </a:p>
        </p:txBody>
      </p:sp>
      <p:sp>
        <p:nvSpPr>
          <p:cNvPr id="9" name="TextBox 8"/>
          <p:cNvSpPr txBox="1"/>
          <p:nvPr/>
        </p:nvSpPr>
        <p:spPr>
          <a:xfrm>
            <a:off x="5803741" y="1408303"/>
            <a:ext cx="555310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устраняет ошибку структурно. Решение остаётся текстовым вызовом, и сколь угодно чёткая формулировка не гарантирует выполнения правила в каждом отдельном прогоне</a:t>
            </a:r>
          </a:p>
        </p:txBody>
      </p:sp>
      <p:cxnSp>
        <p:nvCxnSpPr>
          <p:cNvPr id="10" name="Connector 9"/>
          <p:cNvCxnSpPr/>
          <p:nvPr/>
        </p:nvCxnSpPr>
        <p:spPr>
          <a:xfrm>
            <a:off x="685800" y="20767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76767"/>
            <a:ext cx="1984934" cy="836422"/>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дать модели инструмент-калькулятор для сравнения сумм</a:t>
            </a:r>
          </a:p>
        </p:txBody>
      </p:sp>
      <p:sp>
        <p:nvSpPr>
          <p:cNvPr id="12" name="TextBox 11"/>
          <p:cNvSpPr txBox="1"/>
          <p:nvPr/>
        </p:nvSpPr>
        <p:spPr>
          <a:xfrm>
            <a:off x="2817038" y="2076767"/>
            <a:ext cx="2840398"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выносит сравнение сумм из самой модели — детерминированное сравнение снижает её собственную арифметическую ошибку</a:t>
            </a:r>
          </a:p>
        </p:txBody>
      </p:sp>
      <p:sp>
        <p:nvSpPr>
          <p:cNvPr id="13" name="TextBox 12"/>
          <p:cNvSpPr txBox="1"/>
          <p:nvPr/>
        </p:nvSpPr>
        <p:spPr>
          <a:xfrm>
            <a:off x="5803741" y="2076767"/>
            <a:ext cx="555310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решение всё равно идёт через то, вызовет ли модель этот инструмент и правильно ли передаст туда значения. Вероятностность не исчезает, она перемещается на шаг раньше</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1984934" cy="1004379"/>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поставить </a:t>
            </a:r>
            <a:r>
              <a:rPr sz="1150" b="1" i="0">
                <a:solidFill>
                  <a:srgbClr val="141B2E"/>
                </a:solidFill>
                <a:latin typeface="Consolas"/>
              </a:rPr>
              <a:t>IF</a:t>
            </a:r>
            <a:r>
              <a:rPr sz="1150" b="1" i="0">
                <a:solidFill>
                  <a:srgbClr val="141B2E"/>
                </a:solidFill>
                <a:latin typeface="Arial"/>
              </a:rPr>
              <a:t>-узел после извлечения суммы</a:t>
            </a:r>
          </a:p>
        </p:txBody>
      </p:sp>
      <p:sp>
        <p:nvSpPr>
          <p:cNvPr id="16" name="TextBox 15"/>
          <p:cNvSpPr txBox="1"/>
          <p:nvPr/>
        </p:nvSpPr>
        <p:spPr>
          <a:xfrm>
            <a:off x="2817038" y="2913189"/>
            <a:ext cx="284039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устраняет вероятностность из самой точки принятия решения: сравнение «извлечённая сумма &gt; X» — условие в коде оркестратора, а не текстовый вызов модели</a:t>
            </a:r>
          </a:p>
        </p:txBody>
      </p:sp>
      <p:sp>
        <p:nvSpPr>
          <p:cNvPr id="17" name="TextBox 16"/>
          <p:cNvSpPr txBox="1"/>
          <p:nvPr/>
        </p:nvSpPr>
        <p:spPr>
          <a:xfrm>
            <a:off x="5803741" y="2913189"/>
            <a:ext cx="5553106"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отменяет вопрос, где живёт сам порог X: если число продублировано в промте и в условии узла, это отдельный риск — расходится ли одна копия с другой</a:t>
            </a:r>
          </a:p>
        </p:txBody>
      </p:sp>
      <p:cxnSp>
        <p:nvCxnSpPr>
          <p:cNvPr id="18" name="Connector 17"/>
          <p:cNvCxnSpPr/>
          <p:nvPr/>
        </p:nvCxnSpPr>
        <p:spPr>
          <a:xfrm>
            <a:off x="685800" y="391756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17568"/>
            <a:ext cx="1984934" cy="836422"/>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прогнать несколько раз и взять большинство голосов</a:t>
            </a:r>
          </a:p>
        </p:txBody>
      </p:sp>
      <p:sp>
        <p:nvSpPr>
          <p:cNvPr id="20" name="TextBox 19"/>
          <p:cNvSpPr txBox="1"/>
          <p:nvPr/>
        </p:nvSpPr>
        <p:spPr>
          <a:xfrm>
            <a:off x="2817038" y="3917568"/>
            <a:ext cx="2840398"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помогает против случайного разброса ответов модели</a:t>
            </a:r>
          </a:p>
        </p:txBody>
      </p:sp>
      <p:sp>
        <p:nvSpPr>
          <p:cNvPr id="21" name="TextBox 20"/>
          <p:cNvSpPr txBox="1"/>
          <p:nvPr/>
        </p:nvSpPr>
        <p:spPr>
          <a:xfrm>
            <a:off x="5803741" y="3917568"/>
            <a:ext cx="555310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помогает против систематической ошибки: если модель раз за разом одинаково неверно трактует саму границу условия, голосование просто размножает ту же неверную интерпретацию в несколько раз дороже, не исправляя её</a:t>
            </a:r>
          </a:p>
        </p:txBody>
      </p:sp>
      <p:sp>
        <p:nvSpPr>
          <p:cNvPr id="22" name="Rounded Rectangle 21"/>
          <p:cNvSpPr/>
          <p:nvPr/>
        </p:nvSpPr>
        <p:spPr>
          <a:xfrm>
            <a:off x="502920" y="5101463"/>
            <a:ext cx="82296" cy="91211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229479"/>
            <a:ext cx="10643616" cy="656082"/>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Поворот.</a:t>
            </a:r>
            <a:r>
              <a:rPr sz="1350" b="1" i="0">
                <a:solidFill>
                  <a:srgbClr val="141B2E"/>
                </a:solidFill>
                <a:latin typeface="Arial"/>
              </a:rPr>
              <a:t> У трёх вариантов из четырёх вероятностность не исчезает — она либо снижается по частоте, либо переезжает на шаг раньше, либо размножается в несколько раз дороже. Только у одного варианта решение перестаёт быть текстовым вызовом вовсе.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Дизайн и результат эксперимента</a:t>
            </a:r>
          </a:p>
        </p:txBody>
      </p:sp>
      <p:sp>
        <p:nvSpPr>
          <p:cNvPr id="3" name="Rounded Rectangle 2"/>
          <p:cNvSpPr/>
          <p:nvPr/>
        </p:nvSpPr>
        <p:spPr>
          <a:xfrm>
            <a:off x="502920" y="113612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6414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Методология.</a:t>
            </a:r>
            <a:r>
              <a:rPr sz="1500" b="1" i="0">
                <a:solidFill>
                  <a:srgbClr val="141B2E"/>
                </a:solidFill>
                <a:latin typeface="Arial"/>
              </a:rPr>
              <a:t> 51 запрос на возврат (50 заготовленных сумм вокруг и выше порога X плюс один ручной тест) прошли через процесс (A) и через процесс (B) — одни и те же суммы, тот же порог X = 3000₽. Подтверждено прямым чтением </a:t>
            </a:r>
            <a:r>
              <a:rPr sz="1500" b="1" i="0">
                <a:solidFill>
                  <a:srgbClr val="141B2E"/>
                </a:solidFill>
                <a:latin typeface="Consolas"/>
              </a:rPr>
              <a:t>runData</a:t>
            </a:r>
            <a:r>
              <a:rPr sz="1500" b="1" i="0">
                <a:solidFill>
                  <a:srgbClr val="141B2E"/>
                </a:solidFill>
                <a:latin typeface="Arial"/>
              </a:rPr>
              <a:t> каждого execution, не пересказом.</a:t>
            </a:r>
          </a:p>
        </p:txBody>
      </p:sp>
      <p:sp>
        <p:nvSpPr>
          <p:cNvPr id="5" name="Rounded Rectangle 4"/>
          <p:cNvSpPr/>
          <p:nvPr/>
        </p:nvSpPr>
        <p:spPr>
          <a:xfrm>
            <a:off x="502920" y="2765619"/>
            <a:ext cx="11183112" cy="1879599"/>
          </a:xfrm>
          <a:prstGeom prst="roundRect">
            <a:avLst>
              <a:gd name="adj" fmla="val 162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48499"/>
            <a:ext cx="76647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ПРОЦЕСС</a:t>
            </a:r>
          </a:p>
        </p:txBody>
      </p:sp>
      <p:sp>
        <p:nvSpPr>
          <p:cNvPr id="7" name="TextBox 6"/>
          <p:cNvSpPr txBox="1"/>
          <p:nvPr/>
        </p:nvSpPr>
        <p:spPr>
          <a:xfrm>
            <a:off x="1598582" y="2948499"/>
            <a:ext cx="87839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ВСЕГО ПРОГОНОВ</a:t>
            </a:r>
          </a:p>
        </p:txBody>
      </p:sp>
      <p:sp>
        <p:nvSpPr>
          <p:cNvPr id="8" name="TextBox 7"/>
          <p:cNvSpPr txBox="1"/>
          <p:nvPr/>
        </p:nvSpPr>
        <p:spPr>
          <a:xfrm>
            <a:off x="2623283" y="2948499"/>
            <a:ext cx="73577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ОШИБОК</a:t>
            </a:r>
          </a:p>
        </p:txBody>
      </p:sp>
      <p:sp>
        <p:nvSpPr>
          <p:cNvPr id="9" name="TextBox 8"/>
          <p:cNvSpPr txBox="1"/>
          <p:nvPr/>
        </p:nvSpPr>
        <p:spPr>
          <a:xfrm>
            <a:off x="3505358" y="2948499"/>
            <a:ext cx="785148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 ИМЕННО</a:t>
            </a:r>
          </a:p>
        </p:txBody>
      </p:sp>
      <p:sp>
        <p:nvSpPr>
          <p:cNvPr id="10" name="TextBox 9"/>
          <p:cNvSpPr txBox="1"/>
          <p:nvPr/>
        </p:nvSpPr>
        <p:spPr>
          <a:xfrm>
            <a:off x="685800" y="3402905"/>
            <a:ext cx="766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(A) модель</a:t>
            </a:r>
          </a:p>
        </p:txBody>
      </p:sp>
      <p:sp>
        <p:nvSpPr>
          <p:cNvPr id="11" name="TextBox 10"/>
          <p:cNvSpPr txBox="1"/>
          <p:nvPr/>
        </p:nvSpPr>
        <p:spPr>
          <a:xfrm>
            <a:off x="1598582" y="3402905"/>
            <a:ext cx="87839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51</a:t>
            </a:r>
          </a:p>
        </p:txBody>
      </p:sp>
      <p:sp>
        <p:nvSpPr>
          <p:cNvPr id="12" name="TextBox 11"/>
          <p:cNvSpPr txBox="1"/>
          <p:nvPr/>
        </p:nvSpPr>
        <p:spPr>
          <a:xfrm>
            <a:off x="2623283" y="3402905"/>
            <a:ext cx="73577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a:t>
            </a:r>
          </a:p>
        </p:txBody>
      </p:sp>
      <p:sp>
        <p:nvSpPr>
          <p:cNvPr id="13" name="TextBox 12"/>
          <p:cNvSpPr txBox="1"/>
          <p:nvPr/>
        </p:nvSpPr>
        <p:spPr>
          <a:xfrm>
            <a:off x="3505358" y="3402905"/>
            <a:ext cx="78514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три — ровно на сумме 3000₽: модель решила «эскалировать», хотя правило («не возвращай больше X») подразумевает «X включительно — можно одобрить самому»</a:t>
            </a:r>
          </a:p>
        </p:txBody>
      </p:sp>
      <p:cxnSp>
        <p:nvCxnSpPr>
          <p:cNvPr id="14" name="Connector 13"/>
          <p:cNvCxnSpPr/>
          <p:nvPr/>
        </p:nvCxnSpPr>
        <p:spPr>
          <a:xfrm>
            <a:off x="685800" y="39326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932622"/>
            <a:ext cx="7664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(B) код, </a:t>
            </a:r>
            <a:r>
              <a:rPr sz="1250" b="1" i="0">
                <a:solidFill>
                  <a:srgbClr val="141B2E"/>
                </a:solidFill>
                <a:latin typeface="Consolas"/>
              </a:rPr>
              <a:t>IF</a:t>
            </a:r>
          </a:p>
        </p:txBody>
      </p:sp>
      <p:sp>
        <p:nvSpPr>
          <p:cNvPr id="16" name="TextBox 15"/>
          <p:cNvSpPr txBox="1"/>
          <p:nvPr/>
        </p:nvSpPr>
        <p:spPr>
          <a:xfrm>
            <a:off x="1598582" y="3932622"/>
            <a:ext cx="87839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51</a:t>
            </a:r>
          </a:p>
        </p:txBody>
      </p:sp>
      <p:sp>
        <p:nvSpPr>
          <p:cNvPr id="17" name="TextBox 16"/>
          <p:cNvSpPr txBox="1"/>
          <p:nvPr/>
        </p:nvSpPr>
        <p:spPr>
          <a:xfrm>
            <a:off x="2623283" y="3932622"/>
            <a:ext cx="735770"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18" name="TextBox 17"/>
          <p:cNvSpPr txBox="1"/>
          <p:nvPr/>
        </p:nvSpPr>
        <p:spPr>
          <a:xfrm>
            <a:off x="3505358" y="3932622"/>
            <a:ext cx="78514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включая ту же граничную сумму 3000₽: условие «строго больше X» корректно по построению</a:t>
            </a:r>
          </a:p>
        </p:txBody>
      </p:sp>
      <p:sp>
        <p:nvSpPr>
          <p:cNvPr id="19" name="Rounded Rectangle 18"/>
          <p:cNvSpPr/>
          <p:nvPr/>
        </p:nvSpPr>
        <p:spPr>
          <a:xfrm>
            <a:off x="502920" y="529173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1975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любой сумме строго выше порога — 0 ошибок у (A). На любой сумме строго ниже — тоже 0 ошибок у (A). Ошибка не разбросана по диапазону — она сидит в одной точке, ровно на границе условия.</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 execution на сумме 3000₽</a:t>
            </a:r>
          </a:p>
        </p:txBody>
      </p:sp>
      <p:pic>
        <p:nvPicPr>
          <p:cNvPr id="3" name="Picture 2" descr="k3-shema-dva-protsessa-a-b.png"/>
          <p:cNvPicPr>
            <a:picLocks noChangeAspect="1"/>
          </p:cNvPicPr>
          <p:nvPr/>
        </p:nvPicPr>
        <p:blipFill>
          <a:blip r:embed="rId2"/>
          <a:stretch>
            <a:fillRect/>
          </a:stretch>
        </p:blipFill>
        <p:spPr>
          <a:xfrm>
            <a:off x="1600853" y="1004316"/>
            <a:ext cx="8987245"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Оба процесса заранее собраны и опубликованы на стенде: (A) </a:t>
            </a:r>
            <a:r>
              <a:rPr sz="1500" b="1" i="0">
                <a:solidFill>
                  <a:srgbClr val="141B2E"/>
                </a:solidFill>
                <a:latin typeface="Consolas"/>
              </a:rPr>
              <a:t>U26OnsIJjgjFOXLU</a:t>
            </a:r>
            <a:r>
              <a:rPr sz="1500" b="1" i="0">
                <a:solidFill>
                  <a:srgbClr val="141B2E"/>
                </a:solidFill>
                <a:latin typeface="Arial"/>
              </a:rPr>
              <a:t>, (B) </a:t>
            </a:r>
            <a:r>
              <a:rPr sz="1500" b="1" i="0">
                <a:solidFill>
                  <a:srgbClr val="141B2E"/>
                </a:solidFill>
                <a:latin typeface="Consolas"/>
              </a:rPr>
              <a:t>1ZspTIY2zukoEYAF</a:t>
            </a:r>
            <a:r>
              <a:rPr sz="1500" b="1" i="0">
                <a:solidFill>
                  <a:srgbClr val="141B2E"/>
                </a:solidFill>
                <a:latin typeface="Arial"/>
              </a:rPr>
              <a:t>. Execution id на схеме — прямые ссылки на журнал прогонов </a:t>
            </a:r>
            <a:r>
              <a:rPr sz="1500" b="1" i="0">
                <a:solidFill>
                  <a:srgbClr val="141B2E"/>
                </a:solidFill>
                <a:latin typeface="Consolas"/>
              </a:rPr>
              <a:t>n8n.lessons.tellian.io</a:t>
            </a:r>
            <a:r>
              <a:rPr sz="1500" b="1" i="0">
                <a:solidFill>
                  <a:srgbClr val="141B2E"/>
                </a:solidFill>
                <a:latin typeface="Arial"/>
              </a:rPr>
              <a:t>, не пересказанная цифра.</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 условие над числом</a:t>
            </a:r>
          </a:p>
        </p:txBody>
      </p:sp>
      <p:sp>
        <p:nvSpPr>
          <p:cNvPr id="3" name="Rounded Rectangle 2"/>
          <p:cNvSpPr/>
          <p:nvPr/>
        </p:nvSpPr>
        <p:spPr>
          <a:xfrm>
            <a:off x="502920" y="1418945"/>
            <a:ext cx="11183112" cy="2072386"/>
          </a:xfrm>
          <a:prstGeom prst="roundRect">
            <a:avLst>
              <a:gd name="adj" fmla="val 147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01825"/>
            <a:ext cx="35372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ВЫГЛЯДИТ ОШИБКА</a:t>
            </a:r>
          </a:p>
        </p:txBody>
      </p:sp>
      <p:sp>
        <p:nvSpPr>
          <p:cNvPr id="5" name="TextBox 4"/>
          <p:cNvSpPr txBox="1"/>
          <p:nvPr/>
        </p:nvSpPr>
        <p:spPr>
          <a:xfrm>
            <a:off x="4369396" y="1601825"/>
            <a:ext cx="69874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ЗНАЧИТ ДЛЯ РАБОТЫ С НЕЙ</a:t>
            </a:r>
          </a:p>
        </p:txBody>
      </p:sp>
      <p:sp>
        <p:nvSpPr>
          <p:cNvPr id="6" name="TextBox 5"/>
          <p:cNvSpPr txBox="1"/>
          <p:nvPr/>
        </p:nvSpPr>
        <p:spPr>
          <a:xfrm>
            <a:off x="685800" y="1883892"/>
            <a:ext cx="353729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случайная</a:t>
            </a:r>
            <a:r>
              <a:rPr sz="1250" b="0" i="0">
                <a:solidFill>
                  <a:srgbClr val="141B2E"/>
                </a:solidFill>
                <a:latin typeface="Arial"/>
              </a:rPr>
              <a:t> — разбросана по диапазону, доля ошибок снижается повторами и усреднением</a:t>
            </a:r>
          </a:p>
        </p:txBody>
      </p:sp>
      <p:sp>
        <p:nvSpPr>
          <p:cNvPr id="7" name="TextBox 6"/>
          <p:cNvSpPr txBox="1"/>
          <p:nvPr/>
        </p:nvSpPr>
        <p:spPr>
          <a:xfrm>
            <a:off x="4369396" y="1883892"/>
            <a:ext cx="69874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обычный вероятностный шум модели; против него помогают голосование большинством и более чёткая формулировка</a:t>
            </a:r>
          </a:p>
        </p:txBody>
      </p:sp>
      <p:cxnSp>
        <p:nvCxnSpPr>
          <p:cNvPr id="8" name="Connector 7"/>
          <p:cNvCxnSpPr/>
          <p:nvPr/>
        </p:nvCxnSpPr>
        <p:spPr>
          <a:xfrm>
            <a:off x="685800" y="25961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96172"/>
            <a:ext cx="3537292"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систематическая</a:t>
            </a:r>
            <a:r>
              <a:rPr sz="1250" b="0" i="0">
                <a:solidFill>
                  <a:srgbClr val="141B2E"/>
                </a:solidFill>
                <a:latin typeface="Arial"/>
              </a:rPr>
              <a:t> — повторяется ровно в одной точке, на границе условия</a:t>
            </a:r>
          </a:p>
        </p:txBody>
      </p:sp>
      <p:sp>
        <p:nvSpPr>
          <p:cNvPr id="10" name="TextBox 9"/>
          <p:cNvSpPr txBox="1"/>
          <p:nvPr/>
        </p:nvSpPr>
        <p:spPr>
          <a:xfrm>
            <a:off x="4369396" y="2596172"/>
            <a:ext cx="69874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снижается повторами: голосование несколько раз повторит ту же неверную интерпретацию, не исправив её. Нужна не более чёткая формулировка. Нужно решение, выведенное из текстового вызова вовсе</a:t>
            </a:r>
          </a:p>
        </p:txBody>
      </p:sp>
      <p:sp>
        <p:nvSpPr>
          <p:cNvPr id="11" name="Rounded Rectangle 10"/>
          <p:cNvSpPr/>
          <p:nvPr/>
        </p:nvSpPr>
        <p:spPr>
          <a:xfrm>
            <a:off x="502920" y="4158843"/>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286859"/>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тезис, что уже предъявлен в Кейсах 1 и 2: где решение можно выразить детерминированным условием над уже извлечёнными значениями — сумма, дата, принадлежность списку, — решение должно приниматься кодом, а модель используется только для извлечения значений в структуру заранее. Разница здесь: тезис подкреплён не одним наблюдением. Он подкреплён измеренным числом на 51 попытке.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Нюансы алгоритмического гейта</a:t>
            </a:r>
          </a:p>
        </p:txBody>
      </p:sp>
      <p:sp>
        <p:nvSpPr>
          <p:cNvPr id="3" name="Rounded Rectangle 2"/>
          <p:cNvSpPr/>
          <p:nvPr/>
        </p:nvSpPr>
        <p:spPr>
          <a:xfrm>
            <a:off x="502920" y="1129690"/>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57706"/>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1. Инструмент-калькулятор у модели — не гарантия.</a:t>
            </a:r>
            <a:r>
              <a:rPr sz="1500" b="1" i="0">
                <a:solidFill>
                  <a:srgbClr val="141B2E"/>
                </a:solidFill>
                <a:latin typeface="Arial"/>
              </a:rPr>
              <a:t> Даже когда агенту подключён инструмент сравнения чисел, нет гарантии, что модель решит его вызвать в конкретном прогоне или передаст туда правильно считанные значения. Надёжность решения всё равно идёт через то, вызвала ли модель инструмент и как интерпретировала результат — вероятностность переместилась на шаг раньше; не исчезла.</a:t>
            </a:r>
          </a:p>
        </p:txBody>
      </p:sp>
      <p:sp>
        <p:nvSpPr>
          <p:cNvPr id="5" name="Rounded Rectangle 4"/>
          <p:cNvSpPr/>
          <p:nvPr/>
        </p:nvSpPr>
        <p:spPr>
          <a:xfrm>
            <a:off x="502920" y="321553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34355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2. Порог X — единственный источник правды.</a:t>
            </a:r>
            <a:r>
              <a:rPr sz="1500" b="1" i="0">
                <a:solidFill>
                  <a:srgbClr val="141B2E"/>
                </a:solidFill>
                <a:latin typeface="Arial"/>
              </a:rPr>
              <a:t> Если число X хранится отдельно в промте процесса (A) и в условии узла </a:t>
            </a:r>
            <a:r>
              <a:rPr sz="1500" b="1" i="0">
                <a:solidFill>
                  <a:srgbClr val="141B2E"/>
                </a:solidFill>
                <a:latin typeface="Consolas"/>
              </a:rPr>
              <a:t>IF</a:t>
            </a:r>
            <a:r>
              <a:rPr sz="1500" b="1" i="0">
                <a:solidFill>
                  <a:srgbClr val="141B2E"/>
                </a:solidFill>
                <a:latin typeface="Arial"/>
              </a:rPr>
              <a:t> процесса (B), расхождение этих двух копий одного и того же порога — тот же класс проблемы, что рвущийся контракт между шагами цепочки в любом другом месте: число должно иметь одно место хранения; не два, которые надеются совпадать.</a:t>
            </a:r>
          </a:p>
        </p:txBody>
      </p:sp>
      <p:sp>
        <p:nvSpPr>
          <p:cNvPr id="7" name="Rounded Rectangle 6"/>
          <p:cNvSpPr/>
          <p:nvPr/>
        </p:nvSpPr>
        <p:spPr>
          <a:xfrm>
            <a:off x="502920" y="506516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519318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3. Модель в роли извлечения суммы — всё ещё может ошибиться.</a:t>
            </a:r>
            <a:r>
              <a:rPr sz="1500" b="1" i="0">
                <a:solidFill>
                  <a:srgbClr val="141B2E"/>
                </a:solidFill>
                <a:latin typeface="Arial"/>
              </a:rPr>
              <a:t> Обобщение не «модель нигде не нужна в этом кейсе». Оно в другом: «модель не должна быть точкой решения». Извлечение суммы из текста заявки остаётся задачей, где текст нужно понять, — это ровно та часть, где модель уместна.</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обязано быть кодом</a:t>
            </a:r>
          </a:p>
        </p:txBody>
      </p:sp>
      <p:sp>
        <p:nvSpPr>
          <p:cNvPr id="3" name="Rounded Rectangle 2"/>
          <p:cNvSpPr/>
          <p:nvPr/>
        </p:nvSpPr>
        <p:spPr>
          <a:xfrm>
            <a:off x="502920" y="1319631"/>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359"/>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КОД В ТОЧКЕ РЕШЕНИЯ ОБЯЗАТЕЛЕН</a:t>
            </a:r>
          </a:p>
        </p:txBody>
      </p:sp>
      <p:sp>
        <p:nvSpPr>
          <p:cNvPr id="5" name="TextBox 4"/>
          <p:cNvSpPr txBox="1"/>
          <p:nvPr/>
        </p:nvSpPr>
        <p:spPr>
          <a:xfrm>
            <a:off x="685800" y="1703679"/>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критерий выражается как условие над уже структурированным значением — сумма, дата, принадлежность готовому списку</a:t>
            </a:r>
          </a:p>
        </p:txBody>
      </p:sp>
      <p:cxnSp>
        <p:nvCxnSpPr>
          <p:cNvPr id="6" name="Connector 5"/>
          <p:cNvCxnSpPr/>
          <p:nvPr/>
        </p:nvCxnSpPr>
        <p:spPr>
          <a:xfrm>
            <a:off x="685800" y="219466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94661"/>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граница условия (равно порогу, точно на дате, точно в списке) — то, что обязаны проверить прогоном до публикации</a:t>
            </a:r>
          </a:p>
        </p:txBody>
      </p:sp>
      <p:cxnSp>
        <p:nvCxnSpPr>
          <p:cNvPr id="8" name="Connector 7"/>
          <p:cNvCxnSpPr/>
          <p:nvPr/>
        </p:nvCxnSpPr>
        <p:spPr>
          <a:xfrm>
            <a:off x="685800" y="268564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68564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перед этим шагом законна — но только в роли извлечения значения, не в роли сравнения его с порогом</a:t>
            </a:r>
          </a:p>
        </p:txBody>
      </p:sp>
      <p:sp>
        <p:nvSpPr>
          <p:cNvPr id="10" name="Rounded Rectangle 9"/>
          <p:cNvSpPr/>
          <p:nvPr/>
        </p:nvSpPr>
        <p:spPr>
          <a:xfrm>
            <a:off x="6231636" y="1319631"/>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429359"/>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МОДЕЛЬ В ТОЧКЕ РЕШЕНИЯ ДОПУСТИМА</a:t>
            </a:r>
          </a:p>
        </p:txBody>
      </p:sp>
      <p:sp>
        <p:nvSpPr>
          <p:cNvPr id="12" name="TextBox 11"/>
          <p:cNvSpPr txBox="1"/>
          <p:nvPr/>
        </p:nvSpPr>
        <p:spPr>
          <a:xfrm>
            <a:off x="6414516" y="1703679"/>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критерий принципиально не формализуется как условие — оценка тона, намерения, нестандартной формулировки без явного числового порога</a:t>
            </a:r>
          </a:p>
        </p:txBody>
      </p:sp>
      <p:cxnSp>
        <p:nvCxnSpPr>
          <p:cNvPr id="13" name="Connector 12"/>
          <p:cNvCxnSpPr/>
          <p:nvPr/>
        </p:nvCxnSpPr>
        <p:spPr>
          <a:xfrm>
            <a:off x="6414516" y="236700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2367000"/>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граница здесь не существует в том же смысле: нет единственного числа, которое решение либо пересекает, либо нет</a:t>
            </a:r>
          </a:p>
        </p:txBody>
      </p:sp>
      <p:cxnSp>
        <p:nvCxnSpPr>
          <p:cNvPr id="15" name="Connector 14"/>
          <p:cNvCxnSpPr/>
          <p:nvPr/>
        </p:nvCxnSpPr>
        <p:spPr>
          <a:xfrm>
            <a:off x="6414516" y="303032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303032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модель и есть сам шаг понимания — переносить его в код было бы равносильно изобретением второй модели внутри оркестратора</a:t>
            </a:r>
          </a:p>
        </p:txBody>
      </p:sp>
      <p:sp>
        <p:nvSpPr>
          <p:cNvPr id="17" name="Rounded Rectangle 16"/>
          <p:cNvSpPr/>
          <p:nvPr/>
        </p:nvSpPr>
        <p:spPr>
          <a:xfrm>
            <a:off x="502920" y="4544034"/>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672050"/>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Третья строка оси закрыта.</a:t>
            </a:r>
            <a:r>
              <a:rPr sz="1500" b="1" i="0">
                <a:solidFill>
                  <a:srgbClr val="141B2E"/>
                </a:solidFill>
                <a:latin typeface="Arial"/>
              </a:rPr>
              <a:t> «В промте написано «не возвращай больше суммы X»» — выглядело рабочим решением месяц. Чем оказалось: решение вероятностное — модель обходит правило в измеренной доле прогонов, 3 из 51, все три на границе условия. Алгоритмический гейт — никогда: 0 из 51, включая ту же границу.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10332720"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85216" y="170967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216" y="170967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6" name="TextBox 5"/>
          <p:cNvSpPr txBox="1"/>
          <p:nvPr/>
        </p:nvSpPr>
        <p:spPr>
          <a:xfrm>
            <a:off x="1536192" y="1603756"/>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Zillow Offers: закрытие алгоритмической покупки домов</a:t>
            </a:r>
          </a:p>
        </p:txBody>
      </p:sp>
      <p:sp>
        <p:nvSpPr>
          <p:cNvPr id="7" name="TextBox 6"/>
          <p:cNvSpPr txBox="1"/>
          <p:nvPr/>
        </p:nvSpPr>
        <p:spPr>
          <a:xfrm>
            <a:off x="822960" y="2821432"/>
            <a:ext cx="9509760" cy="261569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«Мы определили, что непредсказуемость прогнозирования цен на жильё намного превышает то, что мы ожидали… наблюдаемая частота ошибок оказалась гораздо более волатильной, чем мы вообще считали возможным» — Рич Бартон, CEO Zillow, 2 ноября 2021, объявляя о закрытии Zillow Offers</a:t>
            </a:r>
          </a:p>
          <a:p>
            <a:pPr algn="l">
              <a:lnSpc>
                <a:spcPts val="2244"/>
              </a:lnSpc>
              <a:spcAft>
                <a:spcPts val="400"/>
              </a:spcAft>
            </a:pPr>
            <a:r>
              <a:rPr sz="1700" b="0" i="1">
                <a:solidFill>
                  <a:srgbClr val="D6E2EC"/>
                </a:solidFill>
                <a:latin typeface="Arial"/>
              </a:rPr>
              <a:t>Списание запасов — $304,4 млн за 3-й квартал 2021 года, $407,9 млн по итогам года. Сокращение штата — ~25%, это ~2000 человек. В том же 3-м квартале 2021 куплено 9680 домов, продано лишь 3032 — средний убыток ~$80 000 на объект.</a:t>
            </a:r>
          </a:p>
        </p:txBody>
      </p:sp>
      <p:sp>
        <p:nvSpPr>
          <p:cNvPr id="8" name="Rounded Rectangle 7"/>
          <p:cNvSpPr/>
          <p:nvPr/>
        </p:nvSpPr>
        <p:spPr>
          <a:xfrm>
            <a:off x="502920" y="5989320"/>
            <a:ext cx="1118311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5989320"/>
            <a:ext cx="1118311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здесь было пропущено</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здесь было пропущено?</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модель была плохо откалибрована</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было runtime-мониторинга дрейфа с автоматическим порогом остановки</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решение о покупке принималось без участия человека выше определённой суммы риска</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рынок жилья вёл себя непредсказуемо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на самом деле пропущено</a:t>
            </a:r>
          </a:p>
        </p:txBody>
      </p:sp>
      <p:sp>
        <p:nvSpPr>
          <p:cNvPr id="3" name="Rounded Rectangle 2"/>
          <p:cNvSpPr/>
          <p:nvPr/>
        </p:nvSpPr>
        <p:spPr>
          <a:xfrm>
            <a:off x="502920" y="2009241"/>
            <a:ext cx="2686050" cy="1305306"/>
          </a:xfrm>
          <a:prstGeom prst="roundRect">
            <a:avLst>
              <a:gd name="adj" fmla="val 23350"/>
            </a:avLst>
          </a:prstGeom>
          <a:solidFill>
            <a:srgbClr val="FEF5E0"/>
          </a:solidFill>
          <a:ln w="1905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2009241"/>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8A6200"/>
                </a:solidFill>
                <a:latin typeface="Arial"/>
              </a:rPr>
              <a:t>модель была плохо откалибрована</a:t>
            </a:r>
          </a:p>
        </p:txBody>
      </p:sp>
      <p:sp>
        <p:nvSpPr>
          <p:cNvPr id="5" name="Rounded Rectangle 4"/>
          <p:cNvSpPr/>
          <p:nvPr/>
        </p:nvSpPr>
        <p:spPr>
          <a:xfrm>
            <a:off x="3335274" y="2009241"/>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45002" y="2009241"/>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рынок жилья вёл себя непредсказуемо</a:t>
            </a:r>
          </a:p>
        </p:txBody>
      </p:sp>
      <p:sp>
        <p:nvSpPr>
          <p:cNvPr id="7" name="Rounded Rectangle 6"/>
          <p:cNvSpPr/>
          <p:nvPr/>
        </p:nvSpPr>
        <p:spPr>
          <a:xfrm>
            <a:off x="6167628" y="2009241"/>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77356" y="2009241"/>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не было runtime-мониторинга дрейфа с автоматическим порогом остановки</a:t>
            </a:r>
          </a:p>
        </p:txBody>
      </p:sp>
      <p:sp>
        <p:nvSpPr>
          <p:cNvPr id="9" name="Rounded Rectangle 8"/>
          <p:cNvSpPr/>
          <p:nvPr/>
        </p:nvSpPr>
        <p:spPr>
          <a:xfrm>
            <a:off x="8999982" y="2009241"/>
            <a:ext cx="2686050" cy="1305306"/>
          </a:xfrm>
          <a:prstGeom prst="roundRect">
            <a:avLst>
              <a:gd name="adj" fmla="val 233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09710" y="2009241"/>
            <a:ext cx="2466594" cy="1305306"/>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решение о покупке принималось без участия человека выше определённой суммы риска</a:t>
            </a:r>
          </a:p>
        </p:txBody>
      </p:sp>
      <p:sp>
        <p:nvSpPr>
          <p:cNvPr id="11" name="Rounded Rectangle 10"/>
          <p:cNvSpPr/>
          <p:nvPr/>
        </p:nvSpPr>
        <p:spPr>
          <a:xfrm>
            <a:off x="502920" y="3982059"/>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110075"/>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Решающее — два последних варианта вместе.</a:t>
            </a:r>
            <a:r>
              <a:rPr sz="1500" b="1" i="0">
                <a:solidFill>
                  <a:srgbClr val="141B2E"/>
                </a:solidFill>
                <a:latin typeface="Arial"/>
              </a:rPr>
              <a:t> Порог риска существовал, а механизма, который проверял бы его в реальном времени или отправлял крупную сделку человеку, не было ни одного.</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Решение: андеррайтер и еженедельный circuit breaker</a:t>
            </a:r>
          </a:p>
        </p:txBody>
      </p:sp>
      <p:sp>
        <p:nvSpPr>
          <p:cNvPr id="3" name="Rounded Rectangle 2"/>
          <p:cNvSpPr/>
          <p:nvPr/>
        </p:nvSpPr>
        <p:spPr>
          <a:xfrm>
            <a:off x="502920" y="166695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79496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Было: алгоритмическая оценка → покупка выше любой суммы → отчётность перед SEC раз в квартал</a:t>
            </a:r>
          </a:p>
        </p:txBody>
      </p:sp>
      <p:sp>
        <p:nvSpPr>
          <p:cNvPr id="5" name="Rounded Rectangle 4"/>
          <p:cNvSpPr/>
          <p:nvPr/>
        </p:nvSpPr>
        <p:spPr>
          <a:xfrm>
            <a:off x="502920" y="284500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7301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Альтернатива: алгоритмическая оценка → </a:t>
            </a:r>
            <a:r>
              <a:rPr sz="1500" b="1" i="0">
                <a:solidFill>
                  <a:srgbClr val="141B2E"/>
                </a:solidFill>
                <a:latin typeface="Arial"/>
              </a:rPr>
              <a:t>человек-андеррайтер</a:t>
            </a:r>
            <a:r>
              <a:rPr sz="1500" b="1" i="0">
                <a:solidFill>
                  <a:srgbClr val="141B2E"/>
                </a:solidFill>
                <a:latin typeface="Arial"/>
              </a:rPr>
              <a:t> утверждает покупку выше порога суммы/риска · параллельно — </a:t>
            </a:r>
            <a:r>
              <a:rPr sz="1500" b="1" i="0">
                <a:solidFill>
                  <a:srgbClr val="141B2E"/>
                </a:solidFill>
                <a:latin typeface="Arial"/>
              </a:rPr>
              <a:t>circuit breaker</a:t>
            </a:r>
            <a:r>
              <a:rPr sz="1500" b="1" i="0">
                <a:solidFill>
                  <a:srgbClr val="141B2E"/>
                </a:solidFill>
                <a:latin typeface="Arial"/>
              </a:rPr>
              <a:t> останавливает закупку при превышении порога отклонения факт/прогноз, проверка </a:t>
            </a:r>
            <a:r>
              <a:rPr sz="1500" b="1" i="0">
                <a:solidFill>
                  <a:srgbClr val="141B2E"/>
                </a:solidFill>
                <a:latin typeface="Arial"/>
              </a:rPr>
              <a:t>еженедельно или чаще</a:t>
            </a:r>
          </a:p>
        </p:txBody>
      </p:sp>
      <p:sp>
        <p:nvSpPr>
          <p:cNvPr id="7" name="Rounded Rectangle 6"/>
          <p:cNvSpPr/>
          <p:nvPr/>
        </p:nvSpPr>
        <p:spPr>
          <a:xfrm>
            <a:off x="502920" y="449549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2351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капиталоёмких автоматизированных решений error-budget-дисциплина обязана применяться к </a:t>
            </a:r>
            <a:r>
              <a:rPr sz="1500" b="1" i="0">
                <a:solidFill>
                  <a:srgbClr val="141B2E"/>
                </a:solidFill>
                <a:latin typeface="Arial"/>
              </a:rPr>
              <a:t>качеству предсказания в реальном времени</a:t>
            </a:r>
            <a:r>
              <a:rPr sz="1500" b="1" i="0">
                <a:solidFill>
                  <a:srgbClr val="141B2E"/>
                </a:solidFill>
                <a:latin typeface="Arial"/>
              </a:rPr>
              <a:t>: доступности сервиса одной недостаточно.</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снижать объём автоматизации</a:t>
            </a:r>
          </a:p>
        </p:txBody>
      </p:sp>
      <p:sp>
        <p:nvSpPr>
          <p:cNvPr id="3" name="Rounded Rectangle 2"/>
          <p:cNvSpPr/>
          <p:nvPr/>
        </p:nvSpPr>
        <p:spPr>
          <a:xfrm>
            <a:off x="502920" y="194919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07721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Критерий.</a:t>
            </a:r>
            <a:r>
              <a:rPr sz="1500" b="1" i="0">
                <a:solidFill>
                  <a:srgbClr val="141B2E"/>
                </a:solidFill>
                <a:latin typeface="Arial"/>
              </a:rPr>
              <a:t> Если стоимость одной ошибки — десятки тысяч долларов реального капитала, а внешние условия показывают растущую волатильность: снижать объём автоматизированных решений до подтверждения устойчивости модели к новому режиму. Не масштабировать, дожидаясь, «пока появятся цифры за квартал».</a:t>
            </a:r>
          </a:p>
        </p:txBody>
      </p:sp>
      <p:sp>
        <p:nvSpPr>
          <p:cNvPr id="5" name="Rounded Rectangle 4"/>
          <p:cNvSpPr/>
          <p:nvPr/>
        </p:nvSpPr>
        <p:spPr>
          <a:xfrm>
            <a:off x="502920" y="383590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96392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Закрывает ту же мысль, что Кейс 3.</a:t>
            </a:r>
            <a:r>
              <a:rPr sz="1500" b="1" i="0">
                <a:solidFill>
                  <a:srgbClr val="141B2E"/>
                </a:solidFill>
                <a:latin typeface="Arial"/>
              </a:rPr>
              <a:t> Цена пропущенного алгоритмического порога масштабируется вместе с масштабом процесса: учебный центр рискует одним недовольным клиентом, Zillow потерял четверть штата.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2610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Карточка собралась — в Telegram её нет</a:t>
            </a:r>
          </a:p>
        </p:txBody>
      </p:sp>
      <p:sp>
        <p:nvSpPr>
          <p:cNvPr id="4" name="TextBox 3"/>
          <p:cNvSpPr txBox="1"/>
          <p:nvPr/>
        </p:nvSpPr>
        <p:spPr>
          <a:xfrm>
            <a:off x="1234440" y="3708146"/>
            <a:ext cx="9692640" cy="432307"/>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«Карточка собралась и отправилась. В Telegram у координатора её нет.»</a:t>
            </a:r>
          </a:p>
        </p:txBody>
      </p:sp>
      <p:sp>
        <p:nvSpPr>
          <p:cNvPr id="5" name="Rounded Rectangle 4"/>
          <p:cNvSpPr/>
          <p:nvPr/>
        </p:nvSpPr>
        <p:spPr>
          <a:xfrm>
            <a:off x="502920"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1</a:t>
            </a:r>
          </a:p>
        </p:txBody>
      </p:sp>
      <p:sp>
        <p:nvSpPr>
          <p:cNvPr id="7" name="Rounded Rectangle 6"/>
          <p:cNvSpPr/>
          <p:nvPr/>
        </p:nvSpPr>
        <p:spPr>
          <a:xfrm>
            <a:off x="3344418"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344418"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2</a:t>
            </a:r>
          </a:p>
        </p:txBody>
      </p:sp>
      <p:sp>
        <p:nvSpPr>
          <p:cNvPr id="9" name="Rounded Rectangle 8"/>
          <p:cNvSpPr/>
          <p:nvPr/>
        </p:nvSpPr>
        <p:spPr>
          <a:xfrm>
            <a:off x="6185916" y="5989320"/>
            <a:ext cx="2658618"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85916" y="5989320"/>
            <a:ext cx="2658618"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Кейс 3</a:t>
            </a:r>
          </a:p>
        </p:txBody>
      </p:sp>
      <p:sp>
        <p:nvSpPr>
          <p:cNvPr id="11" name="Rounded Rectangle 10"/>
          <p:cNvSpPr/>
          <p:nvPr/>
        </p:nvSpPr>
        <p:spPr>
          <a:xfrm>
            <a:off x="9027414" y="5989320"/>
            <a:ext cx="2658618"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027414" y="5989320"/>
            <a:ext cx="2658618"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Кейс 4</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произошло с карточкой</a:t>
            </a:r>
          </a:p>
        </p:txBody>
      </p:sp>
      <p:sp>
        <p:nvSpPr>
          <p:cNvPr id="3" name="Rounded Rectangle 2"/>
          <p:cNvSpPr/>
          <p:nvPr/>
        </p:nvSpPr>
        <p:spPr>
          <a:xfrm>
            <a:off x="502920" y="1093012"/>
            <a:ext cx="82296" cy="10210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21028"/>
            <a:ext cx="10643616" cy="7650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Журнал прогона:</a:t>
            </a:r>
            <a:r>
              <a:rPr sz="1500" b="1" i="0">
                <a:solidFill>
                  <a:srgbClr val="141B2E"/>
                </a:solidFill>
                <a:latin typeface="Arial"/>
              </a:rPr>
              <a:t> статус </a:t>
            </a:r>
            <a:r>
              <a:rPr sz="1500" b="1" i="0">
                <a:solidFill>
                  <a:srgbClr val="141B2E"/>
                </a:solidFill>
                <a:latin typeface="Consolas"/>
              </a:rPr>
              <a:t>success</a:t>
            </a:r>
            <a:r>
              <a:rPr sz="1500" b="1" i="0">
                <a:solidFill>
                  <a:srgbClr val="141B2E"/>
                </a:solidFill>
                <a:latin typeface="Arial"/>
              </a:rPr>
              <a:t>, бинарные данные сформированы, узел отправки вернул успешный ответ от Telegram API.</a:t>
            </a:r>
          </a:p>
          <a:p>
            <a:pPr algn="l">
              <a:lnSpc>
                <a:spcPts val="1860"/>
              </a:lnSpc>
              <a:spcAft>
                <a:spcPts val="300"/>
              </a:spcAft>
            </a:pPr>
            <a:r>
              <a:rPr sz="1500" b="1" i="0">
                <a:solidFill>
                  <a:srgbClr val="141B2E"/>
                </a:solidFill>
                <a:latin typeface="Arial"/>
              </a:rPr>
              <a:t>У координатора:</a:t>
            </a:r>
            <a:r>
              <a:rPr sz="1500" b="1" i="0">
                <a:solidFill>
                  <a:srgbClr val="141B2E"/>
                </a:solidFill>
                <a:latin typeface="Arial"/>
              </a:rPr>
              <a:t> сообщения либо нет вовсе, либо оно пришло обрезанным.</a:t>
            </a:r>
          </a:p>
        </p:txBody>
      </p:sp>
      <p:sp>
        <p:nvSpPr>
          <p:cNvPr id="5" name="Rounded Rectangle 4"/>
          <p:cNvSpPr/>
          <p:nvPr/>
        </p:nvSpPr>
        <p:spPr>
          <a:xfrm>
            <a:off x="502920" y="2652826"/>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7228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87228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Маркетинг попросил вместо текстового уведомления — карточку: имя заявителя и тема, наложенные на картинку.</a:t>
            </a:r>
          </a:p>
        </p:txBody>
      </p:sp>
      <p:sp>
        <p:nvSpPr>
          <p:cNvPr id="8" name="TextBox 7"/>
          <p:cNvSpPr txBox="1"/>
          <p:nvPr/>
        </p:nvSpPr>
        <p:spPr>
          <a:xfrm>
            <a:off x="722376" y="340492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40492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Цепочка выросла на три шага: текст → наложение текста на картинку → форматирование под бинарные данные → отправка в Telegram с вложением.</a:t>
            </a:r>
          </a:p>
        </p:txBody>
      </p:sp>
      <p:sp>
        <p:nvSpPr>
          <p:cNvPr id="10" name="TextBox 9"/>
          <p:cNvSpPr txBox="1"/>
          <p:nvPr/>
        </p:nvSpPr>
        <p:spPr>
          <a:xfrm>
            <a:off x="722376" y="3937558"/>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937558"/>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Прогон идёт штатно, узел отправки отвечает успехом.</a:t>
            </a:r>
          </a:p>
        </p:txBody>
      </p:sp>
      <p:sp>
        <p:nvSpPr>
          <p:cNvPr id="12" name="TextBox 11"/>
          <p:cNvSpPr txBox="1"/>
          <p:nvPr/>
        </p:nvSpPr>
        <p:spPr>
          <a:xfrm>
            <a:off x="722376" y="4267885"/>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267885"/>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Координатор открывает Telegram — и видит либо пустое место, либо обрезанную карточку.</a:t>
            </a:r>
          </a:p>
        </p:txBody>
      </p:sp>
      <p:sp>
        <p:nvSpPr>
          <p:cNvPr id="14" name="Rounded Rectangle 13"/>
          <p:cNvSpPr/>
          <p:nvPr/>
        </p:nvSpPr>
        <p:spPr>
          <a:xfrm>
            <a:off x="502920" y="535640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48441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же контракт, что рвался в Кейсе 1, здесь рвётся на формате вложения, не на тексте.</a:t>
            </a:r>
            <a:r>
              <a:rPr sz="1500" b="1" i="0">
                <a:solidFill>
                  <a:srgbClr val="141B2E"/>
                </a:solidFill>
                <a:latin typeface="Arial"/>
              </a:rPr>
              <a:t> Узел не падал ни на одном шаге.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происходит при превышении лимита</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происходит, если картинка весит больше лимита?</a:t>
            </a:r>
          </a:p>
        </p:txBody>
      </p:sp>
      <p:sp>
        <p:nvSpPr>
          <p:cNvPr id="5" name="Rounded Rectangle 4"/>
          <p:cNvSpPr/>
          <p:nvPr/>
        </p:nvSpPr>
        <p:spPr>
          <a:xfrm>
            <a:off x="502920"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n8n обрежет картинку сама, чтобы она прошла</a:t>
            </a:r>
          </a:p>
        </p:txBody>
      </p:sp>
      <p:sp>
        <p:nvSpPr>
          <p:cNvPr id="7" name="Rounded Rectangle 6"/>
          <p:cNvSpPr/>
          <p:nvPr/>
        </p:nvSpPr>
        <p:spPr>
          <a:xfrm>
            <a:off x="3335274"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узел отправки вернёт явную ошибку о превышении размера</a:t>
            </a:r>
          </a:p>
        </p:txBody>
      </p:sp>
      <p:sp>
        <p:nvSpPr>
          <p:cNvPr id="9" name="Rounded Rectangle 8"/>
          <p:cNvSpPr/>
          <p:nvPr/>
        </p:nvSpPr>
        <p:spPr>
          <a:xfrm>
            <a:off x="6167628"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прогон останется зелёным, а получатель просто не увидит вложение</a:t>
            </a:r>
          </a:p>
        </p:txBody>
      </p:sp>
      <p:sp>
        <p:nvSpPr>
          <p:cNvPr id="11" name="Rounded Rectangle 10"/>
          <p:cNvSpPr/>
          <p:nvPr/>
        </p:nvSpPr>
        <p:spPr>
          <a:xfrm>
            <a:off x="8999982" y="3603498"/>
            <a:ext cx="2686050"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603498"/>
            <a:ext cx="2466594"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Telegram сам сожмёт картинку на своей стороне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происходит на самом деле</a:t>
            </a:r>
          </a:p>
        </p:txBody>
      </p:sp>
      <p:sp>
        <p:nvSpPr>
          <p:cNvPr id="3" name="Rounded Rectangle 2"/>
          <p:cNvSpPr/>
          <p:nvPr/>
        </p:nvSpPr>
        <p:spPr>
          <a:xfrm>
            <a:off x="502920" y="2088794"/>
            <a:ext cx="2686050" cy="1106424"/>
          </a:xfrm>
          <a:prstGeom prst="roundRect">
            <a:avLst>
              <a:gd name="adj" fmla="val 25000"/>
            </a:avLst>
          </a:prstGeom>
          <a:solidFill>
            <a:srgbClr val="FEF5E0"/>
          </a:solidFill>
          <a:ln w="19050">
            <a:solidFill>
              <a:srgbClr val="8A62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12648" y="2088794"/>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8A6200"/>
                </a:solidFill>
                <a:latin typeface="Arial"/>
              </a:rPr>
              <a:t>n8n обрежет картинку сама</a:t>
            </a:r>
          </a:p>
        </p:txBody>
      </p:sp>
      <p:sp>
        <p:nvSpPr>
          <p:cNvPr id="5" name="Rounded Rectangle 4"/>
          <p:cNvSpPr/>
          <p:nvPr/>
        </p:nvSpPr>
        <p:spPr>
          <a:xfrm>
            <a:off x="3335274" y="2088794"/>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45002" y="2088794"/>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узел отправки вернёт явную ошибку о превышении размера</a:t>
            </a:r>
          </a:p>
        </p:txBody>
      </p:sp>
      <p:sp>
        <p:nvSpPr>
          <p:cNvPr id="7" name="Rounded Rectangle 6"/>
          <p:cNvSpPr/>
          <p:nvPr/>
        </p:nvSpPr>
        <p:spPr>
          <a:xfrm>
            <a:off x="6167628" y="2088794"/>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77356" y="2088794"/>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прогон останется зелёным, а получатель просто не увидит вложение</a:t>
            </a:r>
          </a:p>
        </p:txBody>
      </p:sp>
      <p:sp>
        <p:nvSpPr>
          <p:cNvPr id="9" name="Rounded Rectangle 8"/>
          <p:cNvSpPr/>
          <p:nvPr/>
        </p:nvSpPr>
        <p:spPr>
          <a:xfrm>
            <a:off x="8999982" y="2088794"/>
            <a:ext cx="2686050"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09710" y="2088794"/>
            <a:ext cx="2466594"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Telegram сам сожмёт картинку на своей стороне</a:t>
            </a:r>
          </a:p>
        </p:txBody>
      </p:sp>
      <p:sp>
        <p:nvSpPr>
          <p:cNvPr id="11" name="Rounded Rectangle 10"/>
          <p:cNvSpPr/>
          <p:nvPr/>
        </p:nvSpPr>
        <p:spPr>
          <a:xfrm>
            <a:off x="502920" y="386273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399074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Поворот.</a:t>
            </a:r>
            <a:r>
              <a:rPr sz="1500" b="1" i="0">
                <a:solidFill>
                  <a:srgbClr val="141B2E"/>
                </a:solidFill>
                <a:latin typeface="Arial"/>
              </a:rPr>
              <a:t> Тот же паттерн, что в Кейсе 1 — узел не упал, результат тихо не тот — переносится на бинарные данные: молчит теперь не текстовое поле — формат и размер вложения.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Цепочка: текст, картинка, бинарные данные, Telegram</a:t>
            </a:r>
          </a:p>
        </p:txBody>
      </p:sp>
      <p:sp>
        <p:nvSpPr>
          <p:cNvPr id="3" name="Rounded Rectangle 2"/>
          <p:cNvSpPr/>
          <p:nvPr/>
        </p:nvSpPr>
        <p:spPr>
          <a:xfrm>
            <a:off x="502920" y="165171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77972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текст (имя заявителя, тема) → наложение текста на картинку → форматирование под бинарные данные → отправка в Telegram с вложением</a:t>
            </a:r>
          </a:p>
        </p:txBody>
      </p:sp>
      <p:sp>
        <p:nvSpPr>
          <p:cNvPr id="5" name="Rounded Rectangle 4"/>
          <p:cNvSpPr/>
          <p:nvPr/>
        </p:nvSpPr>
        <p:spPr>
          <a:xfrm>
            <a:off x="502920" y="3065983"/>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193999"/>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Лимит n8n</a:t>
            </a:r>
            <a:r>
              <a:rPr sz="1500" b="1" i="0">
                <a:solidFill>
                  <a:srgbClr val="141B2E"/>
                </a:solidFill>
                <a:latin typeface="Arial"/>
              </a:rPr>
              <a:t> — собственный payload limit по умолчанию, </a:t>
            </a:r>
            <a:r>
              <a:rPr sz="1500" b="1" i="0">
                <a:solidFill>
                  <a:srgbClr val="141B2E"/>
                </a:solidFill>
                <a:latin typeface="Arial"/>
              </a:rPr>
              <a:t>16 МБ</a:t>
            </a:r>
            <a:r>
              <a:rPr sz="1500" b="1" i="0">
                <a:solidFill>
                  <a:srgbClr val="141B2E"/>
                </a:solidFill>
                <a:latin typeface="Arial"/>
              </a:rPr>
              <a:t> на весь объём данных узла.</a:t>
            </a:r>
          </a:p>
          <a:p>
            <a:pPr algn="l">
              <a:lnSpc>
                <a:spcPts val="1860"/>
              </a:lnSpc>
              <a:spcAft>
                <a:spcPts val="300"/>
              </a:spcAft>
            </a:pPr>
            <a:r>
              <a:rPr sz="1500" b="1" i="0">
                <a:solidFill>
                  <a:srgbClr val="141B2E"/>
                </a:solidFill>
                <a:latin typeface="Arial"/>
              </a:rPr>
              <a:t>Лимит Telegram</a:t>
            </a:r>
            <a:r>
              <a:rPr sz="1500" b="1" i="0">
                <a:solidFill>
                  <a:srgbClr val="141B2E"/>
                </a:solidFill>
                <a:latin typeface="Arial"/>
              </a:rPr>
              <a:t> — отдельный и более узкий, причём разный для фото и для документа.</a:t>
            </a:r>
          </a:p>
        </p:txBody>
      </p:sp>
      <p:sp>
        <p:nvSpPr>
          <p:cNvPr id="7" name="Rounded Rectangle 6"/>
          <p:cNvSpPr/>
          <p:nvPr/>
        </p:nvSpPr>
        <p:spPr>
          <a:xfrm>
            <a:off x="502920" y="451835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4637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 что прошло мимо лимита n8n, может всё равно не пройти мимо лимита канала доставки — два независимых порога, не один.</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прогона: обычный размер и намеренно большой</a:t>
            </a:r>
          </a:p>
        </p:txBody>
      </p:sp>
      <p:sp>
        <p:nvSpPr>
          <p:cNvPr id="3" name="Rounded Rectangle 2"/>
          <p:cNvSpPr/>
          <p:nvPr/>
        </p:nvSpPr>
        <p:spPr>
          <a:xfrm>
            <a:off x="502920" y="106127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929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Процесс на стенде заранее собран и опубликован: workflow </a:t>
            </a:r>
            <a:r>
              <a:rPr sz="1500" b="1" i="0">
                <a:solidFill>
                  <a:srgbClr val="141B2E"/>
                </a:solidFill>
                <a:latin typeface="Consolas"/>
              </a:rPr>
              <a:t>MxJ9nO44wl2QqcIl</a:t>
            </a:r>
            <a:r>
              <a:rPr sz="1500" b="1" i="0">
                <a:solidFill>
                  <a:srgbClr val="141B2E"/>
                </a:solidFill>
                <a:latin typeface="Arial"/>
              </a:rPr>
              <a:t>.</a:t>
            </a:r>
          </a:p>
        </p:txBody>
      </p:sp>
      <p:sp>
        <p:nvSpPr>
          <p:cNvPr id="5" name="Rounded Rectangle 4"/>
          <p:cNvSpPr/>
          <p:nvPr/>
        </p:nvSpPr>
        <p:spPr>
          <a:xfrm>
            <a:off x="502920" y="2031206"/>
            <a:ext cx="11183112" cy="1707261"/>
          </a:xfrm>
          <a:prstGeom prst="roundRect">
            <a:avLst>
              <a:gd name="adj" fmla="val 1785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14086"/>
            <a:ext cx="448974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ВХОД</a:t>
            </a:r>
          </a:p>
        </p:txBody>
      </p:sp>
      <p:sp>
        <p:nvSpPr>
          <p:cNvPr id="7" name="TextBox 6"/>
          <p:cNvSpPr txBox="1"/>
          <p:nvPr/>
        </p:nvSpPr>
        <p:spPr>
          <a:xfrm>
            <a:off x="5321849" y="2214086"/>
            <a:ext cx="603499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8" name="TextBox 7"/>
          <p:cNvSpPr txBox="1"/>
          <p:nvPr/>
        </p:nvSpPr>
        <p:spPr>
          <a:xfrm>
            <a:off x="685800" y="2496153"/>
            <a:ext cx="44897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обычная картинка, 800×450 (Picsum)</a:t>
            </a:r>
          </a:p>
        </p:txBody>
      </p:sp>
      <p:sp>
        <p:nvSpPr>
          <p:cNvPr id="9" name="TextBox 8"/>
          <p:cNvSpPr txBox="1"/>
          <p:nvPr/>
        </p:nvSpPr>
        <p:spPr>
          <a:xfrm>
            <a:off x="5321849" y="2496153"/>
            <a:ext cx="603499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доставлена в Telegram как фото, </a:t>
            </a:r>
            <a:r>
              <a:rPr sz="1250" b="0" i="0">
                <a:solidFill>
                  <a:srgbClr val="141B2E"/>
                </a:solidFill>
                <a:latin typeface="Consolas"/>
              </a:rPr>
              <a:t>message_id</a:t>
            </a:r>
            <a:r>
              <a:rPr sz="1250" b="0" i="0">
                <a:solidFill>
                  <a:srgbClr val="141B2E"/>
                </a:solidFill>
                <a:latin typeface="Arial"/>
              </a:rPr>
              <a:t> </a:t>
            </a:r>
            <a:r>
              <a:rPr sz="1250" b="0" i="0">
                <a:solidFill>
                  <a:srgbClr val="141B2E"/>
                </a:solidFill>
                <a:latin typeface="Consolas"/>
              </a:rPr>
              <a:t>6</a:t>
            </a:r>
            <a:r>
              <a:rPr sz="1250" b="0" i="0">
                <a:solidFill>
                  <a:srgbClr val="141B2E"/>
                </a:solidFill>
                <a:latin typeface="Arial"/>
              </a:rPr>
              <a:t> — </a:t>
            </a:r>
            <a:r>
              <a:rPr sz="1250" b="0" i="0">
                <a:solidFill>
                  <a:srgbClr val="141B2E"/>
                </a:solidFill>
                <a:latin typeface="Consolas"/>
              </a:rPr>
              <a:t>execution</a:t>
            </a:r>
            <a:r>
              <a:rPr sz="1250" b="0" i="0">
                <a:solidFill>
                  <a:srgbClr val="141B2E"/>
                </a:solidFill>
                <a:latin typeface="Arial"/>
              </a:rPr>
              <a:t> </a:t>
            </a:r>
            <a:r>
              <a:rPr sz="1250" b="0" i="0">
                <a:solidFill>
                  <a:srgbClr val="141B2E"/>
                </a:solidFill>
                <a:latin typeface="Consolas"/>
              </a:rPr>
              <a:t>52,</a:t>
            </a:r>
            <a:r>
              <a:rPr sz="1250" b="0" i="0">
                <a:solidFill>
                  <a:srgbClr val="141B2E"/>
                </a:solidFill>
                <a:latin typeface="Arial"/>
              </a:rPr>
              <a:t> </a:t>
            </a:r>
            <a:r>
              <a:rPr sz="1250" b="0" i="0">
                <a:solidFill>
                  <a:srgbClr val="141B2E"/>
                </a:solidFill>
                <a:latin typeface="Consolas"/>
              </a:rPr>
              <a:t>n8n.lessons.tellian.io</a:t>
            </a:r>
          </a:p>
        </p:txBody>
      </p:sp>
      <p:cxnSp>
        <p:nvCxnSpPr>
          <p:cNvPr id="10" name="Connector 9"/>
          <p:cNvCxnSpPr/>
          <p:nvPr/>
        </p:nvCxnSpPr>
        <p:spPr>
          <a:xfrm>
            <a:off x="685800" y="30258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25870"/>
            <a:ext cx="44897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несжатый JPEG, 12 812 355 байт — между лимитом n8n (16 МБ) и лимитом </a:t>
            </a:r>
            <a:r>
              <a:rPr sz="1250" b="0" i="0">
                <a:solidFill>
                  <a:srgbClr val="141B2E"/>
                </a:solidFill>
                <a:latin typeface="Consolas"/>
              </a:rPr>
              <a:t>sendPhoto</a:t>
            </a:r>
            <a:r>
              <a:rPr sz="1250" b="0" i="0">
                <a:solidFill>
                  <a:srgbClr val="141B2E"/>
                </a:solidFill>
                <a:latin typeface="Arial"/>
              </a:rPr>
              <a:t> (10 МБ)</a:t>
            </a:r>
          </a:p>
        </p:txBody>
      </p:sp>
      <p:sp>
        <p:nvSpPr>
          <p:cNvPr id="12" name="TextBox 11"/>
          <p:cNvSpPr txBox="1"/>
          <p:nvPr/>
        </p:nvSpPr>
        <p:spPr>
          <a:xfrm>
            <a:off x="5321849" y="3025870"/>
            <a:ext cx="603499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настоящая ошибка Telegram Bot API, прямой вызов (не через этот workflow):</a:t>
            </a:r>
          </a:p>
        </p:txBody>
      </p:sp>
      <p:sp>
        <p:nvSpPr>
          <p:cNvPr id="13" name="Rounded Rectangle 12"/>
          <p:cNvSpPr/>
          <p:nvPr/>
        </p:nvSpPr>
        <p:spPr>
          <a:xfrm>
            <a:off x="502920" y="419785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432587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"Bad</a:t>
            </a:r>
            <a:r>
              <a:rPr sz="1500" b="1" i="0">
                <a:solidFill>
                  <a:srgbClr val="141B2E"/>
                </a:solidFill>
                <a:latin typeface="Arial"/>
              </a:rPr>
              <a:t> </a:t>
            </a:r>
            <a:r>
              <a:rPr sz="1500" b="1" i="0">
                <a:solidFill>
                  <a:srgbClr val="141B2E"/>
                </a:solidFill>
                <a:latin typeface="Consolas"/>
              </a:rPr>
              <a:t>Request:</a:t>
            </a:r>
            <a:r>
              <a:rPr sz="1500" b="1" i="0">
                <a:solidFill>
                  <a:srgbClr val="141B2E"/>
                </a:solidFill>
                <a:latin typeface="Arial"/>
              </a:rPr>
              <a:t> </a:t>
            </a:r>
            <a:r>
              <a:rPr sz="1500" b="1" i="0">
                <a:solidFill>
                  <a:srgbClr val="141B2E"/>
                </a:solidFill>
                <a:latin typeface="Consolas"/>
              </a:rPr>
              <a:t>file</a:t>
            </a:r>
            <a:r>
              <a:rPr sz="1500" b="1" i="0">
                <a:solidFill>
                  <a:srgbClr val="141B2E"/>
                </a:solidFill>
                <a:latin typeface="Arial"/>
              </a:rPr>
              <a:t> </a:t>
            </a:r>
            <a:r>
              <a:rPr sz="1500" b="1" i="0">
                <a:solidFill>
                  <a:srgbClr val="141B2E"/>
                </a:solidFill>
                <a:latin typeface="Consolas"/>
              </a:rPr>
              <a:t>of</a:t>
            </a:r>
            <a:r>
              <a:rPr sz="1500" b="1" i="0">
                <a:solidFill>
                  <a:srgbClr val="141B2E"/>
                </a:solidFill>
                <a:latin typeface="Arial"/>
              </a:rPr>
              <a:t> </a:t>
            </a:r>
            <a:r>
              <a:rPr sz="1500" b="1" i="0">
                <a:solidFill>
                  <a:srgbClr val="141B2E"/>
                </a:solidFill>
                <a:latin typeface="Consolas"/>
              </a:rPr>
              <a:t>size</a:t>
            </a:r>
            <a:r>
              <a:rPr sz="1500" b="1" i="0">
                <a:solidFill>
                  <a:srgbClr val="141B2E"/>
                </a:solidFill>
                <a:latin typeface="Arial"/>
              </a:rPr>
              <a:t> </a:t>
            </a:r>
            <a:r>
              <a:rPr sz="1500" b="1" i="0">
                <a:solidFill>
                  <a:srgbClr val="141B2E"/>
                </a:solidFill>
                <a:latin typeface="Consolas"/>
              </a:rPr>
              <a:t>12812355</a:t>
            </a:r>
            <a:r>
              <a:rPr sz="1500" b="1" i="0">
                <a:solidFill>
                  <a:srgbClr val="141B2E"/>
                </a:solidFill>
                <a:latin typeface="Arial"/>
              </a:rPr>
              <a:t> </a:t>
            </a:r>
            <a:r>
              <a:rPr sz="1500" b="1" i="0">
                <a:solidFill>
                  <a:srgbClr val="141B2E"/>
                </a:solidFill>
                <a:latin typeface="Consolas"/>
              </a:rPr>
              <a:t>bytes</a:t>
            </a:r>
            <a:r>
              <a:rPr sz="1500" b="1" i="0">
                <a:solidFill>
                  <a:srgbClr val="141B2E"/>
                </a:solidFill>
                <a:latin typeface="Arial"/>
              </a:rPr>
              <a:t> </a:t>
            </a:r>
            <a:r>
              <a:rPr sz="1500" b="1" i="0">
                <a:solidFill>
                  <a:srgbClr val="141B2E"/>
                </a:solidFill>
                <a:latin typeface="Consolas"/>
              </a:rPr>
              <a:t>is</a:t>
            </a:r>
            <a:r>
              <a:rPr sz="1500" b="1" i="0">
                <a:solidFill>
                  <a:srgbClr val="141B2E"/>
                </a:solidFill>
                <a:latin typeface="Arial"/>
              </a:rPr>
              <a:t> </a:t>
            </a:r>
            <a:r>
              <a:rPr sz="1500" b="1" i="0">
                <a:solidFill>
                  <a:srgbClr val="141B2E"/>
                </a:solidFill>
                <a:latin typeface="Consolas"/>
              </a:rPr>
              <a:t>too</a:t>
            </a:r>
            <a:r>
              <a:rPr sz="1500" b="1" i="0">
                <a:solidFill>
                  <a:srgbClr val="141B2E"/>
                </a:solidFill>
                <a:latin typeface="Arial"/>
              </a:rPr>
              <a:t> </a:t>
            </a:r>
            <a:r>
              <a:rPr sz="1500" b="1" i="0">
                <a:solidFill>
                  <a:srgbClr val="141B2E"/>
                </a:solidFill>
                <a:latin typeface="Consolas"/>
              </a:rPr>
              <a:t>big</a:t>
            </a:r>
            <a:r>
              <a:rPr sz="1500" b="1" i="0">
                <a:solidFill>
                  <a:srgbClr val="141B2E"/>
                </a:solidFill>
                <a:latin typeface="Arial"/>
              </a:rPr>
              <a:t> </a:t>
            </a:r>
            <a:r>
              <a:rPr sz="1500" b="1" i="0">
                <a:solidFill>
                  <a:srgbClr val="141B2E"/>
                </a:solidFill>
                <a:latin typeface="Consolas"/>
              </a:rPr>
              <a:t>for</a:t>
            </a:r>
            <a:r>
              <a:rPr sz="1500" b="1" i="0">
                <a:solidFill>
                  <a:srgbClr val="141B2E"/>
                </a:solidFill>
                <a:latin typeface="Arial"/>
              </a:rPr>
              <a:t> </a:t>
            </a:r>
            <a:r>
              <a:rPr sz="1500" b="1" i="0">
                <a:solidFill>
                  <a:srgbClr val="141B2E"/>
                </a:solidFill>
                <a:latin typeface="Consolas"/>
              </a:rPr>
              <a:t>a</a:t>
            </a:r>
            <a:r>
              <a:rPr sz="1500" b="1" i="0">
                <a:solidFill>
                  <a:srgbClr val="141B2E"/>
                </a:solidFill>
                <a:latin typeface="Arial"/>
              </a:rPr>
              <a:t> </a:t>
            </a:r>
            <a:r>
              <a:rPr sz="1500" b="1" i="0">
                <a:solidFill>
                  <a:srgbClr val="141B2E"/>
                </a:solidFill>
                <a:latin typeface="Consolas"/>
              </a:rPr>
              <a:t>photo;</a:t>
            </a:r>
            <a:r>
              <a:rPr sz="1500" b="1" i="0">
                <a:solidFill>
                  <a:srgbClr val="141B2E"/>
                </a:solidFill>
                <a:latin typeface="Arial"/>
              </a:rPr>
              <a:t> </a:t>
            </a:r>
            <a:r>
              <a:rPr sz="1500" b="1" i="0">
                <a:solidFill>
                  <a:srgbClr val="141B2E"/>
                </a:solidFill>
                <a:latin typeface="Consolas"/>
              </a:rPr>
              <a:t>the</a:t>
            </a:r>
            <a:r>
              <a:rPr sz="1500" b="1" i="0">
                <a:solidFill>
                  <a:srgbClr val="141B2E"/>
                </a:solidFill>
                <a:latin typeface="Arial"/>
              </a:rPr>
              <a:t> </a:t>
            </a:r>
            <a:r>
              <a:rPr sz="1500" b="1" i="0">
                <a:solidFill>
                  <a:srgbClr val="141B2E"/>
                </a:solidFill>
                <a:latin typeface="Consolas"/>
              </a:rPr>
              <a:t>maximum</a:t>
            </a:r>
            <a:r>
              <a:rPr sz="1500" b="1" i="0">
                <a:solidFill>
                  <a:srgbClr val="141B2E"/>
                </a:solidFill>
                <a:latin typeface="Arial"/>
              </a:rPr>
              <a:t> </a:t>
            </a:r>
            <a:r>
              <a:rPr sz="1500" b="1" i="0">
                <a:solidFill>
                  <a:srgbClr val="141B2E"/>
                </a:solidFill>
                <a:latin typeface="Consolas"/>
              </a:rPr>
              <a:t>size</a:t>
            </a:r>
            <a:r>
              <a:rPr sz="1500" b="1" i="0">
                <a:solidFill>
                  <a:srgbClr val="141B2E"/>
                </a:solidFill>
                <a:latin typeface="Arial"/>
              </a:rPr>
              <a:t> </a:t>
            </a:r>
            <a:r>
              <a:rPr sz="1500" b="1" i="0">
                <a:solidFill>
                  <a:srgbClr val="141B2E"/>
                </a:solidFill>
                <a:latin typeface="Consolas"/>
              </a:rPr>
              <a:t>is</a:t>
            </a:r>
            <a:r>
              <a:rPr sz="1500" b="1" i="0">
                <a:solidFill>
                  <a:srgbClr val="141B2E"/>
                </a:solidFill>
                <a:latin typeface="Arial"/>
              </a:rPr>
              <a:t> </a:t>
            </a:r>
            <a:r>
              <a:rPr sz="1500" b="1" i="0">
                <a:solidFill>
                  <a:srgbClr val="141B2E"/>
                </a:solidFill>
                <a:latin typeface="Consolas"/>
              </a:rPr>
              <a:t>10485760</a:t>
            </a:r>
            <a:r>
              <a:rPr sz="1500" b="1" i="0">
                <a:solidFill>
                  <a:srgbClr val="141B2E"/>
                </a:solidFill>
                <a:latin typeface="Arial"/>
              </a:rPr>
              <a:t> </a:t>
            </a:r>
            <a:r>
              <a:rPr sz="1500" b="1" i="0">
                <a:solidFill>
                  <a:srgbClr val="141B2E"/>
                </a:solidFill>
                <a:latin typeface="Consolas"/>
              </a:rPr>
              <a:t>bytes"</a:t>
            </a:r>
          </a:p>
        </p:txBody>
      </p:sp>
      <p:sp>
        <p:nvSpPr>
          <p:cNvPr id="15" name="Rounded Rectangle 14"/>
          <p:cNvSpPr/>
          <p:nvPr/>
        </p:nvSpPr>
        <p:spPr>
          <a:xfrm>
            <a:off x="502920" y="516778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529580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уточняет разбор: на границе размера Telegram отвечает явной ошибкой, а не тишиной — тихая потеря правдоподобнее на стороне n8n (лимит по умолчанию) или при сетевом сбое, не на стороне самого Telegram API.</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Бинарные данные — отдельная модель данных</a:t>
            </a:r>
          </a:p>
        </p:txBody>
      </p:sp>
      <p:sp>
        <p:nvSpPr>
          <p:cNvPr id="3" name="Rounded Rectangle 2"/>
          <p:cNvSpPr/>
          <p:nvPr/>
        </p:nvSpPr>
        <p:spPr>
          <a:xfrm>
            <a:off x="502920" y="1685036"/>
            <a:ext cx="11183112" cy="1879599"/>
          </a:xfrm>
          <a:prstGeom prst="roundRect">
            <a:avLst>
              <a:gd name="adj" fmla="val 162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67916"/>
            <a:ext cx="180145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 ЗАДАЧИ</a:t>
            </a:r>
          </a:p>
        </p:txBody>
      </p:sp>
      <p:sp>
        <p:nvSpPr>
          <p:cNvPr id="5" name="TextBox 4"/>
          <p:cNvSpPr txBox="1"/>
          <p:nvPr/>
        </p:nvSpPr>
        <p:spPr>
          <a:xfrm>
            <a:off x="2633558" y="1867916"/>
            <a:ext cx="872328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БИНАРНЫЕ ДАННЫЕ — ОТДЕЛЬНАЯ МОДЕЛЬ ДАННЫХ ОТ JSON-ПОЛЕЙ, НЕ ЕЩЁ ОДНО ЗНАЧЕНИЕ ПОЛЯ</a:t>
            </a:r>
          </a:p>
        </p:txBody>
      </p:sp>
      <p:sp>
        <p:nvSpPr>
          <p:cNvPr id="6" name="TextBox 5"/>
          <p:cNvSpPr txBox="1"/>
          <p:nvPr/>
        </p:nvSpPr>
        <p:spPr>
          <a:xfrm>
            <a:off x="685800" y="2322322"/>
            <a:ext cx="1801454"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Тот же контракт, что в Кейсе 1</a:t>
            </a:r>
          </a:p>
        </p:txBody>
      </p:sp>
      <p:sp>
        <p:nvSpPr>
          <p:cNvPr id="7" name="TextBox 6"/>
          <p:cNvSpPr txBox="1"/>
          <p:nvPr/>
        </p:nvSpPr>
        <p:spPr>
          <a:xfrm>
            <a:off x="2633558" y="2322322"/>
            <a:ext cx="87232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там рвался на тексте («узел не упал, результат тихо не тот»); здесь — на формате и размере бинарного вложения</a:t>
            </a:r>
          </a:p>
        </p:txBody>
      </p:sp>
      <p:cxnSp>
        <p:nvCxnSpPr>
          <p:cNvPr id="8" name="Connector 7"/>
          <p:cNvCxnSpPr/>
          <p:nvPr/>
        </p:nvCxnSpPr>
        <p:spPr>
          <a:xfrm>
            <a:off x="685800" y="28520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52039"/>
            <a:ext cx="1801454"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Причина одна и та же</a:t>
            </a:r>
          </a:p>
        </p:txBody>
      </p:sp>
      <p:sp>
        <p:nvSpPr>
          <p:cNvPr id="10" name="TextBox 9"/>
          <p:cNvSpPr txBox="1"/>
          <p:nvPr/>
        </p:nvSpPr>
        <p:spPr>
          <a:xfrm>
            <a:off x="2633558" y="2852039"/>
            <a:ext cx="872328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успешный прогон не говорит, дошёл ли результат до получателя в ожидаемом виде</a:t>
            </a:r>
          </a:p>
        </p:txBody>
      </p:sp>
      <p:sp>
        <p:nvSpPr>
          <p:cNvPr id="11" name="Rounded Rectangle 10"/>
          <p:cNvSpPr/>
          <p:nvPr/>
        </p:nvSpPr>
        <p:spPr>
          <a:xfrm>
            <a:off x="502920" y="423214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36016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Явная граница вводного уровня.</a:t>
            </a:r>
            <a:r>
              <a:rPr sz="1500" b="1" i="0">
                <a:solidFill>
                  <a:srgbClr val="141B2E"/>
                </a:solidFill>
                <a:latin typeface="Arial"/>
              </a:rPr>
              <a:t> Это занятие вводит бинарные данные на уровне «один файл, один лимит, одна отправка». Хранение, поиск и обработка множества бинарных объектов — остаются за Семинаром 10.</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бинарные данные требуют отдельного внимания</a:t>
            </a:r>
          </a:p>
        </p:txBody>
      </p:sp>
      <p:sp>
        <p:nvSpPr>
          <p:cNvPr id="3" name="Rounded Rectangle 2"/>
          <p:cNvSpPr/>
          <p:nvPr/>
        </p:nvSpPr>
        <p:spPr>
          <a:xfrm>
            <a:off x="502920" y="1034728"/>
            <a:ext cx="5454396" cy="1695195"/>
          </a:xfrm>
          <a:prstGeom prst="roundRect">
            <a:avLst>
              <a:gd name="adj" fmla="val 1798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4445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НУЖНО ВСЕГДА</a:t>
            </a:r>
          </a:p>
        </p:txBody>
      </p:sp>
      <p:sp>
        <p:nvSpPr>
          <p:cNvPr id="5" name="TextBox 4"/>
          <p:cNvSpPr txBox="1"/>
          <p:nvPr/>
        </p:nvSpPr>
        <p:spPr>
          <a:xfrm>
            <a:off x="685800" y="14187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 цепочке передаётся файл или изображение, не только текстовые поля</a:t>
            </a:r>
          </a:p>
        </p:txBody>
      </p:sp>
      <p:cxnSp>
        <p:nvCxnSpPr>
          <p:cNvPr id="6" name="Connector 5"/>
          <p:cNvCxnSpPr/>
          <p:nvPr/>
        </p:nvCxnSpPr>
        <p:spPr>
          <a:xfrm>
            <a:off x="685800" y="190975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909758"/>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проверка размера перед отправкой</a:t>
            </a:r>
          </a:p>
        </p:txBody>
      </p:sp>
      <p:cxnSp>
        <p:nvCxnSpPr>
          <p:cNvPr id="8" name="Connector 7"/>
          <p:cNvCxnSpPr/>
          <p:nvPr/>
        </p:nvCxnSpPr>
        <p:spPr>
          <a:xfrm>
            <a:off x="685800" y="22284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228401"/>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знание лимита канала доставки отдельно от лимита платформы</a:t>
            </a:r>
          </a:p>
        </p:txBody>
      </p:sp>
      <p:sp>
        <p:nvSpPr>
          <p:cNvPr id="10" name="Rounded Rectangle 9"/>
          <p:cNvSpPr/>
          <p:nvPr/>
        </p:nvSpPr>
        <p:spPr>
          <a:xfrm>
            <a:off x="6231636" y="1034728"/>
            <a:ext cx="5454396" cy="1695195"/>
          </a:xfrm>
          <a:prstGeom prst="roundRect">
            <a:avLst>
              <a:gd name="adj" fmla="val 1798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1144456"/>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ТРЕБУЕТСЯ НА ЭТОМ УРОВНЕ</a:t>
            </a:r>
          </a:p>
        </p:txBody>
      </p:sp>
      <p:sp>
        <p:nvSpPr>
          <p:cNvPr id="12" name="TextBox 11"/>
          <p:cNvSpPr txBox="1"/>
          <p:nvPr/>
        </p:nvSpPr>
        <p:spPr>
          <a:xfrm>
            <a:off x="6414516" y="1418776"/>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хранение множества файлов</a:t>
            </a:r>
          </a:p>
        </p:txBody>
      </p:sp>
      <p:cxnSp>
        <p:nvCxnSpPr>
          <p:cNvPr id="13" name="Connector 12"/>
          <p:cNvCxnSpPr/>
          <p:nvPr/>
        </p:nvCxnSpPr>
        <p:spPr>
          <a:xfrm>
            <a:off x="6414516" y="173741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1737419"/>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поиск среди множества бинарных объектов</a:t>
            </a:r>
          </a:p>
        </p:txBody>
      </p:sp>
      <p:cxnSp>
        <p:nvCxnSpPr>
          <p:cNvPr id="15" name="Connector 14"/>
          <p:cNvCxnSpPr/>
          <p:nvPr/>
        </p:nvCxnSpPr>
        <p:spPr>
          <a:xfrm>
            <a:off x="6414516" y="2056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05606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обработка содержимого моделью (поиск по картинкам)</a:t>
            </a:r>
          </a:p>
        </p:txBody>
      </p:sp>
      <p:sp>
        <p:nvSpPr>
          <p:cNvPr id="17" name="Rounded Rectangle 16"/>
          <p:cNvSpPr/>
          <p:nvPr/>
        </p:nvSpPr>
        <p:spPr>
          <a:xfrm>
            <a:off x="502920" y="312294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325096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Нюансы.</a:t>
            </a:r>
            <a:r>
              <a:rPr sz="1500" b="1" i="0">
                <a:solidFill>
                  <a:srgbClr val="141B2E"/>
                </a:solidFill>
                <a:latin typeface="Arial"/>
              </a:rPr>
              <a:t> Лимит n8n по умолчанию — 16 МБ: для фото с текстом обычно достаточно, но скан или снимок высокого разрешения прямо с телефона — не всегда. Лимиты Telegram — отдельный и более узкий потолок, разный для фото и для документа: то, что прошло мимо лимита n8n, может не пройти мимо лимита канала доставки. Ручной прогон потребляет больше памяти, чем автоматический — для узла с бинарными данными разница заметнее, чем для текстовых полей.</a:t>
            </a:r>
          </a:p>
        </p:txBody>
      </p:sp>
      <p:sp>
        <p:nvSpPr>
          <p:cNvPr id="19" name="Rounded Rectangle 18"/>
          <p:cNvSpPr/>
          <p:nvPr/>
        </p:nvSpPr>
        <p:spPr>
          <a:xfrm>
            <a:off x="502920" y="4971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099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Четвёртая строка оси закрыта.</a:t>
            </a:r>
            <a:r>
              <a:rPr sz="1500" b="1" i="0">
                <a:solidFill>
                  <a:srgbClr val="141B2E"/>
                </a:solidFill>
                <a:latin typeface="Arial"/>
              </a:rPr>
              <a:t> Картинка собралась и ушла в Telegram — выглядело успехом. Чем оказалось: в цепочке не было гейта в коде — детерминированной проверки «размер файла против лимита канала» ДО отправки; без неё большой файл уходит не полностью или не уходит вовсе, а прогон всё равно зелёный. Тот же тезис, что в Кейсе 3: гейт — это архитектура, а не зелёный статус.</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строки оси: что оказалось</a:t>
            </a:r>
          </a:p>
        </p:txBody>
      </p:sp>
      <p:sp>
        <p:nvSpPr>
          <p:cNvPr id="3" name="Rounded Rectangle 2"/>
          <p:cNvSpPr/>
          <p:nvPr/>
        </p:nvSpPr>
        <p:spPr>
          <a:xfrm>
            <a:off x="502920" y="1248156"/>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31036"/>
            <a:ext cx="31888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4020998" y="1431036"/>
            <a:ext cx="733584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713103"/>
            <a:ext cx="31888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ушло координатору, цепочка короче и дешевле без LLM</a:t>
            </a:r>
          </a:p>
        </p:txBody>
      </p:sp>
      <p:sp>
        <p:nvSpPr>
          <p:cNvPr id="7" name="TextBox 6"/>
          <p:cNvSpPr txBox="1"/>
          <p:nvPr/>
        </p:nvSpPr>
        <p:spPr>
          <a:xfrm>
            <a:off x="4020998" y="1713103"/>
            <a:ext cx="733584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LLM здесь просто лишний шаг — то же самое делает шаблон</a:t>
            </a:r>
          </a:p>
        </p:txBody>
      </p:sp>
      <p:cxnSp>
        <p:nvCxnSpPr>
          <p:cNvPr id="8" name="Connector 7"/>
          <p:cNvCxnSpPr/>
          <p:nvPr/>
        </p:nvCxnSpPr>
        <p:spPr>
          <a:xfrm>
            <a:off x="685800" y="22428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242820"/>
            <a:ext cx="31888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заявка про тот же вопрос пришла снова — обработали как новую</a:t>
            </a:r>
          </a:p>
        </p:txBody>
      </p:sp>
      <p:sp>
        <p:nvSpPr>
          <p:cNvPr id="10" name="TextBox 9"/>
          <p:cNvSpPr txBox="1"/>
          <p:nvPr/>
        </p:nvSpPr>
        <p:spPr>
          <a:xfrm>
            <a:off x="4020998" y="2242820"/>
            <a:ext cx="733584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проверки на дубль каждое повторное обращение запускает цепочку с нуля; механическая и смысловая проверка — разные инструменты, выбор одного из двух тут не нужен</a:t>
            </a:r>
          </a:p>
        </p:txBody>
      </p:sp>
      <p:cxnSp>
        <p:nvCxnSpPr>
          <p:cNvPr id="11" name="Connector 10"/>
          <p:cNvCxnSpPr/>
          <p:nvPr/>
        </p:nvCxnSpPr>
        <p:spPr>
          <a:xfrm>
            <a:off x="685800" y="29550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955099"/>
            <a:ext cx="31888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промте написано «не возвращай больше суммы X»</a:t>
            </a:r>
          </a:p>
        </p:txBody>
      </p:sp>
      <p:sp>
        <p:nvSpPr>
          <p:cNvPr id="13" name="TextBox 12"/>
          <p:cNvSpPr txBox="1"/>
          <p:nvPr/>
        </p:nvSpPr>
        <p:spPr>
          <a:xfrm>
            <a:off x="4020998" y="2955099"/>
            <a:ext cx="733584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решение вероятностное — модель обходит правило в измеренной доле прогонов, алгоритмический гейт — никогда</a:t>
            </a:r>
          </a:p>
        </p:txBody>
      </p:sp>
      <p:cxnSp>
        <p:nvCxnSpPr>
          <p:cNvPr id="14" name="Connector 13"/>
          <p:cNvCxnSpPr/>
          <p:nvPr/>
        </p:nvCxnSpPr>
        <p:spPr>
          <a:xfrm>
            <a:off x="685800" y="34848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84816"/>
            <a:ext cx="31888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картинка собралась и ушла в Telegram</a:t>
            </a:r>
          </a:p>
        </p:txBody>
      </p:sp>
      <p:sp>
        <p:nvSpPr>
          <p:cNvPr id="16" name="TextBox 15"/>
          <p:cNvSpPr txBox="1"/>
          <p:nvPr/>
        </p:nvSpPr>
        <p:spPr>
          <a:xfrm>
            <a:off x="4020998" y="3484816"/>
            <a:ext cx="733584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было гейта в коде — проверки размера файла против лимита канала до отправки; без неё большой файл уходит не полностью или не уходит вовсе, а прогон всё равно зелёный</a:t>
            </a:r>
          </a:p>
        </p:txBody>
      </p:sp>
      <p:sp>
        <p:nvSpPr>
          <p:cNvPr id="17" name="Rounded Rectangle 16"/>
          <p:cNvSpPr/>
          <p:nvPr/>
        </p:nvSpPr>
        <p:spPr>
          <a:xfrm>
            <a:off x="502920" y="50474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2376" y="5175503"/>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Где в цепочке решение принимает модель, а где должен — код, и что молчит, когда эту границу не назвали явно?</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1917369"/>
            <a:ext cx="11183112" cy="2949257"/>
          </a:xfrm>
          <a:prstGeom prst="roundRect">
            <a:avLst>
              <a:gd name="adj" fmla="val 103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100249"/>
            <a:ext cx="99477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5" name="TextBox 4"/>
          <p:cNvSpPr txBox="1"/>
          <p:nvPr/>
        </p:nvSpPr>
        <p:spPr>
          <a:xfrm>
            <a:off x="1826882" y="2100249"/>
            <a:ext cx="95299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ОБНОВЛЁННЫЙ </a:t>
            </a:r>
            <a:r>
              <a:rPr sz="1150" b="1" i="0">
                <a:solidFill>
                  <a:srgbClr val="6B7685"/>
                </a:solidFill>
                <a:latin typeface="Consolas"/>
              </a:rPr>
              <a:t>STUDENT.JSON</a:t>
            </a:r>
            <a:r>
              <a:rPr sz="1150" b="1" i="0">
                <a:solidFill>
                  <a:srgbClr val="6B7685"/>
                </a:solidFill>
                <a:latin typeface="Arial"/>
              </a:rPr>
              <a:t> — ПОЯВИТСЯ ПРИ СБОРКЕ СТЕНДА ЭТОГО ЗАНЯТИЯ</a:t>
            </a:r>
          </a:p>
        </p:txBody>
      </p:sp>
      <p:sp>
        <p:nvSpPr>
          <p:cNvPr id="6" name="TextBox 5"/>
          <p:cNvSpPr txBox="1"/>
          <p:nvPr/>
        </p:nvSpPr>
        <p:spPr>
          <a:xfrm>
            <a:off x="685800" y="2382316"/>
            <a:ext cx="994778"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добавлено к процессу С7</a:t>
            </a:r>
          </a:p>
        </p:txBody>
      </p:sp>
      <p:sp>
        <p:nvSpPr>
          <p:cNvPr id="7" name="TextBox 6"/>
          <p:cNvSpPr txBox="1"/>
          <p:nvPr/>
        </p:nvSpPr>
        <p:spPr>
          <a:xfrm>
            <a:off x="1826882" y="2382316"/>
            <a:ext cx="9529965"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узел-шаблон уведомления в Telegram (без модели) · узел дедупликации перед записью · учебная параллельная ветка обработки возврата (та же пара процессов, что в Кейсе 3) · узел наложения текста на картинку и отправки изображения</a:t>
            </a:r>
          </a:p>
        </p:txBody>
      </p:sp>
      <p:cxnSp>
        <p:nvCxnSpPr>
          <p:cNvPr id="8" name="Connector 7"/>
          <p:cNvCxnSpPr/>
          <p:nvPr/>
        </p:nvCxnSpPr>
        <p:spPr>
          <a:xfrm>
            <a:off x="685800" y="32771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277158"/>
            <a:ext cx="9947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0" name="TextBox 9"/>
          <p:cNvSpPr txBox="1"/>
          <p:nvPr/>
        </p:nvSpPr>
        <p:spPr>
          <a:xfrm>
            <a:off x="1826882" y="3277158"/>
            <a:ext cx="952996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способ, что и после прошлого занятия: меню сценария → Import from File</a:t>
            </a:r>
          </a:p>
        </p:txBody>
      </p:sp>
      <p:cxnSp>
        <p:nvCxnSpPr>
          <p:cNvPr id="11" name="Connector 10"/>
          <p:cNvCxnSpPr/>
          <p:nvPr/>
        </p:nvCxnSpPr>
        <p:spPr>
          <a:xfrm>
            <a:off x="685800" y="38068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3806875"/>
            <a:ext cx="994778"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3" name="TextBox 12"/>
          <p:cNvSpPr txBox="1"/>
          <p:nvPr/>
        </p:nvSpPr>
        <p:spPr>
          <a:xfrm>
            <a:off x="1826882" y="3806875"/>
            <a:ext cx="952996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ключ провайдера модели, тот же бот Telegram, что вы уже настроили</a:t>
            </a:r>
          </a:p>
        </p:txBody>
      </p:sp>
      <p:cxnSp>
        <p:nvCxnSpPr>
          <p:cNvPr id="14" name="Connector 13"/>
          <p:cNvCxnSpPr/>
          <p:nvPr/>
        </p:nvCxnSpPr>
        <p:spPr>
          <a:xfrm>
            <a:off x="685800" y="41540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154030"/>
            <a:ext cx="99477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делать</a:t>
            </a:r>
          </a:p>
        </p:txBody>
      </p:sp>
      <p:sp>
        <p:nvSpPr>
          <p:cNvPr id="16" name="TextBox 15"/>
          <p:cNvSpPr txBox="1"/>
          <p:nvPr/>
        </p:nvSpPr>
        <p:spPr>
          <a:xfrm>
            <a:off x="1826882" y="4154030"/>
            <a:ext cx="952996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прогнать на своих заявках и посмотреть, на каком шаге рвётся контракт между узлами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210769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35708"/>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Сейчас: </a:t>
            </a:r>
            <a:r>
              <a:rPr sz="1550" b="1" i="0">
                <a:solidFill>
                  <a:srgbClr val="141B2E"/>
                </a:solidFill>
                <a:latin typeface="Arial"/>
              </a:rPr>
              <a:t>любой вход</a:t>
            </a:r>
            <a:r>
              <a:rPr sz="1550" b="1" i="0">
                <a:solidFill>
                  <a:srgbClr val="141B2E"/>
                </a:solidFill>
                <a:latin typeface="Arial"/>
              </a:rPr>
              <a:t> → один и тот же набор шагов → результат</a:t>
            </a:r>
          </a:p>
          <a:p>
            <a:pPr algn="ctr">
              <a:lnSpc>
                <a:spcPts val="1891"/>
              </a:lnSpc>
              <a:spcAft>
                <a:spcPts val="300"/>
              </a:spcAft>
            </a:pPr>
            <a:r>
              <a:rPr sz="1550" b="1" i="0">
                <a:solidFill>
                  <a:srgbClr val="141B2E"/>
                </a:solidFill>
                <a:latin typeface="Arial"/>
              </a:rPr>
              <a:t>Дальше: вход начинает определять </a:t>
            </a:r>
            <a:r>
              <a:rPr sz="1550" b="1" i="0">
                <a:solidFill>
                  <a:srgbClr val="141B2E"/>
                </a:solidFill>
                <a:latin typeface="Arial"/>
              </a:rPr>
              <a:t>свой путь</a:t>
            </a:r>
            <a:r>
              <a:rPr sz="1550" b="1" i="0">
                <a:solidFill>
                  <a:srgbClr val="141B2E"/>
                </a:solidFill>
                <a:latin typeface="Arial"/>
              </a:rPr>
              <a:t> через цепочку</a:t>
            </a:r>
          </a:p>
        </p:txBody>
      </p:sp>
      <p:sp>
        <p:nvSpPr>
          <p:cNvPr id="5" name="Rounded Rectangle 4"/>
          <p:cNvSpPr/>
          <p:nvPr/>
        </p:nvSpPr>
        <p:spPr>
          <a:xfrm>
            <a:off x="502920" y="35981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7261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Семинар 9:</a:t>
            </a:r>
            <a:r>
              <a:rPr sz="1500" b="1" i="0">
                <a:solidFill>
                  <a:srgbClr val="141B2E"/>
                </a:solidFill>
                <a:latin typeface="Arial"/>
              </a:rPr>
              <a:t> ветвление: условие против переключателя · классификация как шаг цепочки · ветка по умолчанию для того, что не подошло ни под одну · слияние веток обратно в одну · концептуальный разбавитель — Optum/IRS</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