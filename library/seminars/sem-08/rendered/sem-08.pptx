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Прошлое занятие мы закончили работающей цепочкой: форма, извлечение полей моделью, сверка со справочником, запись в таблицу, экран результата. Сегодня мы не трогаем ни один из этих узлов — мы задаём цепочке новые шаги, которые ей сегодня предстоит получить: уведомление координатору, проверку на повторное обращение, решение о возврате денег, доставку картинки.</a:t>
            </a:r>
          </a:p>
          <a:p/>
          <a:p>
            <a:r>
              <a:t>На каждом из этих шагов мы будем задавать один и тот же вопрос: эту часть работы должна делать модель, или её должен делать код? Ответ не всегда очевиден заранее. Иногда шаг с моделью стоит там, где хватило бы подстановки уже известных значений, — и тогда модель лишняя, со своей ценой и риском. А иногда, наоборот, текстовое правило внутри промпта вероятностно обходит то, что с самого начала должно было быть жёстким условием в коде — и выясняется это не сразу: на практике, когда правило один раз ошибается там, где цена ошибки выше всего.</a:t>
            </a:r>
          </a:p>
          <a:p/>
          <a:p>
            <a:r>
              <a:t>Занятие практическое, но устроено иначе, чем прошлое. В прошлый раз я собирал узлы вживую у вас на глазах. Сегодня — на каждый кейс заранее собрана и прогнана готовая пара процессов, с моделью и без, — и мы смотрим на то, что они реально сделали на одних и тех же заявках одного и того же учебного центра. Для одного из кейсов мы пойдём ещё дальше и разберём целый эксперимент: несколько десятков прогонов с измеренным числом ошибок, а не предположение о том, как оно работало бы.</a:t>
            </a:r>
          </a:p>
          <a:p/>
          <a:p>
            <a:r>
              <a:t>Мы остаёмся на той же ступени лестницы, что и в прошлый раз, — цепочка. Сегодня мы не поднимаемся выше, мы её усложняем. К концу занятия у вас будет не один новый узел, а критерий: как смотреть на любой шаг своей цепочки и решать, кому в нём место — модели или коду.</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есть процесс по классификации входящих обращений — вот он, на экране, настоящий снимок холста, а не нарисованная схема. Ровно те же шесть узлов, которые вы видели в конце прошлого занятия, в том же порядке, с теми же именами. Ни один узел не переименован, не удалён и не изменён — если вы открывали файл процесса у себя дома, сегодняшний стенд начинается с того же самого файла.</a:t>
            </a:r>
          </a:p>
          <a:p/>
          <a:p>
            <a:r>
              <a:t>Напомню устройство коротко, потому что дальше мы будем ссылаться на эти шаги по именам. Форма принимает заявку свободным текстом — человек пишет, как ему удобно, без формата. Извлечение — отдельный шаг модели, который достаёт из этого текста тему, срочность и контакт, если он упомянут в самом тексте. Справочник — не модель, а детерминированная сверка: значение либо из заданного списка, либо становится «другое» или «не указано», и пустых клеток после этого шага не бывает. Запись кладёт готовую строку в таблицу, а экран результата показывает заявителю все шаги сразу, одним полотном.</a:t>
            </a:r>
          </a:p>
          <a:p/>
          <a:p>
            <a:r>
              <a:t>Отдельно — ветка отказа, которой на этом конкретном кадре не видно: если извлечение не смогло разобрать текст даже после трёх попыток, заявка не исчезает, а уходит в ту же таблицу с отдельной пометкой, и у неё свой экран.</a:t>
            </a:r>
          </a:p>
          <a:p/>
          <a:p>
            <a:r>
              <a:t>Зачем мы смотрим на это снова. К этим шести узлам сегодня претензий нет; смотрим потому, что сегодняшние четыре кейса — ровно те шаги, которые этой цепочке только предстоит получить: канал уведомления, проверка на повтор, решение по сумме возврата, доставка картинки. Ни одному из них вопрос «это задача модели или задача кода» ещё не задавали. Мы начинаем с чистого, уже работающего основания и достраиваем его, кейс за кейсом, этим одним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Напоминание, и короткое: эту лестницу вы уже видели на прошлом занятии, и я не буду снова проходить все девять ступеней заново.</a:t>
            </a:r>
          </a:p>
          <a:p/>
          <a:p>
            <a:r>
              <a:t>Коротко суть, одним абзацем. Девять ступеней снизу вверх, от простого к сложному: внизу — то, что закрывается одним вызовом модели или поиском по своим документам, это пройдено ещё на лекции. Дальше — цепочка: несколько шагов в заранее известном порядке, данные между ними. На ней мы были весь прошлый раз, и на ней же мы остаёмся весь сегодняшний.</a:t>
            </a:r>
          </a:p>
          <a:p/>
          <a:p>
            <a:r>
              <a:t>Скажу это прямо, потому что интуитивно кажется, что раз сегодня четыре новых кейса и один сложный эксперимент — значит, мы куда-то поднялись. Это не так. Маршрут, где путь выбирает категория входа, параллельные независимые проверки, циклы и подпроцессы, агент, который сам решает порядок шагов, несколько агентов вместе — всё это следующие занятия, другие ступени. Сегодня цепочка остаётся той же самой по устройству: шаг за шагом, в известном порядке. Меняется не высота, а глубина — мы учимся задавать одному и тому же устройству более точный вопрос про каждый отдельный шаг.</a:t>
            </a:r>
          </a:p>
          <a:p/>
          <a:p>
            <a:r>
              <a:t>Почему под это отдан отдельный экран. Потому что правило движения по лестнице из прошлого занятия звучит ровно так: не поднимайся без требования, которого ступень ниже не закрывает. А все четыре сегодняшних кейса — это как раз требования, которые ступень «цепочка» не закрыла сама собой: уведомление, которое не путает факты, проверка, которая не запускает повтор с нуля, решение по сумме, за которое можно ручаться, доставка картинки, которая не роняет прогон. Ни одно из них не требует подняться — все четыре закрываются внутри той же самой ступени, если на каждом шаге правильно ответить на один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четыре строки, и в каждой — то, что на первый взгляд выглядит нормальным, рабочим результатом. Прочитайте левую колонку. Сообщение ушло координатору. Заявка обработалась. В промте написано правило про сумму. Картинка дошла до Telegram. Каждая из этих четырёх фраз описывает момент, когда кажется, что задача решена и можно двигаться дальше.</a:t>
            </a:r>
          </a:p>
          <a:p/>
          <a:p>
            <a:r>
              <a:t>Правая колонка пустая, и пустая она намеренно: это и есть план занятия. В каждой из этих четырёх историй есть что-то, что выглядывает наружу только со второго, более внимательного взгляда: лишний шаг там, где он не нужен, повтор, который не узнали, вероятностное решение там, где нужно жёсткое условие, формат данных, который ведёт себя не так, как текст. Мы не называем это сейчас — мы его найдём и впишем в таблицу по ходу разбора каждого кейса.</a:t>
            </a:r>
          </a:p>
          <a:p/>
          <a:p>
            <a:r>
              <a:t>Четыре строки — это ровно четыре кейса сегодняшнего занятия: уведомления, проверка на повтор, одобрение возврата, картинка в Telegram. У каждого кейса в конце будет момент, где мы возвращаемся к этой самой таблице и вписываем ровно одну строку в правую колонку — конкретное наблюдение с конкретного прогона, который мы только что видели своими глазами.</a:t>
            </a:r>
          </a:p>
          <a:p/>
          <a:p>
            <a:r>
              <a:t>Это не означает, что все четыре истории провальные с самого начала. Наоборот — каждая выглядит полностью рабочей, и в этом вся ловушка: то, что работает, легко спутать с тем, за что можно ручаться. Разницу между этими двумя состояниями таблица и измеряет, строка за строкой, до самого конца занятия: там все четыре пары встанут рядом, и сравнить их можно будет одним взглядом.</a:t>
            </a:r>
          </a:p>
          <a:p/>
          <a:p>
            <a:r>
              <a:t>Запомните эту таблицу — мы вернёмся к ней сразу после первого же кейса.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 администратор учебного центра, и у неё к цепочке с прошлого занятия одна конкретная просьба. Когда заявка касается больше одной темы сразу, она хочет получать сообщение в Telegram, а не идти проверять экран результата каждый раз, когда заявитель упомянул что-то кроме основного вопроса.</a:t>
            </a:r>
          </a:p>
          <a:p/>
          <a:p>
            <a:r>
              <a:t>Просьба звучит просто, и выполнить её как будто легко — цепочка уже знает всё нужное: имя, основную тему, дополнительные темы. Все три значения к этому моменту уже извлечены и лежат в таблице. Остаётся только собрать из них одно читаемое сообщение и отправить.</a:t>
            </a:r>
          </a:p>
          <a:p/>
          <a:p>
            <a:r>
              <a:t>Здесь кейс и начинается: как именно собрать текст из трёх уже известных значений — это и есть сегодняшний вопрос, не очевидный на первый взгляд. Дальше — живая сцена её рабочего дня, что было сделано первой попыткой, и чуть позже, на настоящих прогонах, — что эта попытка показала на практике.</a:t>
            </a:r>
          </a:p>
          <a:p/>
          <a:p>
            <a:r>
              <a:t>О чём Ольга НЕ просила. Она не просила «сделать уведомление умным» или «пусть модель решит, что писать». Она описала результат, который хочет видеть у себя в телефоне, — одну строку, по которой сразу понятно, кто написал и зачем. Как цепочка до этой строки дойдёт — её не касается вовсе. А дальше весь кейс про то, что разные команды инженеров на этом самом месте выбирают разные ответы, хотя потребность у всех одна и та же, предельно конкретная.</a:t>
            </a:r>
          </a:p>
          <a:p/>
          <a:p>
            <a:r>
              <a:t>С этой потребностью мы и работаем весь кейс: с этой её фразой, слово за словом — с ней дальше сверяется любое решение. Запомните её форму: так мы и будем проверять каждый вариант дальше — не на глаз, а подставляя в него настоящую заявку и глядя, получилась ли ровно эта строка.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процесс, с которым мы закончили прошлое занятие, и на экране он настоящий: форма, извлечение полей, проверка по словарю тем, запись строки, экран результата. Ничего из устройства процесса сегодня не меняется — меняется то, чего теперь ждёт от него Ольга.</a:t>
            </a:r>
          </a:p>
          <a:p/>
          <a:p>
            <a:r>
              <a:t>Двадцать заявок в день, и большинство про одну тему: записаться на курс, перенести занятие, оплатить. По таким экран результата даёт всё нужное сразу — тема и срочность уже проставлены, кому передать, понятно с одного взгляда.</a:t>
            </a:r>
          </a:p>
          <a:p/>
          <a:p>
            <a:r>
              <a:t>Но раз в несколько заявок человек упоминает что-то сверх основного вопроса: оплату вдобавок к записи, перенос занятия вдобавок к вопросу про курс. Поле дополнительных тем в таблице это честно записывает. Процесс её не прозевал: заметил и записал верно. Остаётся одно — кто и когда это прочитает.</a:t>
            </a:r>
          </a:p>
          <a:p/>
          <a:p>
            <a:r>
              <a:t>Ольга не сидит перед экраном результата весь день. У неё двадцать заявок и обычная работа учебного центра вокруг них — она заходит проверять пачками, несколько раз за смену. Если многотемная заявка легла в таблицу между проверками, она там лежит с правильными полями и ничем не отличается от обычных: заметить её можно единственным способом — открыть экран и прочитать конкретно эту строку.</a:t>
            </a:r>
          </a:p>
          <a:p/>
          <a:p>
            <a:r>
              <a:t>А многотемная заявка почти всегда срочнее. Человек не просто спрашивает про курс — он ещё и хочет перенести оплаченное занятие на сегодня или уточнить то, что должно случиться до конца дня. Пачка проверки раз в несколько часов превращает именно эту срочность в обычную очередь, и к вечеру Ольга честно признаёт: часть таких заявок она увидела не сразу, а через несколько часов.</a:t>
            </a:r>
          </a:p>
          <a:p/>
          <a:p>
            <a:r>
              <a:t>Отсюда и её просьба, сформулированная предельно конкретно — не «сделайте уведомления умными», а одна строка в Telegram на каждую многотемную заявку: кто написал, по какой теме, что упомянул ещё. Чтобы не идти проверять экран результата из-за одной заявки среди двадцати обычных.</a:t>
            </a:r>
          </a:p>
          <a:p/>
          <a:p>
            <a:r>
              <a:t>Задержите взгляд на кадре ещё на секунду. Всё, что на нём есть, уже работает и работает правильно. Ни один из этих пяти узлов сегодня трогать не придётся: в готовом чинить нечего, кейс про то, что добавить рядом — и как это новое устроить. Как собрать нужную строку из трёх уже известных значений — с этого начинается сегодняшний кейс.</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три значения, из которых надо собрать уведомление, уже лежат в структурированном виде: имя, основная тема, дополнительные темы. Вопрос — не что собирать, а как.</a:t>
            </a:r>
          </a:p>
          <a:p/>
          <a:p>
            <a:r>
              <a:t>Первая карточка — модель пишет весь текст уведомления целиком, свободно. Это то, что уже сделала версия 1.</a:t>
            </a:r>
          </a:p>
          <a:p/>
          <a:p>
            <a:r>
              <a:t>Вторая — заполняем готовую форму сообщения алгоритмом целиком, только подстановка значений в заранее заданный шаблон, без единого вызова модели.</a:t>
            </a:r>
          </a:p>
          <a:p/>
          <a:p>
            <a:r>
              <a:t>Третья — смешанный вариант: то, что можно закрыть алгоритмом — сами значения, — закрываем им; а то, что требует интерпретации текста заявки и не извлечено заранее структурно, на то отдельно зовём модель.</a:t>
            </a:r>
          </a:p>
          <a:p/>
          <a:p>
            <a:r>
              <a:t>Четвёртая — берём алгоритмически собранный текст как основу, твёрдый костяк, и добавляем к нему одну короткую фразу тона или комментария, которую сочиняет модель поверх уже готового текста.</a:t>
            </a:r>
          </a:p>
          <a:p/>
          <a:p>
            <a:r>
              <a:t>Не выбирайте по ощущению — прикиньте: какой из четырёх способов надёжно даст текст, совпадающий с тем, что просила Ольга, на любой заявке, а не только на удачной.</a:t>
            </a:r>
          </a:p>
          <a:p/>
          <a:p>
            <a:r>
              <a:t>Карточки выстроены спектром, не вразнобой: слева — вариант, где всю работу делает модель, справа — где всю работу делает алгоритм, а между ними — два смешанных варианта, каждый со своим способом разделить работу между моделью и кодом. Это сделано намеренно: вопрос не «модель или код», а «сколько работы в этой задаче требует интерпретации, а сколько — подстановки уже известного».</a:t>
            </a:r>
          </a:p>
          <a:p/>
          <a:p>
            <a:r>
              <a:t>Ни одна карточка здесь не отмечена как заведомо слабая — у каждой из четырёх есть ситуация в принципе, где она была бы разумным выбором. Сегодняшний вопрос — именно под потребность Ольги, с её конкретным примером текста и с уже структурированными значениями на входе. Для другой потребности, с другим набором известных и неизвестных значений, ответ мог бы быть другим — но разбирать мы будем сегодняшнюю.</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и сразу скажу: ни одно из них не глупость — у каждого есть ситуация, где оно было бы правильным выбором. Вопрос в том, какая ситуация перед нами.</a:t>
            </a:r>
          </a:p>
          <a:p/>
          <a:p>
            <a:r>
              <a:t>Первое — модель пишет весь текст целиком. Она умеет это сделать, вопросов нет, и текст у неё получается живой. Но смотрите, что у неё на входе: все три значения — имя, тема, дополнительные темы — уже извлечены, структурированы и лежат готовыми. Модели нечего интерпретировать — нечего добавить к тому, что и так известно. А раз она всё равно генерирует текст свободно на каждом прогоне, у неё остаётся шанс вписать в сообщение деталь, которой в заявке не было — чуть позже мы увидим это на настоящем прогоне.</a:t>
            </a:r>
          </a:p>
          <a:p/>
          <a:p>
            <a:r>
              <a:t>Второе — алгоритм заполняет форму целиком. Это ровно тот объём работы, который нужен: три значения уже есть, форма сообщения всегда одна и та же, вариативности по сути не требуется. Результат предсказуемо совпадает с тем примером текста, который просила Ольга.</a:t>
            </a:r>
          </a:p>
          <a:p/>
          <a:p>
            <a:r>
              <a:t>Третье — смешанный вариант, алгоритм плюс модель только на то, что требует интерпретации. Идея разумная сама по себе, и она бы сработала, если бы в заявке оставалось хоть одно значение, которое нужно домысливать из текста — например, степень срочности, если бы она не была извлечена явно словом. Но в нашей цепочке срочность уже есть отдельным структурным полем ещё с прошлого занятия. Для модели здесь буквально не осталось работы — это решение для другой потребности, которой у нас сейчас нет.</a:t>
            </a:r>
          </a:p>
          <a:p/>
          <a:p>
            <a:r>
              <a:t>Четвёртое — алгоритмический костяк плюс фраза тона от модели поверх. Это уменьшенная версия первого варианта: модель всё ещё что-то сочиняет, просто меньше. Риск той же природы остаётся, просто меньшего размера.</a:t>
            </a:r>
          </a:p>
          <a:p/>
          <a:p>
            <a:r>
              <a:t>Какое действие закрывает нашу потребность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архитектура обеих версий кейса в чистом виде, без единого имени конкретного инструмента. Если завтра ту же цепочку собирают не в том оркестраторе, которым пользуемся мы, формулировка не меняется ни на слово: после того как поля заявки извлечены, в цепочку встаёт один дополнительный шаг — и весь вопрос кейса в том, какой именно.</a:t>
            </a:r>
          </a:p>
          <a:p/>
          <a:p>
            <a:r>
              <a:t>Верхняя строка — версия с моделью. Третий узел на каждый прогон обращается к модели и получает от неё готовый свободный текст. Нижняя строка — версия с шаблоном. Тот же третий узел подставляет уже известные значения в один раз заданную форму; обращения к модели на этом шаге не происходит вовсе.</a:t>
            </a:r>
          </a:p>
          <a:p/>
          <a:p>
            <a:r>
              <a:t>Смотрите на три остальные колонки: они в обеих строках одинаковы и нарочно приглушены. Форма заявки, извлечение полей, отправка в Telegram — ни один из этих узлов правкой не затронут. Это и есть то, что должна показать схема: мы меняем один узел, а не переписываем цепочку.</a:t>
            </a:r>
          </a:p>
          <a:p/>
          <a:p>
            <a:r>
              <a:t>По сути версии различает момент принятия решения. В верхней версии решение о том, как будет звучать текст, принимается заново при каждой заявке. В нижней оно принято один раз, заранее, когда форму придумали и зафиксировали, и дальше просто воспроизводится без вариаций. Отсюда прямое следствие для надёжности: у нижнего узла нет пространства для сочинительства — он не может вставить в сообщение деталь, которой не было в заявке, потому что он ничего не сочиняет.</a:t>
            </a:r>
          </a:p>
          <a:p/>
          <a:p>
            <a:r>
              <a:t>Почему мы сначала рисуем обезличенную схему, а не сразу открываем настоящий интерфейс. Потому что решение, правильный ли это узел для задачи, не зависит от того, в каком инструменте он собран. Вопрос «вызывает ли этот шаг модель на каждый прогон или решение принято заранее» звучит одинаково на любом движке.</a:t>
            </a:r>
          </a:p>
          <a:p/>
          <a:p>
            <a:r>
              <a:t>И сразу снимем напрашивающееся возражение: «а вдруг шаблон окажется не таким гибким, как модель». Ответ не «шаблон всегда лучше», а «для этой конкретной потребности шаблону хватает гибкости»: три значения, одна форма сообщения, ничего, что требовало бы по-настоящему разного текста от заявки к заявке. Была бы потребность другой — скажем, писать по-разному в зависимости от срочности, — тот же аргумент сработал бы в обратную сторону. Порядок событий при этом остаётся настоящим: сначала собрали версию с моделью, на практике нашли проблему, и только потом пришли ко второй. Рядом они стоят ради сравнения, а не потому, что были равноценными с самого начала.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экран, который открывается при входе в воркфлоу «Кейс 1 до правки». На кадре весь путь: форма заявки, извлечение полей, проверка по словарю тем, запись строки, узел композиции сообщения и отправка в Telegram.</a:t>
            </a:r>
          </a:p>
          <a:p/>
          <a:p>
            <a:r>
              <a:t>Присмотритесь к двум деталям на верхнем ярусе. У узла «Compose notification…» подпись обрывается многоточием прямо в интерфейсе: карточка узкая, и n8n режет длинное имя, как резал бы любое другое. Полное имя — «Compose notification (LLM)», его видно, только если открыть сам узел; это ограничение интерфейса, а не огрубление с нашей стороны. Вторая деталь — пометка «Model» со звёздочкой под этим узлом: звёздочка значит, что параметр обязателен, вызов модели здесь не опция.</a:t>
            </a:r>
          </a:p>
          <a:p/>
          <a:p>
            <a:r>
              <a:t>Такая же пометка стоит и под узлом извлечения полей левее — и это не новость: без модели превратить свободный текст заявки в структурированные значения нельзя. Новое — именно второй вызов, на шаге композиции готового сообщения, где все нужные значения уже есть и извлекать, казалось бы, нечего. Рядом виден ещё один блок, «Result screen Model (notification)»; у версии с шаблоном на том же месте его не будет вовсе.</a:t>
            </a:r>
          </a:p>
          <a:p/>
          <a:p>
            <a:r>
              <a:t>Нижний ярус — панель этого узла, открытая двойным щелчком. Слева само поле задания: модели передают три готовых значения — имя заявителя, основную тему и дополнительные темы, все извлечённые на предыдущих шагах, — и одну инструкцию: написать короткое дружелюбное уведомление, одно-два предложения, по-человечески. Никакой заданной формы фразы. Текст длиннее поля, и n8n прокручивает его: конец инструкции за кадром, а не срезан нами.</a:t>
            </a:r>
          </a:p>
          <a:p/>
          <a:p>
            <a:r>
              <a:t>Теперь о пропуске: в инструкции нет ни слова вроде «обратись к координатору по имени». Имени координатора модели не сообщили — тексту, который получит Ольга, оно не нужно. Эта деталь станет важна через экран.</a:t>
            </a:r>
          </a:p>
          <a:p/>
          <a:p>
            <a:r>
              <a:t>Справа — два переключателя, и оба выключены. Формат ответа ничем не задан: модель может вернуть что угодно, лишь бы это был текст. Резервной модели на случай отказа основной тоже нет.</a:t>
            </a:r>
          </a:p>
          <a:p/>
          <a:p>
            <a:r>
              <a:t>Конфигурация выглядит аккуратно и ничем не намекает на будущую проблему: промпт короткий, понятный, без ошибок формулировки. Запомните это: если на следующих экранах найдётся находка, причина будет не в том, как написан промпт.</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как это собирается внутри цепочки, посмотрим, что в итоге видит сама Ольга — у себя в телефоне, а не на экране результата внутри n8n.</a:t>
            </a:r>
          </a:p>
          <a:p/>
          <a:p>
            <a:r>
              <a:t>Она не открывает ничего нового. У неё уже есть чат с ботом уведомлений — тот же бот, которым центр пользуется и для других оповещений. В этот чат падает сообщение: один пузырь, без вложений, без кнопок, без перехода куда-либо ещё. Будничность тут не случайна: меняется содержимое одной строки, а не привычка, которой Ольга уже пользуется.</a:t>
            </a:r>
          </a:p>
          <a:p/>
          <a:p>
            <a:r>
              <a:t>На кадре два прогона на одной заявке Марии Величко. Верхний текст сочинила модель: «Привет! У нас новая многотемная заявка от Марии Величко на перенос занятия, в которой также упоминается оплата. Подробности прилагаю, если нужно!» Нижний собрал шаблон: «Новая заявка от Мария Величко: тема «перенос занятия», также: оплата.»</a:t>
            </a:r>
          </a:p>
          <a:p/>
          <a:p>
            <a:r>
              <a:t>Теперь прочитайте имя в обеих строках. Модель склоняет: «от Марии Величко». Шаблон подставляет поле как есть: «от Мария Величко» — склонять он не умеет и не научится. Это честная цена предсказуемости: текст шаблона одинаков до буквы и неграмотен в каждой строке, где стоит имя.</a:t>
            </a:r>
          </a:p>
          <a:p/>
          <a:p>
            <a:r>
              <a:t>И вторая находка — в верхней строке, в самом конце. «Подробности прилагаю, если нужно!» Прилагать нечем: вложения в сообщении нет и не предполагалось, у узла отправки нет ни файла, ни ссылки. Модель закончила фразу вежливой формулой и пообещала человеку то, чего не будет. Проверка формата такое не ловит — обещание синтаксически безупречно; ловит только человек, который его прочитает.</a:t>
            </a:r>
          </a:p>
          <a:p/>
          <a:p>
            <a:r>
              <a:t>Форма сообщения при этом выбрана не произвольно: это те три значения, которые Ольга назвала достаточными в прошлой сцене — кто написал, по какой теме и что упомянул ещё. Добавь в строку четвёртое поле, статус оплаты или внутренний номер, — и уведомление перестанет читаться одним взглядом среди двадцати похожих сообщений за день.</a:t>
            </a:r>
          </a:p>
          <a:p/>
          <a:p>
            <a:r>
              <a:t>Вопрос в том, выглядит ли сообщение приемлемо каждый раз, при любой заявке, а не только при этой. Следующий экран — ещё один настоящий прогон того же узла, и он выглядит иначе.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 теперь — что получилось на деле: два прогона одного и того же узла, одной и той же инструкции, на настоящих заявках.</a:t>
            </a:r>
          </a:p>
          <a:p/>
          <a:p>
            <a:r>
              <a:t>Первая заявка — от Марии, про курс и оплату. Модель получила три значения и инструкцию написать короткое дружелюбное уведомление. Результат: «Новая заявка от Марии: тема «курс», также упомянуто: оплата.» Звучит свободно, по-человечески — и при этом совпадает по смыслу с тем, что просила Ольга. Сложного на этой заявке и не было: три значения легко складываются в фразу.</a:t>
            </a:r>
          </a:p>
          <a:p/>
          <a:p>
            <a:r>
              <a:t>Вторая заявка — от Олега, про перенос занятия и оплату. Тот же узел, та же инструкция. И вот что он реально написал, кадр перед вами: «Привет, Имя координатора! У нас новая многотемная заявка от Олега по вопросу переноса занятия и об оплате. Посмотри, пожалуйста!» Прочитайте внимательно второе слово. Это не переменная, которая не подставилась технически, — и квадратных скобок вокруг неё нет, модель написала это как обычное обращение, со смайликом и всем положенным. Это кусок собственного шаблона-инструкции модели, адресованный самой модели, а не Ольге: модель должна была заменить его настоящим содержанием и не заменила.</a:t>
            </a:r>
          </a:p>
          <a:p/>
          <a:p>
            <a:r>
              <a:t>А в журнале выполнения при этом не произошло ничего. Узел не упал, не вернул ошибку. Статус — success на обоих прогонах. Если смотреть только в журнал, второй прогон неотличим от первого.</a:t>
            </a:r>
          </a:p>
          <a:p/>
          <a:p>
            <a:r>
              <a:t>Узнать, что что-то не так, можно только одним способом — прочитать сам текст, который получил живой человек. Проверка формата сообщения здесь бессильна: получившийся текст синтаксически в порядке в обоих случаях, разница только в содержании.</a:t>
            </a:r>
          </a:p>
          <a:p/>
          <a:p>
            <a:r>
              <a:t>Вот и ответ на вопрос с прошлого экрана: сообщение иногда выглядит ровно так, как нужно, а иногда — нет, и заранее, по виду конфигурации узла, не предсказать, какой из двух случаев будет на следующей заявке. Дальше — архитектура без этого узла вовсе, и её настоящая конфигурация.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холст живого стенда, что и на прошлом экране, и тем же прямоугольником — нарочно, чтобы два кадра было проще наложить один на другой мысленно. Путь узнаётся сразу: форма заявки, извлечение полей, проверка по словарю тем, запись строки, узел композиции, отправка в Telegram.</a:t>
            </a:r>
          </a:p>
          <a:p/>
          <a:p>
            <a:r>
              <a:t>Разница — ровно в одном месте, и она видна уже здесь, до открытия любой панели. На прошлом кадре под узлом композиции стояла пометка «Model» со звёздочкой, а рядом — дополнительный блок «Result screen Model (notification)». Здесь на этом месте обычный «Result screen», а под самим узлом стоит «manual»: он соединён прямой стрелкой с отправкой, без единого промежуточного узла модели. Подпись при этом читается целиком, без многоточия, — просто потому, что «template» короче, чем «LLM» с полным именем.</a:t>
            </a:r>
          </a:p>
          <a:p/>
          <a:p>
            <a:r>
              <a:t>Узел извлечения полей левее по-прежнему помечен «Model» со звёздочкой — и спутать здесь легко: тот вызов общий для обеих версий. Разница между версиями — не «с моделью» против «совсем без модели», а «модель вызывается дважды» против «модель вызывается один раз, там, где без неё правда не обойтись».</a:t>
            </a:r>
          </a:p>
          <a:p/>
          <a:p>
            <a:r>
              <a:t>Нижний ярус — панель того же узла. Слева одно поле, </a:t>
            </a:r>
            <a:r>
              <a:rPr>
                <a:latin typeface="Consolas"/>
              </a:rPr>
              <a:t>notification_text</a:t>
            </a:r>
            <a:r>
              <a:t>, типа «строка», и в нём выражение, написанное один раз руками. Оно подставляет в заранее заданные места уже известные значения: имя заявителя, основную тему и, если есть, дополнительные темы — с условием внутри самого выражения, которое добавляет оборот «также» только тогда, когда дополнительные темы вообще есть. В отличие от промпта с прошлого экрана, выражение видно целиком, без прокрутки: оно короче и умещается в поле.</a:t>
            </a:r>
          </a:p>
          <a:p/>
          <a:p>
            <a:r>
              <a:t>Справа — переключатель, который легко пропустить: узел не только кладёт в новое поле собранный текст, он заодно пропускает дальше по цепочке все остальные поля заявки без изменений, чтобы следующие узлы не потеряли то, что им понадобится.</a:t>
            </a:r>
          </a:p>
          <a:p/>
          <a:p>
            <a:r>
              <a:t>Результат этого выражения детерминированный: при одних и тех же входных значениях текст всегда получается одним и тем же, без вариаций — и, как следствие, без риска вставить в сообщение то, чего в заявке не было. Цена этой надёжности обратная: если форма сообщения когда-нибудь должна будет меняться по смыслу, а не по значениям, выражение придётся переписывать руками на каждый такой случай. Обе версии мы прогнали через одни и те же заявки — что из этого вышло,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итог этого кейса в одно переносимое правило.</a:t>
            </a:r>
          </a:p>
          <a:p/>
          <a:p>
            <a:r>
              <a:t>Узел модели в первой версии не сломался и технически не ошибся: сообщение дошло, формат ответа был правильным. Он просто решал задачу, которой на самом деле не было. Все три значения уже лежали в структурированном виде, интерпретировать было нечего, а форма итогового сообщения не менялась от заявки к заявке. В такой ситуации вызов модели нового смысла не создаёт — он лишь пересказывает своими словами то, что уже известно, дорого и не вполне предсказуемо.</a:t>
            </a:r>
          </a:p>
          <a:p/>
          <a:p>
            <a:r>
              <a:t>Отсюда класс задачи, который переносится на любой оркестратор: сборка сообщения из уже извлечённых значений по фиксированной форме. Признак, по которому вы узнаете его в собственной цепочке, простой — если шаблон итогового сообщения можно написать заранее, не видя ни одной конкретной заявки, и в нём остаются только пустые места под подстановку, то сочинять здесь уже нечего.</a:t>
            </a:r>
          </a:p>
          <a:p/>
          <a:p>
            <a:r>
              <a:t>Два нюанса, прежде чем закрепить критерий, и оба про то, что ни одна из версий не безопасна навечно.</a:t>
            </a:r>
          </a:p>
          <a:p/>
          <a:p>
            <a:r>
              <a:t>Первый — лишний шаг модели это риск, а не только лишняя цена. Легко подумать, что раз задача тривиальная, то и опасаться нечего. Но мы только что видели: даже на форматировании вызов модели остаётся точкой, где может появиться деталь, которой не было на входе. Дороже денег и времени здесь другое: непредсказуемо, что именно окажется в тексте.</a:t>
            </a:r>
          </a:p>
          <a:p/>
          <a:p>
            <a:r>
              <a:t>Второй нюанс — ровно про шаблон, и он для равновесия. Шаблон не безопасен навсегда — одной детерминированности мало. Понадобится форме настоящая вариативность — скажем, несколько языков или разная подробность для разных получателей — статическое выражение этого не почувствует само, и переписывать его придётся руками на каждый новый случай. Это другая цена, инженерная, но тоже реальная.</a:t>
            </a:r>
          </a:p>
          <a:p/>
          <a:p>
            <a:r>
              <a:t>Отсюда критерий, который можно унести с собой, не вспоминая ни одного имени узла. Модель нужна тогда, когда контенту действительно нужна вариативность, или когда значение требует интерпретации текста, которой не случилось на предыдущем шаге. Шаблона достаточно, когда форма одна и значения уже структурированы.</a:t>
            </a:r>
          </a:p>
          <a:p/>
          <a:p>
            <a:r>
              <a:t>И возвращаемся к оси занятия. Первая строка: сообщение действительно ушло координатору, и это было правдой с самого начала. Чем оно оказалось — цепочка получилась короче и дешевле вовсе без узла модели. Заметьте: оба узла формально решили одну задачу, и прогон был зелёным у обоих. Различие проявляется, только если смотреть не на то, что узел сделал один раз, а на то, что он может сделать на следующем прогоне, которого вы ещё не видели.</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кейс мы закрыли: уведомление координатору теперь собирается подстановкой значений, а не сочиняется моделью заново на каждый прогон. Второй кейс начинается с другой потребности, но такой же обычной для учебного центра.</a:t>
            </a:r>
          </a:p>
          <a:p/>
          <a:p>
            <a:r>
              <a:t>Заявки на курсы обрабатывает администратор, и за день через неё проходит много сообщений от разных людей. Иногда один и тот же человек пишет об одном и том же вопросе дважды: забыл, что уже спрашивал, не увидел ответа, решил напомнить другими словами. Причина нам всё равно. Цепочка, которую мы собираем, не должна каждый раз реагировать на повторное обращение так, будто видит его первый раз.</a:t>
            </a:r>
          </a:p>
          <a:p/>
          <a:p>
            <a:r>
              <a:t>Реплика на экране — не абстрактного клиента, а того, кто читает заявки на другом конце: администратора, которая весь день видит входящий поток и должна за секунду решить, новый это вопрос или она это уже разбирала. Разница с первым кейсом в том, откуда растёт потребность: там неудобно было клиенту, получавшему сухой или неровный текст уведомления; здесь неудобно администратору — и клиенту, который вправе рассчитывать, что его не станут заново спрашивать о том, что он только что объяснил.</a:t>
            </a:r>
          </a:p>
          <a:p/>
          <a:p>
            <a:r>
              <a:t>Пока это выглядит мелкой деталью интерфейса: ну прислали вопрос дважды, что такого. Но за каждым повторным прогоном стоит та же цепочка целиком — запись заявки, сборка уведомления, работа модели на предыдущих шагах. Если повтор не остановить на входе, вся эта работа делается заново ради вопроса, ответ на который уже есть. Дешевле остановить повтор на входе, чем прогонять его через всю цепочку и разбираться постфактум.</a:t>
            </a:r>
          </a:p>
          <a:p/>
          <a:p>
            <a:r>
              <a:t>Нужна проверка или нет — не вопрос: нужна очевидно. Вопрос, из чего её собрать. Инструментов тут два, и они разной цены: один почти бесплатный, другой ощутимо дороже. Выбирать единственный не придётся — придётся расставить их по порядку.</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Потребность простая, и ровно с неё начинается этот кейс: администратор учебного центра Ольга ведёт учёт заявок. В понедельник утром она видит в таблице вопрос от клиента — «когда можно оплатить занятие?» — обрабатывает его и отвечает. Обычное утро, обычная заявка.</a:t>
            </a:r>
          </a:p>
          <a:p/>
          <a:p>
            <a:r>
              <a:t>Через два часа приходит вторая заявка от того же контакта: «как мне внести оплату за курс». По смыслу это тот же вопрос, просто сформулированный иначе. Но Ольга за день видит десятки обращений и не держит в голове, кто что спрашивал два часа назад. Перефразировку она не узнаёт и обрабатывает заявку как новую: тратит время повторно, отвечает ещё раз.</a:t>
            </a:r>
          </a:p>
          <a:p/>
          <a:p>
            <a:r>
              <a:t>Для клиента это выглядит иначе. Он получает два разных ответа от учебного центра с разницей в два часа — и единственное объяснение, которое приходит в голову, это что первый ответ потерялся или его никто не прочитал. Цена этой ошибки не абстрактная: это двойная работа администратора, которая могла бы уйти на что-то другое, и недоверие клиента, который теперь не уверен, что его читают внимательно.</a:t>
            </a:r>
          </a:p>
          <a:p/>
          <a:p>
            <a:r>
              <a:t>И это не разовый случай. По ощущению самой Ольги, такое повторение — вопрос другими словами, на который уже есть ответ, — случается у неё примерно десять раз в день. Инструментально мы это число не замеряли, оно идёт от человека, который читает заявки каждый день. Но даже как оценка оно показывает: перед нами не курьёз одного утра, а постоянная часть потока.</a:t>
            </a:r>
          </a:p>
          <a:p/>
          <a:p>
            <a:r>
              <a:t>Нужна проверка или нет — не вопрос: раз это случается каждый день, нужна очевидно. Вопрос, из чего её собрать так, чтобы она ловила не только буквальное повторение, но и переформулировку, с которой мы только что столкнулись.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та самая пара, на которой точное совпадение споткнулось: «как мне внести оплату за курс» — вопрос, заданный через два часа после «когда можно оплатить занятие?». По смыслу один и тот же вопрос. По буквам — два разных текста.</a:t>
            </a:r>
          </a:p>
          <a:p/>
          <a:p>
            <a:r>
              <a:t>Вопрос: как построить проверку на повтор.</a:t>
            </a:r>
          </a:p>
          <a:p/>
          <a:p>
            <a:r>
              <a:t>Пять карточек, и все пять встречаются в живых системах. Сравнивать тексты буквально — точное совпадение после нормализации, то, что мы уже видели на предыдущем экране. Сравнивать тексты по общим словам — классический векторный подход с порогом: обучаемой модели нет, но это серьёзнее простого сравнения строк. Спросить у модели общего назначения, один ли это вопрос, просто сформулированный иначе. Спросить у специализированного сервиса, настроенного именно на сравнение вопросов, а не у модели, которая умеет вообще всё. Или сначала проверить точное совпадение дёшево, а дальше пускать только то, что осталось непонятным.</a:t>
            </a:r>
          </a:p>
          <a:p/>
          <a:p>
            <a:r>
              <a:t>Все пять формулировок описывают действие, которое можно взять и реализовать, а не утверждение о том, что умеет или не умеет какой-то инструмент сам по себе. «Сравнивать буквально» — действие. «Спросить у модели» и «спросить у специализированного сервиса» — тоже действия, а не готовый вывод вроде «специализированный сервис точнее модели общего назначения». Разница важна: отвечать надо не за то, какой инструмент умнее в принципе, а за то, какой шаг вы поставите первым и вторым в цепочке, которая обрабатывает заявки целого учебного центра.</a:t>
            </a:r>
          </a:p>
          <a:p/>
          <a:p>
            <a:r>
              <a:t>Четыре из пяти карточек — самостоятельные решения, которые можно взять и реализовать целиком: сравнение буквально, сравнение по словам, вызов модели общего назначения или вызов специализированного сервиса. Пятая отдельным инструментом и не была: она комбинирует уже названные — сначала дёшево, а дороже только на то, что дёшево не разрешило. Если голоса разделятся между первыми четырьмя вариантами и пятым, это нормально: первые четыре отвечают на вопрос «чем сравнивать», пятый — на вопрос «в каком порядке».</a:t>
            </a:r>
          </a:p>
          <a:p/>
          <a:p>
            <a:r>
              <a:t>Выбирайте. Правильных ответов здесь больше одного, все пять — настоящие инженерные решения. Разбирать будем, что каждое ловит на нашей паре, чего не ловит и во что это обходится.</a:t>
            </a:r>
          </a:p>
          <a:p/>
          <a:p>
            <a:r>
              <a:t>Пятнадцать секунд, потом по рукам.</a:t>
            </a:r>
          </a:p>
          <a:p/>
          <a:p>
            <a:r>
              <a:t>И ещё один вопрос, уже не о выборе, а о предсказании — прежде чем смотреть разбор. Две из пяти схем мы измерили на одних и тех же двадцати парах: буквальное совпадение текстов и классический векторный подход, тот самый, что считает похожесть по общим словам. Какая из двух окажется точнее? Поставьте на одну, руками, до показа.</a:t>
            </a:r>
          </a:p>
          <a:p/>
          <a:p>
            <a:r>
              <a:t>Ответ на следующем экране, и он переворачивает ожидание: классика хуже — тринадцать против пятнадцати. Ставка на векторный подход совершенно разумна, и поэтому его и измерили: более серьёзный инструмент не обязан быть лучше простого, и проверяется это измерением, а не рассуждением. Ставка на буквальное совпадение верна по другой причине, чем кажется: хэш ошибается только в одну сторону — пропускает, — а векторный подход научился ошибаться в обе.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с прошлого экрана — на измерении, которое провели до того, как решать.</a:t>
            </a:r>
          </a:p>
          <a:p/>
          <a:p>
            <a:r>
              <a:t>Точное совпадение, действие первое, на наборе из 20 пар ловит 15: все 5 буквальных повторов и все 10 заведомо разных вопросов, но ни одной из 5 перефразировок — ноль из пяти. Цену и скорость здесь не считают отдельно: это сравнение строк — оно либо бесплатно и мгновенно, либо его нет.</a:t>
            </a:r>
          </a:p>
          <a:p/>
          <a:p>
            <a:r>
              <a:t>Действие второе, классический векторный подход — TF-IDF плюс косинусная близость, порог 0,3, — выглядит серьёзнее: мера похожести, настраиваемый порог — настоящий инженерный выбор, а не слабая альтернатива для контраста. Результат на том же наборе, тем же методом — 13 из 20, хуже хэша. Те же пять перефразировок пропущены по той же причине: «оплату» и «оплатить» разные словоформы, «курс» и «занятие» разные слова при одном смысле, мера по словам к этому слепа в принципе. Зато добавились два ложных срабатывания на близкой теме — «курс по питону» и «курс по аналитике данных» делят почти все слова, и порог 0,3 посчитал их одним вопросом. Хэш на этой же паре не ошибается никогда — разные строки не совпадают по определению. Более серьёзный инструмент заплатил новой категорией ошибок за старую, тоже бесплатно: цена здесь не денежная, а в пропущенных и ложных ответах.</a:t>
            </a:r>
          </a:p>
          <a:p/>
          <a:p>
            <a:r>
              <a:t>Действие третье, дешёвая модель-судья: прямой вопрос «это тот же вопрос, просто сформулированный иначе?», модель gpt-4o-mini. Результат — 17 из 20, все 10 настоящих дублей пойманы. Зато три собственных ложных срабатывания, и не все от совпадения слов: пара «сколько длится одно занятие по времени» и «расскажите про группу для продолжающих» не делит ни одного слова, и модель всё равно сказала «да» — ошибка суждения о смысле, а не о словах. И здесь впервые появляется денежная цена: по прайсу gpt-4o-mini, на объёме кейса (~300 вызовов в месяц) — около $0,006 в месяц, меньше цента; оценка по прайсу, не измеренный факт.</a:t>
            </a:r>
          </a:p>
          <a:p/>
          <a:p>
            <a:r>
              <a:t>Действие четвёртое — специализированный внешний сервис jev, узкоспециализированный Decisions API, измерен тем же методом. Результат — 20 из 20, без единой ошибки: чистое разделение между всеми дублями и всеми разными вопросами, порог 0,5 берёт его с запасом. Лучший результат из четырёх схем. По прайсу он не просто точнее дешёвой модели-судьи, а ещё и дешевле — на том же объёме около $0,003 в месяц; тоже оценка по прайсу, не измеренный факт.</a:t>
            </a:r>
          </a:p>
          <a:p/>
          <a:p>
            <a:r>
              <a:t>Честная находка: лучший результат дал не самый очевидный кандидат — узкий сервис обошёл универсальную модель-судью и обошёлся дешевле. Но одно измерение на 20 парах одной темы — не повод сразу переписывать уже показанную на стенде архитектуру: та же дисциплина, что не дала поверить jev на слово раньше, не даёт поверить слепо и этому числу. И вторая находка: обе суммы здесь меньше цента в месяц, цена не аргумент.</a:t>
            </a:r>
          </a:p>
          <a:p/>
          <a:p>
            <a:r>
              <a:t>Действие пятое, порядок — дёшево сначала, дорого на спорное, — закрывает обе задачи по цене: 5 буквальных повторов гасятся бесплатно хэшем, дорогой шаг вызывается только на оставшееся. Как это выглядит архитектурно —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экране мы измерили пять действий. Отсюда архитектурный вывод, не привязанный ни к одному инструменту: эта формулировка не назовёт ни одного узла и не изменится, если цепочку собирать не в n8n, а в чём угодно ещё.</a:t>
            </a:r>
          </a:p>
          <a:p/>
          <a:p>
            <a:r>
              <a:t>Первый шаг — дешёвый, механический фильтр. Он берёт на себя всё, что решается без модели: буквальные повторы гасит бесплатно и мгновенно. Классический векторный подход в этот шаг не идёт — измерение показало, что он не просто не даёт прироста над самым простым сравнением строк, а измеримо хуже него. Это не изменилось.</a:t>
            </a:r>
          </a:p>
          <a:p/>
          <a:p>
            <a:r>
              <a:t>Изменилось то, что стоит на втором шаге. Раньше здесь стояла только модель-судья — единственный измеренный кандидат на дорогой шаг. Измерение между ней и вторым кандидатом дало разницу не в пользу привычного выбора: специализированный сервис jev — 20 из 20, без единой ошибки, и по публичному прайсу ещё и дешевле дешёвой модели-судьи. По итогам теста на дорогой шаг встал он, а не модель общего назначения, — и стоит он там уже собранной цепочкой.</a:t>
            </a:r>
          </a:p>
          <a:p/>
          <a:p>
            <a:r>
              <a:t>И сразу честно про границы этого измерения: один тест на 20 парах одного языка и одной тематики — узкое основание для вывода «jev всегда лучше любой модели-судьи везде». Обобщаемость за пределы этого конкретного набора — другой язык, другая тематика, другой объём — никто не проверял. Та же дисциплина, что не дала поверить jev на слово раньше, не даёт сейчас говорить шире, чем показало измерение. Откладывать внедрение здесь она тоже не велит: на этом наборе и для этой задачи разница чистая и с запасом, а решение уже стоит на стенде — дальше на двух экранах вы увидите настоящую настроенную цепочку.</a:t>
            </a:r>
          </a:p>
          <a:p/>
          <a:p>
            <a:r>
              <a:t>Это тот же общий приём, что и в первом кейсе занятия: модель не убирается, а сдвигается туда, где она нужна. Только здесь мы вдобавок увидели, что и внутри дорогого шага бывает больше одного кандидата, и выбор между ними — отдельная проверка, а не самоочевидность.</a:t>
            </a:r>
          </a:p>
          <a:p/>
          <a:p>
            <a:r>
              <a:t>Теперь посмотрим, как это выглядит не как принцип, а как настроенные узлы в уже собранной цепочке.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Так первый, дешёвый шаг выглядит в настоящей цепочке: два настроенных узла со стенда, на снятом с него холсте.</a:t>
            </a:r>
          </a:p>
          <a:p/>
          <a:p>
            <a:r>
              <a:t>Первый узел, </a:t>
            </a:r>
            <a:r>
              <a:rPr>
                <a:latin typeface="Consolas"/>
              </a:rPr>
              <a:t>Normalize + hash</a:t>
            </a:r>
            <a:r>
              <a:t>, — это </a:t>
            </a:r>
            <a:r>
              <a:rPr>
                <a:latin typeface="Consolas"/>
              </a:rPr>
              <a:t>Set</a:t>
            </a:r>
            <a:r>
              <a:t>: он ничего не вызывает, только считает значения. Берём текст заявки и приводим к нижнему регистру: «Когда» и «когда» после этого — одна и та же строка. Убираем пробелы по краям и схлопываем повторные пробелы внутри — лишний пробел не должен превращать совпадающий текст в несовпадающий. То же самое считается и для недавнего сообщения того же контакта, чтобы было с чем сравнивать.</a:t>
            </a:r>
          </a:p>
          <a:p/>
          <a:p>
            <a:r>
              <a:t>Второй узел, </a:t>
            </a:r>
            <a:r>
              <a:rPr>
                <a:latin typeface="Consolas"/>
              </a:rPr>
              <a:t>Exact duplicate in window?</a:t>
            </a:r>
            <a:r>
              <a:t>, — это </a:t>
            </a:r>
            <a:r>
              <a:rPr>
                <a:latin typeface="Consolas"/>
              </a:rPr>
              <a:t>IF</a:t>
            </a:r>
            <a:r>
              <a:t>, и у него одно условие: нормализованный хэш текущей заявки строго равен нормализованному хэшу недавнего обращения. Строки совпали — перед нами повтор, и дальше цепочка не идёт: ответ уже есть, новую запись делать не нужно, а прогон при этом завершается успешно. Запомните это, мы вернёмся сюда через экран. Строки не совпали — значит дешёвый фильтр не дал однозначного ответа, и заявка идёт дальше, к проверке смыслом.</a:t>
            </a:r>
          </a:p>
          <a:p/>
          <a:p>
            <a:r>
              <a:t>Ни один из этих двух узлов не вызывает модель. Сравнение строк — чистая механика, дешёвая и мгновенная; позволить её себе можно на каждую заявку без исключения, цена шага не растёт от того, сколько заявок приходит в час. Это ровно тот же дешёвый шаг, что и до сегодняшней архитектурной правки: меняется только то, что стоит дальше, за ним.</a:t>
            </a:r>
          </a:p>
          <a:p/>
          <a:p>
            <a:r>
              <a:t>Один параметр на этом экране не виден, а решает многое, — интервал времени, за который мы ищем недавнее обращение того же контакта. Слишком короткий интервал пропустит повтор, если человек написал во второй раз не сразу. Слишком длинный начнёт путать разные, по-настоящему новые вопросы одного человека с повтором одного и того же вопроса. Цена у этого параметра в обе стороны, и мы вернёмся к нему в нюансах.</a:t>
            </a:r>
          </a:p>
          <a:p/>
          <a:p>
            <a:r>
              <a:t>Как это устроено внутри каждого из двух узлов — на следующем экране: откроем панель настройки каждого и посмотрим на реальные поля и условие, а не на подписи холста.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Откроем панель настройки каждого на живом стенде — и увидим эти два узла изнутри.</a:t>
            </a:r>
          </a:p>
          <a:p/>
          <a:p>
            <a:r>
              <a:t>Слева — узел </a:t>
            </a:r>
            <a:r>
              <a:rPr>
                <a:latin typeface="Consolas"/>
              </a:rPr>
              <a:t>Normalize + hash</a:t>
            </a:r>
            <a:r>
              <a:t>, режим ручного отображения полей. На кадре видно первое из трёх его полей, </a:t>
            </a:r>
            <a:r>
              <a:rPr>
                <a:latin typeface="Consolas"/>
              </a:rPr>
              <a:t>normalized_hash</a:t>
            </a:r>
            <a:r>
              <a:t>: оно берёт текст текущей заявки из формы, поле «Что нужно», и приводит его к общему виду — нижний регистр, обрезка пробелов по краям, схлопывание повторных пробелов внутри. Слово «hash» в имени поля здесь не про криптографический хэш: за ним стоит нормализованная строка и ни одного необратимого преобразования.</a:t>
            </a:r>
          </a:p>
          <a:p/>
          <a:p>
            <a:r>
              <a:t>Второе и третье поля того же узла в кадр не попали, и устроены они так же. </a:t>
            </a:r>
            <a:r>
              <a:rPr>
                <a:latin typeface="Consolas"/>
              </a:rPr>
              <a:t>recent_same_contact_text</a:t>
            </a:r>
            <a:r>
              <a:t> — недавнее сообщение того же контакта как есть, без изменений, на случай если текст понадобится показать, а не только сравнить. </a:t>
            </a:r>
            <a:r>
              <a:rPr>
                <a:latin typeface="Consolas"/>
              </a:rPr>
              <a:t>recent_same_contact_hash</a:t>
            </a:r>
            <a:r>
              <a:t> — тот же текст, пропущенный через ту же самую нормализацию. То есть узел готовит обе строки к сравнению одной и той же операцией. Нормализуй текущую заявку и предыдущее сообщение по-разному — и сравнение потеряет смысл ещё до того, как дойдёт до условия.</a:t>
            </a:r>
          </a:p>
          <a:p/>
          <a:p>
            <a:r>
              <a:t>Внизу панели, тоже за границей кадра, включён переключатель «Include Other Input Fields» со значением «All» — остальные поля заявки, тема, срочность, статус, проходят через узел насквозь и не теряются по дороге.</a:t>
            </a:r>
          </a:p>
          <a:p/>
          <a:p>
            <a:r>
              <a:t>Справа — узел </a:t>
            </a:r>
            <a:r>
              <a:rPr>
                <a:latin typeface="Consolas"/>
              </a:rPr>
              <a:t>Exact duplicate in window?</a:t>
            </a:r>
            <a:r>
              <a:t>, тип </a:t>
            </a:r>
            <a:r>
              <a:rPr>
                <a:latin typeface="Consolas"/>
              </a:rPr>
              <a:t>IF</a:t>
            </a:r>
            <a:r>
              <a:t>, и его условие видно целиком: </a:t>
            </a:r>
            <a:r>
              <a:rPr>
                <a:latin typeface="Consolas"/>
              </a:rPr>
              <a:t>normalized_hash</a:t>
            </a:r>
            <a:r>
              <a:t> сравнивается оператором «равно» с </a:t>
            </a:r>
            <a:r>
              <a:rPr>
                <a:latin typeface="Consolas"/>
              </a:rPr>
              <a:t>recent_same_contact_hash</a:t>
            </a:r>
            <a:r>
              <a:t> — то есть ровно с тем третьим полем, которое посчитал предыдущий узел. Переключатель приведения типов выключен: строки сравниваются как есть, без тихого превращения разных значений в равные. Кнопка «Add condition» под условием показывает, что условие в узле одно — скрытой логики за кадром нет.</a:t>
            </a:r>
          </a:p>
          <a:p/>
          <a:p>
            <a:r>
              <a:t>Вместе эти два узла и есть весь дешёвый слой проверки: одна операция приведения к общему виду и одно сравнение. Ни одного параметра, который можно настроить удачно или неудачно; ни одного места, где решение зависело бы от формулировки. Дальше — второй, дорогой шаг: он видит только то, что это условие не остановило.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второй узел — тот, что видит только не разрешённое дешёвым фильтром. Устроен он принципиально иначе, чем прежняя версия на этом же месте.</a:t>
            </a:r>
          </a:p>
          <a:p/>
          <a:p>
            <a:r>
              <a:t>Раньше здесь стоял запрос к модели общего назначения со свободным текстовым промптом: опиши задачу словами, попроси ответить «да» или «нет». Теперь — структурированный HTTP-запрос к специализированному сервису jev. Разница не только в инструменте, но и в самой форме вопроса: сервис принимает не произвольный текст, а явно типизированный вопрос — здесь это тип </a:t>
            </a:r>
            <a:r>
              <a:rPr>
                <a:latin typeface="Consolas"/>
              </a:rPr>
              <a:t>noul</a:t>
            </a:r>
            <a:r>
              <a:t>, закрытый вопрос «да или нет» с вероятностью вместо чистой двоичности. Модели передают оба текста, явную инструкцию, что именно считается «тем же вопросом», и два явных критерия — что засчитывается как «да», что как «нет». Угадывать это по тону формулировки, как в свободном промпте, не нужно: критерии — отдельное явное поле запроса.</a:t>
            </a:r>
          </a:p>
          <a:p/>
          <a:p>
            <a:r>
              <a:t>Результат проверили не на двух показательных прогонах, а на всех двадцати парах тестового набора — том же самом, на котором раньше измеряли хэш, TF-IDF и модель-судью. Разделение получилось чистым: на десяти парах, где ожидался дубль, сервис вернул вероятность от 0.70 до 0.97. На десяти парах, где ожидался разный вопрос, — от 0.02 до 0.08. Между этими двумя группами — честный разрыв: максимум среди «разных» заметно ниже минимума среди «дублей». Порог 0.5 работает здесь с большим запасом — значит, результат не держится на удачно подобранном пороге: сервис развёл пары уверенно в обе стороны.</a:t>
            </a:r>
          </a:p>
          <a:p/>
          <a:p>
            <a:r>
              <a:t>Возьмём одну пару для конкретности, чтобы не оставаться только с диапазонами. «Когда можно оплатить занятие?» и «как мне внести оплату за курс» — разные слова, тот же смысл. Jev вернул 0.76 — уверенно выше порога. На этой же паре хэш и TF-IDF дают ноль — не от ошибки, а потому что по конструкции им не из чего сравнивать: общих значимых слов нет. Это ровно та задача, где механическое сравнение слепо в принципе, а проверка смыслом — нет.</a:t>
            </a:r>
          </a:p>
          <a:p/>
          <a:p>
            <a:r>
              <a:t>Теперь, после двух узлов настоящей цепочки, — что из этого следует для архитектуры в целом.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подводить итог кейса — не схема и не настройка узла, а то, что в итоге видит сама Ольга в таблице заявок, которую открывает каждое утро. На экране — настоящая таблица учебного стенда, строки с пятнадцатой по двадцатую.</a:t>
            </a:r>
          </a:p>
          <a:p/>
          <a:p>
            <a:r>
              <a:t>Пятнадцатая и шестнадцатая — Пётр, одно и то же письмо слово в слово, между ними сутки. Следующие четыре — Анна, снова один и тот же текст, записанный четыре раза. Внутри каждой пары разница меньше двадцати миллисекунд: человек дважды нажал кнопку отправки, а форма честно приняла оба нажатия. Для таблицы это четыре разные заявки, и признака, по которому их отличить от четырёх разных вопросов, в ней нет.</a:t>
            </a:r>
          </a:p>
          <a:p/>
          <a:p>
            <a:r>
              <a:t>Даты на кадре старше проверки на повтор — проверка появилась в цепочке позже, и ни одна из этих строк через неё не проходила. С ней картина меняется наполовину. Буквальный повтор до таблицы больше не доходит: дешёвый механический шаг останавливает заявку раньше, чем она туда попадёт, прогон при этом завершается штатно, и Ольга не увидит ни повтора, ни следа того, что он был. А тот же вопрос другими словами доходит по-прежнему. Проверку смыслом на этом шаге только что измерили: перефразировку от нового вопроса она отличает надёжно. Но её ответ никуда не сохраняется — колонки под него в таблице нет, и после неё в цепочке нет ни одной развилки. Строка записывается такой же, как первая.</a:t>
            </a:r>
          </a:p>
          <a:p/>
          <a:p>
            <a:r>
              <a:t>Это не промах измерения, а граница между «различить» и «показать различие»: первое собрано и замерено, второе не собрано вовсе. Что делать с найденной перефразировкой — пропустить молча, записать с пометкой или гасить наравне с буквальным повтором — продуктовый вопрос, уже названный нюансом кейса. Сегодня выбран первый ответ, и выбран он не решением, а умолчанием.</a:t>
            </a:r>
          </a:p>
          <a:p/>
          <a:p>
            <a:r>
              <a:t>Ещё одно наблюдение из той же таблицы, за пределами разбора. У строк с семнадцатой по двадцатую текст один, а тема, извлечённая шагом классификации, всякий раз разная: дважды «другое», потом «перенос занятия», потом «оплата». Та же история ниже по таблице: один текст в трёх строках получил «курс», «оплату» и «другое». Шаг извлечения полей, стоящий до всякой дедупликации, на одинаковом входе даёт разный выход — и именно поэтому повтор ищут по самому тексту, а не по извлечённой теме.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Подведём итог кейса на измерении, которое мы только что видели.</a:t>
            </a:r>
          </a:p>
          <a:p/>
          <a:p>
            <a:r>
              <a:t>Механическая проверка и проверка смыслом друг другу не конкуренты, и ни одна не служит «более совершенной версией» другой. Точное совпадение не ловит переформулировку в принципе: оно сравнивает строки, а не смысл, и иначе работать не умеет. Классический векторный подход выглядел более серьёзной альтернативой — мера, порог, — но измерение на 20 настоящих парах дало ему хуже, чем простому хэшу: 13 из 20 против 15. Он ошибается там же, на тех же перефразировках, по той же причине — ноль общих слов при полном совпадении смысла, — и вдобавок даёт 2 ложных срабатывания там, где хэш не ошибается в принципе. «Более серьёзный» неязыковой инструмент не только не гарантирует прироста — он может быть измеримо хуже. Так показало измерение на своих данных; общим свойством метода это не считайте.</a:t>
            </a:r>
          </a:p>
          <a:p/>
          <a:p>
            <a:r>
              <a:t>Системный приём, который стоит унести: тратить дорогой инструмент только там, где дешёвый явно не дал ответа. Точное совпадение остаётся в финальном решении — но как первый дешёвый фильтр, который берёт на себя буквальные повторы бесплатно и экономит на нашем наборе 5 вызовов модели из 20, а не как альтернатива LLM, с которой она якобы конкурирует. Модель вызывается только на не разрешённое первым фильтром, и тогда её цена оправдана: заменить её нечем — ни хэш, ни классический векторный подход переформулировку на русском языке не решают.</a:t>
            </a:r>
          </a:p>
          <a:p/>
          <a:p>
            <a:r>
              <a:t>Тот же системный приём работал и в первом кейсе занятия, только смотрелся иначе: шаг модели убрали целиком и заменили подстановкой значений, потому что задача оказалась полностью детерминированной. Здесь она детерминирована не целиком: определить, один ли смысл у двух разных строк текста, механика в общем случае не умеет. Поэтому модель не убирается, а сдвигается туда, где нужна.</a:t>
            </a:r>
          </a:p>
          <a:p/>
          <a:p>
            <a:r>
              <a:t>И отдельно — куда это ведёт дальше по курсу. На Семинаре 10 та же самая механика — сравнение смысла двух заявок — вырастет в задачу другого масштаба: поиск готового ответа в базе знаний и объединение похожих вопросов в один, вместо сравнения нового текста с одним недавним обращением того же человека. Сегодняшняя проверка на повтор — по сути первая, самая узкая версия той же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ни один не про выбор схемы: все три всплывают после того, как выбор сделан и решение собрано.</a:t>
            </a:r>
          </a:p>
          <a:p/>
          <a:p>
            <a:r>
              <a:t>Первый — интервал времени сам по себе параметр с ценой. Слишком короткий — и повтор, присланный через день, а не через пару минут, проверка пропустит: формально это уже «не недавнее» обращение. Слишком длинный интервал — и проверка начнёт путать разные, но подряд идущие обращения одного и того же человека с повтором одного и того же обращения. Это число приходится настраивать по факту, а не один раз угадать.</a:t>
            </a:r>
          </a:p>
          <a:p/>
          <a:p>
            <a:r>
              <a:t>Второй: проверка похожести моделью — частный случай более общей задачи, где модель судит чужой текст. Асимметрия ошибок у неё та же, что у любой модели в роли оценщика, и это задокументированный результат: Ватаока, Такахаси и Ри показали на NeurIPS 2024, на воркшопе Safe GenAI, что модель-судья систематически не нейтральна — даже когда формально отвечает «да» или «нет» на прямой вопрос. И это не ссылка на чужую работу вместо своей: ровно это мы только что увидели на своём тесте — три ложных срабатывания из двадцати, не ноль. Хотя бы одно совпадением слов не объясняется: модель ошиблась на паре без единого общего слова. Проверка смыслом не идеальна — она ошибается иначе, чем механика.</a:t>
            </a:r>
          </a:p>
          <a:p/>
          <a:p>
            <a:r>
              <a:t>Третий нюанс — что мы считаем дублем — решение продукта, не только техники. Иногда человек переспрашивает другими словами нарочно: ему нужен ответ срочнее второго раза, и схлопнуть такое обращение в «уже отвечали» будет неверно по сути, даже если технически это тот же вопрос. Не каждый обнаруженный повтор обязан выглядеть одной записью в интерфейсе; такое решение обсуждают с тем, кто работает с заявками каждый день, а не угадывают в коде.</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Работают все три, и спор о том, какой принципиально лучше, ничего не решает: решают два обстоятельства — какие повторы вы ожидаете и чем готовы платить за ошибку каждого.</a:t>
            </a:r>
          </a:p>
          <a:p/>
          <a:p>
            <a:r>
              <a:t>Точного совпадения достаточно для буквальных повторов — на нашем наборе это 75 процентов, 15 из 20, бесплатно и мгновенно. Это первый вопрос Бориса, заданный дважды одними и теми же словами: здесь хэш справляется полностью, и тратить вызов модели на каждое обращение не окупается.</a:t>
            </a:r>
          </a:p>
          <a:p/>
          <a:p>
            <a:r>
              <a:t>Классический векторный подход не стоит добавлять «на всякий случай», рассчитывая, что мера похожести и настраиваемый порог сами по себе дадут прирост. Измерение на 20 настоящих парах показало результат ХУЖЕ, чем у хэша, — 13 из 20 против 15: его нельзя брать как «более умного хэша» без проверки на своих данных, он может оказаться хуже самого простого варианта.</a:t>
            </a:r>
          </a:p>
          <a:p/>
          <a:p>
            <a:r>
              <a:t>Проверка смыслом нужна сверху там, где ожидаются именно переформулировки — второй вопрос Бориса, заданный другими словами. Модель нужна там — и помните про её собственную частоту ошибок: у нас три ложных срабатывания из двадцати, пятнадцать процентов. Это цена, которую вы платите за такую точность, а не ноль. Если цена необнаруженного дубля — повторная работа администратора, повторный звонок, недоверие клиента вроде того, что получил Борис, — выше цены одного лишнего вызова модели на спорные случаи, проверка смыслом себя оправдывает.</a:t>
            </a:r>
          </a:p>
          <a:p/>
          <a:p>
            <a:r>
              <a:t>И отдельная строка критерия: чем именно проверять смыслом — тоже решение, не очевидное по умолчанию. На нашем тесте дешёвая модель общего назначения дала 17 из 20, специализированный сервис jev — 20 из 20 и дешевле по прайсу. Из этого не следует «всегда берите специализированный сервис». Следует другое: выбор инструмента для этого шага проверяют так же, как мы проверили, нужен ли шаг, — а не угадывают.</a:t>
            </a:r>
          </a:p>
          <a:p/>
          <a:p>
            <a:r>
              <a:t>И закрываем вторую строку нашей таблицы. Выглядело надёжным: заявка про тот же вопрос пришла снова — формально новое обращение, обработали как новое, прогон зелёный. Чем оказалось: без проверки на дубль каждое повторное обращение запускает всю цепочку с нуля, как будто вопрос никогда не задавали, — ровно то, что случилось у Ольги и Бориса. И важно унести именно это: ни точное совпадение, ни классический векторный подход не решают эту задачу целиком сами по себе — для настоящей переформулировки нужна проверка смыслом, со своей измеренной, а не воображаемой ценой ошибки, и именно поэтому в финальном решении она стоит вторым шагом, а не единственным.</a:t>
            </a:r>
          </a:p>
          <a:p/>
          <a:p>
            <a:r>
              <a:t>Кейс закрыт: путь прошли от потребности Ольги и её клиента через два неполных дешёвых подхода, честное измерение на настоящих текстах и выбор правильного порядка инструментов — до критерия, по которому решают, нужен ли второй, дорогой слой и каким инструментом его ставить. Дальше — третий кейс этого занятия, и там та же развилка между моделью и кодом встанет не на тексте заявки, а на решении, которое напрямую управляет деньгами.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дня, и тема меняется с текста на деньги. В первом кейсе решали, как составить уведомление из уже известных значений. Во втором — отличить повторный вопрос от нового. Здесь решение опирается на одно-единственное число: сумму возврата.</a:t>
            </a:r>
          </a:p>
          <a:p/>
          <a:p>
            <a:r>
              <a:t>Учебный центр принимает заявки на возврат оплаты — занятие пропустили, курс не подошёл, передумали. Часть таких заявок центр должен одобрять сам, не отрывая руководителя на каждую мелочь: это повседневная работа, и решать её надо быстро, без согласований сверху. Другую часть — крупные суммы — обязательно показывать руководителю: там цена ошибки выше, и решение нельзя отдавать без контроля. Разделяет эти две категории порог: три тысячи рублей.</a:t>
            </a:r>
          </a:p>
          <a:p/>
          <a:p>
            <a:r>
              <a:t>Почему нельзя отдать всё руководителю или всё автоматике, понятно без лишних слов. Решать всё вручную — руководитель тонет в мелких заявках и не успевает заниматься тем, для чего нужен. Доверить всё автоматике без разбора — крупная сумма уйдёт без единого взгляда человека, а там, где счёт идёт на десятки тысяч, такой риск никто сознательно на себя не берёт. Порог и есть компромисс между этими крайностями, и держится он ровно настолько, насколько точно его соблюдают: иначе компромисс остаётся на бумаге.</a:t>
            </a:r>
          </a:p>
          <a:p/>
          <a:p>
            <a:r>
              <a:t>Фраза на экране — не технический промпт и не инструкция для модели, а то, как эту идею сформулировал бы бизнес, прежде чем передавать её в реализацию: автоматический возврат средств — до заданного порога суммы. Это прямое продолжение процесса, который мы уже собирали в Семинаре 7: там система читала текст обращения и определяла тему; здесь она идёт на шаг дальше — распознав в обращении просьбу о возврате, она же решает, одобрить сумму автоматически или передать руководителю. Процесс один, ему добавили ещё один шаг.</a:t>
            </a:r>
          </a:p>
          <a:p/>
          <a:p>
            <a:r>
              <a:t>Внутри этого шага правило звучит просто и на первый взгляд однозначно: порог есть, сравнение есть — что тут перепутаешь.</a:t>
            </a:r>
          </a:p>
          <a:p/>
          <a:p>
            <a:r>
              <a:t>Эта кажущаяся однозначность и окажется на проверке неполной. Но не будем забегать: сначала посмотрим, как правило живёт сегодня и кто его выполняет, — следующий экран.</a:t>
            </a:r>
          </a:p>
          <a:p/>
          <a:p>
            <a:r>
              <a:t>Дорожка кейсов внизу экрана — третий из четырёх; после этого занятие перейдёт к разбору похожей истории на другом масштабе — уже не учебного центра, а целой компании, — а затем к последнему, четвёртому кейсу этого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 это работает продолжением того, что мы уже собрали в Семинаре 7, а не новым процессом с нуля. Там система читала текст обращения и определяла его тему: оплата, перенос, вопрос по курсу. Здесь, после того как обращение распознано как просьба о возврате, добавлен ещё один шаг: та же система читает сумму внутри текста и сама решает, одобрить её автоматически или передать руководителю.</a:t>
            </a:r>
          </a:p>
          <a:p/>
          <a:p>
            <a:r>
              <a:t>Заявка приходит через ту же форму, которой мы пользовались в предыдущих двух кейсах: человек пишет своими словами, сумма называется внутри текста, а не в отдельном поле. «Прошу вернуть 2500 рублей за пропущенное занятие» — обычная формулировка, ничего структурированного.</a:t>
            </a:r>
          </a:p>
          <a:p/>
          <a:p>
            <a:r>
              <a:t>Решение принимает один шаг цепочки, и принимает целиком. Внутри него совмещены три операции: прочитать сумму, сравнить с порогом, сформулировать ответ — и все три модель делает сама, без проверки снаружи. Эту возможность — добавить к той же форме автоматический возврат до заданного порога, не отправляя каждую мелкую заявку руководителю — команда и собрала месяц назад.</a:t>
            </a:r>
          </a:p>
          <a:p/>
          <a:p>
            <a:r>
              <a:t>Дальше развилка простая, и в ней появляется деталь, которой не было в предыдущих кейсах: решение «одобрить» — и деньги не «оформляются», а автоматически уходят на карту клиента, без единого касания человека. Если решение «эскалировать» — заявка попадает к руководителю, и он решает уже сам.</a:t>
            </a:r>
          </a:p>
          <a:p/>
          <a:p>
            <a:r>
              <a:t>И вот на чём держится сегодняшнее доверие к этой версии. Она работает месяц. За этот месяц никто не пришёл и не сказал «вот эта заявка одобрена неправильно» или «эту напрасно отправили руководителю». Команда читает это как подтверждение: правило работает, модель справляется.</a:t>
            </a:r>
          </a:p>
          <a:p/>
          <a:p>
            <a:r>
              <a:t>Но скажем вслух, что подтверждает отсутствие жалоб и чего оно не подтверждает. Подтверждает: ни одна ошибка не была достаточно заметной или достаточно дорогой, чтобы кто-то вернулся и пожаловался. Не подтверждает: что ошибок не было вовсе. Про разницу между этими двумя утверждениями — следующий такт.</a:t>
            </a:r>
          </a:p>
          <a:p/>
          <a:p>
            <a:r>
              <a:t>Посмотрите, чего в этой версии нет между чтением суммы и финальным словом ответа. Нет отдельного шага, который зафиксировал бы вслух: сумма такая-то, порог такой-то, результат их сравнения такой-то. Всё это происходит внутри одного вызова модели, и наружу выходит только готовое слово «одобрить» или «эскалировать» — без промежуточного следа, по которому проверишь, как модель пришла к этому слову в конкретном случае. Эту непрозрачность одного вызова и придётся распаковать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секунду, прежде чем идти дальше. Правило работает месяц, жалоб не было — и здесь инженер обязан спросить себя: тишина — это доказательство или отсутствие повода проверить?</a:t>
            </a:r>
          </a:p>
          <a:p/>
          <a:p>
            <a:r>
              <a:t>Вопрос дня: как добиться, чтобы решение о пороге никогда не принималось неверно? Не «как сделать ещё надёжнее» вообще, а про одну точку — сравнение суммы с порогом.</a:t>
            </a:r>
          </a:p>
          <a:p/>
          <a:p>
            <a:r>
              <a:t>Четыре карточки, и это четыре разных действия с процессом, не четыре мнения о модели.</a:t>
            </a:r>
          </a:p>
          <a:p/>
          <a:p>
            <a:r>
              <a:t>Первая — написать правило яснее в промте: переформулировать текст, явно развести, что происходит на границе и по обе стороны от неё.</a:t>
            </a:r>
          </a:p>
          <a:p/>
          <a:p>
            <a:r>
              <a:t>Вторая — дать модели инструмент-калькулятор: пусть не считает сама в уме, а вызывает отдельную функцию сравнения чисел.</a:t>
            </a:r>
          </a:p>
          <a:p/>
          <a:p>
            <a:r>
              <a:t>Третья — поставить </a:t>
            </a:r>
            <a:r>
              <a:rPr>
                <a:latin typeface="Consolas"/>
              </a:rPr>
              <a:t>IF</a:t>
            </a:r>
            <a:r>
              <a:t>-узел после извлечения суммы: пусть сумму достаёт модель, а сравнивает её с порогом уже код.</a:t>
            </a:r>
          </a:p>
          <a:p/>
          <a:p>
            <a:r>
              <a:t>Четвёртая — сделать сумму явным числовым полем формы: не писать её внутри свободного текста заявки, а собирать цифрами сразу на входе, в отдельном поле.</a:t>
            </a:r>
          </a:p>
          <a:p/>
          <a:p>
            <a:r>
              <a:t>Как и в прошлых кейсах, очевидно неправильного варианта среди остальных здесь нет. Все четыре — настоящие инженерные ходы, и у части есть ограничение, которое проявляется не сразу. Думайте не про то, что звучит надёжнее, а про то, что устраняет саму возможность ошибки, а не снижает её частоту.</a:t>
            </a:r>
          </a:p>
          <a:p/>
          <a:p>
            <a:r>
              <a:t>И ещё одна подсказка — не про то, какая карточка верна, а про то, как к ним подходить. Два действия меняют ЧТО-ТО в том, как модель принимает решение: переформулировку, инструмент. Два других меняют, ГДЕ это решение принимается, — переносят его в код или вовсе снимают нужду что-то извлекать. Разница между «лучше сделать то же самое» и «сделать по-другому» будет держать весь дальнейший разбор.</a:t>
            </a:r>
          </a:p>
          <a:p/>
          <a:p>
            <a:r>
              <a:t>Пятнадцать секунд на выбор, потом по рукам — разбор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и за каждым теперь не только рассуждение, но и настоящий прогон на живом стенде.</a:t>
            </a:r>
          </a:p>
          <a:p/>
          <a:p>
            <a:r>
              <a:t>Написать правило яснее — развести явно, что происходит по обе стороны границы. Прогнали на расширенном наборе из ста запросов, тех же, где версия один ошиблась девять раз из ста одного, — ноль ошибок. Это измеренный факт, но не структурная гарантия: решение всё ещё принимает текстовое понимание, а не код, и другая формулировка или модель может разойтись с правилом снова, просто в другом месте.</a:t>
            </a:r>
          </a:p>
          <a:p/>
          <a:p>
            <a:r>
              <a:t>Дать модели инструмент-калькулятор. Поясню подробнее, почему это не решает проблему. Прежде чем калькулятор что-то сравнит, модели всё равно надо извлечь сумму из текста — тот же вероятностный шаг, что и без калькулятора. А дальше модель сама, тоже вероятностно, решает, вызывать ли инструмент и с какими аргументами. Калькулятор вероятностность не убирает — он добавляет её туда, где её раньше не было. Мы собрали настоящего агента с настоящим калькулятором и прогнали на той же сотне запросов: пятьдесят шесть из ста, хуже всех вариантов. Встроенный калькулятор n8n умеет арифметику, не умеет сравнений, и на «2500 меньше 3000» честно отвечал «не знаю, как это сделать» (11 из 100). Треть ответов не свелась к чистому слову — смешанный алфавит, рассуждение вместо ответа, одно переключение на китайский. Почти десятая часть ошибок рассыпалась по всему диапазону, не только у границы.</a:t>
            </a:r>
          </a:p>
          <a:p/>
          <a:p>
            <a:r>
              <a:t>Поставить </a:t>
            </a:r>
            <a:r>
              <a:rPr>
                <a:latin typeface="Consolas"/>
              </a:rPr>
              <a:t>IF</a:t>
            </a:r>
            <a:r>
              <a:t>-узел после извлечения — сумму достаёт модель, сравнивает код. На ста одном запросе ноль ошибок, включая все заложенные граничные случаи. Чего он принципиально не закрывает — ошибку самого извлечения: на этом измерении её не нашлось, но архитектурно это и не его забота.</a:t>
            </a:r>
          </a:p>
          <a:p/>
          <a:p>
            <a:r>
              <a:t>И последнее — явное числовое поле формы. Точность здесь сознательно не измеряли: у шага извлечения, которого нет, нет и точности. Применимая мера — применимость: работает, только если форму можно менять, иначе извлекать из текста всё равно придётся.</a:t>
            </a:r>
          </a:p>
          <a:p/>
          <a:p>
            <a:r>
              <a:t>Прежде чем выбирать между действиями, нужно узнать, насколько плохо дело сейчас и где именно версия 1 ошибается на расширенном наборе. Это измерение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идти дальше — одна идея, появившаяся уже после того, как таблица на предыдущем экране была готова. Пятой строкой она в таблицу не вошла, и не из стеснения: проверка показала, что собрать её так, как она задумывалась, нельзя.</a:t>
            </a:r>
          </a:p>
          <a:p/>
          <a:p>
            <a:r>
              <a:t>Идея звучала разумно. У нас уже есть сервис jev — тот самый, который в прошлом кейсе отличал повторный вопрос от нового лучше дешёвой модели-судьи. Почему не поручить ему и здесь — достать сумму из текста заявки, а порог всё так же сравнивать кодом?</a:t>
            </a:r>
          </a:p>
          <a:p/>
          <a:p>
            <a:r>
              <a:t>Прежде чем собирать цепочку, идею проверили прямыми вызовами на живом стенде: число не выдумывают, его измеряют. И выяснилось то, что вы видите в верхнем ряду. У сервиса ровно четыре типа ответа: да или нет с вероятностью, выбор одного варианта из заранее перечисленных, позиция на заданной шкале, область на картинке. Открытого числа среди них нет ни в каком виде, и пятая карточка перечёркнута не для красоты: это не «плохо поддерживается», а отсутствующая операция.</a:t>
            </a:r>
          </a:p>
          <a:p/>
          <a:p>
            <a:r>
              <a:t>Нижний ярус показывает, почему это не мелочь. Две суммы, две тысячи девятьсот девяносто девять и три тысячи один рубль, лежат по разные стороны настоящего порога. Обеим предложили одну и ту же шкалу диапазонов, заданную заранее. Сервис вернул для обеих один и тот же диапазон, с полной уверенностью в обоих случаях. Различить их удалось бы единственным способом: заранее зашить границу ровно в три тысячи в сам вопрос к сервису — то есть знать порог, когда вопрос формулируешь, точно как в тексте правила, которое мы и пытаемся обойти.</a:t>
            </a:r>
          </a:p>
          <a:p/>
          <a:p>
            <a:r>
              <a:t>Это другая история, чем с калькулятором, который мы разобрали минуту назад. У калькулятора модель могла вызвать инструмент — вероятностность переезжала на шаг раньше и там продолжала жить. У этого сервиса в такой задаче самой операции «вернуть число» не существует: это не плохо выполненная работа, а работа другого класса, которую он в принципе не берёт.</a:t>
            </a:r>
          </a:p>
          <a:p/>
          <a:p>
            <a:r>
              <a:t>Урок простой и переносимый, не только про возврат денег: прежде чем проектировать шаг вокруг стороннего сервиса, проверьте, что он физически умеет делать то, что от него хотят. И не считайте, что раз он хорош в соседней задаче, значит подойдёт и здесь. «Выбрать из готовых вариантов» и «извлечь произвольное число» — разные классы, и успех в одном ничего не говорит про другой.</a:t>
            </a:r>
          </a:p>
          <a:p/>
          <a:p>
            <a:r>
              <a:t>Теперь — что мы сделали с этой находкой на практике: решение, которое заменяет ровно тот узел, где случается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таблице действий мы только что проговорили число: версия один, та, что работает месяц, ошибается девять раз из ста одного. И не в случайном месте цепочки — ровно в одной точке: там, где принимается решение «одобрить» или «эскалировать». Прежде чем разбирать это число подробно, покажу, что мы с находкой сделали. Версия два — не новая цепочка с нуля, а версия один с заменой одного узла.</a:t>
            </a:r>
          </a:p>
          <a:p/>
          <a:p>
            <a:r>
              <a:t>Посмотрите на схему. Верхняя полоса — версия один, та, что работала месяц. Форма со свободным текстом, модель достаёт из него сумму, и та же модель — тем же вызовом — решает, одобрить сумму или эскалировать её, читая текст правила. Последнее действие, решение по тексту правила, и есть точка, где случались все девять ошибок.</a:t>
            </a:r>
          </a:p>
          <a:p/>
          <a:p>
            <a:r>
              <a:t>Нижняя полоса — версия два. Она появляется не параллельно версии один и не вместо неё с самого начала, а именно как ответ на то, что показал эксперимент. Форма та же, извлечение суммы то же — модели всё ещё нужно достать число из свободного текста заявки, потому что форму мы пока не меняли. А дальше, там, где раньше модель решала по тексту правила, теперь стоит </a:t>
            </a:r>
            <a:r>
              <a:rPr>
                <a:latin typeface="Consolas"/>
              </a:rPr>
              <a:t>IF</a:t>
            </a:r>
            <a:r>
              <a:t>-узел: он сравнивает уже извлечённое число с порогом как условие в коде, а не как текстовый вызов.</a:t>
            </a:r>
          </a:p>
          <a:p/>
          <a:p>
            <a:r>
              <a:t>И рисую я это не как два равноправных параллельных процесса, которые мы якобы собрали сразу и сравнили. Версия два появилась после версии один и из-за найденной в ней проблемы — это и есть правильный порядок рассказа про смену решения, и он совпадает с тем, что было: месяц работы, эксперимент, находка, и только потом замена узла.</a:t>
            </a:r>
          </a:p>
          <a:p/>
          <a:p>
            <a:r>
              <a:t>Дальше разберём, насколько хорошо это работает: не одно итоговое число, а как был устроен тест на сто один запрос и на каких формулировках версия один раз за разом спотыкалась. Это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отдельный такт про сам процесс измерения, и он заслуживает полного экрана: метод здесь важнее числа. В этой волне метод стал важнее вдвойне — исходные три ошибки на пятьдесят одном запросе звучали недостаточно представительно, чтобы на них опираться уверенно, и набор расширили.</a:t>
            </a:r>
          </a:p>
          <a:p/>
          <a:p>
            <a:r>
              <a:t>Начнём с того, зачем мерить, если жалоб не было. Жалоба приходит при одном условии: ошибка достаточно заметна и достаточно дорога, чтобы человек вернулся и указал на неё. Тихая ошибка — одобрили чуть большую сумму, которую следовало эскалировать, или наоборот — жалобы не вызовет никогда, потому что её, скорее всего, никто и не заметит.</a:t>
            </a:r>
          </a:p>
          <a:p/>
          <a:p>
            <a:r>
              <a:t>Исходный набор — пятьдесят запросов, сгенерированных один раз с зафиксированным стартовым значением генератора случайных чисел, плюс один ручной тест. Внутри — два кластера: двадцать пять сумм от тысячи до трёх тысяч рублей с плотной группировкой прямо у границы, и двадцать пять сумм явно выше порога, для которых правильный ответ очевиден.</a:t>
            </a:r>
          </a:p>
          <a:p/>
          <a:p>
            <a:r>
              <a:t>Что добавлено в этой волне. Три тысячи рублей — одна конкретная сумма, и кластер вокруг неё в исходном наборе был плотным, но не исчерпывающим. Добавили пятнадцать сумм ещё плотнее к самой границе — буквально в пределах двадцати рублей от неё в обе стороны. Добавили двадцать текстов, где в одном сообщении встречаются два разных числа: отвлекающая сумма — то, что курс или занятие стоило раньше, — и целевая сумма, та, которую на самом деле просят вернуть. Правильный ответ считается по целевой, и экстрактору нужно отличить одно от другого, а не найти первое число в тексте. И добавили пятнадцать формулировок, где сумма вообще не названа прямым числом, а выводится арифметикой — «два занятия по тысяче пятьсот» — или словом «около», «примерно».</a:t>
            </a:r>
          </a:p>
          <a:p/>
          <a:p>
            <a:r>
              <a:t>Итого — сто один запрос, и правильность каждого прогона определяется не на глаз: решение, которое реально записано в данных выполнения, сравнивается с ожиданием, вытекающим из самого текста правила. Набор воспроизводим целиком: стартовое значение генератора записано, и прогон можно повторить и получить те же сто один текст.</a:t>
            </a:r>
          </a:p>
          <a:p/>
          <a:p>
            <a:r>
              <a:t>Прежде чем переключать на результат — остановитесь и предположите сами, тремя вариантами руками: ошибок ноль, до пяти, больше двадцати. Правило месяц работало без единой жалобы, и это единственное, что про него известно заранее. Пауза здесь нужна настоящая: число на следующем экране стоит столько, сколько стоило собственное предположение до него.</a:t>
            </a:r>
          </a:p>
          <a:p/>
          <a:p>
            <a:r>
              <a:t>Оба исхода предположения одинаково полезны. Ответ «до пяти» близок к истине по доле — девять из ста одного, — но доля здесь решает меньше всего: все девять ошибок стоят в одной точке, и это выясняется только из разбивки. Ответ «ноль» — самый частый и самый поучительный: месяц без единой жалобы не говорит о числе ошибок ничего, потому что тихая ошибка жалобы и не вызывает.</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Ответ. Девять ошибок из ста одного прогона у версии, где порог записан словами внутри промпта, и ноль ошибок у версии, где тот же порог стоит условием в коде. Один и тот же набор запросов, один и тот же учебный центр, одна и та же модель на шаге извлечения суммы — разница только в том, кто принимает решение «одобрить или эскалировать».</a:t>
            </a:r>
          </a:p>
          <a:p/>
          <a:p>
            <a:r>
              <a:t>Девять из ста одного — чуть меньше девяти процентов. Само по себе это число говорит мало: девять процентов ошибок на шаге, который срабатывает раз в неделю, и девять процентов на шаге, который срабатывает триста раз в месяц, — разные вещи. Но здесь важнее доли другое: где эти девять стоят.</a:t>
            </a:r>
          </a:p>
          <a:p/>
          <a:p>
            <a:r>
              <a:t>Все девять — на одной сумме. Не «в диапазоне около трёх тысяч», не «чем ближе к порогу, тем чаще», а ровно на трёх тысячах рублей, и ни на одной другой сумме набора. Две тысячи девятьсот девяносто девять — верно. Три тысячи одна — верно. Три тысячи — ошибка, каждый раз, в какой бы формулировке сумма ни пришла: прямым числом или посчитанная арифметикой внутри текста заявки.</a:t>
            </a:r>
          </a:p>
          <a:p/>
          <a:p>
            <a:r>
              <a:t>Почему именно там. Правило в промте написано словами: «не возвращай больше трёх тысяч». Человек читает это как «три тысячи ещё можно». Модель на самой границе читает это иначе и отправляет заявку руководителю. Спорить о том, чьё прочтение правильное, бессмысленно: формулировка допускает оба, и в этом вся беда — граница осталась предметом толкования, а сравнением двух чисел так и не стала.</a:t>
            </a:r>
          </a:p>
          <a:p/>
          <a:p>
            <a:r>
              <a:t>Для учебного центра три тысячи — не случайная сумма из середины диапазона. Это и есть заявленный порог, то место, где решение переключается, и на нём стоит самая частая заявка: клиенты просят вернуть ровно столько, сколько стоит занятие или блок занятий.</a:t>
            </a:r>
          </a:p>
          <a:p/>
          <a:p>
            <a:r>
              <a:t>На следующем экране — то же самое число, разложенное по шести блокам теста: сколько запросов в каждом, сколько ошибок и какой текст заявки за ними стоит. Смотреть там нужно не на итог — он уже перед вами, — а на то, в каких блоках ошибок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результат измерения на расширенном наборе. Сто один прогон, и у версии один — девять ошибок.</a:t>
            </a:r>
          </a:p>
          <a:p/>
          <a:p>
            <a:r>
              <a:t>Таблица разбита по блокам теста не для красоты: так сразу видно, где ошибка есть и где её нет. Исходный кластер у границы — двадцать пять запросов, три ошибки. Исходные суммы явно выше порога — двадцать пять запросов, ноль ошибок. Блок у границы, где суммы ещё плотнее прижаты к трём тысячам, — пятнадцать запросов, и неожиданно ноль ошибок: ни 2980, ни 2999, ни 3001, ни 3020 модель не сбили, потому что ни одна из них не совпадает РОВНО с порогом. Блок с двумя числами в тексте — двадцать запросов, тоже ноль: модель уверенно отличает отвлекающую сумму от целевой. А вот блок непрямых формулировок — пятнадцать запросов, и в нём шесть новых ошибок, и все шесть — там, где арифметика внутри текста («половина от шести тысяч», «три занятия по тысяче») в точности равна трём тысячам.</a:t>
            </a:r>
          </a:p>
          <a:p/>
          <a:p>
            <a:r>
              <a:t>Расширенный набор подтверждает вот что: ошибка не размазана по диапазону и не зависит от того, насколько сложно сформулирован текст. Она привязана к ОДНОЙ ТОЧНОЙ СУММЕ — трём тысячам рублей, — независимо от того, пришла эта сумма прямым числом или арифметикой из двух чисел. Модель справляется с «очевидно много», с «очевидно мало» и даже с суммами в двадцати рублях от границы — во всех случаях без исключения. Промах один: там, где сумма равна порогу буквально.</a:t>
            </a:r>
          </a:p>
          <a:p/>
          <a:p>
            <a:r>
              <a:t>И это не случайная ошибка, которая иногда проскакивает где угодно, а систематическая, сидящая в одной точке: там, где текст правила и его формальное толкование расходятся. В остальном диапазоне, сколь угодно близко к границе, модель безупречна.</a:t>
            </a:r>
          </a:p>
          <a:p/>
          <a:p>
            <a:r>
              <a:t>Разницу между «случайной ошибкой» и «систематической ошибкой ровно на границе» решение, уже показанное на схеме, и устраняет структурно: </a:t>
            </a:r>
            <a:r>
              <a:rPr>
                <a:latin typeface="Consolas"/>
              </a:rPr>
              <a:t>IF</a:t>
            </a:r>
            <a:r>
              <a:t>-узел меняет саму точку, где принимается решение, а не снижает частоту ошибки в ней. Дальше — как этот узел выглядит в настоящей настройке, рядом с промптом версии один для контраста.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Настройка узла, который заменил решение модели в версии два, — и рядом открытая панель промпта версии один, который он заменил. Оба кадра сняты с живого стенда, и ради контраста их стоило положить рядом.</a:t>
            </a:r>
          </a:p>
          <a:p/>
          <a:p>
            <a:r>
              <a:t>Слева — узел </a:t>
            </a:r>
            <a:r>
              <a:rPr>
                <a:latin typeface="Consolas"/>
              </a:rPr>
              <a:t>IF</a:t>
            </a:r>
            <a:r>
              <a:t>, названный по-русски для удобства, «Amount over threshold?» по смыслу. Условие внутри него одно: извлечённая сумма, уже число, а не текст, сравнивается с тремя тысячами строгим «больше». Если условие верно — заявка идёт по ветке «эскалировать». Если нет — по ветке «одобрить». Это операция сравнения чисел, и пространства для толкования у неё нет: либо число больше другого числа, либо нет.</a:t>
            </a:r>
          </a:p>
          <a:p/>
          <a:p>
            <a:r>
              <a:t>Справа — та самая панель узла </a:t>
            </a:r>
            <a:r>
              <a:rPr>
                <a:latin typeface="Consolas"/>
              </a:rPr>
              <a:t>Decide refund (model)</a:t>
            </a:r>
            <a:r>
              <a:t>, версия один, как она реально стояла в настройке. В открытом поле </a:t>
            </a:r>
            <a:r>
              <a:rPr>
                <a:latin typeface="Consolas"/>
              </a:rPr>
              <a:t>Prompt (User Message)</a:t>
            </a:r>
            <a:r>
              <a:t> — текст: «Правило: не возвращай больше 3000 рублей автоматически, иначе эскалируй руководителю. Сумма запроса: {{ $json.output.amount_rub }} рублей. Ответь строго одним словом: «одобрить» или «эскалировать».» На экране это поле обрезано по высоте самим интерфейсом n8n — видна не вся строка, здесь она договорена полностью. В этом тексте формально есть то же самое сравнение — «не больше 3000», — но живёт оно только как часть смысла предложения, которое модель должна понять и применить. У модели нет отдельного шага «сравнить два числа»: есть один шаг «прочитать правило и сумму вместе и сформулировать ответ». Внутри этого одного шага девять раз из ста одного правило и его трактовка и расходились — ровно на границе, там, где текст можно прочитать двояко.</a:t>
            </a:r>
          </a:p>
          <a:p/>
          <a:p>
            <a:r>
              <a:t>Вот и вся разница между решением, принятым кодом, и решением, принятым текстовым пониманием: положили рядом, и ни одного слова о том, какая версия лучше, не понадобилось — разницу видно по самой форме настройки. Слева — число сравнивается с числом. Справа — число спрятано внутри фразы, которую нужно понять целиком, чтобы из неё извлечь тот же самый факт.</a:t>
            </a:r>
          </a:p>
          <a:p/>
          <a:p>
            <a:r>
              <a:t>Сумма, которую сравнивает </a:t>
            </a:r>
            <a:r>
              <a:rPr>
                <a:latin typeface="Consolas"/>
              </a:rPr>
              <a:t>IF</a:t>
            </a:r>
            <a:r>
              <a:t>-узел, всё ещё извлечена моделью из свободного текста заявки на предыдущем шаге — этот шаг версия два не меняла. Меняется только то, что происходит после извлечения: было решение текстом, стало условие в коде.</a:t>
            </a:r>
          </a:p>
          <a:p/>
          <a:p>
            <a:r>
              <a:t>Дальше — ещё две настоящие панели настройки: как выглядят параметры узла извлечения суммы и самого условия изнутри, не только снаружи на канвасе.</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предыдущем экране узел </a:t>
            </a:r>
            <a:r>
              <a:rPr>
                <a:latin typeface="Consolas"/>
              </a:rPr>
              <a:t>IF</a:t>
            </a:r>
            <a:r>
              <a:t> был виден снаружи — карточкой на канвасе с именем и двумя ветками. Здесь он изнутри: то, что видит инженер, открыв настройку двойным щелчком.</a:t>
            </a:r>
          </a:p>
          <a:p/>
          <a:p>
            <a:r>
              <a:t>Слева — узел, который достаёт сумму из текста заявки. Он называется «Information Extractor», и задача ему задана не вольной инструкцией, а строгой схемой ответа на двенадцать строк. В схеме один параметр, </a:t>
            </a:r>
            <a:r>
              <a:rPr>
                <a:latin typeface="Consolas"/>
              </a:rPr>
              <a:t>amount_rub</a:t>
            </a:r>
            <a:r>
              <a:t>, тип у него — строго число, и он помечен обязательным. Модели внутри этого узла не разрешено вернуть текст, диапазон или слово «примерно»: результат либо проходит схему, либо узел не выполнился. Это тот самый шаг извлечения, который версия два не убирает — сумму по-прежнему достаёт модель, — но результат шага дисциплинирован форматом, а не только просьбой в промпте.</a:t>
            </a:r>
          </a:p>
          <a:p/>
          <a:p>
            <a:r>
              <a:t>Справа — узел, который заменил текстовое решение версии один. Условие у него одно, и читается оно буквально: уже извлечённое число сравнивается с тремя тысячами оператором «больше». Не абзац текста о пороге, а одна строка сравнения — в форме, где у исполнителя нет пространства для толкования. Под условием стоит кнопка «добавить условие»: скрытых правил рядом нет, и то, что видно, и есть всё правило целиком.</a:t>
            </a:r>
          </a:p>
          <a:p/>
          <a:p>
            <a:r>
              <a:t>Отдельно стоит переключатель приведения типов, и выключен он намеренно. Включи его — и условие согласится сравнивать с числом строку, а строка приезжает сюда с предыдущего шага, где её собрала модель: тихое преобразование «три тысячи рублей» в число или в ноль прошло бы без единого следа в журнале. Выключенный переключатель превращает такую ситуацию в честный сбой узла вместо тихо неверного ответа.</a:t>
            </a:r>
          </a:p>
          <a:p/>
          <a:p>
            <a:r>
              <a:t>Эти две панели и текстовый промпт версии один различает не количество слов, а место, где живёт смысл решения. В промпте правило растворено в естественном языке, и модель перечитывает и толкует его заново на каждом прогоне. Здесь правило — поле формы, которое либо заполнено верно, либо подсвечено ошибкой ещё до запуска. Остальная цепочка не изменилась: изменилось ровно то, что видно на этих двух панелях.</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вернуться к сравнению версий — на секунду встанем на сторону клиента: что он видит, когда заявка одобрена автоматически.</a:t>
            </a:r>
          </a:p>
          <a:p/>
          <a:p>
            <a:r>
              <a:t>Вспомним заявку со сцены: «прошу вернуть 2500 рублей за пропущенное занятие». Сумма ниже порога в три тысячи рублей, поэтому и версия один, и версия два одобрили бы её сами, без участия руководителя. Версии различает то, как внутри цепочки принимается это решение; для клиента разницы не видно вовсе.</a:t>
            </a:r>
          </a:p>
          <a:p/>
          <a:p>
            <a:r>
              <a:t>Клиент не открывает никакого отдельного экрана результата, не заходит в личный кабинет и не ждёт письма с вложением. В чат, где он уже переписывался с учебным центром, приходит одно короткое сообщение — вот оно, целиком: «Здравствуйте! Ваш запрос на возврат рассмотрен: одобрено. Сумма: 2500 ₽. Деньги вернутся на карту в течение трёх рабочих дней.» Один пузырь, без вложений и без кнопок — ровно как и в первом кейсе этого занятия, где такое же короткое уведомление приходило в уже существующий чат. Число в нём не вписано руками: это подстановка того значения, которое из текста заявки достала модель извлечения.</a:t>
            </a:r>
          </a:p>
          <a:p/>
          <a:p>
            <a:r>
              <a:t>А вот чего в этом сообщении нет. Нет имени узла, который принял решение; нет слова «порог» и числа «три тысячи»; нет внутреннего идентификатора заявки или прогона цепочки — ничего из того, что мы только что разбирали на схеме и в настройке узла. Это та же граница, о которой курс говорит с самого начала: служебные детали живут в наших разборах и в документации производства, а на экране, который видит реальный человек, — только то, что ему нужно знать, чтобы понять: деньги уже у него.</a:t>
            </a:r>
          </a:p>
          <a:p/>
          <a:p>
            <a:r>
              <a:t>И к версии два это не привязано. Реши версия один, с её текстовым промптом, одобрить ту же заявку — клиент увидел бы ровно то же сообщение: всё, что меняется между версиями, происходит до этого экрана, внутри цепочки, а не в интерфейсе клиента. Версии различает надёжность самого решения, а не то, что в итоге получает человек.</a:t>
            </a:r>
          </a:p>
          <a:p/>
          <a:p>
            <a:r>
              <a:t>Вопрос на дальше: если бы сумма заявки случайно совпала с порогом в три тысячи рублей — а мы только что видели, где версия один раз за разом ошибалась, — пришло бы клиенту то же сообщение или другое, про передачу заявки руководителю? Ответ на него — в сравнении, к которому мы сейчас и возвращаемся.</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Итоговое сравнение, и вся его сила в том, на чём оно построено. Это не новый тест, собранный под версию два, чтобы она выглядела хорошо, а тот же расширенный набор из ста одного запроса: пятьдесят один исходный, на котором мы впервые нашли проблему, и пятьдесят новых, сложнее первых, добавленных ради проверки находки на более трудных формулировках. Версия два прогнана ровно на нём же.</a:t>
            </a:r>
          </a:p>
          <a:p/>
          <a:p>
            <a:r>
              <a:t>Первая строка — число ошибок. Версия один — девять из ста одного. Версия два — ноль. Не «меньше» — ноль. И ноль на наборе, который включает плотный кластер сумм у границы, суммы в двадцати рублях от неё с обеих сторон, тексты с двумя числами и формулировки, где сумма получается арифметикой, а не названа прямо: набор даёт ошибке максимум шансов проявиться, если она есть.</a:t>
            </a:r>
          </a:p>
          <a:p/>
          <a:p>
            <a:r>
              <a:t>Вторая строка — поведение на границе, из-за которого всё и затевалось. На сумме ровно три тысячи рублей — независимо от того, пришла она прямым числом или арифметикой внутри текста — версия один отвечала «эскалировать», хотя правило, если его прочитать внимательно, подразумевает, что саму эту сумму ещё можно одобрить. Версия два на той же сумме отвечает «одобрить», и вовсе не потому, что </a:t>
            </a:r>
            <a:r>
              <a:rPr>
                <a:latin typeface="Consolas"/>
              </a:rPr>
              <a:t>IF</a:t>
            </a:r>
            <a:r>
              <a:t>-узел «понял правило лучше». Условие «строго больше 3000» математически не допускает двойного толкования: число либо больше другого числа, либо нет.</a:t>
            </a:r>
          </a:p>
          <a:p/>
          <a:p>
            <a:r>
              <a:t>Третья строка — вне границы обе версии безупречны, и расширенный набор это подтвердил отдельно: ни суммы в двадцати рублях от порога, ни тексты с отвлекающим вторым числом версию один с толку не сбили. Плоха она была ровно в одной точке. Поэтому и диагноз звучал «систематическая ошибка на границе», а не «ненадёжная модель», а лечение свелось к замене одного узла, не к переписыванию всей цепочки.</a:t>
            </a:r>
          </a:p>
          <a:p/>
          <a:p>
            <a:r>
              <a:t>Так на этом курсе и положено сравнивать решения внутри кейса: версия строится прямым ответом на находку и измеряется на том самом — теперь расширенном — тесте, который эту находку дал и подтвердил. Не два мира, собранные параллельно ради иллюстрации тезиса.</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обобщение — то, что останется, когда числа этого кейса забудутся.</a:t>
            </a:r>
          </a:p>
          <a:p/>
          <a:p>
            <a:r>
              <a:t>Первое: формулировка находки важна буквально, не приблизительно. Сказать «модель иногда вероятностно ошибается» — слишком общо, и о том, где искать проблему в следующий раз, это не говорит ничего. Точная формулировка другая: модель систематически промахивается именно на границе условия — там, где текст правила и его формальное толкование расходятся, а во всём остальном диапазоне ведёт себя безупречно. Разница между «иногда ошибается» и «систематически промахивается на границе» — это разница между «нужно больше проверок везде» и «нужно проверить ровно одну точку».</a:t>
            </a:r>
          </a:p>
          <a:p/>
          <a:p>
            <a:r>
              <a:t>Отсюда и класс задачи, который уносят с собой. Если решение выражается условием над уже структурированным значением — число больше или меньше другого числа, дата раньше или позже другой даты, статус входит в список или не входит, — такое решение не задача модели в точке принятия решения. Модель может оставаться нужной раньше в цепочке, там, где требуется разобрать свободный текст и достать из него значение. Но сам момент сравнения — это код, и только код.</a:t>
            </a:r>
          </a:p>
          <a:p/>
          <a:p>
            <a:r>
              <a:t>И практический вывод, который работает за пределами возврата денег: граничные значения проверяют прогоном первыми, прежде чем доверять любому правилу на пороге. Не середину диапазона, где обычно всё хорошо, а границу — там формулировка правила и её трактовка расходятся чаще всего.</a:t>
            </a:r>
          </a:p>
          <a:p/>
          <a:p>
            <a:r>
              <a:t>Тот же урок встречался в кейсе про уведомления и в кейсе про повторные обращения; здесь измерение дало ему точность: проверяйте не «крайние случаи» вообще, а ту точку, где человеческая формулировка правила и буквальное условие могут не совпасть. Такая точка есть у любого порога, который кто-то когда-то написал словами.</a:t>
            </a:r>
          </a:p>
          <a:p/>
          <a:p>
            <a:r>
              <a:t>И ещё один штрих, который измерение добавило к обобщению. Переформулировка правила яснее — одно из четырёх разобранных действий — на практике убрала эту ошибку целиком: сто из ста на расширенном наборе. Выводу «решение должно быть кодом» это не противоречит, а уточняет его. Уточнённая формулировка — измеренное улучшение КОНКРЕТНОГО промпта на КОНКРЕТНОМ наборе, а не структурная гарантия: ничто в архитектуре не исключает, что другая формулировка, другая модель или её будущее обновление разойдутся с правилом снова, только в другом месте. </a:t>
            </a:r>
            <a:r>
              <a:rPr>
                <a:latin typeface="Consolas"/>
              </a:rPr>
              <a:t>IF</a:t>
            </a:r>
            <a:r>
              <a:t>-узел устраняет саму категорию такой ошибки: сравнение числа с числом в коде не нуждается в повторной проверке каждый раз, когда меняется формулировка или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прежде чем унести вывод кейса как абсолютное правило.</a:t>
            </a:r>
          </a:p>
          <a:p/>
          <a:p>
            <a:r>
              <a:t>Первый — про калькулятор, который мы обсуждали среди четырёх карточек вопроса. Дать модели инструмент для сравнения чисел и поставить </a:t>
            </a:r>
            <a:r>
              <a:rPr>
                <a:latin typeface="Consolas"/>
              </a:rPr>
              <a:t>IF</a:t>
            </a:r>
            <a:r>
              <a:t>-узел после извлечения — вещи разные. В прошлый раз мы это только утверждали: вероятностность не исчезает, она переезжает на шаг раньше, туда, где модель решает, вызывать ли калькулятор и как передать в него значения. Теперь утверждение проверено прогоном — собрали агента с настоящим инструментом-калькулятором и прогнали его на той же сотне запросов. Результат вышел не только «не гарантией», а измеримо худшим из всех вариантов: пятьдесят шесть правильных ответов из ста. И нашлись отказы, которых никто не закладывал специально: встроенный калькулятор n8n не умеет сравнивать числа, только считать арифметику, и в одном случае из девяти честно отвечал «не знаю, как это сделать»; треть ответов агента не свелась к чистому слову «одобрить» или «эскалировать»; почти десятая часть ошибок рассыпалась по всему диапазону сумм, а не сидела аккуратно на границе, как у версии один. Инструмент у модели проблему не снимает, а переносит, и теперь за этим стоит не только довод, но и число.</a:t>
            </a:r>
          </a:p>
          <a:p/>
          <a:p>
            <a:r>
              <a:t>Второй — про сам порог. Три тысячи рублей сейчас живут в двух местах: в тексте промпта версии один и в условии </a:t>
            </a:r>
            <a:r>
              <a:rPr>
                <a:latin typeface="Consolas"/>
              </a:rPr>
              <a:t>IF</a:t>
            </a:r>
            <a:r>
              <a:t>-узла версии два. Изменится когда-нибудь порог — скажем, на три тысячи пятьсот, — и кто-то поправит его в одном месте, забыв про другое: получится ровно та же проблема, что с контрактом между шагами, который мы разбирали в прошлых кейсах этой дуги. Два места, которые должны совпадать, и ничего, что бы это гарантировало. Порог обязан иметь ровно один источник правды.</a:t>
            </a:r>
          </a:p>
          <a:p/>
          <a:p>
            <a:r>
              <a:t>Третий отвечает прямо на карточку вопроса про явное числовое поле формы. Модель, которая извлекает сумму из свободного текста, всё ещё может ошибиться: прочитать не ту цифру, перепутать сумму из одного предложения с суммой из другого. Вывод кейса не «модель нигде не нужна в этом процессе», а точнее: «модель не должна быть точкой, где принимается решение». Если форму запроса можно изменить, явное числовое поле убирает и риск неверного извлечения — сумма приходит уже структурированной, и достраивать её из текста не нужно вовсе. Но если источник — письмо или чат, а не форма, которую мы контролируем, извлечение остаётся задачей модели, и его собственная точность — отдельный вопрос, не закрытый этим решением.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с которым этот кейс уносят в свою работу, не помня ни одной цифры и ни одного имени узла.</a:t>
            </a:r>
          </a:p>
          <a:p/>
          <a:p>
            <a:r>
              <a:t>Решение обязано быть кодом тогда, когда его можно сформулировать как условие над уже структурированным значением: число больше или меньше порога, дата раньше или позже определённой отметки, статус входит в заранее известный список или нет. Если условие записывается на бумаге без единого слова неоднозначности — ему не место в тексте, который модель должна понимать и трактовать. Ему место в коде, где у сравнения нет пространства для двух прочтений.</a:t>
            </a:r>
          </a:p>
          <a:p/>
          <a:p>
            <a:r>
              <a:t>И есть более сильная версия того же критерия, на шаг раньше по цепочке: если получится — устранить саму потребность в извлечении значения. Если источник данных можно сделать структурированным с самого начала, как это может быть с формой заявки, сравнение становится простым не потому, что мы научили код сравнивать числа — он и так это умел, — а потому что перестаёт существовать сам момент, где из свободного текста нужно что-то доставать.</a:t>
            </a:r>
          </a:p>
          <a:p/>
          <a:p>
            <a:r>
              <a:t>Теперь — закрытие оси этого занятия применительно к третьему кейсу. Ось спрашивает: где в цепочке решение принимает модель, а где должен — код, и что молчит, когда эту границу не назвали явно. Здесь ответ измеренный, не общий: решение, оставленное модели, обходило собственное правило в измеренной доле прогонов — девять из ста одного на расширенном наборе, и ровно в одной точке, на границе условия, не где попало. Решение, отданное алгоритмическому гейту на том же самом тесте, — ноль из ста одного, то есть никогда. Разница между «измеримо редко» и «никогда» — это и есть вся дистанция между решением, которое доверяют модели, и решением, которое доверяют коду, применительно к пороговым условиям.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цитата принадлежит не аналитику, а генеральному директору компании, который сам объявляет об остановке целого направления бизнеса.</a:t>
            </a:r>
          </a:p>
          <a:p/>
          <a:p>
            <a:r>
              <a:t>Zillow — крупнейший агрегатор объявлений о недвижимости в США, и с 2018 года у компании было отдельное направление Zillow Offers, второе название — iBuying. Работало оно просто. Алгоритмическая модель Zestimate оценивала дом по открытым данным; компания покупала дом по этой цене почти мгновенно, делала минимальный ремонт и быстро перепродавала, зарабатывая на разнице. Схема работала, пока рынок жилья вёл себя так, как закладывала модель на исторических данных.</a:t>
            </a:r>
          </a:p>
          <a:p/>
          <a:p>
            <a:r>
              <a:t>Осенью 2021 года Zillow объявила об остановке этого бизнеса целиком. Три числа на экране — не оценки журналистов, а прямые данные из отчётности перед SEC, и у каждого есть продолжение. Списание стоимости запасов домов — $304,4 млн за один третий квартал 2021 года; по итогам всего года набежало $407,9 млн. Сокращение штата — около двух тысяч человек, примерно четверть всех работавших в компании. Средний убыток в $80 000 на дом считается так: только за тот же третий квартал Zillow купила 9680 домов, а продать успела лишь 3032, и на каждом проданном в среднем потеряла эту сумму.</a:t>
            </a:r>
          </a:p>
          <a:p/>
          <a:p>
            <a:r>
              <a:t>Этот разбор стоит сразу после «Одобрения возврата» не случайно. Там правило о пороге суммы возврата жило в тексте промпта, а не в условии кода, и модель обходила его в измеренной доле прогонов — ровно на границе условия. У Zillow форма пропуска была та же. Порог риска, выше которого стоило бы остановить автоматическую покупку или передать решение человеку, существовал не обязательным условием в контуре, а ожиданием, что модель справится, — ведь справлялась раньше. Разница только в масштабе: там это один разговор с клиентом, здесь — покупка дома за настоящие деньги, и таких решений принимали тысячи подряд.</a:t>
            </a:r>
          </a:p>
          <a:p/>
          <a:p>
            <a:r>
              <a:t>На следующем экране — схема того, как этот контур был устроен на самом деле: без обязательного гейта и без короткого интервала проверки. А вопрос после неё будет не про то, можно ли было предсказать волатильность рынка заранее, — а про то, чего не хватало в самом контуре принятия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 экране — тот же приём, которым мы уже сравнивали устройство решения в кейсе «Уведомления»: там одна полоса показывала цепочку с LLM-узлом, другая — без него. Здесь полоса одна, и на ней — как контур решения о покупке дома был устроен у Zillow.</a:t>
            </a:r>
          </a:p>
          <a:p/>
          <a:p>
            <a:r>
              <a:t>Первый шаг — алгоритмическая оценка Zestimate: модель называет цену дома по открытым данным. Второй шаг — решение о покупке, и здесь первый пропуск: обязательного гейта выше определённого порога риска не стояло. Любая оценка, как далеко ни уходи она от разумного диапазона, двигалась дальше по контуру без остановки.</a:t>
            </a:r>
          </a:p>
          <a:p/>
          <a:p>
            <a:r>
              <a:t>Третий шаг — покупка исполняется: деньги уходят, дом становится активом компании. И здесь второй пропуск, дороже первого: после покупки не было короткого периода мониторинга точности — часов или дней, за которые заметишь, что фактическая цена перепродажи систематически расходится с прогнозом. Такого периода не было вовсе.</a:t>
            </a:r>
          </a:p>
          <a:p/>
          <a:p>
            <a:r>
              <a:t>Из-за этого ошибка не обнаруживалась сразу — она накапливалась незаметно, покупка за покупкой, квартал за кварталом. Видимой она становилась в одной точке — в квартальной отчётности перед SEC. А это исторический архив, который подтверждает, что случилось, а не период контроля, который мог бы это остановить.</a:t>
            </a:r>
          </a:p>
          <a:p/>
          <a:p>
            <a:r>
              <a:t>Архив и период контроля различает не стилистическая тонкость. Архив говорит правду, когда цена ошибки уже реализовалась. Период контроля мог бы остановить закупку по сегменту, пока убыток ещё маленький. У Zillow был только архив.</a:t>
            </a:r>
          </a:p>
          <a:p/>
          <a:p>
            <a:r>
              <a:t>На следующих двух экранах — вопрос и разбор, а дальше — схема того же контура, но с гейтом, которого здесь не было.</a:t>
            </a:r>
          </a:p>
          <a:p/>
          <a:p>
            <a:r>
              <a:t>Ни один из пяти шагов на этой схеме сам по себе не выглядит ошибкой. Оценка по открытым данным — обычная практика. Покупка по расчётной цене — обычная практика. Минимальный ремонт и быстрая перепродажа — тоже обычная практика. Ошибка не в одном шаге: между шагами нет точки, где процесс мог бы остановиться и спросить, надёжна ли эта оценка сейчас. Эту пропавшую точку остановки мы и будем искать в следующем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увидели схему: оценка, покупка без обязательного гейта, ошибка видна только из квартального отчёта. Вопрос: что в этом контуре должно было стоять и не стояло.</a:t>
            </a:r>
          </a:p>
          <a:p/>
          <a:p>
            <a:r>
              <a:t>Zillow Offers покупала дома по алгоритмической оценке и перепродавала их. Модель оценивала цену, решение о покупке принимали почти автоматически — и так тысячи раз подряд, пока рынок вёл себя привычно. В 2021 году рынок жилья повёл себя волатильнее, чем закладывала история: частота ошибки модели выросла резко, а контур решения этого вовремя не поймал.</a:t>
            </a:r>
          </a:p>
          <a:p/>
          <a:p>
            <a:r>
              <a:t>Вопрос: чего не хватало в контуре принятия решения?</a:t>
            </a:r>
          </a:p>
          <a:p/>
          <a:p>
            <a:r>
              <a:t>Четыре карточки. Первая возвращает к точности самого алгоритма — откалибровать модель точнее. Вторая — к наблюдению за моделью в реальном времени, а не раз в квартал: поставить runtime-мониторинг дрейфа с автоматическим порогом остановки. Третья — к тому, кто в итоге отвечает за решение с крупной ставкой: привязать покупку выше определённой суммы риска к конкретному человеку-андеррайтеру. Четвёртая — к самому рынку, а не к контуру решения: заранее знать, что рынок жилья поведёт себя непредсказуемо.</a:t>
            </a:r>
          </a:p>
          <a:p/>
          <a:p>
            <a:r>
              <a:t>Все четыре карточки звучат разумными инженерными шагами, и звучат так намеренно: нелепый вариант отличать от трёх серьёзных не придётся. Придётся понять, какой из четырёх меняет контур решения, а какой меняет лишь формулировку того, что уже было. И не угадывайте по формулировке, какой вариант тут «лишний».</a:t>
            </a:r>
          </a:p>
          <a:p/>
          <a:p>
            <a:r>
              <a:t>Пятнадцать секунд на выбор, потом по рукам.</a:t>
            </a:r>
          </a:p>
          <a:p/>
          <a:p>
            <a:r>
              <a:t>И ещё одно соображение, прежде чем голосовать. Все четыре варианта стоят на одной схеме, которую мы только что видели: оценка, покупка, исполнение, отсутствие интервала проверки, квартальный отчёт. Думайте не про то, что звучит разумно, а про то, какой из четырёх добавил бы на эту схему новый узел или новую точку остановки, а какой переформулировал бы уже нарисованное.</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одному.</a:t>
            </a:r>
          </a:p>
          <a:p/>
          <a:p>
            <a:r>
              <a:t>Откалибровать модель точнее — первое, что приходит в голову, и первое, что причиной не было. Модель Zestimate была откалибрована корректно на исторически стабильных данных: до пандемии её ошибка на срок владения в несколько месяцев держалась в пределах, которые компания считала рабочими. Виновата здесь волатильность рынка, которой не было в обучающей истории, а не калибровка.</a:t>
            </a:r>
          </a:p>
          <a:p/>
          <a:p>
            <a:r>
              <a:t>Не хватало как раз второго — runtime-мониторинга дрейфа с автоматическим порогом остановки, того самого наблюдения за моделью в реальном времени. У рабочей модели, управлявшей закупкой недвижимости на сотни миллионов долларов, не было короткого периода наблюдения за собственной частотой ошибки — часов или дней, которые ловят резкий скачок, пока убыток ещё маленький. Единственным контролем оставалась квартальная отчётность перед SEC — то есть исторический архив, а не период, в котором можно остановиться.</a:t>
            </a:r>
          </a:p>
          <a:p/>
          <a:p>
            <a:r>
              <a:t>Привязать решение выше порога риска к человеку-андеррайтеру — вторая часть того же пробела. Решение о покупке дома выше определённой суммы риска не было структурно привязано ни к одному конкретному человеку: алгоритм решал сам, независимо от размера ставки. Ровно та же форма пропуска, что мы только что разбирали в «Одобрении возврата»: порог суммы возврата там был, алгоритмическим гейтом не стал.</a:t>
            </a:r>
          </a:p>
          <a:p/>
          <a:p>
            <a:r>
              <a:t>Заранее знать, что рынок поведёт себя непредсказуемо, — пожелание, а не инженерное решение. Пандемийная волатильность — настоящий внешний фактор, но не та точка, в которой инженер может что-то изменить.</a:t>
            </a:r>
          </a:p>
          <a:p/>
          <a:p>
            <a:r>
              <a:t>Решает здесь вот что: модель не подвела — подвёл контур вокруг неё. Не было ни короткого периода контроля,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 На следующем экране — схема того же контура, но с гейтом.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Показа на стенде здесь не будет: система чужая и остановленная. Но архитектурное решение называется так же прямо, как в любом нашем кейсе, и схема на экране — та же полоса, что мы рисовали без гейта, только с двумя добавленными узлами.</a:t>
            </a:r>
          </a:p>
          <a:p/>
          <a:p>
            <a:r>
              <a:t>Архитектурная альтернатива состоит из двух частей, и обе работают вместе, не по отдельности. Первая: алгоритмическая оценка остаётся входом в решение, но не самим решением — покупка дома выше определённого порога суммы риска требует финального решения человека-андеррайтера, именно в точке принятия решения, а не постфактум. Вторая: явный circuit breaker на превышение порога отклонения фактической цены продажи от прогнозной — проверяемый еженедельно или чаще, а не поквартально. Как только отклонение переходит порог, автоматическая закупка по этому сегменту встаёт до ручной проверки, а не ждёт следующего отчёта.</a:t>
            </a:r>
          </a:p>
          <a:p/>
          <a:p>
            <a:r>
              <a:t>Тот же приём мы уже видели в «Одобрении возврата»: решение заменяют детерминированным условием там, где оно выражается условием над структурированным значением — суммой риска, отклонением цены. Различаются масштаб условия и масштаб цены, если условие не поставить. В учебном центре гейтом была одна сумма возврата. У Zillow гейтом была каждая покупка дома, а ценой пропуска — не неловкий разговор с клиентом, а реализованный убыток в сотни миллионов долларов.</a:t>
            </a:r>
          </a:p>
          <a:p/>
          <a:p>
            <a:r>
              <a:t>Ни одна из двух частей решения не работает без другой. Человек-андеррайтер без circuit breaker узнаёт о проблеме всё равно из отчётности, если никто не поручил ему проверять отклонение прогноза от факта регулярно. Circuit breaker без человека на решениях с крупной ставкой остановит процесс, но не объяснит, что делать с уже начатыми покупками. Обе части вместе и дают то, чего не хватало в контуре: быстрое обнаружение отклонения и человека, который берёт на себя решение, когда отклонение подтвердилось.</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прямой формой, как и для каждого нашего кейса.</a:t>
            </a:r>
          </a:p>
          <a:p/>
          <a:p>
            <a:r>
              <a:t>Снижать объём автоматизированных решений нужно, когда цена одной ошибки модели измеряется десятками или сотнями тысяч долларов настоящего капитала — не абстрактной метрики, а денег, которые компания платит буквально. У Zillow одна ошибка — дом, купленный по неверной цене, а не точка на графике.</a:t>
            </a:r>
          </a:p>
          <a:p/>
          <a:p>
            <a:r>
              <a:t>Снижать — когда внешние условия показывают растущую волатильность относительно того режима, на котором модель обучена. Пандемийный рынок жилья 2020–2021 годов не был похож на рынок, на истории которого калибровалась модель, и источником ошибки стало это расхождение режимов, а не сама модель.</a:t>
            </a:r>
          </a:p>
          <a:p/>
          <a:p>
            <a:r>
              <a:t>Снижать — когда решение выше определённого порога суммы или риска не привязано структурно ни к одному конкретному человеку: если такой привязки нет, крупная ставка принимается тем же вероятностным контуром, что и мелкая.</a:t>
            </a:r>
          </a:p>
          <a:p/>
          <a:p>
            <a:r>
              <a:t>И снижать — когда единственный контроль качества — отчётность раз в квартал. Квартал — это архив, а не период, в котором можно остановиться до того, как убыток вырастет.</a:t>
            </a:r>
          </a:p>
          <a:p/>
          <a:p>
            <a:r>
              <a:t>Обратная сторона симметрична: если цена ошибки мала, режим стабилен, крупные решения идут через человека и есть работающий мониторинг — можно продолжать масштабировать автоматизацию дальше.</a:t>
            </a:r>
          </a:p>
          <a:p/>
          <a:p>
            <a:r>
              <a:t>И последнее, ради чего этот разбавитель стоит здесь. Мысль та же, что мы уже разобрали на «Одобрении возврата», только в другом масштабе. Там гейтом было решение по одной заявке на возврат, а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компании. Порог существовал в обоих случаях. Алгоритмическим гейтом он не стал ни там, ни там — пока кто-то не проверил это прогоном или отчётом перед SEC.</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кейс сегодняшнего занятия начинается с противоречия, которое не укладывается в голове сразу.</a:t>
            </a:r>
          </a:p>
          <a:p/>
          <a:p>
            <a:r>
              <a:t>Журнал прогона n8n — зелёный. Бинарные данные сформированы. Узел отправки получил от Telegram API положительный ответ. И у координатора в Telegram — ничего не пришло, либо пришло обрезанным.</a:t>
            </a:r>
          </a:p>
          <a:p/>
          <a:p>
            <a:r>
              <a:t>Оба утверждения правдивы одновременно, и в этом суть кейса. Явно и заметно не сломалось ничего: всё, чем мы умеем проверять процесс после трёх предыдущих кейсов, сказало «успех» — а результата у получателя нет. Три предыдущих кейса занятия учили нас ловить отказ модели, повторное обращение и ошибку на границе условия. Ни один из этих трёх приёмов здесь не сработал бы: узел не отказал, повтором тут нечего ловить, условие ни при чём — весь путь прошёл формально безупречно.</a:t>
            </a:r>
          </a:p>
          <a:p/>
          <a:p>
            <a:r>
              <a:t>Потребность маркетинга, из-за которой появилась первая версия цепочки, назовём на следующем экране вместе со всей хронологией: что попросили, что собрали, на чём именно всё сломалось. Здесь, на этом экране, достаточно одного факта — противоречия, с которого начался разбор.</a:t>
            </a:r>
          </a:p>
          <a:p/>
          <a:p>
            <a:r>
              <a:t>Для масштаба: три предыдущих кейса этого занятия добавили в сценарий учебного центра шаблон вместо модели, проверку на повтор и условие вместо текстового правила — три самостоятельных решения, и каждое из них начиналось с жалобы или с измеренной ошибки, которую было видно сразу. Четвёртый кейс начинается иначе: видимых признаков отказа нет вовсе, пока кто-нибудь не сверит журнал прогона с тем, что произошло у получателя.</a:t>
            </a:r>
          </a:p>
          <a:p/>
          <a:p>
            <a:r>
              <a:t>Разберём по порядку, что здесь произошло, почему ни один из прежних приёмов этого не поймал и что с этим делать дальше. Держите в голове одно на весь кейс: всё, чем мы сегодня научились проверять работу цепочки, здесь сказало «успех» — и ошиблось.</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этого кейса начинается с просьбы, не с жалобы, — обычная история доработки уже работающего процесса.</a:t>
            </a:r>
          </a:p>
          <a:p/>
          <a:p>
            <a:r>
              <a:t>Учебный центр уже отправляет координатору текстовое уведомление о новой многотемной заявке — тот самый приём подстановки значений в готовую форму, который мы собрали в кейсе «Уведомления». Маркетинг смотрит на это сухое сообщение и просит: пусть вместо текста уходит карточка — изображение с текстом поверх, в том же канале, в том же уведомлении.</a:t>
            </a:r>
          </a:p>
          <a:p/>
          <a:p>
            <a:r>
              <a:t>Собрали цепочку тем же способом, каким собирают любое расширение. Текст готовит тот же узел подстановки, что и раньше. Следующий шаг забирает картинку по ссылке и получает её как бинарные данные, а не как текстовое поле. Последний шаг отправляет эту картинку в Telegram, а текст уведомления идёт подписью к ней.</a:t>
            </a:r>
          </a:p>
          <a:p/>
          <a:p>
            <a:r>
              <a:t>На тестовых картинках всё работает без единого замечания: карточка собирается, уходит, координатор видит её в Telegram там же, где раньше видел текст. На этом её и включили в работу: проверку, какую мы умели делать, она прошла.</a:t>
            </a:r>
          </a:p>
          <a:p/>
          <a:p>
            <a:r>
              <a:t>А дальше маркетинг прислал первую настоящую карточку для реальной рассылки — не тестовое изображение, а скан высокого разрешения прямо с телефона, заметно крупнее файлов, на которых цепочку проверяли. Прогон, который его обработал, завершился так же, как все предыдущие: журнал n8n зелёный, узел отправки получил от Telegram API положительный ответ, никакой ошибки никто не увидел.</a:t>
            </a:r>
          </a:p>
          <a:p/>
          <a:p>
            <a:r>
              <a:t>А у координатора в Telegram карточки не было — либо сообщение не пришло вовсе, либо пришло обрезанным, без части изображения.</a:t>
            </a:r>
          </a:p>
          <a:p/>
          <a:p>
            <a:r>
              <a:t>Теперь о цене этой сцены. Отказ узла мы ловить умеем ещё с прошлого занятия, повтором и веткой. А здесь — тихая потеря результата ровно там, где всё формальное говорит «успех»: до сих пор у нас не было повода проверять бинарные данные хоть чем-то, кроме самого факта, что они сформировались.</a:t>
            </a:r>
          </a:p>
          <a:p/>
          <a:p>
            <a:r>
              <a:t>Значит, прежде чем звать это решением, надо явно назвать, чему карточка обязана соответствовать — заранее, как требование, а не постфактум, глядя на провал. И требований здесь два, разной природы. Первое — механическое: у файла есть размер, формат, разрешение, и это числа и перечислимые значения, которые можно сравнить с условием. Второе — смысловое, или по содержанию: показывает ли картинка на самом деле то, что должна показывать, а не битую заглушку, чужое изображение или пустой кадр. Разница не формальность: от неё зависит, какой инструмент способен такое требование проверить. Этот вопрос и прозвучит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видели находку: прогон зелёный, а карточка до координатора не дошла. Весь день мы задавали цепочке один и тот же вопрос — решает этот шаг модель или должен решать код. Применим его к картинке.</a:t>
            </a:r>
          </a:p>
          <a:p/>
          <a:p>
            <a:r>
              <a:t>Вопрос: как проверить, что картинка соответствует требованиям?</a:t>
            </a:r>
          </a:p>
          <a:p/>
          <a:p>
            <a:r>
              <a:t>Четыре карточки, и спрашиваем мы сознательно не «что делать, если файл превысит лимит», а какую проверку построить заранее, до того как файл уйдёт дальше. Первая — проверить размер и формат файла перед отправкой, программно: это то же самое действие, что </a:t>
            </a:r>
            <a:r>
              <a:rPr>
                <a:latin typeface="Consolas"/>
              </a:rPr>
              <a:t>IF</a:t>
            </a:r>
            <a:r>
              <a:t>-узел в «Одобрении возврата», только применённое к свойствам файла, а не к сумме. Вторая — проверить, что картинка открывается без ошибок, тоже программно: убедиться, что файл технически исправен, не битый. Третья — проверить, что на картинке действительно то, что нужно показать, моделью с распознаванием изображений: это другая по природе задача, и для неё нужен другой инструмент. Четвёртая — ничего не проверять, довериться узлу отправки: ровно это и произошло в нашей сцене.</a:t>
            </a:r>
          </a:p>
          <a:p/>
          <a:p>
            <a:r>
              <a:t>Первые две карточки и третья — действия разного рода, хоть и похожи формулировкой «проверить». Размер, формат, то, что файл открывается, — свойства, которые можно посчитать и сравнить с числом. Соответствует ли содержимое картинки тому, что нужно показать, — уже не число, а смысл.</a:t>
            </a:r>
          </a:p>
          <a:p/>
          <a:p>
            <a:r>
              <a:t>Выбирайте по тому, какой инструмент способен провести такую проверку: выражается ли она условием над числом — или кому-то, человеку или модели, придётся посмотреть на содержимое.</a:t>
            </a:r>
          </a:p>
          <a:p/>
          <a:p>
            <a:r>
              <a:t>Пятнадцать секунд на выбор, потом по рукам.</a:t>
            </a:r>
          </a:p>
          <a:p/>
          <a:p>
            <a:r>
              <a:t>И сразу второй вопрос, на предсказание — он понадобится через несколько экранов, когда дойдём до настоящего вызова. Файл, который отправляли, весит двенадцать и восемь десятых мегабайта. Предел самого n8n — шестнадцать мегабайт, предел Telegram на фотографию — десять. Дойдёт карточка до координатора или нет? Поставьте на один из двух ответов руками, прежде чем смотреть дальше.</a:t>
            </a:r>
          </a:p>
          <a:p/>
          <a:p>
            <a:r>
              <a:t>Ответ будет настоящим — дословная реплика Telegram про границу размера, на экране. Предсказание «дойдёт» опирается на верное наблюдение: файл прошёл предел инструмента, в котором собрана вся цепочка, а обычно этого хватает. Предсказание «не дойдёт» верно по той причине, которую и стоит унести: пределов здесь два, они принадлежат разным системам и не обязаны совпадать, а дешёвая проверка обязана знать меньший из них.</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карточки вопроса — не четыре равноправных ответа: разбираем их по двум требованиям, названным в постановке, механическому и смысловому.</a:t>
            </a:r>
          </a:p>
          <a:p/>
          <a:p>
            <a:r>
              <a:t>Первая и вторая карточки — проверить размер и формат, проверить, что файл открывается без ошибок, — обе закрывают механическое требование: у файла есть численные и перечислимые свойства, и программа сравнит их с условием так же детерминированно, как </a:t>
            </a:r>
            <a:r>
              <a:rPr>
                <a:latin typeface="Consolas"/>
              </a:rPr>
              <a:t>IF</a:t>
            </a:r>
            <a:r>
              <a:t>-узел в «Одобрении возврата» сравнивал сумму с порогом. Это код, и только код: модель здесь не нужна и ничего не добавит.</a:t>
            </a:r>
          </a:p>
          <a:p/>
          <a:p>
            <a:r>
              <a:t>Третья карточка — проверить, что на картинке то, что нужно показать, — закрывает смысловое требование, и здесь честный ответ другой: такого шага в нашей цепочке сегодня нет. Оценить, что на картинке, в принципе способна только модель с распознаванием изображений, и этот уровень не покрыт вовсе.</a:t>
            </a:r>
          </a:p>
          <a:p/>
          <a:p>
            <a:r>
              <a:t>Четвёртая карточка — ничего не проверять — не закрывает ни одно из двух требований, и это ровно то, что произошло в сцене кейса: прогон зелёный, узел отправки получил положительный ответ, а результат у получателя не совпал с ожиданием.</a:t>
            </a:r>
          </a:p>
          <a:p/>
          <a:p>
            <a:r>
              <a:t>Отдельный пример, почему эти два требования нельзя подменить друг другом. Технически исправный файл — правильный размер, правильный формат — всё равно может показывать не то, что нужно. Скажем, узел получения картинки по ссылке получил вместо картинки страницу ошибки хостинга: формат и размер такой страницы механическую проверку пройдут, а содержимое окажется совсем не тем. Тот же урок мы уже видели в «Уведомлениях» и в Zillow, здесь он перенесён на картинку: механическое требование к файлу — задача кода, требование к содержимому — задача для модели, а не отсутствие задачи вовсе.</a:t>
            </a:r>
          </a:p>
          <a:p/>
          <a:p>
            <a:r>
              <a:t>Первая и вторая строки таблицы — один и тот же класс, закрытый сегодня. Третья — класс названный, но не закрытый: дальше посмотрим архитектуру, которая его хотя бы предусматривает, а потом честно собранную цепочку, где его пока нет.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слой решения — архитектурный, без привязки к n8n или Telegram, и он прямо продолжает только что сделанный разбор.</a:t>
            </a:r>
          </a:p>
          <a:p/>
          <a:p>
            <a:r>
              <a:t>Два класса требований с предыдущего экрана становятся на схеме двумя отдельными стрелками. Слева — механическое: у файла есть размер, формат, разрешение, и все три свойства проверяются программно, тем же приёмом, которым мы в «Одобрении возврата» сравнивали сумму с порогом. Проверка идёт до отправки, не после: файл либо проходит условие, либо цепочка останавливает его раньше, чем он уйдёт в Telegram.</a:t>
            </a:r>
          </a:p>
          <a:p/>
          <a:p>
            <a:r>
              <a:t>Справа — смысловое: показывает ли картинка то, что нужно. Узла под эту стрелку в нашей сегодняшней цепочке нет, и мы показываем это пробелом, а не фиктивным блоком. Оценить содержимое изображения в принципе способна только модель с распознаванием изображений, и её сегодня в цепочке нет.</a:t>
            </a:r>
          </a:p>
          <a:p/>
          <a:p>
            <a:r>
              <a:t>Почему эти две стрелки нарисованы раздельно, а не одной общей проверкой «проверить файл». Код, который проверяет размер и формат, ничего не знает о содержимом: он пропустит файл правильного размера и формата, даже если внутри не то изображение. И наоборот: модель, умеющая оценивать содержимое, — избыточный и дорогой инструмент для вопроса «не превышен ли лимит в байтах», который решается одним сравнением чисел.</a:t>
            </a:r>
          </a:p>
          <a:p/>
          <a:p>
            <a:r>
              <a:t>Это архитектурное правило, не настройка конкретного узла — конкретную настройку увидим на следующем экране, во втором слое.</a:t>
            </a:r>
          </a:p>
          <a:p/>
          <a:p>
            <a:r>
              <a:t>Форму этой схемы стоит удержать в голове: сегодня мы видели её уже дважды. В «Уведомлениях» разводили шаг, который сочиняет текст, и шаг, который подставляет значения; в «Одобрении возврата» — текстовое правило и условие над числом. Здесь то же разведение применено к файлу: одна его сторона (размер, формат) формализуется и проверяется кодом, другая (содержимое) формализации не поддаётся и требует инструмента, который умеет смотреть на изображение, а не только измерять его.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открывать панели настройки — один кадр шире, чтобы увидеть, откуда эти три узла берутся на холсте.</a:t>
            </a:r>
          </a:p>
          <a:p/>
          <a:p>
            <a:r>
              <a:t>Это настоящий канвас живого стенда, тот же воркфлоу, что и на следующем экране, только в кадре чуть больше контекста. Слева </a:t>
            </a:r>
            <a:r>
              <a:rPr>
                <a:latin typeface="Consolas"/>
              </a:rPr>
              <a:t>Write row</a:t>
            </a:r>
            <a:r>
              <a:t> — узел, который записывает заявку в таблицу, и </a:t>
            </a:r>
            <a:r>
              <a:rPr>
                <a:latin typeface="Consolas"/>
              </a:rPr>
              <a:t>Result screen</a:t>
            </a:r>
            <a:r>
              <a:t> — экран, которым обычная форма заканчивается. Тот же путь приёма заявки, что мы уже видели на холсте Кейса 1: форма, извлечение полей, проверка по словарю тем, запись строки. Заново он здесь не разбирается — просто виден слева, потому что эта часть процесса не изменилась.</a:t>
            </a:r>
          </a:p>
          <a:p/>
          <a:p>
            <a:r>
              <a:t>А изменившееся видно на самой стрелке. От той же точки, сразу после </a:t>
            </a:r>
            <a:r>
              <a:rPr>
                <a:latin typeface="Consolas"/>
              </a:rPr>
              <a:t>Write row</a:t>
            </a:r>
            <a:r>
              <a:t>, уходит вторая стрелка — вверх, к узлу </a:t>
            </a:r>
            <a:r>
              <a:rPr>
                <a:latin typeface="Consolas"/>
              </a:rPr>
              <a:t>Compose notification (template)</a:t>
            </a:r>
            <a:r>
              <a:t>. Раньше, в Кейсе 1, из этой точки получатель видел только текстовое сообщение. Теперь к тому же месту процесса пристроена новая ветка: </a:t>
            </a:r>
            <a:r>
              <a:rPr>
                <a:latin typeface="Consolas"/>
              </a:rPr>
              <a:t>Compose notification (template)</a:t>
            </a:r>
            <a:r>
              <a:t> → </a:t>
            </a:r>
            <a:r>
              <a:rPr>
                <a:latin typeface="Consolas"/>
              </a:rPr>
              <a:t>Fetch card image (HTTP)</a:t>
            </a:r>
            <a:r>
              <a:t> → </a:t>
            </a:r>
            <a:r>
              <a:rPr>
                <a:latin typeface="Consolas"/>
              </a:rPr>
              <a:t>Send card (Telegram photo)</a:t>
            </a:r>
            <a:r>
              <a:t> — три узла, которые мы разберём по одному на следующих экранах. Это и есть честный ответ на вопрос «где в настоящем процессе появляется кейс 4»: веткой из уже существующей точки, не рядом и не вместо.</a:t>
            </a:r>
          </a:p>
          <a:p/>
          <a:p>
            <a:r>
              <a:t>И честно про то, что осталось за кадром. Правее по той же обвязке есть ещё одна ветка, на случай если модель не смогла разобрать заявку, — тоже настоящая, тоже часть этого воркфлоу, но она про приём заявки, а не про сборку и отправку карточки, и сегодня не в фокусе. Канвас не заканчивается там, где заканчивается кадр: он продолжается, только не в сторону нашего разбора.</a:t>
            </a:r>
          </a:p>
          <a:p/>
          <a:p>
            <a:r>
              <a:t>Теперь, когда видно, откуда растут эти три узла, — кадр ближе: та же цепочка, но с настоящей проверкой границы размера, которая и привела нас в этот кейс.</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слой — та же архитектура, собранная в n8n тремя конкретными узлами, и настоящая проверка той границы, о которой говорил первый слой.</a:t>
            </a:r>
          </a:p>
          <a:p/>
          <a:p>
            <a:r>
              <a:t>Первый узел — тот же приём подстановки значений, что мы настраивали в кейсе «Уведомления»: одно выражение, которое собирает текст уведомления из уже известных полей заявки. Второй узел забирает картинку по ссылке; важная деталь настройки — формат ответа указан как файл, а не как текст или JSON: с этого момента содержимое узла — бинарные данные. Третий узел — отправка в Telegram в режиме отправки фото, на входе у него бинарные данные картинки и подпись — текст из первого узла. Теперь о том, чего в этой цепочке нет. Модель не появляется ни на одном из трёх шагов, и отдельного узла проверки размера или формата здесь тоже нет: правило первого слоя живёт пока на уровне архитектуры, не внутри узла, — и мы это показываем, а не маскируем.</a:t>
            </a:r>
          </a:p>
          <a:p/>
          <a:p>
            <a:r>
              <a:t>Поэтому границу проверили настоящим вызовом. Ограничение самого n8n по умолчанию — 16 МБ на бинарные данные. Ограничение Telegram на фото — отдельное и более узкое: 10 485 760 байт, то есть 10 МБ. Собрали намеренно несжатый файл ровно между этими двумя порогами — 12 812 355 байт, около 12,8 МБ: меньше лимита n8n, но больше лимита Telegram на фото. Отправили его напрямую через Telegram Bot API — тем же вызовом, которым пользуется узел отправки внутри цепочки.</a:t>
            </a:r>
          </a:p>
          <a:p/>
          <a:p>
            <a:r>
              <a:t>Ответ пришёл настоящий, не придуманный для примера: файл такого-то размера слишком велик для фото, максимальный размер — столько-то байт. Telegram прямо называет и размер, и предел: явная, читаемая ошибка, а не тишина. И это уточняет то, что мы видели в сцене кейса — там карточка пропадала тихо, потому что проблема на границе n8n чаще так и выглядит, а сам Telegram на своей границе отвечает явным текстом. Проверка размера внутри цепочки не вправе рассчитывать, что хоть одна из двух сторон честно сообщит об ошибке.</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узла цепочки изнутри — настройка каждого, открытая на живом стенде.</a:t>
            </a:r>
          </a:p>
          <a:p/>
          <a:p>
            <a:r>
              <a:t>Левая панель — </a:t>
            </a:r>
            <a:r>
              <a:rPr>
                <a:latin typeface="Consolas"/>
              </a:rPr>
              <a:t>Compose notification (template)</a:t>
            </a:r>
            <a:r>
              <a:t>, первый шаг. На прошлом экране прозвучало, что он собирает текст тем же приёмом подстановки значений, что мы настраивали в кейсе «Уведомления». На слово это принимать не надо: в поле </a:t>
            </a:r>
            <a:r>
              <a:rPr>
                <a:latin typeface="Consolas"/>
              </a:rPr>
              <a:t>notification_text</a:t>
            </a:r>
            <a:r>
              <a:t> стоит ровно то же выражение, что уже было на экране в Кейсе 1. Разбирать его заново смысла нет — разобрали там. А вот увидеть, что узел буквально тот же, а не переписанный с нуля под новую задачу, стоило прямо здесь.</a:t>
            </a:r>
          </a:p>
          <a:p/>
          <a:p>
            <a:r>
              <a:t>Средняя панель — </a:t>
            </a:r>
            <a:r>
              <a:rPr>
                <a:latin typeface="Consolas"/>
              </a:rPr>
              <a:t>Fetch card image (HTTP)</a:t>
            </a:r>
            <a:r>
              <a:t>. Метод запроса GET, адрес виден буквально: </a:t>
            </a:r>
            <a:r>
              <a:rPr>
                <a:latin typeface="Consolas"/>
              </a:rPr>
              <a:t>picsum.photos</a:t>
            </a:r>
            <a:r>
              <a:t> с размером восемьсот на четыреста пятьдесят — настоящий публичный сервис тестовых картинок, не выдуманный для примера. Ниже на той же панели, уже за границей кадра, стоят четыре выключенных переключателя — аутентификация, параметры запроса, заголовки, тело, — их никто не трогал. А следующая за ними настройка решает многое: формат ответа указан как </a:t>
            </a:r>
            <a:r>
              <a:rPr>
                <a:latin typeface="Consolas"/>
              </a:rPr>
              <a:t>File</a:t>
            </a:r>
            <a:r>
              <a:t>, не как текст и не как JSON. С этого поля содержимое узла и становится двоичными данными — вот вся разница между «скачать картинку» и «скачать текст, в котором случайно оказалась ссылка на картинку». Имя поля, куда узел кладёт эти данные, — </a:t>
            </a:r>
            <a:r>
              <a:rPr>
                <a:latin typeface="Consolas"/>
              </a:rPr>
              <a:t>data</a:t>
            </a:r>
            <a:r>
              <a:t>.</a:t>
            </a:r>
          </a:p>
          <a:p/>
          <a:p>
            <a:r>
              <a:t>Правая панель — </a:t>
            </a:r>
            <a:r>
              <a:rPr>
                <a:latin typeface="Consolas"/>
              </a:rPr>
              <a:t>Send card (Telegram photo)</a:t>
            </a:r>
            <a:r>
              <a:t>. Выбрана операция отправки фотографии, а не текстового сообщения: в Telegram это два разных вызова, и узел, настроенный на текст, картинку просто не возьмёт. За границей кадра на той же панели — учётные данные бота, числовой адресат, включённый переключатель двоичного файла с именем входного поля </a:t>
            </a:r>
            <a:r>
              <a:rPr>
                <a:latin typeface="Consolas"/>
              </a:rPr>
              <a:t>data</a:t>
            </a:r>
            <a:r>
              <a:t> (то самое имя, которое задал предыдущий узел) и подпись к фотографии, взятая из выражения первого узла цепочки.</a:t>
            </a:r>
          </a:p>
          <a:p/>
          <a:p>
            <a:r>
              <a:t>Задержитесь на имени поля. Эти три узла соединены не только стрелкой на холсте: средний кладёт двоичные данные в поле с именем </a:t>
            </a:r>
            <a:r>
              <a:rPr>
                <a:latin typeface="Consolas"/>
              </a:rPr>
              <a:t>data</a:t>
            </a:r>
            <a:r>
              <a:t>, правый там же их и ищет. Поменяйте имя в одном месте и не поменяйте в другом — стрелка на холсте останется, а картинка исчезнет. Вот первый вид связи, которого в цепочке не видно глазами.</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секунду: что мы собрали на предыдущем экране — и что просил маркетинг в начале кейса.</a:t>
            </a:r>
          </a:p>
          <a:p/>
          <a:p>
            <a:r>
              <a:t>Маркетинг попросил карточку: текст поверх картинки, в одном изображении. А цепочка, которую мы настроили, делает другое: забирает готовую картинку по ссылке и кладёт текст уведомления подписью к ней, отдельным текстовым полем сообщения Telegram. Это работает, Telegram покажет текст рядом с фотографией — но не внутри изображения, а «карточка с текстом поверх картинки» значит именно внутри. Эту разницу молчанием не стирают.</a:t>
            </a:r>
          </a:p>
          <a:p/>
          <a:p>
            <a:r>
              <a:t>Чтобы получить настоящую карточку — изображение, в котором текст физически встроен в пиксели, — нужен отдельный шаг. Обычный узел «забрать файл по ссылке» тут не годится: он умеет скачивать готовую картинку, а не рисовать на ней. Нужна специализированная генерирующая модель: на вход — текст уведомления и задача «сделай из этого текста читаемое изображение», на выход — файл с текстом уже внутри. Перед вами эта ветка на холсте: шаблон собирает текст, следующий узел зовёт модель, дальше перекодировка, дальше отправка фотографии.</a:t>
            </a:r>
          </a:p>
          <a:p/>
          <a:p>
            <a:r>
              <a:t>Теперь цена, и это не прайс, а счёт. Шаг собран и прогнан, сервис в каждом ответе возвращает стоимость вызова: три целых девять сотых цента за карточку. Готовясь к занятию, я брал её из публичного прайса сопоставимой модели — выходило три с половиной цента. Порядок угадан, число нет: прайсовая оценка оказалась ниже счёта на четырнадцать процентов. Ровно в этом разница между «взяли чужой прайс» и «позвали и посмотрели в счёт», и цена этой разницы тут небольшая только потому, что кейс маленький.</a:t>
            </a:r>
          </a:p>
          <a:p/>
          <a:p>
            <a:r>
              <a:t>Привяжем к объёму. Карточка заменяет уведомление о каждой новой заявке, а этот поток известен из первого кейса — двадцать заявок в день, около шестисот в месяц. Выходит порядка двадцати трёх долларов в месяц. Объём остаётся иллюстративным: в сцене не сказано ни про частоту рассылки, ни про полный переход на карточки. Измерена цена одной карточки, а не объём.</a:t>
            </a:r>
          </a:p>
          <a:p/>
          <a:p>
            <a:r>
              <a:t>И последнее — про формат. Готовясь, я предупреждал: генерирующие модели отдают большой слабо сжатый файл, его придётся ужимать перед отправкой. Предупреждение оказалось верным по факту и неверным по причине. Файл — восемьсот семьдесят килобайт, это в двенадцать раз ниже лимита на фотографию, Telegram принял все карточки и пережал их сам. Перекодировка в цепочке всё равно нужна, но по другой причине: модель отдаёт картинку текстом, а узел отправки принимает бинарное вложение. Проверять размер пришлось бы на картинках вчетверо крупнее — этой моделью мы такие не просили.</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Шаг собран, прогнан, цена измерена. Теперь посмотрим на то, что он выдал, — и это главное, ради чего его стоило собрать.</a:t>
            </a:r>
          </a:p>
          <a:p/>
          <a:p>
            <a:r>
              <a:t>Слева карточка, которую нарисовала модель, — ровно те пиксели, которые дошли до чата. В середине две её строки крупно. Прочитайте первое слово: «зяявка». Третья строка: «перенос заняятия». Справа подпись к этой же фотографии, в этом же сообщении: «Новая заявка от Олег: тема «перенос занятия».» Без единой ошибки.</a:t>
            </a:r>
          </a:p>
          <a:p/>
          <a:p>
            <a:r>
              <a:t>Разница между этими двумя текстами — вся сегодняшняя ось в одном кадре. Подпись собирает шаблон: подставить значение в заготовленную строку — операция механическая, и ошибиться в ней нечем. Текст внутри картинки рисует модель: для неё буквы — это изображение букв, и пишет она их примерно, как пишет всё остальное. При этом модель получала точную строку и прямое требование написать её дословно. Так вышло на всех пяти карточках, которые дошли; на одной из них вдобавок потерялась точка в конце, на другой — буква в слове «оплата» и кавычки поехали на английские.</a:t>
            </a:r>
          </a:p>
          <a:p/>
          <a:p>
            <a:r>
              <a:t>Теперь самое неприятное. Поднимите глаза на цепочку с предыдущего экрана и покажите мне узел, который это поймает. Размер файла — в порядке. Формат — PNG, как и ожидалось. Telegram ответил «принято». Прогон зелёный от начала до конца. Ошибка лежит внутри картинки, в пикселях, а цепочка картинку не читает — она её переносит. Единственная проверка, которая здесь работает, — человек, который откроет чат и посмотрит.</a:t>
            </a:r>
          </a:p>
          <a:p/>
          <a:p>
            <a:r>
              <a:t>И это тот же урок, что в первом кейсе, просто на другом типе данных. Там модель сочинила текст и обратилась к координатору словами из собственной инструкции — узел не упал. Здесь модель нарисовала текст с ошибками — узел снова не упал. Успех шага измеряет сам шаг, а не то, что получил человек; и чем дальше результат от того, что цепочка умеет проверять, тем дороже стоит эта разница.</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про сжатие, назовём порядок, в котором эти два шага должны идти. Порядок здесь не произвольный.</a:t>
            </a:r>
          </a:p>
          <a:p/>
          <a:p>
            <a:r>
              <a:t>Механическая проверка идёт первой. Она дешёвая, быстрая и детерминированная: сравнила размер, формат и разрешение с условием — и либо пропустила файл дальше, либо отклонила его сразу, прежде чем он добрался до чего-то более дорогого. Модель проверки содержимого идёт второй, и только на то, что прошло первую: дорогой вызов модели на файле, который и так не пройдёт по формату, — пустая трата. Это та же экономия, которую мы видели на Кейсе 2: дешёвый механический шаг забирает на себя основную часть работы, а дорогой инструмент достаётся только тому, что действительно нуждается в его оценке.</a:t>
            </a:r>
          </a:p>
          <a:p/>
          <a:p>
            <a:r>
              <a:t>Теперь вопрос, который прямо просили исследовать, а не предположить: стоит ли сжимать картинку перед отправкой в модель-проверяющую. Ответ по общедоступным источникам, не измерение на нашем стенде: умеренное сжатие обычно выгодно и точность заметно не портит. Пример, который приводится в этих источниках: изображение 4032 на 3024 точки без сжатия обходится моделям примерно в полторы тысячи токенов обработки; то же изображение, уменьшенное до 720 на 540 при качестве JPEG 85, — примерно в 300 токенов, то есть впятеро дешевле, и для большинства задач это почти не сказывается на точности.</a:t>
            </a:r>
          </a:p>
          <a:p/>
          <a:p>
            <a:r>
              <a:t>Но есть оговорка, и отбрасывать её молча нельзя. Задачи, где модель должна прочитать текст на изображении — а наша карточка такая, на ней читаемый текст, — от сжатия портятся заметнее прочих. Общая рекомендация — сжимать аккуратно, не опускаясь ниже примерно 1024 точек по большей стороне, если модель должна разобрать текст или цифры на карточке. Сильное сжатие ради лишней экономии здесь не оправдано: ошибка распознавания стоит дороже лишних токенов.</a:t>
            </a:r>
          </a:p>
          <a:p/>
          <a:p>
            <a:r>
              <a:t>В таблице это разложено тремя вариантами действия, а не одним правильным ответом: без сжатия, умеренное и сильное — у каждого своя цена и свой риск. Выбор зависит от того, должна ли модель читать текст на карточке или достаточно оценить картинку в целом.</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вернуться к обобщению кейса — на секунду с другой стороны, глазами координатора, который открывает Telegram.</a:t>
            </a:r>
          </a:p>
          <a:p/>
          <a:p>
            <a:r>
              <a:t>Когда файл укладывается в лимит — а мы только что измерили этот лимит настоящим вызовом API, — координатор не видит ни журнала прогона, ни узла отправки, ни числа байт. Он открывает тот же самый чат уведомлений учебного центра, где и раньше получал текстовые сообщения о новых заявках, в кейсе «Уведомления», и видит в нём фотографию с подписью: «Новая заявка от Мария Величко: тема «перенос занятия», также: оплата.»</a:t>
            </a:r>
          </a:p>
          <a:p/>
          <a:p>
            <a:r>
              <a:t>Эта подпись — не новый текст, придуманный для карточки. Тот же текст, что мы видели в первом кейсе занятия, собранный той же формулой подстановки значений из полей заявки, — вместе с той же её ценой: имя снова стоит в именительном падеже, потому что шаблон подставляет поле как есть. Изменилось одно: теперь он идёт не отдельным сообщением, а подписью к фотографии в том же уведомлении, — ровно то расширение, которое маркетинг попросил в сцене этого кейса.</a:t>
            </a:r>
          </a:p>
          <a:p/>
          <a:p>
            <a:r>
              <a:t>А вот чего на этом экране нет. Нет имени узла, который собрал текст или забрал картинку по ссылке. Нет числа байт и слова «лимит» — чтобы понять «заявка пришла», координатору не нужно знать, где проходит граница. Нет журнала прогона и отметки, что всё «зелёное». Это та же граница, о которой курс говорит с самого начала: служебные детали живут в наших разборах и в документации производства, а на экране реального человека — только то, что ему нужно знать, чтобы понять, что происходит.</a:t>
            </a:r>
          </a:p>
          <a:p/>
          <a:p>
            <a:r>
              <a:t>И это обратная сторона той сцены, с которой кейс начался. Там прогон был зелёным, а у координатора в чате пусто — либо обрезанный файл. Здесь прогон тоже зелёный, но координатор видит целую карточку: на этот раз файл уложился в измеренную границу. Разница между двумя этими состояниями не видна ни в журнале n8n, ни в ответе Telegram API сама по себе — она видна только здесь, в самом чате получателя, и только по одному признаку: дошла картинка целиком или нет.</a:t>
            </a:r>
          </a:p>
          <a:p/>
          <a:p>
            <a:r>
              <a:t>Ради этого и стоило мерить число байт так точно, как мы мерили его на предыдущих экранах: границу размера мерят затем, чтобы координатор каждый раз видел такой чат, а не пустое место вместо карточки.</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Обобщаем то, что разобрали на этом кейсе, и сразу называем, где он заканчивается.</a:t>
            </a:r>
          </a:p>
          <a:p/>
          <a:p>
            <a:r>
              <a:t>Бинарные данные в n8n — отдельная модель данных, а не ещё одно значение в заявке. У текстового поля есть содержимое. У файла — содержимое, размер и формат, и два последних свойства решают, дойдёт ли результат до получателя.</a:t>
            </a:r>
          </a:p>
          <a:p/>
          <a:p>
            <a:r>
              <a:t>Контракт между шагами, который в кейсе «Уведомления» рвался на тексте — узел не падал, а результат тихо оказывался не тем, — здесь рвётся на формате и размере бинарного вложения, по той же причине: формально успешный прогон ничего не говорит о том, дошёл ли результат до получателя в ожидаемом виде. Один урок на двух разных типах данных внутри одного занятия, и совпадением это не назвать: успех шага измеряет сам шаг, а не то, что произошло дальше.</a:t>
            </a:r>
          </a:p>
          <a:p/>
          <a:p>
            <a:r>
              <a:t>И третий разрез того же урока мы видели в этом же кейсе, на сгенерированной карточке: там контракт не порвался вовсе — размер в норме, формат в норме, доставка подтверждена, — а слово внутри изображения всё равно написано неверно. Чем дальше результат от того, что цепочка умеет проверять, тем меньше её зелёный статус о нём говорит.</a:t>
            </a:r>
          </a:p>
          <a:p/>
          <a:p>
            <a:r>
              <a:t>Теперь явная граница, за которую этот кейс сознательно не заходит. Бинарные данные мы ввели на уровне «один файл, один известный лимит, одна отправка»: получить файл, проверить размер и формат, отправить. Хранить множество файлов, искать среди них, отдавать их содержимое модели — векторное хранилище, поиск по изображениям, ответы по содержимому картинок — задача следующего уровня, и здесь мы её намеренно не трогаем. Семинар 10 достраивает ровно то, что сегодня осталось за кадром: не вводит бинарные данные с нуля, а продолжает с того уровня, на котором мы их сегодня оставили.</a:t>
            </a:r>
          </a:p>
          <a:p/>
          <a:p>
            <a:r>
              <a:t>Два уровня различает не сложность инструмента, а сам задаваемый вопрос. Сегодня вопрос был «дойдёт ли этот файл в этом прогоне» — и ответ на него известен заранее целиком, по двум числам: размеру файла и лимиту канала. На следующем уровне вопрос другой — «какой из многих файлов отвечает смыслу запроса» — и у него уже нет ответа, который можно было бы посчитать по двум числам до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класса нюансов, а потом критерий и последняя строка оси.</a:t>
            </a:r>
          </a:p>
          <a:p/>
          <a:p>
            <a:r>
              <a:t>Первый. Собственный лимит n8n по умолчанию на размер бинарных данных — 16 МБ. Для фотографии с текстом этого обычно достаточно, но скан высокого разрешения или фото прямо с телефона — не всегда: так и выглядел файл в нашей сцене.</a:t>
            </a:r>
          </a:p>
          <a:p/>
          <a:p>
            <a:r>
              <a:t>Второй. Лимиты Telegram — отдельный, более узкий потолок, и они разные для фото и для документа. Прошедшее мимо лимита n8n может всё равно не пройти мимо лимита канала доставки: пороги независимы, их два, и проверка одного не освобождает от проверки другого. В нашей сцене они разошлись ровно так: шестнадцать мегабайт у самого n8n против десяти с небольшим у отправки фотографии — файл на двенадцать с лишним мегабайт прошёл первый порог и не прошёл второй.</a:t>
            </a:r>
          </a:p>
          <a:p/>
          <a:p>
            <a:r>
              <a:t>Третий. Ручной прогон с бинарными данными съедает заметно больше памяти, чем автоматический. На текстовых данных мы это видели ещё в прошлом занятии, но на файле разница ощутимее — держите это в уме, если отлаживаете такой узел вживую на своём стенде.</a:t>
            </a:r>
          </a:p>
          <a:p/>
          <a:p>
            <a:r>
              <a:t>Сюда же — отказ, который встретился на шаге генерации карточки. Из шести прогонов один вернул не картинку, а текст — «вот ваша карточка-уведомление для Telegram», и больше ничего. Деньги за вызов списались, картинки не было, цепочка упала на следующем узле с сообщением «первый аргумент должен быть строкой или буфером, получено ничего». Отказ назван — но не тем, чем он был: про то, что модель ничего не нарисовала, в тексте ошибки нет ни слова. Повтор той же заявки прошёл удачно, то есть это и не воспроизводится по требованию. Для нашего разговора важно одно: узел, который ждёт файл, должен уметь сказать вслух «файла не пришло», а не падать на длине чего-то внутри себя.</a:t>
            </a:r>
          </a:p>
          <a:p/>
          <a:p>
            <a:r>
              <a:t>Критерий. Заботиться о бинарных данных как об отдельном контракте нужно всегда, когда по цепочке идёт файл или изображение, а не только текстовые поля: проверить размер перед отправкой и знать лимит канала доставки — базовый уровень, без исключений по типу задачи. Сверх этого занятие не требует ничего — ни в деке, ни в вашем процессе дома: хранить много файлов, искать среди них, отдавать их содержимое модели — следующий уровень, не вводный.</a:t>
            </a:r>
          </a:p>
          <a:p/>
          <a:p>
            <a:r>
              <a:t>Закрываем последнюю строку оси.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всё равно остаётся зелёным.</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заполнили её экраны, которые мы только что видели, а не мои слова.</a:t>
            </a:r>
          </a:p>
          <a:p/>
          <a:p>
            <a:r>
              <a:t>Первая строка. Сообщение ушло координатору, цепочка стала короче и дешевле без LLM — так выглядело решение после первого кейса. Чем оказалось: LLM-узел для сборки уведомления был лишним шагом — то же самое сделал шаблон, без модели, без вариативности и без риска, что текст скажет то, чего в заявке не было вовсе.</a:t>
            </a:r>
          </a:p>
          <a:p/>
          <a:p>
            <a:r>
              <a:t>Вторая строка. Заявка про тот же вопрос пришла снова, и её обработали как новую — пока мы не поставили проверку на повтор. Чем оказалось: без такой проверки каждое повторное обращение запускает всю цепочку с нуля, и ни точное совпадение текста, ни похожесть по общим словам не ловят переформулировку целиком — мы сами посчитали на настоящем тексте ноль общих слов между двумя формулировками одного вопроса. Нужна была проверка смыслом, и только на то, что не отсеялось дешёвым фильтром.</a:t>
            </a:r>
          </a:p>
          <a:p/>
          <a:p>
            <a:r>
              <a:t>Третья строка, самая дорогая по цене доказательства. В промте стояло «не возвращай больше суммы X» — и решение месяц считалось надёжным, потому что жалоб не было. Чем оказалось: решение оставалось вероятностным, и модель обходила правило в измеренной доле прогонов — ровно на границе условия, не случайно. Алгоритмический гейт, условие в коде, на том же эксперименте не ошибся ни разу. А дальше мы увидели ту же форму пропуска на масштабе целой компании: Zillow потеряла четверть штата и сотни миллионов долларов на том же пороге без гейта, который у нас стоил одного неловкого разговора с клиентом.</a:t>
            </a:r>
          </a:p>
          <a:p/>
          <a:p>
            <a:r>
              <a:t>Четвёртая строка. Картинка собралась и ушла в Telegram — выглядело завершённым действием. Чем оказалось: до тех пор, пока файл помещается в лимит. Большой файл уходит не полностью или не уходит вовсе, а прогон при этом остаётся зелёным — тот же контракт, что рвался на тексте в первом кейсе, только здесь он рвётся на размере и формате.</a:t>
            </a:r>
          </a:p>
          <a:p/>
          <a:p>
            <a:r>
              <a:t>Все четыре строки — про одно: где в цепочке решение принимает модель, а где должен принимать код, и что молчит, когда эту границу не назвали явно. Разница между «работает» и «можно ручаться» прошла сегодня по каждому шагу цепочки отдельно, а не по одному узлу.</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что добавилось сегодня к процессу, с которым вы работаете дома.</a:t>
            </a:r>
          </a:p>
          <a:p/>
          <a:p>
            <a:r>
              <a:t>Это тот же файл, продолжение </a:t>
            </a:r>
            <a:r>
              <a:rPr>
                <a:latin typeface="Consolas"/>
              </a:rPr>
              <a:t>student.json</a:t>
            </a:r>
            <a:r>
              <a:t>, с которым вы ушли с прошлого занятия: форма, извлечение полей, справочник, запись в таблицу, экран результата, плюс повтор и ветка отказа. Сегодня к нему добавились четыре решения, и каждое меняет то, что казалось рабочим, на то, за что можно отвечать.</a:t>
            </a:r>
          </a:p>
          <a:p/>
          <a:p>
            <a:r>
              <a:t>Уведомление координатору теперь собирается подстановкой значений в готовую форму, а не отдельным вызовом модели: тот же текст, без риска, что модель добавит в сообщение деталь, которой в заявке не было. Перед записью заявки встала проверка на повтор в два уровня: буквальные повторы отсекаются дёшево и мгновенно, а на остальное идёт вопрос смыслом. Решение о возврате денег теперь принимает условие в коде, а не текстовое правило внутри запроса к модели: тот же порог суммы, но без вероятности ошибиться ровно на границе. А доставка картинки в Telegram теперь проверяет размер файла перед отправкой, а не надеется, что получится само.</a:t>
            </a:r>
          </a:p>
          <a:p/>
          <a:p>
            <a:r>
              <a:t>Поставить так же, как в прошлый раз: меню сценария — импорт из файла. Нужно то же самое, что было нужно для прошлого занятия — свой n8n и ключ провайдера модели, — и дополнительно бот и токен в Telegram, если вы хотите проверить именно уведомления и картинку на своих данных.</a:t>
            </a:r>
          </a:p>
          <a:p/>
          <a:p>
            <a:r>
              <a:t>Просьба на дом та же, что в прошлый раз: прогоните несколько заявок на своей версии, включая повторное обращение и картинку заметно больше обычной, и посмотрите, какое из четырёх решений у вас самого ведёт себя не так, как здесь на экране.</a:t>
            </a:r>
          </a:p>
          <a:p/>
          <a:p>
            <a:r>
              <a:t>И отдельная просьба, потому что сегодняшнее занятие вышло плотнее прошлого: не проверяйте все четыре решения за один вечер. Возьмите одно, ближе к вашей работе, и доведите до того, чтобы объяснить коллеге, почему оно устроено именно так. Остальные три подождут следующей недели.</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сегодняшний день каждый шаг цепочки по очереди получал либо модель, либо код — а путь для любой заявки оставался один: одна и та же последовательность шагов, про что бы заявка ни была. Уведомление собиралось одним способом для всех. Проверка на повтор стояла одна для всех. Решение о возврате принималось одной логикой для любой суммы.</a:t>
            </a:r>
          </a:p>
          <a:p/>
          <a:p>
            <a:r>
              <a:t>Но тема заявки выделена отдельным полем ещё с прошлого занятия, и как только она выделена, видно: заявка про оплату и заявка про перенос занятия должны идти дальше по-разному — одна к бухгалтеру, другая в расписание. Одной дорогой это не делается.</a:t>
            </a:r>
          </a:p>
          <a:p/>
          <a:p>
            <a:r>
              <a:t>На схеме это две строки. Верхняя, бледная, — сегодняшний день: любая заявка, одна цепочка, один выход. Нижняя — то, чего в цепочке пока нет: заявка приходит на развилку, развилка смотрит на тему и выбирает, куда её отправить. Две ветки там названы, а третья нарисована пунктиром — это вход, который не подошёл ни под одну названную ветку. Пунктирная она не от поломки: её никто не выбирал. Она появляется сама, и чаще всего про неё вспоминают, когда по ней уже что-то ушло.</a:t>
            </a:r>
          </a:p>
          <a:p/>
          <a:p>
            <a:r>
              <a:t>Следующее занятие — про развилку. Условие против переключателя: когда ветвление решает одно условие «да или нет», а когда нужен выбор из нескольких веток сразу. Классификация как отдельный шаг цепочки, который определяет, в какую ветку заявка пойдёт дальше. Что делать со входом, который не подошёл ни под одну из названных веток: у инструмента на этот случай есть ответ по умолчанию, и он не всегда тот, что вы ожидаете. И одно скажу заранее, чтобы вы не поверили в обратное сами: ветки, которые на холсте выглядят параллельными, выполняются по очереди, одна за другой, в порядке их положения на экране.</a:t>
            </a:r>
          </a:p>
          <a:p/>
          <a:p>
            <a:r>
              <a:t>Концептуальным разбавителем следующего занятия станет Optum или IRS — ещё один случай, где на кону не разговор с одним клиентом, а решение классификатора, от которого зависит обращение с десятками тысяч людей сразу.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Где решает модель, а где должен — код</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ero-n01.png"/>
          <p:cNvPicPr>
            <a:picLocks noChangeAspect="1"/>
          </p:cNvPicPr>
          <p:nvPr/>
        </p:nvPicPr>
        <p:blipFill>
          <a:blip r:embed="rId2"/>
          <a:stretch>
            <a:fillRect/>
          </a:stretch>
        </p:blipFill>
        <p:spPr>
          <a:xfrm>
            <a:off x="0" y="3979889"/>
            <a:ext cx="12191695" cy="2878111"/>
          </a:xfrm>
          <a:prstGeom prst="rect">
            <a:avLst/>
          </a:prstGeom>
        </p:spPr>
      </p:pic>
      <p:sp>
        <p:nvSpPr>
          <p:cNvPr id="6" name="TextBox 5"/>
          <p:cNvSpPr txBox="1"/>
          <p:nvPr/>
        </p:nvSpPr>
        <p:spPr>
          <a:xfrm>
            <a:off x="822960" y="2170919"/>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второе занятие дуги.</a:t>
            </a:r>
          </a:p>
        </p:txBody>
      </p:sp>
      <p:sp>
        <p:nvSpPr>
          <p:cNvPr id="7" name="TextBox 6"/>
          <p:cNvSpPr txBox="1"/>
          <p:nvPr/>
        </p:nvSpPr>
        <p:spPr>
          <a:xfrm>
            <a:off x="1051560" y="2824715"/>
            <a:ext cx="10058400" cy="941070"/>
          </a:xfrm>
          <a:prstGeom prst="rect">
            <a:avLst/>
          </a:prstGeom>
          <a:noFill/>
        </p:spPr>
        <p:txBody>
          <a:bodyPr wrap="square" lIns="0" rIns="0" tIns="0" bIns="0" anchor="t">
            <a:spAutoFit/>
          </a:bodyPr>
          <a:lstStyle/>
          <a:p>
            <a:pPr algn="ctr">
              <a:lnSpc>
                <a:spcPts val="2470"/>
              </a:lnSpc>
              <a:spcAft>
                <a:spcPts val="400"/>
              </a:spcAft>
            </a:pPr>
            <a:r>
              <a:rPr sz="1900" b="1" i="0">
                <a:solidFill>
                  <a:srgbClr val="FFFFFF"/>
                </a:solidFill>
                <a:latin typeface="Arial"/>
              </a:rPr>
              <a:t>Автоматика отчиталась: всё отправлено. Человек не получил ничего. Сегодня это случится на экране четыре раза — и каждый раз по разной причине.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Входное состояние: процесс с прошлого занятия</a:t>
            </a:r>
          </a:p>
        </p:txBody>
      </p:sp>
      <p:pic>
        <p:nvPicPr>
          <p:cNvPr id="3" name="Picture 2" descr="shov-s7-obzor-klassifikatsii.png"/>
          <p:cNvPicPr>
            <a:picLocks noChangeAspect="1"/>
          </p:cNvPicPr>
          <p:nvPr/>
        </p:nvPicPr>
        <p:blipFill>
          <a:blip r:embed="rId2"/>
          <a:stretch>
            <a:fillRect/>
          </a:stretch>
        </p:blipFill>
        <p:spPr>
          <a:xfrm>
            <a:off x="928602" y="1051560"/>
            <a:ext cx="10331747" cy="3931920"/>
          </a:xfrm>
          <a:prstGeom prst="rect">
            <a:avLst/>
          </a:prstGeom>
        </p:spPr>
      </p:pic>
      <p:sp>
        <p:nvSpPr>
          <p:cNvPr id="4" name="Rounded Rectangle 3"/>
          <p:cNvSpPr/>
          <p:nvPr/>
        </p:nvSpPr>
        <p:spPr>
          <a:xfrm>
            <a:off x="502920" y="541858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54659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настоящий холст n8n, а не схема. У нас есть процесс по классификации входящих обращений — шесть узлов, тот же порядок, те же имена, что и в конце прошлого занятия.</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Та же ступень: цепочка</a:t>
            </a:r>
          </a:p>
        </p:txBody>
      </p:sp>
      <p:pic>
        <p:nvPicPr>
          <p:cNvPr id="3" name="Picture 2" descr="lestnitsa-dugi.png"/>
          <p:cNvPicPr>
            <a:picLocks noChangeAspect="1"/>
          </p:cNvPicPr>
          <p:nvPr/>
        </p:nvPicPr>
        <p:blipFill>
          <a:blip r:embed="rId2"/>
          <a:stretch>
            <a:fillRect/>
          </a:stretch>
        </p:blipFill>
        <p:spPr>
          <a:xfrm>
            <a:off x="502920" y="1129680"/>
            <a:ext cx="11183112" cy="3541318"/>
          </a:xfrm>
          <a:prstGeom prst="rect">
            <a:avLst/>
          </a:prstGeom>
        </p:spPr>
      </p:pic>
      <p:sp>
        <p:nvSpPr>
          <p:cNvPr id="4" name="Rounded Rectangle 3"/>
          <p:cNvSpPr/>
          <p:nvPr/>
        </p:nvSpPr>
        <p:spPr>
          <a:xfrm>
            <a:off x="502920" y="530140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42941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Золотая полоса стоит там же, где и в прошлый раз. Сегодняшние четыре кейса происходят внутри одной и той же ступени: к цепочке добавляют новые шаги, а выше она не поднимается.</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где решает модель, где должен — код</a:t>
            </a:r>
          </a:p>
        </p:txBody>
      </p:sp>
      <p:sp>
        <p:nvSpPr>
          <p:cNvPr id="3" name="Rounded Rectangle 2"/>
          <p:cNvSpPr/>
          <p:nvPr/>
        </p:nvSpPr>
        <p:spPr>
          <a:xfrm>
            <a:off x="502920" y="1743913"/>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6793"/>
            <a:ext cx="75315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8363683" y="1926793"/>
            <a:ext cx="29931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2208860"/>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Rounded Rectangle 6"/>
          <p:cNvSpPr/>
          <p:nvPr/>
        </p:nvSpPr>
        <p:spPr>
          <a:xfrm>
            <a:off x="8381971" y="2282012"/>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25560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56014"/>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Rounded Rectangle 9"/>
          <p:cNvSpPr/>
          <p:nvPr/>
        </p:nvSpPr>
        <p:spPr>
          <a:xfrm>
            <a:off x="8381971" y="2629166"/>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9031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903169"/>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Rounded Rectangle 12"/>
          <p:cNvSpPr/>
          <p:nvPr/>
        </p:nvSpPr>
        <p:spPr>
          <a:xfrm>
            <a:off x="8381971" y="2976321"/>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32503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0323"/>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Rounded Rectangle 15"/>
          <p:cNvSpPr/>
          <p:nvPr/>
        </p:nvSpPr>
        <p:spPr>
          <a:xfrm>
            <a:off x="8381971" y="3323475"/>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444787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50273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585030"/>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Правая колонка закрывается по одной строке — сразу после того кейса, который её закрывает. И каждую строку впишет экран, не мой рассказ.</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Уведомления</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2730"/>
              </a:lnSpc>
              <a:spcAft>
                <a:spcPts val="0"/>
              </a:spcAft>
            </a:pPr>
            <a:r>
              <a:rPr sz="2100" b="0" i="1">
                <a:solidFill>
                  <a:srgbClr val="FFFFFF"/>
                </a:solidFill>
                <a:latin typeface="Arial"/>
              </a:rPr>
              <a:t>«Пришлите мне в Telegram одну строку: кто написал и про что — чтобы не лезть в таблицу на каждую заявку.»</a:t>
            </a:r>
          </a:p>
        </p:txBody>
      </p:sp>
      <p:sp>
        <p:nvSpPr>
          <p:cNvPr id="5" name="Rounded Rectangle 4"/>
          <p:cNvSpPr/>
          <p:nvPr/>
        </p:nvSpPr>
        <p:spPr>
          <a:xfrm>
            <a:off x="502920"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D6E2EC"/>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D6E2EC"/>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D6E2EC"/>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Экран результата и многотемная заявка</a:t>
            </a:r>
          </a:p>
        </p:txBody>
      </p:sp>
      <p:pic>
        <p:nvPicPr>
          <p:cNvPr id="3" name="Picture 2" descr="k1-stend-s7-tsepochka-real.png"/>
          <p:cNvPicPr>
            <a:picLocks noChangeAspect="1"/>
          </p:cNvPicPr>
          <p:nvPr/>
        </p:nvPicPr>
        <p:blipFill>
          <a:blip r:embed="rId2"/>
          <a:stretch>
            <a:fillRect/>
          </a:stretch>
        </p:blipFill>
        <p:spPr>
          <a:xfrm>
            <a:off x="502920" y="1064838"/>
            <a:ext cx="11183112" cy="2246607"/>
          </a:xfrm>
          <a:prstGeom prst="rect">
            <a:avLst/>
          </a:prstGeom>
        </p:spPr>
      </p:pic>
      <p:sp>
        <p:nvSpPr>
          <p:cNvPr id="4" name="Rounded Rectangle 3"/>
          <p:cNvSpPr/>
          <p:nvPr/>
        </p:nvSpPr>
        <p:spPr>
          <a:xfrm>
            <a:off x="502920" y="3779744"/>
            <a:ext cx="5490972" cy="1298448"/>
          </a:xfrm>
          <a:prstGeom prst="roundRect">
            <a:avLst>
              <a:gd name="adj" fmla="val 23474"/>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 y="3968593"/>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8A6200"/>
                </a:solidFill>
                <a:latin typeface="Arial"/>
              </a:rPr>
              <a:t>20 заявок</a:t>
            </a:r>
          </a:p>
        </p:txBody>
      </p:sp>
      <p:sp>
        <p:nvSpPr>
          <p:cNvPr id="6" name="TextBox 5"/>
          <p:cNvSpPr txBox="1"/>
          <p:nvPr/>
        </p:nvSpPr>
        <p:spPr>
          <a:xfrm>
            <a:off x="630936" y="4526377"/>
            <a:ext cx="5234940" cy="344678"/>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в день — и почти все про одну тему</a:t>
            </a:r>
          </a:p>
        </p:txBody>
      </p:sp>
      <p:sp>
        <p:nvSpPr>
          <p:cNvPr id="7" name="Rounded Rectangle 6"/>
          <p:cNvSpPr/>
          <p:nvPr/>
        </p:nvSpPr>
        <p:spPr>
          <a:xfrm>
            <a:off x="6195059" y="3779744"/>
            <a:ext cx="5490972"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23075" y="3968593"/>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065A82"/>
                </a:solidFill>
                <a:latin typeface="Arial"/>
              </a:rPr>
              <a:t>несколько часов</a:t>
            </a:r>
          </a:p>
        </p:txBody>
      </p:sp>
      <p:sp>
        <p:nvSpPr>
          <p:cNvPr id="9" name="TextBox 8"/>
          <p:cNvSpPr txBox="1"/>
          <p:nvPr/>
        </p:nvSpPr>
        <p:spPr>
          <a:xfrm>
            <a:off x="6323075" y="4526377"/>
            <a:ext cx="5234940" cy="344678"/>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столько многотемная заявка лежит в таблице, пока её никто не читает</a:t>
            </a:r>
          </a:p>
        </p:txBody>
      </p:sp>
      <p:sp>
        <p:nvSpPr>
          <p:cNvPr id="10" name="Rectangle 9"/>
          <p:cNvSpPr/>
          <p:nvPr/>
        </p:nvSpPr>
        <p:spPr>
          <a:xfrm>
            <a:off x="502920" y="5583067"/>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8" y="5637931"/>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Ольга: «Пришлите мне в Telegram одну строку на каждую такую заявку — кто написал, по какой теме и что ещё упомянул, — чтобы не идти проверять экран результата из-за одной многотемной заявки среди двадцати обычных.»</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собрать уведомление из трёх значений</a:t>
            </a:r>
          </a:p>
        </p:txBody>
      </p:sp>
      <p:sp>
        <p:nvSpPr>
          <p:cNvPr id="3" name="Rounded Rectangle 2"/>
          <p:cNvSpPr/>
          <p:nvPr/>
        </p:nvSpPr>
        <p:spPr>
          <a:xfrm>
            <a:off x="502920" y="1159510"/>
            <a:ext cx="5490972"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1348359"/>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065A82"/>
                </a:solidFill>
                <a:latin typeface="Arial"/>
              </a:rPr>
              <a:t>3 значения</a:t>
            </a:r>
          </a:p>
        </p:txBody>
      </p:sp>
      <p:sp>
        <p:nvSpPr>
          <p:cNvPr id="5" name="TextBox 4"/>
          <p:cNvSpPr txBox="1"/>
          <p:nvPr/>
        </p:nvSpPr>
        <p:spPr>
          <a:xfrm>
            <a:off x="630936" y="1906143"/>
            <a:ext cx="5234940" cy="344678"/>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уже извлечены на прошлом занятии: имя · тема · дополнительные темы</a:t>
            </a:r>
          </a:p>
        </p:txBody>
      </p:sp>
      <p:sp>
        <p:nvSpPr>
          <p:cNvPr id="6" name="Rounded Rectangle 5"/>
          <p:cNvSpPr/>
          <p:nvPr/>
        </p:nvSpPr>
        <p:spPr>
          <a:xfrm>
            <a:off x="6195059" y="1159510"/>
            <a:ext cx="5490972"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3075" y="1348359"/>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065A82"/>
                </a:solidFill>
                <a:latin typeface="Arial"/>
              </a:rPr>
              <a:t>1 строка</a:t>
            </a:r>
          </a:p>
        </p:txBody>
      </p:sp>
      <p:sp>
        <p:nvSpPr>
          <p:cNvPr id="8" name="TextBox 7"/>
          <p:cNvSpPr txBox="1"/>
          <p:nvPr/>
        </p:nvSpPr>
        <p:spPr>
          <a:xfrm>
            <a:off x="6323075" y="1906143"/>
            <a:ext cx="5234940" cy="344678"/>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столько Ольга просила на каждую такую заявку</a:t>
            </a:r>
          </a:p>
        </p:txBody>
      </p:sp>
      <p:sp>
        <p:nvSpPr>
          <p:cNvPr id="9" name="Rounded Rectangle 8"/>
          <p:cNvSpPr/>
          <p:nvPr/>
        </p:nvSpPr>
        <p:spPr>
          <a:xfrm>
            <a:off x="502920" y="305485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18287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собрать текст уведомления из этих трёх значений?</a:t>
            </a:r>
          </a:p>
        </p:txBody>
      </p:sp>
      <p:sp>
        <p:nvSpPr>
          <p:cNvPr id="11" name="Rounded Rectangle 10"/>
          <p:cNvSpPr/>
          <p:nvPr/>
        </p:nvSpPr>
        <p:spPr>
          <a:xfrm>
            <a:off x="502920" y="4474718"/>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4474718"/>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модель пишет весь текст уведомления целиком, свободно</a:t>
            </a:r>
          </a:p>
        </p:txBody>
      </p:sp>
      <p:sp>
        <p:nvSpPr>
          <p:cNvPr id="13" name="Rounded Rectangle 12"/>
          <p:cNvSpPr/>
          <p:nvPr/>
        </p:nvSpPr>
        <p:spPr>
          <a:xfrm>
            <a:off x="3335274" y="4474718"/>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45002" y="4474718"/>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заполняем готовую форму сообщения алгоритмом целиком — только подстановка значений</a:t>
            </a:r>
          </a:p>
        </p:txBody>
      </p:sp>
      <p:sp>
        <p:nvSpPr>
          <p:cNvPr id="15" name="Rounded Rectangle 14"/>
          <p:cNvSpPr/>
          <p:nvPr/>
        </p:nvSpPr>
        <p:spPr>
          <a:xfrm>
            <a:off x="6167628" y="4474718"/>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77356" y="4474718"/>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то, что можно закрыть алгоритмом, закрываем им; то, что требует интерпретации текста заявки, на то отдельно зовём модель</a:t>
            </a:r>
          </a:p>
        </p:txBody>
      </p:sp>
      <p:sp>
        <p:nvSpPr>
          <p:cNvPr id="17" name="Rounded Rectangle 16"/>
          <p:cNvSpPr/>
          <p:nvPr/>
        </p:nvSpPr>
        <p:spPr>
          <a:xfrm>
            <a:off x="8999982" y="4474718"/>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09710" y="4474718"/>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берём алгоритмически собранный текст как основу и добавляем к нему одну фразу тона от модели поверх</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действие</a:t>
            </a:r>
          </a:p>
        </p:txBody>
      </p:sp>
      <p:sp>
        <p:nvSpPr>
          <p:cNvPr id="3" name="Rounded Rectangle 2"/>
          <p:cNvSpPr/>
          <p:nvPr/>
        </p:nvSpPr>
        <p:spPr>
          <a:xfrm>
            <a:off x="502920" y="1041069"/>
            <a:ext cx="11183112" cy="5140007"/>
          </a:xfrm>
          <a:prstGeom prst="roundRect">
            <a:avLst>
              <a:gd name="adj" fmla="val 59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23949"/>
            <a:ext cx="13408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72960" y="1223949"/>
            <a:ext cx="290803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5227300" y="1223949"/>
            <a:ext cx="21888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7562435" y="1223949"/>
            <a:ext cx="37944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506016"/>
            <a:ext cx="1340856"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модель пишет весь текст целиком</a:t>
            </a:r>
          </a:p>
        </p:txBody>
      </p:sp>
      <p:sp>
        <p:nvSpPr>
          <p:cNvPr id="9" name="TextBox 8"/>
          <p:cNvSpPr txBox="1"/>
          <p:nvPr/>
        </p:nvSpPr>
        <p:spPr>
          <a:xfrm>
            <a:off x="2172960" y="1506016"/>
            <a:ext cx="290803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получает три уже извлечённых значения и сочиняет текст уведомления свободно, без заданной формы</a:t>
            </a:r>
          </a:p>
        </p:txBody>
      </p:sp>
      <p:sp>
        <p:nvSpPr>
          <p:cNvPr id="10" name="TextBox 9"/>
          <p:cNvSpPr txBox="1"/>
          <p:nvPr/>
        </p:nvSpPr>
        <p:spPr>
          <a:xfrm>
            <a:off x="5227300" y="1506016"/>
            <a:ext cx="218883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звучит живо — модель умеет писать по-человечески</a:t>
            </a:r>
          </a:p>
        </p:txBody>
      </p:sp>
      <p:sp>
        <p:nvSpPr>
          <p:cNvPr id="11" name="TextBox 10"/>
          <p:cNvSpPr txBox="1"/>
          <p:nvPr/>
        </p:nvSpPr>
        <p:spPr>
          <a:xfrm>
            <a:off x="7562435" y="1506016"/>
            <a:ext cx="37944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значения уже извлечены, интерпретировать нечего; а текст собирается заново на каждом прогоне, с риском вписать деталь, которой в заявке не было</a:t>
            </a:r>
          </a:p>
        </p:txBody>
      </p:sp>
      <p:cxnSp>
        <p:nvCxnSpPr>
          <p:cNvPr id="12" name="Connector 11"/>
          <p:cNvCxnSpPr/>
          <p:nvPr/>
        </p:nvCxnSpPr>
        <p:spPr>
          <a:xfrm>
            <a:off x="685800" y="24008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400858"/>
            <a:ext cx="1340856"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заполняет форму целиком</a:t>
            </a:r>
          </a:p>
        </p:txBody>
      </p:sp>
      <p:sp>
        <p:nvSpPr>
          <p:cNvPr id="14" name="TextBox 13"/>
          <p:cNvSpPr txBox="1"/>
          <p:nvPr/>
        </p:nvSpPr>
        <p:spPr>
          <a:xfrm>
            <a:off x="2172960" y="2400858"/>
            <a:ext cx="2908036"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подставляет три уже структурированных значения в один раз заданный шаблон текста, без обращения к модели</a:t>
            </a:r>
          </a:p>
        </p:txBody>
      </p:sp>
      <p:sp>
        <p:nvSpPr>
          <p:cNvPr id="15" name="TextBox 14"/>
          <p:cNvSpPr txBox="1"/>
          <p:nvPr/>
        </p:nvSpPr>
        <p:spPr>
          <a:xfrm>
            <a:off x="5227300" y="2400858"/>
            <a:ext cx="2188830"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результат детерминированный: совпадает с заданным примером текста на любой заявке, не только на удачной</a:t>
            </a:r>
          </a:p>
        </p:txBody>
      </p:sp>
      <p:sp>
        <p:nvSpPr>
          <p:cNvPr id="16" name="TextBox 15"/>
          <p:cNvSpPr txBox="1"/>
          <p:nvPr/>
        </p:nvSpPr>
        <p:spPr>
          <a:xfrm>
            <a:off x="7562435" y="2400858"/>
            <a:ext cx="379441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пространства для вариативности: если форме сообщения однажды понадобится меняться по смыслу, а не только по значениям, выражение придётся переписывать руками</a:t>
            </a:r>
          </a:p>
        </p:txBody>
      </p:sp>
      <p:cxnSp>
        <p:nvCxnSpPr>
          <p:cNvPr id="17" name="Connector 16"/>
          <p:cNvCxnSpPr/>
          <p:nvPr/>
        </p:nvCxnSpPr>
        <p:spPr>
          <a:xfrm>
            <a:off x="685800" y="36608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660825"/>
            <a:ext cx="1340856"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модель на то, что требует интерпретации</a:t>
            </a:r>
          </a:p>
        </p:txBody>
      </p:sp>
      <p:sp>
        <p:nvSpPr>
          <p:cNvPr id="19" name="TextBox 18"/>
          <p:cNvSpPr txBox="1"/>
          <p:nvPr/>
        </p:nvSpPr>
        <p:spPr>
          <a:xfrm>
            <a:off x="2172960" y="3660825"/>
            <a:ext cx="2908036"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структурированные значения подставляются алгоритмом; то, что осталось неструктурированным и требует интерпретации текста заявки, отдельно передаётся модели</a:t>
            </a:r>
          </a:p>
        </p:txBody>
      </p:sp>
      <p:sp>
        <p:nvSpPr>
          <p:cNvPr id="20" name="TextBox 19"/>
          <p:cNvSpPr txBox="1"/>
          <p:nvPr/>
        </p:nvSpPr>
        <p:spPr>
          <a:xfrm>
            <a:off x="5227300" y="3660825"/>
            <a:ext cx="2188830"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работало бы честно при смешанном случае: когда хотя бы одно значение требует интерпретации, а не просто известно</a:t>
            </a:r>
          </a:p>
        </p:txBody>
      </p:sp>
      <p:sp>
        <p:nvSpPr>
          <p:cNvPr id="21" name="TextBox 20"/>
          <p:cNvSpPr txBox="1"/>
          <p:nvPr/>
        </p:nvSpPr>
        <p:spPr>
          <a:xfrm>
            <a:off x="7562435" y="3660825"/>
            <a:ext cx="379441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для этой конкретной потребности интерпретировать нечего: все три значения, включая срочность, уже извлечены структурно на прошлом занятии — модели здесь просто не находится работы</a:t>
            </a:r>
          </a:p>
        </p:txBody>
      </p:sp>
      <p:cxnSp>
        <p:nvCxnSpPr>
          <p:cNvPr id="22" name="Connector 21"/>
          <p:cNvCxnSpPr/>
          <p:nvPr/>
        </p:nvCxnSpPr>
        <p:spPr>
          <a:xfrm>
            <a:off x="685800" y="49207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20792"/>
            <a:ext cx="134085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тон модели поверх</a:t>
            </a:r>
          </a:p>
        </p:txBody>
      </p:sp>
      <p:sp>
        <p:nvSpPr>
          <p:cNvPr id="24" name="TextBox 23"/>
          <p:cNvSpPr txBox="1"/>
          <p:nvPr/>
        </p:nvSpPr>
        <p:spPr>
          <a:xfrm>
            <a:off x="2172960" y="4920792"/>
            <a:ext cx="2908036"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алгоритмический костяк текста собирается подстановкой значений, модель добавляет сверху одну короткую фразу тона или комментария</a:t>
            </a:r>
          </a:p>
        </p:txBody>
      </p:sp>
      <p:sp>
        <p:nvSpPr>
          <p:cNvPr id="25" name="TextBox 24"/>
          <p:cNvSpPr txBox="1"/>
          <p:nvPr/>
        </p:nvSpPr>
        <p:spPr>
          <a:xfrm>
            <a:off x="5227300" y="4920792"/>
            <a:ext cx="2188830"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масштаб свободы меньше, чем у первого действия — риск и цена вызова модели пропорционально ниже</a:t>
            </a:r>
          </a:p>
        </p:txBody>
      </p:sp>
      <p:sp>
        <p:nvSpPr>
          <p:cNvPr id="26" name="TextBox 25"/>
          <p:cNvSpPr txBox="1"/>
          <p:nvPr/>
        </p:nvSpPr>
        <p:spPr>
          <a:xfrm>
            <a:off x="7562435" y="4920792"/>
            <a:ext cx="379441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риск той же природы, что у первого действия, просто меньшего размера: модель всё равно генерирует текст и может вписать в него деталь, которой не было</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один узел против другого</a:t>
            </a:r>
          </a:p>
        </p:txBody>
      </p:sp>
      <p:pic>
        <p:nvPicPr>
          <p:cNvPr id="3" name="Picture 2" descr="k1-shema-dve-versii.png"/>
          <p:cNvPicPr>
            <a:picLocks noChangeAspect="1"/>
          </p:cNvPicPr>
          <p:nvPr/>
        </p:nvPicPr>
        <p:blipFill>
          <a:blip r:embed="rId2"/>
          <a:stretch>
            <a:fillRect/>
          </a:stretch>
        </p:blipFill>
        <p:spPr>
          <a:xfrm>
            <a:off x="502920" y="1111041"/>
            <a:ext cx="11183112" cy="3634511"/>
          </a:xfrm>
          <a:prstGeom prst="rect">
            <a:avLst/>
          </a:prstGeom>
        </p:spPr>
      </p:pic>
      <p:sp>
        <p:nvSpPr>
          <p:cNvPr id="4" name="Rounded Rectangle 3"/>
          <p:cNvSpPr/>
          <p:nvPr/>
        </p:nvSpPr>
        <p:spPr>
          <a:xfrm>
            <a:off x="502920" y="532935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45737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Решение о форме текста принимается либо заново на каждой заявке, либо один раз заранее. Всё остальное — те же три узла в том же порядке.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с моделью на стенде: путь и настройка узла</a:t>
            </a:r>
          </a:p>
        </p:txBody>
      </p:sp>
      <p:pic>
        <p:nvPicPr>
          <p:cNvPr id="3" name="Picture 2" descr="k1-stend-versiya1-real.png"/>
          <p:cNvPicPr>
            <a:picLocks noChangeAspect="1"/>
          </p:cNvPicPr>
          <p:nvPr/>
        </p:nvPicPr>
        <p:blipFill>
          <a:blip r:embed="rId2"/>
          <a:stretch>
            <a:fillRect/>
          </a:stretch>
        </p:blipFill>
        <p:spPr>
          <a:xfrm>
            <a:off x="686534" y="943356"/>
            <a:ext cx="10815883"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сообщение выглядит у Ольги в телефоне</a:t>
            </a:r>
          </a:p>
        </p:txBody>
      </p:sp>
      <p:pic>
        <p:nvPicPr>
          <p:cNvPr id="3" name="Picture 2" descr="tg-k1-uvedomlenie.png"/>
          <p:cNvPicPr>
            <a:picLocks noChangeAspect="1"/>
          </p:cNvPicPr>
          <p:nvPr/>
        </p:nvPicPr>
        <p:blipFill>
          <a:blip r:embed="rId2"/>
          <a:stretch>
            <a:fillRect/>
          </a:stretch>
        </p:blipFill>
        <p:spPr>
          <a:xfrm>
            <a:off x="1611831" y="949452"/>
            <a:ext cx="8965289" cy="3931920"/>
          </a:xfrm>
          <a:prstGeom prst="rect">
            <a:avLst/>
          </a:prstGeom>
        </p:spPr>
      </p:pic>
      <p:sp>
        <p:nvSpPr>
          <p:cNvPr id="4" name="Rounded Rectangle 3"/>
          <p:cNvSpPr/>
          <p:nvPr/>
        </p:nvSpPr>
        <p:spPr>
          <a:xfrm>
            <a:off x="502920" y="5061204"/>
            <a:ext cx="82296" cy="12573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89220"/>
            <a:ext cx="10643616" cy="10012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Одна и та же заявка, два настоящих прогона подряд: верхнее сообщение сочинила модель, нижнее собрал шаблон из тех же трёх значений.</a:t>
            </a:r>
          </a:p>
          <a:p>
            <a:pPr algn="l">
              <a:lnSpc>
                <a:spcPts val="1860"/>
              </a:lnSpc>
              <a:spcAft>
                <a:spcPts val="300"/>
              </a:spcAft>
            </a:pPr>
            <a:r>
              <a:rPr sz="1500" b="1" i="0">
                <a:solidFill>
                  <a:srgbClr val="141B2E"/>
                </a:solidFill>
                <a:latin typeface="Arial"/>
              </a:rPr>
              <a:t>Имя: у модели — «от Марии Величко», у шаблона — «от Мария Величко». Подставить поле шаблон умеет, склонять —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реально получилось на двух прогонах</a:t>
            </a:r>
          </a:p>
        </p:txBody>
      </p:sp>
      <p:pic>
        <p:nvPicPr>
          <p:cNvPr id="3" name="Picture 2" descr="tg-k1-oshibka.png"/>
          <p:cNvPicPr>
            <a:picLocks noChangeAspect="1"/>
          </p:cNvPicPr>
          <p:nvPr/>
        </p:nvPicPr>
        <p:blipFill>
          <a:blip r:embed="rId2"/>
          <a:stretch>
            <a:fillRect/>
          </a:stretch>
        </p:blipFill>
        <p:spPr>
          <a:xfrm>
            <a:off x="1550780" y="943356"/>
            <a:ext cx="9087391" cy="2869019"/>
          </a:xfrm>
          <a:prstGeom prst="rect">
            <a:avLst/>
          </a:prstGeom>
        </p:spPr>
      </p:pic>
      <p:sp>
        <p:nvSpPr>
          <p:cNvPr id="4" name="Rounded Rectangle 3"/>
          <p:cNvSpPr/>
          <p:nvPr/>
        </p:nvSpPr>
        <p:spPr>
          <a:xfrm>
            <a:off x="502920" y="3976967"/>
            <a:ext cx="11183112" cy="1380236"/>
          </a:xfrm>
          <a:prstGeom prst="roundRect">
            <a:avLst>
              <a:gd name="adj" fmla="val 2208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132415"/>
            <a:ext cx="424294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ТЕКСТ ЗАЯВКИ</a:t>
            </a:r>
          </a:p>
        </p:txBody>
      </p:sp>
      <p:sp>
        <p:nvSpPr>
          <p:cNvPr id="6" name="TextBox 5"/>
          <p:cNvSpPr txBox="1"/>
          <p:nvPr/>
        </p:nvSpPr>
        <p:spPr>
          <a:xfrm>
            <a:off x="5047615" y="4132415"/>
            <a:ext cx="633666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ПОЛУЧИЛОСЬ И ПОЧЕМУ</a:t>
            </a:r>
          </a:p>
        </p:txBody>
      </p:sp>
      <p:sp>
        <p:nvSpPr>
          <p:cNvPr id="7" name="TextBox 6"/>
          <p:cNvSpPr txBox="1"/>
          <p:nvPr/>
        </p:nvSpPr>
        <p:spPr>
          <a:xfrm>
            <a:off x="658368" y="4392003"/>
            <a:ext cx="4242943" cy="404876"/>
          </a:xfrm>
          <a:prstGeom prst="rect">
            <a:avLst/>
          </a:prstGeom>
          <a:noFill/>
        </p:spPr>
        <p:txBody>
          <a:bodyPr wrap="square" lIns="0" rIns="0" tIns="0" bIns="0" anchor="ctr">
            <a:spAutoFit/>
          </a:bodyPr>
          <a:lstStyle/>
          <a:p>
            <a:pPr algn="l">
              <a:lnSpc>
                <a:spcPts val="1090"/>
              </a:lnSpc>
              <a:spcAft>
                <a:spcPts val="0"/>
              </a:spcAft>
            </a:pPr>
            <a:r>
              <a:rPr sz="1000" b="0" i="0">
                <a:solidFill>
                  <a:srgbClr val="141B2E"/>
                </a:solidFill>
                <a:latin typeface="Arial"/>
              </a:rPr>
              <a:t>Мария: «хочу на курс по аналитике и ещё спросить про оплату, перезвоните сегодня»</a:t>
            </a:r>
          </a:p>
        </p:txBody>
      </p:sp>
      <p:sp>
        <p:nvSpPr>
          <p:cNvPr id="8" name="TextBox 7"/>
          <p:cNvSpPr txBox="1"/>
          <p:nvPr/>
        </p:nvSpPr>
        <p:spPr>
          <a:xfrm>
            <a:off x="5047615" y="4392003"/>
            <a:ext cx="6336664" cy="404876"/>
          </a:xfrm>
          <a:prstGeom prst="rect">
            <a:avLst/>
          </a:prstGeom>
          <a:noFill/>
        </p:spPr>
        <p:txBody>
          <a:bodyPr wrap="square" lIns="0" rIns="0" tIns="0" bIns="0" anchor="ctr">
            <a:spAutoFit/>
          </a:bodyPr>
          <a:lstStyle/>
          <a:p>
            <a:pPr algn="l">
              <a:lnSpc>
                <a:spcPts val="1090"/>
              </a:lnSpc>
              <a:spcAft>
                <a:spcPts val="0"/>
              </a:spcAft>
            </a:pPr>
            <a:r>
              <a:rPr sz="1000" b="0" i="0">
                <a:solidFill>
                  <a:srgbClr val="141B2E"/>
                </a:solidFill>
                <a:latin typeface="Arial"/>
              </a:rPr>
              <a:t>Текст свободный, но по смыслу тот, что просила Ольга: модели хватило инструкции и трёх значений.</a:t>
            </a:r>
          </a:p>
        </p:txBody>
      </p:sp>
      <p:cxnSp>
        <p:nvCxnSpPr>
          <p:cNvPr id="9" name="Connector 8"/>
          <p:cNvCxnSpPr/>
          <p:nvPr/>
        </p:nvCxnSpPr>
        <p:spPr>
          <a:xfrm>
            <a:off x="658368" y="479687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4796879"/>
            <a:ext cx="4242943" cy="404876"/>
          </a:xfrm>
          <a:prstGeom prst="rect">
            <a:avLst/>
          </a:prstGeom>
          <a:noFill/>
        </p:spPr>
        <p:txBody>
          <a:bodyPr wrap="square" lIns="0" rIns="0" tIns="0" bIns="0" anchor="ctr">
            <a:spAutoFit/>
          </a:bodyPr>
          <a:lstStyle/>
          <a:p>
            <a:pPr algn="l">
              <a:lnSpc>
                <a:spcPts val="1090"/>
              </a:lnSpc>
              <a:spcAft>
                <a:spcPts val="0"/>
              </a:spcAft>
            </a:pPr>
            <a:r>
              <a:rPr sz="1000" b="0" i="0">
                <a:solidFill>
                  <a:srgbClr val="141B2E"/>
                </a:solidFill>
                <a:latin typeface="Arial"/>
              </a:rPr>
              <a:t>Олег: «хочу перенести занятие на пятницу и спросить про оплату курса»</a:t>
            </a:r>
          </a:p>
        </p:txBody>
      </p:sp>
      <p:sp>
        <p:nvSpPr>
          <p:cNvPr id="11" name="TextBox 10"/>
          <p:cNvSpPr txBox="1"/>
          <p:nvPr/>
        </p:nvSpPr>
        <p:spPr>
          <a:xfrm>
            <a:off x="5047615" y="4796879"/>
            <a:ext cx="6336664" cy="404876"/>
          </a:xfrm>
          <a:prstGeom prst="rect">
            <a:avLst/>
          </a:prstGeom>
          <a:noFill/>
        </p:spPr>
        <p:txBody>
          <a:bodyPr wrap="square" lIns="0" rIns="0" tIns="0" bIns="0" anchor="ctr">
            <a:spAutoFit/>
          </a:bodyPr>
          <a:lstStyle/>
          <a:p>
            <a:pPr algn="l">
              <a:lnSpc>
                <a:spcPts val="1090"/>
              </a:lnSpc>
              <a:spcAft>
                <a:spcPts val="0"/>
              </a:spcAft>
            </a:pPr>
            <a:r>
              <a:rPr sz="1000" b="0" i="0">
                <a:solidFill>
                  <a:srgbClr val="141B2E"/>
                </a:solidFill>
                <a:latin typeface="Arial"/>
              </a:rPr>
              <a:t>Сообщение на кадре выше: модель обратилась к человеку словами из собственной инструкции. Узел не упал, статус зелёный.</a:t>
            </a:r>
          </a:p>
        </p:txBody>
      </p:sp>
      <p:sp>
        <p:nvSpPr>
          <p:cNvPr id="12" name="Rounded Rectangle 11"/>
          <p:cNvSpPr/>
          <p:nvPr/>
        </p:nvSpPr>
        <p:spPr>
          <a:xfrm>
            <a:off x="502920" y="5521795"/>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649811"/>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Проверка форматом этого не ловит.</a:t>
            </a:r>
            <a:r>
              <a:rPr sz="1350" b="1" i="0">
                <a:solidFill>
                  <a:srgbClr val="141B2E"/>
                </a:solidFill>
                <a:latin typeface="Arial"/>
              </a:rPr>
              <a:t> Оба прогона технически успешны: оба узла отработали, оба сообщения дошли. Единственный способ заметить разницу — прочитать сам текст, который получил живой человек.</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с шаблоном на стенде: путь и настройка узла</a:t>
            </a:r>
          </a:p>
        </p:txBody>
      </p:sp>
      <p:pic>
        <p:nvPicPr>
          <p:cNvPr id="3" name="Picture 2" descr="k1-stend-versiya2-real.png"/>
          <p:cNvPicPr>
            <a:picLocks noChangeAspect="1"/>
          </p:cNvPicPr>
          <p:nvPr/>
        </p:nvPicPr>
        <p:blipFill>
          <a:blip r:embed="rId2"/>
          <a:stretch>
            <a:fillRect/>
          </a:stretch>
        </p:blipFill>
        <p:spPr>
          <a:xfrm>
            <a:off x="686534" y="943356"/>
            <a:ext cx="10815883"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модель, когда достаточно шаблона</a:t>
            </a:r>
          </a:p>
        </p:txBody>
      </p:sp>
      <p:sp>
        <p:nvSpPr>
          <p:cNvPr id="3" name="Rounded Rectangle 2"/>
          <p:cNvSpPr/>
          <p:nvPr/>
        </p:nvSpPr>
        <p:spPr>
          <a:xfrm>
            <a:off x="502920" y="968501"/>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23366"/>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05661"/>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Класс задачи — сборка сообщения из уже извлечённых значений по фиксированной форме.</a:t>
            </a:r>
            <a:r>
              <a:rPr sz="1350" b="0" i="0">
                <a:solidFill>
                  <a:srgbClr val="141B2E"/>
                </a:solidFill>
                <a:latin typeface="Arial"/>
              </a:rPr>
              <a:t> Признак, по которому вы узнаете её в своей цепочке: шаблон итогового сообщения можно написать, не видя ни одной конкретной заявки.</a:t>
            </a:r>
          </a:p>
        </p:txBody>
      </p:sp>
      <p:sp>
        <p:nvSpPr>
          <p:cNvPr id="6" name="Rounded Rectangle 5"/>
          <p:cNvSpPr/>
          <p:nvPr/>
        </p:nvSpPr>
        <p:spPr>
          <a:xfrm>
            <a:off x="502920" y="2077211"/>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8694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НЮАНС</a:t>
            </a:r>
          </a:p>
        </p:txBody>
      </p:sp>
      <p:sp>
        <p:nvSpPr>
          <p:cNvPr id="8" name="TextBox 7"/>
          <p:cNvSpPr txBox="1"/>
          <p:nvPr/>
        </p:nvSpPr>
        <p:spPr>
          <a:xfrm>
            <a:off x="685800" y="2461260"/>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Лишний шаг — риск, а не только цена</a:t>
            </a:r>
          </a:p>
        </p:txBody>
      </p:sp>
      <p:cxnSp>
        <p:nvCxnSpPr>
          <p:cNvPr id="9" name="Connector 8"/>
          <p:cNvCxnSpPr/>
          <p:nvPr/>
        </p:nvCxnSpPr>
        <p:spPr>
          <a:xfrm>
            <a:off x="685800" y="27799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779902"/>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Шаблон не навсегда безопасен</a:t>
            </a:r>
          </a:p>
        </p:txBody>
      </p:sp>
      <p:sp>
        <p:nvSpPr>
          <p:cNvPr id="11" name="Rounded Rectangle 10"/>
          <p:cNvSpPr/>
          <p:nvPr/>
        </p:nvSpPr>
        <p:spPr>
          <a:xfrm>
            <a:off x="6231636" y="2077211"/>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4516" y="218694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ЧТО ЭТО ЗНАЧИТ</a:t>
            </a:r>
          </a:p>
        </p:txBody>
      </p:sp>
      <p:sp>
        <p:nvSpPr>
          <p:cNvPr id="13" name="TextBox 12"/>
          <p:cNvSpPr txBox="1"/>
          <p:nvPr/>
        </p:nvSpPr>
        <p:spPr>
          <a:xfrm>
            <a:off x="6414516" y="246126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вызов модели — точка, где может появиться галлюцинация, даже в тривиальной задаче форматирования.</a:t>
            </a:r>
          </a:p>
        </p:txBody>
      </p:sp>
      <p:cxnSp>
        <p:nvCxnSpPr>
          <p:cNvPr id="14" name="Connector 13"/>
          <p:cNvCxnSpPr/>
          <p:nvPr/>
        </p:nvCxnSpPr>
        <p:spPr>
          <a:xfrm>
            <a:off x="6414516" y="29522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14516" y="2952242"/>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Если форма сообщения начнёт требовать реальной вариативности (разные языки, разная степень детализации), шаблон придётся переписывать руками на каждый новый случай — цена другого типа, инженерная.</a:t>
            </a:r>
          </a:p>
        </p:txBody>
      </p:sp>
      <p:sp>
        <p:nvSpPr>
          <p:cNvPr id="16" name="Rounded Rectangle 15"/>
          <p:cNvSpPr/>
          <p:nvPr/>
        </p:nvSpPr>
        <p:spPr>
          <a:xfrm>
            <a:off x="502920" y="419823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32625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Модель нужна при реальной вариативности контента или когда значение требует интерпретации текста, которой не было на предыдущем шаге. Шаблон достаточен, когда форма сообщения одна и все значения уже структурированы.</a:t>
            </a:r>
          </a:p>
        </p:txBody>
      </p:sp>
      <p:sp>
        <p:nvSpPr>
          <p:cNvPr id="18" name="Rounded Rectangle 17"/>
          <p:cNvSpPr/>
          <p:nvPr/>
        </p:nvSpPr>
        <p:spPr>
          <a:xfrm>
            <a:off x="502920" y="5408675"/>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546353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545836"/>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Первая строка оси закрыта.</a:t>
            </a:r>
            <a:r>
              <a:rPr sz="1350" b="0" i="0">
                <a:solidFill>
                  <a:srgbClr val="141B2E"/>
                </a:solidFill>
                <a:latin typeface="Arial"/>
              </a:rPr>
              <a:t> Сообщение действительно ушло координатору — а цепочка оказалась короче и дешевле без узла модели. LLM здесь был просто лишним шагом: то же самое получилось шаблоном, без его цены и риска.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93111"/>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Проверка на повтор</a:t>
            </a:r>
          </a:p>
        </p:txBody>
      </p:sp>
      <p:sp>
        <p:nvSpPr>
          <p:cNvPr id="4" name="TextBox 3"/>
          <p:cNvSpPr txBox="1"/>
          <p:nvPr/>
        </p:nvSpPr>
        <p:spPr>
          <a:xfrm>
            <a:off x="1234440" y="3425571"/>
            <a:ext cx="9692640" cy="547878"/>
          </a:xfrm>
          <a:prstGeom prst="rect">
            <a:avLst/>
          </a:prstGeom>
          <a:noFill/>
        </p:spPr>
        <p:txBody>
          <a:bodyPr wrap="square" lIns="0" rIns="0" tIns="0" bIns="0" anchor="t">
            <a:spAutoFit/>
          </a:bodyPr>
          <a:lstStyle/>
          <a:p>
            <a:pPr algn="l">
              <a:lnSpc>
                <a:spcPts val="2730"/>
              </a:lnSpc>
              <a:spcAft>
                <a:spcPts val="0"/>
              </a:spcAft>
            </a:pPr>
            <a:r>
              <a:rPr sz="2100" b="0" i="1">
                <a:solidFill>
                  <a:srgbClr val="FFFFFF"/>
                </a:solidFill>
                <a:latin typeface="Arial"/>
              </a:rPr>
              <a:t>«Это ведь тот же вопрос, с которым он писал два часа назад?»</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D6E2EC"/>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D6E2EC"/>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Заявки дублируются</a:t>
            </a:r>
          </a:p>
        </p:txBody>
      </p:sp>
      <p:sp>
        <p:nvSpPr>
          <p:cNvPr id="3" name="Rounded Rectangle 2"/>
          <p:cNvSpPr/>
          <p:nvPr/>
        </p:nvSpPr>
        <p:spPr>
          <a:xfrm>
            <a:off x="502920" y="1136497"/>
            <a:ext cx="11183112" cy="2036826"/>
          </a:xfrm>
          <a:prstGeom prst="roundRect">
            <a:avLst>
              <a:gd name="adj" fmla="val 1496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55953"/>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55953"/>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Понедельник, утро. Ольга, администратор учебного центра, открывает таблицу заявок и видит вопрос от клиента: «когда можно оплатить занятие?» Она отвечает.</a:t>
            </a:r>
          </a:p>
        </p:txBody>
      </p:sp>
      <p:sp>
        <p:nvSpPr>
          <p:cNvPr id="6" name="TextBox 5"/>
          <p:cNvSpPr txBox="1"/>
          <p:nvPr/>
        </p:nvSpPr>
        <p:spPr>
          <a:xfrm>
            <a:off x="722376" y="188859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88859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Через два часа — вторая заявка от того же контакта: «как мне внести оплату за курс». По смыслу это тот же вопрос. Ольга не узнаёт перефразировку и обрабатывает её как новую: отвечает ещё раз.</a:t>
            </a:r>
          </a:p>
        </p:txBody>
      </p:sp>
      <p:sp>
        <p:nvSpPr>
          <p:cNvPr id="8" name="TextBox 7"/>
          <p:cNvSpPr txBox="1"/>
          <p:nvPr/>
        </p:nvSpPr>
        <p:spPr>
          <a:xfrm>
            <a:off x="722376" y="2421229"/>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21229"/>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Клиент получает два разных ответа от центра с разницей в два часа — и это выглядит так, будто первый ответ потерялся.</a:t>
            </a:r>
          </a:p>
        </p:txBody>
      </p:sp>
      <p:sp>
        <p:nvSpPr>
          <p:cNvPr id="10" name="Rounded Rectangle 9"/>
          <p:cNvSpPr/>
          <p:nvPr/>
        </p:nvSpPr>
        <p:spPr>
          <a:xfrm>
            <a:off x="502920" y="382076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4878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не редкость.</a:t>
            </a:r>
            <a:r>
              <a:rPr sz="1500" b="1" i="0">
                <a:solidFill>
                  <a:srgbClr val="141B2E"/>
                </a:solidFill>
                <a:latin typeface="Arial"/>
              </a:rPr>
              <a:t> По собственной оценке Ольги, такие повторы случаются примерно 10 раз в день: кто-то забыл, что уже спрашивал, кто-то не увидел ответа и переспросил другими словами.</a:t>
            </a:r>
          </a:p>
        </p:txBody>
      </p:sp>
      <p:sp>
        <p:nvSpPr>
          <p:cNvPr id="12" name="Rounded Rectangle 11"/>
          <p:cNvSpPr/>
          <p:nvPr/>
        </p:nvSpPr>
        <p:spPr>
          <a:xfrm>
            <a:off x="502920" y="521497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34299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Цена ошибки не абстрактная.</a:t>
            </a:r>
            <a:r>
              <a:rPr sz="1650" b="1" i="0">
                <a:solidFill>
                  <a:srgbClr val="141B2E"/>
                </a:solidFill>
                <a:latin typeface="Arial"/>
              </a:rPr>
              <a:t> Двойная работа администратора — плюс недоверие клиента: «они не видят, что я уже спрашивал?»</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на повтор</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на повтор?</a:t>
            </a:r>
          </a:p>
        </p:txBody>
      </p:sp>
      <p:sp>
        <p:nvSpPr>
          <p:cNvPr id="5" name="Rounded Rectangle 4"/>
          <p:cNvSpPr/>
          <p:nvPr/>
        </p:nvSpPr>
        <p:spPr>
          <a:xfrm>
            <a:off x="502920"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сравнивать тексты буквально — точное совпадение после нормализации</a:t>
            </a:r>
          </a:p>
        </p:txBody>
      </p:sp>
      <p:sp>
        <p:nvSpPr>
          <p:cNvPr id="7" name="Rounded Rectangle 6"/>
          <p:cNvSpPr/>
          <p:nvPr/>
        </p:nvSpPr>
        <p:spPr>
          <a:xfrm>
            <a:off x="2768803"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сравнивать тексты по общим словам — классический векторный подход с порогом</a:t>
            </a:r>
          </a:p>
        </p:txBody>
      </p:sp>
      <p:sp>
        <p:nvSpPr>
          <p:cNvPr id="9" name="Rounded Rectangle 8"/>
          <p:cNvSpPr/>
          <p:nvPr/>
        </p:nvSpPr>
        <p:spPr>
          <a:xfrm>
            <a:off x="5034686"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спросить у модели общего назначения, один ли это вопрос, просто сформулированный иначе</a:t>
            </a:r>
          </a:p>
        </p:txBody>
      </p:sp>
      <p:sp>
        <p:nvSpPr>
          <p:cNvPr id="11" name="Rounded Rectangle 10"/>
          <p:cNvSpPr/>
          <p:nvPr/>
        </p:nvSpPr>
        <p:spPr>
          <a:xfrm>
            <a:off x="7300569"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спросить у специализированного сервиса сравнения вопросов, а не у модели общего назначения</a:t>
            </a:r>
          </a:p>
        </p:txBody>
      </p:sp>
      <p:sp>
        <p:nvSpPr>
          <p:cNvPr id="13" name="Rounded Rectangle 12"/>
          <p:cNvSpPr/>
          <p:nvPr/>
        </p:nvSpPr>
        <p:spPr>
          <a:xfrm>
            <a:off x="9566452"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сначала проверить точное совпадение дёшево, а дальше пускать только то, что осталось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каждая схема</a:t>
            </a:r>
          </a:p>
        </p:txBody>
      </p:sp>
      <p:sp>
        <p:nvSpPr>
          <p:cNvPr id="3" name="Rounded Rectangle 2"/>
          <p:cNvSpPr/>
          <p:nvPr/>
        </p:nvSpPr>
        <p:spPr>
          <a:xfrm>
            <a:off x="502920" y="943356"/>
            <a:ext cx="11183112" cy="2007108"/>
          </a:xfrm>
          <a:prstGeom prst="roundRect">
            <a:avLst>
              <a:gd name="adj" fmla="val 1518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1071372"/>
            <a:ext cx="1432863"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СХЕМА</a:t>
            </a:r>
          </a:p>
        </p:txBody>
      </p:sp>
      <p:sp>
        <p:nvSpPr>
          <p:cNvPr id="5" name="TextBox 4"/>
          <p:cNvSpPr txBox="1"/>
          <p:nvPr/>
        </p:nvSpPr>
        <p:spPr>
          <a:xfrm>
            <a:off x="2210103" y="1071372"/>
            <a:ext cx="634381"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ВЕРНО ИЗ 20</a:t>
            </a:r>
          </a:p>
        </p:txBody>
      </p:sp>
      <p:sp>
        <p:nvSpPr>
          <p:cNvPr id="6" name="TextBox 5"/>
          <p:cNvSpPr txBox="1"/>
          <p:nvPr/>
        </p:nvSpPr>
        <p:spPr>
          <a:xfrm>
            <a:off x="2990788" y="1071372"/>
            <a:ext cx="1454139"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ЧТО ПОЙМАЛА</a:t>
            </a:r>
          </a:p>
        </p:txBody>
      </p:sp>
      <p:sp>
        <p:nvSpPr>
          <p:cNvPr id="7" name="TextBox 6"/>
          <p:cNvSpPr txBox="1"/>
          <p:nvPr/>
        </p:nvSpPr>
        <p:spPr>
          <a:xfrm>
            <a:off x="4591232" y="1071372"/>
            <a:ext cx="3010733"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ЧТО ПРОПУСТИЛА / ГДЕ ОШИБЛАСЬ</a:t>
            </a:r>
          </a:p>
        </p:txBody>
      </p:sp>
      <p:sp>
        <p:nvSpPr>
          <p:cNvPr id="8" name="TextBox 7"/>
          <p:cNvSpPr txBox="1"/>
          <p:nvPr/>
        </p:nvSpPr>
        <p:spPr>
          <a:xfrm>
            <a:off x="7748270" y="1071372"/>
            <a:ext cx="3663441"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СТОИМОСТЬ (ОЦЕНКА ПО ПРАЙСУ)</a:t>
            </a:r>
          </a:p>
        </p:txBody>
      </p:sp>
      <p:sp>
        <p:nvSpPr>
          <p:cNvPr id="9" name="TextBox 8"/>
          <p:cNvSpPr txBox="1"/>
          <p:nvPr/>
        </p:nvSpPr>
        <p:spPr>
          <a:xfrm>
            <a:off x="630936" y="1450848"/>
            <a:ext cx="1432863"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Хэш (точное совпадение)</a:t>
            </a:r>
          </a:p>
        </p:txBody>
      </p:sp>
      <p:sp>
        <p:nvSpPr>
          <p:cNvPr id="10" name="TextBox 9"/>
          <p:cNvSpPr txBox="1"/>
          <p:nvPr/>
        </p:nvSpPr>
        <p:spPr>
          <a:xfrm>
            <a:off x="2210103" y="1450848"/>
            <a:ext cx="63438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15/20</a:t>
            </a:r>
          </a:p>
        </p:txBody>
      </p:sp>
      <p:sp>
        <p:nvSpPr>
          <p:cNvPr id="11" name="TextBox 10"/>
          <p:cNvSpPr txBox="1"/>
          <p:nvPr/>
        </p:nvSpPr>
        <p:spPr>
          <a:xfrm>
            <a:off x="2990788" y="1450848"/>
            <a:ext cx="1454139"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5 повторов и все 10 разных</a:t>
            </a:r>
          </a:p>
        </p:txBody>
      </p:sp>
      <p:sp>
        <p:nvSpPr>
          <p:cNvPr id="12" name="TextBox 11"/>
          <p:cNvSpPr txBox="1"/>
          <p:nvPr/>
        </p:nvSpPr>
        <p:spPr>
          <a:xfrm>
            <a:off x="4591232" y="1450848"/>
            <a:ext cx="3010733"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5 перефразировок</a:t>
            </a:r>
          </a:p>
        </p:txBody>
      </p:sp>
      <p:sp>
        <p:nvSpPr>
          <p:cNvPr id="13" name="TextBox 12"/>
          <p:cNvSpPr txBox="1"/>
          <p:nvPr/>
        </p:nvSpPr>
        <p:spPr>
          <a:xfrm>
            <a:off x="7748270" y="1450848"/>
            <a:ext cx="3663441"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дёшево и мгновенно, без вызова модели</a:t>
            </a:r>
          </a:p>
        </p:txBody>
      </p:sp>
      <p:cxnSp>
        <p:nvCxnSpPr>
          <p:cNvPr id="14" name="Connector 13"/>
          <p:cNvCxnSpPr/>
          <p:nvPr/>
        </p:nvCxnSpPr>
        <p:spPr>
          <a:xfrm>
            <a:off x="630936" y="17891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1789176"/>
            <a:ext cx="1432863" cy="457200"/>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TF-IDF + косинус</a:t>
            </a:r>
            <a:r>
              <a:rPr sz="900" b="0" i="0">
                <a:solidFill>
                  <a:srgbClr val="141B2E"/>
                </a:solidFill>
                <a:latin typeface="Arial"/>
              </a:rPr>
              <a:t> (порог 0,3)</a:t>
            </a:r>
          </a:p>
        </p:txBody>
      </p:sp>
      <p:sp>
        <p:nvSpPr>
          <p:cNvPr id="16" name="TextBox 15"/>
          <p:cNvSpPr txBox="1"/>
          <p:nvPr/>
        </p:nvSpPr>
        <p:spPr>
          <a:xfrm>
            <a:off x="2210103" y="1789176"/>
            <a:ext cx="634381" cy="457200"/>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13/20</a:t>
            </a:r>
            <a:r>
              <a:rPr sz="900" b="0" i="0">
                <a:solidFill>
                  <a:srgbClr val="141B2E"/>
                </a:solidFill>
                <a:latin typeface="Arial"/>
              </a:rPr>
              <a:t> — хуже хэша</a:t>
            </a:r>
          </a:p>
        </p:txBody>
      </p:sp>
      <p:sp>
        <p:nvSpPr>
          <p:cNvPr id="17" name="TextBox 16"/>
          <p:cNvSpPr txBox="1"/>
          <p:nvPr/>
        </p:nvSpPr>
        <p:spPr>
          <a:xfrm>
            <a:off x="2990788" y="1789176"/>
            <a:ext cx="1454139"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повторы, часть разных вопросов</a:t>
            </a:r>
          </a:p>
        </p:txBody>
      </p:sp>
      <p:sp>
        <p:nvSpPr>
          <p:cNvPr id="18" name="TextBox 17"/>
          <p:cNvSpPr txBox="1"/>
          <p:nvPr/>
        </p:nvSpPr>
        <p:spPr>
          <a:xfrm>
            <a:off x="4591232" y="1789176"/>
            <a:ext cx="3010733"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те же 5 перефразировок + 2 ложных срабатывания на близких темах</a:t>
            </a:r>
          </a:p>
        </p:txBody>
      </p:sp>
      <p:sp>
        <p:nvSpPr>
          <p:cNvPr id="19" name="TextBox 18"/>
          <p:cNvSpPr txBox="1"/>
          <p:nvPr/>
        </p:nvSpPr>
        <p:spPr>
          <a:xfrm>
            <a:off x="7748270" y="1789176"/>
            <a:ext cx="3663441"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дёшево и мгновенно, без вызова модели</a:t>
            </a:r>
          </a:p>
        </p:txBody>
      </p:sp>
      <p:cxnSp>
        <p:nvCxnSpPr>
          <p:cNvPr id="20" name="Connector 19"/>
          <p:cNvCxnSpPr/>
          <p:nvPr/>
        </p:nvCxnSpPr>
        <p:spPr>
          <a:xfrm>
            <a:off x="630936" y="22463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0936" y="2246376"/>
            <a:ext cx="1432863"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Модель-судья</a:t>
            </a:r>
            <a:r>
              <a:rPr sz="900" b="0" i="0">
                <a:solidFill>
                  <a:srgbClr val="141B2E"/>
                </a:solidFill>
                <a:latin typeface="Arial"/>
              </a:rPr>
              <a:t> (gpt-4o-mini)</a:t>
            </a:r>
          </a:p>
        </p:txBody>
      </p:sp>
      <p:sp>
        <p:nvSpPr>
          <p:cNvPr id="22" name="TextBox 21"/>
          <p:cNvSpPr txBox="1"/>
          <p:nvPr/>
        </p:nvSpPr>
        <p:spPr>
          <a:xfrm>
            <a:off x="2210103" y="2246376"/>
            <a:ext cx="63438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17/20</a:t>
            </a:r>
          </a:p>
        </p:txBody>
      </p:sp>
      <p:sp>
        <p:nvSpPr>
          <p:cNvPr id="23" name="TextBox 22"/>
          <p:cNvSpPr txBox="1"/>
          <p:nvPr/>
        </p:nvSpPr>
        <p:spPr>
          <a:xfrm>
            <a:off x="2990788" y="2246376"/>
            <a:ext cx="1454139"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10 дублей</a:t>
            </a:r>
          </a:p>
        </p:txBody>
      </p:sp>
      <p:sp>
        <p:nvSpPr>
          <p:cNvPr id="24" name="TextBox 23"/>
          <p:cNvSpPr txBox="1"/>
          <p:nvPr/>
        </p:nvSpPr>
        <p:spPr>
          <a:xfrm>
            <a:off x="4591232" y="2246376"/>
            <a:ext cx="3010733"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3 ложных срабатывания, включая пару без общих слов</a:t>
            </a:r>
          </a:p>
        </p:txBody>
      </p:sp>
      <p:sp>
        <p:nvSpPr>
          <p:cNvPr id="25" name="TextBox 24"/>
          <p:cNvSpPr txBox="1"/>
          <p:nvPr/>
        </p:nvSpPr>
        <p:spPr>
          <a:xfrm>
            <a:off x="7748270" y="2246376"/>
            <a:ext cx="3663441"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~$0,15/млн вход · $0,60/млн выход; на кейсе (≈300/мес) ≈$0,006/мес</a:t>
            </a:r>
          </a:p>
        </p:txBody>
      </p:sp>
      <p:cxnSp>
        <p:nvCxnSpPr>
          <p:cNvPr id="26" name="Connector 25"/>
          <p:cNvCxnSpPr/>
          <p:nvPr/>
        </p:nvCxnSpPr>
        <p:spPr>
          <a:xfrm>
            <a:off x="630936" y="258470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30936" y="2584704"/>
            <a:ext cx="1432863" cy="2377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Сервис jev</a:t>
            </a:r>
          </a:p>
        </p:txBody>
      </p:sp>
      <p:sp>
        <p:nvSpPr>
          <p:cNvPr id="28" name="TextBox 27"/>
          <p:cNvSpPr txBox="1"/>
          <p:nvPr/>
        </p:nvSpPr>
        <p:spPr>
          <a:xfrm>
            <a:off x="2210103" y="2584704"/>
            <a:ext cx="634381" cy="2377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20/20</a:t>
            </a:r>
          </a:p>
        </p:txBody>
      </p:sp>
      <p:sp>
        <p:nvSpPr>
          <p:cNvPr id="29" name="TextBox 28"/>
          <p:cNvSpPr txBox="1"/>
          <p:nvPr/>
        </p:nvSpPr>
        <p:spPr>
          <a:xfrm>
            <a:off x="2990788" y="2584704"/>
            <a:ext cx="1454139"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20</a:t>
            </a:r>
          </a:p>
        </p:txBody>
      </p:sp>
      <p:sp>
        <p:nvSpPr>
          <p:cNvPr id="30" name="TextBox 29"/>
          <p:cNvSpPr txBox="1"/>
          <p:nvPr/>
        </p:nvSpPr>
        <p:spPr>
          <a:xfrm>
            <a:off x="4591232" y="2584704"/>
            <a:ext cx="3010733"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ошибок нет</a:t>
            </a:r>
          </a:p>
        </p:txBody>
      </p:sp>
      <p:sp>
        <p:nvSpPr>
          <p:cNvPr id="31" name="TextBox 30"/>
          <p:cNvSpPr txBox="1"/>
          <p:nvPr/>
        </p:nvSpPr>
        <p:spPr>
          <a:xfrm>
            <a:off x="7748270" y="2584704"/>
            <a:ext cx="3663441"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$0,042/млн вход, $0 выход; на кейсе ≈$0,003/мес</a:t>
            </a:r>
          </a:p>
        </p:txBody>
      </p:sp>
      <p:cxnSp>
        <p:nvCxnSpPr>
          <p:cNvPr id="32" name="Connector 31"/>
          <p:cNvCxnSpPr/>
          <p:nvPr/>
        </p:nvCxnSpPr>
        <p:spPr>
          <a:xfrm>
            <a:off x="502920" y="3014472"/>
            <a:ext cx="365760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02920" y="3087624"/>
            <a:ext cx="10908792" cy="205740"/>
          </a:xfrm>
          <a:prstGeom prst="rect">
            <a:avLst/>
          </a:prstGeom>
          <a:noFill/>
        </p:spPr>
        <p:txBody>
          <a:bodyPr wrap="square" lIns="0" rIns="0" tIns="0" bIns="0" anchor="t">
            <a:spAutoFit/>
          </a:bodyPr>
          <a:lstStyle/>
          <a:p>
            <a:pPr algn="l">
              <a:lnSpc>
                <a:spcPts val="1260"/>
              </a:lnSpc>
              <a:spcAft>
                <a:spcPts val="0"/>
              </a:spcAft>
            </a:pPr>
            <a:r>
              <a:rPr sz="1050" b="0" i="0">
                <a:solidFill>
                  <a:srgbClr val="6B7685"/>
                </a:solidFill>
                <a:latin typeface="Arial"/>
              </a:rPr>
              <a:t>jev — внешний сервис типизированных решений: отвечает только в заданной форме (да/нет, выбор, шкала), не свободным текстом.</a:t>
            </a:r>
          </a:p>
        </p:txBody>
      </p:sp>
      <p:sp>
        <p:nvSpPr>
          <p:cNvPr id="34" name="Rounded Rectangle 33"/>
          <p:cNvSpPr/>
          <p:nvPr/>
        </p:nvSpPr>
        <p:spPr>
          <a:xfrm>
            <a:off x="502920" y="3457956"/>
            <a:ext cx="82296" cy="4793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3585972"/>
            <a:ext cx="10643616" cy="22334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Честная находка.</a:t>
            </a:r>
            <a:r>
              <a:rPr sz="1100" b="1" i="0">
                <a:solidFill>
                  <a:srgbClr val="141B2E"/>
                </a:solidFill>
                <a:latin typeface="Arial"/>
              </a:rPr>
              <a:t> Одно измерение на 20 парах мало, чтобы менять работающую архитектуру; обе платные схемы дешевле цента в месяц — решает точность.</a:t>
            </a:r>
          </a:p>
        </p:txBody>
      </p:sp>
      <p:pic>
        <p:nvPicPr>
          <p:cNvPr id="36" name="Picture 35" descr="k2-n8n-test-stend-real.png"/>
          <p:cNvPicPr>
            <a:picLocks noChangeAspect="1"/>
          </p:cNvPicPr>
          <p:nvPr/>
        </p:nvPicPr>
        <p:blipFill>
          <a:blip r:embed="rId2"/>
          <a:stretch>
            <a:fillRect/>
          </a:stretch>
        </p:blipFill>
        <p:spPr>
          <a:xfrm>
            <a:off x="2504995" y="4101928"/>
            <a:ext cx="7178960" cy="2234510"/>
          </a:xfrm>
          <a:prstGeom prst="rect">
            <a:avLst/>
          </a:prstGeom>
        </p:spPr>
      </p:pic>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Решение: хэш первым, jev — на дорогом шаге</a:t>
            </a:r>
          </a:p>
        </p:txBody>
      </p:sp>
      <p:pic>
        <p:nvPicPr>
          <p:cNvPr id="3" name="Picture 2" descr="k2-shema-gibrid.png"/>
          <p:cNvPicPr>
            <a:picLocks noChangeAspect="1"/>
          </p:cNvPicPr>
          <p:nvPr/>
        </p:nvPicPr>
        <p:blipFill>
          <a:blip r:embed="rId2"/>
          <a:stretch>
            <a:fillRect/>
          </a:stretch>
        </p:blipFill>
        <p:spPr>
          <a:xfrm>
            <a:off x="1331297" y="943356"/>
            <a:ext cx="9526357" cy="3572384"/>
          </a:xfrm>
          <a:prstGeom prst="rect">
            <a:avLst/>
          </a:prstGeom>
        </p:spPr>
      </p:pic>
      <p:sp>
        <p:nvSpPr>
          <p:cNvPr id="4" name="Rounded Rectangle 3"/>
          <p:cNvSpPr/>
          <p:nvPr/>
        </p:nvSpPr>
        <p:spPr>
          <a:xfrm>
            <a:off x="502920" y="468033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808348"/>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Фигура: шаг 1 — дешёвый механический предфильтр, берёт на себя буквальные повторы бесплатно. Шаг 2 — проверка смыслом, решение по измерению — специализированный сервис (jev), точнее и дешевле модели общего назначения на этом тесте. Узел собран и стоит на стенде.</a:t>
            </a:r>
          </a:p>
        </p:txBody>
      </p:sp>
      <p:sp>
        <p:nvSpPr>
          <p:cNvPr id="6" name="Rounded Rectangle 5"/>
          <p:cNvSpPr/>
          <p:nvPr/>
        </p:nvSpPr>
        <p:spPr>
          <a:xfrm>
            <a:off x="502920" y="5733416"/>
            <a:ext cx="11183112" cy="58902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5870576"/>
            <a:ext cx="10707624" cy="314705"/>
          </a:xfrm>
          <a:prstGeom prst="rect">
            <a:avLst/>
          </a:prstGeom>
          <a:noFill/>
        </p:spPr>
        <p:txBody>
          <a:bodyPr wrap="square" lIns="0" rIns="0" tIns="0" bIns="0" anchor="ctr">
            <a:spAutoFit/>
          </a:bodyPr>
          <a:lstStyle/>
          <a:p>
            <a:pPr algn="l">
              <a:lnSpc>
                <a:spcPts val="1238"/>
              </a:lnSpc>
              <a:spcAft>
                <a:spcPts val="300"/>
              </a:spcAft>
            </a:pPr>
            <a:r>
              <a:rPr sz="1050" b="1" i="1">
                <a:solidFill>
                  <a:srgbClr val="6B7685"/>
                </a:solidFill>
                <a:latin typeface="Arial"/>
              </a:rPr>
              <a:t>Честная оговорка — на самой схеме.</a:t>
            </a:r>
            <a:r>
              <a:rPr sz="1050" b="0" i="1">
                <a:solidFill>
                  <a:srgbClr val="6B7685"/>
                </a:solidFill>
                <a:latin typeface="Arial"/>
              </a:rPr>
              <a:t> Измерение одно, на 20 парах одного языка и одной тематики (запись на курсы). Обобщаемость за пределы этого набора не проверена — это граница измерения, а не повод не внедрять решение.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нормализация и точное совпадение</a:t>
            </a:r>
          </a:p>
        </p:txBody>
      </p:sp>
      <p:pic>
        <p:nvPicPr>
          <p:cNvPr id="3" name="Picture 2" descr="k2-n8n-mehanika-real.png"/>
          <p:cNvPicPr>
            <a:picLocks noChangeAspect="1"/>
          </p:cNvPicPr>
          <p:nvPr/>
        </p:nvPicPr>
        <p:blipFill>
          <a:blip r:embed="rId2"/>
          <a:stretch>
            <a:fillRect/>
          </a:stretch>
        </p:blipFill>
        <p:spPr>
          <a:xfrm>
            <a:off x="1477471" y="943356"/>
            <a:ext cx="9234008" cy="3236745"/>
          </a:xfrm>
          <a:prstGeom prst="rect">
            <a:avLst/>
          </a:prstGeom>
        </p:spPr>
      </p:pic>
      <p:sp>
        <p:nvSpPr>
          <p:cNvPr id="4" name="Rounded Rectangle 3"/>
          <p:cNvSpPr/>
          <p:nvPr/>
        </p:nvSpPr>
        <p:spPr>
          <a:xfrm>
            <a:off x="502920" y="4344693"/>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2709"/>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Узел </a:t>
            </a:r>
            <a:r>
              <a:rPr sz="1400" b="1" i="0">
                <a:solidFill>
                  <a:srgbClr val="141B2E"/>
                </a:solidFill>
                <a:latin typeface="Consolas"/>
              </a:rPr>
              <a:t>Normalize</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hash</a:t>
            </a:r>
            <a:r>
              <a:rPr sz="1400" b="1" i="0">
                <a:solidFill>
                  <a:srgbClr val="141B2E"/>
                </a:solidFill>
                <a:latin typeface="Arial"/>
              </a:rPr>
              <a:t> (</a:t>
            </a:r>
            <a:r>
              <a:rPr sz="1400" b="1" i="0">
                <a:solidFill>
                  <a:srgbClr val="141B2E"/>
                </a:solidFill>
                <a:latin typeface="Consolas"/>
              </a:rPr>
              <a:t>Set</a:t>
            </a:r>
            <a:r>
              <a:rPr sz="1400" b="1" i="0">
                <a:solidFill>
                  <a:srgbClr val="141B2E"/>
                </a:solidFill>
                <a:latin typeface="Arial"/>
              </a:rPr>
              <a:t>).</a:t>
            </a:r>
            <a:r>
              <a:rPr sz="1400" b="1" i="0">
                <a:solidFill>
                  <a:srgbClr val="141B2E"/>
                </a:solidFill>
                <a:latin typeface="Arial"/>
              </a:rPr>
              <a:t> Берёт текст заявки, приводит к нижнему регистру, убирает пробелы по краям, схлопывает повторные пробелы внутри: </a:t>
            </a:r>
            <a:r>
              <a:rPr sz="1400" b="1" i="0">
                <a:solidFill>
                  <a:srgbClr val="141B2E"/>
                </a:solidFill>
                <a:latin typeface="Consolas"/>
              </a:rPr>
              <a:t>normalized_hash</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текст.toLowerCase().trim().replace(/\s+/g,</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Рядом — тот же расчёт для недавнего сообщения того же контакта.</a:t>
            </a:r>
          </a:p>
        </p:txBody>
      </p:sp>
      <p:sp>
        <p:nvSpPr>
          <p:cNvPr id="6" name="Rounded Rectangle 5"/>
          <p:cNvSpPr/>
          <p:nvPr/>
        </p:nvSpPr>
        <p:spPr>
          <a:xfrm>
            <a:off x="502920" y="5445021"/>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73037"/>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Узел </a:t>
            </a:r>
            <a:r>
              <a:rPr sz="1100" b="1" i="0">
                <a:solidFill>
                  <a:srgbClr val="141B2E"/>
                </a:solidFill>
                <a:latin typeface="Consolas"/>
              </a:rPr>
              <a:t>Exact</a:t>
            </a:r>
            <a:r>
              <a:rPr sz="1100" b="1" i="0">
                <a:solidFill>
                  <a:srgbClr val="141B2E"/>
                </a:solidFill>
                <a:latin typeface="Arial"/>
              </a:rPr>
              <a:t> </a:t>
            </a:r>
            <a:r>
              <a:rPr sz="1100" b="1" i="0">
                <a:solidFill>
                  <a:srgbClr val="141B2E"/>
                </a:solidFill>
                <a:latin typeface="Consolas"/>
              </a:rPr>
              <a:t>duplicate</a:t>
            </a:r>
            <a:r>
              <a:rPr sz="1100" b="1" i="0">
                <a:solidFill>
                  <a:srgbClr val="141B2E"/>
                </a:solidFill>
                <a:latin typeface="Arial"/>
              </a:rPr>
              <a:t> </a:t>
            </a:r>
            <a:r>
              <a:rPr sz="1100" b="1" i="0">
                <a:solidFill>
                  <a:srgbClr val="141B2E"/>
                </a:solidFill>
                <a:latin typeface="Consolas"/>
              </a:rPr>
              <a:t>in</a:t>
            </a:r>
            <a:r>
              <a:rPr sz="1100" b="1" i="0">
                <a:solidFill>
                  <a:srgbClr val="141B2E"/>
                </a:solidFill>
                <a:latin typeface="Arial"/>
              </a:rPr>
              <a:t> </a:t>
            </a:r>
            <a:r>
              <a:rPr sz="1100" b="1" i="0">
                <a:solidFill>
                  <a:srgbClr val="141B2E"/>
                </a:solidFill>
                <a:latin typeface="Consolas"/>
              </a:rPr>
              <a:t>window?</a:t>
            </a:r>
            <a:r>
              <a:rPr sz="1100" b="1" i="0">
                <a:solidFill>
                  <a:srgbClr val="141B2E"/>
                </a:solidFill>
                <a:latin typeface="Arial"/>
              </a:rPr>
              <a:t> (</a:t>
            </a:r>
            <a:r>
              <a:rPr sz="1100" b="1" i="0">
                <a:solidFill>
                  <a:srgbClr val="141B2E"/>
                </a:solidFill>
                <a:latin typeface="Consolas"/>
              </a:rPr>
              <a:t>IF</a:t>
            </a:r>
            <a:r>
              <a:rPr sz="1100" b="1" i="0">
                <a:solidFill>
                  <a:srgbClr val="141B2E"/>
                </a:solidFill>
                <a:latin typeface="Arial"/>
              </a:rPr>
              <a:t>).</a:t>
            </a:r>
            <a:r>
              <a:rPr sz="1100" b="1" i="0">
                <a:solidFill>
                  <a:srgbClr val="141B2E"/>
                </a:solidFill>
                <a:latin typeface="Arial"/>
              </a:rPr>
              <a:t> Условие: </a:t>
            </a:r>
            <a:r>
              <a:rPr sz="1100" b="1" i="0">
                <a:solidFill>
                  <a:srgbClr val="141B2E"/>
                </a:solidFill>
                <a:latin typeface="Consolas"/>
              </a:rPr>
              <a:t>normalized_hash</a:t>
            </a:r>
            <a:r>
              <a:rPr sz="1100" b="1" i="0">
                <a:solidFill>
                  <a:srgbClr val="141B2E"/>
                </a:solidFill>
                <a:latin typeface="Arial"/>
              </a:rPr>
              <a:t> строго равен хэшу недавнего обращения — строковое сравнение, оба значения уже в нижнем регистре. Совпало → повтор найден, гасится бесплатно, без записи. Не совпало → заявка идёт дальше по цепочке.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Панели настройки: нормализация и точное сравнение</a:t>
            </a:r>
          </a:p>
        </p:txBody>
      </p:sp>
      <p:pic>
        <p:nvPicPr>
          <p:cNvPr id="3" name="Picture 2" descr="k2-panel-hash-crop-real.png"/>
          <p:cNvPicPr>
            <a:picLocks noChangeAspect="1"/>
          </p:cNvPicPr>
          <p:nvPr/>
        </p:nvPicPr>
        <p:blipFill>
          <a:blip r:embed="rId2"/>
          <a:stretch>
            <a:fillRect/>
          </a:stretch>
        </p:blipFill>
        <p:spPr>
          <a:xfrm>
            <a:off x="502920" y="1364430"/>
            <a:ext cx="11183112" cy="2917333"/>
          </a:xfrm>
          <a:prstGeom prst="rect">
            <a:avLst/>
          </a:prstGeom>
        </p:spPr>
      </p:pic>
      <p:sp>
        <p:nvSpPr>
          <p:cNvPr id="4" name="Rounded Rectangle 3"/>
          <p:cNvSpPr/>
          <p:nvPr/>
        </p:nvSpPr>
        <p:spPr>
          <a:xfrm>
            <a:off x="502920" y="494927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07729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Весь дешёвый слой — это одна строка приведения текста к общему виду и один знак равенства. Ни модели, ни порога, ни настройки, которую можно подобрать неудачно.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структурированный запрос вместо текстового промпта</a:t>
            </a:r>
          </a:p>
        </p:txBody>
      </p:sp>
      <p:pic>
        <p:nvPicPr>
          <p:cNvPr id="3" name="Picture 2" descr="k2-n8n-jev-real.png"/>
          <p:cNvPicPr>
            <a:picLocks noChangeAspect="1"/>
          </p:cNvPicPr>
          <p:nvPr/>
        </p:nvPicPr>
        <p:blipFill>
          <a:blip r:embed="rId2"/>
          <a:stretch>
            <a:fillRect/>
          </a:stretch>
        </p:blipFill>
        <p:spPr>
          <a:xfrm>
            <a:off x="1499701" y="1319784"/>
            <a:ext cx="9189548" cy="3063182"/>
          </a:xfrm>
          <a:prstGeom prst="rect">
            <a:avLst/>
          </a:prstGeom>
        </p:spPr>
      </p:pic>
      <p:sp>
        <p:nvSpPr>
          <p:cNvPr id="4" name="Rounded Rectangle 3"/>
          <p:cNvSpPr/>
          <p:nvPr/>
        </p:nvSpPr>
        <p:spPr>
          <a:xfrm>
            <a:off x="502920" y="4547558"/>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75574"/>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Узел </a:t>
            </a:r>
            <a:r>
              <a:rPr sz="1450" b="1" i="0">
                <a:solidFill>
                  <a:srgbClr val="141B2E"/>
                </a:solidFill>
                <a:latin typeface="Consolas"/>
              </a:rPr>
              <a:t>Jev</a:t>
            </a:r>
            <a:r>
              <a:rPr sz="1450" b="1" i="0">
                <a:solidFill>
                  <a:srgbClr val="141B2E"/>
                </a:solidFill>
                <a:latin typeface="Arial"/>
              </a:rPr>
              <a:t> </a:t>
            </a:r>
            <a:r>
              <a:rPr sz="1450" b="1" i="0">
                <a:solidFill>
                  <a:srgbClr val="141B2E"/>
                </a:solidFill>
                <a:latin typeface="Consolas"/>
              </a:rPr>
              <a:t>decision</a:t>
            </a:r>
            <a:r>
              <a:rPr sz="1450" b="1" i="0">
                <a:solidFill>
                  <a:srgbClr val="141B2E"/>
                </a:solidFill>
                <a:latin typeface="Arial"/>
              </a:rPr>
              <a:t> </a:t>
            </a:r>
            <a:r>
              <a:rPr sz="1450" b="1" i="0">
                <a:solidFill>
                  <a:srgbClr val="141B2E"/>
                </a:solidFill>
                <a:latin typeface="Consolas"/>
              </a:rPr>
              <a:t>(reworded?)</a:t>
            </a:r>
            <a:r>
              <a:rPr sz="1450" b="1" i="0">
                <a:solidFill>
                  <a:srgbClr val="141B2E"/>
                </a:solidFill>
                <a:latin typeface="Arial"/>
              </a:rPr>
              <a:t> (</a:t>
            </a:r>
            <a:r>
              <a:rPr sz="1450" b="1" i="0">
                <a:solidFill>
                  <a:srgbClr val="141B2E"/>
                </a:solidFill>
                <a:latin typeface="Consolas"/>
              </a:rPr>
              <a:t>httpRequest</a:t>
            </a:r>
            <a:r>
              <a:rPr sz="1450" b="1" i="0">
                <a:solidFill>
                  <a:srgbClr val="141B2E"/>
                </a:solidFill>
                <a:latin typeface="Arial"/>
              </a:rPr>
              <a:t>).</a:t>
            </a:r>
            <a:r>
              <a:rPr sz="1450" b="1" i="0">
                <a:solidFill>
                  <a:srgbClr val="141B2E"/>
                </a:solidFill>
                <a:latin typeface="Arial"/>
              </a:rPr>
              <a:t> </a:t>
            </a:r>
            <a:r>
              <a:rPr sz="1450" b="1" i="0">
                <a:solidFill>
                  <a:srgbClr val="141B2E"/>
                </a:solidFill>
                <a:latin typeface="Consolas"/>
              </a:rPr>
              <a:t>POST</a:t>
            </a:r>
            <a:r>
              <a:rPr sz="1450" b="1" i="0">
                <a:solidFill>
                  <a:srgbClr val="141B2E"/>
                </a:solidFill>
                <a:latin typeface="Arial"/>
              </a:rPr>
              <a:t> </a:t>
            </a:r>
            <a:r>
              <a:rPr sz="1450" b="1" i="0">
                <a:solidFill>
                  <a:srgbClr val="141B2E"/>
                </a:solidFill>
                <a:latin typeface="Consolas"/>
              </a:rPr>
              <a:t>.../api/alpha/decisions</a:t>
            </a:r>
            <a:r>
              <a:rPr sz="1450" b="1" i="0">
                <a:solidFill>
                  <a:srgbClr val="141B2E"/>
                </a:solidFill>
                <a:latin typeface="Arial"/>
              </a:rPr>
              <a:t>, модель </a:t>
            </a:r>
            <a:r>
              <a:rPr sz="1450" b="1" i="0">
                <a:solidFill>
                  <a:srgbClr val="141B2E"/>
                </a:solidFill>
                <a:latin typeface="Consolas"/>
              </a:rPr>
              <a:t>typesafe/jev-1.13</a:t>
            </a:r>
            <a:r>
              <a:rPr sz="1450" b="1" i="0">
                <a:solidFill>
                  <a:srgbClr val="141B2E"/>
                </a:solidFill>
                <a:latin typeface="Arial"/>
              </a:rPr>
              <a:t>. Вопрос — тип </a:t>
            </a:r>
            <a:r>
              <a:rPr sz="1450" b="1" i="0">
                <a:solidFill>
                  <a:srgbClr val="141B2E"/>
                </a:solidFill>
                <a:latin typeface="Consolas"/>
              </a:rPr>
              <a:t>noul</a:t>
            </a:r>
            <a:r>
              <a:rPr sz="1450" b="1" i="0">
                <a:solidFill>
                  <a:srgbClr val="141B2E"/>
                </a:solidFill>
                <a:latin typeface="Arial"/>
              </a:rPr>
              <a:t>: «да/нет» с вероятностью, не свободный текст. Критерии заданы явно: «да» — тот же вопрос другими словами, «нет» — другой вопрос, даже если похожи темы или слова.</a:t>
            </a:r>
          </a:p>
        </p:txBody>
      </p:sp>
      <p:sp>
        <p:nvSpPr>
          <p:cNvPr id="6" name="Rounded Rectangle 5"/>
          <p:cNvSpPr/>
          <p:nvPr/>
        </p:nvSpPr>
        <p:spPr>
          <a:xfrm>
            <a:off x="502920" y="5671508"/>
            <a:ext cx="82296" cy="61363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99524"/>
            <a:ext cx="10643616" cy="35760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Результат на 20 реальных парах.</a:t>
            </a:r>
            <a:r>
              <a:rPr sz="1100" b="1" i="0">
                <a:solidFill>
                  <a:srgbClr val="141B2E"/>
                </a:solidFill>
                <a:latin typeface="Arial"/>
              </a:rPr>
              <a:t> Дубли — jev_noul </a:t>
            </a:r>
            <a:r>
              <a:rPr sz="1100" b="1" i="0">
                <a:solidFill>
                  <a:srgbClr val="141B2E"/>
                </a:solidFill>
                <a:latin typeface="Arial"/>
              </a:rPr>
              <a:t>0.70–0.97</a:t>
            </a:r>
            <a:r>
              <a:rPr sz="1100" b="1" i="0">
                <a:solidFill>
                  <a:srgbClr val="141B2E"/>
                </a:solidFill>
                <a:latin typeface="Arial"/>
              </a:rPr>
              <a:t>. Разные вопросы — </a:t>
            </a:r>
            <a:r>
              <a:rPr sz="1100" b="1" i="0">
                <a:solidFill>
                  <a:srgbClr val="141B2E"/>
                </a:solidFill>
                <a:latin typeface="Arial"/>
              </a:rPr>
              <a:t>0.02–0.08</a:t>
            </a:r>
            <a:r>
              <a:rPr sz="1100" b="1" i="0">
                <a:solidFill>
                  <a:srgbClr val="141B2E"/>
                </a:solidFill>
                <a:latin typeface="Arial"/>
              </a:rPr>
              <a:t>. Порог </a:t>
            </a:r>
            <a:r>
              <a:rPr sz="1100" b="1" i="0">
                <a:solidFill>
                  <a:srgbClr val="141B2E"/>
                </a:solidFill>
                <a:latin typeface="Arial"/>
              </a:rPr>
              <a:t>≥ 0.5 → дубль</a:t>
            </a:r>
            <a:r>
              <a:rPr sz="1100" b="1" i="0">
                <a:solidFill>
                  <a:srgbClr val="141B2E"/>
                </a:solidFill>
                <a:latin typeface="Arial"/>
              </a:rPr>
              <a:t>, разрыв чистый на промежутке 0.08–0.70 — счёт </a:t>
            </a:r>
            <a:r>
              <a:rPr sz="1100" b="1" i="0">
                <a:solidFill>
                  <a:srgbClr val="141B2E"/>
                </a:solidFill>
                <a:latin typeface="Arial"/>
              </a:rPr>
              <a:t>20 из 20</a:t>
            </a:r>
            <a:r>
              <a:rPr sz="1100" b="1" i="0">
                <a:solidFill>
                  <a:srgbClr val="141B2E"/>
                </a:solidFill>
                <a:latin typeface="Arial"/>
              </a:rPr>
              <a:t>.</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Ольга при повторной заявке — и чего не видит</a:t>
            </a:r>
          </a:p>
        </p:txBody>
      </p:sp>
      <p:pic>
        <p:nvPicPr>
          <p:cNvPr id="3" name="Picture 2" descr="k2-datatable-povtor-real.png"/>
          <p:cNvPicPr>
            <a:picLocks noChangeAspect="1"/>
          </p:cNvPicPr>
          <p:nvPr/>
        </p:nvPicPr>
        <p:blipFill>
          <a:blip r:embed="rId2"/>
          <a:stretch>
            <a:fillRect/>
          </a:stretch>
        </p:blipFill>
        <p:spPr>
          <a:xfrm>
            <a:off x="521286" y="943356"/>
            <a:ext cx="11146379" cy="2683957"/>
          </a:xfrm>
          <a:prstGeom prst="rect">
            <a:avLst/>
          </a:prstGeom>
        </p:spPr>
      </p:pic>
      <p:sp>
        <p:nvSpPr>
          <p:cNvPr id="4" name="Rounded Rectangle 3"/>
          <p:cNvSpPr/>
          <p:nvPr/>
        </p:nvSpPr>
        <p:spPr>
          <a:xfrm>
            <a:off x="502920" y="3791905"/>
            <a:ext cx="11183112" cy="112979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3846769"/>
            <a:ext cx="64008" cy="102006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3929065"/>
            <a:ext cx="10643616" cy="855471"/>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15 и 16 — один человек, один текст слово в слово. Между ними сутки.</a:t>
            </a:r>
          </a:p>
          <a:p>
            <a:pPr algn="l">
              <a:lnSpc>
                <a:spcPts val="1534"/>
              </a:lnSpc>
              <a:spcAft>
                <a:spcPts val="300"/>
              </a:spcAft>
            </a:pPr>
            <a:r>
              <a:rPr sz="1300" b="0" i="0">
                <a:solidFill>
                  <a:srgbClr val="141B2E"/>
                </a:solidFill>
                <a:latin typeface="Arial"/>
              </a:rPr>
              <a:t/>
            </a:r>
          </a:p>
          <a:p>
            <a:pPr algn="l">
              <a:lnSpc>
                <a:spcPts val="1534"/>
              </a:lnSpc>
              <a:spcAft>
                <a:spcPts val="300"/>
              </a:spcAft>
            </a:pPr>
            <a:r>
              <a:rPr sz="1300" b="1" i="0">
                <a:solidFill>
                  <a:srgbClr val="141B2E"/>
                </a:solidFill>
                <a:latin typeface="Arial"/>
              </a:rPr>
              <a:t>17–20 — тот же текст ещё четырежды: две пары, внутри каждой меньше двадцати миллисекунд. Так выглядит двойной щелчок по кнопке формы.</a:t>
            </a:r>
          </a:p>
        </p:txBody>
      </p:sp>
      <p:sp>
        <p:nvSpPr>
          <p:cNvPr id="7" name="Rounded Rectangle 6"/>
          <p:cNvSpPr/>
          <p:nvPr/>
        </p:nvSpPr>
        <p:spPr>
          <a:xfrm>
            <a:off x="502920" y="5086289"/>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214305"/>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Даты на кадре старше проверки на повтор: все эти строки записаны до того, как она появилась в цепочке. Пометки «похоже на повтор» в таблице нет и не будет — колонки под неё не существует, и ответ проверки смыслом никуда не сохраняется. Буквальный повтор с проверкой до таблицы больше не доходит; тот же вопрос другими словами доходит — и ложится строкой, неотличимой от первой.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Механика и смысл — разные инструменты, не версии друг друга</a:t>
            </a:r>
          </a:p>
        </p:txBody>
      </p:sp>
      <p:sp>
        <p:nvSpPr>
          <p:cNvPr id="3" name="Rounded Rectangle 2"/>
          <p:cNvSpPr/>
          <p:nvPr/>
        </p:nvSpPr>
        <p:spPr>
          <a:xfrm>
            <a:off x="502920" y="24585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58653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Системный приём.</a:t>
            </a:r>
            <a:r>
              <a:rPr sz="1500" b="1" i="0">
                <a:solidFill>
                  <a:srgbClr val="141B2E"/>
                </a:solidFill>
                <a:latin typeface="Arial"/>
              </a:rPr>
              <a:t> Точное совпадение остаётся в финальном решении — но как первый дешёвый фильтр, экономящий 5 из 20 вызовов модели бесплатно, не как альтернатива LLM.</a:t>
            </a:r>
          </a:p>
        </p:txBody>
      </p:sp>
      <p:sp>
        <p:nvSpPr>
          <p:cNvPr id="5" name="Rounded Rectangle 4"/>
          <p:cNvSpPr/>
          <p:nvPr/>
        </p:nvSpPr>
        <p:spPr>
          <a:xfrm>
            <a:off x="502920" y="387278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080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Дальше по курсу.</a:t>
            </a:r>
            <a:r>
              <a:rPr sz="1500" b="1" i="0">
                <a:solidFill>
                  <a:srgbClr val="141B2E"/>
                </a:solidFill>
                <a:latin typeface="Arial"/>
              </a:rPr>
              <a:t> На Семинаре 10 эта же механика — сравнение смысла заявок — расширяется до поиска ответа в базе знаний.</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Нюансы проверки на повтор</a:t>
            </a:r>
          </a:p>
        </p:txBody>
      </p:sp>
      <p:sp>
        <p:nvSpPr>
          <p:cNvPr id="3" name="Rounded Rectangle 2"/>
          <p:cNvSpPr/>
          <p:nvPr/>
        </p:nvSpPr>
        <p:spPr>
          <a:xfrm>
            <a:off x="502920" y="1958644"/>
            <a:ext cx="11183112" cy="2846070"/>
          </a:xfrm>
          <a:prstGeom prst="roundRect">
            <a:avLst>
              <a:gd name="adj" fmla="val 1070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78100"/>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2178100"/>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Интервал времени — параметр с ценой в обе стороны.</a:t>
            </a:r>
            <a:r>
              <a:rPr sz="1350" b="0" i="0">
                <a:solidFill>
                  <a:srgbClr val="141B2E"/>
                </a:solidFill>
                <a:latin typeface="Arial"/>
              </a:rPr>
              <a:t> Слишком короткий интервал пропустит повтор, разнесённый на день-два. Слишком длинный начнёт путать разные последовательные обращения одного человека с повтором одного обращения.</a:t>
            </a:r>
          </a:p>
        </p:txBody>
      </p:sp>
      <p:sp>
        <p:nvSpPr>
          <p:cNvPr id="6" name="TextBox 5"/>
          <p:cNvSpPr txBox="1"/>
          <p:nvPr/>
        </p:nvSpPr>
        <p:spPr>
          <a:xfrm>
            <a:off x="722376" y="2913049"/>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913049"/>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У модели-судьи своя асимметрия ошибок</a:t>
            </a:r>
            <a:r>
              <a:rPr sz="1350" b="0" i="0">
                <a:solidFill>
                  <a:srgbClr val="141B2E"/>
                </a:solidFill>
                <a:latin typeface="Arial"/>
              </a:rPr>
              <a:t>, не ноль (Wataoka, Takahashi, Ri — NeurIPS 2024 Safe GenAI Workshop, arXiv:2410.21819, self-preference bias): модель-судья систематически не нейтральна, даже отвечая формально «да» или «нет». Наш тест это подтвердил напрямую: 3 ложных срабатывания из 20, и не все объясняются совпадением слов в вопросах.</a:t>
            </a:r>
          </a:p>
        </p:txBody>
      </p:sp>
      <p:sp>
        <p:nvSpPr>
          <p:cNvPr id="8" name="TextBox 7"/>
          <p:cNvSpPr txBox="1"/>
          <p:nvPr/>
        </p:nvSpPr>
        <p:spPr>
          <a:xfrm>
            <a:off x="722376" y="3850309"/>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850309"/>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считать дублем» — продуктовое решение, не только техническое.</a:t>
            </a:r>
            <a:r>
              <a:rPr sz="1350" b="0" i="0">
                <a:solidFill>
                  <a:srgbClr val="141B2E"/>
                </a:solidFill>
                <a:latin typeface="Arial"/>
              </a:rPr>
              <a:t> Иногда «тот же вопрос другими словами» стоит обработать как новое обращение — человек ждёт ответа срочнее второй раз. Не всякий технический повтор должен схлопываться в один в интерфейсе.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точного совпадения достаточно</a:t>
            </a:r>
          </a:p>
        </p:txBody>
      </p:sp>
      <p:sp>
        <p:nvSpPr>
          <p:cNvPr id="3" name="Rounded Rectangle 2"/>
          <p:cNvSpPr/>
          <p:nvPr/>
        </p:nvSpPr>
        <p:spPr>
          <a:xfrm>
            <a:off x="502920" y="1070152"/>
            <a:ext cx="5454396" cy="3366516"/>
          </a:xfrm>
          <a:prstGeom prst="roundRect">
            <a:avLst>
              <a:gd name="adj" fmla="val 905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98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ТОЧНОГО СОВПАДЕНИЯ ДОСТАТОЧНО</a:t>
            </a:r>
          </a:p>
        </p:txBody>
      </p:sp>
      <p:sp>
        <p:nvSpPr>
          <p:cNvPr id="5" name="TextBox 4"/>
          <p:cNvSpPr txBox="1"/>
          <p:nvPr/>
        </p:nvSpPr>
        <p:spPr>
          <a:xfrm>
            <a:off x="685800" y="145420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повторы в основном буквальные, как первый вопрос Бориса</a:t>
            </a:r>
          </a:p>
        </p:txBody>
      </p:sp>
      <p:cxnSp>
        <p:nvCxnSpPr>
          <p:cNvPr id="6" name="Connector 5"/>
          <p:cNvCxnSpPr/>
          <p:nvPr/>
        </p:nvCxnSpPr>
        <p:spPr>
          <a:xfrm>
            <a:off x="685800" y="17728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7284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нужен бесплатный и мгновенный фильтр на весь поток заявок</a:t>
            </a:r>
          </a:p>
        </p:txBody>
      </p:sp>
      <p:cxnSp>
        <p:nvCxnSpPr>
          <p:cNvPr id="8" name="Connector 7"/>
          <p:cNvCxnSpPr/>
          <p:nvPr/>
        </p:nvCxnSpPr>
        <p:spPr>
          <a:xfrm>
            <a:off x="685800" y="20914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09148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классический векторный подход не стоит добавлять «на всякий случай» — измерение показало результат ХУЖЕ хэша, не тот же самый</a:t>
            </a:r>
          </a:p>
        </p:txBody>
      </p:sp>
      <p:sp>
        <p:nvSpPr>
          <p:cNvPr id="10" name="Rounded Rectangle 9"/>
          <p:cNvSpPr/>
          <p:nvPr/>
        </p:nvSpPr>
        <p:spPr>
          <a:xfrm>
            <a:off x="6231636" y="1070152"/>
            <a:ext cx="5454396" cy="3366516"/>
          </a:xfrm>
          <a:prstGeom prst="roundRect">
            <a:avLst>
              <a:gd name="adj" fmla="val 905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1798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ПРОВЕРКА СМЫСЛОМ НУЖНА СВЕРХУ</a:t>
            </a:r>
          </a:p>
        </p:txBody>
      </p:sp>
      <p:sp>
        <p:nvSpPr>
          <p:cNvPr id="12" name="TextBox 11"/>
          <p:cNvSpPr txBox="1"/>
          <p:nvPr/>
        </p:nvSpPr>
        <p:spPr>
          <a:xfrm>
            <a:off x="6414516" y="145420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ожидаются переформулировки, как его второй вопрос</a:t>
            </a:r>
          </a:p>
        </p:txBody>
      </p:sp>
      <p:cxnSp>
        <p:nvCxnSpPr>
          <p:cNvPr id="13" name="Connector 12"/>
          <p:cNvCxnSpPr/>
          <p:nvPr/>
        </p:nvCxnSpPr>
        <p:spPr>
          <a:xfrm>
            <a:off x="6414516" y="17728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177284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необнаруженного дубля выше цены одного вызова модели на спорные случаи</a:t>
            </a:r>
          </a:p>
        </p:txBody>
      </p:sp>
      <p:cxnSp>
        <p:nvCxnSpPr>
          <p:cNvPr id="15" name="Connector 14"/>
          <p:cNvCxnSpPr/>
          <p:nvPr/>
        </p:nvCxnSpPr>
        <p:spPr>
          <a:xfrm>
            <a:off x="6414516" y="226382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26382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частота ошибок самой модели — измеренная цена (у нас 3 ложных срабатывания из 20), а не ноль, и её тоже нужно закладывать</a:t>
            </a:r>
          </a:p>
        </p:txBody>
      </p:sp>
      <p:cxnSp>
        <p:nvCxnSpPr>
          <p:cNvPr id="17" name="Connector 16"/>
          <p:cNvCxnSpPr/>
          <p:nvPr/>
        </p:nvCxnSpPr>
        <p:spPr>
          <a:xfrm>
            <a:off x="6414516" y="29271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92714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ни хэш, ни классический векторный подход не решают переформулировку на русском языке целиком сами по себе</a:t>
            </a:r>
          </a:p>
        </p:txBody>
      </p:sp>
      <p:cxnSp>
        <p:nvCxnSpPr>
          <p:cNvPr id="19" name="Connector 18"/>
          <p:cNvCxnSpPr/>
          <p:nvPr/>
        </p:nvCxnSpPr>
        <p:spPr>
          <a:xfrm>
            <a:off x="6414516" y="341812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418128"/>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конкретный инструмент смысловой проверки — тоже выбор: дешёвая модель общего назначения (17/20 на нашем тесте) или специализированный сервис jev (20/20) — не угадывается по умолчанию, нужна своя проверка</a:t>
            </a:r>
          </a:p>
        </p:txBody>
      </p:sp>
      <p:sp>
        <p:nvSpPr>
          <p:cNvPr id="21" name="Rounded Rectangle 20"/>
          <p:cNvSpPr/>
          <p:nvPr/>
        </p:nvSpPr>
        <p:spPr>
          <a:xfrm>
            <a:off x="502920" y="4918252"/>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046268"/>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Закрывает строку оси.</a:t>
            </a:r>
            <a:r>
              <a:rPr sz="1500" b="1" i="0">
                <a:solidFill>
                  <a:srgbClr val="141B2E"/>
                </a:solidFill>
                <a:latin typeface="Arial"/>
              </a:rPr>
              <a:t> Выглядело надёжным: заявка про тот же вопрос пришла снова — обработали как новую. Чем оказалось: без проверки на дубль каждое повторное обращение запускает цепочку с нуля; ни хэш, ни классический векторный подход не решают это целиком для живого русского текста — нужна модель, с её собственной, измеренной ценой ошибки.</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214880"/>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Одобрение возврата</a:t>
            </a:r>
          </a:p>
        </p:txBody>
      </p:sp>
      <p:sp>
        <p:nvSpPr>
          <p:cNvPr id="4" name="TextBox 3"/>
          <p:cNvSpPr txBox="1"/>
          <p:nvPr/>
        </p:nvSpPr>
        <p:spPr>
          <a:xfrm>
            <a:off x="1234440" y="2847340"/>
            <a:ext cx="9692640" cy="894588"/>
          </a:xfrm>
          <a:prstGeom prst="rect">
            <a:avLst/>
          </a:prstGeom>
          <a:noFill/>
        </p:spPr>
        <p:txBody>
          <a:bodyPr wrap="square" lIns="0" rIns="0" tIns="0" bIns="0" anchor="t">
            <a:spAutoFit/>
          </a:bodyPr>
          <a:lstStyle/>
          <a:p>
            <a:pPr algn="l">
              <a:lnSpc>
                <a:spcPts val="2730"/>
              </a:lnSpc>
              <a:spcAft>
                <a:spcPts val="0"/>
              </a:spcAft>
            </a:pPr>
            <a:r>
              <a:rPr sz="2100" b="0" i="0">
                <a:solidFill>
                  <a:srgbClr val="FFFFFF"/>
                </a:solidFill>
                <a:latin typeface="Arial"/>
              </a:rPr>
              <a:t>Месяц в работе. Ни одной жалобы. Сколько раз правило ошиблось — не знает никто.</a:t>
            </a:r>
          </a:p>
        </p:txBody>
      </p:sp>
      <p:sp>
        <p:nvSpPr>
          <p:cNvPr id="5" name="TextBox 4"/>
          <p:cNvSpPr txBox="1"/>
          <p:nvPr/>
        </p:nvSpPr>
        <p:spPr>
          <a:xfrm>
            <a:off x="1234440" y="3888232"/>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D6E2EC"/>
                </a:solidFill>
                <a:latin typeface="Arial"/>
              </a:rPr>
              <a:t>«Автоматический возврат средств — до заданного порога суммы. Выше порога — только через руководителя.»</a:t>
            </a:r>
          </a:p>
        </p:txBody>
      </p:sp>
      <p:sp>
        <p:nvSpPr>
          <p:cNvPr id="6" name="Rounded Rectangle 5"/>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8" name="Rounded Rectangle 7"/>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10" name="Rounded Rectangle 9"/>
          <p:cNvSpPr/>
          <p:nvPr/>
        </p:nvSpPr>
        <p:spPr>
          <a:xfrm>
            <a:off x="6185916"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Одобрение возврата</a:t>
            </a:r>
          </a:p>
        </p:txBody>
      </p:sp>
      <p:sp>
        <p:nvSpPr>
          <p:cNvPr id="12" name="Rounded Rectangle 11"/>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D6E2EC"/>
                </a:solidFill>
                <a:latin typeface="Arial"/>
              </a:rPr>
              <a:t>Карточка в Telegram</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продолжение процесса классификации</a:t>
            </a:r>
          </a:p>
        </p:txBody>
      </p:sp>
      <p:sp>
        <p:nvSpPr>
          <p:cNvPr id="3" name="Rounded Rectangle 2"/>
          <p:cNvSpPr/>
          <p:nvPr/>
        </p:nvSpPr>
        <p:spPr>
          <a:xfrm>
            <a:off x="502920" y="112506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5308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форма обращения, которой мы уже пользовались в предыдущих кейсах: человек описывает ситуацию своими словами — «прошу вернуть 2500 рублей за пропущенное занятие».</a:t>
            </a:r>
          </a:p>
        </p:txBody>
      </p:sp>
      <p:sp>
        <p:nvSpPr>
          <p:cNvPr id="5" name="Rounded Rectangle 4"/>
          <p:cNvSpPr/>
          <p:nvPr/>
        </p:nvSpPr>
        <p:spPr>
          <a:xfrm>
            <a:off x="502920" y="2490698"/>
            <a:ext cx="11183112" cy="1962531"/>
          </a:xfrm>
          <a:prstGeom prst="roundRect">
            <a:avLst>
              <a:gd name="adj" fmla="val 1553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1015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71015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Человек пишет заявку свободным текстом — внутри него и просьба, и сумма.</a:t>
            </a:r>
          </a:p>
        </p:txBody>
      </p:sp>
      <p:sp>
        <p:nvSpPr>
          <p:cNvPr id="8" name="TextBox 7"/>
          <p:cNvSpPr txBox="1"/>
          <p:nvPr/>
        </p:nvSpPr>
        <p:spPr>
          <a:xfrm>
            <a:off x="722376" y="304048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04048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Процесс, который в Семинаре 7 определял тему обращения, здесь идёт на шаг дальше: читает текст и сам решает — одобрить сумму автоматически или передать её руководителю (модель </a:t>
            </a:r>
            <a:r>
              <a:rPr sz="1350" b="0" i="0">
                <a:solidFill>
                  <a:srgbClr val="141B2E"/>
                </a:solidFill>
                <a:latin typeface="Consolas"/>
              </a:rPr>
              <a:t>qwen/qwen-2.5-7b-instruct</a:t>
            </a:r>
            <a:r>
              <a:rPr sz="1350" b="0" i="0">
                <a:solidFill>
                  <a:srgbClr val="141B2E"/>
                </a:solidFill>
                <a:latin typeface="Arial"/>
              </a:rPr>
              <a:t>).</a:t>
            </a:r>
          </a:p>
        </p:txBody>
      </p:sp>
      <p:sp>
        <p:nvSpPr>
          <p:cNvPr id="10" name="TextBox 9"/>
          <p:cNvSpPr txBox="1"/>
          <p:nvPr/>
        </p:nvSpPr>
        <p:spPr>
          <a:xfrm>
            <a:off x="722376" y="3573119"/>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573119"/>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Решение «одобрить» — деньги автоматически уходят на карту клиента, без участия человека.</a:t>
            </a:r>
          </a:p>
        </p:txBody>
      </p:sp>
      <p:sp>
        <p:nvSpPr>
          <p:cNvPr id="12" name="TextBox 11"/>
          <p:cNvSpPr txBox="1"/>
          <p:nvPr/>
        </p:nvSpPr>
        <p:spPr>
          <a:xfrm>
            <a:off x="722376" y="3903446"/>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903446"/>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Решение «эскалировать» — заявка уходит руководителю, и дальше решает он.</a:t>
            </a:r>
          </a:p>
        </p:txBody>
      </p:sp>
      <p:sp>
        <p:nvSpPr>
          <p:cNvPr id="14" name="Rounded Rectangle 13"/>
          <p:cNvSpPr/>
          <p:nvPr/>
        </p:nvSpPr>
        <p:spPr>
          <a:xfrm>
            <a:off x="502920" y="507210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0011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чём стоит доверие.</a:t>
            </a:r>
            <a:r>
              <a:rPr sz="1500" b="1" i="0">
                <a:solidFill>
                  <a:srgbClr val="141B2E"/>
                </a:solidFill>
                <a:latin typeface="Arial"/>
              </a:rPr>
              <a:t> Версия работает уже месяц. Никто не пожаловался, что одобрено то, что следовало эскалировать, или наоборот. Команда считает правило надёжным — и ровно на этом основании: ничего плохого не заметили.</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чтобы решение о пороге не ошибалось</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добиться, чтобы решение о пороге никогда не принималось неверно?</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написать правило яснее в промте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дать модели инструмент-калькулятор для сравнения сумм</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поставить IF-узел после извлечения суммы</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сделать сумму явным числовым полем формы</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даёт каждое из четырёх действий</a:t>
            </a:r>
          </a:p>
        </p:txBody>
      </p:sp>
      <p:sp>
        <p:nvSpPr>
          <p:cNvPr id="3" name="Rounded Rectangle 2"/>
          <p:cNvSpPr/>
          <p:nvPr/>
        </p:nvSpPr>
        <p:spPr>
          <a:xfrm>
            <a:off x="502920" y="943356"/>
            <a:ext cx="11183112" cy="4358259"/>
          </a:xfrm>
          <a:prstGeom prst="roundRect">
            <a:avLst>
              <a:gd name="adj" fmla="val 699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815568"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2647672" y="1126236"/>
            <a:ext cx="1895608"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4689584" y="1126236"/>
            <a:ext cx="210501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6940907" y="1126236"/>
            <a:ext cx="4415940"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1815568"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Написать правило яснее в промте</a:t>
            </a:r>
          </a:p>
        </p:txBody>
      </p:sp>
      <p:sp>
        <p:nvSpPr>
          <p:cNvPr id="9" name="TextBox 8"/>
          <p:cNvSpPr txBox="1"/>
          <p:nvPr/>
        </p:nvSpPr>
        <p:spPr>
          <a:xfrm>
            <a:off x="2647672" y="1393317"/>
            <a:ext cx="1895608"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Переформулировать правило, явно развести «≤3000 → одобрить» и «&gt;3000 → эскалировать»</a:t>
            </a:r>
          </a:p>
        </p:txBody>
      </p:sp>
      <p:sp>
        <p:nvSpPr>
          <p:cNvPr id="10" name="TextBox 9"/>
          <p:cNvSpPr txBox="1"/>
          <p:nvPr/>
        </p:nvSpPr>
        <p:spPr>
          <a:xfrm>
            <a:off x="4689584" y="1393317"/>
            <a:ext cx="2105019"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Измерено: версия 1 ошибалась 9/101 на границе, уточнённая формулировка — </a:t>
            </a:r>
            <a:r>
              <a:rPr sz="1050" b="1" i="0">
                <a:solidFill>
                  <a:srgbClr val="141B2E"/>
                </a:solidFill>
                <a:latin typeface="Arial"/>
              </a:rPr>
              <a:t>100/100</a:t>
            </a:r>
            <a:r>
              <a:rPr sz="1050" b="0" i="0">
                <a:solidFill>
                  <a:srgbClr val="141B2E"/>
                </a:solidFill>
                <a:latin typeface="Arial"/>
              </a:rPr>
              <a:t> на расширенном наборе</a:t>
            </a:r>
          </a:p>
        </p:txBody>
      </p:sp>
      <p:sp>
        <p:nvSpPr>
          <p:cNvPr id="11" name="TextBox 10"/>
          <p:cNvSpPr txBox="1"/>
          <p:nvPr/>
        </p:nvSpPr>
        <p:spPr>
          <a:xfrm>
            <a:off x="6940907" y="1393317"/>
            <a:ext cx="4415940"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Факт на конкретном наборе/модели, не структурная гарантия — решение всё ещё текстовое, не код; другая формулировка или модель может разойтись снова</a:t>
            </a:r>
          </a:p>
        </p:txBody>
      </p:sp>
      <p:cxnSp>
        <p:nvCxnSpPr>
          <p:cNvPr id="12" name="Connector 11"/>
          <p:cNvCxnSpPr/>
          <p:nvPr/>
        </p:nvCxnSpPr>
        <p:spPr>
          <a:xfrm>
            <a:off x="685800" y="23246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24671"/>
            <a:ext cx="1815568" cy="108470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Дать модели инструмент-калькулятор</a:t>
            </a:r>
          </a:p>
        </p:txBody>
      </p:sp>
      <p:sp>
        <p:nvSpPr>
          <p:cNvPr id="14" name="TextBox 13"/>
          <p:cNvSpPr txBox="1"/>
          <p:nvPr/>
        </p:nvSpPr>
        <p:spPr>
          <a:xfrm>
            <a:off x="2647672" y="2324671"/>
            <a:ext cx="1895608"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Модель получает функцию сравнения чисел вместо сравнения «в уме» и сама решает, вызывать её или нет</a:t>
            </a:r>
          </a:p>
        </p:txBody>
      </p:sp>
      <p:sp>
        <p:nvSpPr>
          <p:cNvPr id="15" name="TextBox 14"/>
          <p:cNvSpPr txBox="1"/>
          <p:nvPr/>
        </p:nvSpPr>
        <p:spPr>
          <a:xfrm>
            <a:off x="4689584" y="2324671"/>
            <a:ext cx="2105019"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 теории разделяет извлечение числа и сравнение на две операции</a:t>
            </a:r>
          </a:p>
        </p:txBody>
      </p:sp>
      <p:sp>
        <p:nvSpPr>
          <p:cNvPr id="16" name="TextBox 15"/>
          <p:cNvSpPr txBox="1"/>
          <p:nvPr/>
        </p:nvSpPr>
        <p:spPr>
          <a:xfrm>
            <a:off x="6940907" y="2324671"/>
            <a:ext cx="4415940"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Модель сначала извлекает сумму из текста — тот же вероятностный шаг, затем сама решает, вызывать ли инструмент: вероятностность не исчезает, переезжает раньше. Измерено: </a:t>
            </a:r>
            <a:r>
              <a:rPr sz="1050" b="1" i="0">
                <a:solidFill>
                  <a:srgbClr val="141B2E"/>
                </a:solidFill>
                <a:latin typeface="Arial"/>
              </a:rPr>
              <a:t>56/100</a:t>
            </a:r>
            <a:r>
              <a:rPr sz="1050" b="0" i="0">
                <a:solidFill>
                  <a:srgbClr val="141B2E"/>
                </a:solidFill>
                <a:latin typeface="Arial"/>
              </a:rPr>
              <a:t> — хуже всех; калькулятор не умеет сравнений (11/100 отказов), 30/100 ответов не сводятся к слову, 9/100 ошибок разбросаны по диапазону</a:t>
            </a:r>
          </a:p>
        </p:txBody>
      </p:sp>
      <p:cxnSp>
        <p:nvCxnSpPr>
          <p:cNvPr id="17" name="Connector 16"/>
          <p:cNvCxnSpPr/>
          <p:nvPr/>
        </p:nvCxnSpPr>
        <p:spPr>
          <a:xfrm>
            <a:off x="685800" y="34093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9378"/>
            <a:ext cx="1815568"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Поставить </a:t>
            </a:r>
            <a:r>
              <a:rPr sz="1050" b="1" i="0">
                <a:solidFill>
                  <a:srgbClr val="141B2E"/>
                </a:solidFill>
                <a:latin typeface="Consolas"/>
              </a:rPr>
              <a:t>IF</a:t>
            </a:r>
            <a:r>
              <a:rPr sz="1050" b="1" i="0">
                <a:solidFill>
                  <a:srgbClr val="141B2E"/>
                </a:solidFill>
                <a:latin typeface="Arial"/>
              </a:rPr>
              <a:t>-узел после извлечения суммы</a:t>
            </a:r>
          </a:p>
        </p:txBody>
      </p:sp>
      <p:sp>
        <p:nvSpPr>
          <p:cNvPr id="19" name="TextBox 18"/>
          <p:cNvSpPr txBox="1"/>
          <p:nvPr/>
        </p:nvSpPr>
        <p:spPr>
          <a:xfrm>
            <a:off x="2647672" y="3409378"/>
            <a:ext cx="1895608"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Сумму достаёт модель, сравнивает с порогом код — условие, не текстовый вызов</a:t>
            </a:r>
          </a:p>
        </p:txBody>
      </p:sp>
      <p:sp>
        <p:nvSpPr>
          <p:cNvPr id="20" name="TextBox 19"/>
          <p:cNvSpPr txBox="1"/>
          <p:nvPr/>
        </p:nvSpPr>
        <p:spPr>
          <a:xfrm>
            <a:off x="4689584" y="3409378"/>
            <a:ext cx="2105019"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Устраняет вероятностность из точки решения. Измерено: </a:t>
            </a:r>
            <a:r>
              <a:rPr sz="1050" b="1" i="0">
                <a:solidFill>
                  <a:srgbClr val="141B2E"/>
                </a:solidFill>
                <a:latin typeface="Arial"/>
              </a:rPr>
              <a:t>0/101</a:t>
            </a:r>
            <a:r>
              <a:rPr sz="1050" b="0" i="0">
                <a:solidFill>
                  <a:srgbClr val="141B2E"/>
                </a:solidFill>
                <a:latin typeface="Arial"/>
              </a:rPr>
              <a:t> на расширенном наборе, включая граничные случаи</a:t>
            </a:r>
          </a:p>
        </p:txBody>
      </p:sp>
      <p:sp>
        <p:nvSpPr>
          <p:cNvPr id="21" name="TextBox 20"/>
          <p:cNvSpPr txBox="1"/>
          <p:nvPr/>
        </p:nvSpPr>
        <p:spPr>
          <a:xfrm>
            <a:off x="6940907" y="3409378"/>
            <a:ext cx="4415940"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Сумму всё ещё извлекает модель — ошибка извлечения (не сравнения) этим узлом не закрыта, хотя на наборе её не нашлось</a:t>
            </a:r>
          </a:p>
        </p:txBody>
      </p:sp>
      <p:cxnSp>
        <p:nvCxnSpPr>
          <p:cNvPr id="22" name="Connector 21"/>
          <p:cNvCxnSpPr/>
          <p:nvPr/>
        </p:nvCxnSpPr>
        <p:spPr>
          <a:xfrm>
            <a:off x="685800" y="43407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340732"/>
            <a:ext cx="1815568" cy="778002"/>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Сделать сумму явным числовым полем формы</a:t>
            </a:r>
          </a:p>
        </p:txBody>
      </p:sp>
      <p:sp>
        <p:nvSpPr>
          <p:cNvPr id="24" name="TextBox 23"/>
          <p:cNvSpPr txBox="1"/>
          <p:nvPr/>
        </p:nvSpPr>
        <p:spPr>
          <a:xfrm>
            <a:off x="2647672" y="4340732"/>
            <a:ext cx="1895608"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Собирать сумму цифрами в поле заявки — не извлекать из текста вовсе</a:t>
            </a:r>
          </a:p>
        </p:txBody>
      </p:sp>
      <p:sp>
        <p:nvSpPr>
          <p:cNvPr id="25" name="TextBox 24"/>
          <p:cNvSpPr txBox="1"/>
          <p:nvPr/>
        </p:nvSpPr>
        <p:spPr>
          <a:xfrm>
            <a:off x="4689584" y="4340732"/>
            <a:ext cx="2105019"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Устраняет неопределённость раньше: извлекать нечего — риска неверного извлечения нет</a:t>
            </a:r>
          </a:p>
        </p:txBody>
      </p:sp>
      <p:sp>
        <p:nvSpPr>
          <p:cNvPr id="26" name="TextBox 25"/>
          <p:cNvSpPr txBox="1"/>
          <p:nvPr/>
        </p:nvSpPr>
        <p:spPr>
          <a:xfrm>
            <a:off x="6940907" y="4340732"/>
            <a:ext cx="4415940"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Работает только если форму можно менять; письмо/чат/другой канал всё равно требует извлечения из текста. Метрика — применимость, не точность: шага извлечения нет, точности тоже</a:t>
            </a:r>
          </a:p>
        </p:txBody>
      </p:sp>
      <p:sp>
        <p:nvSpPr>
          <p:cNvPr id="27" name="Rounded Rectangle 26"/>
          <p:cNvSpPr/>
          <p:nvPr/>
        </p:nvSpPr>
        <p:spPr>
          <a:xfrm>
            <a:off x="502920" y="5466207"/>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594223"/>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Мостик дальше.</a:t>
            </a:r>
            <a:r>
              <a:rPr sz="1150" b="1" i="0">
                <a:solidFill>
                  <a:srgbClr val="141B2E"/>
                </a:solidFill>
                <a:latin typeface="Arial"/>
              </a:rPr>
              <a:t> Одно действие измеримо исправило конкретную находку, одно измеримо провалилось, одно устраняет риск структурно и подтверждено измерением, одно меняет вход раньше решения и не нуждается в метрике точности. Какое из них нужно здесь, показывает измерение — то самое, что уже стоит в этой таблице. Следующий такт — как оно было устроено.</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идеи: сервис jev для извлечения суммы</a:t>
            </a:r>
          </a:p>
        </p:txBody>
      </p:sp>
      <p:pic>
        <p:nvPicPr>
          <p:cNvPr id="3" name="Picture 2" descr="k3-jev-tipy-otveta.png"/>
          <p:cNvPicPr>
            <a:picLocks noChangeAspect="1"/>
          </p:cNvPicPr>
          <p:nvPr/>
        </p:nvPicPr>
        <p:blipFill>
          <a:blip r:embed="rId2"/>
          <a:stretch>
            <a:fillRect/>
          </a:stretch>
        </p:blipFill>
        <p:spPr>
          <a:xfrm>
            <a:off x="1179576" y="1051560"/>
            <a:ext cx="9829800" cy="3931920"/>
          </a:xfrm>
          <a:prstGeom prst="rect">
            <a:avLst/>
          </a:prstGeom>
        </p:spPr>
      </p:pic>
      <p:sp>
        <p:nvSpPr>
          <p:cNvPr id="4" name="Rounded Rectangle 3"/>
          <p:cNvSpPr/>
          <p:nvPr/>
        </p:nvSpPr>
        <p:spPr>
          <a:xfrm>
            <a:off x="502920" y="541858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54659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Урок.</a:t>
            </a:r>
            <a:r>
              <a:rPr sz="1500" b="1" i="0">
                <a:solidFill>
                  <a:srgbClr val="141B2E"/>
                </a:solidFill>
                <a:latin typeface="Arial"/>
              </a:rPr>
              <a:t> Сначала проверяют, что сервис умеет делать то, что от него хотят. Проектируют шаг вокруг него только потом.</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тот же путь, одна точка меняется</a:t>
            </a:r>
          </a:p>
        </p:txBody>
      </p:sp>
      <p:pic>
        <p:nvPicPr>
          <p:cNvPr id="3" name="Picture 2" descr="k3-shema-versii.png"/>
          <p:cNvPicPr>
            <a:picLocks noChangeAspect="1"/>
          </p:cNvPicPr>
          <p:nvPr/>
        </p:nvPicPr>
        <p:blipFill>
          <a:blip r:embed="rId2"/>
          <a:stretch>
            <a:fillRect/>
          </a:stretch>
        </p:blipFill>
        <p:spPr>
          <a:xfrm>
            <a:off x="2533973" y="943356"/>
            <a:ext cx="7121005" cy="3115439"/>
          </a:xfrm>
          <a:prstGeom prst="rect">
            <a:avLst/>
          </a:prstGeom>
        </p:spPr>
      </p:pic>
      <p:sp>
        <p:nvSpPr>
          <p:cNvPr id="4" name="Rounded Rectangle 3"/>
          <p:cNvSpPr/>
          <p:nvPr/>
        </p:nvSpPr>
        <p:spPr>
          <a:xfrm>
            <a:off x="502920" y="422338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51403"/>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Версия 1 (было).</a:t>
            </a:r>
            <a:r>
              <a:rPr sz="1150" b="1" i="0">
                <a:solidFill>
                  <a:srgbClr val="141B2E"/>
                </a:solidFill>
                <a:latin typeface="Arial"/>
              </a:rPr>
              <a:t> Форма со свободным текстом → модель извлекает сумму → </a:t>
            </a:r>
            <a:r>
              <a:rPr sz="1150" b="1" i="0">
                <a:solidFill>
                  <a:srgbClr val="141B2E"/>
                </a:solidFill>
                <a:latin typeface="Arial"/>
              </a:rPr>
              <a:t>модель же решает по тексту правила</a:t>
            </a:r>
            <a:r>
              <a:rPr sz="1150" b="1" i="0">
                <a:solidFill>
                  <a:srgbClr val="141B2E"/>
                </a:solidFill>
                <a:latin typeface="Arial"/>
              </a:rPr>
              <a:t> → результат.</a:t>
            </a:r>
          </a:p>
        </p:txBody>
      </p:sp>
      <p:sp>
        <p:nvSpPr>
          <p:cNvPr id="6" name="Rounded Rectangle 5"/>
          <p:cNvSpPr/>
          <p:nvPr/>
        </p:nvSpPr>
        <p:spPr>
          <a:xfrm>
            <a:off x="502920" y="4843401"/>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71417"/>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Версия 2 (стало, прямой ответ на находку эксперимента).</a:t>
            </a:r>
            <a:r>
              <a:rPr sz="1100" b="1" i="0">
                <a:solidFill>
                  <a:srgbClr val="141B2E"/>
                </a:solidFill>
                <a:latin typeface="Arial"/>
              </a:rPr>
              <a:t> Та же форма → модель извлекает сумму → </a:t>
            </a:r>
            <a:r>
              <a:rPr sz="1100" b="1" i="0">
                <a:solidFill>
                  <a:srgbClr val="141B2E"/>
                </a:solidFill>
                <a:latin typeface="Consolas"/>
              </a:rPr>
              <a:t>IF</a:t>
            </a:r>
            <a:r>
              <a:rPr sz="1100" b="1" i="0">
                <a:solidFill>
                  <a:srgbClr val="141B2E"/>
                </a:solidFill>
                <a:latin typeface="Arial"/>
              </a:rPr>
              <a:t>-узел сравнивает число с порогом</a:t>
            </a:r>
            <a:r>
              <a:rPr sz="1100" b="1" i="0">
                <a:solidFill>
                  <a:srgbClr val="141B2E"/>
                </a:solidFill>
                <a:latin typeface="Arial"/>
              </a:rPr>
              <a:t> → результат.</a:t>
            </a:r>
          </a:p>
        </p:txBody>
      </p:sp>
      <p:sp>
        <p:nvSpPr>
          <p:cNvPr id="8" name="Rounded Rectangle 7"/>
          <p:cNvSpPr/>
          <p:nvPr/>
        </p:nvSpPr>
        <p:spPr>
          <a:xfrm>
            <a:off x="502920" y="5599685"/>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27701"/>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Цепочка не перестроена. Разница — ровно в одном узле, том самом, где раньше принималось решение. Всё остальное — форма, извлечение суммы, дальнейшая маршрутизация заявки — осталось тем же.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на практике, а не на веру</a:t>
            </a:r>
          </a:p>
        </p:txBody>
      </p:sp>
      <p:sp>
        <p:nvSpPr>
          <p:cNvPr id="3" name="Rounded Rectangle 2"/>
          <p:cNvSpPr/>
          <p:nvPr/>
        </p:nvSpPr>
        <p:spPr>
          <a:xfrm>
            <a:off x="502920" y="957072"/>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85088"/>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Жалоба — не мера: тихая ошибка её не вызывает.</a:t>
            </a:r>
            <a:r>
              <a:rPr sz="1500" b="1" i="0">
                <a:solidFill>
                  <a:srgbClr val="141B2E"/>
                </a:solidFill>
                <a:latin typeface="Arial"/>
              </a:rPr>
              <a:t> Поэтому правило, месяц работавшее без единой жалобы, прогнали спроектированным набором из 101 запроса — 51 исходный плюс 50 сложнее: у самой границы, с двумя числами в тексте, с суммой, которую надо посчитать. Правильность каждого прогона читают из его данных, а не на глаз.</a:t>
            </a:r>
          </a:p>
        </p:txBody>
      </p:sp>
      <p:pic>
        <p:nvPicPr>
          <p:cNvPr id="5" name="Picture 4" descr="k3-n8n-variants-real.png"/>
          <p:cNvPicPr>
            <a:picLocks noChangeAspect="1"/>
          </p:cNvPicPr>
          <p:nvPr/>
        </p:nvPicPr>
        <p:blipFill>
          <a:blip r:embed="rId2"/>
          <a:stretch>
            <a:fillRect/>
          </a:stretch>
        </p:blipFill>
        <p:spPr>
          <a:xfrm>
            <a:off x="1376172" y="2375154"/>
            <a:ext cx="9436608" cy="3931920"/>
          </a:xfrm>
          <a:prstGeom prst="rect">
            <a:avLst/>
          </a:prstGeom>
        </p:spPr>
      </p:pic>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Сколько ошибок на 101 запросе</a:t>
            </a:r>
          </a:p>
        </p:txBody>
      </p:sp>
      <p:sp>
        <p:nvSpPr>
          <p:cNvPr id="3" name="Rounded Rectangle 2"/>
          <p:cNvSpPr/>
          <p:nvPr/>
        </p:nvSpPr>
        <p:spPr>
          <a:xfrm>
            <a:off x="502920" y="2414206"/>
            <a:ext cx="5490972" cy="1298448"/>
          </a:xfrm>
          <a:prstGeom prst="roundRect">
            <a:avLst>
              <a:gd name="adj" fmla="val 23474"/>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2689225"/>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8A6200"/>
                </a:solidFill>
                <a:latin typeface="Arial"/>
              </a:rPr>
              <a:t>9 из 101</a:t>
            </a:r>
          </a:p>
        </p:txBody>
      </p:sp>
      <p:sp>
        <p:nvSpPr>
          <p:cNvPr id="5" name="TextBox 4"/>
          <p:cNvSpPr txBox="1"/>
          <p:nvPr/>
        </p:nvSpPr>
        <p:spPr>
          <a:xfrm>
            <a:off x="630936" y="3247009"/>
            <a:ext cx="5234940"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правило в промте (версия 1)</a:t>
            </a:r>
          </a:p>
        </p:txBody>
      </p:sp>
      <p:sp>
        <p:nvSpPr>
          <p:cNvPr id="6" name="Rounded Rectangle 5"/>
          <p:cNvSpPr/>
          <p:nvPr/>
        </p:nvSpPr>
        <p:spPr>
          <a:xfrm>
            <a:off x="6195059" y="2414206"/>
            <a:ext cx="5490972"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3075" y="2689225"/>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065A82"/>
                </a:solidFill>
                <a:latin typeface="Arial"/>
              </a:rPr>
              <a:t>0 из 101</a:t>
            </a:r>
          </a:p>
        </p:txBody>
      </p:sp>
      <p:sp>
        <p:nvSpPr>
          <p:cNvPr id="8" name="TextBox 7"/>
          <p:cNvSpPr txBox="1"/>
          <p:nvPr/>
        </p:nvSpPr>
        <p:spPr>
          <a:xfrm>
            <a:off x="6323075" y="3247009"/>
            <a:ext cx="5234940"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условие в коде (версия 2)</a:t>
            </a:r>
          </a:p>
        </p:txBody>
      </p:sp>
      <p:sp>
        <p:nvSpPr>
          <p:cNvPr id="9" name="Rounded Rectangle 8"/>
          <p:cNvSpPr/>
          <p:nvPr/>
        </p:nvSpPr>
        <p:spPr>
          <a:xfrm>
            <a:off x="502920" y="4380166"/>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435030"/>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517326"/>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И все девять — на сумме ровно 3000 руб.</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Результат: 9 ошибок из 101, и все девять в одной точке</a:t>
            </a:r>
          </a:p>
        </p:txBody>
      </p:sp>
      <p:sp>
        <p:nvSpPr>
          <p:cNvPr id="3" name="Rounded Rectangle 2"/>
          <p:cNvSpPr/>
          <p:nvPr/>
        </p:nvSpPr>
        <p:spPr>
          <a:xfrm>
            <a:off x="502920" y="943356"/>
            <a:ext cx="11183112" cy="3629215"/>
          </a:xfrm>
          <a:prstGeom prst="roundRect">
            <a:avLst>
              <a:gd name="adj" fmla="val 83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881393"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БЛОК ТЕСТА</a:t>
            </a:r>
          </a:p>
        </p:txBody>
      </p:sp>
      <p:sp>
        <p:nvSpPr>
          <p:cNvPr id="5" name="TextBox 4"/>
          <p:cNvSpPr txBox="1"/>
          <p:nvPr/>
        </p:nvSpPr>
        <p:spPr>
          <a:xfrm>
            <a:off x="3713497" y="1126236"/>
            <a:ext cx="788505"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ЗАПРОСОВ</a:t>
            </a:r>
          </a:p>
        </p:txBody>
      </p:sp>
      <p:sp>
        <p:nvSpPr>
          <p:cNvPr id="6" name="TextBox 5"/>
          <p:cNvSpPr txBox="1"/>
          <p:nvPr/>
        </p:nvSpPr>
        <p:spPr>
          <a:xfrm>
            <a:off x="4648306" y="1126236"/>
            <a:ext cx="674999"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ОШИБОК В.1</a:t>
            </a:r>
          </a:p>
        </p:txBody>
      </p:sp>
      <p:sp>
        <p:nvSpPr>
          <p:cNvPr id="7" name="TextBox 6"/>
          <p:cNvSpPr txBox="1"/>
          <p:nvPr/>
        </p:nvSpPr>
        <p:spPr>
          <a:xfrm>
            <a:off x="5469609" y="1126236"/>
            <a:ext cx="674999"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ОШИБОК В.2</a:t>
            </a:r>
          </a:p>
        </p:txBody>
      </p:sp>
      <p:sp>
        <p:nvSpPr>
          <p:cNvPr id="8" name="TextBox 7"/>
          <p:cNvSpPr txBox="1"/>
          <p:nvPr/>
        </p:nvSpPr>
        <p:spPr>
          <a:xfrm>
            <a:off x="6290912" y="1126236"/>
            <a:ext cx="5065935"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ПРИМЕР ЗАПРОСА</a:t>
            </a:r>
          </a:p>
        </p:txBody>
      </p:sp>
      <p:sp>
        <p:nvSpPr>
          <p:cNvPr id="9" name="TextBox 8"/>
          <p:cNvSpPr txBox="1"/>
          <p:nvPr/>
        </p:nvSpPr>
        <p:spPr>
          <a:xfrm>
            <a:off x="685800" y="1550670"/>
            <a:ext cx="2881393"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 границы и ниже (1000–3000 руб.)</a:t>
            </a:r>
          </a:p>
        </p:txBody>
      </p:sp>
      <p:sp>
        <p:nvSpPr>
          <p:cNvPr id="10" name="TextBox 9"/>
          <p:cNvSpPr txBox="1"/>
          <p:nvPr/>
        </p:nvSpPr>
        <p:spPr>
          <a:xfrm>
            <a:off x="3713497" y="1550670"/>
            <a:ext cx="78850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25</a:t>
            </a:r>
          </a:p>
        </p:txBody>
      </p:sp>
      <p:sp>
        <p:nvSpPr>
          <p:cNvPr id="11" name="TextBox 10"/>
          <p:cNvSpPr txBox="1"/>
          <p:nvPr/>
        </p:nvSpPr>
        <p:spPr>
          <a:xfrm>
            <a:off x="4648306" y="1550670"/>
            <a:ext cx="674999"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3</a:t>
            </a:r>
            <a:r>
              <a:rPr sz="1050" b="0" i="0">
                <a:solidFill>
                  <a:srgbClr val="141B2E"/>
                </a:solidFill>
                <a:latin typeface="Arial"/>
              </a:rPr>
              <a:t> (= 3000 руб.)</a:t>
            </a:r>
          </a:p>
        </p:txBody>
      </p:sp>
      <p:sp>
        <p:nvSpPr>
          <p:cNvPr id="12" name="TextBox 11"/>
          <p:cNvSpPr txBox="1"/>
          <p:nvPr/>
        </p:nvSpPr>
        <p:spPr>
          <a:xfrm>
            <a:off x="5469609" y="1550670"/>
            <a:ext cx="674999"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3" name="TextBox 12"/>
          <p:cNvSpPr txBox="1"/>
          <p:nvPr/>
        </p:nvSpPr>
        <p:spPr>
          <a:xfrm>
            <a:off x="6290912" y="1550670"/>
            <a:ext cx="506593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«можно возврат 3000 рублей за один пропуск?»</a:t>
            </a:r>
          </a:p>
        </p:txBody>
      </p:sp>
      <p:cxnSp>
        <p:nvCxnSpPr>
          <p:cNvPr id="14" name="Connector 13"/>
          <p:cNvCxnSpPr/>
          <p:nvPr/>
        </p:nvCxnSpPr>
        <p:spPr>
          <a:xfrm>
            <a:off x="685800" y="21753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75319"/>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Явно выше (3200–9000 руб.)</a:t>
            </a:r>
          </a:p>
        </p:txBody>
      </p:sp>
      <p:sp>
        <p:nvSpPr>
          <p:cNvPr id="16" name="TextBox 15"/>
          <p:cNvSpPr txBox="1"/>
          <p:nvPr/>
        </p:nvSpPr>
        <p:spPr>
          <a:xfrm>
            <a:off x="3713497" y="2175319"/>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25</a:t>
            </a:r>
          </a:p>
        </p:txBody>
      </p:sp>
      <p:sp>
        <p:nvSpPr>
          <p:cNvPr id="17" name="TextBox 16"/>
          <p:cNvSpPr txBox="1"/>
          <p:nvPr/>
        </p:nvSpPr>
        <p:spPr>
          <a:xfrm>
            <a:off x="4648306" y="2175319"/>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8" name="TextBox 17"/>
          <p:cNvSpPr txBox="1"/>
          <p:nvPr/>
        </p:nvSpPr>
        <p:spPr>
          <a:xfrm>
            <a:off x="5469609" y="2175319"/>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9" name="TextBox 18"/>
          <p:cNvSpPr txBox="1"/>
          <p:nvPr/>
        </p:nvSpPr>
        <p:spPr>
          <a:xfrm>
            <a:off x="6290912" y="2175319"/>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«возврат 3200 рублей, иначе буду писать жалобу»</a:t>
            </a:r>
          </a:p>
        </p:txBody>
      </p:sp>
      <p:cxnSp>
        <p:nvCxnSpPr>
          <p:cNvPr id="20" name="Connector 19"/>
          <p:cNvCxnSpPr/>
          <p:nvPr/>
        </p:nvCxnSpPr>
        <p:spPr>
          <a:xfrm>
            <a:off x="685800" y="2493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493264"/>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Ручной тест</a:t>
            </a:r>
          </a:p>
        </p:txBody>
      </p:sp>
      <p:sp>
        <p:nvSpPr>
          <p:cNvPr id="22" name="TextBox 21"/>
          <p:cNvSpPr txBox="1"/>
          <p:nvPr/>
        </p:nvSpPr>
        <p:spPr>
          <a:xfrm>
            <a:off x="3713497" y="2493264"/>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a:t>
            </a:r>
          </a:p>
        </p:txBody>
      </p:sp>
      <p:sp>
        <p:nvSpPr>
          <p:cNvPr id="23" name="TextBox 22"/>
          <p:cNvSpPr txBox="1"/>
          <p:nvPr/>
        </p:nvSpPr>
        <p:spPr>
          <a:xfrm>
            <a:off x="4648306" y="2493264"/>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24" name="TextBox 23"/>
          <p:cNvSpPr txBox="1"/>
          <p:nvPr/>
        </p:nvSpPr>
        <p:spPr>
          <a:xfrm>
            <a:off x="5469609" y="2493264"/>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25" name="TextBox 24"/>
          <p:cNvSpPr txBox="1"/>
          <p:nvPr/>
        </p:nvSpPr>
        <p:spPr>
          <a:xfrm>
            <a:off x="6290912" y="2493264"/>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не сохранён как данные</a:t>
            </a:r>
          </a:p>
        </p:txBody>
      </p:sp>
      <p:cxnSp>
        <p:nvCxnSpPr>
          <p:cNvPr id="26" name="Connector 25"/>
          <p:cNvCxnSpPr/>
          <p:nvPr/>
        </p:nvCxnSpPr>
        <p:spPr>
          <a:xfrm>
            <a:off x="685800" y="2811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811208"/>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 самой границы (±20 руб. от 3000 руб.)</a:t>
            </a:r>
          </a:p>
        </p:txBody>
      </p:sp>
      <p:sp>
        <p:nvSpPr>
          <p:cNvPr id="28" name="TextBox 27"/>
          <p:cNvSpPr txBox="1"/>
          <p:nvPr/>
        </p:nvSpPr>
        <p:spPr>
          <a:xfrm>
            <a:off x="3713497" y="2811208"/>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15</a:t>
            </a:r>
          </a:p>
        </p:txBody>
      </p:sp>
      <p:sp>
        <p:nvSpPr>
          <p:cNvPr id="29" name="TextBox 28"/>
          <p:cNvSpPr txBox="1"/>
          <p:nvPr/>
        </p:nvSpPr>
        <p:spPr>
          <a:xfrm>
            <a:off x="4648306" y="2811208"/>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0" name="TextBox 29"/>
          <p:cNvSpPr txBox="1"/>
          <p:nvPr/>
        </p:nvSpPr>
        <p:spPr>
          <a:xfrm>
            <a:off x="5469609" y="2811208"/>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1" name="TextBox 30"/>
          <p:cNvSpPr txBox="1"/>
          <p:nvPr/>
        </p:nvSpPr>
        <p:spPr>
          <a:xfrm>
            <a:off x="6290912" y="2811208"/>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«прошу вернуть 2999 рублей, занятие отменили в последний момент»</a:t>
            </a:r>
          </a:p>
        </p:txBody>
      </p:sp>
      <p:cxnSp>
        <p:nvCxnSpPr>
          <p:cNvPr id="32" name="Connector 31"/>
          <p:cNvCxnSpPr/>
          <p:nvPr/>
        </p:nvCxnSpPr>
        <p:spPr>
          <a:xfrm>
            <a:off x="685800" y="31291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129153"/>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Два числа в одном тексте</a:t>
            </a:r>
          </a:p>
        </p:txBody>
      </p:sp>
      <p:sp>
        <p:nvSpPr>
          <p:cNvPr id="34" name="TextBox 33"/>
          <p:cNvSpPr txBox="1"/>
          <p:nvPr/>
        </p:nvSpPr>
        <p:spPr>
          <a:xfrm>
            <a:off x="3713497" y="3129153"/>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20</a:t>
            </a:r>
          </a:p>
        </p:txBody>
      </p:sp>
      <p:sp>
        <p:nvSpPr>
          <p:cNvPr id="35" name="TextBox 34"/>
          <p:cNvSpPr txBox="1"/>
          <p:nvPr/>
        </p:nvSpPr>
        <p:spPr>
          <a:xfrm>
            <a:off x="4648306" y="3129153"/>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6" name="TextBox 35"/>
          <p:cNvSpPr txBox="1"/>
          <p:nvPr/>
        </p:nvSpPr>
        <p:spPr>
          <a:xfrm>
            <a:off x="5469609" y="3129153"/>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7" name="TextBox 36"/>
          <p:cNvSpPr txBox="1"/>
          <p:nvPr/>
        </p:nvSpPr>
        <p:spPr>
          <a:xfrm>
            <a:off x="6290912" y="3129153"/>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«курс обошёлся в 12000 руб., хочу возврат 2400 рублей за один блок»</a:t>
            </a:r>
          </a:p>
        </p:txBody>
      </p:sp>
      <p:cxnSp>
        <p:nvCxnSpPr>
          <p:cNvPr id="38" name="Connector 37"/>
          <p:cNvCxnSpPr/>
          <p:nvPr/>
        </p:nvCxnSpPr>
        <p:spPr>
          <a:xfrm>
            <a:off x="685800" y="344709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3447097"/>
            <a:ext cx="2881393"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Непрямая формулировка (арифметика/«около»)</a:t>
            </a:r>
          </a:p>
        </p:txBody>
      </p:sp>
      <p:sp>
        <p:nvSpPr>
          <p:cNvPr id="40" name="TextBox 39"/>
          <p:cNvSpPr txBox="1"/>
          <p:nvPr/>
        </p:nvSpPr>
        <p:spPr>
          <a:xfrm>
            <a:off x="3713497" y="3447097"/>
            <a:ext cx="78850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15</a:t>
            </a:r>
          </a:p>
        </p:txBody>
      </p:sp>
      <p:sp>
        <p:nvSpPr>
          <p:cNvPr id="41" name="TextBox 40"/>
          <p:cNvSpPr txBox="1"/>
          <p:nvPr/>
        </p:nvSpPr>
        <p:spPr>
          <a:xfrm>
            <a:off x="4648306" y="3447097"/>
            <a:ext cx="674999"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6</a:t>
            </a:r>
            <a:r>
              <a:rPr sz="1050" b="0" i="0">
                <a:solidFill>
                  <a:srgbClr val="141B2E"/>
                </a:solidFill>
                <a:latin typeface="Arial"/>
              </a:rPr>
              <a:t> (= 3000 руб.)</a:t>
            </a:r>
          </a:p>
        </p:txBody>
      </p:sp>
      <p:sp>
        <p:nvSpPr>
          <p:cNvPr id="42" name="TextBox 41"/>
          <p:cNvSpPr txBox="1"/>
          <p:nvPr/>
        </p:nvSpPr>
        <p:spPr>
          <a:xfrm>
            <a:off x="5469609" y="3447097"/>
            <a:ext cx="674999"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43" name="TextBox 42"/>
          <p:cNvSpPr txBox="1"/>
          <p:nvPr/>
        </p:nvSpPr>
        <p:spPr>
          <a:xfrm>
            <a:off x="6290912" y="3447097"/>
            <a:ext cx="506593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«занятие стоило 1500 рублей, прошу вернуть за два таких занятия»</a:t>
            </a:r>
          </a:p>
        </p:txBody>
      </p:sp>
      <p:cxnSp>
        <p:nvCxnSpPr>
          <p:cNvPr id="44" name="Connector 43"/>
          <p:cNvCxnSpPr/>
          <p:nvPr/>
        </p:nvCxnSpPr>
        <p:spPr>
          <a:xfrm>
            <a:off x="685800" y="407174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66928" y="4071747"/>
            <a:ext cx="11055096" cy="31794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800" y="4071747"/>
            <a:ext cx="2881393"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Итого</a:t>
            </a:r>
          </a:p>
        </p:txBody>
      </p:sp>
      <p:sp>
        <p:nvSpPr>
          <p:cNvPr id="47" name="TextBox 46"/>
          <p:cNvSpPr txBox="1"/>
          <p:nvPr/>
        </p:nvSpPr>
        <p:spPr>
          <a:xfrm>
            <a:off x="3713497" y="4071747"/>
            <a:ext cx="788505"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101</a:t>
            </a:r>
          </a:p>
        </p:txBody>
      </p:sp>
      <p:sp>
        <p:nvSpPr>
          <p:cNvPr id="48" name="TextBox 47"/>
          <p:cNvSpPr txBox="1"/>
          <p:nvPr/>
        </p:nvSpPr>
        <p:spPr>
          <a:xfrm>
            <a:off x="4648306" y="4071747"/>
            <a:ext cx="674999"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9</a:t>
            </a:r>
          </a:p>
        </p:txBody>
      </p:sp>
      <p:sp>
        <p:nvSpPr>
          <p:cNvPr id="49" name="TextBox 48"/>
          <p:cNvSpPr txBox="1"/>
          <p:nvPr/>
        </p:nvSpPr>
        <p:spPr>
          <a:xfrm>
            <a:off x="5469609" y="4071747"/>
            <a:ext cx="674999"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a:t>
            </a:r>
          </a:p>
        </p:txBody>
      </p:sp>
      <p:sp>
        <p:nvSpPr>
          <p:cNvPr id="50" name="Rounded Rectangle 49"/>
          <p:cNvSpPr/>
          <p:nvPr/>
        </p:nvSpPr>
        <p:spPr>
          <a:xfrm>
            <a:off x="502920" y="4737163"/>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9536" y="4865179"/>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Что решила модель на границе.</a:t>
            </a:r>
            <a:r>
              <a:rPr sz="1450" b="1" i="0">
                <a:solidFill>
                  <a:srgbClr val="141B2E"/>
                </a:solidFill>
                <a:latin typeface="Arial"/>
              </a:rPr>
              <a:t> На сумме ровно 3000 руб. — в любой из формулировок, прямой или арифметической, — модель версии 1 отвечала «эскалировать», хотя правило («не возвращай больше 3000 рублей») подразумевает, что сама граница — «можно одобрить». Все 9 ошибок без исключения — на этой одной сумме; ни одна ошибка не случилась ни на 2999 руб., ни на 3001 руб., ни где-либо ещё в диапазоне.</a:t>
            </a:r>
          </a:p>
        </p:txBody>
      </p:sp>
      <p:sp>
        <p:nvSpPr>
          <p:cNvPr id="52" name="TextBox 5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IF-узел против текста правила</a:t>
            </a:r>
          </a:p>
        </p:txBody>
      </p:sp>
      <p:pic>
        <p:nvPicPr>
          <p:cNvPr id="3" name="Picture 2" descr="k3-n8n-reshenie-real.png"/>
          <p:cNvPicPr>
            <a:picLocks noChangeAspect="1"/>
          </p:cNvPicPr>
          <p:nvPr/>
        </p:nvPicPr>
        <p:blipFill>
          <a:blip r:embed="rId2"/>
          <a:stretch>
            <a:fillRect/>
          </a:stretch>
        </p:blipFill>
        <p:spPr>
          <a:xfrm>
            <a:off x="502920" y="964231"/>
            <a:ext cx="11183112" cy="2932585"/>
          </a:xfrm>
          <a:prstGeom prst="rect">
            <a:avLst/>
          </a:prstGeom>
        </p:spPr>
      </p:pic>
      <p:sp>
        <p:nvSpPr>
          <p:cNvPr id="4" name="Rounded Rectangle 3"/>
          <p:cNvSpPr/>
          <p:nvPr/>
        </p:nvSpPr>
        <p:spPr>
          <a:xfrm>
            <a:off x="502920" y="41135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416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Слева — узел </a:t>
            </a:r>
            <a:r>
              <a:rPr sz="1500" b="1" i="0">
                <a:solidFill>
                  <a:srgbClr val="141B2E"/>
                </a:solidFill>
                <a:latin typeface="Consolas"/>
              </a:rPr>
              <a:t>IF</a:t>
            </a:r>
            <a:r>
              <a:rPr sz="1500" b="1" i="0">
                <a:solidFill>
                  <a:srgbClr val="141B2E"/>
                </a:solidFill>
                <a:latin typeface="Arial"/>
              </a:rPr>
              <a:t> («Amount over threshold?») на холсте, версия 2.</a:t>
            </a:r>
            <a:r>
              <a:rPr sz="1500" b="1" i="0">
                <a:solidFill>
                  <a:srgbClr val="141B2E"/>
                </a:solidFill>
                <a:latin typeface="Arial"/>
              </a:rPr>
              <a:t> Условие: извлечённая сумма (число) </a:t>
            </a:r>
            <a:r>
              <a:rPr sz="1500" b="1" i="0">
                <a:solidFill>
                  <a:srgbClr val="141B2E"/>
                </a:solidFill>
                <a:latin typeface="Arial"/>
              </a:rPr>
              <a:t>строго больше 3000</a:t>
            </a:r>
            <a:r>
              <a:rPr sz="1500" b="1" i="0">
                <a:solidFill>
                  <a:srgbClr val="141B2E"/>
                </a:solidFill>
                <a:latin typeface="Arial"/>
              </a:rPr>
              <a:t>. Ветка «да» → эскалировать руководителю. Ветка «нет» → одобрить. Сравнение — операция над числом, не текст, который нужно понять.</a:t>
            </a:r>
          </a:p>
        </p:txBody>
      </p:sp>
      <p:sp>
        <p:nvSpPr>
          <p:cNvPr id="6" name="Rounded Rectangle 5"/>
          <p:cNvSpPr/>
          <p:nvPr/>
        </p:nvSpPr>
        <p:spPr>
          <a:xfrm>
            <a:off x="502920" y="531335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4137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Справа — настоящая открытая панель узла </a:t>
            </a:r>
            <a:r>
              <a:rPr sz="1500" b="1" i="0">
                <a:solidFill>
                  <a:srgbClr val="141B2E"/>
                </a:solidFill>
                <a:latin typeface="Consolas"/>
              </a:rPr>
              <a:t>Decide</a:t>
            </a:r>
            <a:r>
              <a:rPr sz="1500" b="1" i="0">
                <a:solidFill>
                  <a:srgbClr val="141B2E"/>
                </a:solidFill>
                <a:latin typeface="Arial"/>
              </a:rPr>
              <a:t> </a:t>
            </a:r>
            <a:r>
              <a:rPr sz="1500" b="1" i="0">
                <a:solidFill>
                  <a:srgbClr val="141B2E"/>
                </a:solidFill>
                <a:latin typeface="Consolas"/>
              </a:rPr>
              <a:t>refund</a:t>
            </a:r>
            <a:r>
              <a:rPr sz="1500" b="1" i="0">
                <a:solidFill>
                  <a:srgbClr val="141B2E"/>
                </a:solidFill>
                <a:latin typeface="Arial"/>
              </a:rPr>
              <a:t> </a:t>
            </a:r>
            <a:r>
              <a:rPr sz="1500" b="1" i="0">
                <a:solidFill>
                  <a:srgbClr val="141B2E"/>
                </a:solidFill>
                <a:latin typeface="Consolas"/>
              </a:rPr>
              <a:t>(model)</a:t>
            </a:r>
            <a:r>
              <a:rPr sz="1500" b="1" i="0">
                <a:solidFill>
                  <a:srgbClr val="141B2E"/>
                </a:solidFill>
                <a:latin typeface="Arial"/>
              </a:rPr>
              <a:t>, версия 1.</a:t>
            </a:r>
            <a:r>
              <a:rPr sz="1500" b="1" i="0">
                <a:solidFill>
                  <a:srgbClr val="141B2E"/>
                </a:solidFill>
                <a:latin typeface="Arial"/>
              </a:rPr>
              <a:t> Поле </a:t>
            </a:r>
            <a:r>
              <a:rPr sz="1500" b="1" i="0">
                <a:solidFill>
                  <a:srgbClr val="141B2E"/>
                </a:solidFill>
                <a:latin typeface="Consolas"/>
              </a:rPr>
              <a:t>Prompt</a:t>
            </a:r>
            <a:r>
              <a:rPr sz="1500" b="1" i="0">
                <a:solidFill>
                  <a:srgbClr val="141B2E"/>
                </a:solidFill>
                <a:latin typeface="Arial"/>
              </a:rPr>
              <a:t> </a:t>
            </a:r>
            <a:r>
              <a:rPr sz="1500" b="1" i="0">
                <a:solidFill>
                  <a:srgbClr val="141B2E"/>
                </a:solidFill>
                <a:latin typeface="Consolas"/>
              </a:rPr>
              <a:t>(User</a:t>
            </a:r>
            <a:r>
              <a:rPr sz="1500" b="1" i="0">
                <a:solidFill>
                  <a:srgbClr val="141B2E"/>
                </a:solidFill>
                <a:latin typeface="Arial"/>
              </a:rPr>
              <a:t> </a:t>
            </a:r>
            <a:r>
              <a:rPr sz="1500" b="1" i="0">
                <a:solidFill>
                  <a:srgbClr val="141B2E"/>
                </a:solidFill>
                <a:latin typeface="Consolas"/>
              </a:rPr>
              <a:t>Message)</a:t>
            </a:r>
            <a:r>
              <a:rPr sz="1500" b="1" i="0">
                <a:solidFill>
                  <a:srgbClr val="141B2E"/>
                </a:solidFill>
                <a:latin typeface="Arial"/>
              </a:rPr>
              <a:t>: то же правило «не больше 3000 — иначе эскалируй», но как текст, который модель должна прочитать и понять, а не как условие в коде. Экран, а не пересказ.</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Панели настройки: «Extract amount» и «Amount over threshold?»</a:t>
            </a:r>
          </a:p>
        </p:txBody>
      </p:sp>
      <p:pic>
        <p:nvPicPr>
          <p:cNvPr id="3" name="Picture 2" descr="k3-panel-extract-crop-real.png"/>
          <p:cNvPicPr>
            <a:picLocks noChangeAspect="1"/>
          </p:cNvPicPr>
          <p:nvPr/>
        </p:nvPicPr>
        <p:blipFill>
          <a:blip r:embed="rId2"/>
          <a:stretch>
            <a:fillRect/>
          </a:stretch>
        </p:blipFill>
        <p:spPr>
          <a:xfrm>
            <a:off x="1572768" y="1352702"/>
            <a:ext cx="9043416" cy="3931920"/>
          </a:xfrm>
          <a:prstGeom prst="rect">
            <a:avLst/>
          </a:prstGeom>
        </p:spPr>
      </p:pic>
      <p:sp>
        <p:nvSpPr>
          <p:cNvPr id="4" name="Rounded Rectangle 3"/>
          <p:cNvSpPr/>
          <p:nvPr/>
        </p:nvSpPr>
        <p:spPr>
          <a:xfrm>
            <a:off x="502920" y="553151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65952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Тип ответа задаёт схема, границу задаёт условие. Ни то, ни другое не оставлено тексту, который модель читает заново на каждом прогоне.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клиент при автоматическом одобрении</a:t>
            </a:r>
          </a:p>
        </p:txBody>
      </p:sp>
      <p:pic>
        <p:nvPicPr>
          <p:cNvPr id="3" name="Picture 2" descr="tg-k3-klient.png"/>
          <p:cNvPicPr>
            <a:picLocks noChangeAspect="1"/>
          </p:cNvPicPr>
          <p:nvPr/>
        </p:nvPicPr>
        <p:blipFill>
          <a:blip r:embed="rId2"/>
          <a:stretch>
            <a:fillRect/>
          </a:stretch>
        </p:blipFill>
        <p:spPr>
          <a:xfrm>
            <a:off x="502920" y="1135689"/>
            <a:ext cx="11183112" cy="3275054"/>
          </a:xfrm>
          <a:prstGeom prst="rect">
            <a:avLst/>
          </a:prstGeom>
        </p:spPr>
      </p:pic>
      <p:sp>
        <p:nvSpPr>
          <p:cNvPr id="4" name="Rounded Rectangle 3"/>
          <p:cNvSpPr/>
          <p:nvPr/>
        </p:nvSpPr>
        <p:spPr>
          <a:xfrm>
            <a:off x="502920" y="505616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8418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заявка, что в сцене кейса, — «прошу вернуть 2500 рублей за пропущенное занятие», пример ниже порога: версия 2 одобряет его сама, без руководителя. Число в сообщении — то самое, которое из заявки достала модель извлечения; клиент видит результат, а не устройство решения.</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Разбор версий после теста</a:t>
            </a:r>
          </a:p>
        </p:txBody>
      </p:sp>
      <p:sp>
        <p:nvSpPr>
          <p:cNvPr id="3" name="Rounded Rectangle 2"/>
          <p:cNvSpPr/>
          <p:nvPr/>
        </p:nvSpPr>
        <p:spPr>
          <a:xfrm>
            <a:off x="502920" y="2202281"/>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385161"/>
            <a:ext cx="15490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2381180" y="2385161"/>
            <a:ext cx="58280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 (ПРАВИЛО В ПРОМТЕ)</a:t>
            </a:r>
          </a:p>
        </p:txBody>
      </p:sp>
      <p:sp>
        <p:nvSpPr>
          <p:cNvPr id="6" name="TextBox 5"/>
          <p:cNvSpPr txBox="1"/>
          <p:nvPr/>
        </p:nvSpPr>
        <p:spPr>
          <a:xfrm>
            <a:off x="8355546" y="2385161"/>
            <a:ext cx="30013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 (</a:t>
            </a:r>
            <a:r>
              <a:rPr sz="1150" b="1" i="0">
                <a:solidFill>
                  <a:srgbClr val="6B7685"/>
                </a:solidFill>
                <a:latin typeface="Consolas"/>
              </a:rPr>
              <a:t>IF</a:t>
            </a:r>
            <a:r>
              <a:rPr sz="1150" b="1" i="0">
                <a:solidFill>
                  <a:srgbClr val="6B7685"/>
                </a:solidFill>
                <a:latin typeface="Arial"/>
              </a:rPr>
              <a:t>-УЗЕЛ)</a:t>
            </a:r>
          </a:p>
        </p:txBody>
      </p:sp>
      <p:sp>
        <p:nvSpPr>
          <p:cNvPr id="7" name="TextBox 6"/>
          <p:cNvSpPr txBox="1"/>
          <p:nvPr/>
        </p:nvSpPr>
        <p:spPr>
          <a:xfrm>
            <a:off x="685800" y="2667228"/>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Ошибок на 101 запросе</a:t>
            </a:r>
          </a:p>
        </p:txBody>
      </p:sp>
      <p:sp>
        <p:nvSpPr>
          <p:cNvPr id="8" name="TextBox 7"/>
          <p:cNvSpPr txBox="1"/>
          <p:nvPr/>
        </p:nvSpPr>
        <p:spPr>
          <a:xfrm>
            <a:off x="2381180" y="2667228"/>
            <a:ext cx="582806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9</a:t>
            </a:r>
            <a:r>
              <a:rPr sz="1250" b="0" i="0">
                <a:solidFill>
                  <a:srgbClr val="141B2E"/>
                </a:solidFill>
                <a:latin typeface="Arial"/>
              </a:rPr>
              <a:t> — все на сумме 3000 руб.</a:t>
            </a:r>
          </a:p>
        </p:txBody>
      </p:sp>
      <p:sp>
        <p:nvSpPr>
          <p:cNvPr id="9" name="TextBox 8"/>
          <p:cNvSpPr txBox="1"/>
          <p:nvPr/>
        </p:nvSpPr>
        <p:spPr>
          <a:xfrm>
            <a:off x="8355546" y="2667228"/>
            <a:ext cx="30013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cxnSp>
        <p:nvCxnSpPr>
          <p:cNvPr id="10" name="Connector 9"/>
          <p:cNvCxnSpPr/>
          <p:nvPr/>
        </p:nvCxnSpPr>
        <p:spPr>
          <a:xfrm>
            <a:off x="685800" y="31969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96945"/>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 границе (3000 руб.)</a:t>
            </a:r>
          </a:p>
        </p:txBody>
      </p:sp>
      <p:sp>
        <p:nvSpPr>
          <p:cNvPr id="12" name="TextBox 11"/>
          <p:cNvSpPr txBox="1"/>
          <p:nvPr/>
        </p:nvSpPr>
        <p:spPr>
          <a:xfrm>
            <a:off x="2381180" y="3196945"/>
            <a:ext cx="582806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«эскалировать», хотя правило подразумевает «можно одобрить»</a:t>
            </a:r>
          </a:p>
        </p:txBody>
      </p:sp>
      <p:sp>
        <p:nvSpPr>
          <p:cNvPr id="13" name="TextBox 12"/>
          <p:cNvSpPr txBox="1"/>
          <p:nvPr/>
        </p:nvSpPr>
        <p:spPr>
          <a:xfrm>
            <a:off x="8355546" y="3196945"/>
            <a:ext cx="300130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«одобрить» — условие </a:t>
            </a:r>
            <a:r>
              <a:rPr sz="1250" b="0" i="0">
                <a:solidFill>
                  <a:srgbClr val="141B2E"/>
                </a:solidFill>
                <a:latin typeface="Consolas"/>
              </a:rPr>
              <a:t>&gt;</a:t>
            </a:r>
            <a:r>
              <a:rPr sz="1250" b="0" i="0">
                <a:solidFill>
                  <a:srgbClr val="141B2E"/>
                </a:solidFill>
                <a:latin typeface="Arial"/>
              </a:rPr>
              <a:t> </a:t>
            </a:r>
            <a:r>
              <a:rPr sz="1250" b="0" i="0">
                <a:solidFill>
                  <a:srgbClr val="141B2E"/>
                </a:solidFill>
                <a:latin typeface="Consolas"/>
              </a:rPr>
              <a:t>3000</a:t>
            </a:r>
            <a:r>
              <a:rPr sz="1250" b="0" i="0">
                <a:solidFill>
                  <a:srgbClr val="141B2E"/>
                </a:solidFill>
                <a:latin typeface="Arial"/>
              </a:rPr>
              <a:t> не допускает двойного толкования</a:t>
            </a:r>
          </a:p>
        </p:txBody>
      </p:sp>
      <p:cxnSp>
        <p:nvCxnSpPr>
          <p:cNvPr id="14" name="Connector 13"/>
          <p:cNvCxnSpPr/>
          <p:nvPr/>
        </p:nvCxnSpPr>
        <p:spPr>
          <a:xfrm>
            <a:off x="685800" y="37266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726662"/>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Вне границы</a:t>
            </a:r>
          </a:p>
        </p:txBody>
      </p:sp>
      <p:sp>
        <p:nvSpPr>
          <p:cNvPr id="16" name="TextBox 15"/>
          <p:cNvSpPr txBox="1"/>
          <p:nvPr/>
        </p:nvSpPr>
        <p:spPr>
          <a:xfrm>
            <a:off x="2381180" y="3726662"/>
            <a:ext cx="582806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 включая суммы в 20 руб. от границы и тексты с двумя числами</a:t>
            </a:r>
          </a:p>
        </p:txBody>
      </p:sp>
      <p:sp>
        <p:nvSpPr>
          <p:cNvPr id="17" name="TextBox 16"/>
          <p:cNvSpPr txBox="1"/>
          <p:nvPr/>
        </p:nvSpPr>
        <p:spPr>
          <a:xfrm>
            <a:off x="8355546" y="3726662"/>
            <a:ext cx="300130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решение должно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Точная формулировка находки.</a:t>
            </a:r>
            <a:r>
              <a:rPr sz="1500" b="1" i="0">
                <a:solidFill>
                  <a:srgbClr val="141B2E"/>
                </a:solidFill>
                <a:latin typeface="Arial"/>
              </a:rPr>
              <a:t> Не «модель иногда вероятностно ошибается» — точнее: </a:t>
            </a:r>
            <a:r>
              <a:rPr sz="1500" b="1" i="0">
                <a:solidFill>
                  <a:srgbClr val="141B2E"/>
                </a:solidFill>
                <a:latin typeface="Arial"/>
              </a:rPr>
              <a:t>модель систематически промахивается именно на границе условия</a:t>
            </a:r>
            <a:r>
              <a:rPr sz="1500" b="1" i="0">
                <a:solidFill>
                  <a:srgbClr val="141B2E"/>
                </a:solidFill>
                <a:latin typeface="Arial"/>
              </a:rPr>
              <a:t>, там, где текст правила и его формальная интерпретация расходятся, а в остальном диапазоне безупречна.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Решение, формализуемое как условие над числом, — </a:t>
            </a:r>
            <a:r>
              <a:rPr sz="1500" b="1" i="0">
                <a:solidFill>
                  <a:srgbClr val="141B2E"/>
                </a:solidFill>
                <a:latin typeface="Arial"/>
              </a:rPr>
              <a:t>не задача модели в точке принятия решения</a:t>
            </a:r>
            <a:r>
              <a:rPr sz="1500" b="1" i="0">
                <a:solidFill>
                  <a:srgbClr val="141B2E"/>
                </a:solidFill>
                <a:latin typeface="Arial"/>
              </a:rPr>
              <a:t>. Граничные значения — первое, что нужно проверить прогоном, прежде чем доверять любому похожему правилу.</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нюанса, прежде чем применять вывод</a:t>
            </a:r>
          </a:p>
        </p:txBody>
      </p:sp>
      <p:sp>
        <p:nvSpPr>
          <p:cNvPr id="3" name="Rounded Rectangle 2"/>
          <p:cNvSpPr/>
          <p:nvPr/>
        </p:nvSpPr>
        <p:spPr>
          <a:xfrm>
            <a:off x="502920" y="2039569"/>
            <a:ext cx="11183112" cy="2643759"/>
          </a:xfrm>
          <a:prstGeom prst="roundRect">
            <a:avLst>
              <a:gd name="adj" fmla="val 1152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59025"/>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2259025"/>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Инструмент-калькулятор у модели — не гарантия, и на практике измеримо хуже.</a:t>
            </a:r>
            <a:r>
              <a:rPr sz="1350" b="0" i="0">
                <a:solidFill>
                  <a:srgbClr val="141B2E"/>
                </a:solidFill>
                <a:latin typeface="Arial"/>
              </a:rPr>
              <a:t> Вероятностность не исчезает, она переехала на шаг раньше: вызовет ли модель калькулятор и как передаст в него значения. Измерено: 56 из 100 — хуже всех остальных вариантов, с новыми отказами (смешанный алфавит в ответе, инструмент не умеет сравнений, ошибки разбросаны по всему диапазону).</a:t>
            </a:r>
          </a:p>
        </p:txBody>
      </p:sp>
      <p:sp>
        <p:nvSpPr>
          <p:cNvPr id="6" name="TextBox 5"/>
          <p:cNvSpPr txBox="1"/>
          <p:nvPr/>
        </p:nvSpPr>
        <p:spPr>
          <a:xfrm>
            <a:off x="722376" y="3196285"/>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3196285"/>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Порог X — единственный источник правды.</a:t>
            </a:r>
            <a:r>
              <a:rPr sz="1350" b="0" i="0">
                <a:solidFill>
                  <a:srgbClr val="141B2E"/>
                </a:solidFill>
                <a:latin typeface="Arial"/>
              </a:rPr>
              <a:t> Если он живёт в двух копиях — тексте промпта и условии </a:t>
            </a:r>
            <a:r>
              <a:rPr sz="1350" b="0" i="0">
                <a:solidFill>
                  <a:srgbClr val="141B2E"/>
                </a:solidFill>
                <a:latin typeface="Consolas"/>
              </a:rPr>
              <a:t>IF</a:t>
            </a:r>
            <a:r>
              <a:rPr sz="1350" b="0" i="0">
                <a:solidFill>
                  <a:srgbClr val="141B2E"/>
                </a:solidFill>
                <a:latin typeface="Arial"/>
              </a:rPr>
              <a:t> — расхождение этих копий — тот же класс проблемы, что рвущийся контракт между шагами.</a:t>
            </a:r>
          </a:p>
        </p:txBody>
      </p:sp>
      <p:sp>
        <p:nvSpPr>
          <p:cNvPr id="8" name="TextBox 7"/>
          <p:cNvSpPr txBox="1"/>
          <p:nvPr/>
        </p:nvSpPr>
        <p:spPr>
          <a:xfrm>
            <a:off x="722376" y="372892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72892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Модель-экстрактор всё ещё может ошибиться.</a:t>
            </a:r>
            <a:r>
              <a:rPr sz="1350" b="0" i="0">
                <a:solidFill>
                  <a:srgbClr val="141B2E"/>
                </a:solidFill>
                <a:latin typeface="Arial"/>
              </a:rPr>
              <a:t> Вывод не «модель нигде не нужна», а «модель не должна быть точкой решения»; явное числовое поле формы убирает и эту часть риска — но только если форму самого запроса можно менять, иначе извлечение остаётся задачей модели.</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Критерий: когда решение обязано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Решение обязано быть кодом, когда оно формализуется как условие над уже структурированным значением. Ещё лучше — устранить саму потребность в извлечении, если источник данных можно сделать структурированным с самого начала.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Строка оси закрыта.</a:t>
            </a:r>
            <a:r>
              <a:rPr sz="1500" b="1" i="0">
                <a:solidFill>
                  <a:srgbClr val="141B2E"/>
                </a:solidFill>
                <a:latin typeface="Arial"/>
              </a:rPr>
              <a:t> Решение, оставленное модели, обходило правило в измеренной доле прогонов — девять из ста одного, и ровно на границе условия. Решение, отданное алгоритмическому гейту, — никогда.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171638"/>
            <a:ext cx="10607040" cy="391160"/>
          </a:xfrm>
          <a:prstGeom prst="rect">
            <a:avLst/>
          </a:prstGeom>
          <a:noFill/>
        </p:spPr>
        <p:txBody>
          <a:bodyPr wrap="square" lIns="0" rIns="0" tIns="0" bIns="0" anchor="t">
            <a:spAutoFit/>
          </a:bodyPr>
          <a:lstStyle/>
          <a:p>
            <a:pPr algn="l">
              <a:lnSpc>
                <a:spcPts val="3080"/>
              </a:lnSpc>
              <a:spcAft>
                <a:spcPts val="0"/>
              </a:spcAft>
            </a:pPr>
            <a:r>
              <a:rPr sz="2800" b="1" i="0">
                <a:solidFill>
                  <a:srgbClr val="FFFFFF"/>
                </a:solidFill>
                <a:latin typeface="Arial"/>
              </a:rPr>
              <a:t>Zillow Offers: алгоритмическая закупка жилья</a:t>
            </a:r>
          </a:p>
        </p:txBody>
      </p:sp>
      <p:sp>
        <p:nvSpPr>
          <p:cNvPr id="4" name="TextBox 3"/>
          <p:cNvSpPr txBox="1"/>
          <p:nvPr/>
        </p:nvSpPr>
        <p:spPr>
          <a:xfrm>
            <a:off x="685800" y="1873694"/>
            <a:ext cx="10607040" cy="511810"/>
          </a:xfrm>
          <a:prstGeom prst="rect">
            <a:avLst/>
          </a:prstGeom>
          <a:noFill/>
        </p:spPr>
        <p:txBody>
          <a:bodyPr wrap="square" lIns="0" rIns="0" tIns="0" bIns="0" anchor="t">
            <a:spAutoFit/>
          </a:bodyPr>
          <a:lstStyle/>
          <a:p>
            <a:pPr algn="l">
              <a:lnSpc>
                <a:spcPts val="2015"/>
              </a:lnSpc>
              <a:spcAft>
                <a:spcPts val="300"/>
              </a:spcAft>
            </a:pPr>
            <a:r>
              <a:rPr sz="1550" b="0" i="1">
                <a:solidFill>
                  <a:srgbClr val="FFFFFF"/>
                </a:solidFill>
                <a:latin typeface="Arial"/>
              </a:rPr>
              <a:t>«Непредсказуемость прогнозирования цен на жильё намного превышает то, что мы ожидали… частота ошибок оказалась гораздо более волатильной, чем мы считали возможным.»</a:t>
            </a:r>
          </a:p>
        </p:txBody>
      </p:sp>
      <p:sp>
        <p:nvSpPr>
          <p:cNvPr id="5" name="TextBox 4"/>
          <p:cNvSpPr txBox="1"/>
          <p:nvPr/>
        </p:nvSpPr>
        <p:spPr>
          <a:xfrm>
            <a:off x="685800" y="2495232"/>
            <a:ext cx="10607040" cy="182879"/>
          </a:xfrm>
          <a:prstGeom prst="rect">
            <a:avLst/>
          </a:prstGeom>
          <a:noFill/>
        </p:spPr>
        <p:txBody>
          <a:bodyPr wrap="square" lIns="0" rIns="0" tIns="0" bIns="0" anchor="t">
            <a:spAutoFit/>
          </a:bodyPr>
          <a:lstStyle/>
          <a:p>
            <a:pPr algn="l">
              <a:lnSpc>
                <a:spcPts val="1439"/>
              </a:lnSpc>
              <a:spcAft>
                <a:spcPts val="0"/>
              </a:spcAft>
            </a:pPr>
            <a:r>
              <a:rPr sz="1200" b="0" i="0">
                <a:solidFill>
                  <a:srgbClr val="D6E2EC"/>
                </a:solidFill>
                <a:latin typeface="Arial"/>
              </a:rPr>
              <a:t>Рич Бартон, CEO Zillow, 2 ноября 2021</a:t>
            </a:r>
          </a:p>
        </p:txBody>
      </p:sp>
      <p:sp>
        <p:nvSpPr>
          <p:cNvPr id="6" name="Rounded Rectangle 5"/>
          <p:cNvSpPr/>
          <p:nvPr/>
        </p:nvSpPr>
        <p:spPr>
          <a:xfrm>
            <a:off x="685800" y="3080448"/>
            <a:ext cx="3401568"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3396615"/>
            <a:ext cx="3145536" cy="384048"/>
          </a:xfrm>
          <a:prstGeom prst="rect">
            <a:avLst/>
          </a:prstGeom>
          <a:noFill/>
        </p:spPr>
        <p:txBody>
          <a:bodyPr wrap="square" lIns="0" rIns="0" tIns="0" bIns="0" anchor="ctr">
            <a:spAutoFit/>
          </a:bodyPr>
          <a:lstStyle/>
          <a:p>
            <a:pPr algn="ctr">
              <a:lnSpc>
                <a:spcPts val="3024"/>
              </a:lnSpc>
              <a:spcAft>
                <a:spcPts val="0"/>
              </a:spcAft>
            </a:pPr>
            <a:r>
              <a:rPr sz="2800" b="1" i="0">
                <a:solidFill>
                  <a:srgbClr val="065A82"/>
                </a:solidFill>
                <a:latin typeface="Arial"/>
              </a:rPr>
              <a:t>$304 млн</a:t>
            </a:r>
          </a:p>
        </p:txBody>
      </p:sp>
      <p:sp>
        <p:nvSpPr>
          <p:cNvPr id="8" name="TextBox 7"/>
          <p:cNvSpPr txBox="1"/>
          <p:nvPr/>
        </p:nvSpPr>
        <p:spPr>
          <a:xfrm>
            <a:off x="813816" y="3872103"/>
            <a:ext cx="3145536"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списание за квартал</a:t>
            </a:r>
          </a:p>
        </p:txBody>
      </p:sp>
      <p:sp>
        <p:nvSpPr>
          <p:cNvPr id="9" name="Rounded Rectangle 8"/>
          <p:cNvSpPr/>
          <p:nvPr/>
        </p:nvSpPr>
        <p:spPr>
          <a:xfrm>
            <a:off x="4288536" y="3080448"/>
            <a:ext cx="3401568"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3396615"/>
            <a:ext cx="3145536" cy="384048"/>
          </a:xfrm>
          <a:prstGeom prst="rect">
            <a:avLst/>
          </a:prstGeom>
          <a:noFill/>
        </p:spPr>
        <p:txBody>
          <a:bodyPr wrap="square" lIns="0" rIns="0" tIns="0" bIns="0" anchor="ctr">
            <a:spAutoFit/>
          </a:bodyPr>
          <a:lstStyle/>
          <a:p>
            <a:pPr algn="ctr">
              <a:lnSpc>
                <a:spcPts val="3024"/>
              </a:lnSpc>
              <a:spcAft>
                <a:spcPts val="0"/>
              </a:spcAft>
            </a:pPr>
            <a:r>
              <a:rPr sz="2800" b="1" i="0">
                <a:solidFill>
                  <a:srgbClr val="065A82"/>
                </a:solidFill>
                <a:latin typeface="Arial"/>
              </a:rPr>
              <a:t>~2000 человек</a:t>
            </a:r>
          </a:p>
        </p:txBody>
      </p:sp>
      <p:sp>
        <p:nvSpPr>
          <p:cNvPr id="11" name="TextBox 10"/>
          <p:cNvSpPr txBox="1"/>
          <p:nvPr/>
        </p:nvSpPr>
        <p:spPr>
          <a:xfrm>
            <a:off x="4416552" y="3872103"/>
            <a:ext cx="3145536"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четверть штата</a:t>
            </a:r>
          </a:p>
        </p:txBody>
      </p:sp>
      <p:sp>
        <p:nvSpPr>
          <p:cNvPr id="12" name="Rounded Rectangle 11"/>
          <p:cNvSpPr/>
          <p:nvPr/>
        </p:nvSpPr>
        <p:spPr>
          <a:xfrm>
            <a:off x="7891272" y="3080448"/>
            <a:ext cx="3401568"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19288" y="3396615"/>
            <a:ext cx="3145536" cy="384048"/>
          </a:xfrm>
          <a:prstGeom prst="rect">
            <a:avLst/>
          </a:prstGeom>
          <a:noFill/>
        </p:spPr>
        <p:txBody>
          <a:bodyPr wrap="square" lIns="0" rIns="0" tIns="0" bIns="0" anchor="ctr">
            <a:spAutoFit/>
          </a:bodyPr>
          <a:lstStyle/>
          <a:p>
            <a:pPr algn="ctr">
              <a:lnSpc>
                <a:spcPts val="3024"/>
              </a:lnSpc>
              <a:spcAft>
                <a:spcPts val="0"/>
              </a:spcAft>
            </a:pPr>
            <a:r>
              <a:rPr sz="2800" b="1" i="0">
                <a:solidFill>
                  <a:srgbClr val="065A82"/>
                </a:solidFill>
                <a:latin typeface="Arial"/>
              </a:rPr>
              <a:t>~$80 000</a:t>
            </a:r>
          </a:p>
        </p:txBody>
      </p:sp>
      <p:sp>
        <p:nvSpPr>
          <p:cNvPr id="14" name="TextBox 13"/>
          <p:cNvSpPr txBox="1"/>
          <p:nvPr/>
        </p:nvSpPr>
        <p:spPr>
          <a:xfrm>
            <a:off x="8019288" y="3872103"/>
            <a:ext cx="3145536"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убыток на каждый проданный дом</a:t>
            </a:r>
          </a:p>
        </p:txBody>
      </p:sp>
      <p:sp>
        <p:nvSpPr>
          <p:cNvPr id="15" name="TextBox 14"/>
          <p:cNvSpPr txBox="1"/>
          <p:nvPr/>
        </p:nvSpPr>
        <p:spPr>
          <a:xfrm>
            <a:off x="685800" y="4836096"/>
            <a:ext cx="10607040" cy="255905"/>
          </a:xfrm>
          <a:prstGeom prst="rect">
            <a:avLst/>
          </a:prstGeom>
          <a:noFill/>
        </p:spPr>
        <p:txBody>
          <a:bodyPr wrap="square" lIns="0" rIns="0" tIns="0" bIns="0" anchor="t">
            <a:spAutoFit/>
          </a:bodyPr>
          <a:lstStyle/>
          <a:p>
            <a:pPr algn="l">
              <a:lnSpc>
                <a:spcPts val="2015"/>
              </a:lnSpc>
              <a:spcAft>
                <a:spcPts val="300"/>
              </a:spcAft>
            </a:pPr>
            <a:r>
              <a:rPr sz="1550" b="0" i="0">
                <a:solidFill>
                  <a:srgbClr val="FFFFFF"/>
                </a:solidFill>
                <a:latin typeface="Arial"/>
              </a:rPr>
              <a:t>Тот же порог без гейта, что в «Одобрении возврата», — на масштабе компании.</a:t>
            </a:r>
          </a:p>
        </p:txBody>
      </p:sp>
      <p:sp>
        <p:nvSpPr>
          <p:cNvPr id="16" name="Rounded Rectangle 15"/>
          <p:cNvSpPr/>
          <p:nvPr/>
        </p:nvSpPr>
        <p:spPr>
          <a:xfrm>
            <a:off x="502920" y="5989320"/>
            <a:ext cx="1118311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5989320"/>
            <a:ext cx="1118311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Кейсы</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решение о покупке работало на самом деле</a:t>
            </a:r>
          </a:p>
        </p:txBody>
      </p:sp>
      <p:pic>
        <p:nvPicPr>
          <p:cNvPr id="3" name="Picture 2" descr="zillow-shema-bez-geyta.png"/>
          <p:cNvPicPr>
            <a:picLocks noChangeAspect="1"/>
          </p:cNvPicPr>
          <p:nvPr/>
        </p:nvPicPr>
        <p:blipFill>
          <a:blip r:embed="rId2"/>
          <a:stretch>
            <a:fillRect/>
          </a:stretch>
        </p:blipFill>
        <p:spPr>
          <a:xfrm>
            <a:off x="502920" y="1150818"/>
            <a:ext cx="11183112" cy="3215144"/>
          </a:xfrm>
          <a:prstGeom prst="rect">
            <a:avLst/>
          </a:prstGeom>
        </p:spPr>
      </p:pic>
      <p:sp>
        <p:nvSpPr>
          <p:cNvPr id="4" name="Rounded Rectangle 3"/>
          <p:cNvSpPr/>
          <p:nvPr/>
        </p:nvSpPr>
        <p:spPr>
          <a:xfrm>
            <a:off x="502920" y="503347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6149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 решение о покупке </a:t>
            </a:r>
            <a:r>
              <a:rPr sz="1500" b="1" i="0">
                <a:solidFill>
                  <a:srgbClr val="141B2E"/>
                </a:solidFill>
                <a:latin typeface="Arial"/>
              </a:rPr>
              <a:t>без обязательного гейта</a:t>
            </a:r>
            <a:r>
              <a:rPr sz="1500" b="1" i="0">
                <a:solidFill>
                  <a:srgbClr val="141B2E"/>
                </a:solidFill>
                <a:latin typeface="Arial"/>
              </a:rPr>
              <a:t> выше порога риска → покупка исполняется → </a:t>
            </a:r>
            <a:r>
              <a:rPr sz="1500" b="1" i="0">
                <a:solidFill>
                  <a:srgbClr val="141B2E"/>
                </a:solidFill>
                <a:latin typeface="Arial"/>
              </a:rPr>
              <a:t>без короткого периода мониторинга точности</a:t>
            </a:r>
            <a:r>
              <a:rPr sz="1500" b="1" i="0">
                <a:solidFill>
                  <a:srgbClr val="141B2E"/>
                </a:solidFill>
                <a:latin typeface="Arial"/>
              </a:rPr>
              <a:t> (часы-дни) → ошибка накапливается незаметно → видна только в квартальной отчётности перед SEC.</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не хватало в контуре решения Zillow</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Чего не хватало в контуре принятия решения?</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откалибровать модель точнее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поставить runtime-мониторинг дрейфа с автоматическим порогом остановки</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привязать решение о покупке выше определённой суммы риска к конкретному человеку-андеррайтеру</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заранее знать, что рынок жилья поведёт себя непредсказуемо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решает каждый вариант</a:t>
            </a:r>
          </a:p>
        </p:txBody>
      </p:sp>
      <p:sp>
        <p:nvSpPr>
          <p:cNvPr id="3" name="Rounded Rectangle 2"/>
          <p:cNvSpPr/>
          <p:nvPr/>
        </p:nvSpPr>
        <p:spPr>
          <a:xfrm>
            <a:off x="502920" y="1018286"/>
            <a:ext cx="11183112" cy="3862069"/>
          </a:xfrm>
          <a:prstGeom prst="roundRect">
            <a:avLst>
              <a:gd name="adj" fmla="val 789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01166"/>
            <a:ext cx="225460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3086706" y="1201166"/>
            <a:ext cx="238586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618871" y="1201166"/>
            <a:ext cx="57379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ДЕЛАЕТ</a:t>
            </a:r>
          </a:p>
        </p:txBody>
      </p:sp>
      <p:sp>
        <p:nvSpPr>
          <p:cNvPr id="7" name="TextBox 6"/>
          <p:cNvSpPr txBox="1"/>
          <p:nvPr/>
        </p:nvSpPr>
        <p:spPr>
          <a:xfrm>
            <a:off x="685800" y="1483233"/>
            <a:ext cx="2254602"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откалибровать модель точнее</a:t>
            </a:r>
          </a:p>
        </p:txBody>
      </p:sp>
      <p:sp>
        <p:nvSpPr>
          <p:cNvPr id="8" name="TextBox 7"/>
          <p:cNvSpPr txBox="1"/>
          <p:nvPr/>
        </p:nvSpPr>
        <p:spPr>
          <a:xfrm>
            <a:off x="3086706" y="1483233"/>
            <a:ext cx="23858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повышает точность на стабильных исторических данных</a:t>
            </a:r>
          </a:p>
        </p:txBody>
      </p:sp>
      <p:sp>
        <p:nvSpPr>
          <p:cNvPr id="9" name="TextBox 8"/>
          <p:cNvSpPr txBox="1"/>
          <p:nvPr/>
        </p:nvSpPr>
        <p:spPr>
          <a:xfrm>
            <a:off x="5618871" y="1483233"/>
            <a:ext cx="57379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относится к находке: модель и так была откалибрована корректно — ошиблась не калибровка, а режим рынка, которого не было в обучающей истории</a:t>
            </a:r>
          </a:p>
        </p:txBody>
      </p:sp>
      <p:cxnSp>
        <p:nvCxnSpPr>
          <p:cNvPr id="10" name="Connector 9"/>
          <p:cNvCxnSpPr/>
          <p:nvPr/>
        </p:nvCxnSpPr>
        <p:spPr>
          <a:xfrm>
            <a:off x="685800" y="2195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95512"/>
            <a:ext cx="2254602"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runtime-мониторинг дрейфа с автоматическим порогом остановки</a:t>
            </a:r>
          </a:p>
        </p:txBody>
      </p:sp>
      <p:sp>
        <p:nvSpPr>
          <p:cNvPr id="12" name="TextBox 11"/>
          <p:cNvSpPr txBox="1"/>
          <p:nvPr/>
        </p:nvSpPr>
        <p:spPr>
          <a:xfrm>
            <a:off x="3086706" y="2195512"/>
            <a:ext cx="23858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ловит резкий скачок частоты ошибки за часы или дни, пока убыток ещё маленький</a:t>
            </a:r>
          </a:p>
        </p:txBody>
      </p:sp>
      <p:sp>
        <p:nvSpPr>
          <p:cNvPr id="13" name="TextBox 12"/>
          <p:cNvSpPr txBox="1"/>
          <p:nvPr/>
        </p:nvSpPr>
        <p:spPr>
          <a:xfrm>
            <a:off x="5618871" y="2195512"/>
            <a:ext cx="573797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 поставлен на реальном контуре закупки: единственным контролем оставалась квартальная отчётность перед SEC — архив, а не период наблюдения</a:t>
            </a:r>
          </a:p>
        </p:txBody>
      </p:sp>
      <p:cxnSp>
        <p:nvCxnSpPr>
          <p:cNvPr id="14" name="Connector 13"/>
          <p:cNvCxnSpPr/>
          <p:nvPr/>
        </p:nvCxnSpPr>
        <p:spPr>
          <a:xfrm>
            <a:off x="685800" y="30903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090354"/>
            <a:ext cx="2254602"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привязать решение выше порога риска к человеку-андеррайтеру</a:t>
            </a:r>
          </a:p>
        </p:txBody>
      </p:sp>
      <p:sp>
        <p:nvSpPr>
          <p:cNvPr id="16" name="TextBox 15"/>
          <p:cNvSpPr txBox="1"/>
          <p:nvPr/>
        </p:nvSpPr>
        <p:spPr>
          <a:xfrm>
            <a:off x="3086706" y="3090354"/>
            <a:ext cx="23858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решение с крупной ставкой человеку именно в точке принятия решения</a:t>
            </a:r>
          </a:p>
        </p:txBody>
      </p:sp>
      <p:sp>
        <p:nvSpPr>
          <p:cNvPr id="17" name="TextBox 16"/>
          <p:cNvSpPr txBox="1"/>
          <p:nvPr/>
        </p:nvSpPr>
        <p:spPr>
          <a:xfrm>
            <a:off x="5618871" y="3090354"/>
            <a:ext cx="573797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было сделано структурно: алгоритм решал о покупке дома сам, вне зависимости от суммы риска</a:t>
            </a:r>
          </a:p>
        </p:txBody>
      </p:sp>
      <p:cxnSp>
        <p:nvCxnSpPr>
          <p:cNvPr id="18" name="Connector 17"/>
          <p:cNvCxnSpPr/>
          <p:nvPr/>
        </p:nvCxnSpPr>
        <p:spPr>
          <a:xfrm>
            <a:off x="685800" y="3985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85196"/>
            <a:ext cx="2254602"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заранее знать, что рынок поведёт себя непредсказуемо</a:t>
            </a:r>
          </a:p>
        </p:txBody>
      </p:sp>
      <p:sp>
        <p:nvSpPr>
          <p:cNvPr id="20" name="TextBox 19"/>
          <p:cNvSpPr txBox="1"/>
          <p:nvPr/>
        </p:nvSpPr>
        <p:spPr>
          <a:xfrm>
            <a:off x="3086706" y="3985196"/>
            <a:ext cx="23858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21" name="TextBox 20"/>
          <p:cNvSpPr txBox="1"/>
          <p:nvPr/>
        </p:nvSpPr>
        <p:spPr>
          <a:xfrm>
            <a:off x="5618871" y="3985196"/>
            <a:ext cx="57379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инженерное решение, а пожелание: волатильность рынка — внешний факт, которым нельзя управлять на стороне модели</a:t>
            </a:r>
          </a:p>
        </p:txBody>
      </p:sp>
      <p:sp>
        <p:nvSpPr>
          <p:cNvPr id="22" name="Rounded Rectangle 21"/>
          <p:cNvSpPr/>
          <p:nvPr/>
        </p:nvSpPr>
        <p:spPr>
          <a:xfrm>
            <a:off x="502920" y="523227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36028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Решающее.</a:t>
            </a:r>
            <a:r>
              <a:rPr sz="1500" b="1" i="0">
                <a:solidFill>
                  <a:srgbClr val="141B2E"/>
                </a:solidFill>
                <a:latin typeface="Arial"/>
              </a:rPr>
              <a:t> Модель не подвела — подвёл контур вокруг неё: не было ни короткого периода мониторинга,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Архитектурная альтернатива: андеррайтер и circuit breaker</a:t>
            </a:r>
          </a:p>
        </p:txBody>
      </p:sp>
      <p:pic>
        <p:nvPicPr>
          <p:cNvPr id="3" name="Picture 2" descr="zillow-shema-s-geytom.png"/>
          <p:cNvPicPr>
            <a:picLocks noChangeAspect="1"/>
          </p:cNvPicPr>
          <p:nvPr/>
        </p:nvPicPr>
        <p:blipFill>
          <a:blip r:embed="rId2"/>
          <a:stretch>
            <a:fillRect/>
          </a:stretch>
        </p:blipFill>
        <p:spPr>
          <a:xfrm>
            <a:off x="502920" y="1448813"/>
            <a:ext cx="11183112" cy="3215144"/>
          </a:xfrm>
          <a:prstGeom prst="rect">
            <a:avLst/>
          </a:prstGeom>
        </p:spPr>
      </p:pic>
      <p:sp>
        <p:nvSpPr>
          <p:cNvPr id="4" name="Rounded Rectangle 3"/>
          <p:cNvSpPr/>
          <p:nvPr/>
        </p:nvSpPr>
        <p:spPr>
          <a:xfrm>
            <a:off x="502920" y="515112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7913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вход, не решение) → </a:t>
            </a:r>
            <a:r>
              <a:rPr sz="1500" b="1" i="0">
                <a:solidFill>
                  <a:srgbClr val="141B2E"/>
                </a:solidFill>
                <a:latin typeface="Arial"/>
              </a:rPr>
              <a:t>человек-андеррайтер</a:t>
            </a:r>
            <a:r>
              <a:rPr sz="1500" b="1" i="0">
                <a:solidFill>
                  <a:srgbClr val="141B2E"/>
                </a:solidFill>
                <a:latin typeface="Arial"/>
              </a:rPr>
              <a:t> принимает финальное решение о покупке выше порога суммы/риска → </a:t>
            </a:r>
            <a:r>
              <a:rPr sz="1500" b="1" i="0">
                <a:solidFill>
                  <a:srgbClr val="141B2E"/>
                </a:solidFill>
                <a:latin typeface="Arial"/>
              </a:rPr>
              <a:t>явный circuit breaker</a:t>
            </a:r>
            <a:r>
              <a:rPr sz="1500" b="1" i="0">
                <a:solidFill>
                  <a:srgbClr val="141B2E"/>
                </a:solidFill>
                <a:latin typeface="Arial"/>
              </a:rPr>
              <a:t> на отклонение фактической цены от прогнозной, проверяемый еженедельно или чаще — не поквартально.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снижать объём автоматизации</a:t>
            </a:r>
          </a:p>
        </p:txBody>
      </p:sp>
      <p:sp>
        <p:nvSpPr>
          <p:cNvPr id="3" name="Rounded Rectangle 2"/>
          <p:cNvSpPr/>
          <p:nvPr/>
        </p:nvSpPr>
        <p:spPr>
          <a:xfrm>
            <a:off x="502920"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СНИЖАТЬ ОБЪЁМ АВТОМАТИЧЕСКИХ РЕШЕНИЙ</a:t>
            </a:r>
          </a:p>
        </p:txBody>
      </p:sp>
      <p:sp>
        <p:nvSpPr>
          <p:cNvPr id="5" name="TextBox 4"/>
          <p:cNvSpPr txBox="1"/>
          <p:nvPr/>
        </p:nvSpPr>
        <p:spPr>
          <a:xfrm>
            <a:off x="685800" y="132740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одной ошибки — десятки или сотни тысяч долларов реального капитала</a:t>
            </a:r>
          </a:p>
        </p:txBody>
      </p:sp>
      <p:cxnSp>
        <p:nvCxnSpPr>
          <p:cNvPr id="6" name="Connector 5"/>
          <p:cNvCxnSpPr/>
          <p:nvPr/>
        </p:nvCxnSpPr>
        <p:spPr>
          <a:xfrm>
            <a:off x="685800" y="18183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183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внешние условия показывают растущую волатильность относительно того режима, на котором модель обучена</a:t>
            </a:r>
          </a:p>
        </p:txBody>
      </p:sp>
      <p:cxnSp>
        <p:nvCxnSpPr>
          <p:cNvPr id="8" name="Connector 7"/>
          <p:cNvCxnSpPr/>
          <p:nvPr/>
        </p:nvCxnSpPr>
        <p:spPr>
          <a:xfrm>
            <a:off x="685800" y="230936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0936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решение выше порога суммы или риска не привязано ни к одному конкретному человеку</a:t>
            </a:r>
          </a:p>
        </p:txBody>
      </p:sp>
      <p:cxnSp>
        <p:nvCxnSpPr>
          <p:cNvPr id="10" name="Connector 9"/>
          <p:cNvCxnSpPr/>
          <p:nvPr/>
        </p:nvCxnSpPr>
        <p:spPr>
          <a:xfrm>
            <a:off x="685800" y="280035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035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единственный контроль качества — отчётность раз в квартал</a:t>
            </a:r>
          </a:p>
        </p:txBody>
      </p:sp>
      <p:sp>
        <p:nvSpPr>
          <p:cNvPr id="12" name="Rounded Rectangle 11"/>
          <p:cNvSpPr/>
          <p:nvPr/>
        </p:nvSpPr>
        <p:spPr>
          <a:xfrm>
            <a:off x="6231636"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МОЖНО ПРОДОЛЖАТЬ МАСШТАБИРОВАТЬ</a:t>
            </a:r>
          </a:p>
        </p:txBody>
      </p:sp>
      <p:sp>
        <p:nvSpPr>
          <p:cNvPr id="14" name="TextBox 13"/>
          <p:cNvSpPr txBox="1"/>
          <p:nvPr/>
        </p:nvSpPr>
        <p:spPr>
          <a:xfrm>
            <a:off x="6414516" y="132740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цена одной ошибки — один неприятный разговор с клиентом, не капитал</a:t>
            </a:r>
          </a:p>
        </p:txBody>
      </p:sp>
      <p:cxnSp>
        <p:nvCxnSpPr>
          <p:cNvPr id="15" name="Connector 14"/>
          <p:cNvCxnSpPr/>
          <p:nvPr/>
        </p:nvCxnSpPr>
        <p:spPr>
          <a:xfrm>
            <a:off x="6414516" y="17884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8841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рынок и данные стабильны, режим совпадает с тем, что модель видела при обучении</a:t>
            </a:r>
          </a:p>
        </p:txBody>
      </p:sp>
      <p:cxnSp>
        <p:nvCxnSpPr>
          <p:cNvPr id="17" name="Connector 16"/>
          <p:cNvCxnSpPr/>
          <p:nvPr/>
        </p:nvCxnSpPr>
        <p:spPr>
          <a:xfrm>
            <a:off x="6414516" y="22494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24942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решение выше порога структурно идёт через человека, и есть работающий circuit breaker</a:t>
            </a:r>
          </a:p>
        </p:txBody>
      </p:sp>
      <p:cxnSp>
        <p:nvCxnSpPr>
          <p:cNvPr id="19" name="Connector 18"/>
          <p:cNvCxnSpPr/>
          <p:nvPr/>
        </p:nvCxnSpPr>
        <p:spPr>
          <a:xfrm>
            <a:off x="6414516" y="271043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10433"/>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есть короткий период мониторинга (часы-дни) с автоматическим порогом остановки</a:t>
            </a:r>
          </a:p>
        </p:txBody>
      </p:sp>
      <p:sp>
        <p:nvSpPr>
          <p:cNvPr id="21" name="Rounded Rectangle 20"/>
          <p:cNvSpPr/>
          <p:nvPr/>
        </p:nvSpPr>
        <p:spPr>
          <a:xfrm>
            <a:off x="502920" y="3518916"/>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646932"/>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Предел.</a:t>
            </a:r>
            <a:r>
              <a:rPr sz="1400" b="1" i="0">
                <a:solidFill>
                  <a:srgbClr val="141B2E"/>
                </a:solidFill>
                <a:latin typeface="Arial"/>
              </a:rPr>
              <a:t> Если стоимость одной ошибки модели — десятки тысяч долларов реального капитала, а внешние условия демонстрируют растущую волатильность, снижайте объём автоматизированных решений до подтверждения устойчивости модели к новому режиму — не масштабируйте «пока не увидим цифры за квартал».</a:t>
            </a:r>
          </a:p>
        </p:txBody>
      </p:sp>
      <p:sp>
        <p:nvSpPr>
          <p:cNvPr id="23" name="Rounded Rectangle 22"/>
          <p:cNvSpPr/>
          <p:nvPr/>
        </p:nvSpPr>
        <p:spPr>
          <a:xfrm>
            <a:off x="502920" y="4839716"/>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967732"/>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Та же мысль, что в «Одобрении возврата», на другом масштабе.</a:t>
            </a:r>
            <a:r>
              <a:rPr sz="1400" b="1" i="0">
                <a:solidFill>
                  <a:srgbClr val="141B2E"/>
                </a:solidFill>
                <a:latin typeface="Arial"/>
              </a:rPr>
              <a:t> Там гейтом было решение по одной заявке на возврат,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Порог существовал в обоих случаях; алгоритмическим гейтом он не стал ни там, ни там, пока это не проверили.</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Карточка в Telegram</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2730"/>
              </a:lnSpc>
              <a:spcAft>
                <a:spcPts val="0"/>
              </a:spcAft>
            </a:pPr>
            <a:r>
              <a:rPr sz="2100" b="0" i="0">
                <a:solidFill>
                  <a:srgbClr val="FFFFFF"/>
                </a:solidFill>
                <a:latin typeface="Arial"/>
              </a:rPr>
              <a:t>Журнал выполнения — зелёный. Отправка подтверждена. У координатора в Telegram — ничего.</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Потребность маркетинга и первая версия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Учебный центр уже отправляет координатору текстовое уведомление о новой заявке (кейс «Уведомления»). Маркетинг просит: вместо сухого текста — карточка, текст поверх картинки, в том же канале.</a:t>
            </a:r>
          </a:p>
        </p:txBody>
      </p:sp>
      <p:sp>
        <p:nvSpPr>
          <p:cNvPr id="5" name="Rounded Rectangle 4"/>
          <p:cNvSpPr/>
          <p:nvPr/>
        </p:nvSpPr>
        <p:spPr>
          <a:xfrm>
            <a:off x="502920" y="1760220"/>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7" name="TextBox 6"/>
          <p:cNvSpPr txBox="1"/>
          <p:nvPr/>
        </p:nvSpPr>
        <p:spPr>
          <a:xfrm>
            <a:off x="1106424" y="1979676"/>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Собрали цепочку: текст уведомления готовится тем же приёмом подстановки значений, что в «Уведомлениях»; следующий шаг забирает картинку по ссылке; последний шаг отправляет картинку в Telegram с этим текстом как подписью.</a:t>
            </a:r>
          </a:p>
        </p:txBody>
      </p:sp>
      <p:sp>
        <p:nvSpPr>
          <p:cNvPr id="8" name="TextBox 7"/>
          <p:cNvSpPr txBox="1"/>
          <p:nvPr/>
        </p:nvSpPr>
        <p:spPr>
          <a:xfrm>
            <a:off x="722376" y="2392426"/>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9" name="TextBox 8"/>
          <p:cNvSpPr txBox="1"/>
          <p:nvPr/>
        </p:nvSpPr>
        <p:spPr>
          <a:xfrm>
            <a:off x="1106424" y="2392426"/>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На тестовых картинках цепочка работает без замечаний: карточка собирается и уходит, координатор видит её в Telegram.</a:t>
            </a:r>
          </a:p>
        </p:txBody>
      </p:sp>
      <p:sp>
        <p:nvSpPr>
          <p:cNvPr id="10" name="TextBox 9"/>
          <p:cNvSpPr txBox="1"/>
          <p:nvPr/>
        </p:nvSpPr>
        <p:spPr>
          <a:xfrm>
            <a:off x="722376" y="2662809"/>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1" name="TextBox 10"/>
          <p:cNvSpPr txBox="1"/>
          <p:nvPr/>
        </p:nvSpPr>
        <p:spPr>
          <a:xfrm>
            <a:off x="1106424" y="2662809"/>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Маркетинг присылает первую настоящую карточку для реальной рассылки — скан высокого разрешения прямо с телефона, заметно больше тестовых картинок.</a:t>
            </a:r>
          </a:p>
        </p:txBody>
      </p:sp>
      <p:sp>
        <p:nvSpPr>
          <p:cNvPr id="12" name="TextBox 11"/>
          <p:cNvSpPr txBox="1"/>
          <p:nvPr/>
        </p:nvSpPr>
        <p:spPr>
          <a:xfrm>
            <a:off x="722376" y="3075559"/>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3" name="TextBox 12"/>
          <p:cNvSpPr txBox="1"/>
          <p:nvPr/>
        </p:nvSpPr>
        <p:spPr>
          <a:xfrm>
            <a:off x="1106424" y="3075559"/>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Прогон завершается успешно: журнал n8n зелёный, узел отправки получил от Telegram API положительный ответ. У координатора в Telegram карточки нет — либо она не пришла вовсе, либо пришла обрезанной.</a:t>
            </a:r>
          </a:p>
        </p:txBody>
      </p:sp>
      <p:sp>
        <p:nvSpPr>
          <p:cNvPr id="14" name="Rounded Rectangle 13"/>
          <p:cNvSpPr/>
          <p:nvPr/>
        </p:nvSpPr>
        <p:spPr>
          <a:xfrm>
            <a:off x="502920" y="3872357"/>
            <a:ext cx="82296" cy="6627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000373"/>
            <a:ext cx="10643616" cy="4067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Цена, которую не видно в журнале.</a:t>
            </a:r>
            <a:r>
              <a:rPr sz="1100" b="1" i="0">
                <a:solidFill>
                  <a:srgbClr val="141B2E"/>
                </a:solidFill>
                <a:latin typeface="Arial"/>
              </a:rPr>
              <a:t> Это не отказ узла и не ошибка вызова — такие мы уже умеем ловить. Это тихая потеря результата при формально успешном прогоне, и до сих пор у нас не было повода проверять бинарные данные иначе, чем сам факт, что они сформировались.</a:t>
            </a:r>
          </a:p>
        </p:txBody>
      </p:sp>
      <p:sp>
        <p:nvSpPr>
          <p:cNvPr id="16" name="Rounded Rectangle 15"/>
          <p:cNvSpPr/>
          <p:nvPr/>
        </p:nvSpPr>
        <p:spPr>
          <a:xfrm>
            <a:off x="502920" y="4699719"/>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827735"/>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Что должно быть верно, прежде чем карточка считается готовой.</a:t>
            </a:r>
            <a:r>
              <a:rPr sz="1300" b="1" i="0">
                <a:solidFill>
                  <a:srgbClr val="141B2E"/>
                </a:solidFill>
                <a:latin typeface="Arial"/>
              </a:rPr>
              <a:t> Два класса требований, разных по природе:</a:t>
            </a:r>
          </a:p>
        </p:txBody>
      </p:sp>
      <p:sp>
        <p:nvSpPr>
          <p:cNvPr id="18" name="Rounded Rectangle 17"/>
          <p:cNvSpPr/>
          <p:nvPr/>
        </p:nvSpPr>
        <p:spPr>
          <a:xfrm>
            <a:off x="502920" y="5343355"/>
            <a:ext cx="11183112" cy="991108"/>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5471371"/>
            <a:ext cx="222639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КЛАСС ТРЕБОВАНИЯ</a:t>
            </a:r>
          </a:p>
        </p:txBody>
      </p:sp>
      <p:sp>
        <p:nvSpPr>
          <p:cNvPr id="20" name="TextBox 19"/>
          <p:cNvSpPr txBox="1"/>
          <p:nvPr/>
        </p:nvSpPr>
        <p:spPr>
          <a:xfrm>
            <a:off x="3003638" y="5471371"/>
            <a:ext cx="840807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ПРОВЕРЯЕТСЯ</a:t>
            </a:r>
          </a:p>
        </p:txBody>
      </p:sp>
      <p:sp>
        <p:nvSpPr>
          <p:cNvPr id="21" name="TextBox 20"/>
          <p:cNvSpPr txBox="1"/>
          <p:nvPr/>
        </p:nvSpPr>
        <p:spPr>
          <a:xfrm>
            <a:off x="630936" y="5730959"/>
            <a:ext cx="2226398"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Механическое</a:t>
            </a:r>
          </a:p>
        </p:txBody>
      </p:sp>
      <p:sp>
        <p:nvSpPr>
          <p:cNvPr id="22" name="TextBox 21"/>
          <p:cNvSpPr txBox="1"/>
          <p:nvPr/>
        </p:nvSpPr>
        <p:spPr>
          <a:xfrm>
            <a:off x="3003638" y="5730959"/>
            <a:ext cx="8408073"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размер файла, формат, разрешение — у файла есть численные и перечислимые свойства</a:t>
            </a:r>
          </a:p>
        </p:txBody>
      </p:sp>
      <p:cxnSp>
        <p:nvCxnSpPr>
          <p:cNvPr id="23" name="Connector 22"/>
          <p:cNvCxnSpPr/>
          <p:nvPr/>
        </p:nvCxnSpPr>
        <p:spPr>
          <a:xfrm>
            <a:off x="630936" y="596870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0936" y="5968703"/>
            <a:ext cx="2226398"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Смысловое / по содержанию</a:t>
            </a:r>
          </a:p>
        </p:txBody>
      </p:sp>
      <p:sp>
        <p:nvSpPr>
          <p:cNvPr id="25" name="TextBox 24"/>
          <p:cNvSpPr txBox="1"/>
          <p:nvPr/>
        </p:nvSpPr>
        <p:spPr>
          <a:xfrm>
            <a:off x="3003638" y="5968703"/>
            <a:ext cx="8408073"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картинка на самом деле показывает то, что нужно — не битый файл-заглушка, не чужое изображение, не пустой кадр</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проверить, что картинка соответствует требованиям</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проверить, что картинка соответствует требованиям?</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размер и формат файла перед отправкой — программно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картинка открывается без ошибок — программно</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на картинке действительно то, что нужно показать — моделью с распознаванием изображений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ничего не проверять — доверять тому, что узел отправки сам разберётся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Какая проверка закрывает какое требование</a:t>
            </a:r>
          </a:p>
        </p:txBody>
      </p:sp>
      <p:sp>
        <p:nvSpPr>
          <p:cNvPr id="3" name="Rounded Rectangle 2"/>
          <p:cNvSpPr/>
          <p:nvPr/>
        </p:nvSpPr>
        <p:spPr>
          <a:xfrm>
            <a:off x="502920" y="1019208"/>
            <a:ext cx="11183112" cy="2756471"/>
          </a:xfrm>
          <a:prstGeom prst="roundRect">
            <a:avLst>
              <a:gd name="adj" fmla="val 1105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02088"/>
            <a:ext cx="420245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КАРТОЧКА</a:t>
            </a:r>
          </a:p>
        </p:txBody>
      </p:sp>
      <p:sp>
        <p:nvSpPr>
          <p:cNvPr id="5" name="TextBox 4"/>
          <p:cNvSpPr txBox="1"/>
          <p:nvPr/>
        </p:nvSpPr>
        <p:spPr>
          <a:xfrm>
            <a:off x="5034559" y="1202088"/>
            <a:ext cx="232645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КАКОЕ ТРЕБОВАНИЕ ЗАКРЫВАЕТ</a:t>
            </a:r>
          </a:p>
        </p:txBody>
      </p:sp>
      <p:sp>
        <p:nvSpPr>
          <p:cNvPr id="6" name="TextBox 5"/>
          <p:cNvSpPr txBox="1"/>
          <p:nvPr/>
        </p:nvSpPr>
        <p:spPr>
          <a:xfrm>
            <a:off x="7507314" y="1202088"/>
            <a:ext cx="38495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ЗАКРЫТО СЕГОДНЯ?</a:t>
            </a:r>
          </a:p>
        </p:txBody>
      </p:sp>
      <p:sp>
        <p:nvSpPr>
          <p:cNvPr id="7" name="TextBox 6"/>
          <p:cNvSpPr txBox="1"/>
          <p:nvPr/>
        </p:nvSpPr>
        <p:spPr>
          <a:xfrm>
            <a:off x="685800" y="1656494"/>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размер и формат файла перед отправкой</a:t>
            </a:r>
          </a:p>
        </p:txBody>
      </p:sp>
      <p:sp>
        <p:nvSpPr>
          <p:cNvPr id="8" name="TextBox 7"/>
          <p:cNvSpPr txBox="1"/>
          <p:nvPr/>
        </p:nvSpPr>
        <p:spPr>
          <a:xfrm>
            <a:off x="5034559" y="1656494"/>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механическое</a:t>
            </a:r>
          </a:p>
        </p:txBody>
      </p:sp>
      <p:sp>
        <p:nvSpPr>
          <p:cNvPr id="9" name="TextBox 8"/>
          <p:cNvSpPr txBox="1"/>
          <p:nvPr/>
        </p:nvSpPr>
        <p:spPr>
          <a:xfrm>
            <a:off x="7507314" y="1656494"/>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 код, детерминированно, до отправки</a:t>
            </a:r>
          </a:p>
        </p:txBody>
      </p:sp>
      <p:cxnSp>
        <p:nvCxnSpPr>
          <p:cNvPr id="10" name="Connector 9"/>
          <p:cNvCxnSpPr/>
          <p:nvPr/>
        </p:nvCxnSpPr>
        <p:spPr>
          <a:xfrm>
            <a:off x="685800" y="21862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86211"/>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что картинка открывается без ошибок</a:t>
            </a:r>
          </a:p>
        </p:txBody>
      </p:sp>
      <p:sp>
        <p:nvSpPr>
          <p:cNvPr id="12" name="TextBox 11"/>
          <p:cNvSpPr txBox="1"/>
          <p:nvPr/>
        </p:nvSpPr>
        <p:spPr>
          <a:xfrm>
            <a:off x="5034559" y="2186211"/>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механическое (тот же класс)</a:t>
            </a:r>
          </a:p>
        </p:txBody>
      </p:sp>
      <p:sp>
        <p:nvSpPr>
          <p:cNvPr id="13" name="TextBox 12"/>
          <p:cNvSpPr txBox="1"/>
          <p:nvPr/>
        </p:nvSpPr>
        <p:spPr>
          <a:xfrm>
            <a:off x="7507314" y="2186211"/>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 тем же способом</a:t>
            </a:r>
          </a:p>
        </p:txBody>
      </p:sp>
      <p:cxnSp>
        <p:nvCxnSpPr>
          <p:cNvPr id="14" name="Connector 13"/>
          <p:cNvCxnSpPr/>
          <p:nvPr/>
        </p:nvCxnSpPr>
        <p:spPr>
          <a:xfrm>
            <a:off x="685800" y="27159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15928"/>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что на картинке действительно то, что нужно</a:t>
            </a:r>
          </a:p>
        </p:txBody>
      </p:sp>
      <p:sp>
        <p:nvSpPr>
          <p:cNvPr id="16" name="TextBox 15"/>
          <p:cNvSpPr txBox="1"/>
          <p:nvPr/>
        </p:nvSpPr>
        <p:spPr>
          <a:xfrm>
            <a:off x="5034559" y="2715928"/>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смысловое / по содержанию</a:t>
            </a:r>
          </a:p>
        </p:txBody>
      </p:sp>
      <p:sp>
        <p:nvSpPr>
          <p:cNvPr id="17" name="TextBox 16"/>
          <p:cNvSpPr txBox="1"/>
          <p:nvPr/>
        </p:nvSpPr>
        <p:spPr>
          <a:xfrm>
            <a:off x="7507314" y="2715928"/>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в цепочке сегодня нет шага, который это умеет</a:t>
            </a:r>
          </a:p>
        </p:txBody>
      </p:sp>
      <p:cxnSp>
        <p:nvCxnSpPr>
          <p:cNvPr id="18" name="Connector 17"/>
          <p:cNvCxnSpPr/>
          <p:nvPr/>
        </p:nvCxnSpPr>
        <p:spPr>
          <a:xfrm>
            <a:off x="685800" y="3245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45645"/>
            <a:ext cx="42024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ничего не проверять</a:t>
            </a:r>
          </a:p>
        </p:txBody>
      </p:sp>
      <p:sp>
        <p:nvSpPr>
          <p:cNvPr id="20" name="TextBox 19"/>
          <p:cNvSpPr txBox="1"/>
          <p:nvPr/>
        </p:nvSpPr>
        <p:spPr>
          <a:xfrm>
            <a:off x="5034559" y="3245645"/>
            <a:ext cx="232645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одно</a:t>
            </a:r>
          </a:p>
        </p:txBody>
      </p:sp>
      <p:sp>
        <p:nvSpPr>
          <p:cNvPr id="21" name="TextBox 20"/>
          <p:cNvSpPr txBox="1"/>
          <p:nvPr/>
        </p:nvSpPr>
        <p:spPr>
          <a:xfrm>
            <a:off x="7507314" y="3245645"/>
            <a:ext cx="38495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это и случилось в сцене кейса</a:t>
            </a:r>
          </a:p>
        </p:txBody>
      </p:sp>
      <p:sp>
        <p:nvSpPr>
          <p:cNvPr id="22" name="Rounded Rectangle 21"/>
          <p:cNvSpPr/>
          <p:nvPr/>
        </p:nvSpPr>
        <p:spPr>
          <a:xfrm>
            <a:off x="502920" y="412990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25792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Технически исправный файл (правильный размер, правильный формат) всё равно может показывать не то, что нужно — например если узел получения картинки получил страницу ошибки хостинга вместо самой картинки: формат и размер пройдут механическую проверку, а содержимое будет не тем.</a:t>
            </a:r>
          </a:p>
        </p:txBody>
      </p:sp>
      <p:sp>
        <p:nvSpPr>
          <p:cNvPr id="24" name="Rounded Rectangle 23"/>
          <p:cNvSpPr/>
          <p:nvPr/>
        </p:nvSpPr>
        <p:spPr>
          <a:xfrm>
            <a:off x="502920" y="546710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559512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Дальше — как первые два пункта реализуются технически: архитектура без привязки к инструменту, а следом настоящая конфигурация в n8n.</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два класса требований к файлу</a:t>
            </a:r>
          </a:p>
        </p:txBody>
      </p:sp>
      <p:pic>
        <p:nvPicPr>
          <p:cNvPr id="3" name="Picture 2" descr="k4-shema-trebovaniya.png"/>
          <p:cNvPicPr>
            <a:picLocks noChangeAspect="1"/>
          </p:cNvPicPr>
          <p:nvPr/>
        </p:nvPicPr>
        <p:blipFill>
          <a:blip r:embed="rId2"/>
          <a:stretch>
            <a:fillRect/>
          </a:stretch>
        </p:blipFill>
        <p:spPr>
          <a:xfrm>
            <a:off x="502920" y="1007882"/>
            <a:ext cx="11183112" cy="3914089"/>
          </a:xfrm>
          <a:prstGeom prst="rect">
            <a:avLst/>
          </a:prstGeom>
        </p:spPr>
      </p:pic>
      <p:sp>
        <p:nvSpPr>
          <p:cNvPr id="4" name="Rounded Rectangle 3"/>
          <p:cNvSpPr/>
          <p:nvPr/>
        </p:nvSpPr>
        <p:spPr>
          <a:xfrm>
            <a:off x="502920" y="5247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75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Файл → </a:t>
            </a:r>
            <a:r>
              <a:rPr sz="1500" b="1" i="0">
                <a:solidFill>
                  <a:srgbClr val="141B2E"/>
                </a:solidFill>
                <a:latin typeface="Arial"/>
              </a:rPr>
              <a:t>механическое требование</a:t>
            </a:r>
            <a:r>
              <a:rPr sz="1500" b="1" i="0">
                <a:solidFill>
                  <a:srgbClr val="141B2E"/>
                </a:solidFill>
                <a:latin typeface="Arial"/>
              </a:rPr>
              <a:t> (размер, формат, разрешение) → проверяет код, детерминированно, до отправки. Файл → </a:t>
            </a:r>
            <a:r>
              <a:rPr sz="1500" b="1" i="0">
                <a:solidFill>
                  <a:srgbClr val="141B2E"/>
                </a:solidFill>
                <a:latin typeface="Arial"/>
              </a:rPr>
              <a:t>смысловое требование</a:t>
            </a:r>
            <a:r>
              <a:rPr sz="1500" b="1" i="0">
                <a:solidFill>
                  <a:srgbClr val="141B2E"/>
                </a:solidFill>
                <a:latin typeface="Arial"/>
              </a:rPr>
              <a:t> (показывает ли нужное) → проверяет модель с распознаванием изображений — сегодня этого шага в цепочке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реальном канвасе</a:t>
            </a:r>
          </a:p>
        </p:txBody>
      </p:sp>
      <p:pic>
        <p:nvPicPr>
          <p:cNvPr id="3" name="Picture 2" descr="k4-n8n-vetvlenie-real.png"/>
          <p:cNvPicPr>
            <a:picLocks noChangeAspect="1"/>
          </p:cNvPicPr>
          <p:nvPr/>
        </p:nvPicPr>
        <p:blipFill>
          <a:blip r:embed="rId2"/>
          <a:stretch>
            <a:fillRect/>
          </a:stretch>
        </p:blipFill>
        <p:spPr>
          <a:xfrm>
            <a:off x="502920" y="970387"/>
            <a:ext cx="11183112" cy="3865342"/>
          </a:xfrm>
          <a:prstGeom prst="rect">
            <a:avLst/>
          </a:prstGeom>
        </p:spPr>
      </p:pic>
      <p:sp>
        <p:nvSpPr>
          <p:cNvPr id="4" name="Rounded Rectangle 3"/>
          <p:cNvSpPr/>
          <p:nvPr/>
        </p:nvSpPr>
        <p:spPr>
          <a:xfrm>
            <a:off x="502920" y="5067900"/>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95916"/>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Воркфлоу «С8 · Кейс 4 — картинка в Telegram», живой стенд.</a:t>
            </a:r>
            <a:r>
              <a:rPr sz="1500" b="1" i="0">
                <a:solidFill>
                  <a:srgbClr val="141B2E"/>
                </a:solidFill>
                <a:latin typeface="Arial"/>
              </a:rPr>
              <a:t> </a:t>
            </a:r>
            <a:r>
              <a:rPr sz="1500" b="1" i="0">
                <a:solidFill>
                  <a:srgbClr val="141B2E"/>
                </a:solidFill>
                <a:latin typeface="Consolas"/>
              </a:rPr>
              <a:t>Write</a:t>
            </a:r>
            <a:r>
              <a:rPr sz="1500" b="1" i="0">
                <a:solidFill>
                  <a:srgbClr val="141B2E"/>
                </a:solidFill>
                <a:latin typeface="Arial"/>
              </a:rPr>
              <a:t> </a:t>
            </a:r>
            <a:r>
              <a:rPr sz="1500" b="1" i="0">
                <a:solidFill>
                  <a:srgbClr val="141B2E"/>
                </a:solidFill>
                <a:latin typeface="Consolas"/>
              </a:rPr>
              <a:t>row</a:t>
            </a:r>
            <a:r>
              <a:rPr sz="1500" b="1" i="0">
                <a:solidFill>
                  <a:srgbClr val="141B2E"/>
                </a:solidFill>
                <a:latin typeface="Arial"/>
              </a:rPr>
              <a:t> → </a:t>
            </a:r>
            <a:r>
              <a:rPr sz="1500" b="1" i="0">
                <a:solidFill>
                  <a:srgbClr val="141B2E"/>
                </a:solidFill>
                <a:latin typeface="Consolas"/>
              </a:rPr>
              <a:t>Result</a:t>
            </a:r>
            <a:r>
              <a:rPr sz="1500" b="1" i="0">
                <a:solidFill>
                  <a:srgbClr val="141B2E"/>
                </a:solidFill>
                <a:latin typeface="Arial"/>
              </a:rPr>
              <a:t> </a:t>
            </a:r>
            <a:r>
              <a:rPr sz="1500" b="1" i="0">
                <a:solidFill>
                  <a:srgbClr val="141B2E"/>
                </a:solidFill>
                <a:latin typeface="Consolas"/>
              </a:rPr>
              <a:t>screen</a:t>
            </a:r>
            <a:r>
              <a:rPr sz="1500" b="1" i="0">
                <a:solidFill>
                  <a:srgbClr val="141B2E"/>
                </a:solidFill>
                <a:latin typeface="Arial"/>
              </a:rPr>
              <a:t> — тот же главный путь приёма заявки, что в Кейсе 1. От развилки после </a:t>
            </a:r>
            <a:r>
              <a:rPr sz="1500" b="1" i="0">
                <a:solidFill>
                  <a:srgbClr val="141B2E"/>
                </a:solidFill>
                <a:latin typeface="Consolas"/>
              </a:rPr>
              <a:t>Write</a:t>
            </a:r>
            <a:r>
              <a:rPr sz="1500" b="1" i="0">
                <a:solidFill>
                  <a:srgbClr val="141B2E"/>
                </a:solidFill>
                <a:latin typeface="Arial"/>
              </a:rPr>
              <a:t> </a:t>
            </a:r>
            <a:r>
              <a:rPr sz="1500" b="1" i="0">
                <a:solidFill>
                  <a:srgbClr val="141B2E"/>
                </a:solidFill>
                <a:latin typeface="Consolas"/>
              </a:rPr>
              <a:t>row</a:t>
            </a:r>
            <a:r>
              <a:rPr sz="1500" b="1" i="0">
                <a:solidFill>
                  <a:srgbClr val="141B2E"/>
                </a:solidFill>
                <a:latin typeface="Arial"/>
              </a:rPr>
              <a:t> стрелка уходит вверх, в </a:t>
            </a:r>
            <a:r>
              <a:rPr sz="1500" b="1" i="0">
                <a:solidFill>
                  <a:srgbClr val="141B2E"/>
                </a:solidFill>
                <a:latin typeface="Consolas"/>
              </a:rPr>
              <a:t>Compose</a:t>
            </a:r>
            <a:r>
              <a:rPr sz="1500" b="1" i="0">
                <a:solidFill>
                  <a:srgbClr val="141B2E"/>
                </a:solidFill>
                <a:latin typeface="Arial"/>
              </a:rPr>
              <a:t> </a:t>
            </a:r>
            <a:r>
              <a:rPr sz="1500" b="1" i="0">
                <a:solidFill>
                  <a:srgbClr val="141B2E"/>
                </a:solidFill>
                <a:latin typeface="Consolas"/>
              </a:rPr>
              <a:t>notification</a:t>
            </a:r>
            <a:r>
              <a:rPr sz="1500" b="1" i="0">
                <a:solidFill>
                  <a:srgbClr val="141B2E"/>
                </a:solidFill>
                <a:latin typeface="Arial"/>
              </a:rPr>
              <a:t> </a:t>
            </a:r>
            <a:r>
              <a:rPr sz="1500" b="1" i="0">
                <a:solidFill>
                  <a:srgbClr val="141B2E"/>
                </a:solidFill>
                <a:latin typeface="Consolas"/>
              </a:rPr>
              <a:t>(template)</a:t>
            </a:r>
            <a:r>
              <a:rPr sz="1500" b="1" i="0">
                <a:solidFill>
                  <a:srgbClr val="141B2E"/>
                </a:solidFill>
                <a:latin typeface="Arial"/>
              </a:rPr>
              <a:t> → </a:t>
            </a:r>
            <a:r>
              <a:rPr sz="1500" b="1" i="0">
                <a:solidFill>
                  <a:srgbClr val="141B2E"/>
                </a:solidFill>
                <a:latin typeface="Consolas"/>
              </a:rPr>
              <a:t>Fetch</a:t>
            </a:r>
            <a:r>
              <a:rPr sz="1500" b="1" i="0">
                <a:solidFill>
                  <a:srgbClr val="141B2E"/>
                </a:solidFill>
                <a:latin typeface="Arial"/>
              </a:rPr>
              <a:t> </a:t>
            </a:r>
            <a:r>
              <a:rPr sz="1500" b="1" i="0">
                <a:solidFill>
                  <a:srgbClr val="141B2E"/>
                </a:solidFill>
                <a:latin typeface="Consolas"/>
              </a:rPr>
              <a:t>card</a:t>
            </a:r>
            <a:r>
              <a:rPr sz="1500" b="1" i="0">
                <a:solidFill>
                  <a:srgbClr val="141B2E"/>
                </a:solidFill>
                <a:latin typeface="Arial"/>
              </a:rPr>
              <a:t> </a:t>
            </a:r>
            <a:r>
              <a:rPr sz="1500" b="1" i="0">
                <a:solidFill>
                  <a:srgbClr val="141B2E"/>
                </a:solidFill>
                <a:latin typeface="Consolas"/>
              </a:rPr>
              <a:t>image</a:t>
            </a:r>
            <a:r>
              <a:rPr sz="1500" b="1" i="0">
                <a:solidFill>
                  <a:srgbClr val="141B2E"/>
                </a:solidFill>
                <a:latin typeface="Arial"/>
              </a:rPr>
              <a:t> </a:t>
            </a:r>
            <a:r>
              <a:rPr sz="1500" b="1" i="0">
                <a:solidFill>
                  <a:srgbClr val="141B2E"/>
                </a:solidFill>
                <a:latin typeface="Consolas"/>
              </a:rPr>
              <a:t>(HTTP)</a:t>
            </a:r>
            <a:r>
              <a:rPr sz="1500" b="1" i="0">
                <a:solidFill>
                  <a:srgbClr val="141B2E"/>
                </a:solidFill>
                <a:latin typeface="Arial"/>
              </a:rPr>
              <a:t> → </a:t>
            </a:r>
            <a:r>
              <a:rPr sz="1500" b="1" i="0">
                <a:solidFill>
                  <a:srgbClr val="141B2E"/>
                </a:solidFill>
                <a:latin typeface="Consolas"/>
              </a:rPr>
              <a:t>Send</a:t>
            </a:r>
            <a:r>
              <a:rPr sz="1500" b="1" i="0">
                <a:solidFill>
                  <a:srgbClr val="141B2E"/>
                </a:solidFill>
                <a:latin typeface="Arial"/>
              </a:rPr>
              <a:t> </a:t>
            </a:r>
            <a:r>
              <a:rPr sz="1500" b="1" i="0">
                <a:solidFill>
                  <a:srgbClr val="141B2E"/>
                </a:solidFill>
                <a:latin typeface="Consolas"/>
              </a:rPr>
              <a:t>card</a:t>
            </a:r>
            <a:r>
              <a:rPr sz="1500" b="1" i="0">
                <a:solidFill>
                  <a:srgbClr val="141B2E"/>
                </a:solidFill>
                <a:latin typeface="Arial"/>
              </a:rPr>
              <a:t> </a:t>
            </a:r>
            <a:r>
              <a:rPr sz="1500" b="1" i="0">
                <a:solidFill>
                  <a:srgbClr val="141B2E"/>
                </a:solidFill>
                <a:latin typeface="Consolas"/>
              </a:rPr>
              <a:t>(Telegram</a:t>
            </a:r>
            <a:r>
              <a:rPr sz="1500" b="1" i="0">
                <a:solidFill>
                  <a:srgbClr val="141B2E"/>
                </a:solidFill>
                <a:latin typeface="Arial"/>
              </a:rPr>
              <a:t> </a:t>
            </a:r>
            <a:r>
              <a:rPr sz="1500" b="1" i="0">
                <a:solidFill>
                  <a:srgbClr val="141B2E"/>
                </a:solidFill>
                <a:latin typeface="Consolas"/>
              </a:rPr>
              <a:t>photo)</a:t>
            </a:r>
            <a:r>
              <a:rPr sz="1500" b="1" i="0">
                <a:solidFill>
                  <a:srgbClr val="141B2E"/>
                </a:solidFill>
                <a:latin typeface="Arial"/>
              </a:rPr>
              <a:t> — три узла, которые кейс разбирает дальше.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Цепочка в n8n и граница размера, проверенная настоящим вызовом</a:t>
            </a:r>
          </a:p>
        </p:txBody>
      </p:sp>
      <p:pic>
        <p:nvPicPr>
          <p:cNvPr id="3" name="Picture 2" descr="k4-n8n-tsepochka-real.png"/>
          <p:cNvPicPr>
            <a:picLocks noChangeAspect="1"/>
          </p:cNvPicPr>
          <p:nvPr/>
        </p:nvPicPr>
        <p:blipFill>
          <a:blip r:embed="rId2"/>
          <a:stretch>
            <a:fillRect/>
          </a:stretch>
        </p:blipFill>
        <p:spPr>
          <a:xfrm>
            <a:off x="1066160" y="1319784"/>
            <a:ext cx="10056630" cy="2800199"/>
          </a:xfrm>
          <a:prstGeom prst="rect">
            <a:avLst/>
          </a:prstGeom>
        </p:spPr>
      </p:pic>
      <p:sp>
        <p:nvSpPr>
          <p:cNvPr id="4" name="Rounded Rectangle 3"/>
          <p:cNvSpPr/>
          <p:nvPr/>
        </p:nvSpPr>
        <p:spPr>
          <a:xfrm>
            <a:off x="502920" y="4284575"/>
            <a:ext cx="11183112" cy="1195070"/>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40023"/>
            <a:ext cx="53769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a:t>
            </a:r>
          </a:p>
        </p:txBody>
      </p:sp>
      <p:sp>
        <p:nvSpPr>
          <p:cNvPr id="6" name="TextBox 5"/>
          <p:cNvSpPr txBox="1"/>
          <p:nvPr/>
        </p:nvSpPr>
        <p:spPr>
          <a:xfrm>
            <a:off x="6181614" y="4440023"/>
            <a:ext cx="520266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БАЙТ</a:t>
            </a:r>
          </a:p>
        </p:txBody>
      </p:sp>
      <p:sp>
        <p:nvSpPr>
          <p:cNvPr id="7" name="TextBox 6"/>
          <p:cNvSpPr txBox="1"/>
          <p:nvPr/>
        </p:nvSpPr>
        <p:spPr>
          <a:xfrm>
            <a:off x="658368" y="4722090"/>
            <a:ext cx="5376942"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Проверенный файл</a:t>
            </a:r>
          </a:p>
        </p:txBody>
      </p:sp>
      <p:sp>
        <p:nvSpPr>
          <p:cNvPr id="8" name="TextBox 7"/>
          <p:cNvSpPr txBox="1"/>
          <p:nvPr/>
        </p:nvSpPr>
        <p:spPr>
          <a:xfrm>
            <a:off x="6181614" y="4722090"/>
            <a:ext cx="5202665"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12 812 355</a:t>
            </a:r>
            <a:r>
              <a:rPr sz="1250" b="0" i="0">
                <a:solidFill>
                  <a:srgbClr val="141B2E"/>
                </a:solidFill>
                <a:latin typeface="Arial"/>
              </a:rPr>
              <a:t> (~12,8 МБ)</a:t>
            </a:r>
          </a:p>
        </p:txBody>
      </p:sp>
      <p:cxnSp>
        <p:nvCxnSpPr>
          <p:cNvPr id="9" name="Connector 8"/>
          <p:cNvCxnSpPr/>
          <p:nvPr/>
        </p:nvCxnSpPr>
        <p:spPr>
          <a:xfrm>
            <a:off x="658368" y="502314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5023144"/>
            <a:ext cx="5376942"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Лимит Telegram на фото</a:t>
            </a:r>
          </a:p>
        </p:txBody>
      </p:sp>
      <p:sp>
        <p:nvSpPr>
          <p:cNvPr id="11" name="TextBox 10"/>
          <p:cNvSpPr txBox="1"/>
          <p:nvPr/>
        </p:nvSpPr>
        <p:spPr>
          <a:xfrm>
            <a:off x="6181614" y="5023144"/>
            <a:ext cx="5202665"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10 485 760</a:t>
            </a:r>
            <a:r>
              <a:rPr sz="1250" b="0" i="0">
                <a:solidFill>
                  <a:srgbClr val="141B2E"/>
                </a:solidFill>
                <a:latin typeface="Arial"/>
              </a:rPr>
              <a:t> (10 МБ)</a:t>
            </a:r>
          </a:p>
        </p:txBody>
      </p:sp>
      <p:sp>
        <p:nvSpPr>
          <p:cNvPr id="12" name="Rounded Rectangle 11"/>
          <p:cNvSpPr/>
          <p:nvPr/>
        </p:nvSpPr>
        <p:spPr>
          <a:xfrm>
            <a:off x="502920" y="5644237"/>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772253"/>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Ответ Telegram Bot API: </a:t>
            </a:r>
            <a:r>
              <a:rPr sz="1250" b="1" i="0">
                <a:solidFill>
                  <a:srgbClr val="141B2E"/>
                </a:solidFill>
                <a:latin typeface="Consolas"/>
              </a:rPr>
              <a:t>"Bad</a:t>
            </a:r>
            <a:r>
              <a:rPr sz="1250" b="1" i="0">
                <a:solidFill>
                  <a:srgbClr val="141B2E"/>
                </a:solidFill>
                <a:latin typeface="Arial"/>
              </a:rPr>
              <a:t> </a:t>
            </a:r>
            <a:r>
              <a:rPr sz="1250" b="1" i="0">
                <a:solidFill>
                  <a:srgbClr val="141B2E"/>
                </a:solidFill>
                <a:latin typeface="Consolas"/>
              </a:rPr>
              <a:t>Request:</a:t>
            </a:r>
            <a:r>
              <a:rPr sz="1250" b="1" i="0">
                <a:solidFill>
                  <a:srgbClr val="141B2E"/>
                </a:solidFill>
                <a:latin typeface="Arial"/>
              </a:rPr>
              <a:t> </a:t>
            </a:r>
            <a:r>
              <a:rPr sz="1250" b="1" i="0">
                <a:solidFill>
                  <a:srgbClr val="141B2E"/>
                </a:solidFill>
                <a:latin typeface="Consolas"/>
              </a:rPr>
              <a:t>file</a:t>
            </a:r>
            <a:r>
              <a:rPr sz="1250" b="1" i="0">
                <a:solidFill>
                  <a:srgbClr val="141B2E"/>
                </a:solidFill>
                <a:latin typeface="Arial"/>
              </a:rPr>
              <a:t> </a:t>
            </a:r>
            <a:r>
              <a:rPr sz="1250" b="1" i="0">
                <a:solidFill>
                  <a:srgbClr val="141B2E"/>
                </a:solidFill>
                <a:latin typeface="Consolas"/>
              </a:rPr>
              <a:t>of</a:t>
            </a:r>
            <a:r>
              <a:rPr sz="1250" b="1" i="0">
                <a:solidFill>
                  <a:srgbClr val="141B2E"/>
                </a:solidFill>
                <a:latin typeface="Arial"/>
              </a:rPr>
              <a:t> </a:t>
            </a:r>
            <a:r>
              <a:rPr sz="1250" b="1" i="0">
                <a:solidFill>
                  <a:srgbClr val="141B2E"/>
                </a:solidFill>
                <a:latin typeface="Consolas"/>
              </a:rPr>
              <a:t>size</a:t>
            </a:r>
            <a:r>
              <a:rPr sz="1250" b="1" i="0">
                <a:solidFill>
                  <a:srgbClr val="141B2E"/>
                </a:solidFill>
                <a:latin typeface="Arial"/>
              </a:rPr>
              <a:t> </a:t>
            </a:r>
            <a:r>
              <a:rPr sz="1250" b="1" i="0">
                <a:solidFill>
                  <a:srgbClr val="141B2E"/>
                </a:solidFill>
                <a:latin typeface="Consolas"/>
              </a:rPr>
              <a:t>12812355</a:t>
            </a:r>
            <a:r>
              <a:rPr sz="1250" b="1" i="0">
                <a:solidFill>
                  <a:srgbClr val="141B2E"/>
                </a:solidFill>
                <a:latin typeface="Arial"/>
              </a:rPr>
              <a:t> </a:t>
            </a:r>
            <a:r>
              <a:rPr sz="1250" b="1" i="0">
                <a:solidFill>
                  <a:srgbClr val="141B2E"/>
                </a:solidFill>
                <a:latin typeface="Consolas"/>
              </a:rPr>
              <a:t>bytes</a:t>
            </a:r>
            <a:r>
              <a:rPr sz="1250" b="1" i="0">
                <a:solidFill>
                  <a:srgbClr val="141B2E"/>
                </a:solidFill>
                <a:latin typeface="Arial"/>
              </a:rPr>
              <a:t> </a:t>
            </a:r>
            <a:r>
              <a:rPr sz="1250" b="1" i="0">
                <a:solidFill>
                  <a:srgbClr val="141B2E"/>
                </a:solidFill>
                <a:latin typeface="Consolas"/>
              </a:rPr>
              <a:t>is</a:t>
            </a:r>
            <a:r>
              <a:rPr sz="1250" b="1" i="0">
                <a:solidFill>
                  <a:srgbClr val="141B2E"/>
                </a:solidFill>
                <a:latin typeface="Arial"/>
              </a:rPr>
              <a:t> </a:t>
            </a:r>
            <a:r>
              <a:rPr sz="1250" b="1" i="0">
                <a:solidFill>
                  <a:srgbClr val="141B2E"/>
                </a:solidFill>
                <a:latin typeface="Consolas"/>
              </a:rPr>
              <a:t>too</a:t>
            </a:r>
            <a:r>
              <a:rPr sz="1250" b="1" i="0">
                <a:solidFill>
                  <a:srgbClr val="141B2E"/>
                </a:solidFill>
                <a:latin typeface="Arial"/>
              </a:rPr>
              <a:t> </a:t>
            </a:r>
            <a:r>
              <a:rPr sz="1250" b="1" i="0">
                <a:solidFill>
                  <a:srgbClr val="141B2E"/>
                </a:solidFill>
                <a:latin typeface="Consolas"/>
              </a:rPr>
              <a:t>big</a:t>
            </a:r>
            <a:r>
              <a:rPr sz="1250" b="1" i="0">
                <a:solidFill>
                  <a:srgbClr val="141B2E"/>
                </a:solidFill>
                <a:latin typeface="Arial"/>
              </a:rPr>
              <a:t> </a:t>
            </a:r>
            <a:r>
              <a:rPr sz="1250" b="1" i="0">
                <a:solidFill>
                  <a:srgbClr val="141B2E"/>
                </a:solidFill>
                <a:latin typeface="Consolas"/>
              </a:rPr>
              <a:t>for</a:t>
            </a:r>
            <a:r>
              <a:rPr sz="1250" b="1" i="0">
                <a:solidFill>
                  <a:srgbClr val="141B2E"/>
                </a:solidFill>
                <a:latin typeface="Arial"/>
              </a:rPr>
              <a:t> </a:t>
            </a:r>
            <a:r>
              <a:rPr sz="1250" b="1" i="0">
                <a:solidFill>
                  <a:srgbClr val="141B2E"/>
                </a:solidFill>
                <a:latin typeface="Consolas"/>
              </a:rPr>
              <a:t>a</a:t>
            </a:r>
            <a:r>
              <a:rPr sz="1250" b="1" i="0">
                <a:solidFill>
                  <a:srgbClr val="141B2E"/>
                </a:solidFill>
                <a:latin typeface="Arial"/>
              </a:rPr>
              <a:t> </a:t>
            </a:r>
            <a:r>
              <a:rPr sz="1250" b="1" i="0">
                <a:solidFill>
                  <a:srgbClr val="141B2E"/>
                </a:solidFill>
                <a:latin typeface="Consolas"/>
              </a:rPr>
              <a:t>photo;</a:t>
            </a:r>
            <a:r>
              <a:rPr sz="1250" b="1" i="0">
                <a:solidFill>
                  <a:srgbClr val="141B2E"/>
                </a:solidFill>
                <a:latin typeface="Arial"/>
              </a:rPr>
              <a:t> </a:t>
            </a:r>
            <a:r>
              <a:rPr sz="1250" b="1" i="0">
                <a:solidFill>
                  <a:srgbClr val="141B2E"/>
                </a:solidFill>
                <a:latin typeface="Consolas"/>
              </a:rPr>
              <a:t>the</a:t>
            </a:r>
            <a:r>
              <a:rPr sz="1250" b="1" i="0">
                <a:solidFill>
                  <a:srgbClr val="141B2E"/>
                </a:solidFill>
                <a:latin typeface="Arial"/>
              </a:rPr>
              <a:t> </a:t>
            </a:r>
            <a:r>
              <a:rPr sz="1250" b="1" i="0">
                <a:solidFill>
                  <a:srgbClr val="141B2E"/>
                </a:solidFill>
                <a:latin typeface="Consolas"/>
              </a:rPr>
              <a:t>maximum</a:t>
            </a:r>
            <a:r>
              <a:rPr sz="1250" b="1" i="0">
                <a:solidFill>
                  <a:srgbClr val="141B2E"/>
                </a:solidFill>
                <a:latin typeface="Arial"/>
              </a:rPr>
              <a:t> </a:t>
            </a:r>
            <a:r>
              <a:rPr sz="1250" b="1" i="0">
                <a:solidFill>
                  <a:srgbClr val="141B2E"/>
                </a:solidFill>
                <a:latin typeface="Consolas"/>
              </a:rPr>
              <a:t>size</a:t>
            </a:r>
            <a:r>
              <a:rPr sz="1250" b="1" i="0">
                <a:solidFill>
                  <a:srgbClr val="141B2E"/>
                </a:solidFill>
                <a:latin typeface="Arial"/>
              </a:rPr>
              <a:t> </a:t>
            </a:r>
            <a:r>
              <a:rPr sz="1250" b="1" i="0">
                <a:solidFill>
                  <a:srgbClr val="141B2E"/>
                </a:solidFill>
                <a:latin typeface="Consolas"/>
              </a:rPr>
              <a:t>is</a:t>
            </a:r>
            <a:r>
              <a:rPr sz="1250" b="1" i="0">
                <a:solidFill>
                  <a:srgbClr val="141B2E"/>
                </a:solidFill>
                <a:latin typeface="Arial"/>
              </a:rPr>
              <a:t> </a:t>
            </a:r>
            <a:r>
              <a:rPr sz="1250" b="1" i="0">
                <a:solidFill>
                  <a:srgbClr val="141B2E"/>
                </a:solidFill>
                <a:latin typeface="Consolas"/>
              </a:rPr>
              <a:t>10485760</a:t>
            </a:r>
            <a:r>
              <a:rPr sz="1250" b="1" i="0">
                <a:solidFill>
                  <a:srgbClr val="141B2E"/>
                </a:solidFill>
                <a:latin typeface="Arial"/>
              </a:rPr>
              <a:t> </a:t>
            </a:r>
            <a:r>
              <a:rPr sz="1250" b="1" i="0">
                <a:solidFill>
                  <a:srgbClr val="141B2E"/>
                </a:solidFill>
                <a:latin typeface="Consolas"/>
              </a:rPr>
              <a:t>bytes"</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Панели настройки: текст, картинка и отправка фото</a:t>
            </a:r>
          </a:p>
        </p:txBody>
      </p:sp>
      <p:pic>
        <p:nvPicPr>
          <p:cNvPr id="3" name="Picture 2" descr="k4-panel-uzly-crop-real.png"/>
          <p:cNvPicPr>
            <a:picLocks noChangeAspect="1"/>
          </p:cNvPicPr>
          <p:nvPr/>
        </p:nvPicPr>
        <p:blipFill>
          <a:blip r:embed="rId2"/>
          <a:stretch>
            <a:fillRect/>
          </a:stretch>
        </p:blipFill>
        <p:spPr>
          <a:xfrm>
            <a:off x="502920" y="1337051"/>
            <a:ext cx="11183112" cy="2985782"/>
          </a:xfrm>
          <a:prstGeom prst="rect">
            <a:avLst/>
          </a:prstGeom>
        </p:spPr>
      </p:pic>
      <p:sp>
        <p:nvSpPr>
          <p:cNvPr id="4" name="Rounded Rectangle 3"/>
          <p:cNvSpPr/>
          <p:nvPr/>
        </p:nvSpPr>
        <p:spPr>
          <a:xfrm>
            <a:off x="502920" y="499034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1836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Картинку забирают отдельным запросом, а отправляют отдельной операцией: текстовое сообщение и фотография — два разных вызова, а не один с вложением.</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Генерация карточки: текст внутри изображения</a:t>
            </a:r>
          </a:p>
        </p:txBody>
      </p:sp>
      <p:pic>
        <p:nvPicPr>
          <p:cNvPr id="3" name="Picture 2" descr="k4-gen-tsepochka-real.png"/>
          <p:cNvPicPr>
            <a:picLocks noChangeAspect="1"/>
          </p:cNvPicPr>
          <p:nvPr/>
        </p:nvPicPr>
        <p:blipFill>
          <a:blip r:embed="rId2"/>
          <a:stretch>
            <a:fillRect/>
          </a:stretch>
        </p:blipFill>
        <p:spPr>
          <a:xfrm>
            <a:off x="502920" y="986450"/>
            <a:ext cx="11183112" cy="2754511"/>
          </a:xfrm>
          <a:prstGeom prst="rect">
            <a:avLst/>
          </a:prstGeom>
        </p:spPr>
      </p:pic>
      <p:sp>
        <p:nvSpPr>
          <p:cNvPr id="4" name="Rounded Rectangle 3"/>
          <p:cNvSpPr/>
          <p:nvPr/>
        </p:nvSpPr>
        <p:spPr>
          <a:xfrm>
            <a:off x="502920" y="4013289"/>
            <a:ext cx="3593592" cy="1298448"/>
          </a:xfrm>
          <a:prstGeom prst="roundRect">
            <a:avLst>
              <a:gd name="adj" fmla="val 23474"/>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 y="4243286"/>
            <a:ext cx="3337560" cy="384048"/>
          </a:xfrm>
          <a:prstGeom prst="rect">
            <a:avLst/>
          </a:prstGeom>
          <a:noFill/>
        </p:spPr>
        <p:txBody>
          <a:bodyPr wrap="square" lIns="0" rIns="0" tIns="0" bIns="0" anchor="ctr">
            <a:spAutoFit/>
          </a:bodyPr>
          <a:lstStyle/>
          <a:p>
            <a:pPr algn="ctr">
              <a:lnSpc>
                <a:spcPts val="3024"/>
              </a:lnSpc>
              <a:spcAft>
                <a:spcPts val="0"/>
              </a:spcAft>
            </a:pPr>
            <a:r>
              <a:rPr sz="2800" b="1" i="0">
                <a:solidFill>
                  <a:srgbClr val="8A6200"/>
                </a:solidFill>
                <a:latin typeface="Arial"/>
              </a:rPr>
              <a:t>$0,0387</a:t>
            </a:r>
          </a:p>
        </p:txBody>
      </p:sp>
      <p:sp>
        <p:nvSpPr>
          <p:cNvPr id="6" name="TextBox 5"/>
          <p:cNvSpPr txBox="1"/>
          <p:nvPr/>
        </p:nvSpPr>
        <p:spPr>
          <a:xfrm>
            <a:off x="630936" y="4718774"/>
            <a:ext cx="3337560" cy="344678"/>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за одну карточку — по счёту самого сервиса; оценка по прайсу давала $0,034</a:t>
            </a:r>
          </a:p>
        </p:txBody>
      </p:sp>
      <p:sp>
        <p:nvSpPr>
          <p:cNvPr id="7" name="Rounded Rectangle 6"/>
          <p:cNvSpPr/>
          <p:nvPr/>
        </p:nvSpPr>
        <p:spPr>
          <a:xfrm>
            <a:off x="4297680" y="4013289"/>
            <a:ext cx="3593592"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5696" y="4243286"/>
            <a:ext cx="3337560" cy="384048"/>
          </a:xfrm>
          <a:prstGeom prst="rect">
            <a:avLst/>
          </a:prstGeom>
          <a:noFill/>
        </p:spPr>
        <p:txBody>
          <a:bodyPr wrap="square" lIns="0" rIns="0" tIns="0" bIns="0" anchor="ctr">
            <a:spAutoFit/>
          </a:bodyPr>
          <a:lstStyle/>
          <a:p>
            <a:pPr algn="ctr">
              <a:lnSpc>
                <a:spcPts val="3024"/>
              </a:lnSpc>
              <a:spcAft>
                <a:spcPts val="0"/>
              </a:spcAft>
            </a:pPr>
            <a:r>
              <a:rPr sz="2800" b="1" i="0">
                <a:solidFill>
                  <a:srgbClr val="065A82"/>
                </a:solidFill>
                <a:latin typeface="Arial"/>
              </a:rPr>
              <a:t>≈$23,2 в месяц</a:t>
            </a:r>
          </a:p>
        </p:txBody>
      </p:sp>
      <p:sp>
        <p:nvSpPr>
          <p:cNvPr id="9" name="TextBox 8"/>
          <p:cNvSpPr txBox="1"/>
          <p:nvPr/>
        </p:nvSpPr>
        <p:spPr>
          <a:xfrm>
            <a:off x="4425696" y="4718774"/>
            <a:ext cx="3337560" cy="344678"/>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при шестистах карточках — том же потоке заявок, что в Кейсе 1</a:t>
            </a:r>
          </a:p>
        </p:txBody>
      </p:sp>
      <p:sp>
        <p:nvSpPr>
          <p:cNvPr id="10" name="Rounded Rectangle 9"/>
          <p:cNvSpPr/>
          <p:nvPr/>
        </p:nvSpPr>
        <p:spPr>
          <a:xfrm>
            <a:off x="8092440" y="4013289"/>
            <a:ext cx="3593592"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456" y="4243286"/>
            <a:ext cx="3337560" cy="384048"/>
          </a:xfrm>
          <a:prstGeom prst="rect">
            <a:avLst/>
          </a:prstGeom>
          <a:noFill/>
        </p:spPr>
        <p:txBody>
          <a:bodyPr wrap="square" lIns="0" rIns="0" tIns="0" bIns="0" anchor="ctr">
            <a:spAutoFit/>
          </a:bodyPr>
          <a:lstStyle/>
          <a:p>
            <a:pPr algn="ctr">
              <a:lnSpc>
                <a:spcPts val="3024"/>
              </a:lnSpc>
              <a:spcAft>
                <a:spcPts val="0"/>
              </a:spcAft>
            </a:pPr>
            <a:r>
              <a:rPr sz="2800" b="1" i="0">
                <a:solidFill>
                  <a:srgbClr val="065A82"/>
                </a:solidFill>
                <a:latin typeface="Arial"/>
              </a:rPr>
              <a:t>≈870 КБ</a:t>
            </a:r>
          </a:p>
        </p:txBody>
      </p:sp>
      <p:sp>
        <p:nvSpPr>
          <p:cNvPr id="12" name="TextBox 11"/>
          <p:cNvSpPr txBox="1"/>
          <p:nvPr/>
        </p:nvSpPr>
        <p:spPr>
          <a:xfrm>
            <a:off x="8220456" y="4718774"/>
            <a:ext cx="3337560" cy="344678"/>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PNG 1024×1024 — в двенадцать раз ниже лимита Telegram на фото</a:t>
            </a:r>
          </a:p>
        </p:txBody>
      </p:sp>
      <p:sp>
        <p:nvSpPr>
          <p:cNvPr id="13" name="Rounded Rectangle 12"/>
          <p:cNvSpPr/>
          <p:nvPr/>
        </p:nvSpPr>
        <p:spPr>
          <a:xfrm>
            <a:off x="502920" y="558406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1208" y="563892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72122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Перекодировать пришлось не из-за веса.</a:t>
            </a:r>
            <a:r>
              <a:rPr sz="1350" b="0" i="0">
                <a:solidFill>
                  <a:srgbClr val="141B2E"/>
                </a:solidFill>
                <a:latin typeface="Arial"/>
              </a:rPr>
              <a:t> Модель отдаёт картинку текстом, а узел отправки принимает бинарное вложение — шаг </a:t>
            </a:r>
            <a:r>
              <a:rPr sz="1350" b="0" i="0">
                <a:solidFill>
                  <a:srgbClr val="141B2E"/>
                </a:solidFill>
                <a:latin typeface="Consolas"/>
              </a:rPr>
              <a:t>Base64</a:t>
            </a:r>
            <a:r>
              <a:rPr sz="1350" b="0" i="0">
                <a:solidFill>
                  <a:srgbClr val="141B2E"/>
                </a:solidFill>
                <a:latin typeface="Arial"/>
              </a:rPr>
              <a:t> </a:t>
            </a:r>
            <a:r>
              <a:rPr sz="1350" b="0" i="0">
                <a:solidFill>
                  <a:srgbClr val="141B2E"/>
                </a:solidFill>
                <a:latin typeface="Consolas"/>
              </a:rPr>
              <a:t>to</a:t>
            </a:r>
            <a:r>
              <a:rPr sz="1350" b="0" i="0">
                <a:solidFill>
                  <a:srgbClr val="141B2E"/>
                </a:solidFill>
                <a:latin typeface="Arial"/>
              </a:rPr>
              <a:t> </a:t>
            </a:r>
            <a:r>
              <a:rPr sz="1350" b="0" i="0">
                <a:solidFill>
                  <a:srgbClr val="141B2E"/>
                </a:solidFill>
                <a:latin typeface="Consolas"/>
              </a:rPr>
              <a:t>file</a:t>
            </a:r>
            <a:r>
              <a:rPr sz="1350" b="0" i="0">
                <a:solidFill>
                  <a:srgbClr val="141B2E"/>
                </a:solidFill>
                <a:latin typeface="Arial"/>
              </a:rPr>
              <a:t> стоит в цепочке ради формата, а не ради размера.</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модель написала внутри картинки</a:t>
            </a:r>
          </a:p>
        </p:txBody>
      </p:sp>
      <p:pic>
        <p:nvPicPr>
          <p:cNvPr id="3" name="Picture 2" descr="tg-k4-gen-razbor.png"/>
          <p:cNvPicPr>
            <a:picLocks noChangeAspect="1"/>
          </p:cNvPicPr>
          <p:nvPr/>
        </p:nvPicPr>
        <p:blipFill>
          <a:blip r:embed="rId2"/>
          <a:stretch>
            <a:fillRect/>
          </a:stretch>
        </p:blipFill>
        <p:spPr>
          <a:xfrm>
            <a:off x="590338" y="949452"/>
            <a:ext cx="11008274" cy="3931920"/>
          </a:xfrm>
          <a:prstGeom prst="rect">
            <a:avLst/>
          </a:prstGeom>
        </p:spPr>
      </p:pic>
      <p:sp>
        <p:nvSpPr>
          <p:cNvPr id="4" name="Rounded Rectangle 3"/>
          <p:cNvSpPr/>
          <p:nvPr/>
        </p:nvSpPr>
        <p:spPr>
          <a:xfrm>
            <a:off x="502920" y="5061204"/>
            <a:ext cx="82296" cy="12573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89220"/>
            <a:ext cx="10643616" cy="10012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Так на всех пяти карточках, которые дошли до чата. Модель получала точную строку и требование написать её дословно.</a:t>
            </a:r>
          </a:p>
          <a:p>
            <a:pPr algn="l">
              <a:lnSpc>
                <a:spcPts val="1860"/>
              </a:lnSpc>
              <a:spcAft>
                <a:spcPts val="300"/>
              </a:spcAft>
            </a:pPr>
            <a:r>
              <a:rPr sz="1500" b="1" i="0">
                <a:solidFill>
                  <a:srgbClr val="141B2E"/>
                </a:solidFill>
                <a:latin typeface="Arial"/>
              </a:rPr>
              <a:t>Ошибка живёт в пикселях: ни размер, ни формат, ни зелёный прогон её не видят. Видит только человек, который посмотрит на картинку.</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Порядок проверки и вопрос сжатия</a:t>
            </a:r>
          </a:p>
        </p:txBody>
      </p:sp>
      <p:pic>
        <p:nvPicPr>
          <p:cNvPr id="3" name="Picture 2" descr="k4-shema-szhatie.png"/>
          <p:cNvPicPr>
            <a:picLocks noChangeAspect="1"/>
          </p:cNvPicPr>
          <p:nvPr/>
        </p:nvPicPr>
        <p:blipFill>
          <a:blip r:embed="rId2"/>
          <a:stretch>
            <a:fillRect/>
          </a:stretch>
        </p:blipFill>
        <p:spPr>
          <a:xfrm>
            <a:off x="1799097" y="943356"/>
            <a:ext cx="8590757" cy="3651071"/>
          </a:xfrm>
          <a:prstGeom prst="rect">
            <a:avLst/>
          </a:prstGeom>
        </p:spPr>
      </p:pic>
      <p:sp>
        <p:nvSpPr>
          <p:cNvPr id="4" name="Rounded Rectangle 3"/>
          <p:cNvSpPr/>
          <p:nvPr/>
        </p:nvSpPr>
        <p:spPr>
          <a:xfrm>
            <a:off x="502920" y="4759019"/>
            <a:ext cx="11183112" cy="1558036"/>
          </a:xfrm>
          <a:prstGeom prst="roundRect">
            <a:avLst>
              <a:gd name="adj" fmla="val 1956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4941899"/>
            <a:ext cx="203378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6" name="TextBox 5"/>
          <p:cNvSpPr txBox="1"/>
          <p:nvPr/>
        </p:nvSpPr>
        <p:spPr>
          <a:xfrm>
            <a:off x="2865890" y="4941899"/>
            <a:ext cx="261183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7" name="TextBox 6"/>
          <p:cNvSpPr txBox="1"/>
          <p:nvPr/>
        </p:nvSpPr>
        <p:spPr>
          <a:xfrm>
            <a:off x="5624030" y="4941899"/>
            <a:ext cx="283998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8" name="TextBox 7"/>
          <p:cNvSpPr txBox="1"/>
          <p:nvPr/>
        </p:nvSpPr>
        <p:spPr>
          <a:xfrm>
            <a:off x="8610323" y="4941899"/>
            <a:ext cx="274652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9" name="TextBox 8"/>
          <p:cNvSpPr txBox="1"/>
          <p:nvPr/>
        </p:nvSpPr>
        <p:spPr>
          <a:xfrm>
            <a:off x="685800" y="5201487"/>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Без сжатия</a:t>
            </a:r>
          </a:p>
        </p:txBody>
      </p:sp>
      <p:sp>
        <p:nvSpPr>
          <p:cNvPr id="10" name="TextBox 9"/>
          <p:cNvSpPr txBox="1"/>
          <p:nvPr/>
        </p:nvSpPr>
        <p:spPr>
          <a:xfrm>
            <a:off x="2865890" y="5201487"/>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 есть (4032×3024)</a:t>
            </a:r>
          </a:p>
        </p:txBody>
      </p:sp>
      <p:sp>
        <p:nvSpPr>
          <p:cNvPr id="11" name="TextBox 10"/>
          <p:cNvSpPr txBox="1"/>
          <p:nvPr/>
        </p:nvSpPr>
        <p:spPr>
          <a:xfrm>
            <a:off x="5624030" y="5201487"/>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максимум деталей</a:t>
            </a:r>
          </a:p>
        </p:txBody>
      </p:sp>
      <p:sp>
        <p:nvSpPr>
          <p:cNvPr id="12" name="TextBox 11"/>
          <p:cNvSpPr txBox="1"/>
          <p:nvPr/>
        </p:nvSpPr>
        <p:spPr>
          <a:xfrm>
            <a:off x="8610323" y="5201487"/>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дорого — ≈1500 токенов</a:t>
            </a:r>
          </a:p>
        </p:txBody>
      </p:sp>
      <p:cxnSp>
        <p:nvCxnSpPr>
          <p:cNvPr id="13" name="Connector 12"/>
          <p:cNvCxnSpPr/>
          <p:nvPr/>
        </p:nvCxnSpPr>
        <p:spPr>
          <a:xfrm>
            <a:off x="685800" y="55123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5512383"/>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Умеренное сжатие</a:t>
            </a:r>
          </a:p>
        </p:txBody>
      </p:sp>
      <p:sp>
        <p:nvSpPr>
          <p:cNvPr id="15" name="TextBox 14"/>
          <p:cNvSpPr txBox="1"/>
          <p:nvPr/>
        </p:nvSpPr>
        <p:spPr>
          <a:xfrm>
            <a:off x="2865890" y="5512383"/>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Q75–85, ≤1024 px</a:t>
            </a:r>
          </a:p>
        </p:txBody>
      </p:sp>
      <p:sp>
        <p:nvSpPr>
          <p:cNvPr id="16" name="TextBox 15"/>
          <p:cNvSpPr txBox="1"/>
          <p:nvPr/>
        </p:nvSpPr>
        <p:spPr>
          <a:xfrm>
            <a:off x="5624030" y="5512383"/>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≈300 токенов, впятеро дешевле</a:t>
            </a:r>
          </a:p>
        </p:txBody>
      </p:sp>
      <p:sp>
        <p:nvSpPr>
          <p:cNvPr id="17" name="TextBox 16"/>
          <p:cNvSpPr txBox="1"/>
          <p:nvPr/>
        </p:nvSpPr>
        <p:spPr>
          <a:xfrm>
            <a:off x="8610323" y="5512383"/>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режет мелкий текст у предела</a:t>
            </a:r>
          </a:p>
        </p:txBody>
      </p:sp>
      <p:cxnSp>
        <p:nvCxnSpPr>
          <p:cNvPr id="18" name="Connector 17"/>
          <p:cNvCxnSpPr/>
          <p:nvPr/>
        </p:nvCxnSpPr>
        <p:spPr>
          <a:xfrm>
            <a:off x="685800" y="58232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823279"/>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Агрессивное сжатие</a:t>
            </a:r>
          </a:p>
        </p:txBody>
      </p:sp>
      <p:sp>
        <p:nvSpPr>
          <p:cNvPr id="20" name="TextBox 19"/>
          <p:cNvSpPr txBox="1"/>
          <p:nvPr/>
        </p:nvSpPr>
        <p:spPr>
          <a:xfrm>
            <a:off x="2865890" y="5823279"/>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низкое качество, &lt; ~1024 px</a:t>
            </a:r>
          </a:p>
        </p:txBody>
      </p:sp>
      <p:sp>
        <p:nvSpPr>
          <p:cNvPr id="21" name="TextBox 20"/>
          <p:cNvSpPr txBox="1"/>
          <p:nvPr/>
        </p:nvSpPr>
        <p:spPr>
          <a:xfrm>
            <a:off x="5624030" y="5823279"/>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ещё дешевле</a:t>
            </a:r>
          </a:p>
        </p:txBody>
      </p:sp>
      <p:sp>
        <p:nvSpPr>
          <p:cNvPr id="22" name="TextBox 21"/>
          <p:cNvSpPr txBox="1"/>
          <p:nvPr/>
        </p:nvSpPr>
        <p:spPr>
          <a:xfrm>
            <a:off x="8610323" y="5823279"/>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текст и детали не распознать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координатор при успешной отправке</a:t>
            </a:r>
          </a:p>
        </p:txBody>
      </p:sp>
      <p:pic>
        <p:nvPicPr>
          <p:cNvPr id="3" name="Picture 2" descr="tg-k4-kartochka-shiroko.png"/>
          <p:cNvPicPr>
            <a:picLocks noChangeAspect="1"/>
          </p:cNvPicPr>
          <p:nvPr/>
        </p:nvPicPr>
        <p:blipFill>
          <a:blip r:embed="rId2"/>
          <a:stretch>
            <a:fillRect/>
          </a:stretch>
        </p:blipFill>
        <p:spPr>
          <a:xfrm>
            <a:off x="1418459" y="1004316"/>
            <a:ext cx="9352033"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чат и тот же шаблон подписи, что в Кейсе 1, — только теперь текст приходит не отдельным сообщением, а подписью к фотографии. Это успешный случай: файл уложился в измеренную границу, и карточка дошла целиком.</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Контракт на бинарных данных и граница вводного уровня</a:t>
            </a:r>
          </a:p>
        </p:txBody>
      </p:sp>
      <p:sp>
        <p:nvSpPr>
          <p:cNvPr id="3" name="Rounded Rectangle 2"/>
          <p:cNvSpPr/>
          <p:nvPr/>
        </p:nvSpPr>
        <p:spPr>
          <a:xfrm>
            <a:off x="502920" y="17464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744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Бинарные данные в n8n — отдельная модель данных, не просто ещё одно значение поля.</a:t>
            </a:r>
            <a:r>
              <a:rPr sz="1500" b="1" i="0">
                <a:solidFill>
                  <a:srgbClr val="141B2E"/>
                </a:solidFill>
                <a:latin typeface="Arial"/>
              </a:rPr>
              <a:t> Контракт между шагами, который в «Уведомлениях» рвался на тексте (узел не падал, результат тихо не тот), здесь рвётся на формате и размере — по той же причине: формально успешный прогон ничего не говорит о том, дошёл ли результат до получателя.</a:t>
            </a:r>
          </a:p>
        </p:txBody>
      </p:sp>
      <p:sp>
        <p:nvSpPr>
          <p:cNvPr id="5" name="Rounded Rectangle 4"/>
          <p:cNvSpPr/>
          <p:nvPr/>
        </p:nvSpPr>
        <p:spPr>
          <a:xfrm>
            <a:off x="502920" y="3633190"/>
            <a:ext cx="11183112" cy="2054415"/>
          </a:xfrm>
          <a:prstGeom prst="roundRect">
            <a:avLst>
              <a:gd name="adj" fmla="val 148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816070"/>
            <a:ext cx="51317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ЭТОМ УРОВНЕ ДОСТАТОЧНО</a:t>
            </a:r>
          </a:p>
        </p:txBody>
      </p:sp>
      <p:sp>
        <p:nvSpPr>
          <p:cNvPr id="7" name="TextBox 6"/>
          <p:cNvSpPr txBox="1"/>
          <p:nvPr/>
        </p:nvSpPr>
        <p:spPr>
          <a:xfrm>
            <a:off x="5963807" y="3816070"/>
            <a:ext cx="53930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СЛЕДУЮЩИЙ УРОВЕНЬ — СЕМИНАР 10</a:t>
            </a:r>
          </a:p>
        </p:txBody>
      </p:sp>
      <p:sp>
        <p:nvSpPr>
          <p:cNvPr id="8" name="TextBox 7"/>
          <p:cNvSpPr txBox="1"/>
          <p:nvPr/>
        </p:nvSpPr>
        <p:spPr>
          <a:xfrm>
            <a:off x="685800" y="4098137"/>
            <a:ext cx="51317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файл, один известный лимит, одна отправка</a:t>
            </a:r>
          </a:p>
        </p:txBody>
      </p:sp>
      <p:sp>
        <p:nvSpPr>
          <p:cNvPr id="9" name="TextBox 8"/>
          <p:cNvSpPr txBox="1"/>
          <p:nvPr/>
        </p:nvSpPr>
        <p:spPr>
          <a:xfrm>
            <a:off x="5963807" y="4098137"/>
            <a:ext cx="5393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хранение и поиск среди множества файлов</a:t>
            </a:r>
          </a:p>
        </p:txBody>
      </p:sp>
      <p:cxnSp>
        <p:nvCxnSpPr>
          <p:cNvPr id="10" name="Connector 9"/>
          <p:cNvCxnSpPr/>
          <p:nvPr/>
        </p:nvCxnSpPr>
        <p:spPr>
          <a:xfrm>
            <a:off x="685800" y="44452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445292"/>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размера и формата перед отправкой</a:t>
            </a:r>
          </a:p>
        </p:txBody>
      </p:sp>
      <p:sp>
        <p:nvSpPr>
          <p:cNvPr id="12" name="TextBox 11"/>
          <p:cNvSpPr txBox="1"/>
          <p:nvPr/>
        </p:nvSpPr>
        <p:spPr>
          <a:xfrm>
            <a:off x="5963807" y="4445292"/>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обработка содержимого файла моделью (поиск по смыслу изображений)</a:t>
            </a:r>
          </a:p>
        </p:txBody>
      </p:sp>
      <p:cxnSp>
        <p:nvCxnSpPr>
          <p:cNvPr id="13" name="Connector 12"/>
          <p:cNvCxnSpPr/>
          <p:nvPr/>
        </p:nvCxnSpPr>
        <p:spPr>
          <a:xfrm>
            <a:off x="685800" y="49750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975009"/>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явное условие в цепочке на каждый шаг с бинарными данными</a:t>
            </a:r>
          </a:p>
        </p:txBody>
      </p:sp>
      <p:sp>
        <p:nvSpPr>
          <p:cNvPr id="15" name="TextBox 14"/>
          <p:cNvSpPr txBox="1"/>
          <p:nvPr/>
        </p:nvSpPr>
        <p:spPr>
          <a:xfrm>
            <a:off x="5963807" y="4975009"/>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векторное хранилище и индексация вложений</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бинарные данные требуют отдельной заботы</a:t>
            </a:r>
          </a:p>
        </p:txBody>
      </p:sp>
      <p:sp>
        <p:nvSpPr>
          <p:cNvPr id="3" name="Rounded Rectangle 2"/>
          <p:cNvSpPr/>
          <p:nvPr/>
        </p:nvSpPr>
        <p:spPr>
          <a:xfrm>
            <a:off x="502920"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НУЖНО ВСЕГДА</a:t>
            </a:r>
          </a:p>
        </p:txBody>
      </p:sp>
      <p:sp>
        <p:nvSpPr>
          <p:cNvPr id="5" name="TextBox 4"/>
          <p:cNvSpPr txBox="1"/>
          <p:nvPr/>
        </p:nvSpPr>
        <p:spPr>
          <a:xfrm>
            <a:off x="685800" y="13652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проверка размера и формата перед отправкой любого файла или изображения в цепочке</a:t>
            </a:r>
          </a:p>
        </p:txBody>
      </p:sp>
      <p:cxnSp>
        <p:nvCxnSpPr>
          <p:cNvPr id="6" name="Connector 5"/>
          <p:cNvCxnSpPr/>
          <p:nvPr/>
        </p:nvCxnSpPr>
        <p:spPr>
          <a:xfrm>
            <a:off x="685800" y="18562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562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знание лимита канала доставки, а не только лимита самого оркестратора</a:t>
            </a:r>
          </a:p>
        </p:txBody>
      </p:sp>
      <p:sp>
        <p:nvSpPr>
          <p:cNvPr id="8" name="Rounded Rectangle 7"/>
          <p:cNvSpPr/>
          <p:nvPr/>
        </p:nvSpPr>
        <p:spPr>
          <a:xfrm>
            <a:off x="6231636"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ТРЕБУЕТ ЭТОГО ЗАНЯТИЯ</a:t>
            </a:r>
          </a:p>
        </p:txBody>
      </p:sp>
      <p:sp>
        <p:nvSpPr>
          <p:cNvPr id="10" name="TextBox 9"/>
          <p:cNvSpPr txBox="1"/>
          <p:nvPr/>
        </p:nvSpPr>
        <p:spPr>
          <a:xfrm>
            <a:off x="6414516" y="136528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хранение множества файлов</a:t>
            </a:r>
          </a:p>
        </p:txBody>
      </p:sp>
      <p:cxnSp>
        <p:nvCxnSpPr>
          <p:cNvPr id="11" name="Connector 10"/>
          <p:cNvCxnSpPr/>
          <p:nvPr/>
        </p:nvCxnSpPr>
        <p:spPr>
          <a:xfrm>
            <a:off x="6414516" y="16839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168392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поиск среди вложений и обработка их содержимого моделью</a:t>
            </a:r>
          </a:p>
        </p:txBody>
      </p:sp>
      <p:sp>
        <p:nvSpPr>
          <p:cNvPr id="13" name="Rounded Rectangle 12"/>
          <p:cNvSpPr/>
          <p:nvPr/>
        </p:nvSpPr>
        <p:spPr>
          <a:xfrm>
            <a:off x="502920" y="2789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917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Четвёртая строка оси закрыта.</a:t>
            </a:r>
            <a:r>
              <a:rPr sz="1500" b="1" i="0">
                <a:solidFill>
                  <a:srgbClr val="141B2E"/>
                </a:solidFill>
                <a:latin typeface="Arial"/>
              </a:rPr>
              <a:t>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остаётся зелёным.</a:t>
            </a:r>
          </a:p>
        </p:txBody>
      </p:sp>
      <p:sp>
        <p:nvSpPr>
          <p:cNvPr id="15" name="Rounded Rectangle 14"/>
          <p:cNvSpPr/>
          <p:nvPr/>
        </p:nvSpPr>
        <p:spPr>
          <a:xfrm>
            <a:off x="502920" y="4031691"/>
            <a:ext cx="11183112" cy="2239137"/>
          </a:xfrm>
          <a:prstGeom prst="roundRect">
            <a:avLst>
              <a:gd name="adj" fmla="val 136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251147"/>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7" name="TextBox 16"/>
          <p:cNvSpPr txBox="1"/>
          <p:nvPr/>
        </p:nvSpPr>
        <p:spPr>
          <a:xfrm>
            <a:off x="1106424" y="4251147"/>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Собственный лимит n8n по умолчанию — 16 МБ</a:t>
            </a:r>
            <a:r>
              <a:rPr sz="1350" b="0" i="0">
                <a:solidFill>
                  <a:srgbClr val="141B2E"/>
                </a:solidFill>
                <a:latin typeface="Arial"/>
              </a:rPr>
              <a:t> на бинарные данные. Для фотографии с текстом этого обычно достаточно, но скан высокого разрешения или фото прямо с телефона — не всегда.</a:t>
            </a:r>
          </a:p>
        </p:txBody>
      </p:sp>
      <p:sp>
        <p:nvSpPr>
          <p:cNvPr id="18" name="TextBox 17"/>
          <p:cNvSpPr txBox="1"/>
          <p:nvPr/>
        </p:nvSpPr>
        <p:spPr>
          <a:xfrm>
            <a:off x="722376" y="478378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9" name="TextBox 18"/>
          <p:cNvSpPr txBox="1"/>
          <p:nvPr/>
        </p:nvSpPr>
        <p:spPr>
          <a:xfrm>
            <a:off x="1106424" y="4783785"/>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Лимиты Telegram — отдельный, более узкий потолок</a:t>
            </a:r>
            <a:r>
              <a:rPr sz="1350" b="0" i="0">
                <a:solidFill>
                  <a:srgbClr val="141B2E"/>
                </a:solidFill>
                <a:latin typeface="Arial"/>
              </a:rPr>
              <a:t>, и они разные для фото и для документа. То, что прошло мимо лимита n8n, может всё равно не пройти мимо лимита канала доставки — два независимых порога, не один.</a:t>
            </a:r>
          </a:p>
        </p:txBody>
      </p:sp>
      <p:sp>
        <p:nvSpPr>
          <p:cNvPr id="20" name="TextBox 19"/>
          <p:cNvSpPr txBox="1"/>
          <p:nvPr/>
        </p:nvSpPr>
        <p:spPr>
          <a:xfrm>
            <a:off x="722376" y="551873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21" name="TextBox 20"/>
          <p:cNvSpPr txBox="1"/>
          <p:nvPr/>
        </p:nvSpPr>
        <p:spPr>
          <a:xfrm>
            <a:off x="1106424" y="5518734"/>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Ручной прогон с бинарными данными потребляет заметно больше памяти</a:t>
            </a:r>
            <a:r>
              <a:rPr sz="1350" b="0" i="0">
                <a:solidFill>
                  <a:srgbClr val="141B2E"/>
                </a:solidFill>
                <a:latin typeface="Arial"/>
              </a:rPr>
              <a:t>, чем автоматический, — разница заметнее, чем на текстовых полях, и стоит иметь это в уме при отладке такого узла вживую.</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строки оси: что оказалось</a:t>
            </a:r>
          </a:p>
        </p:txBody>
      </p:sp>
      <p:sp>
        <p:nvSpPr>
          <p:cNvPr id="3" name="Rounded Rectangle 2"/>
          <p:cNvSpPr/>
          <p:nvPr/>
        </p:nvSpPr>
        <p:spPr>
          <a:xfrm>
            <a:off x="502920" y="975199"/>
            <a:ext cx="11183112" cy="3314382"/>
          </a:xfrm>
          <a:prstGeom prst="roundRect">
            <a:avLst>
              <a:gd name="adj" fmla="val 919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8079"/>
            <a:ext cx="25225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3354614" y="1158079"/>
            <a:ext cx="80022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440146"/>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TextBox 6"/>
          <p:cNvSpPr txBox="1"/>
          <p:nvPr/>
        </p:nvSpPr>
        <p:spPr>
          <a:xfrm>
            <a:off x="3354614" y="1440146"/>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LLM здесь был просто лишним шагом — то же самое сделал шаблон, без модели и без риска галлюцинации (</a:t>
            </a:r>
            <a:r>
              <a:rPr sz="1250" b="1" i="0">
                <a:solidFill>
                  <a:srgbClr val="141B2E"/>
                </a:solidFill>
                <a:latin typeface="Arial"/>
              </a:rPr>
              <a:t>«Уведомления»</a:t>
            </a:r>
            <a:r>
              <a:rPr sz="1250" b="0" i="0">
                <a:solidFill>
                  <a:srgbClr val="141B2E"/>
                </a:solidFill>
                <a:latin typeface="Arial"/>
              </a:rPr>
              <a:t>)</a:t>
            </a:r>
          </a:p>
        </p:txBody>
      </p:sp>
      <p:cxnSp>
        <p:nvCxnSpPr>
          <p:cNvPr id="8" name="Connector 7"/>
          <p:cNvCxnSpPr/>
          <p:nvPr/>
        </p:nvCxnSpPr>
        <p:spPr>
          <a:xfrm>
            <a:off x="685800" y="21524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2425"/>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TextBox 9"/>
          <p:cNvSpPr txBox="1"/>
          <p:nvPr/>
        </p:nvSpPr>
        <p:spPr>
          <a:xfrm>
            <a:off x="3354614" y="2152425"/>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проверки на дубль каждое повторное обращение запускает цепочку с нуля; ни точное совпадение, ни похожесть по словам не решают это целиком — для переформулировки нужна проверка смыслом (</a:t>
            </a:r>
            <a:r>
              <a:rPr sz="1250" b="1" i="0">
                <a:solidFill>
                  <a:srgbClr val="141B2E"/>
                </a:solidFill>
                <a:latin typeface="Arial"/>
              </a:rPr>
              <a:t>«Проверка на повтор»</a:t>
            </a:r>
            <a:r>
              <a:rPr sz="1250" b="0" i="0">
                <a:solidFill>
                  <a:srgbClr val="141B2E"/>
                </a:solidFill>
                <a:latin typeface="Arial"/>
              </a:rPr>
              <a:t>)</a:t>
            </a:r>
          </a:p>
        </p:txBody>
      </p:sp>
      <p:cxnSp>
        <p:nvCxnSpPr>
          <p:cNvPr id="11" name="Connector 10"/>
          <p:cNvCxnSpPr/>
          <p:nvPr/>
        </p:nvCxnSpPr>
        <p:spPr>
          <a:xfrm>
            <a:off x="685800" y="28647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864705"/>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TextBox 12"/>
          <p:cNvSpPr txBox="1"/>
          <p:nvPr/>
        </p:nvSpPr>
        <p:spPr>
          <a:xfrm>
            <a:off x="3354614" y="2864705"/>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оставалось вероятностным: модель обходила правило в измеренной доле прогонов, ровно на границе условия; алгоритмический гейт — никогда (</a:t>
            </a:r>
            <a:r>
              <a:rPr sz="1250" b="1" i="0">
                <a:solidFill>
                  <a:srgbClr val="141B2E"/>
                </a:solidFill>
                <a:latin typeface="Arial"/>
              </a:rPr>
              <a:t>«Одобрение возврата»</a:t>
            </a:r>
            <a:r>
              <a:rPr sz="1250" b="0" i="0">
                <a:solidFill>
                  <a:srgbClr val="141B2E"/>
                </a:solidFill>
                <a:latin typeface="Arial"/>
              </a:rPr>
              <a:t>, подтверждено на масштабе компании — Zillow)</a:t>
            </a:r>
          </a:p>
        </p:txBody>
      </p:sp>
      <p:cxnSp>
        <p:nvCxnSpPr>
          <p:cNvPr id="14" name="Connector 13"/>
          <p:cNvCxnSpPr/>
          <p:nvPr/>
        </p:nvCxnSpPr>
        <p:spPr>
          <a:xfrm>
            <a:off x="685800" y="35769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576984"/>
            <a:ext cx="25225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TextBox 15"/>
          <p:cNvSpPr txBox="1"/>
          <p:nvPr/>
        </p:nvSpPr>
        <p:spPr>
          <a:xfrm>
            <a:off x="3354614" y="3576984"/>
            <a:ext cx="80022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тех пор, пока помещается в лимит — большой файл уходит не полностью или не уходит вовсе, а прогон всё равно зелёный (</a:t>
            </a:r>
            <a:r>
              <a:rPr sz="1250" b="1" i="0">
                <a:solidFill>
                  <a:srgbClr val="141B2E"/>
                </a:solidFill>
                <a:latin typeface="Arial"/>
              </a:rPr>
              <a:t>«Карточка в Telegram»</a:t>
            </a:r>
            <a:r>
              <a:rPr sz="1250" b="0" i="0">
                <a:solidFill>
                  <a:srgbClr val="141B2E"/>
                </a:solidFill>
                <a:latin typeface="Arial"/>
              </a:rPr>
              <a:t>)</a:t>
            </a:r>
          </a:p>
        </p:txBody>
      </p:sp>
      <p:sp>
        <p:nvSpPr>
          <p:cNvPr id="17" name="Rounded Rectangle 16"/>
          <p:cNvSpPr/>
          <p:nvPr/>
        </p:nvSpPr>
        <p:spPr>
          <a:xfrm>
            <a:off x="502920" y="4533781"/>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588645"/>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670941"/>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Из четырёх новых шагов узел языковой модели пережил проверку в одном</a:t>
            </a:r>
            <a:r>
              <a:rPr sz="1350" b="0" i="0">
                <a:solidFill>
                  <a:srgbClr val="141B2E"/>
                </a:solidFill>
                <a:latin typeface="Arial"/>
              </a:rPr>
              <a:t> — в «Одобрении возврата», и там он только извлекает сумму: решает условие в коде.</a:t>
            </a:r>
          </a:p>
        </p:txBody>
      </p:sp>
      <p:sp>
        <p:nvSpPr>
          <p:cNvPr id="20" name="Rounded Rectangle 19"/>
          <p:cNvSpPr/>
          <p:nvPr/>
        </p:nvSpPr>
        <p:spPr>
          <a:xfrm>
            <a:off x="502920" y="545692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558493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Где в цепочке решение принимает модель, а где должен — код, и что молчит, когда эту границу не назвали явно?</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2063419"/>
            <a:ext cx="11183112" cy="2584132"/>
          </a:xfrm>
          <a:prstGeom prst="roundRect">
            <a:avLst>
              <a:gd name="adj" fmla="val 1179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246299"/>
            <a:ext cx="101482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5" name="TextBox 4"/>
          <p:cNvSpPr txBox="1"/>
          <p:nvPr/>
        </p:nvSpPr>
        <p:spPr>
          <a:xfrm>
            <a:off x="1846927" y="2246299"/>
            <a:ext cx="950992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ПРОДОЛЖЕНИЕ </a:t>
            </a:r>
            <a:r>
              <a:rPr sz="1150" b="1" i="0">
                <a:solidFill>
                  <a:srgbClr val="6B7685"/>
                </a:solidFill>
                <a:latin typeface="Consolas"/>
              </a:rPr>
              <a:t>STUDENT.JSON</a:t>
            </a:r>
            <a:r>
              <a:rPr sz="1150" b="1" i="0">
                <a:solidFill>
                  <a:srgbClr val="6B7685"/>
                </a:solidFill>
                <a:latin typeface="Arial"/>
              </a:rPr>
              <a:t>, С КОТОРЫМ ВЫ ЗАКОНЧИЛИ ПРОШЛОЕ ЗАНЯТИЕ</a:t>
            </a:r>
          </a:p>
        </p:txBody>
      </p:sp>
      <p:sp>
        <p:nvSpPr>
          <p:cNvPr id="6" name="TextBox 5"/>
          <p:cNvSpPr txBox="1"/>
          <p:nvPr/>
        </p:nvSpPr>
        <p:spPr>
          <a:xfrm>
            <a:off x="685800" y="2528366"/>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добавилось</a:t>
            </a:r>
          </a:p>
        </p:txBody>
      </p:sp>
      <p:sp>
        <p:nvSpPr>
          <p:cNvPr id="7" name="TextBox 6"/>
          <p:cNvSpPr txBox="1"/>
          <p:nvPr/>
        </p:nvSpPr>
        <p:spPr>
          <a:xfrm>
            <a:off x="1846927" y="2528366"/>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уведомление координатору шаблоном, а не моделью · проверка на повтор в два уровня · решение о возврате условием в коде, а не правилом в тексте · доставка картинки с проверкой размера перед отправкой</a:t>
            </a:r>
          </a:p>
        </p:txBody>
      </p:sp>
      <p:cxnSp>
        <p:nvCxnSpPr>
          <p:cNvPr id="8" name="Connector 7"/>
          <p:cNvCxnSpPr/>
          <p:nvPr/>
        </p:nvCxnSpPr>
        <p:spPr>
          <a:xfrm>
            <a:off x="685800" y="3058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058083"/>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0" name="TextBox 9"/>
          <p:cNvSpPr txBox="1"/>
          <p:nvPr/>
        </p:nvSpPr>
        <p:spPr>
          <a:xfrm>
            <a:off x="1846927" y="3058083"/>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что и в прошлый раз: меню сценария → Import from File</a:t>
            </a:r>
          </a:p>
        </p:txBody>
      </p:sp>
      <p:cxnSp>
        <p:nvCxnSpPr>
          <p:cNvPr id="11" name="Connector 10"/>
          <p:cNvCxnSpPr/>
          <p:nvPr/>
        </p:nvCxnSpPr>
        <p:spPr>
          <a:xfrm>
            <a:off x="685800" y="35878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587800"/>
            <a:ext cx="101482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3" name="TextBox 12"/>
          <p:cNvSpPr txBox="1"/>
          <p:nvPr/>
        </p:nvSpPr>
        <p:spPr>
          <a:xfrm>
            <a:off x="1846927" y="3587800"/>
            <a:ext cx="950992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 как и раньше, плюс бот и токен в Telegram для уведомления и картинки</a:t>
            </a:r>
          </a:p>
        </p:txBody>
      </p:sp>
      <p:cxnSp>
        <p:nvCxnSpPr>
          <p:cNvPr id="14" name="Connector 13"/>
          <p:cNvCxnSpPr/>
          <p:nvPr/>
        </p:nvCxnSpPr>
        <p:spPr>
          <a:xfrm>
            <a:off x="685800" y="3934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934955"/>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делать</a:t>
            </a:r>
          </a:p>
        </p:txBody>
      </p:sp>
      <p:sp>
        <p:nvSpPr>
          <p:cNvPr id="16" name="TextBox 15"/>
          <p:cNvSpPr txBox="1"/>
          <p:nvPr/>
        </p:nvSpPr>
        <p:spPr>
          <a:xfrm>
            <a:off x="1846927" y="3934955"/>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прогнать несколько заявок, включая повтор и крупную картинку, и посмотреть, где какое из четырёх решений ведёт себя не так, как на экране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pic>
        <p:nvPicPr>
          <p:cNvPr id="3" name="Picture 2" descr="mostik-s9-razvilka.png"/>
          <p:cNvPicPr>
            <a:picLocks noChangeAspect="1"/>
          </p:cNvPicPr>
          <p:nvPr/>
        </p:nvPicPr>
        <p:blipFill>
          <a:blip r:embed="rId2"/>
          <a:stretch>
            <a:fillRect/>
          </a:stretch>
        </p:blipFill>
        <p:spPr>
          <a:xfrm>
            <a:off x="1249788" y="1004316"/>
            <a:ext cx="9689374"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Семинар 9:</a:t>
            </a:r>
            <a:r>
              <a:rPr sz="1500" b="1" i="0">
                <a:solidFill>
                  <a:srgbClr val="141B2E"/>
                </a:solidFill>
                <a:latin typeface="Arial"/>
              </a:rPr>
              <a:t> условие против переключателя · классификация как отдельный шаг цепочки · что делать со входом, который не подошёл ни под одну ветку · как ветки, которые выглядят параллельными на холсте, выполняются на самом деле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