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82" r:id="rId33"/>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6" r:id="rId27"/>
    <p:sldId id="277" r:id="rId28"/>
    <p:sldId id="278" r:id="rId29"/>
    <p:sldId id="279" r:id="rId30"/>
    <p:sldId id="280" r:id="rId31"/>
    <p:sldId id="281" r:id="rId32"/>
    <p:sldId id="274" r:id="rId24"/>
    <p:sldId id="275" r:id="rId25"/>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iicMGHWK5BnvbZ1GbcgBkc7vrT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6.xml"/><Relationship Id="rId25" Type="http://schemas.openxmlformats.org/officeDocument/2006/relationships/slide" Target="slides/slide27.xml"/><Relationship Id="rId26" Type="http://customschemas.google.com/relationships/presentationmetadata" Target="metadata"/><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 the course “Industry Applications of Artificial Intelligence Systems.” This is the first session — and you're here before you've heard a single lecture in the course. That's deliberate: before we start systematically covering where and how AI is applied in software development, finance, medicine, manufacturing, and other industries, it's useful to honestly record where you stand with AI right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Today is about getting acquainted. We'll meet each other and the course format, hear the whole group's stories out loud about where AI genuinely helped and where it let them down, and each of you will honestly record your current experience with AI — no judgment of “right” or “wrong.” Some of you have months of daily work with neural networks behind you; others have made a couple of random queries. Either is a normal starting point.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By the end of the course, you'll come back to today's experience and compare what's changed in how you use AI and how much you trust it.</a:t>
            </a:r>
            <a:endParaRPr/>
          </a:p>
        </p:txBody>
      </p:sp>
      <p:sp>
        <p:nvSpPr>
          <p:cNvPr id="84" name="Google Shape;84;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69dabcc4b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69dabcc4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Let me start by introducing myself — here you'll hear about my entrepreneurial side, and in the lecture, about my industry experience.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course consists of seventeen lectures and seventeen seminars, split into three modules. Today's seminar comes before the first lecture — so on the semester map there's no “you are here” marker on a specific lecture, just a “today” marker before the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Module one — fundamentals and familiar industries, lectures one through eight: the theoretical foundation and a look at the industries you encounter most often in practice — software development, finance and retail, engineering design, medicine, creative industries. Midterm one — at the seminar in week eight.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Module two — high-tech industries in physical manufacturing, lectures nine through twelve: aerospace and defense, agriculture, manufacturing, automation and digital twins. Midterm two — at the seminar in week twelve.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Module three — infocommunications, science, extraction, synthesis, lectures thirteen through seventeen: logistics, telecom and cybersecurity, scientific research, oil and gas, and the final synthesis. Midterm three, the final one, at the seminar in week seventeen.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Separate from the structure — four cross-cutting themes that will come up in every lecture and every seminar regardless of industry: choosing the right tool for the task, common mistakes, dividing accountability between human and AI, and information security when working with AI (what can and can't be shared with a model). This isn't a one-off topic for a single session, but a thread that runs through the entire course — which is why it's drawn as a separate tier on the map, not as part of the lecture structure itself.</a:t>
            </a:r>
            <a:endParaRPr/>
          </a:p>
        </p:txBody>
      </p:sp>
      <p:sp>
        <p:nvSpPr>
          <p:cNvPr id="149" name="Google Shape;149;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Midterm mechanics differ from the usual “test during class” format. The test is taken independently, at home, on an AI-based testing system — we'll name the platform separately, details are still being finalized.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seminar time itself, on midterm days — eighth, twelfth, and seventeenth — isn't spent taking the test; it's dedicated to reviewing results and the questions that came up for you. If the test showed that some topic remained unclear, that's exactly the seminar where there's time to go over it separately, with the instructor and with the group.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differs from the classic format, where the checkpoint is a stress test during class with a time limit. Here, the stress moves to independent homework, and the in-person time is used for what it does best — live discussion and questions.</a:t>
            </a:r>
            <a:endParaRPr/>
          </a:p>
        </p:txBody>
      </p:sp>
      <p:sp>
        <p:nvSpPr>
          <p:cNvPr id="189" name="Google Shape;18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 short warm-up before the statistics — getting a sense of how the group works with AI. Simple format: I ask a question, you answer out loud, and raise a hand if you'd like — this isn't a vote with a camera and a count, it's a live conversation, to get a picture of the group.</a:t>
            </a:r>
          </a:p>
          <a:p/>
          <a:p>
            <a:r>
              <a:t>Four questions. First — which AI tool you use most often: ChatGPT, GigaChat or YandexGPT, GitHub Copilot / Claude / DeepSeek, or none at all. Second — how often: every day, several times a week, less often, never. Third — how much you trust AI's accuracy, on a scale from one to five. Fourth — whether there's been a case where AI clearly let you down.</a:t>
            </a:r>
          </a:p>
          <a:p/>
          <a:p>
            <a:r>
              <a:t>We'll need these answers in the next block — we'll compare your group with outside research: whether you're higher or lower on trust, whether you use AI more or less often.</a:t>
            </a:r>
          </a:p>
        </p:txBody>
      </p:sp>
      <p:sp>
        <p:nvSpPr>
          <p:cNvPr id="211" name="Google Shape;21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The first source — the Stack Overflow Developer Survey 2025. Eighty-four percent of developers use or plan to use AI tools in development — up from seventy-six percent in 2024. At the same time, only twenty-nine percent trust the accuracy of what AI produces — down from forty percent a year earlier.</a:t>
            </a:r>
          </a:p>
          <a:p/>
          <a:p>
            <a:r>
              <a:t>How is that possible — using a tool more, but trusting it less? It's not a paradox: the tool is used as a draft that always gets checked — a sign of mature use. An important methodological detail: this is a self-selected online survey — the respondents are people who came to the Stack Overflow site themselves, so the audience skews toward English-speaking developers.</a:t>
            </a:r>
          </a:p>
          <a:p/>
          <a:p>
            <a:r>
              <a:t>The second source — VCIOM, “Neural Networks in Our Lives.” In 2025, seventy-three percent of Russians had used neural networks over the past year, and fifty-one percent at least once a week; the 2026 figures grew to seventy-eight and fifty-eight percent. VCIOM surveys Russians in general, not just an engineering student audience.</a:t>
            </a:r>
          </a:p>
          <a:p/>
          <a:p>
            <a:r>
              <a:t>Compare that with your own answers from the warm-up: where does your group stand — higher or lower on trust, using it more or less often?</a:t>
            </a:r>
          </a:p>
        </p:txBody>
      </p:sp>
      <p:sp>
        <p:nvSpPr>
          <p:cNvPr id="246" name="Google Shape;246;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Now — an open exchange of experience in front of the whole audience. In turn, whether by volunteering or by my calling on you, you'll tell one story out loud where AI genuinely helped, and one where AI let you down or made a mistake. Together, on the board, we'll find common patterns in the stories we collect.</a:t>
            </a:r>
          </a:p>
          <a:p/>
          <a:p>
            <a:r>
              <a:t>Whoever has a story where AI genuinely helped — raise a hand. If no one volunteers right away, that's fine, I can call on someone directly. We'll alternate: one success story, then a failure, then a success again — that way we keep the balance and don't let the conversation slide into one tone.</a:t>
            </a:r>
          </a:p>
          <a:p/>
          <a:p>
            <a:r>
              <a:t>Six categories of AI failure that come up most often: a hallucinated fact — AI confidently makes up a fact or source that doesn't exist; outdated data — AI answers with information that was correct at training time but is now stale; a task solved only on the surface — the result looks like the right answer, but on inspection the substance isn't actually solved (this is broader than just code: the same pattern shows up in text and in calculations too); losing context in a long conversation, where AI forgets the conditions set at the start; a mismatched tone or style in the response; and too-generic advice — AI gives an answer that's correct in general but nonspecific, and it doesn't account for your particular situation. When you tell a failure story, try to guess for yourself which category it belongs to — we'll pin it down together. Failure stories in particular are valuable today: they help reveal AI's real limits, not just its impressive examples. This same term — hallucination — will come back with a precise definition later, in the quickfire quiz.</a:t>
            </a:r>
          </a:p>
          <a:p/>
          <a:p>
            <a:r>
              <a:t>— Instructor's personal stories (to tell in this block, one per category) —</a:t>
            </a:r>
          </a:p>
          <a:p/>
          <a:p>
            <a:r>
              <a:t>1. Hallucinated fact. Last year, while I was writing an article for a conference, a model gave me several citations to research papers that don't exist — and some of the citations pointed to real papers, but on a completely different topic than claimed. It looked confident and plausible, so every citation had to be checked by hand.</a:t>
            </a:r>
          </a:p>
          <a:p/>
          <a:p>
            <a:r>
              <a:t>2. Outdated data. This is especially noticeable in development: a model pulls in outdated library versions and, worse, outdated approaches. For example, you ask for a React component — and it writes it as a class with componentWillMount instead of hooks; or it suggests moment.js, which hasn't been actively developed in years, instead of date-fns or the built-in Temporal. The code is formally working, but the approach is from the day before yesterday.</a:t>
            </a:r>
          </a:p>
          <a:p/>
          <a:p>
            <a:r>
              <a:t>3. A task solved only on the surface. This happens with almost every product I build: the first AI prototype looks a lot like what's needed — screen, buttons, responses — but dig in, and often it either doesn't work or fakes working (data is hardcoded, error handling is drawn but not wired up). A finished product on the outside, a stage set on the inside.</a:t>
            </a:r>
          </a:p>
          <a:p/>
          <a:p>
            <a:r>
              <a:t>4. Lost context. In a long refactoring conversation, after a couple dozen messages, the model forgets what we agreed on at the start: say, I explicitly said “no pulling in external dependencies” and we renamed a module — and twenty replies later it's suggesting a third-party library and the old name again, as if the conversation never happened. The context has drifted out of the window, and the conditions have to be restated.</a:t>
            </a:r>
          </a:p>
          <a:p/>
          <a:p>
            <a:r>
              <a:t>5. Mismatched tone. The example is right in front of you — these lectures. I prepare them with heavy AI involvement, and there are still odd turns of phrase and tone on the slides and in the notes that I haven't cleaned up. This is an honest example that a model's tone has to be edited by hand.</a:t>
            </a:r>
          </a:p>
          <a:p/>
          <a:p>
            <a:r>
              <a:t>6. An answer that doesn't fit your situation. The same story keeps coming up for me — a model's paranoid “information security” on dev and test environments: it resists saving or showing the logins and passwords for test users because “that's not secure,” even though we're talking about deliberately fake test accounts on a local environment, which is exactly where that's needed. The advice is correct in general — just not for my particular situation.</a:t>
            </a:r>
          </a:p>
        </p:txBody>
      </p:sp>
      <p:sp>
        <p:nvSpPr>
          <p:cNvPr id="263" name="Google Shape;26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category in the calibration game — fiction. Two short fragments on the theme of sleep and reality, unlabeled. Let's vote: which one was written by a human, which by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Both texts are deliberately similar in theme and tone — the point isn't to find an obvious difference in subject matter, but to hear a difference in style, if one is even noticeable in such a short fragment.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After the vote — ask one or two students what tipped them off: the rhythm of the sentence, characteristic turns of phrase, a recognizable voice? For fiction, there's no objective, measurable criterion for “which is better” — this category is about style and recognition, not about productivity.</a:t>
            </a:r>
            <a:endParaRPr/>
          </a:p>
        </p:txBody>
      </p:sp>
      <p:sp>
        <p:nvSpPr>
          <p:cNvPr id="287" name="Google Shape;28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 A is a real quote from Victor Pelevin's novel “Generation P,” 1999. Text B was generated by AI, prompted to approximate a similar philosophical-reflective style on the theme of sleep and reality.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such short fragments, modern models really can do a decent job imitating a recognizable manner of writing — the rhythm of the sentence, characteristic constructions. That doesn't mean AI “writes like Pelevin” in any broad sense — reproducing style over two or three sentences and writing a whole work with an original idea are tasks of very different difficulty. The lesson of this round: a short stylized fragment is an unreliable test for determining authorship, especially in fiction.</a:t>
            </a:r>
            <a:endParaRPr/>
          </a:p>
        </p:txBody>
      </p:sp>
      <p:sp>
        <p:nvSpPr>
          <p:cNvPr id="299" name="Google Shape;29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second category — technical text, documentation. Two fragments explaining the behavior of a language construct. Let's vote: which was written by a human, which by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Beyond the question of “who's the author,” let's discuss another one: in what way, and how measurably, does the AI version differ in practical usefulness from official documentation? Not just “who wrote it,” but also “what it means for someone looking for an answer right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After the vote, ask: what tipped you off — the precision of the wording, a characteristic structure that explains through comparison with other languages?</a:t>
            </a:r>
            <a:endParaRPr/>
          </a:p>
        </p:txBody>
      </p:sp>
      <p:sp>
        <p:nvSpPr>
          <p:cNvPr id="322" name="Google Shape;322;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 A was generated by AI, prompted to explain while in documentation style. Text B is an exact quote from the official Russian translation of the Python 3 documentation (“Python 3 Documentation Translations,” digitology.tech), section “8.3. The for Statement.”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matters here isn't just the question of authorship, but an honest comparison: official documentation is written and maintained by a team, goes through review, and is stable for years. But for standard language constructs like for and while, the AI version is often just as accurate — and you get it in seconds, without having to search for and read through the whole documentation.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Lesson: for technical documentation, what comes to the fore isn't who wrote it, but the accuracy and speed of getting an answer. On typical, well-documented questions — language syntax, standard constructs — AI is especially strong precisely because that information is described, repeatedly and consistently, in its training data.</a:t>
            </a:r>
            <a:endParaRPr/>
          </a:p>
        </p:txBody>
      </p:sp>
      <p:sp>
        <p:nvSpPr>
          <p:cNvPr id="334" name="Google Shape;33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third category — code. Two small functions, roughly the same scale. Let's vote: which was written by a human, which by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too, it's not just about authorship: what's the measurable difference in productivity between “get a function from AI” and “use a proven library”? We'll discuss this in the reveal.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After the vote, ask: what tipped you off — the variable-naming style, the docstring, the structure of the conditional check?</a:t>
            </a:r>
            <a:endParaRPr/>
          </a:p>
        </p:txBody>
      </p:sp>
      <p:sp>
        <p:nvSpPr>
          <p:cNvPr id="357" name="Google Shape;357;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Code A is a real function from the requests library, one of the most-used Python libraries, open source on GitHub, MIT licensed. Code B was generated by AI on a similar prompt — write a small function of similar scope.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honest comparison, without putting down either side: requests is code that's been running in thousands and millions of real projects for over ten years — every hidden bug has most likely been found and fixed by the community by now, the result of years of testing under complex, high-load infrastructure. You get the AI version in 10–20 seconds — a great option precisely for typical helper functions like this, boilerplate code, one-off scripts.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round's lesson isn't “AI is worse” — it's a split by task type: typical, helper tasks — AI, it's faster and reliable enough. Complex and unique solutions, architectural, high-stakes ones that a system's stability depends on — a human, with their experience and accountability for the decision.</a:t>
            </a:r>
            <a:endParaRPr/>
          </a:p>
        </p:txBody>
      </p:sp>
      <p:sp>
        <p:nvSpPr>
          <p:cNvPr id="371" name="Google Shape;371;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fourth category — an image. One of the two cards is a real painting, the other shows a stylized example of what AI might generate on a similar prompt.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category is about style and perception, not measurable productivity: modern image-generation models really can imitate recognizable artistic styles in seconds, but the question isn't “which is faster,” it's “what are you actually looking at, and how do you tell the difference.”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After the vote, discuss: what visual cues give away the human hand — light, composition, small imperfections? Modern generative models are getting more and more convincing precisely at stylizing to match specific artists.</a:t>
            </a:r>
            <a:endParaRPr/>
          </a:p>
        </p:txBody>
      </p:sp>
      <p:sp>
        <p:nvSpPr>
          <p:cNvPr id="392" name="Google Shape;392;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real painting is “Valley of Mexico from the Santa Isabel Mountain,” 1875, by José María Velasco — a 19th-century Mexican landscape painter, and one of the most famous panoramas of the Valley of Mexico in the history of Latin American painting, now in the public domain.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a similar text prompt — “a valley panorama, distant mountains, volcanoes on the horizon, warm evening light, 19th-century landscape painting style” — a modern image-generation model would produce a composition similar in spirit within a few seconds. We're not showing an actual generated file here — we're being upfront that this is a hypothetical example, not passing off our own description as a real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lesson of this round: AI can imitate a recognizable style quickly and convincingly, but behind that speed there's no creation history, no artistic intent, no authenticity of the moment — the commercial or artistic value of the original isn't built on visual resemblance alone. Unlike technical text or code, the question here isn't about reliability, but about ethics and the authenticity of authorship.</a:t>
            </a:r>
            <a:endParaRPr/>
          </a:p>
        </p:txBody>
      </p:sp>
      <p:sp>
        <p:nvSpPr>
          <p:cNvPr id="404" name="Google Shape;40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fifth category — data visualization. Two charts of a similar format — a line showing a metric's growth over the years. Let's vote: which is based on real research, which is generated from fabricated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again the focus is on the measurable payoff: not just “which chart looks nicer,” but “which of the two can you trust, and why.” On the surface, two neat line charts are almost indistinguishable — that's deliberate: the indistinguishability itself is the lesson.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After the vote, ask: what could actually tell apart a chart built on real data from a plausibly drawn one — the data source, a methodology note, or nothing at all, if the presentation is equally polished?</a:t>
            </a:r>
            <a:endParaRPr/>
          </a:p>
        </p:txBody>
      </p:sp>
      <p:sp>
        <p:nvSpPr>
          <p:cNvPr id="418" name="Google Shape;418;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Chart A was generated by us via an AI tool on plausible but fabricated numbers — specifically for this game. Chart B is real Our World in Data data on the share of the population using the internet, Russia and the world, sourced from the International Telecommunication Union via the World Bank, CC-BY licensed.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honest comparison: an AI tool solves the data-visualization task in seconds and does it well — unlike the “painting” category, there's no question of authenticity or artistic intent here; visualization is a purely technical task. The only question that matters is where the data came from and how reliable it is. Our World in Data is built by a research team that spends weeks collecting, cross-checking, and re-verifying data sources before publishing a chart.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main lesson of the whole game: the neater the visual presentation, the less it says on its own about the reliability of the data inside it. Form and content are separate questions: AI solves the question of form excellently and quickly, but the question of content — where the data comes from and how real it is — is still a human's responsibility.</a:t>
            </a:r>
            <a:endParaRPr/>
          </a:p>
        </p:txBody>
      </p:sp>
      <p:sp>
        <p:nvSpPr>
          <p:cNvPr id="430" name="Google Shape;43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Quickfire quiz: I read out a statement, you vote by raising a hand — true or false — before I give the answer. There are no answers yet on this slide; next, the correct answers are revealed one at a time, each with a short explanation and a lesson.</a:t>
            </a:r>
          </a:p>
        </p:txBody>
      </p:sp>
      <p:sp>
        <p:nvSpPr>
          <p:cNvPr id="449" name="Google Shape;449;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“AI reality-check” memo — five points that will come in handy this very week, drawn from today's quiz.</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a confident tone in an AI's answer doesn't mean the answer is factually correct. Second: AI doesn't know about events after its training cutoff date without access to web search. Third: an AI's answer isn't derived unambiguously from its training data — the model doesn't “look up” a ready-made chunk of text in the training set, it generates a continuation based on statistical patterns, and because sampling is random, the same question can get different answers. Fourth: AI sees text not as letters, but as tokens — chunks of several characters — so on tasks that require counting letter by letter (say, how many “r”s are in a word), the model can make mistakes, even though overall it works with language extremely well. Fifth: different AI models can give different answers to the same question — cross-checking with several sources is sensible for important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this sheet with you. These five points will be useful not only in this course, but in any work with AI tools.</a:t>
            </a:r>
            <a:endParaRPr/>
          </a:p>
        </p:txBody>
      </p:sp>
      <p:sp>
        <p:nvSpPr>
          <p:cNvPr id="498" name="Google Shape;49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for today's session. Today you honestly recorded your experience with AI: what worked, what didn't, and what you're bringing into this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Next up — Lecture 1 and the whole course, where we'll systematically break down, industry by industry, how AI is actually applied in development, finance, medicine, manufacturing, creative industries, and other fields: which tools work, where the limits of applicability are, and how to choose the right tool for the task. Everything you shared today — success stories and failures alike — isn't a set of one-off cases, but recognizable patterns we'll keep coming back to throughout the course.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 you still have questions — now's the time to ask, before the systematic part of the course begins. Contacts — the course Telegram channel and the instructor's Telegram — will appear here separately. See you at the next session.</a:t>
            </a:r>
            <a:endParaRPr/>
          </a:p>
        </p:txBody>
      </p:sp>
      <p:sp>
        <p:nvSpPr>
          <p:cNvPr id="524" name="Google Shape;524;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 1: “AI counts the letters in a word directly, the way a human does” — FALSE.</a:t>
            </a:r>
          </a:p>
          <a:p/>
          <a:p>
            <a:r>
              <a:t>The model doesn't see individual letters. Before processing, text is split into tokens — chunks of several characters (sometimes a whole word, sometimes part of a word or a couple of letters). From then on, the model works with these tokens, not letters. That's why the classic failure example is “how many letter r's are in the word 'characteristic'”: the model can get it wrong because it doesn't literally “count letters,” it estimates the answer statistically. The same root cause shows up in errors counting characters, reversing words, and anagram tasks.</a:t>
            </a:r>
          </a:p>
          <a:p/>
          <a:p>
            <a:r>
              <a:t>Lesson: wherever an exact character-by-character result matters (counting, masks, formats), don't just trust the model's word for it — verify it, or hand it off to regular code instead of an LLM.</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 2: “AI always knows what happened in the world today” — FALSE.</a:t>
            </a:r>
          </a:p>
          <a:p/>
          <a:p>
            <a:r>
              <a:t>The model has a training cutoff date: it knows the world roughly up to that point and, by default, has no idea what happened after — a fresh release, a news story, an exchange rate, yesterday's match. The chat itself doesn't browse the internet. For an answer to reflect current data, it needs an explicit tool: web search, a database connection, or a freshly uploaded document (this is called RAG). Without one, a confident answer about “today” is, at best, extrapolation — at worst, a fabrication.</a:t>
            </a:r>
          </a:p>
          <a:p/>
          <a:p>
            <a:r>
              <a:t>Lesson: for anything that depends on recency (prices, versions, events), either turn on search or check the date — “confident” doesn't mean “current.”</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 3: “AI sometimes confidently says something untrue without intending to deceive” — TRUE.</a:t>
            </a:r>
          </a:p>
          <a:p/>
          <a:p>
            <a:r>
              <a:t>This is hallucination — we already named it in the block on failures. The model doesn't “lie” in the human sense: it has no intention to deceive, it simply constructs the most plausible continuation and delivers both fact and fiction with the same confident tone. Hence the nonexistent links, invented quotes, and plausible-but-false details. The key trap is exactly the tone: how confident a statement sounds has nothing to do with whether it's correct.</a:t>
            </a:r>
          </a:p>
          <a:p/>
          <a:p>
            <a:r>
              <a:t>Lesson: tone isn't an indicator of truth. Check any verifiable fact (a link, a figure, a quote, an API) against the original source, especially when the answer sounds smooth and confident.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 4: “An AI chat can see your personal email and files by default” — FALSE.</a:t>
            </a:r>
          </a:p>
          <a:p/>
          <a:p>
            <a:r>
              <a:t>A regular chat only sees what you've sent it yourself in the conversation. It doesn't read your email, drive, or files on your computer unless you explicitly connect such an integration or upload a document. Access only exists where you've consciously granted it — and that's exactly what's worth thinking about: what you put into a prompt and which integrations you turn on, especially with work data.</a:t>
            </a:r>
          </a:p>
          <a:p/>
          <a:p>
            <a:r>
              <a:t>Lesson: no need to panic that “it sees everything,” but don't make a habit of pasting secrets or personal data into the chat either — you control the access, so you're responsible for what you grant.</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 5: “AI always gives an answer consistent with the data it was fed” — FALSE.</a:t>
            </a:r>
          </a:p>
          <a:p/>
          <a:p>
            <a:r>
              <a:t>Training data shapes the model's “character” and its systematic biases, but the answer isn't derived from it rigidly and unambiguously. First, the model doesn't look up a ready-made chunk of text in the training set — it generates a continuation based on learned statistical patterns, which is why both generalization to new cases and hallucinations are possible. Second, because of the randomness of sampling (temperature), the same question can get different answers on different runs. Third, behavior is heavily adjusted after pretraining — through fine-tuning and dialogue tuning (RLHF) — so the final answer reflects more than just the “raw” training data.</a:t>
            </a:r>
          </a:p>
          <a:p/>
          <a:p>
            <a:r>
              <a:t>Lesson: don't think of the model as a database search engine. It's a probabilistic generator — hence the flexibility, the non-reproducibility, and the need to verify it.</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 6: “All AI models give the same answer to the same question” — FALSE.</a:t>
            </a:r>
          </a:p>
          <a:p/>
          <a:p>
            <a:r>
              <a:t>Different models are trained differently and answer differently; moreover, even the same model can give answers that differ in substance on repeated runs (see the previous point on the randomness of generation). This isn't a bug, it's a property of the technology. The practical upside: if you ask two or three different models an important question and the answers agree, that's a weak but useful signal; if they disagree, that's a reason to dig deeper and go to the original source.</a:t>
            </a:r>
          </a:p>
          <a:p/>
          <a:p>
            <a:r>
              <a:t>Lesson: for significant decisions, cross-check with several sources and, where possible, several models — a single answer from a single model isn't the final word.</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course communication happens in the MAX messenger chat. Scan the QR code with your phone's camera or follow the link max.ru/join/sHoHlhI4jvW_swcq5ZLowvz6G94m0IMhAwngxuxsEpI and join the chat before the first lecture.</a:t>
            </a:r>
          </a:p>
          <a:p/>
          <a:p>
            <a:r>
              <a:t>What you'll find there. First, announcements: schedule, any changes, important news — all posted in the chat, so you won't need to wait for a separate email. Second, materials: I post the lecture and seminar slides there as sessions happen, so everything's collected in one place. Third, questions: if something's unclear between classes, ask in the chat — you don't have to save it up for the seminar.</a:t>
            </a:r>
          </a:p>
          <a:p/>
          <a:p>
            <a:r>
              <a:t>Please join today — that way you definitely won't miss the first announcement.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p:nvPr>
            <p:ph idx="2" type="pic"/>
          </p:nvPr>
        </p:nvSpPr>
        <p:spPr>
          <a:xfrm>
            <a:off x="1792288" y="612775"/>
            <a:ext cx="5486400" cy="4114800"/>
          </a:xfrm>
          <a:prstGeom prst="rect">
            <a:avLst/>
          </a:prstGeom>
          <a:noFill/>
          <a:ln>
            <a:noFill/>
          </a:ln>
        </p:spPr>
      </p:sp>
      <p:sp>
        <p:nvSpPr>
          <p:cNvPr id="64" name="Google Shape;64;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9dabcc4b_10_0)">
  <p:cSld name="Generated (g3f69dabcc4b_10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jpg"/><Relationship Id="rId4" Type="http://schemas.openxmlformats.org/officeDocument/2006/relationships/image" Target="../media/image16.jpg"/><Relationship Id="rId5" Type="http://schemas.openxmlformats.org/officeDocument/2006/relationships/image" Target="../media/image7.jpg"/><Relationship Id="rId6" Type="http://schemas.openxmlformats.org/officeDocument/2006/relationships/image" Target="../media/image1.jpg"/><Relationship Id="rId7" Type="http://schemas.openxmlformats.org/officeDocument/2006/relationships/image" Target="../media/image11.jpg"/><Relationship Id="rId8" Type="http://schemas.openxmlformats.org/officeDocument/2006/relationships/image" Target="../media/image15.jpg"/><Relationship Id="rId9" Type="http://schemas.openxmlformats.org/officeDocument/2006/relationships/image" Target="../media/image10.jpg"/><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notesSlide" Target="../notesSlides/notesSlide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3.png"/><Relationship Id="rId7" Type="http://schemas.openxmlformats.org/officeDocument/2006/relationships/image" Target="../media/image22.png"/><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50.png"/><Relationship Id="rId6" Type="http://schemas.openxmlformats.org/officeDocument/2006/relationships/image" Target="../media/image5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28.png"/><Relationship Id="rId5" Type="http://schemas.openxmlformats.org/officeDocument/2006/relationships/image" Target="../media/image20.png"/><Relationship Id="rId6" Type="http://schemas.openxmlformats.org/officeDocument/2006/relationships/image" Target="../media/image34.png"/><Relationship Id="rId7" Type="http://schemas.openxmlformats.org/officeDocument/2006/relationships/image" Target="../media/image32.png"/><Relationship Id="rId8"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31.png"/><Relationship Id="rId5"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2.png"/><Relationship Id="rId4" Type="http://schemas.openxmlformats.org/officeDocument/2006/relationships/image" Target="../media/image35.png"/><Relationship Id="rId5"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9.jp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8.png"/><Relationship Id="rId4" Type="http://schemas.openxmlformats.org/officeDocument/2006/relationships/image" Target="../media/image29.png"/><Relationship Id="rId5" Type="http://schemas.openxmlformats.org/officeDocument/2006/relationships/image" Target="../media/image39.jpg"/><Relationship Id="rId6" Type="http://schemas.openxmlformats.org/officeDocument/2006/relationships/image" Target="../media/image4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38.png"/><Relationship Id="rId5" Type="http://schemas.openxmlformats.org/officeDocument/2006/relationships/image" Target="../media/image43.png"/><Relationship Id="rId6"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image" Target="../media/image47.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44.png"/><Relationship Id="rId8"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47.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47.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47.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47.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47.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47.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jpg"/><Relationship Id="rId4" Type="http://schemas.openxmlformats.org/officeDocument/2006/relationships/image" Target="../media/image16.jpg"/><Relationship Id="rId5" Type="http://schemas.openxmlformats.org/officeDocument/2006/relationships/image" Target="../media/image7.jpg"/><Relationship Id="rId6" Type="http://schemas.openxmlformats.org/officeDocument/2006/relationships/image" Target="../media/image1.jpg"/><Relationship Id="rId7" Type="http://schemas.openxmlformats.org/officeDocument/2006/relationships/image" Target="../media/image11.jpg"/><Relationship Id="rId8" Type="http://schemas.openxmlformats.org/officeDocument/2006/relationships/image" Target="../media/image15.jpg"/><Relationship Id="rId9" Type="http://schemas.openxmlformats.org/officeDocument/2006/relationships/image" Target="../media/image10.jpg"/><Relationship Id="rId10"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1"/>
          <p:cNvSpPr txBox="1"/>
          <p:nvPr/>
        </p:nvSpPr>
        <p:spPr>
          <a:xfrm>
            <a:off x="502920" y="1234440"/>
            <a:ext cx="5852100" cy="1422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400" u="none" cap="none" strike="noStrike">
                <a:solidFill>
                  <a:srgbClr val="21295C"/>
                </a:solidFill>
                <a:latin typeface="Arial"/>
                <a:ea typeface="Arial"/>
                <a:cs typeface="Arial"/>
                <a:sym typeface="Arial"/>
              </a:rPr>
              <a:t>Seminar 1 </a:t>
            </a:r>
            <a:r>
              <a:rPr b="1" lang="en-US" sz="4400">
                <a:solidFill>
                  <a:srgbClr val="21295C"/>
                </a:solidFill>
              </a:rPr>
              <a:t>G</a:t>
            </a:r>
            <a:r>
              <a:rPr b="1" i="0" lang="en-US" sz="4400" u="none" cap="none" strike="noStrike">
                <a:solidFill>
                  <a:srgbClr val="21295C"/>
                </a:solidFill>
                <a:latin typeface="Arial"/>
                <a:ea typeface="Arial"/>
                <a:cs typeface="Arial"/>
                <a:sym typeface="Arial"/>
              </a:rPr>
              <a:t>etting to know you</a:t>
            </a:r>
            <a:endParaRPr/>
          </a:p>
        </p:txBody>
      </p:sp>
      <p:sp>
        <p:nvSpPr>
          <p:cNvPr id="87" name="Google Shape;87;p1"/>
          <p:cNvSpPr txBox="1"/>
          <p:nvPr/>
        </p:nvSpPr>
        <p:spPr>
          <a:xfrm>
            <a:off x="502920" y="2880360"/>
            <a:ext cx="5852160" cy="914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1" lang="en-US" sz="1700" u="none" cap="none" strike="noStrike">
                <a:solidFill>
                  <a:srgbClr val="065A82"/>
                </a:solidFill>
                <a:latin typeface="Arial"/>
                <a:ea typeface="Arial"/>
                <a:cs typeface="Arial"/>
                <a:sym typeface="Arial"/>
              </a:rPr>
              <a:t>Industry Applications of Artificial Intelligence Systems</a:t>
            </a:r>
            <a:endParaRPr/>
          </a:p>
        </p:txBody>
      </p:sp>
      <p:sp>
        <p:nvSpPr>
          <p:cNvPr id="88" name="Google Shape;88;p1"/>
          <p:cNvSpPr txBox="1"/>
          <p:nvPr/>
        </p:nvSpPr>
        <p:spPr>
          <a:xfrm>
            <a:off x="502920" y="6172200"/>
            <a:ext cx="5852100" cy="1848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6B7685"/>
                </a:solidFill>
                <a:latin typeface="Arial"/>
                <a:ea typeface="Arial"/>
                <a:cs typeface="Arial"/>
                <a:sym typeface="Arial"/>
              </a:rPr>
              <a:t>Bauman Moscow State Technical University</a:t>
            </a:r>
            <a:endParaRPr/>
          </a:p>
        </p:txBody>
      </p:sp>
      <p:sp>
        <p:nvSpPr>
          <p:cNvPr id="89" name="Google Shape;89;p1"/>
          <p:cNvSpPr/>
          <p:nvPr/>
        </p:nvSpPr>
        <p:spPr>
          <a:xfrm>
            <a:off x="6446520" y="0"/>
            <a:ext cx="5745175" cy="6858000"/>
          </a:xfrm>
          <a:prstGeom prst="rect">
            <a:avLst/>
          </a:prstGeom>
          <a:solidFill>
            <a:srgbClr val="21295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01-medicine-davinci.jpg" id="90" name="Google Shape;90;p1"/>
          <p:cNvPicPr preferRelativeResize="0"/>
          <p:nvPr/>
        </p:nvPicPr>
        <p:blipFill rotWithShape="1">
          <a:blip r:embed="rId3">
            <a:alphaModFix/>
          </a:blip>
          <a:srcRect b="0" l="0" r="0" t="0"/>
          <a:stretch/>
        </p:blipFill>
        <p:spPr>
          <a:xfrm>
            <a:off x="6702552" y="256032"/>
            <a:ext cx="1659026" cy="1737359"/>
          </a:xfrm>
          <a:prstGeom prst="rect">
            <a:avLst/>
          </a:prstGeom>
          <a:noFill/>
          <a:ln>
            <a:noFill/>
          </a:ln>
        </p:spPr>
      </p:pic>
      <p:sp>
        <p:nvSpPr>
          <p:cNvPr id="91" name="Google Shape;91;p1"/>
          <p:cNvSpPr txBox="1"/>
          <p:nvPr/>
        </p:nvSpPr>
        <p:spPr>
          <a:xfrm>
            <a:off x="6702552" y="2011680"/>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Medicine</a:t>
            </a:r>
            <a:endParaRPr/>
          </a:p>
        </p:txBody>
      </p:sp>
      <p:pic>
        <p:nvPicPr>
          <p:cNvPr descr="s01-finance-nyse.jpg" id="92" name="Google Shape;92;p1"/>
          <p:cNvPicPr preferRelativeResize="0"/>
          <p:nvPr/>
        </p:nvPicPr>
        <p:blipFill rotWithShape="1">
          <a:blip r:embed="rId4">
            <a:alphaModFix/>
          </a:blip>
          <a:srcRect b="0" l="0" r="0" t="0"/>
          <a:stretch/>
        </p:blipFill>
        <p:spPr>
          <a:xfrm>
            <a:off x="8489594" y="256032"/>
            <a:ext cx="1659026" cy="1737359"/>
          </a:xfrm>
          <a:prstGeom prst="rect">
            <a:avLst/>
          </a:prstGeom>
          <a:noFill/>
          <a:ln>
            <a:noFill/>
          </a:ln>
        </p:spPr>
      </p:pic>
      <p:sp>
        <p:nvSpPr>
          <p:cNvPr id="93" name="Google Shape;93;p1"/>
          <p:cNvSpPr txBox="1"/>
          <p:nvPr/>
        </p:nvSpPr>
        <p:spPr>
          <a:xfrm>
            <a:off x="8489594" y="2011680"/>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Finance</a:t>
            </a:r>
            <a:endParaRPr/>
          </a:p>
        </p:txBody>
      </p:sp>
      <p:pic>
        <p:nvPicPr>
          <p:cNvPr descr="s01-transport-yandex.jpg" id="94" name="Google Shape;94;p1"/>
          <p:cNvPicPr preferRelativeResize="0"/>
          <p:nvPr/>
        </p:nvPicPr>
        <p:blipFill rotWithShape="1">
          <a:blip r:embed="rId5">
            <a:alphaModFix/>
          </a:blip>
          <a:srcRect b="0" l="0" r="0" t="0"/>
          <a:stretch/>
        </p:blipFill>
        <p:spPr>
          <a:xfrm>
            <a:off x="10276636" y="256032"/>
            <a:ext cx="1659026" cy="1737359"/>
          </a:xfrm>
          <a:prstGeom prst="rect">
            <a:avLst/>
          </a:prstGeom>
          <a:noFill/>
          <a:ln>
            <a:noFill/>
          </a:ln>
        </p:spPr>
      </p:pic>
      <p:sp>
        <p:nvSpPr>
          <p:cNvPr id="95" name="Google Shape;95;p1"/>
          <p:cNvSpPr txBox="1"/>
          <p:nvPr/>
        </p:nvSpPr>
        <p:spPr>
          <a:xfrm>
            <a:off x="10276636" y="2011680"/>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Transport</a:t>
            </a:r>
            <a:endParaRPr/>
          </a:p>
        </p:txBody>
      </p:sp>
      <p:pic>
        <p:nvPicPr>
          <p:cNvPr descr="s01-manufacturing-kuka.jpg" id="96" name="Google Shape;96;p1"/>
          <p:cNvPicPr preferRelativeResize="0"/>
          <p:nvPr/>
        </p:nvPicPr>
        <p:blipFill rotWithShape="1">
          <a:blip r:embed="rId6">
            <a:alphaModFix/>
          </a:blip>
          <a:srcRect b="0" l="0" r="0" t="0"/>
          <a:stretch/>
        </p:blipFill>
        <p:spPr>
          <a:xfrm>
            <a:off x="6702552" y="2414015"/>
            <a:ext cx="1659026" cy="1737359"/>
          </a:xfrm>
          <a:prstGeom prst="rect">
            <a:avLst/>
          </a:prstGeom>
          <a:noFill/>
          <a:ln>
            <a:noFill/>
          </a:ln>
        </p:spPr>
      </p:pic>
      <p:sp>
        <p:nvSpPr>
          <p:cNvPr id="97" name="Google Shape;97;p1"/>
          <p:cNvSpPr txBox="1"/>
          <p:nvPr/>
        </p:nvSpPr>
        <p:spPr>
          <a:xfrm>
            <a:off x="6702552" y="4169663"/>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Manufacturing</a:t>
            </a:r>
            <a:endParaRPr/>
          </a:p>
        </p:txBody>
      </p:sp>
      <p:pic>
        <p:nvPicPr>
          <p:cNvPr descr="s01-datacenter.jpg" id="98" name="Google Shape;98;p1"/>
          <p:cNvPicPr preferRelativeResize="0"/>
          <p:nvPr/>
        </p:nvPicPr>
        <p:blipFill rotWithShape="1">
          <a:blip r:embed="rId7">
            <a:alphaModFix/>
          </a:blip>
          <a:srcRect b="0" l="0" r="0" t="0"/>
          <a:stretch/>
        </p:blipFill>
        <p:spPr>
          <a:xfrm>
            <a:off x="8489594" y="2414015"/>
            <a:ext cx="1659026" cy="1737359"/>
          </a:xfrm>
          <a:prstGeom prst="rect">
            <a:avLst/>
          </a:prstGeom>
          <a:noFill/>
          <a:ln>
            <a:noFill/>
          </a:ln>
        </p:spPr>
      </p:pic>
      <p:sp>
        <p:nvSpPr>
          <p:cNvPr id="99" name="Google Shape;99;p1"/>
          <p:cNvSpPr txBox="1"/>
          <p:nvPr/>
        </p:nvSpPr>
        <p:spPr>
          <a:xfrm>
            <a:off x="8489594" y="4169663"/>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Development / IT</a:t>
            </a:r>
            <a:endParaRPr/>
          </a:p>
        </p:txBody>
      </p:sp>
      <p:pic>
        <p:nvPicPr>
          <p:cNvPr descr="s01-logistics-ocado.jpg" id="100" name="Google Shape;100;p1"/>
          <p:cNvPicPr preferRelativeResize="0"/>
          <p:nvPr/>
        </p:nvPicPr>
        <p:blipFill rotWithShape="1">
          <a:blip r:embed="rId8">
            <a:alphaModFix/>
          </a:blip>
          <a:srcRect b="0" l="0" r="0" t="0"/>
          <a:stretch/>
        </p:blipFill>
        <p:spPr>
          <a:xfrm>
            <a:off x="10276636" y="2414015"/>
            <a:ext cx="1659026" cy="1737359"/>
          </a:xfrm>
          <a:prstGeom prst="rect">
            <a:avLst/>
          </a:prstGeom>
          <a:noFill/>
          <a:ln>
            <a:noFill/>
          </a:ln>
        </p:spPr>
      </p:pic>
      <p:sp>
        <p:nvSpPr>
          <p:cNvPr id="101" name="Google Shape;101;p1"/>
          <p:cNvSpPr txBox="1"/>
          <p:nvPr/>
        </p:nvSpPr>
        <p:spPr>
          <a:xfrm>
            <a:off x="10276636" y="4169663"/>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Logistics</a:t>
            </a:r>
            <a:endParaRPr/>
          </a:p>
        </p:txBody>
      </p:sp>
      <p:pic>
        <p:nvPicPr>
          <p:cNvPr descr="s01-science-microscope.jpg" id="102" name="Google Shape;102;p1"/>
          <p:cNvPicPr preferRelativeResize="0"/>
          <p:nvPr/>
        </p:nvPicPr>
        <p:blipFill rotWithShape="1">
          <a:blip r:embed="rId9">
            <a:alphaModFix/>
          </a:blip>
          <a:srcRect b="0" l="0" r="0" t="0"/>
          <a:stretch/>
        </p:blipFill>
        <p:spPr>
          <a:xfrm>
            <a:off x="6702552" y="4572000"/>
            <a:ext cx="1659026" cy="1737359"/>
          </a:xfrm>
          <a:prstGeom prst="rect">
            <a:avLst/>
          </a:prstGeom>
          <a:noFill/>
          <a:ln>
            <a:noFill/>
          </a:ln>
        </p:spPr>
      </p:pic>
      <p:sp>
        <p:nvSpPr>
          <p:cNvPr id="103" name="Google Shape;103;p1"/>
          <p:cNvSpPr txBox="1"/>
          <p:nvPr/>
        </p:nvSpPr>
        <p:spPr>
          <a:xfrm>
            <a:off x="6702552" y="6327648"/>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Science</a:t>
            </a:r>
            <a:endParaRPr/>
          </a:p>
        </p:txBody>
      </p:sp>
      <p:sp>
        <p:nvSpPr>
          <p:cNvPr id="104" name="Google Shape;104;p1"/>
          <p:cNvSpPr/>
          <p:nvPr/>
        </p:nvSpPr>
        <p:spPr>
          <a:xfrm>
            <a:off x="8489594" y="4572000"/>
            <a:ext cx="1659026" cy="1737359"/>
          </a:xfrm>
          <a:prstGeom prst="roundRect">
            <a:avLst>
              <a:gd fmla="val 10000" name="adj"/>
            </a:avLst>
          </a:prstGeom>
          <a:solidFill>
            <a:srgbClr val="065A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hield-check-FFFFFF-72.png" id="105" name="Google Shape;105;p1"/>
          <p:cNvPicPr preferRelativeResize="0"/>
          <p:nvPr/>
        </p:nvPicPr>
        <p:blipFill rotWithShape="1">
          <a:blip r:embed="rId10">
            <a:alphaModFix/>
          </a:blip>
          <a:srcRect b="0" l="0" r="0" t="0"/>
          <a:stretch/>
        </p:blipFill>
        <p:spPr>
          <a:xfrm>
            <a:off x="8970712" y="5092284"/>
            <a:ext cx="696791" cy="696791"/>
          </a:xfrm>
          <a:prstGeom prst="rect">
            <a:avLst/>
          </a:prstGeom>
          <a:noFill/>
          <a:ln>
            <a:noFill/>
          </a:ln>
        </p:spPr>
      </p:pic>
      <p:sp>
        <p:nvSpPr>
          <p:cNvPr id="106" name="Google Shape;106;p1"/>
          <p:cNvSpPr txBox="1"/>
          <p:nvPr/>
        </p:nvSpPr>
        <p:spPr>
          <a:xfrm>
            <a:off x="8489594" y="6327648"/>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Cybersecurity</a:t>
            </a:r>
            <a:endParaRPr/>
          </a:p>
        </p:txBody>
      </p:sp>
      <p:sp>
        <p:nvSpPr>
          <p:cNvPr id="107" name="Google Shape;107;p1"/>
          <p:cNvSpPr txBox="1"/>
          <p:nvPr/>
        </p:nvSpPr>
        <p:spPr>
          <a:xfrm>
            <a:off x="6702552" y="6638544"/>
            <a:ext cx="5233111" cy="18288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1" lang="en-US" sz="800" u="none" cap="none" strike="noStrike">
                <a:solidFill>
                  <a:srgbClr val="C8D2DF"/>
                </a:solidFill>
                <a:latin typeface="Arial"/>
                <a:ea typeface="Arial"/>
                <a:cs typeface="Arial"/>
                <a:sym typeface="Arial"/>
              </a:rPr>
              <a:t>Wikimedia Commons · CC / public domain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f69dabcc4b_0_117"/>
          <p:cNvSpPr/>
          <p:nvPr/>
        </p:nvSpPr>
        <p:spPr>
          <a:xfrm>
            <a:off x="0" y="0"/>
            <a:ext cx="12192000" cy="6858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g3f69dabcc4b_0_117"/>
          <p:cNvSpPr/>
          <p:nvPr/>
        </p:nvSpPr>
        <p:spPr>
          <a:xfrm>
            <a:off x="0" y="0"/>
            <a:ext cx="3429000" cy="6858000"/>
          </a:xfrm>
          <a:prstGeom prst="rect">
            <a:avLst/>
          </a:prstGeom>
          <a:solidFill>
            <a:srgbClr val="F4F7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g3f69dabcc4b_0_117"/>
          <p:cNvSpPr txBox="1"/>
          <p:nvPr/>
        </p:nvSpPr>
        <p:spPr>
          <a:xfrm>
            <a:off x="285750" y="4429125"/>
            <a:ext cx="28575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00">
                <a:solidFill>
                  <a:srgbClr val="21295C"/>
                </a:solidFill>
                <a:latin typeface="Arial"/>
                <a:ea typeface="Arial"/>
                <a:cs typeface="Arial"/>
                <a:sym typeface="Arial"/>
              </a:rPr>
              <a:t>Maxim Nikolaevich</a:t>
            </a:r>
            <a:endParaRPr b="1" sz="2200">
              <a:solidFill>
                <a:srgbClr val="21295C"/>
              </a:solidFill>
              <a:latin typeface="Arial"/>
              <a:ea typeface="Arial"/>
              <a:cs typeface="Arial"/>
              <a:sym typeface="Arial"/>
            </a:endParaRPr>
          </a:p>
          <a:p>
            <a:pPr indent="0" lvl="0" marL="0" rtl="0" algn="l">
              <a:spcBef>
                <a:spcPts val="0"/>
              </a:spcBef>
              <a:spcAft>
                <a:spcPts val="0"/>
              </a:spcAft>
              <a:buNone/>
            </a:pPr>
            <a:r>
              <a:rPr b="1" lang="en-US" sz="2200">
                <a:solidFill>
                  <a:srgbClr val="21295C"/>
                </a:solidFill>
                <a:latin typeface="Arial"/>
                <a:ea typeface="Arial"/>
                <a:cs typeface="Arial"/>
                <a:sym typeface="Arial"/>
              </a:rPr>
              <a:t>Levko</a:t>
            </a:r>
            <a:endParaRPr b="1" sz="2200">
              <a:solidFill>
                <a:srgbClr val="21295C"/>
              </a:solidFill>
              <a:latin typeface="Arial"/>
              <a:ea typeface="Arial"/>
              <a:cs typeface="Arial"/>
              <a:sym typeface="Arial"/>
            </a:endParaRPr>
          </a:p>
        </p:txBody>
      </p:sp>
      <p:cxnSp>
        <p:nvCxnSpPr>
          <p:cNvPr id="115" name="Google Shape;115;g3f69dabcc4b_0_117"/>
          <p:cNvCxnSpPr/>
          <p:nvPr/>
        </p:nvCxnSpPr>
        <p:spPr>
          <a:xfrm>
            <a:off x="285750" y="5381625"/>
            <a:ext cx="2857500" cy="0"/>
          </a:xfrm>
          <a:prstGeom prst="straightConnector1">
            <a:avLst/>
          </a:prstGeom>
          <a:solidFill>
            <a:srgbClr val="FFFFFF"/>
          </a:solidFill>
          <a:ln cap="flat" cmpd="sng" w="19050">
            <a:solidFill>
              <a:srgbClr val="065A82"/>
            </a:solidFill>
            <a:prstDash val="solid"/>
            <a:round/>
            <a:headEnd len="sm" w="sm" type="none"/>
            <a:tailEnd len="sm" w="sm" type="none"/>
          </a:ln>
        </p:spPr>
      </p:cxnSp>
      <p:grpSp>
        <p:nvGrpSpPr>
          <p:cNvPr id="116" name="Google Shape;116;g3f69dabcc4b_0_117"/>
          <p:cNvGrpSpPr/>
          <p:nvPr/>
        </p:nvGrpSpPr>
        <p:grpSpPr>
          <a:xfrm>
            <a:off x="285750" y="5572125"/>
            <a:ext cx="2857575" cy="381000"/>
            <a:chOff x="0" y="0"/>
            <a:chExt cx="2857575" cy="381000"/>
          </a:xfrm>
        </p:grpSpPr>
        <p:sp>
          <p:nvSpPr>
            <p:cNvPr id="117" name="Google Shape;117;g3f69dabcc4b_0_117"/>
            <p:cNvSpPr/>
            <p:nvPr/>
          </p:nvSpPr>
          <p:spPr>
            <a:xfrm>
              <a:off x="0" y="0"/>
              <a:ext cx="381000" cy="381000"/>
            </a:xfrm>
            <a:prstGeom prst="roundRect">
              <a:avLst>
                <a:gd fmla="val 25000" name="adj"/>
              </a:avLst>
            </a:prstGeom>
            <a:solidFill>
              <a:srgbClr val="E8F1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g3f69dabcc4b_0_117"/>
            <p:cNvSpPr txBox="1"/>
            <p:nvPr/>
          </p:nvSpPr>
          <p:spPr>
            <a:xfrm>
              <a:off x="95250" y="9956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065A82"/>
                  </a:solidFill>
                  <a:latin typeface="Material Icons"/>
                  <a:ea typeface="Material Icons"/>
                  <a:cs typeface="Material Icons"/>
                  <a:sym typeface="Material Icons"/>
                </a:rPr>
                <a:t/>
              </a:r>
              <a:endParaRPr sz="1600">
                <a:solidFill>
                  <a:srgbClr val="065A82"/>
                </a:solidFill>
                <a:latin typeface="Material Icons"/>
                <a:ea typeface="Material Icons"/>
                <a:cs typeface="Material Icons"/>
                <a:sym typeface="Material Icons"/>
              </a:endParaRPr>
            </a:p>
          </p:txBody>
        </p:sp>
        <p:sp>
          <p:nvSpPr>
            <p:cNvPr id="119" name="Google Shape;119;g3f69dabcc4b_0_117"/>
            <p:cNvSpPr txBox="1"/>
            <p:nvPr/>
          </p:nvSpPr>
          <p:spPr>
            <a:xfrm>
              <a:off x="523875" y="0"/>
              <a:ext cx="2333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B7685"/>
                  </a:solidFill>
                  <a:latin typeface="Arial"/>
                  <a:ea typeface="Arial"/>
                  <a:cs typeface="Arial"/>
                  <a:sym typeface="Arial"/>
                </a:rPr>
                <a:t>Telegram</a:t>
              </a:r>
              <a:endParaRPr b="0" sz="1000">
                <a:solidFill>
                  <a:srgbClr val="6B7685"/>
                </a:solidFill>
                <a:latin typeface="Arial"/>
                <a:ea typeface="Arial"/>
                <a:cs typeface="Arial"/>
                <a:sym typeface="Arial"/>
              </a:endParaRPr>
            </a:p>
            <a:p>
              <a:pPr indent="0" lvl="0" marL="0" rtl="0" algn="l">
                <a:spcBef>
                  <a:spcPts val="0"/>
                </a:spcBef>
                <a:spcAft>
                  <a:spcPts val="0"/>
                </a:spcAft>
                <a:buNone/>
              </a:pPr>
              <a:r>
                <a:rPr b="1" lang="en-US" sz="1300">
                  <a:solidFill>
                    <a:srgbClr val="21295C"/>
                  </a:solidFill>
                  <a:latin typeface="Arial"/>
                  <a:ea typeface="Arial"/>
                  <a:cs typeface="Arial"/>
                  <a:sym typeface="Arial"/>
                </a:rPr>
                <a:t>@Maxim_Levko</a:t>
              </a:r>
              <a:endParaRPr b="1" sz="1300">
                <a:solidFill>
                  <a:srgbClr val="21295C"/>
                </a:solidFill>
                <a:latin typeface="Arial"/>
                <a:ea typeface="Arial"/>
                <a:cs typeface="Arial"/>
                <a:sym typeface="Arial"/>
              </a:endParaRPr>
            </a:p>
          </p:txBody>
        </p:sp>
      </p:grpSp>
      <p:grpSp>
        <p:nvGrpSpPr>
          <p:cNvPr id="120" name="Google Shape;120;g3f69dabcc4b_0_117"/>
          <p:cNvGrpSpPr/>
          <p:nvPr/>
        </p:nvGrpSpPr>
        <p:grpSpPr>
          <a:xfrm>
            <a:off x="285750" y="6096000"/>
            <a:ext cx="2857575" cy="381000"/>
            <a:chOff x="0" y="0"/>
            <a:chExt cx="2857575" cy="381000"/>
          </a:xfrm>
        </p:grpSpPr>
        <p:sp>
          <p:nvSpPr>
            <p:cNvPr id="121" name="Google Shape;121;g3f69dabcc4b_0_117"/>
            <p:cNvSpPr/>
            <p:nvPr/>
          </p:nvSpPr>
          <p:spPr>
            <a:xfrm>
              <a:off x="0" y="0"/>
              <a:ext cx="381000" cy="381000"/>
            </a:xfrm>
            <a:prstGeom prst="roundRect">
              <a:avLst>
                <a:gd fmla="val 25000" name="adj"/>
              </a:avLst>
            </a:prstGeom>
            <a:solidFill>
              <a:srgbClr val="E8F1F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g3f69dabcc4b_0_117"/>
            <p:cNvSpPr txBox="1"/>
            <p:nvPr/>
          </p:nvSpPr>
          <p:spPr>
            <a:xfrm>
              <a:off x="95250" y="99568"/>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rgbClr val="065A82"/>
                  </a:solidFill>
                  <a:latin typeface="Material Icons"/>
                  <a:ea typeface="Material Icons"/>
                  <a:cs typeface="Material Icons"/>
                  <a:sym typeface="Material Icons"/>
                </a:rPr>
                <a:t/>
              </a:r>
              <a:endParaRPr sz="1600">
                <a:solidFill>
                  <a:srgbClr val="065A82"/>
                </a:solidFill>
                <a:latin typeface="Material Icons"/>
                <a:ea typeface="Material Icons"/>
                <a:cs typeface="Material Icons"/>
                <a:sym typeface="Material Icons"/>
              </a:endParaRPr>
            </a:p>
          </p:txBody>
        </p:sp>
        <p:sp>
          <p:nvSpPr>
            <p:cNvPr id="123" name="Google Shape;123;g3f69dabcc4b_0_117"/>
            <p:cNvSpPr txBox="1"/>
            <p:nvPr/>
          </p:nvSpPr>
          <p:spPr>
            <a:xfrm>
              <a:off x="523875" y="0"/>
              <a:ext cx="23337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B7685"/>
                  </a:solidFill>
                  <a:latin typeface="Arial"/>
                  <a:ea typeface="Arial"/>
                  <a:cs typeface="Arial"/>
                  <a:sym typeface="Arial"/>
                </a:rPr>
                <a:t>Email</a:t>
              </a:r>
              <a:endParaRPr b="0" sz="1000">
                <a:solidFill>
                  <a:srgbClr val="6B7685"/>
                </a:solidFill>
                <a:latin typeface="Arial"/>
                <a:ea typeface="Arial"/>
                <a:cs typeface="Arial"/>
                <a:sym typeface="Arial"/>
              </a:endParaRPr>
            </a:p>
            <a:p>
              <a:pPr indent="0" lvl="0" marL="0" rtl="0" algn="l">
                <a:spcBef>
                  <a:spcPts val="0"/>
                </a:spcBef>
                <a:spcAft>
                  <a:spcPts val="0"/>
                </a:spcAft>
                <a:buNone/>
              </a:pPr>
              <a:r>
                <a:rPr b="1" lang="en-US" sz="1300">
                  <a:solidFill>
                    <a:srgbClr val="21295C"/>
                  </a:solidFill>
                  <a:latin typeface="Arial"/>
                  <a:ea typeface="Arial"/>
                  <a:cs typeface="Arial"/>
                  <a:sym typeface="Arial"/>
                </a:rPr>
                <a:t>Levko.maxim@gmail.com</a:t>
              </a:r>
              <a:endParaRPr b="1" sz="1300">
                <a:solidFill>
                  <a:srgbClr val="21295C"/>
                </a:solidFill>
                <a:latin typeface="Arial"/>
                <a:ea typeface="Arial"/>
                <a:cs typeface="Arial"/>
                <a:sym typeface="Arial"/>
              </a:endParaRPr>
            </a:p>
          </p:txBody>
        </p:sp>
      </p:grpSp>
      <p:sp>
        <p:nvSpPr>
          <p:cNvPr id="124" name="Google Shape;124;g3f69dabcc4b_0_117"/>
          <p:cNvSpPr txBox="1"/>
          <p:nvPr/>
        </p:nvSpPr>
        <p:spPr>
          <a:xfrm>
            <a:off x="3905250" y="428625"/>
            <a:ext cx="7810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65A82"/>
                </a:solidFill>
                <a:latin typeface="Arial"/>
                <a:ea typeface="Arial"/>
                <a:cs typeface="Arial"/>
                <a:sym typeface="Arial"/>
              </a:rPr>
              <a:t>AI enthusiast and researcher • Builder of AI-based systems</a:t>
            </a:r>
            <a:endParaRPr b="1" sz="1800">
              <a:solidFill>
                <a:srgbClr val="065A82"/>
              </a:solidFill>
              <a:latin typeface="Arial"/>
              <a:ea typeface="Arial"/>
              <a:cs typeface="Arial"/>
              <a:sym typeface="Arial"/>
            </a:endParaRPr>
          </a:p>
          <a:p>
            <a:pPr indent="0" lvl="0" marL="0" rtl="0" algn="l">
              <a:spcBef>
                <a:spcPts val="1125"/>
              </a:spcBef>
              <a:spcAft>
                <a:spcPts val="0"/>
              </a:spcAft>
              <a:buNone/>
            </a:pPr>
            <a:r>
              <a:rPr b="0" lang="en-US" sz="1300">
                <a:solidFill>
                  <a:srgbClr val="334155"/>
                </a:solidFill>
                <a:latin typeface="Arial"/>
                <a:ea typeface="Arial"/>
                <a:cs typeface="Arial"/>
                <a:sym typeface="Arial"/>
              </a:rPr>
              <a:t>I build innovative solutions, automate processes, and deploy leading-edge AI technologies to solve real business and user problems.</a:t>
            </a:r>
            <a:endParaRPr b="0" sz="1300">
              <a:solidFill>
                <a:srgbClr val="334155"/>
              </a:solidFill>
              <a:latin typeface="Arial"/>
              <a:ea typeface="Arial"/>
              <a:cs typeface="Arial"/>
              <a:sym typeface="Arial"/>
            </a:endParaRPr>
          </a:p>
        </p:txBody>
      </p:sp>
      <p:grpSp>
        <p:nvGrpSpPr>
          <p:cNvPr id="125" name="Google Shape;125;g3f69dabcc4b_0_117"/>
          <p:cNvGrpSpPr/>
          <p:nvPr/>
        </p:nvGrpSpPr>
        <p:grpSpPr>
          <a:xfrm>
            <a:off x="3905250" y="1857375"/>
            <a:ext cx="7810500" cy="1285800"/>
            <a:chOff x="0" y="0"/>
            <a:chExt cx="7810500" cy="1285800"/>
          </a:xfrm>
        </p:grpSpPr>
        <p:sp>
          <p:nvSpPr>
            <p:cNvPr id="126" name="Google Shape;126;g3f69dabcc4b_0_117"/>
            <p:cNvSpPr/>
            <p:nvPr/>
          </p:nvSpPr>
          <p:spPr>
            <a:xfrm>
              <a:off x="0" y="0"/>
              <a:ext cx="7810500" cy="1285800"/>
            </a:xfrm>
            <a:prstGeom prst="roundRect">
              <a:avLst>
                <a:gd fmla="val 11851" name="adj"/>
              </a:avLst>
            </a:prstGeom>
            <a:solidFill>
              <a:srgbClr val="F4F7FA"/>
            </a:solidFill>
            <a:ln cap="flat" cmpd="sng" w="14300">
              <a:solidFill>
                <a:srgbClr val="1C729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g3f69dabcc4b_0_117"/>
            <p:cNvSpPr/>
            <p:nvPr/>
          </p:nvSpPr>
          <p:spPr>
            <a:xfrm>
              <a:off x="238125" y="357188"/>
              <a:ext cx="571500" cy="571500"/>
            </a:xfrm>
            <a:prstGeom prst="roundRect">
              <a:avLst>
                <a:gd fmla="val 20000" name="adj"/>
              </a:avLst>
            </a:prstGeom>
            <a:solidFill>
              <a:srgbClr val="1C729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g3f69dabcc4b_0_117"/>
            <p:cNvSpPr txBox="1"/>
            <p:nvPr/>
          </p:nvSpPr>
          <p:spPr>
            <a:xfrm>
              <a:off x="238125" y="398081"/>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800">
                  <a:solidFill>
                    <a:srgbClr val="FFFFFF"/>
                  </a:solidFill>
                  <a:latin typeface="Material Icons"/>
                  <a:ea typeface="Material Icons"/>
                  <a:cs typeface="Material Icons"/>
                  <a:sym typeface="Material Icons"/>
                </a:rPr>
                <a:t/>
              </a:r>
              <a:endParaRPr sz="2800">
                <a:solidFill>
                  <a:srgbClr val="FFFFFF"/>
                </a:solidFill>
                <a:latin typeface="Material Icons"/>
                <a:ea typeface="Material Icons"/>
                <a:cs typeface="Material Icons"/>
                <a:sym typeface="Material Icons"/>
              </a:endParaRPr>
            </a:p>
          </p:txBody>
        </p:sp>
        <p:sp>
          <p:nvSpPr>
            <p:cNvPr id="129" name="Google Shape;129;g3f69dabcc4b_0_117"/>
            <p:cNvSpPr txBox="1"/>
            <p:nvPr/>
          </p:nvSpPr>
          <p:spPr>
            <a:xfrm>
              <a:off x="1047750" y="238125"/>
              <a:ext cx="65247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21295C"/>
                  </a:solidFill>
                  <a:latin typeface="Arial"/>
                  <a:ea typeface="Arial"/>
                  <a:cs typeface="Arial"/>
                  <a:sym typeface="Arial"/>
                </a:rPr>
                <a:t>Clarifian </a:t>
              </a:r>
              <a:r>
                <a:rPr b="1" lang="en-US" sz="1100">
                  <a:solidFill>
                    <a:srgbClr val="065A82"/>
                  </a:solidFill>
                  <a:latin typeface="Arial"/>
                  <a:ea typeface="Arial"/>
                  <a:cs typeface="Arial"/>
                  <a:sym typeface="Arial"/>
                </a:rPr>
                <a:t>clarifian.io</a:t>
              </a:r>
              <a:endParaRPr b="1" sz="1300">
                <a:solidFill>
                  <a:srgbClr val="21295C"/>
                </a:solidFill>
                <a:latin typeface="Arial"/>
                <a:ea typeface="Arial"/>
                <a:cs typeface="Arial"/>
                <a:sym typeface="Arial"/>
              </a:endParaRPr>
            </a:p>
            <a:p>
              <a:pPr indent="0" lvl="0" marL="0" rtl="0" algn="l">
                <a:spcBef>
                  <a:spcPts val="450"/>
                </a:spcBef>
                <a:spcAft>
                  <a:spcPts val="0"/>
                </a:spcAft>
                <a:buNone/>
              </a:pPr>
              <a:r>
                <a:rPr b="0" lang="en-US" sz="1100">
                  <a:solidFill>
                    <a:srgbClr val="6B7685"/>
                  </a:solidFill>
                  <a:latin typeface="Arial"/>
                  <a:ea typeface="Arial"/>
                  <a:cs typeface="Arial"/>
                  <a:sym typeface="Arial"/>
                </a:rPr>
                <a:t>AI-based automatic diagram drawing. Turn text descriptions and ideas into structured, clear visual diagrams and charts in one click.</a:t>
              </a:r>
              <a:endParaRPr b="0" sz="1100">
                <a:solidFill>
                  <a:srgbClr val="6B7685"/>
                </a:solidFill>
                <a:latin typeface="Arial"/>
                <a:ea typeface="Arial"/>
                <a:cs typeface="Arial"/>
                <a:sym typeface="Arial"/>
              </a:endParaRPr>
            </a:p>
          </p:txBody>
        </p:sp>
      </p:grpSp>
      <p:grpSp>
        <p:nvGrpSpPr>
          <p:cNvPr id="130" name="Google Shape;130;g3f69dabcc4b_0_117"/>
          <p:cNvGrpSpPr/>
          <p:nvPr/>
        </p:nvGrpSpPr>
        <p:grpSpPr>
          <a:xfrm>
            <a:off x="3905250" y="3381375"/>
            <a:ext cx="7810500" cy="1285800"/>
            <a:chOff x="0" y="0"/>
            <a:chExt cx="7810500" cy="1285800"/>
          </a:xfrm>
        </p:grpSpPr>
        <p:sp>
          <p:nvSpPr>
            <p:cNvPr id="131" name="Google Shape;131;g3f69dabcc4b_0_117"/>
            <p:cNvSpPr/>
            <p:nvPr/>
          </p:nvSpPr>
          <p:spPr>
            <a:xfrm>
              <a:off x="0" y="0"/>
              <a:ext cx="7810500" cy="1285800"/>
            </a:xfrm>
            <a:prstGeom prst="roundRect">
              <a:avLst>
                <a:gd fmla="val 11851" name="adj"/>
              </a:avLst>
            </a:prstGeom>
            <a:solidFill>
              <a:srgbClr val="F4F7FA"/>
            </a:solidFill>
            <a:ln cap="flat" cmpd="sng" w="14300">
              <a:solidFill>
                <a:srgbClr val="1C729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g3f69dabcc4b_0_117"/>
            <p:cNvSpPr/>
            <p:nvPr/>
          </p:nvSpPr>
          <p:spPr>
            <a:xfrm>
              <a:off x="238125" y="357188"/>
              <a:ext cx="571500" cy="571500"/>
            </a:xfrm>
            <a:prstGeom prst="roundRect">
              <a:avLst>
                <a:gd fmla="val 20000" name="adj"/>
              </a:avLst>
            </a:prstGeom>
            <a:solidFill>
              <a:srgbClr val="1C729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g3f69dabcc4b_0_117"/>
            <p:cNvSpPr txBox="1"/>
            <p:nvPr/>
          </p:nvSpPr>
          <p:spPr>
            <a:xfrm>
              <a:off x="238125" y="398081"/>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800">
                  <a:solidFill>
                    <a:srgbClr val="FFFFFF"/>
                  </a:solidFill>
                  <a:latin typeface="Material Icons"/>
                  <a:ea typeface="Material Icons"/>
                  <a:cs typeface="Material Icons"/>
                  <a:sym typeface="Material Icons"/>
                </a:rPr>
                <a:t/>
              </a:r>
              <a:endParaRPr sz="2800">
                <a:solidFill>
                  <a:srgbClr val="FFFFFF"/>
                </a:solidFill>
                <a:latin typeface="Material Icons"/>
                <a:ea typeface="Material Icons"/>
                <a:cs typeface="Material Icons"/>
                <a:sym typeface="Material Icons"/>
              </a:endParaRPr>
            </a:p>
          </p:txBody>
        </p:sp>
        <p:sp>
          <p:nvSpPr>
            <p:cNvPr id="134" name="Google Shape;134;g3f69dabcc4b_0_117"/>
            <p:cNvSpPr txBox="1"/>
            <p:nvPr/>
          </p:nvSpPr>
          <p:spPr>
            <a:xfrm>
              <a:off x="1047750" y="238125"/>
              <a:ext cx="65247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21295C"/>
                  </a:solidFill>
                  <a:latin typeface="Arial"/>
                  <a:ea typeface="Arial"/>
                  <a:cs typeface="Arial"/>
                  <a:sym typeface="Arial"/>
                </a:rPr>
                <a:t>AI Mentor </a:t>
              </a:r>
              <a:r>
                <a:rPr b="1" lang="en-US" sz="1100">
                  <a:solidFill>
                    <a:srgbClr val="065A82"/>
                  </a:solidFill>
                  <a:latin typeface="Arial"/>
                  <a:ea typeface="Arial"/>
                  <a:cs typeface="Arial"/>
                  <a:sym typeface="Arial"/>
                </a:rPr>
                <a:t>mentor.tellian.ru</a:t>
              </a:r>
              <a:endParaRPr b="1" sz="1300">
                <a:solidFill>
                  <a:srgbClr val="21295C"/>
                </a:solidFill>
                <a:latin typeface="Arial"/>
                <a:ea typeface="Arial"/>
                <a:cs typeface="Arial"/>
                <a:sym typeface="Arial"/>
              </a:endParaRPr>
            </a:p>
            <a:p>
              <a:pPr indent="0" lvl="0" marL="0" rtl="0" algn="l">
                <a:spcBef>
                  <a:spcPts val="450"/>
                </a:spcBef>
                <a:spcAft>
                  <a:spcPts val="0"/>
                </a:spcAft>
                <a:buNone/>
              </a:pPr>
              <a:r>
                <a:rPr b="0" lang="en-US" sz="1100">
                  <a:solidFill>
                    <a:srgbClr val="6B7685"/>
                  </a:solidFill>
                  <a:latin typeface="Arial"/>
                  <a:ea typeface="Arial"/>
                  <a:cs typeface="Arial"/>
                  <a:sym typeface="Arial"/>
                </a:rPr>
                <a:t>AI-based testing and mentoring. Personalized learning, skills assessment, and intelligent support along your development path.</a:t>
              </a:r>
              <a:endParaRPr b="0" sz="1100">
                <a:solidFill>
                  <a:srgbClr val="6B7685"/>
                </a:solidFill>
                <a:latin typeface="Arial"/>
                <a:ea typeface="Arial"/>
                <a:cs typeface="Arial"/>
                <a:sym typeface="Arial"/>
              </a:endParaRPr>
            </a:p>
          </p:txBody>
        </p:sp>
      </p:grpSp>
      <p:pic>
        <p:nvPicPr>
          <p:cNvPr id="145" name="Google Shape;145;g3f69dabcc4b_0_117"/>
          <p:cNvPicPr preferRelativeResize="0"/>
          <p:nvPr/>
        </p:nvPicPr>
        <p:blipFill rotWithShape="1">
          <a:blip r:embed="rId3">
            <a:alphaModFix/>
          </a:blip>
          <a:srcRect b="21333" l="-1083" r="-1104" t="10816"/>
          <a:stretch/>
        </p:blipFill>
        <p:spPr>
          <a:xfrm>
            <a:off x="181600" y="381000"/>
            <a:ext cx="3065866" cy="3619424"/>
          </a:xfrm>
          <a:prstGeom prst="rect">
            <a:avLst/>
          </a:prstGeom>
          <a:noFill/>
          <a:ln>
            <a:noFill/>
          </a:ln>
        </p:spPr>
      </p:pic>
      <p:pic>
        <p:nvPicPr>
          <p:cNvPr id="146" name="Picture 145" descr="send-065A82-64.png"/>
          <p:cNvPicPr>
            <a:picLocks noChangeAspect="1"/>
          </p:cNvPicPr>
          <p:nvPr/>
        </p:nvPicPr>
        <p:blipFill>
          <a:blip r:embed="rId4"/>
          <a:stretch>
            <a:fillRect/>
          </a:stretch>
        </p:blipFill>
        <p:spPr>
          <a:xfrm>
            <a:off x="365760" y="5641848"/>
            <a:ext cx="256032" cy="256032"/>
          </a:xfrm>
          <a:prstGeom prst="rect">
            <a:avLst/>
          </a:prstGeom>
        </p:spPr>
      </p:pic>
      <p:pic>
        <p:nvPicPr>
          <p:cNvPr id="147" name="Picture 146" descr="mail-065A82-64.png"/>
          <p:cNvPicPr>
            <a:picLocks noChangeAspect="1"/>
          </p:cNvPicPr>
          <p:nvPr/>
        </p:nvPicPr>
        <p:blipFill>
          <a:blip r:embed="rId5"/>
          <a:stretch>
            <a:fillRect/>
          </a:stretch>
        </p:blipFill>
        <p:spPr>
          <a:xfrm>
            <a:off x="365760" y="6172200"/>
            <a:ext cx="256032" cy="256032"/>
          </a:xfrm>
          <a:prstGeom prst="rect">
            <a:avLst/>
          </a:prstGeom>
        </p:spPr>
      </p:pic>
      <p:pic>
        <p:nvPicPr>
          <p:cNvPr id="148" name="Picture 147" descr="git-branch-FFFFFF-64.png"/>
          <p:cNvPicPr>
            <a:picLocks noChangeAspect="1"/>
          </p:cNvPicPr>
          <p:nvPr/>
        </p:nvPicPr>
        <p:blipFill>
          <a:blip r:embed="rId6"/>
          <a:stretch>
            <a:fillRect/>
          </a:stretch>
        </p:blipFill>
        <p:spPr>
          <a:xfrm>
            <a:off x="4261104" y="2331720"/>
            <a:ext cx="329184" cy="329184"/>
          </a:xfrm>
          <a:prstGeom prst="rect">
            <a:avLst/>
          </a:prstGeom>
        </p:spPr>
      </p:pic>
      <p:pic>
        <p:nvPicPr>
          <p:cNvPr id="149" name="Picture 148" descr="brain-circuit-FFFFFF-64.png"/>
          <p:cNvPicPr>
            <a:picLocks noChangeAspect="1"/>
          </p:cNvPicPr>
          <p:nvPr/>
        </p:nvPicPr>
        <p:blipFill>
          <a:blip r:embed="rId7"/>
          <a:stretch>
            <a:fillRect/>
          </a:stretch>
        </p:blipFill>
        <p:spPr>
          <a:xfrm>
            <a:off x="4261104" y="3858768"/>
            <a:ext cx="329184" cy="329184"/>
          </a:xfrm>
          <a:prstGeom prst="rect">
            <a:avLst/>
          </a:prstGeom>
        </p:spPr>
      </p:pic>
      <p:pic>
        <p:nvPicPr>
          <p:cNvPr id="150" name="Picture 149" descr="shield-check-FFFFFF-64.png"/>
          <p:cNvPicPr>
            <a:picLocks noChangeAspect="1"/>
          </p:cNvPicPr>
          <p:nvPr/>
        </p:nvPicPr>
        <p:blipFill>
          <a:blip r:embed="rId8"/>
          <a:stretch>
            <a:fillRect/>
          </a:stretch>
        </p:blipFill>
        <p:spPr>
          <a:xfrm>
            <a:off x="4197096" y="5193792"/>
            <a:ext cx="274320" cy="274320"/>
          </a:xfrm>
          <a:prstGeom prst="rect">
            <a:avLst/>
          </a:prstGeom>
        </p:spPr>
      </p:pic>
      <p:pic>
        <p:nvPicPr>
          <p:cNvPr id="151" name="Picture 150" descr="pencil-line-21295C-64.png"/>
          <p:cNvPicPr>
            <a:picLocks noChangeAspect="1"/>
          </p:cNvPicPr>
          <p:nvPr/>
        </p:nvPicPr>
        <p:blipFill>
          <a:blip r:embed="rId9"/>
          <a:stretch>
            <a:fillRect/>
          </a:stretch>
        </p:blipFill>
        <p:spPr>
          <a:xfrm>
            <a:off x="8247888" y="5193792"/>
            <a:ext cx="274320" cy="274320"/>
          </a:xfrm>
          <a:prstGeom prst="rect">
            <a:avLst/>
          </a:prstGeom>
        </p:spPr>
      </p:pic>
      <p:sp>
        <p:nvSpPr>
          <p:cNvPr id="152" name="Rounded Rectangle 151"/>
          <p:cNvSpPr/>
          <p:nvPr/>
        </p:nvSpPr>
        <p:spPr>
          <a:xfrm>
            <a:off x="3904487" y="4901184"/>
            <a:ext cx="2444496" cy="1572768"/>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4087368" y="5084064"/>
            <a:ext cx="475488" cy="475488"/>
          </a:xfrm>
          <a:prstGeom prst="roundRect">
            <a:avLst>
              <a:gd name="adj" fmla="val 2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4" name="Picture 153" descr="shield-check-FFFFFF-64.png"/>
          <p:cNvPicPr>
            <a:picLocks noChangeAspect="1"/>
          </p:cNvPicPr>
          <p:nvPr/>
        </p:nvPicPr>
        <p:blipFill>
          <a:blip r:embed="rId8"/>
          <a:stretch>
            <a:fillRect/>
          </a:stretch>
        </p:blipFill>
        <p:spPr>
          <a:xfrm>
            <a:off x="4172955" y="5169651"/>
            <a:ext cx="294802" cy="294802"/>
          </a:xfrm>
          <a:prstGeom prst="rect">
            <a:avLst/>
          </a:prstGeom>
        </p:spPr>
      </p:pic>
      <p:sp>
        <p:nvSpPr>
          <p:cNvPr id="155" name="TextBox 154"/>
          <p:cNvSpPr txBox="1"/>
          <p:nvPr/>
        </p:nvSpPr>
        <p:spPr>
          <a:xfrm>
            <a:off x="4087368" y="5632704"/>
            <a:ext cx="2078736" cy="274320"/>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w4check.io</a:t>
            </a:r>
          </a:p>
        </p:txBody>
      </p:sp>
      <p:sp>
        <p:nvSpPr>
          <p:cNvPr id="156" name="TextBox 155"/>
          <p:cNvSpPr txBox="1"/>
          <p:nvPr/>
        </p:nvSpPr>
        <p:spPr>
          <a:xfrm>
            <a:off x="4087368" y="5925312"/>
            <a:ext cx="2078736" cy="493776"/>
          </a:xfrm>
          <a:prstGeom prst="rect">
            <a:avLst/>
          </a:prstGeom>
          <a:noFill/>
        </p:spPr>
        <p:txBody>
          <a:bodyPr wrap="square" lIns="0" rIns="0" tIns="0" bIns="0" anchor="t">
            <a:spAutoFit/>
          </a:bodyPr>
          <a:lstStyle/>
          <a:p>
            <a:pPr algn="l">
              <a:lnSpc>
                <a:spcPct val="110000"/>
              </a:lnSpc>
            </a:pPr>
            <a:r>
              <a:rPr sz="1050" b="0" i="0">
                <a:solidFill>
                  <a:srgbClr val="6B7685"/>
                </a:solidFill>
                <a:latin typeface="Arial"/>
              </a:rPr>
              <a:t>Reliability checks for crypto counterparties.</a:t>
            </a:r>
          </a:p>
        </p:txBody>
      </p:sp>
      <p:sp>
        <p:nvSpPr>
          <p:cNvPr id="157" name="Rounded Rectangle 156"/>
          <p:cNvSpPr/>
          <p:nvPr/>
        </p:nvSpPr>
        <p:spPr>
          <a:xfrm>
            <a:off x="6586728" y="4901184"/>
            <a:ext cx="2444496" cy="1572768"/>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6769608" y="5084064"/>
            <a:ext cx="475488" cy="475488"/>
          </a:xfrm>
          <a:prstGeom prst="roundRect">
            <a:avLst>
              <a:gd name="adj" fmla="val 2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Picture 158" descr="briefcase-FFFFFF-64.png"/>
          <p:cNvPicPr>
            <a:picLocks noChangeAspect="1"/>
          </p:cNvPicPr>
          <p:nvPr/>
        </p:nvPicPr>
        <p:blipFill>
          <a:blip r:embed="rId10"/>
          <a:stretch>
            <a:fillRect/>
          </a:stretch>
        </p:blipFill>
        <p:spPr>
          <a:xfrm>
            <a:off x="6855195" y="5169651"/>
            <a:ext cx="294802" cy="294802"/>
          </a:xfrm>
          <a:prstGeom prst="rect">
            <a:avLst/>
          </a:prstGeom>
        </p:spPr>
      </p:pic>
      <p:sp>
        <p:nvSpPr>
          <p:cNvPr id="160" name="TextBox 159"/>
          <p:cNvSpPr txBox="1"/>
          <p:nvPr/>
        </p:nvSpPr>
        <p:spPr>
          <a:xfrm>
            <a:off x="6769608" y="5632704"/>
            <a:ext cx="2078736" cy="274320"/>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workain.ai</a:t>
            </a:r>
          </a:p>
        </p:txBody>
      </p:sp>
      <p:sp>
        <p:nvSpPr>
          <p:cNvPr id="161" name="TextBox 160"/>
          <p:cNvSpPr txBox="1"/>
          <p:nvPr/>
        </p:nvSpPr>
        <p:spPr>
          <a:xfrm>
            <a:off x="6769608" y="5925312"/>
            <a:ext cx="2078736" cy="493776"/>
          </a:xfrm>
          <a:prstGeom prst="rect">
            <a:avLst/>
          </a:prstGeom>
          <a:noFill/>
        </p:spPr>
        <p:txBody>
          <a:bodyPr wrap="square" lIns="0" rIns="0" tIns="0" bIns="0" anchor="t">
            <a:spAutoFit/>
          </a:bodyPr>
          <a:lstStyle/>
          <a:p>
            <a:pPr algn="l">
              <a:lnSpc>
                <a:spcPct val="110000"/>
              </a:lnSpc>
            </a:pPr>
            <a:r>
              <a:rPr sz="1050" b="0" i="0">
                <a:solidFill>
                  <a:srgbClr val="6B7685"/>
                </a:solidFill>
                <a:latin typeface="Arial"/>
              </a:rPr>
              <a:t>AI automation of workflows and tasks.</a:t>
            </a:r>
          </a:p>
        </p:txBody>
      </p:sp>
      <p:sp>
        <p:nvSpPr>
          <p:cNvPr id="162" name="Rounded Rectangle 161"/>
          <p:cNvSpPr/>
          <p:nvPr/>
        </p:nvSpPr>
        <p:spPr>
          <a:xfrm>
            <a:off x="9268968" y="4901184"/>
            <a:ext cx="2444496" cy="1572768"/>
          </a:xfrm>
          <a:prstGeom prst="roundRect">
            <a:avLst>
              <a:gd name="adj" fmla="val 19379"/>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9451848" y="5084064"/>
            <a:ext cx="475488" cy="475488"/>
          </a:xfrm>
          <a:prstGeom prst="roundRect">
            <a:avLst>
              <a:gd name="adj" fmla="val 2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4" name="Picture 163" descr="pencil-line-21295C-64.png"/>
          <p:cNvPicPr>
            <a:picLocks noChangeAspect="1"/>
          </p:cNvPicPr>
          <p:nvPr/>
        </p:nvPicPr>
        <p:blipFill>
          <a:blip r:embed="rId9"/>
          <a:stretch>
            <a:fillRect/>
          </a:stretch>
        </p:blipFill>
        <p:spPr>
          <a:xfrm>
            <a:off x="9537435" y="5169651"/>
            <a:ext cx="294802" cy="294802"/>
          </a:xfrm>
          <a:prstGeom prst="rect">
            <a:avLst/>
          </a:prstGeom>
        </p:spPr>
      </p:pic>
      <p:sp>
        <p:nvSpPr>
          <p:cNvPr id="165" name="TextBox 164"/>
          <p:cNvSpPr txBox="1"/>
          <p:nvPr/>
        </p:nvSpPr>
        <p:spPr>
          <a:xfrm>
            <a:off x="9451848" y="5632704"/>
            <a:ext cx="2078736" cy="274320"/>
          </a:xfrm>
          <a:prstGeom prst="rect">
            <a:avLst/>
          </a:prstGeom>
          <a:noFill/>
        </p:spPr>
        <p:txBody>
          <a:bodyPr wrap="square" lIns="0" rIns="0" tIns="0" bIns="0" anchor="t">
            <a:spAutoFit/>
          </a:bodyPr>
          <a:lstStyle/>
          <a:p>
            <a:pPr algn="l">
              <a:lnSpc>
                <a:spcPct val="115000"/>
              </a:lnSpc>
            </a:pPr>
            <a:r>
              <a:rPr sz="1350" b="1" i="0">
                <a:solidFill>
                  <a:srgbClr val="21295C"/>
                </a:solidFill>
                <a:latin typeface="Arial"/>
              </a:rPr>
              <a:t>Blog · tellian.io</a:t>
            </a:r>
          </a:p>
        </p:txBody>
      </p:sp>
      <p:sp>
        <p:nvSpPr>
          <p:cNvPr id="166" name="TextBox 165"/>
          <p:cNvSpPr txBox="1"/>
          <p:nvPr/>
        </p:nvSpPr>
        <p:spPr>
          <a:xfrm>
            <a:off x="9451848" y="5925312"/>
            <a:ext cx="2078736" cy="493776"/>
          </a:xfrm>
          <a:prstGeom prst="rect">
            <a:avLst/>
          </a:prstGeom>
          <a:noFill/>
        </p:spPr>
        <p:txBody>
          <a:bodyPr wrap="square" lIns="0" rIns="0" tIns="0" bIns="0" anchor="t">
            <a:spAutoFit/>
          </a:bodyPr>
          <a:lstStyle/>
          <a:p>
            <a:pPr algn="l">
              <a:lnSpc>
                <a:spcPct val="110000"/>
              </a:lnSpc>
            </a:pPr>
            <a:r>
              <a:rPr sz="1050" b="0" i="0">
                <a:solidFill>
                  <a:srgbClr val="6B7685"/>
                </a:solidFill>
                <a:latin typeface="Arial"/>
              </a:rPr>
              <a:t>Original writing on technology, AI, and software development.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2"/>
          <p:cNvSpPr txBox="1"/>
          <p:nvPr/>
        </p:nvSpPr>
        <p:spPr>
          <a:xfrm>
            <a:off x="502920" y="411480"/>
            <a:ext cx="11247000" cy="40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600" u="none" cap="none" strike="noStrike">
                <a:solidFill>
                  <a:srgbClr val="21295C"/>
                </a:solidFill>
                <a:latin typeface="Arial"/>
                <a:ea typeface="Arial"/>
                <a:cs typeface="Arial"/>
                <a:sym typeface="Arial"/>
              </a:rPr>
              <a:t>17 lectures × 3 modules — from fundamentals to AI by industry</a:t>
            </a:r>
            <a:endParaRPr/>
          </a:p>
        </p:txBody>
      </p:sp>
      <p:sp>
        <p:nvSpPr>
          <p:cNvPr id="152" name="Google Shape;152;p2"/>
          <p:cNvSpPr/>
          <p:nvPr/>
        </p:nvSpPr>
        <p:spPr>
          <a:xfrm>
            <a:off x="502920" y="1691640"/>
            <a:ext cx="3727800" cy="1371600"/>
          </a:xfrm>
          <a:prstGeom prst="roundRect">
            <a:avLst>
              <a:gd fmla="val 8000" name="adj"/>
            </a:avLst>
          </a:prstGeom>
          <a:solidFill>
            <a:srgbClr val="1C729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2"/>
          <p:cNvSpPr txBox="1"/>
          <p:nvPr/>
        </p:nvSpPr>
        <p:spPr>
          <a:xfrm>
            <a:off x="640080" y="1819656"/>
            <a:ext cx="3453300" cy="215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400">
                <a:solidFill>
                  <a:srgbClr val="FFFFFF"/>
                </a:solidFill>
                <a:latin typeface="Arial"/>
                <a:ea typeface="Arial"/>
                <a:cs typeface="Arial"/>
                <a:sym typeface="Arial"/>
              </a:rPr>
              <a:t>Module 1</a:t>
            </a:r>
            <a:endParaRPr b="1" sz="1400">
              <a:solidFill>
                <a:srgbClr val="FFFFFF"/>
              </a:solidFill>
              <a:latin typeface="Arial"/>
              <a:ea typeface="Arial"/>
              <a:cs typeface="Arial"/>
              <a:sym typeface="Arial"/>
            </a:endParaRPr>
          </a:p>
        </p:txBody>
      </p:sp>
      <p:sp>
        <p:nvSpPr>
          <p:cNvPr id="154" name="Google Shape;154;p2"/>
          <p:cNvSpPr txBox="1"/>
          <p:nvPr/>
        </p:nvSpPr>
        <p:spPr>
          <a:xfrm>
            <a:off x="640055" y="2231155"/>
            <a:ext cx="3453300" cy="169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100">
                <a:solidFill>
                  <a:srgbClr val="FFFFFF"/>
                </a:solidFill>
                <a:latin typeface="Arial"/>
                <a:ea typeface="Arial"/>
                <a:cs typeface="Arial"/>
                <a:sym typeface="Arial"/>
              </a:rPr>
              <a:t>Fundamentals and familiar industries</a:t>
            </a:r>
            <a:endParaRPr b="0" sz="1100">
              <a:solidFill>
                <a:srgbClr val="FFFFFF"/>
              </a:solidFill>
              <a:latin typeface="Arial"/>
              <a:ea typeface="Arial"/>
              <a:cs typeface="Arial"/>
              <a:sym typeface="Arial"/>
            </a:endParaRPr>
          </a:p>
        </p:txBody>
      </p:sp>
      <p:sp>
        <p:nvSpPr>
          <p:cNvPr id="155" name="Google Shape;155;p2"/>
          <p:cNvSpPr txBox="1"/>
          <p:nvPr/>
        </p:nvSpPr>
        <p:spPr>
          <a:xfrm>
            <a:off x="640080" y="2752344"/>
            <a:ext cx="3453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1" lang="en-US" sz="1050">
                <a:solidFill>
                  <a:srgbClr val="DDE6EE"/>
                </a:solidFill>
                <a:latin typeface="Arial"/>
                <a:ea typeface="Arial"/>
                <a:cs typeface="Arial"/>
                <a:sym typeface="Arial"/>
              </a:rPr>
              <a:t>Lectures 1–6</a:t>
            </a:r>
            <a:endParaRPr b="0" i="1" sz="1050">
              <a:solidFill>
                <a:srgbClr val="DDE6EE"/>
              </a:solidFill>
              <a:latin typeface="Arial"/>
              <a:ea typeface="Arial"/>
              <a:cs typeface="Arial"/>
              <a:sym typeface="Arial"/>
            </a:endParaRPr>
          </a:p>
        </p:txBody>
      </p:sp>
      <p:sp>
        <p:nvSpPr>
          <p:cNvPr id="156" name="Google Shape;156;p2"/>
          <p:cNvSpPr/>
          <p:nvPr/>
        </p:nvSpPr>
        <p:spPr>
          <a:xfrm>
            <a:off x="4230624" y="1691640"/>
            <a:ext cx="3727800" cy="1371600"/>
          </a:xfrm>
          <a:prstGeom prst="roundRect">
            <a:avLst>
              <a:gd fmla="val 8000" name="adj"/>
            </a:avLst>
          </a:prstGeom>
          <a:solidFill>
            <a:srgbClr val="065A8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2"/>
          <p:cNvSpPr txBox="1"/>
          <p:nvPr/>
        </p:nvSpPr>
        <p:spPr>
          <a:xfrm>
            <a:off x="4367784" y="1819656"/>
            <a:ext cx="3453300" cy="215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400">
                <a:solidFill>
                  <a:srgbClr val="FFFFFF"/>
                </a:solidFill>
                <a:latin typeface="Arial"/>
                <a:ea typeface="Arial"/>
                <a:cs typeface="Arial"/>
                <a:sym typeface="Arial"/>
              </a:rPr>
              <a:t>Module 2</a:t>
            </a:r>
            <a:endParaRPr b="1" sz="1400">
              <a:solidFill>
                <a:srgbClr val="FFFFFF"/>
              </a:solidFill>
              <a:latin typeface="Arial"/>
              <a:ea typeface="Arial"/>
              <a:cs typeface="Arial"/>
              <a:sym typeface="Arial"/>
            </a:endParaRPr>
          </a:p>
        </p:txBody>
      </p:sp>
      <p:sp>
        <p:nvSpPr>
          <p:cNvPr id="158" name="Google Shape;158;p2"/>
          <p:cNvSpPr txBox="1"/>
          <p:nvPr/>
        </p:nvSpPr>
        <p:spPr>
          <a:xfrm>
            <a:off x="4367784" y="2167128"/>
            <a:ext cx="3453300" cy="169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100">
                <a:solidFill>
                  <a:srgbClr val="FFFFFF"/>
                </a:solidFill>
                <a:latin typeface="Arial"/>
                <a:ea typeface="Arial"/>
                <a:cs typeface="Arial"/>
                <a:sym typeface="Arial"/>
              </a:rPr>
              <a:t>High-tech manufacturing</a:t>
            </a:r>
            <a:endParaRPr b="0" sz="1100">
              <a:solidFill>
                <a:srgbClr val="FFFFFF"/>
              </a:solidFill>
              <a:latin typeface="Arial"/>
              <a:ea typeface="Arial"/>
              <a:cs typeface="Arial"/>
              <a:sym typeface="Arial"/>
            </a:endParaRPr>
          </a:p>
        </p:txBody>
      </p:sp>
      <p:sp>
        <p:nvSpPr>
          <p:cNvPr id="159" name="Google Shape;159;p2"/>
          <p:cNvSpPr txBox="1"/>
          <p:nvPr/>
        </p:nvSpPr>
        <p:spPr>
          <a:xfrm>
            <a:off x="4367784" y="2752344"/>
            <a:ext cx="3453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1" lang="en-US" sz="1050">
                <a:solidFill>
                  <a:srgbClr val="DDE6EE"/>
                </a:solidFill>
                <a:latin typeface="Arial"/>
                <a:ea typeface="Arial"/>
                <a:cs typeface="Arial"/>
                <a:sym typeface="Arial"/>
              </a:rPr>
              <a:t>Lectures 7–12</a:t>
            </a:r>
            <a:endParaRPr b="0" i="1" sz="1050">
              <a:solidFill>
                <a:srgbClr val="DDE6EE"/>
              </a:solidFill>
              <a:latin typeface="Arial"/>
              <a:ea typeface="Arial"/>
              <a:cs typeface="Arial"/>
              <a:sym typeface="Arial"/>
            </a:endParaRPr>
          </a:p>
        </p:txBody>
      </p:sp>
      <p:sp>
        <p:nvSpPr>
          <p:cNvPr id="160" name="Google Shape;160;p2"/>
          <p:cNvSpPr/>
          <p:nvPr/>
        </p:nvSpPr>
        <p:spPr>
          <a:xfrm>
            <a:off x="7958328" y="1691640"/>
            <a:ext cx="3727800" cy="1371600"/>
          </a:xfrm>
          <a:prstGeom prst="roundRect">
            <a:avLst>
              <a:gd fmla="val 8000" name="adj"/>
            </a:avLst>
          </a:prstGeom>
          <a:solidFill>
            <a:srgbClr val="21295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2"/>
          <p:cNvSpPr txBox="1"/>
          <p:nvPr/>
        </p:nvSpPr>
        <p:spPr>
          <a:xfrm>
            <a:off x="8095488" y="1819656"/>
            <a:ext cx="3453300" cy="215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400">
                <a:solidFill>
                  <a:srgbClr val="FFFFFF"/>
                </a:solidFill>
                <a:latin typeface="Arial"/>
                <a:ea typeface="Arial"/>
                <a:cs typeface="Arial"/>
                <a:sym typeface="Arial"/>
              </a:rPr>
              <a:t>Module 3</a:t>
            </a:r>
            <a:endParaRPr b="1" sz="1400">
              <a:solidFill>
                <a:srgbClr val="FFFFFF"/>
              </a:solidFill>
              <a:latin typeface="Arial"/>
              <a:ea typeface="Arial"/>
              <a:cs typeface="Arial"/>
              <a:sym typeface="Arial"/>
            </a:endParaRPr>
          </a:p>
        </p:txBody>
      </p:sp>
      <p:sp>
        <p:nvSpPr>
          <p:cNvPr id="162" name="Google Shape;162;p2"/>
          <p:cNvSpPr txBox="1"/>
          <p:nvPr/>
        </p:nvSpPr>
        <p:spPr>
          <a:xfrm>
            <a:off x="8095488" y="2167128"/>
            <a:ext cx="3453300" cy="169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100">
                <a:solidFill>
                  <a:srgbClr val="FFFFFF"/>
                </a:solidFill>
                <a:latin typeface="Arial"/>
                <a:ea typeface="Arial"/>
                <a:cs typeface="Arial"/>
                <a:sym typeface="Arial"/>
              </a:rPr>
              <a:t>ICT, science, extraction, synthesis</a:t>
            </a:r>
            <a:endParaRPr b="0" sz="1100">
              <a:solidFill>
                <a:srgbClr val="FFFFFF"/>
              </a:solidFill>
              <a:latin typeface="Arial"/>
              <a:ea typeface="Arial"/>
              <a:cs typeface="Arial"/>
              <a:sym typeface="Arial"/>
            </a:endParaRPr>
          </a:p>
        </p:txBody>
      </p:sp>
      <p:sp>
        <p:nvSpPr>
          <p:cNvPr id="163" name="Google Shape;163;p2"/>
          <p:cNvSpPr txBox="1"/>
          <p:nvPr/>
        </p:nvSpPr>
        <p:spPr>
          <a:xfrm>
            <a:off x="8095488" y="2752344"/>
            <a:ext cx="3453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1" lang="en-US" sz="1050">
                <a:solidFill>
                  <a:srgbClr val="DDE6EE"/>
                </a:solidFill>
                <a:latin typeface="Arial"/>
                <a:ea typeface="Arial"/>
                <a:cs typeface="Arial"/>
                <a:sym typeface="Arial"/>
              </a:rPr>
              <a:t>Lectures 13–17</a:t>
            </a:r>
            <a:endParaRPr b="0" i="1" sz="1050">
              <a:solidFill>
                <a:srgbClr val="DDE6EE"/>
              </a:solidFill>
              <a:latin typeface="Arial"/>
              <a:ea typeface="Arial"/>
              <a:cs typeface="Arial"/>
              <a:sym typeface="Arial"/>
            </a:endParaRPr>
          </a:p>
        </p:txBody>
      </p:sp>
      <p:sp>
        <p:nvSpPr>
          <p:cNvPr id="164" name="Google Shape;164;p2"/>
          <p:cNvSpPr/>
          <p:nvPr/>
        </p:nvSpPr>
        <p:spPr>
          <a:xfrm>
            <a:off x="3727704" y="3172968"/>
            <a:ext cx="1005900" cy="347400"/>
          </a:xfrm>
          <a:prstGeom prst="roundRect">
            <a:avLst>
              <a:gd fmla="val 39994" name="adj"/>
            </a:avLst>
          </a:prstGeom>
          <a:solidFill>
            <a:srgbClr val="FEF5E0"/>
          </a:solidFill>
          <a:ln cap="flat" cmpd="sng" w="16475">
            <a:solidFill>
              <a:srgbClr val="F0AB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2"/>
          <p:cNvSpPr txBox="1"/>
          <p:nvPr/>
        </p:nvSpPr>
        <p:spPr>
          <a:xfrm>
            <a:off x="3727704" y="3172968"/>
            <a:ext cx="1005900" cy="153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000">
                <a:solidFill>
                  <a:srgbClr val="21295C"/>
                </a:solidFill>
                <a:latin typeface="Arial"/>
                <a:ea typeface="Arial"/>
                <a:cs typeface="Arial"/>
                <a:sym typeface="Arial"/>
              </a:rPr>
              <a:t>MT1 · S6</a:t>
            </a:r>
            <a:endParaRPr b="1" sz="1000">
              <a:solidFill>
                <a:srgbClr val="21295C"/>
              </a:solidFill>
              <a:latin typeface="Arial"/>
              <a:ea typeface="Arial"/>
              <a:cs typeface="Arial"/>
              <a:sym typeface="Arial"/>
            </a:endParaRPr>
          </a:p>
        </p:txBody>
      </p:sp>
      <p:sp>
        <p:nvSpPr>
          <p:cNvPr id="166" name="Google Shape;166;p2"/>
          <p:cNvSpPr/>
          <p:nvPr/>
        </p:nvSpPr>
        <p:spPr>
          <a:xfrm>
            <a:off x="7455408" y="3172968"/>
            <a:ext cx="1005900" cy="347400"/>
          </a:xfrm>
          <a:prstGeom prst="roundRect">
            <a:avLst>
              <a:gd fmla="val 39994" name="adj"/>
            </a:avLst>
          </a:prstGeom>
          <a:solidFill>
            <a:srgbClr val="FEF5E0"/>
          </a:solidFill>
          <a:ln cap="flat" cmpd="sng" w="16475">
            <a:solidFill>
              <a:srgbClr val="F0AB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2"/>
          <p:cNvSpPr txBox="1"/>
          <p:nvPr/>
        </p:nvSpPr>
        <p:spPr>
          <a:xfrm>
            <a:off x="7455408" y="3172968"/>
            <a:ext cx="1005900" cy="153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000">
                <a:solidFill>
                  <a:srgbClr val="21295C"/>
                </a:solidFill>
                <a:latin typeface="Arial"/>
                <a:ea typeface="Arial"/>
                <a:cs typeface="Arial"/>
                <a:sym typeface="Arial"/>
              </a:rPr>
              <a:t>MT2 · S12</a:t>
            </a:r>
            <a:endParaRPr b="1" sz="1000">
              <a:solidFill>
                <a:srgbClr val="21295C"/>
              </a:solidFill>
              <a:latin typeface="Arial"/>
              <a:ea typeface="Arial"/>
              <a:cs typeface="Arial"/>
              <a:sym typeface="Arial"/>
            </a:endParaRPr>
          </a:p>
        </p:txBody>
      </p:sp>
      <p:sp>
        <p:nvSpPr>
          <p:cNvPr id="168" name="Google Shape;168;p2"/>
          <p:cNvSpPr/>
          <p:nvPr/>
        </p:nvSpPr>
        <p:spPr>
          <a:xfrm>
            <a:off x="11183112" y="3172968"/>
            <a:ext cx="1005900" cy="347400"/>
          </a:xfrm>
          <a:prstGeom prst="roundRect">
            <a:avLst>
              <a:gd fmla="val 40000" name="adj"/>
            </a:avLst>
          </a:prstGeom>
          <a:solidFill>
            <a:srgbClr val="FEF5E0"/>
          </a:solidFill>
          <a:ln cap="flat" cmpd="sng" w="16500">
            <a:solidFill>
              <a:srgbClr val="F0A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2"/>
          <p:cNvSpPr txBox="1"/>
          <p:nvPr/>
        </p:nvSpPr>
        <p:spPr>
          <a:xfrm>
            <a:off x="11183112" y="3172968"/>
            <a:ext cx="1005900" cy="1539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000" u="none" cap="none" strike="noStrike">
                <a:solidFill>
                  <a:srgbClr val="21295C"/>
                </a:solidFill>
                <a:latin typeface="Arial"/>
                <a:ea typeface="Arial"/>
                <a:cs typeface="Arial"/>
                <a:sym typeface="Arial"/>
              </a:rPr>
              <a:t>MT3 · S17</a:t>
            </a:r>
            <a:endParaRPr/>
          </a:p>
        </p:txBody>
      </p:sp>
      <p:sp>
        <p:nvSpPr>
          <p:cNvPr id="170" name="Google Shape;170;p2"/>
          <p:cNvSpPr/>
          <p:nvPr/>
        </p:nvSpPr>
        <p:spPr>
          <a:xfrm>
            <a:off x="502920" y="1234440"/>
            <a:ext cx="1326000" cy="329100"/>
          </a:xfrm>
          <a:prstGeom prst="roundRect">
            <a:avLst>
              <a:gd fmla="val 50000" name="adj"/>
            </a:avLst>
          </a:prstGeom>
          <a:solidFill>
            <a:srgbClr val="F0AB00"/>
          </a:solidFill>
          <a:ln>
            <a:noFill/>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200" u="none" cap="none" strike="noStrike">
                <a:solidFill>
                  <a:srgbClr val="21295C"/>
                </a:solidFill>
                <a:latin typeface="Arial"/>
                <a:ea typeface="Arial"/>
                <a:cs typeface="Arial"/>
                <a:sym typeface="Arial"/>
              </a:rPr>
              <a:t>Today</a:t>
            </a:r>
            <a:endParaRPr/>
          </a:p>
        </p:txBody>
      </p:sp>
      <p:pic>
        <p:nvPicPr>
          <p:cNvPr descr="flag-21295C-64.png" id="171" name="Google Shape;171;p2"/>
          <p:cNvPicPr preferRelativeResize="0"/>
          <p:nvPr/>
        </p:nvPicPr>
        <p:blipFill rotWithShape="1">
          <a:blip r:embed="rId3">
            <a:alphaModFix/>
          </a:blip>
          <a:srcRect b="0" l="0" r="0" t="0"/>
          <a:stretch/>
        </p:blipFill>
        <p:spPr>
          <a:xfrm>
            <a:off x="1965960" y="1261872"/>
            <a:ext cx="237744" cy="237744"/>
          </a:xfrm>
          <a:prstGeom prst="rect">
            <a:avLst/>
          </a:prstGeom>
          <a:noFill/>
          <a:ln>
            <a:noFill/>
          </a:ln>
        </p:spPr>
      </p:pic>
      <p:sp>
        <p:nvSpPr>
          <p:cNvPr id="172" name="Google Shape;172;p2"/>
          <p:cNvSpPr/>
          <p:nvPr/>
        </p:nvSpPr>
        <p:spPr>
          <a:xfrm>
            <a:off x="502920" y="3749039"/>
            <a:ext cx="11183100" cy="2148900"/>
          </a:xfrm>
          <a:prstGeom prst="roundRect">
            <a:avLst>
              <a:gd fmla="val 14184" name="adj"/>
            </a:avLst>
          </a:prstGeom>
          <a:solidFill>
            <a:srgbClr val="F4F7FA"/>
          </a:solidFill>
          <a:ln cap="flat" cmpd="sng" w="19050">
            <a:solidFill>
              <a:srgbClr val="028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2"/>
          <p:cNvSpPr txBox="1"/>
          <p:nvPr/>
        </p:nvSpPr>
        <p:spPr>
          <a:xfrm>
            <a:off x="777240" y="3913631"/>
            <a:ext cx="10634400" cy="23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21295C"/>
                </a:solidFill>
                <a:latin typeface="Arial"/>
                <a:ea typeface="Arial"/>
                <a:cs typeface="Arial"/>
                <a:sym typeface="Arial"/>
              </a:rPr>
              <a:t>Cross-cutting themes — in every lecture and seminar</a:t>
            </a:r>
            <a:endParaRPr/>
          </a:p>
        </p:txBody>
      </p:sp>
      <p:pic>
        <p:nvPicPr>
          <p:cNvPr descr="compass-028090-72.png" id="174" name="Google Shape;174;p2"/>
          <p:cNvPicPr preferRelativeResize="0"/>
          <p:nvPr/>
        </p:nvPicPr>
        <p:blipFill rotWithShape="1">
          <a:blip r:embed="rId4">
            <a:alphaModFix/>
          </a:blip>
          <a:srcRect b="0" l="0" r="0" t="0"/>
          <a:stretch/>
        </p:blipFill>
        <p:spPr>
          <a:xfrm>
            <a:off x="777240" y="4434840"/>
            <a:ext cx="384048" cy="384048"/>
          </a:xfrm>
          <a:prstGeom prst="rect">
            <a:avLst/>
          </a:prstGeom>
          <a:noFill/>
          <a:ln>
            <a:noFill/>
          </a:ln>
        </p:spPr>
      </p:pic>
      <p:sp>
        <p:nvSpPr>
          <p:cNvPr id="175" name="Google Shape;175;p2"/>
          <p:cNvSpPr txBox="1"/>
          <p:nvPr/>
        </p:nvSpPr>
        <p:spPr>
          <a:xfrm>
            <a:off x="777240" y="4910327"/>
            <a:ext cx="2521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00" u="none" cap="none" strike="noStrike">
                <a:solidFill>
                  <a:srgbClr val="21295C"/>
                </a:solidFill>
                <a:latin typeface="Arial"/>
                <a:ea typeface="Arial"/>
                <a:cs typeface="Arial"/>
                <a:sym typeface="Arial"/>
              </a:rPr>
              <a:t>Choosing a tool</a:t>
            </a:r>
            <a:endParaRPr/>
          </a:p>
        </p:txBody>
      </p:sp>
      <p:sp>
        <p:nvSpPr>
          <p:cNvPr id="176" name="Google Shape;176;p2"/>
          <p:cNvSpPr txBox="1"/>
          <p:nvPr/>
        </p:nvSpPr>
        <p:spPr>
          <a:xfrm>
            <a:off x="777240" y="5330952"/>
            <a:ext cx="2521500" cy="15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000" u="none" cap="none" strike="noStrike">
                <a:solidFill>
                  <a:srgbClr val="6B7685"/>
                </a:solidFill>
                <a:latin typeface="Arial"/>
                <a:ea typeface="Arial"/>
                <a:cs typeface="Arial"/>
                <a:sym typeface="Arial"/>
              </a:rPr>
              <a:t>not every AI fits every task</a:t>
            </a:r>
            <a:endParaRPr/>
          </a:p>
        </p:txBody>
      </p:sp>
      <p:pic>
        <p:nvPicPr>
          <p:cNvPr descr="alert-triangle-028090-72.png" id="177" name="Google Shape;177;p2"/>
          <p:cNvPicPr preferRelativeResize="0"/>
          <p:nvPr/>
        </p:nvPicPr>
        <p:blipFill rotWithShape="1">
          <a:blip r:embed="rId5">
            <a:alphaModFix/>
          </a:blip>
          <a:srcRect b="0" l="0" r="0" t="0"/>
          <a:stretch/>
        </p:blipFill>
        <p:spPr>
          <a:xfrm>
            <a:off x="3481578" y="4434840"/>
            <a:ext cx="384048" cy="384048"/>
          </a:xfrm>
          <a:prstGeom prst="rect">
            <a:avLst/>
          </a:prstGeom>
          <a:noFill/>
          <a:ln>
            <a:noFill/>
          </a:ln>
        </p:spPr>
      </p:pic>
      <p:sp>
        <p:nvSpPr>
          <p:cNvPr id="178" name="Google Shape;178;p2"/>
          <p:cNvSpPr txBox="1"/>
          <p:nvPr/>
        </p:nvSpPr>
        <p:spPr>
          <a:xfrm>
            <a:off x="3481578" y="4910327"/>
            <a:ext cx="2521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00" u="none" cap="none" strike="noStrike">
                <a:solidFill>
                  <a:srgbClr val="21295C"/>
                </a:solidFill>
                <a:latin typeface="Arial"/>
                <a:ea typeface="Arial"/>
                <a:cs typeface="Arial"/>
                <a:sym typeface="Arial"/>
              </a:rPr>
              <a:t>Common mistakes</a:t>
            </a:r>
            <a:endParaRPr/>
          </a:p>
        </p:txBody>
      </p:sp>
      <p:sp>
        <p:nvSpPr>
          <p:cNvPr id="179" name="Google Shape;179;p2"/>
          <p:cNvSpPr txBox="1"/>
          <p:nvPr/>
        </p:nvSpPr>
        <p:spPr>
          <a:xfrm>
            <a:off x="3481578" y="5330952"/>
            <a:ext cx="2521500" cy="15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000" u="none" cap="none" strike="noStrike">
                <a:solidFill>
                  <a:srgbClr val="6B7685"/>
                </a:solidFill>
                <a:latin typeface="Arial"/>
                <a:ea typeface="Arial"/>
                <a:cs typeface="Arial"/>
                <a:sym typeface="Arial"/>
              </a:rPr>
              <a:t>and how to avoid them</a:t>
            </a:r>
            <a:endParaRPr/>
          </a:p>
        </p:txBody>
      </p:sp>
      <p:pic>
        <p:nvPicPr>
          <p:cNvPr descr="scale-028090-72.png" id="180" name="Google Shape;180;p2"/>
          <p:cNvPicPr preferRelativeResize="0"/>
          <p:nvPr/>
        </p:nvPicPr>
        <p:blipFill rotWithShape="1">
          <a:blip r:embed="rId6">
            <a:alphaModFix/>
          </a:blip>
          <a:srcRect b="0" l="0" r="0" t="0"/>
          <a:stretch/>
        </p:blipFill>
        <p:spPr>
          <a:xfrm>
            <a:off x="6185916" y="4434840"/>
            <a:ext cx="384048" cy="384048"/>
          </a:xfrm>
          <a:prstGeom prst="rect">
            <a:avLst/>
          </a:prstGeom>
          <a:noFill/>
          <a:ln>
            <a:noFill/>
          </a:ln>
        </p:spPr>
      </p:pic>
      <p:sp>
        <p:nvSpPr>
          <p:cNvPr id="181" name="Google Shape;181;p2"/>
          <p:cNvSpPr txBox="1"/>
          <p:nvPr/>
        </p:nvSpPr>
        <p:spPr>
          <a:xfrm>
            <a:off x="6185916" y="4910327"/>
            <a:ext cx="2521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00" u="none" cap="none" strike="noStrike">
                <a:solidFill>
                  <a:srgbClr val="21295C"/>
                </a:solidFill>
                <a:latin typeface="Arial"/>
                <a:ea typeface="Arial"/>
                <a:cs typeface="Arial"/>
                <a:sym typeface="Arial"/>
              </a:rPr>
              <a:t>Human / AI accountability</a:t>
            </a:r>
            <a:endParaRPr/>
          </a:p>
        </p:txBody>
      </p:sp>
      <p:sp>
        <p:nvSpPr>
          <p:cNvPr id="182" name="Google Shape;182;p2"/>
          <p:cNvSpPr txBox="1"/>
          <p:nvPr/>
        </p:nvSpPr>
        <p:spPr>
          <a:xfrm>
            <a:off x="6185916" y="5330952"/>
            <a:ext cx="2521500" cy="15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000" u="none" cap="none" strike="noStrike">
                <a:solidFill>
                  <a:srgbClr val="6B7685"/>
                </a:solidFill>
                <a:latin typeface="Arial"/>
                <a:ea typeface="Arial"/>
                <a:cs typeface="Arial"/>
                <a:sym typeface="Arial"/>
              </a:rPr>
              <a:t>who's responsible for the result</a:t>
            </a:r>
            <a:endParaRPr/>
          </a:p>
        </p:txBody>
      </p:sp>
      <p:pic>
        <p:nvPicPr>
          <p:cNvPr descr="shield-check-028090-72.png" id="183" name="Google Shape;183;p2"/>
          <p:cNvPicPr preferRelativeResize="0"/>
          <p:nvPr/>
        </p:nvPicPr>
        <p:blipFill rotWithShape="1">
          <a:blip r:embed="rId7">
            <a:alphaModFix/>
          </a:blip>
          <a:srcRect b="0" l="0" r="0" t="0"/>
          <a:stretch/>
        </p:blipFill>
        <p:spPr>
          <a:xfrm>
            <a:off x="8890254" y="4434840"/>
            <a:ext cx="384048" cy="384048"/>
          </a:xfrm>
          <a:prstGeom prst="rect">
            <a:avLst/>
          </a:prstGeom>
          <a:noFill/>
          <a:ln>
            <a:noFill/>
          </a:ln>
        </p:spPr>
      </p:pic>
      <p:sp>
        <p:nvSpPr>
          <p:cNvPr id="184" name="Google Shape;184;p2"/>
          <p:cNvSpPr txBox="1"/>
          <p:nvPr/>
        </p:nvSpPr>
        <p:spPr>
          <a:xfrm>
            <a:off x="8890254" y="4910327"/>
            <a:ext cx="2521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00" u="none" cap="none" strike="noStrike">
                <a:solidFill>
                  <a:srgbClr val="21295C"/>
                </a:solidFill>
                <a:latin typeface="Arial"/>
                <a:ea typeface="Arial"/>
                <a:cs typeface="Arial"/>
                <a:sym typeface="Arial"/>
              </a:rPr>
              <a:t>Info security</a:t>
            </a:r>
            <a:endParaRPr/>
          </a:p>
        </p:txBody>
      </p:sp>
      <p:sp>
        <p:nvSpPr>
          <p:cNvPr id="185" name="Google Shape;185;p2"/>
          <p:cNvSpPr txBox="1"/>
          <p:nvPr/>
        </p:nvSpPr>
        <p:spPr>
          <a:xfrm>
            <a:off x="8890254" y="5330952"/>
            <a:ext cx="2521500" cy="153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1000" u="none" cap="none" strike="noStrike">
                <a:solidFill>
                  <a:srgbClr val="6B7685"/>
                </a:solidFill>
                <a:latin typeface="Arial"/>
                <a:ea typeface="Arial"/>
                <a:cs typeface="Arial"/>
                <a:sym typeface="Arial"/>
              </a:rPr>
              <a:t>what can and can't be shared with AI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3"/>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700" u="none" cap="none" strike="noStrike">
                <a:solidFill>
                  <a:srgbClr val="21295C"/>
                </a:solidFill>
                <a:latin typeface="Arial"/>
                <a:ea typeface="Arial"/>
                <a:cs typeface="Arial"/>
                <a:sym typeface="Arial"/>
              </a:rPr>
              <a:t>Midterms — test at home, review in the seminar</a:t>
            </a:r>
            <a:endParaRPr/>
          </a:p>
        </p:txBody>
      </p:sp>
      <p:sp>
        <p:nvSpPr>
          <p:cNvPr id="192" name="Google Shape;192;p3"/>
          <p:cNvSpPr/>
          <p:nvPr/>
        </p:nvSpPr>
        <p:spPr>
          <a:xfrm>
            <a:off x="822960" y="1737360"/>
            <a:ext cx="4206240" cy="2103120"/>
          </a:xfrm>
          <a:prstGeom prst="roundRect">
            <a:avLst>
              <a:gd fmla="val 1449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book-open-065A82-96.png" id="193" name="Google Shape;193;p3"/>
          <p:cNvPicPr preferRelativeResize="0"/>
          <p:nvPr/>
        </p:nvPicPr>
        <p:blipFill rotWithShape="1">
          <a:blip r:embed="rId3">
            <a:alphaModFix/>
          </a:blip>
          <a:srcRect b="0" l="0" r="0" t="0"/>
          <a:stretch/>
        </p:blipFill>
        <p:spPr>
          <a:xfrm>
            <a:off x="1097280" y="2011679"/>
            <a:ext cx="548640" cy="548640"/>
          </a:xfrm>
          <a:prstGeom prst="rect">
            <a:avLst/>
          </a:prstGeom>
          <a:noFill/>
          <a:ln>
            <a:noFill/>
          </a:ln>
        </p:spPr>
      </p:pic>
      <p:sp>
        <p:nvSpPr>
          <p:cNvPr id="194" name="Google Shape;194;p3"/>
          <p:cNvSpPr txBox="1"/>
          <p:nvPr/>
        </p:nvSpPr>
        <p:spPr>
          <a:xfrm>
            <a:off x="1097280" y="2697480"/>
            <a:ext cx="3657599"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21295C"/>
                </a:solidFill>
                <a:latin typeface="Arial"/>
                <a:ea typeface="Arial"/>
                <a:cs typeface="Arial"/>
                <a:sym typeface="Arial"/>
              </a:rPr>
              <a:t>At home</a:t>
            </a:r>
            <a:endParaRPr/>
          </a:p>
        </p:txBody>
      </p:sp>
      <p:sp>
        <p:nvSpPr>
          <p:cNvPr id="195" name="Google Shape;195;p3"/>
          <p:cNvSpPr txBox="1"/>
          <p:nvPr/>
        </p:nvSpPr>
        <p:spPr>
          <a:xfrm>
            <a:off x="1097280" y="3108960"/>
            <a:ext cx="3657599" cy="6400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1" lang="en-US" sz="1250" u="none" cap="none" strike="noStrike">
                <a:solidFill>
                  <a:srgbClr val="6B7685"/>
                </a:solidFill>
                <a:latin typeface="Arial"/>
                <a:ea typeface="Arial"/>
                <a:cs typeface="Arial"/>
                <a:sym typeface="Arial"/>
              </a:rPr>
              <a:t>A test on an AI testing platform</a:t>
            </a:r>
            <a:endParaRPr/>
          </a:p>
        </p:txBody>
      </p:sp>
      <p:sp>
        <p:nvSpPr>
          <p:cNvPr id="196" name="Google Shape;196;p3"/>
          <p:cNvSpPr/>
          <p:nvPr/>
        </p:nvSpPr>
        <p:spPr>
          <a:xfrm>
            <a:off x="5166360" y="2532887"/>
            <a:ext cx="914400" cy="512064"/>
          </a:xfrm>
          <a:prstGeom prst="rightArrow">
            <a:avLst>
              <a:gd fmla="val 50000" name="adj1"/>
              <a:gd fmla="val 50000" name="adj2"/>
            </a:avLst>
          </a:prstGeom>
          <a:solidFill>
            <a:srgbClr val="F0AB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3"/>
          <p:cNvSpPr/>
          <p:nvPr/>
        </p:nvSpPr>
        <p:spPr>
          <a:xfrm>
            <a:off x="6217920" y="1737360"/>
            <a:ext cx="4206240" cy="2103120"/>
          </a:xfrm>
          <a:prstGeom prst="roundRect">
            <a:avLst>
              <a:gd fmla="val 1449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users-028090-96.png" id="198" name="Google Shape;198;p3"/>
          <p:cNvPicPr preferRelativeResize="0"/>
          <p:nvPr/>
        </p:nvPicPr>
        <p:blipFill rotWithShape="1">
          <a:blip r:embed="rId4">
            <a:alphaModFix/>
          </a:blip>
          <a:srcRect b="0" l="0" r="0" t="0"/>
          <a:stretch/>
        </p:blipFill>
        <p:spPr>
          <a:xfrm>
            <a:off x="6492240" y="2011679"/>
            <a:ext cx="548640" cy="548640"/>
          </a:xfrm>
          <a:prstGeom prst="rect">
            <a:avLst/>
          </a:prstGeom>
          <a:noFill/>
          <a:ln>
            <a:noFill/>
          </a:ln>
        </p:spPr>
      </p:pic>
      <p:sp>
        <p:nvSpPr>
          <p:cNvPr id="199" name="Google Shape;199;p3"/>
          <p:cNvSpPr txBox="1"/>
          <p:nvPr/>
        </p:nvSpPr>
        <p:spPr>
          <a:xfrm>
            <a:off x="6492240" y="2697480"/>
            <a:ext cx="3657599"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21295C"/>
                </a:solidFill>
                <a:latin typeface="Arial"/>
                <a:ea typeface="Arial"/>
                <a:cs typeface="Arial"/>
                <a:sym typeface="Arial"/>
              </a:rPr>
              <a:t>In the seminar</a:t>
            </a:r>
            <a:endParaRPr/>
          </a:p>
        </p:txBody>
      </p:sp>
      <p:sp>
        <p:nvSpPr>
          <p:cNvPr id="200" name="Google Shape;200;p3"/>
          <p:cNvSpPr txBox="1"/>
          <p:nvPr/>
        </p:nvSpPr>
        <p:spPr>
          <a:xfrm>
            <a:off x="6492240" y="3108960"/>
            <a:ext cx="3657599" cy="6400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250" u="none" cap="none" strike="noStrike">
                <a:solidFill>
                  <a:srgbClr val="6B7685"/>
                </a:solidFill>
                <a:latin typeface="Arial"/>
                <a:ea typeface="Arial"/>
                <a:cs typeface="Arial"/>
                <a:sym typeface="Arial"/>
              </a:rPr>
              <a:t>Review of results and open questions — not test-taking</a:t>
            </a:r>
            <a:endParaRPr/>
          </a:p>
        </p:txBody>
      </p:sp>
      <p:sp>
        <p:nvSpPr>
          <p:cNvPr id="201" name="Google Shape;201;p3"/>
          <p:cNvSpPr/>
          <p:nvPr/>
        </p:nvSpPr>
        <p:spPr>
          <a:xfrm>
            <a:off x="2666847" y="4206240"/>
            <a:ext cx="2103120" cy="502920"/>
          </a:xfrm>
          <a:prstGeom prst="roundRect">
            <a:avLst>
              <a:gd fmla="val 30000" name="adj"/>
            </a:avLst>
          </a:prstGeom>
          <a:solidFill>
            <a:srgbClr val="FEF5E0"/>
          </a:solidFill>
          <a:ln cap="flat" cmpd="sng" w="16500">
            <a:solidFill>
              <a:srgbClr val="F0A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3"/>
          <p:cNvSpPr txBox="1"/>
          <p:nvPr/>
        </p:nvSpPr>
        <p:spPr>
          <a:xfrm>
            <a:off x="2666947" y="4311915"/>
            <a:ext cx="2103000" cy="2001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Midterm · Seminar </a:t>
            </a:r>
            <a:r>
              <a:rPr b="1" lang="en-US" sz="1300">
                <a:solidFill>
                  <a:srgbClr val="21295C"/>
                </a:solidFill>
              </a:rPr>
              <a:t>6</a:t>
            </a:r>
            <a:endParaRPr/>
          </a:p>
        </p:txBody>
      </p:sp>
      <p:sp>
        <p:nvSpPr>
          <p:cNvPr id="203" name="Google Shape;203;p3"/>
          <p:cNvSpPr/>
          <p:nvPr/>
        </p:nvSpPr>
        <p:spPr>
          <a:xfrm>
            <a:off x="5044287" y="4206240"/>
            <a:ext cx="2103120" cy="502920"/>
          </a:xfrm>
          <a:prstGeom prst="roundRect">
            <a:avLst>
              <a:gd fmla="val 30000" name="adj"/>
            </a:avLst>
          </a:prstGeom>
          <a:solidFill>
            <a:srgbClr val="FEF5E0"/>
          </a:solidFill>
          <a:ln cap="flat" cmpd="sng" w="16500">
            <a:solidFill>
              <a:srgbClr val="F0A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3"/>
          <p:cNvSpPr txBox="1"/>
          <p:nvPr/>
        </p:nvSpPr>
        <p:spPr>
          <a:xfrm>
            <a:off x="5044287" y="4206240"/>
            <a:ext cx="21031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Midterm · Seminar 12</a:t>
            </a:r>
            <a:endParaRPr/>
          </a:p>
        </p:txBody>
      </p:sp>
      <p:sp>
        <p:nvSpPr>
          <p:cNvPr id="205" name="Google Shape;205;p3"/>
          <p:cNvSpPr/>
          <p:nvPr/>
        </p:nvSpPr>
        <p:spPr>
          <a:xfrm>
            <a:off x="7421727" y="4206240"/>
            <a:ext cx="2103120" cy="502920"/>
          </a:xfrm>
          <a:prstGeom prst="roundRect">
            <a:avLst>
              <a:gd fmla="val 30000" name="adj"/>
            </a:avLst>
          </a:prstGeom>
          <a:solidFill>
            <a:srgbClr val="FEF5E0"/>
          </a:solidFill>
          <a:ln cap="flat" cmpd="sng" w="16500">
            <a:solidFill>
              <a:srgbClr val="F0A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3"/>
          <p:cNvSpPr txBox="1"/>
          <p:nvPr/>
        </p:nvSpPr>
        <p:spPr>
          <a:xfrm>
            <a:off x="7421727" y="4206240"/>
            <a:ext cx="2103120" cy="50292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Midterm · Seminar 17</a:t>
            </a:r>
            <a:endParaRPr/>
          </a:p>
        </p:txBody>
      </p:sp>
      <p:sp>
        <p:nvSpPr>
          <p:cNvPr id="207" name="Google Shape;207;p3"/>
          <p:cNvSpPr txBox="1"/>
          <p:nvPr/>
        </p:nvSpPr>
        <p:spPr>
          <a:xfrm>
            <a:off x="822960" y="4983479"/>
            <a:ext cx="10515600" cy="36576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1" lang="en-US" sz="1300" u="none" cap="none" strike="noStrike">
                <a:solidFill>
                  <a:srgbClr val="6B7685"/>
                </a:solidFill>
                <a:latin typeface="Arial"/>
                <a:ea typeface="Arial"/>
                <a:cs typeface="Arial"/>
                <a:sym typeface="Arial"/>
              </a:rPr>
              <a:t>Midterm seminar: not test-taking — reviewing what raised questions</a:t>
            </a:r>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502920" y="411480"/>
            <a:ext cx="11247120" cy="73152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MAX course chat — everything important in one place</a:t>
            </a:r>
          </a:p>
        </p:txBody>
      </p:sp>
      <p:sp>
        <p:nvSpPr>
          <p:cNvPr id="4" name="TextBox 3"/>
          <p:cNvSpPr txBox="1"/>
          <p:nvPr/>
        </p:nvSpPr>
        <p:spPr>
          <a:xfrm>
            <a:off x="502920" y="1188720"/>
            <a:ext cx="11247120" cy="457200"/>
          </a:xfrm>
          <a:prstGeom prst="rect">
            <a:avLst/>
          </a:prstGeom>
          <a:noFill/>
        </p:spPr>
        <p:txBody>
          <a:bodyPr wrap="square" lIns="0" rIns="0" tIns="0" bIns="0" anchor="t">
            <a:spAutoFit/>
          </a:bodyPr>
          <a:lstStyle/>
          <a:p>
            <a:pPr algn="l">
              <a:lnSpc>
                <a:spcPct val="115000"/>
              </a:lnSpc>
            </a:pPr>
            <a:r>
              <a:rPr sz="1700" b="1" i="0">
                <a:solidFill>
                  <a:srgbClr val="028090"/>
                </a:solidFill>
                <a:latin typeface="Arial"/>
              </a:rPr>
              <a:t>Group chat: “Industrial Use of AI 2026”</a:t>
            </a:r>
          </a:p>
        </p:txBody>
      </p:sp>
      <p:sp>
        <p:nvSpPr>
          <p:cNvPr id="5" name="Rounded Rectangle 4"/>
          <p:cNvSpPr/>
          <p:nvPr/>
        </p:nvSpPr>
        <p:spPr>
          <a:xfrm>
            <a:off x="822960" y="1783080"/>
            <a:ext cx="3657600" cy="3977639"/>
          </a:xfrm>
          <a:prstGeom prst="roundRect">
            <a:avLst>
              <a:gd name="adj" fmla="val 8333"/>
            </a:avLst>
          </a:prstGeom>
          <a:solidFill>
            <a:srgbClr val="FFFFFF"/>
          </a:solidFill>
          <a:ln w="2286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04b-max-qr.png"/>
          <p:cNvPicPr>
            <a:picLocks noChangeAspect="1"/>
          </p:cNvPicPr>
          <p:nvPr/>
        </p:nvPicPr>
        <p:blipFill>
          <a:blip r:embed="rId2"/>
          <a:stretch>
            <a:fillRect/>
          </a:stretch>
        </p:blipFill>
        <p:spPr>
          <a:xfrm>
            <a:off x="1485900" y="2039112"/>
            <a:ext cx="2331720" cy="2331720"/>
          </a:xfrm>
          <a:prstGeom prst="rect">
            <a:avLst/>
          </a:prstGeom>
        </p:spPr>
      </p:pic>
      <p:sp>
        <p:nvSpPr>
          <p:cNvPr id="7" name="TextBox 6"/>
          <p:cNvSpPr txBox="1"/>
          <p:nvPr/>
        </p:nvSpPr>
        <p:spPr>
          <a:xfrm>
            <a:off x="1005840" y="4507992"/>
            <a:ext cx="3291840" cy="365760"/>
          </a:xfrm>
          <a:prstGeom prst="rect">
            <a:avLst/>
          </a:prstGeom>
          <a:noFill/>
        </p:spPr>
        <p:txBody>
          <a:bodyPr wrap="square" lIns="0" rIns="0" tIns="0" bIns="0" anchor="t">
            <a:spAutoFit/>
          </a:bodyPr>
          <a:lstStyle/>
          <a:p>
            <a:pPr algn="ctr">
              <a:lnSpc>
                <a:spcPct val="115000"/>
              </a:lnSpc>
            </a:pPr>
            <a:r>
              <a:rPr sz="1400" b="1" i="0">
                <a:solidFill>
                  <a:srgbClr val="21295C"/>
                </a:solidFill>
                <a:latin typeface="Arial"/>
              </a:rPr>
              <a:t>Scan with your phone's camera</a:t>
            </a:r>
          </a:p>
        </p:txBody>
      </p:sp>
      <p:sp>
        <p:nvSpPr>
          <p:cNvPr id="8" name="TextBox 7"/>
          <p:cNvSpPr txBox="1"/>
          <p:nvPr/>
        </p:nvSpPr>
        <p:spPr>
          <a:xfrm>
            <a:off x="960120" y="4928616"/>
            <a:ext cx="3383280" cy="731520"/>
          </a:xfrm>
          <a:prstGeom prst="rect">
            <a:avLst/>
          </a:prstGeom>
          <a:noFill/>
        </p:spPr>
        <p:txBody>
          <a:bodyPr wrap="square" lIns="0" rIns="0" tIns="0" bIns="0" anchor="t">
            <a:spAutoFit/>
          </a:bodyPr>
          <a:lstStyle/>
          <a:p>
            <a:pPr algn="ctr">
              <a:lnSpc>
                <a:spcPct val="112000"/>
              </a:lnSpc>
            </a:pPr>
            <a:r>
              <a:rPr sz="1000" b="0" i="0">
                <a:solidFill>
                  <a:srgbClr val="065A82"/>
                </a:solidFill>
                <a:latin typeface="Arial"/>
              </a:rPr>
              <a:t>max.ru/join/sHoHlhI4jvW_swcq5ZLowvz6G94m0IMhAwngxuxsEpI</a:t>
            </a:r>
          </a:p>
        </p:txBody>
      </p:sp>
      <p:sp>
        <p:nvSpPr>
          <p:cNvPr id="9" name="Rounded Rectangle 8"/>
          <p:cNvSpPr/>
          <p:nvPr/>
        </p:nvSpPr>
        <p:spPr>
          <a:xfrm>
            <a:off x="4937760" y="1783080"/>
            <a:ext cx="6766560"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57216" y="2057400"/>
            <a:ext cx="566928" cy="566928"/>
          </a:xfrm>
          <a:prstGeom prst="roundRect">
            <a:avLst>
              <a:gd name="adj" fmla="val 2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ell-FFFFFF-64.png"/>
          <p:cNvPicPr>
            <a:picLocks noChangeAspect="1"/>
          </p:cNvPicPr>
          <p:nvPr/>
        </p:nvPicPr>
        <p:blipFill>
          <a:blip r:embed="rId3"/>
          <a:stretch>
            <a:fillRect/>
          </a:stretch>
        </p:blipFill>
        <p:spPr>
          <a:xfrm>
            <a:off x="5259263" y="2159447"/>
            <a:ext cx="351495" cy="351495"/>
          </a:xfrm>
          <a:prstGeom prst="rect">
            <a:avLst/>
          </a:prstGeom>
        </p:spPr>
      </p:pic>
      <p:sp>
        <p:nvSpPr>
          <p:cNvPr id="12" name="TextBox 11"/>
          <p:cNvSpPr txBox="1"/>
          <p:nvPr/>
        </p:nvSpPr>
        <p:spPr>
          <a:xfrm>
            <a:off x="5989320" y="2002536"/>
            <a:ext cx="548640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Announcements</a:t>
            </a:r>
          </a:p>
        </p:txBody>
      </p:sp>
      <p:sp>
        <p:nvSpPr>
          <p:cNvPr id="13" name="TextBox 12"/>
          <p:cNvSpPr txBox="1"/>
          <p:nvPr/>
        </p:nvSpPr>
        <p:spPr>
          <a:xfrm>
            <a:off x="5989320" y="2404872"/>
            <a:ext cx="5486400" cy="502920"/>
          </a:xfrm>
          <a:prstGeom prst="rect">
            <a:avLst/>
          </a:prstGeom>
          <a:noFill/>
        </p:spPr>
        <p:txBody>
          <a:bodyPr wrap="square" lIns="0" rIns="0" tIns="0" bIns="0" anchor="t">
            <a:spAutoFit/>
          </a:bodyPr>
          <a:lstStyle/>
          <a:p>
            <a:pPr algn="l">
              <a:lnSpc>
                <a:spcPct val="112000"/>
              </a:lnSpc>
            </a:pPr>
            <a:r>
              <a:rPr sz="1250" b="0" i="0">
                <a:solidFill>
                  <a:srgbClr val="6B7685"/>
                </a:solidFill>
                <a:latin typeface="Arial"/>
              </a:rPr>
              <a:t>Schedule, changes, and important course news — all in one place.</a:t>
            </a:r>
          </a:p>
        </p:txBody>
      </p:sp>
      <p:sp>
        <p:nvSpPr>
          <p:cNvPr id="14" name="Rounded Rectangle 13"/>
          <p:cNvSpPr/>
          <p:nvPr/>
        </p:nvSpPr>
        <p:spPr>
          <a:xfrm>
            <a:off x="4937760" y="3154680"/>
            <a:ext cx="6766560"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57216" y="3429000"/>
            <a:ext cx="566928" cy="566928"/>
          </a:xfrm>
          <a:prstGeom prst="roundRect">
            <a:avLst>
              <a:gd name="adj" fmla="val 2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ook-open-FFFFFF-64.png"/>
          <p:cNvPicPr>
            <a:picLocks noChangeAspect="1"/>
          </p:cNvPicPr>
          <p:nvPr/>
        </p:nvPicPr>
        <p:blipFill>
          <a:blip r:embed="rId4"/>
          <a:stretch>
            <a:fillRect/>
          </a:stretch>
        </p:blipFill>
        <p:spPr>
          <a:xfrm>
            <a:off x="5259263" y="3531047"/>
            <a:ext cx="351495" cy="351495"/>
          </a:xfrm>
          <a:prstGeom prst="rect">
            <a:avLst/>
          </a:prstGeom>
        </p:spPr>
      </p:pic>
      <p:sp>
        <p:nvSpPr>
          <p:cNvPr id="17" name="TextBox 16"/>
          <p:cNvSpPr txBox="1"/>
          <p:nvPr/>
        </p:nvSpPr>
        <p:spPr>
          <a:xfrm>
            <a:off x="5989320" y="3374136"/>
            <a:ext cx="548640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Lecture and seminar materials</a:t>
            </a:r>
          </a:p>
        </p:txBody>
      </p:sp>
      <p:sp>
        <p:nvSpPr>
          <p:cNvPr id="18" name="TextBox 17"/>
          <p:cNvSpPr txBox="1"/>
          <p:nvPr/>
        </p:nvSpPr>
        <p:spPr>
          <a:xfrm>
            <a:off x="5989320" y="3776472"/>
            <a:ext cx="5486400" cy="502920"/>
          </a:xfrm>
          <a:prstGeom prst="rect">
            <a:avLst/>
          </a:prstGeom>
          <a:noFill/>
        </p:spPr>
        <p:txBody>
          <a:bodyPr wrap="square" lIns="0" rIns="0" tIns="0" bIns="0" anchor="t">
            <a:spAutoFit/>
          </a:bodyPr>
          <a:lstStyle/>
          <a:p>
            <a:pPr algn="l">
              <a:lnSpc>
                <a:spcPct val="112000"/>
              </a:lnSpc>
            </a:pPr>
            <a:r>
              <a:rPr sz="1250" b="0" i="0">
                <a:solidFill>
                  <a:srgbClr val="6B7685"/>
                </a:solidFill>
                <a:latin typeface="Arial"/>
              </a:rPr>
              <a:t>Slides and materials appear in the chat as sessions happen.</a:t>
            </a:r>
          </a:p>
        </p:txBody>
      </p:sp>
      <p:sp>
        <p:nvSpPr>
          <p:cNvPr id="19" name="Rounded Rectangle 18"/>
          <p:cNvSpPr/>
          <p:nvPr/>
        </p:nvSpPr>
        <p:spPr>
          <a:xfrm>
            <a:off x="4937760" y="4526280"/>
            <a:ext cx="6766560" cy="1234440"/>
          </a:xfrm>
          <a:prstGeom prst="roundRect">
            <a:avLst>
              <a:gd name="adj" fmla="val 246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57216" y="4800600"/>
            <a:ext cx="566928" cy="566928"/>
          </a:xfrm>
          <a:prstGeom prst="roundRect">
            <a:avLst>
              <a:gd name="adj" fmla="val 2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essage-square-quote-FFFFFF-64.png"/>
          <p:cNvPicPr>
            <a:picLocks noChangeAspect="1"/>
          </p:cNvPicPr>
          <p:nvPr/>
        </p:nvPicPr>
        <p:blipFill>
          <a:blip r:embed="rId5"/>
          <a:stretch>
            <a:fillRect/>
          </a:stretch>
        </p:blipFill>
        <p:spPr>
          <a:xfrm>
            <a:off x="5259263" y="4902647"/>
            <a:ext cx="351495" cy="351495"/>
          </a:xfrm>
          <a:prstGeom prst="rect">
            <a:avLst/>
          </a:prstGeom>
        </p:spPr>
      </p:pic>
      <p:sp>
        <p:nvSpPr>
          <p:cNvPr id="22" name="TextBox 21"/>
          <p:cNvSpPr txBox="1"/>
          <p:nvPr/>
        </p:nvSpPr>
        <p:spPr>
          <a:xfrm>
            <a:off x="5989320" y="4745736"/>
            <a:ext cx="5486400" cy="365760"/>
          </a:xfrm>
          <a:prstGeom prst="rect">
            <a:avLst/>
          </a:prstGeom>
          <a:noFill/>
        </p:spPr>
        <p:txBody>
          <a:bodyPr wrap="square" lIns="0" rIns="0" tIns="0" bIns="0" anchor="t">
            <a:spAutoFit/>
          </a:bodyPr>
          <a:lstStyle/>
          <a:p>
            <a:pPr algn="l">
              <a:lnSpc>
                <a:spcPct val="115000"/>
              </a:lnSpc>
            </a:pPr>
            <a:r>
              <a:rPr sz="1600" b="1" i="0">
                <a:solidFill>
                  <a:srgbClr val="21295C"/>
                </a:solidFill>
                <a:latin typeface="Arial"/>
              </a:rPr>
              <a:t>Questions between sessions</a:t>
            </a:r>
          </a:p>
        </p:txBody>
      </p:sp>
      <p:sp>
        <p:nvSpPr>
          <p:cNvPr id="23" name="TextBox 22"/>
          <p:cNvSpPr txBox="1"/>
          <p:nvPr/>
        </p:nvSpPr>
        <p:spPr>
          <a:xfrm>
            <a:off x="5989320" y="5148072"/>
            <a:ext cx="5486400" cy="502920"/>
          </a:xfrm>
          <a:prstGeom prst="rect">
            <a:avLst/>
          </a:prstGeom>
          <a:noFill/>
        </p:spPr>
        <p:txBody>
          <a:bodyPr wrap="square" lIns="0" rIns="0" tIns="0" bIns="0" anchor="t">
            <a:spAutoFit/>
          </a:bodyPr>
          <a:lstStyle/>
          <a:p>
            <a:pPr algn="l">
              <a:lnSpc>
                <a:spcPct val="112000"/>
              </a:lnSpc>
            </a:pPr>
            <a:r>
              <a:rPr sz="1250" b="0" i="0">
                <a:solidFill>
                  <a:srgbClr val="6B7685"/>
                </a:solidFill>
                <a:latin typeface="Arial"/>
              </a:rPr>
              <a:t>You can ask a course question and get an answer without waiting for class.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4"/>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Warm-up: how do you use AI?</a:t>
            </a:r>
            <a:endParaRPr/>
          </a:p>
        </p:txBody>
      </p:sp>
      <p:sp>
        <p:nvSpPr>
          <p:cNvPr id="219" name="Google Shape;219;p4"/>
          <p:cNvSpPr/>
          <p:nvPr/>
        </p:nvSpPr>
        <p:spPr>
          <a:xfrm>
            <a:off x="502920" y="2514600"/>
            <a:ext cx="5490972" cy="1842516"/>
          </a:xfrm>
          <a:prstGeom prst="roundRect">
            <a:avLst>
              <a:gd fmla="val 1654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parkles-065A82-96.png" id="220" name="Google Shape;220;p4"/>
          <p:cNvPicPr preferRelativeResize="0"/>
          <p:nvPr/>
        </p:nvPicPr>
        <p:blipFill rotWithShape="1">
          <a:blip r:embed="rId5">
            <a:alphaModFix/>
          </a:blip>
          <a:srcRect b="0" l="0" r="0" t="0"/>
          <a:stretch/>
        </p:blipFill>
        <p:spPr>
          <a:xfrm>
            <a:off x="704088" y="2715768"/>
            <a:ext cx="457200" cy="457200"/>
          </a:xfrm>
          <a:prstGeom prst="rect">
            <a:avLst/>
          </a:prstGeom>
          <a:noFill/>
          <a:ln>
            <a:noFill/>
          </a:ln>
        </p:spPr>
      </p:pic>
      <p:sp>
        <p:nvSpPr>
          <p:cNvPr id="222" name="Google Shape;222;p4"/>
          <p:cNvSpPr txBox="1"/>
          <p:nvPr/>
        </p:nvSpPr>
        <p:spPr>
          <a:xfrm>
            <a:off x="704088" y="3282696"/>
            <a:ext cx="5088636"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50" u="none" cap="none" strike="noStrike">
                <a:solidFill>
                  <a:srgbClr val="21295C"/>
                </a:solidFill>
                <a:latin typeface="Arial"/>
                <a:ea typeface="Arial"/>
                <a:cs typeface="Arial"/>
                <a:sym typeface="Arial"/>
              </a:rPr>
              <a:t>Which AI tool do you use most often?</a:t>
            </a:r>
            <a:endParaRPr/>
          </a:p>
        </p:txBody>
      </p:sp>
      <p:sp>
        <p:nvSpPr>
          <p:cNvPr id="223" name="Google Shape;223;p4"/>
          <p:cNvSpPr txBox="1"/>
          <p:nvPr/>
        </p:nvSpPr>
        <p:spPr>
          <a:xfrm>
            <a:off x="704088" y="3607308"/>
            <a:ext cx="5088636"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US" sz="1100" u="none" cap="none" strike="noStrike">
                <a:solidFill>
                  <a:srgbClr val="6B7685"/>
                </a:solidFill>
                <a:latin typeface="Arial"/>
                <a:ea typeface="Arial"/>
                <a:cs typeface="Arial"/>
                <a:sym typeface="Arial"/>
              </a:rPr>
              <a:t>ChatGPT · GigaChat/YandexGPT · Copilot/Claude/DeepSeek · none</a:t>
            </a:r>
            <a:endParaRPr/>
          </a:p>
        </p:txBody>
      </p:sp>
      <p:sp>
        <p:nvSpPr>
          <p:cNvPr id="225" name="Google Shape;225;p4"/>
          <p:cNvSpPr/>
          <p:nvPr/>
        </p:nvSpPr>
        <p:spPr>
          <a:xfrm>
            <a:off x="6195059" y="2514600"/>
            <a:ext cx="5490972" cy="1842516"/>
          </a:xfrm>
          <a:prstGeom prst="roundRect">
            <a:avLst>
              <a:gd fmla="val 1654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clock-065A82-96.png" id="226" name="Google Shape;226;p4"/>
          <p:cNvPicPr preferRelativeResize="0"/>
          <p:nvPr/>
        </p:nvPicPr>
        <p:blipFill rotWithShape="1">
          <a:blip r:embed="rId6">
            <a:alphaModFix/>
          </a:blip>
          <a:srcRect b="0" l="0" r="0" t="0"/>
          <a:stretch/>
        </p:blipFill>
        <p:spPr>
          <a:xfrm>
            <a:off x="6396227" y="2715768"/>
            <a:ext cx="457200" cy="457200"/>
          </a:xfrm>
          <a:prstGeom prst="rect">
            <a:avLst/>
          </a:prstGeom>
          <a:noFill/>
          <a:ln>
            <a:noFill/>
          </a:ln>
        </p:spPr>
      </p:pic>
      <p:sp>
        <p:nvSpPr>
          <p:cNvPr id="228" name="Google Shape;228;p4"/>
          <p:cNvSpPr txBox="1"/>
          <p:nvPr/>
        </p:nvSpPr>
        <p:spPr>
          <a:xfrm>
            <a:off x="6396227" y="3282696"/>
            <a:ext cx="5088636"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50" u="none" cap="none" strike="noStrike">
                <a:solidFill>
                  <a:srgbClr val="21295C"/>
                </a:solidFill>
                <a:latin typeface="Arial"/>
                <a:ea typeface="Arial"/>
                <a:cs typeface="Arial"/>
                <a:sym typeface="Arial"/>
              </a:rPr>
              <a:t>How often do you use AI?</a:t>
            </a:r>
            <a:endParaRPr/>
          </a:p>
        </p:txBody>
      </p:sp>
      <p:sp>
        <p:nvSpPr>
          <p:cNvPr id="229" name="Google Shape;229;p4"/>
          <p:cNvSpPr txBox="1"/>
          <p:nvPr/>
        </p:nvSpPr>
        <p:spPr>
          <a:xfrm>
            <a:off x="6396227" y="3607308"/>
            <a:ext cx="5088636"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US" sz="1100" u="none" cap="none" strike="noStrike">
                <a:solidFill>
                  <a:srgbClr val="6B7685"/>
                </a:solidFill>
                <a:latin typeface="Arial"/>
                <a:ea typeface="Arial"/>
                <a:cs typeface="Arial"/>
                <a:sym typeface="Arial"/>
              </a:rPr>
              <a:t>every day → weekly → monthly → less often → never</a:t>
            </a:r>
            <a:endParaRPr/>
          </a:p>
        </p:txBody>
      </p:sp>
      <p:sp>
        <p:nvSpPr>
          <p:cNvPr id="231" name="Google Shape;231;p4"/>
          <p:cNvSpPr/>
          <p:nvPr/>
        </p:nvSpPr>
        <p:spPr>
          <a:xfrm>
            <a:off x="502920" y="4558284"/>
            <a:ext cx="5490972" cy="1842516"/>
          </a:xfrm>
          <a:prstGeom prst="roundRect">
            <a:avLst>
              <a:gd fmla="val 1654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cale-065A82-96.png" id="232" name="Google Shape;232;p4"/>
          <p:cNvPicPr preferRelativeResize="0"/>
          <p:nvPr/>
        </p:nvPicPr>
        <p:blipFill rotWithShape="1">
          <a:blip r:embed="rId7">
            <a:alphaModFix/>
          </a:blip>
          <a:srcRect b="0" l="0" r="0" t="0"/>
          <a:stretch/>
        </p:blipFill>
        <p:spPr>
          <a:xfrm>
            <a:off x="704088" y="4759452"/>
            <a:ext cx="457200" cy="457200"/>
          </a:xfrm>
          <a:prstGeom prst="rect">
            <a:avLst/>
          </a:prstGeom>
          <a:noFill/>
          <a:ln>
            <a:noFill/>
          </a:ln>
        </p:spPr>
      </p:pic>
      <p:sp>
        <p:nvSpPr>
          <p:cNvPr id="234" name="Google Shape;234;p4"/>
          <p:cNvSpPr txBox="1"/>
          <p:nvPr/>
        </p:nvSpPr>
        <p:spPr>
          <a:xfrm>
            <a:off x="704088" y="5326380"/>
            <a:ext cx="5088636"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50" u="none" cap="none" strike="noStrike">
                <a:solidFill>
                  <a:srgbClr val="21295C"/>
                </a:solidFill>
                <a:latin typeface="Arial"/>
                <a:ea typeface="Arial"/>
                <a:cs typeface="Arial"/>
                <a:sym typeface="Arial"/>
              </a:rPr>
              <a:t>How much do you trust AI's accuracy?</a:t>
            </a:r>
            <a:endParaRPr/>
          </a:p>
        </p:txBody>
      </p:sp>
      <p:sp>
        <p:nvSpPr>
          <p:cNvPr id="235" name="Google Shape;235;p4"/>
          <p:cNvSpPr txBox="1"/>
          <p:nvPr/>
        </p:nvSpPr>
        <p:spPr>
          <a:xfrm>
            <a:off x="704088" y="5650992"/>
            <a:ext cx="5088636"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US" sz="1100" u="none" cap="none" strike="noStrike">
                <a:solidFill>
                  <a:srgbClr val="6B7685"/>
                </a:solidFill>
                <a:latin typeface="Arial"/>
                <a:ea typeface="Arial"/>
                <a:cs typeface="Arial"/>
                <a:sym typeface="Arial"/>
              </a:rPr>
              <a:t>a scale from 1 to 5</a:t>
            </a:r>
            <a:endParaRPr/>
          </a:p>
        </p:txBody>
      </p:sp>
      <p:sp>
        <p:nvSpPr>
          <p:cNvPr id="237" name="Google Shape;237;p4"/>
          <p:cNvSpPr/>
          <p:nvPr/>
        </p:nvSpPr>
        <p:spPr>
          <a:xfrm>
            <a:off x="6195059" y="4558284"/>
            <a:ext cx="5490972" cy="1842516"/>
          </a:xfrm>
          <a:prstGeom prst="roundRect">
            <a:avLst>
              <a:gd fmla="val 1654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alert-triangle-065A82-96.png" id="238" name="Google Shape;238;p4"/>
          <p:cNvPicPr preferRelativeResize="0"/>
          <p:nvPr/>
        </p:nvPicPr>
        <p:blipFill rotWithShape="1">
          <a:blip r:embed="rId8">
            <a:alphaModFix/>
          </a:blip>
          <a:srcRect b="0" l="0" r="0" t="0"/>
          <a:stretch/>
        </p:blipFill>
        <p:spPr>
          <a:xfrm>
            <a:off x="6396227" y="4759452"/>
            <a:ext cx="457200" cy="457200"/>
          </a:xfrm>
          <a:prstGeom prst="rect">
            <a:avLst/>
          </a:prstGeom>
          <a:noFill/>
          <a:ln>
            <a:noFill/>
          </a:ln>
        </p:spPr>
      </p:pic>
      <p:sp>
        <p:nvSpPr>
          <p:cNvPr id="240" name="Google Shape;240;p4"/>
          <p:cNvSpPr txBox="1"/>
          <p:nvPr/>
        </p:nvSpPr>
        <p:spPr>
          <a:xfrm>
            <a:off x="6396227" y="5326380"/>
            <a:ext cx="5088636"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50" u="none" cap="none" strike="noStrike">
                <a:solidFill>
                  <a:srgbClr val="21295C"/>
                </a:solidFill>
                <a:latin typeface="Arial"/>
                <a:ea typeface="Arial"/>
                <a:cs typeface="Arial"/>
                <a:sym typeface="Arial"/>
              </a:rPr>
              <a:t>Has AI ever clearly let you down?</a:t>
            </a:r>
            <a:endParaRPr/>
          </a:p>
        </p:txBody>
      </p:sp>
      <p:sp>
        <p:nvSpPr>
          <p:cNvPr id="241" name="Google Shape;241;p4"/>
          <p:cNvSpPr txBox="1"/>
          <p:nvPr/>
        </p:nvSpPr>
        <p:spPr>
          <a:xfrm>
            <a:off x="6396227" y="5650992"/>
            <a:ext cx="5088636" cy="5486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US" sz="1100" u="none" cap="none" strike="noStrike">
                <a:solidFill>
                  <a:srgbClr val="6B7685"/>
                </a:solidFill>
                <a:latin typeface="Arial"/>
                <a:ea typeface="Arial"/>
                <a:cs typeface="Arial"/>
                <a:sym typeface="Arial"/>
              </a:rPr>
              <a:t>yes · no · not sure</a:t>
            </a:r>
            <a:endParaRPr/>
          </a:p>
        </p:txBody>
      </p:sp>
      <p:sp>
        <p:nvSpPr>
          <p:cNvPr id="242" name="TextBox 241"/>
          <p:cNvSpPr txBox="1"/>
          <p:nvPr/>
        </p:nvSpPr>
        <p:spPr>
          <a:xfrm>
            <a:off x="502920" y="1325880"/>
            <a:ext cx="11183112" cy="502920"/>
          </a:xfrm>
          <a:prstGeom prst="rect">
            <a:avLst/>
          </a:prstGeom>
          <a:noFill/>
        </p:spPr>
        <p:txBody>
          <a:bodyPr wrap="square" lIns="0" rIns="0" tIns="0" bIns="0" anchor="t">
            <a:spAutoFit/>
          </a:bodyPr>
          <a:lstStyle/>
          <a:p>
            <a:pPr algn="l">
              <a:lnSpc>
                <a:spcPct val="115000"/>
              </a:lnSpc>
            </a:pPr>
            <a:r>
              <a:rPr sz="1500" b="0" i="0">
                <a:solidFill>
                  <a:srgbClr val="6B7685"/>
                </a:solidFill>
                <a:latin typeface="Arial"/>
              </a:rPr>
              <a:t>We answer out loud and discuss — no camera, no counting. We'll compare your answers with outside statistics in the next block.</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TextBox 247"/>
          <p:cNvSpPr txBox="1"/>
          <p:nvPr/>
        </p:nvSpPr>
        <p:spPr>
          <a:xfrm>
            <a:off x="502920" y="411480"/>
            <a:ext cx="11247120" cy="8686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Used more, trusted less — and that's not a paradox</a:t>
            </a:r>
          </a:p>
        </p:txBody>
      </p:sp>
      <p:sp>
        <p:nvSpPr>
          <p:cNvPr id="249" name="Rounded Rectangle 248"/>
          <p:cNvSpPr/>
          <p:nvPr/>
        </p:nvSpPr>
        <p:spPr>
          <a:xfrm>
            <a:off x="502920" y="1481328"/>
            <a:ext cx="3538728"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758952" y="1682496"/>
            <a:ext cx="3081528" cy="27432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USAGE</a:t>
            </a:r>
          </a:p>
        </p:txBody>
      </p:sp>
      <p:sp>
        <p:nvSpPr>
          <p:cNvPr id="251" name="TextBox 250"/>
          <p:cNvSpPr txBox="1"/>
          <p:nvPr/>
        </p:nvSpPr>
        <p:spPr>
          <a:xfrm>
            <a:off x="722376" y="2011680"/>
            <a:ext cx="3172968" cy="914400"/>
          </a:xfrm>
          <a:prstGeom prst="rect">
            <a:avLst/>
          </a:prstGeom>
          <a:noFill/>
        </p:spPr>
        <p:txBody>
          <a:bodyPr wrap="square" lIns="0" rIns="0" tIns="0" bIns="0" anchor="t">
            <a:spAutoFit/>
          </a:bodyPr>
          <a:lstStyle/>
          <a:p>
            <a:pPr algn="l">
              <a:lnSpc>
                <a:spcPct val="115000"/>
              </a:lnSpc>
            </a:pPr>
            <a:r>
              <a:rPr sz="6600" b="1" i="0">
                <a:solidFill>
                  <a:srgbClr val="065A82"/>
                </a:solidFill>
                <a:latin typeface="Arial"/>
              </a:rPr>
              <a:t>84%</a:t>
            </a:r>
          </a:p>
        </p:txBody>
      </p:sp>
      <p:sp>
        <p:nvSpPr>
          <p:cNvPr id="252" name="TextBox 251"/>
          <p:cNvSpPr txBox="1"/>
          <p:nvPr/>
        </p:nvSpPr>
        <p:spPr>
          <a:xfrm>
            <a:off x="758952" y="3154680"/>
            <a:ext cx="3081528" cy="640080"/>
          </a:xfrm>
          <a:prstGeom prst="rect">
            <a:avLst/>
          </a:prstGeom>
          <a:noFill/>
        </p:spPr>
        <p:txBody>
          <a:bodyPr wrap="square" lIns="0" rIns="0" tIns="0" bIns="0" anchor="t">
            <a:spAutoFit/>
          </a:bodyPr>
          <a:lstStyle/>
          <a:p>
            <a:pPr algn="l">
              <a:lnSpc>
                <a:spcPct val="110000"/>
              </a:lnSpc>
            </a:pPr>
            <a:r>
              <a:rPr sz="1300" b="0" i="0">
                <a:solidFill>
                  <a:srgbClr val="21295C"/>
                </a:solidFill>
                <a:latin typeface="Arial"/>
              </a:rPr>
              <a:t>use or plan to use AI tools</a:t>
            </a:r>
          </a:p>
        </p:txBody>
      </p:sp>
      <p:sp>
        <p:nvSpPr>
          <p:cNvPr id="253" name="TextBox 252"/>
          <p:cNvSpPr txBox="1"/>
          <p:nvPr/>
        </p:nvSpPr>
        <p:spPr>
          <a:xfrm>
            <a:off x="758952" y="4160520"/>
            <a:ext cx="3081528" cy="457200"/>
          </a:xfrm>
          <a:prstGeom prst="rect">
            <a:avLst/>
          </a:prstGeom>
          <a:noFill/>
        </p:spPr>
        <p:txBody>
          <a:bodyPr wrap="square" lIns="0" rIns="0" tIns="0" bIns="0" anchor="t">
            <a:spAutoFit/>
          </a:bodyPr>
          <a:lstStyle/>
          <a:p>
            <a:pPr algn="l">
              <a:lnSpc>
                <a:spcPct val="115000"/>
              </a:lnSpc>
            </a:pPr>
            <a:r>
              <a:rPr sz="1200" b="1" i="0">
                <a:solidFill>
                  <a:srgbClr val="6B7685"/>
                </a:solidFill>
                <a:latin typeface="Arial"/>
              </a:rPr>
              <a:t>2024 → 2025:  76% → 84%  (+8 pp)</a:t>
            </a:r>
          </a:p>
        </p:txBody>
      </p:sp>
      <p:sp>
        <p:nvSpPr>
          <p:cNvPr id="254" name="Rounded Rectangle 253"/>
          <p:cNvSpPr/>
          <p:nvPr/>
        </p:nvSpPr>
        <p:spPr>
          <a:xfrm>
            <a:off x="4315968" y="1481328"/>
            <a:ext cx="3538728"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4572000" y="1682496"/>
            <a:ext cx="3081528" cy="27432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WHAT THEY USE MOST</a:t>
            </a:r>
          </a:p>
        </p:txBody>
      </p:sp>
      <p:sp>
        <p:nvSpPr>
          <p:cNvPr id="256" name="TextBox 255"/>
          <p:cNvSpPr txBox="1"/>
          <p:nvPr/>
        </p:nvSpPr>
        <p:spPr>
          <a:xfrm>
            <a:off x="4572000" y="2084831"/>
            <a:ext cx="2203704" cy="256032"/>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ChatGPT</a:t>
            </a:r>
          </a:p>
        </p:txBody>
      </p:sp>
      <p:sp>
        <p:nvSpPr>
          <p:cNvPr id="257" name="TextBox 256"/>
          <p:cNvSpPr txBox="1"/>
          <p:nvPr/>
        </p:nvSpPr>
        <p:spPr>
          <a:xfrm>
            <a:off x="6775704" y="2084831"/>
            <a:ext cx="822960" cy="256032"/>
          </a:xfrm>
          <a:prstGeom prst="rect">
            <a:avLst/>
          </a:prstGeom>
          <a:noFill/>
        </p:spPr>
        <p:txBody>
          <a:bodyPr wrap="square" lIns="0" rIns="0" tIns="0" bIns="0" anchor="t">
            <a:spAutoFit/>
          </a:bodyPr>
          <a:lstStyle/>
          <a:p>
            <a:pPr algn="r">
              <a:lnSpc>
                <a:spcPct val="115000"/>
              </a:lnSpc>
            </a:pPr>
            <a:r>
              <a:rPr sz="1250" b="1" i="0">
                <a:solidFill>
                  <a:srgbClr val="065A82"/>
                </a:solidFill>
                <a:latin typeface="Arial"/>
              </a:rPr>
              <a:t>82%</a:t>
            </a:r>
          </a:p>
        </p:txBody>
      </p:sp>
      <p:sp>
        <p:nvSpPr>
          <p:cNvPr id="258" name="Rounded Rectangle 257"/>
          <p:cNvSpPr/>
          <p:nvPr/>
        </p:nvSpPr>
        <p:spPr>
          <a:xfrm>
            <a:off x="4572000" y="2359151"/>
            <a:ext cx="3026664" cy="118872"/>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ounded Rectangle 258"/>
          <p:cNvSpPr/>
          <p:nvPr/>
        </p:nvSpPr>
        <p:spPr>
          <a:xfrm>
            <a:off x="4572000" y="2359151"/>
            <a:ext cx="2481864" cy="11887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4572000" y="2660903"/>
            <a:ext cx="2203704" cy="256032"/>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GitHub Copilot</a:t>
            </a:r>
          </a:p>
        </p:txBody>
      </p:sp>
      <p:sp>
        <p:nvSpPr>
          <p:cNvPr id="261" name="TextBox 260"/>
          <p:cNvSpPr txBox="1"/>
          <p:nvPr/>
        </p:nvSpPr>
        <p:spPr>
          <a:xfrm>
            <a:off x="6775704" y="2660903"/>
            <a:ext cx="822960" cy="256032"/>
          </a:xfrm>
          <a:prstGeom prst="rect">
            <a:avLst/>
          </a:prstGeom>
          <a:noFill/>
        </p:spPr>
        <p:txBody>
          <a:bodyPr wrap="square" lIns="0" rIns="0" tIns="0" bIns="0" anchor="t">
            <a:spAutoFit/>
          </a:bodyPr>
          <a:lstStyle/>
          <a:p>
            <a:pPr algn="r">
              <a:lnSpc>
                <a:spcPct val="115000"/>
              </a:lnSpc>
            </a:pPr>
            <a:r>
              <a:rPr sz="1250" b="1" i="0">
                <a:solidFill>
                  <a:srgbClr val="065A82"/>
                </a:solidFill>
                <a:latin typeface="Arial"/>
              </a:rPr>
              <a:t>68%</a:t>
            </a:r>
          </a:p>
        </p:txBody>
      </p:sp>
      <p:sp>
        <p:nvSpPr>
          <p:cNvPr id="262" name="Rounded Rectangle 261"/>
          <p:cNvSpPr/>
          <p:nvPr/>
        </p:nvSpPr>
        <p:spPr>
          <a:xfrm>
            <a:off x="4572000" y="2935223"/>
            <a:ext cx="3026664" cy="118872"/>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ounded Rectangle 262"/>
          <p:cNvSpPr/>
          <p:nvPr/>
        </p:nvSpPr>
        <p:spPr>
          <a:xfrm>
            <a:off x="4572000" y="2935223"/>
            <a:ext cx="2058131" cy="11887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4572000" y="3236975"/>
            <a:ext cx="2203704" cy="256032"/>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Gemini</a:t>
            </a:r>
          </a:p>
        </p:txBody>
      </p:sp>
      <p:sp>
        <p:nvSpPr>
          <p:cNvPr id="265" name="TextBox 264"/>
          <p:cNvSpPr txBox="1"/>
          <p:nvPr/>
        </p:nvSpPr>
        <p:spPr>
          <a:xfrm>
            <a:off x="6775704" y="3236975"/>
            <a:ext cx="822960" cy="256032"/>
          </a:xfrm>
          <a:prstGeom prst="rect">
            <a:avLst/>
          </a:prstGeom>
          <a:noFill/>
        </p:spPr>
        <p:txBody>
          <a:bodyPr wrap="square" lIns="0" rIns="0" tIns="0" bIns="0" anchor="t">
            <a:spAutoFit/>
          </a:bodyPr>
          <a:lstStyle/>
          <a:p>
            <a:pPr algn="r">
              <a:lnSpc>
                <a:spcPct val="115000"/>
              </a:lnSpc>
            </a:pPr>
            <a:r>
              <a:rPr sz="1250" b="1" i="0">
                <a:solidFill>
                  <a:srgbClr val="065A82"/>
                </a:solidFill>
                <a:latin typeface="Arial"/>
              </a:rPr>
              <a:t>47%</a:t>
            </a:r>
          </a:p>
        </p:txBody>
      </p:sp>
      <p:sp>
        <p:nvSpPr>
          <p:cNvPr id="266" name="Rounded Rectangle 265"/>
          <p:cNvSpPr/>
          <p:nvPr/>
        </p:nvSpPr>
        <p:spPr>
          <a:xfrm>
            <a:off x="4572000" y="3511295"/>
            <a:ext cx="3026664" cy="118872"/>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ounded Rectangle 266"/>
          <p:cNvSpPr/>
          <p:nvPr/>
        </p:nvSpPr>
        <p:spPr>
          <a:xfrm>
            <a:off x="4572000" y="3511295"/>
            <a:ext cx="1422532" cy="11887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4572000" y="3813048"/>
            <a:ext cx="2203704" cy="256032"/>
          </a:xfrm>
          <a:prstGeom prst="rect">
            <a:avLst/>
          </a:prstGeom>
          <a:noFill/>
        </p:spPr>
        <p:txBody>
          <a:bodyPr wrap="square" lIns="0" rIns="0" tIns="0" bIns="0" anchor="t">
            <a:spAutoFit/>
          </a:bodyPr>
          <a:lstStyle/>
          <a:p>
            <a:pPr algn="l">
              <a:lnSpc>
                <a:spcPct val="115000"/>
              </a:lnSpc>
            </a:pPr>
            <a:r>
              <a:rPr sz="1250" b="1" i="0">
                <a:solidFill>
                  <a:srgbClr val="21295C"/>
                </a:solidFill>
                <a:latin typeface="Arial"/>
              </a:rPr>
              <a:t>Claude</a:t>
            </a:r>
          </a:p>
        </p:txBody>
      </p:sp>
      <p:sp>
        <p:nvSpPr>
          <p:cNvPr id="269" name="TextBox 268"/>
          <p:cNvSpPr txBox="1"/>
          <p:nvPr/>
        </p:nvSpPr>
        <p:spPr>
          <a:xfrm>
            <a:off x="6775704" y="3813048"/>
            <a:ext cx="822960" cy="256032"/>
          </a:xfrm>
          <a:prstGeom prst="rect">
            <a:avLst/>
          </a:prstGeom>
          <a:noFill/>
        </p:spPr>
        <p:txBody>
          <a:bodyPr wrap="square" lIns="0" rIns="0" tIns="0" bIns="0" anchor="t">
            <a:spAutoFit/>
          </a:bodyPr>
          <a:lstStyle/>
          <a:p>
            <a:pPr algn="r">
              <a:lnSpc>
                <a:spcPct val="115000"/>
              </a:lnSpc>
            </a:pPr>
            <a:r>
              <a:rPr sz="1250" b="1" i="0">
                <a:solidFill>
                  <a:srgbClr val="065A82"/>
                </a:solidFill>
                <a:latin typeface="Arial"/>
              </a:rPr>
              <a:t>41%</a:t>
            </a:r>
          </a:p>
        </p:txBody>
      </p:sp>
      <p:sp>
        <p:nvSpPr>
          <p:cNvPr id="270" name="Rounded Rectangle 269"/>
          <p:cNvSpPr/>
          <p:nvPr/>
        </p:nvSpPr>
        <p:spPr>
          <a:xfrm>
            <a:off x="4572000" y="4087368"/>
            <a:ext cx="3026664" cy="118872"/>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ounded Rectangle 270"/>
          <p:cNvSpPr/>
          <p:nvPr/>
        </p:nvSpPr>
        <p:spPr>
          <a:xfrm>
            <a:off x="4572000" y="4087368"/>
            <a:ext cx="1240932" cy="11887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4572000" y="4407407"/>
            <a:ext cx="3026664" cy="36576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 among those who use AI</a:t>
            </a:r>
          </a:p>
        </p:txBody>
      </p:sp>
      <p:sp>
        <p:nvSpPr>
          <p:cNvPr id="273" name="Rounded Rectangle 272"/>
          <p:cNvSpPr/>
          <p:nvPr/>
        </p:nvSpPr>
        <p:spPr>
          <a:xfrm>
            <a:off x="8129016" y="1481328"/>
            <a:ext cx="3538728" cy="3246120"/>
          </a:xfrm>
          <a:prstGeom prst="roundRect">
            <a:avLst>
              <a:gd name="adj" fmla="val 93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8385048" y="1682496"/>
            <a:ext cx="3081528" cy="274320"/>
          </a:xfrm>
          <a:prstGeom prst="rect">
            <a:avLst/>
          </a:prstGeom>
          <a:noFill/>
        </p:spPr>
        <p:txBody>
          <a:bodyPr wrap="square" lIns="0" rIns="0" tIns="0" bIns="0" anchor="t">
            <a:spAutoFit/>
          </a:bodyPr>
          <a:lstStyle/>
          <a:p>
            <a:pPr algn="l">
              <a:lnSpc>
                <a:spcPct val="115000"/>
              </a:lnSpc>
            </a:pPr>
            <a:r>
              <a:rPr sz="1250" b="1" i="0">
                <a:solidFill>
                  <a:srgbClr val="028090"/>
                </a:solidFill>
                <a:latin typeface="Arial"/>
              </a:rPr>
              <a:t>TRUST</a:t>
            </a:r>
          </a:p>
        </p:txBody>
      </p:sp>
      <p:sp>
        <p:nvSpPr>
          <p:cNvPr id="275" name="TextBox 274"/>
          <p:cNvSpPr txBox="1"/>
          <p:nvPr/>
        </p:nvSpPr>
        <p:spPr>
          <a:xfrm>
            <a:off x="8348472" y="2011680"/>
            <a:ext cx="3172968" cy="914400"/>
          </a:xfrm>
          <a:prstGeom prst="rect">
            <a:avLst/>
          </a:prstGeom>
          <a:noFill/>
        </p:spPr>
        <p:txBody>
          <a:bodyPr wrap="square" lIns="0" rIns="0" tIns="0" bIns="0" anchor="t">
            <a:spAutoFit/>
          </a:bodyPr>
          <a:lstStyle/>
          <a:p>
            <a:pPr algn="l">
              <a:lnSpc>
                <a:spcPct val="115000"/>
              </a:lnSpc>
            </a:pPr>
            <a:r>
              <a:rPr sz="6600" b="1" i="0">
                <a:solidFill>
                  <a:srgbClr val="F0AB00"/>
                </a:solidFill>
                <a:latin typeface="Arial"/>
              </a:rPr>
              <a:t>29%</a:t>
            </a:r>
          </a:p>
        </p:txBody>
      </p:sp>
      <p:sp>
        <p:nvSpPr>
          <p:cNvPr id="276" name="TextBox 275"/>
          <p:cNvSpPr txBox="1"/>
          <p:nvPr/>
        </p:nvSpPr>
        <p:spPr>
          <a:xfrm>
            <a:off x="8385048" y="3154680"/>
            <a:ext cx="3081528" cy="640080"/>
          </a:xfrm>
          <a:prstGeom prst="rect">
            <a:avLst/>
          </a:prstGeom>
          <a:noFill/>
        </p:spPr>
        <p:txBody>
          <a:bodyPr wrap="square" lIns="0" rIns="0" tIns="0" bIns="0" anchor="t">
            <a:spAutoFit/>
          </a:bodyPr>
          <a:lstStyle/>
          <a:p>
            <a:pPr algn="l">
              <a:lnSpc>
                <a:spcPct val="110000"/>
              </a:lnSpc>
            </a:pPr>
            <a:r>
              <a:rPr sz="1300" b="0" i="0">
                <a:solidFill>
                  <a:srgbClr val="21295C"/>
                </a:solidFill>
                <a:latin typeface="Arial"/>
              </a:rPr>
              <a:t>trust the accuracy of what AI produces</a:t>
            </a:r>
          </a:p>
        </p:txBody>
      </p:sp>
      <p:sp>
        <p:nvSpPr>
          <p:cNvPr id="277" name="TextBox 276"/>
          <p:cNvSpPr txBox="1"/>
          <p:nvPr/>
        </p:nvSpPr>
        <p:spPr>
          <a:xfrm>
            <a:off x="8385048" y="3977639"/>
            <a:ext cx="3081528" cy="731520"/>
          </a:xfrm>
          <a:prstGeom prst="rect">
            <a:avLst/>
          </a:prstGeom>
          <a:noFill/>
        </p:spPr>
        <p:txBody>
          <a:bodyPr wrap="square" lIns="0" rIns="0" tIns="0" bIns="0" anchor="t">
            <a:spAutoFit/>
          </a:bodyPr>
          <a:lstStyle/>
          <a:p>
            <a:pPr algn="l">
              <a:lnSpc>
                <a:spcPct val="115000"/>
              </a:lnSpc>
              <a:spcAft>
                <a:spcPts val="0"/>
              </a:spcAft>
            </a:pPr>
            <a:r>
              <a:rPr sz="1200" b="1" i="0">
                <a:solidFill>
                  <a:srgbClr val="6B7685"/>
                </a:solidFill>
                <a:latin typeface="Arial"/>
              </a:rPr>
              <a:t>was 40% in 2024  (−11 pp)</a:t>
            </a:r>
          </a:p>
          <a:p>
            <a:pPr algn="l">
              <a:lnSpc>
                <a:spcPct val="110000"/>
              </a:lnSpc>
              <a:spcAft>
                <a:spcPts val="0"/>
              </a:spcAft>
            </a:pPr>
            <a:r>
              <a:rPr sz="1100" b="0" i="0">
                <a:solidFill>
                  <a:srgbClr val="6B7685"/>
                </a:solidFill>
                <a:latin typeface="Arial"/>
              </a:rPr>
              <a:t>46% explicitly don't trust it · only 3% trust it fully</a:t>
            </a:r>
          </a:p>
        </p:txBody>
      </p:sp>
      <p:sp>
        <p:nvSpPr>
          <p:cNvPr id="278" name="Rounded Rectangle 277"/>
          <p:cNvSpPr/>
          <p:nvPr/>
        </p:nvSpPr>
        <p:spPr>
          <a:xfrm>
            <a:off x="502920" y="4892040"/>
            <a:ext cx="11183112" cy="1051560"/>
          </a:xfrm>
          <a:prstGeom prst="roundRect">
            <a:avLst>
              <a:gd name="adj" fmla="val 2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713232" y="5010912"/>
            <a:ext cx="3108960" cy="822960"/>
          </a:xfrm>
          <a:prstGeom prst="rect">
            <a:avLst/>
          </a:prstGeom>
          <a:noFill/>
        </p:spPr>
        <p:txBody>
          <a:bodyPr wrap="square" lIns="0" rIns="0" tIns="0" bIns="0" anchor="ctr">
            <a:spAutoFit/>
          </a:bodyPr>
          <a:lstStyle/>
          <a:p>
            <a:pPr algn="l">
              <a:lnSpc>
                <a:spcPct val="115000"/>
              </a:lnSpc>
            </a:pPr>
            <a:r>
              <a:rPr sz="1250" b="1" i="0">
                <a:solidFill>
                  <a:srgbClr val="21295C"/>
                </a:solidFill>
                <a:latin typeface="Arial"/>
              </a:rPr>
              <a:t>Russia · VCIOM, 2026</a:t>
            </a:r>
          </a:p>
        </p:txBody>
      </p:sp>
      <p:sp>
        <p:nvSpPr>
          <p:cNvPr id="280" name="TextBox 279"/>
          <p:cNvSpPr txBox="1"/>
          <p:nvPr/>
        </p:nvSpPr>
        <p:spPr>
          <a:xfrm>
            <a:off x="3840480" y="4992624"/>
            <a:ext cx="7589520" cy="868680"/>
          </a:xfrm>
          <a:prstGeom prst="rect">
            <a:avLst/>
          </a:prstGeom>
          <a:noFill/>
        </p:spPr>
        <p:txBody>
          <a:bodyPr wrap="square" lIns="0" rIns="0" tIns="0" bIns="0" anchor="ctr">
            <a:spAutoFit/>
          </a:bodyPr>
          <a:lstStyle/>
          <a:p>
            <a:pPr algn="l">
              <a:lnSpc>
                <a:spcPct val="112000"/>
              </a:lnSpc>
              <a:spcAft>
                <a:spcPts val="0"/>
              </a:spcAft>
            </a:pPr>
            <a:r>
              <a:rPr sz="1250" b="1" i="0">
                <a:solidFill>
                  <a:srgbClr val="21295C"/>
                </a:solidFill>
                <a:latin typeface="Arial"/>
              </a:rPr>
              <a:t>78% used neural networks over the past year (was 73%) · 58% — at least once a week (was 51%)</a:t>
            </a:r>
          </a:p>
          <a:p>
            <a:pPr algn="l">
              <a:lnSpc>
                <a:spcPct val="110000"/>
              </a:lnSpc>
              <a:spcAft>
                <a:spcPts val="0"/>
              </a:spcAft>
            </a:pPr>
            <a:r>
              <a:rPr sz="1050" b="0" i="0">
                <a:solidFill>
                  <a:srgbClr val="6B7685"/>
                </a:solidFill>
                <a:latin typeface="Arial"/>
              </a:rPr>
              <a:t>64% believe AI is beneficial, 67% of them — only in certain areas · N=3209, 18+, 25–27.06.2026, ≤±1.7%</a:t>
            </a:r>
          </a:p>
        </p:txBody>
      </p:sp>
      <p:sp>
        <p:nvSpPr>
          <p:cNvPr id="281" name="TextBox 280"/>
          <p:cNvSpPr txBox="1"/>
          <p:nvPr/>
        </p:nvSpPr>
        <p:spPr>
          <a:xfrm>
            <a:off x="502920" y="6053328"/>
            <a:ext cx="11183112" cy="274320"/>
          </a:xfrm>
          <a:prstGeom prst="rect">
            <a:avLst/>
          </a:prstGeom>
          <a:noFill/>
        </p:spPr>
        <p:txBody>
          <a:bodyPr wrap="square" lIns="0" rIns="0" tIns="0" bIns="0" anchor="t">
            <a:spAutoFit/>
          </a:bodyPr>
          <a:lstStyle/>
          <a:p>
            <a:pPr algn="l">
              <a:lnSpc>
                <a:spcPct val="115000"/>
              </a:lnSpc>
            </a:pPr>
            <a:r>
              <a:rPr sz="900" b="0" i="1">
                <a:solidFill>
                  <a:srgbClr val="6B7685"/>
                </a:solidFill>
                <a:latin typeface="Arial"/>
              </a:rPr>
              <a:t>Sources: Stack Overflow Developer Survey 2025 (N=49 009, May–June 2025; self-selected online sample) · VCIOM “Neural Networks in Our Lives”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6"/>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800" u="none" cap="none" strike="noStrike">
                <a:solidFill>
                  <a:srgbClr val="21295C"/>
                </a:solidFill>
                <a:latin typeface="Arial"/>
                <a:ea typeface="Arial"/>
                <a:cs typeface="Arial"/>
                <a:sym typeface="Arial"/>
              </a:rPr>
              <a:t>Who has a story — did it help or let you down?</a:t>
            </a:r>
            <a:endParaRPr/>
          </a:p>
        </p:txBody>
      </p:sp>
      <p:sp>
        <p:nvSpPr>
          <p:cNvPr id="266" name="Google Shape;266;p6"/>
          <p:cNvSpPr/>
          <p:nvPr/>
        </p:nvSpPr>
        <p:spPr>
          <a:xfrm>
            <a:off x="502920" y="1600200"/>
            <a:ext cx="3581400" cy="2244852"/>
          </a:xfrm>
          <a:prstGeom prst="roundRect">
            <a:avLst>
              <a:gd fmla="val 13577"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x-circle-028090-72.png" id="267" name="Google Shape;267;p6"/>
          <p:cNvPicPr preferRelativeResize="0"/>
          <p:nvPr/>
        </p:nvPicPr>
        <p:blipFill rotWithShape="1">
          <a:blip r:embed="rId3">
            <a:alphaModFix/>
          </a:blip>
          <a:srcRect b="0" l="0" r="0" t="0"/>
          <a:stretch/>
        </p:blipFill>
        <p:spPr>
          <a:xfrm>
            <a:off x="1973580" y="1892807"/>
            <a:ext cx="640080" cy="640080"/>
          </a:xfrm>
          <a:prstGeom prst="rect">
            <a:avLst/>
          </a:prstGeom>
          <a:noFill/>
          <a:ln>
            <a:noFill/>
          </a:ln>
        </p:spPr>
      </p:pic>
      <p:sp>
        <p:nvSpPr>
          <p:cNvPr id="268" name="Google Shape;268;p6"/>
          <p:cNvSpPr txBox="1"/>
          <p:nvPr/>
        </p:nvSpPr>
        <p:spPr>
          <a:xfrm>
            <a:off x="612648" y="3296412"/>
            <a:ext cx="3361944" cy="384048"/>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Hallucinated fact</a:t>
            </a:r>
            <a:endParaRPr/>
          </a:p>
        </p:txBody>
      </p:sp>
      <p:sp>
        <p:nvSpPr>
          <p:cNvPr id="269" name="Google Shape;269;p6"/>
          <p:cNvSpPr/>
          <p:nvPr/>
        </p:nvSpPr>
        <p:spPr>
          <a:xfrm>
            <a:off x="4303775" y="1600200"/>
            <a:ext cx="3581400" cy="2244852"/>
          </a:xfrm>
          <a:prstGeom prst="roundRect">
            <a:avLst>
              <a:gd fmla="val 13577"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clock-028090-72.png" id="270" name="Google Shape;270;p6"/>
          <p:cNvPicPr preferRelativeResize="0"/>
          <p:nvPr/>
        </p:nvPicPr>
        <p:blipFill rotWithShape="1">
          <a:blip r:embed="rId4">
            <a:alphaModFix/>
          </a:blip>
          <a:srcRect b="0" l="0" r="0" t="0"/>
          <a:stretch/>
        </p:blipFill>
        <p:spPr>
          <a:xfrm>
            <a:off x="5774436" y="1892807"/>
            <a:ext cx="640080" cy="640080"/>
          </a:xfrm>
          <a:prstGeom prst="rect">
            <a:avLst/>
          </a:prstGeom>
          <a:noFill/>
          <a:ln>
            <a:noFill/>
          </a:ln>
        </p:spPr>
      </p:pic>
      <p:sp>
        <p:nvSpPr>
          <p:cNvPr id="271" name="Google Shape;271;p6"/>
          <p:cNvSpPr txBox="1"/>
          <p:nvPr/>
        </p:nvSpPr>
        <p:spPr>
          <a:xfrm>
            <a:off x="4413504" y="3296412"/>
            <a:ext cx="3361944" cy="384048"/>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Outdated data</a:t>
            </a:r>
            <a:endParaRPr/>
          </a:p>
        </p:txBody>
      </p:sp>
      <p:sp>
        <p:nvSpPr>
          <p:cNvPr id="272" name="Google Shape;272;p6"/>
          <p:cNvSpPr/>
          <p:nvPr/>
        </p:nvSpPr>
        <p:spPr>
          <a:xfrm>
            <a:off x="8104632" y="1600200"/>
            <a:ext cx="3581400" cy="2244852"/>
          </a:xfrm>
          <a:prstGeom prst="roundRect">
            <a:avLst>
              <a:gd fmla="val 13577"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layers-028090-72.png" id="273" name="Google Shape;273;p6"/>
          <p:cNvPicPr preferRelativeResize="0"/>
          <p:nvPr/>
        </p:nvPicPr>
        <p:blipFill rotWithShape="1">
          <a:blip r:embed="rId5">
            <a:alphaModFix/>
          </a:blip>
          <a:srcRect b="0" l="0" r="0" t="0"/>
          <a:stretch/>
        </p:blipFill>
        <p:spPr>
          <a:xfrm>
            <a:off x="9575292" y="1892807"/>
            <a:ext cx="640080" cy="640080"/>
          </a:xfrm>
          <a:prstGeom prst="rect">
            <a:avLst/>
          </a:prstGeom>
          <a:noFill/>
          <a:ln>
            <a:noFill/>
          </a:ln>
        </p:spPr>
      </p:pic>
      <p:sp>
        <p:nvSpPr>
          <p:cNvPr id="274" name="Google Shape;274;p6"/>
          <p:cNvSpPr txBox="1"/>
          <p:nvPr/>
        </p:nvSpPr>
        <p:spPr>
          <a:xfrm>
            <a:off x="8214359" y="2711196"/>
            <a:ext cx="3361944" cy="96926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A task solved only</a:t>
            </a:r>
            <a:endParaRPr/>
          </a:p>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on the surface — looks right,</a:t>
            </a:r>
            <a:endParaRPr/>
          </a:p>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dig in — it's not</a:t>
            </a:r>
            <a:endParaRPr/>
          </a:p>
        </p:txBody>
      </p:sp>
      <p:sp>
        <p:nvSpPr>
          <p:cNvPr id="275" name="Google Shape;275;p6"/>
          <p:cNvSpPr/>
          <p:nvPr/>
        </p:nvSpPr>
        <p:spPr>
          <a:xfrm>
            <a:off x="502920" y="4064508"/>
            <a:ext cx="3581400" cy="2244852"/>
          </a:xfrm>
          <a:prstGeom prst="roundRect">
            <a:avLst>
              <a:gd fmla="val 13577"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rotate-ccw-028090-72.png" id="276" name="Google Shape;276;p6"/>
          <p:cNvPicPr preferRelativeResize="0"/>
          <p:nvPr/>
        </p:nvPicPr>
        <p:blipFill rotWithShape="1">
          <a:blip r:embed="rId6">
            <a:alphaModFix/>
          </a:blip>
          <a:srcRect b="0" l="0" r="0" t="0"/>
          <a:stretch/>
        </p:blipFill>
        <p:spPr>
          <a:xfrm>
            <a:off x="1973580" y="4357116"/>
            <a:ext cx="640080" cy="640080"/>
          </a:xfrm>
          <a:prstGeom prst="rect">
            <a:avLst/>
          </a:prstGeom>
          <a:noFill/>
          <a:ln>
            <a:noFill/>
          </a:ln>
        </p:spPr>
      </p:pic>
      <p:sp>
        <p:nvSpPr>
          <p:cNvPr id="277" name="Google Shape;277;p6"/>
          <p:cNvSpPr txBox="1"/>
          <p:nvPr/>
        </p:nvSpPr>
        <p:spPr>
          <a:xfrm>
            <a:off x="612648" y="5760720"/>
            <a:ext cx="3361944" cy="384048"/>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Lost context in a conversation</a:t>
            </a:r>
            <a:endParaRPr/>
          </a:p>
        </p:txBody>
      </p:sp>
      <p:sp>
        <p:nvSpPr>
          <p:cNvPr id="278" name="Google Shape;278;p6"/>
          <p:cNvSpPr/>
          <p:nvPr/>
        </p:nvSpPr>
        <p:spPr>
          <a:xfrm>
            <a:off x="4303775" y="4064508"/>
            <a:ext cx="3581400" cy="2244852"/>
          </a:xfrm>
          <a:prstGeom prst="roundRect">
            <a:avLst>
              <a:gd fmla="val 13577"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mile-028090-72.png" id="279" name="Google Shape;279;p6"/>
          <p:cNvPicPr preferRelativeResize="0"/>
          <p:nvPr/>
        </p:nvPicPr>
        <p:blipFill rotWithShape="1">
          <a:blip r:embed="rId7">
            <a:alphaModFix/>
          </a:blip>
          <a:srcRect b="0" l="0" r="0" t="0"/>
          <a:stretch/>
        </p:blipFill>
        <p:spPr>
          <a:xfrm>
            <a:off x="5774436" y="4357116"/>
            <a:ext cx="640080" cy="640080"/>
          </a:xfrm>
          <a:prstGeom prst="rect">
            <a:avLst/>
          </a:prstGeom>
          <a:noFill/>
          <a:ln>
            <a:noFill/>
          </a:ln>
        </p:spPr>
      </p:pic>
      <p:sp>
        <p:nvSpPr>
          <p:cNvPr id="280" name="Google Shape;280;p6"/>
          <p:cNvSpPr txBox="1"/>
          <p:nvPr/>
        </p:nvSpPr>
        <p:spPr>
          <a:xfrm>
            <a:off x="4413504" y="5760720"/>
            <a:ext cx="3361944" cy="384048"/>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Mismatched tone</a:t>
            </a:r>
            <a:endParaRPr/>
          </a:p>
        </p:txBody>
      </p:sp>
      <p:sp>
        <p:nvSpPr>
          <p:cNvPr id="281" name="Google Shape;281;p6"/>
          <p:cNvSpPr/>
          <p:nvPr/>
        </p:nvSpPr>
        <p:spPr>
          <a:xfrm>
            <a:off x="8104632" y="4064508"/>
            <a:ext cx="3581400" cy="2244852"/>
          </a:xfrm>
          <a:prstGeom prst="roundRect">
            <a:avLst>
              <a:gd fmla="val 13577"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target-028090-72.png" id="282" name="Google Shape;282;p6"/>
          <p:cNvPicPr preferRelativeResize="0"/>
          <p:nvPr/>
        </p:nvPicPr>
        <p:blipFill rotWithShape="1">
          <a:blip r:embed="rId8">
            <a:alphaModFix/>
          </a:blip>
          <a:srcRect b="0" l="0" r="0" t="0"/>
          <a:stretch/>
        </p:blipFill>
        <p:spPr>
          <a:xfrm>
            <a:off x="9575292" y="4357116"/>
            <a:ext cx="640080" cy="640080"/>
          </a:xfrm>
          <a:prstGeom prst="rect">
            <a:avLst/>
          </a:prstGeom>
          <a:noFill/>
          <a:ln>
            <a:noFill/>
          </a:ln>
        </p:spPr>
      </p:pic>
      <p:sp>
        <p:nvSpPr>
          <p:cNvPr id="283" name="Google Shape;283;p6"/>
          <p:cNvSpPr txBox="1"/>
          <p:nvPr/>
        </p:nvSpPr>
        <p:spPr>
          <a:xfrm>
            <a:off x="8214359" y="5468112"/>
            <a:ext cx="3361944" cy="676656"/>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Answer doesn't</a:t>
            </a:r>
            <a:endParaRPr/>
          </a:p>
          <a:p>
            <a:pPr indent="0" lvl="0" marL="0" marR="0" rtl="0" algn="ctr">
              <a:lnSpc>
                <a:spcPct val="115000"/>
              </a:lnSpc>
              <a:spcBef>
                <a:spcPts val="0"/>
              </a:spcBef>
              <a:spcAft>
                <a:spcPts val="0"/>
              </a:spcAft>
              <a:buNone/>
            </a:pPr>
            <a:r>
              <a:rPr b="1" i="0" lang="en-US" sz="1300" u="none" cap="none" strike="noStrike">
                <a:solidFill>
                  <a:srgbClr val="21295C"/>
                </a:solidFill>
                <a:latin typeface="Arial"/>
                <a:ea typeface="Arial"/>
                <a:cs typeface="Arial"/>
                <a:sym typeface="Arial"/>
              </a:rPr>
              <a:t>fit your situation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7"/>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Who wrote it — fiction: AI or human?</a:t>
            </a:r>
            <a:endParaRPr/>
          </a:p>
        </p:txBody>
      </p:sp>
      <p:sp>
        <p:nvSpPr>
          <p:cNvPr id="290" name="Google Shape;290;p7"/>
          <p:cNvSpPr/>
          <p:nvPr/>
        </p:nvSpPr>
        <p:spPr>
          <a:xfrm>
            <a:off x="502920"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7"/>
          <p:cNvSpPr txBox="1"/>
          <p:nvPr/>
        </p:nvSpPr>
        <p:spPr>
          <a:xfrm>
            <a:off x="740664" y="1929384"/>
            <a:ext cx="4978908"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065A82"/>
                </a:solidFill>
                <a:latin typeface="Arial"/>
                <a:ea typeface="Arial"/>
                <a:cs typeface="Arial"/>
                <a:sym typeface="Arial"/>
              </a:rPr>
              <a:t>Text A</a:t>
            </a:r>
            <a:endParaRPr/>
          </a:p>
        </p:txBody>
      </p:sp>
      <p:sp>
        <p:nvSpPr>
          <p:cNvPr id="292" name="Google Shape;292;p7"/>
          <p:cNvSpPr txBox="1"/>
          <p:nvPr/>
        </p:nvSpPr>
        <p:spPr>
          <a:xfrm>
            <a:off x="740664" y="2386584"/>
            <a:ext cx="4978908" cy="347472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1500" u="none" cap="none" strike="noStrike">
                <a:solidFill>
                  <a:srgbClr val="21295C"/>
                </a:solidFill>
                <a:latin typeface="Arial"/>
                <a:ea typeface="Arial"/>
                <a:cs typeface="Arial"/>
                <a:sym typeface="Arial"/>
              </a:rPr>
              <a:t>“How strange — he died, and we live on… Except I suspect that every time we go to sleep, we die in exactly the same way. And the sun goes away forever, and the whole of history ends. And then non-being gets bored with itself, and we wake up. And the world arises again.”</a:t>
            </a:r>
            <a:endParaRPr/>
          </a:p>
        </p:txBody>
      </p:sp>
      <p:sp>
        <p:nvSpPr>
          <p:cNvPr id="293" name="Google Shape;293;p7"/>
          <p:cNvSpPr/>
          <p:nvPr/>
        </p:nvSpPr>
        <p:spPr>
          <a:xfrm>
            <a:off x="6231636"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7"/>
          <p:cNvSpPr txBox="1"/>
          <p:nvPr/>
        </p:nvSpPr>
        <p:spPr>
          <a:xfrm>
            <a:off x="6469379" y="1929384"/>
            <a:ext cx="4978908"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065A82"/>
                </a:solidFill>
                <a:latin typeface="Arial"/>
                <a:ea typeface="Arial"/>
                <a:cs typeface="Arial"/>
                <a:sym typeface="Arial"/>
              </a:rPr>
              <a:t>Text B</a:t>
            </a:r>
            <a:endParaRPr/>
          </a:p>
        </p:txBody>
      </p:sp>
      <p:sp>
        <p:nvSpPr>
          <p:cNvPr id="295" name="Google Shape;295;p7"/>
          <p:cNvSpPr txBox="1"/>
          <p:nvPr/>
        </p:nvSpPr>
        <p:spPr>
          <a:xfrm>
            <a:off x="6469379" y="2386584"/>
            <a:ext cx="4978908" cy="347472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1500" u="none" cap="none" strike="noStrike">
                <a:solidFill>
                  <a:srgbClr val="21295C"/>
                </a:solidFill>
                <a:latin typeface="Arial"/>
                <a:ea typeface="Arial"/>
                <a:cs typeface="Arial"/>
                <a:sym typeface="Arial"/>
              </a:rPr>
              <a:t>“Sleep is a rehearsal for oblivion that we go through every night without noticing the exam. We turn off the light and, for a few hours, stop existing for ourselves, and in the morning we agree that it was an intermission, not a cancellation. Maybe the only difference between sleep and death is that after sleep, someone is waiting for us again.”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8"/>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21295C"/>
                </a:solidFill>
                <a:latin typeface="Arial"/>
                <a:ea typeface="Arial"/>
                <a:cs typeface="Arial"/>
                <a:sym typeface="Arial"/>
              </a:rPr>
              <a:t>Text A — Pelevin, “Generation P”. Text B — AI</a:t>
            </a:r>
            <a:endParaRPr/>
          </a:p>
        </p:txBody>
      </p:sp>
      <p:sp>
        <p:nvSpPr>
          <p:cNvPr id="302" name="Google Shape;302;p8"/>
          <p:cNvSpPr/>
          <p:nvPr/>
        </p:nvSpPr>
        <p:spPr>
          <a:xfrm>
            <a:off x="502920" y="1691640"/>
            <a:ext cx="5454396" cy="2880360"/>
          </a:xfrm>
          <a:prstGeom prst="roundRect">
            <a:avLst>
              <a:gd fmla="val 1058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book-open-028090-64.png" id="303" name="Google Shape;303;p8"/>
          <p:cNvPicPr preferRelativeResize="0"/>
          <p:nvPr/>
        </p:nvPicPr>
        <p:blipFill rotWithShape="1">
          <a:blip r:embed="rId3">
            <a:alphaModFix/>
          </a:blip>
          <a:srcRect b="0" l="0" r="0" t="0"/>
          <a:stretch/>
        </p:blipFill>
        <p:spPr>
          <a:xfrm>
            <a:off x="740664" y="1929384"/>
            <a:ext cx="329184" cy="329184"/>
          </a:xfrm>
          <a:prstGeom prst="rect">
            <a:avLst/>
          </a:prstGeom>
          <a:noFill/>
          <a:ln>
            <a:noFill/>
          </a:ln>
        </p:spPr>
      </p:pic>
      <p:sp>
        <p:nvSpPr>
          <p:cNvPr id="304" name="Google Shape;304;p8"/>
          <p:cNvSpPr txBox="1"/>
          <p:nvPr/>
        </p:nvSpPr>
        <p:spPr>
          <a:xfrm>
            <a:off x="1179576" y="1911096"/>
            <a:ext cx="4539996" cy="457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250" u="none" cap="none" strike="noStrike">
                <a:solidFill>
                  <a:srgbClr val="065A82"/>
                </a:solidFill>
                <a:latin typeface="Arial"/>
                <a:ea typeface="Arial"/>
                <a:cs typeface="Arial"/>
                <a:sym typeface="Arial"/>
              </a:rPr>
              <a:t>Victor Pelevin, “Generation P” (1999)</a:t>
            </a:r>
            <a:endParaRPr/>
          </a:p>
        </p:txBody>
      </p:sp>
      <p:sp>
        <p:nvSpPr>
          <p:cNvPr id="305" name="Google Shape;305;p8"/>
          <p:cNvSpPr txBox="1"/>
          <p:nvPr/>
        </p:nvSpPr>
        <p:spPr>
          <a:xfrm>
            <a:off x="740664" y="2523744"/>
            <a:ext cx="4978908" cy="19659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1" lang="en-US" sz="1350" u="none" cap="none" strike="noStrike">
                <a:solidFill>
                  <a:srgbClr val="21295C"/>
                </a:solidFill>
                <a:latin typeface="Arial"/>
                <a:ea typeface="Arial"/>
                <a:cs typeface="Arial"/>
                <a:sym typeface="Arial"/>
              </a:rPr>
              <a:t>“How strange — he died, and we live on… Except I suspect that every time we go to sleep, we die in exactly the same way. And the sun goes away forever, and the whole of history ends…”</a:t>
            </a:r>
            <a:endParaRPr/>
          </a:p>
        </p:txBody>
      </p:sp>
      <p:sp>
        <p:nvSpPr>
          <p:cNvPr id="306" name="Google Shape;306;p8"/>
          <p:cNvSpPr/>
          <p:nvPr/>
        </p:nvSpPr>
        <p:spPr>
          <a:xfrm>
            <a:off x="6231636" y="1691640"/>
            <a:ext cx="5454396" cy="2880360"/>
          </a:xfrm>
          <a:prstGeom prst="roundRect">
            <a:avLst>
              <a:gd fmla="val 1058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parkles-028090-64.png" id="307" name="Google Shape;307;p8"/>
          <p:cNvPicPr preferRelativeResize="0"/>
          <p:nvPr/>
        </p:nvPicPr>
        <p:blipFill rotWithShape="1">
          <a:blip r:embed="rId4">
            <a:alphaModFix/>
          </a:blip>
          <a:srcRect b="0" l="0" r="0" t="0"/>
          <a:stretch/>
        </p:blipFill>
        <p:spPr>
          <a:xfrm>
            <a:off x="6469379" y="1929384"/>
            <a:ext cx="329184" cy="329184"/>
          </a:xfrm>
          <a:prstGeom prst="rect">
            <a:avLst/>
          </a:prstGeom>
          <a:noFill/>
          <a:ln>
            <a:noFill/>
          </a:ln>
        </p:spPr>
      </p:pic>
      <p:sp>
        <p:nvSpPr>
          <p:cNvPr id="308" name="Google Shape;308;p8"/>
          <p:cNvSpPr txBox="1"/>
          <p:nvPr/>
        </p:nvSpPr>
        <p:spPr>
          <a:xfrm>
            <a:off x="6908292" y="1911096"/>
            <a:ext cx="4539996" cy="457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250" u="none" cap="none" strike="noStrike">
                <a:solidFill>
                  <a:srgbClr val="065A82"/>
                </a:solidFill>
                <a:latin typeface="Arial"/>
                <a:ea typeface="Arial"/>
                <a:cs typeface="Arial"/>
                <a:sym typeface="Arial"/>
              </a:rPr>
              <a:t>Generated by AI, prompted for a similar style</a:t>
            </a:r>
            <a:endParaRPr/>
          </a:p>
        </p:txBody>
      </p:sp>
      <p:sp>
        <p:nvSpPr>
          <p:cNvPr id="309" name="Google Shape;309;p8"/>
          <p:cNvSpPr txBox="1"/>
          <p:nvPr/>
        </p:nvSpPr>
        <p:spPr>
          <a:xfrm>
            <a:off x="6469379" y="2523744"/>
            <a:ext cx="4978908" cy="19659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1" lang="en-US" sz="1350" u="none" cap="none" strike="noStrike">
                <a:solidFill>
                  <a:srgbClr val="21295C"/>
                </a:solidFill>
                <a:latin typeface="Arial"/>
                <a:ea typeface="Arial"/>
                <a:cs typeface="Arial"/>
                <a:sym typeface="Arial"/>
              </a:rPr>
              <a:t>“Sleep is a rehearsal for oblivion that we go through every night without noticing the exam. We turn off the light and, for a few hours, stop existing for ourselves…”</a:t>
            </a:r>
            <a:endParaRPr/>
          </a:p>
        </p:txBody>
      </p:sp>
      <p:pic>
        <p:nvPicPr>
          <p:cNvPr descr="quote-1C7293-96.png" id="310" name="Google Shape;310;p8"/>
          <p:cNvPicPr preferRelativeResize="0"/>
          <p:nvPr/>
        </p:nvPicPr>
        <p:blipFill rotWithShape="1">
          <a:blip r:embed="rId5">
            <a:alphaModFix/>
          </a:blip>
          <a:srcRect b="0" l="0" r="0" t="0"/>
          <a:stretch/>
        </p:blipFill>
        <p:spPr>
          <a:xfrm>
            <a:off x="502920" y="4937759"/>
            <a:ext cx="502920" cy="502920"/>
          </a:xfrm>
          <a:prstGeom prst="rect">
            <a:avLst/>
          </a:prstGeom>
          <a:noFill/>
          <a:ln>
            <a:noFill/>
          </a:ln>
        </p:spPr>
      </p:pic>
      <p:sp>
        <p:nvSpPr>
          <p:cNvPr id="311" name="Google Shape;311;p8"/>
          <p:cNvSpPr/>
          <p:nvPr/>
        </p:nvSpPr>
        <p:spPr>
          <a:xfrm>
            <a:off x="1188720" y="4892040"/>
            <a:ext cx="9601200" cy="777240"/>
          </a:xfrm>
          <a:prstGeom prst="roundRect">
            <a:avLst>
              <a:gd fmla="val 25000" name="adj"/>
            </a:avLst>
          </a:prstGeom>
          <a:solidFill>
            <a:srgbClr val="FEF5E0"/>
          </a:solidFill>
          <a:ln cap="flat" cmpd="sng" w="17775">
            <a:solidFill>
              <a:srgbClr val="F0A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8"/>
          <p:cNvSpPr txBox="1"/>
          <p:nvPr/>
        </p:nvSpPr>
        <p:spPr>
          <a:xfrm>
            <a:off x="1417320" y="4892040"/>
            <a:ext cx="9144000" cy="77724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21295C"/>
                </a:solidFill>
                <a:latin typeface="Arial"/>
                <a:ea typeface="Arial"/>
                <a:cs typeface="Arial"/>
                <a:sym typeface="Arial"/>
              </a:rPr>
              <a:t>Style can be copied, but a short fragment doesn't always reveal the author</a:t>
            </a:r>
            <a:endParaRPr/>
          </a:p>
        </p:txBody>
      </p:sp>
      <p:pic>
        <p:nvPicPr>
          <p:cNvPr descr="quote-1C7293-96.png" id="313" name="Google Shape;313;p8"/>
          <p:cNvPicPr preferRelativeResize="0"/>
          <p:nvPr/>
        </p:nvPicPr>
        <p:blipFill rotWithShape="1">
          <a:blip r:embed="rId5">
            <a:alphaModFix/>
          </a:blip>
          <a:srcRect b="0" l="0" r="0" t="0"/>
          <a:stretch/>
        </p:blipFill>
        <p:spPr>
          <a:xfrm>
            <a:off x="10972800" y="4937759"/>
            <a:ext cx="502920" cy="502920"/>
          </a:xfrm>
          <a:prstGeom prst="rect">
            <a:avLst/>
          </a:prstGeom>
          <a:noFill/>
          <a:ln>
            <a:noFill/>
          </a:ln>
        </p:spPr>
      </p:pic>
      <p:sp>
        <p:nvSpPr>
          <p:cNvPr id="314" name="Google Shape;314;p8"/>
          <p:cNvSpPr/>
          <p:nvPr/>
        </p:nvSpPr>
        <p:spPr>
          <a:xfrm>
            <a:off x="502920" y="5852159"/>
            <a:ext cx="11183112" cy="731520"/>
          </a:xfrm>
          <a:prstGeom prst="roundRect">
            <a:avLst>
              <a:gd fmla="val 25000" name="adj"/>
            </a:avLst>
          </a:prstGeom>
          <a:solidFill>
            <a:srgbClr val="F4F7FA"/>
          </a:solidFill>
          <a:ln cap="flat" cmpd="sng" w="19050">
            <a:solidFill>
              <a:srgbClr val="028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book-open-028090-64.png" id="315" name="Google Shape;315;p8"/>
          <p:cNvPicPr preferRelativeResize="0"/>
          <p:nvPr/>
        </p:nvPicPr>
        <p:blipFill rotWithShape="1">
          <a:blip r:embed="rId3">
            <a:alphaModFix/>
          </a:blip>
          <a:srcRect b="0" l="0" r="0" t="0"/>
          <a:stretch/>
        </p:blipFill>
        <p:spPr>
          <a:xfrm>
            <a:off x="777240" y="6035040"/>
            <a:ext cx="365760" cy="365760"/>
          </a:xfrm>
          <a:prstGeom prst="rect">
            <a:avLst/>
          </a:prstGeom>
          <a:noFill/>
          <a:ln>
            <a:noFill/>
          </a:ln>
        </p:spPr>
      </p:pic>
      <p:sp>
        <p:nvSpPr>
          <p:cNvPr id="316" name="Google Shape;316;p8"/>
          <p:cNvSpPr txBox="1"/>
          <p:nvPr/>
        </p:nvSpPr>
        <p:spPr>
          <a:xfrm>
            <a:off x="1280160" y="5852159"/>
            <a:ext cx="4846320" cy="73152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21295C"/>
                </a:solidFill>
                <a:latin typeface="Arial"/>
                <a:ea typeface="Arial"/>
                <a:cs typeface="Arial"/>
                <a:sym typeface="Arial"/>
              </a:rPr>
              <a:t>A long work: plot, composition, the development of an idea — harder to imitate</a:t>
            </a:r>
            <a:endParaRPr/>
          </a:p>
        </p:txBody>
      </p:sp>
      <p:pic>
        <p:nvPicPr>
          <p:cNvPr descr="sparkles-028090-64.png" id="317" name="Google Shape;317;p8"/>
          <p:cNvPicPr preferRelativeResize="0"/>
          <p:nvPr/>
        </p:nvPicPr>
        <p:blipFill rotWithShape="1">
          <a:blip r:embed="rId4">
            <a:alphaModFix/>
          </a:blip>
          <a:srcRect b="0" l="0" r="0" t="0"/>
          <a:stretch/>
        </p:blipFill>
        <p:spPr>
          <a:xfrm>
            <a:off x="6355080" y="6035040"/>
            <a:ext cx="365760" cy="365760"/>
          </a:xfrm>
          <a:prstGeom prst="rect">
            <a:avLst/>
          </a:prstGeom>
          <a:noFill/>
          <a:ln>
            <a:noFill/>
          </a:ln>
        </p:spPr>
      </p:pic>
      <p:sp>
        <p:nvSpPr>
          <p:cNvPr id="318" name="Google Shape;318;p8"/>
          <p:cNvSpPr txBox="1"/>
          <p:nvPr/>
        </p:nvSpPr>
        <p:spPr>
          <a:xfrm>
            <a:off x="6858000" y="5852159"/>
            <a:ext cx="4663440" cy="731520"/>
          </a:xfrm>
          <a:prstGeom prst="rect">
            <a:avLst/>
          </a:prstGeom>
          <a:noFill/>
          <a:ln>
            <a:noFill/>
          </a:ln>
        </p:spPr>
        <p:txBody>
          <a:bodyPr anchorCtr="0" anchor="ctr"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21295C"/>
                </a:solidFill>
                <a:latin typeface="Arial"/>
                <a:ea typeface="Arial"/>
                <a:cs typeface="Arial"/>
                <a:sym typeface="Arial"/>
              </a:rPr>
              <a:t>Short fragment: AI imitates sentence rhythm and tone more convincingly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9"/>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Who wrote it — technical text: AI or human?</a:t>
            </a:r>
            <a:endParaRPr/>
          </a:p>
        </p:txBody>
      </p:sp>
      <p:sp>
        <p:nvSpPr>
          <p:cNvPr id="325" name="Google Shape;325;p9"/>
          <p:cNvSpPr/>
          <p:nvPr/>
        </p:nvSpPr>
        <p:spPr>
          <a:xfrm>
            <a:off x="502920"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9"/>
          <p:cNvSpPr txBox="1"/>
          <p:nvPr/>
        </p:nvSpPr>
        <p:spPr>
          <a:xfrm>
            <a:off x="740664" y="1929384"/>
            <a:ext cx="4978908"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065A82"/>
                </a:solidFill>
                <a:latin typeface="Arial"/>
                <a:ea typeface="Arial"/>
                <a:cs typeface="Arial"/>
                <a:sym typeface="Arial"/>
              </a:rPr>
              <a:t>Text A</a:t>
            </a:r>
            <a:endParaRPr/>
          </a:p>
        </p:txBody>
      </p:sp>
      <p:sp>
        <p:nvSpPr>
          <p:cNvPr id="327" name="Google Shape;327;p9"/>
          <p:cNvSpPr txBox="1"/>
          <p:nvPr/>
        </p:nvSpPr>
        <p:spPr>
          <a:xfrm>
            <a:off x="740664" y="2386584"/>
            <a:ext cx="4978908" cy="347472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0" lang="en-US" sz="1350" u="none" cap="none" strike="noStrike">
                <a:solidFill>
                  <a:srgbClr val="21295C"/>
                </a:solidFill>
                <a:latin typeface="Arial"/>
                <a:ea typeface="Arial"/>
                <a:cs typeface="Arial"/>
                <a:sym typeface="Arial"/>
              </a:rPr>
              <a:t>“The while construct in Python runs the loop body for as long as the condition stays true — unlike for, there's no built-in iteration over a sequence here: the interpreter simply checks the condition before every iteration. This is useful when the number of repetitions isn't known in advance and depends on the outcome of computations inside the loop itself.”</a:t>
            </a:r>
            <a:endParaRPr/>
          </a:p>
        </p:txBody>
      </p:sp>
      <p:sp>
        <p:nvSpPr>
          <p:cNvPr id="328" name="Google Shape;328;p9"/>
          <p:cNvSpPr/>
          <p:nvPr/>
        </p:nvSpPr>
        <p:spPr>
          <a:xfrm>
            <a:off x="6231636"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9"/>
          <p:cNvSpPr txBox="1"/>
          <p:nvPr/>
        </p:nvSpPr>
        <p:spPr>
          <a:xfrm>
            <a:off x="6469379" y="1929384"/>
            <a:ext cx="4978908"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065A82"/>
                </a:solidFill>
                <a:latin typeface="Arial"/>
                <a:ea typeface="Arial"/>
                <a:cs typeface="Arial"/>
                <a:sym typeface="Arial"/>
              </a:rPr>
              <a:t>Text B</a:t>
            </a:r>
            <a:endParaRPr/>
          </a:p>
        </p:txBody>
      </p:sp>
      <p:sp>
        <p:nvSpPr>
          <p:cNvPr id="330" name="Google Shape;330;p9"/>
          <p:cNvSpPr txBox="1"/>
          <p:nvPr/>
        </p:nvSpPr>
        <p:spPr>
          <a:xfrm>
            <a:off x="6469379" y="2386584"/>
            <a:ext cx="4978908" cy="347472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0" lang="en-US" sz="1350" u="none" cap="none" strike="noStrike">
                <a:solidFill>
                  <a:srgbClr val="21295C"/>
                </a:solidFill>
                <a:latin typeface="Arial"/>
                <a:ea typeface="Arial"/>
                <a:cs typeface="Arial"/>
                <a:sym typeface="Arial"/>
              </a:rPr>
              <a:t>“The for statement is used to iterate over the items of a sequence — for example, a string, tuple, or list — or another iterable object. The list of expressions is evaluated once and must return an iterable object; the resulting set of statements is then executed once for each item, in the order returned by the iterator.”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10"/>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100" u="none" cap="none" strike="noStrike">
                <a:solidFill>
                  <a:srgbClr val="21295C"/>
                </a:solidFill>
                <a:latin typeface="Arial"/>
                <a:ea typeface="Arial"/>
                <a:cs typeface="Arial"/>
                <a:sym typeface="Arial"/>
              </a:rPr>
              <a:t>Text A — AI, in seconds. Text B — official Python documentation</a:t>
            </a:r>
            <a:endParaRPr/>
          </a:p>
        </p:txBody>
      </p:sp>
      <p:sp>
        <p:nvSpPr>
          <p:cNvPr id="337" name="Google Shape;337;p10"/>
          <p:cNvSpPr/>
          <p:nvPr/>
        </p:nvSpPr>
        <p:spPr>
          <a:xfrm>
            <a:off x="502920" y="1600200"/>
            <a:ext cx="5454396" cy="2514600"/>
          </a:xfrm>
          <a:prstGeom prst="roundRect">
            <a:avLst>
              <a:gd fmla="val 12121"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parkles-F0AB00-64.png" id="338" name="Google Shape;338;p10"/>
          <p:cNvPicPr preferRelativeResize="0"/>
          <p:nvPr/>
        </p:nvPicPr>
        <p:blipFill rotWithShape="1">
          <a:blip r:embed="rId3">
            <a:alphaModFix/>
          </a:blip>
          <a:srcRect b="0" l="0" r="0" t="0"/>
          <a:stretch/>
        </p:blipFill>
        <p:spPr>
          <a:xfrm>
            <a:off x="722376" y="1819656"/>
            <a:ext cx="310896" cy="310896"/>
          </a:xfrm>
          <a:prstGeom prst="rect">
            <a:avLst/>
          </a:prstGeom>
          <a:noFill/>
          <a:ln>
            <a:noFill/>
          </a:ln>
        </p:spPr>
      </p:pic>
      <p:sp>
        <p:nvSpPr>
          <p:cNvPr id="339" name="Google Shape;339;p10"/>
          <p:cNvSpPr txBox="1"/>
          <p:nvPr/>
        </p:nvSpPr>
        <p:spPr>
          <a:xfrm>
            <a:off x="1143000" y="1801368"/>
            <a:ext cx="4594859" cy="457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065A82"/>
                </a:solidFill>
                <a:latin typeface="Arial"/>
                <a:ea typeface="Arial"/>
                <a:cs typeface="Arial"/>
                <a:sym typeface="Arial"/>
              </a:rPr>
              <a:t>AI, prompted to explain while in a similar style</a:t>
            </a:r>
            <a:endParaRPr/>
          </a:p>
        </p:txBody>
      </p:sp>
      <p:sp>
        <p:nvSpPr>
          <p:cNvPr id="340" name="Google Shape;340;p10"/>
          <p:cNvSpPr txBox="1"/>
          <p:nvPr/>
        </p:nvSpPr>
        <p:spPr>
          <a:xfrm>
            <a:off x="722376" y="2368296"/>
            <a:ext cx="5015483" cy="16002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21295C"/>
                </a:solidFill>
                <a:latin typeface="Arial"/>
                <a:ea typeface="Arial"/>
                <a:cs typeface="Arial"/>
                <a:sym typeface="Arial"/>
              </a:rPr>
              <a:t>“The while construct runs the loop body for as long as the condition stays true — unlike for, there's no built-in iteration over a sequence here.”</a:t>
            </a:r>
            <a:endParaRPr/>
          </a:p>
        </p:txBody>
      </p:sp>
      <p:sp>
        <p:nvSpPr>
          <p:cNvPr id="341" name="Google Shape;341;p10"/>
          <p:cNvSpPr/>
          <p:nvPr/>
        </p:nvSpPr>
        <p:spPr>
          <a:xfrm>
            <a:off x="6231636" y="1600200"/>
            <a:ext cx="5454396" cy="2514600"/>
          </a:xfrm>
          <a:prstGeom prst="roundRect">
            <a:avLst>
              <a:gd fmla="val 12121"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file-code-028090-64.png" id="342" name="Google Shape;342;p10"/>
          <p:cNvPicPr preferRelativeResize="0"/>
          <p:nvPr/>
        </p:nvPicPr>
        <p:blipFill rotWithShape="1">
          <a:blip r:embed="rId4">
            <a:alphaModFix/>
          </a:blip>
          <a:srcRect b="0" l="0" r="0" t="0"/>
          <a:stretch/>
        </p:blipFill>
        <p:spPr>
          <a:xfrm>
            <a:off x="6451092" y="1819656"/>
            <a:ext cx="310896" cy="310896"/>
          </a:xfrm>
          <a:prstGeom prst="rect">
            <a:avLst/>
          </a:prstGeom>
          <a:noFill/>
          <a:ln>
            <a:noFill/>
          </a:ln>
        </p:spPr>
      </p:pic>
      <p:sp>
        <p:nvSpPr>
          <p:cNvPr id="343" name="Google Shape;343;p10"/>
          <p:cNvSpPr txBox="1"/>
          <p:nvPr/>
        </p:nvSpPr>
        <p:spPr>
          <a:xfrm>
            <a:off x="6871716" y="1801368"/>
            <a:ext cx="4594859" cy="457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150" u="none" cap="none" strike="noStrike">
                <a:solidFill>
                  <a:srgbClr val="065A82"/>
                </a:solidFill>
                <a:latin typeface="Arial"/>
                <a:ea typeface="Arial"/>
                <a:cs typeface="Arial"/>
                <a:sym typeface="Arial"/>
              </a:rPr>
              <a:t>Python 3 documentation translations (digitology.tech)</a:t>
            </a:r>
            <a:endParaRPr/>
          </a:p>
        </p:txBody>
      </p:sp>
      <p:sp>
        <p:nvSpPr>
          <p:cNvPr id="344" name="Google Shape;344;p10"/>
          <p:cNvSpPr txBox="1"/>
          <p:nvPr/>
        </p:nvSpPr>
        <p:spPr>
          <a:xfrm>
            <a:off x="6451092" y="2368296"/>
            <a:ext cx="5015483" cy="16002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21295C"/>
                </a:solidFill>
                <a:latin typeface="Arial"/>
                <a:ea typeface="Arial"/>
                <a:cs typeface="Arial"/>
                <a:sym typeface="Arial"/>
              </a:rPr>
              <a:t>“The for statement is used to iterate over the items of a sequence — for example, a string, tuple, or list — or another iterable object. The list of expressions is evaluated once and must return an iterable object; the resulting set of statements is then executed once for each item, in the order returned by the iterator.”</a:t>
            </a:r>
            <a:endParaRPr/>
          </a:p>
        </p:txBody>
      </p:sp>
      <p:sp>
        <p:nvSpPr>
          <p:cNvPr id="345" name="Google Shape;345;p10"/>
          <p:cNvSpPr/>
          <p:nvPr/>
        </p:nvSpPr>
        <p:spPr>
          <a:xfrm>
            <a:off x="502920" y="4389120"/>
            <a:ext cx="11183112" cy="1234440"/>
          </a:xfrm>
          <a:prstGeom prst="roundRect">
            <a:avLst>
              <a:gd fmla="val 24691" name="adj"/>
            </a:avLst>
          </a:prstGeom>
          <a:solidFill>
            <a:srgbClr val="F4F7FA"/>
          </a:solidFill>
          <a:ln cap="flat" cmpd="sng" w="19050">
            <a:solidFill>
              <a:srgbClr val="028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parkles-F0AB00-64.png" id="346" name="Google Shape;346;p10"/>
          <p:cNvPicPr preferRelativeResize="0"/>
          <p:nvPr/>
        </p:nvPicPr>
        <p:blipFill rotWithShape="1">
          <a:blip r:embed="rId3">
            <a:alphaModFix/>
          </a:blip>
          <a:srcRect b="0" l="0" r="0" t="0"/>
          <a:stretch/>
        </p:blipFill>
        <p:spPr>
          <a:xfrm>
            <a:off x="777240" y="4850892"/>
            <a:ext cx="310896" cy="310896"/>
          </a:xfrm>
          <a:prstGeom prst="rect">
            <a:avLst/>
          </a:prstGeom>
          <a:noFill/>
          <a:ln>
            <a:noFill/>
          </a:ln>
        </p:spPr>
      </p:pic>
      <p:sp>
        <p:nvSpPr>
          <p:cNvPr id="347" name="Google Shape;347;p10"/>
          <p:cNvSpPr txBox="1"/>
          <p:nvPr/>
        </p:nvSpPr>
        <p:spPr>
          <a:xfrm>
            <a:off x="1188720" y="4535424"/>
            <a:ext cx="4905756" cy="29260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50" u="none" cap="none" strike="noStrike">
                <a:solidFill>
                  <a:srgbClr val="F0AB00"/>
                </a:solidFill>
                <a:latin typeface="Arial"/>
                <a:ea typeface="Arial"/>
                <a:cs typeface="Arial"/>
                <a:sym typeface="Arial"/>
              </a:rPr>
              <a:t>AI version</a:t>
            </a:r>
            <a:endParaRPr/>
          </a:p>
        </p:txBody>
      </p:sp>
      <p:sp>
        <p:nvSpPr>
          <p:cNvPr id="348" name="Google Shape;348;p10"/>
          <p:cNvSpPr txBox="1"/>
          <p:nvPr/>
        </p:nvSpPr>
        <p:spPr>
          <a:xfrm>
            <a:off x="1188720" y="4846320"/>
            <a:ext cx="4905756" cy="66751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21295C"/>
                </a:solidFill>
                <a:latin typeface="Arial"/>
                <a:ea typeface="Arial"/>
                <a:cs typeface="Arial"/>
                <a:sym typeface="Arial"/>
              </a:rPr>
              <a:t>Faster and often just as accurate for standard language constructs · saves search time</a:t>
            </a:r>
            <a:endParaRPr/>
          </a:p>
        </p:txBody>
      </p:sp>
      <p:pic>
        <p:nvPicPr>
          <p:cNvPr descr="file-code-065A82-64.png" id="349" name="Google Shape;349;p10"/>
          <p:cNvPicPr preferRelativeResize="0"/>
          <p:nvPr/>
        </p:nvPicPr>
        <p:blipFill rotWithShape="1">
          <a:blip r:embed="rId5">
            <a:alphaModFix/>
          </a:blip>
          <a:srcRect b="0" l="0" r="0" t="0"/>
          <a:stretch/>
        </p:blipFill>
        <p:spPr>
          <a:xfrm>
            <a:off x="6094476" y="4850892"/>
            <a:ext cx="310896" cy="310896"/>
          </a:xfrm>
          <a:prstGeom prst="rect">
            <a:avLst/>
          </a:prstGeom>
          <a:noFill/>
          <a:ln>
            <a:noFill/>
          </a:ln>
        </p:spPr>
      </p:pic>
      <p:sp>
        <p:nvSpPr>
          <p:cNvPr id="350" name="Google Shape;350;p10"/>
          <p:cNvSpPr txBox="1"/>
          <p:nvPr/>
        </p:nvSpPr>
        <p:spPr>
          <a:xfrm>
            <a:off x="6505956" y="4535424"/>
            <a:ext cx="4905756" cy="29260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50" u="none" cap="none" strike="noStrike">
                <a:solidFill>
                  <a:srgbClr val="065A82"/>
                </a:solidFill>
                <a:latin typeface="Arial"/>
                <a:ea typeface="Arial"/>
                <a:cs typeface="Arial"/>
                <a:sym typeface="Arial"/>
              </a:rPr>
              <a:t>Official documentation</a:t>
            </a:r>
            <a:endParaRPr/>
          </a:p>
        </p:txBody>
      </p:sp>
      <p:sp>
        <p:nvSpPr>
          <p:cNvPr id="351" name="Google Shape;351;p10"/>
          <p:cNvSpPr txBox="1"/>
          <p:nvPr/>
        </p:nvSpPr>
        <p:spPr>
          <a:xfrm>
            <a:off x="6505956" y="4846320"/>
            <a:ext cx="4905756" cy="667512"/>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21295C"/>
                </a:solidFill>
                <a:latin typeface="Arial"/>
                <a:ea typeface="Arial"/>
                <a:cs typeface="Arial"/>
                <a:sym typeface="Arial"/>
              </a:rPr>
              <a:t>Written and maintained by a team · stable for years</a:t>
            </a:r>
            <a:endParaRPr/>
          </a:p>
        </p:txBody>
      </p:sp>
      <p:sp>
        <p:nvSpPr>
          <p:cNvPr id="352" name="Google Shape;352;p10"/>
          <p:cNvSpPr/>
          <p:nvPr/>
        </p:nvSpPr>
        <p:spPr>
          <a:xfrm>
            <a:off x="502920" y="5897880"/>
            <a:ext cx="11183112" cy="685800"/>
          </a:xfrm>
          <a:prstGeom prst="roundRect">
            <a:avLst>
              <a:gd fmla="val 25000" name="adj"/>
            </a:avLst>
          </a:prstGeom>
          <a:solidFill>
            <a:srgbClr val="FEF5E0"/>
          </a:solidFill>
          <a:ln cap="flat" cmpd="sng" w="17775">
            <a:solidFill>
              <a:srgbClr val="F0A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10"/>
          <p:cNvSpPr txBox="1"/>
          <p:nvPr/>
        </p:nvSpPr>
        <p:spPr>
          <a:xfrm>
            <a:off x="777240" y="5897880"/>
            <a:ext cx="10607100" cy="4911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1450" u="none" cap="none" strike="noStrike">
                <a:solidFill>
                  <a:srgbClr val="21295C"/>
                </a:solidFill>
                <a:latin typeface="Arial"/>
                <a:ea typeface="Arial"/>
                <a:cs typeface="Arial"/>
                <a:sym typeface="Arial"/>
              </a:rPr>
              <a:t>for technical documentation, what matters isn't style or who wrote it, but the accuracy and speed of the answer — AI is especially strong here on typical questions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11"/>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700" u="none" cap="none" strike="noStrike">
                <a:solidFill>
                  <a:srgbClr val="21295C"/>
                </a:solidFill>
                <a:latin typeface="Arial"/>
                <a:ea typeface="Arial"/>
                <a:cs typeface="Arial"/>
                <a:sym typeface="Arial"/>
              </a:rPr>
              <a:t>Who wrote it — code: AI or human?</a:t>
            </a:r>
            <a:endParaRPr/>
          </a:p>
        </p:txBody>
      </p:sp>
      <p:sp>
        <p:nvSpPr>
          <p:cNvPr id="360" name="Google Shape;360;p11"/>
          <p:cNvSpPr/>
          <p:nvPr/>
        </p:nvSpPr>
        <p:spPr>
          <a:xfrm>
            <a:off x="502920"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11"/>
          <p:cNvSpPr txBox="1"/>
          <p:nvPr/>
        </p:nvSpPr>
        <p:spPr>
          <a:xfrm>
            <a:off x="685800" y="1874520"/>
            <a:ext cx="5088636"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065A82"/>
                </a:solidFill>
                <a:latin typeface="Arial"/>
                <a:ea typeface="Arial"/>
                <a:cs typeface="Arial"/>
                <a:sym typeface="Arial"/>
              </a:rPr>
              <a:t>Code A</a:t>
            </a:r>
            <a:endParaRPr/>
          </a:p>
        </p:txBody>
      </p:sp>
      <p:sp>
        <p:nvSpPr>
          <p:cNvPr id="362" name="Google Shape;362;p11"/>
          <p:cNvSpPr/>
          <p:nvPr/>
        </p:nvSpPr>
        <p:spPr>
          <a:xfrm>
            <a:off x="685800" y="2258568"/>
            <a:ext cx="5088636" cy="3730752"/>
          </a:xfrm>
          <a:prstGeom prst="roundRect">
            <a:avLst>
              <a:gd fmla="val 6000" name="adj"/>
            </a:avLst>
          </a:prstGeom>
          <a:solidFill>
            <a:srgbClr val="1B22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11"/>
          <p:cNvSpPr txBox="1"/>
          <p:nvPr/>
        </p:nvSpPr>
        <p:spPr>
          <a:xfrm>
            <a:off x="822960" y="2386584"/>
            <a:ext cx="4814316" cy="34747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def prepare_method(self, method):</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"""Prepares the given HTTP method."""</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self.method = method</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if self.method is not None: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self.method = to_native_string(</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self.method.upper())</a:t>
            </a:r>
            <a:endParaRPr/>
          </a:p>
        </p:txBody>
      </p:sp>
      <p:sp>
        <p:nvSpPr>
          <p:cNvPr id="364" name="Google Shape;364;p11"/>
          <p:cNvSpPr/>
          <p:nvPr/>
        </p:nvSpPr>
        <p:spPr>
          <a:xfrm>
            <a:off x="6231636"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11"/>
          <p:cNvSpPr txBox="1"/>
          <p:nvPr/>
        </p:nvSpPr>
        <p:spPr>
          <a:xfrm>
            <a:off x="6414516" y="1874520"/>
            <a:ext cx="5088636"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065A82"/>
                </a:solidFill>
                <a:latin typeface="Arial"/>
                <a:ea typeface="Arial"/>
                <a:cs typeface="Arial"/>
                <a:sym typeface="Arial"/>
              </a:rPr>
              <a:t>Code B</a:t>
            </a:r>
            <a:endParaRPr/>
          </a:p>
        </p:txBody>
      </p:sp>
      <p:sp>
        <p:nvSpPr>
          <p:cNvPr id="366" name="Google Shape;366;p11"/>
          <p:cNvSpPr/>
          <p:nvPr/>
        </p:nvSpPr>
        <p:spPr>
          <a:xfrm>
            <a:off x="6414516" y="2258568"/>
            <a:ext cx="5088636" cy="3730752"/>
          </a:xfrm>
          <a:prstGeom prst="roundRect">
            <a:avLst>
              <a:gd fmla="val 6000" name="adj"/>
            </a:avLst>
          </a:prstGeom>
          <a:solidFill>
            <a:srgbClr val="1B22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11"/>
          <p:cNvSpPr txBox="1"/>
          <p:nvPr/>
        </p:nvSpPr>
        <p:spPr>
          <a:xfrm>
            <a:off x="6551676" y="2386584"/>
            <a:ext cx="4814316" cy="34747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def normalize_header_name(name):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"""Normalize an HTTP header name."""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if not name: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return name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return '-'.join(</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part.capitalize() for part in name.split('-'))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12"/>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000" u="none" cap="none" strike="noStrike">
                <a:solidFill>
                  <a:srgbClr val="21295C"/>
                </a:solidFill>
                <a:latin typeface="Arial"/>
                <a:ea typeface="Arial"/>
                <a:cs typeface="Arial"/>
                <a:sym typeface="Arial"/>
              </a:rPr>
              <a:t>Code A — the requests library, 10+ years in production. Code B — AI, 10-20 seconds</a:t>
            </a:r>
            <a:endParaRPr/>
          </a:p>
        </p:txBody>
      </p:sp>
      <p:sp>
        <p:nvSpPr>
          <p:cNvPr id="374" name="Google Shape;374;p12"/>
          <p:cNvSpPr/>
          <p:nvPr/>
        </p:nvSpPr>
        <p:spPr>
          <a:xfrm>
            <a:off x="502920" y="1554480"/>
            <a:ext cx="5454396" cy="3017520"/>
          </a:xfrm>
          <a:prstGeom prst="roundRect">
            <a:avLst>
              <a:gd fmla="val 10101"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12"/>
          <p:cNvSpPr txBox="1"/>
          <p:nvPr/>
        </p:nvSpPr>
        <p:spPr>
          <a:xfrm>
            <a:off x="685800" y="1737360"/>
            <a:ext cx="5088636"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065A82"/>
                </a:solidFill>
                <a:latin typeface="Arial"/>
                <a:ea typeface="Arial"/>
                <a:cs typeface="Arial"/>
                <a:sym typeface="Arial"/>
              </a:rPr>
              <a:t>requests, github.com/psf/requests, MIT license</a:t>
            </a:r>
            <a:endParaRPr/>
          </a:p>
        </p:txBody>
      </p:sp>
      <p:sp>
        <p:nvSpPr>
          <p:cNvPr id="376" name="Google Shape;376;p12"/>
          <p:cNvSpPr/>
          <p:nvPr/>
        </p:nvSpPr>
        <p:spPr>
          <a:xfrm>
            <a:off x="685800" y="2121408"/>
            <a:ext cx="5088636" cy="2267712"/>
          </a:xfrm>
          <a:prstGeom prst="roundRect">
            <a:avLst>
              <a:gd fmla="val 6000" name="adj"/>
            </a:avLst>
          </a:prstGeom>
          <a:solidFill>
            <a:srgbClr val="1B22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12"/>
          <p:cNvSpPr txBox="1"/>
          <p:nvPr/>
        </p:nvSpPr>
        <p:spPr>
          <a:xfrm>
            <a:off x="822960" y="2249424"/>
            <a:ext cx="4814316" cy="20116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def prepare_method(self, method):</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"""Prepares the given HTTP method."""</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self.method = method</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if self.method is not None: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self.method = to_native_string(</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self.method.upper())</a:t>
            </a:r>
            <a:endParaRPr/>
          </a:p>
        </p:txBody>
      </p:sp>
      <p:sp>
        <p:nvSpPr>
          <p:cNvPr id="378" name="Google Shape;378;p12"/>
          <p:cNvSpPr/>
          <p:nvPr/>
        </p:nvSpPr>
        <p:spPr>
          <a:xfrm>
            <a:off x="6231636" y="1554480"/>
            <a:ext cx="5454396" cy="3017520"/>
          </a:xfrm>
          <a:prstGeom prst="roundRect">
            <a:avLst>
              <a:gd fmla="val 10101"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12"/>
          <p:cNvSpPr txBox="1"/>
          <p:nvPr/>
        </p:nvSpPr>
        <p:spPr>
          <a:xfrm>
            <a:off x="6414516" y="1737360"/>
            <a:ext cx="5088636"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065A82"/>
                </a:solidFill>
                <a:latin typeface="Arial"/>
                <a:ea typeface="Arial"/>
                <a:cs typeface="Arial"/>
                <a:sym typeface="Arial"/>
              </a:rPr>
              <a:t>AI, prompted to write a similar function</a:t>
            </a:r>
            <a:endParaRPr/>
          </a:p>
        </p:txBody>
      </p:sp>
      <p:sp>
        <p:nvSpPr>
          <p:cNvPr id="380" name="Google Shape;380;p12"/>
          <p:cNvSpPr/>
          <p:nvPr/>
        </p:nvSpPr>
        <p:spPr>
          <a:xfrm>
            <a:off x="6414516" y="2121408"/>
            <a:ext cx="5088636" cy="2267712"/>
          </a:xfrm>
          <a:prstGeom prst="roundRect">
            <a:avLst>
              <a:gd fmla="val 6000" name="adj"/>
            </a:avLst>
          </a:prstGeom>
          <a:solidFill>
            <a:srgbClr val="1B22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12"/>
          <p:cNvSpPr txBox="1"/>
          <p:nvPr/>
        </p:nvSpPr>
        <p:spPr>
          <a:xfrm>
            <a:off x="6551676" y="2249424"/>
            <a:ext cx="4814316" cy="20116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def normalize_header_name(name):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"""Normalize an HTTP header name."""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if not name: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return name</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return '-'.join(</a:t>
            </a:r>
            <a:endParaRPr/>
          </a:p>
          <a:p>
            <a:pPr indent="0" lvl="0" marL="0" marR="0" rtl="0" algn="l">
              <a:lnSpc>
                <a:spcPct val="130000"/>
              </a:lnSpc>
              <a:spcBef>
                <a:spcPts val="0"/>
              </a:spcBef>
              <a:spcAft>
                <a:spcPts val="0"/>
              </a:spcAft>
              <a:buNone/>
            </a:pPr>
            <a:r>
              <a:rPr b="0" i="0" lang="en-US" sz="1250" u="none" cap="none" strike="noStrike">
                <a:solidFill>
                  <a:srgbClr val="E3E9F2"/>
                </a:solidFill>
                <a:latin typeface="Courier New"/>
                <a:ea typeface="Courier New"/>
                <a:cs typeface="Courier New"/>
                <a:sym typeface="Courier New"/>
              </a:rPr>
              <a:t>        part.capitalize() for part in name.split('-'))</a:t>
            </a:r>
            <a:endParaRPr/>
          </a:p>
        </p:txBody>
      </p:sp>
      <p:sp>
        <p:nvSpPr>
          <p:cNvPr id="382" name="Google Shape;382;p12"/>
          <p:cNvSpPr/>
          <p:nvPr/>
        </p:nvSpPr>
        <p:spPr>
          <a:xfrm>
            <a:off x="502920" y="4800600"/>
            <a:ext cx="11183112" cy="1783080"/>
          </a:xfrm>
          <a:prstGeom prst="roundRect">
            <a:avLst>
              <a:gd fmla="val 17094" name="adj"/>
            </a:avLst>
          </a:prstGeom>
          <a:solidFill>
            <a:srgbClr val="F4F7FA"/>
          </a:solidFill>
          <a:ln cap="flat" cmpd="sng" w="19050">
            <a:solidFill>
              <a:srgbClr val="028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12"/>
          <p:cNvSpPr txBox="1"/>
          <p:nvPr/>
        </p:nvSpPr>
        <p:spPr>
          <a:xfrm>
            <a:off x="777240" y="4946904"/>
            <a:ext cx="5317236"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50" u="none" cap="none" strike="noStrike">
                <a:solidFill>
                  <a:srgbClr val="065A82"/>
                </a:solidFill>
                <a:latin typeface="Arial"/>
                <a:ea typeface="Arial"/>
                <a:cs typeface="Arial"/>
                <a:sym typeface="Arial"/>
              </a:rPr>
              <a:t>requests</a:t>
            </a:r>
            <a:endParaRPr/>
          </a:p>
        </p:txBody>
      </p:sp>
      <p:sp>
        <p:nvSpPr>
          <p:cNvPr id="384" name="Google Shape;384;p12"/>
          <p:cNvSpPr txBox="1"/>
          <p:nvPr/>
        </p:nvSpPr>
        <p:spPr>
          <a:xfrm>
            <a:off x="777240" y="5303520"/>
            <a:ext cx="5317236" cy="10058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21295C"/>
                </a:solidFill>
                <a:latin typeface="Arial"/>
                <a:ea typeface="Arial"/>
                <a:cs typeface="Arial"/>
                <a:sym typeface="Arial"/>
              </a:rPr>
              <a:t>Used in millions of projects · battle-tested under real load for 10+ years</a:t>
            </a:r>
            <a:endParaRPr/>
          </a:p>
        </p:txBody>
      </p:sp>
      <p:sp>
        <p:nvSpPr>
          <p:cNvPr id="385" name="Google Shape;385;p12"/>
          <p:cNvSpPr txBox="1"/>
          <p:nvPr/>
        </p:nvSpPr>
        <p:spPr>
          <a:xfrm>
            <a:off x="6094476" y="4946904"/>
            <a:ext cx="5317236"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50" u="none" cap="none" strike="noStrike">
                <a:solidFill>
                  <a:srgbClr val="F0AB00"/>
                </a:solidFill>
                <a:latin typeface="Arial"/>
                <a:ea typeface="Arial"/>
                <a:cs typeface="Arial"/>
                <a:sym typeface="Arial"/>
              </a:rPr>
              <a:t>AI version</a:t>
            </a:r>
            <a:endParaRPr/>
          </a:p>
        </p:txBody>
      </p:sp>
      <p:sp>
        <p:nvSpPr>
          <p:cNvPr id="386" name="Google Shape;386;p12"/>
          <p:cNvSpPr txBox="1"/>
          <p:nvPr/>
        </p:nvSpPr>
        <p:spPr>
          <a:xfrm>
            <a:off x="6094476" y="5303520"/>
            <a:ext cx="5317236" cy="10058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u="none" cap="none" strike="noStrike">
                <a:solidFill>
                  <a:srgbClr val="21295C"/>
                </a:solidFill>
                <a:latin typeface="Arial"/>
                <a:ea typeface="Arial"/>
                <a:cs typeface="Arial"/>
                <a:sym typeface="Arial"/>
              </a:rPr>
              <a:t>A great fit for typical helper functions in seconds</a:t>
            </a:r>
            <a:endParaRPr/>
          </a:p>
        </p:txBody>
      </p:sp>
      <p:sp>
        <p:nvSpPr>
          <p:cNvPr id="387" name="Google Shape;387;p12"/>
          <p:cNvSpPr/>
          <p:nvPr/>
        </p:nvSpPr>
        <p:spPr>
          <a:xfrm>
            <a:off x="777240" y="6108192"/>
            <a:ext cx="10634472" cy="384048"/>
          </a:xfrm>
          <a:prstGeom prst="roundRect">
            <a:avLst>
              <a:gd fmla="val 12000" name="adj"/>
            </a:avLst>
          </a:prstGeom>
          <a:solidFill>
            <a:srgbClr val="FEF5E0"/>
          </a:solidFill>
          <a:ln cap="flat" cmpd="sng" w="15225">
            <a:solidFill>
              <a:srgbClr val="F0A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8" name="Google Shape;388;p12"/>
          <p:cNvSpPr txBox="1"/>
          <p:nvPr/>
        </p:nvSpPr>
        <p:spPr>
          <a:xfrm>
            <a:off x="960120" y="6163055"/>
            <a:ext cx="10268700" cy="177000"/>
          </a:xfrm>
          <a:prstGeom prst="rect">
            <a:avLst/>
          </a:prstGeom>
          <a:noFill/>
          <a:ln>
            <a:noFill/>
          </a:ln>
        </p:spPr>
        <p:txBody>
          <a:bodyPr anchorCtr="0" anchor="ctr" bIns="0" lIns="0" spcFirstLastPara="1" rIns="0" wrap="square" tIns="0">
            <a:spAutoFit/>
          </a:bodyPr>
          <a:lstStyle/>
          <a:p>
            <a:pPr indent="0" lvl="0" marL="0" marR="0" rtl="0" algn="l">
              <a:lnSpc>
                <a:spcPct val="122000"/>
              </a:lnSpc>
              <a:spcBef>
                <a:spcPts val="0"/>
              </a:spcBef>
              <a:spcAft>
                <a:spcPts val="0"/>
              </a:spcAft>
              <a:buNone/>
            </a:pPr>
            <a:r>
              <a:rPr b="1" i="0" lang="en-US" sz="1150" u="none" cap="none" strike="noStrike">
                <a:solidFill>
                  <a:srgbClr val="21295C"/>
                </a:solidFill>
                <a:latin typeface="Arial"/>
                <a:ea typeface="Arial"/>
                <a:cs typeface="Arial"/>
                <a:sym typeface="Arial"/>
              </a:rPr>
              <a:t>typical tasks — AI; complex and unique solutions that the system's stability depends on — a human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13"/>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700" u="none" cap="none" strike="noStrike">
                <a:solidFill>
                  <a:srgbClr val="21295C"/>
                </a:solidFill>
                <a:latin typeface="Arial"/>
                <a:ea typeface="Arial"/>
                <a:cs typeface="Arial"/>
                <a:sym typeface="Arial"/>
              </a:rPr>
              <a:t>Who made it — a painting: AI or human?</a:t>
            </a:r>
            <a:endParaRPr/>
          </a:p>
        </p:txBody>
      </p:sp>
      <p:sp>
        <p:nvSpPr>
          <p:cNvPr id="395" name="Google Shape;395;p13"/>
          <p:cNvSpPr/>
          <p:nvPr/>
        </p:nvSpPr>
        <p:spPr>
          <a:xfrm>
            <a:off x="502920"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6" name="Google Shape;396;p13"/>
          <p:cNvSpPr txBox="1"/>
          <p:nvPr/>
        </p:nvSpPr>
        <p:spPr>
          <a:xfrm>
            <a:off x="704088" y="1874520"/>
            <a:ext cx="5052059"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00" u="none" cap="none" strike="noStrike">
                <a:solidFill>
                  <a:srgbClr val="065A82"/>
                </a:solidFill>
                <a:latin typeface="Arial"/>
                <a:ea typeface="Arial"/>
                <a:cs typeface="Arial"/>
                <a:sym typeface="Arial"/>
              </a:rPr>
              <a:t>Image A</a:t>
            </a:r>
            <a:endParaRPr/>
          </a:p>
        </p:txBody>
      </p:sp>
      <p:sp>
        <p:nvSpPr>
          <p:cNvPr id="397" name="Google Shape;397;p13"/>
          <p:cNvSpPr/>
          <p:nvPr/>
        </p:nvSpPr>
        <p:spPr>
          <a:xfrm>
            <a:off x="6231636"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13"/>
          <p:cNvSpPr txBox="1"/>
          <p:nvPr/>
        </p:nvSpPr>
        <p:spPr>
          <a:xfrm>
            <a:off x="6432803" y="1874520"/>
            <a:ext cx="5052059"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00" u="none" cap="none" strike="noStrike">
                <a:solidFill>
                  <a:srgbClr val="065A82"/>
                </a:solidFill>
                <a:latin typeface="Arial"/>
                <a:ea typeface="Arial"/>
                <a:cs typeface="Arial"/>
                <a:sym typeface="Arial"/>
              </a:rPr>
              <a:t>Image B</a:t>
            </a:r>
            <a:endParaRPr/>
          </a:p>
        </p:txBody>
      </p:sp>
      <p:pic>
        <p:nvPicPr>
          <p:cNvPr descr="s13-velasco-real.jpg" id="399" name="Google Shape;399;p13"/>
          <p:cNvPicPr preferRelativeResize="0"/>
          <p:nvPr/>
        </p:nvPicPr>
        <p:blipFill rotWithShape="1">
          <a:blip r:embed="rId3">
            <a:alphaModFix/>
          </a:blip>
          <a:srcRect b="0" l="0" r="0" t="0"/>
          <a:stretch/>
        </p:blipFill>
        <p:spPr>
          <a:xfrm>
            <a:off x="6649500" y="2322749"/>
            <a:ext cx="4618650" cy="3594600"/>
          </a:xfrm>
          <a:prstGeom prst="rect">
            <a:avLst/>
          </a:prstGeom>
          <a:noFill/>
          <a:ln>
            <a:noFill/>
          </a:ln>
        </p:spPr>
      </p:pic>
      <p:pic>
        <p:nvPicPr>
          <p:cNvPr id="400" name="Google Shape;400;p13"/>
          <p:cNvPicPr preferRelativeResize="0"/>
          <p:nvPr/>
        </p:nvPicPr>
        <p:blipFill>
          <a:blip r:embed="rId4">
            <a:alphaModFix/>
          </a:blip>
          <a:stretch>
            <a:fillRect/>
          </a:stretch>
        </p:blipFill>
        <p:spPr>
          <a:xfrm>
            <a:off x="704098" y="2450975"/>
            <a:ext cx="5052050" cy="28036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14"/>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21295C"/>
                </a:solidFill>
                <a:latin typeface="Arial"/>
                <a:ea typeface="Arial"/>
                <a:cs typeface="Arial"/>
                <a:sym typeface="Arial"/>
              </a:rPr>
              <a:t>Image B — José María Velasco, 1875. AI would generate something similar in seconds</a:t>
            </a:r>
            <a:endParaRPr/>
          </a:p>
        </p:txBody>
      </p:sp>
      <p:sp>
        <p:nvSpPr>
          <p:cNvPr id="407" name="Google Shape;407;p14"/>
          <p:cNvSpPr/>
          <p:nvPr/>
        </p:nvSpPr>
        <p:spPr>
          <a:xfrm>
            <a:off x="502920" y="1554480"/>
            <a:ext cx="5454396" cy="4754880"/>
          </a:xfrm>
          <a:prstGeom prst="roundRect">
            <a:avLst>
              <a:gd fmla="val 6410" name="adj"/>
            </a:avLst>
          </a:prstGeom>
          <a:solidFill>
            <a:srgbClr val="F4F7FA"/>
          </a:solidFill>
          <a:ln cap="flat" cmpd="sng" w="19050">
            <a:solidFill>
              <a:srgbClr val="028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14"/>
          <p:cNvSpPr/>
          <p:nvPr/>
        </p:nvSpPr>
        <p:spPr>
          <a:xfrm>
            <a:off x="6231636" y="1554480"/>
            <a:ext cx="5454396" cy="4754880"/>
          </a:xfrm>
          <a:prstGeom prst="roundRect">
            <a:avLst>
              <a:gd fmla="val 641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parkles-1C7293-96.png" id="409" name="Google Shape;409;p14"/>
          <p:cNvPicPr preferRelativeResize="0"/>
          <p:nvPr/>
        </p:nvPicPr>
        <p:blipFill rotWithShape="1">
          <a:blip r:embed="rId3">
            <a:alphaModFix/>
          </a:blip>
          <a:srcRect b="0" l="0" r="0" t="0"/>
          <a:stretch/>
        </p:blipFill>
        <p:spPr>
          <a:xfrm>
            <a:off x="2937474" y="1774106"/>
            <a:ext cx="548668" cy="548650"/>
          </a:xfrm>
          <a:prstGeom prst="rect">
            <a:avLst/>
          </a:prstGeom>
          <a:noFill/>
          <a:ln>
            <a:noFill/>
          </a:ln>
        </p:spPr>
      </p:pic>
      <p:pic>
        <p:nvPicPr>
          <p:cNvPr descr="book-open-028090-64.png" id="410" name="Google Shape;410;p14"/>
          <p:cNvPicPr preferRelativeResize="0"/>
          <p:nvPr/>
        </p:nvPicPr>
        <p:blipFill rotWithShape="1">
          <a:blip r:embed="rId4">
            <a:alphaModFix/>
          </a:blip>
          <a:srcRect b="0" l="0" r="0" t="0"/>
          <a:stretch/>
        </p:blipFill>
        <p:spPr>
          <a:xfrm>
            <a:off x="6432803" y="1755648"/>
            <a:ext cx="292608" cy="292608"/>
          </a:xfrm>
          <a:prstGeom prst="rect">
            <a:avLst/>
          </a:prstGeom>
          <a:noFill/>
          <a:ln>
            <a:noFill/>
          </a:ln>
        </p:spPr>
      </p:pic>
      <p:sp>
        <p:nvSpPr>
          <p:cNvPr id="411" name="Google Shape;411;p14"/>
          <p:cNvSpPr txBox="1"/>
          <p:nvPr/>
        </p:nvSpPr>
        <p:spPr>
          <a:xfrm>
            <a:off x="6816851" y="1737360"/>
            <a:ext cx="4668012"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100" u="none" cap="none" strike="noStrike">
                <a:solidFill>
                  <a:srgbClr val="065A82"/>
                </a:solidFill>
                <a:latin typeface="Arial"/>
                <a:ea typeface="Arial"/>
                <a:cs typeface="Arial"/>
                <a:sym typeface="Arial"/>
              </a:rPr>
              <a:t>José María Velasco,</a:t>
            </a:r>
            <a:endParaRPr/>
          </a:p>
          <a:p>
            <a:pPr indent="0" lvl="0" marL="0" marR="0" rtl="0" algn="l">
              <a:lnSpc>
                <a:spcPct val="115000"/>
              </a:lnSpc>
              <a:spcBef>
                <a:spcPts val="0"/>
              </a:spcBef>
              <a:spcAft>
                <a:spcPts val="0"/>
              </a:spcAft>
              <a:buNone/>
            </a:pPr>
            <a:r>
              <a:rPr b="1" i="0" lang="en-US" sz="1100" u="none" cap="none" strike="noStrike">
                <a:solidFill>
                  <a:srgbClr val="065A82"/>
                </a:solidFill>
                <a:latin typeface="Arial"/>
                <a:ea typeface="Arial"/>
                <a:cs typeface="Arial"/>
                <a:sym typeface="Arial"/>
              </a:rPr>
              <a:t>“Valley of Mexico from the Santa Isabel Mountain,” 1875</a:t>
            </a:r>
            <a:endParaRPr/>
          </a:p>
        </p:txBody>
      </p:sp>
      <p:pic>
        <p:nvPicPr>
          <p:cNvPr descr="s13-velasco-real.jpg" id="412" name="Google Shape;412;p14"/>
          <p:cNvPicPr preferRelativeResize="0"/>
          <p:nvPr/>
        </p:nvPicPr>
        <p:blipFill rotWithShape="1">
          <a:blip r:embed="rId5">
            <a:alphaModFix/>
          </a:blip>
          <a:srcRect b="0" l="0" r="0" t="0"/>
          <a:stretch/>
        </p:blipFill>
        <p:spPr>
          <a:xfrm>
            <a:off x="6432803" y="2322576"/>
            <a:ext cx="5052059" cy="3410712"/>
          </a:xfrm>
          <a:prstGeom prst="rect">
            <a:avLst/>
          </a:prstGeom>
          <a:noFill/>
          <a:ln>
            <a:noFill/>
          </a:ln>
        </p:spPr>
      </p:pic>
      <p:sp>
        <p:nvSpPr>
          <p:cNvPr id="413" name="Google Shape;413;p14"/>
          <p:cNvSpPr txBox="1"/>
          <p:nvPr/>
        </p:nvSpPr>
        <p:spPr>
          <a:xfrm>
            <a:off x="6432803" y="5788152"/>
            <a:ext cx="5052059"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1" lang="en-US" sz="900" u="none" cap="none" strike="noStrike">
                <a:solidFill>
                  <a:srgbClr val="1C7293"/>
                </a:solidFill>
                <a:latin typeface="Arial"/>
                <a:ea typeface="Arial"/>
                <a:cs typeface="Arial"/>
                <a:sym typeface="Arial"/>
              </a:rPr>
              <a:t>public domain · Wikimedia Commons</a:t>
            </a:r>
            <a:endParaRPr/>
          </a:p>
        </p:txBody>
      </p:sp>
      <p:pic>
        <p:nvPicPr>
          <p:cNvPr id="414" name="Google Shape;414;p14"/>
          <p:cNvPicPr preferRelativeResize="0"/>
          <p:nvPr/>
        </p:nvPicPr>
        <p:blipFill>
          <a:blip r:embed="rId6">
            <a:alphaModFix/>
          </a:blip>
          <a:stretch>
            <a:fillRect/>
          </a:stretch>
        </p:blipFill>
        <p:spPr>
          <a:xfrm>
            <a:off x="704098" y="2450975"/>
            <a:ext cx="5052050" cy="28036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15"/>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400" u="none" cap="none" strike="noStrike">
                <a:solidFill>
                  <a:srgbClr val="21295C"/>
                </a:solidFill>
                <a:latin typeface="Arial"/>
                <a:ea typeface="Arial"/>
                <a:cs typeface="Arial"/>
                <a:sym typeface="Arial"/>
              </a:rPr>
              <a:t>Who made it — a data visualization: AI or human?</a:t>
            </a:r>
            <a:endParaRPr/>
          </a:p>
        </p:txBody>
      </p:sp>
      <p:sp>
        <p:nvSpPr>
          <p:cNvPr id="421" name="Google Shape;421;p15"/>
          <p:cNvSpPr/>
          <p:nvPr/>
        </p:nvSpPr>
        <p:spPr>
          <a:xfrm>
            <a:off x="502920"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15"/>
          <p:cNvSpPr txBox="1"/>
          <p:nvPr/>
        </p:nvSpPr>
        <p:spPr>
          <a:xfrm>
            <a:off x="704088" y="1874520"/>
            <a:ext cx="5052059"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00" u="none" cap="none" strike="noStrike">
                <a:solidFill>
                  <a:srgbClr val="065A82"/>
                </a:solidFill>
                <a:latin typeface="Arial"/>
                <a:ea typeface="Arial"/>
                <a:cs typeface="Arial"/>
                <a:sym typeface="Arial"/>
              </a:rPr>
              <a:t>Chart A</a:t>
            </a:r>
            <a:endParaRPr/>
          </a:p>
        </p:txBody>
      </p:sp>
      <p:pic>
        <p:nvPicPr>
          <p:cNvPr descr="s16-ai-generated-chart.png" id="423" name="Google Shape;423;p15"/>
          <p:cNvPicPr preferRelativeResize="0"/>
          <p:nvPr/>
        </p:nvPicPr>
        <p:blipFill rotWithShape="1">
          <a:blip r:embed="rId3">
            <a:alphaModFix/>
          </a:blip>
          <a:srcRect b="0" l="0" r="0" t="0"/>
          <a:stretch/>
        </p:blipFill>
        <p:spPr>
          <a:xfrm>
            <a:off x="704088" y="2258568"/>
            <a:ext cx="5052059" cy="3794760"/>
          </a:xfrm>
          <a:prstGeom prst="rect">
            <a:avLst/>
          </a:prstGeom>
          <a:noFill/>
          <a:ln>
            <a:noFill/>
          </a:ln>
        </p:spPr>
      </p:pic>
      <p:sp>
        <p:nvSpPr>
          <p:cNvPr id="424" name="Google Shape;424;p15"/>
          <p:cNvSpPr/>
          <p:nvPr/>
        </p:nvSpPr>
        <p:spPr>
          <a:xfrm>
            <a:off x="6231636" y="1691640"/>
            <a:ext cx="5454396" cy="4480560"/>
          </a:xfrm>
          <a:prstGeom prst="roundRect">
            <a:avLst>
              <a:gd fmla="val 6802"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15"/>
          <p:cNvSpPr txBox="1"/>
          <p:nvPr/>
        </p:nvSpPr>
        <p:spPr>
          <a:xfrm>
            <a:off x="6432803" y="1874520"/>
            <a:ext cx="5052059"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00" u="none" cap="none" strike="noStrike">
                <a:solidFill>
                  <a:srgbClr val="065A82"/>
                </a:solidFill>
                <a:latin typeface="Arial"/>
                <a:ea typeface="Arial"/>
                <a:cs typeface="Arial"/>
                <a:sym typeface="Arial"/>
              </a:rPr>
              <a:t>Chart B</a:t>
            </a:r>
            <a:endParaRPr/>
          </a:p>
        </p:txBody>
      </p:sp>
      <p:pic>
        <p:nvPicPr>
          <p:cNvPr descr="s15-owid-internet-noattrib.png" id="426" name="Google Shape;426;p15"/>
          <p:cNvPicPr preferRelativeResize="0"/>
          <p:nvPr/>
        </p:nvPicPr>
        <p:blipFill rotWithShape="1">
          <a:blip r:embed="rId4">
            <a:alphaModFix/>
          </a:blip>
          <a:srcRect b="0" l="0" r="0" t="0"/>
          <a:stretch/>
        </p:blipFill>
        <p:spPr>
          <a:xfrm>
            <a:off x="6432803" y="2258568"/>
            <a:ext cx="5052059" cy="37947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16"/>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700" u="none" cap="none" strike="noStrike">
                <a:solidFill>
                  <a:srgbClr val="21295C"/>
                </a:solidFill>
                <a:latin typeface="Arial"/>
                <a:ea typeface="Arial"/>
                <a:cs typeface="Arial"/>
                <a:sym typeface="Arial"/>
              </a:rPr>
              <a:t>Chart A — AI, seconds. Chart B — Our World in Data, weeks of verification</a:t>
            </a:r>
            <a:endParaRPr/>
          </a:p>
        </p:txBody>
      </p:sp>
      <p:sp>
        <p:nvSpPr>
          <p:cNvPr id="433" name="Google Shape;433;p16"/>
          <p:cNvSpPr/>
          <p:nvPr/>
        </p:nvSpPr>
        <p:spPr>
          <a:xfrm>
            <a:off x="502920" y="1508760"/>
            <a:ext cx="5454396" cy="3063240"/>
          </a:xfrm>
          <a:prstGeom prst="roundRect">
            <a:avLst>
              <a:gd fmla="val 995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parkles-028090-64.png" id="434" name="Google Shape;434;p16"/>
          <p:cNvPicPr preferRelativeResize="0"/>
          <p:nvPr/>
        </p:nvPicPr>
        <p:blipFill rotWithShape="1">
          <a:blip r:embed="rId3">
            <a:alphaModFix/>
          </a:blip>
          <a:srcRect b="0" l="0" r="0" t="0"/>
          <a:stretch/>
        </p:blipFill>
        <p:spPr>
          <a:xfrm>
            <a:off x="685800" y="1691639"/>
            <a:ext cx="274320" cy="274320"/>
          </a:xfrm>
          <a:prstGeom prst="rect">
            <a:avLst/>
          </a:prstGeom>
          <a:noFill/>
          <a:ln>
            <a:noFill/>
          </a:ln>
        </p:spPr>
      </p:pic>
      <p:sp>
        <p:nvSpPr>
          <p:cNvPr id="435" name="Google Shape;435;p16"/>
          <p:cNvSpPr txBox="1"/>
          <p:nvPr/>
        </p:nvSpPr>
        <p:spPr>
          <a:xfrm>
            <a:off x="1051560" y="1664207"/>
            <a:ext cx="4722875" cy="457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050" u="none" cap="none" strike="noStrike">
                <a:solidFill>
                  <a:srgbClr val="065A82"/>
                </a:solidFill>
                <a:latin typeface="Arial"/>
                <a:ea typeface="Arial"/>
                <a:cs typeface="Arial"/>
                <a:sym typeface="Arial"/>
              </a:rPr>
              <a:t>Generated via an AI tool on fabricated data</a:t>
            </a:r>
            <a:endParaRPr/>
          </a:p>
        </p:txBody>
      </p:sp>
      <p:pic>
        <p:nvPicPr>
          <p:cNvPr descr="s16-ai-generated-chart.png" id="436" name="Google Shape;436;p16"/>
          <p:cNvPicPr preferRelativeResize="0"/>
          <p:nvPr/>
        </p:nvPicPr>
        <p:blipFill rotWithShape="1">
          <a:blip r:embed="rId4">
            <a:alphaModFix/>
          </a:blip>
          <a:srcRect b="0" l="0" r="0" t="0"/>
          <a:stretch/>
        </p:blipFill>
        <p:spPr>
          <a:xfrm>
            <a:off x="685800" y="2194560"/>
            <a:ext cx="5088636" cy="2286000"/>
          </a:xfrm>
          <a:prstGeom prst="rect">
            <a:avLst/>
          </a:prstGeom>
          <a:noFill/>
          <a:ln>
            <a:noFill/>
          </a:ln>
        </p:spPr>
      </p:pic>
      <p:sp>
        <p:nvSpPr>
          <p:cNvPr id="437" name="Google Shape;437;p16"/>
          <p:cNvSpPr/>
          <p:nvPr/>
        </p:nvSpPr>
        <p:spPr>
          <a:xfrm>
            <a:off x="6231636" y="1508760"/>
            <a:ext cx="5454396" cy="3063240"/>
          </a:xfrm>
          <a:prstGeom prst="roundRect">
            <a:avLst>
              <a:gd fmla="val 995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bar-chart-2-028090-64.png" id="438" name="Google Shape;438;p16"/>
          <p:cNvPicPr preferRelativeResize="0"/>
          <p:nvPr/>
        </p:nvPicPr>
        <p:blipFill rotWithShape="1">
          <a:blip r:embed="rId5">
            <a:alphaModFix/>
          </a:blip>
          <a:srcRect b="0" l="0" r="0" t="0"/>
          <a:stretch/>
        </p:blipFill>
        <p:spPr>
          <a:xfrm>
            <a:off x="6414516" y="1691639"/>
            <a:ext cx="274320" cy="274320"/>
          </a:xfrm>
          <a:prstGeom prst="rect">
            <a:avLst/>
          </a:prstGeom>
          <a:noFill/>
          <a:ln>
            <a:noFill/>
          </a:ln>
        </p:spPr>
      </p:pic>
      <p:sp>
        <p:nvSpPr>
          <p:cNvPr id="439" name="Google Shape;439;p16"/>
          <p:cNvSpPr txBox="1"/>
          <p:nvPr/>
        </p:nvSpPr>
        <p:spPr>
          <a:xfrm>
            <a:off x="6780276" y="1664207"/>
            <a:ext cx="4722875" cy="457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050" u="none" cap="none" strike="noStrike">
                <a:solidFill>
                  <a:srgbClr val="065A82"/>
                </a:solidFill>
                <a:latin typeface="Arial"/>
                <a:ea typeface="Arial"/>
                <a:cs typeface="Arial"/>
                <a:sym typeface="Arial"/>
              </a:rPr>
              <a:t>Our World in Data · ITU / World Bank data · CC-BY</a:t>
            </a:r>
            <a:endParaRPr/>
          </a:p>
        </p:txBody>
      </p:sp>
      <p:pic>
        <p:nvPicPr>
          <p:cNvPr descr="s16-owid-internet.png" id="440" name="Google Shape;440;p16"/>
          <p:cNvPicPr preferRelativeResize="0"/>
          <p:nvPr/>
        </p:nvPicPr>
        <p:blipFill rotWithShape="1">
          <a:blip r:embed="rId6">
            <a:alphaModFix/>
          </a:blip>
          <a:srcRect b="0" l="0" r="0" t="0"/>
          <a:stretch/>
        </p:blipFill>
        <p:spPr>
          <a:xfrm>
            <a:off x="6414516" y="2194560"/>
            <a:ext cx="5088636" cy="2286000"/>
          </a:xfrm>
          <a:prstGeom prst="rect">
            <a:avLst/>
          </a:prstGeom>
          <a:noFill/>
          <a:ln>
            <a:noFill/>
          </a:ln>
        </p:spPr>
      </p:pic>
      <p:sp>
        <p:nvSpPr>
          <p:cNvPr id="441" name="Google Shape;441;p16"/>
          <p:cNvSpPr/>
          <p:nvPr/>
        </p:nvSpPr>
        <p:spPr>
          <a:xfrm>
            <a:off x="502920" y="4773168"/>
            <a:ext cx="11183112" cy="1810512"/>
          </a:xfrm>
          <a:prstGeom prst="roundRect">
            <a:avLst>
              <a:gd fmla="val 16835" name="adj"/>
            </a:avLst>
          </a:prstGeom>
          <a:solidFill>
            <a:srgbClr val="F4F7FA"/>
          </a:solidFill>
          <a:ln cap="flat" cmpd="sng" w="19050">
            <a:solidFill>
              <a:srgbClr val="028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16"/>
          <p:cNvSpPr txBox="1"/>
          <p:nvPr/>
        </p:nvSpPr>
        <p:spPr>
          <a:xfrm>
            <a:off x="777240" y="4901183"/>
            <a:ext cx="5317236" cy="29260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F0AB00"/>
                </a:solidFill>
                <a:latin typeface="Arial"/>
                <a:ea typeface="Arial"/>
                <a:cs typeface="Arial"/>
                <a:sym typeface="Arial"/>
              </a:rPr>
              <a:t>AI chart</a:t>
            </a:r>
            <a:endParaRPr/>
          </a:p>
        </p:txBody>
      </p:sp>
      <p:sp>
        <p:nvSpPr>
          <p:cNvPr id="443" name="Google Shape;443;p16"/>
          <p:cNvSpPr txBox="1"/>
          <p:nvPr/>
        </p:nvSpPr>
        <p:spPr>
          <a:xfrm>
            <a:off x="777240" y="5230368"/>
            <a:ext cx="5317236" cy="121615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50" u="none" cap="none" strike="noStrike">
                <a:solidFill>
                  <a:srgbClr val="21295C"/>
                </a:solidFill>
                <a:latin typeface="Arial"/>
                <a:ea typeface="Arial"/>
                <a:cs typeface="Arial"/>
                <a:sym typeface="Arial"/>
              </a:rPr>
              <a:t>Solves the visualization task in seconds · no question of authorship or ethics here, unlike with the painting</a:t>
            </a:r>
            <a:endParaRPr/>
          </a:p>
        </p:txBody>
      </p:sp>
      <p:sp>
        <p:nvSpPr>
          <p:cNvPr id="444" name="Google Shape;444;p16"/>
          <p:cNvSpPr txBox="1"/>
          <p:nvPr/>
        </p:nvSpPr>
        <p:spPr>
          <a:xfrm>
            <a:off x="6094476" y="4901183"/>
            <a:ext cx="5317236" cy="29260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300" u="none" cap="none" strike="noStrike">
                <a:solidFill>
                  <a:srgbClr val="065A82"/>
                </a:solidFill>
                <a:latin typeface="Arial"/>
                <a:ea typeface="Arial"/>
                <a:cs typeface="Arial"/>
                <a:sym typeface="Arial"/>
              </a:rPr>
              <a:t>Our World in Data</a:t>
            </a:r>
            <a:endParaRPr/>
          </a:p>
        </p:txBody>
      </p:sp>
      <p:sp>
        <p:nvSpPr>
          <p:cNvPr id="445" name="Google Shape;445;p16"/>
          <p:cNvSpPr txBox="1"/>
          <p:nvPr/>
        </p:nvSpPr>
        <p:spPr>
          <a:xfrm>
            <a:off x="6094476" y="5230368"/>
            <a:ext cx="5317236" cy="121615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50" u="none" cap="none" strike="noStrike">
                <a:solidFill>
                  <a:srgbClr val="21295C"/>
                </a:solidFill>
                <a:latin typeface="Arial"/>
                <a:ea typeface="Arial"/>
                <a:cs typeface="Arial"/>
                <a:sym typeface="Arial"/>
              </a:rPr>
              <a:t>A research team collects and verifies sources over weeks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17"/>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True or false? Let's check your intuition about AI</a:t>
            </a:r>
            <a:endParaRPr/>
          </a:p>
        </p:txBody>
      </p:sp>
      <p:sp>
        <p:nvSpPr>
          <p:cNvPr id="452" name="Google Shape;452;p17"/>
          <p:cNvSpPr/>
          <p:nvPr/>
        </p:nvSpPr>
        <p:spPr>
          <a:xfrm>
            <a:off x="502920" y="1463040"/>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7"/>
          <p:cNvSpPr txBox="1"/>
          <p:nvPr/>
        </p:nvSpPr>
        <p:spPr>
          <a:xfrm>
            <a:off x="649224" y="1463040"/>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1</a:t>
            </a:r>
            <a:endParaRPr/>
          </a:p>
        </p:txBody>
      </p:sp>
      <p:pic>
        <p:nvPicPr>
          <p:cNvPr descr="hash-028090-64.png" id="454" name="Google Shape;454;p17"/>
          <p:cNvPicPr preferRelativeResize="0"/>
          <p:nvPr/>
        </p:nvPicPr>
        <p:blipFill rotWithShape="1">
          <a:blip r:embed="rId3">
            <a:alphaModFix/>
          </a:blip>
          <a:srcRect b="0" l="0" r="0" t="0"/>
          <a:stretch/>
        </p:blipFill>
        <p:spPr>
          <a:xfrm>
            <a:off x="1051560" y="1673352"/>
            <a:ext cx="310896" cy="310896"/>
          </a:xfrm>
          <a:prstGeom prst="rect">
            <a:avLst/>
          </a:prstGeom>
          <a:noFill/>
          <a:ln>
            <a:noFill/>
          </a:ln>
        </p:spPr>
      </p:pic>
      <p:sp>
        <p:nvSpPr>
          <p:cNvPr id="455" name="Google Shape;455;p17"/>
          <p:cNvSpPr txBox="1"/>
          <p:nvPr/>
        </p:nvSpPr>
        <p:spPr>
          <a:xfrm>
            <a:off x="1490472" y="1463040"/>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counts the letters in a word directly, the way a human does</a:t>
            </a:r>
            <a:endParaRPr/>
          </a:p>
        </p:txBody>
      </p:sp>
      <p:sp>
        <p:nvSpPr>
          <p:cNvPr id="456" name="Google Shape;456;p17"/>
          <p:cNvSpPr txBox="1"/>
          <p:nvPr/>
        </p:nvSpPr>
        <p:spPr>
          <a:xfrm>
            <a:off x="9171432" y="1664208"/>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57" name="Google Shape;457;p17"/>
          <p:cNvSpPr/>
          <p:nvPr/>
        </p:nvSpPr>
        <p:spPr>
          <a:xfrm>
            <a:off x="10378440" y="1700784"/>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txBox="1"/>
          <p:nvPr/>
        </p:nvSpPr>
        <p:spPr>
          <a:xfrm>
            <a:off x="10469880" y="1664208"/>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59" name="Google Shape;459;p17"/>
          <p:cNvSpPr/>
          <p:nvPr/>
        </p:nvSpPr>
        <p:spPr>
          <a:xfrm>
            <a:off x="502920" y="2322576"/>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17"/>
          <p:cNvSpPr txBox="1"/>
          <p:nvPr/>
        </p:nvSpPr>
        <p:spPr>
          <a:xfrm>
            <a:off x="649224" y="2322576"/>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2</a:t>
            </a:r>
            <a:endParaRPr/>
          </a:p>
        </p:txBody>
      </p:sp>
      <p:pic>
        <p:nvPicPr>
          <p:cNvPr descr="calendar-028090-64.png" id="461" name="Google Shape;461;p17"/>
          <p:cNvPicPr preferRelativeResize="0"/>
          <p:nvPr/>
        </p:nvPicPr>
        <p:blipFill rotWithShape="1">
          <a:blip r:embed="rId4">
            <a:alphaModFix/>
          </a:blip>
          <a:srcRect b="0" l="0" r="0" t="0"/>
          <a:stretch/>
        </p:blipFill>
        <p:spPr>
          <a:xfrm>
            <a:off x="1051560" y="2532888"/>
            <a:ext cx="310896" cy="310896"/>
          </a:xfrm>
          <a:prstGeom prst="rect">
            <a:avLst/>
          </a:prstGeom>
          <a:noFill/>
          <a:ln>
            <a:noFill/>
          </a:ln>
        </p:spPr>
      </p:pic>
      <p:sp>
        <p:nvSpPr>
          <p:cNvPr id="462" name="Google Shape;462;p17"/>
          <p:cNvSpPr txBox="1"/>
          <p:nvPr/>
        </p:nvSpPr>
        <p:spPr>
          <a:xfrm>
            <a:off x="1490472" y="2322576"/>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knows what happened in the world today</a:t>
            </a:r>
            <a:endParaRPr/>
          </a:p>
        </p:txBody>
      </p:sp>
      <p:sp>
        <p:nvSpPr>
          <p:cNvPr id="463" name="Google Shape;463;p17"/>
          <p:cNvSpPr txBox="1"/>
          <p:nvPr/>
        </p:nvSpPr>
        <p:spPr>
          <a:xfrm>
            <a:off x="9171432" y="2523744"/>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64" name="Google Shape;464;p17"/>
          <p:cNvSpPr/>
          <p:nvPr/>
        </p:nvSpPr>
        <p:spPr>
          <a:xfrm>
            <a:off x="10378440" y="2560320"/>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7"/>
          <p:cNvSpPr txBox="1"/>
          <p:nvPr/>
        </p:nvSpPr>
        <p:spPr>
          <a:xfrm>
            <a:off x="10469880" y="2523744"/>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66" name="Google Shape;466;p17"/>
          <p:cNvSpPr/>
          <p:nvPr/>
        </p:nvSpPr>
        <p:spPr>
          <a:xfrm>
            <a:off x="502920" y="3182112"/>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7"/>
          <p:cNvSpPr txBox="1"/>
          <p:nvPr/>
        </p:nvSpPr>
        <p:spPr>
          <a:xfrm>
            <a:off x="649224" y="3182112"/>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3</a:t>
            </a:r>
            <a:endParaRPr/>
          </a:p>
        </p:txBody>
      </p:sp>
      <p:pic>
        <p:nvPicPr>
          <p:cNvPr descr="brain-circuit-028090-64.png" id="468" name="Google Shape;468;p17"/>
          <p:cNvPicPr preferRelativeResize="0"/>
          <p:nvPr/>
        </p:nvPicPr>
        <p:blipFill rotWithShape="1">
          <a:blip r:embed="rId5">
            <a:alphaModFix/>
          </a:blip>
          <a:srcRect b="0" l="0" r="0" t="0"/>
          <a:stretch/>
        </p:blipFill>
        <p:spPr>
          <a:xfrm>
            <a:off x="1051560" y="3392424"/>
            <a:ext cx="310896" cy="310896"/>
          </a:xfrm>
          <a:prstGeom prst="rect">
            <a:avLst/>
          </a:prstGeom>
          <a:noFill/>
          <a:ln>
            <a:noFill/>
          </a:ln>
        </p:spPr>
      </p:pic>
      <p:sp>
        <p:nvSpPr>
          <p:cNvPr id="469" name="Google Shape;469;p17"/>
          <p:cNvSpPr txBox="1"/>
          <p:nvPr/>
        </p:nvSpPr>
        <p:spPr>
          <a:xfrm>
            <a:off x="1490472" y="3182112"/>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can confidently state something false without meaning to deceive</a:t>
            </a:r>
            <a:endParaRPr/>
          </a:p>
        </p:txBody>
      </p:sp>
      <p:sp>
        <p:nvSpPr>
          <p:cNvPr id="470" name="Google Shape;470;p17"/>
          <p:cNvSpPr txBox="1"/>
          <p:nvPr/>
        </p:nvSpPr>
        <p:spPr>
          <a:xfrm>
            <a:off x="9171432" y="3383280"/>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71" name="Google Shape;471;p17"/>
          <p:cNvSpPr/>
          <p:nvPr/>
        </p:nvSpPr>
        <p:spPr>
          <a:xfrm>
            <a:off x="10378440" y="3419856"/>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nvSpPr>
        <p:spPr>
          <a:xfrm>
            <a:off x="10469880" y="3383280"/>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73" name="Google Shape;473;p17"/>
          <p:cNvSpPr/>
          <p:nvPr/>
        </p:nvSpPr>
        <p:spPr>
          <a:xfrm>
            <a:off x="502920" y="4041648"/>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17"/>
          <p:cNvSpPr txBox="1"/>
          <p:nvPr/>
        </p:nvSpPr>
        <p:spPr>
          <a:xfrm>
            <a:off x="649224" y="4041648"/>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4</a:t>
            </a:r>
            <a:endParaRPr/>
          </a:p>
        </p:txBody>
      </p:sp>
      <p:pic>
        <p:nvPicPr>
          <p:cNvPr descr="lock-028090-64.png" id="475" name="Google Shape;475;p17"/>
          <p:cNvPicPr preferRelativeResize="0"/>
          <p:nvPr/>
        </p:nvPicPr>
        <p:blipFill rotWithShape="1">
          <a:blip r:embed="rId6">
            <a:alphaModFix/>
          </a:blip>
          <a:srcRect b="0" l="0" r="0" t="0"/>
          <a:stretch/>
        </p:blipFill>
        <p:spPr>
          <a:xfrm>
            <a:off x="1051560" y="4251959"/>
            <a:ext cx="310896" cy="310896"/>
          </a:xfrm>
          <a:prstGeom prst="rect">
            <a:avLst/>
          </a:prstGeom>
          <a:noFill/>
          <a:ln>
            <a:noFill/>
          </a:ln>
        </p:spPr>
      </p:pic>
      <p:sp>
        <p:nvSpPr>
          <p:cNvPr id="476" name="Google Shape;476;p17"/>
          <p:cNvSpPr txBox="1"/>
          <p:nvPr/>
        </p:nvSpPr>
        <p:spPr>
          <a:xfrm>
            <a:off x="1490472" y="4041648"/>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An AI chat can see your personal email and files by default</a:t>
            </a:r>
            <a:endParaRPr/>
          </a:p>
        </p:txBody>
      </p:sp>
      <p:sp>
        <p:nvSpPr>
          <p:cNvPr id="477" name="Google Shape;477;p17"/>
          <p:cNvSpPr txBox="1"/>
          <p:nvPr/>
        </p:nvSpPr>
        <p:spPr>
          <a:xfrm>
            <a:off x="9171432" y="4242816"/>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78" name="Google Shape;478;p17"/>
          <p:cNvSpPr/>
          <p:nvPr/>
        </p:nvSpPr>
        <p:spPr>
          <a:xfrm>
            <a:off x="10378440" y="4279392"/>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17"/>
          <p:cNvSpPr txBox="1"/>
          <p:nvPr/>
        </p:nvSpPr>
        <p:spPr>
          <a:xfrm>
            <a:off x="10469880" y="4242816"/>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0" name="Google Shape;480;p17"/>
          <p:cNvSpPr/>
          <p:nvPr/>
        </p:nvSpPr>
        <p:spPr>
          <a:xfrm>
            <a:off x="502920" y="4901183"/>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7"/>
          <p:cNvSpPr txBox="1"/>
          <p:nvPr/>
        </p:nvSpPr>
        <p:spPr>
          <a:xfrm>
            <a:off x="649224" y="4901183"/>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5</a:t>
            </a:r>
            <a:endParaRPr/>
          </a:p>
        </p:txBody>
      </p:sp>
      <p:pic>
        <p:nvPicPr>
          <p:cNvPr descr="database-028090-64.png" id="482" name="Google Shape;482;p17"/>
          <p:cNvPicPr preferRelativeResize="0"/>
          <p:nvPr/>
        </p:nvPicPr>
        <p:blipFill rotWithShape="1">
          <a:blip r:embed="rId7">
            <a:alphaModFix/>
          </a:blip>
          <a:srcRect b="0" l="0" r="0" t="0"/>
          <a:stretch/>
        </p:blipFill>
        <p:spPr>
          <a:xfrm>
            <a:off x="1051560" y="5111495"/>
            <a:ext cx="310896" cy="310896"/>
          </a:xfrm>
          <a:prstGeom prst="rect">
            <a:avLst/>
          </a:prstGeom>
          <a:noFill/>
          <a:ln>
            <a:noFill/>
          </a:ln>
        </p:spPr>
      </p:pic>
      <p:sp>
        <p:nvSpPr>
          <p:cNvPr id="483" name="Google Shape;483;p17"/>
          <p:cNvSpPr txBox="1"/>
          <p:nvPr/>
        </p:nvSpPr>
        <p:spPr>
          <a:xfrm>
            <a:off x="1490472" y="4901183"/>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gives an answer consistent with the data it was fed</a:t>
            </a:r>
            <a:endParaRPr/>
          </a:p>
        </p:txBody>
      </p:sp>
      <p:sp>
        <p:nvSpPr>
          <p:cNvPr id="484" name="Google Shape;484;p17"/>
          <p:cNvSpPr txBox="1"/>
          <p:nvPr/>
        </p:nvSpPr>
        <p:spPr>
          <a:xfrm>
            <a:off x="9171432" y="5102351"/>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85" name="Google Shape;485;p17"/>
          <p:cNvSpPr/>
          <p:nvPr/>
        </p:nvSpPr>
        <p:spPr>
          <a:xfrm>
            <a:off x="10378440" y="5138927"/>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17"/>
          <p:cNvSpPr txBox="1"/>
          <p:nvPr/>
        </p:nvSpPr>
        <p:spPr>
          <a:xfrm>
            <a:off x="10469880" y="5102351"/>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7" name="Google Shape;487;p17"/>
          <p:cNvSpPr/>
          <p:nvPr/>
        </p:nvSpPr>
        <p:spPr>
          <a:xfrm>
            <a:off x="502920" y="5760719"/>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17"/>
          <p:cNvSpPr txBox="1"/>
          <p:nvPr/>
        </p:nvSpPr>
        <p:spPr>
          <a:xfrm>
            <a:off x="649224" y="5760719"/>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6</a:t>
            </a:r>
            <a:endParaRPr/>
          </a:p>
        </p:txBody>
      </p:sp>
      <p:pic>
        <p:nvPicPr>
          <p:cNvPr descr="shuffle-028090-64.png" id="489" name="Google Shape;489;p17"/>
          <p:cNvPicPr preferRelativeResize="0"/>
          <p:nvPr/>
        </p:nvPicPr>
        <p:blipFill rotWithShape="1">
          <a:blip r:embed="rId8">
            <a:alphaModFix/>
          </a:blip>
          <a:srcRect b="0" l="0" r="0" t="0"/>
          <a:stretch/>
        </p:blipFill>
        <p:spPr>
          <a:xfrm>
            <a:off x="1051560" y="5971031"/>
            <a:ext cx="310896" cy="310896"/>
          </a:xfrm>
          <a:prstGeom prst="rect">
            <a:avLst/>
          </a:prstGeom>
          <a:noFill/>
          <a:ln>
            <a:noFill/>
          </a:ln>
        </p:spPr>
      </p:pic>
      <p:sp>
        <p:nvSpPr>
          <p:cNvPr id="490" name="Google Shape;490;p17"/>
          <p:cNvSpPr txBox="1"/>
          <p:nvPr/>
        </p:nvSpPr>
        <p:spPr>
          <a:xfrm>
            <a:off x="1490472" y="5760719"/>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All AI models give the same answer to the same question</a:t>
            </a:r>
            <a:endParaRPr/>
          </a:p>
        </p:txBody>
      </p:sp>
      <p:sp>
        <p:nvSpPr>
          <p:cNvPr id="491" name="Google Shape;491;p17"/>
          <p:cNvSpPr txBox="1"/>
          <p:nvPr/>
        </p:nvSpPr>
        <p:spPr>
          <a:xfrm>
            <a:off x="9171432" y="5961887"/>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92" name="Google Shape;492;p17"/>
          <p:cNvSpPr/>
          <p:nvPr/>
        </p:nvSpPr>
        <p:spPr>
          <a:xfrm>
            <a:off x="10378440" y="5998463"/>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17"/>
          <p:cNvSpPr txBox="1"/>
          <p:nvPr/>
        </p:nvSpPr>
        <p:spPr>
          <a:xfrm>
            <a:off x="10469880" y="5961887"/>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94" name="Google Shape;494;p17"/>
          <p:cNvSpPr txBox="1"/>
          <p:nvPr/>
        </p:nvSpPr>
        <p:spPr>
          <a:xfrm>
            <a:off x="502920" y="6565392"/>
            <a:ext cx="11183112" cy="256032"/>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1" lang="en-US" sz="1100" u="none" cap="none" strike="noStrike">
                <a:solidFill>
                  <a:srgbClr val="6B7685"/>
                </a:solidFill>
                <a:latin typeface="Arial"/>
                <a:ea typeface="Arial"/>
                <a:cs typeface="Arial"/>
                <a:sym typeface="Arial"/>
              </a:rPr>
              <a:t>vote before the explanation</a:t>
            </a:r>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1" name="Google Shape;451;p17"/>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True or false? Let's check your intuition about AI</a:t>
            </a:r>
            <a:endParaRPr/>
          </a:p>
        </p:txBody>
      </p:sp>
      <p:sp>
        <p:nvSpPr>
          <p:cNvPr id="452" name="Google Shape;452;p17"/>
          <p:cNvSpPr/>
          <p:nvPr/>
        </p:nvSpPr>
        <p:spPr>
          <a:xfrm>
            <a:off x="502920" y="1463040"/>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7"/>
          <p:cNvSpPr txBox="1"/>
          <p:nvPr/>
        </p:nvSpPr>
        <p:spPr>
          <a:xfrm>
            <a:off x="649224" y="1463040"/>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1</a:t>
            </a:r>
            <a:endParaRPr/>
          </a:p>
        </p:txBody>
      </p:sp>
      <p:pic>
        <p:nvPicPr>
          <p:cNvPr descr="hash-028090-64.png" id="454" name="Google Shape;454;p17"/>
          <p:cNvPicPr preferRelativeResize="0"/>
          <p:nvPr/>
        </p:nvPicPr>
        <p:blipFill rotWithShape="1">
          <a:blip r:embed="rId2">
            <a:alphaModFix/>
          </a:blip>
          <a:srcRect b="0" l="0" r="0" t="0"/>
          <a:stretch/>
        </p:blipFill>
        <p:spPr>
          <a:xfrm>
            <a:off x="1051560" y="1673352"/>
            <a:ext cx="310896" cy="310896"/>
          </a:xfrm>
          <a:prstGeom prst="rect">
            <a:avLst/>
          </a:prstGeom>
          <a:noFill/>
          <a:ln>
            <a:noFill/>
          </a:ln>
        </p:spPr>
      </p:pic>
      <p:sp>
        <p:nvSpPr>
          <p:cNvPr id="455" name="Google Shape;455;p17"/>
          <p:cNvSpPr txBox="1"/>
          <p:nvPr/>
        </p:nvSpPr>
        <p:spPr>
          <a:xfrm>
            <a:off x="1490472" y="1463040"/>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counts the letters in a word directly, the way a human does</a:t>
            </a:r>
            <a:endParaRPr/>
          </a:p>
        </p:txBody>
      </p:sp>
      <p:sp>
        <p:nvSpPr>
          <p:cNvPr id="456" name="Google Shape;456;p17"/>
          <p:cNvSpPr txBox="1"/>
          <p:nvPr/>
        </p:nvSpPr>
        <p:spPr>
          <a:xfrm>
            <a:off x="9171432" y="1664208"/>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57" name="Google Shape;457;p17"/>
          <p:cNvSpPr/>
          <p:nvPr/>
        </p:nvSpPr>
        <p:spPr>
          <a:xfrm>
            <a:off x="10378440" y="1700784"/>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txBox="1"/>
          <p:nvPr/>
        </p:nvSpPr>
        <p:spPr>
          <a:xfrm>
            <a:off x="10469880" y="1664208"/>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59" name="Google Shape;459;p17"/>
          <p:cNvSpPr/>
          <p:nvPr/>
        </p:nvSpPr>
        <p:spPr>
          <a:xfrm>
            <a:off x="502920" y="2322576"/>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17"/>
          <p:cNvSpPr txBox="1"/>
          <p:nvPr/>
        </p:nvSpPr>
        <p:spPr>
          <a:xfrm>
            <a:off x="649224" y="2322576"/>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2</a:t>
            </a:r>
            <a:endParaRPr/>
          </a:p>
        </p:txBody>
      </p:sp>
      <p:pic>
        <p:nvPicPr>
          <p:cNvPr descr="calendar-028090-64.png" id="461" name="Google Shape;461;p17"/>
          <p:cNvPicPr preferRelativeResize="0"/>
          <p:nvPr/>
        </p:nvPicPr>
        <p:blipFill rotWithShape="1">
          <a:blip r:embed="rId3">
            <a:alphaModFix/>
          </a:blip>
          <a:srcRect b="0" l="0" r="0" t="0"/>
          <a:stretch/>
        </p:blipFill>
        <p:spPr>
          <a:xfrm>
            <a:off x="1051560" y="2532888"/>
            <a:ext cx="310896" cy="310896"/>
          </a:xfrm>
          <a:prstGeom prst="rect">
            <a:avLst/>
          </a:prstGeom>
          <a:noFill/>
          <a:ln>
            <a:noFill/>
          </a:ln>
        </p:spPr>
      </p:pic>
      <p:sp>
        <p:nvSpPr>
          <p:cNvPr id="462" name="Google Shape;462;p17"/>
          <p:cNvSpPr txBox="1"/>
          <p:nvPr/>
        </p:nvSpPr>
        <p:spPr>
          <a:xfrm>
            <a:off x="1490472" y="2322576"/>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knows what happened in the world today</a:t>
            </a:r>
            <a:endParaRPr/>
          </a:p>
        </p:txBody>
      </p:sp>
      <p:sp>
        <p:nvSpPr>
          <p:cNvPr id="463" name="Google Shape;463;p17"/>
          <p:cNvSpPr txBox="1"/>
          <p:nvPr/>
        </p:nvSpPr>
        <p:spPr>
          <a:xfrm>
            <a:off x="9171432" y="2523744"/>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64" name="Google Shape;464;p17"/>
          <p:cNvSpPr/>
          <p:nvPr/>
        </p:nvSpPr>
        <p:spPr>
          <a:xfrm>
            <a:off x="10378440" y="2560320"/>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7"/>
          <p:cNvSpPr txBox="1"/>
          <p:nvPr/>
        </p:nvSpPr>
        <p:spPr>
          <a:xfrm>
            <a:off x="10469880" y="2523744"/>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66" name="Google Shape;466;p17"/>
          <p:cNvSpPr/>
          <p:nvPr/>
        </p:nvSpPr>
        <p:spPr>
          <a:xfrm>
            <a:off x="502920" y="3182112"/>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7"/>
          <p:cNvSpPr txBox="1"/>
          <p:nvPr/>
        </p:nvSpPr>
        <p:spPr>
          <a:xfrm>
            <a:off x="649224" y="3182112"/>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3</a:t>
            </a:r>
            <a:endParaRPr/>
          </a:p>
        </p:txBody>
      </p:sp>
      <p:pic>
        <p:nvPicPr>
          <p:cNvPr descr="brain-circuit-028090-64.png" id="468" name="Google Shape;468;p17"/>
          <p:cNvPicPr preferRelativeResize="0"/>
          <p:nvPr/>
        </p:nvPicPr>
        <p:blipFill rotWithShape="1">
          <a:blip r:embed="rId4">
            <a:alphaModFix/>
          </a:blip>
          <a:srcRect b="0" l="0" r="0" t="0"/>
          <a:stretch/>
        </p:blipFill>
        <p:spPr>
          <a:xfrm>
            <a:off x="1051560" y="3392424"/>
            <a:ext cx="310896" cy="310896"/>
          </a:xfrm>
          <a:prstGeom prst="rect">
            <a:avLst/>
          </a:prstGeom>
          <a:noFill/>
          <a:ln>
            <a:noFill/>
          </a:ln>
        </p:spPr>
      </p:pic>
      <p:sp>
        <p:nvSpPr>
          <p:cNvPr id="469" name="Google Shape;469;p17"/>
          <p:cNvSpPr txBox="1"/>
          <p:nvPr/>
        </p:nvSpPr>
        <p:spPr>
          <a:xfrm>
            <a:off x="1490472" y="3182112"/>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can confidently state something false without meaning to deceive</a:t>
            </a:r>
            <a:endParaRPr/>
          </a:p>
        </p:txBody>
      </p:sp>
      <p:sp>
        <p:nvSpPr>
          <p:cNvPr id="470" name="Google Shape;470;p17"/>
          <p:cNvSpPr txBox="1"/>
          <p:nvPr/>
        </p:nvSpPr>
        <p:spPr>
          <a:xfrm>
            <a:off x="9171432" y="3383280"/>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71" name="Google Shape;471;p17"/>
          <p:cNvSpPr/>
          <p:nvPr/>
        </p:nvSpPr>
        <p:spPr>
          <a:xfrm>
            <a:off x="10378440" y="3419856"/>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nvSpPr>
        <p:spPr>
          <a:xfrm>
            <a:off x="10469880" y="3383280"/>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73" name="Google Shape;473;p17"/>
          <p:cNvSpPr/>
          <p:nvPr/>
        </p:nvSpPr>
        <p:spPr>
          <a:xfrm>
            <a:off x="502920" y="4041648"/>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17"/>
          <p:cNvSpPr txBox="1"/>
          <p:nvPr/>
        </p:nvSpPr>
        <p:spPr>
          <a:xfrm>
            <a:off x="649224" y="4041648"/>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4</a:t>
            </a:r>
            <a:endParaRPr/>
          </a:p>
        </p:txBody>
      </p:sp>
      <p:pic>
        <p:nvPicPr>
          <p:cNvPr descr="lock-028090-64.png" id="475" name="Google Shape;475;p17"/>
          <p:cNvPicPr preferRelativeResize="0"/>
          <p:nvPr/>
        </p:nvPicPr>
        <p:blipFill rotWithShape="1">
          <a:blip r:embed="rId5">
            <a:alphaModFix/>
          </a:blip>
          <a:srcRect b="0" l="0" r="0" t="0"/>
          <a:stretch/>
        </p:blipFill>
        <p:spPr>
          <a:xfrm>
            <a:off x="1051560" y="4251959"/>
            <a:ext cx="310896" cy="310896"/>
          </a:xfrm>
          <a:prstGeom prst="rect">
            <a:avLst/>
          </a:prstGeom>
          <a:noFill/>
          <a:ln>
            <a:noFill/>
          </a:ln>
        </p:spPr>
      </p:pic>
      <p:sp>
        <p:nvSpPr>
          <p:cNvPr id="476" name="Google Shape;476;p17"/>
          <p:cNvSpPr txBox="1"/>
          <p:nvPr/>
        </p:nvSpPr>
        <p:spPr>
          <a:xfrm>
            <a:off x="1490472" y="4041648"/>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An AI chat can see your personal email and files by default</a:t>
            </a:r>
            <a:endParaRPr/>
          </a:p>
        </p:txBody>
      </p:sp>
      <p:sp>
        <p:nvSpPr>
          <p:cNvPr id="477" name="Google Shape;477;p17"/>
          <p:cNvSpPr txBox="1"/>
          <p:nvPr/>
        </p:nvSpPr>
        <p:spPr>
          <a:xfrm>
            <a:off x="9171432" y="4242816"/>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78" name="Google Shape;478;p17"/>
          <p:cNvSpPr/>
          <p:nvPr/>
        </p:nvSpPr>
        <p:spPr>
          <a:xfrm>
            <a:off x="10378440" y="4279392"/>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17"/>
          <p:cNvSpPr txBox="1"/>
          <p:nvPr/>
        </p:nvSpPr>
        <p:spPr>
          <a:xfrm>
            <a:off x="10469880" y="4242816"/>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0" name="Google Shape;480;p17"/>
          <p:cNvSpPr/>
          <p:nvPr/>
        </p:nvSpPr>
        <p:spPr>
          <a:xfrm>
            <a:off x="502920" y="4901183"/>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7"/>
          <p:cNvSpPr txBox="1"/>
          <p:nvPr/>
        </p:nvSpPr>
        <p:spPr>
          <a:xfrm>
            <a:off x="649224" y="4901183"/>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5</a:t>
            </a:r>
            <a:endParaRPr/>
          </a:p>
        </p:txBody>
      </p:sp>
      <p:pic>
        <p:nvPicPr>
          <p:cNvPr descr="database-028090-64.png" id="482" name="Google Shape;482;p17"/>
          <p:cNvPicPr preferRelativeResize="0"/>
          <p:nvPr/>
        </p:nvPicPr>
        <p:blipFill rotWithShape="1">
          <a:blip r:embed="rId6">
            <a:alphaModFix/>
          </a:blip>
          <a:srcRect b="0" l="0" r="0" t="0"/>
          <a:stretch/>
        </p:blipFill>
        <p:spPr>
          <a:xfrm>
            <a:off x="1051560" y="5111495"/>
            <a:ext cx="310896" cy="310896"/>
          </a:xfrm>
          <a:prstGeom prst="rect">
            <a:avLst/>
          </a:prstGeom>
          <a:noFill/>
          <a:ln>
            <a:noFill/>
          </a:ln>
        </p:spPr>
      </p:pic>
      <p:sp>
        <p:nvSpPr>
          <p:cNvPr id="483" name="Google Shape;483;p17"/>
          <p:cNvSpPr txBox="1"/>
          <p:nvPr/>
        </p:nvSpPr>
        <p:spPr>
          <a:xfrm>
            <a:off x="1490472" y="4901183"/>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gives an answer consistent with the data it was fed</a:t>
            </a:r>
            <a:endParaRPr/>
          </a:p>
        </p:txBody>
      </p:sp>
      <p:sp>
        <p:nvSpPr>
          <p:cNvPr id="484" name="Google Shape;484;p17"/>
          <p:cNvSpPr txBox="1"/>
          <p:nvPr/>
        </p:nvSpPr>
        <p:spPr>
          <a:xfrm>
            <a:off x="9171432" y="5102351"/>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85" name="Google Shape;485;p17"/>
          <p:cNvSpPr/>
          <p:nvPr/>
        </p:nvSpPr>
        <p:spPr>
          <a:xfrm>
            <a:off x="10378440" y="5138927"/>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17"/>
          <p:cNvSpPr txBox="1"/>
          <p:nvPr/>
        </p:nvSpPr>
        <p:spPr>
          <a:xfrm>
            <a:off x="10469880" y="5102351"/>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7" name="Google Shape;487;p17"/>
          <p:cNvSpPr/>
          <p:nvPr/>
        </p:nvSpPr>
        <p:spPr>
          <a:xfrm>
            <a:off x="502920" y="5760719"/>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17"/>
          <p:cNvSpPr txBox="1"/>
          <p:nvPr/>
        </p:nvSpPr>
        <p:spPr>
          <a:xfrm>
            <a:off x="649224" y="5760719"/>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6</a:t>
            </a:r>
            <a:endParaRPr/>
          </a:p>
        </p:txBody>
      </p:sp>
      <p:pic>
        <p:nvPicPr>
          <p:cNvPr descr="shuffle-028090-64.png" id="489" name="Google Shape;489;p17"/>
          <p:cNvPicPr preferRelativeResize="0"/>
          <p:nvPr/>
        </p:nvPicPr>
        <p:blipFill rotWithShape="1">
          <a:blip r:embed="rId7">
            <a:alphaModFix/>
          </a:blip>
          <a:srcRect b="0" l="0" r="0" t="0"/>
          <a:stretch/>
        </p:blipFill>
        <p:spPr>
          <a:xfrm>
            <a:off x="1051560" y="5971031"/>
            <a:ext cx="310896" cy="310896"/>
          </a:xfrm>
          <a:prstGeom prst="rect">
            <a:avLst/>
          </a:prstGeom>
          <a:noFill/>
          <a:ln>
            <a:noFill/>
          </a:ln>
        </p:spPr>
      </p:pic>
      <p:sp>
        <p:nvSpPr>
          <p:cNvPr id="490" name="Google Shape;490;p17"/>
          <p:cNvSpPr txBox="1"/>
          <p:nvPr/>
        </p:nvSpPr>
        <p:spPr>
          <a:xfrm>
            <a:off x="1490472" y="5760719"/>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All AI models give the same answer to the same question</a:t>
            </a:r>
            <a:endParaRPr/>
          </a:p>
        </p:txBody>
      </p:sp>
      <p:sp>
        <p:nvSpPr>
          <p:cNvPr id="491" name="Google Shape;491;p17"/>
          <p:cNvSpPr txBox="1"/>
          <p:nvPr/>
        </p:nvSpPr>
        <p:spPr>
          <a:xfrm>
            <a:off x="9171432" y="5961887"/>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92" name="Google Shape;492;p17"/>
          <p:cNvSpPr/>
          <p:nvPr/>
        </p:nvSpPr>
        <p:spPr>
          <a:xfrm>
            <a:off x="10378440" y="5998463"/>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17"/>
          <p:cNvSpPr txBox="1"/>
          <p:nvPr/>
        </p:nvSpPr>
        <p:spPr>
          <a:xfrm>
            <a:off x="10469880" y="5961887"/>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94" name="Google Shape;494;p17"/>
          <p:cNvSpPr txBox="1"/>
          <p:nvPr/>
        </p:nvSpPr>
        <p:spPr>
          <a:xfrm>
            <a:off x="502920" y="6565392"/>
            <a:ext cx="11183112" cy="256032"/>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1" lang="en-US" sz="1100" u="none" cap="none" strike="noStrike">
                <a:solidFill>
                  <a:srgbClr val="6B7685"/>
                </a:solidFill>
                <a:latin typeface="Arial"/>
                <a:ea typeface="Arial"/>
                <a:cs typeface="Arial"/>
                <a:sym typeface="Arial"/>
              </a:rPr>
              <a:t>correct answers reveal one at a time — question 1 of 6</a:t>
            </a:r>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1" name="Google Shape;451;p17"/>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True or false? Let's check your intuition about AI</a:t>
            </a:r>
            <a:endParaRPr/>
          </a:p>
        </p:txBody>
      </p:sp>
      <p:sp>
        <p:nvSpPr>
          <p:cNvPr id="452" name="Google Shape;452;p17"/>
          <p:cNvSpPr/>
          <p:nvPr/>
        </p:nvSpPr>
        <p:spPr>
          <a:xfrm>
            <a:off x="502920" y="1463040"/>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7"/>
          <p:cNvSpPr txBox="1"/>
          <p:nvPr/>
        </p:nvSpPr>
        <p:spPr>
          <a:xfrm>
            <a:off x="649224" y="1463040"/>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1</a:t>
            </a:r>
            <a:endParaRPr/>
          </a:p>
        </p:txBody>
      </p:sp>
      <p:pic>
        <p:nvPicPr>
          <p:cNvPr descr="hash-028090-64.png" id="454" name="Google Shape;454;p17"/>
          <p:cNvPicPr preferRelativeResize="0"/>
          <p:nvPr/>
        </p:nvPicPr>
        <p:blipFill rotWithShape="1">
          <a:blip r:embed="rId2">
            <a:alphaModFix/>
          </a:blip>
          <a:srcRect b="0" l="0" r="0" t="0"/>
          <a:stretch/>
        </p:blipFill>
        <p:spPr>
          <a:xfrm>
            <a:off x="1051560" y="1673352"/>
            <a:ext cx="310896" cy="310896"/>
          </a:xfrm>
          <a:prstGeom prst="rect">
            <a:avLst/>
          </a:prstGeom>
          <a:noFill/>
          <a:ln>
            <a:noFill/>
          </a:ln>
        </p:spPr>
      </p:pic>
      <p:sp>
        <p:nvSpPr>
          <p:cNvPr id="455" name="Google Shape;455;p17"/>
          <p:cNvSpPr txBox="1"/>
          <p:nvPr/>
        </p:nvSpPr>
        <p:spPr>
          <a:xfrm>
            <a:off x="1490472" y="1463040"/>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counts the letters in a word directly, the way a human does</a:t>
            </a:r>
            <a:endParaRPr/>
          </a:p>
        </p:txBody>
      </p:sp>
      <p:sp>
        <p:nvSpPr>
          <p:cNvPr id="456" name="Google Shape;456;p17"/>
          <p:cNvSpPr txBox="1"/>
          <p:nvPr/>
        </p:nvSpPr>
        <p:spPr>
          <a:xfrm>
            <a:off x="9171432" y="1664208"/>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57" name="Google Shape;457;p17"/>
          <p:cNvSpPr/>
          <p:nvPr/>
        </p:nvSpPr>
        <p:spPr>
          <a:xfrm>
            <a:off x="10378440" y="1700784"/>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txBox="1"/>
          <p:nvPr/>
        </p:nvSpPr>
        <p:spPr>
          <a:xfrm>
            <a:off x="10469880" y="1664208"/>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59" name="Google Shape;459;p17"/>
          <p:cNvSpPr/>
          <p:nvPr/>
        </p:nvSpPr>
        <p:spPr>
          <a:xfrm>
            <a:off x="502920" y="2322576"/>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17"/>
          <p:cNvSpPr txBox="1"/>
          <p:nvPr/>
        </p:nvSpPr>
        <p:spPr>
          <a:xfrm>
            <a:off x="649224" y="2322576"/>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2</a:t>
            </a:r>
            <a:endParaRPr/>
          </a:p>
        </p:txBody>
      </p:sp>
      <p:pic>
        <p:nvPicPr>
          <p:cNvPr descr="calendar-028090-64.png" id="461" name="Google Shape;461;p17"/>
          <p:cNvPicPr preferRelativeResize="0"/>
          <p:nvPr/>
        </p:nvPicPr>
        <p:blipFill rotWithShape="1">
          <a:blip r:embed="rId3">
            <a:alphaModFix/>
          </a:blip>
          <a:srcRect b="0" l="0" r="0" t="0"/>
          <a:stretch/>
        </p:blipFill>
        <p:spPr>
          <a:xfrm>
            <a:off x="1051560" y="2532888"/>
            <a:ext cx="310896" cy="310896"/>
          </a:xfrm>
          <a:prstGeom prst="rect">
            <a:avLst/>
          </a:prstGeom>
          <a:noFill/>
          <a:ln>
            <a:noFill/>
          </a:ln>
        </p:spPr>
      </p:pic>
      <p:sp>
        <p:nvSpPr>
          <p:cNvPr id="462" name="Google Shape;462;p17"/>
          <p:cNvSpPr txBox="1"/>
          <p:nvPr/>
        </p:nvSpPr>
        <p:spPr>
          <a:xfrm>
            <a:off x="1490472" y="2322576"/>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knows what happened in the world today</a:t>
            </a:r>
            <a:endParaRPr/>
          </a:p>
        </p:txBody>
      </p:sp>
      <p:sp>
        <p:nvSpPr>
          <p:cNvPr id="463" name="Google Shape;463;p17"/>
          <p:cNvSpPr txBox="1"/>
          <p:nvPr/>
        </p:nvSpPr>
        <p:spPr>
          <a:xfrm>
            <a:off x="9171432" y="2523744"/>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64" name="Google Shape;464;p17"/>
          <p:cNvSpPr/>
          <p:nvPr/>
        </p:nvSpPr>
        <p:spPr>
          <a:xfrm>
            <a:off x="10378440" y="2560320"/>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7"/>
          <p:cNvSpPr txBox="1"/>
          <p:nvPr/>
        </p:nvSpPr>
        <p:spPr>
          <a:xfrm>
            <a:off x="10469880" y="2523744"/>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66" name="Google Shape;466;p17"/>
          <p:cNvSpPr/>
          <p:nvPr/>
        </p:nvSpPr>
        <p:spPr>
          <a:xfrm>
            <a:off x="502920" y="3182112"/>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7"/>
          <p:cNvSpPr txBox="1"/>
          <p:nvPr/>
        </p:nvSpPr>
        <p:spPr>
          <a:xfrm>
            <a:off x="649224" y="3182112"/>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3</a:t>
            </a:r>
            <a:endParaRPr/>
          </a:p>
        </p:txBody>
      </p:sp>
      <p:pic>
        <p:nvPicPr>
          <p:cNvPr descr="brain-circuit-028090-64.png" id="468" name="Google Shape;468;p17"/>
          <p:cNvPicPr preferRelativeResize="0"/>
          <p:nvPr/>
        </p:nvPicPr>
        <p:blipFill rotWithShape="1">
          <a:blip r:embed="rId4">
            <a:alphaModFix/>
          </a:blip>
          <a:srcRect b="0" l="0" r="0" t="0"/>
          <a:stretch/>
        </p:blipFill>
        <p:spPr>
          <a:xfrm>
            <a:off x="1051560" y="3392424"/>
            <a:ext cx="310896" cy="310896"/>
          </a:xfrm>
          <a:prstGeom prst="rect">
            <a:avLst/>
          </a:prstGeom>
          <a:noFill/>
          <a:ln>
            <a:noFill/>
          </a:ln>
        </p:spPr>
      </p:pic>
      <p:sp>
        <p:nvSpPr>
          <p:cNvPr id="469" name="Google Shape;469;p17"/>
          <p:cNvSpPr txBox="1"/>
          <p:nvPr/>
        </p:nvSpPr>
        <p:spPr>
          <a:xfrm>
            <a:off x="1490472" y="3182112"/>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can confidently state something false without meaning to deceive</a:t>
            </a:r>
            <a:endParaRPr/>
          </a:p>
        </p:txBody>
      </p:sp>
      <p:sp>
        <p:nvSpPr>
          <p:cNvPr id="470" name="Google Shape;470;p17"/>
          <p:cNvSpPr txBox="1"/>
          <p:nvPr/>
        </p:nvSpPr>
        <p:spPr>
          <a:xfrm>
            <a:off x="9171432" y="3383280"/>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71" name="Google Shape;471;p17"/>
          <p:cNvSpPr/>
          <p:nvPr/>
        </p:nvSpPr>
        <p:spPr>
          <a:xfrm>
            <a:off x="10378440" y="3419856"/>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nvSpPr>
        <p:spPr>
          <a:xfrm>
            <a:off x="10469880" y="3383280"/>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73" name="Google Shape;473;p17"/>
          <p:cNvSpPr/>
          <p:nvPr/>
        </p:nvSpPr>
        <p:spPr>
          <a:xfrm>
            <a:off x="502920" y="4041648"/>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17"/>
          <p:cNvSpPr txBox="1"/>
          <p:nvPr/>
        </p:nvSpPr>
        <p:spPr>
          <a:xfrm>
            <a:off x="649224" y="4041648"/>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4</a:t>
            </a:r>
            <a:endParaRPr/>
          </a:p>
        </p:txBody>
      </p:sp>
      <p:pic>
        <p:nvPicPr>
          <p:cNvPr descr="lock-028090-64.png" id="475" name="Google Shape;475;p17"/>
          <p:cNvPicPr preferRelativeResize="0"/>
          <p:nvPr/>
        </p:nvPicPr>
        <p:blipFill rotWithShape="1">
          <a:blip r:embed="rId5">
            <a:alphaModFix/>
          </a:blip>
          <a:srcRect b="0" l="0" r="0" t="0"/>
          <a:stretch/>
        </p:blipFill>
        <p:spPr>
          <a:xfrm>
            <a:off x="1051560" y="4251959"/>
            <a:ext cx="310896" cy="310896"/>
          </a:xfrm>
          <a:prstGeom prst="rect">
            <a:avLst/>
          </a:prstGeom>
          <a:noFill/>
          <a:ln>
            <a:noFill/>
          </a:ln>
        </p:spPr>
      </p:pic>
      <p:sp>
        <p:nvSpPr>
          <p:cNvPr id="476" name="Google Shape;476;p17"/>
          <p:cNvSpPr txBox="1"/>
          <p:nvPr/>
        </p:nvSpPr>
        <p:spPr>
          <a:xfrm>
            <a:off x="1490472" y="4041648"/>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An AI chat can see your personal email and files by default</a:t>
            </a:r>
            <a:endParaRPr/>
          </a:p>
        </p:txBody>
      </p:sp>
      <p:sp>
        <p:nvSpPr>
          <p:cNvPr id="477" name="Google Shape;477;p17"/>
          <p:cNvSpPr txBox="1"/>
          <p:nvPr/>
        </p:nvSpPr>
        <p:spPr>
          <a:xfrm>
            <a:off x="9171432" y="4242816"/>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78" name="Google Shape;478;p17"/>
          <p:cNvSpPr/>
          <p:nvPr/>
        </p:nvSpPr>
        <p:spPr>
          <a:xfrm>
            <a:off x="10378440" y="4279392"/>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17"/>
          <p:cNvSpPr txBox="1"/>
          <p:nvPr/>
        </p:nvSpPr>
        <p:spPr>
          <a:xfrm>
            <a:off x="10469880" y="4242816"/>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0" name="Google Shape;480;p17"/>
          <p:cNvSpPr/>
          <p:nvPr/>
        </p:nvSpPr>
        <p:spPr>
          <a:xfrm>
            <a:off x="502920" y="4901183"/>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7"/>
          <p:cNvSpPr txBox="1"/>
          <p:nvPr/>
        </p:nvSpPr>
        <p:spPr>
          <a:xfrm>
            <a:off x="649224" y="4901183"/>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5</a:t>
            </a:r>
            <a:endParaRPr/>
          </a:p>
        </p:txBody>
      </p:sp>
      <p:pic>
        <p:nvPicPr>
          <p:cNvPr descr="database-028090-64.png" id="482" name="Google Shape;482;p17"/>
          <p:cNvPicPr preferRelativeResize="0"/>
          <p:nvPr/>
        </p:nvPicPr>
        <p:blipFill rotWithShape="1">
          <a:blip r:embed="rId6">
            <a:alphaModFix/>
          </a:blip>
          <a:srcRect b="0" l="0" r="0" t="0"/>
          <a:stretch/>
        </p:blipFill>
        <p:spPr>
          <a:xfrm>
            <a:off x="1051560" y="5111495"/>
            <a:ext cx="310896" cy="310896"/>
          </a:xfrm>
          <a:prstGeom prst="rect">
            <a:avLst/>
          </a:prstGeom>
          <a:noFill/>
          <a:ln>
            <a:noFill/>
          </a:ln>
        </p:spPr>
      </p:pic>
      <p:sp>
        <p:nvSpPr>
          <p:cNvPr id="483" name="Google Shape;483;p17"/>
          <p:cNvSpPr txBox="1"/>
          <p:nvPr/>
        </p:nvSpPr>
        <p:spPr>
          <a:xfrm>
            <a:off x="1490472" y="4901183"/>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gives an answer consistent with the data it was fed</a:t>
            </a:r>
            <a:endParaRPr/>
          </a:p>
        </p:txBody>
      </p:sp>
      <p:sp>
        <p:nvSpPr>
          <p:cNvPr id="484" name="Google Shape;484;p17"/>
          <p:cNvSpPr txBox="1"/>
          <p:nvPr/>
        </p:nvSpPr>
        <p:spPr>
          <a:xfrm>
            <a:off x="9171432" y="5102351"/>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85" name="Google Shape;485;p17"/>
          <p:cNvSpPr/>
          <p:nvPr/>
        </p:nvSpPr>
        <p:spPr>
          <a:xfrm>
            <a:off x="10378440" y="5138927"/>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17"/>
          <p:cNvSpPr txBox="1"/>
          <p:nvPr/>
        </p:nvSpPr>
        <p:spPr>
          <a:xfrm>
            <a:off x="10469880" y="5102351"/>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7" name="Google Shape;487;p17"/>
          <p:cNvSpPr/>
          <p:nvPr/>
        </p:nvSpPr>
        <p:spPr>
          <a:xfrm>
            <a:off x="502920" y="5760719"/>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17"/>
          <p:cNvSpPr txBox="1"/>
          <p:nvPr/>
        </p:nvSpPr>
        <p:spPr>
          <a:xfrm>
            <a:off x="649224" y="5760719"/>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6</a:t>
            </a:r>
            <a:endParaRPr/>
          </a:p>
        </p:txBody>
      </p:sp>
      <p:pic>
        <p:nvPicPr>
          <p:cNvPr descr="shuffle-028090-64.png" id="489" name="Google Shape;489;p17"/>
          <p:cNvPicPr preferRelativeResize="0"/>
          <p:nvPr/>
        </p:nvPicPr>
        <p:blipFill rotWithShape="1">
          <a:blip r:embed="rId7">
            <a:alphaModFix/>
          </a:blip>
          <a:srcRect b="0" l="0" r="0" t="0"/>
          <a:stretch/>
        </p:blipFill>
        <p:spPr>
          <a:xfrm>
            <a:off x="1051560" y="5971031"/>
            <a:ext cx="310896" cy="310896"/>
          </a:xfrm>
          <a:prstGeom prst="rect">
            <a:avLst/>
          </a:prstGeom>
          <a:noFill/>
          <a:ln>
            <a:noFill/>
          </a:ln>
        </p:spPr>
      </p:pic>
      <p:sp>
        <p:nvSpPr>
          <p:cNvPr id="490" name="Google Shape;490;p17"/>
          <p:cNvSpPr txBox="1"/>
          <p:nvPr/>
        </p:nvSpPr>
        <p:spPr>
          <a:xfrm>
            <a:off x="1490472" y="5760719"/>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All AI models give the same answer to the same question</a:t>
            </a:r>
            <a:endParaRPr/>
          </a:p>
        </p:txBody>
      </p:sp>
      <p:sp>
        <p:nvSpPr>
          <p:cNvPr id="491" name="Google Shape;491;p17"/>
          <p:cNvSpPr txBox="1"/>
          <p:nvPr/>
        </p:nvSpPr>
        <p:spPr>
          <a:xfrm>
            <a:off x="9171432" y="5961887"/>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92" name="Google Shape;492;p17"/>
          <p:cNvSpPr/>
          <p:nvPr/>
        </p:nvSpPr>
        <p:spPr>
          <a:xfrm>
            <a:off x="10378440" y="5998463"/>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17"/>
          <p:cNvSpPr txBox="1"/>
          <p:nvPr/>
        </p:nvSpPr>
        <p:spPr>
          <a:xfrm>
            <a:off x="10469880" y="5961887"/>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94" name="Google Shape;494;p17"/>
          <p:cNvSpPr txBox="1"/>
          <p:nvPr/>
        </p:nvSpPr>
        <p:spPr>
          <a:xfrm>
            <a:off x="502920" y="6565392"/>
            <a:ext cx="11183112" cy="256032"/>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1" lang="en-US" sz="1100" u="none" cap="none" strike="noStrike">
                <a:solidFill>
                  <a:srgbClr val="6B7685"/>
                </a:solidFill>
                <a:latin typeface="Arial"/>
                <a:ea typeface="Arial"/>
                <a:cs typeface="Arial"/>
                <a:sym typeface="Arial"/>
              </a:rPr>
              <a:t>correct answers reveal one at a time — question 2 of 6</a:t>
            </a:r>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1" name="Google Shape;451;p17"/>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True or false? Let's check your intuition about AI</a:t>
            </a:r>
            <a:endParaRPr/>
          </a:p>
        </p:txBody>
      </p:sp>
      <p:sp>
        <p:nvSpPr>
          <p:cNvPr id="452" name="Google Shape;452;p17"/>
          <p:cNvSpPr/>
          <p:nvPr/>
        </p:nvSpPr>
        <p:spPr>
          <a:xfrm>
            <a:off x="502920" y="1463040"/>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7"/>
          <p:cNvSpPr txBox="1"/>
          <p:nvPr/>
        </p:nvSpPr>
        <p:spPr>
          <a:xfrm>
            <a:off x="649224" y="1463040"/>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1</a:t>
            </a:r>
            <a:endParaRPr/>
          </a:p>
        </p:txBody>
      </p:sp>
      <p:pic>
        <p:nvPicPr>
          <p:cNvPr descr="hash-028090-64.png" id="454" name="Google Shape;454;p17"/>
          <p:cNvPicPr preferRelativeResize="0"/>
          <p:nvPr/>
        </p:nvPicPr>
        <p:blipFill rotWithShape="1">
          <a:blip r:embed="rId2">
            <a:alphaModFix/>
          </a:blip>
          <a:srcRect b="0" l="0" r="0" t="0"/>
          <a:stretch/>
        </p:blipFill>
        <p:spPr>
          <a:xfrm>
            <a:off x="1051560" y="1673352"/>
            <a:ext cx="310896" cy="310896"/>
          </a:xfrm>
          <a:prstGeom prst="rect">
            <a:avLst/>
          </a:prstGeom>
          <a:noFill/>
          <a:ln>
            <a:noFill/>
          </a:ln>
        </p:spPr>
      </p:pic>
      <p:sp>
        <p:nvSpPr>
          <p:cNvPr id="455" name="Google Shape;455;p17"/>
          <p:cNvSpPr txBox="1"/>
          <p:nvPr/>
        </p:nvSpPr>
        <p:spPr>
          <a:xfrm>
            <a:off x="1490472" y="1463040"/>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counts the letters in a word directly, the way a human does</a:t>
            </a:r>
            <a:endParaRPr/>
          </a:p>
        </p:txBody>
      </p:sp>
      <p:sp>
        <p:nvSpPr>
          <p:cNvPr id="456" name="Google Shape;456;p17"/>
          <p:cNvSpPr txBox="1"/>
          <p:nvPr/>
        </p:nvSpPr>
        <p:spPr>
          <a:xfrm>
            <a:off x="9171432" y="1664208"/>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57" name="Google Shape;457;p17"/>
          <p:cNvSpPr/>
          <p:nvPr/>
        </p:nvSpPr>
        <p:spPr>
          <a:xfrm>
            <a:off x="10378440" y="1700784"/>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txBox="1"/>
          <p:nvPr/>
        </p:nvSpPr>
        <p:spPr>
          <a:xfrm>
            <a:off x="10469880" y="1664208"/>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59" name="Google Shape;459;p17"/>
          <p:cNvSpPr/>
          <p:nvPr/>
        </p:nvSpPr>
        <p:spPr>
          <a:xfrm>
            <a:off x="502920" y="2322576"/>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17"/>
          <p:cNvSpPr txBox="1"/>
          <p:nvPr/>
        </p:nvSpPr>
        <p:spPr>
          <a:xfrm>
            <a:off x="649224" y="2322576"/>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2</a:t>
            </a:r>
            <a:endParaRPr/>
          </a:p>
        </p:txBody>
      </p:sp>
      <p:pic>
        <p:nvPicPr>
          <p:cNvPr descr="calendar-028090-64.png" id="461" name="Google Shape;461;p17"/>
          <p:cNvPicPr preferRelativeResize="0"/>
          <p:nvPr/>
        </p:nvPicPr>
        <p:blipFill rotWithShape="1">
          <a:blip r:embed="rId3">
            <a:alphaModFix/>
          </a:blip>
          <a:srcRect b="0" l="0" r="0" t="0"/>
          <a:stretch/>
        </p:blipFill>
        <p:spPr>
          <a:xfrm>
            <a:off x="1051560" y="2532888"/>
            <a:ext cx="310896" cy="310896"/>
          </a:xfrm>
          <a:prstGeom prst="rect">
            <a:avLst/>
          </a:prstGeom>
          <a:noFill/>
          <a:ln>
            <a:noFill/>
          </a:ln>
        </p:spPr>
      </p:pic>
      <p:sp>
        <p:nvSpPr>
          <p:cNvPr id="462" name="Google Shape;462;p17"/>
          <p:cNvSpPr txBox="1"/>
          <p:nvPr/>
        </p:nvSpPr>
        <p:spPr>
          <a:xfrm>
            <a:off x="1490472" y="2322576"/>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knows what happened in the world today</a:t>
            </a:r>
            <a:endParaRPr/>
          </a:p>
        </p:txBody>
      </p:sp>
      <p:sp>
        <p:nvSpPr>
          <p:cNvPr id="463" name="Google Shape;463;p17"/>
          <p:cNvSpPr txBox="1"/>
          <p:nvPr/>
        </p:nvSpPr>
        <p:spPr>
          <a:xfrm>
            <a:off x="9171432" y="2523744"/>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64" name="Google Shape;464;p17"/>
          <p:cNvSpPr/>
          <p:nvPr/>
        </p:nvSpPr>
        <p:spPr>
          <a:xfrm>
            <a:off x="10378440" y="2560320"/>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7"/>
          <p:cNvSpPr txBox="1"/>
          <p:nvPr/>
        </p:nvSpPr>
        <p:spPr>
          <a:xfrm>
            <a:off x="10469880" y="2523744"/>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66" name="Google Shape;466;p17"/>
          <p:cNvSpPr/>
          <p:nvPr/>
        </p:nvSpPr>
        <p:spPr>
          <a:xfrm>
            <a:off x="502920" y="3182112"/>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7"/>
          <p:cNvSpPr txBox="1"/>
          <p:nvPr/>
        </p:nvSpPr>
        <p:spPr>
          <a:xfrm>
            <a:off x="649224" y="3182112"/>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3</a:t>
            </a:r>
            <a:endParaRPr/>
          </a:p>
        </p:txBody>
      </p:sp>
      <p:pic>
        <p:nvPicPr>
          <p:cNvPr descr="brain-circuit-028090-64.png" id="468" name="Google Shape;468;p17"/>
          <p:cNvPicPr preferRelativeResize="0"/>
          <p:nvPr/>
        </p:nvPicPr>
        <p:blipFill rotWithShape="1">
          <a:blip r:embed="rId4">
            <a:alphaModFix/>
          </a:blip>
          <a:srcRect b="0" l="0" r="0" t="0"/>
          <a:stretch/>
        </p:blipFill>
        <p:spPr>
          <a:xfrm>
            <a:off x="1051560" y="3392424"/>
            <a:ext cx="310896" cy="310896"/>
          </a:xfrm>
          <a:prstGeom prst="rect">
            <a:avLst/>
          </a:prstGeom>
          <a:noFill/>
          <a:ln>
            <a:noFill/>
          </a:ln>
        </p:spPr>
      </p:pic>
      <p:sp>
        <p:nvSpPr>
          <p:cNvPr id="469" name="Google Shape;469;p17"/>
          <p:cNvSpPr txBox="1"/>
          <p:nvPr/>
        </p:nvSpPr>
        <p:spPr>
          <a:xfrm>
            <a:off x="1490472" y="3182112"/>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can confidently state something false without meaning to deceive</a:t>
            </a:r>
            <a:endParaRPr/>
          </a:p>
        </p:txBody>
      </p:sp>
      <p:sp>
        <p:nvSpPr>
          <p:cNvPr id="470" name="Google Shape;470;p17"/>
          <p:cNvSpPr txBox="1"/>
          <p:nvPr/>
        </p:nvSpPr>
        <p:spPr>
          <a:xfrm>
            <a:off x="9171432" y="3383280"/>
            <a:ext cx="1170432"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true</a:t>
            </a:r>
            <a:endParaRPr/>
          </a:p>
        </p:txBody>
      </p:sp>
      <p:sp>
        <p:nvSpPr>
          <p:cNvPr id="471" name="Google Shape;471;p17"/>
          <p:cNvSpPr/>
          <p:nvPr/>
        </p:nvSpPr>
        <p:spPr>
          <a:xfrm>
            <a:off x="10378440" y="3419856"/>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nvSpPr>
        <p:spPr>
          <a:xfrm>
            <a:off x="10469880" y="3383280"/>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false</a:t>
            </a:r>
            <a:endParaRPr/>
          </a:p>
        </p:txBody>
      </p:sp>
      <p:sp>
        <p:nvSpPr>
          <p:cNvPr id="473" name="Google Shape;473;p17"/>
          <p:cNvSpPr/>
          <p:nvPr/>
        </p:nvSpPr>
        <p:spPr>
          <a:xfrm>
            <a:off x="502920" y="4041648"/>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17"/>
          <p:cNvSpPr txBox="1"/>
          <p:nvPr/>
        </p:nvSpPr>
        <p:spPr>
          <a:xfrm>
            <a:off x="649224" y="4041648"/>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4</a:t>
            </a:r>
            <a:endParaRPr/>
          </a:p>
        </p:txBody>
      </p:sp>
      <p:pic>
        <p:nvPicPr>
          <p:cNvPr descr="lock-028090-64.png" id="475" name="Google Shape;475;p17"/>
          <p:cNvPicPr preferRelativeResize="0"/>
          <p:nvPr/>
        </p:nvPicPr>
        <p:blipFill rotWithShape="1">
          <a:blip r:embed="rId5">
            <a:alphaModFix/>
          </a:blip>
          <a:srcRect b="0" l="0" r="0" t="0"/>
          <a:stretch/>
        </p:blipFill>
        <p:spPr>
          <a:xfrm>
            <a:off x="1051560" y="4251959"/>
            <a:ext cx="310896" cy="310896"/>
          </a:xfrm>
          <a:prstGeom prst="rect">
            <a:avLst/>
          </a:prstGeom>
          <a:noFill/>
          <a:ln>
            <a:noFill/>
          </a:ln>
        </p:spPr>
      </p:pic>
      <p:sp>
        <p:nvSpPr>
          <p:cNvPr id="476" name="Google Shape;476;p17"/>
          <p:cNvSpPr txBox="1"/>
          <p:nvPr/>
        </p:nvSpPr>
        <p:spPr>
          <a:xfrm>
            <a:off x="1490472" y="4041648"/>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An AI chat can see your personal email and files by default</a:t>
            </a:r>
            <a:endParaRPr/>
          </a:p>
        </p:txBody>
      </p:sp>
      <p:sp>
        <p:nvSpPr>
          <p:cNvPr id="477" name="Google Shape;477;p17"/>
          <p:cNvSpPr txBox="1"/>
          <p:nvPr/>
        </p:nvSpPr>
        <p:spPr>
          <a:xfrm>
            <a:off x="9171432" y="4242816"/>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78" name="Google Shape;478;p17"/>
          <p:cNvSpPr/>
          <p:nvPr/>
        </p:nvSpPr>
        <p:spPr>
          <a:xfrm>
            <a:off x="10378440" y="4279392"/>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17"/>
          <p:cNvSpPr txBox="1"/>
          <p:nvPr/>
        </p:nvSpPr>
        <p:spPr>
          <a:xfrm>
            <a:off x="10469880" y="4242816"/>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0" name="Google Shape;480;p17"/>
          <p:cNvSpPr/>
          <p:nvPr/>
        </p:nvSpPr>
        <p:spPr>
          <a:xfrm>
            <a:off x="502920" y="4901183"/>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7"/>
          <p:cNvSpPr txBox="1"/>
          <p:nvPr/>
        </p:nvSpPr>
        <p:spPr>
          <a:xfrm>
            <a:off x="649224" y="4901183"/>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5</a:t>
            </a:r>
            <a:endParaRPr/>
          </a:p>
        </p:txBody>
      </p:sp>
      <p:pic>
        <p:nvPicPr>
          <p:cNvPr descr="database-028090-64.png" id="482" name="Google Shape;482;p17"/>
          <p:cNvPicPr preferRelativeResize="0"/>
          <p:nvPr/>
        </p:nvPicPr>
        <p:blipFill rotWithShape="1">
          <a:blip r:embed="rId6">
            <a:alphaModFix/>
          </a:blip>
          <a:srcRect b="0" l="0" r="0" t="0"/>
          <a:stretch/>
        </p:blipFill>
        <p:spPr>
          <a:xfrm>
            <a:off x="1051560" y="5111495"/>
            <a:ext cx="310896" cy="310896"/>
          </a:xfrm>
          <a:prstGeom prst="rect">
            <a:avLst/>
          </a:prstGeom>
          <a:noFill/>
          <a:ln>
            <a:noFill/>
          </a:ln>
        </p:spPr>
      </p:pic>
      <p:sp>
        <p:nvSpPr>
          <p:cNvPr id="483" name="Google Shape;483;p17"/>
          <p:cNvSpPr txBox="1"/>
          <p:nvPr/>
        </p:nvSpPr>
        <p:spPr>
          <a:xfrm>
            <a:off x="1490472" y="4901183"/>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gives an answer consistent with the data it was fed</a:t>
            </a:r>
            <a:endParaRPr/>
          </a:p>
        </p:txBody>
      </p:sp>
      <p:sp>
        <p:nvSpPr>
          <p:cNvPr id="484" name="Google Shape;484;p17"/>
          <p:cNvSpPr txBox="1"/>
          <p:nvPr/>
        </p:nvSpPr>
        <p:spPr>
          <a:xfrm>
            <a:off x="9171432" y="5102351"/>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85" name="Google Shape;485;p17"/>
          <p:cNvSpPr/>
          <p:nvPr/>
        </p:nvSpPr>
        <p:spPr>
          <a:xfrm>
            <a:off x="10378440" y="5138927"/>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17"/>
          <p:cNvSpPr txBox="1"/>
          <p:nvPr/>
        </p:nvSpPr>
        <p:spPr>
          <a:xfrm>
            <a:off x="10469880" y="5102351"/>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7" name="Google Shape;487;p17"/>
          <p:cNvSpPr/>
          <p:nvPr/>
        </p:nvSpPr>
        <p:spPr>
          <a:xfrm>
            <a:off x="502920" y="5760719"/>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17"/>
          <p:cNvSpPr txBox="1"/>
          <p:nvPr/>
        </p:nvSpPr>
        <p:spPr>
          <a:xfrm>
            <a:off x="649224" y="5760719"/>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6</a:t>
            </a:r>
            <a:endParaRPr/>
          </a:p>
        </p:txBody>
      </p:sp>
      <p:pic>
        <p:nvPicPr>
          <p:cNvPr descr="shuffle-028090-64.png" id="489" name="Google Shape;489;p17"/>
          <p:cNvPicPr preferRelativeResize="0"/>
          <p:nvPr/>
        </p:nvPicPr>
        <p:blipFill rotWithShape="1">
          <a:blip r:embed="rId7">
            <a:alphaModFix/>
          </a:blip>
          <a:srcRect b="0" l="0" r="0" t="0"/>
          <a:stretch/>
        </p:blipFill>
        <p:spPr>
          <a:xfrm>
            <a:off x="1051560" y="5971031"/>
            <a:ext cx="310896" cy="310896"/>
          </a:xfrm>
          <a:prstGeom prst="rect">
            <a:avLst/>
          </a:prstGeom>
          <a:noFill/>
          <a:ln>
            <a:noFill/>
          </a:ln>
        </p:spPr>
      </p:pic>
      <p:sp>
        <p:nvSpPr>
          <p:cNvPr id="490" name="Google Shape;490;p17"/>
          <p:cNvSpPr txBox="1"/>
          <p:nvPr/>
        </p:nvSpPr>
        <p:spPr>
          <a:xfrm>
            <a:off x="1490472" y="5760719"/>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All AI models give the same answer to the same question</a:t>
            </a:r>
            <a:endParaRPr/>
          </a:p>
        </p:txBody>
      </p:sp>
      <p:sp>
        <p:nvSpPr>
          <p:cNvPr id="491" name="Google Shape;491;p17"/>
          <p:cNvSpPr txBox="1"/>
          <p:nvPr/>
        </p:nvSpPr>
        <p:spPr>
          <a:xfrm>
            <a:off x="9171432" y="5961887"/>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92" name="Google Shape;492;p17"/>
          <p:cNvSpPr/>
          <p:nvPr/>
        </p:nvSpPr>
        <p:spPr>
          <a:xfrm>
            <a:off x="10378440" y="5998463"/>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17"/>
          <p:cNvSpPr txBox="1"/>
          <p:nvPr/>
        </p:nvSpPr>
        <p:spPr>
          <a:xfrm>
            <a:off x="10469880" y="5961887"/>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94" name="Google Shape;494;p17"/>
          <p:cNvSpPr txBox="1"/>
          <p:nvPr/>
        </p:nvSpPr>
        <p:spPr>
          <a:xfrm>
            <a:off x="502920" y="6565392"/>
            <a:ext cx="11183112" cy="256032"/>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1" lang="en-US" sz="1100" u="none" cap="none" strike="noStrike">
                <a:solidFill>
                  <a:srgbClr val="6B7685"/>
                </a:solidFill>
                <a:latin typeface="Arial"/>
                <a:ea typeface="Arial"/>
                <a:cs typeface="Arial"/>
                <a:sym typeface="Arial"/>
              </a:rPr>
              <a:t>correct answers reveal one at a time — question 3 of 6</a:t>
            </a:r>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1" name="Google Shape;451;p17"/>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True or false? Let's check your intuition about AI</a:t>
            </a:r>
            <a:endParaRPr/>
          </a:p>
        </p:txBody>
      </p:sp>
      <p:sp>
        <p:nvSpPr>
          <p:cNvPr id="452" name="Google Shape;452;p17"/>
          <p:cNvSpPr/>
          <p:nvPr/>
        </p:nvSpPr>
        <p:spPr>
          <a:xfrm>
            <a:off x="502920" y="1463040"/>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7"/>
          <p:cNvSpPr txBox="1"/>
          <p:nvPr/>
        </p:nvSpPr>
        <p:spPr>
          <a:xfrm>
            <a:off x="649224" y="1463040"/>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1</a:t>
            </a:r>
            <a:endParaRPr/>
          </a:p>
        </p:txBody>
      </p:sp>
      <p:pic>
        <p:nvPicPr>
          <p:cNvPr descr="hash-028090-64.png" id="454" name="Google Shape;454;p17"/>
          <p:cNvPicPr preferRelativeResize="0"/>
          <p:nvPr/>
        </p:nvPicPr>
        <p:blipFill rotWithShape="1">
          <a:blip r:embed="rId2">
            <a:alphaModFix/>
          </a:blip>
          <a:srcRect b="0" l="0" r="0" t="0"/>
          <a:stretch/>
        </p:blipFill>
        <p:spPr>
          <a:xfrm>
            <a:off x="1051560" y="1673352"/>
            <a:ext cx="310896" cy="310896"/>
          </a:xfrm>
          <a:prstGeom prst="rect">
            <a:avLst/>
          </a:prstGeom>
          <a:noFill/>
          <a:ln>
            <a:noFill/>
          </a:ln>
        </p:spPr>
      </p:pic>
      <p:sp>
        <p:nvSpPr>
          <p:cNvPr id="455" name="Google Shape;455;p17"/>
          <p:cNvSpPr txBox="1"/>
          <p:nvPr/>
        </p:nvSpPr>
        <p:spPr>
          <a:xfrm>
            <a:off x="1490472" y="1463040"/>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counts the letters in a word directly, the way a human does</a:t>
            </a:r>
            <a:endParaRPr/>
          </a:p>
        </p:txBody>
      </p:sp>
      <p:sp>
        <p:nvSpPr>
          <p:cNvPr id="456" name="Google Shape;456;p17"/>
          <p:cNvSpPr txBox="1"/>
          <p:nvPr/>
        </p:nvSpPr>
        <p:spPr>
          <a:xfrm>
            <a:off x="9171432" y="1664208"/>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57" name="Google Shape;457;p17"/>
          <p:cNvSpPr/>
          <p:nvPr/>
        </p:nvSpPr>
        <p:spPr>
          <a:xfrm>
            <a:off x="10378440" y="1700784"/>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txBox="1"/>
          <p:nvPr/>
        </p:nvSpPr>
        <p:spPr>
          <a:xfrm>
            <a:off x="10469880" y="1664208"/>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59" name="Google Shape;459;p17"/>
          <p:cNvSpPr/>
          <p:nvPr/>
        </p:nvSpPr>
        <p:spPr>
          <a:xfrm>
            <a:off x="502920" y="2322576"/>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17"/>
          <p:cNvSpPr txBox="1"/>
          <p:nvPr/>
        </p:nvSpPr>
        <p:spPr>
          <a:xfrm>
            <a:off x="649224" y="2322576"/>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2</a:t>
            </a:r>
            <a:endParaRPr/>
          </a:p>
        </p:txBody>
      </p:sp>
      <p:pic>
        <p:nvPicPr>
          <p:cNvPr descr="calendar-028090-64.png" id="461" name="Google Shape;461;p17"/>
          <p:cNvPicPr preferRelativeResize="0"/>
          <p:nvPr/>
        </p:nvPicPr>
        <p:blipFill rotWithShape="1">
          <a:blip r:embed="rId3">
            <a:alphaModFix/>
          </a:blip>
          <a:srcRect b="0" l="0" r="0" t="0"/>
          <a:stretch/>
        </p:blipFill>
        <p:spPr>
          <a:xfrm>
            <a:off x="1051560" y="2532888"/>
            <a:ext cx="310896" cy="310896"/>
          </a:xfrm>
          <a:prstGeom prst="rect">
            <a:avLst/>
          </a:prstGeom>
          <a:noFill/>
          <a:ln>
            <a:noFill/>
          </a:ln>
        </p:spPr>
      </p:pic>
      <p:sp>
        <p:nvSpPr>
          <p:cNvPr id="462" name="Google Shape;462;p17"/>
          <p:cNvSpPr txBox="1"/>
          <p:nvPr/>
        </p:nvSpPr>
        <p:spPr>
          <a:xfrm>
            <a:off x="1490472" y="2322576"/>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knows what happened in the world today</a:t>
            </a:r>
            <a:endParaRPr/>
          </a:p>
        </p:txBody>
      </p:sp>
      <p:sp>
        <p:nvSpPr>
          <p:cNvPr id="463" name="Google Shape;463;p17"/>
          <p:cNvSpPr txBox="1"/>
          <p:nvPr/>
        </p:nvSpPr>
        <p:spPr>
          <a:xfrm>
            <a:off x="9171432" y="2523744"/>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64" name="Google Shape;464;p17"/>
          <p:cNvSpPr/>
          <p:nvPr/>
        </p:nvSpPr>
        <p:spPr>
          <a:xfrm>
            <a:off x="10378440" y="2560320"/>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7"/>
          <p:cNvSpPr txBox="1"/>
          <p:nvPr/>
        </p:nvSpPr>
        <p:spPr>
          <a:xfrm>
            <a:off x="10469880" y="2523744"/>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66" name="Google Shape;466;p17"/>
          <p:cNvSpPr/>
          <p:nvPr/>
        </p:nvSpPr>
        <p:spPr>
          <a:xfrm>
            <a:off x="502920" y="3182112"/>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7"/>
          <p:cNvSpPr txBox="1"/>
          <p:nvPr/>
        </p:nvSpPr>
        <p:spPr>
          <a:xfrm>
            <a:off x="649224" y="3182112"/>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3</a:t>
            </a:r>
            <a:endParaRPr/>
          </a:p>
        </p:txBody>
      </p:sp>
      <p:pic>
        <p:nvPicPr>
          <p:cNvPr descr="brain-circuit-028090-64.png" id="468" name="Google Shape;468;p17"/>
          <p:cNvPicPr preferRelativeResize="0"/>
          <p:nvPr/>
        </p:nvPicPr>
        <p:blipFill rotWithShape="1">
          <a:blip r:embed="rId4">
            <a:alphaModFix/>
          </a:blip>
          <a:srcRect b="0" l="0" r="0" t="0"/>
          <a:stretch/>
        </p:blipFill>
        <p:spPr>
          <a:xfrm>
            <a:off x="1051560" y="3392424"/>
            <a:ext cx="310896" cy="310896"/>
          </a:xfrm>
          <a:prstGeom prst="rect">
            <a:avLst/>
          </a:prstGeom>
          <a:noFill/>
          <a:ln>
            <a:noFill/>
          </a:ln>
        </p:spPr>
      </p:pic>
      <p:sp>
        <p:nvSpPr>
          <p:cNvPr id="469" name="Google Shape;469;p17"/>
          <p:cNvSpPr txBox="1"/>
          <p:nvPr/>
        </p:nvSpPr>
        <p:spPr>
          <a:xfrm>
            <a:off x="1490472" y="3182112"/>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can confidently state something false without meaning to deceive</a:t>
            </a:r>
            <a:endParaRPr/>
          </a:p>
        </p:txBody>
      </p:sp>
      <p:sp>
        <p:nvSpPr>
          <p:cNvPr id="470" name="Google Shape;470;p17"/>
          <p:cNvSpPr txBox="1"/>
          <p:nvPr/>
        </p:nvSpPr>
        <p:spPr>
          <a:xfrm>
            <a:off x="9171432" y="3383280"/>
            <a:ext cx="1170432"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true</a:t>
            </a:r>
            <a:endParaRPr/>
          </a:p>
        </p:txBody>
      </p:sp>
      <p:sp>
        <p:nvSpPr>
          <p:cNvPr id="471" name="Google Shape;471;p17"/>
          <p:cNvSpPr/>
          <p:nvPr/>
        </p:nvSpPr>
        <p:spPr>
          <a:xfrm>
            <a:off x="10378440" y="3419856"/>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nvSpPr>
        <p:spPr>
          <a:xfrm>
            <a:off x="10469880" y="3383280"/>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false</a:t>
            </a:r>
            <a:endParaRPr/>
          </a:p>
        </p:txBody>
      </p:sp>
      <p:sp>
        <p:nvSpPr>
          <p:cNvPr id="473" name="Google Shape;473;p17"/>
          <p:cNvSpPr/>
          <p:nvPr/>
        </p:nvSpPr>
        <p:spPr>
          <a:xfrm>
            <a:off x="502920" y="4041648"/>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17"/>
          <p:cNvSpPr txBox="1"/>
          <p:nvPr/>
        </p:nvSpPr>
        <p:spPr>
          <a:xfrm>
            <a:off x="649224" y="4041648"/>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4</a:t>
            </a:r>
            <a:endParaRPr/>
          </a:p>
        </p:txBody>
      </p:sp>
      <p:pic>
        <p:nvPicPr>
          <p:cNvPr descr="lock-028090-64.png" id="475" name="Google Shape;475;p17"/>
          <p:cNvPicPr preferRelativeResize="0"/>
          <p:nvPr/>
        </p:nvPicPr>
        <p:blipFill rotWithShape="1">
          <a:blip r:embed="rId5">
            <a:alphaModFix/>
          </a:blip>
          <a:srcRect b="0" l="0" r="0" t="0"/>
          <a:stretch/>
        </p:blipFill>
        <p:spPr>
          <a:xfrm>
            <a:off x="1051560" y="4251959"/>
            <a:ext cx="310896" cy="310896"/>
          </a:xfrm>
          <a:prstGeom prst="rect">
            <a:avLst/>
          </a:prstGeom>
          <a:noFill/>
          <a:ln>
            <a:noFill/>
          </a:ln>
        </p:spPr>
      </p:pic>
      <p:sp>
        <p:nvSpPr>
          <p:cNvPr id="476" name="Google Shape;476;p17"/>
          <p:cNvSpPr txBox="1"/>
          <p:nvPr/>
        </p:nvSpPr>
        <p:spPr>
          <a:xfrm>
            <a:off x="1490472" y="4041648"/>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An AI chat can see your personal email and files by default</a:t>
            </a:r>
            <a:endParaRPr/>
          </a:p>
        </p:txBody>
      </p:sp>
      <p:sp>
        <p:nvSpPr>
          <p:cNvPr id="477" name="Google Shape;477;p17"/>
          <p:cNvSpPr txBox="1"/>
          <p:nvPr/>
        </p:nvSpPr>
        <p:spPr>
          <a:xfrm>
            <a:off x="9171432" y="4242816"/>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78" name="Google Shape;478;p17"/>
          <p:cNvSpPr/>
          <p:nvPr/>
        </p:nvSpPr>
        <p:spPr>
          <a:xfrm>
            <a:off x="10378440" y="4279392"/>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17"/>
          <p:cNvSpPr txBox="1"/>
          <p:nvPr/>
        </p:nvSpPr>
        <p:spPr>
          <a:xfrm>
            <a:off x="10469880" y="4242816"/>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80" name="Google Shape;480;p17"/>
          <p:cNvSpPr/>
          <p:nvPr/>
        </p:nvSpPr>
        <p:spPr>
          <a:xfrm>
            <a:off x="502920" y="4901183"/>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7"/>
          <p:cNvSpPr txBox="1"/>
          <p:nvPr/>
        </p:nvSpPr>
        <p:spPr>
          <a:xfrm>
            <a:off x="649224" y="4901183"/>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5</a:t>
            </a:r>
            <a:endParaRPr/>
          </a:p>
        </p:txBody>
      </p:sp>
      <p:pic>
        <p:nvPicPr>
          <p:cNvPr descr="database-028090-64.png" id="482" name="Google Shape;482;p17"/>
          <p:cNvPicPr preferRelativeResize="0"/>
          <p:nvPr/>
        </p:nvPicPr>
        <p:blipFill rotWithShape="1">
          <a:blip r:embed="rId6">
            <a:alphaModFix/>
          </a:blip>
          <a:srcRect b="0" l="0" r="0" t="0"/>
          <a:stretch/>
        </p:blipFill>
        <p:spPr>
          <a:xfrm>
            <a:off x="1051560" y="5111495"/>
            <a:ext cx="310896" cy="310896"/>
          </a:xfrm>
          <a:prstGeom prst="rect">
            <a:avLst/>
          </a:prstGeom>
          <a:noFill/>
          <a:ln>
            <a:noFill/>
          </a:ln>
        </p:spPr>
      </p:pic>
      <p:sp>
        <p:nvSpPr>
          <p:cNvPr id="483" name="Google Shape;483;p17"/>
          <p:cNvSpPr txBox="1"/>
          <p:nvPr/>
        </p:nvSpPr>
        <p:spPr>
          <a:xfrm>
            <a:off x="1490472" y="4901183"/>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gives an answer consistent with the data it was fed</a:t>
            </a:r>
            <a:endParaRPr/>
          </a:p>
        </p:txBody>
      </p:sp>
      <p:sp>
        <p:nvSpPr>
          <p:cNvPr id="484" name="Google Shape;484;p17"/>
          <p:cNvSpPr txBox="1"/>
          <p:nvPr/>
        </p:nvSpPr>
        <p:spPr>
          <a:xfrm>
            <a:off x="9171432" y="5102351"/>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85" name="Google Shape;485;p17"/>
          <p:cNvSpPr/>
          <p:nvPr/>
        </p:nvSpPr>
        <p:spPr>
          <a:xfrm>
            <a:off x="10378440" y="5138927"/>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17"/>
          <p:cNvSpPr txBox="1"/>
          <p:nvPr/>
        </p:nvSpPr>
        <p:spPr>
          <a:xfrm>
            <a:off x="10469880" y="5102351"/>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87" name="Google Shape;487;p17"/>
          <p:cNvSpPr/>
          <p:nvPr/>
        </p:nvSpPr>
        <p:spPr>
          <a:xfrm>
            <a:off x="502920" y="5760719"/>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17"/>
          <p:cNvSpPr txBox="1"/>
          <p:nvPr/>
        </p:nvSpPr>
        <p:spPr>
          <a:xfrm>
            <a:off x="649224" y="5760719"/>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6</a:t>
            </a:r>
            <a:endParaRPr/>
          </a:p>
        </p:txBody>
      </p:sp>
      <p:pic>
        <p:nvPicPr>
          <p:cNvPr descr="shuffle-028090-64.png" id="489" name="Google Shape;489;p17"/>
          <p:cNvPicPr preferRelativeResize="0"/>
          <p:nvPr/>
        </p:nvPicPr>
        <p:blipFill rotWithShape="1">
          <a:blip r:embed="rId7">
            <a:alphaModFix/>
          </a:blip>
          <a:srcRect b="0" l="0" r="0" t="0"/>
          <a:stretch/>
        </p:blipFill>
        <p:spPr>
          <a:xfrm>
            <a:off x="1051560" y="5971031"/>
            <a:ext cx="310896" cy="310896"/>
          </a:xfrm>
          <a:prstGeom prst="rect">
            <a:avLst/>
          </a:prstGeom>
          <a:noFill/>
          <a:ln>
            <a:noFill/>
          </a:ln>
        </p:spPr>
      </p:pic>
      <p:sp>
        <p:nvSpPr>
          <p:cNvPr id="490" name="Google Shape;490;p17"/>
          <p:cNvSpPr txBox="1"/>
          <p:nvPr/>
        </p:nvSpPr>
        <p:spPr>
          <a:xfrm>
            <a:off x="1490472" y="5760719"/>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All AI models give the same answer to the same question</a:t>
            </a:r>
            <a:endParaRPr/>
          </a:p>
        </p:txBody>
      </p:sp>
      <p:sp>
        <p:nvSpPr>
          <p:cNvPr id="491" name="Google Shape;491;p17"/>
          <p:cNvSpPr txBox="1"/>
          <p:nvPr/>
        </p:nvSpPr>
        <p:spPr>
          <a:xfrm>
            <a:off x="9171432" y="5961887"/>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92" name="Google Shape;492;p17"/>
          <p:cNvSpPr/>
          <p:nvPr/>
        </p:nvSpPr>
        <p:spPr>
          <a:xfrm>
            <a:off x="10378440" y="5998463"/>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17"/>
          <p:cNvSpPr txBox="1"/>
          <p:nvPr/>
        </p:nvSpPr>
        <p:spPr>
          <a:xfrm>
            <a:off x="10469880" y="5961887"/>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94" name="Google Shape;494;p17"/>
          <p:cNvSpPr txBox="1"/>
          <p:nvPr/>
        </p:nvSpPr>
        <p:spPr>
          <a:xfrm>
            <a:off x="502920" y="6565392"/>
            <a:ext cx="11183112" cy="256032"/>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1" lang="en-US" sz="1100" u="none" cap="none" strike="noStrike">
                <a:solidFill>
                  <a:srgbClr val="6B7685"/>
                </a:solidFill>
                <a:latin typeface="Arial"/>
                <a:ea typeface="Arial"/>
                <a:cs typeface="Arial"/>
                <a:sym typeface="Arial"/>
              </a:rPr>
              <a:t>correct answers reveal one at a time — question 4 of 6</a:t>
            </a:r>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1" name="Google Shape;451;p17"/>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True or false? Let's check your intuition about AI</a:t>
            </a:r>
            <a:endParaRPr/>
          </a:p>
        </p:txBody>
      </p:sp>
      <p:sp>
        <p:nvSpPr>
          <p:cNvPr id="452" name="Google Shape;452;p17"/>
          <p:cNvSpPr/>
          <p:nvPr/>
        </p:nvSpPr>
        <p:spPr>
          <a:xfrm>
            <a:off x="502920" y="1463040"/>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7"/>
          <p:cNvSpPr txBox="1"/>
          <p:nvPr/>
        </p:nvSpPr>
        <p:spPr>
          <a:xfrm>
            <a:off x="649224" y="1463040"/>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1</a:t>
            </a:r>
            <a:endParaRPr/>
          </a:p>
        </p:txBody>
      </p:sp>
      <p:pic>
        <p:nvPicPr>
          <p:cNvPr descr="hash-028090-64.png" id="454" name="Google Shape;454;p17"/>
          <p:cNvPicPr preferRelativeResize="0"/>
          <p:nvPr/>
        </p:nvPicPr>
        <p:blipFill rotWithShape="1">
          <a:blip r:embed="rId2">
            <a:alphaModFix/>
          </a:blip>
          <a:srcRect b="0" l="0" r="0" t="0"/>
          <a:stretch/>
        </p:blipFill>
        <p:spPr>
          <a:xfrm>
            <a:off x="1051560" y="1673352"/>
            <a:ext cx="310896" cy="310896"/>
          </a:xfrm>
          <a:prstGeom prst="rect">
            <a:avLst/>
          </a:prstGeom>
          <a:noFill/>
          <a:ln>
            <a:noFill/>
          </a:ln>
        </p:spPr>
      </p:pic>
      <p:sp>
        <p:nvSpPr>
          <p:cNvPr id="455" name="Google Shape;455;p17"/>
          <p:cNvSpPr txBox="1"/>
          <p:nvPr/>
        </p:nvSpPr>
        <p:spPr>
          <a:xfrm>
            <a:off x="1490472" y="1463040"/>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counts the letters in a word directly, the way a human does</a:t>
            </a:r>
            <a:endParaRPr/>
          </a:p>
        </p:txBody>
      </p:sp>
      <p:sp>
        <p:nvSpPr>
          <p:cNvPr id="456" name="Google Shape;456;p17"/>
          <p:cNvSpPr txBox="1"/>
          <p:nvPr/>
        </p:nvSpPr>
        <p:spPr>
          <a:xfrm>
            <a:off x="9171432" y="1664208"/>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57" name="Google Shape;457;p17"/>
          <p:cNvSpPr/>
          <p:nvPr/>
        </p:nvSpPr>
        <p:spPr>
          <a:xfrm>
            <a:off x="10378440" y="1700784"/>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txBox="1"/>
          <p:nvPr/>
        </p:nvSpPr>
        <p:spPr>
          <a:xfrm>
            <a:off x="10469880" y="1664208"/>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59" name="Google Shape;459;p17"/>
          <p:cNvSpPr/>
          <p:nvPr/>
        </p:nvSpPr>
        <p:spPr>
          <a:xfrm>
            <a:off x="502920" y="2322576"/>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17"/>
          <p:cNvSpPr txBox="1"/>
          <p:nvPr/>
        </p:nvSpPr>
        <p:spPr>
          <a:xfrm>
            <a:off x="649224" y="2322576"/>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2</a:t>
            </a:r>
            <a:endParaRPr/>
          </a:p>
        </p:txBody>
      </p:sp>
      <p:pic>
        <p:nvPicPr>
          <p:cNvPr descr="calendar-028090-64.png" id="461" name="Google Shape;461;p17"/>
          <p:cNvPicPr preferRelativeResize="0"/>
          <p:nvPr/>
        </p:nvPicPr>
        <p:blipFill rotWithShape="1">
          <a:blip r:embed="rId3">
            <a:alphaModFix/>
          </a:blip>
          <a:srcRect b="0" l="0" r="0" t="0"/>
          <a:stretch/>
        </p:blipFill>
        <p:spPr>
          <a:xfrm>
            <a:off x="1051560" y="2532888"/>
            <a:ext cx="310896" cy="310896"/>
          </a:xfrm>
          <a:prstGeom prst="rect">
            <a:avLst/>
          </a:prstGeom>
          <a:noFill/>
          <a:ln>
            <a:noFill/>
          </a:ln>
        </p:spPr>
      </p:pic>
      <p:sp>
        <p:nvSpPr>
          <p:cNvPr id="462" name="Google Shape;462;p17"/>
          <p:cNvSpPr txBox="1"/>
          <p:nvPr/>
        </p:nvSpPr>
        <p:spPr>
          <a:xfrm>
            <a:off x="1490472" y="2322576"/>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knows what happened in the world today</a:t>
            </a:r>
            <a:endParaRPr/>
          </a:p>
        </p:txBody>
      </p:sp>
      <p:sp>
        <p:nvSpPr>
          <p:cNvPr id="463" name="Google Shape;463;p17"/>
          <p:cNvSpPr txBox="1"/>
          <p:nvPr/>
        </p:nvSpPr>
        <p:spPr>
          <a:xfrm>
            <a:off x="9171432" y="2523744"/>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64" name="Google Shape;464;p17"/>
          <p:cNvSpPr/>
          <p:nvPr/>
        </p:nvSpPr>
        <p:spPr>
          <a:xfrm>
            <a:off x="10378440" y="2560320"/>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7"/>
          <p:cNvSpPr txBox="1"/>
          <p:nvPr/>
        </p:nvSpPr>
        <p:spPr>
          <a:xfrm>
            <a:off x="10469880" y="2523744"/>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66" name="Google Shape;466;p17"/>
          <p:cNvSpPr/>
          <p:nvPr/>
        </p:nvSpPr>
        <p:spPr>
          <a:xfrm>
            <a:off x="502920" y="3182112"/>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7"/>
          <p:cNvSpPr txBox="1"/>
          <p:nvPr/>
        </p:nvSpPr>
        <p:spPr>
          <a:xfrm>
            <a:off x="649224" y="3182112"/>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3</a:t>
            </a:r>
            <a:endParaRPr/>
          </a:p>
        </p:txBody>
      </p:sp>
      <p:pic>
        <p:nvPicPr>
          <p:cNvPr descr="brain-circuit-028090-64.png" id="468" name="Google Shape;468;p17"/>
          <p:cNvPicPr preferRelativeResize="0"/>
          <p:nvPr/>
        </p:nvPicPr>
        <p:blipFill rotWithShape="1">
          <a:blip r:embed="rId4">
            <a:alphaModFix/>
          </a:blip>
          <a:srcRect b="0" l="0" r="0" t="0"/>
          <a:stretch/>
        </p:blipFill>
        <p:spPr>
          <a:xfrm>
            <a:off x="1051560" y="3392424"/>
            <a:ext cx="310896" cy="310896"/>
          </a:xfrm>
          <a:prstGeom prst="rect">
            <a:avLst/>
          </a:prstGeom>
          <a:noFill/>
          <a:ln>
            <a:noFill/>
          </a:ln>
        </p:spPr>
      </p:pic>
      <p:sp>
        <p:nvSpPr>
          <p:cNvPr id="469" name="Google Shape;469;p17"/>
          <p:cNvSpPr txBox="1"/>
          <p:nvPr/>
        </p:nvSpPr>
        <p:spPr>
          <a:xfrm>
            <a:off x="1490472" y="3182112"/>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can confidently state something false without meaning to deceive</a:t>
            </a:r>
            <a:endParaRPr/>
          </a:p>
        </p:txBody>
      </p:sp>
      <p:sp>
        <p:nvSpPr>
          <p:cNvPr id="470" name="Google Shape;470;p17"/>
          <p:cNvSpPr txBox="1"/>
          <p:nvPr/>
        </p:nvSpPr>
        <p:spPr>
          <a:xfrm>
            <a:off x="9171432" y="3383280"/>
            <a:ext cx="1170432"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true</a:t>
            </a:r>
            <a:endParaRPr/>
          </a:p>
        </p:txBody>
      </p:sp>
      <p:sp>
        <p:nvSpPr>
          <p:cNvPr id="471" name="Google Shape;471;p17"/>
          <p:cNvSpPr/>
          <p:nvPr/>
        </p:nvSpPr>
        <p:spPr>
          <a:xfrm>
            <a:off x="10378440" y="3419856"/>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nvSpPr>
        <p:spPr>
          <a:xfrm>
            <a:off x="10469880" y="3383280"/>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false</a:t>
            </a:r>
            <a:endParaRPr/>
          </a:p>
        </p:txBody>
      </p:sp>
      <p:sp>
        <p:nvSpPr>
          <p:cNvPr id="473" name="Google Shape;473;p17"/>
          <p:cNvSpPr/>
          <p:nvPr/>
        </p:nvSpPr>
        <p:spPr>
          <a:xfrm>
            <a:off x="502920" y="4041648"/>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17"/>
          <p:cNvSpPr txBox="1"/>
          <p:nvPr/>
        </p:nvSpPr>
        <p:spPr>
          <a:xfrm>
            <a:off x="649224" y="4041648"/>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4</a:t>
            </a:r>
            <a:endParaRPr/>
          </a:p>
        </p:txBody>
      </p:sp>
      <p:pic>
        <p:nvPicPr>
          <p:cNvPr descr="lock-028090-64.png" id="475" name="Google Shape;475;p17"/>
          <p:cNvPicPr preferRelativeResize="0"/>
          <p:nvPr/>
        </p:nvPicPr>
        <p:blipFill rotWithShape="1">
          <a:blip r:embed="rId5">
            <a:alphaModFix/>
          </a:blip>
          <a:srcRect b="0" l="0" r="0" t="0"/>
          <a:stretch/>
        </p:blipFill>
        <p:spPr>
          <a:xfrm>
            <a:off x="1051560" y="4251959"/>
            <a:ext cx="310896" cy="310896"/>
          </a:xfrm>
          <a:prstGeom prst="rect">
            <a:avLst/>
          </a:prstGeom>
          <a:noFill/>
          <a:ln>
            <a:noFill/>
          </a:ln>
        </p:spPr>
      </p:pic>
      <p:sp>
        <p:nvSpPr>
          <p:cNvPr id="476" name="Google Shape;476;p17"/>
          <p:cNvSpPr txBox="1"/>
          <p:nvPr/>
        </p:nvSpPr>
        <p:spPr>
          <a:xfrm>
            <a:off x="1490472" y="4041648"/>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An AI chat can see your personal email and files by default</a:t>
            </a:r>
            <a:endParaRPr/>
          </a:p>
        </p:txBody>
      </p:sp>
      <p:sp>
        <p:nvSpPr>
          <p:cNvPr id="477" name="Google Shape;477;p17"/>
          <p:cNvSpPr txBox="1"/>
          <p:nvPr/>
        </p:nvSpPr>
        <p:spPr>
          <a:xfrm>
            <a:off x="9171432" y="4242816"/>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78" name="Google Shape;478;p17"/>
          <p:cNvSpPr/>
          <p:nvPr/>
        </p:nvSpPr>
        <p:spPr>
          <a:xfrm>
            <a:off x="10378440" y="4279392"/>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17"/>
          <p:cNvSpPr txBox="1"/>
          <p:nvPr/>
        </p:nvSpPr>
        <p:spPr>
          <a:xfrm>
            <a:off x="10469880" y="4242816"/>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80" name="Google Shape;480;p17"/>
          <p:cNvSpPr/>
          <p:nvPr/>
        </p:nvSpPr>
        <p:spPr>
          <a:xfrm>
            <a:off x="502920" y="4901183"/>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7"/>
          <p:cNvSpPr txBox="1"/>
          <p:nvPr/>
        </p:nvSpPr>
        <p:spPr>
          <a:xfrm>
            <a:off x="649224" y="4901183"/>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5</a:t>
            </a:r>
            <a:endParaRPr/>
          </a:p>
        </p:txBody>
      </p:sp>
      <p:pic>
        <p:nvPicPr>
          <p:cNvPr descr="database-028090-64.png" id="482" name="Google Shape;482;p17"/>
          <p:cNvPicPr preferRelativeResize="0"/>
          <p:nvPr/>
        </p:nvPicPr>
        <p:blipFill rotWithShape="1">
          <a:blip r:embed="rId6">
            <a:alphaModFix/>
          </a:blip>
          <a:srcRect b="0" l="0" r="0" t="0"/>
          <a:stretch/>
        </p:blipFill>
        <p:spPr>
          <a:xfrm>
            <a:off x="1051560" y="5111495"/>
            <a:ext cx="310896" cy="310896"/>
          </a:xfrm>
          <a:prstGeom prst="rect">
            <a:avLst/>
          </a:prstGeom>
          <a:noFill/>
          <a:ln>
            <a:noFill/>
          </a:ln>
        </p:spPr>
      </p:pic>
      <p:sp>
        <p:nvSpPr>
          <p:cNvPr id="483" name="Google Shape;483;p17"/>
          <p:cNvSpPr txBox="1"/>
          <p:nvPr/>
        </p:nvSpPr>
        <p:spPr>
          <a:xfrm>
            <a:off x="1490472" y="4901183"/>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gives an answer consistent with the data it was fed</a:t>
            </a:r>
            <a:endParaRPr/>
          </a:p>
        </p:txBody>
      </p:sp>
      <p:sp>
        <p:nvSpPr>
          <p:cNvPr id="484" name="Google Shape;484;p17"/>
          <p:cNvSpPr txBox="1"/>
          <p:nvPr/>
        </p:nvSpPr>
        <p:spPr>
          <a:xfrm>
            <a:off x="9171432" y="5102351"/>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85" name="Google Shape;485;p17"/>
          <p:cNvSpPr/>
          <p:nvPr/>
        </p:nvSpPr>
        <p:spPr>
          <a:xfrm>
            <a:off x="10378440" y="5138927"/>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17"/>
          <p:cNvSpPr txBox="1"/>
          <p:nvPr/>
        </p:nvSpPr>
        <p:spPr>
          <a:xfrm>
            <a:off x="10469880" y="5102351"/>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87" name="Google Shape;487;p17"/>
          <p:cNvSpPr/>
          <p:nvPr/>
        </p:nvSpPr>
        <p:spPr>
          <a:xfrm>
            <a:off x="502920" y="5760719"/>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17"/>
          <p:cNvSpPr txBox="1"/>
          <p:nvPr/>
        </p:nvSpPr>
        <p:spPr>
          <a:xfrm>
            <a:off x="649224" y="5760719"/>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6</a:t>
            </a:r>
            <a:endParaRPr/>
          </a:p>
        </p:txBody>
      </p:sp>
      <p:pic>
        <p:nvPicPr>
          <p:cNvPr descr="shuffle-028090-64.png" id="489" name="Google Shape;489;p17"/>
          <p:cNvPicPr preferRelativeResize="0"/>
          <p:nvPr/>
        </p:nvPicPr>
        <p:blipFill rotWithShape="1">
          <a:blip r:embed="rId7">
            <a:alphaModFix/>
          </a:blip>
          <a:srcRect b="0" l="0" r="0" t="0"/>
          <a:stretch/>
        </p:blipFill>
        <p:spPr>
          <a:xfrm>
            <a:off x="1051560" y="5971031"/>
            <a:ext cx="310896" cy="310896"/>
          </a:xfrm>
          <a:prstGeom prst="rect">
            <a:avLst/>
          </a:prstGeom>
          <a:noFill/>
          <a:ln>
            <a:noFill/>
          </a:ln>
        </p:spPr>
      </p:pic>
      <p:sp>
        <p:nvSpPr>
          <p:cNvPr id="490" name="Google Shape;490;p17"/>
          <p:cNvSpPr txBox="1"/>
          <p:nvPr/>
        </p:nvSpPr>
        <p:spPr>
          <a:xfrm>
            <a:off x="1490472" y="5760719"/>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All AI models give the same answer to the same question</a:t>
            </a:r>
            <a:endParaRPr/>
          </a:p>
        </p:txBody>
      </p:sp>
      <p:sp>
        <p:nvSpPr>
          <p:cNvPr id="491" name="Google Shape;491;p17"/>
          <p:cNvSpPr txBox="1"/>
          <p:nvPr/>
        </p:nvSpPr>
        <p:spPr>
          <a:xfrm>
            <a:off x="9171432" y="5961887"/>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028090"/>
                </a:solidFill>
                <a:latin typeface="Arial"/>
                <a:ea typeface="Arial"/>
                <a:cs typeface="Arial"/>
                <a:sym typeface="Arial"/>
              </a:rPr>
              <a:t>true</a:t>
            </a:r>
            <a:endParaRPr/>
          </a:p>
        </p:txBody>
      </p:sp>
      <p:sp>
        <p:nvSpPr>
          <p:cNvPr id="492" name="Google Shape;492;p17"/>
          <p:cNvSpPr/>
          <p:nvPr/>
        </p:nvSpPr>
        <p:spPr>
          <a:xfrm>
            <a:off x="10378440" y="5998463"/>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17"/>
          <p:cNvSpPr txBox="1"/>
          <p:nvPr/>
        </p:nvSpPr>
        <p:spPr>
          <a:xfrm>
            <a:off x="10469880" y="5961887"/>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6B7685"/>
                </a:solidFill>
                <a:latin typeface="Arial"/>
                <a:ea typeface="Arial"/>
                <a:cs typeface="Arial"/>
                <a:sym typeface="Arial"/>
              </a:rPr>
              <a:t>false</a:t>
            </a:r>
            <a:endParaRPr/>
          </a:p>
        </p:txBody>
      </p:sp>
      <p:sp>
        <p:nvSpPr>
          <p:cNvPr id="494" name="Google Shape;494;p17"/>
          <p:cNvSpPr txBox="1"/>
          <p:nvPr/>
        </p:nvSpPr>
        <p:spPr>
          <a:xfrm>
            <a:off x="502920" y="6565392"/>
            <a:ext cx="11183112" cy="256032"/>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1" lang="en-US" sz="1100" u="none" cap="none" strike="noStrike">
                <a:solidFill>
                  <a:srgbClr val="6B7685"/>
                </a:solidFill>
                <a:latin typeface="Arial"/>
                <a:ea typeface="Arial"/>
                <a:cs typeface="Arial"/>
                <a:sym typeface="Arial"/>
              </a:rPr>
              <a:t>correct answers reveal one at a time — question 5 of 6</a:t>
            </a:r>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1" name="Google Shape;451;p17"/>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True or false? Let's check your intuition about AI</a:t>
            </a:r>
            <a:endParaRPr/>
          </a:p>
        </p:txBody>
      </p:sp>
      <p:sp>
        <p:nvSpPr>
          <p:cNvPr id="452" name="Google Shape;452;p17"/>
          <p:cNvSpPr/>
          <p:nvPr/>
        </p:nvSpPr>
        <p:spPr>
          <a:xfrm>
            <a:off x="502920" y="1463040"/>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17"/>
          <p:cNvSpPr txBox="1"/>
          <p:nvPr/>
        </p:nvSpPr>
        <p:spPr>
          <a:xfrm>
            <a:off x="649224" y="1463040"/>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1</a:t>
            </a:r>
            <a:endParaRPr/>
          </a:p>
        </p:txBody>
      </p:sp>
      <p:pic>
        <p:nvPicPr>
          <p:cNvPr descr="hash-028090-64.png" id="454" name="Google Shape;454;p17"/>
          <p:cNvPicPr preferRelativeResize="0"/>
          <p:nvPr/>
        </p:nvPicPr>
        <p:blipFill rotWithShape="1">
          <a:blip r:embed="rId2">
            <a:alphaModFix/>
          </a:blip>
          <a:srcRect b="0" l="0" r="0" t="0"/>
          <a:stretch/>
        </p:blipFill>
        <p:spPr>
          <a:xfrm>
            <a:off x="1051560" y="1673352"/>
            <a:ext cx="310896" cy="310896"/>
          </a:xfrm>
          <a:prstGeom prst="rect">
            <a:avLst/>
          </a:prstGeom>
          <a:noFill/>
          <a:ln>
            <a:noFill/>
          </a:ln>
        </p:spPr>
      </p:pic>
      <p:sp>
        <p:nvSpPr>
          <p:cNvPr id="455" name="Google Shape;455;p17"/>
          <p:cNvSpPr txBox="1"/>
          <p:nvPr/>
        </p:nvSpPr>
        <p:spPr>
          <a:xfrm>
            <a:off x="1490472" y="1463040"/>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counts the letters in a word directly, the way a human does</a:t>
            </a:r>
            <a:endParaRPr/>
          </a:p>
        </p:txBody>
      </p:sp>
      <p:sp>
        <p:nvSpPr>
          <p:cNvPr id="456" name="Google Shape;456;p17"/>
          <p:cNvSpPr txBox="1"/>
          <p:nvPr/>
        </p:nvSpPr>
        <p:spPr>
          <a:xfrm>
            <a:off x="9171432" y="1664208"/>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57" name="Google Shape;457;p17"/>
          <p:cNvSpPr/>
          <p:nvPr/>
        </p:nvSpPr>
        <p:spPr>
          <a:xfrm>
            <a:off x="10378440" y="1700784"/>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txBox="1"/>
          <p:nvPr/>
        </p:nvSpPr>
        <p:spPr>
          <a:xfrm>
            <a:off x="10469880" y="1664208"/>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59" name="Google Shape;459;p17"/>
          <p:cNvSpPr/>
          <p:nvPr/>
        </p:nvSpPr>
        <p:spPr>
          <a:xfrm>
            <a:off x="502920" y="2322576"/>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17"/>
          <p:cNvSpPr txBox="1"/>
          <p:nvPr/>
        </p:nvSpPr>
        <p:spPr>
          <a:xfrm>
            <a:off x="649224" y="2322576"/>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2</a:t>
            </a:r>
            <a:endParaRPr/>
          </a:p>
        </p:txBody>
      </p:sp>
      <p:pic>
        <p:nvPicPr>
          <p:cNvPr descr="calendar-028090-64.png" id="461" name="Google Shape;461;p17"/>
          <p:cNvPicPr preferRelativeResize="0"/>
          <p:nvPr/>
        </p:nvPicPr>
        <p:blipFill rotWithShape="1">
          <a:blip r:embed="rId3">
            <a:alphaModFix/>
          </a:blip>
          <a:srcRect b="0" l="0" r="0" t="0"/>
          <a:stretch/>
        </p:blipFill>
        <p:spPr>
          <a:xfrm>
            <a:off x="1051560" y="2532888"/>
            <a:ext cx="310896" cy="310896"/>
          </a:xfrm>
          <a:prstGeom prst="rect">
            <a:avLst/>
          </a:prstGeom>
          <a:noFill/>
          <a:ln>
            <a:noFill/>
          </a:ln>
        </p:spPr>
      </p:pic>
      <p:sp>
        <p:nvSpPr>
          <p:cNvPr id="462" name="Google Shape;462;p17"/>
          <p:cNvSpPr txBox="1"/>
          <p:nvPr/>
        </p:nvSpPr>
        <p:spPr>
          <a:xfrm>
            <a:off x="1490472" y="2322576"/>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knows what happened in the world today</a:t>
            </a:r>
            <a:endParaRPr/>
          </a:p>
        </p:txBody>
      </p:sp>
      <p:sp>
        <p:nvSpPr>
          <p:cNvPr id="463" name="Google Shape;463;p17"/>
          <p:cNvSpPr txBox="1"/>
          <p:nvPr/>
        </p:nvSpPr>
        <p:spPr>
          <a:xfrm>
            <a:off x="9171432" y="2523744"/>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64" name="Google Shape;464;p17"/>
          <p:cNvSpPr/>
          <p:nvPr/>
        </p:nvSpPr>
        <p:spPr>
          <a:xfrm>
            <a:off x="10378440" y="2560320"/>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17"/>
          <p:cNvSpPr txBox="1"/>
          <p:nvPr/>
        </p:nvSpPr>
        <p:spPr>
          <a:xfrm>
            <a:off x="10469880" y="2523744"/>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66" name="Google Shape;466;p17"/>
          <p:cNvSpPr/>
          <p:nvPr/>
        </p:nvSpPr>
        <p:spPr>
          <a:xfrm>
            <a:off x="502920" y="3182112"/>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17"/>
          <p:cNvSpPr txBox="1"/>
          <p:nvPr/>
        </p:nvSpPr>
        <p:spPr>
          <a:xfrm>
            <a:off x="649224" y="3182112"/>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3</a:t>
            </a:r>
            <a:endParaRPr/>
          </a:p>
        </p:txBody>
      </p:sp>
      <p:pic>
        <p:nvPicPr>
          <p:cNvPr descr="brain-circuit-028090-64.png" id="468" name="Google Shape;468;p17"/>
          <p:cNvPicPr preferRelativeResize="0"/>
          <p:nvPr/>
        </p:nvPicPr>
        <p:blipFill rotWithShape="1">
          <a:blip r:embed="rId4">
            <a:alphaModFix/>
          </a:blip>
          <a:srcRect b="0" l="0" r="0" t="0"/>
          <a:stretch/>
        </p:blipFill>
        <p:spPr>
          <a:xfrm>
            <a:off x="1051560" y="3392424"/>
            <a:ext cx="310896" cy="310896"/>
          </a:xfrm>
          <a:prstGeom prst="rect">
            <a:avLst/>
          </a:prstGeom>
          <a:noFill/>
          <a:ln>
            <a:noFill/>
          </a:ln>
        </p:spPr>
      </p:pic>
      <p:sp>
        <p:nvSpPr>
          <p:cNvPr id="469" name="Google Shape;469;p17"/>
          <p:cNvSpPr txBox="1"/>
          <p:nvPr/>
        </p:nvSpPr>
        <p:spPr>
          <a:xfrm>
            <a:off x="1490472" y="3182112"/>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can confidently state something false without meaning to deceive</a:t>
            </a:r>
            <a:endParaRPr/>
          </a:p>
        </p:txBody>
      </p:sp>
      <p:sp>
        <p:nvSpPr>
          <p:cNvPr id="470" name="Google Shape;470;p17"/>
          <p:cNvSpPr txBox="1"/>
          <p:nvPr/>
        </p:nvSpPr>
        <p:spPr>
          <a:xfrm>
            <a:off x="9171432" y="3383280"/>
            <a:ext cx="1170432"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true</a:t>
            </a:r>
            <a:endParaRPr/>
          </a:p>
        </p:txBody>
      </p:sp>
      <p:sp>
        <p:nvSpPr>
          <p:cNvPr id="471" name="Google Shape;471;p17"/>
          <p:cNvSpPr/>
          <p:nvPr/>
        </p:nvSpPr>
        <p:spPr>
          <a:xfrm>
            <a:off x="10378440" y="3419856"/>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nvSpPr>
        <p:spPr>
          <a:xfrm>
            <a:off x="10469880" y="3383280"/>
            <a:ext cx="1234440"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false</a:t>
            </a:r>
            <a:endParaRPr/>
          </a:p>
        </p:txBody>
      </p:sp>
      <p:sp>
        <p:nvSpPr>
          <p:cNvPr id="473" name="Google Shape;473;p17"/>
          <p:cNvSpPr/>
          <p:nvPr/>
        </p:nvSpPr>
        <p:spPr>
          <a:xfrm>
            <a:off x="502920" y="4041648"/>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17"/>
          <p:cNvSpPr txBox="1"/>
          <p:nvPr/>
        </p:nvSpPr>
        <p:spPr>
          <a:xfrm>
            <a:off x="649224" y="4041648"/>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4</a:t>
            </a:r>
            <a:endParaRPr/>
          </a:p>
        </p:txBody>
      </p:sp>
      <p:pic>
        <p:nvPicPr>
          <p:cNvPr descr="lock-028090-64.png" id="475" name="Google Shape;475;p17"/>
          <p:cNvPicPr preferRelativeResize="0"/>
          <p:nvPr/>
        </p:nvPicPr>
        <p:blipFill rotWithShape="1">
          <a:blip r:embed="rId5">
            <a:alphaModFix/>
          </a:blip>
          <a:srcRect b="0" l="0" r="0" t="0"/>
          <a:stretch/>
        </p:blipFill>
        <p:spPr>
          <a:xfrm>
            <a:off x="1051560" y="4251959"/>
            <a:ext cx="310896" cy="310896"/>
          </a:xfrm>
          <a:prstGeom prst="rect">
            <a:avLst/>
          </a:prstGeom>
          <a:noFill/>
          <a:ln>
            <a:noFill/>
          </a:ln>
        </p:spPr>
      </p:pic>
      <p:sp>
        <p:nvSpPr>
          <p:cNvPr id="476" name="Google Shape;476;p17"/>
          <p:cNvSpPr txBox="1"/>
          <p:nvPr/>
        </p:nvSpPr>
        <p:spPr>
          <a:xfrm>
            <a:off x="1490472" y="4041648"/>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An AI chat can see your personal email and files by default</a:t>
            </a:r>
            <a:endParaRPr/>
          </a:p>
        </p:txBody>
      </p:sp>
      <p:sp>
        <p:nvSpPr>
          <p:cNvPr id="477" name="Google Shape;477;p17"/>
          <p:cNvSpPr txBox="1"/>
          <p:nvPr/>
        </p:nvSpPr>
        <p:spPr>
          <a:xfrm>
            <a:off x="9171432" y="4242816"/>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78" name="Google Shape;478;p17"/>
          <p:cNvSpPr/>
          <p:nvPr/>
        </p:nvSpPr>
        <p:spPr>
          <a:xfrm>
            <a:off x="10378440" y="4279392"/>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17"/>
          <p:cNvSpPr txBox="1"/>
          <p:nvPr/>
        </p:nvSpPr>
        <p:spPr>
          <a:xfrm>
            <a:off x="10469880" y="4242816"/>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80" name="Google Shape;480;p17"/>
          <p:cNvSpPr/>
          <p:nvPr/>
        </p:nvSpPr>
        <p:spPr>
          <a:xfrm>
            <a:off x="502920" y="4901183"/>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17"/>
          <p:cNvSpPr txBox="1"/>
          <p:nvPr/>
        </p:nvSpPr>
        <p:spPr>
          <a:xfrm>
            <a:off x="649224" y="4901183"/>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5</a:t>
            </a:r>
            <a:endParaRPr/>
          </a:p>
        </p:txBody>
      </p:sp>
      <p:pic>
        <p:nvPicPr>
          <p:cNvPr descr="database-028090-64.png" id="482" name="Google Shape;482;p17"/>
          <p:cNvPicPr preferRelativeResize="0"/>
          <p:nvPr/>
        </p:nvPicPr>
        <p:blipFill rotWithShape="1">
          <a:blip r:embed="rId6">
            <a:alphaModFix/>
          </a:blip>
          <a:srcRect b="0" l="0" r="0" t="0"/>
          <a:stretch/>
        </p:blipFill>
        <p:spPr>
          <a:xfrm>
            <a:off x="1051560" y="5111495"/>
            <a:ext cx="310896" cy="310896"/>
          </a:xfrm>
          <a:prstGeom prst="rect">
            <a:avLst/>
          </a:prstGeom>
          <a:noFill/>
          <a:ln>
            <a:noFill/>
          </a:ln>
        </p:spPr>
      </p:pic>
      <p:sp>
        <p:nvSpPr>
          <p:cNvPr id="483" name="Google Shape;483;p17"/>
          <p:cNvSpPr txBox="1"/>
          <p:nvPr/>
        </p:nvSpPr>
        <p:spPr>
          <a:xfrm>
            <a:off x="1490472" y="4901183"/>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AI always gives an answer consistent with the data it was fed</a:t>
            </a:r>
            <a:endParaRPr/>
          </a:p>
        </p:txBody>
      </p:sp>
      <p:sp>
        <p:nvSpPr>
          <p:cNvPr id="484" name="Google Shape;484;p17"/>
          <p:cNvSpPr txBox="1"/>
          <p:nvPr/>
        </p:nvSpPr>
        <p:spPr>
          <a:xfrm>
            <a:off x="9171432" y="5102351"/>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85" name="Google Shape;485;p17"/>
          <p:cNvSpPr/>
          <p:nvPr/>
        </p:nvSpPr>
        <p:spPr>
          <a:xfrm>
            <a:off x="10378440" y="5138927"/>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6" name="Google Shape;486;p17"/>
          <p:cNvSpPr txBox="1"/>
          <p:nvPr/>
        </p:nvSpPr>
        <p:spPr>
          <a:xfrm>
            <a:off x="10469880" y="5102351"/>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87" name="Google Shape;487;p17"/>
          <p:cNvSpPr/>
          <p:nvPr/>
        </p:nvSpPr>
        <p:spPr>
          <a:xfrm>
            <a:off x="502920" y="5760719"/>
            <a:ext cx="11183112" cy="731519"/>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17"/>
          <p:cNvSpPr txBox="1"/>
          <p:nvPr/>
        </p:nvSpPr>
        <p:spPr>
          <a:xfrm>
            <a:off x="649224" y="5760719"/>
            <a:ext cx="36576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i="0" lang="en-US" sz="1500" u="none" cap="none" strike="noStrike">
                <a:solidFill>
                  <a:srgbClr val="1C7293"/>
                </a:solidFill>
                <a:latin typeface="Arial"/>
                <a:ea typeface="Arial"/>
                <a:cs typeface="Arial"/>
                <a:sym typeface="Arial"/>
              </a:rPr>
              <a:t>6</a:t>
            </a:r>
            <a:endParaRPr/>
          </a:p>
        </p:txBody>
      </p:sp>
      <p:pic>
        <p:nvPicPr>
          <p:cNvPr descr="shuffle-028090-64.png" id="489" name="Google Shape;489;p17"/>
          <p:cNvPicPr preferRelativeResize="0"/>
          <p:nvPr/>
        </p:nvPicPr>
        <p:blipFill rotWithShape="1">
          <a:blip r:embed="rId7">
            <a:alphaModFix/>
          </a:blip>
          <a:srcRect b="0" l="0" r="0" t="0"/>
          <a:stretch/>
        </p:blipFill>
        <p:spPr>
          <a:xfrm>
            <a:off x="1051560" y="5971031"/>
            <a:ext cx="310896" cy="310896"/>
          </a:xfrm>
          <a:prstGeom prst="rect">
            <a:avLst/>
          </a:prstGeom>
          <a:noFill/>
          <a:ln>
            <a:noFill/>
          </a:ln>
        </p:spPr>
      </p:pic>
      <p:sp>
        <p:nvSpPr>
          <p:cNvPr id="490" name="Google Shape;490;p17"/>
          <p:cNvSpPr txBox="1"/>
          <p:nvPr/>
        </p:nvSpPr>
        <p:spPr>
          <a:xfrm>
            <a:off x="1490472" y="5760719"/>
            <a:ext cx="7589520" cy="731519"/>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300" u="none" cap="none" strike="noStrike">
                <a:solidFill>
                  <a:srgbClr val="21295C"/>
                </a:solidFill>
                <a:latin typeface="Arial"/>
                <a:ea typeface="Arial"/>
                <a:cs typeface="Arial"/>
                <a:sym typeface="Arial"/>
              </a:rPr>
              <a:t>All AI models give the same answer to the same question</a:t>
            </a:r>
            <a:endParaRPr/>
          </a:p>
        </p:txBody>
      </p:sp>
      <p:sp>
        <p:nvSpPr>
          <p:cNvPr id="491" name="Google Shape;491;p17"/>
          <p:cNvSpPr txBox="1"/>
          <p:nvPr/>
        </p:nvSpPr>
        <p:spPr>
          <a:xfrm>
            <a:off x="9171432" y="5961887"/>
            <a:ext cx="1170432" cy="329184"/>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0" i="0" lang="en-US" sz="1200" u="none" cap="none" strike="noStrike">
                <a:solidFill>
                  <a:srgbClr val="E5EAF0"/>
                </a:solidFill>
                <a:latin typeface="Arial"/>
                <a:ea typeface="Arial"/>
                <a:cs typeface="Arial"/>
                <a:sym typeface="Arial"/>
              </a:rPr>
              <a:t>true</a:t>
            </a:r>
            <a:endParaRPr/>
          </a:p>
        </p:txBody>
      </p:sp>
      <p:sp>
        <p:nvSpPr>
          <p:cNvPr id="492" name="Google Shape;492;p17"/>
          <p:cNvSpPr/>
          <p:nvPr/>
        </p:nvSpPr>
        <p:spPr>
          <a:xfrm>
            <a:off x="10378440" y="5998463"/>
            <a:ext cx="12801" cy="256032"/>
          </a:xfrm>
          <a:prstGeom prst="rect">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17"/>
          <p:cNvSpPr txBox="1"/>
          <p:nvPr/>
        </p:nvSpPr>
        <p:spPr>
          <a:xfrm>
            <a:off x="10469880" y="5961887"/>
            <a:ext cx="1234440" cy="329184"/>
          </a:xfrm>
          <a:prstGeom prst="rect">
            <a:avLst/>
          </a:prstGeom>
          <a:solidFill>
            <a:srgbClr val="F0AB00"/>
          </a:solid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200" u="none" cap="none" strike="noStrike">
                <a:solidFill>
                  <a:srgbClr val="FFFFFF"/>
                </a:solidFill>
                <a:latin typeface="Arial"/>
                <a:ea typeface="Arial"/>
                <a:cs typeface="Arial"/>
                <a:sym typeface="Arial"/>
              </a:rPr>
              <a:t>✓ false</a:t>
            </a:r>
            <a:endParaRPr/>
          </a:p>
        </p:txBody>
      </p:sp>
      <p:sp>
        <p:nvSpPr>
          <p:cNvPr id="494" name="Google Shape;494;p17"/>
          <p:cNvSpPr txBox="1"/>
          <p:nvPr/>
        </p:nvSpPr>
        <p:spPr>
          <a:xfrm>
            <a:off x="502920" y="6565392"/>
            <a:ext cx="11183112" cy="256032"/>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1" lang="en-US" sz="1100" u="none" cap="none" strike="noStrike">
                <a:solidFill>
                  <a:srgbClr val="6B7685"/>
                </a:solidFill>
                <a:latin typeface="Arial"/>
                <a:ea typeface="Arial"/>
                <a:cs typeface="Arial"/>
                <a:sym typeface="Arial"/>
              </a:rPr>
              <a:t>correct answers reveal one at a time — question 6 of 6</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18"/>
          <p:cNvSpPr txBox="1"/>
          <p:nvPr/>
        </p:nvSpPr>
        <p:spPr>
          <a:xfrm>
            <a:off x="502920" y="411480"/>
            <a:ext cx="11247120" cy="10515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500" u="none" cap="none" strike="noStrike">
                <a:solidFill>
                  <a:srgbClr val="21295C"/>
                </a:solidFill>
                <a:latin typeface="Arial"/>
                <a:ea typeface="Arial"/>
                <a:cs typeface="Arial"/>
                <a:sym typeface="Arial"/>
              </a:rPr>
              <a:t>The “AI reality-check” memo — 5 points to carry into the next week</a:t>
            </a:r>
            <a:endParaRPr/>
          </a:p>
        </p:txBody>
      </p:sp>
      <p:sp>
        <p:nvSpPr>
          <p:cNvPr id="501" name="Google Shape;501;p18"/>
          <p:cNvSpPr/>
          <p:nvPr/>
        </p:nvSpPr>
        <p:spPr>
          <a:xfrm>
            <a:off x="502920" y="1554480"/>
            <a:ext cx="11183112" cy="837590"/>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18"/>
          <p:cNvSpPr/>
          <p:nvPr/>
        </p:nvSpPr>
        <p:spPr>
          <a:xfrm>
            <a:off x="685800" y="1744675"/>
            <a:ext cx="457200" cy="457200"/>
          </a:xfrm>
          <a:prstGeom prst="roundRect">
            <a:avLst>
              <a:gd fmla="val 50000" name="adj"/>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18"/>
          <p:cNvSpPr txBox="1"/>
          <p:nvPr/>
        </p:nvSpPr>
        <p:spPr>
          <a:xfrm>
            <a:off x="685800" y="1744675"/>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800" u="none" cap="none" strike="noStrike">
                <a:solidFill>
                  <a:srgbClr val="FFFFFF"/>
                </a:solidFill>
                <a:latin typeface="Arial"/>
                <a:ea typeface="Arial"/>
                <a:cs typeface="Arial"/>
                <a:sym typeface="Arial"/>
              </a:rPr>
              <a:t>1</a:t>
            </a:r>
            <a:endParaRPr/>
          </a:p>
        </p:txBody>
      </p:sp>
      <p:sp>
        <p:nvSpPr>
          <p:cNvPr id="504" name="Google Shape;504;p18"/>
          <p:cNvSpPr txBox="1"/>
          <p:nvPr/>
        </p:nvSpPr>
        <p:spPr>
          <a:xfrm>
            <a:off x="1371600" y="1554480"/>
            <a:ext cx="10131552" cy="83759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450" u="none" cap="none" strike="noStrike">
                <a:solidFill>
                  <a:srgbClr val="21295C"/>
                </a:solidFill>
                <a:latin typeface="Arial"/>
                <a:ea typeface="Arial"/>
                <a:cs typeface="Arial"/>
                <a:sym typeface="Arial"/>
              </a:rPr>
              <a:t>A confident tone in an AI's answer doesn't mean the answer is factually correct</a:t>
            </a:r>
            <a:endParaRPr/>
          </a:p>
        </p:txBody>
      </p:sp>
      <p:sp>
        <p:nvSpPr>
          <p:cNvPr id="505" name="Google Shape;505;p18"/>
          <p:cNvSpPr/>
          <p:nvPr/>
        </p:nvSpPr>
        <p:spPr>
          <a:xfrm>
            <a:off x="502920" y="2556662"/>
            <a:ext cx="11183112" cy="837590"/>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6" name="Google Shape;506;p18"/>
          <p:cNvSpPr/>
          <p:nvPr/>
        </p:nvSpPr>
        <p:spPr>
          <a:xfrm>
            <a:off x="685800" y="2746857"/>
            <a:ext cx="457200" cy="457200"/>
          </a:xfrm>
          <a:prstGeom prst="roundRect">
            <a:avLst>
              <a:gd fmla="val 50000" name="adj"/>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7" name="Google Shape;507;p18"/>
          <p:cNvSpPr txBox="1"/>
          <p:nvPr/>
        </p:nvSpPr>
        <p:spPr>
          <a:xfrm>
            <a:off x="685800" y="2746857"/>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800" u="none" cap="none" strike="noStrike">
                <a:solidFill>
                  <a:srgbClr val="FFFFFF"/>
                </a:solidFill>
                <a:latin typeface="Arial"/>
                <a:ea typeface="Arial"/>
                <a:cs typeface="Arial"/>
                <a:sym typeface="Arial"/>
              </a:rPr>
              <a:t>2</a:t>
            </a:r>
            <a:endParaRPr/>
          </a:p>
        </p:txBody>
      </p:sp>
      <p:sp>
        <p:nvSpPr>
          <p:cNvPr id="508" name="Google Shape;508;p18"/>
          <p:cNvSpPr txBox="1"/>
          <p:nvPr/>
        </p:nvSpPr>
        <p:spPr>
          <a:xfrm>
            <a:off x="1371600" y="2556662"/>
            <a:ext cx="10131552" cy="83759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450" u="none" cap="none" strike="noStrike">
                <a:solidFill>
                  <a:srgbClr val="21295C"/>
                </a:solidFill>
                <a:latin typeface="Arial"/>
                <a:ea typeface="Arial"/>
                <a:cs typeface="Arial"/>
                <a:sym typeface="Arial"/>
              </a:rPr>
              <a:t>AI doesn't know about events after its training cutoff date without web search</a:t>
            </a:r>
            <a:endParaRPr/>
          </a:p>
        </p:txBody>
      </p:sp>
      <p:sp>
        <p:nvSpPr>
          <p:cNvPr id="509" name="Google Shape;509;p18"/>
          <p:cNvSpPr/>
          <p:nvPr/>
        </p:nvSpPr>
        <p:spPr>
          <a:xfrm>
            <a:off x="502920" y="3558844"/>
            <a:ext cx="11183112" cy="837590"/>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0" name="Google Shape;510;p18"/>
          <p:cNvSpPr/>
          <p:nvPr/>
        </p:nvSpPr>
        <p:spPr>
          <a:xfrm>
            <a:off x="685800" y="3749040"/>
            <a:ext cx="457200" cy="457200"/>
          </a:xfrm>
          <a:prstGeom prst="roundRect">
            <a:avLst>
              <a:gd fmla="val 50000" name="adj"/>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18"/>
          <p:cNvSpPr txBox="1"/>
          <p:nvPr/>
        </p:nvSpPr>
        <p:spPr>
          <a:xfrm>
            <a:off x="685800" y="3749040"/>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800" u="none" cap="none" strike="noStrike">
                <a:solidFill>
                  <a:srgbClr val="FFFFFF"/>
                </a:solidFill>
                <a:latin typeface="Arial"/>
                <a:ea typeface="Arial"/>
                <a:cs typeface="Arial"/>
                <a:sym typeface="Arial"/>
              </a:rPr>
              <a:t>3</a:t>
            </a:r>
            <a:endParaRPr/>
          </a:p>
        </p:txBody>
      </p:sp>
      <p:sp>
        <p:nvSpPr>
          <p:cNvPr id="512" name="Google Shape;512;p18"/>
          <p:cNvSpPr txBox="1"/>
          <p:nvPr/>
        </p:nvSpPr>
        <p:spPr>
          <a:xfrm>
            <a:off x="1371600" y="3558844"/>
            <a:ext cx="10131552" cy="83759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450" u="none" cap="none" strike="noStrike">
                <a:solidFill>
                  <a:srgbClr val="21295C"/>
                </a:solidFill>
                <a:latin typeface="Arial"/>
                <a:ea typeface="Arial"/>
                <a:cs typeface="Arial"/>
                <a:sym typeface="Arial"/>
              </a:rPr>
              <a:t>An AI's answer isn't derived unambiguously from its training data — because generation is random, the same question can get different answers</a:t>
            </a:r>
            <a:endParaRPr/>
          </a:p>
        </p:txBody>
      </p:sp>
      <p:sp>
        <p:nvSpPr>
          <p:cNvPr id="513" name="Google Shape;513;p18"/>
          <p:cNvSpPr/>
          <p:nvPr/>
        </p:nvSpPr>
        <p:spPr>
          <a:xfrm>
            <a:off x="502920" y="4561027"/>
            <a:ext cx="11183112" cy="837590"/>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Google Shape;514;p18"/>
          <p:cNvSpPr/>
          <p:nvPr/>
        </p:nvSpPr>
        <p:spPr>
          <a:xfrm>
            <a:off x="685800" y="4751222"/>
            <a:ext cx="457200" cy="457200"/>
          </a:xfrm>
          <a:prstGeom prst="roundRect">
            <a:avLst>
              <a:gd fmla="val 50000" name="adj"/>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18"/>
          <p:cNvSpPr txBox="1"/>
          <p:nvPr/>
        </p:nvSpPr>
        <p:spPr>
          <a:xfrm>
            <a:off x="685800" y="4751222"/>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800" u="none" cap="none" strike="noStrike">
                <a:solidFill>
                  <a:srgbClr val="FFFFFF"/>
                </a:solidFill>
                <a:latin typeface="Arial"/>
                <a:ea typeface="Arial"/>
                <a:cs typeface="Arial"/>
                <a:sym typeface="Arial"/>
              </a:rPr>
              <a:t>4</a:t>
            </a:r>
            <a:endParaRPr/>
          </a:p>
        </p:txBody>
      </p:sp>
      <p:sp>
        <p:nvSpPr>
          <p:cNvPr id="516" name="Google Shape;516;p18"/>
          <p:cNvSpPr txBox="1"/>
          <p:nvPr/>
        </p:nvSpPr>
        <p:spPr>
          <a:xfrm>
            <a:off x="1371600" y="4561027"/>
            <a:ext cx="10131552" cy="83759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450" u="none" cap="none" strike="noStrike">
                <a:solidFill>
                  <a:srgbClr val="21295C"/>
                </a:solidFill>
                <a:latin typeface="Arial"/>
                <a:ea typeface="Arial"/>
                <a:cs typeface="Arial"/>
                <a:sym typeface="Arial"/>
              </a:rPr>
              <a:t>AI sees text as tokens, not letters — which is why it sometimes trips up on letter-by-letter tasks like counting letters in a word</a:t>
            </a:r>
            <a:endParaRPr/>
          </a:p>
        </p:txBody>
      </p:sp>
      <p:sp>
        <p:nvSpPr>
          <p:cNvPr id="517" name="Google Shape;517;p18"/>
          <p:cNvSpPr/>
          <p:nvPr/>
        </p:nvSpPr>
        <p:spPr>
          <a:xfrm>
            <a:off x="502920" y="5563209"/>
            <a:ext cx="11183112" cy="837590"/>
          </a:xfrm>
          <a:prstGeom prst="roundRect">
            <a:avLst>
              <a:gd fmla="val 25000" name="adj"/>
            </a:avLst>
          </a:prstGeom>
          <a:solidFill>
            <a:srgbClr val="F4F7FA"/>
          </a:solidFill>
          <a:ln cap="flat" cmpd="sng" w="19050">
            <a:solidFill>
              <a:srgbClr val="1C72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8" name="Google Shape;518;p18"/>
          <p:cNvSpPr/>
          <p:nvPr/>
        </p:nvSpPr>
        <p:spPr>
          <a:xfrm>
            <a:off x="685800" y="5753404"/>
            <a:ext cx="457200" cy="457200"/>
          </a:xfrm>
          <a:prstGeom prst="roundRect">
            <a:avLst>
              <a:gd fmla="val 50000" name="adj"/>
            </a:avLst>
          </a:prstGeom>
          <a:solidFill>
            <a:srgbClr val="1C72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18"/>
          <p:cNvSpPr txBox="1"/>
          <p:nvPr/>
        </p:nvSpPr>
        <p:spPr>
          <a:xfrm>
            <a:off x="685800" y="5753404"/>
            <a:ext cx="457200" cy="4572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None/>
            </a:pPr>
            <a:r>
              <a:rPr b="1" i="0" lang="en-US" sz="1800" u="none" cap="none" strike="noStrike">
                <a:solidFill>
                  <a:srgbClr val="FFFFFF"/>
                </a:solidFill>
                <a:latin typeface="Arial"/>
                <a:ea typeface="Arial"/>
                <a:cs typeface="Arial"/>
                <a:sym typeface="Arial"/>
              </a:rPr>
              <a:t>5</a:t>
            </a:r>
            <a:endParaRPr/>
          </a:p>
        </p:txBody>
      </p:sp>
      <p:sp>
        <p:nvSpPr>
          <p:cNvPr id="520" name="Google Shape;520;p18"/>
          <p:cNvSpPr txBox="1"/>
          <p:nvPr/>
        </p:nvSpPr>
        <p:spPr>
          <a:xfrm>
            <a:off x="1371600" y="5563209"/>
            <a:ext cx="10131552" cy="83759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0" i="0" lang="en-US" sz="1450" u="none" cap="none" strike="noStrike">
                <a:solidFill>
                  <a:srgbClr val="21295C"/>
                </a:solidFill>
                <a:latin typeface="Arial"/>
                <a:ea typeface="Arial"/>
                <a:cs typeface="Arial"/>
                <a:sym typeface="Arial"/>
              </a:rPr>
              <a:t>Different AI models can give different answers — cross-checking with several sources is sensible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19"/>
          <p:cNvSpPr/>
          <p:nvPr/>
        </p:nvSpPr>
        <p:spPr>
          <a:xfrm>
            <a:off x="0" y="0"/>
            <a:ext cx="5745175" cy="6858000"/>
          </a:xfrm>
          <a:prstGeom prst="rect">
            <a:avLst/>
          </a:prstGeom>
          <a:solidFill>
            <a:srgbClr val="21295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01-medicine-davinci.jpg" id="527" name="Google Shape;527;p19"/>
          <p:cNvPicPr preferRelativeResize="0"/>
          <p:nvPr/>
        </p:nvPicPr>
        <p:blipFill rotWithShape="1">
          <a:blip r:embed="rId3">
            <a:alphaModFix/>
          </a:blip>
          <a:srcRect b="0" l="0" r="0" t="0"/>
          <a:stretch/>
        </p:blipFill>
        <p:spPr>
          <a:xfrm>
            <a:off x="256032" y="256032"/>
            <a:ext cx="1659026" cy="1737359"/>
          </a:xfrm>
          <a:prstGeom prst="rect">
            <a:avLst/>
          </a:prstGeom>
          <a:noFill/>
          <a:ln>
            <a:noFill/>
          </a:ln>
        </p:spPr>
      </p:pic>
      <p:sp>
        <p:nvSpPr>
          <p:cNvPr id="528" name="Google Shape;528;p19"/>
          <p:cNvSpPr txBox="1"/>
          <p:nvPr/>
        </p:nvSpPr>
        <p:spPr>
          <a:xfrm>
            <a:off x="256032" y="2011680"/>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Medicine</a:t>
            </a:r>
            <a:endParaRPr/>
          </a:p>
        </p:txBody>
      </p:sp>
      <p:pic>
        <p:nvPicPr>
          <p:cNvPr descr="s01-finance-nyse.jpg" id="529" name="Google Shape;529;p19"/>
          <p:cNvPicPr preferRelativeResize="0"/>
          <p:nvPr/>
        </p:nvPicPr>
        <p:blipFill rotWithShape="1">
          <a:blip r:embed="rId4">
            <a:alphaModFix/>
          </a:blip>
          <a:srcRect b="0" l="0" r="0" t="0"/>
          <a:stretch/>
        </p:blipFill>
        <p:spPr>
          <a:xfrm>
            <a:off x="2043074" y="256032"/>
            <a:ext cx="1659026" cy="1737359"/>
          </a:xfrm>
          <a:prstGeom prst="rect">
            <a:avLst/>
          </a:prstGeom>
          <a:noFill/>
          <a:ln>
            <a:noFill/>
          </a:ln>
        </p:spPr>
      </p:pic>
      <p:sp>
        <p:nvSpPr>
          <p:cNvPr id="530" name="Google Shape;530;p19"/>
          <p:cNvSpPr txBox="1"/>
          <p:nvPr/>
        </p:nvSpPr>
        <p:spPr>
          <a:xfrm>
            <a:off x="2043074" y="2011680"/>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Finance</a:t>
            </a:r>
            <a:endParaRPr/>
          </a:p>
        </p:txBody>
      </p:sp>
      <p:pic>
        <p:nvPicPr>
          <p:cNvPr descr="s01-transport-yandex.jpg" id="531" name="Google Shape;531;p19"/>
          <p:cNvPicPr preferRelativeResize="0"/>
          <p:nvPr/>
        </p:nvPicPr>
        <p:blipFill rotWithShape="1">
          <a:blip r:embed="rId5">
            <a:alphaModFix/>
          </a:blip>
          <a:srcRect b="0" l="0" r="0" t="0"/>
          <a:stretch/>
        </p:blipFill>
        <p:spPr>
          <a:xfrm>
            <a:off x="3830116" y="256032"/>
            <a:ext cx="1659026" cy="1737359"/>
          </a:xfrm>
          <a:prstGeom prst="rect">
            <a:avLst/>
          </a:prstGeom>
          <a:noFill/>
          <a:ln>
            <a:noFill/>
          </a:ln>
        </p:spPr>
      </p:pic>
      <p:sp>
        <p:nvSpPr>
          <p:cNvPr id="532" name="Google Shape;532;p19"/>
          <p:cNvSpPr txBox="1"/>
          <p:nvPr/>
        </p:nvSpPr>
        <p:spPr>
          <a:xfrm>
            <a:off x="3830116" y="2011680"/>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Transport</a:t>
            </a:r>
            <a:endParaRPr/>
          </a:p>
        </p:txBody>
      </p:sp>
      <p:pic>
        <p:nvPicPr>
          <p:cNvPr descr="s01-manufacturing-kuka.jpg" id="533" name="Google Shape;533;p19"/>
          <p:cNvPicPr preferRelativeResize="0"/>
          <p:nvPr/>
        </p:nvPicPr>
        <p:blipFill rotWithShape="1">
          <a:blip r:embed="rId6">
            <a:alphaModFix/>
          </a:blip>
          <a:srcRect b="0" l="0" r="0" t="0"/>
          <a:stretch/>
        </p:blipFill>
        <p:spPr>
          <a:xfrm>
            <a:off x="256032" y="2414015"/>
            <a:ext cx="1659026" cy="1737359"/>
          </a:xfrm>
          <a:prstGeom prst="rect">
            <a:avLst/>
          </a:prstGeom>
          <a:noFill/>
          <a:ln>
            <a:noFill/>
          </a:ln>
        </p:spPr>
      </p:pic>
      <p:sp>
        <p:nvSpPr>
          <p:cNvPr id="534" name="Google Shape;534;p19"/>
          <p:cNvSpPr txBox="1"/>
          <p:nvPr/>
        </p:nvSpPr>
        <p:spPr>
          <a:xfrm>
            <a:off x="256032" y="4169663"/>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Manufacturing</a:t>
            </a:r>
            <a:endParaRPr/>
          </a:p>
        </p:txBody>
      </p:sp>
      <p:pic>
        <p:nvPicPr>
          <p:cNvPr descr="s01-datacenter.jpg" id="535" name="Google Shape;535;p19"/>
          <p:cNvPicPr preferRelativeResize="0"/>
          <p:nvPr/>
        </p:nvPicPr>
        <p:blipFill rotWithShape="1">
          <a:blip r:embed="rId7">
            <a:alphaModFix/>
          </a:blip>
          <a:srcRect b="0" l="0" r="0" t="0"/>
          <a:stretch/>
        </p:blipFill>
        <p:spPr>
          <a:xfrm>
            <a:off x="2043074" y="2414015"/>
            <a:ext cx="1659026" cy="1737359"/>
          </a:xfrm>
          <a:prstGeom prst="rect">
            <a:avLst/>
          </a:prstGeom>
          <a:noFill/>
          <a:ln>
            <a:noFill/>
          </a:ln>
        </p:spPr>
      </p:pic>
      <p:sp>
        <p:nvSpPr>
          <p:cNvPr id="536" name="Google Shape;536;p19"/>
          <p:cNvSpPr/>
          <p:nvPr/>
        </p:nvSpPr>
        <p:spPr>
          <a:xfrm>
            <a:off x="2043074" y="2414015"/>
            <a:ext cx="1659026" cy="1737359"/>
          </a:xfrm>
          <a:prstGeom prst="rect">
            <a:avLst/>
          </a:prstGeom>
          <a:noFill/>
          <a:ln cap="flat" cmpd="sng" w="38100">
            <a:solidFill>
              <a:srgbClr val="F0A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19"/>
          <p:cNvSpPr txBox="1"/>
          <p:nvPr/>
        </p:nvSpPr>
        <p:spPr>
          <a:xfrm>
            <a:off x="2043074" y="4169663"/>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Development / IT</a:t>
            </a:r>
            <a:endParaRPr/>
          </a:p>
        </p:txBody>
      </p:sp>
      <p:pic>
        <p:nvPicPr>
          <p:cNvPr descr="s01-logistics-ocado.jpg" id="538" name="Google Shape;538;p19"/>
          <p:cNvPicPr preferRelativeResize="0"/>
          <p:nvPr/>
        </p:nvPicPr>
        <p:blipFill rotWithShape="1">
          <a:blip r:embed="rId8">
            <a:alphaModFix/>
          </a:blip>
          <a:srcRect b="0" l="0" r="0" t="0"/>
          <a:stretch/>
        </p:blipFill>
        <p:spPr>
          <a:xfrm>
            <a:off x="3830116" y="2414015"/>
            <a:ext cx="1659026" cy="1737359"/>
          </a:xfrm>
          <a:prstGeom prst="rect">
            <a:avLst/>
          </a:prstGeom>
          <a:noFill/>
          <a:ln>
            <a:noFill/>
          </a:ln>
        </p:spPr>
      </p:pic>
      <p:sp>
        <p:nvSpPr>
          <p:cNvPr id="539" name="Google Shape;539;p19"/>
          <p:cNvSpPr txBox="1"/>
          <p:nvPr/>
        </p:nvSpPr>
        <p:spPr>
          <a:xfrm>
            <a:off x="3830116" y="4169663"/>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Logistics</a:t>
            </a:r>
            <a:endParaRPr/>
          </a:p>
        </p:txBody>
      </p:sp>
      <p:pic>
        <p:nvPicPr>
          <p:cNvPr descr="s01-science-microscope.jpg" id="540" name="Google Shape;540;p19"/>
          <p:cNvPicPr preferRelativeResize="0"/>
          <p:nvPr/>
        </p:nvPicPr>
        <p:blipFill rotWithShape="1">
          <a:blip r:embed="rId9">
            <a:alphaModFix/>
          </a:blip>
          <a:srcRect b="0" l="0" r="0" t="0"/>
          <a:stretch/>
        </p:blipFill>
        <p:spPr>
          <a:xfrm>
            <a:off x="256032" y="4572000"/>
            <a:ext cx="1659026" cy="1737359"/>
          </a:xfrm>
          <a:prstGeom prst="rect">
            <a:avLst/>
          </a:prstGeom>
          <a:noFill/>
          <a:ln>
            <a:noFill/>
          </a:ln>
        </p:spPr>
      </p:pic>
      <p:sp>
        <p:nvSpPr>
          <p:cNvPr id="541" name="Google Shape;541;p19"/>
          <p:cNvSpPr txBox="1"/>
          <p:nvPr/>
        </p:nvSpPr>
        <p:spPr>
          <a:xfrm>
            <a:off x="256032" y="6327648"/>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Science</a:t>
            </a:r>
            <a:endParaRPr/>
          </a:p>
        </p:txBody>
      </p:sp>
      <p:sp>
        <p:nvSpPr>
          <p:cNvPr id="542" name="Google Shape;542;p19"/>
          <p:cNvSpPr/>
          <p:nvPr/>
        </p:nvSpPr>
        <p:spPr>
          <a:xfrm>
            <a:off x="2043074" y="4572000"/>
            <a:ext cx="1659026" cy="1737359"/>
          </a:xfrm>
          <a:prstGeom prst="roundRect">
            <a:avLst>
              <a:gd fmla="val 10000" name="adj"/>
            </a:avLst>
          </a:prstGeom>
          <a:solidFill>
            <a:srgbClr val="065A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hield-check-FFFFFF-72.png" id="543" name="Google Shape;543;p19"/>
          <p:cNvPicPr preferRelativeResize="0"/>
          <p:nvPr/>
        </p:nvPicPr>
        <p:blipFill rotWithShape="1">
          <a:blip r:embed="rId10">
            <a:alphaModFix/>
          </a:blip>
          <a:srcRect b="0" l="0" r="0" t="0"/>
          <a:stretch/>
        </p:blipFill>
        <p:spPr>
          <a:xfrm>
            <a:off x="2524192" y="5092284"/>
            <a:ext cx="696791" cy="696791"/>
          </a:xfrm>
          <a:prstGeom prst="rect">
            <a:avLst/>
          </a:prstGeom>
          <a:noFill/>
          <a:ln>
            <a:noFill/>
          </a:ln>
        </p:spPr>
      </p:pic>
      <p:sp>
        <p:nvSpPr>
          <p:cNvPr id="544" name="Google Shape;544;p19"/>
          <p:cNvSpPr txBox="1"/>
          <p:nvPr/>
        </p:nvSpPr>
        <p:spPr>
          <a:xfrm>
            <a:off x="2043074" y="6327648"/>
            <a:ext cx="1659026" cy="2560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50" u="none" cap="none" strike="noStrike">
                <a:solidFill>
                  <a:srgbClr val="FFFFFF"/>
                </a:solidFill>
                <a:latin typeface="Arial"/>
                <a:ea typeface="Arial"/>
                <a:cs typeface="Arial"/>
                <a:sym typeface="Arial"/>
              </a:rPr>
              <a:t>Cybersecurity</a:t>
            </a:r>
            <a:endParaRPr/>
          </a:p>
        </p:txBody>
      </p:sp>
      <p:sp>
        <p:nvSpPr>
          <p:cNvPr id="545" name="Google Shape;545;p19"/>
          <p:cNvSpPr txBox="1"/>
          <p:nvPr/>
        </p:nvSpPr>
        <p:spPr>
          <a:xfrm>
            <a:off x="256032" y="6638544"/>
            <a:ext cx="5233111" cy="18288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1" lang="en-US" sz="800" u="none" cap="none" strike="noStrike">
                <a:solidFill>
                  <a:srgbClr val="C8D2DF"/>
                </a:solidFill>
                <a:latin typeface="Arial"/>
                <a:ea typeface="Arial"/>
                <a:cs typeface="Arial"/>
                <a:sym typeface="Arial"/>
              </a:rPr>
              <a:t>Wikimedia Commons · CC / public domain</a:t>
            </a:r>
            <a:endParaRPr/>
          </a:p>
        </p:txBody>
      </p:sp>
      <p:sp>
        <p:nvSpPr>
          <p:cNvPr id="546" name="Google Shape;546;p19"/>
          <p:cNvSpPr txBox="1"/>
          <p:nvPr/>
        </p:nvSpPr>
        <p:spPr>
          <a:xfrm>
            <a:off x="6248095" y="1234440"/>
            <a:ext cx="5440680"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400" u="none" cap="none" strike="noStrike">
                <a:solidFill>
                  <a:srgbClr val="028090"/>
                </a:solidFill>
                <a:latin typeface="Arial"/>
                <a:ea typeface="Arial"/>
                <a:cs typeface="Arial"/>
                <a:sym typeface="Arial"/>
              </a:rPr>
              <a:t>THANK YOU</a:t>
            </a:r>
            <a:endParaRPr/>
          </a:p>
        </p:txBody>
      </p:sp>
      <p:sp>
        <p:nvSpPr>
          <p:cNvPr id="547" name="Google Shape;547;p19"/>
          <p:cNvSpPr txBox="1"/>
          <p:nvPr/>
        </p:nvSpPr>
        <p:spPr>
          <a:xfrm>
            <a:off x="6248095" y="1691640"/>
            <a:ext cx="5440680" cy="210312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700" u="none" cap="none" strike="noStrike">
                <a:solidFill>
                  <a:srgbClr val="21295C"/>
                </a:solidFill>
                <a:latin typeface="Arial"/>
                <a:ea typeface="Arial"/>
                <a:cs typeface="Arial"/>
                <a:sym typeface="Arial"/>
              </a:rPr>
              <a:t>From today's snapshot to a systematic look at AI by industry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